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jpeg" ContentType="image/jpeg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9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69.xml" ContentType="application/vnd.openxmlformats-officedocument.presentationml.slide+xml"/>
  <Override PartName="/ppt/slides/slide68.xml" ContentType="application/vnd.openxmlformats-officedocument.presentationml.slide+xml"/>
  <Override PartName="/ppt/slides/slide67.xml" ContentType="application/vnd.openxmlformats-officedocument.presentationml.slide+xml"/>
  <Override PartName="/ppt/slides/slide66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80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77.xml" ContentType="application/vnd.openxmlformats-officedocument.presentationml.slide+xml"/>
  <Override PartName="/ppt/slides/slide76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6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88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customXml" Target="../customXml/item2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2"/>
                </a:lnTo>
                <a:lnTo>
                  <a:pt x="8959784" y="6543131"/>
                </a:lnTo>
                <a:lnTo>
                  <a:pt x="8932012" y="6579938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3"/>
                </a:lnTo>
                <a:lnTo>
                  <a:pt x="8778290" y="6679439"/>
                </a:lnTo>
                <a:lnTo>
                  <a:pt x="8731751" y="6689830"/>
                </a:lnTo>
                <a:lnTo>
                  <a:pt x="8682990" y="6693408"/>
                </a:lnTo>
                <a:lnTo>
                  <a:pt x="329920" y="6693408"/>
                </a:lnTo>
                <a:lnTo>
                  <a:pt x="281168" y="6689830"/>
                </a:lnTo>
                <a:lnTo>
                  <a:pt x="234636" y="6679439"/>
                </a:lnTo>
                <a:lnTo>
                  <a:pt x="190835" y="6662743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8"/>
                </a:lnTo>
                <a:lnTo>
                  <a:pt x="53153" y="6543131"/>
                </a:lnTo>
                <a:lnTo>
                  <a:pt x="30664" y="6502572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2249" y="280162"/>
            <a:ext cx="7232650" cy="1001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4800" y="1365250"/>
            <a:ext cx="7315200" cy="3282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10/3/2021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77977" y="6482301"/>
            <a:ext cx="204470" cy="186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Perpetua"/>
                <a:cs typeface="Perpetua"/>
              </a:defRPr>
            </a:lvl1pPr>
          </a:lstStyle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28.png"/><Relationship Id="rId4" Type="http://schemas.openxmlformats.org/officeDocument/2006/relationships/image" Target="../media/image27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531" y="70103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26"/>
                  </a:lnTo>
                  <a:lnTo>
                    <a:pt x="9009359" y="6410769"/>
                  </a:lnTo>
                  <a:lnTo>
                    <a:pt x="8998968" y="6457290"/>
                  </a:lnTo>
                  <a:lnTo>
                    <a:pt x="8982275" y="6501081"/>
                  </a:lnTo>
                  <a:lnTo>
                    <a:pt x="8959791" y="6541631"/>
                  </a:lnTo>
                  <a:lnTo>
                    <a:pt x="8932024" y="6578430"/>
                  </a:lnTo>
                  <a:lnTo>
                    <a:pt x="8899487" y="6610967"/>
                  </a:lnTo>
                  <a:lnTo>
                    <a:pt x="8862690" y="6638733"/>
                  </a:lnTo>
                  <a:lnTo>
                    <a:pt x="8822144" y="6661216"/>
                  </a:lnTo>
                  <a:lnTo>
                    <a:pt x="8778359" y="6677908"/>
                  </a:lnTo>
                  <a:lnTo>
                    <a:pt x="8731847" y="6688297"/>
                  </a:lnTo>
                  <a:lnTo>
                    <a:pt x="8683117" y="6691873"/>
                  </a:lnTo>
                  <a:lnTo>
                    <a:pt x="329844" y="6691873"/>
                  </a:lnTo>
                  <a:lnTo>
                    <a:pt x="281102" y="6688297"/>
                  </a:lnTo>
                  <a:lnTo>
                    <a:pt x="234580" y="6677908"/>
                  </a:lnTo>
                  <a:lnTo>
                    <a:pt x="190789" y="6661216"/>
                  </a:lnTo>
                  <a:lnTo>
                    <a:pt x="150240" y="6638733"/>
                  </a:lnTo>
                  <a:lnTo>
                    <a:pt x="113441" y="6610967"/>
                  </a:lnTo>
                  <a:lnTo>
                    <a:pt x="80905" y="6578430"/>
                  </a:lnTo>
                  <a:lnTo>
                    <a:pt x="53139" y="6541631"/>
                  </a:lnTo>
                  <a:lnTo>
                    <a:pt x="30656" y="6501081"/>
                  </a:lnTo>
                  <a:lnTo>
                    <a:pt x="13965" y="6457290"/>
                  </a:lnTo>
                  <a:lnTo>
                    <a:pt x="3576" y="6410769"/>
                  </a:lnTo>
                  <a:lnTo>
                    <a:pt x="0" y="6362026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484" y="1395983"/>
              <a:ext cx="9022080" cy="121920"/>
            </a:xfrm>
            <a:custGeom>
              <a:avLst/>
              <a:gdLst/>
              <a:ahLst/>
              <a:cxnLst/>
              <a:rect l="l" t="t" r="r" b="b"/>
              <a:pathLst>
                <a:path w="9022080" h="121919">
                  <a:moveTo>
                    <a:pt x="902208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9022080" y="121920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484" y="2976372"/>
              <a:ext cx="9022080" cy="111760"/>
            </a:xfrm>
            <a:custGeom>
              <a:avLst/>
              <a:gdLst/>
              <a:ahLst/>
              <a:cxnLst/>
              <a:rect l="l" t="t" r="r" b="b"/>
              <a:pathLst>
                <a:path w="9022080" h="111760">
                  <a:moveTo>
                    <a:pt x="902208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9022080" y="111251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2400" y="6477000"/>
            <a:ext cx="457200" cy="266700"/>
          </a:xfrm>
          <a:custGeom>
            <a:avLst/>
            <a:gdLst/>
            <a:ahLst/>
            <a:cxnLst/>
            <a:rect l="l" t="t" r="r" b="b"/>
            <a:pathLst>
              <a:path w="457200" h="266700">
                <a:moveTo>
                  <a:pt x="228600" y="0"/>
                </a:moveTo>
                <a:lnTo>
                  <a:pt x="167829" y="4763"/>
                </a:lnTo>
                <a:lnTo>
                  <a:pt x="113221" y="18206"/>
                </a:lnTo>
                <a:lnTo>
                  <a:pt x="66955" y="39057"/>
                </a:lnTo>
                <a:lnTo>
                  <a:pt x="31210" y="66045"/>
                </a:lnTo>
                <a:lnTo>
                  <a:pt x="8165" y="97900"/>
                </a:lnTo>
                <a:lnTo>
                  <a:pt x="0" y="133350"/>
                </a:lnTo>
                <a:lnTo>
                  <a:pt x="8165" y="168799"/>
                </a:lnTo>
                <a:lnTo>
                  <a:pt x="31210" y="200654"/>
                </a:lnTo>
                <a:lnTo>
                  <a:pt x="66955" y="227642"/>
                </a:lnTo>
                <a:lnTo>
                  <a:pt x="113221" y="248492"/>
                </a:lnTo>
                <a:lnTo>
                  <a:pt x="167829" y="261935"/>
                </a:lnTo>
                <a:lnTo>
                  <a:pt x="228600" y="266698"/>
                </a:lnTo>
                <a:lnTo>
                  <a:pt x="289370" y="261935"/>
                </a:lnTo>
                <a:lnTo>
                  <a:pt x="343978" y="248492"/>
                </a:lnTo>
                <a:lnTo>
                  <a:pt x="390244" y="227642"/>
                </a:lnTo>
                <a:lnTo>
                  <a:pt x="425989" y="200654"/>
                </a:lnTo>
                <a:lnTo>
                  <a:pt x="449034" y="168799"/>
                </a:lnTo>
                <a:lnTo>
                  <a:pt x="457200" y="133350"/>
                </a:lnTo>
                <a:lnTo>
                  <a:pt x="449034" y="97900"/>
                </a:lnTo>
                <a:lnTo>
                  <a:pt x="425989" y="66045"/>
                </a:lnTo>
                <a:lnTo>
                  <a:pt x="390244" y="39057"/>
                </a:lnTo>
                <a:lnTo>
                  <a:pt x="343978" y="18206"/>
                </a:lnTo>
                <a:lnTo>
                  <a:pt x="289370" y="4763"/>
                </a:lnTo>
                <a:lnTo>
                  <a:pt x="228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5381" y="6495084"/>
            <a:ext cx="901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Perpetua"/>
                <a:cs typeface="Perpetua"/>
              </a:rPr>
              <a:t>1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484" y="1517903"/>
            <a:ext cx="9022080" cy="1458595"/>
          </a:xfrm>
          <a:prstGeom prst="rect">
            <a:avLst/>
          </a:prstGeom>
          <a:solidFill>
            <a:srgbClr val="D2471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205"/>
              </a:lnSpc>
            </a:pPr>
            <a:r>
              <a:rPr sz="4400" dirty="0">
                <a:latin typeface="Perpetua"/>
                <a:cs typeface="Perpetua"/>
              </a:rPr>
              <a:t>I.4</a:t>
            </a:r>
            <a:endParaRPr sz="4400">
              <a:latin typeface="Perpetua"/>
              <a:cs typeface="Perpetua"/>
            </a:endParaRPr>
          </a:p>
          <a:p>
            <a:pPr algn="ctr">
              <a:lnSpc>
                <a:spcPct val="100000"/>
              </a:lnSpc>
            </a:pPr>
            <a:r>
              <a:rPr sz="4400" dirty="0">
                <a:latin typeface="Perpetua"/>
                <a:cs typeface="Perpetua"/>
              </a:rPr>
              <a:t>LOGIC</a:t>
            </a:r>
            <a:endParaRPr sz="4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29077" y="2454986"/>
            <a:ext cx="39350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C00000"/>
                </a:solidFill>
              </a:rPr>
              <a:t>Boolean</a:t>
            </a:r>
            <a:r>
              <a:rPr sz="6000" spc="-90" dirty="0">
                <a:solidFill>
                  <a:srgbClr val="C00000"/>
                </a:solidFill>
              </a:rPr>
              <a:t> </a:t>
            </a:r>
            <a:r>
              <a:rPr sz="6000" spc="20" dirty="0">
                <a:solidFill>
                  <a:srgbClr val="C00000"/>
                </a:solidFill>
              </a:rPr>
              <a:t>Logic</a:t>
            </a:r>
            <a:endParaRPr sz="6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968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Exp</a:t>
            </a:r>
            <a:r>
              <a:rPr sz="3600" spc="-50" dirty="0"/>
              <a:t>r</a:t>
            </a:r>
            <a:r>
              <a:rPr sz="3600" dirty="0"/>
              <a:t>essions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309981" y="6482301"/>
            <a:ext cx="14097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ts val="1225"/>
                </a:lnSpc>
              </a:pPr>
              <a:t>3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773938"/>
            <a:ext cx="8345170" cy="569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An expression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10" dirty="0">
                <a:latin typeface="Perpetua"/>
                <a:cs typeface="Perpetua"/>
              </a:rPr>
              <a:t>simply </a:t>
            </a:r>
            <a:r>
              <a:rPr sz="2400" dirty="0">
                <a:latin typeface="Perpetua"/>
                <a:cs typeface="Perpetua"/>
              </a:rPr>
              <a:t>one or </a:t>
            </a:r>
            <a:r>
              <a:rPr sz="2400" spc="-10" dirty="0">
                <a:latin typeface="Perpetua"/>
                <a:cs typeface="Perpetua"/>
              </a:rPr>
              <a:t>more </a:t>
            </a:r>
            <a:r>
              <a:rPr sz="2400" spc="-5" dirty="0">
                <a:latin typeface="Perpetua"/>
                <a:cs typeface="Perpetua"/>
              </a:rPr>
              <a:t>variables and/or </a:t>
            </a:r>
            <a:r>
              <a:rPr sz="2400" dirty="0">
                <a:latin typeface="Perpetua"/>
                <a:cs typeface="Perpetua"/>
              </a:rPr>
              <a:t>constants joined</a:t>
            </a:r>
            <a:r>
              <a:rPr sz="2400" spc="-100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by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operators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An expression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20" dirty="0">
                <a:latin typeface="Perpetua"/>
                <a:cs typeface="Perpetua"/>
              </a:rPr>
              <a:t>evaluated </a:t>
            </a:r>
            <a:r>
              <a:rPr sz="2400" spc="-5" dirty="0">
                <a:latin typeface="Perpetua"/>
                <a:cs typeface="Perpetua"/>
              </a:rPr>
              <a:t>and produces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result</a:t>
            </a:r>
            <a:endParaRPr sz="2400">
              <a:latin typeface="Perpetua"/>
              <a:cs typeface="Perpetua"/>
            </a:endParaRPr>
          </a:p>
          <a:p>
            <a:pPr marL="318770" indent="-306705">
              <a:lnSpc>
                <a:spcPct val="100000"/>
              </a:lnSpc>
              <a:spcBef>
                <a:spcPts val="30"/>
              </a:spcBef>
              <a:buSzPct val="85416"/>
              <a:buFont typeface="Arial"/>
              <a:buChar char="•"/>
              <a:tabLst>
                <a:tab pos="318770" algn="l"/>
                <a:tab pos="319405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result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dirty="0">
                <a:latin typeface="Perpetua"/>
                <a:cs typeface="Perpetua"/>
              </a:rPr>
              <a:t>arithmetic </a:t>
            </a:r>
            <a:r>
              <a:rPr sz="2400" spc="-5" dirty="0">
                <a:latin typeface="Perpetua"/>
                <a:cs typeface="Perpetua"/>
              </a:rPr>
              <a:t>expressions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either </a:t>
            </a:r>
            <a:r>
              <a:rPr sz="2400" spc="5" dirty="0">
                <a:latin typeface="Perpetua"/>
                <a:cs typeface="Perpetua"/>
              </a:rPr>
              <a:t>integers </a:t>
            </a:r>
            <a:r>
              <a:rPr sz="2400" dirty="0">
                <a:latin typeface="Perpetua"/>
                <a:cs typeface="Perpetua"/>
              </a:rPr>
              <a:t>or</a:t>
            </a:r>
            <a:r>
              <a:rPr sz="2400" spc="-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reals</a:t>
            </a:r>
            <a:endParaRPr sz="2400">
              <a:latin typeface="Perpetua"/>
              <a:cs typeface="Perpetua"/>
            </a:endParaRPr>
          </a:p>
          <a:p>
            <a:pPr marL="286385" marR="768350" indent="-274320">
              <a:lnSpc>
                <a:spcPts val="2300"/>
              </a:lnSpc>
              <a:spcBef>
                <a:spcPts val="58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An expression </a:t>
            </a:r>
            <a:r>
              <a:rPr sz="2400" dirty="0">
                <a:latin typeface="Perpetua"/>
                <a:cs typeface="Perpetua"/>
              </a:rPr>
              <a:t>can </a:t>
            </a:r>
            <a:r>
              <a:rPr sz="2400" spc="-5" dirty="0">
                <a:latin typeface="Perpetua"/>
                <a:cs typeface="Perpetua"/>
              </a:rPr>
              <a:t>also </a:t>
            </a:r>
            <a:r>
              <a:rPr sz="2400" dirty="0">
                <a:latin typeface="Perpetua"/>
                <a:cs typeface="Perpetua"/>
              </a:rPr>
              <a:t>yield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a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result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that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is either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true or </a:t>
            </a:r>
            <a:r>
              <a:rPr sz="2400" b="1" i="1" spc="-15" dirty="0">
                <a:solidFill>
                  <a:srgbClr val="C00000"/>
                </a:solidFill>
                <a:latin typeface="Perpetua"/>
                <a:cs typeface="Perpetua"/>
              </a:rPr>
              <a:t>false-  </a:t>
            </a:r>
            <a:r>
              <a:rPr sz="2400" b="1" i="1" spc="-5" dirty="0">
                <a:solidFill>
                  <a:srgbClr val="C00000"/>
                </a:solidFill>
                <a:latin typeface="Perpetua"/>
                <a:cs typeface="Perpetua"/>
              </a:rPr>
              <a:t>BOOLEAN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4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10" dirty="0">
                <a:latin typeface="Perpetua"/>
                <a:cs typeface="Perpetua"/>
              </a:rPr>
              <a:t>Such </a:t>
            </a:r>
            <a:r>
              <a:rPr sz="2400" spc="-5" dirty="0">
                <a:latin typeface="Perpetua"/>
                <a:cs typeface="Perpetua"/>
              </a:rPr>
              <a:t>an expression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called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relational</a:t>
            </a:r>
            <a:r>
              <a:rPr sz="2400" b="1" i="1" spc="-3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expression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result reflects </a:t>
            </a:r>
            <a:r>
              <a:rPr sz="2400" spc="-25" dirty="0">
                <a:latin typeface="Perpetua"/>
                <a:cs typeface="Perpetua"/>
              </a:rPr>
              <a:t>how </a:t>
            </a:r>
            <a:r>
              <a:rPr sz="2400" dirty="0">
                <a:latin typeface="Perpetua"/>
                <a:cs typeface="Perpetua"/>
              </a:rPr>
              <a:t>something </a:t>
            </a:r>
            <a:r>
              <a:rPr sz="2400" spc="-10" dirty="0">
                <a:latin typeface="Perpetua"/>
                <a:cs typeface="Perpetua"/>
              </a:rPr>
              <a:t>"</a:t>
            </a:r>
            <a:r>
              <a:rPr sz="2400" b="1" i="1" spc="-10" dirty="0">
                <a:solidFill>
                  <a:srgbClr val="C00000"/>
                </a:solidFill>
                <a:latin typeface="Perpetua"/>
                <a:cs typeface="Perpetua"/>
              </a:rPr>
              <a:t>relates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to</a:t>
            </a:r>
            <a:r>
              <a:rPr sz="2400" dirty="0">
                <a:latin typeface="Perpetua"/>
                <a:cs typeface="Perpetua"/>
              </a:rPr>
              <a:t>” </a:t>
            </a:r>
            <a:r>
              <a:rPr sz="2400" spc="-5" dirty="0">
                <a:latin typeface="Perpetua"/>
                <a:cs typeface="Perpetua"/>
              </a:rPr>
              <a:t>something</a:t>
            </a:r>
            <a:r>
              <a:rPr sz="2400" spc="-16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else.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25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Perpetua"/>
                <a:cs typeface="Perpetua"/>
              </a:rPr>
              <a:t>For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example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b="1" spc="-5" dirty="0">
                <a:solidFill>
                  <a:srgbClr val="6F2F9F"/>
                </a:solidFill>
                <a:latin typeface="Perpetua"/>
                <a:cs typeface="Perpetua"/>
              </a:rPr>
              <a:t>"Is the </a:t>
            </a:r>
            <a:r>
              <a:rPr sz="2400" b="1" spc="-10" dirty="0">
                <a:solidFill>
                  <a:srgbClr val="6F2F9F"/>
                </a:solidFill>
                <a:latin typeface="Perpetua"/>
                <a:cs typeface="Perpetua"/>
              </a:rPr>
              <a:t>value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of x greater </a:t>
            </a:r>
            <a:r>
              <a:rPr sz="2400" b="1" spc="-5" dirty="0">
                <a:solidFill>
                  <a:srgbClr val="6F2F9F"/>
                </a:solidFill>
                <a:latin typeface="Perpetua"/>
                <a:cs typeface="Perpetua"/>
              </a:rPr>
              <a:t>than the </a:t>
            </a:r>
            <a:r>
              <a:rPr sz="2400" b="1" spc="-10" dirty="0">
                <a:solidFill>
                  <a:srgbClr val="6F2F9F"/>
                </a:solidFill>
                <a:latin typeface="Perpetua"/>
                <a:cs typeface="Perpetua"/>
              </a:rPr>
              <a:t>value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Perpetua"/>
                <a:cs typeface="Perpetu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y?"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Note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spc="-5" dirty="0">
                <a:latin typeface="Perpetua"/>
                <a:cs typeface="Perpetua"/>
              </a:rPr>
              <a:t>the preceding </a:t>
            </a:r>
            <a:r>
              <a:rPr sz="2400" dirty="0">
                <a:latin typeface="Perpetua"/>
                <a:cs typeface="Perpetua"/>
              </a:rPr>
              <a:t>poses a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question.</a:t>
            </a:r>
            <a:endParaRPr sz="2400">
              <a:latin typeface="Perpetua"/>
              <a:cs typeface="Perpetua"/>
            </a:endParaRPr>
          </a:p>
          <a:p>
            <a:pPr marL="286385" marR="1000125" indent="-274320">
              <a:lnSpc>
                <a:spcPct val="8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Relational expressions </a:t>
            </a:r>
            <a:r>
              <a:rPr sz="2400" spc="-10" dirty="0">
                <a:latin typeface="Perpetua"/>
                <a:cs typeface="Perpetua"/>
              </a:rPr>
              <a:t>are usually </a:t>
            </a:r>
            <a:r>
              <a:rPr sz="2400" dirty="0">
                <a:latin typeface="Perpetua"/>
                <a:cs typeface="Perpetua"/>
              </a:rPr>
              <a:t>intended to </a:t>
            </a:r>
            <a:r>
              <a:rPr sz="2400" spc="-25" dirty="0">
                <a:latin typeface="Perpetua"/>
                <a:cs typeface="Perpetua"/>
              </a:rPr>
              <a:t>answer </a:t>
            </a:r>
            <a:r>
              <a:rPr sz="2400" spc="-15" dirty="0">
                <a:latin typeface="Perpetua"/>
                <a:cs typeface="Perpetua"/>
              </a:rPr>
              <a:t>yes/no,</a:t>
            </a:r>
            <a:r>
              <a:rPr sz="2400" spc="-1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or  </a:t>
            </a:r>
            <a:r>
              <a:rPr sz="2400" spc="-5" dirty="0">
                <a:latin typeface="Perpetua"/>
                <a:cs typeface="Perpetua"/>
              </a:rPr>
              <a:t>true/false,</a:t>
            </a:r>
            <a:r>
              <a:rPr sz="2400" spc="-11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questions.</a:t>
            </a:r>
            <a:endParaRPr sz="2400">
              <a:latin typeface="Perpetua"/>
              <a:cs typeface="Perpetua"/>
            </a:endParaRPr>
          </a:p>
          <a:p>
            <a:pPr marL="286385" marR="19050" indent="-274320">
              <a:lnSpc>
                <a:spcPts val="2300"/>
              </a:lnSpc>
              <a:spcBef>
                <a:spcPts val="58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35" dirty="0">
                <a:latin typeface="Perpetua"/>
                <a:cs typeface="Perpetua"/>
              </a:rPr>
              <a:t>Obviously, </a:t>
            </a:r>
            <a:r>
              <a:rPr sz="2400" dirty="0">
                <a:latin typeface="Perpetua"/>
                <a:cs typeface="Perpetua"/>
              </a:rPr>
              <a:t>boolean </a:t>
            </a:r>
            <a:r>
              <a:rPr sz="2400" spc="-10" dirty="0">
                <a:latin typeface="Perpetua"/>
                <a:cs typeface="Perpetua"/>
              </a:rPr>
              <a:t>values </a:t>
            </a:r>
            <a:r>
              <a:rPr sz="2400" dirty="0">
                <a:latin typeface="Perpetua"/>
                <a:cs typeface="Perpetua"/>
              </a:rPr>
              <a:t>and boolean </a:t>
            </a:r>
            <a:r>
              <a:rPr sz="2400" spc="-5" dirty="0">
                <a:latin typeface="Perpetua"/>
                <a:cs typeface="Perpetua"/>
              </a:rPr>
              <a:t>variables </a:t>
            </a:r>
            <a:r>
              <a:rPr sz="2400" spc="-20" dirty="0">
                <a:latin typeface="Perpetua"/>
                <a:cs typeface="Perpetua"/>
              </a:rPr>
              <a:t>play </a:t>
            </a:r>
            <a:r>
              <a:rPr sz="2400" spc="-5" dirty="0">
                <a:latin typeface="Perpetua"/>
                <a:cs typeface="Perpetua"/>
              </a:rPr>
              <a:t>an </a:t>
            </a:r>
            <a:r>
              <a:rPr sz="2400" spc="5" dirty="0">
                <a:latin typeface="Perpetua"/>
                <a:cs typeface="Perpetua"/>
              </a:rPr>
              <a:t>important </a:t>
            </a:r>
            <a:r>
              <a:rPr sz="2400" spc="-10" dirty="0">
                <a:latin typeface="Perpetua"/>
                <a:cs typeface="Perpetua"/>
              </a:rPr>
              <a:t>role</a:t>
            </a:r>
            <a:r>
              <a:rPr sz="2400" spc="-1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in  </a:t>
            </a:r>
            <a:r>
              <a:rPr sz="2400" spc="-10" dirty="0">
                <a:latin typeface="Perpetua"/>
                <a:cs typeface="Perpetua"/>
              </a:rPr>
              <a:t>relational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expressions.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7259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Oper</a:t>
            </a:r>
            <a:r>
              <a:rPr sz="3600" spc="-35" dirty="0"/>
              <a:t>a</a:t>
            </a:r>
            <a:r>
              <a:rPr sz="3600" dirty="0"/>
              <a:t>to</a:t>
            </a:r>
            <a:r>
              <a:rPr sz="3600" spc="60" dirty="0"/>
              <a:t>r</a:t>
            </a:r>
            <a:r>
              <a:rPr sz="3600" dirty="0"/>
              <a:t>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7340" y="825213"/>
            <a:ext cx="7614284" cy="14433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600" spc="-17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build </a:t>
            </a:r>
            <a:r>
              <a:rPr sz="2600" spc="-10" dirty="0">
                <a:latin typeface="Perpetua"/>
                <a:cs typeface="Perpetua"/>
              </a:rPr>
              <a:t>relational </a:t>
            </a:r>
            <a:r>
              <a:rPr sz="2600" spc="-5" dirty="0">
                <a:latin typeface="Perpetua"/>
                <a:cs typeface="Perpetua"/>
              </a:rPr>
              <a:t>expressions,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spc="-5" dirty="0">
                <a:latin typeface="Perpetua"/>
                <a:cs typeface="Perpetua"/>
              </a:rPr>
              <a:t>types </a:t>
            </a:r>
            <a:r>
              <a:rPr sz="2600" dirty="0">
                <a:latin typeface="Perpetua"/>
                <a:cs typeface="Perpetua"/>
              </a:rPr>
              <a:t>of operators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-29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used,</a:t>
            </a:r>
            <a:endParaRPr sz="2600">
              <a:latin typeface="Perpetua"/>
              <a:cs typeface="Perpetua"/>
            </a:endParaRPr>
          </a:p>
          <a:p>
            <a:pPr marL="12700" marR="2270760">
              <a:lnSpc>
                <a:spcPts val="3720"/>
              </a:lnSpc>
              <a:spcBef>
                <a:spcPts val="225"/>
              </a:spcBef>
            </a:pPr>
            <a:r>
              <a:rPr sz="2600" b="1" i="1" spc="-5" dirty="0">
                <a:solidFill>
                  <a:srgbClr val="C00000"/>
                </a:solidFill>
                <a:latin typeface="Perpetua"/>
                <a:cs typeface="Perpetua"/>
              </a:rPr>
              <a:t>relational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operators </a:t>
            </a:r>
            <a:r>
              <a:rPr sz="2600" b="1" i="1" dirty="0">
                <a:solidFill>
                  <a:srgbClr val="C00000"/>
                </a:solidFill>
                <a:latin typeface="Perpetua"/>
                <a:cs typeface="Perpetua"/>
              </a:rPr>
              <a:t>and </a:t>
            </a:r>
            <a:r>
              <a:rPr sz="2600" b="1" i="1" spc="-10" dirty="0">
                <a:solidFill>
                  <a:srgbClr val="C00000"/>
                </a:solidFill>
                <a:latin typeface="Perpetua"/>
                <a:cs typeface="Perpetua"/>
              </a:rPr>
              <a:t>logical</a:t>
            </a:r>
            <a:r>
              <a:rPr sz="2600" b="1" i="1" spc="-14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600" b="1" i="1" spc="-20" dirty="0">
                <a:solidFill>
                  <a:srgbClr val="C00000"/>
                </a:solidFill>
                <a:latin typeface="Perpetua"/>
                <a:cs typeface="Perpetua"/>
              </a:rPr>
              <a:t>operators  </a:t>
            </a:r>
            <a:r>
              <a:rPr sz="2600" b="1" i="1" spc="-5" dirty="0">
                <a:latin typeface="Perpetua"/>
                <a:cs typeface="Perpetua"/>
              </a:rPr>
              <a:t>Relational</a:t>
            </a:r>
            <a:r>
              <a:rPr sz="2600" b="1" i="1" spc="-40" dirty="0">
                <a:latin typeface="Perpetua"/>
                <a:cs typeface="Perpetua"/>
              </a:rPr>
              <a:t> </a:t>
            </a:r>
            <a:r>
              <a:rPr sz="2600" b="1" i="1" spc="-20" dirty="0">
                <a:latin typeface="Perpetua"/>
                <a:cs typeface="Perpetua"/>
              </a:rPr>
              <a:t>operators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4685538"/>
            <a:ext cx="2060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5" dirty="0">
                <a:latin typeface="Perpetua"/>
                <a:cs typeface="Perpetua"/>
              </a:rPr>
              <a:t>Logical</a:t>
            </a:r>
            <a:r>
              <a:rPr sz="2400" b="1" i="1" spc="-35" dirty="0">
                <a:latin typeface="Perpetua"/>
                <a:cs typeface="Perpetua"/>
              </a:rPr>
              <a:t> </a:t>
            </a:r>
            <a:r>
              <a:rPr sz="2400" b="1" i="1" spc="-25" dirty="0">
                <a:latin typeface="Perpetua"/>
                <a:cs typeface="Perpetua"/>
              </a:rPr>
              <a:t>operators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24200" y="1981200"/>
            <a:ext cx="3733800" cy="274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78170" y="5408762"/>
            <a:ext cx="5365656" cy="8842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9981" y="6482301"/>
            <a:ext cx="14097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ts val="1225"/>
                </a:lnSpc>
              </a:pPr>
              <a:t>4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612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Examples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309981" y="6482301"/>
            <a:ext cx="14097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sz="1100" dirty="0">
                <a:latin typeface="Perpetua"/>
                <a:cs typeface="Perpetua"/>
              </a:rPr>
              <a:pPr marL="38100">
                <a:lnSpc>
                  <a:spcPts val="1225"/>
                </a:lnSpc>
              </a:pPr>
              <a:t>5</a:t>
            </a:fld>
            <a:endParaRPr sz="11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5650" y="984250"/>
          <a:ext cx="5029200" cy="19557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0510"/>
                <a:gridCol w="2218690"/>
              </a:tblGrid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Expression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b="1" spc="-4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Value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of</a:t>
                      </a:r>
                      <a:r>
                        <a:rPr sz="1800" b="1" spc="10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expression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dirty="0">
                          <a:latin typeface="Perpetua"/>
                          <a:cs typeface="Perpetua"/>
                        </a:rPr>
                        <a:t>3 &lt;</a:t>
                      </a:r>
                      <a:r>
                        <a:rPr sz="2000" spc="-1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000" dirty="0">
                          <a:latin typeface="Perpetua"/>
                          <a:cs typeface="Perpetua"/>
                        </a:rPr>
                        <a:t>4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000" spc="-30" dirty="0">
                          <a:latin typeface="Perpetua"/>
                          <a:cs typeface="Perpetua"/>
                        </a:rPr>
                        <a:t>True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95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erpetua"/>
                          <a:cs typeface="Perpetua"/>
                        </a:rPr>
                        <a:t>7.6 &lt;=</a:t>
                      </a:r>
                      <a:r>
                        <a:rPr sz="2000" spc="-1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000" dirty="0">
                          <a:latin typeface="Perpetua"/>
                          <a:cs typeface="Perpetua"/>
                        </a:rPr>
                        <a:t>9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spc="-30" dirty="0">
                          <a:latin typeface="Perpetua"/>
                          <a:cs typeface="Perpetua"/>
                        </a:rPr>
                        <a:t>True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erpetua"/>
                          <a:cs typeface="Perpetua"/>
                        </a:rPr>
                        <a:t>4 ==</a:t>
                      </a:r>
                      <a:r>
                        <a:rPr sz="2000" spc="-1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000" dirty="0">
                          <a:latin typeface="Perpetua"/>
                          <a:cs typeface="Perpetua"/>
                        </a:rPr>
                        <a:t>7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spc="-15" dirty="0">
                          <a:latin typeface="Perpetua"/>
                          <a:cs typeface="Perpetua"/>
                        </a:rPr>
                        <a:t>False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396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erpetua"/>
                          <a:cs typeface="Perpetua"/>
                        </a:rPr>
                        <a:t>8.3 !=</a:t>
                      </a:r>
                      <a:r>
                        <a:rPr sz="2000" spc="-1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000" dirty="0">
                          <a:latin typeface="Perpetua"/>
                          <a:cs typeface="Perpetua"/>
                        </a:rPr>
                        <a:t>2.1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spc="-30" dirty="0">
                          <a:latin typeface="Perpetua"/>
                          <a:cs typeface="Perpetua"/>
                        </a:rPr>
                        <a:t>True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5650" y="3422650"/>
          <a:ext cx="6781800" cy="2895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6400"/>
                <a:gridCol w="2844800"/>
                <a:gridCol w="2260600"/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Initial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values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Expression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800" b="1" spc="-4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Value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of</a:t>
                      </a:r>
                      <a:r>
                        <a:rPr sz="1800" b="1" spc="1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expression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1312164">
                <a:tc>
                  <a:txBody>
                    <a:bodyPr/>
                    <a:lstStyle/>
                    <a:p>
                      <a:pPr marL="91440" marR="10839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erpetua"/>
                          <a:cs typeface="Perpetua"/>
                        </a:rPr>
                        <a:t>a =</a:t>
                      </a:r>
                      <a:r>
                        <a:rPr sz="2000" spc="-11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000" dirty="0">
                          <a:latin typeface="Perpetua"/>
                          <a:cs typeface="Perpetua"/>
                        </a:rPr>
                        <a:t>3  b=4  c=5  d=6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AE3408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14376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dirty="0">
                          <a:latin typeface="Perpetua"/>
                          <a:cs typeface="Perpetua"/>
                        </a:rPr>
                        <a:t>a</a:t>
                      </a:r>
                      <a:r>
                        <a:rPr sz="2000" spc="-9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000" spc="-5" dirty="0">
                          <a:latin typeface="Perpetua"/>
                          <a:cs typeface="Perpetua"/>
                        </a:rPr>
                        <a:t>==b  </a:t>
                      </a:r>
                      <a:r>
                        <a:rPr sz="2000" dirty="0">
                          <a:latin typeface="Perpetua"/>
                          <a:cs typeface="Perpetua"/>
                        </a:rPr>
                        <a:t>c&lt;</a:t>
                      </a:r>
                      <a:r>
                        <a:rPr sz="2000" spc="-20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000" dirty="0">
                          <a:latin typeface="Perpetua"/>
                          <a:cs typeface="Perpetua"/>
                        </a:rPr>
                        <a:t>d</a:t>
                      </a:r>
                      <a:endParaRPr sz="2000">
                        <a:latin typeface="Perpetua"/>
                        <a:cs typeface="Perpetu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Perpetua"/>
                          <a:cs typeface="Perpetua"/>
                        </a:rPr>
                        <a:t>(a==b)  &amp;&amp;</a:t>
                      </a:r>
                      <a:r>
                        <a:rPr sz="2000" spc="-114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000" spc="-5" dirty="0">
                          <a:latin typeface="Perpetua"/>
                          <a:cs typeface="Perpetua"/>
                        </a:rPr>
                        <a:t>(c&lt;d)</a:t>
                      </a:r>
                      <a:endParaRPr sz="2000">
                        <a:latin typeface="Perpetua"/>
                        <a:cs typeface="Perpetu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Perpetua"/>
                          <a:cs typeface="Perpetua"/>
                        </a:rPr>
                        <a:t>(a==b)  &amp;&amp;</a:t>
                      </a:r>
                      <a:r>
                        <a:rPr sz="2000" spc="-114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000" spc="-5" dirty="0">
                          <a:latin typeface="Perpetua"/>
                          <a:cs typeface="Perpetua"/>
                        </a:rPr>
                        <a:t>(c&lt;d)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AE3408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713864" algn="just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000" spc="-55" dirty="0">
                          <a:latin typeface="Perpetua"/>
                          <a:cs typeface="Perpetua"/>
                        </a:rPr>
                        <a:t>F</a:t>
                      </a:r>
                      <a:r>
                        <a:rPr sz="2000" spc="-5" dirty="0">
                          <a:latin typeface="Perpetua"/>
                          <a:cs typeface="Perpetua"/>
                        </a:rPr>
                        <a:t>alse  </a:t>
                      </a:r>
                      <a:r>
                        <a:rPr sz="2000" spc="-145" dirty="0">
                          <a:latin typeface="Perpetua"/>
                          <a:cs typeface="Perpetua"/>
                        </a:rPr>
                        <a:t>T</a:t>
                      </a:r>
                      <a:r>
                        <a:rPr sz="2000" spc="35" dirty="0">
                          <a:latin typeface="Perpetua"/>
                          <a:cs typeface="Perpetua"/>
                        </a:rPr>
                        <a:t>r</a:t>
                      </a:r>
                      <a:r>
                        <a:rPr sz="2000" dirty="0">
                          <a:latin typeface="Perpetua"/>
                          <a:cs typeface="Perpetua"/>
                        </a:rPr>
                        <a:t>ue  </a:t>
                      </a:r>
                      <a:r>
                        <a:rPr sz="2000" spc="-55" dirty="0">
                          <a:latin typeface="Perpetua"/>
                          <a:cs typeface="Perpetua"/>
                        </a:rPr>
                        <a:t>F</a:t>
                      </a:r>
                      <a:r>
                        <a:rPr sz="2000" spc="-5" dirty="0">
                          <a:latin typeface="Perpetua"/>
                          <a:cs typeface="Perpetua"/>
                        </a:rPr>
                        <a:t>alse  </a:t>
                      </a:r>
                      <a:r>
                        <a:rPr sz="2000" spc="-145" dirty="0">
                          <a:latin typeface="Perpetua"/>
                          <a:cs typeface="Perpetua"/>
                        </a:rPr>
                        <a:t>T</a:t>
                      </a:r>
                      <a:r>
                        <a:rPr sz="2000" spc="35" dirty="0">
                          <a:latin typeface="Perpetua"/>
                          <a:cs typeface="Perpetua"/>
                        </a:rPr>
                        <a:t>r</a:t>
                      </a:r>
                      <a:r>
                        <a:rPr sz="2000" dirty="0">
                          <a:latin typeface="Perpetua"/>
                          <a:cs typeface="Perpetua"/>
                        </a:rPr>
                        <a:t>ue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28575">
                      <a:solidFill>
                        <a:srgbClr val="AE3408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12176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AE3408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sz="2000" spc="-10" dirty="0">
                          <a:latin typeface="Perpetua"/>
                          <a:cs typeface="Perpetua"/>
                        </a:rPr>
                        <a:t>result </a:t>
                      </a:r>
                      <a:r>
                        <a:rPr sz="2000" dirty="0">
                          <a:latin typeface="Perpetua"/>
                          <a:cs typeface="Perpetua"/>
                        </a:rPr>
                        <a:t>= (a==b) </a:t>
                      </a:r>
                      <a:r>
                        <a:rPr sz="2000" spc="5" dirty="0">
                          <a:latin typeface="Perpetua"/>
                          <a:cs typeface="Perpetua"/>
                        </a:rPr>
                        <a:t>&amp;&amp;</a:t>
                      </a:r>
                      <a:r>
                        <a:rPr sz="2000" spc="-65" dirty="0">
                          <a:latin typeface="Perpetua"/>
                          <a:cs typeface="Perpetua"/>
                        </a:rPr>
                        <a:t> </a:t>
                      </a:r>
                      <a:r>
                        <a:rPr sz="2000" spc="-5" dirty="0">
                          <a:latin typeface="Perpetua"/>
                          <a:cs typeface="Perpetua"/>
                        </a:rPr>
                        <a:t>(c&lt;d)</a:t>
                      </a:r>
                      <a:endParaRPr sz="2000">
                        <a:latin typeface="Perpetua"/>
                        <a:cs typeface="Perpetua"/>
                      </a:endParaRPr>
                    </a:p>
                    <a:p>
                      <a:pPr marL="147955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Perpetua"/>
                          <a:cs typeface="Perpetua"/>
                        </a:rPr>
                        <a:t>!result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222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AE3408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sz="2000" spc="-15" dirty="0">
                          <a:latin typeface="Perpetua"/>
                          <a:cs typeface="Perpetua"/>
                        </a:rPr>
                        <a:t>False</a:t>
                      </a:r>
                      <a:endParaRPr sz="2000">
                        <a:latin typeface="Perpetua"/>
                        <a:cs typeface="Perpetu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spc="5" dirty="0">
                          <a:latin typeface="Perpetua"/>
                          <a:cs typeface="Perpetua"/>
                        </a:rPr>
                        <a:t>true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2228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28575">
                      <a:solidFill>
                        <a:srgbClr val="AE3408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357886"/>
            <a:ext cx="57797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Truth </a:t>
            </a:r>
            <a:r>
              <a:rPr sz="4000" dirty="0"/>
              <a:t>assignment:True </a:t>
            </a:r>
            <a:r>
              <a:rPr sz="4000" spc="-5" dirty="0"/>
              <a:t>or</a:t>
            </a:r>
            <a:r>
              <a:rPr sz="4000" spc="-15" dirty="0"/>
              <a:t> </a:t>
            </a:r>
            <a:r>
              <a:rPr sz="4000" spc="-25" dirty="0"/>
              <a:t>False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59740" y="1574860"/>
            <a:ext cx="8011159" cy="31210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spc="-5" dirty="0">
                <a:latin typeface="Perpetua"/>
                <a:cs typeface="Perpetua"/>
              </a:rPr>
              <a:t>Let,</a:t>
            </a:r>
            <a:endParaRPr sz="2400">
              <a:latin typeface="Perpetua"/>
              <a:cs typeface="Perpetua"/>
            </a:endParaRPr>
          </a:p>
          <a:p>
            <a:pPr marL="80645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Perpetua"/>
                <a:cs typeface="Perpetua"/>
              </a:rPr>
              <a:t>(a &lt; b </a:t>
            </a:r>
            <a:r>
              <a:rPr sz="2400" spc="-5" dirty="0">
                <a:latin typeface="Perpetua"/>
                <a:cs typeface="Perpetua"/>
              </a:rPr>
              <a:t>|| </a:t>
            </a:r>
            <a:r>
              <a:rPr sz="2400" dirty="0">
                <a:latin typeface="Perpetua"/>
                <a:cs typeface="Perpetua"/>
              </a:rPr>
              <a:t>(a &gt;= b </a:t>
            </a:r>
            <a:r>
              <a:rPr sz="2400" spc="-5" dirty="0">
                <a:latin typeface="Perpetua"/>
                <a:cs typeface="Perpetua"/>
              </a:rPr>
              <a:t>&amp;&amp; </a:t>
            </a:r>
            <a:r>
              <a:rPr sz="2400" dirty="0">
                <a:latin typeface="Perpetua"/>
                <a:cs typeface="Perpetua"/>
              </a:rPr>
              <a:t>c == d)) be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statement</a:t>
            </a:r>
            <a:r>
              <a:rPr sz="2400" b="1" spc="-13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Perpetua"/>
                <a:cs typeface="Perpetua"/>
              </a:rPr>
              <a:t>1</a:t>
            </a:r>
            <a:endParaRPr sz="2400">
              <a:latin typeface="Perpetua"/>
              <a:cs typeface="Perpetua"/>
            </a:endParaRPr>
          </a:p>
          <a:p>
            <a:pPr marL="80645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Perpetua"/>
                <a:cs typeface="Perpetua"/>
              </a:rPr>
              <a:t>(a &lt; b </a:t>
            </a:r>
            <a:r>
              <a:rPr sz="2400" spc="-5" dirty="0">
                <a:latin typeface="Perpetua"/>
                <a:cs typeface="Perpetua"/>
              </a:rPr>
              <a:t>|| </a:t>
            </a:r>
            <a:r>
              <a:rPr sz="2400" dirty="0">
                <a:latin typeface="Perpetua"/>
                <a:cs typeface="Perpetua"/>
              </a:rPr>
              <a:t>c </a:t>
            </a:r>
            <a:r>
              <a:rPr sz="2400" spc="-5" dirty="0">
                <a:latin typeface="Perpetua"/>
                <a:cs typeface="Perpetua"/>
              </a:rPr>
              <a:t>== </a:t>
            </a:r>
            <a:r>
              <a:rPr sz="2400" dirty="0">
                <a:latin typeface="Perpetua"/>
                <a:cs typeface="Perpetua"/>
              </a:rPr>
              <a:t>d) be </a:t>
            </a:r>
            <a:r>
              <a:rPr sz="2400" b="1" spc="-10" dirty="0">
                <a:solidFill>
                  <a:srgbClr val="C00000"/>
                </a:solidFill>
                <a:latin typeface="Perpetua"/>
                <a:cs typeface="Perpetua"/>
              </a:rPr>
              <a:t>statement</a:t>
            </a:r>
            <a:r>
              <a:rPr sz="2400" b="1" spc="-7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dirty="0">
                <a:solidFill>
                  <a:srgbClr val="C00000"/>
                </a:solidFill>
                <a:latin typeface="Perpetua"/>
                <a:cs typeface="Perpetua"/>
              </a:rPr>
              <a:t>2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In the </a:t>
            </a:r>
            <a:r>
              <a:rPr sz="2400" spc="-5" dirty="0">
                <a:latin typeface="Perpetua"/>
                <a:cs typeface="Perpetua"/>
              </a:rPr>
              <a:t>statements </a:t>
            </a:r>
            <a:r>
              <a:rPr sz="2400" dirty="0">
                <a:latin typeface="Perpetua"/>
                <a:cs typeface="Perpetua"/>
              </a:rPr>
              <a:t>1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2,</a:t>
            </a:r>
            <a:endParaRPr sz="2400">
              <a:latin typeface="Perpetua"/>
              <a:cs typeface="Perpetua"/>
            </a:endParaRPr>
          </a:p>
          <a:p>
            <a:pPr marL="12700" marR="5080">
              <a:lnSpc>
                <a:spcPct val="120800"/>
              </a:lnSpc>
            </a:pPr>
            <a:r>
              <a:rPr sz="2400" dirty="0">
                <a:latin typeface="Perpetua"/>
                <a:cs typeface="Perpetua"/>
              </a:rPr>
              <a:t>a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&lt;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,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 </a:t>
            </a:r>
            <a:r>
              <a:rPr sz="2400" spc="-5" dirty="0">
                <a:latin typeface="Perpetua"/>
                <a:cs typeface="Perpetua"/>
              </a:rPr>
              <a:t>==</a:t>
            </a:r>
            <a:r>
              <a:rPr sz="2400" dirty="0">
                <a:latin typeface="Perpetua"/>
                <a:cs typeface="Perpetua"/>
              </a:rPr>
              <a:t> d,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&gt;=</a:t>
            </a:r>
            <a:r>
              <a:rPr sz="2400" spc="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</a:t>
            </a:r>
            <a:r>
              <a:rPr sz="2400" spc="-10" dirty="0">
                <a:latin typeface="Perpetua"/>
                <a:cs typeface="Perpetua"/>
              </a:rPr>
              <a:t> are </a:t>
            </a:r>
            <a:r>
              <a:rPr sz="2400" dirty="0">
                <a:latin typeface="Perpetua"/>
                <a:cs typeface="Perpetua"/>
              </a:rPr>
              <a:t>conditions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be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checked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for</a:t>
            </a:r>
            <a:r>
              <a:rPr sz="2400" spc="-300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TRUE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or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FALSE 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5" dirty="0">
                <a:latin typeface="Perpetua"/>
                <a:cs typeface="Perpetua"/>
              </a:rPr>
              <a:t>determine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10" dirty="0">
                <a:latin typeface="Perpetua"/>
                <a:cs typeface="Perpetua"/>
              </a:rPr>
              <a:t>truth </a:t>
            </a:r>
            <a:r>
              <a:rPr sz="2400" spc="-15" dirty="0">
                <a:latin typeface="Perpetua"/>
                <a:cs typeface="Perpetua"/>
              </a:rPr>
              <a:t>value </a:t>
            </a:r>
            <a:r>
              <a:rPr sz="2400" dirty="0">
                <a:latin typeface="Perpetua"/>
                <a:cs typeface="Perpetua"/>
              </a:rPr>
              <a:t>of the </a:t>
            </a:r>
            <a:r>
              <a:rPr sz="2400" spc="-5" dirty="0">
                <a:latin typeface="Perpetua"/>
                <a:cs typeface="Perpetua"/>
              </a:rPr>
              <a:t>entire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expression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0753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5" dirty="0"/>
              <a:t>Logical</a:t>
            </a:r>
            <a:r>
              <a:rPr sz="3600" spc="-70" dirty="0"/>
              <a:t> </a:t>
            </a:r>
            <a:r>
              <a:rPr sz="3600" spc="-5" dirty="0"/>
              <a:t>expression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981202"/>
            <a:ext cx="7877175" cy="4217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Let (a &lt; b </a:t>
            </a:r>
            <a:r>
              <a:rPr sz="2400" spc="-5" dirty="0">
                <a:latin typeface="Perpetua"/>
                <a:cs typeface="Perpetua"/>
              </a:rPr>
              <a:t>|| </a:t>
            </a:r>
            <a:r>
              <a:rPr sz="2400" dirty="0">
                <a:latin typeface="Perpetua"/>
                <a:cs typeface="Perpetua"/>
              </a:rPr>
              <a:t>(a &gt;= b </a:t>
            </a:r>
            <a:r>
              <a:rPr sz="2400" spc="-5" dirty="0">
                <a:latin typeface="Perpetua"/>
                <a:cs typeface="Perpetua"/>
              </a:rPr>
              <a:t>&amp;&amp; </a:t>
            </a:r>
            <a:r>
              <a:rPr sz="2400" dirty="0">
                <a:latin typeface="Perpetua"/>
                <a:cs typeface="Perpetua"/>
              </a:rPr>
              <a:t>c </a:t>
            </a:r>
            <a:r>
              <a:rPr sz="2400" spc="-10" dirty="0">
                <a:latin typeface="Perpetua"/>
                <a:cs typeface="Perpetua"/>
              </a:rPr>
              <a:t>== </a:t>
            </a:r>
            <a:r>
              <a:rPr sz="2400" dirty="0">
                <a:latin typeface="Perpetua"/>
                <a:cs typeface="Perpetua"/>
              </a:rPr>
              <a:t>d)) be </a:t>
            </a:r>
            <a:r>
              <a:rPr sz="2400" spc="-5" dirty="0">
                <a:latin typeface="Perpetua"/>
                <a:cs typeface="Perpetua"/>
              </a:rPr>
              <a:t>statement</a:t>
            </a:r>
            <a:r>
              <a:rPr sz="2400" spc="-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Let (a &lt; b </a:t>
            </a:r>
            <a:r>
              <a:rPr sz="2400" spc="-5" dirty="0">
                <a:latin typeface="Perpetua"/>
                <a:cs typeface="Perpetua"/>
              </a:rPr>
              <a:t>|| </a:t>
            </a:r>
            <a:r>
              <a:rPr sz="2400" dirty="0">
                <a:latin typeface="Perpetua"/>
                <a:cs typeface="Perpetua"/>
              </a:rPr>
              <a:t>c == d) be </a:t>
            </a:r>
            <a:r>
              <a:rPr sz="2400" spc="-5" dirty="0">
                <a:latin typeface="Perpetua"/>
                <a:cs typeface="Perpetua"/>
              </a:rPr>
              <a:t>statement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2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7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00">
              <a:latin typeface="Perpetua"/>
              <a:cs typeface="Perpetua"/>
            </a:endParaRPr>
          </a:p>
          <a:p>
            <a:pPr marL="512445" algn="ctr">
              <a:lnSpc>
                <a:spcPct val="100000"/>
              </a:lnSpc>
            </a:pPr>
            <a:r>
              <a:rPr sz="2400" b="1" dirty="0">
                <a:solidFill>
                  <a:srgbClr val="C00000"/>
                </a:solidFill>
                <a:latin typeface="Perpetua"/>
                <a:cs typeface="Perpetua"/>
              </a:rPr>
              <a:t># A. Let, </a:t>
            </a:r>
            <a:r>
              <a:rPr sz="2400" b="1" i="1" dirty="0">
                <a:solidFill>
                  <a:srgbClr val="C00000"/>
                </a:solidFill>
                <a:latin typeface="Perpetua"/>
                <a:cs typeface="Perpetua"/>
              </a:rPr>
              <a:t>a is less than b </a:t>
            </a:r>
            <a:r>
              <a:rPr sz="2400" b="1" dirty="0">
                <a:solidFill>
                  <a:srgbClr val="C00000"/>
                </a:solidFill>
                <a:latin typeface="Perpetua"/>
                <a:cs typeface="Perpetua"/>
              </a:rPr>
              <a:t>be</a:t>
            </a:r>
            <a:r>
              <a:rPr sz="2400" b="1" spc="-12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spc="-35" dirty="0">
                <a:solidFill>
                  <a:srgbClr val="C00000"/>
                </a:solidFill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00">
              <a:latin typeface="Perpetua"/>
              <a:cs typeface="Perpetua"/>
            </a:endParaRPr>
          </a:p>
          <a:p>
            <a:pPr marL="561340" indent="-229235">
              <a:lnSpc>
                <a:spcPct val="100000"/>
              </a:lnSpc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inspect the </a:t>
            </a:r>
            <a:r>
              <a:rPr sz="2400" spc="10" dirty="0">
                <a:latin typeface="Perpetua"/>
                <a:cs typeface="Perpetua"/>
              </a:rPr>
              <a:t>first </a:t>
            </a:r>
            <a:r>
              <a:rPr sz="2400" dirty="0">
                <a:latin typeface="Perpetua"/>
                <a:cs typeface="Perpetua"/>
              </a:rPr>
              <a:t>of the </a:t>
            </a:r>
            <a:r>
              <a:rPr sz="2400" spc="-35" dirty="0">
                <a:latin typeface="Perpetua"/>
                <a:cs typeface="Perpetua"/>
              </a:rPr>
              <a:t>two </a:t>
            </a:r>
            <a:r>
              <a:rPr sz="2400" dirty="0">
                <a:latin typeface="Perpetua"/>
                <a:cs typeface="Perpetua"/>
              </a:rPr>
              <a:t>conditions (a &lt; b) </a:t>
            </a:r>
            <a:r>
              <a:rPr sz="2400" spc="-10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see if it is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15" dirty="0"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  <a:p>
            <a:pPr marL="561340" indent="-229235">
              <a:lnSpc>
                <a:spcPct val="100000"/>
              </a:lnSpc>
              <a:spcBef>
                <a:spcPts val="400"/>
              </a:spcBef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dirty="0">
                <a:latin typeface="Perpetua"/>
                <a:cs typeface="Perpetua"/>
              </a:rPr>
              <a:t>It is </a:t>
            </a:r>
            <a:r>
              <a:rPr sz="2400" spc="10" dirty="0">
                <a:latin typeface="Perpetua"/>
                <a:cs typeface="Perpetua"/>
              </a:rPr>
              <a:t>true </a:t>
            </a:r>
            <a:r>
              <a:rPr sz="2400" dirty="0">
                <a:latin typeface="Perpetua"/>
                <a:cs typeface="Perpetua"/>
              </a:rPr>
              <a:t>in both </a:t>
            </a:r>
            <a:r>
              <a:rPr sz="2400" spc="-5" dirty="0">
                <a:latin typeface="Perpetua"/>
                <a:cs typeface="Perpetua"/>
              </a:rPr>
              <a:t>statements </a:t>
            </a:r>
            <a:r>
              <a:rPr sz="2400" dirty="0">
                <a:latin typeface="Perpetua"/>
                <a:cs typeface="Perpetua"/>
              </a:rPr>
              <a:t>1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2</a:t>
            </a:r>
            <a:endParaRPr sz="2400">
              <a:latin typeface="Perpetua"/>
              <a:cs typeface="Perpetua"/>
            </a:endParaRPr>
          </a:p>
          <a:p>
            <a:pPr marL="561340" indent="-229235">
              <a:lnSpc>
                <a:spcPct val="100000"/>
              </a:lnSpc>
              <a:spcBef>
                <a:spcPts val="405"/>
              </a:spcBef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spc="-35" dirty="0">
                <a:latin typeface="Perpetua"/>
                <a:cs typeface="Perpetua"/>
              </a:rPr>
              <a:t>TRUE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5" dirty="0">
                <a:latin typeface="Perpetua"/>
                <a:cs typeface="Perpetua"/>
              </a:rPr>
              <a:t>returned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dirty="0">
                <a:latin typeface="Perpetua"/>
                <a:cs typeface="Perpetua"/>
              </a:rPr>
              <a:t>both the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statements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3826" y="287781"/>
            <a:ext cx="4890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1685" algn="l"/>
              </a:tabLst>
            </a:pPr>
            <a:r>
              <a:rPr sz="2800" b="1" spc="-5" dirty="0">
                <a:solidFill>
                  <a:srgbClr val="C00000"/>
                </a:solidFill>
                <a:latin typeface="Perpetua"/>
                <a:cs typeface="Perpetua"/>
              </a:rPr>
              <a:t># </a:t>
            </a:r>
            <a:r>
              <a:rPr sz="2800" b="1" spc="-20" dirty="0">
                <a:solidFill>
                  <a:srgbClr val="C00000"/>
                </a:solidFill>
                <a:latin typeface="Perpetua"/>
                <a:cs typeface="Perpetua"/>
              </a:rPr>
              <a:t>B.	</a:t>
            </a:r>
            <a:r>
              <a:rPr sz="2800" b="1" spc="-5" dirty="0">
                <a:solidFill>
                  <a:srgbClr val="C00000"/>
                </a:solidFill>
                <a:latin typeface="Perpetua"/>
                <a:cs typeface="Perpetua"/>
              </a:rPr>
              <a:t>Let, 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a is less than b </a:t>
            </a:r>
            <a:r>
              <a:rPr sz="2800" b="1" spc="-5" dirty="0">
                <a:solidFill>
                  <a:srgbClr val="C00000"/>
                </a:solidFill>
                <a:latin typeface="Perpetua"/>
                <a:cs typeface="Perpetua"/>
              </a:rPr>
              <a:t>be</a:t>
            </a:r>
            <a:r>
              <a:rPr sz="2800" b="1" spc="-14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800" b="1" spc="-45" dirty="0">
                <a:solidFill>
                  <a:srgbClr val="C00000"/>
                </a:solidFill>
                <a:latin typeface="Perpetua"/>
                <a:cs typeface="Perpetua"/>
              </a:rPr>
              <a:t>FALSE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722121"/>
            <a:ext cx="8095615" cy="59601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dirty="0">
                <a:latin typeface="Perpetua"/>
                <a:cs typeface="Perpetua"/>
              </a:rPr>
              <a:t>In </a:t>
            </a:r>
            <a:r>
              <a:rPr sz="2400" spc="-5" dirty="0">
                <a:latin typeface="Perpetua"/>
                <a:cs typeface="Perpetua"/>
              </a:rPr>
              <a:t>statement </a:t>
            </a:r>
            <a:r>
              <a:rPr sz="2400" dirty="0">
                <a:latin typeface="Perpetua"/>
                <a:cs typeface="Perpetua"/>
              </a:rPr>
              <a:t>1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: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inspect the second of the </a:t>
            </a:r>
            <a:r>
              <a:rPr sz="2400" spc="-35" dirty="0">
                <a:latin typeface="Perpetua"/>
                <a:cs typeface="Perpetua"/>
              </a:rPr>
              <a:t>two</a:t>
            </a:r>
            <a:r>
              <a:rPr sz="2400" spc="8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conditions</a:t>
            </a:r>
            <a:endParaRPr sz="2400">
              <a:latin typeface="Perpetua"/>
              <a:cs typeface="Perpetua"/>
            </a:endParaRPr>
          </a:p>
          <a:p>
            <a:pPr marL="2948305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Perpetua"/>
                <a:cs typeface="Perpetua"/>
              </a:rPr>
              <a:t>(a &gt;= b </a:t>
            </a:r>
            <a:r>
              <a:rPr sz="2400" spc="-5" dirty="0">
                <a:latin typeface="Perpetua"/>
                <a:cs typeface="Perpetua"/>
              </a:rPr>
              <a:t>&amp;&amp; </a:t>
            </a:r>
            <a:r>
              <a:rPr sz="2400" dirty="0">
                <a:latin typeface="Perpetua"/>
                <a:cs typeface="Perpetua"/>
              </a:rPr>
              <a:t>c == d) to see if it is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  <a:tab pos="5058410" algn="l"/>
              </a:tabLst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asking whether both a &gt;=</a:t>
            </a:r>
            <a:r>
              <a:rPr sz="2400" spc="1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</a:t>
            </a:r>
            <a:r>
              <a:rPr sz="2400" spc="37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AND	</a:t>
            </a:r>
            <a:r>
              <a:rPr sz="2400" dirty="0">
                <a:latin typeface="Perpetua"/>
                <a:cs typeface="Perpetua"/>
              </a:rPr>
              <a:t>c == d </a:t>
            </a:r>
            <a:r>
              <a:rPr sz="2400" spc="-10" dirty="0">
                <a:latin typeface="Perpetua"/>
                <a:cs typeface="Perpetua"/>
              </a:rPr>
              <a:t>are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15" dirty="0"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If a &lt; b is </a:t>
            </a:r>
            <a:r>
              <a:rPr sz="2400" spc="-15" dirty="0">
                <a:latin typeface="Perpetua"/>
                <a:cs typeface="Perpetua"/>
              </a:rPr>
              <a:t>false, </a:t>
            </a:r>
            <a:r>
              <a:rPr sz="2400" dirty="0">
                <a:latin typeface="Perpetua"/>
                <a:cs typeface="Perpetua"/>
              </a:rPr>
              <a:t>then a </a:t>
            </a:r>
            <a:r>
              <a:rPr sz="2400" spc="-5" dirty="0">
                <a:latin typeface="Perpetua"/>
                <a:cs typeface="Perpetua"/>
              </a:rPr>
              <a:t>&gt;= </a:t>
            </a:r>
            <a:r>
              <a:rPr sz="2400" dirty="0">
                <a:latin typeface="Perpetua"/>
                <a:cs typeface="Perpetua"/>
              </a:rPr>
              <a:t>b is of </a:t>
            </a:r>
            <a:r>
              <a:rPr sz="2400" spc="10" dirty="0">
                <a:latin typeface="Perpetua"/>
                <a:cs typeface="Perpetua"/>
              </a:rPr>
              <a:t>course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spc="15" dirty="0"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spc="-15" dirty="0">
                <a:latin typeface="Perpetua"/>
                <a:cs typeface="Perpetua"/>
              </a:rPr>
              <a:t>Therefore </a:t>
            </a:r>
            <a:r>
              <a:rPr sz="2400" i="1" spc="-10" dirty="0">
                <a:latin typeface="Perpetua"/>
                <a:cs typeface="Perpetua"/>
              </a:rPr>
              <a:t>whether </a:t>
            </a:r>
            <a:r>
              <a:rPr sz="2400" i="1" spc="5" dirty="0">
                <a:latin typeface="Perpetua"/>
                <a:cs typeface="Perpetua"/>
              </a:rPr>
              <a:t>true </a:t>
            </a:r>
            <a:r>
              <a:rPr sz="2400" i="1" dirty="0">
                <a:latin typeface="Perpetua"/>
                <a:cs typeface="Perpetua"/>
              </a:rPr>
              <a:t>or </a:t>
            </a:r>
            <a:r>
              <a:rPr sz="2400" i="1" spc="-10" dirty="0">
                <a:latin typeface="Perpetua"/>
                <a:cs typeface="Perpetua"/>
              </a:rPr>
              <a:t>false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returned </a:t>
            </a:r>
            <a:r>
              <a:rPr sz="2400" i="1" spc="-10" dirty="0">
                <a:latin typeface="Perpetua"/>
                <a:cs typeface="Perpetua"/>
              </a:rPr>
              <a:t>entirely </a:t>
            </a:r>
            <a:r>
              <a:rPr sz="2400" i="1" dirty="0">
                <a:latin typeface="Perpetua"/>
                <a:cs typeface="Perpetua"/>
              </a:rPr>
              <a:t>depends </a:t>
            </a:r>
            <a:r>
              <a:rPr sz="2400" i="1" spc="-5" dirty="0">
                <a:latin typeface="Perpetua"/>
                <a:cs typeface="Perpetua"/>
              </a:rPr>
              <a:t>on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4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condition</a:t>
            </a:r>
            <a:endParaRPr sz="2400">
              <a:latin typeface="Perpetua"/>
              <a:cs typeface="Perpetua"/>
            </a:endParaRPr>
          </a:p>
          <a:p>
            <a:pPr marL="354330">
              <a:lnSpc>
                <a:spcPct val="100000"/>
              </a:lnSpc>
              <a:spcBef>
                <a:spcPts val="600"/>
              </a:spcBef>
            </a:pPr>
            <a:r>
              <a:rPr sz="2400" b="1" dirty="0">
                <a:latin typeface="Perpetua"/>
                <a:cs typeface="Perpetua"/>
              </a:rPr>
              <a:t>c ==</a:t>
            </a:r>
            <a:r>
              <a:rPr sz="2400" b="1" spc="-2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d</a:t>
            </a:r>
            <a:endParaRPr sz="24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  <a:tab pos="5438775" algn="l"/>
              </a:tabLst>
            </a:pPr>
            <a:r>
              <a:rPr sz="2400" dirty="0">
                <a:latin typeface="Perpetua"/>
                <a:cs typeface="Perpetua"/>
              </a:rPr>
              <a:t>If c </a:t>
            </a:r>
            <a:r>
              <a:rPr sz="2400" spc="-5" dirty="0">
                <a:latin typeface="Perpetua"/>
                <a:cs typeface="Perpetua"/>
              </a:rPr>
              <a:t>== </a:t>
            </a:r>
            <a:r>
              <a:rPr sz="2400" dirty="0">
                <a:latin typeface="Perpetua"/>
                <a:cs typeface="Perpetua"/>
              </a:rPr>
              <a:t>d is </a:t>
            </a:r>
            <a:r>
              <a:rPr sz="2400" spc="10" dirty="0">
                <a:latin typeface="Perpetua"/>
                <a:cs typeface="Perpetua"/>
              </a:rPr>
              <a:t>true </a:t>
            </a:r>
            <a:r>
              <a:rPr sz="2400" dirty="0">
                <a:latin typeface="Perpetua"/>
                <a:cs typeface="Perpetua"/>
              </a:rPr>
              <a:t>then </a:t>
            </a:r>
            <a:r>
              <a:rPr sz="2400" b="1" spc="10" dirty="0">
                <a:latin typeface="Perpetua"/>
                <a:cs typeface="Perpetua"/>
              </a:rPr>
              <a:t>true</a:t>
            </a:r>
            <a:r>
              <a:rPr sz="2400" b="1" spc="5" dirty="0">
                <a:latin typeface="Perpetua"/>
                <a:cs typeface="Perpetua"/>
              </a:rPr>
              <a:t> </a:t>
            </a:r>
            <a:r>
              <a:rPr sz="2400" b="1" dirty="0">
                <a:latin typeface="Perpetua"/>
                <a:cs typeface="Perpetua"/>
              </a:rPr>
              <a:t>is</a:t>
            </a:r>
            <a:r>
              <a:rPr sz="2400" b="1" spc="5" dirty="0">
                <a:latin typeface="Perpetua"/>
                <a:cs typeface="Perpetua"/>
              </a:rPr>
              <a:t> returned	</a:t>
            </a:r>
            <a:r>
              <a:rPr sz="2400" b="1" dirty="0">
                <a:latin typeface="Perpetua"/>
                <a:cs typeface="Perpetua"/>
              </a:rPr>
              <a:t>[</a:t>
            </a:r>
            <a:r>
              <a:rPr sz="2400" dirty="0">
                <a:latin typeface="Perpetua"/>
                <a:cs typeface="Perpetua"/>
              </a:rPr>
              <a:t>as it is </a:t>
            </a:r>
            <a:r>
              <a:rPr sz="2400" spc="5" dirty="0">
                <a:latin typeface="Perpetua"/>
                <a:cs typeface="Perpetua"/>
              </a:rPr>
              <a:t>understood</a:t>
            </a:r>
            <a:r>
              <a:rPr sz="2400" spc="-9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endParaRPr sz="2400">
              <a:latin typeface="Perpetua"/>
              <a:cs typeface="Perpetua"/>
            </a:endParaRPr>
          </a:p>
          <a:p>
            <a:pPr marL="83566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&gt;= b is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true</a:t>
            </a:r>
            <a:r>
              <a:rPr sz="2400" b="1" spc="10" dirty="0">
                <a:latin typeface="Perpetua"/>
                <a:cs typeface="Perpetua"/>
              </a:rPr>
              <a:t>]</a:t>
            </a:r>
            <a:endParaRPr sz="2400">
              <a:latin typeface="Perpetua"/>
              <a:cs typeface="Perpetua"/>
            </a:endParaRPr>
          </a:p>
          <a:p>
            <a:pPr marL="810895">
              <a:lnSpc>
                <a:spcPct val="100000"/>
              </a:lnSpc>
              <a:spcBef>
                <a:spcPts val="395"/>
              </a:spcBef>
            </a:pPr>
            <a:r>
              <a:rPr sz="2400" spc="-5" dirty="0">
                <a:latin typeface="Perpetua"/>
                <a:cs typeface="Perpetua"/>
              </a:rPr>
              <a:t>and as </a:t>
            </a:r>
            <a:r>
              <a:rPr sz="2400" dirty="0">
                <a:latin typeface="Perpetua"/>
                <a:cs typeface="Perpetua"/>
              </a:rPr>
              <a:t>a &lt; b is </a:t>
            </a:r>
            <a:r>
              <a:rPr sz="2400" spc="-15" dirty="0">
                <a:latin typeface="Perpetua"/>
                <a:cs typeface="Perpetua"/>
              </a:rPr>
              <a:t>false, </a:t>
            </a:r>
            <a:r>
              <a:rPr sz="2400" b="1" spc="-5" dirty="0">
                <a:latin typeface="Perpetua"/>
                <a:cs typeface="Perpetua"/>
              </a:rPr>
              <a:t>the </a:t>
            </a:r>
            <a:r>
              <a:rPr sz="2400" b="1" spc="-10" dirty="0">
                <a:latin typeface="Perpetua"/>
                <a:cs typeface="Perpetua"/>
              </a:rPr>
              <a:t>statement </a:t>
            </a:r>
            <a:r>
              <a:rPr sz="2400" b="1" dirty="0">
                <a:latin typeface="Perpetua"/>
                <a:cs typeface="Perpetua"/>
              </a:rPr>
              <a:t>1 </a:t>
            </a:r>
            <a:r>
              <a:rPr sz="2400" b="1" spc="5" dirty="0">
                <a:latin typeface="Perpetua"/>
                <a:cs typeface="Perpetua"/>
              </a:rPr>
              <a:t>returns</a:t>
            </a:r>
            <a:r>
              <a:rPr sz="2400" b="1" spc="-155" dirty="0">
                <a:latin typeface="Perpetua"/>
                <a:cs typeface="Perpetua"/>
              </a:rPr>
              <a:t> </a:t>
            </a:r>
            <a:r>
              <a:rPr sz="2400" b="1" spc="10" dirty="0"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409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400" dirty="0">
                <a:latin typeface="Perpetua"/>
                <a:cs typeface="Perpetua"/>
              </a:rPr>
              <a:t>If c </a:t>
            </a:r>
            <a:r>
              <a:rPr sz="2400" spc="-5" dirty="0">
                <a:latin typeface="Perpetua"/>
                <a:cs typeface="Perpetua"/>
              </a:rPr>
              <a:t>== </a:t>
            </a:r>
            <a:r>
              <a:rPr sz="2400" dirty="0">
                <a:latin typeface="Perpetua"/>
                <a:cs typeface="Perpetua"/>
              </a:rPr>
              <a:t>d is </a:t>
            </a:r>
            <a:r>
              <a:rPr sz="2400" spc="-10" dirty="0">
                <a:latin typeface="Perpetua"/>
                <a:cs typeface="Perpetua"/>
              </a:rPr>
              <a:t>false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b="1" spc="10" dirty="0">
                <a:latin typeface="Perpetua"/>
                <a:cs typeface="Perpetua"/>
              </a:rPr>
              <a:t>false </a:t>
            </a:r>
            <a:r>
              <a:rPr sz="2400" b="1" dirty="0">
                <a:latin typeface="Perpetua"/>
                <a:cs typeface="Perpetua"/>
              </a:rPr>
              <a:t>is </a:t>
            </a:r>
            <a:r>
              <a:rPr sz="2400" b="1" spc="5" dirty="0">
                <a:latin typeface="Perpetua"/>
                <a:cs typeface="Perpetua"/>
              </a:rPr>
              <a:t>returned </a:t>
            </a:r>
            <a:r>
              <a:rPr sz="2400" b="1" dirty="0">
                <a:latin typeface="Perpetua"/>
                <a:cs typeface="Perpetua"/>
              </a:rPr>
              <a:t>[</a:t>
            </a:r>
            <a:r>
              <a:rPr sz="2400" dirty="0">
                <a:latin typeface="Perpetua"/>
                <a:cs typeface="Perpetua"/>
              </a:rPr>
              <a:t>as it is </a:t>
            </a:r>
            <a:r>
              <a:rPr sz="2400" spc="5" dirty="0">
                <a:latin typeface="Perpetua"/>
                <a:cs typeface="Perpetua"/>
              </a:rPr>
              <a:t>understood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15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&gt;=</a:t>
            </a:r>
            <a:endParaRPr sz="2400">
              <a:latin typeface="Perpetua"/>
              <a:cs typeface="Perpetua"/>
            </a:endParaRPr>
          </a:p>
          <a:p>
            <a:pPr marL="835660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b is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true</a:t>
            </a:r>
            <a:r>
              <a:rPr sz="2400" b="1" spc="10" dirty="0">
                <a:latin typeface="Perpetua"/>
                <a:cs typeface="Perpetua"/>
              </a:rPr>
              <a:t>]</a:t>
            </a:r>
            <a:endParaRPr sz="2400">
              <a:latin typeface="Perpetua"/>
              <a:cs typeface="Perpetua"/>
            </a:endParaRPr>
          </a:p>
          <a:p>
            <a:pPr marL="835660" lvl="1" indent="-229235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835660" algn="l"/>
                <a:tab pos="836294" algn="l"/>
              </a:tabLst>
            </a:pPr>
            <a:r>
              <a:rPr sz="2400" spc="-5" dirty="0">
                <a:latin typeface="Perpetua"/>
                <a:cs typeface="Perpetua"/>
              </a:rPr>
              <a:t>and as </a:t>
            </a:r>
            <a:r>
              <a:rPr sz="2400" dirty="0">
                <a:latin typeface="Perpetua"/>
                <a:cs typeface="Perpetua"/>
              </a:rPr>
              <a:t>a &lt; b is </a:t>
            </a:r>
            <a:r>
              <a:rPr sz="2400" spc="-15" dirty="0">
                <a:latin typeface="Perpetua"/>
                <a:cs typeface="Perpetua"/>
              </a:rPr>
              <a:t>false, </a:t>
            </a:r>
            <a:r>
              <a:rPr sz="2400" b="1" spc="-5" dirty="0">
                <a:latin typeface="Perpetua"/>
                <a:cs typeface="Perpetua"/>
              </a:rPr>
              <a:t>the </a:t>
            </a:r>
            <a:r>
              <a:rPr sz="2400" b="1" spc="-10" dirty="0">
                <a:latin typeface="Perpetua"/>
                <a:cs typeface="Perpetua"/>
              </a:rPr>
              <a:t>statement </a:t>
            </a:r>
            <a:r>
              <a:rPr sz="2400" b="1" dirty="0">
                <a:latin typeface="Perpetua"/>
                <a:cs typeface="Perpetua"/>
              </a:rPr>
              <a:t>1 </a:t>
            </a:r>
            <a:r>
              <a:rPr sz="2400" b="1" spc="10" dirty="0">
                <a:latin typeface="Perpetua"/>
                <a:cs typeface="Perpetua"/>
              </a:rPr>
              <a:t>returns</a:t>
            </a:r>
            <a:r>
              <a:rPr sz="2400" b="1" spc="-185" dirty="0">
                <a:latin typeface="Perpetua"/>
                <a:cs typeface="Perpetua"/>
              </a:rPr>
              <a:t> </a:t>
            </a:r>
            <a:r>
              <a:rPr sz="2400" b="1" spc="10" dirty="0">
                <a:latin typeface="Perpetua"/>
                <a:cs typeface="Perpetua"/>
              </a:rPr>
              <a:t>false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133602"/>
            <a:ext cx="7773670" cy="3699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In </a:t>
            </a:r>
            <a:r>
              <a:rPr sz="2400" spc="-5" dirty="0">
                <a:latin typeface="Perpetua"/>
                <a:cs typeface="Perpetua"/>
              </a:rPr>
              <a:t>statement </a:t>
            </a:r>
            <a:r>
              <a:rPr sz="2400" dirty="0">
                <a:latin typeface="Perpetua"/>
                <a:cs typeface="Perpetua"/>
              </a:rPr>
              <a:t>2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: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inspect the second of the </a:t>
            </a:r>
            <a:r>
              <a:rPr sz="2400" spc="-35" dirty="0">
                <a:latin typeface="Perpetua"/>
                <a:cs typeface="Perpetua"/>
              </a:rPr>
              <a:t>two </a:t>
            </a:r>
            <a:r>
              <a:rPr sz="2400" dirty="0">
                <a:latin typeface="Perpetua"/>
                <a:cs typeface="Perpetua"/>
              </a:rPr>
              <a:t>conditions c ==</a:t>
            </a:r>
            <a:r>
              <a:rPr sz="2400" spc="7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50">
              <a:latin typeface="Perpetua"/>
              <a:cs typeface="Perpetua"/>
            </a:endParaRPr>
          </a:p>
          <a:p>
            <a:pPr marL="561340" indent="-229235">
              <a:lnSpc>
                <a:spcPct val="100000"/>
              </a:lnSpc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dirty="0">
                <a:latin typeface="Perpetua"/>
                <a:cs typeface="Perpetua"/>
              </a:rPr>
              <a:t>If c </a:t>
            </a:r>
            <a:r>
              <a:rPr sz="2400" spc="-5" dirty="0">
                <a:latin typeface="Perpetua"/>
                <a:cs typeface="Perpetua"/>
              </a:rPr>
              <a:t>== </a:t>
            </a:r>
            <a:r>
              <a:rPr sz="2400" dirty="0">
                <a:latin typeface="Perpetua"/>
                <a:cs typeface="Perpetua"/>
              </a:rPr>
              <a:t>d is </a:t>
            </a:r>
            <a:r>
              <a:rPr sz="2400" spc="10" dirty="0">
                <a:latin typeface="Perpetua"/>
                <a:cs typeface="Perpetua"/>
              </a:rPr>
              <a:t>true </a:t>
            </a:r>
            <a:r>
              <a:rPr sz="2400" dirty="0">
                <a:latin typeface="Perpetua"/>
                <a:cs typeface="Perpetua"/>
              </a:rPr>
              <a:t>then </a:t>
            </a:r>
            <a:r>
              <a:rPr sz="2400" b="1" spc="10" dirty="0">
                <a:latin typeface="Perpetua"/>
                <a:cs typeface="Perpetua"/>
              </a:rPr>
              <a:t>true </a:t>
            </a:r>
            <a:r>
              <a:rPr sz="2400" b="1" dirty="0">
                <a:latin typeface="Perpetua"/>
                <a:cs typeface="Perpetua"/>
              </a:rPr>
              <a:t>is </a:t>
            </a:r>
            <a:r>
              <a:rPr sz="2400" b="1" spc="5" dirty="0">
                <a:latin typeface="Perpetua"/>
                <a:cs typeface="Perpetua"/>
              </a:rPr>
              <a:t>returned </a:t>
            </a:r>
            <a:r>
              <a:rPr sz="2400" spc="-5" dirty="0">
                <a:latin typeface="Perpetua"/>
                <a:cs typeface="Perpetua"/>
              </a:rPr>
              <a:t>and as </a:t>
            </a:r>
            <a:r>
              <a:rPr sz="2400" dirty="0">
                <a:latin typeface="Perpetua"/>
                <a:cs typeface="Perpetua"/>
              </a:rPr>
              <a:t>a &lt; b is </a:t>
            </a:r>
            <a:r>
              <a:rPr sz="2400" spc="-15" dirty="0">
                <a:latin typeface="Perpetua"/>
                <a:cs typeface="Perpetua"/>
              </a:rPr>
              <a:t>false,</a:t>
            </a:r>
            <a:r>
              <a:rPr sz="2400" spc="-200" dirty="0">
                <a:latin typeface="Perpetua"/>
                <a:cs typeface="Perpetua"/>
              </a:rPr>
              <a:t> </a:t>
            </a:r>
            <a:r>
              <a:rPr sz="2400" b="1" spc="-5" dirty="0">
                <a:latin typeface="Perpetua"/>
                <a:cs typeface="Perpetua"/>
              </a:rPr>
              <a:t>the</a:t>
            </a:r>
            <a:endParaRPr sz="2400">
              <a:latin typeface="Perpetua"/>
              <a:cs typeface="Perpetua"/>
            </a:endParaRPr>
          </a:p>
          <a:p>
            <a:pPr marL="561340">
              <a:lnSpc>
                <a:spcPct val="100000"/>
              </a:lnSpc>
            </a:pPr>
            <a:r>
              <a:rPr sz="2400" b="1" spc="-10" dirty="0">
                <a:latin typeface="Perpetua"/>
                <a:cs typeface="Perpetua"/>
              </a:rPr>
              <a:t>statement </a:t>
            </a:r>
            <a:r>
              <a:rPr sz="2400" b="1" dirty="0">
                <a:latin typeface="Perpetua"/>
                <a:cs typeface="Perpetua"/>
              </a:rPr>
              <a:t>2 </a:t>
            </a:r>
            <a:r>
              <a:rPr sz="2400" b="1" spc="10" dirty="0">
                <a:latin typeface="Perpetua"/>
                <a:cs typeface="Perpetua"/>
              </a:rPr>
              <a:t>returns</a:t>
            </a:r>
            <a:r>
              <a:rPr sz="2400" b="1" spc="-45" dirty="0">
                <a:latin typeface="Perpetua"/>
                <a:cs typeface="Perpetua"/>
              </a:rPr>
              <a:t> </a:t>
            </a:r>
            <a:r>
              <a:rPr sz="2400" b="1" spc="10" dirty="0"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00">
              <a:latin typeface="Perpetua"/>
              <a:cs typeface="Perpetua"/>
            </a:endParaRPr>
          </a:p>
          <a:p>
            <a:pPr marL="561340" indent="-229235">
              <a:lnSpc>
                <a:spcPct val="100000"/>
              </a:lnSpc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dirty="0">
                <a:latin typeface="Perpetua"/>
                <a:cs typeface="Perpetua"/>
              </a:rPr>
              <a:t>If c </a:t>
            </a:r>
            <a:r>
              <a:rPr sz="2400" spc="-5" dirty="0">
                <a:latin typeface="Perpetua"/>
                <a:cs typeface="Perpetua"/>
              </a:rPr>
              <a:t>== </a:t>
            </a:r>
            <a:r>
              <a:rPr sz="2400" dirty="0">
                <a:latin typeface="Perpetua"/>
                <a:cs typeface="Perpetua"/>
              </a:rPr>
              <a:t>d is </a:t>
            </a:r>
            <a:r>
              <a:rPr sz="2400" spc="-10" dirty="0">
                <a:latin typeface="Perpetua"/>
                <a:cs typeface="Perpetua"/>
              </a:rPr>
              <a:t>false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b="1" spc="10" dirty="0">
                <a:latin typeface="Perpetua"/>
                <a:cs typeface="Perpetua"/>
              </a:rPr>
              <a:t>false </a:t>
            </a:r>
            <a:r>
              <a:rPr sz="2400" b="1" dirty="0">
                <a:latin typeface="Perpetua"/>
                <a:cs typeface="Perpetua"/>
              </a:rPr>
              <a:t>is </a:t>
            </a:r>
            <a:r>
              <a:rPr sz="2400" b="1" spc="5" dirty="0">
                <a:latin typeface="Perpetua"/>
                <a:cs typeface="Perpetua"/>
              </a:rPr>
              <a:t>returned </a:t>
            </a:r>
            <a:r>
              <a:rPr sz="2400" spc="-5" dirty="0">
                <a:latin typeface="Perpetua"/>
                <a:cs typeface="Perpetua"/>
              </a:rPr>
              <a:t>and as </a:t>
            </a:r>
            <a:r>
              <a:rPr sz="2400" dirty="0">
                <a:latin typeface="Perpetua"/>
                <a:cs typeface="Perpetua"/>
              </a:rPr>
              <a:t>a &lt; b is </a:t>
            </a:r>
            <a:r>
              <a:rPr sz="2400" spc="-15" dirty="0">
                <a:latin typeface="Perpetua"/>
                <a:cs typeface="Perpetua"/>
              </a:rPr>
              <a:t>false,</a:t>
            </a:r>
            <a:r>
              <a:rPr sz="2400" spc="-185" dirty="0">
                <a:latin typeface="Perpetua"/>
                <a:cs typeface="Perpetua"/>
              </a:rPr>
              <a:t> </a:t>
            </a:r>
            <a:r>
              <a:rPr sz="2400" b="1" spc="-5" dirty="0">
                <a:latin typeface="Perpetua"/>
                <a:cs typeface="Perpetua"/>
              </a:rPr>
              <a:t>the</a:t>
            </a:r>
            <a:endParaRPr sz="2400">
              <a:latin typeface="Perpetua"/>
              <a:cs typeface="Perpetua"/>
            </a:endParaRPr>
          </a:p>
          <a:p>
            <a:pPr marL="561340">
              <a:lnSpc>
                <a:spcPct val="100000"/>
              </a:lnSpc>
            </a:pPr>
            <a:r>
              <a:rPr sz="2400" b="1" spc="-10" dirty="0">
                <a:latin typeface="Perpetua"/>
                <a:cs typeface="Perpetua"/>
              </a:rPr>
              <a:t>statement </a:t>
            </a:r>
            <a:r>
              <a:rPr sz="2400" b="1" dirty="0">
                <a:latin typeface="Perpetua"/>
                <a:cs typeface="Perpetua"/>
              </a:rPr>
              <a:t>2 </a:t>
            </a:r>
            <a:r>
              <a:rPr sz="2400" b="1" spc="10" dirty="0">
                <a:latin typeface="Perpetua"/>
                <a:cs typeface="Perpetua"/>
              </a:rPr>
              <a:t>returns</a:t>
            </a:r>
            <a:r>
              <a:rPr sz="2400" b="1" spc="-45" dirty="0">
                <a:latin typeface="Perpetua"/>
                <a:cs typeface="Perpetua"/>
              </a:rPr>
              <a:t> </a:t>
            </a:r>
            <a:r>
              <a:rPr sz="2400" b="1" spc="10" dirty="0">
                <a:latin typeface="Perpetua"/>
                <a:cs typeface="Perpetua"/>
              </a:rPr>
              <a:t>false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93928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</a:t>
            </a:r>
            <a:r>
              <a:rPr sz="3600" spc="-40" dirty="0"/>
              <a:t>r</a:t>
            </a:r>
            <a:r>
              <a:rPr sz="3600" dirty="0"/>
              <a:t>op</a:t>
            </a:r>
            <a:r>
              <a:rPr sz="3600" spc="-15" dirty="0"/>
              <a:t>o</a:t>
            </a:r>
            <a:r>
              <a:rPr sz="3600" dirty="0"/>
              <a:t>sit</a:t>
            </a:r>
            <a:r>
              <a:rPr sz="3600" spc="10" dirty="0"/>
              <a:t>i</a:t>
            </a:r>
            <a:r>
              <a:rPr sz="3600" dirty="0"/>
              <a:t>on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764184"/>
            <a:ext cx="8459470" cy="56451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  <a:tabLst>
                <a:tab pos="6007735" algn="l"/>
              </a:tabLst>
            </a:pPr>
            <a:r>
              <a:rPr sz="2200" spc="-20" dirty="0">
                <a:latin typeface="Perpetua"/>
                <a:cs typeface="Perpetua"/>
              </a:rPr>
              <a:t>Any </a:t>
            </a:r>
            <a:r>
              <a:rPr sz="2200" spc="-10" dirty="0">
                <a:latin typeface="Perpetua"/>
                <a:cs typeface="Perpetua"/>
              </a:rPr>
              <a:t>statement </a:t>
            </a:r>
            <a:r>
              <a:rPr sz="2200" spc="-15" dirty="0">
                <a:latin typeface="Perpetua"/>
                <a:cs typeface="Perpetua"/>
              </a:rPr>
              <a:t>that </a:t>
            </a:r>
            <a:r>
              <a:rPr sz="2200" spc="-5" dirty="0">
                <a:latin typeface="Perpetua"/>
                <a:cs typeface="Perpetua"/>
              </a:rPr>
              <a:t>can </a:t>
            </a:r>
            <a:r>
              <a:rPr sz="2200" spc="-35" dirty="0">
                <a:latin typeface="Perpetua"/>
                <a:cs typeface="Perpetua"/>
              </a:rPr>
              <a:t>have </a:t>
            </a:r>
            <a:r>
              <a:rPr sz="2200" spc="-5" dirty="0">
                <a:latin typeface="Perpetua"/>
                <a:cs typeface="Perpetua"/>
              </a:rPr>
              <a:t>one of the </a:t>
            </a:r>
            <a:r>
              <a:rPr sz="2200" spc="5" dirty="0">
                <a:latin typeface="Perpetua"/>
                <a:cs typeface="Perpetua"/>
              </a:rPr>
              <a:t>truth</a:t>
            </a:r>
            <a:r>
              <a:rPr sz="2200" spc="250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values,</a:t>
            </a:r>
            <a:r>
              <a:rPr sz="2200" spc="-350" dirty="0">
                <a:latin typeface="Perpetua"/>
                <a:cs typeface="Perpetua"/>
              </a:rPr>
              <a:t> </a:t>
            </a:r>
            <a:r>
              <a:rPr sz="2200" spc="-35" dirty="0">
                <a:latin typeface="Perpetua"/>
                <a:cs typeface="Perpetua"/>
              </a:rPr>
              <a:t>TRUE	</a:t>
            </a:r>
            <a:r>
              <a:rPr sz="2200" spc="-5" dirty="0">
                <a:latin typeface="Perpetua"/>
                <a:cs typeface="Perpetua"/>
              </a:rPr>
              <a:t>or </a:t>
            </a:r>
            <a:r>
              <a:rPr sz="2200" spc="-20" dirty="0">
                <a:latin typeface="Perpetua"/>
                <a:cs typeface="Perpetua"/>
              </a:rPr>
              <a:t>FALSE </a:t>
            </a:r>
            <a:r>
              <a:rPr sz="2200" spc="-5" dirty="0">
                <a:latin typeface="Perpetua"/>
                <a:cs typeface="Perpetua"/>
              </a:rPr>
              <a:t>is </a:t>
            </a:r>
            <a:r>
              <a:rPr sz="2200" spc="-10" dirty="0">
                <a:latin typeface="Perpetua"/>
                <a:cs typeface="Perpetua"/>
              </a:rPr>
              <a:t>called</a:t>
            </a:r>
            <a:r>
              <a:rPr sz="2200" spc="2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a</a:t>
            </a:r>
            <a:endParaRPr sz="22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200" b="1" spc="-5" dirty="0">
                <a:solidFill>
                  <a:srgbClr val="C00000"/>
                </a:solidFill>
                <a:latin typeface="Perpetua"/>
                <a:cs typeface="Perpetua"/>
              </a:rPr>
              <a:t>Proposition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750">
              <a:latin typeface="Perpetua"/>
              <a:cs typeface="Perpetua"/>
            </a:endParaRPr>
          </a:p>
          <a:p>
            <a:pPr marL="286385" marR="5080" indent="-286385">
              <a:lnSpc>
                <a:spcPct val="1108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sentence </a:t>
            </a:r>
            <a:r>
              <a:rPr sz="2400" spc="-5" dirty="0">
                <a:latin typeface="Perpetua"/>
                <a:cs typeface="Perpetua"/>
              </a:rPr>
              <a:t>"2+2 </a:t>
            </a:r>
            <a:r>
              <a:rPr sz="2400" dirty="0">
                <a:latin typeface="Perpetua"/>
                <a:cs typeface="Perpetua"/>
              </a:rPr>
              <a:t>= 4" is a </a:t>
            </a:r>
            <a:r>
              <a:rPr sz="2400" spc="-5" dirty="0">
                <a:latin typeface="Perpetua"/>
                <a:cs typeface="Perpetua"/>
              </a:rPr>
              <a:t>statement, </a:t>
            </a:r>
            <a:r>
              <a:rPr sz="2400" dirty="0">
                <a:latin typeface="Perpetua"/>
                <a:cs typeface="Perpetua"/>
              </a:rPr>
              <a:t>since it can be either </a:t>
            </a:r>
            <a:r>
              <a:rPr sz="2400" spc="10" dirty="0">
                <a:latin typeface="Perpetua"/>
                <a:cs typeface="Perpetua"/>
              </a:rPr>
              <a:t>true </a:t>
            </a:r>
            <a:r>
              <a:rPr sz="2400" dirty="0">
                <a:latin typeface="Perpetua"/>
                <a:cs typeface="Perpetua"/>
              </a:rPr>
              <a:t>or</a:t>
            </a:r>
            <a:r>
              <a:rPr sz="2400" spc="-254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false.  </a:t>
            </a:r>
            <a:r>
              <a:rPr sz="2400" dirty="0">
                <a:latin typeface="Perpetua"/>
                <a:cs typeface="Perpetua"/>
              </a:rPr>
              <a:t>Since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it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happens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to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true</a:t>
            </a:r>
            <a:r>
              <a:rPr sz="2400" spc="-5" dirty="0">
                <a:latin typeface="Perpetua"/>
                <a:cs typeface="Perpetua"/>
              </a:rPr>
              <a:t> statement,</a:t>
            </a:r>
            <a:r>
              <a:rPr sz="2400" spc="-1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its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spc="10" dirty="0">
                <a:latin typeface="Perpetua"/>
                <a:cs typeface="Perpetua"/>
              </a:rPr>
              <a:t>truth</a:t>
            </a:r>
            <a:r>
              <a:rPr sz="2400" spc="-15" dirty="0">
                <a:latin typeface="Perpetua"/>
                <a:cs typeface="Perpetua"/>
              </a:rPr>
              <a:t> value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29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0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sentence </a:t>
            </a:r>
            <a:r>
              <a:rPr sz="2400" spc="-5" dirty="0">
                <a:latin typeface="Perpetua"/>
                <a:cs typeface="Perpetua"/>
              </a:rPr>
              <a:t>"1 </a:t>
            </a:r>
            <a:r>
              <a:rPr sz="2400" dirty="0">
                <a:latin typeface="Perpetua"/>
                <a:cs typeface="Perpetua"/>
              </a:rPr>
              <a:t>= 0" is </a:t>
            </a:r>
            <a:r>
              <a:rPr sz="2400" spc="-5" dirty="0">
                <a:latin typeface="Perpetua"/>
                <a:cs typeface="Perpetua"/>
              </a:rPr>
              <a:t>also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statement, </a:t>
            </a:r>
            <a:r>
              <a:rPr sz="2400" spc="-10" dirty="0">
                <a:latin typeface="Perpetua"/>
                <a:cs typeface="Perpetua"/>
              </a:rPr>
              <a:t>but </a:t>
            </a:r>
            <a:r>
              <a:rPr sz="2400" dirty="0">
                <a:latin typeface="Perpetua"/>
                <a:cs typeface="Perpetua"/>
              </a:rPr>
              <a:t>its </a:t>
            </a:r>
            <a:r>
              <a:rPr sz="2400" spc="10" dirty="0">
                <a:latin typeface="Perpetua"/>
                <a:cs typeface="Perpetua"/>
              </a:rPr>
              <a:t>truth </a:t>
            </a:r>
            <a:r>
              <a:rPr sz="2400" spc="-15" dirty="0">
                <a:latin typeface="Perpetua"/>
                <a:cs typeface="Perpetua"/>
              </a:rPr>
              <a:t>value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2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F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0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5" dirty="0">
                <a:latin typeface="Perpetua"/>
                <a:cs typeface="Perpetua"/>
              </a:rPr>
              <a:t>"It </a:t>
            </a:r>
            <a:r>
              <a:rPr sz="2400" dirty="0">
                <a:latin typeface="Perpetua"/>
                <a:cs typeface="Perpetua"/>
              </a:rPr>
              <a:t>will </a:t>
            </a:r>
            <a:r>
              <a:rPr sz="2400" spc="-5" dirty="0">
                <a:latin typeface="Perpetua"/>
                <a:cs typeface="Perpetua"/>
              </a:rPr>
              <a:t>rain </a:t>
            </a:r>
            <a:r>
              <a:rPr sz="2400" spc="-10" dirty="0">
                <a:latin typeface="Perpetua"/>
                <a:cs typeface="Perpetua"/>
              </a:rPr>
              <a:t>tomorrow" </a:t>
            </a:r>
            <a:r>
              <a:rPr sz="2400" dirty="0">
                <a:latin typeface="Perpetua"/>
                <a:cs typeface="Perpetua"/>
              </a:rPr>
              <a:t>is a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proposition.</a:t>
            </a:r>
            <a:endParaRPr sz="2400">
              <a:latin typeface="Perpetua"/>
              <a:cs typeface="Perpetua"/>
            </a:endParaRPr>
          </a:p>
          <a:p>
            <a:pPr marL="422275">
              <a:lnSpc>
                <a:spcPct val="100000"/>
              </a:lnSpc>
              <a:spcBef>
                <a:spcPts val="315"/>
              </a:spcBef>
            </a:pPr>
            <a:r>
              <a:rPr sz="2400" spc="-25" dirty="0">
                <a:latin typeface="Perpetua"/>
                <a:cs typeface="Perpetua"/>
              </a:rPr>
              <a:t>For </a:t>
            </a:r>
            <a:r>
              <a:rPr sz="2400" spc="-5" dirty="0">
                <a:latin typeface="Perpetua"/>
                <a:cs typeface="Perpetua"/>
              </a:rPr>
              <a:t>its </a:t>
            </a:r>
            <a:r>
              <a:rPr sz="2400" spc="10" dirty="0">
                <a:latin typeface="Perpetua"/>
                <a:cs typeface="Perpetua"/>
              </a:rPr>
              <a:t>truth </a:t>
            </a:r>
            <a:r>
              <a:rPr sz="2400" spc="-15" dirty="0">
                <a:latin typeface="Perpetua"/>
                <a:cs typeface="Perpetua"/>
              </a:rPr>
              <a:t>value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5" dirty="0">
                <a:latin typeface="Perpetua"/>
                <a:cs typeface="Perpetua"/>
              </a:rPr>
              <a:t>shall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wait </a:t>
            </a:r>
            <a:r>
              <a:rPr sz="2400" dirty="0">
                <a:latin typeface="Perpetua"/>
                <a:cs typeface="Perpetua"/>
              </a:rPr>
              <a:t>for</a:t>
            </a:r>
            <a:r>
              <a:rPr sz="2400" spc="5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tomorrow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50">
              <a:latin typeface="Perpetua"/>
              <a:cs typeface="Perpetua"/>
            </a:endParaRPr>
          </a:p>
          <a:p>
            <a:pPr marL="286385" marR="2205990" indent="-286385">
              <a:lnSpc>
                <a:spcPct val="1108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5" dirty="0">
                <a:latin typeface="Perpetua"/>
                <a:cs typeface="Perpetua"/>
              </a:rPr>
              <a:t>"Solve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following </a:t>
            </a:r>
            <a:r>
              <a:rPr sz="2400" spc="-5" dirty="0">
                <a:latin typeface="Perpetua"/>
                <a:cs typeface="Perpetua"/>
              </a:rPr>
              <a:t>equation </a:t>
            </a:r>
            <a:r>
              <a:rPr sz="2400" dirty="0">
                <a:latin typeface="Perpetua"/>
                <a:cs typeface="Perpetua"/>
              </a:rPr>
              <a:t>for x" is not a </a:t>
            </a:r>
            <a:r>
              <a:rPr sz="2400" spc="-5" dirty="0">
                <a:latin typeface="Perpetua"/>
                <a:cs typeface="Perpetua"/>
              </a:rPr>
              <a:t>statement  </a:t>
            </a:r>
            <a:r>
              <a:rPr sz="2400" dirty="0">
                <a:latin typeface="Perpetua"/>
                <a:cs typeface="Perpetua"/>
              </a:rPr>
              <a:t>It </a:t>
            </a:r>
            <a:r>
              <a:rPr sz="2400" spc="-5" dirty="0">
                <a:latin typeface="Perpetua"/>
                <a:cs typeface="Perpetua"/>
              </a:rPr>
              <a:t>cannot </a:t>
            </a:r>
            <a:r>
              <a:rPr sz="2400" dirty="0">
                <a:latin typeface="Perpetua"/>
                <a:cs typeface="Perpetua"/>
              </a:rPr>
              <a:t>be </a:t>
            </a:r>
            <a:r>
              <a:rPr sz="2400" spc="-5" dirty="0">
                <a:latin typeface="Perpetua"/>
                <a:cs typeface="Perpetua"/>
              </a:rPr>
              <a:t>assigned </a:t>
            </a:r>
            <a:r>
              <a:rPr sz="2400" spc="-20" dirty="0">
                <a:latin typeface="Perpetua"/>
                <a:cs typeface="Perpetua"/>
              </a:rPr>
              <a:t>any </a:t>
            </a:r>
            <a:r>
              <a:rPr sz="2400" spc="5" dirty="0">
                <a:latin typeface="Perpetua"/>
                <a:cs typeface="Perpetua"/>
              </a:rPr>
              <a:t>truth </a:t>
            </a:r>
            <a:r>
              <a:rPr sz="2400" spc="-15" dirty="0">
                <a:latin typeface="Perpetua"/>
                <a:cs typeface="Perpetua"/>
              </a:rPr>
              <a:t>value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whatsoever</a:t>
            </a:r>
            <a:endParaRPr sz="2400">
              <a:latin typeface="Perpetua"/>
              <a:cs typeface="Perpetua"/>
            </a:endParaRPr>
          </a:p>
          <a:p>
            <a:pPr marL="422275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Perpetua"/>
                <a:cs typeface="Perpetua"/>
              </a:rPr>
              <a:t>It is </a:t>
            </a:r>
            <a:r>
              <a:rPr sz="2400" spc="-5" dirty="0">
                <a:latin typeface="Perpetua"/>
                <a:cs typeface="Perpetua"/>
              </a:rPr>
              <a:t>an </a:t>
            </a:r>
            <a:r>
              <a:rPr sz="2400" spc="-15" dirty="0">
                <a:latin typeface="Perpetua"/>
                <a:cs typeface="Perpetua"/>
              </a:rPr>
              <a:t>imperative, </a:t>
            </a:r>
            <a:r>
              <a:rPr sz="2400" dirty="0">
                <a:latin typeface="Perpetua"/>
                <a:cs typeface="Perpetua"/>
              </a:rPr>
              <a:t>or command, </a:t>
            </a:r>
            <a:r>
              <a:rPr sz="2400" spc="-5" dirty="0">
                <a:latin typeface="Perpetua"/>
                <a:cs typeface="Perpetua"/>
              </a:rPr>
              <a:t>rather </a:t>
            </a:r>
            <a:r>
              <a:rPr sz="2400" dirty="0">
                <a:latin typeface="Perpetua"/>
                <a:cs typeface="Perpetua"/>
              </a:rPr>
              <a:t>than a </a:t>
            </a:r>
            <a:r>
              <a:rPr sz="2400" spc="-10" dirty="0">
                <a:latin typeface="Perpetua"/>
                <a:cs typeface="Perpetua"/>
              </a:rPr>
              <a:t>declarative</a:t>
            </a:r>
            <a:r>
              <a:rPr sz="2400" spc="-2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sentence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5439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Proposition</a:t>
            </a:r>
            <a:r>
              <a:rPr sz="3600" spc="-65" dirty="0"/>
              <a:t> </a:t>
            </a:r>
            <a:r>
              <a:rPr sz="3600" spc="-5" dirty="0"/>
              <a:t>Contd…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220385"/>
            <a:ext cx="8228965" cy="2861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3600450" indent="-286385">
              <a:lnSpc>
                <a:spcPct val="119300"/>
              </a:lnSpc>
              <a:spcBef>
                <a:spcPts val="1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"The number 5"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proposition  </a:t>
            </a:r>
            <a:r>
              <a:rPr sz="2600" dirty="0">
                <a:latin typeface="Perpetua"/>
                <a:cs typeface="Perpetua"/>
              </a:rPr>
              <a:t>It is not </a:t>
            </a:r>
            <a:r>
              <a:rPr sz="2600" spc="-25" dirty="0">
                <a:latin typeface="Perpetua"/>
                <a:cs typeface="Perpetua"/>
              </a:rPr>
              <a:t>even </a:t>
            </a:r>
            <a:r>
              <a:rPr sz="2600" dirty="0">
                <a:latin typeface="Perpetua"/>
                <a:cs typeface="Perpetua"/>
              </a:rPr>
              <a:t>a complete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sentence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"There </a:t>
            </a:r>
            <a:r>
              <a:rPr sz="2600" dirty="0">
                <a:latin typeface="Perpetua"/>
                <a:cs typeface="Perpetua"/>
              </a:rPr>
              <a:t>is no </a:t>
            </a:r>
            <a:r>
              <a:rPr sz="2600" spc="-5" dirty="0">
                <a:latin typeface="Perpetua"/>
                <a:cs typeface="Perpetua"/>
              </a:rPr>
              <a:t>planet called </a:t>
            </a:r>
            <a:r>
              <a:rPr sz="2600" spc="5" dirty="0">
                <a:latin typeface="Perpetua"/>
                <a:cs typeface="Perpetua"/>
              </a:rPr>
              <a:t>Mars“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5" dirty="0">
                <a:latin typeface="Perpetua"/>
                <a:cs typeface="Perpetua"/>
              </a:rPr>
              <a:t>proposition </a:t>
            </a:r>
            <a:r>
              <a:rPr sz="2600" dirty="0">
                <a:latin typeface="Perpetua"/>
                <a:cs typeface="Perpetua"/>
              </a:rPr>
              <a:t>with </a:t>
            </a:r>
            <a:r>
              <a:rPr sz="2600" spc="5" dirty="0">
                <a:latin typeface="Perpetua"/>
                <a:cs typeface="Perpetua"/>
              </a:rPr>
              <a:t>truth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dirty="0">
                <a:latin typeface="Perpetua"/>
                <a:cs typeface="Perpetua"/>
              </a:rPr>
              <a:t>F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"Ode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5" dirty="0">
                <a:latin typeface="Perpetua"/>
                <a:cs typeface="Perpetua"/>
              </a:rPr>
              <a:t>Spring"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dirty="0">
                <a:latin typeface="Perpetua"/>
                <a:cs typeface="Perpetua"/>
              </a:rPr>
              <a:t>a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proposition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357886"/>
            <a:ext cx="3464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Propositional</a:t>
            </a:r>
            <a:r>
              <a:rPr sz="4000" spc="-65" dirty="0"/>
              <a:t> </a:t>
            </a:r>
            <a:r>
              <a:rPr sz="4000" spc="15" dirty="0"/>
              <a:t>logic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83540" y="1278077"/>
            <a:ext cx="8530590" cy="3518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  <a:tab pos="2127885" algn="l"/>
                <a:tab pos="2887345" algn="l"/>
                <a:tab pos="3216275" algn="l"/>
                <a:tab pos="3481704" algn="l"/>
                <a:tab pos="5324475" algn="l"/>
                <a:tab pos="6274435" algn="l"/>
                <a:tab pos="6900545" algn="l"/>
                <a:tab pos="7839075" algn="l"/>
                <a:tab pos="8251190" algn="l"/>
              </a:tabLst>
            </a:pPr>
            <a:r>
              <a:rPr sz="2800" spc="-5" dirty="0">
                <a:latin typeface="Perpetua"/>
                <a:cs typeface="Perpetua"/>
              </a:rPr>
              <a:t>P</a:t>
            </a:r>
            <a:r>
              <a:rPr sz="2800" spc="-25" dirty="0">
                <a:latin typeface="Perpetua"/>
                <a:cs typeface="Perpetua"/>
              </a:rPr>
              <a:t>r</a:t>
            </a:r>
            <a:r>
              <a:rPr sz="2800" spc="-5" dirty="0">
                <a:latin typeface="Perpetua"/>
                <a:cs typeface="Perpetua"/>
              </a:rPr>
              <a:t>opositio</a:t>
            </a:r>
            <a:r>
              <a:rPr sz="2800" spc="5" dirty="0">
                <a:latin typeface="Perpetua"/>
                <a:cs typeface="Perpetua"/>
              </a:rPr>
              <a:t>n</a:t>
            </a:r>
            <a:r>
              <a:rPr sz="2800" spc="-10" dirty="0">
                <a:latin typeface="Perpetua"/>
                <a:cs typeface="Perpetua"/>
              </a:rPr>
              <a:t>a</a:t>
            </a:r>
            <a:r>
              <a:rPr sz="2800" spc="-5" dirty="0">
                <a:latin typeface="Perpetua"/>
                <a:cs typeface="Perpetua"/>
              </a:rPr>
              <a:t>l</a:t>
            </a:r>
            <a:r>
              <a:rPr sz="2800" dirty="0">
                <a:latin typeface="Perpetua"/>
                <a:cs typeface="Perpetua"/>
              </a:rPr>
              <a:t>	l</a:t>
            </a:r>
            <a:r>
              <a:rPr sz="2800" spc="-5" dirty="0">
                <a:latin typeface="Perpetua"/>
                <a:cs typeface="Perpetua"/>
              </a:rPr>
              <a:t>o</a:t>
            </a:r>
            <a:r>
              <a:rPr sz="2800" spc="50" dirty="0">
                <a:latin typeface="Perpetua"/>
                <a:cs typeface="Perpetua"/>
              </a:rPr>
              <a:t>g</a:t>
            </a:r>
            <a:r>
              <a:rPr sz="2800" spc="-5" dirty="0">
                <a:latin typeface="Perpetua"/>
                <a:cs typeface="Perpetua"/>
              </a:rPr>
              <a:t>ic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10" dirty="0">
                <a:latin typeface="Perpetua"/>
                <a:cs typeface="Perpetua"/>
              </a:rPr>
              <a:t>i</a:t>
            </a:r>
            <a:r>
              <a:rPr sz="2800" spc="-5" dirty="0">
                <a:latin typeface="Perpetua"/>
                <a:cs typeface="Perpetua"/>
              </a:rPr>
              <a:t>s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a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10" dirty="0">
                <a:latin typeface="Perpetua"/>
                <a:cs typeface="Perpetua"/>
              </a:rPr>
              <a:t>m</a:t>
            </a:r>
            <a:r>
              <a:rPr sz="2800" spc="-30" dirty="0">
                <a:latin typeface="Perpetua"/>
                <a:cs typeface="Perpetua"/>
              </a:rPr>
              <a:t>a</a:t>
            </a:r>
            <a:r>
              <a:rPr sz="2800" spc="-5" dirty="0">
                <a:latin typeface="Perpetua"/>
                <a:cs typeface="Perpetua"/>
              </a:rPr>
              <a:t>them</a:t>
            </a:r>
            <a:r>
              <a:rPr sz="2800" spc="-25" dirty="0">
                <a:latin typeface="Perpetua"/>
                <a:cs typeface="Perpetua"/>
              </a:rPr>
              <a:t>a</a:t>
            </a:r>
            <a:r>
              <a:rPr sz="2800" spc="-5" dirty="0">
                <a:latin typeface="Perpetua"/>
                <a:cs typeface="Perpetua"/>
              </a:rPr>
              <a:t>tical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10" dirty="0">
                <a:latin typeface="Perpetua"/>
                <a:cs typeface="Perpetua"/>
              </a:rPr>
              <a:t>mo</a:t>
            </a:r>
            <a:r>
              <a:rPr sz="2800" spc="-5" dirty="0">
                <a:latin typeface="Perpetua"/>
                <a:cs typeface="Perpetua"/>
              </a:rPr>
              <a:t>del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th</a:t>
            </a:r>
            <a:r>
              <a:rPr sz="2800" spc="-35" dirty="0">
                <a:latin typeface="Perpetua"/>
                <a:cs typeface="Perpetua"/>
              </a:rPr>
              <a:t>a</a:t>
            </a:r>
            <a:r>
              <a:rPr sz="2800" spc="-5" dirty="0">
                <a:latin typeface="Perpetua"/>
                <a:cs typeface="Perpetua"/>
              </a:rPr>
              <a:t>t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10" dirty="0">
                <a:latin typeface="Perpetua"/>
                <a:cs typeface="Perpetua"/>
              </a:rPr>
              <a:t>all</a:t>
            </a:r>
            <a:r>
              <a:rPr sz="2800" spc="-90" dirty="0">
                <a:latin typeface="Perpetua"/>
                <a:cs typeface="Perpetua"/>
              </a:rPr>
              <a:t>o</a:t>
            </a:r>
            <a:r>
              <a:rPr sz="2800" spc="-5" dirty="0">
                <a:latin typeface="Perpetua"/>
                <a:cs typeface="Perpetua"/>
              </a:rPr>
              <a:t>ws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5" dirty="0">
                <a:latin typeface="Perpetua"/>
                <a:cs typeface="Perpetua"/>
              </a:rPr>
              <a:t>us</a:t>
            </a:r>
            <a:r>
              <a:rPr sz="2800" dirty="0">
                <a:latin typeface="Perpetua"/>
                <a:cs typeface="Perpetua"/>
              </a:rPr>
              <a:t>	</a:t>
            </a:r>
            <a:r>
              <a:rPr sz="2800" spc="-10" dirty="0">
                <a:latin typeface="Perpetua"/>
                <a:cs typeface="Perpetua"/>
              </a:rPr>
              <a:t>to  reason about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10" dirty="0">
                <a:latin typeface="Perpetua"/>
                <a:cs typeface="Perpetua"/>
              </a:rPr>
              <a:t>truth </a:t>
            </a:r>
            <a:r>
              <a:rPr sz="2800" spc="-5" dirty="0">
                <a:latin typeface="Perpetua"/>
                <a:cs typeface="Perpetua"/>
              </a:rPr>
              <a:t>or falsehood of </a:t>
            </a:r>
            <a:r>
              <a:rPr sz="2800" spc="5" dirty="0">
                <a:latin typeface="Perpetua"/>
                <a:cs typeface="Perpetua"/>
              </a:rPr>
              <a:t>logical</a:t>
            </a:r>
            <a:r>
              <a:rPr sz="2800" spc="4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expressions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har char="•"/>
            </a:pPr>
            <a:endParaRPr sz="39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Propositional </a:t>
            </a:r>
            <a:r>
              <a:rPr sz="2800" spc="5" dirty="0">
                <a:latin typeface="Perpetua"/>
                <a:cs typeface="Perpetua"/>
              </a:rPr>
              <a:t>logic </a:t>
            </a:r>
            <a:r>
              <a:rPr sz="2800" spc="-5" dirty="0">
                <a:latin typeface="Perpetua"/>
                <a:cs typeface="Perpetua"/>
              </a:rPr>
              <a:t>is a </a:t>
            </a:r>
            <a:r>
              <a:rPr sz="2800" dirty="0">
                <a:latin typeface="Perpetua"/>
                <a:cs typeface="Perpetua"/>
              </a:rPr>
              <a:t>useful </a:t>
            </a:r>
            <a:r>
              <a:rPr sz="2800" spc="-5" dirty="0">
                <a:latin typeface="Perpetua"/>
                <a:cs typeface="Perpetua"/>
              </a:rPr>
              <a:t>tool for</a:t>
            </a:r>
            <a:r>
              <a:rPr sz="2800" spc="1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reasoning….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har char="•"/>
            </a:pPr>
            <a:endParaRPr sz="2950">
              <a:latin typeface="Perpetua"/>
              <a:cs typeface="Perpetua"/>
            </a:endParaRPr>
          </a:p>
          <a:p>
            <a:pPr marL="271780" indent="-244475">
              <a:lnSpc>
                <a:spcPct val="100000"/>
              </a:lnSpc>
              <a:buFont typeface="Arial"/>
              <a:buChar char="•"/>
              <a:tabLst>
                <a:tab pos="271145" algn="l"/>
                <a:tab pos="271780" algn="l"/>
              </a:tabLst>
            </a:pPr>
            <a:r>
              <a:rPr sz="2400" i="1" spc="-20" dirty="0">
                <a:latin typeface="Perpetua"/>
                <a:cs typeface="Perpetua"/>
              </a:rPr>
              <a:t>Law </a:t>
            </a:r>
            <a:r>
              <a:rPr sz="2400" i="1" spc="-5" dirty="0">
                <a:latin typeface="Perpetua"/>
                <a:cs typeface="Perpetua"/>
              </a:rPr>
              <a:t>of </a:t>
            </a:r>
            <a:r>
              <a:rPr sz="2400" i="1" dirty="0">
                <a:latin typeface="Perpetua"/>
                <a:cs typeface="Perpetua"/>
              </a:rPr>
              <a:t>the excluded</a:t>
            </a:r>
            <a:r>
              <a:rPr sz="2400" i="1" spc="-5" dirty="0">
                <a:latin typeface="Perpetua"/>
                <a:cs typeface="Perpetua"/>
              </a:rPr>
              <a:t> middle</a:t>
            </a:r>
            <a:endParaRPr sz="2400">
              <a:latin typeface="Perpetua"/>
              <a:cs typeface="Perpetua"/>
            </a:endParaRPr>
          </a:p>
          <a:p>
            <a:pPr marL="231775">
              <a:lnSpc>
                <a:spcPct val="100000"/>
              </a:lnSpc>
              <a:spcBef>
                <a:spcPts val="395"/>
              </a:spcBef>
            </a:pPr>
            <a:r>
              <a:rPr sz="2400" i="1" spc="-5" dirty="0">
                <a:latin typeface="Perpetua"/>
                <a:cs typeface="Perpetua"/>
              </a:rPr>
              <a:t>States </a:t>
            </a:r>
            <a:r>
              <a:rPr sz="2400" i="1" spc="-10" dirty="0">
                <a:latin typeface="Perpetua"/>
                <a:cs typeface="Perpetua"/>
              </a:rPr>
              <a:t>that </a:t>
            </a:r>
            <a:r>
              <a:rPr sz="2400" spc="-5" dirty="0">
                <a:latin typeface="Perpetua"/>
                <a:cs typeface="Perpetua"/>
              </a:rPr>
              <a:t>there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15" dirty="0">
                <a:latin typeface="Perpetua"/>
                <a:cs typeface="Perpetua"/>
              </a:rPr>
              <a:t>only </a:t>
            </a:r>
            <a:r>
              <a:rPr sz="2400" spc="-35" dirty="0">
                <a:latin typeface="Perpetua"/>
                <a:cs typeface="Perpetua"/>
              </a:rPr>
              <a:t>two </a:t>
            </a:r>
            <a:r>
              <a:rPr sz="2400" spc="10" dirty="0">
                <a:latin typeface="Perpetua"/>
                <a:cs typeface="Perpetua"/>
              </a:rPr>
              <a:t>truth </a:t>
            </a:r>
            <a:r>
              <a:rPr sz="2400" spc="-15" dirty="0">
                <a:latin typeface="Perpetua"/>
                <a:cs typeface="Perpetua"/>
              </a:rPr>
              <a:t>values </a:t>
            </a:r>
            <a:r>
              <a:rPr sz="2400" dirty="0">
                <a:latin typeface="Perpetua"/>
                <a:cs typeface="Perpetua"/>
              </a:rPr>
              <a:t>in a </a:t>
            </a:r>
            <a:r>
              <a:rPr sz="2400" spc="5" dirty="0">
                <a:latin typeface="Perpetua"/>
                <a:cs typeface="Perpetua"/>
              </a:rPr>
              <a:t>logical</a:t>
            </a:r>
            <a:r>
              <a:rPr sz="2400" spc="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system</a:t>
            </a:r>
            <a:endParaRPr sz="2400">
              <a:latin typeface="Perpetua"/>
              <a:cs typeface="Perpetua"/>
            </a:endParaRPr>
          </a:p>
          <a:p>
            <a:pPr marR="747395" algn="r">
              <a:lnSpc>
                <a:spcPct val="100000"/>
              </a:lnSpc>
              <a:spcBef>
                <a:spcPts val="400"/>
              </a:spcBef>
            </a:pPr>
            <a:r>
              <a:rPr sz="2400" dirty="0">
                <a:latin typeface="Perpetua"/>
                <a:cs typeface="Perpetua"/>
              </a:rPr>
              <a:t>(</a:t>
            </a:r>
            <a:r>
              <a:rPr sz="2400" spc="-44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TRUE </a:t>
            </a:r>
            <a:r>
              <a:rPr sz="2400" dirty="0">
                <a:latin typeface="Perpetua"/>
                <a:cs typeface="Perpetua"/>
              </a:rPr>
              <a:t>, </a:t>
            </a:r>
            <a:r>
              <a:rPr sz="2400" spc="-20" dirty="0">
                <a:latin typeface="Perpetua"/>
                <a:cs typeface="Perpetua"/>
              </a:rPr>
              <a:t>FALSE)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13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1140" y="1023874"/>
            <a:ext cx="8606155" cy="779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  <a:tabLst>
                <a:tab pos="1073150" algn="l"/>
                <a:tab pos="1486535" algn="l"/>
                <a:tab pos="2073275" algn="l"/>
                <a:tab pos="3551554" algn="l"/>
                <a:tab pos="5176520" algn="l"/>
                <a:tab pos="5748020" algn="l"/>
                <a:tab pos="7783195" algn="l"/>
                <a:tab pos="8138159" algn="l"/>
              </a:tabLst>
            </a:pPr>
            <a:r>
              <a:rPr sz="2600" b="1" dirty="0">
                <a:latin typeface="Perpetua"/>
                <a:cs typeface="Perpetua"/>
              </a:rPr>
              <a:t>Wh</a:t>
            </a:r>
            <a:r>
              <a:rPr sz="2600" b="1" spc="-10" dirty="0">
                <a:latin typeface="Perpetua"/>
                <a:cs typeface="Perpetua"/>
              </a:rPr>
              <a:t>i</a:t>
            </a:r>
            <a:r>
              <a:rPr sz="2600" b="1" spc="-5" dirty="0">
                <a:latin typeface="Perpetua"/>
                <a:cs typeface="Perpetua"/>
              </a:rPr>
              <a:t>c</a:t>
            </a:r>
            <a:r>
              <a:rPr sz="2600" b="1" dirty="0">
                <a:latin typeface="Perpetua"/>
                <a:cs typeface="Perpetua"/>
              </a:rPr>
              <a:t>h	of	</a:t>
            </a:r>
            <a:r>
              <a:rPr sz="2600" b="1" spc="-5" dirty="0">
                <a:latin typeface="Perpetua"/>
                <a:cs typeface="Perpetua"/>
              </a:rPr>
              <a:t>th</a:t>
            </a:r>
            <a:r>
              <a:rPr sz="2600" b="1" dirty="0">
                <a:latin typeface="Perpetua"/>
                <a:cs typeface="Perpetua"/>
              </a:rPr>
              <a:t>e	foll</a:t>
            </a:r>
            <a:r>
              <a:rPr sz="2600" b="1" spc="-75" dirty="0">
                <a:latin typeface="Perpetua"/>
                <a:cs typeface="Perpetua"/>
              </a:rPr>
              <a:t>o</a:t>
            </a:r>
            <a:r>
              <a:rPr sz="2600" b="1" spc="-10" dirty="0">
                <a:latin typeface="Perpetua"/>
                <a:cs typeface="Perpetua"/>
              </a:rPr>
              <a:t>w</a:t>
            </a:r>
            <a:r>
              <a:rPr sz="2600" b="1" dirty="0">
                <a:latin typeface="Perpetua"/>
                <a:cs typeface="Perpetua"/>
              </a:rPr>
              <a:t>ing	</a:t>
            </a:r>
            <a:r>
              <a:rPr sz="2600" b="1" spc="-5" dirty="0">
                <a:latin typeface="Perpetua"/>
                <a:cs typeface="Perpetua"/>
              </a:rPr>
              <a:t>st</a:t>
            </a:r>
            <a:r>
              <a:rPr sz="2600" b="1" spc="-30" dirty="0">
                <a:latin typeface="Perpetua"/>
                <a:cs typeface="Perpetua"/>
              </a:rPr>
              <a:t>a</a:t>
            </a:r>
            <a:r>
              <a:rPr sz="2600" b="1" spc="-5" dirty="0">
                <a:latin typeface="Perpetua"/>
                <a:cs typeface="Perpetua"/>
              </a:rPr>
              <a:t>tem</a:t>
            </a:r>
            <a:r>
              <a:rPr sz="2600" b="1" spc="5" dirty="0">
                <a:latin typeface="Perpetua"/>
                <a:cs typeface="Perpetua"/>
              </a:rPr>
              <a:t>e</a:t>
            </a:r>
            <a:r>
              <a:rPr sz="2600" b="1" dirty="0">
                <a:latin typeface="Perpetua"/>
                <a:cs typeface="Perpetua"/>
              </a:rPr>
              <a:t>nts	are	</a:t>
            </a:r>
            <a:r>
              <a:rPr sz="2600" b="1" spc="-15" dirty="0">
                <a:latin typeface="Perpetua"/>
                <a:cs typeface="Perpetua"/>
              </a:rPr>
              <a:t>p</a:t>
            </a:r>
            <a:r>
              <a:rPr sz="2600" b="1" dirty="0">
                <a:latin typeface="Perpetua"/>
                <a:cs typeface="Perpetua"/>
              </a:rPr>
              <a:t>ropositions?	</a:t>
            </a:r>
            <a:r>
              <a:rPr sz="2600" b="1" spc="-5" dirty="0">
                <a:latin typeface="Perpetua"/>
                <a:cs typeface="Perpetua"/>
              </a:rPr>
              <a:t>I</a:t>
            </a:r>
            <a:r>
              <a:rPr sz="2600" b="1" dirty="0">
                <a:latin typeface="Perpetua"/>
                <a:cs typeface="Perpetua"/>
              </a:rPr>
              <a:t>f	</a:t>
            </a:r>
            <a:r>
              <a:rPr sz="2600" b="1" spc="-5" dirty="0">
                <a:latin typeface="Perpetua"/>
                <a:cs typeface="Perpetua"/>
              </a:rPr>
              <a:t>the  statement is </a:t>
            </a:r>
            <a:r>
              <a:rPr sz="2600" b="1" dirty="0">
                <a:latin typeface="Perpetua"/>
                <a:cs typeface="Perpetua"/>
              </a:rPr>
              <a:t>a proposition, </a:t>
            </a:r>
            <a:r>
              <a:rPr sz="2600" b="1" spc="-10" dirty="0">
                <a:latin typeface="Perpetua"/>
                <a:cs typeface="Perpetua"/>
              </a:rPr>
              <a:t>provide </a:t>
            </a:r>
            <a:r>
              <a:rPr sz="2600" b="1" spc="10" dirty="0">
                <a:latin typeface="Perpetua"/>
                <a:cs typeface="Perpetua"/>
              </a:rPr>
              <a:t>truth</a:t>
            </a:r>
            <a:r>
              <a:rPr sz="2600" b="1" spc="-120" dirty="0">
                <a:latin typeface="Perpetua"/>
                <a:cs typeface="Perpetua"/>
              </a:rPr>
              <a:t> </a:t>
            </a:r>
            <a:r>
              <a:rPr sz="2600" b="1" spc="-10" dirty="0">
                <a:latin typeface="Perpetua"/>
                <a:cs typeface="Perpetua"/>
              </a:rPr>
              <a:t>value.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492" y="1787779"/>
            <a:ext cx="6907530" cy="4051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4550" indent="-516255">
              <a:lnSpc>
                <a:spcPct val="100000"/>
              </a:lnSpc>
              <a:spcBef>
                <a:spcPts val="105"/>
              </a:spcBef>
              <a:buSzPct val="84615"/>
              <a:buAutoNum type="arabicPeriod"/>
              <a:tabLst>
                <a:tab pos="844550" algn="l"/>
                <a:tab pos="845185" algn="l"/>
              </a:tabLst>
            </a:pPr>
            <a:r>
              <a:rPr sz="2600" dirty="0">
                <a:latin typeface="Perpetua"/>
                <a:cs typeface="Perpetua"/>
              </a:rPr>
              <a:t>The sum of </a:t>
            </a:r>
            <a:r>
              <a:rPr sz="2600" spc="-20" dirty="0">
                <a:latin typeface="Perpetua"/>
                <a:cs typeface="Perpetua"/>
              </a:rPr>
              <a:t>any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spc="5" dirty="0">
                <a:latin typeface="Perpetua"/>
                <a:cs typeface="Perpetua"/>
              </a:rPr>
              <a:t>prime numbers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even.</a:t>
            </a:r>
            <a:endParaRPr sz="2600">
              <a:latin typeface="Perpetua"/>
              <a:cs typeface="Perpetua"/>
            </a:endParaRPr>
          </a:p>
          <a:p>
            <a:pPr marL="844550" indent="-516255">
              <a:lnSpc>
                <a:spcPct val="100000"/>
              </a:lnSpc>
              <a:spcBef>
                <a:spcPts val="80"/>
              </a:spcBef>
              <a:buSzPct val="84615"/>
              <a:buAutoNum type="arabicPeriod"/>
              <a:tabLst>
                <a:tab pos="844550" algn="l"/>
                <a:tab pos="845185" algn="l"/>
              </a:tabLst>
            </a:pPr>
            <a:r>
              <a:rPr sz="2600" spc="-5" dirty="0">
                <a:latin typeface="Perpetua"/>
                <a:cs typeface="Perpetua"/>
              </a:rPr>
              <a:t>Come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class!</a:t>
            </a:r>
            <a:endParaRPr sz="2600">
              <a:latin typeface="Perpetua"/>
              <a:cs typeface="Perpetua"/>
            </a:endParaRPr>
          </a:p>
          <a:p>
            <a:pPr marL="844550" indent="-516255">
              <a:lnSpc>
                <a:spcPct val="100000"/>
              </a:lnSpc>
              <a:spcBef>
                <a:spcPts val="100"/>
              </a:spcBef>
              <a:buSzPct val="84615"/>
              <a:buAutoNum type="arabicPeriod"/>
              <a:tabLst>
                <a:tab pos="844550" algn="l"/>
                <a:tab pos="845185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moon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made </a:t>
            </a:r>
            <a:r>
              <a:rPr sz="2600" dirty="0">
                <a:latin typeface="Perpetua"/>
                <a:cs typeface="Perpetua"/>
              </a:rPr>
              <a:t>of green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cheese.</a:t>
            </a:r>
            <a:endParaRPr sz="2600">
              <a:latin typeface="Perpetua"/>
              <a:cs typeface="Perpetua"/>
            </a:endParaRPr>
          </a:p>
          <a:p>
            <a:pPr marL="844550" indent="-516255">
              <a:lnSpc>
                <a:spcPct val="100000"/>
              </a:lnSpc>
              <a:spcBef>
                <a:spcPts val="85"/>
              </a:spcBef>
              <a:buSzPct val="84615"/>
              <a:buAutoNum type="arabicPeriod"/>
              <a:tabLst>
                <a:tab pos="844550" algn="l"/>
                <a:tab pos="845185" algn="l"/>
              </a:tabLst>
            </a:pPr>
            <a:r>
              <a:rPr sz="2600" dirty="0">
                <a:latin typeface="Perpetua"/>
                <a:cs typeface="Perpetua"/>
              </a:rPr>
              <a:t>Is it</a:t>
            </a:r>
            <a:r>
              <a:rPr sz="2600" spc="-5" dirty="0">
                <a:latin typeface="Perpetua"/>
                <a:cs typeface="Perpetua"/>
              </a:rPr>
              <a:t> raining?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ts val="2580"/>
              </a:lnSpc>
              <a:spcBef>
                <a:spcPts val="1525"/>
              </a:spcBef>
            </a:pPr>
            <a:r>
              <a:rPr sz="2200" b="1" spc="-5" dirty="0">
                <a:latin typeface="Perpetua"/>
                <a:cs typeface="Perpetua"/>
              </a:rPr>
              <a:t>Solution:-</a:t>
            </a:r>
            <a:endParaRPr sz="2200">
              <a:latin typeface="Perpetua"/>
              <a:cs typeface="Perpetua"/>
            </a:endParaRPr>
          </a:p>
          <a:p>
            <a:pPr marL="847725" indent="-515620">
              <a:lnSpc>
                <a:spcPts val="2515"/>
              </a:lnSpc>
              <a:buSzPct val="84090"/>
              <a:buAutoNum type="arabicPeriod"/>
              <a:tabLst>
                <a:tab pos="847725" algn="l"/>
                <a:tab pos="848360" algn="l"/>
              </a:tabLst>
            </a:pPr>
            <a:r>
              <a:rPr sz="2200" spc="-5" dirty="0">
                <a:latin typeface="Perpetua"/>
                <a:cs typeface="Perpetua"/>
              </a:rPr>
              <a:t>The sum of </a:t>
            </a:r>
            <a:r>
              <a:rPr sz="2200" spc="-20" dirty="0">
                <a:latin typeface="Perpetua"/>
                <a:cs typeface="Perpetua"/>
              </a:rPr>
              <a:t>any </a:t>
            </a:r>
            <a:r>
              <a:rPr sz="2200" spc="-30" dirty="0">
                <a:latin typeface="Perpetua"/>
                <a:cs typeface="Perpetua"/>
              </a:rPr>
              <a:t>two </a:t>
            </a:r>
            <a:r>
              <a:rPr sz="2200" spc="5" dirty="0">
                <a:latin typeface="Perpetua"/>
                <a:cs typeface="Perpetua"/>
              </a:rPr>
              <a:t>prime </a:t>
            </a:r>
            <a:r>
              <a:rPr sz="2200" dirty="0">
                <a:latin typeface="Perpetua"/>
                <a:cs typeface="Perpetua"/>
              </a:rPr>
              <a:t>numbers </a:t>
            </a:r>
            <a:r>
              <a:rPr sz="2200" spc="-5" dirty="0">
                <a:latin typeface="Perpetua"/>
                <a:cs typeface="Perpetua"/>
              </a:rPr>
              <a:t>is</a:t>
            </a:r>
            <a:r>
              <a:rPr sz="2200" spc="105" dirty="0">
                <a:latin typeface="Perpetua"/>
                <a:cs typeface="Perpetua"/>
              </a:rPr>
              <a:t> </a:t>
            </a:r>
            <a:r>
              <a:rPr sz="2200" spc="-25" dirty="0">
                <a:latin typeface="Perpetua"/>
                <a:cs typeface="Perpetua"/>
              </a:rPr>
              <a:t>even.</a:t>
            </a:r>
            <a:endParaRPr sz="2200">
              <a:latin typeface="Perpetua"/>
              <a:cs typeface="Perpetua"/>
            </a:endParaRPr>
          </a:p>
          <a:p>
            <a:pPr marL="927100">
              <a:lnSpc>
                <a:spcPts val="2510"/>
              </a:lnSpc>
            </a:pPr>
            <a:r>
              <a:rPr sz="2200" i="1" spc="-20" dirty="0">
                <a:solidFill>
                  <a:srgbClr val="00AF50"/>
                </a:solidFill>
                <a:latin typeface="Perpetua"/>
                <a:cs typeface="Perpetua"/>
              </a:rPr>
              <a:t>Proposition.Truth value </a:t>
            </a:r>
            <a:r>
              <a:rPr sz="2200" i="1" spc="-5" dirty="0">
                <a:solidFill>
                  <a:srgbClr val="00AF50"/>
                </a:solidFill>
                <a:latin typeface="Perpetua"/>
                <a:cs typeface="Perpetua"/>
              </a:rPr>
              <a:t>if </a:t>
            </a:r>
            <a:r>
              <a:rPr sz="2200" b="1" i="1" spc="-35" dirty="0">
                <a:solidFill>
                  <a:srgbClr val="00AF50"/>
                </a:solidFill>
                <a:latin typeface="Perpetua"/>
                <a:cs typeface="Perpetua"/>
              </a:rPr>
              <a:t>False </a:t>
            </a:r>
            <a:r>
              <a:rPr sz="2200" i="1" spc="-5" dirty="0">
                <a:solidFill>
                  <a:srgbClr val="00AF50"/>
                </a:solidFill>
                <a:latin typeface="Perpetua"/>
                <a:cs typeface="Perpetua"/>
              </a:rPr>
              <a:t>(Eg:- 2+3=5, </a:t>
            </a:r>
            <a:r>
              <a:rPr sz="2200" i="1" spc="-15" dirty="0">
                <a:solidFill>
                  <a:srgbClr val="00AF50"/>
                </a:solidFill>
                <a:latin typeface="Perpetua"/>
                <a:cs typeface="Perpetua"/>
              </a:rPr>
              <a:t>which </a:t>
            </a:r>
            <a:r>
              <a:rPr sz="2200" i="1" spc="-5" dirty="0">
                <a:solidFill>
                  <a:srgbClr val="00AF50"/>
                </a:solidFill>
                <a:latin typeface="Perpetua"/>
                <a:cs typeface="Perpetua"/>
              </a:rPr>
              <a:t>is not</a:t>
            </a:r>
            <a:r>
              <a:rPr sz="2200" i="1" spc="10" dirty="0">
                <a:solidFill>
                  <a:srgbClr val="00AF50"/>
                </a:solidFill>
                <a:latin typeface="Perpetua"/>
                <a:cs typeface="Perpetua"/>
              </a:rPr>
              <a:t> </a:t>
            </a:r>
            <a:r>
              <a:rPr sz="2200" i="1" spc="-15" dirty="0">
                <a:solidFill>
                  <a:srgbClr val="00AF50"/>
                </a:solidFill>
                <a:latin typeface="Perpetua"/>
                <a:cs typeface="Perpetua"/>
              </a:rPr>
              <a:t>even)</a:t>
            </a:r>
            <a:endParaRPr sz="2200">
              <a:latin typeface="Perpetua"/>
              <a:cs typeface="Perpetua"/>
            </a:endParaRPr>
          </a:p>
          <a:p>
            <a:pPr marL="847725" indent="-515620">
              <a:lnSpc>
                <a:spcPts val="2515"/>
              </a:lnSpc>
              <a:buSzPct val="84090"/>
              <a:buAutoNum type="arabicPeriod" startAt="2"/>
              <a:tabLst>
                <a:tab pos="847725" algn="l"/>
                <a:tab pos="848360" algn="l"/>
              </a:tabLst>
            </a:pPr>
            <a:r>
              <a:rPr sz="2200" spc="-5" dirty="0">
                <a:latin typeface="Perpetua"/>
                <a:cs typeface="Perpetua"/>
              </a:rPr>
              <a:t>Come to class! </a:t>
            </a:r>
            <a:r>
              <a:rPr sz="2200" i="1" dirty="0">
                <a:solidFill>
                  <a:srgbClr val="FF0000"/>
                </a:solidFill>
                <a:latin typeface="Perpetua"/>
                <a:cs typeface="Perpetua"/>
              </a:rPr>
              <a:t>Not </a:t>
            </a:r>
            <a:r>
              <a:rPr sz="2200" i="1" spc="-5" dirty="0">
                <a:solidFill>
                  <a:srgbClr val="FF0000"/>
                </a:solidFill>
                <a:latin typeface="Perpetua"/>
                <a:cs typeface="Perpetua"/>
              </a:rPr>
              <a:t>a</a:t>
            </a:r>
            <a:r>
              <a:rPr sz="2200" i="1" spc="3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2200" i="1" spc="-10" dirty="0">
                <a:solidFill>
                  <a:srgbClr val="FF0000"/>
                </a:solidFill>
                <a:latin typeface="Perpetua"/>
                <a:cs typeface="Perpetua"/>
              </a:rPr>
              <a:t>proposition</a:t>
            </a:r>
            <a:endParaRPr sz="2200">
              <a:latin typeface="Perpetua"/>
              <a:cs typeface="Perpetua"/>
            </a:endParaRPr>
          </a:p>
          <a:p>
            <a:pPr marL="847725" indent="-515620">
              <a:lnSpc>
                <a:spcPts val="2560"/>
              </a:lnSpc>
              <a:buSzPct val="84090"/>
              <a:buAutoNum type="arabicPeriod" startAt="2"/>
              <a:tabLst>
                <a:tab pos="847725" algn="l"/>
                <a:tab pos="848360" algn="l"/>
              </a:tabLst>
            </a:pPr>
            <a:r>
              <a:rPr sz="2200" spc="-5" dirty="0">
                <a:latin typeface="Perpetua"/>
                <a:cs typeface="Perpetua"/>
              </a:rPr>
              <a:t>The moon is made of green</a:t>
            </a:r>
            <a:r>
              <a:rPr sz="2200" spc="6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cheese.</a:t>
            </a:r>
            <a:endParaRPr sz="2200">
              <a:latin typeface="Perpetua"/>
              <a:cs typeface="Perpetua"/>
            </a:endParaRPr>
          </a:p>
          <a:p>
            <a:pPr marR="3451860" algn="r">
              <a:lnSpc>
                <a:spcPts val="2185"/>
              </a:lnSpc>
            </a:pPr>
            <a:r>
              <a:rPr sz="1900" i="1" spc="-15" dirty="0">
                <a:solidFill>
                  <a:srgbClr val="00AF50"/>
                </a:solidFill>
                <a:latin typeface="Perpetua"/>
                <a:cs typeface="Perpetua"/>
              </a:rPr>
              <a:t>Proposition.Truth value </a:t>
            </a:r>
            <a:r>
              <a:rPr sz="1900" i="1" spc="-5" dirty="0">
                <a:solidFill>
                  <a:srgbClr val="00AF50"/>
                </a:solidFill>
                <a:latin typeface="Perpetua"/>
                <a:cs typeface="Perpetua"/>
              </a:rPr>
              <a:t>if</a:t>
            </a:r>
            <a:r>
              <a:rPr sz="1900" i="1" spc="5" dirty="0">
                <a:solidFill>
                  <a:srgbClr val="00AF50"/>
                </a:solidFill>
                <a:latin typeface="Perpetua"/>
                <a:cs typeface="Perpetua"/>
              </a:rPr>
              <a:t> </a:t>
            </a:r>
            <a:r>
              <a:rPr sz="1900" b="1" i="1" spc="-30" dirty="0">
                <a:solidFill>
                  <a:srgbClr val="00AF50"/>
                </a:solidFill>
                <a:latin typeface="Perpetua"/>
                <a:cs typeface="Perpetua"/>
              </a:rPr>
              <a:t>False</a:t>
            </a:r>
            <a:endParaRPr sz="1900">
              <a:latin typeface="Perpetua"/>
              <a:cs typeface="Perpetua"/>
            </a:endParaRPr>
          </a:p>
          <a:p>
            <a:pPr marL="514984" marR="3402965" indent="-514984" algn="r">
              <a:lnSpc>
                <a:spcPts val="2560"/>
              </a:lnSpc>
              <a:buSzPct val="84090"/>
              <a:buAutoNum type="arabicPeriod" startAt="4"/>
              <a:tabLst>
                <a:tab pos="514984" algn="l"/>
                <a:tab pos="848360" algn="l"/>
              </a:tabLst>
            </a:pPr>
            <a:r>
              <a:rPr sz="2200" spc="-5" dirty="0">
                <a:latin typeface="Perpetua"/>
                <a:cs typeface="Perpetua"/>
              </a:rPr>
              <a:t>Is it raining? </a:t>
            </a:r>
            <a:r>
              <a:rPr sz="1900" i="1" spc="-5" dirty="0">
                <a:solidFill>
                  <a:srgbClr val="FF0000"/>
                </a:solidFill>
                <a:latin typeface="Perpetua"/>
                <a:cs typeface="Perpetua"/>
              </a:rPr>
              <a:t>Not a</a:t>
            </a:r>
            <a:r>
              <a:rPr sz="1900" i="1" spc="25" dirty="0">
                <a:solidFill>
                  <a:srgbClr val="FF0000"/>
                </a:solidFill>
                <a:latin typeface="Perpetua"/>
                <a:cs typeface="Perpetua"/>
              </a:rPr>
              <a:t> </a:t>
            </a:r>
            <a:r>
              <a:rPr sz="1900" i="1" spc="-5" dirty="0">
                <a:solidFill>
                  <a:srgbClr val="FF0000"/>
                </a:solidFill>
                <a:latin typeface="Perpetua"/>
                <a:cs typeface="Perpetua"/>
              </a:rPr>
              <a:t>proposition</a:t>
            </a:r>
            <a:endParaRPr sz="19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357886"/>
            <a:ext cx="40011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Propositional</a:t>
            </a:r>
            <a:r>
              <a:rPr sz="4000" spc="-45" dirty="0"/>
              <a:t> </a:t>
            </a:r>
            <a:r>
              <a:rPr sz="4000" spc="-10" dirty="0"/>
              <a:t>variable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83540" y="1286002"/>
            <a:ext cx="8074659" cy="3623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6985" indent="-274320" algn="just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Notice </a:t>
            </a:r>
            <a:r>
              <a:rPr sz="2400" spc="-5" dirty="0">
                <a:latin typeface="Perpetua"/>
                <a:cs typeface="Perpetua"/>
              </a:rPr>
              <a:t>that, </a:t>
            </a:r>
            <a:r>
              <a:rPr sz="2400" dirty="0">
                <a:latin typeface="Perpetua"/>
                <a:cs typeface="Perpetua"/>
              </a:rPr>
              <a:t>our </a:t>
            </a:r>
            <a:r>
              <a:rPr sz="2400" spc="-5" dirty="0">
                <a:latin typeface="Perpetua"/>
                <a:cs typeface="Perpetua"/>
              </a:rPr>
              <a:t>reasoning about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5" dirty="0">
                <a:latin typeface="Perpetua"/>
                <a:cs typeface="Perpetua"/>
              </a:rPr>
              <a:t>two </a:t>
            </a:r>
            <a:r>
              <a:rPr sz="2400" spc="-5" dirty="0">
                <a:latin typeface="Perpetua"/>
                <a:cs typeface="Perpetua"/>
              </a:rPr>
              <a:t>statements and </a:t>
            </a:r>
            <a:r>
              <a:rPr sz="2400" dirty="0">
                <a:latin typeface="Perpetua"/>
                <a:cs typeface="Perpetua"/>
              </a:rPr>
              <a:t>2 </a:t>
            </a:r>
            <a:r>
              <a:rPr sz="2400" spc="-5" dirty="0">
                <a:latin typeface="Perpetua"/>
                <a:cs typeface="Perpetua"/>
              </a:rPr>
              <a:t>in </a:t>
            </a:r>
            <a:r>
              <a:rPr sz="2400" dirty="0">
                <a:latin typeface="Perpetua"/>
                <a:cs typeface="Perpetua"/>
              </a:rPr>
              <a:t>the  </a:t>
            </a:r>
            <a:r>
              <a:rPr sz="2400" spc="-10" dirty="0">
                <a:latin typeface="Perpetua"/>
                <a:cs typeface="Perpetua"/>
              </a:rPr>
              <a:t>previous </a:t>
            </a:r>
            <a:r>
              <a:rPr sz="2400" spc="-80" dirty="0">
                <a:latin typeface="Perpetua"/>
                <a:cs typeface="Perpetua"/>
              </a:rPr>
              <a:t>eg. </a:t>
            </a:r>
            <a:r>
              <a:rPr sz="2400" dirty="0">
                <a:latin typeface="Perpetua"/>
                <a:cs typeface="Perpetua"/>
              </a:rPr>
              <a:t>did not depend on </a:t>
            </a:r>
            <a:r>
              <a:rPr sz="2400" spc="-10" dirty="0">
                <a:latin typeface="Perpetua"/>
                <a:cs typeface="Perpetua"/>
              </a:rPr>
              <a:t>what </a:t>
            </a:r>
            <a:r>
              <a:rPr sz="2400" dirty="0">
                <a:latin typeface="Perpetua"/>
                <a:cs typeface="Perpetua"/>
              </a:rPr>
              <a:t>a &lt; b </a:t>
            </a:r>
            <a:r>
              <a:rPr sz="2400" spc="-10" dirty="0">
                <a:latin typeface="Perpetua"/>
                <a:cs typeface="Perpetua"/>
              </a:rPr>
              <a:t>actually</a:t>
            </a:r>
            <a:r>
              <a:rPr sz="2400" spc="-8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means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550">
              <a:latin typeface="Perpetua"/>
              <a:cs typeface="Perpetua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5"/>
              </a:spcBef>
              <a:buSzPct val="85416"/>
              <a:buFont typeface="Arial"/>
              <a:buChar char="•"/>
              <a:tabLst>
                <a:tab pos="332740" algn="l"/>
              </a:tabLst>
            </a:pPr>
            <a:r>
              <a:rPr dirty="0"/>
              <a:t>	</a:t>
            </a:r>
            <a:r>
              <a:rPr sz="2400" spc="-5" dirty="0">
                <a:latin typeface="Perpetua"/>
                <a:cs typeface="Perpetua"/>
              </a:rPr>
              <a:t>All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dirty="0">
                <a:latin typeface="Perpetua"/>
                <a:cs typeface="Perpetua"/>
              </a:rPr>
              <a:t>needed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-20" dirty="0">
                <a:latin typeface="Perpetua"/>
                <a:cs typeface="Perpetua"/>
              </a:rPr>
              <a:t>know </a:t>
            </a:r>
            <a:r>
              <a:rPr sz="2400" spc="-15" dirty="0">
                <a:latin typeface="Perpetua"/>
                <a:cs typeface="Perpetua"/>
              </a:rPr>
              <a:t>was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the conditions a &lt; b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&gt;= </a:t>
            </a:r>
            <a:r>
              <a:rPr sz="2400" dirty="0">
                <a:latin typeface="Perpetua"/>
                <a:cs typeface="Perpetua"/>
              </a:rPr>
              <a:t>b </a:t>
            </a:r>
            <a:r>
              <a:rPr sz="2400" spc="-20" dirty="0">
                <a:latin typeface="Perpetua"/>
                <a:cs typeface="Perpetua"/>
              </a:rPr>
              <a:t>are  complementary,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is, </a:t>
            </a:r>
            <a:r>
              <a:rPr sz="2400" spc="-5" dirty="0">
                <a:latin typeface="Perpetua"/>
                <a:cs typeface="Perpetua"/>
              </a:rPr>
              <a:t>when </a:t>
            </a:r>
            <a:r>
              <a:rPr sz="2400" dirty="0">
                <a:latin typeface="Perpetua"/>
                <a:cs typeface="Perpetua"/>
              </a:rPr>
              <a:t>one </a:t>
            </a:r>
            <a:r>
              <a:rPr sz="2400" spc="-10" dirty="0">
                <a:latin typeface="Perpetua"/>
                <a:cs typeface="Perpetua"/>
              </a:rPr>
              <a:t>is </a:t>
            </a:r>
            <a:r>
              <a:rPr sz="2400" spc="-35" dirty="0">
                <a:latin typeface="Perpetua"/>
                <a:cs typeface="Perpetua"/>
              </a:rPr>
              <a:t>TRUE </a:t>
            </a:r>
            <a:r>
              <a:rPr sz="2400" dirty="0">
                <a:latin typeface="Perpetua"/>
                <a:cs typeface="Perpetua"/>
              </a:rPr>
              <a:t>the other is </a:t>
            </a:r>
            <a:r>
              <a:rPr sz="2400" spc="-30" dirty="0">
                <a:latin typeface="Perpetua"/>
                <a:cs typeface="Perpetua"/>
              </a:rPr>
              <a:t>FALSE </a:t>
            </a:r>
            <a:r>
              <a:rPr sz="2400" spc="-10" dirty="0">
                <a:latin typeface="Perpetua"/>
                <a:cs typeface="Perpetua"/>
              </a:rPr>
              <a:t>and</a:t>
            </a:r>
            <a:r>
              <a:rPr sz="2400" spc="-210" dirty="0">
                <a:latin typeface="Perpetua"/>
                <a:cs typeface="Perpetua"/>
              </a:rPr>
              <a:t> </a:t>
            </a:r>
            <a:r>
              <a:rPr sz="2400" spc="-15" dirty="0">
                <a:latin typeface="Perpetua"/>
                <a:cs typeface="Perpetua"/>
              </a:rPr>
              <a:t>vice  </a:t>
            </a:r>
            <a:r>
              <a:rPr sz="2400" spc="-5" dirty="0">
                <a:latin typeface="Perpetua"/>
                <a:cs typeface="Perpetua"/>
              </a:rPr>
              <a:t>versa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5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spc="-30" dirty="0">
                <a:latin typeface="Perpetua"/>
                <a:cs typeface="Perpetua"/>
              </a:rPr>
              <a:t>may </a:t>
            </a:r>
            <a:r>
              <a:rPr sz="2400" spc="-10" dirty="0">
                <a:latin typeface="Perpetua"/>
                <a:cs typeface="Perpetua"/>
              </a:rPr>
              <a:t>therefore, </a:t>
            </a:r>
            <a:r>
              <a:rPr sz="2400" spc="-5" dirty="0">
                <a:latin typeface="Perpetua"/>
                <a:cs typeface="Perpetua"/>
              </a:rPr>
              <a:t>replace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10" dirty="0">
                <a:latin typeface="Perpetua"/>
                <a:cs typeface="Perpetua"/>
              </a:rPr>
              <a:t>statement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b="1" dirty="0">
                <a:solidFill>
                  <a:srgbClr val="C00000"/>
                </a:solidFill>
                <a:latin typeface="Perpetua"/>
                <a:cs typeface="Perpetua"/>
              </a:rPr>
              <a:t>a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single symbol</a:t>
            </a:r>
            <a:r>
              <a:rPr sz="2400" b="1" spc="-19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b="1" spc="-15" dirty="0">
                <a:solidFill>
                  <a:srgbClr val="C00000"/>
                </a:solidFill>
                <a:latin typeface="Perpetua"/>
                <a:cs typeface="Perpetua"/>
              </a:rPr>
              <a:t>known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C00000"/>
                </a:solidFill>
                <a:latin typeface="Perpetua"/>
                <a:cs typeface="Perpetua"/>
              </a:rPr>
              <a:t>as </a:t>
            </a:r>
            <a:r>
              <a:rPr sz="2400" b="1" spc="-5" dirty="0">
                <a:solidFill>
                  <a:srgbClr val="C00000"/>
                </a:solidFill>
                <a:latin typeface="Perpetua"/>
                <a:cs typeface="Perpetua"/>
              </a:rPr>
              <a:t>Propositional </a:t>
            </a:r>
            <a:r>
              <a:rPr sz="2400" b="1" spc="-10" dirty="0">
                <a:solidFill>
                  <a:srgbClr val="C00000"/>
                </a:solidFill>
                <a:latin typeface="Perpetua"/>
                <a:cs typeface="Perpetua"/>
              </a:rPr>
              <a:t>variable</a:t>
            </a:r>
            <a:r>
              <a:rPr sz="2400" spc="-10" dirty="0">
                <a:latin typeface="Perpetua"/>
                <a:cs typeface="Perpetua"/>
              </a:rPr>
              <a:t>, </a:t>
            </a:r>
            <a:r>
              <a:rPr sz="2400" dirty="0">
                <a:latin typeface="Perpetua"/>
                <a:cs typeface="Perpetua"/>
              </a:rPr>
              <a:t>since </a:t>
            </a:r>
            <a:r>
              <a:rPr sz="2400" spc="-10" dirty="0">
                <a:latin typeface="Perpetua"/>
                <a:cs typeface="Perpetua"/>
              </a:rPr>
              <a:t>they </a:t>
            </a:r>
            <a:r>
              <a:rPr sz="2400" dirty="0">
                <a:latin typeface="Perpetua"/>
                <a:cs typeface="Perpetua"/>
              </a:rPr>
              <a:t>can stand for </a:t>
            </a:r>
            <a:r>
              <a:rPr sz="2400" spc="-20" dirty="0">
                <a:latin typeface="Perpetua"/>
                <a:cs typeface="Perpetua"/>
              </a:rPr>
              <a:t>any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proposition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357886"/>
            <a:ext cx="1629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Ex</a:t>
            </a:r>
            <a:r>
              <a:rPr sz="4000" dirty="0"/>
              <a:t>a</a:t>
            </a:r>
            <a:r>
              <a:rPr sz="4000" spc="-10" dirty="0"/>
              <a:t>m</a:t>
            </a:r>
            <a:r>
              <a:rPr sz="4000" dirty="0"/>
              <a:t>p</a:t>
            </a:r>
            <a:r>
              <a:rPr sz="4000" spc="-10" dirty="0"/>
              <a:t>le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83540" y="1235329"/>
            <a:ext cx="8072755" cy="455803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561340" indent="-229235">
              <a:lnSpc>
                <a:spcPct val="100000"/>
              </a:lnSpc>
              <a:spcBef>
                <a:spcPts val="495"/>
              </a:spcBef>
              <a:buSzPct val="85416"/>
              <a:buFont typeface="Arial"/>
              <a:buChar char="•"/>
              <a:tabLst>
                <a:tab pos="561340" algn="l"/>
                <a:tab pos="561975" algn="l"/>
                <a:tab pos="1346200" algn="l"/>
              </a:tabLst>
            </a:pP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a</a:t>
            </a:r>
            <a:r>
              <a:rPr sz="2400" b="1" spc="-10" dirty="0">
                <a:solidFill>
                  <a:srgbClr val="6F2F9F"/>
                </a:solidFill>
                <a:latin typeface="Perpetua"/>
                <a:cs typeface="Perpetu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&gt;</a:t>
            </a:r>
            <a:r>
              <a:rPr sz="2400" b="1" spc="5" dirty="0">
                <a:solidFill>
                  <a:srgbClr val="6F2F9F"/>
                </a:solidFill>
                <a:latin typeface="Perpetua"/>
                <a:cs typeface="Perpetu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b	</a:t>
            </a:r>
            <a:r>
              <a:rPr sz="2400" dirty="0">
                <a:latin typeface="Perpetua"/>
                <a:cs typeface="Perpetua"/>
              </a:rPr>
              <a:t>is a </a:t>
            </a:r>
            <a:r>
              <a:rPr sz="2400" spc="-5" dirty="0">
                <a:latin typeface="Perpetua"/>
                <a:cs typeface="Perpetua"/>
              </a:rPr>
              <a:t>simple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proposition</a:t>
            </a:r>
            <a:endParaRPr sz="2400">
              <a:latin typeface="Perpetua"/>
              <a:cs typeface="Perpetua"/>
            </a:endParaRPr>
          </a:p>
          <a:p>
            <a:pPr marL="537210">
              <a:lnSpc>
                <a:spcPct val="100000"/>
              </a:lnSpc>
              <a:spcBef>
                <a:spcPts val="400"/>
              </a:spcBef>
            </a:pPr>
            <a:r>
              <a:rPr sz="2400" dirty="0">
                <a:latin typeface="Perpetua"/>
                <a:cs typeface="Perpetua"/>
              </a:rPr>
              <a:t>It can be </a:t>
            </a:r>
            <a:r>
              <a:rPr sz="2400" spc="-5" dirty="0">
                <a:latin typeface="Perpetua"/>
                <a:cs typeface="Perpetua"/>
              </a:rPr>
              <a:t>represented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propositional variable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p</a:t>
            </a:r>
            <a:endParaRPr sz="2400">
              <a:latin typeface="Perpetua"/>
              <a:cs typeface="Perpetua"/>
            </a:endParaRPr>
          </a:p>
          <a:p>
            <a:pPr marL="561340" indent="-229235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561340" algn="l"/>
                <a:tab pos="561975" algn="l"/>
                <a:tab pos="1422400" algn="l"/>
              </a:tabLst>
            </a:pPr>
            <a:r>
              <a:rPr sz="2400" b="1" spc="-5" dirty="0">
                <a:solidFill>
                  <a:srgbClr val="6F2F9F"/>
                </a:solidFill>
                <a:latin typeface="Perpetua"/>
                <a:cs typeface="Perpetua"/>
              </a:rPr>
              <a:t>c==d	</a:t>
            </a:r>
            <a:r>
              <a:rPr sz="2400" dirty="0">
                <a:latin typeface="Perpetua"/>
                <a:cs typeface="Perpetua"/>
              </a:rPr>
              <a:t>is a </a:t>
            </a:r>
            <a:r>
              <a:rPr sz="2400" spc="-5" dirty="0">
                <a:latin typeface="Perpetua"/>
                <a:cs typeface="Perpetua"/>
              </a:rPr>
              <a:t>simple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proposition</a:t>
            </a:r>
            <a:endParaRPr sz="2400">
              <a:latin typeface="Perpetua"/>
              <a:cs typeface="Perpetua"/>
            </a:endParaRPr>
          </a:p>
          <a:p>
            <a:pPr marL="537210">
              <a:lnSpc>
                <a:spcPct val="100000"/>
              </a:lnSpc>
              <a:spcBef>
                <a:spcPts val="409"/>
              </a:spcBef>
            </a:pPr>
            <a:r>
              <a:rPr sz="2400" dirty="0">
                <a:latin typeface="Perpetua"/>
                <a:cs typeface="Perpetua"/>
              </a:rPr>
              <a:t>It can be </a:t>
            </a:r>
            <a:r>
              <a:rPr sz="2400" spc="-5" dirty="0">
                <a:latin typeface="Perpetua"/>
                <a:cs typeface="Perpetua"/>
              </a:rPr>
              <a:t>represented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propositional variable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q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5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400" spc="-95" dirty="0">
                <a:latin typeface="Perpetua"/>
                <a:cs typeface="Perpetua"/>
              </a:rPr>
              <a:t>Now,</a:t>
            </a:r>
            <a:endParaRPr sz="2400">
              <a:latin typeface="Perpetua"/>
              <a:cs typeface="Perpetua"/>
            </a:endParaRPr>
          </a:p>
          <a:p>
            <a:pPr marL="561340" marR="6350" indent="-229235">
              <a:lnSpc>
                <a:spcPct val="100000"/>
              </a:lnSpc>
              <a:spcBef>
                <a:spcPts val="395"/>
              </a:spcBef>
              <a:buSzPct val="85416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propositional </a:t>
            </a:r>
            <a:r>
              <a:rPr sz="2400" spc="-10" dirty="0">
                <a:latin typeface="Perpetua"/>
                <a:cs typeface="Perpetua"/>
              </a:rPr>
              <a:t>variable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p </a:t>
            </a:r>
            <a:r>
              <a:rPr sz="2400" spc="-5" dirty="0">
                <a:latin typeface="Perpetua"/>
                <a:cs typeface="Perpetua"/>
              </a:rPr>
              <a:t>has </a:t>
            </a:r>
            <a:r>
              <a:rPr sz="2400" spc="10" dirty="0">
                <a:latin typeface="Perpetua"/>
                <a:cs typeface="Perpetua"/>
              </a:rPr>
              <a:t>truth </a:t>
            </a:r>
            <a:r>
              <a:rPr sz="2400" spc="-5" dirty="0">
                <a:latin typeface="Perpetua"/>
                <a:cs typeface="Perpetua"/>
              </a:rPr>
              <a:t>assignment </a:t>
            </a:r>
            <a:r>
              <a:rPr sz="2400" spc="-40" dirty="0">
                <a:latin typeface="Perpetua"/>
                <a:cs typeface="Perpetua"/>
              </a:rPr>
              <a:t>TRUE </a:t>
            </a:r>
            <a:r>
              <a:rPr sz="2400" dirty="0">
                <a:latin typeface="Perpetua"/>
                <a:cs typeface="Perpetua"/>
              </a:rPr>
              <a:t>or </a:t>
            </a:r>
            <a:r>
              <a:rPr sz="2400" spc="-20" dirty="0">
                <a:latin typeface="Perpetua"/>
                <a:cs typeface="Perpetua"/>
              </a:rPr>
              <a:t>FALSE  </a:t>
            </a:r>
            <a:r>
              <a:rPr sz="2400" dirty="0">
                <a:latin typeface="Perpetua"/>
                <a:cs typeface="Perpetua"/>
              </a:rPr>
              <a:t>depending on </a:t>
            </a:r>
            <a:r>
              <a:rPr sz="2400" spc="-5" dirty="0">
                <a:latin typeface="Perpetua"/>
                <a:cs typeface="Perpetua"/>
              </a:rPr>
              <a:t>whether </a:t>
            </a:r>
            <a:r>
              <a:rPr sz="2400" dirty="0">
                <a:latin typeface="Perpetua"/>
                <a:cs typeface="Perpetua"/>
              </a:rPr>
              <a:t>a is </a:t>
            </a:r>
            <a:r>
              <a:rPr sz="2400" spc="-5" dirty="0">
                <a:latin typeface="Perpetua"/>
                <a:cs typeface="Perpetua"/>
              </a:rPr>
              <a:t>less </a:t>
            </a:r>
            <a:r>
              <a:rPr sz="2400" dirty="0">
                <a:latin typeface="Perpetua"/>
                <a:cs typeface="Perpetua"/>
              </a:rPr>
              <a:t>than b is</a:t>
            </a:r>
            <a:r>
              <a:rPr sz="2400" spc="-360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•"/>
            </a:pPr>
            <a:endParaRPr sz="3200">
              <a:latin typeface="Perpetua"/>
              <a:cs typeface="Perpetua"/>
            </a:endParaRPr>
          </a:p>
          <a:p>
            <a:pPr marL="561340" marR="5080" indent="-229235">
              <a:lnSpc>
                <a:spcPct val="100000"/>
              </a:lnSpc>
              <a:buSzPct val="85416"/>
              <a:buFont typeface="Arial"/>
              <a:buChar char="•"/>
              <a:tabLst>
                <a:tab pos="561340" algn="l"/>
                <a:tab pos="561975" algn="l"/>
                <a:tab pos="1442085" algn="l"/>
              </a:tabLst>
            </a:pPr>
            <a:r>
              <a:rPr sz="2400" spc="-30" dirty="0">
                <a:latin typeface="Perpetua"/>
                <a:cs typeface="Perpetua"/>
              </a:rPr>
              <a:t>Similarly,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propositional variable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q </a:t>
            </a:r>
            <a:r>
              <a:rPr sz="2400" spc="-5" dirty="0">
                <a:latin typeface="Perpetua"/>
                <a:cs typeface="Perpetua"/>
              </a:rPr>
              <a:t>has </a:t>
            </a:r>
            <a:r>
              <a:rPr sz="2400" spc="10" dirty="0">
                <a:latin typeface="Perpetua"/>
                <a:cs typeface="Perpetua"/>
              </a:rPr>
              <a:t>truth </a:t>
            </a:r>
            <a:r>
              <a:rPr sz="2400" spc="-5" dirty="0">
                <a:latin typeface="Perpetua"/>
                <a:cs typeface="Perpetua"/>
              </a:rPr>
              <a:t>assignment </a:t>
            </a:r>
            <a:r>
              <a:rPr sz="2400" spc="-40" dirty="0">
                <a:latin typeface="Perpetua"/>
                <a:cs typeface="Perpetua"/>
              </a:rPr>
              <a:t>TRUE</a:t>
            </a:r>
            <a:r>
              <a:rPr sz="2400" spc="-15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or  </a:t>
            </a:r>
            <a:r>
              <a:rPr sz="2400" spc="-20" dirty="0">
                <a:latin typeface="Perpetua"/>
                <a:cs typeface="Perpetua"/>
              </a:rPr>
              <a:t>FALSE	</a:t>
            </a:r>
            <a:r>
              <a:rPr sz="2400" dirty="0">
                <a:latin typeface="Perpetua"/>
                <a:cs typeface="Perpetua"/>
              </a:rPr>
              <a:t>depending on </a:t>
            </a:r>
            <a:r>
              <a:rPr sz="2400" spc="-5" dirty="0">
                <a:latin typeface="Perpetua"/>
                <a:cs typeface="Perpetua"/>
              </a:rPr>
              <a:t>whether </a:t>
            </a:r>
            <a:r>
              <a:rPr sz="2400" dirty="0">
                <a:latin typeface="Perpetua"/>
                <a:cs typeface="Perpetua"/>
              </a:rPr>
              <a:t>c is equal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dirty="0">
                <a:latin typeface="Perpetua"/>
                <a:cs typeface="Perpetua"/>
              </a:rPr>
              <a:t>d is</a:t>
            </a:r>
            <a:r>
              <a:rPr sz="2400" spc="-35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612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16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069594"/>
            <a:ext cx="6591934" cy="433133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86995" marR="2519680" indent="-74930">
              <a:lnSpc>
                <a:spcPts val="3100"/>
              </a:lnSpc>
              <a:spcBef>
                <a:spcPts val="225"/>
              </a:spcBef>
              <a:buSzPct val="96153"/>
              <a:buAutoNum type="arabicPeriod"/>
              <a:tabLst>
                <a:tab pos="258445" algn="l"/>
              </a:tabLst>
            </a:pPr>
            <a:r>
              <a:rPr sz="2600" i="1" spc="-5" dirty="0">
                <a:latin typeface="Perpetua"/>
                <a:cs typeface="Perpetua"/>
              </a:rPr>
              <a:t>“the moon is </a:t>
            </a:r>
            <a:r>
              <a:rPr sz="2600" i="1" dirty="0">
                <a:latin typeface="Perpetua"/>
                <a:cs typeface="Perpetua"/>
              </a:rPr>
              <a:t>round”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5" dirty="0">
                <a:latin typeface="Perpetua"/>
                <a:cs typeface="Perpetua"/>
              </a:rPr>
              <a:t>statement  </a:t>
            </a:r>
            <a:r>
              <a:rPr sz="2600" dirty="0">
                <a:latin typeface="Perpetua"/>
                <a:cs typeface="Perpetua"/>
              </a:rPr>
              <a:t>p: </a:t>
            </a:r>
            <a:r>
              <a:rPr sz="2600" spc="-5" dirty="0">
                <a:latin typeface="Perpetua"/>
                <a:cs typeface="Perpetua"/>
              </a:rPr>
              <a:t>"the moon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13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round”</a:t>
            </a:r>
            <a:endParaRPr sz="2600">
              <a:latin typeface="Perpetua"/>
              <a:cs typeface="Perpetua"/>
            </a:endParaRPr>
          </a:p>
          <a:p>
            <a:pPr marL="161925">
              <a:lnSpc>
                <a:spcPct val="100000"/>
              </a:lnSpc>
              <a:spcBef>
                <a:spcPts val="70"/>
              </a:spcBef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propositional variable </a:t>
            </a:r>
            <a:r>
              <a:rPr sz="2400" spc="-25" dirty="0">
                <a:latin typeface="Perpetua"/>
                <a:cs typeface="Perpetua"/>
              </a:rPr>
              <a:t>p, </a:t>
            </a:r>
            <a:r>
              <a:rPr sz="2400" spc="-5" dirty="0">
                <a:latin typeface="Perpetua"/>
                <a:cs typeface="Perpetua"/>
              </a:rPr>
              <a:t>expresses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0" dirty="0">
                <a:latin typeface="Perpetua"/>
                <a:cs typeface="Perpetua"/>
              </a:rPr>
              <a:t>above</a:t>
            </a:r>
            <a:r>
              <a:rPr sz="2400" spc="-16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statement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00">
              <a:latin typeface="Perpetua"/>
              <a:cs typeface="Perpetua"/>
            </a:endParaRPr>
          </a:p>
          <a:p>
            <a:pPr marL="12700" marR="4400550">
              <a:lnSpc>
                <a:spcPts val="3100"/>
              </a:lnSpc>
              <a:buAutoNum type="arabicPeriod" startAt="2"/>
              <a:tabLst>
                <a:tab pos="308610" algn="l"/>
              </a:tabLst>
            </a:pP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I am a</a:t>
            </a:r>
            <a:r>
              <a:rPr sz="2600" i="1" spc="-9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mammal</a:t>
            </a:r>
            <a:r>
              <a:rPr sz="2600" spc="-5" dirty="0">
                <a:latin typeface="Perpetua"/>
                <a:cs typeface="Perpetua"/>
              </a:rPr>
              <a:t>”  </a:t>
            </a:r>
            <a:r>
              <a:rPr sz="2600" dirty="0">
                <a:latin typeface="Perpetua"/>
                <a:cs typeface="Perpetua"/>
              </a:rPr>
              <a:t>q: </a:t>
            </a:r>
            <a:r>
              <a:rPr sz="2600" spc="-5" dirty="0">
                <a:latin typeface="Perpetua"/>
                <a:cs typeface="Perpetua"/>
              </a:rPr>
              <a:t>“</a:t>
            </a:r>
            <a:r>
              <a:rPr sz="2600" i="1" spc="-5" dirty="0">
                <a:latin typeface="Perpetua"/>
                <a:cs typeface="Perpetua"/>
              </a:rPr>
              <a:t>I </a:t>
            </a:r>
            <a:r>
              <a:rPr sz="2600" i="1" dirty="0">
                <a:latin typeface="Perpetua"/>
                <a:cs typeface="Perpetua"/>
              </a:rPr>
              <a:t>am a</a:t>
            </a:r>
            <a:r>
              <a:rPr sz="2600" i="1" spc="-29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mammal”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ts val="2820"/>
              </a:lnSpc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propositional variable </a:t>
            </a:r>
            <a:r>
              <a:rPr sz="2400" dirty="0">
                <a:latin typeface="Perpetua"/>
                <a:cs typeface="Perpetua"/>
              </a:rPr>
              <a:t>q, </a:t>
            </a:r>
            <a:r>
              <a:rPr sz="2400" spc="-5" dirty="0">
                <a:latin typeface="Perpetua"/>
                <a:cs typeface="Perpetua"/>
              </a:rPr>
              <a:t>expresses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0" dirty="0">
                <a:latin typeface="Perpetua"/>
                <a:cs typeface="Perpetua"/>
              </a:rPr>
              <a:t>above</a:t>
            </a:r>
            <a:r>
              <a:rPr sz="2400" spc="-19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statement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Perpetua"/>
              <a:cs typeface="Perpetua"/>
            </a:endParaRPr>
          </a:p>
          <a:p>
            <a:pPr marL="12700" marR="1520825">
              <a:lnSpc>
                <a:spcPts val="3100"/>
              </a:lnSpc>
              <a:buAutoNum type="arabicPeriod" startAt="3"/>
              <a:tabLst>
                <a:tab pos="308610" algn="l"/>
                <a:tab pos="2736215" algn="l"/>
                <a:tab pos="3064510" algn="l"/>
              </a:tabLst>
            </a:pP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I am </a:t>
            </a:r>
            <a:r>
              <a:rPr sz="2600" i="1" spc="-5" dirty="0">
                <a:latin typeface="Perpetua"/>
                <a:cs typeface="Perpetua"/>
              </a:rPr>
              <a:t>not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a</a:t>
            </a:r>
            <a:r>
              <a:rPr sz="2600" i="1" spc="1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mammal</a:t>
            </a:r>
            <a:r>
              <a:rPr sz="2600" spc="-5" dirty="0">
                <a:latin typeface="Perpetua"/>
                <a:cs typeface="Perpetua"/>
              </a:rPr>
              <a:t>”	</a:t>
            </a:r>
            <a:r>
              <a:rPr sz="2600" dirty="0">
                <a:latin typeface="Perpetua"/>
                <a:cs typeface="Perpetua"/>
              </a:rPr>
              <a:t>is	</a:t>
            </a:r>
            <a:r>
              <a:rPr sz="2600" spc="-5" dirty="0">
                <a:latin typeface="Perpetua"/>
                <a:cs typeface="Perpetua"/>
              </a:rPr>
              <a:t>the negation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  It is </a:t>
            </a:r>
            <a:r>
              <a:rPr sz="2600" spc="-5" dirty="0">
                <a:latin typeface="Perpetua"/>
                <a:cs typeface="Perpetua"/>
              </a:rPr>
              <a:t>represented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spc="-35" dirty="0">
                <a:latin typeface="Perpetua"/>
                <a:cs typeface="Perpetua"/>
              </a:rPr>
              <a:t>NOT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ts val="2995"/>
              </a:lnSpc>
            </a:pPr>
            <a:r>
              <a:rPr sz="2600" dirty="0">
                <a:latin typeface="Perpetua"/>
                <a:cs typeface="Perpetua"/>
              </a:rPr>
              <a:t>~q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!q </a:t>
            </a:r>
            <a:r>
              <a:rPr sz="2600" spc="-5" dirty="0">
                <a:latin typeface="Perpetua"/>
                <a:cs typeface="Perpetua"/>
              </a:rPr>
              <a:t>all mean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same</a:t>
            </a:r>
            <a:endParaRPr sz="2600">
              <a:latin typeface="Perpetua"/>
              <a:cs typeface="Perpet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556250" y="4870450"/>
          <a:ext cx="2133600" cy="1381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/>
                <a:gridCol w="1066800"/>
              </a:tblGrid>
              <a:tr h="64008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q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Perpetua"/>
                          <a:cs typeface="Perpetua"/>
                        </a:rPr>
                        <a:t>~q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24717"/>
                    </a:solidFill>
                  </a:tcPr>
                </a:tc>
              </a:tr>
              <a:tr h="370839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CF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460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1278077"/>
            <a:ext cx="8246109" cy="2159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4412615" indent="-274320" algn="just">
              <a:lnSpc>
                <a:spcPct val="100000"/>
              </a:lnSpc>
              <a:spcBef>
                <a:spcPts val="95"/>
              </a:spcBef>
              <a:buSzPct val="83928"/>
              <a:buFont typeface="Arial"/>
              <a:buChar char="•"/>
              <a:tabLst>
                <a:tab pos="287020" algn="l"/>
              </a:tabLst>
            </a:pPr>
            <a:r>
              <a:rPr sz="2800" spc="-50" dirty="0">
                <a:latin typeface="Perpetua"/>
                <a:cs typeface="Perpetua"/>
              </a:rPr>
              <a:t>P1:Tanya </a:t>
            </a:r>
            <a:r>
              <a:rPr sz="2800" spc="-5" dirty="0">
                <a:latin typeface="Perpetua"/>
                <a:cs typeface="Perpetua"/>
              </a:rPr>
              <a:t>is </a:t>
            </a:r>
            <a:r>
              <a:rPr sz="2800" dirty="0">
                <a:latin typeface="Perpetua"/>
                <a:cs typeface="Perpetua"/>
              </a:rPr>
              <a:t>older </a:t>
            </a:r>
            <a:r>
              <a:rPr sz="2800" spc="-5" dirty="0">
                <a:latin typeface="Perpetua"/>
                <a:cs typeface="Perpetua"/>
              </a:rPr>
              <a:t>than </a:t>
            </a:r>
            <a:r>
              <a:rPr sz="2800" dirty="0">
                <a:latin typeface="Perpetua"/>
                <a:cs typeface="Perpetua"/>
              </a:rPr>
              <a:t>Eric.  </a:t>
            </a:r>
            <a:r>
              <a:rPr sz="2800" spc="-5" dirty="0">
                <a:latin typeface="Perpetua"/>
                <a:cs typeface="Perpetua"/>
              </a:rPr>
              <a:t>P2:Cliff is </a:t>
            </a:r>
            <a:r>
              <a:rPr sz="2800" dirty="0">
                <a:latin typeface="Perpetua"/>
                <a:cs typeface="Perpetua"/>
              </a:rPr>
              <a:t>older </a:t>
            </a:r>
            <a:r>
              <a:rPr sz="2800" spc="-5" dirty="0">
                <a:latin typeface="Perpetua"/>
                <a:cs typeface="Perpetua"/>
              </a:rPr>
              <a:t>than</a:t>
            </a:r>
            <a:r>
              <a:rPr sz="2800" spc="-380" dirty="0">
                <a:latin typeface="Perpetua"/>
                <a:cs typeface="Perpetua"/>
              </a:rPr>
              <a:t> </a:t>
            </a:r>
            <a:r>
              <a:rPr sz="2800" spc="-70" dirty="0">
                <a:latin typeface="Perpetua"/>
                <a:cs typeface="Perpetua"/>
              </a:rPr>
              <a:t>Tanya.  </a:t>
            </a:r>
            <a:r>
              <a:rPr sz="2800" spc="5" dirty="0">
                <a:latin typeface="Perpetua"/>
                <a:cs typeface="Perpetua"/>
              </a:rPr>
              <a:t>P3:Eric </a:t>
            </a:r>
            <a:r>
              <a:rPr sz="2800" spc="-5" dirty="0">
                <a:latin typeface="Perpetua"/>
                <a:cs typeface="Perpetua"/>
              </a:rPr>
              <a:t>is </a:t>
            </a:r>
            <a:r>
              <a:rPr sz="2800" dirty="0">
                <a:latin typeface="Perpetua"/>
                <a:cs typeface="Perpetua"/>
              </a:rPr>
              <a:t>older </a:t>
            </a:r>
            <a:r>
              <a:rPr sz="2800" spc="-5" dirty="0">
                <a:latin typeface="Perpetua"/>
                <a:cs typeface="Perpetua"/>
              </a:rPr>
              <a:t>than</a:t>
            </a:r>
            <a:r>
              <a:rPr sz="2800" spc="-45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Cliff.</a:t>
            </a:r>
            <a:endParaRPr sz="2800">
              <a:latin typeface="Perpetua"/>
              <a:cs typeface="Perpetua"/>
            </a:endParaRPr>
          </a:p>
          <a:p>
            <a:pPr marL="286385" marR="5080" algn="just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Perpetua"/>
                <a:cs typeface="Perpetua"/>
              </a:rPr>
              <a:t>If the </a:t>
            </a:r>
            <a:r>
              <a:rPr sz="2800" spc="5" dirty="0">
                <a:latin typeface="Perpetua"/>
                <a:cs typeface="Perpetua"/>
              </a:rPr>
              <a:t>first </a:t>
            </a:r>
            <a:r>
              <a:rPr sz="2800" spc="-40" dirty="0">
                <a:latin typeface="Perpetua"/>
                <a:cs typeface="Perpetua"/>
              </a:rPr>
              <a:t>two </a:t>
            </a:r>
            <a:r>
              <a:rPr sz="2800" spc="-5" dirty="0">
                <a:latin typeface="Perpetua"/>
                <a:cs typeface="Perpetua"/>
              </a:rPr>
              <a:t>propositions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dirty="0">
                <a:latin typeface="Perpetua"/>
                <a:cs typeface="Perpetua"/>
              </a:rPr>
              <a:t>true, </a:t>
            </a:r>
            <a:r>
              <a:rPr sz="2800" spc="-15" dirty="0">
                <a:latin typeface="Perpetua"/>
                <a:cs typeface="Perpetua"/>
              </a:rPr>
              <a:t>what </a:t>
            </a:r>
            <a:r>
              <a:rPr sz="2800" spc="-10" dirty="0">
                <a:latin typeface="Perpetua"/>
                <a:cs typeface="Perpetua"/>
              </a:rPr>
              <a:t>is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10" dirty="0">
                <a:latin typeface="Perpetua"/>
                <a:cs typeface="Perpetua"/>
              </a:rPr>
              <a:t>truth </a:t>
            </a:r>
            <a:r>
              <a:rPr sz="2800" spc="-20" dirty="0">
                <a:latin typeface="Perpetua"/>
                <a:cs typeface="Perpetua"/>
              </a:rPr>
              <a:t>value </a:t>
            </a:r>
            <a:r>
              <a:rPr sz="2800" dirty="0">
                <a:latin typeface="Perpetua"/>
                <a:cs typeface="Perpetua"/>
              </a:rPr>
              <a:t>of  </a:t>
            </a:r>
            <a:r>
              <a:rPr sz="2800" spc="-5" dirty="0">
                <a:latin typeface="Perpetua"/>
                <a:cs typeface="Perpetua"/>
              </a:rPr>
              <a:t>the third proposition?</a:t>
            </a:r>
            <a:r>
              <a:rPr sz="2800" spc="-340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Why?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1246378"/>
            <a:ext cx="8513445" cy="43256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86385" marR="4679315" indent="-274320" algn="just">
              <a:lnSpc>
                <a:spcPct val="90000"/>
              </a:lnSpc>
              <a:spcBef>
                <a:spcPts val="430"/>
              </a:spcBef>
              <a:buSzPct val="83928"/>
              <a:buFont typeface="Arial"/>
              <a:buChar char="•"/>
              <a:tabLst>
                <a:tab pos="287020" algn="l"/>
              </a:tabLst>
            </a:pPr>
            <a:r>
              <a:rPr sz="2800" spc="-50" dirty="0">
                <a:latin typeface="Perpetua"/>
                <a:cs typeface="Perpetua"/>
              </a:rPr>
              <a:t>P1:Tanya </a:t>
            </a:r>
            <a:r>
              <a:rPr sz="2800" spc="-5" dirty="0">
                <a:latin typeface="Perpetua"/>
                <a:cs typeface="Perpetua"/>
              </a:rPr>
              <a:t>is </a:t>
            </a:r>
            <a:r>
              <a:rPr sz="2800" dirty="0">
                <a:latin typeface="Perpetua"/>
                <a:cs typeface="Perpetua"/>
              </a:rPr>
              <a:t>older </a:t>
            </a:r>
            <a:r>
              <a:rPr sz="2800" spc="-5" dirty="0">
                <a:latin typeface="Perpetua"/>
                <a:cs typeface="Perpetua"/>
              </a:rPr>
              <a:t>than </a:t>
            </a:r>
            <a:r>
              <a:rPr sz="2800" dirty="0">
                <a:latin typeface="Perpetua"/>
                <a:cs typeface="Perpetua"/>
              </a:rPr>
              <a:t>Eric.  </a:t>
            </a:r>
            <a:r>
              <a:rPr sz="2800" spc="-5" dirty="0">
                <a:latin typeface="Perpetua"/>
                <a:cs typeface="Perpetua"/>
              </a:rPr>
              <a:t>P2:Cliff is </a:t>
            </a:r>
            <a:r>
              <a:rPr sz="2800" dirty="0">
                <a:latin typeface="Perpetua"/>
                <a:cs typeface="Perpetua"/>
              </a:rPr>
              <a:t>older </a:t>
            </a:r>
            <a:r>
              <a:rPr sz="2800" spc="-5" dirty="0">
                <a:latin typeface="Perpetua"/>
                <a:cs typeface="Perpetua"/>
              </a:rPr>
              <a:t>than</a:t>
            </a:r>
            <a:r>
              <a:rPr sz="2800" spc="-380" dirty="0">
                <a:latin typeface="Perpetua"/>
                <a:cs typeface="Perpetua"/>
              </a:rPr>
              <a:t> </a:t>
            </a:r>
            <a:r>
              <a:rPr sz="2800" spc="-70" dirty="0">
                <a:latin typeface="Perpetua"/>
                <a:cs typeface="Perpetua"/>
              </a:rPr>
              <a:t>Tanya.  </a:t>
            </a:r>
            <a:r>
              <a:rPr sz="2800" spc="5" dirty="0">
                <a:latin typeface="Perpetua"/>
                <a:cs typeface="Perpetua"/>
              </a:rPr>
              <a:t>P3:Eric </a:t>
            </a:r>
            <a:r>
              <a:rPr sz="2800" spc="-5" dirty="0">
                <a:latin typeface="Perpetua"/>
                <a:cs typeface="Perpetua"/>
              </a:rPr>
              <a:t>is </a:t>
            </a:r>
            <a:r>
              <a:rPr sz="2800" dirty="0">
                <a:latin typeface="Perpetua"/>
                <a:cs typeface="Perpetua"/>
              </a:rPr>
              <a:t>older </a:t>
            </a:r>
            <a:r>
              <a:rPr sz="2800" spc="-5" dirty="0">
                <a:latin typeface="Perpetua"/>
                <a:cs typeface="Perpetua"/>
              </a:rPr>
              <a:t>than</a:t>
            </a:r>
            <a:r>
              <a:rPr sz="2800" spc="-45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Cliff.</a:t>
            </a:r>
            <a:endParaRPr sz="2800">
              <a:latin typeface="Perpetua"/>
              <a:cs typeface="Perpetua"/>
            </a:endParaRPr>
          </a:p>
          <a:p>
            <a:pPr marL="286385" marR="271780">
              <a:lnSpc>
                <a:spcPts val="3020"/>
              </a:lnSpc>
              <a:spcBef>
                <a:spcPts val="50"/>
              </a:spcBef>
            </a:pPr>
            <a:r>
              <a:rPr sz="2800" spc="-5" dirty="0">
                <a:latin typeface="Perpetua"/>
                <a:cs typeface="Perpetua"/>
              </a:rPr>
              <a:t>If the </a:t>
            </a:r>
            <a:r>
              <a:rPr sz="2800" spc="5" dirty="0">
                <a:latin typeface="Perpetua"/>
                <a:cs typeface="Perpetua"/>
              </a:rPr>
              <a:t>first </a:t>
            </a:r>
            <a:r>
              <a:rPr sz="2800" spc="-40" dirty="0">
                <a:latin typeface="Perpetua"/>
                <a:cs typeface="Perpetua"/>
              </a:rPr>
              <a:t>two </a:t>
            </a:r>
            <a:r>
              <a:rPr sz="2800" spc="-5" dirty="0">
                <a:latin typeface="Perpetua"/>
                <a:cs typeface="Perpetua"/>
              </a:rPr>
              <a:t>propositions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dirty="0">
                <a:latin typeface="Perpetua"/>
                <a:cs typeface="Perpetua"/>
              </a:rPr>
              <a:t>true, </a:t>
            </a:r>
            <a:r>
              <a:rPr sz="2800" spc="-15" dirty="0">
                <a:latin typeface="Perpetua"/>
                <a:cs typeface="Perpetua"/>
              </a:rPr>
              <a:t>what </a:t>
            </a:r>
            <a:r>
              <a:rPr sz="2800" spc="-10" dirty="0">
                <a:latin typeface="Perpetua"/>
                <a:cs typeface="Perpetua"/>
              </a:rPr>
              <a:t>is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spc="10" dirty="0">
                <a:latin typeface="Perpetua"/>
                <a:cs typeface="Perpetua"/>
              </a:rPr>
              <a:t>truth </a:t>
            </a:r>
            <a:r>
              <a:rPr sz="2800" spc="-20" dirty="0">
                <a:latin typeface="Perpetua"/>
                <a:cs typeface="Perpetua"/>
              </a:rPr>
              <a:t>value </a:t>
            </a:r>
            <a:r>
              <a:rPr sz="2800" dirty="0">
                <a:latin typeface="Perpetua"/>
                <a:cs typeface="Perpetua"/>
              </a:rPr>
              <a:t>of  </a:t>
            </a:r>
            <a:r>
              <a:rPr sz="2800" spc="-5" dirty="0">
                <a:latin typeface="Perpetua"/>
                <a:cs typeface="Perpetua"/>
              </a:rPr>
              <a:t>the third proposition?</a:t>
            </a:r>
            <a:r>
              <a:rPr sz="2800" spc="-335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Why?</a:t>
            </a:r>
            <a:endParaRPr sz="2800">
              <a:latin typeface="Perpetua"/>
              <a:cs typeface="Perpetua"/>
            </a:endParaRPr>
          </a:p>
          <a:p>
            <a:pPr marL="255904">
              <a:lnSpc>
                <a:spcPct val="100000"/>
              </a:lnSpc>
              <a:spcBef>
                <a:spcPts val="955"/>
              </a:spcBef>
            </a:pPr>
            <a:r>
              <a:rPr sz="2800" b="1" u="heavy" spc="-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Solution</a:t>
            </a:r>
            <a:endParaRPr sz="2800">
              <a:latin typeface="Perpetua"/>
              <a:cs typeface="Perpetua"/>
            </a:endParaRPr>
          </a:p>
          <a:p>
            <a:pPr marL="255904" marR="5080">
              <a:lnSpc>
                <a:spcPct val="100000"/>
              </a:lnSpc>
              <a:spcBef>
                <a:spcPts val="600"/>
              </a:spcBef>
            </a:pPr>
            <a:r>
              <a:rPr sz="2800" spc="-5" dirty="0">
                <a:latin typeface="Perpetua"/>
                <a:cs typeface="Perpetua"/>
              </a:rPr>
              <a:t>P1 </a:t>
            </a:r>
            <a:r>
              <a:rPr sz="2800" spc="-30" dirty="0">
                <a:latin typeface="Perpetua"/>
                <a:cs typeface="Perpetua"/>
              </a:rPr>
              <a:t>says </a:t>
            </a:r>
            <a:r>
              <a:rPr sz="2800" spc="-80" dirty="0">
                <a:latin typeface="Perpetua"/>
                <a:cs typeface="Perpetua"/>
              </a:rPr>
              <a:t>Tanya </a:t>
            </a:r>
            <a:r>
              <a:rPr sz="2800" spc="-5" dirty="0">
                <a:latin typeface="Perpetua"/>
                <a:cs typeface="Perpetua"/>
              </a:rPr>
              <a:t>is older than </a:t>
            </a:r>
            <a:r>
              <a:rPr sz="2800" dirty="0">
                <a:latin typeface="Perpetua"/>
                <a:cs typeface="Perpetua"/>
              </a:rPr>
              <a:t>Eric. </a:t>
            </a:r>
            <a:r>
              <a:rPr sz="2800" spc="-5" dirty="0">
                <a:latin typeface="Perpetua"/>
                <a:cs typeface="Perpetua"/>
              </a:rPr>
              <a:t>P2 </a:t>
            </a:r>
            <a:r>
              <a:rPr sz="2800" spc="-30" dirty="0">
                <a:latin typeface="Perpetua"/>
                <a:cs typeface="Perpetua"/>
              </a:rPr>
              <a:t>says </a:t>
            </a:r>
            <a:r>
              <a:rPr sz="2800" spc="-10" dirty="0">
                <a:latin typeface="Perpetua"/>
                <a:cs typeface="Perpetua"/>
              </a:rPr>
              <a:t>Cliff </a:t>
            </a:r>
            <a:r>
              <a:rPr sz="2800" spc="-5" dirty="0">
                <a:latin typeface="Perpetua"/>
                <a:cs typeface="Perpetua"/>
              </a:rPr>
              <a:t>is older than </a:t>
            </a:r>
            <a:r>
              <a:rPr sz="2800" spc="-70" dirty="0">
                <a:latin typeface="Perpetua"/>
                <a:cs typeface="Perpetua"/>
              </a:rPr>
              <a:t>Tanya.  </a:t>
            </a:r>
            <a:r>
              <a:rPr sz="2800" spc="-5" dirty="0">
                <a:latin typeface="Perpetua"/>
                <a:cs typeface="Perpetua"/>
              </a:rPr>
              <a:t>When P1 and P2 </a:t>
            </a:r>
            <a:r>
              <a:rPr sz="2800" spc="-15" dirty="0">
                <a:latin typeface="Perpetua"/>
                <a:cs typeface="Perpetua"/>
              </a:rPr>
              <a:t>are </a:t>
            </a:r>
            <a:r>
              <a:rPr sz="2800" dirty="0">
                <a:latin typeface="Perpetua"/>
                <a:cs typeface="Perpetua"/>
              </a:rPr>
              <a:t>true, </a:t>
            </a:r>
            <a:r>
              <a:rPr sz="2800" spc="-60" dirty="0">
                <a:latin typeface="Perpetua"/>
                <a:cs typeface="Perpetua"/>
              </a:rPr>
              <a:t>we </a:t>
            </a:r>
            <a:r>
              <a:rPr sz="2800" spc="-5" dirty="0">
                <a:latin typeface="Perpetua"/>
                <a:cs typeface="Perpetua"/>
              </a:rPr>
              <a:t>can come to the conclusion </a:t>
            </a:r>
            <a:r>
              <a:rPr sz="2800" spc="-10" dirty="0">
                <a:latin typeface="Perpetua"/>
                <a:cs typeface="Perpetua"/>
              </a:rPr>
              <a:t>that  Cliff </a:t>
            </a:r>
            <a:r>
              <a:rPr sz="2800" spc="-5" dirty="0">
                <a:latin typeface="Perpetua"/>
                <a:cs typeface="Perpetua"/>
              </a:rPr>
              <a:t>is </a:t>
            </a:r>
            <a:r>
              <a:rPr sz="2800" dirty="0">
                <a:latin typeface="Perpetua"/>
                <a:cs typeface="Perpetua"/>
              </a:rPr>
              <a:t>older </a:t>
            </a:r>
            <a:r>
              <a:rPr sz="2800" spc="-5" dirty="0">
                <a:latin typeface="Perpetua"/>
                <a:cs typeface="Perpetua"/>
              </a:rPr>
              <a:t>than </a:t>
            </a:r>
            <a:r>
              <a:rPr sz="2800" dirty="0">
                <a:latin typeface="Perpetua"/>
                <a:cs typeface="Perpetua"/>
              </a:rPr>
              <a:t>Eric. </a:t>
            </a:r>
            <a:r>
              <a:rPr sz="2800" spc="-5" dirty="0">
                <a:latin typeface="Perpetua"/>
                <a:cs typeface="Perpetua"/>
              </a:rPr>
              <a:t>But P3 </a:t>
            </a:r>
            <a:r>
              <a:rPr sz="2800" spc="-30" dirty="0">
                <a:latin typeface="Perpetua"/>
                <a:cs typeface="Perpetua"/>
              </a:rPr>
              <a:t>says </a:t>
            </a:r>
            <a:r>
              <a:rPr sz="2800" spc="-10" dirty="0">
                <a:latin typeface="Perpetua"/>
                <a:cs typeface="Perpetua"/>
              </a:rPr>
              <a:t>otherwise. </a:t>
            </a:r>
            <a:r>
              <a:rPr sz="2800" spc="-5" dirty="0">
                <a:latin typeface="Perpetua"/>
                <a:cs typeface="Perpetua"/>
              </a:rPr>
              <a:t>Hence </a:t>
            </a:r>
            <a:r>
              <a:rPr sz="2800" spc="10" dirty="0">
                <a:latin typeface="Perpetua"/>
                <a:cs typeface="Perpetua"/>
              </a:rPr>
              <a:t>truth</a:t>
            </a:r>
            <a:r>
              <a:rPr sz="2800" spc="-170" dirty="0">
                <a:latin typeface="Perpetua"/>
                <a:cs typeface="Perpetua"/>
              </a:rPr>
              <a:t> </a:t>
            </a:r>
            <a:r>
              <a:rPr sz="2800" spc="-20" dirty="0">
                <a:latin typeface="Perpetua"/>
                <a:cs typeface="Perpetua"/>
              </a:rPr>
              <a:t>value  </a:t>
            </a:r>
            <a:r>
              <a:rPr sz="2800" spc="-5" dirty="0">
                <a:latin typeface="Perpetua"/>
                <a:cs typeface="Perpetua"/>
              </a:rPr>
              <a:t>of P3 should be</a:t>
            </a:r>
            <a:r>
              <a:rPr sz="2800" spc="10" dirty="0">
                <a:latin typeface="Perpetua"/>
                <a:cs typeface="Perpetua"/>
              </a:rPr>
              <a:t> </a:t>
            </a:r>
            <a:r>
              <a:rPr sz="2800" spc="-25" dirty="0">
                <a:latin typeface="Perpetua"/>
                <a:cs typeface="Perpetua"/>
              </a:rPr>
              <a:t>FALSE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18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82626"/>
            <a:ext cx="38893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Compound</a:t>
            </a:r>
            <a:r>
              <a:rPr sz="3600" spc="-40" dirty="0"/>
              <a:t> </a:t>
            </a:r>
            <a:r>
              <a:rPr sz="3600" spc="-5" dirty="0"/>
              <a:t>proposition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59740" y="1057402"/>
            <a:ext cx="8147050" cy="119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A </a:t>
            </a:r>
            <a:r>
              <a:rPr sz="2400" i="1" spc="-5" dirty="0">
                <a:latin typeface="Perpetua"/>
                <a:cs typeface="Perpetua"/>
              </a:rPr>
              <a:t>compound </a:t>
            </a:r>
            <a:r>
              <a:rPr sz="2400" i="1" dirty="0">
                <a:latin typeface="Perpetua"/>
                <a:cs typeface="Perpetua"/>
              </a:rPr>
              <a:t>proposition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5" dirty="0">
                <a:latin typeface="Perpetua"/>
                <a:cs typeface="Perpetua"/>
              </a:rPr>
              <a:t>formed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dirty="0">
                <a:latin typeface="Perpetua"/>
                <a:cs typeface="Perpetua"/>
              </a:rPr>
              <a:t>combining </a:t>
            </a:r>
            <a:r>
              <a:rPr sz="2400" spc="-5" dirty="0">
                <a:latin typeface="Perpetua"/>
                <a:cs typeface="Perpetua"/>
              </a:rPr>
              <a:t>simple propositions </a:t>
            </a:r>
            <a:r>
              <a:rPr sz="2400" dirty="0">
                <a:latin typeface="Perpetua"/>
                <a:cs typeface="Perpetua"/>
              </a:rPr>
              <a:t>with  </a:t>
            </a:r>
            <a:r>
              <a:rPr sz="2400" spc="5" dirty="0">
                <a:latin typeface="Perpetua"/>
                <a:cs typeface="Perpetua"/>
              </a:rPr>
              <a:t>logical </a:t>
            </a:r>
            <a:r>
              <a:rPr sz="2400" spc="-5" dirty="0">
                <a:latin typeface="Perpetua"/>
                <a:cs typeface="Perpetua"/>
              </a:rPr>
              <a:t>connectives, also </a:t>
            </a:r>
            <a:r>
              <a:rPr sz="2400" spc="-15" dirty="0">
                <a:latin typeface="Perpetua"/>
                <a:cs typeface="Perpetua"/>
              </a:rPr>
              <a:t>known </a:t>
            </a:r>
            <a:r>
              <a:rPr sz="2400" spc="-5" dirty="0">
                <a:latin typeface="Perpetua"/>
                <a:cs typeface="Perpetua"/>
              </a:rPr>
              <a:t>as </a:t>
            </a:r>
            <a:r>
              <a:rPr sz="2400" i="1" spc="-10" dirty="0">
                <a:latin typeface="Perpetua"/>
                <a:cs typeface="Perpetua"/>
              </a:rPr>
              <a:t>logical</a:t>
            </a:r>
            <a:r>
              <a:rPr sz="2400" i="1" spc="-120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operators.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Basic </a:t>
            </a:r>
            <a:r>
              <a:rPr sz="2400" spc="5" dirty="0">
                <a:latin typeface="Perpetua"/>
                <a:cs typeface="Perpetua"/>
              </a:rPr>
              <a:t>logical </a:t>
            </a:r>
            <a:r>
              <a:rPr sz="2400" spc="-5" dirty="0">
                <a:latin typeface="Perpetua"/>
                <a:cs typeface="Perpetua"/>
              </a:rPr>
              <a:t>connectives:</a:t>
            </a:r>
            <a:r>
              <a:rPr sz="2400" spc="-445" dirty="0">
                <a:latin typeface="Perpetua"/>
                <a:cs typeface="Perpetua"/>
              </a:rPr>
              <a:t> </a:t>
            </a:r>
            <a:r>
              <a:rPr sz="2400" spc="-60" dirty="0">
                <a:latin typeface="Perpetua"/>
                <a:cs typeface="Perpetua"/>
              </a:rPr>
              <a:t>AND, </a:t>
            </a:r>
            <a:r>
              <a:rPr sz="2400" dirty="0">
                <a:latin typeface="Perpetua"/>
                <a:cs typeface="Perpetua"/>
              </a:rPr>
              <a:t>OR, </a:t>
            </a:r>
            <a:r>
              <a:rPr sz="2400" spc="-100" dirty="0">
                <a:latin typeface="Perpetua"/>
                <a:cs typeface="Perpetua"/>
              </a:rPr>
              <a:t>NOT.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8794" y="4950714"/>
            <a:ext cx="48329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Perpetua"/>
                <a:cs typeface="Perpetua"/>
              </a:rPr>
              <a:t>Figure: Notation and meaning </a:t>
            </a:r>
            <a:r>
              <a:rPr sz="2000" dirty="0">
                <a:latin typeface="Perpetua"/>
                <a:cs typeface="Perpetua"/>
              </a:rPr>
              <a:t>of logical</a:t>
            </a:r>
            <a:r>
              <a:rPr sz="2000" spc="-10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connectives</a:t>
            </a:r>
            <a:endParaRPr sz="20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8200" y="2438400"/>
            <a:ext cx="7496556" cy="2514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05867"/>
            <a:ext cx="32200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5" dirty="0"/>
              <a:t>Logical</a:t>
            </a:r>
            <a:r>
              <a:rPr sz="3600" spc="-50" dirty="0"/>
              <a:t> </a:t>
            </a:r>
            <a:r>
              <a:rPr sz="3600" spc="-5" dirty="0"/>
              <a:t>expressions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005585"/>
            <a:ext cx="7768590" cy="53486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800" dirty="0">
                <a:latin typeface="Perpetua"/>
                <a:cs typeface="Perpetua"/>
              </a:rPr>
              <a:t>In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these</a:t>
            </a:r>
            <a:r>
              <a:rPr sz="1800" spc="-3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expressions,</a:t>
            </a:r>
            <a:r>
              <a:rPr sz="1800" spc="-105" dirty="0">
                <a:latin typeface="Perpetua"/>
                <a:cs typeface="Perpetua"/>
              </a:rPr>
              <a:t> </a:t>
            </a:r>
            <a:r>
              <a:rPr sz="1800" spc="-20" dirty="0">
                <a:latin typeface="Perpetua"/>
                <a:cs typeface="Perpetua"/>
              </a:rPr>
              <a:t>p,</a:t>
            </a:r>
            <a:r>
              <a:rPr sz="1800" spc="-9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q,</a:t>
            </a:r>
            <a:r>
              <a:rPr sz="1800" spc="-8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and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r </a:t>
            </a:r>
            <a:r>
              <a:rPr sz="1800" spc="-5" dirty="0">
                <a:latin typeface="Perpetua"/>
                <a:cs typeface="Perpetua"/>
              </a:rPr>
              <a:t>are</a:t>
            </a:r>
            <a:r>
              <a:rPr sz="1800" spc="-2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propositional</a:t>
            </a:r>
            <a:r>
              <a:rPr sz="1800" spc="-10" dirty="0">
                <a:latin typeface="Perpetua"/>
                <a:cs typeface="Perpetua"/>
              </a:rPr>
              <a:t> variables.</a:t>
            </a:r>
            <a:endParaRPr sz="1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SzPct val="83333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800" spc="-20" dirty="0">
                <a:latin typeface="Perpetua"/>
                <a:cs typeface="Perpetua"/>
              </a:rPr>
              <a:t>NOT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p</a:t>
            </a:r>
            <a:endParaRPr sz="1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SzPct val="83333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800" dirty="0">
                <a:latin typeface="Perpetua"/>
                <a:cs typeface="Perpetua"/>
              </a:rPr>
              <a:t>p </a:t>
            </a:r>
            <a:r>
              <a:rPr sz="1800" spc="-5" dirty="0">
                <a:latin typeface="Perpetua"/>
                <a:cs typeface="Perpetua"/>
              </a:rPr>
              <a:t>AND </a:t>
            </a:r>
            <a:r>
              <a:rPr sz="1800" dirty="0">
                <a:latin typeface="Perpetua"/>
                <a:cs typeface="Perpetua"/>
              </a:rPr>
              <a:t>(q OR</a:t>
            </a:r>
            <a:r>
              <a:rPr sz="1800" spc="-15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r)</a:t>
            </a:r>
            <a:endParaRPr sz="1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170"/>
              </a:spcBef>
              <a:buSzPct val="83333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1800" dirty="0">
                <a:latin typeface="Perpetua"/>
                <a:cs typeface="Perpetua"/>
              </a:rPr>
              <a:t>(q </a:t>
            </a:r>
            <a:r>
              <a:rPr sz="1800" spc="-5" dirty="0">
                <a:latin typeface="Perpetua"/>
                <a:cs typeface="Perpetua"/>
              </a:rPr>
              <a:t>AND </a:t>
            </a:r>
            <a:r>
              <a:rPr sz="1800" dirty="0">
                <a:latin typeface="Perpetua"/>
                <a:cs typeface="Perpetua"/>
              </a:rPr>
              <a:t>p) </a:t>
            </a:r>
            <a:r>
              <a:rPr sz="1800" spc="-5" dirty="0">
                <a:latin typeface="Perpetua"/>
                <a:cs typeface="Perpetua"/>
              </a:rPr>
              <a:t>OR </a:t>
            </a:r>
            <a:r>
              <a:rPr sz="1800" spc="-15" dirty="0">
                <a:latin typeface="Perpetua"/>
                <a:cs typeface="Perpetua"/>
              </a:rPr>
              <a:t>(NOT</a:t>
            </a:r>
            <a:r>
              <a:rPr sz="1800" spc="-15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p)</a:t>
            </a:r>
            <a:endParaRPr sz="1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>
              <a:latin typeface="Perpetua"/>
              <a:cs typeface="Perpetua"/>
            </a:endParaRPr>
          </a:p>
          <a:p>
            <a:pPr marL="12700" marR="160655">
              <a:lnSpc>
                <a:spcPct val="107800"/>
              </a:lnSpc>
            </a:pPr>
            <a:r>
              <a:rPr sz="1800" spc="-5" dirty="0">
                <a:latin typeface="Perpetua"/>
                <a:cs typeface="Perpetua"/>
              </a:rPr>
              <a:t>Propositional variables </a:t>
            </a:r>
            <a:r>
              <a:rPr sz="1800" dirty="0">
                <a:latin typeface="Perpetua"/>
                <a:cs typeface="Perpetua"/>
              </a:rPr>
              <a:t>, logical operators and the logical constants </a:t>
            </a:r>
            <a:r>
              <a:rPr sz="1800" spc="-25" dirty="0">
                <a:latin typeface="Perpetua"/>
                <a:cs typeface="Perpetua"/>
              </a:rPr>
              <a:t>(TRUE </a:t>
            </a:r>
            <a:r>
              <a:rPr sz="1800" dirty="0">
                <a:latin typeface="Perpetua"/>
                <a:cs typeface="Perpetua"/>
              </a:rPr>
              <a:t>and </a:t>
            </a:r>
            <a:r>
              <a:rPr sz="1800" spc="-15" dirty="0">
                <a:latin typeface="Perpetua"/>
                <a:cs typeface="Perpetua"/>
              </a:rPr>
              <a:t>FALSE) </a:t>
            </a:r>
            <a:r>
              <a:rPr sz="1800" spc="10" dirty="0">
                <a:latin typeface="Perpetua"/>
                <a:cs typeface="Perpetua"/>
              </a:rPr>
              <a:t>form  </a:t>
            </a:r>
            <a:r>
              <a:rPr sz="1800" dirty="0">
                <a:latin typeface="Perpetua"/>
                <a:cs typeface="Perpetua"/>
              </a:rPr>
              <a:t>logical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expressions</a:t>
            </a:r>
            <a:endParaRPr sz="1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Perpetua"/>
                <a:cs typeface="Perpetua"/>
              </a:rPr>
              <a:t>Let , </a:t>
            </a: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E </a:t>
            </a:r>
            <a:r>
              <a:rPr sz="1800" dirty="0">
                <a:latin typeface="Perpetua"/>
                <a:cs typeface="Perpetua"/>
              </a:rPr>
              <a:t>be a logical </a:t>
            </a:r>
            <a:r>
              <a:rPr sz="1800" spc="-5" dirty="0">
                <a:latin typeface="Perpetua"/>
                <a:cs typeface="Perpetua"/>
              </a:rPr>
              <a:t>expression </a:t>
            </a:r>
            <a:r>
              <a:rPr sz="1800" dirty="0">
                <a:latin typeface="Perpetua"/>
                <a:cs typeface="Perpetua"/>
              </a:rPr>
              <a:t>and </a:t>
            </a: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F </a:t>
            </a:r>
            <a:r>
              <a:rPr sz="1800" dirty="0">
                <a:latin typeface="Perpetua"/>
                <a:cs typeface="Perpetua"/>
              </a:rPr>
              <a:t>be another logical</a:t>
            </a:r>
            <a:r>
              <a:rPr sz="1800" spc="-20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expression</a:t>
            </a:r>
            <a:endParaRPr sz="1800">
              <a:latin typeface="Perpetua"/>
              <a:cs typeface="Perpetua"/>
            </a:endParaRPr>
          </a:p>
          <a:p>
            <a:pPr marL="577850" indent="-565785">
              <a:lnSpc>
                <a:spcPct val="100000"/>
              </a:lnSpc>
              <a:spcBef>
                <a:spcPts val="165"/>
              </a:spcBef>
              <a:buSzPct val="83333"/>
              <a:buAutoNum type="arabicPeriod"/>
              <a:tabLst>
                <a:tab pos="577850" algn="l"/>
                <a:tab pos="578485" algn="l"/>
              </a:tabLst>
            </a:pP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E AND F </a:t>
            </a:r>
            <a:r>
              <a:rPr sz="1800" dirty="0">
                <a:latin typeface="Perpetua"/>
                <a:cs typeface="Perpetua"/>
              </a:rPr>
              <a:t>is a logical</a:t>
            </a:r>
            <a:r>
              <a:rPr sz="1800" spc="-12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expression.</a:t>
            </a:r>
            <a:endParaRPr sz="1800">
              <a:latin typeface="Perpetua"/>
              <a:cs typeface="Perpetua"/>
            </a:endParaRPr>
          </a:p>
          <a:p>
            <a:pPr marL="544830">
              <a:lnSpc>
                <a:spcPct val="100000"/>
              </a:lnSpc>
              <a:spcBef>
                <a:spcPts val="170"/>
              </a:spcBef>
            </a:pPr>
            <a:r>
              <a:rPr sz="1800" spc="-5" dirty="0">
                <a:latin typeface="Perpetua"/>
                <a:cs typeface="Perpetua"/>
              </a:rPr>
              <a:t>The</a:t>
            </a:r>
            <a:r>
              <a:rPr sz="1800" spc="-2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value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of</a:t>
            </a:r>
            <a:r>
              <a:rPr sz="1800" spc="-2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this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expression</a:t>
            </a:r>
            <a:r>
              <a:rPr sz="1800" spc="-3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is</a:t>
            </a:r>
            <a:r>
              <a:rPr sz="1800" spc="-220" dirty="0">
                <a:latin typeface="Perpetua"/>
                <a:cs typeface="Perpetua"/>
              </a:rPr>
              <a:t> </a:t>
            </a:r>
            <a:r>
              <a:rPr sz="1800" spc="-30" dirty="0">
                <a:latin typeface="Perpetua"/>
                <a:cs typeface="Perpetua"/>
              </a:rPr>
              <a:t>TRUE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if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both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E</a:t>
            </a:r>
            <a:r>
              <a:rPr sz="1800" b="1" spc="-10" dirty="0">
                <a:solidFill>
                  <a:srgbClr val="6F2F9F"/>
                </a:solidFill>
                <a:latin typeface="Perpetua"/>
                <a:cs typeface="Perpetua"/>
              </a:rPr>
              <a:t> </a:t>
            </a:r>
            <a:r>
              <a:rPr sz="1800" b="1" spc="-5" dirty="0">
                <a:solidFill>
                  <a:srgbClr val="6F2F9F"/>
                </a:solidFill>
                <a:latin typeface="Perpetua"/>
                <a:cs typeface="Perpetua"/>
              </a:rPr>
              <a:t>and</a:t>
            </a:r>
            <a:r>
              <a:rPr sz="1800" b="1" spc="-10" dirty="0">
                <a:solidFill>
                  <a:srgbClr val="6F2F9F"/>
                </a:solidFill>
                <a:latin typeface="Perpetua"/>
                <a:cs typeface="Perpetua"/>
              </a:rPr>
              <a:t> </a:t>
            </a: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F</a:t>
            </a:r>
            <a:r>
              <a:rPr sz="1800" b="1" spc="-10" dirty="0">
                <a:solidFill>
                  <a:srgbClr val="6F2F9F"/>
                </a:solidFill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are</a:t>
            </a:r>
            <a:r>
              <a:rPr sz="1800" spc="-245" dirty="0">
                <a:latin typeface="Perpetua"/>
                <a:cs typeface="Perpetua"/>
              </a:rPr>
              <a:t> </a:t>
            </a:r>
            <a:r>
              <a:rPr sz="1800" spc="-30" dirty="0">
                <a:latin typeface="Perpetua"/>
                <a:cs typeface="Perpetua"/>
              </a:rPr>
              <a:t>TRUE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and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spc="-15" dirty="0">
                <a:latin typeface="Perpetua"/>
                <a:cs typeface="Perpetua"/>
              </a:rPr>
              <a:t>FALSE </a:t>
            </a:r>
            <a:r>
              <a:rPr sz="1800" spc="-5" dirty="0">
                <a:latin typeface="Perpetua"/>
                <a:cs typeface="Perpetua"/>
              </a:rPr>
              <a:t>otherwise.</a:t>
            </a:r>
            <a:endParaRPr sz="1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50">
              <a:latin typeface="Perpetua"/>
              <a:cs typeface="Perpetua"/>
            </a:endParaRPr>
          </a:p>
          <a:p>
            <a:pPr marL="581025" indent="-518795">
              <a:lnSpc>
                <a:spcPct val="100000"/>
              </a:lnSpc>
              <a:buClr>
                <a:srgbClr val="000000"/>
              </a:buClr>
              <a:buFont typeface="Perpetua"/>
              <a:buAutoNum type="arabicPeriod" startAt="2"/>
              <a:tabLst>
                <a:tab pos="581025" algn="l"/>
                <a:tab pos="581660" algn="l"/>
              </a:tabLst>
            </a:pP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E </a:t>
            </a:r>
            <a:r>
              <a:rPr sz="1800" b="1" spc="-5" dirty="0">
                <a:solidFill>
                  <a:srgbClr val="6F2F9F"/>
                </a:solidFill>
                <a:latin typeface="Perpetua"/>
                <a:cs typeface="Perpetua"/>
              </a:rPr>
              <a:t>OR </a:t>
            </a: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F </a:t>
            </a:r>
            <a:r>
              <a:rPr sz="1800" dirty="0">
                <a:latin typeface="Perpetua"/>
                <a:cs typeface="Perpetua"/>
              </a:rPr>
              <a:t>is a logical</a:t>
            </a:r>
            <a:r>
              <a:rPr sz="1800" spc="-5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expression.</a:t>
            </a:r>
            <a:endParaRPr sz="1800">
              <a:latin typeface="Perpetua"/>
              <a:cs typeface="Perpetua"/>
            </a:endParaRPr>
          </a:p>
          <a:p>
            <a:pPr marL="623570" marR="5080" indent="-27940">
              <a:lnSpc>
                <a:spcPct val="107800"/>
              </a:lnSpc>
            </a:pPr>
            <a:r>
              <a:rPr sz="1800" spc="-5" dirty="0">
                <a:latin typeface="Perpetua"/>
                <a:cs typeface="Perpetua"/>
              </a:rPr>
              <a:t>The</a:t>
            </a:r>
            <a:r>
              <a:rPr sz="1800" spc="-2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value</a:t>
            </a:r>
            <a:r>
              <a:rPr sz="1800" spc="-2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of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this</a:t>
            </a:r>
            <a:r>
              <a:rPr sz="1800" spc="-2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expression</a:t>
            </a:r>
            <a:r>
              <a:rPr sz="1800" spc="-3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is</a:t>
            </a:r>
            <a:r>
              <a:rPr sz="1800" spc="-229" dirty="0">
                <a:latin typeface="Perpetua"/>
                <a:cs typeface="Perpetua"/>
              </a:rPr>
              <a:t> </a:t>
            </a:r>
            <a:r>
              <a:rPr sz="1800" spc="-30" dirty="0">
                <a:latin typeface="Perpetua"/>
                <a:cs typeface="Perpetua"/>
              </a:rPr>
              <a:t>TRUE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if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either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E</a:t>
            </a:r>
            <a:r>
              <a:rPr sz="1800" b="1" spc="-20" dirty="0">
                <a:solidFill>
                  <a:srgbClr val="6F2F9F"/>
                </a:solidFill>
                <a:latin typeface="Perpetua"/>
                <a:cs typeface="Perpetua"/>
              </a:rPr>
              <a:t> </a:t>
            </a: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or</a:t>
            </a:r>
            <a:r>
              <a:rPr sz="1800" b="1" spc="-15" dirty="0">
                <a:solidFill>
                  <a:srgbClr val="6F2F9F"/>
                </a:solidFill>
                <a:latin typeface="Perpetua"/>
                <a:cs typeface="Perpetua"/>
              </a:rPr>
              <a:t> </a:t>
            </a: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F</a:t>
            </a:r>
            <a:r>
              <a:rPr sz="1800" b="1" spc="-10" dirty="0">
                <a:solidFill>
                  <a:srgbClr val="6F2F9F"/>
                </a:solidFill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or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both</a:t>
            </a:r>
            <a:r>
              <a:rPr sz="1800" spc="-2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are</a:t>
            </a:r>
            <a:r>
              <a:rPr sz="1800" spc="-229" dirty="0">
                <a:latin typeface="Perpetua"/>
                <a:cs typeface="Perpetua"/>
              </a:rPr>
              <a:t> </a:t>
            </a:r>
            <a:r>
              <a:rPr sz="1800" spc="-25" dirty="0">
                <a:latin typeface="Perpetua"/>
                <a:cs typeface="Perpetua"/>
              </a:rPr>
              <a:t>TRUE,</a:t>
            </a:r>
            <a:r>
              <a:rPr sz="1800" spc="-7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and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the</a:t>
            </a:r>
            <a:r>
              <a:rPr sz="1800" spc="-20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value</a:t>
            </a:r>
            <a:r>
              <a:rPr sz="1800" spc="-2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is  </a:t>
            </a:r>
            <a:r>
              <a:rPr sz="1800" spc="-15" dirty="0">
                <a:latin typeface="Perpetua"/>
                <a:cs typeface="Perpetua"/>
              </a:rPr>
              <a:t>FALSE </a:t>
            </a:r>
            <a:r>
              <a:rPr sz="1800" dirty="0">
                <a:latin typeface="Perpetua"/>
                <a:cs typeface="Perpetua"/>
              </a:rPr>
              <a:t>if both </a:t>
            </a: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E </a:t>
            </a:r>
            <a:r>
              <a:rPr sz="1800" b="1" spc="-5" dirty="0">
                <a:solidFill>
                  <a:srgbClr val="6F2F9F"/>
                </a:solidFill>
                <a:latin typeface="Perpetua"/>
                <a:cs typeface="Perpetua"/>
              </a:rPr>
              <a:t>and </a:t>
            </a: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F </a:t>
            </a:r>
            <a:r>
              <a:rPr sz="1800" spc="-5" dirty="0">
                <a:latin typeface="Perpetua"/>
                <a:cs typeface="Perpetua"/>
              </a:rPr>
              <a:t>are</a:t>
            </a:r>
            <a:r>
              <a:rPr sz="1800" spc="-90" dirty="0">
                <a:latin typeface="Perpetua"/>
                <a:cs typeface="Perpetua"/>
              </a:rPr>
              <a:t> </a:t>
            </a:r>
            <a:r>
              <a:rPr sz="1800" spc="-20" dirty="0">
                <a:latin typeface="Perpetua"/>
                <a:cs typeface="Perpetua"/>
              </a:rPr>
              <a:t>FALSE</a:t>
            </a:r>
            <a:endParaRPr sz="1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Perpetua"/>
              <a:cs typeface="Perpetua"/>
            </a:endParaRPr>
          </a:p>
          <a:p>
            <a:pPr marL="581025" indent="-518795">
              <a:lnSpc>
                <a:spcPct val="100000"/>
              </a:lnSpc>
              <a:buClr>
                <a:srgbClr val="000000"/>
              </a:buClr>
              <a:buFont typeface="Perpetua"/>
              <a:buAutoNum type="arabicPeriod" startAt="3"/>
              <a:tabLst>
                <a:tab pos="581025" algn="l"/>
                <a:tab pos="581660" algn="l"/>
              </a:tabLst>
            </a:pPr>
            <a:r>
              <a:rPr sz="1800" b="1" spc="-15" dirty="0">
                <a:solidFill>
                  <a:srgbClr val="6F2F9F"/>
                </a:solidFill>
                <a:latin typeface="Perpetua"/>
                <a:cs typeface="Perpetua"/>
              </a:rPr>
              <a:t>NOT </a:t>
            </a: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E </a:t>
            </a:r>
            <a:r>
              <a:rPr sz="1800" dirty="0">
                <a:latin typeface="Perpetua"/>
                <a:cs typeface="Perpetua"/>
              </a:rPr>
              <a:t>is a </a:t>
            </a:r>
            <a:r>
              <a:rPr sz="1800" spc="5" dirty="0">
                <a:latin typeface="Perpetua"/>
                <a:cs typeface="Perpetua"/>
              </a:rPr>
              <a:t>logical</a:t>
            </a:r>
            <a:r>
              <a:rPr sz="1800" spc="-4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expression.</a:t>
            </a:r>
            <a:endParaRPr sz="1800">
              <a:latin typeface="Perpetua"/>
              <a:cs typeface="Perpetua"/>
            </a:endParaRPr>
          </a:p>
          <a:p>
            <a:pPr marL="544830">
              <a:lnSpc>
                <a:spcPct val="100000"/>
              </a:lnSpc>
              <a:spcBef>
                <a:spcPts val="170"/>
              </a:spcBef>
            </a:pPr>
            <a:r>
              <a:rPr sz="1800" spc="-5" dirty="0">
                <a:latin typeface="Perpetua"/>
                <a:cs typeface="Perpetua"/>
              </a:rPr>
              <a:t>The</a:t>
            </a:r>
            <a:r>
              <a:rPr sz="1800" spc="-2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value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of</a:t>
            </a:r>
            <a:r>
              <a:rPr sz="1800" spc="-2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this</a:t>
            </a:r>
            <a:r>
              <a:rPr sz="1800" spc="-15" dirty="0">
                <a:latin typeface="Perpetua"/>
                <a:cs typeface="Perpetua"/>
              </a:rPr>
              <a:t> </a:t>
            </a:r>
            <a:r>
              <a:rPr sz="1800" spc="-5" dirty="0">
                <a:latin typeface="Perpetua"/>
                <a:cs typeface="Perpetua"/>
              </a:rPr>
              <a:t>expression</a:t>
            </a:r>
            <a:r>
              <a:rPr sz="1800" spc="-35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is</a:t>
            </a:r>
            <a:r>
              <a:rPr sz="1800" spc="-220" dirty="0">
                <a:latin typeface="Perpetua"/>
                <a:cs typeface="Perpetua"/>
              </a:rPr>
              <a:t> </a:t>
            </a:r>
            <a:r>
              <a:rPr sz="1800" spc="-30" dirty="0">
                <a:latin typeface="Perpetua"/>
                <a:cs typeface="Perpetua"/>
              </a:rPr>
              <a:t>TRUE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if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E</a:t>
            </a:r>
            <a:r>
              <a:rPr sz="1800" b="1" spc="-5" dirty="0">
                <a:solidFill>
                  <a:srgbClr val="6F2F9F"/>
                </a:solidFill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is</a:t>
            </a:r>
            <a:r>
              <a:rPr sz="1800" spc="-20" dirty="0">
                <a:latin typeface="Perpetua"/>
                <a:cs typeface="Perpetua"/>
              </a:rPr>
              <a:t> </a:t>
            </a:r>
            <a:r>
              <a:rPr sz="1800" spc="-15" dirty="0">
                <a:latin typeface="Perpetua"/>
                <a:cs typeface="Perpetua"/>
              </a:rPr>
              <a:t>FALSE </a:t>
            </a:r>
            <a:r>
              <a:rPr sz="1800" dirty="0">
                <a:latin typeface="Perpetua"/>
                <a:cs typeface="Perpetua"/>
              </a:rPr>
              <a:t>and</a:t>
            </a:r>
            <a:r>
              <a:rPr sz="1800" spc="-10" dirty="0">
                <a:latin typeface="Perpetua"/>
                <a:cs typeface="Perpetua"/>
              </a:rPr>
              <a:t> </a:t>
            </a:r>
            <a:r>
              <a:rPr sz="1800" spc="-15" dirty="0">
                <a:latin typeface="Perpetua"/>
                <a:cs typeface="Perpetua"/>
              </a:rPr>
              <a:t>FALSE </a:t>
            </a:r>
            <a:r>
              <a:rPr sz="1800" dirty="0">
                <a:latin typeface="Perpetua"/>
                <a:cs typeface="Perpetua"/>
              </a:rPr>
              <a:t>if</a:t>
            </a:r>
            <a:r>
              <a:rPr sz="1800" spc="-5" dirty="0">
                <a:latin typeface="Perpetua"/>
                <a:cs typeface="Perpetua"/>
              </a:rPr>
              <a:t> </a:t>
            </a:r>
            <a:r>
              <a:rPr sz="1800" b="1" dirty="0">
                <a:solidFill>
                  <a:srgbClr val="6F2F9F"/>
                </a:solidFill>
                <a:latin typeface="Perpetua"/>
                <a:cs typeface="Perpetua"/>
              </a:rPr>
              <a:t>E</a:t>
            </a:r>
            <a:r>
              <a:rPr sz="1800" b="1" spc="-10" dirty="0">
                <a:solidFill>
                  <a:srgbClr val="6F2F9F"/>
                </a:solidFill>
                <a:latin typeface="Perpetua"/>
                <a:cs typeface="Perpetua"/>
              </a:rPr>
              <a:t> </a:t>
            </a:r>
            <a:r>
              <a:rPr sz="1800" dirty="0">
                <a:latin typeface="Perpetua"/>
                <a:cs typeface="Perpetua"/>
              </a:rPr>
              <a:t>is</a:t>
            </a:r>
            <a:r>
              <a:rPr sz="1800" spc="-229" dirty="0">
                <a:latin typeface="Perpetua"/>
                <a:cs typeface="Perpetua"/>
              </a:rPr>
              <a:t> </a:t>
            </a:r>
            <a:r>
              <a:rPr sz="1800" spc="-25" dirty="0">
                <a:latin typeface="Perpetua"/>
                <a:cs typeface="Perpetua"/>
              </a:rPr>
              <a:t>TRUE</a:t>
            </a:r>
            <a:endParaRPr sz="1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1231138"/>
            <a:ext cx="8060055" cy="482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Let,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p </a:t>
            </a:r>
            <a:r>
              <a:rPr sz="2400" dirty="0">
                <a:latin typeface="Perpetua"/>
                <a:cs typeface="Perpetua"/>
              </a:rPr>
              <a:t>denote a &lt;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Perpetua"/>
                <a:cs typeface="Perpetua"/>
              </a:rPr>
              <a:t>Then </a:t>
            </a:r>
            <a:r>
              <a:rPr sz="2400" b="1" spc="-20" dirty="0">
                <a:solidFill>
                  <a:srgbClr val="6F2F9F"/>
                </a:solidFill>
                <a:latin typeface="Perpetua"/>
                <a:cs typeface="Perpetua"/>
              </a:rPr>
              <a:t>NOT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p </a:t>
            </a:r>
            <a:r>
              <a:rPr sz="2400" spc="-5" dirty="0">
                <a:latin typeface="Perpetua"/>
                <a:cs typeface="Perpetua"/>
              </a:rPr>
              <a:t>denotes </a:t>
            </a:r>
            <a:r>
              <a:rPr sz="2400" dirty="0">
                <a:latin typeface="Perpetua"/>
                <a:cs typeface="Perpetua"/>
              </a:rPr>
              <a:t>a &gt;=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spc="-5" dirty="0">
                <a:latin typeface="Perpetua"/>
                <a:cs typeface="Perpetua"/>
              </a:rPr>
              <a:t>Let,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q </a:t>
            </a:r>
            <a:r>
              <a:rPr sz="2400" dirty="0">
                <a:latin typeface="Perpetua"/>
                <a:cs typeface="Perpetua"/>
              </a:rPr>
              <a:t>denote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c==d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25" dirty="0">
                <a:latin typeface="Perpetua"/>
                <a:cs typeface="Perpetua"/>
              </a:rPr>
              <a:t>Now </a:t>
            </a:r>
            <a:r>
              <a:rPr sz="2400" dirty="0">
                <a:latin typeface="Perpetua"/>
                <a:cs typeface="Perpetua"/>
              </a:rPr>
              <a:t>consider the </a:t>
            </a:r>
            <a:r>
              <a:rPr sz="2400" spc="-5" dirty="0">
                <a:latin typeface="Perpetua"/>
                <a:cs typeface="Perpetua"/>
              </a:rPr>
              <a:t>expression</a:t>
            </a:r>
            <a:r>
              <a:rPr sz="2400" spc="-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:</a:t>
            </a:r>
            <a:endParaRPr sz="2400">
              <a:latin typeface="Perpetua"/>
              <a:cs typeface="Perpetua"/>
            </a:endParaRPr>
          </a:p>
          <a:p>
            <a:pPr marL="385445" marR="3164205" indent="991869">
              <a:lnSpc>
                <a:spcPct val="1008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(a &lt; b </a:t>
            </a:r>
            <a:r>
              <a:rPr sz="2400" spc="-5" dirty="0">
                <a:latin typeface="Perpetua"/>
                <a:cs typeface="Perpetua"/>
              </a:rPr>
              <a:t>|| </a:t>
            </a:r>
            <a:r>
              <a:rPr sz="2400" dirty="0">
                <a:latin typeface="Perpetua"/>
                <a:cs typeface="Perpetua"/>
              </a:rPr>
              <a:t>(a &gt;= b </a:t>
            </a:r>
            <a:r>
              <a:rPr sz="2400" spc="-5" dirty="0">
                <a:latin typeface="Perpetua"/>
                <a:cs typeface="Perpetua"/>
              </a:rPr>
              <a:t>&amp;&amp; </a:t>
            </a:r>
            <a:r>
              <a:rPr sz="2400" dirty="0">
                <a:latin typeface="Perpetua"/>
                <a:cs typeface="Perpetua"/>
              </a:rPr>
              <a:t>c ==</a:t>
            </a:r>
            <a:r>
              <a:rPr sz="2400" spc="-1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d))  This expression can be </a:t>
            </a:r>
            <a:r>
              <a:rPr sz="2400" spc="5" dirty="0">
                <a:latin typeface="Perpetua"/>
                <a:cs typeface="Perpetua"/>
              </a:rPr>
              <a:t>written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as:</a:t>
            </a:r>
            <a:endParaRPr sz="2400">
              <a:latin typeface="Perpetua"/>
              <a:cs typeface="Perpetua"/>
            </a:endParaRPr>
          </a:p>
          <a:p>
            <a:pPr marL="1513840">
              <a:lnSpc>
                <a:spcPct val="100000"/>
              </a:lnSpc>
              <a:spcBef>
                <a:spcPts val="20"/>
              </a:spcBef>
            </a:pPr>
            <a:r>
              <a:rPr sz="2400" dirty="0">
                <a:latin typeface="Perpetua"/>
                <a:cs typeface="Perpetua"/>
              </a:rPr>
              <a:t>p </a:t>
            </a:r>
            <a:r>
              <a:rPr sz="2400" spc="-5" dirty="0">
                <a:latin typeface="Perpetua"/>
                <a:cs typeface="Perpetua"/>
              </a:rPr>
              <a:t>OR( </a:t>
            </a:r>
            <a:r>
              <a:rPr sz="2400" spc="-25" dirty="0">
                <a:latin typeface="Perpetua"/>
                <a:cs typeface="Perpetua"/>
              </a:rPr>
              <a:t>(NOT </a:t>
            </a:r>
            <a:r>
              <a:rPr sz="2400" dirty="0">
                <a:latin typeface="Perpetua"/>
                <a:cs typeface="Perpetua"/>
              </a:rPr>
              <a:t>p)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20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q)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spc="-30" dirty="0">
                <a:latin typeface="Perpetua"/>
                <a:cs typeface="Perpetua"/>
              </a:rPr>
              <a:t>Similarly,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expression </a:t>
            </a:r>
            <a:r>
              <a:rPr sz="2400" dirty="0">
                <a:latin typeface="Perpetua"/>
                <a:cs typeface="Perpetua"/>
              </a:rPr>
              <a:t>(a &lt; b </a:t>
            </a:r>
            <a:r>
              <a:rPr sz="2400" spc="-5" dirty="0">
                <a:latin typeface="Perpetua"/>
                <a:cs typeface="Perpetua"/>
              </a:rPr>
              <a:t>|| </a:t>
            </a:r>
            <a:r>
              <a:rPr sz="2400" dirty="0">
                <a:latin typeface="Perpetua"/>
                <a:cs typeface="Perpetua"/>
              </a:rPr>
              <a:t>c == d) can be written </a:t>
            </a:r>
            <a:r>
              <a:rPr sz="2400" spc="-5" dirty="0">
                <a:latin typeface="Perpetua"/>
                <a:cs typeface="Perpetua"/>
              </a:rPr>
              <a:t>as </a:t>
            </a:r>
            <a:r>
              <a:rPr sz="2400" dirty="0">
                <a:latin typeface="Perpetua"/>
                <a:cs typeface="Perpetua"/>
              </a:rPr>
              <a:t>(p OR</a:t>
            </a:r>
            <a:r>
              <a:rPr sz="2400" spc="-1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q)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50">
              <a:latin typeface="Perpetua"/>
              <a:cs typeface="Perpetua"/>
            </a:endParaRPr>
          </a:p>
          <a:p>
            <a:pPr marL="12700" marR="288925">
              <a:lnSpc>
                <a:spcPct val="102899"/>
              </a:lnSpc>
            </a:pPr>
            <a:r>
              <a:rPr sz="2400" spc="-135" dirty="0">
                <a:latin typeface="Perpetua"/>
                <a:cs typeface="Perpetua"/>
              </a:rPr>
              <a:t>We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spc="-15" dirty="0">
                <a:latin typeface="Perpetua"/>
                <a:cs typeface="Perpetua"/>
              </a:rPr>
              <a:t>shown previously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both </a:t>
            </a:r>
            <a:r>
              <a:rPr sz="2400" spc="-15" dirty="0">
                <a:latin typeface="Perpetua"/>
                <a:cs typeface="Perpetua"/>
              </a:rPr>
              <a:t>are </a:t>
            </a:r>
            <a:r>
              <a:rPr sz="2400" spc="-10" dirty="0">
                <a:latin typeface="Perpetua"/>
                <a:cs typeface="Perpetua"/>
              </a:rPr>
              <a:t>equivalent, </a:t>
            </a:r>
            <a:r>
              <a:rPr sz="2400" spc="-5" dirty="0">
                <a:latin typeface="Perpetua"/>
                <a:cs typeface="Perpetua"/>
              </a:rPr>
              <a:t>therefore </a:t>
            </a:r>
            <a:r>
              <a:rPr sz="2400" spc="-50" dirty="0">
                <a:latin typeface="Perpetua"/>
                <a:cs typeface="Perpetua"/>
              </a:rPr>
              <a:t>we </a:t>
            </a:r>
            <a:r>
              <a:rPr sz="2400" spc="5" dirty="0">
                <a:latin typeface="Perpetua"/>
                <a:cs typeface="Perpetua"/>
              </a:rPr>
              <a:t>write  </a:t>
            </a:r>
            <a:r>
              <a:rPr sz="2400" dirty="0">
                <a:latin typeface="Perpetua"/>
                <a:cs typeface="Perpetua"/>
              </a:rPr>
              <a:t>p OR( </a:t>
            </a:r>
            <a:r>
              <a:rPr sz="2400" spc="-25" dirty="0">
                <a:latin typeface="Perpetua"/>
                <a:cs typeface="Perpetua"/>
              </a:rPr>
              <a:t>(NOT </a:t>
            </a:r>
            <a:r>
              <a:rPr sz="2400" dirty="0">
                <a:latin typeface="Perpetua"/>
                <a:cs typeface="Perpetua"/>
              </a:rPr>
              <a:t>p)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q) </a:t>
            </a:r>
            <a:r>
              <a:rPr sz="2400" dirty="0">
                <a:latin typeface="Times New Roman"/>
                <a:cs typeface="Times New Roman"/>
              </a:rPr>
              <a:t>≡ </a:t>
            </a:r>
            <a:r>
              <a:rPr sz="2400" dirty="0">
                <a:latin typeface="Perpetua"/>
                <a:cs typeface="Perpetua"/>
              </a:rPr>
              <a:t>(p OR</a:t>
            </a:r>
            <a:r>
              <a:rPr sz="2400" spc="-2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q)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140" y="357886"/>
            <a:ext cx="17881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Examples</a:t>
            </a:r>
            <a:endParaRPr sz="4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830451"/>
            <a:ext cx="8530590" cy="3105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515110" algn="l"/>
                <a:tab pos="2225675" algn="l"/>
                <a:tab pos="2540000" algn="l"/>
                <a:tab pos="2794000" algn="l"/>
                <a:tab pos="3876040" algn="l"/>
                <a:tab pos="5156835" algn="l"/>
                <a:tab pos="5527040" algn="l"/>
                <a:tab pos="7061834" algn="l"/>
                <a:tab pos="7773670" algn="l"/>
              </a:tabLst>
            </a:pPr>
            <a:r>
              <a:rPr sz="2600" dirty="0">
                <a:latin typeface="Perpetua"/>
                <a:cs typeface="Perpetua"/>
              </a:rPr>
              <a:t>S</a:t>
            </a:r>
            <a:r>
              <a:rPr sz="2600" spc="-15" dirty="0">
                <a:latin typeface="Perpetua"/>
                <a:cs typeface="Perpetua"/>
              </a:rPr>
              <a:t>y</a:t>
            </a:r>
            <a:r>
              <a:rPr sz="2600" spc="-5" dirty="0">
                <a:latin typeface="Perpetua"/>
                <a:cs typeface="Perpetua"/>
              </a:rPr>
              <a:t>mbo</a:t>
            </a:r>
            <a:r>
              <a:rPr sz="2600" spc="-10" dirty="0">
                <a:latin typeface="Perpetua"/>
                <a:cs typeface="Perpetua"/>
              </a:rPr>
              <a:t>l</a:t>
            </a:r>
            <a:r>
              <a:rPr sz="2600" spc="10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c	</a:t>
            </a:r>
            <a:r>
              <a:rPr sz="2600" spc="-5" dirty="0">
                <a:latin typeface="Perpetua"/>
                <a:cs typeface="Perpetua"/>
              </a:rPr>
              <a:t>lo</a:t>
            </a:r>
            <a:r>
              <a:rPr sz="2600" spc="30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ic	is	a	</a:t>
            </a:r>
            <a:r>
              <a:rPr sz="2600" spc="-5" dirty="0">
                <a:latin typeface="Perpetua"/>
                <a:cs typeface="Perpetua"/>
              </a:rPr>
              <a:t>mo</a:t>
            </a:r>
            <a:r>
              <a:rPr sz="2600" spc="-15" dirty="0">
                <a:latin typeface="Perpetua"/>
                <a:cs typeface="Perpetua"/>
              </a:rPr>
              <a:t>d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7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n	ex</a:t>
            </a:r>
            <a:r>
              <a:rPr sz="2600" spc="-1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ens</a:t>
            </a:r>
            <a:r>
              <a:rPr sz="2600" spc="-15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on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f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5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isto</a:t>
            </a:r>
            <a:r>
              <a:rPr sz="2600" spc="-10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elian	</a:t>
            </a:r>
            <a:r>
              <a:rPr sz="2600" spc="-5" dirty="0">
                <a:latin typeface="Perpetua"/>
                <a:cs typeface="Perpetua"/>
              </a:rPr>
              <a:t>lo</a:t>
            </a:r>
            <a:r>
              <a:rPr sz="2600" spc="30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ic	whe</a:t>
            </a:r>
            <a:r>
              <a:rPr sz="2600" spc="-3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  </a:t>
            </a:r>
            <a:r>
              <a:rPr sz="2600" spc="-5" dirty="0">
                <a:latin typeface="Perpetua"/>
                <a:cs typeface="Perpetua"/>
              </a:rPr>
              <a:t>symbols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represent statements of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truth.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6385" marR="5715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  <a:tab pos="1440815" algn="l"/>
                <a:tab pos="2214880" algn="l"/>
                <a:tab pos="2593340" algn="l"/>
                <a:tab pos="2911475" algn="l"/>
                <a:tab pos="3997960" algn="l"/>
                <a:tab pos="4697730" algn="l"/>
                <a:tab pos="5558790" algn="l"/>
                <a:tab pos="6211570" algn="l"/>
                <a:tab pos="6851650" algn="l"/>
                <a:tab pos="7918450" algn="l"/>
                <a:tab pos="8395970" algn="l"/>
              </a:tabLst>
            </a:pPr>
            <a:r>
              <a:rPr sz="2600" dirty="0">
                <a:latin typeface="Perpetua"/>
                <a:cs typeface="Perpetua"/>
              </a:rPr>
              <a:t>Boole</a:t>
            </a:r>
            <a:r>
              <a:rPr sz="2600" spc="-1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n	</a:t>
            </a:r>
            <a:r>
              <a:rPr sz="2600" spc="-5" dirty="0">
                <a:latin typeface="Perpetua"/>
                <a:cs typeface="Perpetua"/>
              </a:rPr>
              <a:t>lo</a:t>
            </a:r>
            <a:r>
              <a:rPr sz="2600" spc="30" dirty="0">
                <a:latin typeface="Perpetua"/>
                <a:cs typeface="Perpetua"/>
              </a:rPr>
              <a:t>g</a:t>
            </a:r>
            <a:r>
              <a:rPr sz="2600" dirty="0">
                <a:latin typeface="Perpetua"/>
                <a:cs typeface="Perpetua"/>
              </a:rPr>
              <a:t>ic	is	a	</a:t>
            </a:r>
            <a:r>
              <a:rPr sz="2600" i="1" dirty="0">
                <a:latin typeface="Perpetua"/>
                <a:cs typeface="Perpetua"/>
              </a:rPr>
              <a:t>sy</a:t>
            </a:r>
            <a:r>
              <a:rPr sz="2600" i="1" spc="-25" dirty="0">
                <a:latin typeface="Perpetua"/>
                <a:cs typeface="Perpetua"/>
              </a:rPr>
              <a:t>m</a:t>
            </a:r>
            <a:r>
              <a:rPr sz="2600" i="1" spc="-5" dirty="0">
                <a:latin typeface="Perpetua"/>
                <a:cs typeface="Perpetua"/>
              </a:rPr>
              <a:t>boli</a:t>
            </a:r>
            <a:r>
              <a:rPr sz="2600" i="1" dirty="0">
                <a:latin typeface="Perpetua"/>
                <a:cs typeface="Perpetua"/>
              </a:rPr>
              <a:t>c	</a:t>
            </a:r>
            <a:r>
              <a:rPr sz="2600" i="1" spc="-5" dirty="0">
                <a:latin typeface="Perpetua"/>
                <a:cs typeface="Perpetua"/>
              </a:rPr>
              <a:t>l</a:t>
            </a:r>
            <a:r>
              <a:rPr sz="2600" i="1" spc="-65" dirty="0">
                <a:latin typeface="Perpetua"/>
                <a:cs typeface="Perpetua"/>
              </a:rPr>
              <a:t>o</a:t>
            </a:r>
            <a:r>
              <a:rPr sz="2600" i="1" spc="15" dirty="0">
                <a:latin typeface="Perpetua"/>
                <a:cs typeface="Perpetua"/>
              </a:rPr>
              <a:t>g</a:t>
            </a:r>
            <a:r>
              <a:rPr sz="2600" i="1" spc="5" dirty="0">
                <a:latin typeface="Perpetua"/>
                <a:cs typeface="Perpetua"/>
              </a:rPr>
              <a:t>i</a:t>
            </a:r>
            <a:r>
              <a:rPr sz="2600" i="1" dirty="0">
                <a:latin typeface="Perpetua"/>
                <a:cs typeface="Perpetua"/>
              </a:rPr>
              <a:t>c	sy</a:t>
            </a:r>
            <a:r>
              <a:rPr sz="2600" i="1" spc="-10" dirty="0">
                <a:latin typeface="Perpetua"/>
                <a:cs typeface="Perpetua"/>
              </a:rPr>
              <a:t>s</a:t>
            </a:r>
            <a:r>
              <a:rPr sz="2600" i="1" dirty="0">
                <a:latin typeface="Perpetua"/>
                <a:cs typeface="Perpetua"/>
              </a:rPr>
              <a:t>tem	</a:t>
            </a:r>
            <a:r>
              <a:rPr sz="2600" dirty="0">
                <a:latin typeface="Perpetua"/>
                <a:cs typeface="Perpetua"/>
              </a:rPr>
              <a:t>th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	</a:t>
            </a:r>
            <a:r>
              <a:rPr sz="2600" spc="-20" dirty="0">
                <a:latin typeface="Perpetua"/>
                <a:cs typeface="Perpetua"/>
              </a:rPr>
              <a:t>w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s	c</a:t>
            </a:r>
            <a:r>
              <a:rPr sz="2600" spc="-3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ted	</a:t>
            </a:r>
            <a:r>
              <a:rPr sz="2600" spc="-50" dirty="0">
                <a:latin typeface="Perpetua"/>
                <a:cs typeface="Perpetua"/>
              </a:rPr>
              <a:t>b</a:t>
            </a:r>
            <a:r>
              <a:rPr sz="2600" dirty="0">
                <a:latin typeface="Perpetua"/>
                <a:cs typeface="Perpetua"/>
              </a:rPr>
              <a:t>y	a  </a:t>
            </a:r>
            <a:r>
              <a:rPr sz="2600" spc="-5" dirty="0">
                <a:latin typeface="Perpetua"/>
                <a:cs typeface="Perpetua"/>
              </a:rPr>
              <a:t>mathematician named George </a:t>
            </a:r>
            <a:r>
              <a:rPr sz="2600" dirty="0">
                <a:latin typeface="Perpetua"/>
                <a:cs typeface="Perpetua"/>
              </a:rPr>
              <a:t>Boole </a:t>
            </a:r>
            <a:r>
              <a:rPr sz="2600" spc="-10" dirty="0">
                <a:latin typeface="Perpetua"/>
                <a:cs typeface="Perpetua"/>
              </a:rPr>
              <a:t>around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1850.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5" dirty="0">
                <a:latin typeface="Perpetua"/>
                <a:cs typeface="Perpetua"/>
              </a:rPr>
              <a:t>Logical </a:t>
            </a:r>
            <a:r>
              <a:rPr sz="2600" spc="-5" dirty="0">
                <a:latin typeface="Perpetua"/>
                <a:cs typeface="Perpetua"/>
              </a:rPr>
              <a:t>expressions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used </a:t>
            </a:r>
            <a:r>
              <a:rPr sz="2600" spc="-5" dirty="0">
                <a:latin typeface="Perpetua"/>
                <a:cs typeface="Perpetua"/>
              </a:rPr>
              <a:t>to express </a:t>
            </a:r>
            <a:r>
              <a:rPr sz="2600" dirty="0">
                <a:latin typeface="Perpetua"/>
                <a:cs typeface="Perpetua"/>
              </a:rPr>
              <a:t>logical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thought.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762000"/>
            <a:ext cx="990600" cy="121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152527"/>
            <a:ext cx="2087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</a:t>
            </a:r>
            <a:r>
              <a:rPr sz="3600" spc="-90" dirty="0"/>
              <a:t> </a:t>
            </a:r>
            <a:r>
              <a:rPr sz="3600" dirty="0"/>
              <a:t>#1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7340" y="984028"/>
            <a:ext cx="8529955" cy="167132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200" i="1" dirty="0">
                <a:latin typeface="Perpetua"/>
                <a:cs typeface="Perpetua"/>
              </a:rPr>
              <a:t>“</a:t>
            </a:r>
            <a:r>
              <a:rPr sz="2200" b="1" i="1" dirty="0">
                <a:solidFill>
                  <a:srgbClr val="006FC0"/>
                </a:solidFill>
                <a:latin typeface="Perpetua"/>
                <a:cs typeface="Perpetua"/>
              </a:rPr>
              <a:t>I </a:t>
            </a:r>
            <a:r>
              <a:rPr sz="2200" b="1" i="1" spc="-5" dirty="0">
                <a:solidFill>
                  <a:srgbClr val="006FC0"/>
                </a:solidFill>
                <a:latin typeface="Perpetua"/>
                <a:cs typeface="Perpetua"/>
              </a:rPr>
              <a:t>will take </a:t>
            </a:r>
            <a:r>
              <a:rPr sz="2200" b="1" i="1" dirty="0">
                <a:solidFill>
                  <a:srgbClr val="006FC0"/>
                </a:solidFill>
                <a:latin typeface="Perpetua"/>
                <a:cs typeface="Perpetua"/>
              </a:rPr>
              <a:t>an </a:t>
            </a:r>
            <a:r>
              <a:rPr sz="2200" b="1" i="1" spc="-10" dirty="0">
                <a:solidFill>
                  <a:srgbClr val="006FC0"/>
                </a:solidFill>
                <a:latin typeface="Perpetua"/>
                <a:cs typeface="Perpetua"/>
              </a:rPr>
              <a:t>umbrella </a:t>
            </a:r>
            <a:r>
              <a:rPr sz="2200" b="1" i="1" spc="-5" dirty="0">
                <a:solidFill>
                  <a:srgbClr val="006FC0"/>
                </a:solidFill>
                <a:latin typeface="Perpetua"/>
                <a:cs typeface="Perpetua"/>
              </a:rPr>
              <a:t>with me if it is </a:t>
            </a:r>
            <a:r>
              <a:rPr sz="2200" b="1" i="1" spc="-15" dirty="0">
                <a:solidFill>
                  <a:srgbClr val="006FC0"/>
                </a:solidFill>
                <a:latin typeface="Perpetua"/>
                <a:cs typeface="Perpetua"/>
              </a:rPr>
              <a:t>raining </a:t>
            </a:r>
            <a:r>
              <a:rPr sz="2200" b="1" i="1" spc="-5" dirty="0">
                <a:solidFill>
                  <a:srgbClr val="006FC0"/>
                </a:solidFill>
                <a:latin typeface="Perpetua"/>
                <a:cs typeface="Perpetua"/>
              </a:rPr>
              <a:t>or the </a:t>
            </a:r>
            <a:r>
              <a:rPr sz="2200" b="1" i="1" spc="-15" dirty="0">
                <a:solidFill>
                  <a:srgbClr val="006FC0"/>
                </a:solidFill>
                <a:latin typeface="Perpetua"/>
                <a:cs typeface="Perpetua"/>
              </a:rPr>
              <a:t>weather </a:t>
            </a:r>
            <a:r>
              <a:rPr sz="2200" b="1" i="1" spc="-20" dirty="0">
                <a:solidFill>
                  <a:srgbClr val="006FC0"/>
                </a:solidFill>
                <a:latin typeface="Perpetua"/>
                <a:cs typeface="Perpetua"/>
              </a:rPr>
              <a:t>forecast </a:t>
            </a:r>
            <a:r>
              <a:rPr sz="2200" b="1" i="1" spc="-5" dirty="0">
                <a:solidFill>
                  <a:srgbClr val="006FC0"/>
                </a:solidFill>
                <a:latin typeface="Perpetua"/>
                <a:cs typeface="Perpetua"/>
              </a:rPr>
              <a:t>is</a:t>
            </a:r>
            <a:r>
              <a:rPr sz="2200" b="1" i="1" spc="330" dirty="0">
                <a:solidFill>
                  <a:srgbClr val="006FC0"/>
                </a:solidFill>
                <a:latin typeface="Perpetua"/>
                <a:cs typeface="Perpetua"/>
              </a:rPr>
              <a:t> </a:t>
            </a:r>
            <a:r>
              <a:rPr sz="2200" b="1" i="1" spc="-5" dirty="0">
                <a:solidFill>
                  <a:srgbClr val="006FC0"/>
                </a:solidFill>
                <a:latin typeface="Perpetua"/>
                <a:cs typeface="Perpetua"/>
              </a:rPr>
              <a:t>bad”</a:t>
            </a:r>
            <a:endParaRPr sz="22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5" dirty="0">
                <a:latin typeface="Perpetua"/>
                <a:cs typeface="Perpetua"/>
              </a:rPr>
              <a:t>The </a:t>
            </a:r>
            <a:r>
              <a:rPr sz="2200" spc="-30" dirty="0">
                <a:latin typeface="Perpetua"/>
                <a:cs typeface="Perpetua"/>
              </a:rPr>
              <a:t>above </a:t>
            </a:r>
            <a:r>
              <a:rPr sz="2200" spc="-10" dirty="0">
                <a:latin typeface="Perpetua"/>
                <a:cs typeface="Perpetua"/>
              </a:rPr>
              <a:t>statement </a:t>
            </a:r>
            <a:r>
              <a:rPr sz="2200" spc="-5" dirty="0">
                <a:latin typeface="Perpetua"/>
                <a:cs typeface="Perpetua"/>
              </a:rPr>
              <a:t>tells us</a:t>
            </a:r>
            <a:r>
              <a:rPr sz="2200" spc="6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that,</a:t>
            </a:r>
            <a:endParaRPr sz="2200">
              <a:latin typeface="Perpetua"/>
              <a:cs typeface="Perpetua"/>
            </a:endParaRPr>
          </a:p>
          <a:p>
            <a:pPr marL="1155700">
              <a:lnSpc>
                <a:spcPct val="100000"/>
              </a:lnSpc>
              <a:spcBef>
                <a:spcPts val="605"/>
              </a:spcBef>
            </a:pPr>
            <a:r>
              <a:rPr sz="2200" dirty="0">
                <a:latin typeface="Perpetua"/>
                <a:cs typeface="Perpetua"/>
              </a:rPr>
              <a:t>If </a:t>
            </a:r>
            <a:r>
              <a:rPr sz="2200" spc="-5" dirty="0">
                <a:latin typeface="Perpetua"/>
                <a:cs typeface="Perpetua"/>
              </a:rPr>
              <a:t>Raining or Bad </a:t>
            </a:r>
            <a:r>
              <a:rPr sz="2200" spc="-45" dirty="0">
                <a:latin typeface="Perpetua"/>
                <a:cs typeface="Perpetua"/>
              </a:rPr>
              <a:t>Weather </a:t>
            </a:r>
            <a:r>
              <a:rPr sz="2200" spc="-15" dirty="0">
                <a:latin typeface="Perpetua"/>
                <a:cs typeface="Perpetua"/>
              </a:rPr>
              <a:t>Forecast, take</a:t>
            </a:r>
            <a:r>
              <a:rPr sz="2200" spc="-23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umbrella</a:t>
            </a:r>
            <a:endParaRPr sz="22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5" dirty="0">
                <a:latin typeface="Perpetua"/>
                <a:cs typeface="Perpetua"/>
              </a:rPr>
              <a:t>The </a:t>
            </a:r>
            <a:r>
              <a:rPr sz="2200" spc="-10" dirty="0">
                <a:solidFill>
                  <a:srgbClr val="C00000"/>
                </a:solidFill>
                <a:latin typeface="Perpetua"/>
                <a:cs typeface="Perpetua"/>
              </a:rPr>
              <a:t>OR </a:t>
            </a:r>
            <a:r>
              <a:rPr sz="2200" dirty="0">
                <a:latin typeface="Perpetua"/>
                <a:cs typeface="Perpetua"/>
              </a:rPr>
              <a:t>logical </a:t>
            </a:r>
            <a:r>
              <a:rPr sz="2200" spc="-10" dirty="0">
                <a:latin typeface="Perpetua"/>
                <a:cs typeface="Perpetua"/>
              </a:rPr>
              <a:t>connective </a:t>
            </a:r>
            <a:r>
              <a:rPr sz="2200" spc="-5" dirty="0">
                <a:latin typeface="Perpetua"/>
                <a:cs typeface="Perpetua"/>
              </a:rPr>
              <a:t>denotes </a:t>
            </a:r>
            <a:r>
              <a:rPr sz="2200" spc="-5" dirty="0">
                <a:solidFill>
                  <a:srgbClr val="C00000"/>
                </a:solidFill>
                <a:latin typeface="Perpetua"/>
                <a:cs typeface="Perpetua"/>
              </a:rPr>
              <a:t>disjunction </a:t>
            </a:r>
            <a:r>
              <a:rPr sz="2200" spc="-5" dirty="0">
                <a:latin typeface="Perpetua"/>
                <a:cs typeface="Perpetua"/>
              </a:rPr>
              <a:t>and can be used</a:t>
            </a:r>
            <a:r>
              <a:rPr sz="2200" spc="200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here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98790" y="4359675"/>
            <a:ext cx="3875765" cy="17200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67000" y="2667000"/>
            <a:ext cx="3276600" cy="14417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6794" y="4230700"/>
            <a:ext cx="6625590" cy="1861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>
              <a:lnSpc>
                <a:spcPts val="2740"/>
              </a:lnSpc>
              <a:spcBef>
                <a:spcPts val="100"/>
              </a:spcBef>
              <a:buSzPct val="85416"/>
              <a:buFont typeface="Wingdings"/>
              <a:buChar char=""/>
              <a:tabLst>
                <a:tab pos="287020" algn="l"/>
              </a:tabLst>
            </a:pPr>
            <a:r>
              <a:rPr sz="2400" i="1" spc="-10" dirty="0">
                <a:latin typeface="Perpetua"/>
                <a:cs typeface="Perpetua"/>
              </a:rPr>
              <a:t>Logical</a:t>
            </a:r>
            <a:r>
              <a:rPr sz="2400" i="1" spc="26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disjunction</a:t>
            </a:r>
            <a:r>
              <a:rPr sz="2400" i="1" spc="254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yields</a:t>
            </a:r>
            <a:r>
              <a:rPr sz="2400" i="1" spc="254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a</a:t>
            </a:r>
            <a:r>
              <a:rPr sz="2400" i="1" spc="260" dirty="0">
                <a:latin typeface="Perpetua"/>
                <a:cs typeface="Perpetua"/>
              </a:rPr>
              <a:t> </a:t>
            </a:r>
            <a:r>
              <a:rPr sz="2400" i="1" spc="-20" dirty="0">
                <a:latin typeface="Perpetua"/>
                <a:cs typeface="Perpetua"/>
              </a:rPr>
              <a:t>value</a:t>
            </a:r>
            <a:r>
              <a:rPr sz="2400" i="1" spc="26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of</a:t>
            </a:r>
            <a:r>
              <a:rPr sz="2400" i="1" spc="254" dirty="0">
                <a:latin typeface="Perpetua"/>
                <a:cs typeface="Perpetua"/>
              </a:rPr>
              <a:t> </a:t>
            </a:r>
            <a:r>
              <a:rPr sz="2400" i="1" spc="-40" dirty="0">
                <a:latin typeface="Perpetua"/>
                <a:cs typeface="Perpetua"/>
              </a:rPr>
              <a:t>FALSE</a:t>
            </a:r>
            <a:r>
              <a:rPr sz="2400" i="1" spc="25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only</a:t>
            </a:r>
            <a:r>
              <a:rPr sz="2400" i="1" spc="265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when</a:t>
            </a:r>
            <a:r>
              <a:rPr sz="2400" i="1" spc="260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both</a:t>
            </a:r>
            <a:r>
              <a:rPr sz="2400" i="1" spc="24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of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40"/>
              </a:lnSpc>
            </a:pPr>
            <a:r>
              <a:rPr sz="2400" i="1" dirty="0">
                <a:latin typeface="Perpetua"/>
                <a:cs typeface="Perpetua"/>
              </a:rPr>
              <a:t>the </a:t>
            </a:r>
            <a:r>
              <a:rPr sz="2400" i="1" spc="-5" dirty="0">
                <a:latin typeface="Perpetua"/>
                <a:cs typeface="Perpetua"/>
              </a:rPr>
              <a:t>inputs </a:t>
            </a:r>
            <a:r>
              <a:rPr sz="2400" i="1" spc="-10" dirty="0">
                <a:latin typeface="Perpetua"/>
                <a:cs typeface="Perpetua"/>
              </a:rPr>
              <a:t>are</a:t>
            </a:r>
            <a:r>
              <a:rPr sz="2400" i="1" spc="-5" dirty="0">
                <a:latin typeface="Perpetua"/>
                <a:cs typeface="Perpetua"/>
              </a:rPr>
              <a:t> </a:t>
            </a:r>
            <a:r>
              <a:rPr sz="2400" i="1" spc="-45" dirty="0">
                <a:latin typeface="Perpetua"/>
                <a:cs typeface="Perpetua"/>
              </a:rPr>
              <a:t>FALSE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50">
              <a:latin typeface="Perpetua"/>
              <a:cs typeface="Perpetua"/>
            </a:endParaRPr>
          </a:p>
          <a:p>
            <a:pPr marL="287020" indent="-274320">
              <a:lnSpc>
                <a:spcPts val="2735"/>
              </a:lnSpc>
              <a:buSzPct val="85416"/>
              <a:buFont typeface="Wingdings"/>
              <a:buChar char=""/>
              <a:tabLst>
                <a:tab pos="287020" algn="l"/>
                <a:tab pos="868680" algn="l"/>
                <a:tab pos="1559560" algn="l"/>
                <a:tab pos="1864360" algn="l"/>
                <a:tab pos="2847340" algn="l"/>
                <a:tab pos="3466465" algn="l"/>
                <a:tab pos="3774440" algn="l"/>
                <a:tab pos="4557395" algn="l"/>
                <a:tab pos="5377815" algn="l"/>
                <a:tab pos="5836285" algn="l"/>
                <a:tab pos="6362065" algn="l"/>
              </a:tabLst>
            </a:pPr>
            <a:r>
              <a:rPr sz="2400" i="1" spc="-5" dirty="0">
                <a:latin typeface="Perpetua"/>
                <a:cs typeface="Perpetua"/>
              </a:rPr>
              <a:t>This	result	is	</a:t>
            </a:r>
            <a:r>
              <a:rPr sz="2400" i="1" spc="-10" dirty="0">
                <a:latin typeface="Perpetua"/>
                <a:cs typeface="Perpetua"/>
              </a:rPr>
              <a:t>intuitive	</a:t>
            </a:r>
            <a:r>
              <a:rPr sz="2400" i="1" spc="-5" dirty="0">
                <a:latin typeface="Perpetua"/>
                <a:cs typeface="Perpetua"/>
              </a:rPr>
              <a:t>since	it	</a:t>
            </a:r>
            <a:r>
              <a:rPr sz="2400" i="1" spc="-10" dirty="0">
                <a:latin typeface="Perpetua"/>
                <a:cs typeface="Perpetua"/>
              </a:rPr>
              <a:t>closely	</a:t>
            </a:r>
            <a:r>
              <a:rPr sz="2400" i="1" spc="-15" dirty="0">
                <a:latin typeface="Perpetua"/>
                <a:cs typeface="Perpetua"/>
              </a:rPr>
              <a:t>follows	</a:t>
            </a:r>
            <a:r>
              <a:rPr sz="2400" i="1" dirty="0">
                <a:latin typeface="Perpetua"/>
                <a:cs typeface="Perpetua"/>
              </a:rPr>
              <a:t>the	</a:t>
            </a:r>
            <a:r>
              <a:rPr sz="2400" i="1" spc="-45" dirty="0">
                <a:latin typeface="Perpetua"/>
                <a:cs typeface="Perpetua"/>
              </a:rPr>
              <a:t>way	</a:t>
            </a:r>
            <a:r>
              <a:rPr sz="2400" i="1" spc="-25" dirty="0">
                <a:latin typeface="Perpetua"/>
                <a:cs typeface="Perpetua"/>
              </a:rPr>
              <a:t>we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35"/>
              </a:lnSpc>
            </a:pPr>
            <a:r>
              <a:rPr sz="2400" i="1" spc="-10" dirty="0">
                <a:latin typeface="Perpetua"/>
                <a:cs typeface="Perpetua"/>
              </a:rPr>
              <a:t>informally </a:t>
            </a:r>
            <a:r>
              <a:rPr sz="2400" i="1" dirty="0">
                <a:latin typeface="Perpetua"/>
                <a:cs typeface="Perpetua"/>
              </a:rPr>
              <a:t>use the </a:t>
            </a:r>
            <a:r>
              <a:rPr sz="2400" i="1" spc="15" dirty="0">
                <a:latin typeface="Perpetua"/>
                <a:cs typeface="Perpetua"/>
              </a:rPr>
              <a:t>term </a:t>
            </a:r>
            <a:r>
              <a:rPr sz="2400" i="1" spc="-5" dirty="0">
                <a:latin typeface="Perpetua"/>
                <a:cs typeface="Perpetua"/>
              </a:rPr>
              <a:t>and </a:t>
            </a:r>
            <a:r>
              <a:rPr sz="2400" i="1" spc="-15" dirty="0">
                <a:latin typeface="Perpetua"/>
                <a:cs typeface="Perpetua"/>
              </a:rPr>
              <a:t>when</a:t>
            </a:r>
            <a:r>
              <a:rPr sz="2400" i="1" spc="-4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speaking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24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86552" y="2590800"/>
            <a:ext cx="3638247" cy="15031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2631" y="3733800"/>
            <a:ext cx="941560" cy="12094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2140" y="297891"/>
            <a:ext cx="7384415" cy="2372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latin typeface="Perpetua"/>
                <a:cs typeface="Perpetua"/>
              </a:rPr>
              <a:t>Let, p be the proposition</a:t>
            </a:r>
            <a:r>
              <a:rPr sz="2200" spc="-35" dirty="0">
                <a:latin typeface="Perpetua"/>
                <a:cs typeface="Perpetua"/>
              </a:rPr>
              <a:t> </a:t>
            </a:r>
            <a:r>
              <a:rPr sz="2200" i="1" spc="-10" dirty="0">
                <a:latin typeface="Perpetua"/>
                <a:cs typeface="Perpetua"/>
              </a:rPr>
              <a:t>Raining</a:t>
            </a:r>
            <a:endParaRPr sz="2200">
              <a:latin typeface="Perpetua"/>
              <a:cs typeface="Perpetua"/>
            </a:endParaRPr>
          </a:p>
          <a:p>
            <a:pPr marL="648335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Perpetua"/>
                <a:cs typeface="Perpetua"/>
              </a:rPr>
              <a:t>q be the proposition </a:t>
            </a:r>
            <a:r>
              <a:rPr sz="2200" i="1" spc="-5" dirty="0">
                <a:latin typeface="Perpetua"/>
                <a:cs typeface="Perpetua"/>
              </a:rPr>
              <a:t>Bad</a:t>
            </a:r>
            <a:r>
              <a:rPr sz="2200" i="1" spc="90" dirty="0">
                <a:latin typeface="Perpetua"/>
                <a:cs typeface="Perpetua"/>
              </a:rPr>
              <a:t> </a:t>
            </a:r>
            <a:r>
              <a:rPr sz="2200" i="1" spc="-15" dirty="0">
                <a:latin typeface="Perpetua"/>
                <a:cs typeface="Perpetua"/>
              </a:rPr>
              <a:t>forecast</a:t>
            </a:r>
            <a:endParaRPr sz="2200">
              <a:latin typeface="Perpetua"/>
              <a:cs typeface="Perpetua"/>
            </a:endParaRPr>
          </a:p>
          <a:p>
            <a:pPr marL="710565">
              <a:lnSpc>
                <a:spcPct val="100000"/>
              </a:lnSpc>
            </a:pPr>
            <a:r>
              <a:rPr sz="2200" spc="-5" dirty="0">
                <a:latin typeface="Perpetua"/>
                <a:cs typeface="Perpetua"/>
              </a:rPr>
              <a:t>r be the proposition </a:t>
            </a:r>
            <a:r>
              <a:rPr sz="2200" i="1" spc="-5" dirty="0">
                <a:latin typeface="Perpetua"/>
                <a:cs typeface="Perpetua"/>
              </a:rPr>
              <a:t>take</a:t>
            </a:r>
            <a:r>
              <a:rPr sz="2200" i="1" spc="90" dirty="0">
                <a:latin typeface="Perpetua"/>
                <a:cs typeface="Perpetua"/>
              </a:rPr>
              <a:t> </a:t>
            </a:r>
            <a:r>
              <a:rPr sz="2200" i="1" spc="-10" dirty="0">
                <a:latin typeface="Perpetua"/>
                <a:cs typeface="Perpetua"/>
              </a:rPr>
              <a:t>umbrella</a:t>
            </a:r>
            <a:endParaRPr sz="22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200" spc="-125" dirty="0">
                <a:latin typeface="Perpetua"/>
                <a:cs typeface="Perpetua"/>
              </a:rPr>
              <a:t>We</a:t>
            </a:r>
            <a:r>
              <a:rPr sz="2200" spc="-10" dirty="0">
                <a:latin typeface="Perpetua"/>
                <a:cs typeface="Perpetua"/>
              </a:rPr>
              <a:t> </a:t>
            </a:r>
            <a:r>
              <a:rPr sz="2200" spc="-35" dirty="0">
                <a:latin typeface="Perpetua"/>
                <a:cs typeface="Perpetua"/>
              </a:rPr>
              <a:t>have,</a:t>
            </a:r>
            <a:endParaRPr sz="2200">
              <a:latin typeface="Perpetua"/>
              <a:cs typeface="Perpetua"/>
            </a:endParaRPr>
          </a:p>
          <a:p>
            <a:pPr marL="991235">
              <a:lnSpc>
                <a:spcPct val="100000"/>
              </a:lnSpc>
            </a:pPr>
            <a:r>
              <a:rPr sz="2200" spc="-5" dirty="0">
                <a:latin typeface="Perpetua"/>
                <a:cs typeface="Perpetua"/>
              </a:rPr>
              <a:t>the compound proposition, p OR</a:t>
            </a:r>
            <a:r>
              <a:rPr sz="2200" spc="1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q</a:t>
            </a:r>
            <a:endParaRPr sz="2200">
              <a:latin typeface="Perpetua"/>
              <a:cs typeface="Perpetua"/>
            </a:endParaRPr>
          </a:p>
          <a:p>
            <a:pPr marL="927100" marR="5080" indent="62230">
              <a:lnSpc>
                <a:spcPct val="100000"/>
              </a:lnSpc>
              <a:tabLst>
                <a:tab pos="2727325" algn="l"/>
                <a:tab pos="4106545" algn="l"/>
              </a:tabLst>
            </a:pPr>
            <a:r>
              <a:rPr sz="2200" spc="-5" dirty="0">
                <a:latin typeface="Perpetua"/>
                <a:cs typeface="Perpetua"/>
              </a:rPr>
              <a:t>the  proposition  r  (</a:t>
            </a:r>
            <a:r>
              <a:rPr sz="2200" spc="-245" dirty="0">
                <a:latin typeface="Perpetua"/>
                <a:cs typeface="Perpetua"/>
              </a:rPr>
              <a:t> </a:t>
            </a:r>
            <a:r>
              <a:rPr sz="2200" spc="5" dirty="0">
                <a:latin typeface="Perpetua"/>
                <a:cs typeface="Perpetua"/>
              </a:rPr>
              <a:t>which</a:t>
            </a:r>
            <a:r>
              <a:rPr sz="2200" spc="30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is	p OR q ) </a:t>
            </a:r>
            <a:r>
              <a:rPr sz="2200" spc="-10" dirty="0">
                <a:latin typeface="Perpetua"/>
                <a:cs typeface="Perpetua"/>
              </a:rPr>
              <a:t>takes </a:t>
            </a:r>
            <a:r>
              <a:rPr sz="2200" spc="-5" dirty="0">
                <a:latin typeface="Perpetua"/>
                <a:cs typeface="Perpetua"/>
              </a:rPr>
              <a:t>the </a:t>
            </a:r>
            <a:r>
              <a:rPr sz="2200" spc="10" dirty="0">
                <a:latin typeface="Perpetua"/>
                <a:cs typeface="Perpetua"/>
              </a:rPr>
              <a:t>truth </a:t>
            </a:r>
            <a:r>
              <a:rPr sz="2200" spc="-15" dirty="0">
                <a:latin typeface="Perpetua"/>
                <a:cs typeface="Perpetua"/>
              </a:rPr>
              <a:t>value  </a:t>
            </a:r>
            <a:r>
              <a:rPr sz="2200" spc="-35" dirty="0">
                <a:latin typeface="Perpetua"/>
                <a:cs typeface="Perpetua"/>
              </a:rPr>
              <a:t>TRUE</a:t>
            </a:r>
            <a:r>
              <a:rPr sz="2200" spc="2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or</a:t>
            </a:r>
            <a:r>
              <a:rPr sz="2200" spc="15" dirty="0">
                <a:latin typeface="Perpetua"/>
                <a:cs typeface="Perpetua"/>
              </a:rPr>
              <a:t> </a:t>
            </a:r>
            <a:r>
              <a:rPr sz="2200" spc="-20" dirty="0">
                <a:latin typeface="Perpetua"/>
                <a:cs typeface="Perpetua"/>
              </a:rPr>
              <a:t>FALSE	</a:t>
            </a:r>
            <a:r>
              <a:rPr sz="2200" spc="-5" dirty="0">
                <a:latin typeface="Perpetua"/>
                <a:cs typeface="Perpetua"/>
              </a:rPr>
              <a:t>as</a:t>
            </a:r>
            <a:r>
              <a:rPr sz="2200" spc="5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follows:</a:t>
            </a:r>
            <a:endParaRPr sz="22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2087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</a:t>
            </a:r>
            <a:r>
              <a:rPr sz="3600" spc="-90" dirty="0"/>
              <a:t> </a:t>
            </a:r>
            <a:r>
              <a:rPr sz="3600" dirty="0"/>
              <a:t>#2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7340" y="773441"/>
            <a:ext cx="8029575" cy="160845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200" b="1" i="1" spc="-60" dirty="0">
                <a:solidFill>
                  <a:srgbClr val="006FC0"/>
                </a:solidFill>
                <a:latin typeface="Perpetua"/>
                <a:cs typeface="Perpetua"/>
              </a:rPr>
              <a:t>“Take </a:t>
            </a:r>
            <a:r>
              <a:rPr sz="2200" b="1" i="1" dirty="0">
                <a:solidFill>
                  <a:srgbClr val="006FC0"/>
                </a:solidFill>
                <a:latin typeface="Perpetua"/>
                <a:cs typeface="Perpetua"/>
              </a:rPr>
              <a:t>an </a:t>
            </a:r>
            <a:r>
              <a:rPr sz="2200" b="1" i="1" spc="-10" dirty="0">
                <a:solidFill>
                  <a:srgbClr val="006FC0"/>
                </a:solidFill>
                <a:latin typeface="Perpetua"/>
                <a:cs typeface="Perpetua"/>
              </a:rPr>
              <a:t>umbrella </a:t>
            </a:r>
            <a:r>
              <a:rPr sz="2200" b="1" i="1" spc="-5" dirty="0">
                <a:solidFill>
                  <a:srgbClr val="006FC0"/>
                </a:solidFill>
                <a:latin typeface="Perpetua"/>
                <a:cs typeface="Perpetua"/>
              </a:rPr>
              <a:t>if it is hot and</a:t>
            </a:r>
            <a:r>
              <a:rPr sz="2200" b="1" i="1" spc="165" dirty="0">
                <a:solidFill>
                  <a:srgbClr val="006FC0"/>
                </a:solidFill>
                <a:latin typeface="Perpetua"/>
                <a:cs typeface="Perpetua"/>
              </a:rPr>
              <a:t> </a:t>
            </a:r>
            <a:r>
              <a:rPr sz="2200" b="1" i="1" spc="-20" dirty="0">
                <a:solidFill>
                  <a:srgbClr val="006FC0"/>
                </a:solidFill>
                <a:latin typeface="Perpetua"/>
                <a:cs typeface="Perpetua"/>
              </a:rPr>
              <a:t>sunny”</a:t>
            </a:r>
            <a:endParaRPr sz="22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9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0" dirty="0">
                <a:latin typeface="Perpetua"/>
                <a:cs typeface="Perpetua"/>
              </a:rPr>
              <a:t>above </a:t>
            </a:r>
            <a:r>
              <a:rPr sz="2400" spc="-5" dirty="0">
                <a:latin typeface="Perpetua"/>
                <a:cs typeface="Perpetua"/>
              </a:rPr>
              <a:t>statement tells </a:t>
            </a:r>
            <a:r>
              <a:rPr sz="2400" dirty="0">
                <a:latin typeface="Perpetua"/>
                <a:cs typeface="Perpetua"/>
              </a:rPr>
              <a:t>us</a:t>
            </a:r>
            <a:r>
              <a:rPr sz="2400" spc="-5" dirty="0">
                <a:latin typeface="Perpetua"/>
                <a:cs typeface="Perpetua"/>
              </a:rPr>
              <a:t> that,</a:t>
            </a:r>
            <a:endParaRPr sz="2400">
              <a:latin typeface="Perpetua"/>
              <a:cs typeface="Perpetua"/>
            </a:endParaRPr>
          </a:p>
          <a:p>
            <a:pPr marL="1240790">
              <a:lnSpc>
                <a:spcPct val="100000"/>
              </a:lnSpc>
              <a:spcBef>
                <a:spcPts val="310"/>
              </a:spcBef>
            </a:pPr>
            <a:r>
              <a:rPr sz="2400" spc="-5" dirty="0">
                <a:latin typeface="Perpetua"/>
                <a:cs typeface="Perpetua"/>
              </a:rPr>
              <a:t>If </a:t>
            </a:r>
            <a:r>
              <a:rPr sz="2400" dirty="0">
                <a:latin typeface="Perpetua"/>
                <a:cs typeface="Perpetua"/>
              </a:rPr>
              <a:t>Hot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spc="-50" dirty="0">
                <a:latin typeface="Perpetua"/>
                <a:cs typeface="Perpetua"/>
              </a:rPr>
              <a:t>Sunny, </a:t>
            </a:r>
            <a:r>
              <a:rPr sz="2400" spc="-10" dirty="0">
                <a:latin typeface="Perpetua"/>
                <a:cs typeface="Perpetua"/>
              </a:rPr>
              <a:t>take</a:t>
            </a:r>
            <a:r>
              <a:rPr sz="2400" spc="-9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umbrella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5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solidFill>
                  <a:srgbClr val="C00000"/>
                </a:solidFill>
                <a:latin typeface="Perpetua"/>
                <a:cs typeface="Perpetua"/>
              </a:rPr>
              <a:t>AND </a:t>
            </a:r>
            <a:r>
              <a:rPr sz="2400" spc="5" dirty="0">
                <a:latin typeface="Perpetua"/>
                <a:cs typeface="Perpetua"/>
              </a:rPr>
              <a:t>logical </a:t>
            </a:r>
            <a:r>
              <a:rPr sz="2400" spc="-5" dirty="0">
                <a:latin typeface="Perpetua"/>
                <a:cs typeface="Perpetua"/>
              </a:rPr>
              <a:t>connective </a:t>
            </a:r>
            <a:r>
              <a:rPr sz="2400" dirty="0">
                <a:latin typeface="Perpetua"/>
                <a:cs typeface="Perpetua"/>
              </a:rPr>
              <a:t>denotes </a:t>
            </a:r>
            <a:r>
              <a:rPr sz="2400" dirty="0">
                <a:solidFill>
                  <a:srgbClr val="C00000"/>
                </a:solidFill>
                <a:latin typeface="Perpetua"/>
                <a:cs typeface="Perpetua"/>
              </a:rPr>
              <a:t>conjunction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can be used</a:t>
            </a:r>
            <a:r>
              <a:rPr sz="2400" spc="-3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here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2751616"/>
            <a:ext cx="2193290" cy="147383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2400" spc="-140" dirty="0">
                <a:latin typeface="Perpetua"/>
                <a:cs typeface="Perpetua"/>
              </a:rPr>
              <a:t>We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have,</a:t>
            </a:r>
            <a:endParaRPr sz="2400">
              <a:latin typeface="Perpetua"/>
              <a:cs typeface="Perpetua"/>
            </a:endParaRPr>
          </a:p>
          <a:p>
            <a:pPr marL="332740">
              <a:lnSpc>
                <a:spcPct val="100000"/>
              </a:lnSpc>
              <a:spcBef>
                <a:spcPts val="150"/>
              </a:spcBef>
            </a:pPr>
            <a:r>
              <a:rPr sz="2200" spc="-5" dirty="0">
                <a:latin typeface="Perpetua"/>
                <a:cs typeface="Perpetua"/>
              </a:rPr>
              <a:t>P = “</a:t>
            </a:r>
            <a:r>
              <a:rPr sz="2200" i="1" spc="-5" dirty="0">
                <a:latin typeface="Perpetua"/>
                <a:cs typeface="Perpetua"/>
              </a:rPr>
              <a:t>It is</a:t>
            </a:r>
            <a:r>
              <a:rPr sz="2200" i="1" spc="-70" dirty="0">
                <a:latin typeface="Perpetua"/>
                <a:cs typeface="Perpetua"/>
              </a:rPr>
              <a:t> </a:t>
            </a:r>
            <a:r>
              <a:rPr sz="2200" i="1" spc="-5" dirty="0">
                <a:latin typeface="Perpetua"/>
                <a:cs typeface="Perpetua"/>
              </a:rPr>
              <a:t>hot</a:t>
            </a:r>
            <a:r>
              <a:rPr sz="2200" spc="-5" dirty="0">
                <a:latin typeface="Perpetua"/>
                <a:cs typeface="Perpetua"/>
              </a:rPr>
              <a:t>.</a:t>
            </a:r>
            <a:endParaRPr sz="2200">
              <a:latin typeface="Perpetua"/>
              <a:cs typeface="Perpetua"/>
            </a:endParaRPr>
          </a:p>
          <a:p>
            <a:pPr marL="332740" marR="5080">
              <a:lnSpc>
                <a:spcPct val="105000"/>
              </a:lnSpc>
              <a:spcBef>
                <a:spcPts val="15"/>
              </a:spcBef>
            </a:pPr>
            <a:r>
              <a:rPr sz="2200" spc="-5" dirty="0">
                <a:latin typeface="Perpetua"/>
                <a:cs typeface="Perpetua"/>
              </a:rPr>
              <a:t>Q = “</a:t>
            </a:r>
            <a:r>
              <a:rPr sz="2200" i="1" spc="-5" dirty="0">
                <a:latin typeface="Perpetua"/>
                <a:cs typeface="Perpetua"/>
              </a:rPr>
              <a:t>It is </a:t>
            </a:r>
            <a:r>
              <a:rPr sz="2200" i="1" spc="-15" dirty="0">
                <a:latin typeface="Perpetua"/>
                <a:cs typeface="Perpetua"/>
              </a:rPr>
              <a:t>sunny</a:t>
            </a:r>
            <a:r>
              <a:rPr sz="2200" spc="-15" dirty="0">
                <a:latin typeface="Perpetua"/>
                <a:cs typeface="Perpetua"/>
              </a:rPr>
              <a:t>”  </a:t>
            </a:r>
            <a:r>
              <a:rPr sz="2200" spc="-10" dirty="0">
                <a:latin typeface="Perpetua"/>
                <a:cs typeface="Perpetua"/>
              </a:rPr>
              <a:t>U= </a:t>
            </a:r>
            <a:r>
              <a:rPr sz="2200" spc="-60" dirty="0">
                <a:latin typeface="Perpetua"/>
                <a:cs typeface="Perpetua"/>
              </a:rPr>
              <a:t>“</a:t>
            </a:r>
            <a:r>
              <a:rPr sz="2200" i="1" spc="-60" dirty="0">
                <a:latin typeface="Perpetua"/>
                <a:cs typeface="Perpetua"/>
              </a:rPr>
              <a:t>Take</a:t>
            </a:r>
            <a:r>
              <a:rPr sz="2200" i="1" spc="-110" dirty="0">
                <a:latin typeface="Perpetua"/>
                <a:cs typeface="Perpetua"/>
              </a:rPr>
              <a:t> </a:t>
            </a:r>
            <a:r>
              <a:rPr sz="2200" i="1" spc="-10" dirty="0">
                <a:latin typeface="Perpetua"/>
                <a:cs typeface="Perpetua"/>
              </a:rPr>
              <a:t>umbrella</a:t>
            </a:r>
            <a:r>
              <a:rPr sz="2200" spc="-10" dirty="0">
                <a:latin typeface="Perpetua"/>
                <a:cs typeface="Perpetua"/>
              </a:rPr>
              <a:t>”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33800" y="2590800"/>
            <a:ext cx="3062941" cy="1633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59433" y="4621148"/>
            <a:ext cx="6592570" cy="1586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ts val="2375"/>
              </a:lnSpc>
              <a:spcBef>
                <a:spcPts val="95"/>
              </a:spcBef>
              <a:buSzPct val="84090"/>
              <a:buFont typeface="Wingdings"/>
              <a:buChar char=""/>
              <a:tabLst>
                <a:tab pos="287020" algn="l"/>
              </a:tabLst>
            </a:pPr>
            <a:r>
              <a:rPr sz="2200" i="1" spc="-10" dirty="0">
                <a:latin typeface="Perpetua"/>
                <a:cs typeface="Perpetua"/>
              </a:rPr>
              <a:t>Logical </a:t>
            </a:r>
            <a:r>
              <a:rPr sz="2200" i="1" spc="-5" dirty="0">
                <a:latin typeface="Perpetua"/>
                <a:cs typeface="Perpetua"/>
              </a:rPr>
              <a:t>conjunction </a:t>
            </a:r>
            <a:r>
              <a:rPr sz="2200" i="1" spc="-10" dirty="0">
                <a:latin typeface="Perpetua"/>
                <a:cs typeface="Perpetua"/>
              </a:rPr>
              <a:t>yields </a:t>
            </a:r>
            <a:r>
              <a:rPr sz="2200" i="1" spc="-5" dirty="0">
                <a:latin typeface="Perpetua"/>
                <a:cs typeface="Perpetua"/>
              </a:rPr>
              <a:t>a </a:t>
            </a:r>
            <a:r>
              <a:rPr sz="2200" i="1" spc="-15" dirty="0">
                <a:latin typeface="Perpetua"/>
                <a:cs typeface="Perpetua"/>
              </a:rPr>
              <a:t>value </a:t>
            </a:r>
            <a:r>
              <a:rPr sz="2200" i="1" spc="-5" dirty="0">
                <a:latin typeface="Perpetua"/>
                <a:cs typeface="Perpetua"/>
              </a:rPr>
              <a:t>of </a:t>
            </a:r>
            <a:r>
              <a:rPr sz="2200" i="1" spc="-20" dirty="0">
                <a:latin typeface="Perpetua"/>
                <a:cs typeface="Perpetua"/>
              </a:rPr>
              <a:t>TRUE </a:t>
            </a:r>
            <a:r>
              <a:rPr sz="2200" i="1" spc="-15" dirty="0">
                <a:latin typeface="Perpetua"/>
                <a:cs typeface="Perpetua"/>
              </a:rPr>
              <a:t>only </a:t>
            </a:r>
            <a:r>
              <a:rPr sz="2200" i="1" spc="-20" dirty="0">
                <a:latin typeface="Perpetua"/>
                <a:cs typeface="Perpetua"/>
              </a:rPr>
              <a:t>when </a:t>
            </a:r>
            <a:r>
              <a:rPr sz="2200" i="1" spc="-5" dirty="0">
                <a:latin typeface="Perpetua"/>
                <a:cs typeface="Perpetua"/>
              </a:rPr>
              <a:t>both of</a:t>
            </a:r>
            <a:r>
              <a:rPr sz="2200" i="1" spc="35" dirty="0">
                <a:latin typeface="Perpetua"/>
                <a:cs typeface="Perpetua"/>
              </a:rPr>
              <a:t> </a:t>
            </a:r>
            <a:r>
              <a:rPr sz="2200" i="1" spc="-5" dirty="0">
                <a:latin typeface="Perpetua"/>
                <a:cs typeface="Perpetua"/>
              </a:rPr>
              <a:t>the</a:t>
            </a:r>
            <a:endParaRPr sz="2200">
              <a:latin typeface="Perpetua"/>
              <a:cs typeface="Perpetua"/>
            </a:endParaRPr>
          </a:p>
          <a:p>
            <a:pPr marL="286385">
              <a:lnSpc>
                <a:spcPts val="2375"/>
              </a:lnSpc>
            </a:pPr>
            <a:r>
              <a:rPr sz="2200" i="1" spc="-5" dirty="0">
                <a:latin typeface="Perpetua"/>
                <a:cs typeface="Perpetua"/>
              </a:rPr>
              <a:t>inputs </a:t>
            </a:r>
            <a:r>
              <a:rPr sz="2200" i="1" spc="-15" dirty="0">
                <a:latin typeface="Perpetua"/>
                <a:cs typeface="Perpetua"/>
              </a:rPr>
              <a:t>are</a:t>
            </a:r>
            <a:r>
              <a:rPr sz="2200" i="1" spc="-240" dirty="0">
                <a:latin typeface="Perpetua"/>
                <a:cs typeface="Perpetua"/>
              </a:rPr>
              <a:t> </a:t>
            </a:r>
            <a:r>
              <a:rPr sz="2200" i="1" spc="-25" dirty="0">
                <a:latin typeface="Perpetua"/>
                <a:cs typeface="Perpetua"/>
              </a:rPr>
              <a:t>TRUE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Perpetua"/>
              <a:cs typeface="Perpetua"/>
            </a:endParaRPr>
          </a:p>
          <a:p>
            <a:pPr marL="286385" marR="5080" indent="-274320">
              <a:lnSpc>
                <a:spcPct val="80000"/>
              </a:lnSpc>
              <a:spcBef>
                <a:spcPts val="5"/>
              </a:spcBef>
              <a:buSzPct val="84090"/>
              <a:buFont typeface="Wingdings"/>
              <a:buChar char=""/>
              <a:tabLst>
                <a:tab pos="287020" algn="l"/>
              </a:tabLst>
            </a:pPr>
            <a:r>
              <a:rPr sz="2200" i="1" spc="-10" dirty="0">
                <a:latin typeface="Perpetua"/>
                <a:cs typeface="Perpetua"/>
              </a:rPr>
              <a:t>This result </a:t>
            </a:r>
            <a:r>
              <a:rPr sz="2200" i="1" spc="-5" dirty="0">
                <a:latin typeface="Perpetua"/>
                <a:cs typeface="Perpetua"/>
              </a:rPr>
              <a:t>is </a:t>
            </a:r>
            <a:r>
              <a:rPr sz="2200" i="1" spc="-15" dirty="0">
                <a:latin typeface="Perpetua"/>
                <a:cs typeface="Perpetua"/>
              </a:rPr>
              <a:t>intuitive </a:t>
            </a:r>
            <a:r>
              <a:rPr sz="2200" i="1" spc="-5" dirty="0">
                <a:latin typeface="Perpetua"/>
                <a:cs typeface="Perpetua"/>
              </a:rPr>
              <a:t>since it </a:t>
            </a:r>
            <a:r>
              <a:rPr sz="2200" i="1" spc="-10" dirty="0">
                <a:latin typeface="Perpetua"/>
                <a:cs typeface="Perpetua"/>
              </a:rPr>
              <a:t>closely </a:t>
            </a:r>
            <a:r>
              <a:rPr sz="2200" i="1" spc="-15" dirty="0">
                <a:latin typeface="Perpetua"/>
                <a:cs typeface="Perpetua"/>
              </a:rPr>
              <a:t>follows </a:t>
            </a:r>
            <a:r>
              <a:rPr sz="2200" i="1" spc="-5" dirty="0">
                <a:latin typeface="Perpetua"/>
                <a:cs typeface="Perpetua"/>
              </a:rPr>
              <a:t>the </a:t>
            </a:r>
            <a:r>
              <a:rPr sz="2200" i="1" spc="-50" dirty="0">
                <a:latin typeface="Perpetua"/>
                <a:cs typeface="Perpetua"/>
              </a:rPr>
              <a:t>way </a:t>
            </a:r>
            <a:r>
              <a:rPr sz="2200" i="1" spc="-20" dirty="0">
                <a:latin typeface="Perpetua"/>
                <a:cs typeface="Perpetua"/>
              </a:rPr>
              <a:t>we </a:t>
            </a:r>
            <a:r>
              <a:rPr sz="2200" i="1" spc="-10" dirty="0">
                <a:latin typeface="Perpetua"/>
                <a:cs typeface="Perpetua"/>
              </a:rPr>
              <a:t>informally  </a:t>
            </a:r>
            <a:r>
              <a:rPr sz="2200" i="1" spc="-5" dirty="0">
                <a:latin typeface="Perpetua"/>
                <a:cs typeface="Perpetua"/>
              </a:rPr>
              <a:t>use the </a:t>
            </a:r>
            <a:r>
              <a:rPr sz="2200" i="1" spc="10" dirty="0">
                <a:latin typeface="Perpetua"/>
                <a:cs typeface="Perpetua"/>
              </a:rPr>
              <a:t>term </a:t>
            </a:r>
            <a:r>
              <a:rPr sz="2200" i="1" spc="-5" dirty="0">
                <a:latin typeface="Perpetua"/>
                <a:cs typeface="Perpetua"/>
              </a:rPr>
              <a:t>and </a:t>
            </a:r>
            <a:r>
              <a:rPr sz="2200" i="1" spc="-20" dirty="0">
                <a:latin typeface="Perpetua"/>
                <a:cs typeface="Perpetua"/>
              </a:rPr>
              <a:t>when</a:t>
            </a:r>
            <a:r>
              <a:rPr sz="2200" i="1" spc="40" dirty="0">
                <a:latin typeface="Perpetua"/>
                <a:cs typeface="Perpetua"/>
              </a:rPr>
              <a:t> </a:t>
            </a:r>
            <a:r>
              <a:rPr sz="2200" i="1" spc="-20" dirty="0">
                <a:latin typeface="Perpetua"/>
                <a:cs typeface="Perpetua"/>
              </a:rPr>
              <a:t>speaking.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6960" y="4419600"/>
            <a:ext cx="896655" cy="8178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319009" y="2816174"/>
            <a:ext cx="13735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Perpetua"/>
                <a:cs typeface="Perpetua"/>
              </a:rPr>
              <a:t>U is P &amp;&amp;</a:t>
            </a:r>
            <a:r>
              <a:rPr sz="2000" b="1" spc="34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dirty="0">
                <a:solidFill>
                  <a:srgbClr val="C00000"/>
                </a:solidFill>
                <a:latin typeface="Perpetua"/>
                <a:cs typeface="Perpetua"/>
              </a:rPr>
              <a:t>Q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52527"/>
            <a:ext cx="3002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" dirty="0"/>
              <a:t>Arity </a:t>
            </a:r>
            <a:r>
              <a:rPr sz="3600" spc="-5" dirty="0"/>
              <a:t>of</a:t>
            </a:r>
            <a:r>
              <a:rPr sz="3600" spc="-65" dirty="0"/>
              <a:t> </a:t>
            </a:r>
            <a:r>
              <a:rPr sz="3600" dirty="0"/>
              <a:t>operators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59740" y="900430"/>
            <a:ext cx="8079105" cy="1291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38175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An operator </a:t>
            </a:r>
            <a:r>
              <a:rPr sz="2600" dirty="0">
                <a:latin typeface="Perpetua"/>
                <a:cs typeface="Perpetua"/>
              </a:rPr>
              <a:t>is something </a:t>
            </a:r>
            <a:r>
              <a:rPr sz="2600" spc="-10" dirty="0">
                <a:latin typeface="Perpetua"/>
                <a:cs typeface="Perpetua"/>
              </a:rPr>
              <a:t>like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machine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accepts inputs,  processes those </a:t>
            </a:r>
            <a:r>
              <a:rPr sz="2600" spc="-10" dirty="0">
                <a:latin typeface="Perpetua"/>
                <a:cs typeface="Perpetua"/>
              </a:rPr>
              <a:t>values, </a:t>
            </a:r>
            <a:r>
              <a:rPr sz="2600" spc="-5" dirty="0">
                <a:latin typeface="Perpetua"/>
                <a:cs typeface="Perpetua"/>
              </a:rPr>
              <a:t>and produces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single output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value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arity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an operator </a:t>
            </a:r>
            <a:r>
              <a:rPr sz="2600" dirty="0">
                <a:latin typeface="Perpetua"/>
                <a:cs typeface="Perpetua"/>
              </a:rPr>
              <a:t>is the </a:t>
            </a:r>
            <a:r>
              <a:rPr sz="2600" spc="-5" dirty="0">
                <a:latin typeface="Perpetua"/>
                <a:cs typeface="Perpetua"/>
              </a:rPr>
              <a:t>number </a:t>
            </a:r>
            <a:r>
              <a:rPr sz="2600" dirty="0">
                <a:latin typeface="Perpetua"/>
                <a:cs typeface="Perpetua"/>
              </a:rPr>
              <a:t>of </a:t>
            </a:r>
            <a:r>
              <a:rPr sz="2600" spc="-5" dirty="0">
                <a:latin typeface="Perpetua"/>
                <a:cs typeface="Perpetua"/>
              </a:rPr>
              <a:t>inputs </a:t>
            </a:r>
            <a:r>
              <a:rPr sz="2600" dirty="0">
                <a:latin typeface="Perpetua"/>
                <a:cs typeface="Perpetua"/>
              </a:rPr>
              <a:t>into the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operator</a:t>
            </a:r>
            <a:endParaRPr sz="2600">
              <a:latin typeface="Perpetua"/>
              <a:cs typeface="Perpetu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57427" y="3044951"/>
            <a:ext cx="6558280" cy="1908175"/>
            <a:chOff x="757427" y="3044951"/>
            <a:chExt cx="6558280" cy="1908175"/>
          </a:xfrm>
        </p:grpSpPr>
        <p:sp>
          <p:nvSpPr>
            <p:cNvPr id="5" name="object 5"/>
            <p:cNvSpPr/>
            <p:nvPr/>
          </p:nvSpPr>
          <p:spPr>
            <a:xfrm>
              <a:off x="761999" y="3047999"/>
              <a:ext cx="6553200" cy="1905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61999" y="3049523"/>
              <a:ext cx="1905" cy="1847214"/>
            </a:xfrm>
            <a:custGeom>
              <a:avLst/>
              <a:gdLst/>
              <a:ahLst/>
              <a:cxnLst/>
              <a:rect l="l" t="t" r="r" b="b"/>
              <a:pathLst>
                <a:path w="1904" h="1847214">
                  <a:moveTo>
                    <a:pt x="1409" y="0"/>
                  </a:moveTo>
                  <a:lnTo>
                    <a:pt x="0" y="184721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1999" y="4895087"/>
              <a:ext cx="6544309" cy="2540"/>
            </a:xfrm>
            <a:custGeom>
              <a:avLst/>
              <a:gdLst/>
              <a:ahLst/>
              <a:cxnLst/>
              <a:rect l="l" t="t" r="r" b="b"/>
              <a:pathLst>
                <a:path w="6544309" h="2539">
                  <a:moveTo>
                    <a:pt x="0" y="0"/>
                  </a:moveTo>
                  <a:lnTo>
                    <a:pt x="6544056" y="2412"/>
                  </a:lnTo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380746"/>
            <a:ext cx="8607425" cy="5726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62225">
              <a:lnSpc>
                <a:spcPct val="1108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p: "This galaxy </a:t>
            </a:r>
            <a:r>
              <a:rPr sz="2400" spc="-5" dirty="0">
                <a:latin typeface="Perpetua"/>
                <a:cs typeface="Perpetua"/>
              </a:rPr>
              <a:t>will </a:t>
            </a:r>
            <a:r>
              <a:rPr sz="2400" spc="-15" dirty="0">
                <a:latin typeface="Perpetua"/>
                <a:cs typeface="Perpetua"/>
              </a:rPr>
              <a:t>ultimately </a:t>
            </a:r>
            <a:r>
              <a:rPr sz="2400" spc="-5" dirty="0">
                <a:latin typeface="Perpetua"/>
                <a:cs typeface="Perpetua"/>
              </a:rPr>
              <a:t>wind </a:t>
            </a:r>
            <a:r>
              <a:rPr sz="2400" dirty="0">
                <a:latin typeface="Perpetua"/>
                <a:cs typeface="Perpetua"/>
              </a:rPr>
              <a:t>up in a </a:t>
            </a:r>
            <a:r>
              <a:rPr sz="2400" spc="-5" dirty="0">
                <a:latin typeface="Perpetua"/>
                <a:cs typeface="Perpetua"/>
              </a:rPr>
              <a:t>black</a:t>
            </a:r>
            <a:r>
              <a:rPr sz="2400" spc="-15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hole"  </a:t>
            </a:r>
            <a:r>
              <a:rPr sz="2400" dirty="0">
                <a:latin typeface="Perpetua"/>
                <a:cs typeface="Perpetua"/>
              </a:rPr>
              <a:t>q: "2+2 =</a:t>
            </a:r>
            <a:r>
              <a:rPr sz="2400" spc="-1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4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5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5"/>
              </a:spcBef>
              <a:buSzPct val="85416"/>
              <a:buAutoNum type="arabicPeriod"/>
              <a:tabLst>
                <a:tab pos="527685" algn="l"/>
                <a:tab pos="528320" algn="l"/>
                <a:tab pos="1841500" algn="l"/>
              </a:tabLst>
            </a:pPr>
            <a:r>
              <a:rPr sz="2400" spc="-10" dirty="0">
                <a:latin typeface="Perpetua"/>
                <a:cs typeface="Perpetua"/>
              </a:rPr>
              <a:t>What</a:t>
            </a:r>
            <a:r>
              <a:rPr sz="2400" spc="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does	p </a:t>
            </a:r>
            <a:r>
              <a:rPr sz="2400" spc="-5" dirty="0">
                <a:latin typeface="Perpetua"/>
                <a:cs typeface="Perpetua"/>
              </a:rPr>
              <a:t>&amp;&amp; </a:t>
            </a:r>
            <a:r>
              <a:rPr sz="2400" dirty="0">
                <a:latin typeface="Perpetua"/>
                <a:cs typeface="Perpetua"/>
              </a:rPr>
              <a:t>q</a:t>
            </a:r>
            <a:r>
              <a:rPr sz="2400" spc="-25" dirty="0">
                <a:latin typeface="Perpetua"/>
                <a:cs typeface="Perpetua"/>
              </a:rPr>
              <a:t> say?</a:t>
            </a:r>
            <a:endParaRPr sz="24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315"/>
              </a:spcBef>
              <a:buSzPct val="85416"/>
              <a:buAutoNum type="arabicPeriod"/>
              <a:tabLst>
                <a:tab pos="527685" algn="l"/>
                <a:tab pos="528320" algn="l"/>
              </a:tabLst>
            </a:pPr>
            <a:r>
              <a:rPr sz="2400" spc="-10" dirty="0">
                <a:latin typeface="Perpetua"/>
                <a:cs typeface="Perpetua"/>
              </a:rPr>
              <a:t>What </a:t>
            </a:r>
            <a:r>
              <a:rPr sz="2400" dirty="0">
                <a:latin typeface="Perpetua"/>
                <a:cs typeface="Perpetua"/>
              </a:rPr>
              <a:t>does p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(~q)</a:t>
            </a:r>
            <a:r>
              <a:rPr sz="2400" spc="-21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say?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Perpetua"/>
                <a:cs typeface="Perpetua"/>
              </a:rPr>
              <a:t>Solution</a:t>
            </a:r>
            <a:endParaRPr sz="2400">
              <a:latin typeface="Perpetua"/>
              <a:cs typeface="Perpetua"/>
            </a:endParaRPr>
          </a:p>
          <a:p>
            <a:pPr marL="527685" marR="5080" indent="-515620" algn="just">
              <a:lnSpc>
                <a:spcPts val="2590"/>
              </a:lnSpc>
              <a:spcBef>
                <a:spcPts val="645"/>
              </a:spcBef>
              <a:buSzPct val="85416"/>
              <a:buAutoNum type="arabicPeriod"/>
              <a:tabLst>
                <a:tab pos="528320" algn="l"/>
              </a:tabLst>
            </a:pPr>
            <a:r>
              <a:rPr sz="2400" spc="-5" dirty="0">
                <a:latin typeface="Perpetua"/>
                <a:cs typeface="Perpetua"/>
              </a:rPr>
              <a:t>"This galaxy </a:t>
            </a:r>
            <a:r>
              <a:rPr sz="2400" dirty="0">
                <a:latin typeface="Perpetua"/>
                <a:cs typeface="Perpetua"/>
              </a:rPr>
              <a:t>will </a:t>
            </a:r>
            <a:r>
              <a:rPr sz="2400" spc="-10" dirty="0">
                <a:latin typeface="Perpetua"/>
                <a:cs typeface="Perpetua"/>
              </a:rPr>
              <a:t>ultimately </a:t>
            </a:r>
            <a:r>
              <a:rPr sz="2400" dirty="0">
                <a:latin typeface="Perpetua"/>
                <a:cs typeface="Perpetua"/>
              </a:rPr>
              <a:t>disappear </a:t>
            </a:r>
            <a:r>
              <a:rPr sz="2400" spc="-5" dirty="0">
                <a:latin typeface="Perpetua"/>
                <a:cs typeface="Perpetua"/>
              </a:rPr>
              <a:t>into </a:t>
            </a:r>
            <a:r>
              <a:rPr sz="2400" dirty="0">
                <a:latin typeface="Perpetua"/>
                <a:cs typeface="Perpetua"/>
              </a:rPr>
              <a:t>a black </a:t>
            </a:r>
            <a:r>
              <a:rPr sz="2400" spc="-5" dirty="0">
                <a:latin typeface="Perpetua"/>
                <a:cs typeface="Perpetua"/>
              </a:rPr>
              <a:t>hole and 2+2=4," </a:t>
            </a:r>
            <a:r>
              <a:rPr sz="2400" dirty="0">
                <a:latin typeface="Perpetua"/>
                <a:cs typeface="Perpetua"/>
              </a:rPr>
              <a:t>or  the </a:t>
            </a:r>
            <a:r>
              <a:rPr sz="2400" spc="-10" dirty="0">
                <a:latin typeface="Perpetua"/>
                <a:cs typeface="Perpetua"/>
              </a:rPr>
              <a:t>more </a:t>
            </a:r>
            <a:r>
              <a:rPr sz="2400" spc="-5" dirty="0">
                <a:latin typeface="Perpetua"/>
                <a:cs typeface="Perpetua"/>
              </a:rPr>
              <a:t>astonishing statement: "Not </a:t>
            </a:r>
            <a:r>
              <a:rPr sz="2400" spc="-15" dirty="0">
                <a:latin typeface="Perpetua"/>
                <a:cs typeface="Perpetua"/>
              </a:rPr>
              <a:t>only </a:t>
            </a:r>
            <a:r>
              <a:rPr sz="2400" dirty="0">
                <a:latin typeface="Perpetua"/>
                <a:cs typeface="Perpetua"/>
              </a:rPr>
              <a:t>will this galaxy </a:t>
            </a:r>
            <a:r>
              <a:rPr sz="2400" spc="-10" dirty="0">
                <a:latin typeface="Perpetua"/>
                <a:cs typeface="Perpetua"/>
              </a:rPr>
              <a:t>ultimately  </a:t>
            </a:r>
            <a:r>
              <a:rPr sz="2400" dirty="0">
                <a:latin typeface="Perpetua"/>
                <a:cs typeface="Perpetua"/>
              </a:rPr>
              <a:t>disappear into a black </a:t>
            </a:r>
            <a:r>
              <a:rPr sz="2400" spc="-15" dirty="0">
                <a:latin typeface="Perpetua"/>
                <a:cs typeface="Perpetua"/>
              </a:rPr>
              <a:t>hole, </a:t>
            </a:r>
            <a:r>
              <a:rPr sz="2400" spc="-10" dirty="0">
                <a:latin typeface="Perpetua"/>
                <a:cs typeface="Perpetua"/>
              </a:rPr>
              <a:t>but </a:t>
            </a:r>
            <a:r>
              <a:rPr sz="2400" spc="-5" dirty="0">
                <a:latin typeface="Perpetua"/>
                <a:cs typeface="Perpetua"/>
              </a:rPr>
              <a:t>2+2 </a:t>
            </a:r>
            <a:r>
              <a:rPr sz="2400" dirty="0">
                <a:latin typeface="Perpetua"/>
                <a:cs typeface="Perpetua"/>
              </a:rPr>
              <a:t>=</a:t>
            </a:r>
            <a:r>
              <a:rPr sz="2400" spc="-14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4!"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Perpetua"/>
              <a:buAutoNum type="arabicPeriod"/>
            </a:pPr>
            <a:endParaRPr sz="3250">
              <a:latin typeface="Perpetua"/>
              <a:cs typeface="Perpetua"/>
            </a:endParaRPr>
          </a:p>
          <a:p>
            <a:pPr marL="527685" marR="5715" indent="-515620" algn="just">
              <a:lnSpc>
                <a:spcPct val="90000"/>
              </a:lnSpc>
              <a:buSzPct val="85416"/>
              <a:buAutoNum type="arabicPeriod"/>
              <a:tabLst>
                <a:tab pos="528320" algn="l"/>
              </a:tabLst>
            </a:pPr>
            <a:r>
              <a:rPr sz="2400" spc="-5" dirty="0">
                <a:latin typeface="Perpetua"/>
                <a:cs typeface="Perpetua"/>
              </a:rPr>
              <a:t>This </a:t>
            </a:r>
            <a:r>
              <a:rPr sz="2400" dirty="0">
                <a:latin typeface="Perpetua"/>
                <a:cs typeface="Perpetua"/>
              </a:rPr>
              <a:t>galaxy will </a:t>
            </a:r>
            <a:r>
              <a:rPr sz="2400" spc="-10" dirty="0">
                <a:latin typeface="Perpetua"/>
                <a:cs typeface="Perpetua"/>
              </a:rPr>
              <a:t>ultimately </a:t>
            </a:r>
            <a:r>
              <a:rPr sz="2400" dirty="0">
                <a:latin typeface="Perpetua"/>
                <a:cs typeface="Perpetua"/>
              </a:rPr>
              <a:t>disappear </a:t>
            </a:r>
            <a:r>
              <a:rPr sz="2400" spc="-5" dirty="0">
                <a:latin typeface="Perpetua"/>
                <a:cs typeface="Perpetua"/>
              </a:rPr>
              <a:t>into </a:t>
            </a:r>
            <a:r>
              <a:rPr sz="2400" dirty="0">
                <a:latin typeface="Perpetua"/>
                <a:cs typeface="Perpetua"/>
              </a:rPr>
              <a:t>a black hole </a:t>
            </a:r>
            <a:r>
              <a:rPr sz="2400" spc="-5" dirty="0">
                <a:latin typeface="Perpetua"/>
                <a:cs typeface="Perpetua"/>
              </a:rPr>
              <a:t>and 2+2 4," </a:t>
            </a:r>
            <a:r>
              <a:rPr sz="2400" spc="-10" dirty="0">
                <a:latin typeface="Perpetua"/>
                <a:cs typeface="Perpetua"/>
              </a:rPr>
              <a:t>or  </a:t>
            </a:r>
            <a:r>
              <a:rPr sz="2400" dirty="0">
                <a:latin typeface="Perpetua"/>
                <a:cs typeface="Perpetua"/>
              </a:rPr>
              <a:t>"Contrary </a:t>
            </a:r>
            <a:r>
              <a:rPr sz="2400" spc="-5" dirty="0">
                <a:latin typeface="Perpetua"/>
                <a:cs typeface="Perpetua"/>
              </a:rPr>
              <a:t>to </a:t>
            </a:r>
            <a:r>
              <a:rPr sz="2400" spc="-10" dirty="0">
                <a:latin typeface="Perpetua"/>
                <a:cs typeface="Perpetua"/>
              </a:rPr>
              <a:t>your </a:t>
            </a:r>
            <a:r>
              <a:rPr sz="2400" dirty="0">
                <a:latin typeface="Perpetua"/>
                <a:cs typeface="Perpetua"/>
              </a:rPr>
              <a:t>hopes </a:t>
            </a:r>
            <a:r>
              <a:rPr sz="2400" spc="-5" dirty="0">
                <a:latin typeface="Perpetua"/>
                <a:cs typeface="Perpetua"/>
              </a:rPr>
              <a:t>and aspirations, this galaxy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doomed to  </a:t>
            </a:r>
            <a:r>
              <a:rPr sz="2400" spc="-15" dirty="0">
                <a:latin typeface="Perpetua"/>
                <a:cs typeface="Perpetua"/>
              </a:rPr>
              <a:t>eventually </a:t>
            </a:r>
            <a:r>
              <a:rPr sz="2400" dirty="0">
                <a:latin typeface="Perpetua"/>
                <a:cs typeface="Perpetua"/>
              </a:rPr>
              <a:t>disappear </a:t>
            </a:r>
            <a:r>
              <a:rPr sz="2400" spc="-5" dirty="0">
                <a:latin typeface="Perpetua"/>
                <a:cs typeface="Perpetua"/>
              </a:rPr>
              <a:t>into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5" dirty="0">
                <a:latin typeface="Perpetua"/>
                <a:cs typeface="Perpetua"/>
              </a:rPr>
              <a:t>black hole; </a:t>
            </a:r>
            <a:r>
              <a:rPr sz="2400" spc="-45" dirty="0">
                <a:latin typeface="Perpetua"/>
                <a:cs typeface="Perpetua"/>
              </a:rPr>
              <a:t>moreover, </a:t>
            </a:r>
            <a:r>
              <a:rPr sz="2400" spc="-35" dirty="0">
                <a:latin typeface="Perpetua"/>
                <a:cs typeface="Perpetua"/>
              </a:rPr>
              <a:t>two </a:t>
            </a:r>
            <a:r>
              <a:rPr sz="2400" spc="-5" dirty="0">
                <a:latin typeface="Perpetua"/>
                <a:cs typeface="Perpetua"/>
              </a:rPr>
              <a:t>plus </a:t>
            </a:r>
            <a:r>
              <a:rPr sz="2400" spc="-40" dirty="0">
                <a:latin typeface="Perpetua"/>
                <a:cs typeface="Perpetua"/>
              </a:rPr>
              <a:t>two </a:t>
            </a:r>
            <a:r>
              <a:rPr sz="2400" dirty="0">
                <a:latin typeface="Perpetua"/>
                <a:cs typeface="Perpetua"/>
              </a:rPr>
              <a:t>is  </a:t>
            </a:r>
            <a:r>
              <a:rPr sz="2400" spc="-5" dirty="0">
                <a:latin typeface="Perpetua"/>
                <a:cs typeface="Perpetua"/>
              </a:rPr>
              <a:t>decidedly different </a:t>
            </a:r>
            <a:r>
              <a:rPr sz="2400" spc="-10" dirty="0">
                <a:latin typeface="Perpetua"/>
                <a:cs typeface="Perpetua"/>
              </a:rPr>
              <a:t>from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four!"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27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761746"/>
            <a:ext cx="8607425" cy="514413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400" dirty="0">
                <a:latin typeface="Perpetua"/>
                <a:cs typeface="Perpetua"/>
              </a:rPr>
              <a:t>p is the </a:t>
            </a:r>
            <a:r>
              <a:rPr sz="2400" spc="-5" dirty="0">
                <a:latin typeface="Perpetua"/>
                <a:cs typeface="Perpetua"/>
              </a:rPr>
              <a:t>statement </a:t>
            </a:r>
            <a:r>
              <a:rPr sz="2400" dirty="0">
                <a:latin typeface="Perpetua"/>
                <a:cs typeface="Perpetua"/>
              </a:rPr>
              <a:t>"This topic is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boring”</a:t>
            </a:r>
            <a:endParaRPr sz="2400">
              <a:latin typeface="Perpetua"/>
              <a:cs typeface="Perpetua"/>
            </a:endParaRPr>
          </a:p>
          <a:p>
            <a:pPr marL="81280">
              <a:lnSpc>
                <a:spcPct val="100000"/>
              </a:lnSpc>
              <a:spcBef>
                <a:spcPts val="310"/>
              </a:spcBef>
            </a:pPr>
            <a:r>
              <a:rPr sz="2400" dirty="0">
                <a:latin typeface="Perpetua"/>
                <a:cs typeface="Perpetua"/>
              </a:rPr>
              <a:t>q is the </a:t>
            </a:r>
            <a:r>
              <a:rPr sz="2400" spc="-5" dirty="0">
                <a:latin typeface="Perpetua"/>
                <a:cs typeface="Perpetua"/>
              </a:rPr>
              <a:t>statement </a:t>
            </a:r>
            <a:r>
              <a:rPr sz="2400" spc="5" dirty="0">
                <a:latin typeface="Perpetua"/>
                <a:cs typeface="Perpetua"/>
              </a:rPr>
              <a:t>"Logic </a:t>
            </a:r>
            <a:r>
              <a:rPr sz="2400" dirty="0">
                <a:latin typeface="Perpetua"/>
                <a:cs typeface="Perpetua"/>
              </a:rPr>
              <a:t>is a </a:t>
            </a:r>
            <a:r>
              <a:rPr sz="2400" spc="5" dirty="0">
                <a:latin typeface="Perpetua"/>
                <a:cs typeface="Perpetua"/>
              </a:rPr>
              <a:t>boring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subject,"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spc="-5" dirty="0">
                <a:latin typeface="Perpetua"/>
                <a:cs typeface="Perpetua"/>
              </a:rPr>
              <a:t>Express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statement </a:t>
            </a:r>
            <a:r>
              <a:rPr sz="2400" dirty="0">
                <a:latin typeface="Perpetua"/>
                <a:cs typeface="Perpetua"/>
              </a:rPr>
              <a:t>"This topic is </a:t>
            </a:r>
            <a:r>
              <a:rPr sz="2400" spc="-5" dirty="0">
                <a:latin typeface="Perpetua"/>
                <a:cs typeface="Perpetua"/>
              </a:rPr>
              <a:t>definitely </a:t>
            </a:r>
            <a:r>
              <a:rPr sz="2400" dirty="0">
                <a:latin typeface="Perpetua"/>
                <a:cs typeface="Perpetua"/>
              </a:rPr>
              <a:t>not </a:t>
            </a:r>
            <a:r>
              <a:rPr sz="2400" spc="5" dirty="0">
                <a:latin typeface="Perpetua"/>
                <a:cs typeface="Perpetua"/>
              </a:rPr>
              <a:t>boring </a:t>
            </a:r>
            <a:r>
              <a:rPr sz="2400" spc="-25" dirty="0">
                <a:latin typeface="Perpetua"/>
                <a:cs typeface="Perpetua"/>
              </a:rPr>
              <a:t>even </a:t>
            </a:r>
            <a:r>
              <a:rPr sz="2400" dirty="0">
                <a:latin typeface="Perpetua"/>
                <a:cs typeface="Perpetua"/>
              </a:rPr>
              <a:t>though </a:t>
            </a:r>
            <a:r>
              <a:rPr sz="2400" spc="5" dirty="0">
                <a:latin typeface="Perpetua"/>
                <a:cs typeface="Perpetua"/>
              </a:rPr>
              <a:t>logic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Perpetua"/>
                <a:cs typeface="Perpetua"/>
              </a:rPr>
              <a:t>a </a:t>
            </a:r>
            <a:r>
              <a:rPr sz="2400" spc="5" dirty="0">
                <a:latin typeface="Perpetua"/>
                <a:cs typeface="Perpetua"/>
              </a:rPr>
              <a:t>boring </a:t>
            </a:r>
            <a:r>
              <a:rPr sz="2400" dirty="0">
                <a:latin typeface="Perpetua"/>
                <a:cs typeface="Perpetua"/>
              </a:rPr>
              <a:t>subject" in </a:t>
            </a:r>
            <a:r>
              <a:rPr sz="2400" spc="5" dirty="0">
                <a:latin typeface="Perpetua"/>
                <a:cs typeface="Perpetua"/>
              </a:rPr>
              <a:t>logical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spc="15" dirty="0">
                <a:latin typeface="Perpetua"/>
                <a:cs typeface="Perpetua"/>
              </a:rPr>
              <a:t>form.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latin typeface="Perpetua"/>
                <a:cs typeface="Perpetua"/>
              </a:rPr>
              <a:t>Solution</a:t>
            </a:r>
            <a:endParaRPr sz="24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310"/>
              </a:spcBef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10" dirty="0">
                <a:latin typeface="Perpetua"/>
                <a:cs typeface="Perpetua"/>
              </a:rPr>
              <a:t>first </a:t>
            </a:r>
            <a:r>
              <a:rPr sz="2400" dirty="0">
                <a:latin typeface="Perpetua"/>
                <a:cs typeface="Perpetua"/>
              </a:rPr>
              <a:t>clause is the </a:t>
            </a:r>
            <a:r>
              <a:rPr sz="2400" spc="-5" dirty="0">
                <a:latin typeface="Perpetua"/>
                <a:cs typeface="Perpetua"/>
              </a:rPr>
              <a:t>negation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25" dirty="0">
                <a:latin typeface="Perpetua"/>
                <a:cs typeface="Perpetua"/>
              </a:rPr>
              <a:t>p, </a:t>
            </a:r>
            <a:r>
              <a:rPr sz="2400" dirty="0">
                <a:latin typeface="Perpetua"/>
                <a:cs typeface="Perpetua"/>
              </a:rPr>
              <a:t>so is</a:t>
            </a:r>
            <a:r>
              <a:rPr sz="2400" spc="-185" dirty="0">
                <a:latin typeface="Perpetua"/>
                <a:cs typeface="Perpetua"/>
              </a:rPr>
              <a:t> </a:t>
            </a:r>
            <a:r>
              <a:rPr sz="2400" spc="-45" dirty="0">
                <a:latin typeface="Perpetua"/>
                <a:cs typeface="Perpetua"/>
              </a:rPr>
              <a:t>~p.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3050">
              <a:latin typeface="Perpetua"/>
              <a:cs typeface="Perpetua"/>
            </a:endParaRPr>
          </a:p>
          <a:p>
            <a:pPr marL="287020" indent="-274320">
              <a:lnSpc>
                <a:spcPts val="274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</a:t>
            </a:r>
            <a:r>
              <a:rPr sz="2400" spc="229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second</a:t>
            </a:r>
            <a:r>
              <a:rPr sz="2400" spc="25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clause</a:t>
            </a:r>
            <a:r>
              <a:rPr sz="2400" spc="25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is</a:t>
            </a:r>
            <a:r>
              <a:rPr sz="2400" spc="2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simply</a:t>
            </a:r>
            <a:r>
              <a:rPr sz="2400" spc="24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stating</a:t>
            </a:r>
            <a:r>
              <a:rPr sz="2400" spc="2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the</a:t>
            </a:r>
            <a:r>
              <a:rPr sz="2400" spc="23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(false)</a:t>
            </a:r>
            <a:r>
              <a:rPr sz="2400" spc="24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claim</a:t>
            </a:r>
            <a:r>
              <a:rPr sz="2400" spc="229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that</a:t>
            </a:r>
            <a:r>
              <a:rPr sz="2400" spc="240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logic</a:t>
            </a:r>
            <a:r>
              <a:rPr sz="2400" spc="25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is</a:t>
            </a:r>
            <a:r>
              <a:rPr sz="2400" spc="25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225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boring</a:t>
            </a:r>
            <a:endParaRPr sz="2400">
              <a:latin typeface="Perpetua"/>
              <a:cs typeface="Perpetua"/>
            </a:endParaRPr>
          </a:p>
          <a:p>
            <a:pPr marL="286385">
              <a:lnSpc>
                <a:spcPts val="2740"/>
              </a:lnSpc>
            </a:pPr>
            <a:r>
              <a:rPr sz="2400" dirty="0">
                <a:latin typeface="Perpetua"/>
                <a:cs typeface="Perpetua"/>
              </a:rPr>
              <a:t>subject,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thus </a:t>
            </a:r>
            <a:r>
              <a:rPr sz="2400" spc="-5" dirty="0">
                <a:latin typeface="Perpetua"/>
                <a:cs typeface="Perpetua"/>
              </a:rPr>
              <a:t>amounts to</a:t>
            </a:r>
            <a:r>
              <a:rPr sz="2400" spc="-13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Perpetua"/>
              <a:cs typeface="Perpetua"/>
            </a:endParaRPr>
          </a:p>
          <a:p>
            <a:pPr marL="286385" marR="5080" indent="-274320">
              <a:lnSpc>
                <a:spcPts val="2590"/>
              </a:lnSpc>
              <a:buSzPct val="85416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400" dirty="0">
                <a:latin typeface="Perpetua"/>
                <a:cs typeface="Perpetua"/>
              </a:rPr>
              <a:t>The phrase </a:t>
            </a:r>
            <a:r>
              <a:rPr sz="2400" spc="-25" dirty="0">
                <a:latin typeface="Perpetua"/>
                <a:cs typeface="Perpetua"/>
              </a:rPr>
              <a:t>"even </a:t>
            </a:r>
            <a:r>
              <a:rPr sz="2400" spc="-5" dirty="0">
                <a:latin typeface="Perpetua"/>
                <a:cs typeface="Perpetua"/>
              </a:rPr>
              <a:t>though" </a:t>
            </a:r>
            <a:r>
              <a:rPr sz="2400" dirty="0">
                <a:latin typeface="Perpetua"/>
                <a:cs typeface="Perpetua"/>
              </a:rPr>
              <a:t>is a colorful </a:t>
            </a:r>
            <a:r>
              <a:rPr sz="2400" spc="-40" dirty="0">
                <a:latin typeface="Perpetua"/>
                <a:cs typeface="Perpetua"/>
              </a:rPr>
              <a:t>way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15" dirty="0">
                <a:latin typeface="Perpetua"/>
                <a:cs typeface="Perpetua"/>
              </a:rPr>
              <a:t>saying </a:t>
            </a:r>
            <a:r>
              <a:rPr sz="2400" spc="-5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both </a:t>
            </a:r>
            <a:r>
              <a:rPr sz="2400" spc="-5" dirty="0">
                <a:latin typeface="Perpetua"/>
                <a:cs typeface="Perpetua"/>
              </a:rPr>
              <a:t>clauses </a:t>
            </a:r>
            <a:r>
              <a:rPr sz="2400" spc="-10" dirty="0">
                <a:latin typeface="Perpetua"/>
                <a:cs typeface="Perpetua"/>
              </a:rPr>
              <a:t>are  </a:t>
            </a:r>
            <a:r>
              <a:rPr sz="2400" dirty="0">
                <a:latin typeface="Perpetua"/>
                <a:cs typeface="Perpetua"/>
              </a:rPr>
              <a:t>true,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so the whole </a:t>
            </a:r>
            <a:r>
              <a:rPr sz="2400" spc="-10" dirty="0">
                <a:latin typeface="Perpetua"/>
                <a:cs typeface="Perpetua"/>
              </a:rPr>
              <a:t>statement </a:t>
            </a:r>
            <a:r>
              <a:rPr sz="2400" dirty="0">
                <a:latin typeface="Perpetua"/>
                <a:cs typeface="Perpetua"/>
              </a:rPr>
              <a:t>is just (~p)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35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28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840454"/>
            <a:ext cx="8607425" cy="467487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600" dirty="0">
                <a:latin typeface="Perpetua"/>
                <a:cs typeface="Perpetua"/>
              </a:rPr>
              <a:t>Let </a:t>
            </a:r>
            <a:r>
              <a:rPr sz="2600" spc="-5" dirty="0">
                <a:latin typeface="Perpetua"/>
                <a:cs typeface="Perpetua"/>
              </a:rPr>
              <a:t>p: "This topic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boring,"</a:t>
            </a:r>
            <a:endParaRPr sz="2600">
              <a:latin typeface="Perpetua"/>
              <a:cs typeface="Perpetua"/>
            </a:endParaRPr>
          </a:p>
          <a:p>
            <a:pPr marL="12700" marR="4567555">
              <a:lnSpc>
                <a:spcPts val="3720"/>
              </a:lnSpc>
              <a:spcBef>
                <a:spcPts val="225"/>
              </a:spcBef>
            </a:pPr>
            <a:r>
              <a:rPr sz="2600" spc="-5" dirty="0">
                <a:latin typeface="Perpetua"/>
                <a:cs typeface="Perpetua"/>
              </a:rPr>
              <a:t>q: "This </a:t>
            </a:r>
            <a:r>
              <a:rPr sz="2600" dirty="0">
                <a:latin typeface="Perpetua"/>
                <a:cs typeface="Perpetua"/>
              </a:rPr>
              <a:t>whole </a:t>
            </a:r>
            <a:r>
              <a:rPr sz="2600" spc="-30" dirty="0">
                <a:latin typeface="Perpetua"/>
                <a:cs typeface="Perpetua"/>
              </a:rPr>
              <a:t>web </a:t>
            </a:r>
            <a:r>
              <a:rPr sz="2600" dirty="0">
                <a:latin typeface="Perpetua"/>
                <a:cs typeface="Perpetua"/>
              </a:rPr>
              <a:t>site is</a:t>
            </a:r>
            <a:r>
              <a:rPr sz="2600" spc="-14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boring“  </a:t>
            </a:r>
            <a:r>
              <a:rPr sz="2600" spc="-15" dirty="0">
                <a:latin typeface="Perpetua"/>
                <a:cs typeface="Perpetua"/>
              </a:rPr>
              <a:t>r: </a:t>
            </a:r>
            <a:r>
              <a:rPr sz="2600" dirty="0">
                <a:latin typeface="Perpetua"/>
                <a:cs typeface="Perpetua"/>
              </a:rPr>
              <a:t>"Life is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boring."</a:t>
            </a:r>
            <a:endParaRPr sz="2600">
              <a:latin typeface="Perpetua"/>
              <a:cs typeface="Perpetua"/>
            </a:endParaRPr>
          </a:p>
          <a:p>
            <a:pPr marL="12700" marR="15240">
              <a:lnSpc>
                <a:spcPts val="3720"/>
              </a:lnSpc>
            </a:pPr>
            <a:r>
              <a:rPr sz="2600" spc="-5" dirty="0">
                <a:latin typeface="Perpetua"/>
                <a:cs typeface="Perpetua"/>
              </a:rPr>
              <a:t>Express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statement </a:t>
            </a:r>
            <a:r>
              <a:rPr sz="2600" dirty="0">
                <a:latin typeface="Perpetua"/>
                <a:cs typeface="Perpetua"/>
              </a:rPr>
              <a:t>"Not </a:t>
            </a:r>
            <a:r>
              <a:rPr sz="2600" spc="-20" dirty="0">
                <a:latin typeface="Perpetua"/>
                <a:cs typeface="Perpetua"/>
              </a:rPr>
              <a:t>only </a:t>
            </a:r>
            <a:r>
              <a:rPr sz="2600" dirty="0">
                <a:latin typeface="Perpetua"/>
                <a:cs typeface="Perpetua"/>
              </a:rPr>
              <a:t>is this </a:t>
            </a:r>
            <a:r>
              <a:rPr sz="2600" spc="-5" dirty="0">
                <a:latin typeface="Perpetua"/>
                <a:cs typeface="Perpetua"/>
              </a:rPr>
              <a:t>topic </a:t>
            </a:r>
            <a:r>
              <a:rPr sz="2600" dirty="0">
                <a:latin typeface="Perpetua"/>
                <a:cs typeface="Perpetua"/>
              </a:rPr>
              <a:t>boring, </a:t>
            </a: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dirty="0">
                <a:latin typeface="Perpetua"/>
                <a:cs typeface="Perpetua"/>
              </a:rPr>
              <a:t>this whole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web  </a:t>
            </a:r>
            <a:r>
              <a:rPr sz="2600" dirty="0">
                <a:latin typeface="Perpetua"/>
                <a:cs typeface="Perpetua"/>
              </a:rPr>
              <a:t>site is boring,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fact life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5" dirty="0">
                <a:latin typeface="Perpetua"/>
                <a:cs typeface="Perpetua"/>
              </a:rPr>
              <a:t>boring </a:t>
            </a:r>
            <a:r>
              <a:rPr sz="2600" dirty="0">
                <a:latin typeface="Perpetua"/>
                <a:cs typeface="Perpetua"/>
              </a:rPr>
              <a:t>(so </a:t>
            </a:r>
            <a:r>
              <a:rPr sz="2600" spc="-5" dirty="0">
                <a:latin typeface="Perpetua"/>
                <a:cs typeface="Perpetua"/>
              </a:rPr>
              <a:t>there!)"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5" dirty="0">
                <a:latin typeface="Perpetua"/>
                <a:cs typeface="Perpetua"/>
              </a:rPr>
              <a:t>logical</a:t>
            </a:r>
            <a:r>
              <a:rPr sz="2600" spc="-110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form.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5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latin typeface="Perpetua"/>
                <a:cs typeface="Perpetua"/>
              </a:rPr>
              <a:t>Solution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879475" algn="l"/>
                <a:tab pos="2174875" algn="l"/>
                <a:tab pos="2484755" algn="l"/>
                <a:tab pos="4243705" algn="l"/>
                <a:tab pos="4652010" algn="l"/>
                <a:tab pos="5401945" algn="l"/>
                <a:tab pos="6801484" algn="l"/>
                <a:tab pos="7435215" algn="l"/>
                <a:tab pos="7985759" algn="l"/>
                <a:tab pos="8229600" algn="l"/>
              </a:tabLst>
            </a:pPr>
            <a:r>
              <a:rPr sz="2600" dirty="0">
                <a:latin typeface="Perpetua"/>
                <a:cs typeface="Perpetua"/>
              </a:rPr>
              <a:t>The	st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te</a:t>
            </a:r>
            <a:r>
              <a:rPr sz="2600" spc="-15" dirty="0">
                <a:latin typeface="Perpetua"/>
                <a:cs typeface="Perpetua"/>
              </a:rPr>
              <a:t>m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t	is	</a:t>
            </a:r>
            <a:r>
              <a:rPr sz="2600" spc="-5" dirty="0">
                <a:latin typeface="Perpetua"/>
                <a:cs typeface="Perpetua"/>
              </a:rPr>
              <a:t>asse</a:t>
            </a:r>
            <a:r>
              <a:rPr sz="2600" spc="9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15" dirty="0">
                <a:latin typeface="Perpetua"/>
                <a:cs typeface="Perpetua"/>
              </a:rPr>
              <a:t>i</a:t>
            </a:r>
            <a:r>
              <a:rPr sz="2600" dirty="0">
                <a:latin typeface="Perpetua"/>
                <a:cs typeface="Perpetua"/>
              </a:rPr>
              <a:t>ng </a:t>
            </a:r>
            <a:r>
              <a:rPr sz="2600" spc="-1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	</a:t>
            </a:r>
            <a:r>
              <a:rPr sz="2600" spc="-5" dirty="0">
                <a:latin typeface="Perpetua"/>
                <a:cs typeface="Perpetua"/>
              </a:rPr>
              <a:t>al</a:t>
            </a:r>
            <a:r>
              <a:rPr sz="2600" dirty="0">
                <a:latin typeface="Perpetua"/>
                <a:cs typeface="Perpetua"/>
              </a:rPr>
              <a:t>l	th</a:t>
            </a:r>
            <a:r>
              <a:rPr sz="2600" spc="-2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ee	st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te</a:t>
            </a:r>
            <a:r>
              <a:rPr sz="2600" spc="-15" dirty="0">
                <a:latin typeface="Perpetua"/>
                <a:cs typeface="Perpetua"/>
              </a:rPr>
              <a:t>m</a:t>
            </a:r>
            <a:r>
              <a:rPr sz="2600" dirty="0">
                <a:latin typeface="Perpetua"/>
                <a:cs typeface="Perpetua"/>
              </a:rPr>
              <a:t>e</a:t>
            </a:r>
            <a:r>
              <a:rPr sz="2600" spc="-1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ts	</a:t>
            </a:r>
            <a:r>
              <a:rPr sz="2600" spc="-55" dirty="0">
                <a:latin typeface="Perpetua"/>
                <a:cs typeface="Perpetua"/>
              </a:rPr>
              <a:t>p</a:t>
            </a:r>
            <a:r>
              <a:rPr sz="2600" dirty="0">
                <a:latin typeface="Perpetua"/>
                <a:cs typeface="Perpetua"/>
              </a:rPr>
              <a:t>, </a:t>
            </a:r>
            <a:r>
              <a:rPr sz="2600" spc="-2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2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d	r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4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  true.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(Note </a:t>
            </a:r>
            <a:r>
              <a:rPr sz="2600" spc="-10" dirty="0">
                <a:latin typeface="Perpetua"/>
                <a:cs typeface="Perpetua"/>
              </a:rPr>
              <a:t>that "but"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10" dirty="0">
                <a:latin typeface="Perpetua"/>
                <a:cs typeface="Perpetua"/>
              </a:rPr>
              <a:t>simply </a:t>
            </a:r>
            <a:r>
              <a:rPr sz="2600" spc="-5" dirty="0">
                <a:latin typeface="Perpetua"/>
                <a:cs typeface="Perpetua"/>
              </a:rPr>
              <a:t>an emphatic </a:t>
            </a:r>
            <a:r>
              <a:rPr sz="2600" spc="15" dirty="0">
                <a:latin typeface="Perpetua"/>
                <a:cs typeface="Perpetua"/>
              </a:rPr>
              <a:t>form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"and.")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29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866338"/>
            <a:ext cx="8618855" cy="521271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25" dirty="0">
                <a:latin typeface="Perpetua"/>
                <a:cs typeface="Perpetua"/>
              </a:rPr>
              <a:t>Now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combine </a:t>
            </a:r>
            <a:r>
              <a:rPr sz="2600" dirty="0">
                <a:latin typeface="Perpetua"/>
                <a:cs typeface="Perpetua"/>
              </a:rPr>
              <a:t>them </a:t>
            </a: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30" dirty="0">
                <a:latin typeface="Perpetua"/>
                <a:cs typeface="Perpetua"/>
              </a:rPr>
              <a:t>two</a:t>
            </a:r>
            <a:r>
              <a:rPr sz="2600" spc="6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steps:</a:t>
            </a:r>
            <a:endParaRPr sz="2600">
              <a:latin typeface="Perpetua"/>
              <a:cs typeface="Perpetua"/>
            </a:endParaRPr>
          </a:p>
          <a:p>
            <a:pPr marL="561340" marR="1651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35" dirty="0">
                <a:latin typeface="Perpetua"/>
                <a:cs typeface="Perpetua"/>
              </a:rPr>
              <a:t>Firstly,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can </a:t>
            </a:r>
            <a:r>
              <a:rPr sz="2600" spc="-5" dirty="0">
                <a:latin typeface="Perpetua"/>
                <a:cs typeface="Perpetua"/>
              </a:rPr>
              <a:t>combine </a:t>
            </a:r>
            <a:r>
              <a:rPr sz="2600" dirty="0">
                <a:latin typeface="Perpetua"/>
                <a:cs typeface="Perpetua"/>
              </a:rPr>
              <a:t>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q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get p AND </a:t>
            </a:r>
            <a:r>
              <a:rPr sz="2600" spc="-5" dirty="0">
                <a:latin typeface="Perpetua"/>
                <a:cs typeface="Perpetua"/>
              </a:rPr>
              <a:t>q, meaning </a:t>
            </a:r>
            <a:r>
              <a:rPr sz="2600" dirty="0">
                <a:latin typeface="Perpetua"/>
                <a:cs typeface="Perpetua"/>
              </a:rPr>
              <a:t>"This  topic is </a:t>
            </a:r>
            <a:r>
              <a:rPr sz="2600" spc="5" dirty="0">
                <a:latin typeface="Perpetua"/>
                <a:cs typeface="Perpetua"/>
              </a:rPr>
              <a:t>boring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30" dirty="0">
                <a:latin typeface="Perpetua"/>
                <a:cs typeface="Perpetua"/>
              </a:rPr>
              <a:t>web </a:t>
            </a:r>
            <a:r>
              <a:rPr sz="2600" dirty="0">
                <a:latin typeface="Perpetua"/>
                <a:cs typeface="Perpetua"/>
              </a:rPr>
              <a:t>site is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boring.“</a:t>
            </a:r>
            <a:endParaRPr sz="2600">
              <a:latin typeface="Perpetua"/>
              <a:cs typeface="Perpetua"/>
            </a:endParaRPr>
          </a:p>
          <a:p>
            <a:pPr marL="594360" lvl="1" indent="-262255">
              <a:lnSpc>
                <a:spcPct val="100000"/>
              </a:lnSpc>
              <a:spcBef>
                <a:spcPts val="414"/>
              </a:spcBef>
              <a:buSzPct val="84615"/>
              <a:buFont typeface="Arial"/>
              <a:buChar char="•"/>
              <a:tabLst>
                <a:tab pos="594360" algn="l"/>
                <a:tab pos="594995" algn="l"/>
              </a:tabLst>
            </a:pPr>
            <a:r>
              <a:rPr sz="2600" spc="-14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dirty="0">
                <a:latin typeface="Perpetua"/>
                <a:cs typeface="Perpetua"/>
              </a:rPr>
              <a:t>then conjoin this with r </a:t>
            </a:r>
            <a:r>
              <a:rPr sz="2600" spc="-5" dirty="0">
                <a:latin typeface="Perpetua"/>
                <a:cs typeface="Perpetua"/>
              </a:rPr>
              <a:t>to get: </a:t>
            </a:r>
            <a:r>
              <a:rPr sz="2600" dirty="0">
                <a:latin typeface="Perpetua"/>
                <a:cs typeface="Perpetua"/>
              </a:rPr>
              <a:t>(p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q)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355" dirty="0">
                <a:latin typeface="Perpetua"/>
                <a:cs typeface="Perpetua"/>
              </a:rPr>
              <a:t> </a:t>
            </a:r>
            <a:r>
              <a:rPr sz="2600" spc="-114" dirty="0">
                <a:latin typeface="Perpetua"/>
                <a:cs typeface="Perpetua"/>
              </a:rPr>
              <a:t>r.</a:t>
            </a:r>
            <a:endParaRPr sz="2600">
              <a:latin typeface="Perpetua"/>
              <a:cs typeface="Perpetua"/>
            </a:endParaRPr>
          </a:p>
          <a:p>
            <a:pPr marL="561340" marR="15875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This </a:t>
            </a:r>
            <a:r>
              <a:rPr sz="2600" spc="-20" dirty="0">
                <a:latin typeface="Perpetua"/>
                <a:cs typeface="Perpetua"/>
              </a:rPr>
              <a:t>says: </a:t>
            </a:r>
            <a:r>
              <a:rPr sz="2600" spc="-5" dirty="0">
                <a:latin typeface="Perpetua"/>
                <a:cs typeface="Perpetua"/>
              </a:rPr>
              <a:t>"This topic </a:t>
            </a:r>
            <a:r>
              <a:rPr sz="2600" dirty="0">
                <a:latin typeface="Perpetua"/>
                <a:cs typeface="Perpetua"/>
              </a:rPr>
              <a:t>is boring, this </a:t>
            </a:r>
            <a:r>
              <a:rPr sz="2600" spc="-30" dirty="0">
                <a:latin typeface="Perpetua"/>
                <a:cs typeface="Perpetua"/>
              </a:rPr>
              <a:t>web </a:t>
            </a:r>
            <a:r>
              <a:rPr sz="2600" dirty="0">
                <a:latin typeface="Perpetua"/>
                <a:cs typeface="Perpetua"/>
              </a:rPr>
              <a:t>site is </a:t>
            </a:r>
            <a:r>
              <a:rPr sz="2600" spc="5" dirty="0">
                <a:latin typeface="Perpetua"/>
                <a:cs typeface="Perpetua"/>
              </a:rPr>
              <a:t>boring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life is  </a:t>
            </a:r>
            <a:r>
              <a:rPr sz="2600" spc="-25" dirty="0">
                <a:latin typeface="Perpetua"/>
                <a:cs typeface="Perpetua"/>
              </a:rPr>
              <a:t>boring."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550">
              <a:latin typeface="Perpetua"/>
              <a:cs typeface="Perpetua"/>
            </a:endParaRPr>
          </a:p>
          <a:p>
            <a:pPr marL="286385" marR="1778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other hand, </a:t>
            </a: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could </a:t>
            </a:r>
            <a:r>
              <a:rPr sz="2600" spc="-10" dirty="0">
                <a:latin typeface="Perpetua"/>
                <a:cs typeface="Perpetua"/>
              </a:rPr>
              <a:t>equally </a:t>
            </a:r>
            <a:r>
              <a:rPr sz="2600" spc="-25" dirty="0">
                <a:latin typeface="Perpetua"/>
                <a:cs typeface="Perpetua"/>
              </a:rPr>
              <a:t>well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spc="-5" dirty="0">
                <a:latin typeface="Perpetua"/>
                <a:cs typeface="Perpetua"/>
              </a:rPr>
              <a:t>done </a:t>
            </a:r>
            <a:r>
              <a:rPr sz="2600" dirty="0">
                <a:latin typeface="Perpetua"/>
                <a:cs typeface="Perpetua"/>
              </a:rPr>
              <a:t>it the </a:t>
            </a:r>
            <a:r>
              <a:rPr sz="2600" spc="-5" dirty="0">
                <a:latin typeface="Perpetua"/>
                <a:cs typeface="Perpetua"/>
              </a:rPr>
              <a:t>other </a:t>
            </a:r>
            <a:r>
              <a:rPr sz="2600" spc="-40" dirty="0">
                <a:latin typeface="Perpetua"/>
                <a:cs typeface="Perpetua"/>
              </a:rPr>
              <a:t>way </a:t>
            </a:r>
            <a:r>
              <a:rPr sz="2600" spc="50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around:</a:t>
            </a:r>
            <a:endParaRPr sz="26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dirty="0">
                <a:latin typeface="Perpetua"/>
                <a:cs typeface="Perpetua"/>
              </a:rPr>
              <a:t>conjoining q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r </a:t>
            </a:r>
            <a:r>
              <a:rPr sz="2600" spc="-5" dirty="0">
                <a:latin typeface="Perpetua"/>
                <a:cs typeface="Perpetua"/>
              </a:rPr>
              <a:t>gives "This </a:t>
            </a:r>
            <a:r>
              <a:rPr sz="2600" spc="-30" dirty="0">
                <a:latin typeface="Perpetua"/>
                <a:cs typeface="Perpetua"/>
              </a:rPr>
              <a:t>web </a:t>
            </a:r>
            <a:r>
              <a:rPr sz="2600" dirty="0">
                <a:latin typeface="Perpetua"/>
                <a:cs typeface="Perpetua"/>
              </a:rPr>
              <a:t>site is </a:t>
            </a:r>
            <a:r>
              <a:rPr sz="2600" spc="5" dirty="0">
                <a:latin typeface="Perpetua"/>
                <a:cs typeface="Perpetua"/>
              </a:rPr>
              <a:t>boring </a:t>
            </a:r>
            <a:r>
              <a:rPr sz="2600" spc="-5" dirty="0">
                <a:latin typeface="Perpetua"/>
                <a:cs typeface="Perpetua"/>
              </a:rPr>
              <a:t>and life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boring."</a:t>
            </a:r>
            <a:endParaRPr sz="26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560705" algn="l"/>
                <a:tab pos="561340" algn="l"/>
              </a:tabLst>
            </a:pPr>
            <a:r>
              <a:rPr sz="2600" spc="-140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then conjoin p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get 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5" dirty="0">
                <a:latin typeface="Perpetua"/>
                <a:cs typeface="Perpetua"/>
              </a:rPr>
              <a:t>(q </a:t>
            </a:r>
            <a:r>
              <a:rPr sz="2600" spc="-5" dirty="0">
                <a:latin typeface="Perpetua"/>
                <a:cs typeface="Perpetua"/>
              </a:rPr>
              <a:t>AND r),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spc="-5" dirty="0">
                <a:latin typeface="Perpetua"/>
                <a:cs typeface="Perpetua"/>
              </a:rPr>
              <a:t>again </a:t>
            </a:r>
            <a:r>
              <a:rPr sz="2600" spc="-20" dirty="0">
                <a:latin typeface="Perpetua"/>
                <a:cs typeface="Perpetua"/>
              </a:rPr>
              <a:t>says:  </a:t>
            </a:r>
            <a:r>
              <a:rPr sz="2600" dirty="0">
                <a:latin typeface="Perpetua"/>
                <a:cs typeface="Perpetua"/>
              </a:rPr>
              <a:t>"This </a:t>
            </a:r>
            <a:r>
              <a:rPr sz="2600" spc="-5" dirty="0">
                <a:latin typeface="Perpetua"/>
                <a:cs typeface="Perpetua"/>
              </a:rPr>
              <a:t>topic </a:t>
            </a:r>
            <a:r>
              <a:rPr sz="2600" dirty="0">
                <a:latin typeface="Perpetua"/>
                <a:cs typeface="Perpetua"/>
              </a:rPr>
              <a:t>is boring, this </a:t>
            </a:r>
            <a:r>
              <a:rPr sz="2600" spc="-30" dirty="0">
                <a:latin typeface="Perpetua"/>
                <a:cs typeface="Perpetua"/>
              </a:rPr>
              <a:t>web </a:t>
            </a:r>
            <a:r>
              <a:rPr sz="2600" dirty="0">
                <a:latin typeface="Perpetua"/>
                <a:cs typeface="Perpetua"/>
              </a:rPr>
              <a:t>site is </a:t>
            </a:r>
            <a:r>
              <a:rPr sz="2600" spc="5" dirty="0">
                <a:latin typeface="Perpetua"/>
                <a:cs typeface="Perpetua"/>
              </a:rPr>
              <a:t>boring </a:t>
            </a:r>
            <a:r>
              <a:rPr sz="2600" spc="-5" dirty="0">
                <a:latin typeface="Perpetua"/>
                <a:cs typeface="Perpetua"/>
              </a:rPr>
              <a:t>and life </a:t>
            </a:r>
            <a:r>
              <a:rPr sz="2600" dirty="0">
                <a:latin typeface="Perpetua"/>
                <a:cs typeface="Perpetua"/>
              </a:rPr>
              <a:t>is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spc="-50" dirty="0">
                <a:latin typeface="Perpetua"/>
                <a:cs typeface="Perpetua"/>
              </a:rPr>
              <a:t>boring.”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30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380746"/>
            <a:ext cx="8608060" cy="603123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09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Perpetua"/>
                <a:cs typeface="Perpetua"/>
              </a:rPr>
              <a:t>p: "55 is </a:t>
            </a:r>
            <a:r>
              <a:rPr sz="2400" spc="-5" dirty="0">
                <a:latin typeface="Perpetua"/>
                <a:cs typeface="Perpetua"/>
              </a:rPr>
              <a:t>divisible </a:t>
            </a:r>
            <a:r>
              <a:rPr sz="2400" spc="-25" dirty="0">
                <a:latin typeface="Perpetua"/>
                <a:cs typeface="Perpetua"/>
              </a:rPr>
              <a:t>by</a:t>
            </a:r>
            <a:r>
              <a:rPr sz="2400" spc="-16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5,“</a:t>
            </a:r>
            <a:endParaRPr sz="2400">
              <a:latin typeface="Perpetua"/>
              <a:cs typeface="Perpetua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Perpetua"/>
                <a:cs typeface="Perpetua"/>
              </a:rPr>
              <a:t>q: "676 is </a:t>
            </a:r>
            <a:r>
              <a:rPr sz="2400" spc="-5" dirty="0">
                <a:latin typeface="Perpetua"/>
                <a:cs typeface="Perpetua"/>
              </a:rPr>
              <a:t>divisible </a:t>
            </a:r>
            <a:r>
              <a:rPr sz="2400" spc="-25" dirty="0">
                <a:latin typeface="Perpetua"/>
                <a:cs typeface="Perpetua"/>
              </a:rPr>
              <a:t>by</a:t>
            </a:r>
            <a:r>
              <a:rPr sz="2400" spc="-1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11”</a:t>
            </a:r>
            <a:endParaRPr sz="2400">
              <a:latin typeface="Perpetua"/>
              <a:cs typeface="Perpetua"/>
            </a:endParaRPr>
          </a:p>
          <a:p>
            <a:pPr marL="355600" indent="-342900">
              <a:lnSpc>
                <a:spcPct val="100000"/>
              </a:lnSpc>
              <a:spcBef>
                <a:spcPts val="315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latin typeface="Perpetua"/>
                <a:cs typeface="Perpetua"/>
              </a:rPr>
              <a:t>r: </a:t>
            </a:r>
            <a:r>
              <a:rPr sz="2400" dirty="0">
                <a:latin typeface="Perpetua"/>
                <a:cs typeface="Perpetua"/>
              </a:rPr>
              <a:t>"55 is </a:t>
            </a:r>
            <a:r>
              <a:rPr sz="2400" spc="-5" dirty="0">
                <a:latin typeface="Perpetua"/>
                <a:cs typeface="Perpetua"/>
              </a:rPr>
              <a:t>divisible </a:t>
            </a:r>
            <a:r>
              <a:rPr sz="2400" spc="-25" dirty="0">
                <a:latin typeface="Perpetua"/>
                <a:cs typeface="Perpetua"/>
              </a:rPr>
              <a:t>by</a:t>
            </a:r>
            <a:r>
              <a:rPr sz="2400" spc="-15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11.“</a:t>
            </a:r>
            <a:endParaRPr sz="2400">
              <a:latin typeface="Perpetua"/>
              <a:cs typeface="Perpetua"/>
            </a:endParaRPr>
          </a:p>
          <a:p>
            <a:pPr marL="355600" indent="-342900">
              <a:lnSpc>
                <a:spcPct val="100000"/>
              </a:lnSpc>
              <a:spcBef>
                <a:spcPts val="310"/>
              </a:spcBef>
              <a:buSzPct val="85416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Perpetua"/>
                <a:cs typeface="Perpetua"/>
              </a:rPr>
              <a:t>Express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following statements </a:t>
            </a:r>
            <a:r>
              <a:rPr sz="2400" dirty="0">
                <a:latin typeface="Perpetua"/>
                <a:cs typeface="Perpetua"/>
              </a:rPr>
              <a:t>in symbolic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spc="15" dirty="0">
                <a:latin typeface="Perpetua"/>
                <a:cs typeface="Perpetua"/>
              </a:rPr>
              <a:t>form:</a:t>
            </a:r>
            <a:endParaRPr sz="2400">
              <a:latin typeface="Perpetua"/>
              <a:cs typeface="Perpetua"/>
            </a:endParaRPr>
          </a:p>
          <a:p>
            <a:pPr marL="655955" lvl="1" indent="-371475">
              <a:lnSpc>
                <a:spcPct val="100000"/>
              </a:lnSpc>
              <a:spcBef>
                <a:spcPts val="315"/>
              </a:spcBef>
              <a:buAutoNum type="alphaLcParenBoth"/>
              <a:tabLst>
                <a:tab pos="656590" algn="l"/>
              </a:tabLst>
            </a:pPr>
            <a:r>
              <a:rPr sz="2400" spc="-5" dirty="0">
                <a:latin typeface="Perpetua"/>
                <a:cs typeface="Perpetua"/>
              </a:rPr>
              <a:t>"Either </a:t>
            </a:r>
            <a:r>
              <a:rPr sz="2400" dirty="0">
                <a:latin typeface="Perpetua"/>
                <a:cs typeface="Perpetua"/>
              </a:rPr>
              <a:t>55 is not </a:t>
            </a:r>
            <a:r>
              <a:rPr sz="2400" spc="-5" dirty="0">
                <a:latin typeface="Perpetua"/>
                <a:cs typeface="Perpetua"/>
              </a:rPr>
              <a:t>divisible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dirty="0">
                <a:latin typeface="Perpetua"/>
                <a:cs typeface="Perpetua"/>
              </a:rPr>
              <a:t>11 or 676 is not </a:t>
            </a:r>
            <a:r>
              <a:rPr sz="2400" spc="-5" dirty="0">
                <a:latin typeface="Perpetua"/>
                <a:cs typeface="Perpetua"/>
              </a:rPr>
              <a:t>divisible </a:t>
            </a:r>
            <a:r>
              <a:rPr sz="2400" spc="-25" dirty="0">
                <a:latin typeface="Perpetua"/>
                <a:cs typeface="Perpetua"/>
              </a:rPr>
              <a:t>by</a:t>
            </a:r>
            <a:r>
              <a:rPr sz="2400" spc="-11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11."</a:t>
            </a:r>
            <a:endParaRPr sz="2400">
              <a:latin typeface="Perpetua"/>
              <a:cs typeface="Perpetua"/>
            </a:endParaRPr>
          </a:p>
          <a:p>
            <a:pPr marL="681990" lvl="1" indent="-397510">
              <a:lnSpc>
                <a:spcPct val="100000"/>
              </a:lnSpc>
              <a:spcBef>
                <a:spcPts val="315"/>
              </a:spcBef>
              <a:buAutoNum type="alphaLcParenBoth"/>
              <a:tabLst>
                <a:tab pos="682625" algn="l"/>
              </a:tabLst>
            </a:pPr>
            <a:r>
              <a:rPr sz="2400" spc="-5" dirty="0">
                <a:latin typeface="Perpetua"/>
                <a:cs typeface="Perpetua"/>
              </a:rPr>
              <a:t>"Either </a:t>
            </a:r>
            <a:r>
              <a:rPr sz="2400" dirty="0">
                <a:latin typeface="Perpetua"/>
                <a:cs typeface="Perpetua"/>
              </a:rPr>
              <a:t>55 is </a:t>
            </a:r>
            <a:r>
              <a:rPr sz="2400" spc="-5" dirty="0">
                <a:latin typeface="Perpetua"/>
                <a:cs typeface="Perpetua"/>
              </a:rPr>
              <a:t>divisible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dirty="0">
                <a:latin typeface="Perpetua"/>
                <a:cs typeface="Perpetua"/>
              </a:rPr>
              <a:t>either 5 or 11, or 676 is </a:t>
            </a:r>
            <a:r>
              <a:rPr sz="2400" spc="-5" dirty="0">
                <a:latin typeface="Perpetua"/>
                <a:cs typeface="Perpetua"/>
              </a:rPr>
              <a:t>divisible </a:t>
            </a:r>
            <a:r>
              <a:rPr sz="2400" spc="-25" dirty="0">
                <a:latin typeface="Perpetua"/>
                <a:cs typeface="Perpetua"/>
              </a:rPr>
              <a:t>by</a:t>
            </a:r>
            <a:r>
              <a:rPr sz="2400" spc="-22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11."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Perpetua"/>
                <a:cs typeface="Perpetua"/>
              </a:rPr>
              <a:t>Solution</a:t>
            </a:r>
            <a:endParaRPr sz="2400">
              <a:latin typeface="Perpetua"/>
              <a:cs typeface="Perpetua"/>
            </a:endParaRPr>
          </a:p>
          <a:p>
            <a:pPr marL="286385" marR="5080" indent="-274320">
              <a:lnSpc>
                <a:spcPts val="2590"/>
              </a:lnSpc>
              <a:spcBef>
                <a:spcPts val="640"/>
              </a:spcBef>
              <a:buAutoNum type="alphaLcParenBoth"/>
              <a:tabLst>
                <a:tab pos="418465" algn="l"/>
              </a:tabLst>
            </a:pPr>
            <a:r>
              <a:rPr sz="2400" spc="-5" dirty="0">
                <a:latin typeface="Perpetua"/>
                <a:cs typeface="Perpetua"/>
              </a:rPr>
              <a:t>This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dirty="0">
                <a:latin typeface="Perpetua"/>
                <a:cs typeface="Perpetua"/>
              </a:rPr>
              <a:t>disjunction of the </a:t>
            </a:r>
            <a:r>
              <a:rPr sz="2400" spc="-5" dirty="0">
                <a:latin typeface="Perpetua"/>
                <a:cs typeface="Perpetua"/>
              </a:rPr>
              <a:t>negations </a:t>
            </a:r>
            <a:r>
              <a:rPr sz="2400" dirty="0">
                <a:latin typeface="Perpetua"/>
                <a:cs typeface="Perpetua"/>
              </a:rPr>
              <a:t>of r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q, and is </a:t>
            </a:r>
            <a:r>
              <a:rPr sz="2400" spc="-5" dirty="0">
                <a:latin typeface="Perpetua"/>
                <a:cs typeface="Perpetua"/>
              </a:rPr>
              <a:t>thus </a:t>
            </a:r>
            <a:r>
              <a:rPr sz="2400" dirty="0">
                <a:latin typeface="Perpetua"/>
                <a:cs typeface="Perpetua"/>
              </a:rPr>
              <a:t>(~r) OR  (~q).</a:t>
            </a:r>
            <a:endParaRPr sz="2400">
              <a:latin typeface="Perpetua"/>
              <a:cs typeface="Perpetua"/>
            </a:endParaRPr>
          </a:p>
          <a:p>
            <a:pPr marL="370840" indent="-358140">
              <a:lnSpc>
                <a:spcPct val="100000"/>
              </a:lnSpc>
              <a:spcBef>
                <a:spcPts val="280"/>
              </a:spcBef>
              <a:buAutoNum type="alphaLcParenBoth"/>
              <a:tabLst>
                <a:tab pos="370840" algn="l"/>
              </a:tabLst>
            </a:pPr>
            <a:r>
              <a:rPr sz="2400" dirty="0">
                <a:latin typeface="Perpetua"/>
                <a:cs typeface="Perpetua"/>
              </a:rPr>
              <a:t>This is the disjunction of </a:t>
            </a:r>
            <a:r>
              <a:rPr sz="2400" spc="-5" dirty="0">
                <a:latin typeface="Perpetua"/>
                <a:cs typeface="Perpetua"/>
              </a:rPr>
              <a:t>all three statements, and </a:t>
            </a:r>
            <a:r>
              <a:rPr sz="2400" dirty="0">
                <a:latin typeface="Perpetua"/>
                <a:cs typeface="Perpetua"/>
              </a:rPr>
              <a:t>is thus (p OR r) OR</a:t>
            </a:r>
            <a:r>
              <a:rPr sz="2400" spc="-2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50">
              <a:latin typeface="Perpetua"/>
              <a:cs typeface="Perpetua"/>
            </a:endParaRPr>
          </a:p>
          <a:p>
            <a:pPr marL="382905" indent="-370840">
              <a:lnSpc>
                <a:spcPct val="100000"/>
              </a:lnSpc>
              <a:buAutoNum type="alphaLcParenBoth"/>
              <a:tabLst>
                <a:tab pos="383540" algn="l"/>
              </a:tabLst>
            </a:pPr>
            <a:r>
              <a:rPr sz="2400" dirty="0">
                <a:latin typeface="Perpetua"/>
                <a:cs typeface="Perpetua"/>
              </a:rPr>
              <a:t>is </a:t>
            </a:r>
            <a:r>
              <a:rPr sz="2400" spc="15" dirty="0">
                <a:latin typeface="Perpetua"/>
                <a:cs typeface="Perpetua"/>
              </a:rPr>
              <a:t>true </a:t>
            </a:r>
            <a:r>
              <a:rPr sz="2400" dirty="0">
                <a:latin typeface="Perpetua"/>
                <a:cs typeface="Perpetua"/>
              </a:rPr>
              <a:t>because </a:t>
            </a:r>
            <a:r>
              <a:rPr sz="2400" spc="-5" dirty="0">
                <a:latin typeface="Perpetua"/>
                <a:cs typeface="Perpetua"/>
              </a:rPr>
              <a:t>~q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4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true.</a:t>
            </a:r>
            <a:endParaRPr sz="2400">
              <a:latin typeface="Perpetua"/>
              <a:cs typeface="Perpetua"/>
            </a:endParaRPr>
          </a:p>
          <a:p>
            <a:pPr marL="407034" indent="-394970">
              <a:lnSpc>
                <a:spcPct val="100000"/>
              </a:lnSpc>
              <a:spcBef>
                <a:spcPts val="315"/>
              </a:spcBef>
              <a:buAutoNum type="alphaLcParenBoth"/>
              <a:tabLst>
                <a:tab pos="407670" algn="l"/>
              </a:tabLst>
            </a:pPr>
            <a:r>
              <a:rPr sz="2400" dirty="0">
                <a:latin typeface="Perpetua"/>
                <a:cs typeface="Perpetua"/>
              </a:rPr>
              <a:t>is </a:t>
            </a:r>
            <a:r>
              <a:rPr sz="2400" spc="10" dirty="0">
                <a:latin typeface="Perpetua"/>
                <a:cs typeface="Perpetua"/>
              </a:rPr>
              <a:t>true </a:t>
            </a:r>
            <a:r>
              <a:rPr sz="2400" dirty="0">
                <a:latin typeface="Perpetua"/>
                <a:cs typeface="Perpetua"/>
              </a:rPr>
              <a:t>because p is true. </a:t>
            </a:r>
            <a:r>
              <a:rPr sz="2400" spc="-5" dirty="0">
                <a:latin typeface="Perpetua"/>
                <a:cs typeface="Perpetua"/>
              </a:rPr>
              <a:t>Notice </a:t>
            </a:r>
            <a:r>
              <a:rPr sz="2400" spc="-10" dirty="0">
                <a:latin typeface="Perpetua"/>
                <a:cs typeface="Perpetua"/>
              </a:rPr>
              <a:t>that </a:t>
            </a:r>
            <a:r>
              <a:rPr sz="2400" dirty="0">
                <a:latin typeface="Perpetua"/>
                <a:cs typeface="Perpetua"/>
              </a:rPr>
              <a:t>r is </a:t>
            </a:r>
            <a:r>
              <a:rPr sz="2400" spc="-5" dirty="0">
                <a:latin typeface="Perpetua"/>
                <a:cs typeface="Perpetua"/>
              </a:rPr>
              <a:t>also</a:t>
            </a:r>
            <a:r>
              <a:rPr sz="2400" spc="-17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true.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Perpetua"/>
                <a:cs typeface="Perpetua"/>
              </a:rPr>
              <a:t>If </a:t>
            </a:r>
            <a:r>
              <a:rPr sz="2400" spc="-15" dirty="0">
                <a:latin typeface="Perpetua"/>
                <a:cs typeface="Perpetua"/>
              </a:rPr>
              <a:t>at </a:t>
            </a:r>
            <a:r>
              <a:rPr sz="2400" spc="-5" dirty="0">
                <a:latin typeface="Perpetua"/>
                <a:cs typeface="Perpetua"/>
              </a:rPr>
              <a:t>least </a:t>
            </a:r>
            <a:r>
              <a:rPr sz="2400" dirty="0">
                <a:latin typeface="Perpetua"/>
                <a:cs typeface="Perpetua"/>
              </a:rPr>
              <a:t>one of </a:t>
            </a:r>
            <a:r>
              <a:rPr sz="2400" spc="-25" dirty="0">
                <a:latin typeface="Perpetua"/>
                <a:cs typeface="Perpetua"/>
              </a:rPr>
              <a:t>p, </a:t>
            </a:r>
            <a:r>
              <a:rPr sz="2400" dirty="0">
                <a:latin typeface="Perpetua"/>
                <a:cs typeface="Perpetua"/>
              </a:rPr>
              <a:t>q, or r is true, the whole </a:t>
            </a:r>
            <a:r>
              <a:rPr sz="2400" spc="-5" dirty="0">
                <a:latin typeface="Perpetua"/>
                <a:cs typeface="Perpetua"/>
              </a:rPr>
              <a:t>statement </a:t>
            </a:r>
            <a:r>
              <a:rPr sz="2400" dirty="0">
                <a:latin typeface="Perpetua"/>
                <a:cs typeface="Perpetua"/>
              </a:rPr>
              <a:t>will be</a:t>
            </a:r>
            <a:r>
              <a:rPr sz="2400" spc="-3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true.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31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1180" y="1278077"/>
            <a:ext cx="7402830" cy="3293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95"/>
              </a:spcBef>
              <a:buSzPct val="83928"/>
              <a:buFont typeface="Arial"/>
              <a:buChar char="•"/>
              <a:tabLst>
                <a:tab pos="241300" algn="l"/>
              </a:tabLst>
            </a:pPr>
            <a:r>
              <a:rPr sz="2800" spc="10" dirty="0">
                <a:latin typeface="Perpetua"/>
                <a:cs typeface="Perpetua"/>
              </a:rPr>
              <a:t>Write </a:t>
            </a:r>
            <a:r>
              <a:rPr sz="2800" spc="15" dirty="0">
                <a:latin typeface="Perpetua"/>
                <a:cs typeface="Perpetua"/>
              </a:rPr>
              <a:t>each </a:t>
            </a:r>
            <a:r>
              <a:rPr sz="2800" dirty="0">
                <a:latin typeface="Perpetua"/>
                <a:cs typeface="Perpetua"/>
              </a:rPr>
              <a:t>sentence </a:t>
            </a:r>
            <a:r>
              <a:rPr sz="2800" spc="-5" dirty="0">
                <a:latin typeface="Perpetua"/>
                <a:cs typeface="Perpetua"/>
              </a:rPr>
              <a:t>in symbols, assigning</a:t>
            </a:r>
            <a:r>
              <a:rPr sz="2800" spc="-16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propositional  </a:t>
            </a:r>
            <a:r>
              <a:rPr sz="2800" spc="-10" dirty="0">
                <a:latin typeface="Perpetua"/>
                <a:cs typeface="Perpetua"/>
              </a:rPr>
              <a:t>variables </a:t>
            </a:r>
            <a:r>
              <a:rPr sz="2800" spc="-5" dirty="0">
                <a:latin typeface="Perpetua"/>
                <a:cs typeface="Perpetua"/>
              </a:rPr>
              <a:t>to statements as</a:t>
            </a:r>
            <a:r>
              <a:rPr sz="2800" spc="-15" dirty="0">
                <a:latin typeface="Perpetua"/>
                <a:cs typeface="Perpetua"/>
              </a:rPr>
              <a:t> follows:</a:t>
            </a:r>
            <a:endParaRPr sz="2800">
              <a:latin typeface="Perpetua"/>
              <a:cs typeface="Perpetua"/>
            </a:endParaRPr>
          </a:p>
          <a:p>
            <a:pPr marL="12700" marR="5599430">
              <a:lnSpc>
                <a:spcPct val="111800"/>
              </a:lnSpc>
              <a:spcBef>
                <a:spcPts val="15"/>
              </a:spcBef>
            </a:pPr>
            <a:r>
              <a:rPr sz="2800" dirty="0">
                <a:latin typeface="Perpetua"/>
                <a:cs typeface="Perpetua"/>
              </a:rPr>
              <a:t>P: </a:t>
            </a:r>
            <a:r>
              <a:rPr sz="2800" spc="-5" dirty="0">
                <a:latin typeface="Perpetua"/>
                <a:cs typeface="Perpetua"/>
              </a:rPr>
              <a:t>It is hot.  Q: It </a:t>
            </a:r>
            <a:r>
              <a:rPr sz="2800" spc="-10" dirty="0">
                <a:latin typeface="Perpetua"/>
                <a:cs typeface="Perpetua"/>
              </a:rPr>
              <a:t>is</a:t>
            </a:r>
            <a:r>
              <a:rPr sz="2800" spc="-175" dirty="0">
                <a:latin typeface="Perpetua"/>
                <a:cs typeface="Perpetua"/>
              </a:rPr>
              <a:t> </a:t>
            </a:r>
            <a:r>
              <a:rPr sz="2800" spc="-60" dirty="0">
                <a:latin typeface="Perpetua"/>
                <a:cs typeface="Perpetua"/>
              </a:rPr>
              <a:t>sunny.</a:t>
            </a:r>
            <a:endParaRPr sz="28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800">
              <a:latin typeface="Perpetua"/>
              <a:cs typeface="Perpetua"/>
            </a:endParaRPr>
          </a:p>
          <a:p>
            <a:pPr marL="756285" lvl="1" indent="-515620">
              <a:lnSpc>
                <a:spcPct val="100000"/>
              </a:lnSpc>
              <a:buSzPct val="83928"/>
              <a:buAutoNum type="arabicPeriod"/>
              <a:tabLst>
                <a:tab pos="756285" algn="l"/>
                <a:tab pos="756920" algn="l"/>
              </a:tabLst>
            </a:pPr>
            <a:r>
              <a:rPr sz="2800" spc="-5" dirty="0">
                <a:latin typeface="Perpetua"/>
                <a:cs typeface="Perpetua"/>
              </a:rPr>
              <a:t>It is neither hot nor</a:t>
            </a:r>
            <a:r>
              <a:rPr sz="2800" spc="-30" dirty="0">
                <a:latin typeface="Perpetua"/>
                <a:cs typeface="Perpetua"/>
              </a:rPr>
              <a:t> </a:t>
            </a:r>
            <a:r>
              <a:rPr sz="2800" spc="-60" dirty="0">
                <a:latin typeface="Perpetua"/>
                <a:cs typeface="Perpetua"/>
              </a:rPr>
              <a:t>sunny.</a:t>
            </a:r>
            <a:endParaRPr sz="2800">
              <a:latin typeface="Perpetua"/>
              <a:cs typeface="Perpetua"/>
            </a:endParaRPr>
          </a:p>
          <a:p>
            <a:pPr marL="756285" lvl="1" indent="-515620">
              <a:lnSpc>
                <a:spcPct val="100000"/>
              </a:lnSpc>
              <a:spcBef>
                <a:spcPts val="409"/>
              </a:spcBef>
              <a:buSzPct val="83928"/>
              <a:buAutoNum type="arabicPeriod"/>
              <a:tabLst>
                <a:tab pos="756285" algn="l"/>
                <a:tab pos="756920" algn="l"/>
              </a:tabLst>
            </a:pPr>
            <a:r>
              <a:rPr sz="2800" spc="-5" dirty="0">
                <a:latin typeface="Perpetua"/>
                <a:cs typeface="Perpetua"/>
              </a:rPr>
              <a:t>It is not hot </a:t>
            </a:r>
            <a:r>
              <a:rPr sz="2800" spc="-15" dirty="0">
                <a:latin typeface="Perpetua"/>
                <a:cs typeface="Perpetua"/>
              </a:rPr>
              <a:t>but </a:t>
            </a:r>
            <a:r>
              <a:rPr sz="2800" spc="-10" dirty="0">
                <a:latin typeface="Perpetua"/>
                <a:cs typeface="Perpetua"/>
              </a:rPr>
              <a:t>it is</a:t>
            </a:r>
            <a:r>
              <a:rPr sz="2800" spc="-25" dirty="0">
                <a:latin typeface="Perpetua"/>
                <a:cs typeface="Perpetua"/>
              </a:rPr>
              <a:t> </a:t>
            </a:r>
            <a:r>
              <a:rPr sz="2800" spc="-60" dirty="0">
                <a:latin typeface="Perpetua"/>
                <a:cs typeface="Perpetua"/>
              </a:rPr>
              <a:t>sunny.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32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51180" y="953770"/>
            <a:ext cx="6511925" cy="4952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118100">
              <a:lnSpc>
                <a:spcPts val="2990"/>
              </a:lnSpc>
              <a:spcBef>
                <a:spcPts val="105"/>
              </a:spcBef>
              <a:buSzPct val="85416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400" spc="-10" dirty="0">
                <a:latin typeface="Perpetua"/>
                <a:cs typeface="Perpetua"/>
              </a:rPr>
              <a:t>Given</a:t>
            </a:r>
            <a:r>
              <a:rPr sz="2400" spc="-7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that  </a:t>
            </a:r>
            <a:r>
              <a:rPr sz="2400" spc="-5" dirty="0">
                <a:latin typeface="Perpetua"/>
                <a:cs typeface="Perpetua"/>
              </a:rPr>
              <a:t>P: </a:t>
            </a:r>
            <a:r>
              <a:rPr sz="2400" dirty="0">
                <a:latin typeface="Perpetua"/>
                <a:cs typeface="Perpetua"/>
              </a:rPr>
              <a:t>It is</a:t>
            </a:r>
            <a:r>
              <a:rPr sz="2400" spc="-1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hot.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ts val="2870"/>
              </a:lnSpc>
            </a:pPr>
            <a:r>
              <a:rPr sz="2400" dirty="0">
                <a:latin typeface="Perpetua"/>
                <a:cs typeface="Perpetua"/>
              </a:rPr>
              <a:t>Q: It is</a:t>
            </a:r>
            <a:r>
              <a:rPr sz="2400" spc="-110" dirty="0">
                <a:latin typeface="Perpetua"/>
                <a:cs typeface="Perpetua"/>
              </a:rPr>
              <a:t> </a:t>
            </a:r>
            <a:r>
              <a:rPr sz="2400" spc="-50" dirty="0">
                <a:latin typeface="Perpetua"/>
                <a:cs typeface="Perpetua"/>
              </a:rPr>
              <a:t>sunny.</a:t>
            </a:r>
            <a:endParaRPr sz="2400">
              <a:latin typeface="Perpetua"/>
              <a:cs typeface="Perpetua"/>
            </a:endParaRPr>
          </a:p>
          <a:p>
            <a:pPr marL="241300" marR="2282190" indent="-228600">
              <a:lnSpc>
                <a:spcPct val="103699"/>
              </a:lnSpc>
              <a:spcBef>
                <a:spcPts val="15"/>
              </a:spcBef>
            </a:pPr>
            <a:r>
              <a:rPr sz="2400" spc="-5" dirty="0">
                <a:latin typeface="Perpetua"/>
                <a:cs typeface="Perpetua"/>
              </a:rPr>
              <a:t>Negation </a:t>
            </a:r>
            <a:r>
              <a:rPr sz="2400" dirty="0">
                <a:latin typeface="Perpetua"/>
                <a:cs typeface="Perpetua"/>
              </a:rPr>
              <a:t>of P and Q will be </a:t>
            </a:r>
            <a:r>
              <a:rPr sz="2400" spc="-5" dirty="0">
                <a:latin typeface="Perpetua"/>
                <a:cs typeface="Perpetua"/>
              </a:rPr>
              <a:t>as</a:t>
            </a:r>
            <a:r>
              <a:rPr sz="2400" spc="-13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follows  </a:t>
            </a:r>
            <a:r>
              <a:rPr sz="2400" dirty="0">
                <a:latin typeface="Perpetua"/>
                <a:cs typeface="Perpetua"/>
              </a:rPr>
              <a:t>It is not hot -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~P</a:t>
            </a:r>
            <a:endParaRPr sz="2400">
              <a:latin typeface="Perpetua"/>
              <a:cs typeface="Perpetua"/>
            </a:endParaRPr>
          </a:p>
          <a:p>
            <a:pPr marL="2413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Perpetua"/>
                <a:cs typeface="Perpetua"/>
              </a:rPr>
              <a:t>It is not </a:t>
            </a:r>
            <a:r>
              <a:rPr sz="2400" spc="-10" dirty="0">
                <a:latin typeface="Perpetua"/>
                <a:cs typeface="Perpetua"/>
              </a:rPr>
              <a:t>sunny </a:t>
            </a:r>
            <a:r>
              <a:rPr sz="2400" dirty="0">
                <a:latin typeface="Perpetua"/>
                <a:cs typeface="Perpetua"/>
              </a:rPr>
              <a:t>-</a:t>
            </a:r>
            <a:r>
              <a:rPr sz="2400" spc="-5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~Q</a:t>
            </a:r>
            <a:endParaRPr sz="2400">
              <a:latin typeface="Perpetua"/>
              <a:cs typeface="Perpetua"/>
            </a:endParaRPr>
          </a:p>
          <a:p>
            <a:pPr marL="756285" lvl="1" indent="-515620">
              <a:lnSpc>
                <a:spcPct val="100000"/>
              </a:lnSpc>
              <a:spcBef>
                <a:spcPts val="120"/>
              </a:spcBef>
              <a:buSzPct val="85416"/>
              <a:buAutoNum type="arabicPeriod"/>
              <a:tabLst>
                <a:tab pos="756285" algn="l"/>
                <a:tab pos="756920" algn="l"/>
              </a:tabLst>
            </a:pPr>
            <a:r>
              <a:rPr sz="2400" i="1" dirty="0">
                <a:latin typeface="Perpetua"/>
                <a:cs typeface="Perpetua"/>
              </a:rPr>
              <a:t>It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neither hot nor</a:t>
            </a:r>
            <a:r>
              <a:rPr sz="2400" i="1" spc="-40" dirty="0">
                <a:latin typeface="Perpetua"/>
                <a:cs typeface="Perpetua"/>
              </a:rPr>
              <a:t> </a:t>
            </a:r>
            <a:r>
              <a:rPr sz="2400" i="1" spc="-45" dirty="0">
                <a:latin typeface="Perpetua"/>
                <a:cs typeface="Perpetua"/>
              </a:rPr>
              <a:t>sunny.</a:t>
            </a:r>
            <a:endParaRPr sz="2400">
              <a:latin typeface="Perpetua"/>
              <a:cs typeface="Perpetua"/>
            </a:endParaRPr>
          </a:p>
          <a:p>
            <a:pPr marL="241300" marR="5080">
              <a:lnSpc>
                <a:spcPct val="103699"/>
              </a:lnSpc>
            </a:pPr>
            <a:r>
              <a:rPr sz="2400" dirty="0">
                <a:latin typeface="Perpetua"/>
                <a:cs typeface="Perpetua"/>
              </a:rPr>
              <a:t>It can be </a:t>
            </a:r>
            <a:r>
              <a:rPr sz="2400" spc="-5" dirty="0">
                <a:latin typeface="Perpetua"/>
                <a:cs typeface="Perpetua"/>
              </a:rPr>
              <a:t>re-written as </a:t>
            </a:r>
            <a:r>
              <a:rPr sz="2400" dirty="0">
                <a:latin typeface="Perpetua"/>
                <a:cs typeface="Perpetua"/>
              </a:rPr>
              <a:t>‘</a:t>
            </a:r>
            <a:r>
              <a:rPr sz="2400" i="1" dirty="0">
                <a:latin typeface="Perpetua"/>
                <a:cs typeface="Perpetua"/>
              </a:rPr>
              <a:t>It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not </a:t>
            </a:r>
            <a:r>
              <a:rPr sz="2400" i="1" spc="-5" dirty="0">
                <a:latin typeface="Perpetua"/>
                <a:cs typeface="Perpetua"/>
              </a:rPr>
              <a:t>hot and </a:t>
            </a:r>
            <a:r>
              <a:rPr sz="2400" i="1" dirty="0">
                <a:latin typeface="Perpetua"/>
                <a:cs typeface="Perpetua"/>
              </a:rPr>
              <a:t>It </a:t>
            </a:r>
            <a:r>
              <a:rPr sz="2400" i="1" spc="-5" dirty="0">
                <a:latin typeface="Perpetua"/>
                <a:cs typeface="Perpetua"/>
              </a:rPr>
              <a:t>is not </a:t>
            </a:r>
            <a:r>
              <a:rPr sz="2400" i="1" spc="-10" dirty="0">
                <a:latin typeface="Perpetua"/>
                <a:cs typeface="Perpetua"/>
              </a:rPr>
              <a:t>sunny</a:t>
            </a:r>
            <a:r>
              <a:rPr sz="2400" spc="-10" dirty="0">
                <a:latin typeface="Perpetua"/>
                <a:cs typeface="Perpetua"/>
              </a:rPr>
              <a:t>’  </a:t>
            </a:r>
            <a:r>
              <a:rPr sz="2400" dirty="0">
                <a:latin typeface="Perpetua"/>
                <a:cs typeface="Perpetua"/>
              </a:rPr>
              <a:t>Hence the </a:t>
            </a:r>
            <a:r>
              <a:rPr sz="2400" spc="-5" dirty="0">
                <a:latin typeface="Perpetua"/>
                <a:cs typeface="Perpetua"/>
              </a:rPr>
              <a:t>statement </a:t>
            </a:r>
            <a:r>
              <a:rPr sz="2400" dirty="0">
                <a:latin typeface="Perpetua"/>
                <a:cs typeface="Perpetua"/>
              </a:rPr>
              <a:t>can be </a:t>
            </a:r>
            <a:r>
              <a:rPr sz="2400" spc="-5" dirty="0">
                <a:latin typeface="Perpetua"/>
                <a:cs typeface="Perpetua"/>
              </a:rPr>
              <a:t>represented as </a:t>
            </a:r>
            <a:r>
              <a:rPr sz="2400" b="1" i="1" dirty="0">
                <a:latin typeface="Perpetua"/>
                <a:cs typeface="Perpetua"/>
              </a:rPr>
              <a:t>~P AND</a:t>
            </a:r>
            <a:r>
              <a:rPr sz="2400" b="1" i="1" spc="-250" dirty="0">
                <a:latin typeface="Perpetua"/>
                <a:cs typeface="Perpetua"/>
              </a:rPr>
              <a:t> </a:t>
            </a:r>
            <a:r>
              <a:rPr sz="2400" b="1" i="1" dirty="0">
                <a:latin typeface="Perpetua"/>
                <a:cs typeface="Perpetua"/>
              </a:rPr>
              <a:t>~Q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Perpetua"/>
              <a:cs typeface="Perpetua"/>
            </a:endParaRPr>
          </a:p>
          <a:p>
            <a:pPr marL="698500" lvl="1" indent="-457834">
              <a:lnSpc>
                <a:spcPct val="100000"/>
              </a:lnSpc>
              <a:spcBef>
                <a:spcPts val="5"/>
              </a:spcBef>
              <a:buSzPct val="85416"/>
              <a:buAutoNum type="arabicPeriod" startAt="2"/>
              <a:tabLst>
                <a:tab pos="698500" algn="l"/>
                <a:tab pos="699135" algn="l"/>
              </a:tabLst>
            </a:pPr>
            <a:r>
              <a:rPr sz="2400" dirty="0">
                <a:latin typeface="Perpetua"/>
                <a:cs typeface="Perpetua"/>
              </a:rPr>
              <a:t>It is not hot </a:t>
            </a:r>
            <a:r>
              <a:rPr sz="2400" spc="-10" dirty="0">
                <a:latin typeface="Perpetua"/>
                <a:cs typeface="Perpetua"/>
              </a:rPr>
              <a:t>but </a:t>
            </a:r>
            <a:r>
              <a:rPr sz="2400" dirty="0">
                <a:latin typeface="Perpetua"/>
                <a:cs typeface="Perpetua"/>
              </a:rPr>
              <a:t>it is</a:t>
            </a:r>
            <a:r>
              <a:rPr sz="2400" spc="-50" dirty="0">
                <a:latin typeface="Perpetua"/>
                <a:cs typeface="Perpetua"/>
              </a:rPr>
              <a:t> sunny.</a:t>
            </a:r>
            <a:endParaRPr sz="2400">
              <a:latin typeface="Perpetua"/>
              <a:cs typeface="Perpetua"/>
            </a:endParaRPr>
          </a:p>
          <a:p>
            <a:pPr marL="241300" marR="207010">
              <a:lnSpc>
                <a:spcPts val="3000"/>
              </a:lnSpc>
              <a:spcBef>
                <a:spcPts val="105"/>
              </a:spcBef>
            </a:pPr>
            <a:r>
              <a:rPr sz="2400" dirty="0">
                <a:latin typeface="Perpetua"/>
                <a:cs typeface="Perpetua"/>
              </a:rPr>
              <a:t>It can be </a:t>
            </a:r>
            <a:r>
              <a:rPr sz="2400" spc="-5" dirty="0">
                <a:latin typeface="Perpetua"/>
                <a:cs typeface="Perpetua"/>
              </a:rPr>
              <a:t>re-written as </a:t>
            </a:r>
            <a:r>
              <a:rPr sz="2400" dirty="0">
                <a:latin typeface="Perpetua"/>
                <a:cs typeface="Perpetua"/>
              </a:rPr>
              <a:t>‘</a:t>
            </a:r>
            <a:r>
              <a:rPr sz="2400" i="1" dirty="0">
                <a:latin typeface="Perpetua"/>
                <a:cs typeface="Perpetua"/>
              </a:rPr>
              <a:t>It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dirty="0">
                <a:latin typeface="Perpetua"/>
                <a:cs typeface="Perpetua"/>
              </a:rPr>
              <a:t>not </a:t>
            </a:r>
            <a:r>
              <a:rPr sz="2400" i="1" spc="-5" dirty="0">
                <a:latin typeface="Perpetua"/>
                <a:cs typeface="Perpetua"/>
              </a:rPr>
              <a:t>hot and </a:t>
            </a:r>
            <a:r>
              <a:rPr sz="2400" i="1" dirty="0">
                <a:latin typeface="Perpetua"/>
                <a:cs typeface="Perpetua"/>
              </a:rPr>
              <a:t>It </a:t>
            </a:r>
            <a:r>
              <a:rPr sz="2400" i="1" spc="-5" dirty="0">
                <a:latin typeface="Perpetua"/>
                <a:cs typeface="Perpetua"/>
              </a:rPr>
              <a:t>is </a:t>
            </a:r>
            <a:r>
              <a:rPr sz="2400" i="1" spc="-15" dirty="0">
                <a:latin typeface="Perpetua"/>
                <a:cs typeface="Perpetua"/>
              </a:rPr>
              <a:t>sunny</a:t>
            </a:r>
            <a:r>
              <a:rPr sz="2400" spc="-15" dirty="0">
                <a:latin typeface="Perpetua"/>
                <a:cs typeface="Perpetua"/>
              </a:rPr>
              <a:t>’  </a:t>
            </a:r>
            <a:r>
              <a:rPr sz="2400" dirty="0">
                <a:latin typeface="Perpetua"/>
                <a:cs typeface="Perpetua"/>
              </a:rPr>
              <a:t>Hence the </a:t>
            </a:r>
            <a:r>
              <a:rPr sz="2400" spc="-5" dirty="0">
                <a:latin typeface="Perpetua"/>
                <a:cs typeface="Perpetua"/>
              </a:rPr>
              <a:t>statement </a:t>
            </a:r>
            <a:r>
              <a:rPr sz="2400" dirty="0">
                <a:latin typeface="Perpetua"/>
                <a:cs typeface="Perpetua"/>
              </a:rPr>
              <a:t>can be </a:t>
            </a:r>
            <a:r>
              <a:rPr sz="2400" spc="-5" dirty="0">
                <a:latin typeface="Perpetua"/>
                <a:cs typeface="Perpetua"/>
              </a:rPr>
              <a:t>represented as </a:t>
            </a:r>
            <a:r>
              <a:rPr sz="2400" b="1" i="1" dirty="0">
                <a:latin typeface="Perpetua"/>
                <a:cs typeface="Perpetua"/>
              </a:rPr>
              <a:t>~P AND</a:t>
            </a:r>
            <a:r>
              <a:rPr sz="2400" b="1" i="1" spc="-215" dirty="0">
                <a:latin typeface="Perpetua"/>
                <a:cs typeface="Perpetua"/>
              </a:rPr>
              <a:t> </a:t>
            </a:r>
            <a:r>
              <a:rPr sz="2400" b="1" i="1" dirty="0">
                <a:latin typeface="Perpetua"/>
                <a:cs typeface="Perpetua"/>
              </a:rPr>
              <a:t>Q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33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8027" y="309499"/>
            <a:ext cx="12490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Solution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632586"/>
            <a:ext cx="45802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Well </a:t>
            </a:r>
            <a:r>
              <a:rPr sz="4000" spc="15" dirty="0"/>
              <a:t>formed</a:t>
            </a:r>
            <a:r>
              <a:rPr sz="4000" spc="60" dirty="0"/>
              <a:t> </a:t>
            </a:r>
            <a:r>
              <a:rPr sz="4000" spc="-5" dirty="0"/>
              <a:t>proposition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83540" y="1509725"/>
            <a:ext cx="8069580" cy="4447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These </a:t>
            </a:r>
            <a:r>
              <a:rPr sz="2600" spc="10" dirty="0">
                <a:latin typeface="Perpetua"/>
                <a:cs typeface="Perpetua"/>
              </a:rPr>
              <a:t>rules </a:t>
            </a:r>
            <a:r>
              <a:rPr sz="2600" spc="-5" dirty="0">
                <a:latin typeface="Perpetua"/>
                <a:cs typeface="Perpetua"/>
              </a:rPr>
              <a:t>guarantee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proposition has meaning and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not  </a:t>
            </a:r>
            <a:r>
              <a:rPr sz="2600" spc="-15" dirty="0">
                <a:latin typeface="Perpetua"/>
                <a:cs typeface="Perpetua"/>
              </a:rPr>
              <a:t>merely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0" dirty="0">
                <a:latin typeface="Perpetua"/>
                <a:cs typeface="Perpetua"/>
              </a:rPr>
              <a:t>jumble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nonsense.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6385" marR="7747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grammatical </a:t>
            </a:r>
            <a:r>
              <a:rPr sz="2600" spc="10" dirty="0">
                <a:latin typeface="Perpetua"/>
                <a:cs typeface="Perpetua"/>
              </a:rPr>
              <a:t>rules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5" dirty="0">
                <a:latin typeface="Perpetua"/>
                <a:cs typeface="Perpetua"/>
              </a:rPr>
              <a:t>writing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well-formed proposition </a:t>
            </a:r>
            <a:r>
              <a:rPr sz="2600" spc="-10" dirty="0">
                <a:latin typeface="Perpetua"/>
                <a:cs typeface="Perpetua"/>
              </a:rPr>
              <a:t>are  </a:t>
            </a:r>
            <a:r>
              <a:rPr sz="2600" spc="-5" dirty="0">
                <a:latin typeface="Perpetua"/>
                <a:cs typeface="Perpetua"/>
              </a:rPr>
              <a:t>listed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next.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Rule </a:t>
            </a:r>
            <a:r>
              <a:rPr sz="2600" spc="5" dirty="0">
                <a:latin typeface="Perpetua"/>
                <a:cs typeface="Perpetua"/>
              </a:rPr>
              <a:t>1—Each </a:t>
            </a:r>
            <a:r>
              <a:rPr sz="2600" dirty="0">
                <a:latin typeface="Perpetua"/>
                <a:cs typeface="Perpetua"/>
              </a:rPr>
              <a:t>of the </a:t>
            </a:r>
            <a:r>
              <a:rPr sz="2600" spc="-10" dirty="0">
                <a:latin typeface="Perpetua"/>
                <a:cs typeface="Perpetua"/>
              </a:rPr>
              <a:t>following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5" dirty="0">
                <a:latin typeface="Perpetua"/>
                <a:cs typeface="Perpetua"/>
              </a:rPr>
              <a:t>simple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proposition.</a:t>
            </a:r>
            <a:endParaRPr sz="2600">
              <a:latin typeface="Perpetua"/>
              <a:cs typeface="Perpetua"/>
            </a:endParaRPr>
          </a:p>
          <a:p>
            <a:pPr marL="789940" lvl="1" indent="-457834">
              <a:lnSpc>
                <a:spcPct val="100000"/>
              </a:lnSpc>
              <a:spcBef>
                <a:spcPts val="400"/>
              </a:spcBef>
              <a:buSzPct val="84615"/>
              <a:buAutoNum type="alphaLcPeriod"/>
              <a:tabLst>
                <a:tab pos="789940" algn="l"/>
                <a:tab pos="790575" algn="l"/>
              </a:tabLst>
            </a:pPr>
            <a:r>
              <a:rPr sz="2600" spc="-20" dirty="0">
                <a:latin typeface="Perpetua"/>
                <a:cs typeface="Perpetua"/>
              </a:rPr>
              <a:t>Any </a:t>
            </a:r>
            <a:r>
              <a:rPr sz="2600" spc="-5" dirty="0">
                <a:latin typeface="Perpetua"/>
                <a:cs typeface="Perpetua"/>
              </a:rPr>
              <a:t>single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40" dirty="0">
                <a:latin typeface="Perpetua"/>
                <a:cs typeface="Perpetua"/>
              </a:rPr>
              <a:t>letter.</a:t>
            </a:r>
            <a:endParaRPr sz="2600">
              <a:latin typeface="Perpetua"/>
              <a:cs typeface="Perpetua"/>
            </a:endParaRPr>
          </a:p>
          <a:p>
            <a:pPr marL="789940" lvl="1" indent="-457834">
              <a:lnSpc>
                <a:spcPct val="100000"/>
              </a:lnSpc>
              <a:spcBef>
                <a:spcPts val="405"/>
              </a:spcBef>
              <a:buSzPct val="84615"/>
              <a:buAutoNum type="alphaLcPeriod"/>
              <a:tabLst>
                <a:tab pos="789940" algn="l"/>
                <a:tab pos="790575" algn="l"/>
              </a:tabLst>
            </a:pPr>
            <a:r>
              <a:rPr sz="2600" spc="-35" dirty="0">
                <a:latin typeface="Perpetua"/>
                <a:cs typeface="Perpetua"/>
              </a:rPr>
              <a:t>True.</a:t>
            </a:r>
            <a:endParaRPr sz="2600">
              <a:latin typeface="Perpetua"/>
              <a:cs typeface="Perpetua"/>
            </a:endParaRPr>
          </a:p>
          <a:p>
            <a:pPr marL="789940" lvl="1" indent="-457834">
              <a:lnSpc>
                <a:spcPct val="100000"/>
              </a:lnSpc>
              <a:spcBef>
                <a:spcPts val="400"/>
              </a:spcBef>
              <a:buSzPct val="84615"/>
              <a:buAutoNum type="alphaLcPeriod"/>
              <a:tabLst>
                <a:tab pos="789940" algn="l"/>
                <a:tab pos="790575" algn="l"/>
              </a:tabLst>
            </a:pPr>
            <a:r>
              <a:rPr sz="2600" spc="-25" dirty="0">
                <a:latin typeface="Perpetua"/>
                <a:cs typeface="Perpetua"/>
              </a:rPr>
              <a:t>False.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60572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Well </a:t>
            </a:r>
            <a:r>
              <a:rPr sz="4000" spc="15" dirty="0"/>
              <a:t>formed </a:t>
            </a:r>
            <a:r>
              <a:rPr sz="4000" spc="-5" dirty="0"/>
              <a:t>proposition</a:t>
            </a:r>
            <a:r>
              <a:rPr sz="4000" spc="80" dirty="0"/>
              <a:t> </a:t>
            </a:r>
            <a:r>
              <a:rPr sz="4000" i="1" spc="-5" dirty="0">
                <a:latin typeface="Perpetua"/>
                <a:cs typeface="Perpetua"/>
              </a:rPr>
              <a:t>contd</a:t>
            </a:r>
            <a:r>
              <a:rPr sz="4000" spc="-5" dirty="0"/>
              <a:t>---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42669"/>
            <a:ext cx="8528685" cy="427926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86385" marR="5080" indent="-274320" algn="just">
              <a:lnSpc>
                <a:spcPct val="98900"/>
              </a:lnSpc>
              <a:spcBef>
                <a:spcPts val="140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Rule 2—Let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box </a:t>
            </a:r>
            <a:r>
              <a:rPr sz="2600" dirty="0">
                <a:latin typeface="Perpetua"/>
                <a:cs typeface="Perpetua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□</a:t>
            </a:r>
            <a:r>
              <a:rPr sz="2600" dirty="0">
                <a:latin typeface="Perpetua"/>
                <a:cs typeface="Perpetua"/>
              </a:rPr>
              <a:t>) stand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proposition </a:t>
            </a:r>
            <a:r>
              <a:rPr sz="2600" dirty="0">
                <a:latin typeface="Perpetua"/>
                <a:cs typeface="Perpetua"/>
              </a:rPr>
              <a:t>(either simple </a:t>
            </a:r>
            <a:r>
              <a:rPr sz="2600" spc="-10" dirty="0">
                <a:latin typeface="Perpetua"/>
                <a:cs typeface="Perpetua"/>
              </a:rPr>
              <a:t>or  </a:t>
            </a:r>
            <a:r>
              <a:rPr sz="2600" spc="-5" dirty="0">
                <a:latin typeface="Perpetua"/>
                <a:cs typeface="Perpetua"/>
              </a:rPr>
              <a:t>compound). Assuming that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15" dirty="0">
                <a:latin typeface="Perpetua"/>
                <a:cs typeface="Perpetua"/>
              </a:rPr>
              <a:t>box </a:t>
            </a:r>
            <a:r>
              <a:rPr sz="2600" spc="5" dirty="0">
                <a:latin typeface="Perpetua"/>
                <a:cs typeface="Perpetua"/>
              </a:rPr>
              <a:t>is </a:t>
            </a:r>
            <a:r>
              <a:rPr sz="2600" dirty="0">
                <a:latin typeface="Perpetua"/>
                <a:cs typeface="Perpetua"/>
              </a:rPr>
              <a:t>some </a:t>
            </a:r>
            <a:r>
              <a:rPr sz="2600" spc="-5" dirty="0">
                <a:latin typeface="Perpetua"/>
                <a:cs typeface="Perpetua"/>
              </a:rPr>
              <a:t>proposition, </a:t>
            </a:r>
            <a:r>
              <a:rPr sz="2600" dirty="0">
                <a:latin typeface="Perpetua"/>
                <a:cs typeface="Perpetua"/>
              </a:rPr>
              <a:t>then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60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following are </a:t>
            </a:r>
            <a:r>
              <a:rPr sz="2600" spc="-5" dirty="0">
                <a:latin typeface="Perpetua"/>
                <a:cs typeface="Perpetua"/>
              </a:rPr>
              <a:t>also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propositions.</a:t>
            </a:r>
            <a:endParaRPr sz="2600">
              <a:latin typeface="Perpetua"/>
              <a:cs typeface="Perpetua"/>
            </a:endParaRPr>
          </a:p>
          <a:p>
            <a:pPr marL="789940" lvl="1" indent="-457834">
              <a:lnSpc>
                <a:spcPct val="100000"/>
              </a:lnSpc>
              <a:spcBef>
                <a:spcPts val="465"/>
              </a:spcBef>
              <a:buSzPct val="84615"/>
              <a:buFont typeface="Perpetua"/>
              <a:buAutoNum type="alphaLcPeriod"/>
              <a:tabLst>
                <a:tab pos="789940" algn="l"/>
                <a:tab pos="790575" algn="l"/>
              </a:tabLst>
            </a:pPr>
            <a:r>
              <a:rPr sz="2600" dirty="0">
                <a:latin typeface="Times New Roman"/>
                <a:cs typeface="Times New Roman"/>
              </a:rPr>
              <a:t>□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□</a:t>
            </a:r>
            <a:endParaRPr sz="2600">
              <a:latin typeface="Times New Roman"/>
              <a:cs typeface="Times New Roman"/>
            </a:endParaRPr>
          </a:p>
          <a:p>
            <a:pPr marL="789940" lvl="1" indent="-457834">
              <a:lnSpc>
                <a:spcPct val="100000"/>
              </a:lnSpc>
              <a:spcBef>
                <a:spcPts val="1010"/>
              </a:spcBef>
              <a:buSzPct val="84615"/>
              <a:buFont typeface="Perpetua"/>
              <a:buAutoNum type="alphaLcPeriod"/>
              <a:tabLst>
                <a:tab pos="789940" algn="l"/>
                <a:tab pos="790575" algn="l"/>
              </a:tabLst>
            </a:pPr>
            <a:r>
              <a:rPr sz="2600" dirty="0">
                <a:latin typeface="Times New Roman"/>
                <a:cs typeface="Times New Roman"/>
              </a:rPr>
              <a:t>□ </a:t>
            </a:r>
            <a:r>
              <a:rPr sz="2600" spc="-5" dirty="0">
                <a:latin typeface="Perpetua"/>
                <a:cs typeface="Perpetua"/>
              </a:rPr>
              <a:t>or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□</a:t>
            </a:r>
            <a:endParaRPr sz="2600">
              <a:latin typeface="Times New Roman"/>
              <a:cs typeface="Times New Roman"/>
            </a:endParaRPr>
          </a:p>
          <a:p>
            <a:pPr marL="789940" lvl="1" indent="-457834">
              <a:lnSpc>
                <a:spcPct val="100000"/>
              </a:lnSpc>
              <a:spcBef>
                <a:spcPts val="1000"/>
              </a:spcBef>
              <a:buSzPct val="84615"/>
              <a:buFont typeface="Perpetua"/>
              <a:buAutoNum type="alphaLcPeriod"/>
              <a:tabLst>
                <a:tab pos="789940" algn="l"/>
                <a:tab pos="790575" algn="l"/>
              </a:tabLst>
            </a:pPr>
            <a:r>
              <a:rPr sz="2600" dirty="0">
                <a:latin typeface="Times New Roman"/>
                <a:cs typeface="Times New Roman"/>
              </a:rPr>
              <a:t>□ </a:t>
            </a:r>
            <a:r>
              <a:rPr sz="2600" dirty="0">
                <a:latin typeface="Perpetua"/>
                <a:cs typeface="Perpetua"/>
              </a:rPr>
              <a:t>implies</a:t>
            </a:r>
            <a:r>
              <a:rPr sz="2600" spc="-70" dirty="0">
                <a:latin typeface="Perpetua"/>
                <a:cs typeface="Perpetua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□</a:t>
            </a:r>
            <a:endParaRPr sz="26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994"/>
              </a:spcBef>
              <a:tabLst>
                <a:tab pos="789940" algn="l"/>
              </a:tabLst>
            </a:pPr>
            <a:r>
              <a:rPr sz="2200" dirty="0">
                <a:latin typeface="Perpetua"/>
                <a:cs typeface="Perpetua"/>
              </a:rPr>
              <a:t>d.	</a:t>
            </a:r>
            <a:r>
              <a:rPr sz="2600" dirty="0">
                <a:latin typeface="Times New Roman"/>
                <a:cs typeface="Times New Roman"/>
              </a:rPr>
              <a:t>□ ≡</a:t>
            </a:r>
            <a:r>
              <a:rPr sz="2600" spc="-1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□</a:t>
            </a:r>
            <a:endParaRPr sz="26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1010"/>
              </a:spcBef>
              <a:tabLst>
                <a:tab pos="789940" algn="l"/>
              </a:tabLst>
            </a:pPr>
            <a:r>
              <a:rPr sz="2200" dirty="0">
                <a:latin typeface="Perpetua"/>
                <a:cs typeface="Perpetua"/>
              </a:rPr>
              <a:t>e.	</a:t>
            </a:r>
            <a:r>
              <a:rPr sz="2600" spc="-5" dirty="0">
                <a:latin typeface="Perpetua"/>
                <a:cs typeface="Perpetua"/>
              </a:rPr>
              <a:t>not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□</a:t>
            </a:r>
            <a:endParaRPr sz="2600">
              <a:latin typeface="Times New Roman"/>
              <a:cs typeface="Times New Roman"/>
            </a:endParaRPr>
          </a:p>
          <a:p>
            <a:pPr marL="332740">
              <a:lnSpc>
                <a:spcPct val="100000"/>
              </a:lnSpc>
              <a:spcBef>
                <a:spcPts val="994"/>
              </a:spcBef>
              <a:tabLst>
                <a:tab pos="789940" algn="l"/>
              </a:tabLst>
            </a:pPr>
            <a:r>
              <a:rPr sz="2200" dirty="0">
                <a:latin typeface="Perpetua"/>
                <a:cs typeface="Perpetua"/>
              </a:rPr>
              <a:t>f.	</a:t>
            </a:r>
            <a:r>
              <a:rPr sz="2600" dirty="0">
                <a:latin typeface="Perpetua"/>
                <a:cs typeface="Perpetua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□</a:t>
            </a:r>
            <a:r>
              <a:rPr sz="2600" dirty="0">
                <a:latin typeface="Perpetua"/>
                <a:cs typeface="Perpetua"/>
              </a:rPr>
              <a:t>)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470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7340" y="901413"/>
            <a:ext cx="5304790" cy="970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200"/>
              </a:lnSpc>
              <a:spcBef>
                <a:spcPts val="95"/>
              </a:spcBef>
              <a:tabLst>
                <a:tab pos="3578860" algn="l"/>
              </a:tabLst>
            </a:pPr>
            <a:r>
              <a:rPr sz="2600" spc="-20" dirty="0">
                <a:latin typeface="Perpetua"/>
                <a:cs typeface="Perpetua"/>
              </a:rPr>
              <a:t>Show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P and </a:t>
            </a:r>
            <a:r>
              <a:rPr sz="2600" i="1" spc="-5" dirty="0">
                <a:latin typeface="Perpetua"/>
                <a:cs typeface="Perpetua"/>
              </a:rPr>
              <a:t>not </a:t>
            </a:r>
            <a:r>
              <a:rPr sz="2600" i="1" dirty="0">
                <a:latin typeface="Perpetua"/>
                <a:cs typeface="Perpetua"/>
              </a:rPr>
              <a:t>(Q</a:t>
            </a:r>
            <a:r>
              <a:rPr sz="2600" i="1" spc="-4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or</a:t>
            </a:r>
            <a:r>
              <a:rPr sz="2600" i="1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R)</a:t>
            </a:r>
            <a:r>
              <a:rPr sz="2600" spc="-5" dirty="0">
                <a:latin typeface="Perpetua"/>
                <a:cs typeface="Perpetua"/>
              </a:rPr>
              <a:t>”	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25" dirty="0">
                <a:latin typeface="Perpetua"/>
                <a:cs typeface="Perpetua"/>
              </a:rPr>
              <a:t>well</a:t>
            </a:r>
            <a:r>
              <a:rPr sz="2600" spc="-65" dirty="0">
                <a:latin typeface="Perpetua"/>
                <a:cs typeface="Perpetua"/>
              </a:rPr>
              <a:t> </a:t>
            </a:r>
            <a:r>
              <a:rPr sz="2600" spc="5" dirty="0">
                <a:latin typeface="Perpetua"/>
                <a:cs typeface="Perpetua"/>
              </a:rPr>
              <a:t>formed  </a:t>
            </a:r>
            <a:r>
              <a:rPr sz="2600" spc="-15" dirty="0">
                <a:latin typeface="Perpetua"/>
                <a:cs typeface="Perpetua"/>
              </a:rPr>
              <a:t>Apply </a:t>
            </a:r>
            <a:r>
              <a:rPr sz="2600" spc="-5" dirty="0">
                <a:latin typeface="Perpetua"/>
                <a:cs typeface="Perpetua"/>
              </a:rPr>
              <a:t>the </a:t>
            </a:r>
            <a:r>
              <a:rPr sz="2600" spc="10" dirty="0">
                <a:latin typeface="Perpetua"/>
                <a:cs typeface="Perpetua"/>
              </a:rPr>
              <a:t>rules </a:t>
            </a:r>
            <a:r>
              <a:rPr sz="2600" dirty="0">
                <a:latin typeface="Perpetua"/>
                <a:cs typeface="Perpetua"/>
              </a:rPr>
              <a:t>to P </a:t>
            </a:r>
            <a:r>
              <a:rPr sz="2600" spc="-5" dirty="0">
                <a:latin typeface="Perpetua"/>
                <a:cs typeface="Perpetua"/>
              </a:rPr>
              <a:t>and not </a:t>
            </a:r>
            <a:r>
              <a:rPr sz="2600" dirty="0">
                <a:latin typeface="Perpetua"/>
                <a:cs typeface="Perpetua"/>
              </a:rPr>
              <a:t>(Q or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R)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1659" y="1855444"/>
            <a:ext cx="2696210" cy="238823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00" dirty="0">
                <a:latin typeface="Times New Roman"/>
                <a:cs typeface="Times New Roman"/>
              </a:rPr>
              <a:t>→ □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not (</a:t>
            </a:r>
            <a:r>
              <a:rPr sz="2600" dirty="0">
                <a:latin typeface="Times New Roman"/>
                <a:cs typeface="Times New Roman"/>
              </a:rPr>
              <a:t>□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-275" dirty="0">
                <a:latin typeface="Perpetua"/>
                <a:cs typeface="Perpetua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□</a:t>
            </a:r>
            <a:r>
              <a:rPr sz="2600" spc="-5" dirty="0">
                <a:latin typeface="Perpetua"/>
                <a:cs typeface="Perpetua"/>
              </a:rPr>
              <a:t>)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Times New Roman"/>
                <a:cs typeface="Times New Roman"/>
              </a:rPr>
              <a:t>→ □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not</a:t>
            </a:r>
            <a:r>
              <a:rPr sz="2600" spc="-1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(</a:t>
            </a:r>
            <a:r>
              <a:rPr sz="2600" dirty="0">
                <a:latin typeface="Times New Roman"/>
                <a:cs typeface="Times New Roman"/>
              </a:rPr>
              <a:t>□</a:t>
            </a:r>
            <a:r>
              <a:rPr sz="2600" dirty="0">
                <a:latin typeface="Perpetua"/>
                <a:cs typeface="Perpetua"/>
              </a:rPr>
              <a:t>)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spc="5" dirty="0">
                <a:latin typeface="Times New Roman"/>
                <a:cs typeface="Times New Roman"/>
              </a:rPr>
              <a:t>→ </a:t>
            </a:r>
            <a:r>
              <a:rPr sz="2600" dirty="0">
                <a:latin typeface="Times New Roman"/>
                <a:cs typeface="Times New Roman"/>
              </a:rPr>
              <a:t>□ </a:t>
            </a:r>
            <a:r>
              <a:rPr sz="2600" spc="-5" dirty="0">
                <a:latin typeface="Perpetua"/>
                <a:cs typeface="Perpetua"/>
              </a:rPr>
              <a:t>and not</a:t>
            </a:r>
            <a:r>
              <a:rPr sz="2600" spc="-160" dirty="0">
                <a:latin typeface="Perpetua"/>
                <a:cs typeface="Perpetua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□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Times New Roman"/>
                <a:cs typeface="Times New Roman"/>
              </a:rPr>
              <a:t>→ □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150" dirty="0">
                <a:latin typeface="Perpetua"/>
                <a:cs typeface="Perpetua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□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Times New Roman"/>
                <a:cs typeface="Times New Roman"/>
              </a:rPr>
              <a:t>→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□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43653" y="1855444"/>
            <a:ext cx="3960495" cy="2388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 marR="5080" indent="16510">
              <a:lnSpc>
                <a:spcPct val="119200"/>
              </a:lnSpc>
              <a:spcBef>
                <a:spcPts val="100"/>
              </a:spcBef>
            </a:pPr>
            <a:r>
              <a:rPr sz="2600" i="1" spc="-5" dirty="0">
                <a:latin typeface="Perpetua"/>
                <a:cs typeface="Perpetua"/>
              </a:rPr>
              <a:t>replace simple proposition in </a:t>
            </a:r>
            <a:r>
              <a:rPr sz="2600" i="1" dirty="0">
                <a:latin typeface="Perpetua"/>
                <a:cs typeface="Perpetua"/>
              </a:rPr>
              <a:t>Rule 1  </a:t>
            </a:r>
            <a:r>
              <a:rPr sz="2600" i="1" spc="-5" dirty="0">
                <a:latin typeface="Perpetua"/>
                <a:cs typeface="Perpetua"/>
              </a:rPr>
              <a:t>replace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dirty="0">
                <a:latin typeface="Perpetua"/>
                <a:cs typeface="Perpetua"/>
              </a:rPr>
              <a:t>Rule</a:t>
            </a:r>
            <a:r>
              <a:rPr sz="2600" i="1" spc="-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2b</a:t>
            </a:r>
            <a:endParaRPr sz="2600">
              <a:latin typeface="Perpetua"/>
              <a:cs typeface="Perpetua"/>
            </a:endParaRPr>
          </a:p>
          <a:p>
            <a:pPr marL="111760" indent="25400">
              <a:lnSpc>
                <a:spcPct val="100000"/>
              </a:lnSpc>
              <a:spcBef>
                <a:spcPts val="600"/>
              </a:spcBef>
            </a:pPr>
            <a:r>
              <a:rPr sz="2600" i="1" spc="-5" dirty="0">
                <a:latin typeface="Perpetua"/>
                <a:cs typeface="Perpetua"/>
              </a:rPr>
              <a:t>replace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dirty="0">
                <a:latin typeface="Perpetua"/>
                <a:cs typeface="Perpetua"/>
              </a:rPr>
              <a:t>Rule</a:t>
            </a:r>
            <a:r>
              <a:rPr sz="2600" i="1" spc="-4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2f</a:t>
            </a:r>
            <a:endParaRPr sz="2600">
              <a:latin typeface="Perpetua"/>
              <a:cs typeface="Perpetua"/>
            </a:endParaRPr>
          </a:p>
          <a:p>
            <a:pPr marL="12700" marR="1904364" indent="99060">
              <a:lnSpc>
                <a:spcPct val="119200"/>
              </a:lnSpc>
            </a:pPr>
            <a:r>
              <a:rPr sz="2600" i="1" spc="-5" dirty="0">
                <a:latin typeface="Perpetua"/>
                <a:cs typeface="Perpetua"/>
              </a:rPr>
              <a:t>replace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dirty="0">
                <a:latin typeface="Perpetua"/>
                <a:cs typeface="Perpetua"/>
              </a:rPr>
              <a:t>Rule</a:t>
            </a:r>
            <a:r>
              <a:rPr sz="2600" i="1" spc="-6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2e  </a:t>
            </a:r>
            <a:r>
              <a:rPr sz="2600" i="1" spc="-5" dirty="0">
                <a:latin typeface="Perpetua"/>
                <a:cs typeface="Perpetua"/>
              </a:rPr>
              <a:t>replace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dirty="0">
                <a:latin typeface="Perpetua"/>
                <a:cs typeface="Perpetua"/>
              </a:rPr>
              <a:t>Rule</a:t>
            </a:r>
            <a:r>
              <a:rPr sz="2600" i="1" spc="-4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2a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8200" y="4572000"/>
            <a:ext cx="6934200" cy="10482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1629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Ex</a:t>
            </a:r>
            <a:r>
              <a:rPr sz="4000" dirty="0"/>
              <a:t>a</a:t>
            </a:r>
            <a:r>
              <a:rPr sz="4000" spc="-10" dirty="0"/>
              <a:t>m</a:t>
            </a:r>
            <a:r>
              <a:rPr sz="4000" dirty="0"/>
              <a:t>p</a:t>
            </a:r>
            <a:r>
              <a:rPr sz="4000" spc="-10" dirty="0"/>
              <a:t>le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3742054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66340" algn="l"/>
              </a:tabLst>
            </a:pPr>
            <a:r>
              <a:rPr sz="2600" spc="-5" dirty="0">
                <a:latin typeface="Perpetua"/>
                <a:cs typeface="Perpetua"/>
              </a:rPr>
              <a:t>Consider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reduction	of </a:t>
            </a:r>
            <a:r>
              <a:rPr sz="2600" dirty="0">
                <a:latin typeface="Perpetua"/>
                <a:cs typeface="Perpetua"/>
              </a:rPr>
              <a:t>P </a:t>
            </a:r>
            <a:r>
              <a:rPr sz="2600" spc="-5" dirty="0">
                <a:latin typeface="Perpetua"/>
                <a:cs typeface="Perpetua"/>
              </a:rPr>
              <a:t>not</a:t>
            </a:r>
            <a:r>
              <a:rPr sz="2600" spc="-8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7380" y="1838680"/>
            <a:ext cx="1377950" cy="92201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600" dirty="0">
                <a:latin typeface="Times New Roman"/>
                <a:cs typeface="Times New Roman"/>
              </a:rPr>
              <a:t>→ □ </a:t>
            </a:r>
            <a:r>
              <a:rPr sz="2600" spc="-5" dirty="0">
                <a:latin typeface="Perpetua"/>
                <a:cs typeface="Perpetua"/>
              </a:rPr>
              <a:t>not</a:t>
            </a:r>
            <a:r>
              <a:rPr sz="2600" spc="-210" dirty="0">
                <a:latin typeface="Perpetua"/>
                <a:cs typeface="Perpetua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□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600" dirty="0">
                <a:latin typeface="Times New Roman"/>
                <a:cs typeface="Times New Roman"/>
              </a:rPr>
              <a:t>→ □</a:t>
            </a:r>
            <a:r>
              <a:rPr sz="2600" spc="-1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□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4554" y="1838680"/>
            <a:ext cx="3859529" cy="9220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0" marR="5080" indent="-914400">
              <a:lnSpc>
                <a:spcPct val="113100"/>
              </a:lnSpc>
              <a:spcBef>
                <a:spcPts val="95"/>
              </a:spcBef>
            </a:pPr>
            <a:r>
              <a:rPr sz="2600" dirty="0">
                <a:latin typeface="Perpetua"/>
                <a:cs typeface="Perpetua"/>
              </a:rPr>
              <a:t>r</a:t>
            </a:r>
            <a:r>
              <a:rPr sz="2600" i="1" dirty="0">
                <a:latin typeface="Perpetua"/>
                <a:cs typeface="Perpetua"/>
              </a:rPr>
              <a:t>eplace </a:t>
            </a:r>
            <a:r>
              <a:rPr sz="2600" i="1" spc="-5" dirty="0">
                <a:latin typeface="Perpetua"/>
                <a:cs typeface="Perpetua"/>
              </a:rPr>
              <a:t>simple proposition in </a:t>
            </a:r>
            <a:r>
              <a:rPr sz="2600" i="1" dirty="0">
                <a:latin typeface="Perpetua"/>
                <a:cs typeface="Perpetua"/>
              </a:rPr>
              <a:t>Rule 1  </a:t>
            </a:r>
            <a:r>
              <a:rPr sz="2600" i="1" spc="-5" dirty="0">
                <a:latin typeface="Perpetua"/>
                <a:cs typeface="Perpetua"/>
              </a:rPr>
              <a:t>replace </a:t>
            </a:r>
            <a:r>
              <a:rPr sz="2600" i="1" spc="-35" dirty="0">
                <a:latin typeface="Perpetua"/>
                <a:cs typeface="Perpetua"/>
              </a:rPr>
              <a:t>by </a:t>
            </a:r>
            <a:r>
              <a:rPr sz="2600" i="1" dirty="0">
                <a:latin typeface="Perpetua"/>
                <a:cs typeface="Perpetua"/>
              </a:rPr>
              <a:t>Rule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2e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340" y="3172434"/>
            <a:ext cx="8530590" cy="270827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00" b="1" i="1" dirty="0">
                <a:latin typeface="Perpetua"/>
                <a:cs typeface="Perpetua"/>
              </a:rPr>
              <a:t>STUCK</a:t>
            </a:r>
            <a:r>
              <a:rPr sz="2600" b="1" i="1" spc="-15" dirty="0">
                <a:latin typeface="Perpetua"/>
                <a:cs typeface="Perpetua"/>
              </a:rPr>
              <a:t> </a:t>
            </a:r>
            <a:r>
              <a:rPr sz="2600" b="1" i="1" spc="-5" dirty="0">
                <a:latin typeface="Perpetua"/>
                <a:cs typeface="Perpetua"/>
              </a:rPr>
              <a:t>!!!!!</a:t>
            </a:r>
            <a:endParaRPr sz="2600">
              <a:latin typeface="Perpetua"/>
              <a:cs typeface="Perpetua"/>
            </a:endParaRPr>
          </a:p>
          <a:p>
            <a:pPr marL="286385" marR="5715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Consider </a:t>
            </a:r>
            <a:r>
              <a:rPr sz="2600" spc="-10" dirty="0">
                <a:latin typeface="Perpetua"/>
                <a:cs typeface="Perpetua"/>
              </a:rPr>
              <a:t>“P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dirty="0">
                <a:latin typeface="Perpetua"/>
                <a:cs typeface="Perpetua"/>
              </a:rPr>
              <a:t>Q” </a:t>
            </a:r>
            <a:r>
              <a:rPr sz="2600" spc="-5" dirty="0">
                <a:latin typeface="Perpetua"/>
                <a:cs typeface="Perpetua"/>
              </a:rPr>
              <a:t>to be </a:t>
            </a:r>
            <a:r>
              <a:rPr sz="2600" dirty="0">
                <a:latin typeface="Perpetua"/>
                <a:cs typeface="Perpetua"/>
              </a:rPr>
              <a:t>something </a:t>
            </a:r>
            <a:r>
              <a:rPr sz="2600" spc="-15" dirty="0">
                <a:latin typeface="Perpetua"/>
                <a:cs typeface="Perpetua"/>
              </a:rPr>
              <a:t>like </a:t>
            </a: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I am hungry I am </a:t>
            </a:r>
            <a:r>
              <a:rPr sz="2600" i="1" spc="-5" dirty="0">
                <a:latin typeface="Perpetua"/>
                <a:cs typeface="Perpetua"/>
              </a:rPr>
              <a:t>not </a:t>
            </a:r>
            <a:r>
              <a:rPr sz="2600" i="1" spc="-40" dirty="0">
                <a:latin typeface="Perpetua"/>
                <a:cs typeface="Perpetua"/>
              </a:rPr>
              <a:t>cold</a:t>
            </a:r>
            <a:r>
              <a:rPr sz="2600" spc="-40" dirty="0">
                <a:latin typeface="Perpetua"/>
                <a:cs typeface="Perpetua"/>
              </a:rPr>
              <a:t>.” </a:t>
            </a:r>
            <a:r>
              <a:rPr sz="2600" dirty="0">
                <a:latin typeface="Perpetua"/>
                <a:cs typeface="Perpetua"/>
              </a:rPr>
              <a:t>is  </a:t>
            </a:r>
            <a:r>
              <a:rPr sz="2600" spc="-5" dirty="0">
                <a:latin typeface="Perpetua"/>
                <a:cs typeface="Perpetua"/>
              </a:rPr>
              <a:t>nonsensical or does not </a:t>
            </a:r>
            <a:r>
              <a:rPr sz="2600" spc="-15" dirty="0">
                <a:latin typeface="Perpetua"/>
                <a:cs typeface="Perpetua"/>
              </a:rPr>
              <a:t>obey </a:t>
            </a:r>
            <a:r>
              <a:rPr sz="2600" dirty="0">
                <a:latin typeface="Perpetua"/>
                <a:cs typeface="Perpetua"/>
              </a:rPr>
              <a:t>grammar</a:t>
            </a:r>
            <a:r>
              <a:rPr sz="2600" spc="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rules.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927100" algn="l"/>
                <a:tab pos="1975485" algn="l"/>
                <a:tab pos="3382645" algn="l"/>
                <a:tab pos="3776979" algn="l"/>
                <a:tab pos="4690110" algn="l"/>
                <a:tab pos="5083810" algn="l"/>
                <a:tab pos="6421755" algn="l"/>
                <a:tab pos="7555865" algn="l"/>
                <a:tab pos="8060055" algn="l"/>
              </a:tabLst>
            </a:pPr>
            <a:r>
              <a:rPr sz="2600" dirty="0">
                <a:latin typeface="Perpetua"/>
                <a:cs typeface="Perpetua"/>
              </a:rPr>
              <a:t>This	</a:t>
            </a:r>
            <a:r>
              <a:rPr sz="2600" spc="-20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eeds </a:t>
            </a:r>
            <a:r>
              <a:rPr sz="2600" spc="-1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	c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n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ec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i</a:t>
            </a:r>
            <a:r>
              <a:rPr sz="2600" spc="-50" dirty="0">
                <a:latin typeface="Perpetua"/>
                <a:cs typeface="Perpetua"/>
              </a:rPr>
              <a:t>v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5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r	pe</a:t>
            </a:r>
            <a:r>
              <a:rPr sz="2600" spc="4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iod	</a:t>
            </a:r>
            <a:r>
              <a:rPr sz="2600" spc="-2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r	semic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spc="-5" dirty="0">
                <a:latin typeface="Perpetua"/>
                <a:cs typeface="Perpetua"/>
              </a:rPr>
              <a:t>lo</a:t>
            </a:r>
            <a:r>
              <a:rPr sz="2600" dirty="0">
                <a:latin typeface="Perpetua"/>
                <a:cs typeface="Perpetua"/>
              </a:rPr>
              <a:t>n	be</a:t>
            </a:r>
            <a:r>
              <a:rPr sz="2600" spc="-10" dirty="0">
                <a:latin typeface="Perpetua"/>
                <a:cs typeface="Perpetua"/>
              </a:rPr>
              <a:t>t</a:t>
            </a:r>
            <a:r>
              <a:rPr sz="2600" spc="-9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een	the	t</a:t>
            </a:r>
            <a:r>
              <a:rPr sz="2600" spc="-9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o  </a:t>
            </a:r>
            <a:r>
              <a:rPr sz="2600" spc="-5" dirty="0">
                <a:latin typeface="Perpetua"/>
                <a:cs typeface="Perpetua"/>
              </a:rPr>
              <a:t>proposition.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Corrected </a:t>
            </a:r>
            <a:r>
              <a:rPr sz="2600" spc="-5" dirty="0">
                <a:latin typeface="Perpetua"/>
                <a:cs typeface="Perpetua"/>
              </a:rPr>
              <a:t>sentence: </a:t>
            </a: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I am hungry and I am </a:t>
            </a:r>
            <a:r>
              <a:rPr sz="2600" i="1" spc="-5" dirty="0">
                <a:latin typeface="Perpetua"/>
                <a:cs typeface="Perpetua"/>
              </a:rPr>
              <a:t>not</a:t>
            </a:r>
            <a:r>
              <a:rPr sz="2600" i="1" spc="-240" dirty="0">
                <a:latin typeface="Perpetua"/>
                <a:cs typeface="Perpetua"/>
              </a:rPr>
              <a:t> </a:t>
            </a:r>
            <a:r>
              <a:rPr sz="2600" i="1" spc="-40" dirty="0">
                <a:latin typeface="Perpetua"/>
                <a:cs typeface="Perpetua"/>
              </a:rPr>
              <a:t>cold</a:t>
            </a:r>
            <a:r>
              <a:rPr sz="2600" spc="-40" dirty="0">
                <a:latin typeface="Perpetua"/>
                <a:cs typeface="Perpetua"/>
              </a:rPr>
              <a:t>.”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632586"/>
            <a:ext cx="4798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Evaluation </a:t>
            </a:r>
            <a:r>
              <a:rPr sz="4000" spc="-5" dirty="0"/>
              <a:t>of</a:t>
            </a:r>
            <a:r>
              <a:rPr sz="4000" spc="-30" dirty="0"/>
              <a:t> </a:t>
            </a:r>
            <a:r>
              <a:rPr sz="4000" spc="-5" dirty="0"/>
              <a:t>propositions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59740" y="1391158"/>
            <a:ext cx="7911465" cy="2007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95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dirty="0">
                <a:latin typeface="Perpetua"/>
                <a:cs typeface="Perpetua"/>
              </a:rPr>
              <a:t>Logical </a:t>
            </a:r>
            <a:r>
              <a:rPr sz="2200" spc="-10" dirty="0">
                <a:latin typeface="Perpetua"/>
                <a:cs typeface="Perpetua"/>
              </a:rPr>
              <a:t>expressions </a:t>
            </a:r>
            <a:r>
              <a:rPr sz="2200" spc="-5" dirty="0">
                <a:latin typeface="Perpetua"/>
                <a:cs typeface="Perpetua"/>
              </a:rPr>
              <a:t>can be </a:t>
            </a:r>
            <a:r>
              <a:rPr sz="2200" spc="-15" dirty="0">
                <a:latin typeface="Perpetua"/>
                <a:cs typeface="Perpetua"/>
              </a:rPr>
              <a:t>evaluated </a:t>
            </a:r>
            <a:r>
              <a:rPr sz="2200" spc="-5" dirty="0">
                <a:latin typeface="Perpetua"/>
                <a:cs typeface="Perpetua"/>
              </a:rPr>
              <a:t>to find its </a:t>
            </a:r>
            <a:r>
              <a:rPr sz="2200" spc="5" dirty="0">
                <a:latin typeface="Perpetua"/>
                <a:cs typeface="Perpetua"/>
              </a:rPr>
              <a:t>truth</a:t>
            </a:r>
            <a:r>
              <a:rPr sz="2200" spc="130" dirty="0">
                <a:latin typeface="Perpetua"/>
                <a:cs typeface="Perpetua"/>
              </a:rPr>
              <a:t> </a:t>
            </a:r>
            <a:r>
              <a:rPr sz="2200" spc="-15" dirty="0">
                <a:latin typeface="Perpetua"/>
                <a:cs typeface="Perpetua"/>
              </a:rPr>
              <a:t>value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850">
              <a:latin typeface="Perpetua"/>
              <a:cs typeface="Perpetua"/>
            </a:endParaRPr>
          </a:p>
          <a:p>
            <a:pPr marL="286385" marR="5080" indent="-274320">
              <a:lnSpc>
                <a:spcPts val="2110"/>
              </a:lnSpc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125" dirty="0">
                <a:latin typeface="Perpetua"/>
                <a:cs typeface="Perpetua"/>
              </a:rPr>
              <a:t>We </a:t>
            </a:r>
            <a:r>
              <a:rPr sz="2200" spc="-35" dirty="0">
                <a:latin typeface="Perpetua"/>
                <a:cs typeface="Perpetua"/>
              </a:rPr>
              <a:t>have </a:t>
            </a:r>
            <a:r>
              <a:rPr sz="2200" spc="-5" dirty="0">
                <a:latin typeface="Perpetua"/>
                <a:cs typeface="Perpetua"/>
              </a:rPr>
              <a:t>to </a:t>
            </a:r>
            <a:r>
              <a:rPr sz="2200" dirty="0">
                <a:latin typeface="Perpetua"/>
                <a:cs typeface="Perpetua"/>
              </a:rPr>
              <a:t>construct </a:t>
            </a:r>
            <a:r>
              <a:rPr sz="2200" spc="-5" dirty="0">
                <a:latin typeface="Perpetua"/>
                <a:cs typeface="Perpetua"/>
              </a:rPr>
              <a:t>the </a:t>
            </a:r>
            <a:r>
              <a:rPr sz="2200" spc="5" dirty="0">
                <a:latin typeface="Perpetua"/>
                <a:cs typeface="Perpetua"/>
              </a:rPr>
              <a:t>truth </a:t>
            </a:r>
            <a:r>
              <a:rPr sz="2200" spc="-15" dirty="0">
                <a:latin typeface="Perpetua"/>
                <a:cs typeface="Perpetua"/>
              </a:rPr>
              <a:t>table </a:t>
            </a:r>
            <a:r>
              <a:rPr sz="2200" spc="-5" dirty="0">
                <a:latin typeface="Perpetua"/>
                <a:cs typeface="Perpetua"/>
              </a:rPr>
              <a:t>for the expression and then </a:t>
            </a:r>
            <a:r>
              <a:rPr sz="2200" spc="-20" dirty="0">
                <a:latin typeface="Perpetua"/>
                <a:cs typeface="Perpetua"/>
              </a:rPr>
              <a:t>evaluate </a:t>
            </a:r>
            <a:r>
              <a:rPr sz="2200" spc="-5" dirty="0">
                <a:latin typeface="Perpetua"/>
                <a:cs typeface="Perpetua"/>
              </a:rPr>
              <a:t>its  expression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4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25" dirty="0">
                <a:latin typeface="Perpetua"/>
                <a:cs typeface="Perpetua"/>
              </a:rPr>
              <a:t>Truth </a:t>
            </a:r>
            <a:r>
              <a:rPr sz="2200" spc="-10" dirty="0">
                <a:latin typeface="Perpetua"/>
                <a:cs typeface="Perpetua"/>
              </a:rPr>
              <a:t>tables </a:t>
            </a:r>
            <a:r>
              <a:rPr sz="2200" spc="-5" dirty="0">
                <a:latin typeface="Perpetua"/>
                <a:cs typeface="Perpetua"/>
              </a:rPr>
              <a:t>of expressions p and q, p or q , not p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0362" y="3734561"/>
            <a:ext cx="3200400" cy="2286000"/>
          </a:xfrm>
          <a:custGeom>
            <a:avLst/>
            <a:gdLst/>
            <a:ahLst/>
            <a:cxnLst/>
            <a:rect l="l" t="t" r="r" b="b"/>
            <a:pathLst>
              <a:path w="3200400" h="2286000">
                <a:moveTo>
                  <a:pt x="0" y="381000"/>
                </a:moveTo>
                <a:lnTo>
                  <a:pt x="2968" y="333204"/>
                </a:lnTo>
                <a:lnTo>
                  <a:pt x="11636" y="287181"/>
                </a:lnTo>
                <a:lnTo>
                  <a:pt x="25646" y="243288"/>
                </a:lnTo>
                <a:lnTo>
                  <a:pt x="44641" y="201881"/>
                </a:lnTo>
                <a:lnTo>
                  <a:pt x="68265" y="163318"/>
                </a:lnTo>
                <a:lnTo>
                  <a:pt x="96159" y="127955"/>
                </a:lnTo>
                <a:lnTo>
                  <a:pt x="127967" y="96149"/>
                </a:lnTo>
                <a:lnTo>
                  <a:pt x="163332" y="68257"/>
                </a:lnTo>
                <a:lnTo>
                  <a:pt x="201897" y="44636"/>
                </a:lnTo>
                <a:lnTo>
                  <a:pt x="243304" y="25643"/>
                </a:lnTo>
                <a:lnTo>
                  <a:pt x="287197" y="11634"/>
                </a:lnTo>
                <a:lnTo>
                  <a:pt x="333219" y="2968"/>
                </a:lnTo>
                <a:lnTo>
                  <a:pt x="381012" y="0"/>
                </a:lnTo>
                <a:lnTo>
                  <a:pt x="2819400" y="0"/>
                </a:lnTo>
                <a:lnTo>
                  <a:pt x="2867195" y="2968"/>
                </a:lnTo>
                <a:lnTo>
                  <a:pt x="2913218" y="11634"/>
                </a:lnTo>
                <a:lnTo>
                  <a:pt x="2957111" y="25643"/>
                </a:lnTo>
                <a:lnTo>
                  <a:pt x="2998518" y="44636"/>
                </a:lnTo>
                <a:lnTo>
                  <a:pt x="3037081" y="68257"/>
                </a:lnTo>
                <a:lnTo>
                  <a:pt x="3072444" y="96149"/>
                </a:lnTo>
                <a:lnTo>
                  <a:pt x="3104250" y="127955"/>
                </a:lnTo>
                <a:lnTo>
                  <a:pt x="3132142" y="163318"/>
                </a:lnTo>
                <a:lnTo>
                  <a:pt x="3155763" y="201881"/>
                </a:lnTo>
                <a:lnTo>
                  <a:pt x="3174756" y="243288"/>
                </a:lnTo>
                <a:lnTo>
                  <a:pt x="3188765" y="287181"/>
                </a:lnTo>
                <a:lnTo>
                  <a:pt x="3197431" y="333204"/>
                </a:lnTo>
                <a:lnTo>
                  <a:pt x="3200400" y="381000"/>
                </a:lnTo>
                <a:lnTo>
                  <a:pt x="3200400" y="1904987"/>
                </a:lnTo>
                <a:lnTo>
                  <a:pt x="3197431" y="1952780"/>
                </a:lnTo>
                <a:lnTo>
                  <a:pt x="3188765" y="1998802"/>
                </a:lnTo>
                <a:lnTo>
                  <a:pt x="3174756" y="2042695"/>
                </a:lnTo>
                <a:lnTo>
                  <a:pt x="3155763" y="2084102"/>
                </a:lnTo>
                <a:lnTo>
                  <a:pt x="3132142" y="2122667"/>
                </a:lnTo>
                <a:lnTo>
                  <a:pt x="3104250" y="2158032"/>
                </a:lnTo>
                <a:lnTo>
                  <a:pt x="3072444" y="2189840"/>
                </a:lnTo>
                <a:lnTo>
                  <a:pt x="3037081" y="2217734"/>
                </a:lnTo>
                <a:lnTo>
                  <a:pt x="2998518" y="2241358"/>
                </a:lnTo>
                <a:lnTo>
                  <a:pt x="2957111" y="2260353"/>
                </a:lnTo>
                <a:lnTo>
                  <a:pt x="2913218" y="2274363"/>
                </a:lnTo>
                <a:lnTo>
                  <a:pt x="2867195" y="2283031"/>
                </a:lnTo>
                <a:lnTo>
                  <a:pt x="2819400" y="2286000"/>
                </a:lnTo>
                <a:lnTo>
                  <a:pt x="381012" y="2286000"/>
                </a:lnTo>
                <a:lnTo>
                  <a:pt x="333219" y="2283031"/>
                </a:lnTo>
                <a:lnTo>
                  <a:pt x="287197" y="2274363"/>
                </a:lnTo>
                <a:lnTo>
                  <a:pt x="243304" y="2260353"/>
                </a:lnTo>
                <a:lnTo>
                  <a:pt x="201897" y="2241358"/>
                </a:lnTo>
                <a:lnTo>
                  <a:pt x="163332" y="2217734"/>
                </a:lnTo>
                <a:lnTo>
                  <a:pt x="127967" y="2189840"/>
                </a:lnTo>
                <a:lnTo>
                  <a:pt x="96159" y="2158032"/>
                </a:lnTo>
                <a:lnTo>
                  <a:pt x="68265" y="2122667"/>
                </a:lnTo>
                <a:lnTo>
                  <a:pt x="44641" y="2084102"/>
                </a:lnTo>
                <a:lnTo>
                  <a:pt x="25646" y="2042695"/>
                </a:lnTo>
                <a:lnTo>
                  <a:pt x="11636" y="1998802"/>
                </a:lnTo>
                <a:lnTo>
                  <a:pt x="2968" y="1952780"/>
                </a:lnTo>
                <a:lnTo>
                  <a:pt x="0" y="1904987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39361" y="3810761"/>
            <a:ext cx="2895600" cy="2286000"/>
          </a:xfrm>
          <a:custGeom>
            <a:avLst/>
            <a:gdLst/>
            <a:ahLst/>
            <a:cxnLst/>
            <a:rect l="l" t="t" r="r" b="b"/>
            <a:pathLst>
              <a:path w="2895600" h="2286000">
                <a:moveTo>
                  <a:pt x="0" y="381000"/>
                </a:moveTo>
                <a:lnTo>
                  <a:pt x="2968" y="333204"/>
                </a:lnTo>
                <a:lnTo>
                  <a:pt x="11634" y="287181"/>
                </a:lnTo>
                <a:lnTo>
                  <a:pt x="25643" y="243288"/>
                </a:lnTo>
                <a:lnTo>
                  <a:pt x="44636" y="201881"/>
                </a:lnTo>
                <a:lnTo>
                  <a:pt x="68257" y="163318"/>
                </a:lnTo>
                <a:lnTo>
                  <a:pt x="96149" y="127955"/>
                </a:lnTo>
                <a:lnTo>
                  <a:pt x="127955" y="96149"/>
                </a:lnTo>
                <a:lnTo>
                  <a:pt x="163318" y="68257"/>
                </a:lnTo>
                <a:lnTo>
                  <a:pt x="201881" y="44636"/>
                </a:lnTo>
                <a:lnTo>
                  <a:pt x="243288" y="25643"/>
                </a:lnTo>
                <a:lnTo>
                  <a:pt x="287181" y="11634"/>
                </a:lnTo>
                <a:lnTo>
                  <a:pt x="333204" y="2968"/>
                </a:lnTo>
                <a:lnTo>
                  <a:pt x="381000" y="0"/>
                </a:lnTo>
                <a:lnTo>
                  <a:pt x="2514599" y="0"/>
                </a:lnTo>
                <a:lnTo>
                  <a:pt x="2562395" y="2968"/>
                </a:lnTo>
                <a:lnTo>
                  <a:pt x="2608418" y="11634"/>
                </a:lnTo>
                <a:lnTo>
                  <a:pt x="2652311" y="25643"/>
                </a:lnTo>
                <a:lnTo>
                  <a:pt x="2693718" y="44636"/>
                </a:lnTo>
                <a:lnTo>
                  <a:pt x="2732281" y="68257"/>
                </a:lnTo>
                <a:lnTo>
                  <a:pt x="2767644" y="96149"/>
                </a:lnTo>
                <a:lnTo>
                  <a:pt x="2799450" y="127955"/>
                </a:lnTo>
                <a:lnTo>
                  <a:pt x="2827342" y="163318"/>
                </a:lnTo>
                <a:lnTo>
                  <a:pt x="2850963" y="201881"/>
                </a:lnTo>
                <a:lnTo>
                  <a:pt x="2869956" y="243288"/>
                </a:lnTo>
                <a:lnTo>
                  <a:pt x="2883965" y="287181"/>
                </a:lnTo>
                <a:lnTo>
                  <a:pt x="2892631" y="333204"/>
                </a:lnTo>
                <a:lnTo>
                  <a:pt x="2895599" y="381000"/>
                </a:lnTo>
                <a:lnTo>
                  <a:pt x="2895599" y="1904987"/>
                </a:lnTo>
                <a:lnTo>
                  <a:pt x="2892631" y="1952780"/>
                </a:lnTo>
                <a:lnTo>
                  <a:pt x="2883965" y="1998802"/>
                </a:lnTo>
                <a:lnTo>
                  <a:pt x="2869956" y="2042695"/>
                </a:lnTo>
                <a:lnTo>
                  <a:pt x="2850963" y="2084102"/>
                </a:lnTo>
                <a:lnTo>
                  <a:pt x="2827342" y="2122667"/>
                </a:lnTo>
                <a:lnTo>
                  <a:pt x="2799450" y="2158032"/>
                </a:lnTo>
                <a:lnTo>
                  <a:pt x="2767644" y="2189840"/>
                </a:lnTo>
                <a:lnTo>
                  <a:pt x="2732281" y="2217734"/>
                </a:lnTo>
                <a:lnTo>
                  <a:pt x="2693718" y="2241358"/>
                </a:lnTo>
                <a:lnTo>
                  <a:pt x="2652311" y="2260353"/>
                </a:lnTo>
                <a:lnTo>
                  <a:pt x="2608418" y="2274363"/>
                </a:lnTo>
                <a:lnTo>
                  <a:pt x="2562395" y="2283031"/>
                </a:lnTo>
                <a:lnTo>
                  <a:pt x="2514599" y="2286000"/>
                </a:lnTo>
                <a:lnTo>
                  <a:pt x="381000" y="2286000"/>
                </a:lnTo>
                <a:lnTo>
                  <a:pt x="333204" y="2283031"/>
                </a:lnTo>
                <a:lnTo>
                  <a:pt x="287181" y="2274363"/>
                </a:lnTo>
                <a:lnTo>
                  <a:pt x="243288" y="2260353"/>
                </a:lnTo>
                <a:lnTo>
                  <a:pt x="201881" y="2241358"/>
                </a:lnTo>
                <a:lnTo>
                  <a:pt x="163318" y="2217734"/>
                </a:lnTo>
                <a:lnTo>
                  <a:pt x="127955" y="2189840"/>
                </a:lnTo>
                <a:lnTo>
                  <a:pt x="96149" y="2158032"/>
                </a:lnTo>
                <a:lnTo>
                  <a:pt x="68257" y="2122667"/>
                </a:lnTo>
                <a:lnTo>
                  <a:pt x="44636" y="2084102"/>
                </a:lnTo>
                <a:lnTo>
                  <a:pt x="25643" y="2042695"/>
                </a:lnTo>
                <a:lnTo>
                  <a:pt x="11634" y="1998802"/>
                </a:lnTo>
                <a:lnTo>
                  <a:pt x="2968" y="1952780"/>
                </a:lnTo>
                <a:lnTo>
                  <a:pt x="0" y="1904987"/>
                </a:lnTo>
                <a:lnTo>
                  <a:pt x="0" y="3810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63561" y="3886961"/>
            <a:ext cx="1066800" cy="1447800"/>
          </a:xfrm>
          <a:custGeom>
            <a:avLst/>
            <a:gdLst/>
            <a:ahLst/>
            <a:cxnLst/>
            <a:rect l="l" t="t" r="r" b="b"/>
            <a:pathLst>
              <a:path w="1066800" h="1447800">
                <a:moveTo>
                  <a:pt x="0" y="177800"/>
                </a:moveTo>
                <a:lnTo>
                  <a:pt x="6352" y="130542"/>
                </a:lnTo>
                <a:lnTo>
                  <a:pt x="24280" y="88072"/>
                </a:lnTo>
                <a:lnTo>
                  <a:pt x="52085" y="52085"/>
                </a:lnTo>
                <a:lnTo>
                  <a:pt x="88072" y="24280"/>
                </a:lnTo>
                <a:lnTo>
                  <a:pt x="130542" y="6352"/>
                </a:lnTo>
                <a:lnTo>
                  <a:pt x="177800" y="0"/>
                </a:lnTo>
                <a:lnTo>
                  <a:pt x="889000" y="0"/>
                </a:lnTo>
                <a:lnTo>
                  <a:pt x="936257" y="6352"/>
                </a:lnTo>
                <a:lnTo>
                  <a:pt x="978727" y="24280"/>
                </a:lnTo>
                <a:lnTo>
                  <a:pt x="1014714" y="52085"/>
                </a:lnTo>
                <a:lnTo>
                  <a:pt x="1042519" y="88072"/>
                </a:lnTo>
                <a:lnTo>
                  <a:pt x="1060447" y="130542"/>
                </a:lnTo>
                <a:lnTo>
                  <a:pt x="1066800" y="177800"/>
                </a:lnTo>
                <a:lnTo>
                  <a:pt x="1066800" y="1270000"/>
                </a:lnTo>
                <a:lnTo>
                  <a:pt x="1060447" y="1317257"/>
                </a:lnTo>
                <a:lnTo>
                  <a:pt x="1042519" y="1359727"/>
                </a:lnTo>
                <a:lnTo>
                  <a:pt x="1014714" y="1395714"/>
                </a:lnTo>
                <a:lnTo>
                  <a:pt x="978727" y="1423519"/>
                </a:lnTo>
                <a:lnTo>
                  <a:pt x="936257" y="1441447"/>
                </a:lnTo>
                <a:lnTo>
                  <a:pt x="889000" y="1447800"/>
                </a:lnTo>
                <a:lnTo>
                  <a:pt x="177800" y="1447800"/>
                </a:lnTo>
                <a:lnTo>
                  <a:pt x="130542" y="1441447"/>
                </a:lnTo>
                <a:lnTo>
                  <a:pt x="88072" y="1423519"/>
                </a:lnTo>
                <a:lnTo>
                  <a:pt x="52085" y="1395714"/>
                </a:lnTo>
                <a:lnTo>
                  <a:pt x="24280" y="1359727"/>
                </a:lnTo>
                <a:lnTo>
                  <a:pt x="6352" y="1317257"/>
                </a:lnTo>
                <a:lnTo>
                  <a:pt x="0" y="1270000"/>
                </a:lnTo>
                <a:lnTo>
                  <a:pt x="0" y="17780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5027" y="3865889"/>
          <a:ext cx="3210559" cy="18769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3444"/>
                <a:gridCol w="951865"/>
                <a:gridCol w="1365250"/>
              </a:tblGrid>
              <a:tr h="395990">
                <a:tc>
                  <a:txBody>
                    <a:bodyPr/>
                    <a:lstStyle/>
                    <a:p>
                      <a:pPr marL="260985">
                        <a:lnSpc>
                          <a:spcPts val="2045"/>
                        </a:lnSpc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p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B w="12700">
                      <a:solidFill>
                        <a:srgbClr val="AE340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1785" algn="r">
                        <a:lnSpc>
                          <a:spcPts val="2045"/>
                        </a:lnSpc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q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B w="12700">
                      <a:solidFill>
                        <a:srgbClr val="AE340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ts val="2045"/>
                        </a:lnSpc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p </a:t>
                      </a:r>
                      <a:r>
                        <a:rPr sz="2000" b="1" spc="-5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and</a:t>
                      </a:r>
                      <a:r>
                        <a:rPr sz="2000" b="1" spc="-30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q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B w="12700">
                      <a:solidFill>
                        <a:srgbClr val="AE3408"/>
                      </a:solidFill>
                      <a:prstDash val="solid"/>
                    </a:lnB>
                  </a:tcPr>
                </a:tc>
              </a:tr>
              <a:tr h="344442">
                <a:tc>
                  <a:txBody>
                    <a:bodyPr/>
                    <a:lstStyle/>
                    <a:p>
                      <a:pPr marL="262890">
                        <a:lnSpc>
                          <a:spcPts val="1995"/>
                        </a:lnSpc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T w="12700">
                      <a:solidFill>
                        <a:srgbClr val="AE340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2420" algn="r">
                        <a:lnSpc>
                          <a:spcPts val="1995"/>
                        </a:lnSpc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T w="12700">
                      <a:solidFill>
                        <a:srgbClr val="AE340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ts val="1995"/>
                        </a:lnSpc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T w="12700">
                      <a:solidFill>
                        <a:srgbClr val="AE3408"/>
                      </a:solidFill>
                      <a:prstDash val="solid"/>
                    </a:lnT>
                  </a:tcPr>
                </a:tc>
              </a:tr>
              <a:tr h="396380">
                <a:tc>
                  <a:txBody>
                    <a:bodyPr/>
                    <a:lstStyle/>
                    <a:p>
                      <a:pPr marL="26289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323850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</a:tr>
              <a:tr h="396214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313055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</a:tr>
              <a:tr h="343927">
                <a:tc>
                  <a:txBody>
                    <a:bodyPr/>
                    <a:lstStyle/>
                    <a:p>
                      <a:pPr marL="2736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323850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034028" y="3865889"/>
          <a:ext cx="2904488" cy="18769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680"/>
                <a:gridCol w="814069"/>
                <a:gridCol w="1221739"/>
              </a:tblGrid>
              <a:tr h="395990">
                <a:tc>
                  <a:txBody>
                    <a:bodyPr/>
                    <a:lstStyle/>
                    <a:p>
                      <a:pPr marL="325755">
                        <a:lnSpc>
                          <a:spcPts val="2045"/>
                        </a:lnSpc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p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B w="12700">
                      <a:solidFill>
                        <a:srgbClr val="AE340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3525" algn="r">
                        <a:lnSpc>
                          <a:spcPts val="2045"/>
                        </a:lnSpc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q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B w="12700">
                      <a:solidFill>
                        <a:srgbClr val="AE340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130" algn="ctr">
                        <a:lnSpc>
                          <a:spcPts val="2045"/>
                        </a:lnSpc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p or</a:t>
                      </a:r>
                      <a:r>
                        <a:rPr sz="2000" b="1" spc="-35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q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B w="12700">
                      <a:solidFill>
                        <a:srgbClr val="AE3408"/>
                      </a:solidFill>
                      <a:prstDash val="solid"/>
                    </a:lnB>
                  </a:tcPr>
                </a:tc>
              </a:tr>
              <a:tr h="344442">
                <a:tc>
                  <a:txBody>
                    <a:bodyPr/>
                    <a:lstStyle/>
                    <a:p>
                      <a:pPr marL="327025">
                        <a:lnSpc>
                          <a:spcPts val="1995"/>
                        </a:lnSpc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T w="12700">
                      <a:solidFill>
                        <a:srgbClr val="AE340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ts val="1995"/>
                        </a:lnSpc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T w="12700">
                      <a:solidFill>
                        <a:srgbClr val="AE340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ts val="1995"/>
                        </a:lnSpc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T w="12700">
                      <a:solidFill>
                        <a:srgbClr val="AE3408"/>
                      </a:solidFill>
                      <a:prstDash val="solid"/>
                    </a:lnT>
                  </a:tcPr>
                </a:tc>
              </a:tr>
              <a:tr h="396380"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274955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</a:tr>
              <a:tr h="396214"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264160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</a:tr>
              <a:tr h="343927"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274955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6F2F9F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158228" y="4018289"/>
          <a:ext cx="1075689" cy="1084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30"/>
                <a:gridCol w="708659"/>
              </a:tblGrid>
              <a:tr h="325872">
                <a:tc>
                  <a:txBody>
                    <a:bodyPr/>
                    <a:lstStyle/>
                    <a:p>
                      <a:pPr marL="65405">
                        <a:lnSpc>
                          <a:spcPts val="2045"/>
                        </a:lnSpc>
                      </a:pPr>
                      <a:r>
                        <a:rPr sz="2000" b="1" dirty="0">
                          <a:solidFill>
                            <a:srgbClr val="00AF50"/>
                          </a:solidFill>
                          <a:latin typeface="Perpetua"/>
                          <a:cs typeface="Perpetua"/>
                        </a:rPr>
                        <a:t>p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B w="12700">
                      <a:solidFill>
                        <a:srgbClr val="AE340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ts val="2045"/>
                        </a:lnSpc>
                      </a:pPr>
                      <a:r>
                        <a:rPr sz="2000" b="1" dirty="0">
                          <a:solidFill>
                            <a:srgbClr val="00AF50"/>
                          </a:solidFill>
                          <a:latin typeface="Perpetua"/>
                          <a:cs typeface="Perpetua"/>
                        </a:rPr>
                        <a:t>~</a:t>
                      </a:r>
                      <a:r>
                        <a:rPr sz="2000" b="1" spc="-30" dirty="0">
                          <a:solidFill>
                            <a:srgbClr val="00AF50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2000" b="1" dirty="0">
                          <a:solidFill>
                            <a:srgbClr val="00AF50"/>
                          </a:solidFill>
                          <a:latin typeface="Perpetua"/>
                          <a:cs typeface="Perpetua"/>
                        </a:rPr>
                        <a:t>p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lnB w="12700">
                      <a:solidFill>
                        <a:srgbClr val="AE3408"/>
                      </a:solidFill>
                      <a:prstDash val="solid"/>
                    </a:lnB>
                  </a:tcPr>
                </a:tc>
              </a:tr>
              <a:tr h="414559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solidFill>
                            <a:srgbClr val="00AF50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AE340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b="1" dirty="0">
                          <a:solidFill>
                            <a:srgbClr val="00AF50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AE3408"/>
                      </a:solidFill>
                      <a:prstDash val="solid"/>
                    </a:lnT>
                  </a:tcPr>
                </a:tc>
              </a:tr>
              <a:tr h="344093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00AF50"/>
                          </a:solidFill>
                          <a:latin typeface="Perpetua"/>
                          <a:cs typeface="Perpetua"/>
                        </a:rPr>
                        <a:t>F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R="14604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2000" b="1" dirty="0">
                          <a:solidFill>
                            <a:srgbClr val="00AF50"/>
                          </a:solidFill>
                          <a:latin typeface="Perpetua"/>
                          <a:cs typeface="Perpetua"/>
                        </a:rPr>
                        <a:t>T</a:t>
                      </a:r>
                      <a:endParaRPr sz="2000">
                        <a:latin typeface="Perpetua"/>
                        <a:cs typeface="Perpetua"/>
                      </a:endParaRPr>
                    </a:p>
                  </a:txBody>
                  <a:tcPr marL="0" marR="0" marT="6985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701166"/>
            <a:ext cx="7764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35" dirty="0"/>
              <a:t>To </a:t>
            </a:r>
            <a:r>
              <a:rPr sz="3600" spc="5" dirty="0"/>
              <a:t>construct </a:t>
            </a:r>
            <a:r>
              <a:rPr sz="3600" dirty="0"/>
              <a:t>a </a:t>
            </a:r>
            <a:r>
              <a:rPr sz="3600" spc="10" dirty="0"/>
              <a:t>truth </a:t>
            </a:r>
            <a:r>
              <a:rPr sz="3600" spc="-15" dirty="0"/>
              <a:t>table </a:t>
            </a:r>
            <a:r>
              <a:rPr sz="3600" dirty="0"/>
              <a:t>for some</a:t>
            </a:r>
            <a:r>
              <a:rPr sz="3600" spc="-405" dirty="0"/>
              <a:t> </a:t>
            </a:r>
            <a:r>
              <a:rPr sz="3600" spc="-5" dirty="0"/>
              <a:t>proposition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31140" y="1433525"/>
            <a:ext cx="8631555" cy="4691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3885" marR="104775" indent="-515620" algn="just">
              <a:lnSpc>
                <a:spcPct val="100000"/>
              </a:lnSpc>
              <a:spcBef>
                <a:spcPts val="105"/>
              </a:spcBef>
              <a:buSzPct val="84615"/>
              <a:buAutoNum type="arabicPeriod"/>
              <a:tabLst>
                <a:tab pos="604520" algn="l"/>
              </a:tabLst>
            </a:pPr>
            <a:r>
              <a:rPr sz="2600" spc="-10" dirty="0">
                <a:latin typeface="Perpetua"/>
                <a:cs typeface="Perpetua"/>
              </a:rPr>
              <a:t>Make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list of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5" dirty="0">
                <a:latin typeface="Perpetua"/>
                <a:cs typeface="Perpetua"/>
              </a:rPr>
              <a:t>logical </a:t>
            </a:r>
            <a:r>
              <a:rPr sz="2600" spc="-5" dirty="0">
                <a:latin typeface="Perpetua"/>
                <a:cs typeface="Perpetua"/>
              </a:rPr>
              <a:t>variable </a:t>
            </a:r>
            <a:r>
              <a:rPr sz="2600" spc="-10" dirty="0">
                <a:latin typeface="Perpetua"/>
                <a:cs typeface="Perpetua"/>
              </a:rPr>
              <a:t>(abbreviation) that </a:t>
            </a:r>
            <a:r>
              <a:rPr sz="2600" dirty="0">
                <a:latin typeface="Perpetua"/>
                <a:cs typeface="Perpetua"/>
              </a:rPr>
              <a:t>appears in  the </a:t>
            </a:r>
            <a:r>
              <a:rPr sz="2600" spc="-5" dirty="0">
                <a:latin typeface="Perpetua"/>
                <a:cs typeface="Perpetua"/>
              </a:rPr>
              <a:t>proposition. If one variable </a:t>
            </a:r>
            <a:r>
              <a:rPr sz="2600" spc="5" dirty="0">
                <a:latin typeface="Perpetua"/>
                <a:cs typeface="Perpetua"/>
              </a:rPr>
              <a:t>occurs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dirty="0">
                <a:latin typeface="Perpetua"/>
                <a:cs typeface="Perpetua"/>
              </a:rPr>
              <a:t>than </a:t>
            </a:r>
            <a:r>
              <a:rPr sz="2600" spc="-5" dirty="0">
                <a:latin typeface="Perpetua"/>
                <a:cs typeface="Perpetua"/>
              </a:rPr>
              <a:t>once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the  proposition </a:t>
            </a:r>
            <a:r>
              <a:rPr sz="2600" dirty="0">
                <a:latin typeface="Perpetua"/>
                <a:cs typeface="Perpetua"/>
              </a:rPr>
              <a:t>it </a:t>
            </a:r>
            <a:r>
              <a:rPr sz="2600" spc="-5" dirty="0">
                <a:latin typeface="Perpetua"/>
                <a:cs typeface="Perpetua"/>
              </a:rPr>
              <a:t>should be included </a:t>
            </a:r>
            <a:r>
              <a:rPr sz="2600" spc="-20" dirty="0">
                <a:latin typeface="Perpetua"/>
                <a:cs typeface="Perpetua"/>
              </a:rPr>
              <a:t>only </a:t>
            </a:r>
            <a:r>
              <a:rPr sz="2600" spc="-5" dirty="0">
                <a:latin typeface="Perpetua"/>
                <a:cs typeface="Perpetua"/>
              </a:rPr>
              <a:t>once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5" dirty="0">
                <a:latin typeface="Perpetua"/>
                <a:cs typeface="Perpetua"/>
              </a:rPr>
              <a:t>your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list.</a:t>
            </a:r>
            <a:endParaRPr sz="2600">
              <a:latin typeface="Perpetua"/>
              <a:cs typeface="Perpetua"/>
            </a:endParaRPr>
          </a:p>
          <a:p>
            <a:pPr marL="603885" marR="93980" indent="-515620" algn="just">
              <a:lnSpc>
                <a:spcPct val="100000"/>
              </a:lnSpc>
              <a:spcBef>
                <a:spcPts val="605"/>
              </a:spcBef>
              <a:buSzPct val="84615"/>
              <a:buAutoNum type="arabicPeriod"/>
              <a:tabLst>
                <a:tab pos="604520" algn="l"/>
              </a:tabLst>
            </a:pPr>
            <a:r>
              <a:rPr sz="2600" dirty="0">
                <a:latin typeface="Perpetua"/>
                <a:cs typeface="Perpetua"/>
              </a:rPr>
              <a:t>Place a </a:t>
            </a:r>
            <a:r>
              <a:rPr sz="2600" spc="-5" dirty="0">
                <a:latin typeface="Perpetua"/>
                <a:cs typeface="Perpetua"/>
              </a:rPr>
              <a:t>column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15" dirty="0">
                <a:latin typeface="Perpetua"/>
                <a:cs typeface="Perpetua"/>
              </a:rPr>
              <a:t>truth </a:t>
            </a:r>
            <a:r>
              <a:rPr sz="2600" spc="-10" dirty="0">
                <a:latin typeface="Perpetua"/>
                <a:cs typeface="Perpetua"/>
              </a:rPr>
              <a:t>table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-15" dirty="0">
                <a:latin typeface="Perpetua"/>
                <a:cs typeface="Perpetua"/>
              </a:rPr>
              <a:t>every </a:t>
            </a:r>
            <a:r>
              <a:rPr sz="2600" spc="-5" dirty="0">
                <a:latin typeface="Perpetua"/>
                <a:cs typeface="Perpetua"/>
              </a:rPr>
              <a:t>variable list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dirty="0">
                <a:latin typeface="Perpetua"/>
                <a:cs typeface="Perpetua"/>
              </a:rPr>
              <a:t>list.  The </a:t>
            </a:r>
            <a:r>
              <a:rPr sz="2600" spc="-5" dirty="0">
                <a:latin typeface="Perpetua"/>
                <a:cs typeface="Perpetua"/>
              </a:rPr>
              <a:t>column </a:t>
            </a:r>
            <a:r>
              <a:rPr sz="2600" dirty="0">
                <a:latin typeface="Perpetua"/>
                <a:cs typeface="Perpetua"/>
              </a:rPr>
              <a:t>heading </a:t>
            </a:r>
            <a:r>
              <a:rPr sz="2600" spc="-5" dirty="0">
                <a:latin typeface="Perpetua"/>
                <a:cs typeface="Perpetua"/>
              </a:rPr>
              <a:t>should be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variable</a:t>
            </a:r>
            <a:r>
              <a:rPr sz="2600" spc="-5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itself.</a:t>
            </a:r>
            <a:endParaRPr sz="2600">
              <a:latin typeface="Perpetua"/>
              <a:cs typeface="Perpetua"/>
            </a:endParaRPr>
          </a:p>
          <a:p>
            <a:pPr marL="603885" marR="104775" indent="-515620" algn="just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60452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heading 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last column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5" dirty="0">
                <a:latin typeface="Perpetua"/>
                <a:cs typeface="Perpetua"/>
              </a:rPr>
              <a:t>should </a:t>
            </a:r>
            <a:r>
              <a:rPr sz="2600" spc="10" dirty="0">
                <a:latin typeface="Perpetua"/>
                <a:cs typeface="Perpetua"/>
              </a:rPr>
              <a:t>write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entire  </a:t>
            </a:r>
            <a:r>
              <a:rPr sz="2600" spc="-5" dirty="0">
                <a:latin typeface="Perpetua"/>
                <a:cs typeface="Perpetua"/>
              </a:rPr>
              <a:t>proposition.</a:t>
            </a:r>
            <a:endParaRPr sz="2600">
              <a:latin typeface="Perpetua"/>
              <a:cs typeface="Perpetua"/>
            </a:endParaRPr>
          </a:p>
          <a:p>
            <a:pPr marL="603885" marR="107314" indent="-515620" algn="just">
              <a:lnSpc>
                <a:spcPct val="100000"/>
              </a:lnSpc>
              <a:spcBef>
                <a:spcPts val="605"/>
              </a:spcBef>
              <a:buSzPct val="84615"/>
              <a:buAutoNum type="arabicPeriod"/>
              <a:tabLst>
                <a:tab pos="604520" algn="l"/>
              </a:tabLst>
            </a:pPr>
            <a:r>
              <a:rPr sz="2600" spc="-5" dirty="0">
                <a:latin typeface="Perpetua"/>
                <a:cs typeface="Perpetua"/>
              </a:rPr>
              <a:t>If there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N </a:t>
            </a:r>
            <a:r>
              <a:rPr sz="2600" spc="-5" dirty="0">
                <a:latin typeface="Perpetua"/>
                <a:cs typeface="Perpetua"/>
              </a:rPr>
              <a:t>variables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5" dirty="0">
                <a:latin typeface="Perpetua"/>
                <a:cs typeface="Perpetua"/>
              </a:rPr>
              <a:t>your </a:t>
            </a:r>
            <a:r>
              <a:rPr sz="2600" dirty="0">
                <a:latin typeface="Perpetua"/>
                <a:cs typeface="Perpetua"/>
              </a:rPr>
              <a:t>list, </a:t>
            </a:r>
            <a:r>
              <a:rPr sz="2600" spc="-10" dirty="0">
                <a:latin typeface="Perpetua"/>
                <a:cs typeface="Perpetua"/>
              </a:rPr>
              <a:t>you </a:t>
            </a:r>
            <a:r>
              <a:rPr sz="2600" spc="-5" dirty="0">
                <a:latin typeface="Perpetua"/>
                <a:cs typeface="Perpetua"/>
              </a:rPr>
              <a:t>must </a:t>
            </a:r>
            <a:r>
              <a:rPr sz="2600" spc="-10" dirty="0">
                <a:latin typeface="Perpetua"/>
                <a:cs typeface="Perpetua"/>
              </a:rPr>
              <a:t>create </a:t>
            </a:r>
            <a:r>
              <a:rPr sz="2600" spc="5" dirty="0">
                <a:latin typeface="Perpetua"/>
                <a:cs typeface="Perpetua"/>
              </a:rPr>
              <a:t>2</a:t>
            </a:r>
            <a:r>
              <a:rPr sz="2550" spc="7" baseline="26143" dirty="0">
                <a:latin typeface="Perpetua"/>
                <a:cs typeface="Perpetua"/>
              </a:rPr>
              <a:t>N </a:t>
            </a:r>
            <a:r>
              <a:rPr sz="2600" spc="-30" dirty="0">
                <a:latin typeface="Perpetua"/>
                <a:cs typeface="Perpetua"/>
              </a:rPr>
              <a:t>rows. </a:t>
            </a:r>
            <a:r>
              <a:rPr sz="2600" spc="10" dirty="0">
                <a:latin typeface="Perpetua"/>
                <a:cs typeface="Perpetua"/>
              </a:rPr>
              <a:t>Each  </a:t>
            </a:r>
            <a:r>
              <a:rPr sz="2600" spc="-35" dirty="0">
                <a:latin typeface="Perpetua"/>
                <a:cs typeface="Perpetua"/>
              </a:rPr>
              <a:t>row </a:t>
            </a:r>
            <a:r>
              <a:rPr sz="2600" spc="-5" dirty="0">
                <a:latin typeface="Perpetua"/>
                <a:cs typeface="Perpetua"/>
              </a:rPr>
              <a:t>represents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unique combination of </a:t>
            </a:r>
            <a:r>
              <a:rPr sz="2600" spc="-10" dirty="0">
                <a:latin typeface="Perpetua"/>
                <a:cs typeface="Perpetua"/>
              </a:rPr>
              <a:t>values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dirty="0">
                <a:latin typeface="Perpetua"/>
                <a:cs typeface="Perpetua"/>
              </a:rPr>
              <a:t>the N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variables.</a:t>
            </a:r>
            <a:endParaRPr sz="2600">
              <a:latin typeface="Perpetua"/>
              <a:cs typeface="Perpetua"/>
            </a:endParaRPr>
          </a:p>
          <a:p>
            <a:pPr marL="603885" marR="104139" indent="-515620" algn="just">
              <a:lnSpc>
                <a:spcPct val="100000"/>
              </a:lnSpc>
              <a:spcBef>
                <a:spcPts val="595"/>
              </a:spcBef>
              <a:buSzPct val="84615"/>
              <a:buAutoNum type="arabicPeriod"/>
              <a:tabLst>
                <a:tab pos="604520" algn="l"/>
              </a:tabLst>
            </a:pPr>
            <a:r>
              <a:rPr sz="2600" spc="-25" dirty="0">
                <a:latin typeface="Perpetua"/>
                <a:cs typeface="Perpetua"/>
              </a:rPr>
              <a:t>For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110" dirty="0">
                <a:latin typeface="Perpetua"/>
                <a:cs typeface="Perpetua"/>
              </a:rPr>
              <a:t>row, </a:t>
            </a:r>
            <a:r>
              <a:rPr sz="2600" spc="5" dirty="0">
                <a:latin typeface="Perpetua"/>
                <a:cs typeface="Perpetua"/>
              </a:rPr>
              <a:t>determine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proposition and place  that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dirty="0">
                <a:latin typeface="Perpetua"/>
                <a:cs typeface="Perpetua"/>
              </a:rPr>
              <a:t>in the </a:t>
            </a:r>
            <a:r>
              <a:rPr sz="2600" spc="-5" dirty="0">
                <a:latin typeface="Perpetua"/>
                <a:cs typeface="Perpetua"/>
              </a:rPr>
              <a:t>last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column.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612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Examples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66724" y="1339510"/>
          <a:ext cx="4728844" cy="21928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575"/>
                <a:gridCol w="740410"/>
                <a:gridCol w="1646554"/>
                <a:gridCol w="1805305"/>
              </a:tblGrid>
              <a:tr h="404616">
                <a:tc>
                  <a:txBody>
                    <a:bodyPr/>
                    <a:lstStyle/>
                    <a:p>
                      <a:pPr marL="128270">
                        <a:lnSpc>
                          <a:spcPts val="2620"/>
                        </a:lnSpc>
                      </a:pPr>
                      <a:r>
                        <a:rPr sz="24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ts val="2620"/>
                        </a:lnSpc>
                      </a:pPr>
                      <a:r>
                        <a:rPr sz="24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20"/>
                        </a:lnSpc>
                      </a:pPr>
                      <a:r>
                        <a:rPr sz="24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p and</a:t>
                      </a:r>
                      <a:r>
                        <a:rPr sz="2400" b="1" spc="-40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5740" algn="ctr">
                        <a:lnSpc>
                          <a:spcPts val="2620"/>
                        </a:lnSpc>
                      </a:pPr>
                      <a:r>
                        <a:rPr sz="24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~(p and</a:t>
                      </a:r>
                      <a:r>
                        <a:rPr sz="2400" b="1" spc="-60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7032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20701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12065" marB="0"/>
                </a:tc>
              </a:tr>
              <a:tr h="457200">
                <a:tc>
                  <a:txBody>
                    <a:bodyPr/>
                    <a:lstStyle/>
                    <a:p>
                      <a:pPr marL="127000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5740" algn="ctr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</a:tr>
              <a:tr h="457326">
                <a:tc>
                  <a:txBody>
                    <a:bodyPr/>
                    <a:lstStyle/>
                    <a:p>
                      <a:pPr marL="143510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7490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5740" algn="ctr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</a:tr>
              <a:tr h="403376">
                <a:tc>
                  <a:txBody>
                    <a:bodyPr/>
                    <a:lstStyle/>
                    <a:p>
                      <a:pPr marL="143510">
                        <a:lnSpc>
                          <a:spcPts val="2875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00">
                        <a:lnSpc>
                          <a:spcPts val="2875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75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5740" algn="ctr">
                        <a:lnSpc>
                          <a:spcPts val="2875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40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240" y="6514454"/>
            <a:ext cx="532765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1100" i="1" spc="5" dirty="0">
                <a:latin typeface="Perpetua"/>
                <a:cs typeface="Perpetua"/>
              </a:rPr>
              <a:t>D</a:t>
            </a:r>
            <a:r>
              <a:rPr sz="1100" i="1" dirty="0">
                <a:latin typeface="Perpetua"/>
                <a:cs typeface="Perpetua"/>
              </a:rPr>
              <a:t>ep</a:t>
            </a:r>
            <a:r>
              <a:rPr sz="1100" i="1" spc="-10" dirty="0">
                <a:latin typeface="Perpetua"/>
                <a:cs typeface="Perpetua"/>
              </a:rPr>
              <a:t>a</a:t>
            </a:r>
            <a:r>
              <a:rPr sz="1100" i="1" dirty="0">
                <a:latin typeface="Perpetua"/>
                <a:cs typeface="Perpetua"/>
              </a:rPr>
              <a:t>rt</a:t>
            </a:r>
            <a:r>
              <a:rPr sz="1100" i="1" spc="5" dirty="0">
                <a:latin typeface="Perpetua"/>
                <a:cs typeface="Perpetua"/>
              </a:rPr>
              <a:t>m</a:t>
            </a:r>
            <a:r>
              <a:rPr sz="1100" i="1" dirty="0">
                <a:latin typeface="Perpetua"/>
                <a:cs typeface="Perpetua"/>
              </a:rPr>
              <a:t>ent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1200" y="6514454"/>
            <a:ext cx="306070" cy="161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25"/>
              </a:lnSpc>
            </a:pPr>
            <a:r>
              <a:rPr sz="1100" i="1" dirty="0">
                <a:latin typeface="Perpetua"/>
                <a:cs typeface="Perpetua"/>
              </a:rPr>
              <a:t>of</a:t>
            </a:r>
            <a:r>
              <a:rPr sz="1100" i="1" spc="-95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 dirty="0">
              <a:latin typeface="Perpetua"/>
              <a:cs typeface="Perpet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40" y="752602"/>
            <a:ext cx="5074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dirty="0">
                <a:latin typeface="Perpetua"/>
                <a:cs typeface="Perpetua"/>
              </a:rPr>
              <a:t>1.	</a:t>
            </a:r>
            <a:r>
              <a:rPr sz="2400" spc="5" dirty="0">
                <a:latin typeface="Perpetua"/>
                <a:cs typeface="Perpetua"/>
              </a:rPr>
              <a:t>Construct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10" dirty="0">
                <a:latin typeface="Perpetua"/>
                <a:cs typeface="Perpetua"/>
              </a:rPr>
              <a:t>truth </a:t>
            </a:r>
            <a:r>
              <a:rPr sz="2400" spc="-10" dirty="0">
                <a:latin typeface="Perpetua"/>
                <a:cs typeface="Perpetua"/>
              </a:rPr>
              <a:t>table </a:t>
            </a:r>
            <a:r>
              <a:rPr sz="2400" dirty="0">
                <a:latin typeface="Perpetua"/>
                <a:cs typeface="Perpetua"/>
              </a:rPr>
              <a:t>for ~(p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254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q)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340" y="3648836"/>
            <a:ext cx="5504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3070" algn="l"/>
              </a:tabLst>
            </a:pPr>
            <a:r>
              <a:rPr sz="2400" dirty="0">
                <a:latin typeface="Perpetua"/>
                <a:cs typeface="Perpetua"/>
              </a:rPr>
              <a:t>2.	</a:t>
            </a:r>
            <a:r>
              <a:rPr sz="2400" spc="5" dirty="0">
                <a:latin typeface="Perpetua"/>
                <a:cs typeface="Perpetua"/>
              </a:rPr>
              <a:t>Construct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5" dirty="0">
                <a:latin typeface="Perpetua"/>
                <a:cs typeface="Perpetua"/>
              </a:rPr>
              <a:t>truth </a:t>
            </a:r>
            <a:r>
              <a:rPr sz="2400" spc="-10" dirty="0">
                <a:latin typeface="Perpetua"/>
                <a:cs typeface="Perpetua"/>
              </a:rPr>
              <a:t>table </a:t>
            </a:r>
            <a:r>
              <a:rPr sz="2400" dirty="0">
                <a:latin typeface="Perpetua"/>
                <a:cs typeface="Perpetua"/>
              </a:rPr>
              <a:t>for p OR (p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3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q)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76200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81000" y="4114800"/>
          <a:ext cx="6627493" cy="2336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869"/>
                <a:gridCol w="1020444"/>
                <a:gridCol w="2048510"/>
                <a:gridCol w="2693670"/>
              </a:tblGrid>
              <a:tr h="5652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24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4861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24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24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p </a:t>
                      </a:r>
                      <a:r>
                        <a:rPr sz="24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400" b="1" spc="-140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244475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24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p OR (p </a:t>
                      </a:r>
                      <a:r>
                        <a:rPr sz="24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400" b="1" spc="-17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25730" marB="0">
                    <a:solidFill>
                      <a:srgbClr val="FFF1F5"/>
                    </a:solidFill>
                  </a:tcPr>
                </a:tc>
              </a:tr>
              <a:tr h="50024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6921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6921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6921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244475"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69215" marB="0">
                    <a:solidFill>
                      <a:srgbClr val="FFF1F5"/>
                    </a:solidFill>
                  </a:tcPr>
                </a:tc>
              </a:tr>
              <a:tr h="423562">
                <a:tc>
                  <a:txBody>
                    <a:bodyPr/>
                    <a:lstStyle/>
                    <a:p>
                      <a:pPr algn="ctr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90805" algn="ctr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244475" algn="ctr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FFF1F5"/>
                    </a:solidFill>
                  </a:tcPr>
                </a:tc>
              </a:tr>
              <a:tr h="423562">
                <a:tc>
                  <a:txBody>
                    <a:bodyPr/>
                    <a:lstStyle/>
                    <a:p>
                      <a:pPr algn="ctr">
                        <a:lnSpc>
                          <a:spcPts val="2875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46710">
                        <a:lnSpc>
                          <a:spcPts val="2875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90805" algn="ctr">
                        <a:lnSpc>
                          <a:spcPts val="2875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</a:p>
                  </a:txBody>
                  <a:tcPr marL="0" marR="0" marT="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245745" algn="ctr">
                        <a:lnSpc>
                          <a:spcPts val="2875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FFF1F5"/>
                    </a:solidFill>
                  </a:tcPr>
                </a:tc>
              </a:tr>
              <a:tr h="423562">
                <a:tc>
                  <a:txBody>
                    <a:bodyPr/>
                    <a:lstStyle/>
                    <a:p>
                      <a:pPr algn="ctr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90805" algn="ctr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245745" algn="ctr">
                        <a:lnSpc>
                          <a:spcPts val="2870"/>
                        </a:lnSpc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</a:p>
                  </a:txBody>
                  <a:tcPr marL="0" marR="0" marT="0" marB="0">
                    <a:solidFill>
                      <a:srgbClr val="FF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140" y="900430"/>
            <a:ext cx="73767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Construct</a:t>
            </a:r>
            <a:r>
              <a:rPr sz="2600" spc="-305" dirty="0"/>
              <a:t> </a:t>
            </a:r>
            <a:r>
              <a:rPr sz="2600" spc="-30" dirty="0"/>
              <a:t>Truth</a:t>
            </a:r>
            <a:r>
              <a:rPr sz="2600" spc="-310" dirty="0"/>
              <a:t> </a:t>
            </a:r>
            <a:r>
              <a:rPr sz="2600" spc="-70" dirty="0"/>
              <a:t>Table</a:t>
            </a:r>
            <a:r>
              <a:rPr sz="2600" spc="-10" dirty="0"/>
              <a:t> </a:t>
            </a:r>
            <a:r>
              <a:rPr sz="2600" spc="-5" dirty="0"/>
              <a:t>for</a:t>
            </a:r>
            <a:r>
              <a:rPr sz="2600" spc="20" dirty="0"/>
              <a:t> </a:t>
            </a:r>
            <a:r>
              <a:rPr sz="2600" dirty="0"/>
              <a:t>the</a:t>
            </a:r>
            <a:r>
              <a:rPr sz="2600" spc="-10" dirty="0"/>
              <a:t> </a:t>
            </a:r>
            <a:r>
              <a:rPr sz="2600" spc="-5" dirty="0"/>
              <a:t>proposition </a:t>
            </a:r>
            <a:r>
              <a:rPr sz="2600" dirty="0"/>
              <a:t>:</a:t>
            </a:r>
            <a:r>
              <a:rPr sz="2600" spc="-95" dirty="0"/>
              <a:t> </a:t>
            </a:r>
            <a:r>
              <a:rPr sz="2600" dirty="0"/>
              <a:t>~p</a:t>
            </a:r>
            <a:r>
              <a:rPr sz="2600" spc="-200" dirty="0"/>
              <a:t> </a:t>
            </a:r>
            <a:r>
              <a:rPr sz="2600" spc="-5" dirty="0"/>
              <a:t>AND</a:t>
            </a:r>
            <a:r>
              <a:rPr sz="2600" spc="10" dirty="0"/>
              <a:t> </a:t>
            </a:r>
            <a:r>
              <a:rPr sz="2600" dirty="0"/>
              <a:t>(p</a:t>
            </a:r>
            <a:r>
              <a:rPr sz="2600" spc="5" dirty="0"/>
              <a:t> </a:t>
            </a:r>
            <a:r>
              <a:rPr sz="2600" dirty="0"/>
              <a:t>OR q)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231140" y="1845691"/>
            <a:ext cx="121475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latin typeface="Perpetua"/>
                <a:cs typeface="Perpetua"/>
              </a:rPr>
              <a:t>Solution</a:t>
            </a:r>
            <a:endParaRPr sz="2600">
              <a:latin typeface="Perpetua"/>
              <a:cs typeface="Perpetu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400" y="2584450"/>
          <a:ext cx="7390129" cy="2590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7535"/>
                <a:gridCol w="675640"/>
                <a:gridCol w="941705"/>
                <a:gridCol w="1889124"/>
                <a:gridCol w="3286125"/>
              </a:tblGrid>
              <a:tr h="508544"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800" b="1" spc="-10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~p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8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p </a:t>
                      </a:r>
                      <a:r>
                        <a:rPr sz="2800" b="1" spc="-10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800" b="1" spc="-170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28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~p </a:t>
                      </a:r>
                      <a:r>
                        <a:rPr sz="2800" b="1" spc="-10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28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(p OR</a:t>
                      </a:r>
                      <a:r>
                        <a:rPr sz="2800" b="1" spc="-15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q)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571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FEDFF"/>
                    </a:solidFill>
                  </a:tcPr>
                </a:tc>
              </a:tr>
              <a:tr h="532458">
                <a:tc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T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508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T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508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F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508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T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508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F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5080" marB="0">
                    <a:solidFill>
                      <a:srgbClr val="DFEDFF"/>
                    </a:solidFill>
                  </a:tcPr>
                </a:tc>
              </a:tr>
              <a:tr h="518035">
                <a:tc>
                  <a:txBody>
                    <a:bodyPr/>
                    <a:lstStyle/>
                    <a:p>
                      <a:pPr marL="198120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T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F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F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T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F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</a:tr>
              <a:tr h="518525">
                <a:tc>
                  <a:txBody>
                    <a:bodyPr/>
                    <a:lstStyle/>
                    <a:p>
                      <a:pPr marL="216535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F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198755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T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T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T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R="55880" algn="ctr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T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</a:tr>
              <a:tr h="513236">
                <a:tc>
                  <a:txBody>
                    <a:bodyPr/>
                    <a:lstStyle/>
                    <a:p>
                      <a:pPr marL="216535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F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F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T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F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ts val="3290"/>
                        </a:lnSpc>
                      </a:pPr>
                      <a:r>
                        <a:rPr sz="2800" dirty="0">
                          <a:latin typeface="Perpetua"/>
                          <a:cs typeface="Perpetua"/>
                        </a:rPr>
                        <a:t>F</a:t>
                      </a:r>
                      <a:endParaRPr sz="2800">
                        <a:latin typeface="Perpetua"/>
                        <a:cs typeface="Perpetua"/>
                      </a:endParaRPr>
                    </a:p>
                  </a:txBody>
                  <a:tcPr marL="0" marR="0" marT="0" marB="0">
                    <a:solidFill>
                      <a:srgbClr val="DFEDFF"/>
                    </a:solidFill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0"/>
            <a:ext cx="302260" cy="231775"/>
            <a:chOff x="0" y="0"/>
            <a:chExt cx="302260" cy="231775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76200" cy="76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152400" cy="19964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12"/>
              <a:ext cx="302260" cy="231775"/>
            </a:xfrm>
            <a:custGeom>
              <a:avLst/>
              <a:gdLst/>
              <a:ahLst/>
              <a:cxnLst/>
              <a:rect l="l" t="t" r="r" b="b"/>
              <a:pathLst>
                <a:path w="302260" h="231775">
                  <a:moveTo>
                    <a:pt x="302018" y="0"/>
                  </a:moveTo>
                  <a:lnTo>
                    <a:pt x="292823" y="0"/>
                  </a:lnTo>
                  <a:lnTo>
                    <a:pt x="292823" y="221538"/>
                  </a:lnTo>
                  <a:lnTo>
                    <a:pt x="0" y="221538"/>
                  </a:lnTo>
                  <a:lnTo>
                    <a:pt x="0" y="231216"/>
                  </a:lnTo>
                  <a:lnTo>
                    <a:pt x="292823" y="231216"/>
                  </a:lnTo>
                  <a:lnTo>
                    <a:pt x="302018" y="231216"/>
                  </a:lnTo>
                  <a:lnTo>
                    <a:pt x="3020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0"/>
              <a:ext cx="293370" cy="221615"/>
            </a:xfrm>
            <a:custGeom>
              <a:avLst/>
              <a:gdLst/>
              <a:ahLst/>
              <a:cxnLst/>
              <a:rect l="l" t="t" r="r" b="b"/>
              <a:pathLst>
                <a:path w="293370" h="221615">
                  <a:moveTo>
                    <a:pt x="292836" y="0"/>
                  </a:moveTo>
                  <a:lnTo>
                    <a:pt x="9601" y="0"/>
                  </a:lnTo>
                  <a:lnTo>
                    <a:pt x="0" y="0"/>
                  </a:lnTo>
                  <a:lnTo>
                    <a:pt x="0" y="221551"/>
                  </a:lnTo>
                  <a:lnTo>
                    <a:pt x="9601" y="221551"/>
                  </a:lnTo>
                  <a:lnTo>
                    <a:pt x="9601" y="9690"/>
                  </a:lnTo>
                  <a:lnTo>
                    <a:pt x="292836" y="9690"/>
                  </a:lnTo>
                  <a:lnTo>
                    <a:pt x="2928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601" y="9689"/>
              <a:ext cx="283845" cy="212090"/>
            </a:xfrm>
            <a:custGeom>
              <a:avLst/>
              <a:gdLst/>
              <a:ahLst/>
              <a:cxnLst/>
              <a:rect l="l" t="t" r="r" b="b"/>
              <a:pathLst>
                <a:path w="283845" h="212090">
                  <a:moveTo>
                    <a:pt x="283235" y="0"/>
                  </a:moveTo>
                  <a:lnTo>
                    <a:pt x="273621" y="0"/>
                  </a:lnTo>
                  <a:lnTo>
                    <a:pt x="273621" y="202171"/>
                  </a:lnTo>
                  <a:lnTo>
                    <a:pt x="0" y="202171"/>
                  </a:lnTo>
                  <a:lnTo>
                    <a:pt x="0" y="211861"/>
                  </a:lnTo>
                  <a:lnTo>
                    <a:pt x="273621" y="211861"/>
                  </a:lnTo>
                  <a:lnTo>
                    <a:pt x="283235" y="211861"/>
                  </a:lnTo>
                  <a:lnTo>
                    <a:pt x="283235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601" y="9702"/>
              <a:ext cx="273685" cy="202565"/>
            </a:xfrm>
            <a:custGeom>
              <a:avLst/>
              <a:gdLst/>
              <a:ahLst/>
              <a:cxnLst/>
              <a:rect l="l" t="t" r="r" b="b"/>
              <a:pathLst>
                <a:path w="273685" h="202565">
                  <a:moveTo>
                    <a:pt x="273621" y="0"/>
                  </a:moveTo>
                  <a:lnTo>
                    <a:pt x="9194" y="0"/>
                  </a:lnTo>
                  <a:lnTo>
                    <a:pt x="0" y="0"/>
                  </a:lnTo>
                  <a:lnTo>
                    <a:pt x="0" y="202158"/>
                  </a:lnTo>
                  <a:lnTo>
                    <a:pt x="9194" y="202158"/>
                  </a:lnTo>
                  <a:lnTo>
                    <a:pt x="9194" y="9677"/>
                  </a:lnTo>
                  <a:lnTo>
                    <a:pt x="273621" y="9677"/>
                  </a:lnTo>
                  <a:lnTo>
                    <a:pt x="273621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12"/>
              <a:ext cx="302260" cy="231775"/>
            </a:xfrm>
            <a:custGeom>
              <a:avLst/>
              <a:gdLst/>
              <a:ahLst/>
              <a:cxnLst/>
              <a:rect l="l" t="t" r="r" b="b"/>
              <a:pathLst>
                <a:path w="302260" h="231775">
                  <a:moveTo>
                    <a:pt x="302018" y="0"/>
                  </a:moveTo>
                  <a:lnTo>
                    <a:pt x="292823" y="0"/>
                  </a:lnTo>
                  <a:lnTo>
                    <a:pt x="292823" y="221538"/>
                  </a:lnTo>
                  <a:lnTo>
                    <a:pt x="0" y="221538"/>
                  </a:lnTo>
                  <a:lnTo>
                    <a:pt x="0" y="231216"/>
                  </a:lnTo>
                  <a:lnTo>
                    <a:pt x="292823" y="231216"/>
                  </a:lnTo>
                  <a:lnTo>
                    <a:pt x="302018" y="231216"/>
                  </a:lnTo>
                  <a:lnTo>
                    <a:pt x="3020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0"/>
              <a:ext cx="293370" cy="221615"/>
            </a:xfrm>
            <a:custGeom>
              <a:avLst/>
              <a:gdLst/>
              <a:ahLst/>
              <a:cxnLst/>
              <a:rect l="l" t="t" r="r" b="b"/>
              <a:pathLst>
                <a:path w="293370" h="221615">
                  <a:moveTo>
                    <a:pt x="292836" y="0"/>
                  </a:moveTo>
                  <a:lnTo>
                    <a:pt x="9601" y="0"/>
                  </a:lnTo>
                  <a:lnTo>
                    <a:pt x="0" y="0"/>
                  </a:lnTo>
                  <a:lnTo>
                    <a:pt x="0" y="221551"/>
                  </a:lnTo>
                  <a:lnTo>
                    <a:pt x="9601" y="221551"/>
                  </a:lnTo>
                  <a:lnTo>
                    <a:pt x="9601" y="9690"/>
                  </a:lnTo>
                  <a:lnTo>
                    <a:pt x="292836" y="9690"/>
                  </a:lnTo>
                  <a:lnTo>
                    <a:pt x="2928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01" y="9689"/>
              <a:ext cx="283845" cy="212090"/>
            </a:xfrm>
            <a:custGeom>
              <a:avLst/>
              <a:gdLst/>
              <a:ahLst/>
              <a:cxnLst/>
              <a:rect l="l" t="t" r="r" b="b"/>
              <a:pathLst>
                <a:path w="283845" h="212090">
                  <a:moveTo>
                    <a:pt x="283235" y="0"/>
                  </a:moveTo>
                  <a:lnTo>
                    <a:pt x="273621" y="0"/>
                  </a:lnTo>
                  <a:lnTo>
                    <a:pt x="273621" y="202171"/>
                  </a:lnTo>
                  <a:lnTo>
                    <a:pt x="0" y="202171"/>
                  </a:lnTo>
                  <a:lnTo>
                    <a:pt x="0" y="211861"/>
                  </a:lnTo>
                  <a:lnTo>
                    <a:pt x="273621" y="211861"/>
                  </a:lnTo>
                  <a:lnTo>
                    <a:pt x="283235" y="211861"/>
                  </a:lnTo>
                  <a:lnTo>
                    <a:pt x="283235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601" y="9702"/>
              <a:ext cx="273685" cy="202565"/>
            </a:xfrm>
            <a:custGeom>
              <a:avLst/>
              <a:gdLst/>
              <a:ahLst/>
              <a:cxnLst/>
              <a:rect l="l" t="t" r="r" b="b"/>
              <a:pathLst>
                <a:path w="273685" h="202565">
                  <a:moveTo>
                    <a:pt x="273621" y="0"/>
                  </a:moveTo>
                  <a:lnTo>
                    <a:pt x="9194" y="0"/>
                  </a:lnTo>
                  <a:lnTo>
                    <a:pt x="0" y="0"/>
                  </a:lnTo>
                  <a:lnTo>
                    <a:pt x="0" y="202158"/>
                  </a:lnTo>
                  <a:lnTo>
                    <a:pt x="9194" y="202158"/>
                  </a:lnTo>
                  <a:lnTo>
                    <a:pt x="9194" y="9677"/>
                  </a:lnTo>
                  <a:lnTo>
                    <a:pt x="273621" y="9677"/>
                  </a:lnTo>
                  <a:lnTo>
                    <a:pt x="273621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12"/>
              <a:ext cx="302260" cy="231775"/>
            </a:xfrm>
            <a:custGeom>
              <a:avLst/>
              <a:gdLst/>
              <a:ahLst/>
              <a:cxnLst/>
              <a:rect l="l" t="t" r="r" b="b"/>
              <a:pathLst>
                <a:path w="302260" h="231775">
                  <a:moveTo>
                    <a:pt x="302018" y="0"/>
                  </a:moveTo>
                  <a:lnTo>
                    <a:pt x="292823" y="0"/>
                  </a:lnTo>
                  <a:lnTo>
                    <a:pt x="292823" y="221538"/>
                  </a:lnTo>
                  <a:lnTo>
                    <a:pt x="0" y="221538"/>
                  </a:lnTo>
                  <a:lnTo>
                    <a:pt x="0" y="231216"/>
                  </a:lnTo>
                  <a:lnTo>
                    <a:pt x="292823" y="231216"/>
                  </a:lnTo>
                  <a:lnTo>
                    <a:pt x="302018" y="231216"/>
                  </a:lnTo>
                  <a:lnTo>
                    <a:pt x="3020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0"/>
              <a:ext cx="293370" cy="221615"/>
            </a:xfrm>
            <a:custGeom>
              <a:avLst/>
              <a:gdLst/>
              <a:ahLst/>
              <a:cxnLst/>
              <a:rect l="l" t="t" r="r" b="b"/>
              <a:pathLst>
                <a:path w="293370" h="221615">
                  <a:moveTo>
                    <a:pt x="292836" y="0"/>
                  </a:moveTo>
                  <a:lnTo>
                    <a:pt x="9601" y="0"/>
                  </a:lnTo>
                  <a:lnTo>
                    <a:pt x="0" y="0"/>
                  </a:lnTo>
                  <a:lnTo>
                    <a:pt x="0" y="221551"/>
                  </a:lnTo>
                  <a:lnTo>
                    <a:pt x="9601" y="221551"/>
                  </a:lnTo>
                  <a:lnTo>
                    <a:pt x="9601" y="9690"/>
                  </a:lnTo>
                  <a:lnTo>
                    <a:pt x="292836" y="9690"/>
                  </a:lnTo>
                  <a:lnTo>
                    <a:pt x="2928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601" y="9689"/>
              <a:ext cx="283845" cy="212090"/>
            </a:xfrm>
            <a:custGeom>
              <a:avLst/>
              <a:gdLst/>
              <a:ahLst/>
              <a:cxnLst/>
              <a:rect l="l" t="t" r="r" b="b"/>
              <a:pathLst>
                <a:path w="283845" h="212090">
                  <a:moveTo>
                    <a:pt x="283235" y="0"/>
                  </a:moveTo>
                  <a:lnTo>
                    <a:pt x="273621" y="0"/>
                  </a:lnTo>
                  <a:lnTo>
                    <a:pt x="273621" y="202171"/>
                  </a:lnTo>
                  <a:lnTo>
                    <a:pt x="0" y="202171"/>
                  </a:lnTo>
                  <a:lnTo>
                    <a:pt x="0" y="211861"/>
                  </a:lnTo>
                  <a:lnTo>
                    <a:pt x="273621" y="211861"/>
                  </a:lnTo>
                  <a:lnTo>
                    <a:pt x="283235" y="211861"/>
                  </a:lnTo>
                  <a:lnTo>
                    <a:pt x="283235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01" y="9702"/>
              <a:ext cx="273685" cy="202565"/>
            </a:xfrm>
            <a:custGeom>
              <a:avLst/>
              <a:gdLst/>
              <a:ahLst/>
              <a:cxnLst/>
              <a:rect l="l" t="t" r="r" b="b"/>
              <a:pathLst>
                <a:path w="273685" h="202565">
                  <a:moveTo>
                    <a:pt x="273621" y="0"/>
                  </a:moveTo>
                  <a:lnTo>
                    <a:pt x="9194" y="0"/>
                  </a:lnTo>
                  <a:lnTo>
                    <a:pt x="0" y="0"/>
                  </a:lnTo>
                  <a:lnTo>
                    <a:pt x="0" y="202158"/>
                  </a:lnTo>
                  <a:lnTo>
                    <a:pt x="9194" y="202158"/>
                  </a:lnTo>
                  <a:lnTo>
                    <a:pt x="9194" y="9677"/>
                  </a:lnTo>
                  <a:lnTo>
                    <a:pt x="273621" y="9677"/>
                  </a:lnTo>
                  <a:lnTo>
                    <a:pt x="273621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12"/>
              <a:ext cx="302260" cy="231775"/>
            </a:xfrm>
            <a:custGeom>
              <a:avLst/>
              <a:gdLst/>
              <a:ahLst/>
              <a:cxnLst/>
              <a:rect l="l" t="t" r="r" b="b"/>
              <a:pathLst>
                <a:path w="302260" h="231775">
                  <a:moveTo>
                    <a:pt x="302018" y="0"/>
                  </a:moveTo>
                  <a:lnTo>
                    <a:pt x="292823" y="0"/>
                  </a:lnTo>
                  <a:lnTo>
                    <a:pt x="292823" y="221538"/>
                  </a:lnTo>
                  <a:lnTo>
                    <a:pt x="0" y="221538"/>
                  </a:lnTo>
                  <a:lnTo>
                    <a:pt x="0" y="231216"/>
                  </a:lnTo>
                  <a:lnTo>
                    <a:pt x="292823" y="231216"/>
                  </a:lnTo>
                  <a:lnTo>
                    <a:pt x="302018" y="231216"/>
                  </a:lnTo>
                  <a:lnTo>
                    <a:pt x="3020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0"/>
              <a:ext cx="293370" cy="221615"/>
            </a:xfrm>
            <a:custGeom>
              <a:avLst/>
              <a:gdLst/>
              <a:ahLst/>
              <a:cxnLst/>
              <a:rect l="l" t="t" r="r" b="b"/>
              <a:pathLst>
                <a:path w="293370" h="221615">
                  <a:moveTo>
                    <a:pt x="292836" y="0"/>
                  </a:moveTo>
                  <a:lnTo>
                    <a:pt x="9601" y="0"/>
                  </a:lnTo>
                  <a:lnTo>
                    <a:pt x="0" y="0"/>
                  </a:lnTo>
                  <a:lnTo>
                    <a:pt x="0" y="221551"/>
                  </a:lnTo>
                  <a:lnTo>
                    <a:pt x="9601" y="221551"/>
                  </a:lnTo>
                  <a:lnTo>
                    <a:pt x="9601" y="9690"/>
                  </a:lnTo>
                  <a:lnTo>
                    <a:pt x="292836" y="9690"/>
                  </a:lnTo>
                  <a:lnTo>
                    <a:pt x="29283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601" y="9689"/>
              <a:ext cx="283845" cy="212090"/>
            </a:xfrm>
            <a:custGeom>
              <a:avLst/>
              <a:gdLst/>
              <a:ahLst/>
              <a:cxnLst/>
              <a:rect l="l" t="t" r="r" b="b"/>
              <a:pathLst>
                <a:path w="283845" h="212090">
                  <a:moveTo>
                    <a:pt x="283235" y="0"/>
                  </a:moveTo>
                  <a:lnTo>
                    <a:pt x="273621" y="0"/>
                  </a:lnTo>
                  <a:lnTo>
                    <a:pt x="273621" y="202171"/>
                  </a:lnTo>
                  <a:lnTo>
                    <a:pt x="0" y="202171"/>
                  </a:lnTo>
                  <a:lnTo>
                    <a:pt x="0" y="211861"/>
                  </a:lnTo>
                  <a:lnTo>
                    <a:pt x="273621" y="211861"/>
                  </a:lnTo>
                  <a:lnTo>
                    <a:pt x="283235" y="211861"/>
                  </a:lnTo>
                  <a:lnTo>
                    <a:pt x="283235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601" y="9702"/>
              <a:ext cx="273685" cy="202565"/>
            </a:xfrm>
            <a:custGeom>
              <a:avLst/>
              <a:gdLst/>
              <a:ahLst/>
              <a:cxnLst/>
              <a:rect l="l" t="t" r="r" b="b"/>
              <a:pathLst>
                <a:path w="273685" h="202565">
                  <a:moveTo>
                    <a:pt x="273621" y="0"/>
                  </a:moveTo>
                  <a:lnTo>
                    <a:pt x="9194" y="0"/>
                  </a:lnTo>
                  <a:lnTo>
                    <a:pt x="0" y="0"/>
                  </a:lnTo>
                  <a:lnTo>
                    <a:pt x="0" y="202158"/>
                  </a:lnTo>
                  <a:lnTo>
                    <a:pt x="9194" y="202158"/>
                  </a:lnTo>
                  <a:lnTo>
                    <a:pt x="9194" y="9677"/>
                  </a:lnTo>
                  <a:lnTo>
                    <a:pt x="273621" y="9677"/>
                  </a:lnTo>
                  <a:lnTo>
                    <a:pt x="273621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798" y="19368"/>
              <a:ext cx="264795" cy="193040"/>
            </a:xfrm>
            <a:custGeom>
              <a:avLst/>
              <a:gdLst/>
              <a:ahLst/>
              <a:cxnLst/>
              <a:rect l="l" t="t" r="r" b="b"/>
              <a:pathLst>
                <a:path w="264795" h="193040">
                  <a:moveTo>
                    <a:pt x="264429" y="0"/>
                  </a:moveTo>
                  <a:lnTo>
                    <a:pt x="0" y="0"/>
                  </a:lnTo>
                  <a:lnTo>
                    <a:pt x="0" y="192483"/>
                  </a:lnTo>
                  <a:lnTo>
                    <a:pt x="264429" y="192484"/>
                  </a:lnTo>
                  <a:lnTo>
                    <a:pt x="2644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41</a:t>
            </a:fld>
            <a:endParaRPr dirty="0"/>
          </a:p>
        </p:txBody>
      </p:sp>
      <p:sp>
        <p:nvSpPr>
          <p:cNvPr id="27" name="object 27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140" y="976630"/>
            <a:ext cx="62738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Construct the </a:t>
            </a:r>
            <a:r>
              <a:rPr sz="2600" spc="10" dirty="0"/>
              <a:t>truth </a:t>
            </a:r>
            <a:r>
              <a:rPr sz="2600" spc="-10" dirty="0"/>
              <a:t>table </a:t>
            </a:r>
            <a:r>
              <a:rPr sz="2600" spc="-5" dirty="0"/>
              <a:t>for~(p AND </a:t>
            </a:r>
            <a:r>
              <a:rPr sz="2600" dirty="0"/>
              <a:t>q)AND</a:t>
            </a:r>
            <a:r>
              <a:rPr sz="2600" spc="-195" dirty="0"/>
              <a:t> </a:t>
            </a:r>
            <a:r>
              <a:rPr sz="2600" dirty="0"/>
              <a:t>(~r).</a:t>
            </a:r>
            <a:endParaRPr sz="26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6082" y="2026538"/>
          <a:ext cx="7981949" cy="31988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4035"/>
                <a:gridCol w="666750"/>
                <a:gridCol w="610235"/>
                <a:gridCol w="1209040"/>
                <a:gridCol w="1597660"/>
                <a:gridCol w="1017904"/>
                <a:gridCol w="2346325"/>
              </a:tblGrid>
              <a:tr h="314558">
                <a:tc>
                  <a:txBody>
                    <a:bodyPr/>
                    <a:lstStyle/>
                    <a:p>
                      <a:pPr marL="127635">
                        <a:lnSpc>
                          <a:spcPts val="1964"/>
                        </a:lnSpc>
                      </a:pP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ts val="1964"/>
                        </a:lnSpc>
                      </a:pP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1964"/>
                        </a:lnSpc>
                      </a:pP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ts val="1964"/>
                        </a:lnSpc>
                      </a:pP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p </a:t>
                      </a:r>
                      <a:r>
                        <a:rPr sz="18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b="1" spc="-4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964"/>
                        </a:lnSpc>
                      </a:pP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~(p and</a:t>
                      </a:r>
                      <a:r>
                        <a:rPr sz="1800" b="1" spc="-4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0360">
                        <a:lnSpc>
                          <a:spcPts val="1964"/>
                        </a:lnSpc>
                      </a:pP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~r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9565" algn="ctr">
                        <a:lnSpc>
                          <a:spcPts val="1964"/>
                        </a:lnSpc>
                      </a:pP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~(Pand </a:t>
                      </a:r>
                      <a:r>
                        <a:rPr sz="18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q)and</a:t>
                      </a:r>
                      <a:r>
                        <a:rPr sz="1800" b="1" spc="-5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(~r)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526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R="8382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33020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20320" marB="0"/>
                </a:tc>
              </a:tr>
              <a:tr h="36588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838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3020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</a:tr>
              <a:tr h="365887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844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3020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</a:tr>
              <a:tr h="365759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844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295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</a:tr>
              <a:tr h="365635"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844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3020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</a:tr>
              <a:tr h="366125"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838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295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</a:tr>
              <a:tr h="365900"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844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9814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3020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</a:tr>
              <a:tr h="313867">
                <a:tc>
                  <a:txBody>
                    <a:bodyPr/>
                    <a:lstStyle/>
                    <a:p>
                      <a:pPr marL="13843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8445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2956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/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0" y="0"/>
            <a:ext cx="76200" cy="76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42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8627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Order </a:t>
            </a:r>
            <a:r>
              <a:rPr sz="4000" spc="-5" dirty="0"/>
              <a:t>of</a:t>
            </a:r>
            <a:r>
              <a:rPr sz="4000" spc="-85" dirty="0"/>
              <a:t> </a:t>
            </a:r>
            <a:r>
              <a:rPr sz="4000" spc="-5" dirty="0"/>
              <a:t>precedence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707815" y="1896884"/>
            <a:ext cx="7140143" cy="2867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590260"/>
            <a:ext cx="3395472" cy="3147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52031" y="2507330"/>
            <a:ext cx="7103326" cy="35358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632586"/>
            <a:ext cx="68814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Computing </a:t>
            </a:r>
            <a:r>
              <a:rPr sz="4000" spc="15" dirty="0"/>
              <a:t>truth </a:t>
            </a:r>
            <a:r>
              <a:rPr sz="4000" spc="-105" dirty="0"/>
              <a:t>Table </a:t>
            </a:r>
            <a:r>
              <a:rPr sz="4000" dirty="0"/>
              <a:t>of</a:t>
            </a:r>
            <a:r>
              <a:rPr sz="4000" spc="-425" dirty="0"/>
              <a:t> </a:t>
            </a:r>
            <a:r>
              <a:rPr sz="4000" spc="-5" dirty="0"/>
              <a:t>expressions</a:t>
            </a:r>
            <a:endParaRPr sz="4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81686"/>
            <a:ext cx="1629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Ex</a:t>
            </a:r>
            <a:r>
              <a:rPr sz="4000" dirty="0"/>
              <a:t>a</a:t>
            </a:r>
            <a:r>
              <a:rPr sz="4000" spc="-10" dirty="0"/>
              <a:t>m</a:t>
            </a:r>
            <a:r>
              <a:rPr sz="4000" dirty="0"/>
              <a:t>p</a:t>
            </a:r>
            <a:r>
              <a:rPr sz="4000" spc="-10" dirty="0"/>
              <a:t>le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59740" y="912045"/>
            <a:ext cx="8380095" cy="5628640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2600" b="1" i="1" dirty="0">
                <a:latin typeface="Perpetua"/>
                <a:cs typeface="Perpetua"/>
              </a:rPr>
              <a:t>P and not (Q or</a:t>
            </a:r>
            <a:r>
              <a:rPr sz="2600" b="1" i="1" spc="-50" dirty="0">
                <a:latin typeface="Perpetua"/>
                <a:cs typeface="Perpetua"/>
              </a:rPr>
              <a:t> </a:t>
            </a:r>
            <a:r>
              <a:rPr sz="2600" b="1" i="1" spc="5" dirty="0">
                <a:latin typeface="Perpetua"/>
                <a:cs typeface="Perpetua"/>
              </a:rPr>
              <a:t>R)</a:t>
            </a:r>
            <a:endParaRPr sz="2600" dirty="0">
              <a:latin typeface="Perpetua"/>
              <a:cs typeface="Perpetua"/>
            </a:endParaRPr>
          </a:p>
          <a:p>
            <a:pPr marL="524510" marR="6350" indent="-512445">
              <a:lnSpc>
                <a:spcPts val="2810"/>
              </a:lnSpc>
              <a:spcBef>
                <a:spcPts val="64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logical </a:t>
            </a:r>
            <a:r>
              <a:rPr sz="2600" spc="-5" dirty="0">
                <a:latin typeface="Perpetua"/>
                <a:cs typeface="Perpetua"/>
              </a:rPr>
              <a:t>variables </a:t>
            </a:r>
            <a:r>
              <a:rPr sz="2600" spc="-220" dirty="0">
                <a:latin typeface="Perpetua"/>
                <a:cs typeface="Perpetua"/>
              </a:rPr>
              <a:t>P, </a:t>
            </a:r>
            <a:r>
              <a:rPr sz="2600" spc="-55" dirty="0">
                <a:latin typeface="Perpetua"/>
                <a:cs typeface="Perpetua"/>
              </a:rPr>
              <a:t>Q,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R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only </a:t>
            </a:r>
            <a:r>
              <a:rPr sz="2600" spc="-5" dirty="0">
                <a:latin typeface="Perpetua"/>
                <a:cs typeface="Perpetua"/>
              </a:rPr>
              <a:t>variables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5" dirty="0">
                <a:latin typeface="Perpetua"/>
                <a:cs typeface="Perpetua"/>
              </a:rPr>
              <a:t>occur  and </a:t>
            </a:r>
            <a:r>
              <a:rPr sz="2600" dirty="0">
                <a:latin typeface="Perpetua"/>
                <a:cs typeface="Perpetua"/>
              </a:rPr>
              <a:t>so </a:t>
            </a:r>
            <a:r>
              <a:rPr sz="2600" spc="-5" dirty="0">
                <a:latin typeface="Perpetua"/>
                <a:cs typeface="Perpetua"/>
              </a:rPr>
              <a:t>our list </a:t>
            </a:r>
            <a:r>
              <a:rPr sz="2600" dirty="0">
                <a:latin typeface="Perpetua"/>
                <a:cs typeface="Perpetua"/>
              </a:rPr>
              <a:t>contains </a:t>
            </a:r>
            <a:r>
              <a:rPr sz="2600" spc="-20" dirty="0">
                <a:latin typeface="Perpetua"/>
                <a:cs typeface="Perpetua"/>
              </a:rPr>
              <a:t>only </a:t>
            </a:r>
            <a:r>
              <a:rPr sz="2600" spc="-5" dirty="0">
                <a:latin typeface="Perpetua"/>
                <a:cs typeface="Perpetua"/>
              </a:rPr>
              <a:t>those three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variables</a:t>
            </a:r>
            <a:endParaRPr sz="2600" dirty="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3450" dirty="0">
              <a:latin typeface="Perpetua"/>
              <a:cs typeface="Perpetua"/>
            </a:endParaRPr>
          </a:p>
          <a:p>
            <a:pPr marL="524510" marR="5080" indent="-512445">
              <a:lnSpc>
                <a:spcPts val="2810"/>
              </a:lnSpc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i="1" spc="-90" dirty="0">
                <a:latin typeface="Perpetua"/>
                <a:cs typeface="Perpetua"/>
              </a:rPr>
              <a:t>We </a:t>
            </a:r>
            <a:r>
              <a:rPr sz="2600" i="1" spc="-15" dirty="0">
                <a:latin typeface="Perpetua"/>
                <a:cs typeface="Perpetua"/>
              </a:rPr>
              <a:t>now </a:t>
            </a:r>
            <a:r>
              <a:rPr sz="2600" i="1" dirty="0">
                <a:latin typeface="Perpetua"/>
                <a:cs typeface="Perpetua"/>
              </a:rPr>
              <a:t>construct a truth </a:t>
            </a:r>
            <a:r>
              <a:rPr sz="2600" i="1" spc="-10" dirty="0">
                <a:latin typeface="Perpetua"/>
                <a:cs typeface="Perpetua"/>
              </a:rPr>
              <a:t>table that </a:t>
            </a:r>
            <a:r>
              <a:rPr sz="2600" i="1" dirty="0">
                <a:latin typeface="Perpetua"/>
                <a:cs typeface="Perpetua"/>
              </a:rPr>
              <a:t>has </a:t>
            </a:r>
            <a:r>
              <a:rPr sz="2600" i="1" spc="-5" dirty="0">
                <a:latin typeface="Perpetua"/>
                <a:cs typeface="Perpetua"/>
              </a:rPr>
              <a:t>one column </a:t>
            </a:r>
            <a:r>
              <a:rPr sz="2600" i="1" spc="-15" dirty="0">
                <a:latin typeface="Perpetua"/>
                <a:cs typeface="Perpetua"/>
              </a:rPr>
              <a:t>for </a:t>
            </a:r>
            <a:r>
              <a:rPr sz="2600" i="1" spc="-5" dirty="0">
                <a:latin typeface="Perpetua"/>
                <a:cs typeface="Perpetua"/>
              </a:rPr>
              <a:t>each of </a:t>
            </a:r>
            <a:r>
              <a:rPr sz="2600" i="1" dirty="0">
                <a:latin typeface="Perpetua"/>
                <a:cs typeface="Perpetua"/>
              </a:rPr>
              <a:t>these  </a:t>
            </a:r>
            <a:r>
              <a:rPr sz="2600" i="1" spc="-10" dirty="0">
                <a:latin typeface="Perpetua"/>
                <a:cs typeface="Perpetua"/>
              </a:rPr>
              <a:t>variables</a:t>
            </a:r>
            <a:endParaRPr sz="2600" dirty="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AutoNum type="arabicPeriod"/>
            </a:pPr>
            <a:endParaRPr sz="3150" dirty="0">
              <a:latin typeface="Perpetua"/>
              <a:cs typeface="Perpetua"/>
            </a:endParaRPr>
          </a:p>
          <a:p>
            <a:pPr marL="527685" indent="-515620" algn="just">
              <a:lnSpc>
                <a:spcPct val="100000"/>
              </a:lnSpc>
              <a:buSzPct val="84615"/>
              <a:buAutoNum type="arabicPeriod"/>
              <a:tabLst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final column </a:t>
            </a:r>
            <a:r>
              <a:rPr sz="2600" dirty="0">
                <a:latin typeface="Perpetua"/>
                <a:cs typeface="Perpetua"/>
              </a:rPr>
              <a:t>corresponds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whole</a:t>
            </a:r>
            <a:r>
              <a:rPr sz="2600" spc="-3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proposition</a:t>
            </a:r>
            <a:endParaRPr sz="2600" dirty="0">
              <a:latin typeface="Perpetua"/>
              <a:cs typeface="Perpetua"/>
            </a:endParaRPr>
          </a:p>
          <a:p>
            <a:pPr marL="800735" marR="6350" lvl="1" indent="-515620" algn="just">
              <a:lnSpc>
                <a:spcPct val="9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801370" algn="l"/>
              </a:tabLst>
            </a:pPr>
            <a:r>
              <a:rPr sz="2600" spc="-5" dirty="0">
                <a:latin typeface="Perpetua"/>
                <a:cs typeface="Perpetua"/>
              </a:rPr>
              <a:t>In </a:t>
            </a:r>
            <a:r>
              <a:rPr sz="2600" dirty="0">
                <a:latin typeface="Perpetua"/>
                <a:cs typeface="Perpetua"/>
              </a:rPr>
              <a:t>order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spc="5" dirty="0">
                <a:latin typeface="Perpetua"/>
                <a:cs typeface="Perpetua"/>
              </a:rPr>
              <a:t>determine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final column </a:t>
            </a:r>
            <a:r>
              <a:rPr sz="2600" spc="-10" dirty="0">
                <a:latin typeface="Perpetua"/>
                <a:cs typeface="Perpetua"/>
              </a:rPr>
              <a:t>values </a:t>
            </a:r>
            <a:r>
              <a:rPr sz="2600" spc="-5" dirty="0">
                <a:latin typeface="Perpetua"/>
                <a:cs typeface="Perpetua"/>
              </a:rPr>
              <a:t>include  </a:t>
            </a:r>
            <a:r>
              <a:rPr sz="2600" dirty="0">
                <a:latin typeface="Perpetua"/>
                <a:cs typeface="Perpetua"/>
              </a:rPr>
              <a:t>temporary columns </a:t>
            </a:r>
            <a:r>
              <a:rPr sz="2600" spc="-5" dirty="0">
                <a:latin typeface="Perpetua"/>
                <a:cs typeface="Perpetua"/>
              </a:rPr>
              <a:t>for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logical operators </a:t>
            </a:r>
            <a:r>
              <a:rPr sz="2600" spc="-5" dirty="0">
                <a:latin typeface="Perpetua"/>
                <a:cs typeface="Perpetua"/>
              </a:rPr>
              <a:t>to  </a:t>
            </a:r>
            <a:r>
              <a:rPr sz="2600" spc="-20" dirty="0">
                <a:latin typeface="Perpetua"/>
                <a:cs typeface="Perpetua"/>
              </a:rPr>
              <a:t>evaluate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value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whole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proposition</a:t>
            </a:r>
            <a:endParaRPr sz="2600" dirty="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3150" dirty="0">
              <a:latin typeface="Perpetua"/>
              <a:cs typeface="Perpetua"/>
            </a:endParaRPr>
          </a:p>
          <a:p>
            <a:pPr marL="800735" marR="5080" lvl="1" indent="-515620" algn="just">
              <a:lnSpc>
                <a:spcPts val="2810"/>
              </a:lnSpc>
              <a:buSzPct val="84615"/>
              <a:buFont typeface="Arial"/>
              <a:buChar char="•"/>
              <a:tabLst>
                <a:tab pos="801370" algn="l"/>
              </a:tabLst>
            </a:pPr>
            <a:r>
              <a:rPr sz="2600" spc="-5" dirty="0">
                <a:latin typeface="Perpetua"/>
                <a:cs typeface="Perpetua"/>
              </a:rPr>
              <a:t>These </a:t>
            </a:r>
            <a:r>
              <a:rPr sz="2600" spc="5" dirty="0">
                <a:latin typeface="Perpetua"/>
                <a:cs typeface="Perpetua"/>
              </a:rPr>
              <a:t>subparts </a:t>
            </a:r>
            <a:r>
              <a:rPr sz="2600" spc="-5" dirty="0">
                <a:latin typeface="Perpetua"/>
                <a:cs typeface="Perpetua"/>
              </a:rPr>
              <a:t>should </a:t>
            </a:r>
            <a:r>
              <a:rPr sz="2600" spc="-10" dirty="0">
                <a:latin typeface="Perpetua"/>
                <a:cs typeface="Perpetua"/>
              </a:rPr>
              <a:t>be </a:t>
            </a:r>
            <a:r>
              <a:rPr sz="2600" dirty="0">
                <a:latin typeface="Perpetua"/>
                <a:cs typeface="Perpetua"/>
              </a:rPr>
              <a:t>arranged according </a:t>
            </a:r>
            <a:r>
              <a:rPr sz="2600" spc="-5" dirty="0">
                <a:latin typeface="Perpetua"/>
                <a:cs typeface="Perpetua"/>
              </a:rPr>
              <a:t>to </a:t>
            </a:r>
            <a:r>
              <a:rPr sz="2600" dirty="0">
                <a:latin typeface="Perpetua"/>
                <a:cs typeface="Perpetua"/>
              </a:rPr>
              <a:t>the order in  </a:t>
            </a:r>
            <a:r>
              <a:rPr sz="2600" spc="5" dirty="0">
                <a:latin typeface="Perpetua"/>
                <a:cs typeface="Perpetua"/>
              </a:rPr>
              <a:t>which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operator </a:t>
            </a:r>
            <a:r>
              <a:rPr sz="2600" dirty="0">
                <a:latin typeface="Perpetua"/>
                <a:cs typeface="Perpetua"/>
              </a:rPr>
              <a:t>will </a:t>
            </a:r>
            <a:r>
              <a:rPr sz="2600" spc="-5" dirty="0">
                <a:latin typeface="Perpetua"/>
                <a:cs typeface="Perpetua"/>
              </a:rPr>
              <a:t>be </a:t>
            </a:r>
            <a:r>
              <a:rPr sz="2600" spc="-15" dirty="0">
                <a:latin typeface="Perpetua"/>
                <a:cs typeface="Perpetua"/>
              </a:rPr>
              <a:t>evaluated</a:t>
            </a:r>
            <a:endParaRPr sz="2600" dirty="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040" y="519430"/>
            <a:ext cx="8277225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5785" indent="-5156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565785" algn="l"/>
                <a:tab pos="566420" algn="l"/>
              </a:tabLst>
            </a:pPr>
            <a:r>
              <a:rPr sz="2600" i="1" spc="-90" dirty="0">
                <a:latin typeface="Perpetua"/>
                <a:cs typeface="Perpetua"/>
              </a:rPr>
              <a:t>We </a:t>
            </a:r>
            <a:r>
              <a:rPr sz="2600" i="1" spc="-15" dirty="0">
                <a:latin typeface="Perpetua"/>
                <a:cs typeface="Perpetua"/>
              </a:rPr>
              <a:t>now </a:t>
            </a:r>
            <a:r>
              <a:rPr sz="2600" i="1" dirty="0">
                <a:latin typeface="Perpetua"/>
                <a:cs typeface="Perpetua"/>
              </a:rPr>
              <a:t>construct 2</a:t>
            </a:r>
            <a:r>
              <a:rPr sz="2550" i="1" baseline="26143" dirty="0">
                <a:latin typeface="Perpetua"/>
                <a:cs typeface="Perpetua"/>
              </a:rPr>
              <a:t>3 </a:t>
            </a:r>
            <a:r>
              <a:rPr sz="2600" i="1" spc="-5" dirty="0">
                <a:latin typeface="Perpetua"/>
                <a:cs typeface="Perpetua"/>
              </a:rPr>
              <a:t>or </a:t>
            </a:r>
            <a:r>
              <a:rPr sz="2600" i="1" dirty="0">
                <a:latin typeface="Perpetua"/>
                <a:cs typeface="Perpetua"/>
              </a:rPr>
              <a:t>8</a:t>
            </a:r>
            <a:r>
              <a:rPr sz="2600" i="1" spc="-55" dirty="0">
                <a:latin typeface="Perpetua"/>
                <a:cs typeface="Perpetua"/>
              </a:rPr>
              <a:t> </a:t>
            </a:r>
            <a:r>
              <a:rPr sz="2600" i="1" spc="-10" dirty="0">
                <a:latin typeface="Perpetua"/>
                <a:cs typeface="Perpetua"/>
              </a:rPr>
              <a:t>rows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565785" marR="17780" indent="-515620" algn="just">
              <a:lnSpc>
                <a:spcPct val="100000"/>
              </a:lnSpc>
              <a:buSzPct val="84615"/>
              <a:buFont typeface="Arial"/>
              <a:buChar char="•"/>
              <a:tabLst>
                <a:tab pos="566420" algn="l"/>
              </a:tabLst>
            </a:pPr>
            <a:r>
              <a:rPr sz="2600" dirty="0">
                <a:latin typeface="Perpetua"/>
                <a:cs typeface="Perpetua"/>
              </a:rPr>
              <a:t>Arrange the </a:t>
            </a:r>
            <a:r>
              <a:rPr sz="2600" spc="-25" dirty="0">
                <a:latin typeface="Perpetua"/>
                <a:cs typeface="Perpetua"/>
              </a:rPr>
              <a:t>rows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some </a:t>
            </a:r>
            <a:r>
              <a:rPr sz="2600" spc="-10" dirty="0">
                <a:latin typeface="Perpetua"/>
                <a:cs typeface="Perpetua"/>
              </a:rPr>
              <a:t>orderly </a:t>
            </a:r>
            <a:r>
              <a:rPr sz="2600" spc="-5" dirty="0">
                <a:latin typeface="Perpetua"/>
                <a:cs typeface="Perpetua"/>
              </a:rPr>
              <a:t>fashion: </a:t>
            </a:r>
            <a:r>
              <a:rPr sz="2600" spc="5" dirty="0">
                <a:latin typeface="Perpetua"/>
                <a:cs typeface="Perpetua"/>
              </a:rPr>
              <a:t>rightmost </a:t>
            </a:r>
            <a:r>
              <a:rPr sz="2600" spc="-5" dirty="0">
                <a:latin typeface="Perpetua"/>
                <a:cs typeface="Perpetua"/>
              </a:rPr>
              <a:t>column  </a:t>
            </a:r>
            <a:r>
              <a:rPr sz="2600" dirty="0">
                <a:latin typeface="Perpetua"/>
                <a:cs typeface="Perpetua"/>
              </a:rPr>
              <a:t>alternates </a:t>
            </a:r>
            <a:r>
              <a:rPr sz="2600" spc="-15" dirty="0">
                <a:latin typeface="Perpetua"/>
                <a:cs typeface="Perpetua"/>
              </a:rPr>
              <a:t>repeatedly between </a:t>
            </a:r>
            <a:r>
              <a:rPr sz="2600" spc="-30" dirty="0">
                <a:latin typeface="Perpetua"/>
                <a:cs typeface="Perpetua"/>
              </a:rPr>
              <a:t>True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25" dirty="0">
                <a:latin typeface="Perpetua"/>
                <a:cs typeface="Perpetua"/>
              </a:rPr>
              <a:t>False, </a:t>
            </a:r>
            <a:r>
              <a:rPr sz="2600" dirty="0">
                <a:latin typeface="Perpetua"/>
                <a:cs typeface="Perpetua"/>
              </a:rPr>
              <a:t>then the </a:t>
            </a:r>
            <a:r>
              <a:rPr sz="2600" spc="-10" dirty="0">
                <a:latin typeface="Perpetua"/>
                <a:cs typeface="Perpetua"/>
              </a:rPr>
              <a:t>next  </a:t>
            </a:r>
            <a:r>
              <a:rPr sz="2600" spc="-5" dirty="0">
                <a:latin typeface="Perpetua"/>
                <a:cs typeface="Perpetua"/>
              </a:rPr>
              <a:t>column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5" dirty="0">
                <a:latin typeface="Perpetua"/>
                <a:cs typeface="Perpetua"/>
              </a:rPr>
              <a:t>left </a:t>
            </a:r>
            <a:r>
              <a:rPr sz="2600" dirty="0">
                <a:latin typeface="Perpetua"/>
                <a:cs typeface="Perpetua"/>
              </a:rPr>
              <a:t>alternates </a:t>
            </a:r>
            <a:r>
              <a:rPr sz="2600" spc="-15" dirty="0">
                <a:latin typeface="Perpetua"/>
                <a:cs typeface="Perpetua"/>
              </a:rPr>
              <a:t>between </a:t>
            </a:r>
            <a:r>
              <a:rPr sz="2600" spc="-30" dirty="0">
                <a:latin typeface="Perpetua"/>
                <a:cs typeface="Perpetua"/>
              </a:rPr>
              <a:t>True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20" dirty="0">
                <a:latin typeface="Perpetua"/>
                <a:cs typeface="Perpetua"/>
              </a:rPr>
              <a:t>False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so</a:t>
            </a:r>
            <a:r>
              <a:rPr sz="2600" spc="-29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on...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2895600"/>
            <a:ext cx="8305800" cy="2994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35072" y="6049467"/>
            <a:ext cx="36512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Perpetua"/>
                <a:cs typeface="Perpetua"/>
              </a:rPr>
              <a:t>Figure:</a:t>
            </a:r>
            <a:r>
              <a:rPr sz="2000" spc="-70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P</a:t>
            </a:r>
            <a:r>
              <a:rPr sz="2000" spc="-2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and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not</a:t>
            </a:r>
            <a:r>
              <a:rPr sz="2000" dirty="0">
                <a:latin typeface="Perpetua"/>
                <a:cs typeface="Perpetua"/>
              </a:rPr>
              <a:t> (Q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or</a:t>
            </a:r>
            <a:r>
              <a:rPr sz="2000" spc="-1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R) :</a:t>
            </a:r>
            <a:r>
              <a:rPr sz="2000" spc="-315" dirty="0">
                <a:latin typeface="Perpetua"/>
                <a:cs typeface="Perpetua"/>
              </a:rPr>
              <a:t> </a:t>
            </a:r>
            <a:r>
              <a:rPr sz="2000" spc="-25" dirty="0">
                <a:latin typeface="Perpetua"/>
                <a:cs typeface="Perpetua"/>
              </a:rPr>
              <a:t>Truth</a:t>
            </a:r>
            <a:r>
              <a:rPr sz="2000" spc="-240" dirty="0">
                <a:latin typeface="Perpetua"/>
                <a:cs typeface="Perpetua"/>
              </a:rPr>
              <a:t> </a:t>
            </a:r>
            <a:r>
              <a:rPr sz="2000" spc="-50" dirty="0">
                <a:latin typeface="Perpetua"/>
                <a:cs typeface="Perpetua"/>
              </a:rPr>
              <a:t>Table</a:t>
            </a:r>
            <a:endParaRPr sz="20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47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1140" y="672439"/>
            <a:ext cx="2675255" cy="9702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600" dirty="0"/>
              <a:t>Let, p </a:t>
            </a:r>
            <a:r>
              <a:rPr sz="2600" spc="-5" dirty="0"/>
              <a:t>AND</a:t>
            </a:r>
            <a:r>
              <a:rPr sz="2600" spc="-325" dirty="0"/>
              <a:t> </a:t>
            </a:r>
            <a:r>
              <a:rPr sz="2600" dirty="0"/>
              <a:t>(~q)</a:t>
            </a:r>
            <a:endParaRPr sz="2600"/>
          </a:p>
          <a:p>
            <a:pPr marL="12700">
              <a:lnSpc>
                <a:spcPct val="100000"/>
              </a:lnSpc>
              <a:spcBef>
                <a:spcPts val="600"/>
              </a:spcBef>
              <a:tabLst>
                <a:tab pos="1498600" algn="l"/>
              </a:tabLst>
            </a:pPr>
            <a:r>
              <a:rPr sz="2600" dirty="0"/>
              <a:t>Let,</a:t>
            </a:r>
            <a:r>
              <a:rPr sz="2600" spc="-105" dirty="0"/>
              <a:t> </a:t>
            </a:r>
            <a:r>
              <a:rPr sz="2600" spc="-25" dirty="0"/>
              <a:t>NOTq	</a:t>
            </a:r>
            <a:r>
              <a:rPr sz="2600" dirty="0"/>
              <a:t>be</a:t>
            </a:r>
            <a:r>
              <a:rPr sz="2600" spc="-75" dirty="0"/>
              <a:t> </a:t>
            </a:r>
            <a:r>
              <a:rPr sz="2600" spc="-25" dirty="0"/>
              <a:t>FALSE</a:t>
            </a:r>
            <a:endParaRPr sz="2600"/>
          </a:p>
        </p:txBody>
      </p:sp>
      <p:sp>
        <p:nvSpPr>
          <p:cNvPr id="6" name="object 6"/>
          <p:cNvSpPr txBox="1"/>
          <p:nvPr/>
        </p:nvSpPr>
        <p:spPr>
          <a:xfrm>
            <a:off x="231140" y="1693291"/>
            <a:ext cx="8380095" cy="270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Perpetua"/>
                <a:cs typeface="Perpetua"/>
              </a:rPr>
              <a:t>What </a:t>
            </a:r>
            <a:r>
              <a:rPr sz="2600" dirty="0">
                <a:latin typeface="Perpetua"/>
                <a:cs typeface="Perpetua"/>
              </a:rPr>
              <a:t>is the </a:t>
            </a:r>
            <a:r>
              <a:rPr sz="2600" spc="10" dirty="0">
                <a:latin typeface="Perpetua"/>
                <a:cs typeface="Perpetua"/>
              </a:rPr>
              <a:t>truth </a:t>
            </a:r>
            <a:r>
              <a:rPr sz="2600" spc="-15" dirty="0">
                <a:latin typeface="Perpetua"/>
                <a:cs typeface="Perpetua"/>
              </a:rPr>
              <a:t>value </a:t>
            </a:r>
            <a:r>
              <a:rPr sz="2600" dirty="0">
                <a:latin typeface="Perpetua"/>
                <a:cs typeface="Perpetua"/>
              </a:rPr>
              <a:t>of 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(~q) ?</a:t>
            </a:r>
            <a:r>
              <a:rPr sz="2600" spc="-19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Explain.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600" spc="-5" dirty="0">
                <a:latin typeface="Perpetua"/>
                <a:cs typeface="Perpetua"/>
              </a:rPr>
              <a:t>Solution: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~q is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false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361315" algn="l"/>
                <a:tab pos="361950" algn="l"/>
              </a:tabLst>
            </a:pPr>
            <a:r>
              <a:rPr dirty="0"/>
              <a:t>	</a:t>
            </a:r>
            <a:r>
              <a:rPr sz="2600" dirty="0">
                <a:latin typeface="Perpetua"/>
                <a:cs typeface="Perpetua"/>
              </a:rPr>
              <a:t>the whole </a:t>
            </a:r>
            <a:r>
              <a:rPr sz="2600" spc="-5" dirty="0">
                <a:latin typeface="Perpetua"/>
                <a:cs typeface="Perpetua"/>
              </a:rPr>
              <a:t>statement </a:t>
            </a:r>
            <a:r>
              <a:rPr sz="2600" dirty="0">
                <a:latin typeface="Perpetua"/>
                <a:cs typeface="Perpetua"/>
              </a:rPr>
              <a:t>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(~q) is </a:t>
            </a:r>
            <a:r>
              <a:rPr sz="2600" spc="-10" dirty="0">
                <a:latin typeface="Perpetua"/>
                <a:cs typeface="Perpetua"/>
              </a:rPr>
              <a:t>FALSE(regardless </a:t>
            </a:r>
            <a:r>
              <a:rPr sz="2600" dirty="0">
                <a:latin typeface="Perpetua"/>
                <a:cs typeface="Perpetua"/>
              </a:rPr>
              <a:t>of whether</a:t>
            </a:r>
            <a:r>
              <a:rPr sz="2600" spc="-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  is </a:t>
            </a:r>
            <a:r>
              <a:rPr sz="2600" spc="15" dirty="0">
                <a:latin typeface="Perpetua"/>
                <a:cs typeface="Perpetua"/>
              </a:rPr>
              <a:t>true </a:t>
            </a:r>
            <a:r>
              <a:rPr sz="2600" spc="-5" dirty="0">
                <a:latin typeface="Perpetua"/>
                <a:cs typeface="Perpetua"/>
              </a:rPr>
              <a:t>or</a:t>
            </a:r>
            <a:r>
              <a:rPr sz="2600" spc="-2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not).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1573" y="182626"/>
            <a:ext cx="495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Revisit </a:t>
            </a:r>
            <a:r>
              <a:rPr sz="3600" dirty="0"/>
              <a:t>the </a:t>
            </a:r>
            <a:r>
              <a:rPr sz="3600" spc="5" dirty="0"/>
              <a:t>logical</a:t>
            </a:r>
            <a:r>
              <a:rPr sz="3600" spc="-80" dirty="0"/>
              <a:t> </a:t>
            </a:r>
            <a:r>
              <a:rPr sz="3600" spc="-5" dirty="0"/>
              <a:t>expressions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0" y="228600"/>
            <a:ext cx="1524000" cy="1295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285300"/>
            <a:ext cx="6635115" cy="509460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400" dirty="0">
                <a:latin typeface="Perpetua"/>
                <a:cs typeface="Perpetua"/>
              </a:rPr>
              <a:t>(a &lt; b </a:t>
            </a:r>
            <a:r>
              <a:rPr sz="2400" spc="-5" dirty="0">
                <a:latin typeface="Perpetua"/>
                <a:cs typeface="Perpetua"/>
              </a:rPr>
              <a:t>|| </a:t>
            </a:r>
            <a:r>
              <a:rPr sz="2400" dirty="0">
                <a:latin typeface="Perpetua"/>
                <a:cs typeface="Perpetua"/>
              </a:rPr>
              <a:t>(a &gt;= b </a:t>
            </a:r>
            <a:r>
              <a:rPr sz="2400" spc="-5" dirty="0">
                <a:latin typeface="Perpetua"/>
                <a:cs typeface="Perpetua"/>
              </a:rPr>
              <a:t>&amp;&amp; </a:t>
            </a:r>
            <a:r>
              <a:rPr sz="2400" dirty="0">
                <a:latin typeface="Perpetua"/>
                <a:cs typeface="Perpetua"/>
              </a:rPr>
              <a:t>c </a:t>
            </a:r>
            <a:r>
              <a:rPr sz="2400" spc="-10" dirty="0">
                <a:latin typeface="Perpetua"/>
                <a:cs typeface="Perpetua"/>
              </a:rPr>
              <a:t>== </a:t>
            </a:r>
            <a:r>
              <a:rPr sz="2400" dirty="0">
                <a:latin typeface="Perpetua"/>
                <a:cs typeface="Perpetua"/>
              </a:rPr>
              <a:t>d)) be </a:t>
            </a:r>
            <a:r>
              <a:rPr sz="2400" spc="-10" dirty="0">
                <a:latin typeface="Perpetua"/>
                <a:cs typeface="Perpetua"/>
              </a:rPr>
              <a:t>statement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1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Perpetua"/>
                <a:cs typeface="Perpetua"/>
              </a:rPr>
              <a:t>(a &lt; b </a:t>
            </a:r>
            <a:r>
              <a:rPr sz="2400" spc="-5" dirty="0">
                <a:latin typeface="Perpetua"/>
                <a:cs typeface="Perpetua"/>
              </a:rPr>
              <a:t>|| </a:t>
            </a:r>
            <a:r>
              <a:rPr sz="2400" dirty="0">
                <a:latin typeface="Perpetua"/>
                <a:cs typeface="Perpetua"/>
              </a:rPr>
              <a:t>c == d) be </a:t>
            </a:r>
            <a:r>
              <a:rPr sz="2400" spc="-5" dirty="0">
                <a:latin typeface="Perpetua"/>
                <a:cs typeface="Perpetua"/>
              </a:rPr>
              <a:t>statement</a:t>
            </a:r>
            <a:r>
              <a:rPr sz="2400" spc="-6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2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1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000" spc="-110" dirty="0">
                <a:latin typeface="Perpetua"/>
                <a:cs typeface="Perpetua"/>
              </a:rPr>
              <a:t>We </a:t>
            </a:r>
            <a:r>
              <a:rPr sz="2000" spc="-30" dirty="0">
                <a:latin typeface="Perpetua"/>
                <a:cs typeface="Perpetua"/>
              </a:rPr>
              <a:t>have </a:t>
            </a:r>
            <a:r>
              <a:rPr sz="2000" dirty="0">
                <a:latin typeface="Perpetua"/>
                <a:cs typeface="Perpetua"/>
              </a:rPr>
              <a:t>examined</a:t>
            </a:r>
            <a:r>
              <a:rPr sz="2000" spc="10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that,</a:t>
            </a:r>
            <a:endParaRPr sz="20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solidFill>
                  <a:srgbClr val="C00000"/>
                </a:solidFill>
                <a:latin typeface="Perpetua"/>
                <a:cs typeface="Perpetua"/>
              </a:rPr>
              <a:t># </a:t>
            </a:r>
            <a:r>
              <a:rPr sz="2000" b="1" spc="-5" dirty="0">
                <a:solidFill>
                  <a:srgbClr val="C00000"/>
                </a:solidFill>
                <a:latin typeface="Perpetua"/>
                <a:cs typeface="Perpetua"/>
              </a:rPr>
              <a:t>A. </a:t>
            </a:r>
            <a:r>
              <a:rPr sz="2000" b="1" dirty="0">
                <a:solidFill>
                  <a:srgbClr val="C00000"/>
                </a:solidFill>
                <a:latin typeface="Perpetua"/>
                <a:cs typeface="Perpetua"/>
              </a:rPr>
              <a:t>For </a:t>
            </a:r>
            <a:r>
              <a:rPr sz="2000" b="1" i="1" dirty="0">
                <a:solidFill>
                  <a:srgbClr val="C00000"/>
                </a:solidFill>
                <a:latin typeface="Perpetua"/>
                <a:cs typeface="Perpetua"/>
              </a:rPr>
              <a:t>a is less than b </a:t>
            </a:r>
            <a:r>
              <a:rPr sz="2000" b="1" dirty="0">
                <a:solidFill>
                  <a:srgbClr val="C00000"/>
                </a:solidFill>
                <a:latin typeface="Perpetua"/>
                <a:cs typeface="Perpetua"/>
              </a:rPr>
              <a:t>be</a:t>
            </a:r>
            <a:r>
              <a:rPr sz="2000" b="1" spc="-1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spc="-25" dirty="0">
                <a:solidFill>
                  <a:srgbClr val="C00000"/>
                </a:solidFill>
                <a:latin typeface="Perpetua"/>
                <a:cs typeface="Perpetua"/>
              </a:rPr>
              <a:t>True:</a:t>
            </a:r>
            <a:endParaRPr sz="2000">
              <a:latin typeface="Perpetua"/>
              <a:cs typeface="Perpetua"/>
            </a:endParaRPr>
          </a:p>
          <a:p>
            <a:pPr marL="584200">
              <a:lnSpc>
                <a:spcPct val="100000"/>
              </a:lnSpc>
              <a:spcBef>
                <a:spcPts val="600"/>
              </a:spcBef>
            </a:pPr>
            <a:r>
              <a:rPr sz="2000" spc="-30" dirty="0">
                <a:latin typeface="Perpetua"/>
                <a:cs typeface="Perpetua"/>
              </a:rPr>
              <a:t>TRUE </a:t>
            </a:r>
            <a:r>
              <a:rPr sz="2000" dirty="0">
                <a:latin typeface="Perpetua"/>
                <a:cs typeface="Perpetua"/>
              </a:rPr>
              <a:t>is returned </a:t>
            </a:r>
            <a:r>
              <a:rPr sz="2000" spc="-15" dirty="0">
                <a:latin typeface="Perpetua"/>
                <a:cs typeface="Perpetua"/>
              </a:rPr>
              <a:t>by </a:t>
            </a:r>
            <a:r>
              <a:rPr sz="2000" spc="-5" dirty="0">
                <a:latin typeface="Perpetua"/>
                <a:cs typeface="Perpetua"/>
              </a:rPr>
              <a:t>both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2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statements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C00000"/>
                </a:solidFill>
                <a:latin typeface="Perpetua"/>
                <a:cs typeface="Perpetua"/>
              </a:rPr>
              <a:t># </a:t>
            </a:r>
            <a:r>
              <a:rPr sz="2000" b="1" spc="-15" dirty="0">
                <a:solidFill>
                  <a:srgbClr val="C00000"/>
                </a:solidFill>
                <a:latin typeface="Perpetua"/>
                <a:cs typeface="Perpetua"/>
              </a:rPr>
              <a:t>B. </a:t>
            </a:r>
            <a:r>
              <a:rPr sz="2000" b="1" dirty="0">
                <a:solidFill>
                  <a:srgbClr val="C00000"/>
                </a:solidFill>
                <a:latin typeface="Perpetua"/>
                <a:cs typeface="Perpetua"/>
              </a:rPr>
              <a:t>For </a:t>
            </a:r>
            <a:r>
              <a:rPr sz="2000" b="1" i="1" dirty="0">
                <a:solidFill>
                  <a:srgbClr val="C00000"/>
                </a:solidFill>
                <a:latin typeface="Perpetua"/>
                <a:cs typeface="Perpetua"/>
              </a:rPr>
              <a:t>a is </a:t>
            </a:r>
            <a:r>
              <a:rPr sz="2000" b="1" i="1" spc="-5" dirty="0">
                <a:solidFill>
                  <a:srgbClr val="C00000"/>
                </a:solidFill>
                <a:latin typeface="Perpetua"/>
                <a:cs typeface="Perpetua"/>
              </a:rPr>
              <a:t>less </a:t>
            </a:r>
            <a:r>
              <a:rPr sz="2000" b="1" i="1" dirty="0">
                <a:solidFill>
                  <a:srgbClr val="C00000"/>
                </a:solidFill>
                <a:latin typeface="Perpetua"/>
                <a:cs typeface="Perpetua"/>
              </a:rPr>
              <a:t>than b </a:t>
            </a:r>
            <a:r>
              <a:rPr sz="2000" b="1" dirty="0">
                <a:solidFill>
                  <a:srgbClr val="C00000"/>
                </a:solidFill>
                <a:latin typeface="Perpetua"/>
                <a:cs typeface="Perpetua"/>
              </a:rPr>
              <a:t>be</a:t>
            </a:r>
            <a:r>
              <a:rPr sz="2000" b="1" spc="-114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000" b="1" spc="-35" dirty="0">
                <a:solidFill>
                  <a:srgbClr val="C00000"/>
                </a:solidFill>
                <a:latin typeface="Perpetua"/>
                <a:cs typeface="Perpetua"/>
              </a:rPr>
              <a:t>FALSE</a:t>
            </a:r>
            <a:endParaRPr sz="2000">
              <a:latin typeface="Perpetua"/>
              <a:cs typeface="Perpetua"/>
            </a:endParaRPr>
          </a:p>
          <a:p>
            <a:pPr marL="561340" indent="-229235">
              <a:lnSpc>
                <a:spcPct val="100000"/>
              </a:lnSpc>
              <a:spcBef>
                <a:spcPts val="400"/>
              </a:spcBef>
              <a:buSzPct val="85000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000" dirty="0">
                <a:latin typeface="Perpetua"/>
                <a:cs typeface="Perpetua"/>
              </a:rPr>
              <a:t>If</a:t>
            </a:r>
            <a:r>
              <a:rPr sz="2000" spc="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c</a:t>
            </a:r>
            <a:r>
              <a:rPr sz="2000" spc="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==</a:t>
            </a:r>
            <a:r>
              <a:rPr sz="2000" spc="-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d</a:t>
            </a:r>
            <a:r>
              <a:rPr sz="2000" spc="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is</a:t>
            </a:r>
            <a:r>
              <a:rPr sz="2000" spc="-240" dirty="0">
                <a:latin typeface="Perpetua"/>
                <a:cs typeface="Perpetua"/>
              </a:rPr>
              <a:t> </a:t>
            </a:r>
            <a:r>
              <a:rPr sz="2000" spc="-30" dirty="0">
                <a:latin typeface="Perpetua"/>
                <a:cs typeface="Perpetua"/>
              </a:rPr>
              <a:t>TRUE</a:t>
            </a:r>
            <a:r>
              <a:rPr sz="2000" spc="-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then</a:t>
            </a:r>
            <a:r>
              <a:rPr sz="2000" spc="-250" dirty="0">
                <a:latin typeface="Perpetua"/>
                <a:cs typeface="Perpetua"/>
              </a:rPr>
              <a:t> </a:t>
            </a:r>
            <a:r>
              <a:rPr sz="2000" spc="-30" dirty="0">
                <a:latin typeface="Perpetua"/>
                <a:cs typeface="Perpetua"/>
              </a:rPr>
              <a:t>TRUE</a:t>
            </a:r>
            <a:r>
              <a:rPr sz="2000" spc="-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is</a:t>
            </a:r>
            <a:r>
              <a:rPr sz="2000" spc="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returned</a:t>
            </a:r>
            <a:r>
              <a:rPr sz="2000" spc="-10" dirty="0">
                <a:latin typeface="Perpetua"/>
                <a:cs typeface="Perpetua"/>
              </a:rPr>
              <a:t> </a:t>
            </a:r>
            <a:r>
              <a:rPr sz="2000" spc="-15" dirty="0">
                <a:latin typeface="Perpetua"/>
                <a:cs typeface="Perpetua"/>
              </a:rPr>
              <a:t>by</a:t>
            </a:r>
            <a:r>
              <a:rPr sz="2000" spc="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both</a:t>
            </a:r>
            <a:r>
              <a:rPr sz="2000" spc="5" dirty="0">
                <a:latin typeface="Perpetua"/>
                <a:cs typeface="Perpetua"/>
              </a:rPr>
              <a:t>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statements</a:t>
            </a:r>
            <a:endParaRPr sz="2000">
              <a:latin typeface="Perpetua"/>
              <a:cs typeface="Perpetua"/>
            </a:endParaRPr>
          </a:p>
          <a:p>
            <a:pPr marL="561340" indent="-229235">
              <a:lnSpc>
                <a:spcPct val="100000"/>
              </a:lnSpc>
              <a:spcBef>
                <a:spcPts val="405"/>
              </a:spcBef>
              <a:buSzPct val="85000"/>
              <a:buFont typeface="Arial"/>
              <a:buChar char="•"/>
              <a:tabLst>
                <a:tab pos="561340" algn="l"/>
                <a:tab pos="561975" algn="l"/>
              </a:tabLst>
            </a:pPr>
            <a:r>
              <a:rPr sz="2000" dirty="0">
                <a:latin typeface="Perpetua"/>
                <a:cs typeface="Perpetua"/>
              </a:rPr>
              <a:t>If c == d is </a:t>
            </a:r>
            <a:r>
              <a:rPr sz="2000" spc="-15" dirty="0">
                <a:latin typeface="Perpetua"/>
                <a:cs typeface="Perpetua"/>
              </a:rPr>
              <a:t>FALSE </a:t>
            </a:r>
            <a:r>
              <a:rPr sz="2000" dirty="0">
                <a:latin typeface="Perpetua"/>
                <a:cs typeface="Perpetua"/>
              </a:rPr>
              <a:t>then </a:t>
            </a:r>
            <a:r>
              <a:rPr sz="2000" spc="-15" dirty="0">
                <a:latin typeface="Perpetua"/>
                <a:cs typeface="Perpetua"/>
              </a:rPr>
              <a:t>FALSE </a:t>
            </a:r>
            <a:r>
              <a:rPr sz="2000" dirty="0">
                <a:latin typeface="Perpetua"/>
                <a:cs typeface="Perpetua"/>
              </a:rPr>
              <a:t>is returned </a:t>
            </a:r>
            <a:r>
              <a:rPr sz="2000" spc="-15" dirty="0">
                <a:latin typeface="Perpetua"/>
                <a:cs typeface="Perpetua"/>
              </a:rPr>
              <a:t>by </a:t>
            </a:r>
            <a:r>
              <a:rPr sz="2000" spc="-5" dirty="0">
                <a:latin typeface="Perpetua"/>
                <a:cs typeface="Perpetua"/>
              </a:rPr>
              <a:t>both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2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statements</a:t>
            </a:r>
            <a:endParaRPr sz="20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3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850">
              <a:latin typeface="Perpetua"/>
              <a:cs typeface="Perpetua"/>
            </a:endParaRPr>
          </a:p>
          <a:p>
            <a:pPr marL="3977004" lvl="1" indent="-230504">
              <a:lnSpc>
                <a:spcPct val="100000"/>
              </a:lnSpc>
              <a:buSzPct val="64285"/>
              <a:buFont typeface="Wingdings"/>
              <a:buChar char=""/>
              <a:tabLst>
                <a:tab pos="3977640" algn="l"/>
              </a:tabLst>
            </a:pPr>
            <a:r>
              <a:rPr sz="2800" b="1" i="1" spc="-15" dirty="0">
                <a:solidFill>
                  <a:srgbClr val="C00000"/>
                </a:solidFill>
                <a:latin typeface="Perpetua"/>
                <a:cs typeface="Perpetua"/>
              </a:rPr>
              <a:t>Observe</a:t>
            </a:r>
            <a:r>
              <a:rPr sz="2800" b="1" i="1" spc="-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800" b="1" i="1" spc="-15" dirty="0">
                <a:solidFill>
                  <a:srgbClr val="C00000"/>
                </a:solidFill>
                <a:latin typeface="Perpetua"/>
                <a:cs typeface="Perpetua"/>
              </a:rPr>
              <a:t>anything?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38400" y="5181600"/>
            <a:ext cx="1752600" cy="137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50594" y="828802"/>
            <a:ext cx="705929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indent="-253365">
              <a:lnSpc>
                <a:spcPct val="100000"/>
              </a:lnSpc>
              <a:spcBef>
                <a:spcPts val="100"/>
              </a:spcBef>
              <a:buSzPct val="75000"/>
              <a:buFont typeface="Wingdings"/>
              <a:buChar char=""/>
              <a:tabLst>
                <a:tab pos="266065" algn="l"/>
              </a:tabLst>
            </a:pPr>
            <a:r>
              <a:rPr sz="2400" spc="-5" dirty="0">
                <a:latin typeface="Perpetua"/>
                <a:cs typeface="Perpetua"/>
              </a:rPr>
              <a:t>Statements </a:t>
            </a:r>
            <a:r>
              <a:rPr sz="2400" dirty="0">
                <a:latin typeface="Perpetua"/>
                <a:cs typeface="Perpetua"/>
              </a:rPr>
              <a:t>1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2 </a:t>
            </a:r>
            <a:r>
              <a:rPr sz="2400" spc="5" dirty="0">
                <a:latin typeface="Perpetua"/>
                <a:cs typeface="Perpetua"/>
              </a:rPr>
              <a:t>return</a:t>
            </a:r>
            <a:r>
              <a:rPr sz="2400" spc="22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  <a:p>
            <a:pPr marL="763905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when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a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&lt;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28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TRUE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or</a:t>
            </a:r>
            <a:r>
              <a:rPr sz="2400" spc="-5" dirty="0">
                <a:latin typeface="Perpetua"/>
                <a:cs typeface="Perpetua"/>
              </a:rPr>
              <a:t> when </a:t>
            </a:r>
            <a:r>
              <a:rPr sz="2400" dirty="0">
                <a:latin typeface="Perpetua"/>
                <a:cs typeface="Perpetua"/>
              </a:rPr>
              <a:t>c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==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d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29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Perpetua"/>
              <a:cs typeface="Perpetua"/>
            </a:endParaRPr>
          </a:p>
          <a:p>
            <a:pPr marL="352425" indent="-340360">
              <a:lnSpc>
                <a:spcPct val="100000"/>
              </a:lnSpc>
              <a:buFont typeface="Wingdings"/>
              <a:buChar char=""/>
              <a:tabLst>
                <a:tab pos="353060" algn="l"/>
                <a:tab pos="3342640" algn="l"/>
              </a:tabLst>
            </a:pPr>
            <a:r>
              <a:rPr sz="2400" spc="-5" dirty="0">
                <a:latin typeface="Perpetua"/>
                <a:cs typeface="Perpetua"/>
              </a:rPr>
              <a:t>Statements </a:t>
            </a:r>
            <a:r>
              <a:rPr sz="2400" dirty="0">
                <a:latin typeface="Perpetua"/>
                <a:cs typeface="Perpetua"/>
              </a:rPr>
              <a:t>1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dirty="0">
                <a:latin typeface="Perpetua"/>
                <a:cs typeface="Perpetua"/>
              </a:rPr>
              <a:t> 2 </a:t>
            </a:r>
            <a:r>
              <a:rPr sz="2400" spc="5" dirty="0">
                <a:latin typeface="Perpetua"/>
                <a:cs typeface="Perpetua"/>
              </a:rPr>
              <a:t>return	</a:t>
            </a:r>
            <a:r>
              <a:rPr sz="2400" spc="-25" dirty="0">
                <a:latin typeface="Perpetua"/>
                <a:cs typeface="Perpetua"/>
              </a:rPr>
              <a:t>FALSE</a:t>
            </a:r>
            <a:endParaRPr sz="24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when a &lt; b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c == d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both</a:t>
            </a:r>
            <a:r>
              <a:rPr sz="2400" spc="-9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FALSE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</a:pPr>
            <a:endParaRPr sz="27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Perpetua"/>
              <a:cs typeface="Perpetua"/>
            </a:endParaRPr>
          </a:p>
          <a:p>
            <a:pPr marL="252729" indent="-240665">
              <a:lnSpc>
                <a:spcPct val="100000"/>
              </a:lnSpc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dirty="0">
                <a:latin typeface="Perpetua"/>
                <a:cs typeface="Perpetua"/>
              </a:rPr>
              <a:t>Both the </a:t>
            </a:r>
            <a:r>
              <a:rPr sz="2400" i="1" spc="-5" dirty="0">
                <a:latin typeface="Perpetua"/>
                <a:cs typeface="Perpetua"/>
              </a:rPr>
              <a:t>statements </a:t>
            </a:r>
            <a:r>
              <a:rPr sz="2400" i="1" spc="-10" dirty="0">
                <a:latin typeface="Perpetua"/>
                <a:cs typeface="Perpetua"/>
              </a:rPr>
              <a:t>are equivalent</a:t>
            </a:r>
            <a:r>
              <a:rPr sz="2400" i="1" spc="-30" dirty="0">
                <a:latin typeface="Perpetua"/>
                <a:cs typeface="Perpetua"/>
              </a:rPr>
              <a:t> </a:t>
            </a:r>
            <a:r>
              <a:rPr sz="2400" i="1" dirty="0">
                <a:latin typeface="Perpetua"/>
                <a:cs typeface="Perpetua"/>
              </a:rPr>
              <a:t>!!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"/>
            </a:pPr>
            <a:endParaRPr sz="2500">
              <a:latin typeface="Perpetua"/>
              <a:cs typeface="Perpetua"/>
            </a:endParaRPr>
          </a:p>
          <a:p>
            <a:pPr marL="252729" indent="-240665">
              <a:lnSpc>
                <a:spcPct val="100000"/>
              </a:lnSpc>
              <a:buSzPct val="95833"/>
              <a:buFont typeface="Wingdings"/>
              <a:buChar char=""/>
              <a:tabLst>
                <a:tab pos="253365" algn="l"/>
              </a:tabLst>
            </a:pP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simplified </a:t>
            </a:r>
            <a:r>
              <a:rPr sz="2400" i="1" spc="-5" dirty="0">
                <a:latin typeface="Perpetua"/>
                <a:cs typeface="Perpetua"/>
              </a:rPr>
              <a:t>conditional expression in statement2 can be</a:t>
            </a:r>
            <a:r>
              <a:rPr sz="2400" i="1" spc="15" dirty="0">
                <a:latin typeface="Perpetua"/>
                <a:cs typeface="Perpetua"/>
              </a:rPr>
              <a:t> </a:t>
            </a:r>
            <a:r>
              <a:rPr sz="2400" i="1" spc="-5" dirty="0">
                <a:latin typeface="Perpetua"/>
                <a:cs typeface="Perpetua"/>
              </a:rPr>
              <a:t>substituted</a:t>
            </a: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400" i="1" spc="-15" dirty="0">
                <a:latin typeface="Perpetua"/>
                <a:cs typeface="Perpetua"/>
              </a:rPr>
              <a:t>for </a:t>
            </a:r>
            <a:r>
              <a:rPr sz="2400" i="1" spc="-5" dirty="0">
                <a:latin typeface="Perpetua"/>
                <a:cs typeface="Perpetua"/>
              </a:rPr>
              <a:t>the </a:t>
            </a:r>
            <a:r>
              <a:rPr sz="2400" i="1" dirty="0">
                <a:latin typeface="Perpetua"/>
                <a:cs typeface="Perpetua"/>
              </a:rPr>
              <a:t>first with no </a:t>
            </a:r>
            <a:r>
              <a:rPr sz="2400" i="1" spc="-10" dirty="0">
                <a:latin typeface="Perpetua"/>
                <a:cs typeface="Perpetua"/>
              </a:rPr>
              <a:t>change </a:t>
            </a:r>
            <a:r>
              <a:rPr sz="2400" i="1" spc="-5" dirty="0">
                <a:latin typeface="Perpetua"/>
                <a:cs typeface="Perpetua"/>
              </a:rPr>
              <a:t>in </a:t>
            </a:r>
            <a:r>
              <a:rPr sz="2400" i="1" dirty="0">
                <a:latin typeface="Perpetua"/>
                <a:cs typeface="Perpetua"/>
              </a:rPr>
              <a:t>the</a:t>
            </a:r>
            <a:r>
              <a:rPr sz="2400" i="1" spc="-20" dirty="0">
                <a:latin typeface="Perpetua"/>
                <a:cs typeface="Perpetua"/>
              </a:rPr>
              <a:t> </a:t>
            </a:r>
            <a:r>
              <a:rPr sz="2400" i="1" spc="-15" dirty="0">
                <a:latin typeface="Perpetua"/>
                <a:cs typeface="Perpetua"/>
              </a:rPr>
              <a:t>logic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0231" y="762000"/>
            <a:ext cx="941560" cy="12094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688594"/>
            <a:ext cx="2745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The ≡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operator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824355"/>
            <a:ext cx="8074659" cy="2623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637540" algn="l"/>
              </a:tabLst>
            </a:pPr>
            <a:r>
              <a:rPr sz="2600" dirty="0">
                <a:latin typeface="Times New Roman"/>
                <a:cs typeface="Times New Roman"/>
              </a:rPr>
              <a:t>≡	</a:t>
            </a:r>
            <a:r>
              <a:rPr sz="2600" spc="-5" dirty="0">
                <a:latin typeface="Perpetua"/>
                <a:cs typeface="Perpetua"/>
              </a:rPr>
              <a:t>means “</a:t>
            </a:r>
            <a:r>
              <a:rPr sz="2600" i="1" spc="-5" dirty="0">
                <a:latin typeface="Perpetua"/>
                <a:cs typeface="Perpetua"/>
              </a:rPr>
              <a:t>is </a:t>
            </a:r>
            <a:r>
              <a:rPr sz="2600" i="1" spc="-10" dirty="0">
                <a:latin typeface="Perpetua"/>
                <a:cs typeface="Perpetua"/>
              </a:rPr>
              <a:t>equivalent </a:t>
            </a:r>
            <a:r>
              <a:rPr sz="2600" i="1" spc="-5" dirty="0">
                <a:latin typeface="Perpetua"/>
                <a:cs typeface="Perpetua"/>
              </a:rPr>
              <a:t>to</a:t>
            </a:r>
            <a:r>
              <a:rPr sz="2600" spc="-5" dirty="0">
                <a:latin typeface="Perpetua"/>
                <a:cs typeface="Perpetua"/>
              </a:rPr>
              <a:t>” or </a:t>
            </a:r>
            <a:r>
              <a:rPr sz="2600" dirty="0">
                <a:latin typeface="Perpetua"/>
                <a:cs typeface="Perpetua"/>
              </a:rPr>
              <a:t>“</a:t>
            </a:r>
            <a:r>
              <a:rPr sz="2600" i="1" dirty="0">
                <a:latin typeface="Perpetua"/>
                <a:cs typeface="Perpetua"/>
              </a:rPr>
              <a:t>has </a:t>
            </a:r>
            <a:r>
              <a:rPr sz="2600" i="1" spc="-5" dirty="0">
                <a:latin typeface="Perpetua"/>
                <a:cs typeface="Perpetua"/>
              </a:rPr>
              <a:t>the </a:t>
            </a:r>
            <a:r>
              <a:rPr sz="2600" i="1" dirty="0">
                <a:latin typeface="Perpetua"/>
                <a:cs typeface="Perpetua"/>
              </a:rPr>
              <a:t>same </a:t>
            </a:r>
            <a:r>
              <a:rPr sz="2600" i="1" spc="-5" dirty="0">
                <a:latin typeface="Perpetua"/>
                <a:cs typeface="Perpetua"/>
              </a:rPr>
              <a:t>Boolean </a:t>
            </a:r>
            <a:r>
              <a:rPr sz="2600" i="1" spc="-15" dirty="0">
                <a:latin typeface="Perpetua"/>
                <a:cs typeface="Perpetua"/>
              </a:rPr>
              <a:t>value</a:t>
            </a:r>
            <a:r>
              <a:rPr sz="2600" i="1" spc="-300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as</a:t>
            </a:r>
            <a:r>
              <a:rPr sz="2600" spc="-5" dirty="0">
                <a:latin typeface="Perpetua"/>
                <a:cs typeface="Perpetua"/>
              </a:rPr>
              <a:t>”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7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  <a:tab pos="788035" algn="l"/>
                <a:tab pos="1713230" algn="l"/>
                <a:tab pos="2422525" algn="l"/>
                <a:tab pos="3161665" algn="l"/>
                <a:tab pos="4011929" algn="l"/>
                <a:tab pos="4505960" algn="l"/>
                <a:tab pos="5612130" algn="l"/>
                <a:tab pos="5988685" algn="l"/>
                <a:tab pos="6493510" algn="l"/>
              </a:tabLst>
            </a:pPr>
            <a:r>
              <a:rPr sz="2600" dirty="0">
                <a:latin typeface="Perpetua"/>
                <a:cs typeface="Perpetua"/>
              </a:rPr>
              <a:t>No	</a:t>
            </a:r>
            <a:r>
              <a:rPr sz="2600" spc="-5" dirty="0">
                <a:latin typeface="Perpetua"/>
                <a:cs typeface="Perpetua"/>
              </a:rPr>
              <a:t>m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er	wh</a:t>
            </a:r>
            <a:r>
              <a:rPr sz="2600" spc="-30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	t</a:t>
            </a:r>
            <a:r>
              <a:rPr sz="2600" spc="5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u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h	</a:t>
            </a:r>
            <a:r>
              <a:rPr sz="2600" spc="-45" dirty="0">
                <a:latin typeface="Perpetua"/>
                <a:cs typeface="Perpetua"/>
              </a:rPr>
              <a:t>v</a:t>
            </a:r>
            <a:r>
              <a:rPr sz="2600" spc="-5" dirty="0">
                <a:latin typeface="Perpetua"/>
                <a:cs typeface="Perpetua"/>
              </a:rPr>
              <a:t>al</a:t>
            </a:r>
            <a:r>
              <a:rPr sz="2600" spc="-15" dirty="0">
                <a:latin typeface="Perpetua"/>
                <a:cs typeface="Perpetua"/>
              </a:rPr>
              <a:t>u</a:t>
            </a:r>
            <a:r>
              <a:rPr sz="2600" dirty="0">
                <a:latin typeface="Perpetua"/>
                <a:cs typeface="Perpetua"/>
              </a:rPr>
              <a:t>es	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spc="-2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	</a:t>
            </a:r>
            <a:r>
              <a:rPr sz="2600" spc="-5" dirty="0">
                <a:latin typeface="Perpetua"/>
                <a:cs typeface="Perpetua"/>
              </a:rPr>
              <a:t>assig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dirty="0">
                <a:latin typeface="Perpetua"/>
                <a:cs typeface="Perpetua"/>
              </a:rPr>
              <a:t>ed	</a:t>
            </a:r>
            <a:r>
              <a:rPr sz="2600" spc="-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o	the	p</a:t>
            </a:r>
            <a:r>
              <a:rPr sz="2600" spc="-30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o</a:t>
            </a:r>
            <a:r>
              <a:rPr sz="2600" spc="-15" dirty="0">
                <a:latin typeface="Perpetua"/>
                <a:cs typeface="Perpetua"/>
              </a:rPr>
              <a:t>p</a:t>
            </a:r>
            <a:r>
              <a:rPr sz="2600" spc="-2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sitio</a:t>
            </a:r>
            <a:r>
              <a:rPr sz="2600" spc="-15" dirty="0">
                <a:latin typeface="Perpetua"/>
                <a:cs typeface="Perpetua"/>
              </a:rPr>
              <a:t>n</a:t>
            </a:r>
            <a:r>
              <a:rPr sz="2600" spc="-5" dirty="0">
                <a:latin typeface="Perpetua"/>
                <a:cs typeface="Perpetua"/>
              </a:rPr>
              <a:t>al  variables </a:t>
            </a:r>
            <a:r>
              <a:rPr sz="2600" dirty="0">
                <a:latin typeface="Perpetua"/>
                <a:cs typeface="Perpetua"/>
              </a:rPr>
              <a:t>in the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expression,</a:t>
            </a:r>
            <a:endParaRPr sz="2600">
              <a:latin typeface="Perpetua"/>
              <a:cs typeface="Perpetua"/>
            </a:endParaRPr>
          </a:p>
          <a:p>
            <a:pPr marL="286385" marR="6985" indent="-50800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left-hand </a:t>
            </a:r>
            <a:r>
              <a:rPr sz="2600" dirty="0">
                <a:latin typeface="Perpetua"/>
                <a:cs typeface="Perpetua"/>
              </a:rPr>
              <a:t>side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5" dirty="0">
                <a:latin typeface="Perpetua"/>
                <a:cs typeface="Perpetua"/>
              </a:rPr>
              <a:t>right-hand </a:t>
            </a:r>
            <a:r>
              <a:rPr sz="2600" dirty="0">
                <a:latin typeface="Perpetua"/>
                <a:cs typeface="Perpetua"/>
              </a:rPr>
              <a:t>side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expression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either  both </a:t>
            </a:r>
            <a:r>
              <a:rPr sz="2600" spc="-35" dirty="0">
                <a:latin typeface="Perpetua"/>
                <a:cs typeface="Perpetua"/>
              </a:rPr>
              <a:t>TRUE </a:t>
            </a:r>
            <a:r>
              <a:rPr sz="2600" spc="-5" dirty="0">
                <a:latin typeface="Perpetua"/>
                <a:cs typeface="Perpetua"/>
              </a:rPr>
              <a:t>or </a:t>
            </a:r>
            <a:r>
              <a:rPr sz="2600" dirty="0">
                <a:latin typeface="Perpetua"/>
                <a:cs typeface="Perpetua"/>
              </a:rPr>
              <a:t>both</a:t>
            </a:r>
            <a:r>
              <a:rPr sz="2600" spc="-295" dirty="0">
                <a:latin typeface="Perpetua"/>
                <a:cs typeface="Perpetua"/>
              </a:rPr>
              <a:t> </a:t>
            </a:r>
            <a:r>
              <a:rPr sz="2600" spc="-20" dirty="0">
                <a:latin typeface="Perpetua"/>
                <a:cs typeface="Perpetua"/>
              </a:rPr>
              <a:t>FALSE.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47827"/>
            <a:ext cx="4271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2450" algn="l"/>
              </a:tabLst>
            </a:pPr>
            <a:r>
              <a:rPr sz="4000" spc="-5" dirty="0">
                <a:latin typeface="Times New Roman"/>
                <a:cs typeface="Times New Roman"/>
              </a:rPr>
              <a:t>≡	means </a:t>
            </a:r>
            <a:r>
              <a:rPr sz="4000" spc="-5" dirty="0"/>
              <a:t>if and </a:t>
            </a:r>
            <a:r>
              <a:rPr sz="4000" spc="-20" dirty="0"/>
              <a:t>only</a:t>
            </a:r>
            <a:r>
              <a:rPr sz="4000" spc="-35" dirty="0"/>
              <a:t> </a:t>
            </a:r>
            <a:r>
              <a:rPr sz="4000" spc="-5" dirty="0"/>
              <a:t>if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0616" y="2012416"/>
            <a:ext cx="3230245" cy="179514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600" dirty="0">
                <a:latin typeface="Perpetua"/>
                <a:cs typeface="Perpetua"/>
              </a:rPr>
              <a:t>p </a:t>
            </a:r>
            <a:r>
              <a:rPr sz="2600" dirty="0">
                <a:latin typeface="Times New Roman"/>
                <a:cs typeface="Times New Roman"/>
              </a:rPr>
              <a:t>≡ </a:t>
            </a:r>
            <a:r>
              <a:rPr sz="2600" dirty="0">
                <a:latin typeface="Perpetua"/>
                <a:cs typeface="Perpetua"/>
              </a:rPr>
              <a:t>q is </a:t>
            </a:r>
            <a:r>
              <a:rPr sz="2600" spc="10" dirty="0">
                <a:latin typeface="Perpetua"/>
                <a:cs typeface="Perpetua"/>
              </a:rPr>
              <a:t>true </a:t>
            </a:r>
            <a:r>
              <a:rPr sz="2600" dirty="0">
                <a:latin typeface="Perpetua"/>
                <a:cs typeface="Perpetua"/>
              </a:rPr>
              <a:t>when</a:t>
            </a:r>
            <a:r>
              <a:rPr sz="2600" spc="-11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:</a:t>
            </a:r>
            <a:endParaRPr sz="2600">
              <a:latin typeface="Perpetua"/>
              <a:cs typeface="Perpetua"/>
            </a:endParaRPr>
          </a:p>
          <a:p>
            <a:pPr marL="486409" indent="-229235">
              <a:lnSpc>
                <a:spcPct val="100000"/>
              </a:lnSpc>
              <a:spcBef>
                <a:spcPts val="325"/>
              </a:spcBef>
              <a:buSzPct val="84615"/>
              <a:buFont typeface="Arial"/>
              <a:buChar char="•"/>
              <a:tabLst>
                <a:tab pos="486409" algn="l"/>
                <a:tab pos="487045" algn="l"/>
              </a:tabLst>
            </a:pPr>
            <a:r>
              <a:rPr sz="2600" spc="-5" dirty="0">
                <a:latin typeface="Perpetua"/>
                <a:cs typeface="Perpetua"/>
              </a:rPr>
              <a:t>both </a:t>
            </a:r>
            <a:r>
              <a:rPr sz="2600" dirty="0">
                <a:latin typeface="Perpetua"/>
                <a:cs typeface="Perpetua"/>
              </a:rPr>
              <a:t>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q </a:t>
            </a:r>
            <a:r>
              <a:rPr sz="2600" spc="-15" dirty="0">
                <a:latin typeface="Perpetua"/>
                <a:cs typeface="Perpetua"/>
              </a:rPr>
              <a:t>are</a:t>
            </a:r>
            <a:r>
              <a:rPr sz="2600" spc="-5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true,</a:t>
            </a:r>
            <a:endParaRPr sz="2600">
              <a:latin typeface="Perpetua"/>
              <a:cs typeface="Perpetua"/>
            </a:endParaRPr>
          </a:p>
          <a:p>
            <a:pPr marL="486409" indent="-229235">
              <a:lnSpc>
                <a:spcPct val="100000"/>
              </a:lnSpc>
              <a:spcBef>
                <a:spcPts val="409"/>
              </a:spcBef>
              <a:buSzPct val="84615"/>
              <a:buFont typeface="Arial"/>
              <a:buChar char="•"/>
              <a:tabLst>
                <a:tab pos="486409" algn="l"/>
                <a:tab pos="487045" algn="l"/>
              </a:tabLst>
            </a:pPr>
            <a:r>
              <a:rPr sz="2600" dirty="0">
                <a:latin typeface="Perpetua"/>
                <a:cs typeface="Perpetua"/>
              </a:rPr>
              <a:t>or when both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-9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false,</a:t>
            </a:r>
            <a:endParaRPr sz="2600">
              <a:latin typeface="Perpetua"/>
              <a:cs typeface="Perpetua"/>
            </a:endParaRPr>
          </a:p>
          <a:p>
            <a:pPr marL="486409" indent="-229235">
              <a:lnSpc>
                <a:spcPct val="100000"/>
              </a:lnSpc>
              <a:spcBef>
                <a:spcPts val="395"/>
              </a:spcBef>
              <a:buSzPct val="84615"/>
              <a:buFont typeface="Arial"/>
              <a:buChar char="•"/>
              <a:tabLst>
                <a:tab pos="486409" algn="l"/>
                <a:tab pos="487045" algn="l"/>
              </a:tabLst>
            </a:pPr>
            <a:r>
              <a:rPr sz="2600" spc="-10" dirty="0">
                <a:latin typeface="Perpetua"/>
                <a:cs typeface="Perpetua"/>
              </a:rPr>
              <a:t>but </a:t>
            </a:r>
            <a:r>
              <a:rPr sz="2600" dirty="0">
                <a:latin typeface="Perpetua"/>
                <a:cs typeface="Perpetua"/>
              </a:rPr>
              <a:t>not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otherwise.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16644" y="4344996"/>
            <a:ext cx="3009122" cy="19422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7794" y="201295"/>
            <a:ext cx="33388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Times New Roman"/>
                <a:cs typeface="Times New Roman"/>
              </a:rPr>
              <a:t>Example</a:t>
            </a:r>
            <a:r>
              <a:rPr sz="3600" spc="-35" dirty="0">
                <a:latin typeface="Times New Roman"/>
                <a:cs typeface="Times New Roman"/>
              </a:rPr>
              <a:t> </a:t>
            </a:r>
            <a:r>
              <a:rPr sz="3600" spc="-5" dirty="0">
                <a:latin typeface="Times New Roman"/>
                <a:cs typeface="Times New Roman"/>
              </a:rPr>
              <a:t>revisited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59433"/>
            <a:ext cx="6256020" cy="4380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Perpetua"/>
                <a:cs typeface="Perpetua"/>
              </a:rPr>
              <a:t>Let,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p </a:t>
            </a:r>
            <a:r>
              <a:rPr sz="2400" dirty="0">
                <a:latin typeface="Perpetua"/>
                <a:cs typeface="Perpetua"/>
              </a:rPr>
              <a:t>denote a &lt;</a:t>
            </a:r>
            <a:r>
              <a:rPr sz="2400" spc="-13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</a:t>
            </a:r>
            <a:endParaRPr sz="2400">
              <a:latin typeface="Perpetua"/>
              <a:cs typeface="Perpetua"/>
            </a:endParaRPr>
          </a:p>
          <a:p>
            <a:pPr marL="12700" marR="2990215">
              <a:lnSpc>
                <a:spcPct val="100800"/>
              </a:lnSpc>
              <a:spcBef>
                <a:spcPts val="5"/>
              </a:spcBef>
            </a:pPr>
            <a:r>
              <a:rPr sz="2400" dirty="0">
                <a:latin typeface="Perpetua"/>
                <a:cs typeface="Perpetua"/>
              </a:rPr>
              <a:t>Then </a:t>
            </a:r>
            <a:r>
              <a:rPr sz="2400" b="1" spc="-20" dirty="0">
                <a:solidFill>
                  <a:srgbClr val="6F2F9F"/>
                </a:solidFill>
                <a:latin typeface="Perpetua"/>
                <a:cs typeface="Perpetua"/>
              </a:rPr>
              <a:t>NOT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p </a:t>
            </a:r>
            <a:r>
              <a:rPr sz="2400" dirty="0">
                <a:latin typeface="Perpetua"/>
                <a:cs typeface="Perpetua"/>
              </a:rPr>
              <a:t>denotes a &gt;=</a:t>
            </a:r>
            <a:r>
              <a:rPr sz="2400" spc="-1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b  </a:t>
            </a:r>
            <a:r>
              <a:rPr sz="2400" spc="-5" dirty="0">
                <a:latin typeface="Perpetua"/>
                <a:cs typeface="Perpetua"/>
              </a:rPr>
              <a:t>Let,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q </a:t>
            </a:r>
            <a:r>
              <a:rPr sz="2400" dirty="0">
                <a:latin typeface="Perpetua"/>
                <a:cs typeface="Perpetua"/>
              </a:rPr>
              <a:t>denote</a:t>
            </a:r>
            <a:r>
              <a:rPr sz="2400" spc="-114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c==d</a:t>
            </a:r>
            <a:endParaRPr sz="2400">
              <a:latin typeface="Perpetua"/>
              <a:cs typeface="Perpetua"/>
            </a:endParaRPr>
          </a:p>
          <a:p>
            <a:pPr marL="558165" marR="2856865" indent="-546100">
              <a:lnSpc>
                <a:spcPct val="100800"/>
              </a:lnSpc>
            </a:pPr>
            <a:r>
              <a:rPr sz="2400" spc="-25" dirty="0">
                <a:latin typeface="Perpetua"/>
                <a:cs typeface="Perpetua"/>
              </a:rPr>
              <a:t>Consider, </a:t>
            </a: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35" dirty="0">
                <a:latin typeface="Perpetua"/>
                <a:cs typeface="Perpetua"/>
              </a:rPr>
              <a:t>two</a:t>
            </a:r>
            <a:r>
              <a:rPr sz="2400" spc="-18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expressions:  p OR( </a:t>
            </a:r>
            <a:r>
              <a:rPr sz="2400" spc="-25" dirty="0">
                <a:latin typeface="Perpetua"/>
                <a:cs typeface="Perpetua"/>
              </a:rPr>
              <a:t>(NOT </a:t>
            </a:r>
            <a:r>
              <a:rPr sz="2400" dirty="0">
                <a:latin typeface="Perpetua"/>
                <a:cs typeface="Perpetua"/>
              </a:rPr>
              <a:t>p)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25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q)</a:t>
            </a:r>
            <a:endParaRPr sz="2400">
              <a:latin typeface="Perpetua"/>
              <a:cs typeface="Perpetua"/>
            </a:endParaRPr>
          </a:p>
          <a:p>
            <a:pPr marL="558165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Perpetua"/>
                <a:cs typeface="Perpetua"/>
              </a:rPr>
              <a:t>(p OR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spc="5" dirty="0">
                <a:latin typeface="Perpetua"/>
                <a:cs typeface="Perpetua"/>
              </a:rPr>
              <a:t>q)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50">
              <a:latin typeface="Perpetua"/>
              <a:cs typeface="Perpetua"/>
            </a:endParaRPr>
          </a:p>
          <a:p>
            <a:pPr marL="629920" indent="-297815">
              <a:lnSpc>
                <a:spcPts val="2790"/>
              </a:lnSpc>
              <a:spcBef>
                <a:spcPts val="5"/>
              </a:spcBef>
              <a:buSzPct val="85416"/>
              <a:buFont typeface="Wingdings"/>
              <a:buChar char=""/>
              <a:tabLst>
                <a:tab pos="630555" algn="l"/>
              </a:tabLst>
            </a:pPr>
            <a:r>
              <a:rPr sz="2400" dirty="0">
                <a:latin typeface="Perpetua"/>
                <a:cs typeface="Perpetua"/>
              </a:rPr>
              <a:t>both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are</a:t>
            </a:r>
            <a:r>
              <a:rPr sz="2400" spc="-30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TRUE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when</a:t>
            </a:r>
            <a:r>
              <a:rPr sz="2400" spc="-1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p</a:t>
            </a:r>
            <a:r>
              <a:rPr sz="2400" spc="-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300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TRUE</a:t>
            </a:r>
            <a:r>
              <a:rPr sz="2400" spc="-2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or when</a:t>
            </a:r>
            <a:r>
              <a:rPr sz="2400" spc="-2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is</a:t>
            </a:r>
            <a:r>
              <a:rPr sz="2400" spc="-285" dirty="0">
                <a:latin typeface="Perpetua"/>
                <a:cs typeface="Perpetua"/>
              </a:rPr>
              <a:t> </a:t>
            </a:r>
            <a:r>
              <a:rPr sz="2400" spc="-35" dirty="0">
                <a:latin typeface="Perpetua"/>
                <a:cs typeface="Perpetua"/>
              </a:rPr>
              <a:t>TRUE</a:t>
            </a:r>
            <a:endParaRPr sz="2400">
              <a:latin typeface="Perpetua"/>
              <a:cs typeface="Perpetua"/>
            </a:endParaRPr>
          </a:p>
          <a:p>
            <a:pPr marL="629920" indent="-297815">
              <a:lnSpc>
                <a:spcPts val="2790"/>
              </a:lnSpc>
              <a:buSzPct val="85416"/>
              <a:buFont typeface="Wingdings"/>
              <a:buChar char=""/>
              <a:tabLst>
                <a:tab pos="630555" algn="l"/>
              </a:tabLst>
            </a:pPr>
            <a:r>
              <a:rPr sz="2400" dirty="0">
                <a:latin typeface="Perpetua"/>
                <a:cs typeface="Perpetua"/>
              </a:rPr>
              <a:t>both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spc="-20" dirty="0">
                <a:latin typeface="Perpetua"/>
                <a:cs typeface="Perpetua"/>
              </a:rPr>
              <a:t>FALSE </a:t>
            </a:r>
            <a:r>
              <a:rPr sz="2400" dirty="0">
                <a:latin typeface="Perpetua"/>
                <a:cs typeface="Perpetua"/>
              </a:rPr>
              <a:t>if p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q </a:t>
            </a:r>
            <a:r>
              <a:rPr sz="2400" spc="-10" dirty="0">
                <a:latin typeface="Perpetua"/>
                <a:cs typeface="Perpetua"/>
              </a:rPr>
              <a:t>are </a:t>
            </a:r>
            <a:r>
              <a:rPr sz="2400" dirty="0">
                <a:latin typeface="Perpetua"/>
                <a:cs typeface="Perpetua"/>
              </a:rPr>
              <a:t>both</a:t>
            </a:r>
            <a:r>
              <a:rPr sz="2400" spc="-50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FALSE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Perpetua"/>
                <a:cs typeface="Perpetua"/>
              </a:rPr>
              <a:t>Thus, </a:t>
            </a:r>
            <a:r>
              <a:rPr sz="2400" spc="-45" dirty="0">
                <a:latin typeface="Perpetua"/>
                <a:cs typeface="Perpetua"/>
              </a:rPr>
              <a:t>we </a:t>
            </a:r>
            <a:r>
              <a:rPr sz="2400" spc="-35" dirty="0">
                <a:latin typeface="Perpetua"/>
                <a:cs typeface="Perpetua"/>
              </a:rPr>
              <a:t>have </a:t>
            </a:r>
            <a:r>
              <a:rPr sz="2400" dirty="0">
                <a:latin typeface="Perpetua"/>
                <a:cs typeface="Perpetua"/>
              </a:rPr>
              <a:t>a </a:t>
            </a:r>
            <a:r>
              <a:rPr sz="2400" spc="-15" dirty="0">
                <a:latin typeface="Perpetua"/>
                <a:cs typeface="Perpetua"/>
              </a:rPr>
              <a:t>valid</a:t>
            </a:r>
            <a:r>
              <a:rPr sz="2400" spc="-6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equivalence:</a:t>
            </a:r>
            <a:endParaRPr sz="2400">
              <a:latin typeface="Perpetua"/>
              <a:cs typeface="Perpetua"/>
            </a:endParaRPr>
          </a:p>
          <a:p>
            <a:pPr marL="1855470">
              <a:lnSpc>
                <a:spcPct val="100000"/>
              </a:lnSpc>
              <a:spcBef>
                <a:spcPts val="85"/>
              </a:spcBef>
            </a:pPr>
            <a:r>
              <a:rPr sz="2400" dirty="0">
                <a:latin typeface="Perpetua"/>
                <a:cs typeface="Perpetua"/>
              </a:rPr>
              <a:t>p OR( </a:t>
            </a:r>
            <a:r>
              <a:rPr sz="2400" spc="-25" dirty="0">
                <a:latin typeface="Perpetua"/>
                <a:cs typeface="Perpetua"/>
              </a:rPr>
              <a:t>(NOT </a:t>
            </a:r>
            <a:r>
              <a:rPr sz="2400" dirty="0">
                <a:latin typeface="Perpetua"/>
                <a:cs typeface="Perpetua"/>
              </a:rPr>
              <a:t>p)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q) </a:t>
            </a:r>
            <a:r>
              <a:rPr sz="2400" dirty="0">
                <a:latin typeface="Times New Roman"/>
                <a:cs typeface="Times New Roman"/>
              </a:rPr>
              <a:t>≡ </a:t>
            </a:r>
            <a:r>
              <a:rPr sz="2400" dirty="0">
                <a:latin typeface="Perpetua"/>
                <a:cs typeface="Perpetua"/>
              </a:rPr>
              <a:t>(p OR</a:t>
            </a:r>
            <a:r>
              <a:rPr sz="2400" spc="-28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q)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1159" y="366775"/>
            <a:ext cx="1246293" cy="967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53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5440" y="1281344"/>
            <a:ext cx="5427345" cy="240220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705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(</a:t>
            </a:r>
            <a:r>
              <a:rPr sz="2600" i="1" dirty="0">
                <a:latin typeface="Perpetua"/>
                <a:cs typeface="Perpetua"/>
              </a:rPr>
              <a:t>P</a:t>
            </a:r>
            <a:r>
              <a:rPr sz="2600" i="1" spc="-2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Q</a:t>
            </a:r>
            <a:r>
              <a:rPr sz="2600" dirty="0">
                <a:latin typeface="Perpetua"/>
                <a:cs typeface="Perpetua"/>
              </a:rPr>
              <a:t>)AND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R</a:t>
            </a:r>
            <a:r>
              <a:rPr sz="2600" i="1" spc="-1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P</a:t>
            </a:r>
            <a:r>
              <a:rPr sz="2600" i="1" spc="-2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AND(</a:t>
            </a:r>
            <a:r>
              <a:rPr sz="2600" i="1" dirty="0">
                <a:latin typeface="Perpetua"/>
                <a:cs typeface="Perpetua"/>
              </a:rPr>
              <a:t>Q</a:t>
            </a:r>
            <a:r>
              <a:rPr sz="2600" i="1" spc="-2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AND </a:t>
            </a:r>
            <a:r>
              <a:rPr sz="2600" i="1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)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  <a:tab pos="1322705" algn="l"/>
                <a:tab pos="2620010" algn="l"/>
                <a:tab pos="3192780" algn="l"/>
                <a:tab pos="4091304" algn="l"/>
              </a:tabLst>
            </a:pPr>
            <a:r>
              <a:rPr sz="2600" i="1" dirty="0">
                <a:latin typeface="Perpetua"/>
                <a:cs typeface="Perpetua"/>
              </a:rPr>
              <a:t>P</a:t>
            </a:r>
            <a:r>
              <a:rPr sz="2600" i="1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	(</a:t>
            </a:r>
            <a:r>
              <a:rPr sz="2600" i="1" dirty="0">
                <a:latin typeface="Perpetua"/>
                <a:cs typeface="Perpetua"/>
              </a:rPr>
              <a:t>R </a:t>
            </a:r>
            <a:r>
              <a:rPr sz="2600" dirty="0">
                <a:latin typeface="Perpetua"/>
                <a:cs typeface="Perpetua"/>
              </a:rPr>
              <a:t>OR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Q</a:t>
            </a:r>
            <a:r>
              <a:rPr sz="2600" spc="-5" dirty="0">
                <a:latin typeface="Perpetua"/>
                <a:cs typeface="Perpetua"/>
              </a:rPr>
              <a:t>)	and	(</a:t>
            </a:r>
            <a:r>
              <a:rPr sz="2600" i="1" spc="-5" dirty="0">
                <a:latin typeface="Perpetua"/>
                <a:cs typeface="Perpetua"/>
              </a:rPr>
              <a:t>P</a:t>
            </a:r>
            <a:r>
              <a:rPr sz="2600" i="1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OR	</a:t>
            </a:r>
            <a:r>
              <a:rPr sz="2600" i="1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) OR</a:t>
            </a:r>
            <a:r>
              <a:rPr sz="2600" spc="-40" dirty="0">
                <a:latin typeface="Perpetua"/>
                <a:cs typeface="Perpetua"/>
              </a:rPr>
              <a:t> </a:t>
            </a:r>
            <a:r>
              <a:rPr sz="2600" i="1" dirty="0">
                <a:latin typeface="Perpetua"/>
                <a:cs typeface="Perpetua"/>
              </a:rPr>
              <a:t>Q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525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i="1" spc="-15" dirty="0">
                <a:latin typeface="Perpetua"/>
                <a:cs typeface="Perpetua"/>
              </a:rPr>
              <a:t>¬(P</a:t>
            </a:r>
            <a:r>
              <a:rPr sz="2750" i="1" spc="-15" dirty="0">
                <a:latin typeface="Cambria Math"/>
                <a:cs typeface="Cambria Math"/>
              </a:rPr>
              <a:t>∨</a:t>
            </a:r>
            <a:r>
              <a:rPr sz="2600" i="1" spc="-15" dirty="0">
                <a:latin typeface="Perpetua"/>
                <a:cs typeface="Perpetua"/>
              </a:rPr>
              <a:t>Q)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i="1" spc="-20" dirty="0">
                <a:latin typeface="Perpetua"/>
                <a:cs typeface="Perpetua"/>
              </a:rPr>
              <a:t>¬P</a:t>
            </a:r>
            <a:r>
              <a:rPr sz="2750" i="1" spc="-20" dirty="0">
                <a:latin typeface="Cambria Math"/>
                <a:cs typeface="Cambria Math"/>
              </a:rPr>
              <a:t>∧</a:t>
            </a:r>
            <a:r>
              <a:rPr sz="2600" i="1" spc="-20" dirty="0">
                <a:latin typeface="Perpetua"/>
                <a:cs typeface="Perpetua"/>
              </a:rPr>
              <a:t>¬Q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527685" algn="l"/>
              </a:tabLst>
            </a:pPr>
            <a:r>
              <a:rPr sz="2200" i="1" dirty="0">
                <a:latin typeface="Perpetua"/>
                <a:cs typeface="Perpetua"/>
              </a:rPr>
              <a:t>4.	</a:t>
            </a:r>
            <a:r>
              <a:rPr sz="2600" i="1" spc="-30" dirty="0">
                <a:latin typeface="Perpetua"/>
                <a:cs typeface="Perpetua"/>
              </a:rPr>
              <a:t>P</a:t>
            </a:r>
            <a:r>
              <a:rPr sz="2750" i="1" spc="-30" dirty="0">
                <a:latin typeface="Cambria Math"/>
                <a:cs typeface="Cambria Math"/>
              </a:rPr>
              <a:t>∨</a:t>
            </a:r>
            <a:r>
              <a:rPr sz="2600" i="1" spc="-30" dirty="0">
                <a:latin typeface="Perpetua"/>
                <a:cs typeface="Perpetua"/>
              </a:rPr>
              <a:t>(Q</a:t>
            </a:r>
            <a:r>
              <a:rPr sz="2750" i="1" spc="-30" dirty="0">
                <a:latin typeface="Cambria Math"/>
                <a:cs typeface="Cambria Math"/>
              </a:rPr>
              <a:t>∧</a:t>
            </a:r>
            <a:r>
              <a:rPr sz="2600" i="1" spc="-30" dirty="0">
                <a:latin typeface="Perpetua"/>
                <a:cs typeface="Perpetua"/>
              </a:rPr>
              <a:t>R)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(P</a:t>
            </a:r>
            <a:r>
              <a:rPr sz="2750" i="1" spc="-30" dirty="0">
                <a:latin typeface="Cambria Math"/>
                <a:cs typeface="Cambria Math"/>
              </a:rPr>
              <a:t>∨</a:t>
            </a:r>
            <a:r>
              <a:rPr sz="2600" i="1" spc="-30" dirty="0">
                <a:latin typeface="Perpetua"/>
                <a:cs typeface="Perpetua"/>
              </a:rPr>
              <a:t>Q)</a:t>
            </a:r>
            <a:r>
              <a:rPr sz="2750" i="1" spc="-30" dirty="0">
                <a:latin typeface="Cambria Math"/>
                <a:cs typeface="Cambria Math"/>
              </a:rPr>
              <a:t>∧</a:t>
            </a:r>
            <a:r>
              <a:rPr sz="2600" i="1" spc="-30" dirty="0">
                <a:latin typeface="Perpetua"/>
                <a:cs typeface="Perpetua"/>
              </a:rPr>
              <a:t>(P</a:t>
            </a:r>
            <a:r>
              <a:rPr sz="2750" i="1" spc="-30" dirty="0">
                <a:latin typeface="Cambria Math"/>
                <a:cs typeface="Cambria Math"/>
              </a:rPr>
              <a:t>∨</a:t>
            </a:r>
            <a:r>
              <a:rPr sz="2600" i="1" spc="-30" dirty="0">
                <a:latin typeface="Perpetua"/>
                <a:cs typeface="Perpetua"/>
              </a:rPr>
              <a:t>R)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  <a:tabLst>
                <a:tab pos="527685" algn="l"/>
              </a:tabLst>
            </a:pPr>
            <a:r>
              <a:rPr sz="2200" i="1" dirty="0">
                <a:latin typeface="Perpetua"/>
                <a:cs typeface="Perpetua"/>
              </a:rPr>
              <a:t>5.	</a:t>
            </a:r>
            <a:r>
              <a:rPr sz="2600" i="1" spc="-25" dirty="0">
                <a:latin typeface="Perpetua"/>
                <a:cs typeface="Perpetua"/>
              </a:rPr>
              <a:t>(P</a:t>
            </a:r>
            <a:r>
              <a:rPr sz="2750" i="1" spc="-25" dirty="0">
                <a:latin typeface="Cambria Math"/>
                <a:cs typeface="Cambria Math"/>
              </a:rPr>
              <a:t>∧</a:t>
            </a:r>
            <a:r>
              <a:rPr sz="2600" i="1" spc="-25" dirty="0">
                <a:latin typeface="Perpetua"/>
                <a:cs typeface="Perpetua"/>
              </a:rPr>
              <a:t>P)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i="1" spc="-30" dirty="0">
                <a:latin typeface="Perpetua"/>
                <a:cs typeface="Perpetua"/>
              </a:rPr>
              <a:t>P</a:t>
            </a:r>
            <a:r>
              <a:rPr sz="2750" i="1" spc="-30" dirty="0">
                <a:latin typeface="Cambria Math"/>
                <a:cs typeface="Cambria Math"/>
              </a:rPr>
              <a:t>∨</a:t>
            </a:r>
            <a:r>
              <a:rPr sz="2600" i="1" spc="-30" dirty="0">
                <a:latin typeface="Perpetua"/>
                <a:cs typeface="Perpetua"/>
              </a:rPr>
              <a:t>P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5" dirty="0"/>
              <a:t>Check </a:t>
            </a:r>
            <a:r>
              <a:rPr dirty="0"/>
              <a:t>whether the </a:t>
            </a:r>
            <a:r>
              <a:rPr spc="-15" dirty="0"/>
              <a:t>following </a:t>
            </a:r>
            <a:r>
              <a:rPr spc="10" dirty="0"/>
              <a:t>pairs </a:t>
            </a:r>
            <a:r>
              <a:rPr spc="-15" dirty="0"/>
              <a:t>are </a:t>
            </a:r>
            <a:r>
              <a:rPr spc="-10" dirty="0"/>
              <a:t>equivalent  </a:t>
            </a:r>
            <a:r>
              <a:rPr spc="-5" dirty="0"/>
              <a:t>or </a:t>
            </a:r>
            <a:r>
              <a:rPr dirty="0"/>
              <a:t>not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893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Implic</a:t>
            </a:r>
            <a:r>
              <a:rPr sz="3600" spc="-35" dirty="0"/>
              <a:t>a</a:t>
            </a:r>
            <a:r>
              <a:rPr sz="3600" dirty="0"/>
              <a:t>tion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53090" y="975632"/>
            <a:ext cx="8265642" cy="4776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33500" y="3860800"/>
            <a:ext cx="27305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3400" y="4367212"/>
            <a:ext cx="7884026" cy="6000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06674" y="1536545"/>
            <a:ext cx="2492373" cy="16935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57373" y="1895983"/>
            <a:ext cx="14522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if </a:t>
            </a:r>
            <a:r>
              <a:rPr sz="2400" b="1" spc="-25" dirty="0">
                <a:solidFill>
                  <a:srgbClr val="6F2F9F"/>
                </a:solidFill>
                <a:latin typeface="Perpetua"/>
                <a:cs typeface="Perpetua"/>
              </a:rPr>
              <a:t>p, </a:t>
            </a:r>
            <a:r>
              <a:rPr sz="2400" b="1" spc="-5" dirty="0">
                <a:solidFill>
                  <a:srgbClr val="6F2F9F"/>
                </a:solidFill>
                <a:latin typeface="Perpetua"/>
                <a:cs typeface="Perpetua"/>
              </a:rPr>
              <a:t>then</a:t>
            </a:r>
            <a:r>
              <a:rPr sz="2400" b="1" spc="-180" dirty="0">
                <a:solidFill>
                  <a:srgbClr val="6F2F9F"/>
                </a:solidFill>
                <a:latin typeface="Perpetua"/>
                <a:cs typeface="Perpetu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q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p </a:t>
            </a:r>
            <a:r>
              <a:rPr sz="2400" b="1" spc="-5" dirty="0">
                <a:solidFill>
                  <a:srgbClr val="6F2F9F"/>
                </a:solidFill>
                <a:latin typeface="Perpetua"/>
                <a:cs typeface="Perpetua"/>
              </a:rPr>
              <a:t>implies</a:t>
            </a:r>
            <a:r>
              <a:rPr sz="2400" b="1" spc="-75" dirty="0">
                <a:solidFill>
                  <a:srgbClr val="6F2F9F"/>
                </a:solidFill>
                <a:latin typeface="Perpetua"/>
                <a:cs typeface="Perpetua"/>
              </a:rPr>
              <a:t> </a:t>
            </a:r>
            <a:r>
              <a:rPr sz="2400" b="1" dirty="0">
                <a:solidFill>
                  <a:srgbClr val="6F2F9F"/>
                </a:solidFill>
                <a:latin typeface="Perpetua"/>
                <a:cs typeface="Perpetua"/>
              </a:rPr>
              <a:t>q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8194" y="5561482"/>
            <a:ext cx="7306309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10" dirty="0">
                <a:latin typeface="Perpetua"/>
                <a:cs typeface="Perpetua"/>
              </a:rPr>
              <a:t>statement </a:t>
            </a:r>
            <a:r>
              <a:rPr sz="2400" spc="-5" dirty="0">
                <a:latin typeface="Perpetua"/>
                <a:cs typeface="Perpetua"/>
              </a:rPr>
              <a:t>q</a:t>
            </a:r>
            <a:r>
              <a:rPr sz="2400" spc="-5" dirty="0">
                <a:latin typeface="Times New Roman"/>
                <a:cs typeface="Times New Roman"/>
              </a:rPr>
              <a:t>→</a:t>
            </a:r>
            <a:r>
              <a:rPr sz="2400" spc="-5" dirty="0">
                <a:latin typeface="Perpetua"/>
                <a:cs typeface="Perpetua"/>
              </a:rPr>
              <a:t>p </a:t>
            </a:r>
            <a:r>
              <a:rPr sz="2400" dirty="0">
                <a:latin typeface="Perpetua"/>
                <a:cs typeface="Perpetua"/>
              </a:rPr>
              <a:t>is </a:t>
            </a:r>
            <a:r>
              <a:rPr sz="2400" spc="-5" dirty="0">
                <a:latin typeface="Perpetua"/>
                <a:cs typeface="Perpetua"/>
              </a:rPr>
              <a:t>called the </a:t>
            </a:r>
            <a:r>
              <a:rPr sz="2400" b="1" spc="-20" dirty="0">
                <a:latin typeface="Perpetua"/>
                <a:cs typeface="Perpetua"/>
              </a:rPr>
              <a:t>converse </a:t>
            </a:r>
            <a:r>
              <a:rPr sz="2400" dirty="0">
                <a:latin typeface="Perpetua"/>
                <a:cs typeface="Perpetua"/>
              </a:rPr>
              <a:t>of the </a:t>
            </a:r>
            <a:r>
              <a:rPr sz="2400" spc="-10" dirty="0">
                <a:latin typeface="Perpetua"/>
                <a:cs typeface="Perpetua"/>
              </a:rPr>
              <a:t>statement</a:t>
            </a:r>
            <a:r>
              <a:rPr sz="2400" spc="55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p</a:t>
            </a:r>
            <a:r>
              <a:rPr sz="2400" spc="-5" dirty="0">
                <a:latin typeface="Times New Roman"/>
                <a:cs typeface="Times New Roman"/>
              </a:rPr>
              <a:t>→</a:t>
            </a:r>
            <a:r>
              <a:rPr sz="2400" spc="-5" dirty="0">
                <a:latin typeface="Perpetua"/>
                <a:cs typeface="Perpetua"/>
              </a:rPr>
              <a:t>q</a:t>
            </a:r>
            <a:endParaRPr sz="2400">
              <a:latin typeface="Perpetua"/>
              <a:cs typeface="Perpetua"/>
            </a:endParaRPr>
          </a:p>
          <a:p>
            <a:pPr marL="57785">
              <a:lnSpc>
                <a:spcPts val="2850"/>
              </a:lnSpc>
            </a:pPr>
            <a:r>
              <a:rPr sz="2400" dirty="0">
                <a:latin typeface="Perpetua"/>
                <a:cs typeface="Perpetua"/>
              </a:rPr>
              <a:t>A conditional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its </a:t>
            </a:r>
            <a:r>
              <a:rPr sz="2400" spc="-10" dirty="0">
                <a:latin typeface="Perpetua"/>
                <a:cs typeface="Perpetua"/>
              </a:rPr>
              <a:t>converse are </a:t>
            </a:r>
            <a:r>
              <a:rPr sz="2400" i="1" dirty="0">
                <a:latin typeface="Perpetua"/>
                <a:cs typeface="Perpetua"/>
              </a:rPr>
              <a:t>not</a:t>
            </a:r>
            <a:r>
              <a:rPr sz="2400" i="1" spc="-40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equivalent</a:t>
            </a:r>
            <a:endParaRPr sz="2400">
              <a:latin typeface="Perpetua"/>
              <a:cs typeface="Perpet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2853" y="3352800"/>
            <a:ext cx="706894" cy="9070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8338" y="5257800"/>
            <a:ext cx="656705" cy="8401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4800" y="1365250"/>
          <a:ext cx="7315833" cy="3276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9145"/>
                <a:gridCol w="1330325"/>
                <a:gridCol w="1736725"/>
                <a:gridCol w="1357629"/>
                <a:gridCol w="2112009"/>
              </a:tblGrid>
              <a:tr h="1079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marL="26670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4466"/>
                          </a:solidFill>
                          <a:latin typeface="Perpetua"/>
                          <a:cs typeface="Perpetua"/>
                        </a:rPr>
                        <a:t>p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317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4466"/>
                          </a:solidFill>
                          <a:latin typeface="Perpetua"/>
                          <a:cs typeface="Perpetua"/>
                        </a:rPr>
                        <a:t>q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317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577850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4466"/>
                          </a:solidFill>
                          <a:latin typeface="Perpetua"/>
                          <a:cs typeface="Perpetua"/>
                        </a:rPr>
                        <a:t>p</a:t>
                      </a:r>
                      <a:r>
                        <a:rPr sz="24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2400" b="1" dirty="0">
                          <a:solidFill>
                            <a:srgbClr val="004466"/>
                          </a:solidFill>
                          <a:latin typeface="Perpetua"/>
                          <a:cs typeface="Perpetua"/>
                        </a:rPr>
                        <a:t>q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381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marL="503555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004466"/>
                          </a:solidFill>
                          <a:latin typeface="Perpetua"/>
                          <a:cs typeface="Perpetua"/>
                        </a:rPr>
                        <a:t>~p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317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marL="476250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004466"/>
                          </a:solidFill>
                          <a:latin typeface="Perpetua"/>
                          <a:cs typeface="Perpetua"/>
                        </a:rPr>
                        <a:t>(~p) OR</a:t>
                      </a:r>
                      <a:r>
                        <a:rPr sz="2400" b="1" spc="-45" dirty="0">
                          <a:solidFill>
                            <a:srgbClr val="004466"/>
                          </a:solidFill>
                          <a:latin typeface="Perpetua"/>
                          <a:cs typeface="Perpetua"/>
                        </a:rPr>
                        <a:t> </a:t>
                      </a:r>
                      <a:r>
                        <a:rPr sz="2400" b="1" dirty="0">
                          <a:solidFill>
                            <a:srgbClr val="004466"/>
                          </a:solidFill>
                          <a:latin typeface="Perpetua"/>
                          <a:cs typeface="Perpetua"/>
                        </a:rPr>
                        <a:t>q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3175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FEDFF"/>
                    </a:solidFill>
                  </a:tcPr>
                </a:tc>
              </a:tr>
              <a:tr h="689419"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0764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0764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57785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0764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503555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0764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476250">
                        <a:lnSpc>
                          <a:spcPct val="100000"/>
                        </a:lnSpc>
                        <a:spcBef>
                          <a:spcPts val="163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07645" marB="0">
                    <a:solidFill>
                      <a:srgbClr val="DFEDFF"/>
                    </a:solidFill>
                  </a:tcPr>
                </a:tc>
              </a:tr>
              <a:tr h="504126"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5778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5035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4762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</a:tr>
              <a:tr h="504001"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5778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5035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4762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</a:tr>
              <a:tr h="499347">
                <a:tc>
                  <a:txBody>
                    <a:bodyPr/>
                    <a:lstStyle/>
                    <a:p>
                      <a:pPr marL="266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R="273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F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5778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5035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  <a:tc>
                  <a:txBody>
                    <a:bodyPr/>
                    <a:lstStyle/>
                    <a:p>
                      <a:pPr marL="47625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dirty="0">
                          <a:latin typeface="Perpetua"/>
                          <a:cs typeface="Perpetua"/>
                        </a:rPr>
                        <a:t>T</a:t>
                      </a:r>
                      <a:endParaRPr sz="2400">
                        <a:latin typeface="Perpetua"/>
                        <a:cs typeface="Perpetua"/>
                      </a:endParaRPr>
                    </a:p>
                  </a:txBody>
                  <a:tcPr marL="0" marR="0" marT="22225" marB="0">
                    <a:solidFill>
                      <a:srgbClr val="DFEDFF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0" y="0"/>
            <a:ext cx="76200" cy="114300"/>
            <a:chOff x="0" y="0"/>
            <a:chExt cx="76200" cy="114300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67056" cy="1143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76200" cy="76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83540" y="4860797"/>
            <a:ext cx="646176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04215">
              <a:lnSpc>
                <a:spcPct val="100000"/>
              </a:lnSpc>
              <a:spcBef>
                <a:spcPts val="95"/>
              </a:spcBef>
              <a:tabLst>
                <a:tab pos="939800" algn="l"/>
              </a:tabLst>
            </a:pPr>
            <a:r>
              <a:rPr sz="2800" spc="-90" dirty="0">
                <a:latin typeface="Perpetua"/>
                <a:cs typeface="Perpetua"/>
              </a:rPr>
              <a:t>b. </a:t>
            </a:r>
            <a:r>
              <a:rPr sz="2800" spc="-5" dirty="0">
                <a:latin typeface="Perpetua"/>
                <a:cs typeface="Perpetua"/>
              </a:rPr>
              <a:t>It expresses the </a:t>
            </a:r>
            <a:r>
              <a:rPr sz="2800" spc="-10" dirty="0">
                <a:latin typeface="Perpetua"/>
                <a:cs typeface="Perpetua"/>
              </a:rPr>
              <a:t>equivalence </a:t>
            </a:r>
            <a:r>
              <a:rPr sz="2800" spc="-20" dirty="0">
                <a:latin typeface="Perpetua"/>
                <a:cs typeface="Perpetua"/>
              </a:rPr>
              <a:t>between  saying	</a:t>
            </a:r>
            <a:r>
              <a:rPr sz="2800" spc="-10" dirty="0">
                <a:latin typeface="Perpetua"/>
                <a:cs typeface="Perpetua"/>
              </a:rPr>
              <a:t>"if </a:t>
            </a:r>
            <a:r>
              <a:rPr sz="2800" spc="-5" dirty="0">
                <a:latin typeface="Perpetua"/>
                <a:cs typeface="Perpetua"/>
              </a:rPr>
              <a:t>p is </a:t>
            </a:r>
            <a:r>
              <a:rPr sz="2800" dirty="0">
                <a:latin typeface="Perpetua"/>
                <a:cs typeface="Perpetua"/>
              </a:rPr>
              <a:t>true, </a:t>
            </a:r>
            <a:r>
              <a:rPr sz="2800" spc="-5" dirty="0">
                <a:latin typeface="Perpetua"/>
                <a:cs typeface="Perpetua"/>
              </a:rPr>
              <a:t>then q </a:t>
            </a:r>
            <a:r>
              <a:rPr sz="2800" spc="-10" dirty="0">
                <a:latin typeface="Perpetua"/>
                <a:cs typeface="Perpetua"/>
              </a:rPr>
              <a:t>must </a:t>
            </a:r>
            <a:r>
              <a:rPr sz="2800" spc="-5" dirty="0">
                <a:latin typeface="Perpetua"/>
                <a:cs typeface="Perpetua"/>
              </a:rPr>
              <a:t>be </a:t>
            </a:r>
            <a:r>
              <a:rPr sz="2800" spc="10" dirty="0">
                <a:latin typeface="Perpetua"/>
                <a:cs typeface="Perpetua"/>
              </a:rPr>
              <a:t>true"</a:t>
            </a:r>
            <a:r>
              <a:rPr sz="2800" spc="-165" dirty="0">
                <a:latin typeface="Perpetua"/>
                <a:cs typeface="Perpetua"/>
              </a:rPr>
              <a:t> </a:t>
            </a:r>
            <a:r>
              <a:rPr sz="2800" spc="-10" dirty="0">
                <a:latin typeface="Perpetua"/>
                <a:cs typeface="Perpetua"/>
              </a:rPr>
              <a:t>and</a:t>
            </a:r>
            <a:endParaRPr sz="28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800" spc="-20" dirty="0">
                <a:latin typeface="Perpetua"/>
                <a:cs typeface="Perpetua"/>
              </a:rPr>
              <a:t>saying </a:t>
            </a:r>
            <a:r>
              <a:rPr sz="2800" spc="-10" dirty="0">
                <a:latin typeface="Perpetua"/>
                <a:cs typeface="Perpetua"/>
              </a:rPr>
              <a:t>"either </a:t>
            </a:r>
            <a:r>
              <a:rPr sz="2800" spc="-5" dirty="0">
                <a:latin typeface="Perpetua"/>
                <a:cs typeface="Perpetua"/>
              </a:rPr>
              <a:t>p </a:t>
            </a:r>
            <a:r>
              <a:rPr sz="2800" spc="-10" dirty="0">
                <a:latin typeface="Perpetua"/>
                <a:cs typeface="Perpetua"/>
              </a:rPr>
              <a:t>is </a:t>
            </a:r>
            <a:r>
              <a:rPr sz="2800" i="1" spc="-5" dirty="0">
                <a:latin typeface="Perpetua"/>
                <a:cs typeface="Perpetua"/>
              </a:rPr>
              <a:t>not </a:t>
            </a:r>
            <a:r>
              <a:rPr sz="2800" dirty="0">
                <a:latin typeface="Perpetua"/>
                <a:cs typeface="Perpetua"/>
              </a:rPr>
              <a:t>true, </a:t>
            </a:r>
            <a:r>
              <a:rPr sz="2800" spc="-5" dirty="0">
                <a:latin typeface="Perpetua"/>
                <a:cs typeface="Perpetua"/>
              </a:rPr>
              <a:t>or else q </a:t>
            </a:r>
            <a:r>
              <a:rPr sz="2800" spc="-10" dirty="0">
                <a:latin typeface="Perpetua"/>
                <a:cs typeface="Perpetua"/>
              </a:rPr>
              <a:t>must </a:t>
            </a:r>
            <a:r>
              <a:rPr sz="2800" spc="-5" dirty="0">
                <a:latin typeface="Perpetua"/>
                <a:cs typeface="Perpetua"/>
              </a:rPr>
              <a:t>be</a:t>
            </a:r>
            <a:r>
              <a:rPr sz="2800" spc="-85" dirty="0">
                <a:latin typeface="Perpetua"/>
                <a:cs typeface="Perpetua"/>
              </a:rPr>
              <a:t> </a:t>
            </a:r>
            <a:r>
              <a:rPr sz="2800" spc="10" dirty="0">
                <a:latin typeface="Perpetua"/>
                <a:cs typeface="Perpetua"/>
              </a:rPr>
              <a:t>true"</a:t>
            </a:r>
            <a:endParaRPr sz="2800">
              <a:latin typeface="Perpetua"/>
              <a:cs typeface="Perpetu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55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3540" y="221691"/>
            <a:ext cx="4114800" cy="86868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91440" marR="5080" indent="-79375">
              <a:lnSpc>
                <a:spcPts val="3279"/>
              </a:lnSpc>
              <a:spcBef>
                <a:spcPts val="275"/>
              </a:spcBef>
              <a:tabLst>
                <a:tab pos="1541145" algn="l"/>
              </a:tabLst>
            </a:pPr>
            <a:r>
              <a:rPr sz="2800" spc="-5" dirty="0"/>
              <a:t>a.</a:t>
            </a:r>
            <a:r>
              <a:rPr sz="2800" spc="-110" dirty="0"/>
              <a:t> </a:t>
            </a:r>
            <a:r>
              <a:rPr sz="2800" spc="5" dirty="0"/>
              <a:t>Check</a:t>
            </a:r>
            <a:r>
              <a:rPr sz="2800" dirty="0"/>
              <a:t> </a:t>
            </a:r>
            <a:r>
              <a:rPr sz="2800" spc="-10" dirty="0"/>
              <a:t>if	</a:t>
            </a:r>
            <a:r>
              <a:rPr sz="2800" spc="-5" dirty="0"/>
              <a:t>p</a:t>
            </a:r>
            <a:r>
              <a:rPr sz="2800" spc="-5" dirty="0">
                <a:latin typeface="Times New Roman"/>
                <a:cs typeface="Times New Roman"/>
              </a:rPr>
              <a:t>→</a:t>
            </a:r>
            <a:r>
              <a:rPr sz="2800" spc="-5" dirty="0"/>
              <a:t>q </a:t>
            </a:r>
            <a:r>
              <a:rPr sz="2800" spc="-5" dirty="0">
                <a:latin typeface="Times New Roman"/>
                <a:cs typeface="Times New Roman"/>
              </a:rPr>
              <a:t>≡ </a:t>
            </a:r>
            <a:r>
              <a:rPr sz="2800" spc="-5" dirty="0"/>
              <a:t>(~p) OR</a:t>
            </a:r>
            <a:r>
              <a:rPr sz="2800" spc="-65" dirty="0"/>
              <a:t> </a:t>
            </a:r>
            <a:r>
              <a:rPr sz="2800" spc="-5" dirty="0"/>
              <a:t>q.  </a:t>
            </a:r>
            <a:r>
              <a:rPr sz="2800" spc="-10" dirty="0"/>
              <a:t>b.What </a:t>
            </a:r>
            <a:r>
              <a:rPr sz="2800" spc="-5" dirty="0"/>
              <a:t>it</a:t>
            </a:r>
            <a:r>
              <a:rPr sz="2800" spc="-30" dirty="0"/>
              <a:t> say?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59061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Understanding the implies</a:t>
            </a:r>
            <a:r>
              <a:rPr sz="3600" spc="-50" dirty="0"/>
              <a:t> </a:t>
            </a:r>
            <a:r>
              <a:rPr sz="3600" spc="-5" dirty="0"/>
              <a:t>operator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7340" y="1348392"/>
            <a:ext cx="7931150" cy="382524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73685" marR="2774315" indent="-273685" algn="r">
              <a:lnSpc>
                <a:spcPct val="100000"/>
              </a:lnSpc>
              <a:spcBef>
                <a:spcPts val="775"/>
              </a:spcBef>
              <a:buSzPct val="84615"/>
              <a:buFont typeface="Arial"/>
              <a:buChar char="•"/>
              <a:tabLst>
                <a:tab pos="273685" algn="l"/>
                <a:tab pos="274320" algn="l"/>
              </a:tabLst>
            </a:pPr>
            <a:r>
              <a:rPr sz="2600" b="1" i="1" spc="-80" dirty="0">
                <a:latin typeface="Perpetua"/>
                <a:cs typeface="Perpetua"/>
              </a:rPr>
              <a:t>True </a:t>
            </a:r>
            <a:r>
              <a:rPr sz="2600" b="1" i="1" dirty="0">
                <a:latin typeface="Perpetua"/>
                <a:cs typeface="Perpetua"/>
              </a:rPr>
              <a:t>Can't </a:t>
            </a:r>
            <a:r>
              <a:rPr sz="2600" b="1" i="1" spc="-15" dirty="0">
                <a:latin typeface="Perpetua"/>
                <a:cs typeface="Perpetua"/>
              </a:rPr>
              <a:t>Imply </a:t>
            </a:r>
            <a:r>
              <a:rPr sz="2600" b="1" i="1" spc="-35" dirty="0">
                <a:latin typeface="Perpetua"/>
                <a:cs typeface="Perpetua"/>
              </a:rPr>
              <a:t>False, </a:t>
            </a:r>
            <a:r>
              <a:rPr sz="2600" b="1" i="1" spc="-15" dirty="0">
                <a:latin typeface="Perpetua"/>
                <a:cs typeface="Perpetua"/>
              </a:rPr>
              <a:t>therefore</a:t>
            </a:r>
            <a:r>
              <a:rPr sz="2600" b="1" i="1" spc="-270" dirty="0">
                <a:latin typeface="Perpetua"/>
                <a:cs typeface="Perpetua"/>
              </a:rPr>
              <a:t> </a:t>
            </a:r>
            <a:r>
              <a:rPr sz="2600" b="1" i="1" spc="-20" dirty="0">
                <a:latin typeface="Perpetua"/>
                <a:cs typeface="Perpetua"/>
              </a:rPr>
              <a:t>false</a:t>
            </a:r>
            <a:endParaRPr sz="2600">
              <a:latin typeface="Perpetua"/>
              <a:cs typeface="Perpetua"/>
            </a:endParaRPr>
          </a:p>
          <a:p>
            <a:pPr marR="2828925" algn="r">
              <a:lnSpc>
                <a:spcPct val="100000"/>
              </a:lnSpc>
              <a:spcBef>
                <a:spcPts val="675"/>
              </a:spcBef>
            </a:pPr>
            <a:r>
              <a:rPr sz="2600" dirty="0">
                <a:latin typeface="Perpetua"/>
                <a:cs typeface="Perpetua"/>
              </a:rPr>
              <a:t>p is </a:t>
            </a:r>
            <a:r>
              <a:rPr sz="2600" spc="10" dirty="0">
                <a:latin typeface="Perpetua"/>
                <a:cs typeface="Perpetua"/>
              </a:rPr>
              <a:t>true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q is </a:t>
            </a:r>
            <a:r>
              <a:rPr sz="2600" spc="-15" dirty="0">
                <a:latin typeface="Perpetua"/>
                <a:cs typeface="Perpetua"/>
              </a:rPr>
              <a:t>false, </a:t>
            </a:r>
            <a:r>
              <a:rPr sz="2600" dirty="0">
                <a:latin typeface="Perpetua"/>
                <a:cs typeface="Perpetua"/>
              </a:rPr>
              <a:t>then p</a:t>
            </a:r>
            <a:r>
              <a:rPr sz="2600" dirty="0">
                <a:latin typeface="Times New Roman"/>
                <a:cs typeface="Times New Roman"/>
              </a:rPr>
              <a:t>→</a:t>
            </a:r>
            <a:r>
              <a:rPr sz="2600" dirty="0">
                <a:latin typeface="Perpetua"/>
                <a:cs typeface="Perpetua"/>
              </a:rPr>
              <a:t>q is</a:t>
            </a:r>
            <a:r>
              <a:rPr sz="2600" spc="-15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false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b="1" i="1" spc="-65" dirty="0">
                <a:latin typeface="Perpetua"/>
                <a:cs typeface="Perpetua"/>
              </a:rPr>
              <a:t>(True</a:t>
            </a:r>
            <a:r>
              <a:rPr sz="2600" b="1" i="1" spc="-15" dirty="0">
                <a:latin typeface="Perpetua"/>
                <a:cs typeface="Perpetua"/>
              </a:rPr>
              <a:t> </a:t>
            </a:r>
            <a:r>
              <a:rPr sz="2600" b="1" i="1" spc="-5" dirty="0">
                <a:latin typeface="Perpetua"/>
                <a:cs typeface="Perpetua"/>
              </a:rPr>
              <a:t>Implies</a:t>
            </a:r>
            <a:r>
              <a:rPr sz="2600" b="1" i="1" spc="-325" dirty="0">
                <a:latin typeface="Perpetua"/>
                <a:cs typeface="Perpetua"/>
              </a:rPr>
              <a:t> </a:t>
            </a:r>
            <a:r>
              <a:rPr sz="2600" b="1" i="1" spc="-65" dirty="0">
                <a:latin typeface="Perpetua"/>
                <a:cs typeface="Perpetua"/>
              </a:rPr>
              <a:t>True)</a:t>
            </a:r>
            <a:r>
              <a:rPr sz="2600" b="1" i="1" spc="-20" dirty="0">
                <a:latin typeface="Perpetua"/>
                <a:cs typeface="Perpetua"/>
              </a:rPr>
              <a:t> </a:t>
            </a:r>
            <a:r>
              <a:rPr sz="2600" b="1" i="1" dirty="0">
                <a:latin typeface="Perpetua"/>
                <a:cs typeface="Perpetua"/>
              </a:rPr>
              <a:t>is</a:t>
            </a:r>
            <a:r>
              <a:rPr sz="2600" b="1" i="1" spc="-310" dirty="0">
                <a:latin typeface="Perpetua"/>
                <a:cs typeface="Perpetua"/>
              </a:rPr>
              <a:t> </a:t>
            </a:r>
            <a:r>
              <a:rPr sz="2600" b="1" i="1" spc="-80" dirty="0">
                <a:latin typeface="Perpetua"/>
                <a:cs typeface="Perpetua"/>
              </a:rPr>
              <a:t>True</a:t>
            </a:r>
            <a:endParaRPr sz="2600">
              <a:latin typeface="Perpetua"/>
              <a:cs typeface="Perpetua"/>
            </a:endParaRPr>
          </a:p>
          <a:p>
            <a:pPr marL="286385">
              <a:lnSpc>
                <a:spcPct val="100000"/>
              </a:lnSpc>
              <a:spcBef>
                <a:spcPts val="670"/>
              </a:spcBef>
            </a:pPr>
            <a:r>
              <a:rPr sz="2600" dirty="0">
                <a:latin typeface="Perpetua"/>
                <a:cs typeface="Perpetua"/>
              </a:rPr>
              <a:t>If 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q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both </a:t>
            </a:r>
            <a:r>
              <a:rPr sz="2600" dirty="0">
                <a:latin typeface="Perpetua"/>
                <a:cs typeface="Perpetua"/>
              </a:rPr>
              <a:t>true, then p</a:t>
            </a:r>
            <a:r>
              <a:rPr sz="2600" dirty="0">
                <a:latin typeface="Times New Roman"/>
                <a:cs typeface="Times New Roman"/>
              </a:rPr>
              <a:t>→</a:t>
            </a:r>
            <a:r>
              <a:rPr sz="2600" dirty="0">
                <a:latin typeface="Perpetua"/>
                <a:cs typeface="Perpetua"/>
              </a:rPr>
              <a:t>q is</a:t>
            </a:r>
            <a:r>
              <a:rPr sz="2600" spc="-130" dirty="0">
                <a:latin typeface="Perpetua"/>
                <a:cs typeface="Perpetua"/>
              </a:rPr>
              <a:t> </a:t>
            </a:r>
            <a:r>
              <a:rPr sz="2600" spc="15" dirty="0">
                <a:latin typeface="Perpetua"/>
                <a:cs typeface="Perpetua"/>
              </a:rPr>
              <a:t>true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b="1" i="1" spc="-35" dirty="0">
                <a:latin typeface="Perpetua"/>
                <a:cs typeface="Perpetua"/>
              </a:rPr>
              <a:t>False </a:t>
            </a:r>
            <a:r>
              <a:rPr sz="2600" b="1" i="1" spc="-5" dirty="0">
                <a:latin typeface="Perpetua"/>
                <a:cs typeface="Perpetua"/>
              </a:rPr>
              <a:t>Implies</a:t>
            </a:r>
            <a:r>
              <a:rPr sz="2600" b="1" i="1" spc="5" dirty="0">
                <a:latin typeface="Perpetua"/>
                <a:cs typeface="Perpetua"/>
              </a:rPr>
              <a:t> </a:t>
            </a:r>
            <a:r>
              <a:rPr sz="2600" b="1" i="1" spc="-5" dirty="0">
                <a:latin typeface="Perpetua"/>
                <a:cs typeface="Perpetua"/>
              </a:rPr>
              <a:t>????</a:t>
            </a:r>
            <a:endParaRPr sz="2600">
              <a:latin typeface="Perpetua"/>
              <a:cs typeface="Perpetua"/>
            </a:endParaRPr>
          </a:p>
          <a:p>
            <a:pPr marL="311150">
              <a:lnSpc>
                <a:spcPct val="100000"/>
              </a:lnSpc>
              <a:spcBef>
                <a:spcPts val="675"/>
              </a:spcBef>
            </a:pPr>
            <a:r>
              <a:rPr sz="2600" dirty="0">
                <a:latin typeface="Perpetua"/>
                <a:cs typeface="Perpetua"/>
              </a:rPr>
              <a:t>If p is </a:t>
            </a:r>
            <a:r>
              <a:rPr sz="2600" spc="-15" dirty="0">
                <a:latin typeface="Perpetua"/>
                <a:cs typeface="Perpetua"/>
              </a:rPr>
              <a:t>false, </a:t>
            </a:r>
            <a:r>
              <a:rPr sz="2600" dirty="0">
                <a:latin typeface="Perpetua"/>
                <a:cs typeface="Perpetua"/>
              </a:rPr>
              <a:t>then p</a:t>
            </a:r>
            <a:r>
              <a:rPr sz="2600" dirty="0">
                <a:latin typeface="Times New Roman"/>
                <a:cs typeface="Times New Roman"/>
              </a:rPr>
              <a:t>→</a:t>
            </a:r>
            <a:r>
              <a:rPr sz="2600" dirty="0">
                <a:latin typeface="Perpetua"/>
                <a:cs typeface="Perpetua"/>
              </a:rPr>
              <a:t>q is true, no </a:t>
            </a:r>
            <a:r>
              <a:rPr sz="2600" spc="-10" dirty="0">
                <a:latin typeface="Perpetua"/>
                <a:cs typeface="Perpetua"/>
              </a:rPr>
              <a:t>matter </a:t>
            </a:r>
            <a:r>
              <a:rPr sz="2600" dirty="0">
                <a:latin typeface="Perpetua"/>
                <a:cs typeface="Perpetua"/>
              </a:rPr>
              <a:t>whether q is </a:t>
            </a:r>
            <a:r>
              <a:rPr sz="2600" spc="15" dirty="0">
                <a:latin typeface="Perpetua"/>
                <a:cs typeface="Perpetua"/>
              </a:rPr>
              <a:t>true </a:t>
            </a:r>
            <a:r>
              <a:rPr sz="2600" i="1" spc="-5" dirty="0">
                <a:latin typeface="Perpetua"/>
                <a:cs typeface="Perpetua"/>
              </a:rPr>
              <a:t>or</a:t>
            </a:r>
            <a:r>
              <a:rPr sz="2600" i="1" spc="-235" dirty="0">
                <a:latin typeface="Perpetua"/>
                <a:cs typeface="Perpetua"/>
              </a:rPr>
              <a:t> </a:t>
            </a:r>
            <a:r>
              <a:rPr sz="2600" i="1" spc="-5" dirty="0">
                <a:latin typeface="Perpetua"/>
                <a:cs typeface="Perpetua"/>
              </a:rPr>
              <a:t>not</a:t>
            </a:r>
            <a:endParaRPr sz="2600">
              <a:latin typeface="Perpetua"/>
              <a:cs typeface="Perpetu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658234" y="1295400"/>
            <a:ext cx="4948555" cy="3419475"/>
            <a:chOff x="3658234" y="1295400"/>
            <a:chExt cx="4948555" cy="3419475"/>
          </a:xfrm>
        </p:grpSpPr>
        <p:sp>
          <p:nvSpPr>
            <p:cNvPr id="5" name="object 5"/>
            <p:cNvSpPr/>
            <p:nvPr/>
          </p:nvSpPr>
          <p:spPr>
            <a:xfrm>
              <a:off x="6248399" y="1295400"/>
              <a:ext cx="2115311" cy="15529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15181" y="1609915"/>
              <a:ext cx="2363470" cy="1662430"/>
            </a:xfrm>
            <a:custGeom>
              <a:avLst/>
              <a:gdLst/>
              <a:ahLst/>
              <a:cxnLst/>
              <a:rect l="l" t="t" r="r" b="b"/>
              <a:pathLst>
                <a:path w="2363470" h="1662429">
                  <a:moveTo>
                    <a:pt x="2362708" y="1073848"/>
                  </a:moveTo>
                  <a:lnTo>
                    <a:pt x="2362454" y="1041844"/>
                  </a:lnTo>
                  <a:lnTo>
                    <a:pt x="2307082" y="1042225"/>
                  </a:lnTo>
                  <a:lnTo>
                    <a:pt x="2251710" y="1043368"/>
                  </a:lnTo>
                  <a:lnTo>
                    <a:pt x="2196338" y="1045273"/>
                  </a:lnTo>
                  <a:lnTo>
                    <a:pt x="2141474" y="1047813"/>
                  </a:lnTo>
                  <a:lnTo>
                    <a:pt x="2086991" y="1051115"/>
                  </a:lnTo>
                  <a:lnTo>
                    <a:pt x="2033143" y="1055052"/>
                  </a:lnTo>
                  <a:lnTo>
                    <a:pt x="1979803" y="1059624"/>
                  </a:lnTo>
                  <a:lnTo>
                    <a:pt x="1927352" y="1064831"/>
                  </a:lnTo>
                  <a:lnTo>
                    <a:pt x="1824990" y="1076896"/>
                  </a:lnTo>
                  <a:lnTo>
                    <a:pt x="1775333" y="1083754"/>
                  </a:lnTo>
                  <a:lnTo>
                    <a:pt x="1726946" y="1091247"/>
                  </a:lnTo>
                  <a:lnTo>
                    <a:pt x="1679829" y="1099121"/>
                  </a:lnTo>
                  <a:lnTo>
                    <a:pt x="1634109" y="1107503"/>
                  </a:lnTo>
                  <a:lnTo>
                    <a:pt x="1589786" y="1116393"/>
                  </a:lnTo>
                  <a:lnTo>
                    <a:pt x="1547241" y="1125537"/>
                  </a:lnTo>
                  <a:lnTo>
                    <a:pt x="1506220" y="1135189"/>
                  </a:lnTo>
                  <a:lnTo>
                    <a:pt x="1467104" y="1145222"/>
                  </a:lnTo>
                  <a:lnTo>
                    <a:pt x="1430020" y="1155636"/>
                  </a:lnTo>
                  <a:lnTo>
                    <a:pt x="1361821" y="1177226"/>
                  </a:lnTo>
                  <a:lnTo>
                    <a:pt x="1302258" y="1200213"/>
                  </a:lnTo>
                  <a:lnTo>
                    <a:pt x="1264031" y="1218247"/>
                  </a:lnTo>
                  <a:lnTo>
                    <a:pt x="1221994" y="1243139"/>
                  </a:lnTo>
                  <a:lnTo>
                    <a:pt x="1190498" y="1269555"/>
                  </a:lnTo>
                  <a:lnTo>
                    <a:pt x="1168019" y="1307020"/>
                  </a:lnTo>
                  <a:lnTo>
                    <a:pt x="1166241" y="1314894"/>
                  </a:lnTo>
                  <a:lnTo>
                    <a:pt x="1165987" y="1315656"/>
                  </a:lnTo>
                  <a:lnTo>
                    <a:pt x="1165860" y="1317307"/>
                  </a:lnTo>
                  <a:lnTo>
                    <a:pt x="1165098" y="1329626"/>
                  </a:lnTo>
                  <a:lnTo>
                    <a:pt x="1164082" y="1333944"/>
                  </a:lnTo>
                  <a:lnTo>
                    <a:pt x="1137285" y="1368615"/>
                  </a:lnTo>
                  <a:lnTo>
                    <a:pt x="1105027" y="1391094"/>
                  </a:lnTo>
                  <a:lnTo>
                    <a:pt x="1060704" y="1413827"/>
                  </a:lnTo>
                  <a:lnTo>
                    <a:pt x="1020572" y="1430718"/>
                  </a:lnTo>
                  <a:lnTo>
                    <a:pt x="958469" y="1452308"/>
                  </a:lnTo>
                  <a:lnTo>
                    <a:pt x="887476" y="1473009"/>
                  </a:lnTo>
                  <a:lnTo>
                    <a:pt x="848995" y="1482788"/>
                  </a:lnTo>
                  <a:lnTo>
                    <a:pt x="808736" y="1492313"/>
                  </a:lnTo>
                  <a:lnTo>
                    <a:pt x="766572" y="1501457"/>
                  </a:lnTo>
                  <a:lnTo>
                    <a:pt x="722884" y="1510093"/>
                  </a:lnTo>
                  <a:lnTo>
                    <a:pt x="677545" y="1518348"/>
                  </a:lnTo>
                  <a:lnTo>
                    <a:pt x="630809" y="1526222"/>
                  </a:lnTo>
                  <a:lnTo>
                    <a:pt x="582930" y="1533461"/>
                  </a:lnTo>
                  <a:lnTo>
                    <a:pt x="533654" y="1540319"/>
                  </a:lnTo>
                  <a:lnTo>
                    <a:pt x="483362" y="1546542"/>
                  </a:lnTo>
                  <a:lnTo>
                    <a:pt x="432181" y="1552257"/>
                  </a:lnTo>
                  <a:lnTo>
                    <a:pt x="380111" y="1557464"/>
                  </a:lnTo>
                  <a:lnTo>
                    <a:pt x="327152" y="1561909"/>
                  </a:lnTo>
                  <a:lnTo>
                    <a:pt x="273685" y="1565846"/>
                  </a:lnTo>
                  <a:lnTo>
                    <a:pt x="165100" y="1571688"/>
                  </a:lnTo>
                  <a:lnTo>
                    <a:pt x="110236" y="1573593"/>
                  </a:lnTo>
                  <a:lnTo>
                    <a:pt x="91389" y="1573949"/>
                  </a:lnTo>
                  <a:lnTo>
                    <a:pt x="63423" y="1590509"/>
                  </a:lnTo>
                  <a:lnTo>
                    <a:pt x="86398" y="1576895"/>
                  </a:lnTo>
                  <a:lnTo>
                    <a:pt x="91389" y="1573949"/>
                  </a:lnTo>
                  <a:lnTo>
                    <a:pt x="135509" y="1547812"/>
                  </a:lnTo>
                  <a:lnTo>
                    <a:pt x="125247" y="1518208"/>
                  </a:lnTo>
                  <a:lnTo>
                    <a:pt x="119253" y="1520253"/>
                  </a:lnTo>
                  <a:lnTo>
                    <a:pt x="0" y="1590992"/>
                  </a:lnTo>
                  <a:lnTo>
                    <a:pt x="120269" y="1659953"/>
                  </a:lnTo>
                  <a:lnTo>
                    <a:pt x="126263" y="1661998"/>
                  </a:lnTo>
                  <a:lnTo>
                    <a:pt x="132372" y="1661566"/>
                  </a:lnTo>
                  <a:lnTo>
                    <a:pt x="137883" y="1658874"/>
                  </a:lnTo>
                  <a:lnTo>
                    <a:pt x="142113" y="1654111"/>
                  </a:lnTo>
                  <a:lnTo>
                    <a:pt x="144068" y="1648040"/>
                  </a:lnTo>
                  <a:lnTo>
                    <a:pt x="143598" y="1641906"/>
                  </a:lnTo>
                  <a:lnTo>
                    <a:pt x="140893" y="1636420"/>
                  </a:lnTo>
                  <a:lnTo>
                    <a:pt x="136144" y="1632267"/>
                  </a:lnTo>
                  <a:lnTo>
                    <a:pt x="91694" y="1606740"/>
                  </a:lnTo>
                  <a:lnTo>
                    <a:pt x="90246" y="1605915"/>
                  </a:lnTo>
                  <a:lnTo>
                    <a:pt x="111379" y="1605470"/>
                  </a:lnTo>
                  <a:lnTo>
                    <a:pt x="166624" y="1603565"/>
                  </a:lnTo>
                  <a:lnTo>
                    <a:pt x="221488" y="1601025"/>
                  </a:lnTo>
                  <a:lnTo>
                    <a:pt x="329946" y="1593913"/>
                  </a:lnTo>
                  <a:lnTo>
                    <a:pt x="435737" y="1584134"/>
                  </a:lnTo>
                  <a:lnTo>
                    <a:pt x="487426" y="1578419"/>
                  </a:lnTo>
                  <a:lnTo>
                    <a:pt x="538099" y="1572069"/>
                  </a:lnTo>
                  <a:lnTo>
                    <a:pt x="587756" y="1565211"/>
                  </a:lnTo>
                  <a:lnTo>
                    <a:pt x="636143" y="1557718"/>
                  </a:lnTo>
                  <a:lnTo>
                    <a:pt x="683387" y="1549844"/>
                  </a:lnTo>
                  <a:lnTo>
                    <a:pt x="729107" y="1541462"/>
                  </a:lnTo>
                  <a:lnTo>
                    <a:pt x="773430" y="1532699"/>
                  </a:lnTo>
                  <a:lnTo>
                    <a:pt x="816102" y="1523428"/>
                  </a:lnTo>
                  <a:lnTo>
                    <a:pt x="856869" y="1513776"/>
                  </a:lnTo>
                  <a:lnTo>
                    <a:pt x="896112" y="1503743"/>
                  </a:lnTo>
                  <a:lnTo>
                    <a:pt x="933323" y="1493456"/>
                  </a:lnTo>
                  <a:lnTo>
                    <a:pt x="1001522" y="1471739"/>
                  </a:lnTo>
                  <a:lnTo>
                    <a:pt x="1046988" y="1454594"/>
                  </a:lnTo>
                  <a:lnTo>
                    <a:pt x="1087120" y="1436814"/>
                  </a:lnTo>
                  <a:lnTo>
                    <a:pt x="1121791" y="1418272"/>
                  </a:lnTo>
                  <a:lnTo>
                    <a:pt x="1158748" y="1392364"/>
                  </a:lnTo>
                  <a:lnTo>
                    <a:pt x="1184529" y="1364043"/>
                  </a:lnTo>
                  <a:lnTo>
                    <a:pt x="1197483" y="1325562"/>
                  </a:lnTo>
                  <a:lnTo>
                    <a:pt x="1197711" y="1321625"/>
                  </a:lnTo>
                  <a:lnTo>
                    <a:pt x="1197813" y="1319949"/>
                  </a:lnTo>
                  <a:lnTo>
                    <a:pt x="1197965" y="1319212"/>
                  </a:lnTo>
                  <a:lnTo>
                    <a:pt x="1198372" y="1317180"/>
                  </a:lnTo>
                  <a:lnTo>
                    <a:pt x="1199769" y="1312608"/>
                  </a:lnTo>
                  <a:lnTo>
                    <a:pt x="1225042" y="1281112"/>
                  </a:lnTo>
                  <a:lnTo>
                    <a:pt x="1257554" y="1258379"/>
                  </a:lnTo>
                  <a:lnTo>
                    <a:pt x="1301877" y="1235392"/>
                  </a:lnTo>
                  <a:lnTo>
                    <a:pt x="1342136" y="1218501"/>
                  </a:lnTo>
                  <a:lnTo>
                    <a:pt x="1404112" y="1196911"/>
                  </a:lnTo>
                  <a:lnTo>
                    <a:pt x="1475105" y="1176210"/>
                  </a:lnTo>
                  <a:lnTo>
                    <a:pt x="1513586" y="1166304"/>
                  </a:lnTo>
                  <a:lnTo>
                    <a:pt x="1553972" y="1156779"/>
                  </a:lnTo>
                  <a:lnTo>
                    <a:pt x="1596136" y="1147762"/>
                  </a:lnTo>
                  <a:lnTo>
                    <a:pt x="1639824" y="1138999"/>
                  </a:lnTo>
                  <a:lnTo>
                    <a:pt x="1685036" y="1130744"/>
                  </a:lnTo>
                  <a:lnTo>
                    <a:pt x="1731772" y="1122870"/>
                  </a:lnTo>
                  <a:lnTo>
                    <a:pt x="1779778" y="1115504"/>
                  </a:lnTo>
                  <a:lnTo>
                    <a:pt x="1828927" y="1108646"/>
                  </a:lnTo>
                  <a:lnTo>
                    <a:pt x="1879219" y="1102423"/>
                  </a:lnTo>
                  <a:lnTo>
                    <a:pt x="1930527" y="1096708"/>
                  </a:lnTo>
                  <a:lnTo>
                    <a:pt x="1982597" y="1091501"/>
                  </a:lnTo>
                  <a:lnTo>
                    <a:pt x="2035429" y="1086929"/>
                  </a:lnTo>
                  <a:lnTo>
                    <a:pt x="2088896" y="1083119"/>
                  </a:lnTo>
                  <a:lnTo>
                    <a:pt x="2142998" y="1079817"/>
                  </a:lnTo>
                  <a:lnTo>
                    <a:pt x="2197481" y="1077277"/>
                  </a:lnTo>
                  <a:lnTo>
                    <a:pt x="2252345" y="1075372"/>
                  </a:lnTo>
                  <a:lnTo>
                    <a:pt x="2307336" y="1074229"/>
                  </a:lnTo>
                  <a:lnTo>
                    <a:pt x="2362708" y="1073848"/>
                  </a:lnTo>
                  <a:close/>
                </a:path>
                <a:path w="2363470" h="1662429">
                  <a:moveTo>
                    <a:pt x="2362962" y="813244"/>
                  </a:moveTo>
                  <a:lnTo>
                    <a:pt x="2317369" y="811085"/>
                  </a:lnTo>
                  <a:lnTo>
                    <a:pt x="2272792" y="804862"/>
                  </a:lnTo>
                  <a:lnTo>
                    <a:pt x="2228850" y="794829"/>
                  </a:lnTo>
                  <a:lnTo>
                    <a:pt x="2185924" y="781367"/>
                  </a:lnTo>
                  <a:lnTo>
                    <a:pt x="2144268" y="764476"/>
                  </a:lnTo>
                  <a:lnTo>
                    <a:pt x="2104390" y="744791"/>
                  </a:lnTo>
                  <a:lnTo>
                    <a:pt x="2066671" y="722185"/>
                  </a:lnTo>
                  <a:lnTo>
                    <a:pt x="2031619" y="697293"/>
                  </a:lnTo>
                  <a:lnTo>
                    <a:pt x="1999234" y="670242"/>
                  </a:lnTo>
                  <a:lnTo>
                    <a:pt x="1970278" y="641413"/>
                  </a:lnTo>
                  <a:lnTo>
                    <a:pt x="1944751" y="611060"/>
                  </a:lnTo>
                  <a:lnTo>
                    <a:pt x="1923288" y="579564"/>
                  </a:lnTo>
                  <a:lnTo>
                    <a:pt x="1899285" y="530669"/>
                  </a:lnTo>
                  <a:lnTo>
                    <a:pt x="1885823" y="480885"/>
                  </a:lnTo>
                  <a:lnTo>
                    <a:pt x="1883283" y="447611"/>
                  </a:lnTo>
                  <a:lnTo>
                    <a:pt x="1882521" y="429704"/>
                  </a:lnTo>
                  <a:lnTo>
                    <a:pt x="1876679" y="391731"/>
                  </a:lnTo>
                  <a:lnTo>
                    <a:pt x="1865122" y="354393"/>
                  </a:lnTo>
                  <a:lnTo>
                    <a:pt x="1848612" y="318071"/>
                  </a:lnTo>
                  <a:lnTo>
                    <a:pt x="1827530" y="283146"/>
                  </a:lnTo>
                  <a:lnTo>
                    <a:pt x="1802003" y="249491"/>
                  </a:lnTo>
                  <a:lnTo>
                    <a:pt x="1772793" y="217741"/>
                  </a:lnTo>
                  <a:lnTo>
                    <a:pt x="1740027" y="187896"/>
                  </a:lnTo>
                  <a:lnTo>
                    <a:pt x="1704213" y="160337"/>
                  </a:lnTo>
                  <a:lnTo>
                    <a:pt x="1665605" y="135191"/>
                  </a:lnTo>
                  <a:lnTo>
                    <a:pt x="1624711" y="112839"/>
                  </a:lnTo>
                  <a:lnTo>
                    <a:pt x="1581785" y="93535"/>
                  </a:lnTo>
                  <a:lnTo>
                    <a:pt x="1537081" y="77406"/>
                  </a:lnTo>
                  <a:lnTo>
                    <a:pt x="1490980" y="64960"/>
                  </a:lnTo>
                  <a:lnTo>
                    <a:pt x="1456334" y="58318"/>
                  </a:lnTo>
                  <a:lnTo>
                    <a:pt x="1467408" y="52387"/>
                  </a:lnTo>
                  <a:lnTo>
                    <a:pt x="1509141" y="30035"/>
                  </a:lnTo>
                  <a:lnTo>
                    <a:pt x="1514081" y="25984"/>
                  </a:lnTo>
                  <a:lnTo>
                    <a:pt x="1516964" y="20574"/>
                  </a:lnTo>
                  <a:lnTo>
                    <a:pt x="1517586" y="14503"/>
                  </a:lnTo>
                  <a:lnTo>
                    <a:pt x="1515745" y="8445"/>
                  </a:lnTo>
                  <a:lnTo>
                    <a:pt x="1511681" y="3505"/>
                  </a:lnTo>
                  <a:lnTo>
                    <a:pt x="1506283" y="622"/>
                  </a:lnTo>
                  <a:lnTo>
                    <a:pt x="1500200" y="0"/>
                  </a:lnTo>
                  <a:lnTo>
                    <a:pt x="1494155" y="1841"/>
                  </a:lnTo>
                  <a:lnTo>
                    <a:pt x="1371854" y="67246"/>
                  </a:lnTo>
                  <a:lnTo>
                    <a:pt x="1488948" y="141414"/>
                  </a:lnTo>
                  <a:lnTo>
                    <a:pt x="1494891" y="143687"/>
                  </a:lnTo>
                  <a:lnTo>
                    <a:pt x="1501038" y="143510"/>
                  </a:lnTo>
                  <a:lnTo>
                    <a:pt x="1474114" y="94119"/>
                  </a:lnTo>
                  <a:lnTo>
                    <a:pt x="1483233" y="95948"/>
                  </a:lnTo>
                  <a:lnTo>
                    <a:pt x="1526794" y="107759"/>
                  </a:lnTo>
                  <a:lnTo>
                    <a:pt x="1569085" y="122872"/>
                  </a:lnTo>
                  <a:lnTo>
                    <a:pt x="1609979" y="141287"/>
                  </a:lnTo>
                  <a:lnTo>
                    <a:pt x="1648714" y="162369"/>
                  </a:lnTo>
                  <a:lnTo>
                    <a:pt x="1685163" y="185991"/>
                  </a:lnTo>
                  <a:lnTo>
                    <a:pt x="1719072" y="212026"/>
                  </a:lnTo>
                  <a:lnTo>
                    <a:pt x="1749806" y="239966"/>
                  </a:lnTo>
                  <a:lnTo>
                    <a:pt x="1777111" y="269557"/>
                  </a:lnTo>
                  <a:lnTo>
                    <a:pt x="1800606" y="300418"/>
                  </a:lnTo>
                  <a:lnTo>
                    <a:pt x="1828038" y="348551"/>
                  </a:lnTo>
                  <a:lnTo>
                    <a:pt x="1845310" y="397827"/>
                  </a:lnTo>
                  <a:lnTo>
                    <a:pt x="1851279" y="448881"/>
                  </a:lnTo>
                  <a:lnTo>
                    <a:pt x="1852168" y="467931"/>
                  </a:lnTo>
                  <a:lnTo>
                    <a:pt x="1858137" y="505904"/>
                  </a:lnTo>
                  <a:lnTo>
                    <a:pt x="1869694" y="542988"/>
                  </a:lnTo>
                  <a:lnTo>
                    <a:pt x="1886331" y="579183"/>
                  </a:lnTo>
                  <a:lnTo>
                    <a:pt x="1907540" y="614108"/>
                  </a:lnTo>
                  <a:lnTo>
                    <a:pt x="1932940" y="647509"/>
                  </a:lnTo>
                  <a:lnTo>
                    <a:pt x="1962277" y="679132"/>
                  </a:lnTo>
                  <a:lnTo>
                    <a:pt x="1995043" y="708977"/>
                  </a:lnTo>
                  <a:lnTo>
                    <a:pt x="2030857" y="736536"/>
                  </a:lnTo>
                  <a:lnTo>
                    <a:pt x="2069465" y="761555"/>
                  </a:lnTo>
                  <a:lnTo>
                    <a:pt x="2110359" y="783907"/>
                  </a:lnTo>
                  <a:lnTo>
                    <a:pt x="2153412" y="803211"/>
                  </a:lnTo>
                  <a:lnTo>
                    <a:pt x="2198243" y="819213"/>
                  </a:lnTo>
                  <a:lnTo>
                    <a:pt x="2244217" y="831659"/>
                  </a:lnTo>
                  <a:lnTo>
                    <a:pt x="2291334" y="840295"/>
                  </a:lnTo>
                  <a:lnTo>
                    <a:pt x="2338959" y="844613"/>
                  </a:lnTo>
                  <a:lnTo>
                    <a:pt x="2362200" y="845248"/>
                  </a:lnTo>
                  <a:lnTo>
                    <a:pt x="2362962" y="813244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72961" y="1524761"/>
              <a:ext cx="2209800" cy="762000"/>
            </a:xfrm>
            <a:custGeom>
              <a:avLst/>
              <a:gdLst/>
              <a:ahLst/>
              <a:cxnLst/>
              <a:rect l="l" t="t" r="r" b="b"/>
              <a:pathLst>
                <a:path w="2209800" h="762000">
                  <a:moveTo>
                    <a:pt x="0" y="381000"/>
                  </a:moveTo>
                  <a:lnTo>
                    <a:pt x="8608" y="333204"/>
                  </a:lnTo>
                  <a:lnTo>
                    <a:pt x="33743" y="287181"/>
                  </a:lnTo>
                  <a:lnTo>
                    <a:pt x="74370" y="243288"/>
                  </a:lnTo>
                  <a:lnTo>
                    <a:pt x="129453" y="201881"/>
                  </a:lnTo>
                  <a:lnTo>
                    <a:pt x="162092" y="182222"/>
                  </a:lnTo>
                  <a:lnTo>
                    <a:pt x="197956" y="163318"/>
                  </a:lnTo>
                  <a:lnTo>
                    <a:pt x="236918" y="145214"/>
                  </a:lnTo>
                  <a:lnTo>
                    <a:pt x="278846" y="127955"/>
                  </a:lnTo>
                  <a:lnTo>
                    <a:pt x="323611" y="111585"/>
                  </a:lnTo>
                  <a:lnTo>
                    <a:pt x="371085" y="96149"/>
                  </a:lnTo>
                  <a:lnTo>
                    <a:pt x="421138" y="81691"/>
                  </a:lnTo>
                  <a:lnTo>
                    <a:pt x="473640" y="68257"/>
                  </a:lnTo>
                  <a:lnTo>
                    <a:pt x="528461" y="55890"/>
                  </a:lnTo>
                  <a:lnTo>
                    <a:pt x="585474" y="44636"/>
                  </a:lnTo>
                  <a:lnTo>
                    <a:pt x="644547" y="34539"/>
                  </a:lnTo>
                  <a:lnTo>
                    <a:pt x="705552" y="25643"/>
                  </a:lnTo>
                  <a:lnTo>
                    <a:pt x="768359" y="17993"/>
                  </a:lnTo>
                  <a:lnTo>
                    <a:pt x="832839" y="11634"/>
                  </a:lnTo>
                  <a:lnTo>
                    <a:pt x="898863" y="6611"/>
                  </a:lnTo>
                  <a:lnTo>
                    <a:pt x="966300" y="2968"/>
                  </a:lnTo>
                  <a:lnTo>
                    <a:pt x="1035022" y="749"/>
                  </a:lnTo>
                  <a:lnTo>
                    <a:pt x="1104899" y="0"/>
                  </a:lnTo>
                  <a:lnTo>
                    <a:pt x="1174777" y="749"/>
                  </a:lnTo>
                  <a:lnTo>
                    <a:pt x="1243499" y="2968"/>
                  </a:lnTo>
                  <a:lnTo>
                    <a:pt x="1310936" y="6611"/>
                  </a:lnTo>
                  <a:lnTo>
                    <a:pt x="1376960" y="11634"/>
                  </a:lnTo>
                  <a:lnTo>
                    <a:pt x="1441440" y="17993"/>
                  </a:lnTo>
                  <a:lnTo>
                    <a:pt x="1504247" y="25643"/>
                  </a:lnTo>
                  <a:lnTo>
                    <a:pt x="1565252" y="34539"/>
                  </a:lnTo>
                  <a:lnTo>
                    <a:pt x="1624325" y="44636"/>
                  </a:lnTo>
                  <a:lnTo>
                    <a:pt x="1681338" y="55890"/>
                  </a:lnTo>
                  <a:lnTo>
                    <a:pt x="1736159" y="68257"/>
                  </a:lnTo>
                  <a:lnTo>
                    <a:pt x="1788661" y="81691"/>
                  </a:lnTo>
                  <a:lnTo>
                    <a:pt x="1838714" y="96149"/>
                  </a:lnTo>
                  <a:lnTo>
                    <a:pt x="1886188" y="111585"/>
                  </a:lnTo>
                  <a:lnTo>
                    <a:pt x="1930953" y="127955"/>
                  </a:lnTo>
                  <a:lnTo>
                    <a:pt x="1972881" y="145214"/>
                  </a:lnTo>
                  <a:lnTo>
                    <a:pt x="2011843" y="163318"/>
                  </a:lnTo>
                  <a:lnTo>
                    <a:pt x="2047707" y="182222"/>
                  </a:lnTo>
                  <a:lnTo>
                    <a:pt x="2080346" y="201881"/>
                  </a:lnTo>
                  <a:lnTo>
                    <a:pt x="2135429" y="243288"/>
                  </a:lnTo>
                  <a:lnTo>
                    <a:pt x="2176056" y="287181"/>
                  </a:lnTo>
                  <a:lnTo>
                    <a:pt x="2201191" y="333204"/>
                  </a:lnTo>
                  <a:lnTo>
                    <a:pt x="2209799" y="381000"/>
                  </a:lnTo>
                  <a:lnTo>
                    <a:pt x="2207626" y="405097"/>
                  </a:lnTo>
                  <a:lnTo>
                    <a:pt x="2190625" y="452050"/>
                  </a:lnTo>
                  <a:lnTo>
                    <a:pt x="2157614" y="497053"/>
                  </a:lnTo>
                  <a:lnTo>
                    <a:pt x="2109630" y="539747"/>
                  </a:lnTo>
                  <a:lnTo>
                    <a:pt x="2047707" y="579777"/>
                  </a:lnTo>
                  <a:lnTo>
                    <a:pt x="2011843" y="598681"/>
                  </a:lnTo>
                  <a:lnTo>
                    <a:pt x="1972881" y="616785"/>
                  </a:lnTo>
                  <a:lnTo>
                    <a:pt x="1930953" y="634044"/>
                  </a:lnTo>
                  <a:lnTo>
                    <a:pt x="1886188" y="650414"/>
                  </a:lnTo>
                  <a:lnTo>
                    <a:pt x="1838714" y="665850"/>
                  </a:lnTo>
                  <a:lnTo>
                    <a:pt x="1788661" y="680308"/>
                  </a:lnTo>
                  <a:lnTo>
                    <a:pt x="1736159" y="693742"/>
                  </a:lnTo>
                  <a:lnTo>
                    <a:pt x="1681338" y="706109"/>
                  </a:lnTo>
                  <a:lnTo>
                    <a:pt x="1624325" y="717363"/>
                  </a:lnTo>
                  <a:lnTo>
                    <a:pt x="1565252" y="727460"/>
                  </a:lnTo>
                  <a:lnTo>
                    <a:pt x="1504247" y="736356"/>
                  </a:lnTo>
                  <a:lnTo>
                    <a:pt x="1441440" y="744006"/>
                  </a:lnTo>
                  <a:lnTo>
                    <a:pt x="1376960" y="750365"/>
                  </a:lnTo>
                  <a:lnTo>
                    <a:pt x="1310936" y="755388"/>
                  </a:lnTo>
                  <a:lnTo>
                    <a:pt x="1243499" y="759031"/>
                  </a:lnTo>
                  <a:lnTo>
                    <a:pt x="1174777" y="761250"/>
                  </a:lnTo>
                  <a:lnTo>
                    <a:pt x="1104899" y="762000"/>
                  </a:lnTo>
                  <a:lnTo>
                    <a:pt x="1035022" y="761250"/>
                  </a:lnTo>
                  <a:lnTo>
                    <a:pt x="966300" y="759031"/>
                  </a:lnTo>
                  <a:lnTo>
                    <a:pt x="898863" y="755388"/>
                  </a:lnTo>
                  <a:lnTo>
                    <a:pt x="832839" y="750365"/>
                  </a:lnTo>
                  <a:lnTo>
                    <a:pt x="768359" y="744006"/>
                  </a:lnTo>
                  <a:lnTo>
                    <a:pt x="705552" y="736356"/>
                  </a:lnTo>
                  <a:lnTo>
                    <a:pt x="644547" y="727460"/>
                  </a:lnTo>
                  <a:lnTo>
                    <a:pt x="585474" y="717363"/>
                  </a:lnTo>
                  <a:lnTo>
                    <a:pt x="528461" y="706109"/>
                  </a:lnTo>
                  <a:lnTo>
                    <a:pt x="473640" y="693742"/>
                  </a:lnTo>
                  <a:lnTo>
                    <a:pt x="421138" y="680308"/>
                  </a:lnTo>
                  <a:lnTo>
                    <a:pt x="371085" y="665850"/>
                  </a:lnTo>
                  <a:lnTo>
                    <a:pt x="323611" y="650414"/>
                  </a:lnTo>
                  <a:lnTo>
                    <a:pt x="278846" y="634044"/>
                  </a:lnTo>
                  <a:lnTo>
                    <a:pt x="236918" y="616785"/>
                  </a:lnTo>
                  <a:lnTo>
                    <a:pt x="197956" y="598681"/>
                  </a:lnTo>
                  <a:lnTo>
                    <a:pt x="162092" y="579777"/>
                  </a:lnTo>
                  <a:lnTo>
                    <a:pt x="129453" y="560118"/>
                  </a:lnTo>
                  <a:lnTo>
                    <a:pt x="74370" y="518711"/>
                  </a:lnTo>
                  <a:lnTo>
                    <a:pt x="33743" y="474818"/>
                  </a:lnTo>
                  <a:lnTo>
                    <a:pt x="8608" y="428795"/>
                  </a:lnTo>
                  <a:lnTo>
                    <a:pt x="0" y="381000"/>
                  </a:lnTo>
                  <a:close/>
                </a:path>
              </a:pathLst>
            </a:custGeom>
            <a:ln w="47243">
              <a:solidFill>
                <a:srgbClr val="9B310D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8234" y="2057400"/>
              <a:ext cx="4948555" cy="2657475"/>
            </a:xfrm>
            <a:custGeom>
              <a:avLst/>
              <a:gdLst/>
              <a:ahLst/>
              <a:cxnLst/>
              <a:rect l="l" t="t" r="r" b="b"/>
              <a:pathLst>
                <a:path w="4948555" h="2657475">
                  <a:moveTo>
                    <a:pt x="114680" y="2522855"/>
                  </a:moveTo>
                  <a:lnTo>
                    <a:pt x="0" y="2590927"/>
                  </a:lnTo>
                  <a:lnTo>
                    <a:pt x="115824" y="2657221"/>
                  </a:lnTo>
                  <a:lnTo>
                    <a:pt x="124713" y="2654808"/>
                  </a:lnTo>
                  <a:lnTo>
                    <a:pt x="128650" y="2647950"/>
                  </a:lnTo>
                  <a:lnTo>
                    <a:pt x="132587" y="2640965"/>
                  </a:lnTo>
                  <a:lnTo>
                    <a:pt x="130175" y="2632075"/>
                  </a:lnTo>
                  <a:lnTo>
                    <a:pt x="83297" y="2605278"/>
                  </a:lnTo>
                  <a:lnTo>
                    <a:pt x="28955" y="2605278"/>
                  </a:lnTo>
                  <a:lnTo>
                    <a:pt x="28701" y="2576322"/>
                  </a:lnTo>
                  <a:lnTo>
                    <a:pt x="82213" y="2575885"/>
                  </a:lnTo>
                  <a:lnTo>
                    <a:pt x="129539" y="2547747"/>
                  </a:lnTo>
                  <a:lnTo>
                    <a:pt x="131825" y="2538857"/>
                  </a:lnTo>
                  <a:lnTo>
                    <a:pt x="127559" y="2531872"/>
                  </a:lnTo>
                  <a:lnTo>
                    <a:pt x="123570" y="2525141"/>
                  </a:lnTo>
                  <a:lnTo>
                    <a:pt x="114680" y="2522855"/>
                  </a:lnTo>
                  <a:close/>
                </a:path>
                <a:path w="4948555" h="2657475">
                  <a:moveTo>
                    <a:pt x="82213" y="2575885"/>
                  </a:moveTo>
                  <a:lnTo>
                    <a:pt x="28701" y="2576322"/>
                  </a:lnTo>
                  <a:lnTo>
                    <a:pt x="28955" y="2605278"/>
                  </a:lnTo>
                  <a:lnTo>
                    <a:pt x="82475" y="2604808"/>
                  </a:lnTo>
                  <a:lnTo>
                    <a:pt x="79740" y="2603246"/>
                  </a:lnTo>
                  <a:lnTo>
                    <a:pt x="36194" y="2603246"/>
                  </a:lnTo>
                  <a:lnTo>
                    <a:pt x="35940" y="2578227"/>
                  </a:lnTo>
                  <a:lnTo>
                    <a:pt x="78275" y="2578227"/>
                  </a:lnTo>
                  <a:lnTo>
                    <a:pt x="82213" y="2575885"/>
                  </a:lnTo>
                  <a:close/>
                </a:path>
                <a:path w="4948555" h="2657475">
                  <a:moveTo>
                    <a:pt x="82475" y="2604808"/>
                  </a:moveTo>
                  <a:lnTo>
                    <a:pt x="28955" y="2605278"/>
                  </a:lnTo>
                  <a:lnTo>
                    <a:pt x="83297" y="2605278"/>
                  </a:lnTo>
                  <a:lnTo>
                    <a:pt x="82475" y="2604808"/>
                  </a:lnTo>
                  <a:close/>
                </a:path>
                <a:path w="4948555" h="2657475">
                  <a:moveTo>
                    <a:pt x="4714962" y="31514"/>
                  </a:moveTo>
                  <a:lnTo>
                    <a:pt x="4741545" y="59182"/>
                  </a:lnTo>
                  <a:lnTo>
                    <a:pt x="4761103" y="95123"/>
                  </a:lnTo>
                  <a:lnTo>
                    <a:pt x="4775962" y="130428"/>
                  </a:lnTo>
                  <a:lnTo>
                    <a:pt x="4790440" y="172338"/>
                  </a:lnTo>
                  <a:lnTo>
                    <a:pt x="4804791" y="220599"/>
                  </a:lnTo>
                  <a:lnTo>
                    <a:pt x="4818634" y="274320"/>
                  </a:lnTo>
                  <a:lnTo>
                    <a:pt x="4831842" y="333501"/>
                  </a:lnTo>
                  <a:lnTo>
                    <a:pt x="4840223" y="375538"/>
                  </a:lnTo>
                  <a:lnTo>
                    <a:pt x="4848351" y="419608"/>
                  </a:lnTo>
                  <a:lnTo>
                    <a:pt x="4856225" y="465582"/>
                  </a:lnTo>
                  <a:lnTo>
                    <a:pt x="4863719" y="513461"/>
                  </a:lnTo>
                  <a:lnTo>
                    <a:pt x="4870831" y="562863"/>
                  </a:lnTo>
                  <a:lnTo>
                    <a:pt x="4877562" y="613917"/>
                  </a:lnTo>
                  <a:lnTo>
                    <a:pt x="4883785" y="666241"/>
                  </a:lnTo>
                  <a:lnTo>
                    <a:pt x="4889626" y="719963"/>
                  </a:lnTo>
                  <a:lnTo>
                    <a:pt x="4895088" y="774826"/>
                  </a:lnTo>
                  <a:lnTo>
                    <a:pt x="4900041" y="830834"/>
                  </a:lnTo>
                  <a:lnTo>
                    <a:pt x="4904359" y="887729"/>
                  </a:lnTo>
                  <a:lnTo>
                    <a:pt x="4908295" y="945514"/>
                  </a:lnTo>
                  <a:lnTo>
                    <a:pt x="4911724" y="1003935"/>
                  </a:lnTo>
                  <a:lnTo>
                    <a:pt x="4914519" y="1062863"/>
                  </a:lnTo>
                  <a:lnTo>
                    <a:pt x="4916678" y="1122426"/>
                  </a:lnTo>
                  <a:lnTo>
                    <a:pt x="4918329" y="1182115"/>
                  </a:lnTo>
                  <a:lnTo>
                    <a:pt x="4919345" y="1242314"/>
                  </a:lnTo>
                  <a:lnTo>
                    <a:pt x="4919598" y="1302385"/>
                  </a:lnTo>
                  <a:lnTo>
                    <a:pt x="4917820" y="1332102"/>
                  </a:lnTo>
                  <a:lnTo>
                    <a:pt x="4904232" y="1389126"/>
                  </a:lnTo>
                  <a:lnTo>
                    <a:pt x="4877181" y="1446657"/>
                  </a:lnTo>
                  <a:lnTo>
                    <a:pt x="4837175" y="1504569"/>
                  </a:lnTo>
                  <a:lnTo>
                    <a:pt x="4812284" y="1533652"/>
                  </a:lnTo>
                  <a:lnTo>
                    <a:pt x="4784090" y="1562608"/>
                  </a:lnTo>
                  <a:lnTo>
                    <a:pt x="4752974" y="1591564"/>
                  </a:lnTo>
                  <a:lnTo>
                    <a:pt x="4718558" y="1620520"/>
                  </a:lnTo>
                  <a:lnTo>
                    <a:pt x="4681346" y="1649476"/>
                  </a:lnTo>
                  <a:lnTo>
                    <a:pt x="4640961" y="1678051"/>
                  </a:lnTo>
                  <a:lnTo>
                    <a:pt x="4597781" y="1706626"/>
                  </a:lnTo>
                  <a:lnTo>
                    <a:pt x="4551680" y="1735074"/>
                  </a:lnTo>
                  <a:lnTo>
                    <a:pt x="4502785" y="1763141"/>
                  </a:lnTo>
                  <a:lnTo>
                    <a:pt x="4451222" y="1791208"/>
                  </a:lnTo>
                  <a:lnTo>
                    <a:pt x="4396867" y="1819020"/>
                  </a:lnTo>
                  <a:lnTo>
                    <a:pt x="4340097" y="1846580"/>
                  </a:lnTo>
                  <a:lnTo>
                    <a:pt x="4280662" y="1873885"/>
                  </a:lnTo>
                  <a:lnTo>
                    <a:pt x="4218559" y="1900808"/>
                  </a:lnTo>
                  <a:lnTo>
                    <a:pt x="4154296" y="1927479"/>
                  </a:lnTo>
                  <a:lnTo>
                    <a:pt x="4087367" y="1953768"/>
                  </a:lnTo>
                  <a:lnTo>
                    <a:pt x="4018280" y="1979802"/>
                  </a:lnTo>
                  <a:lnTo>
                    <a:pt x="3946906" y="2005583"/>
                  </a:lnTo>
                  <a:lnTo>
                    <a:pt x="3873372" y="2030983"/>
                  </a:lnTo>
                  <a:lnTo>
                    <a:pt x="3797554" y="2055876"/>
                  </a:lnTo>
                  <a:lnTo>
                    <a:pt x="3719703" y="2080514"/>
                  </a:lnTo>
                  <a:lnTo>
                    <a:pt x="3639819" y="2104644"/>
                  </a:lnTo>
                  <a:lnTo>
                    <a:pt x="3558032" y="2128266"/>
                  </a:lnTo>
                  <a:lnTo>
                    <a:pt x="3388487" y="2174494"/>
                  </a:lnTo>
                  <a:lnTo>
                    <a:pt x="3301111" y="2196846"/>
                  </a:lnTo>
                  <a:lnTo>
                    <a:pt x="3120770" y="2240153"/>
                  </a:lnTo>
                  <a:lnTo>
                    <a:pt x="3028315" y="2260981"/>
                  </a:lnTo>
                  <a:lnTo>
                    <a:pt x="2838450" y="2301113"/>
                  </a:lnTo>
                  <a:lnTo>
                    <a:pt x="2642616" y="2339086"/>
                  </a:lnTo>
                  <a:lnTo>
                    <a:pt x="2441448" y="2374646"/>
                  </a:lnTo>
                  <a:lnTo>
                    <a:pt x="2235327" y="2407666"/>
                  </a:lnTo>
                  <a:lnTo>
                    <a:pt x="2024634" y="2438146"/>
                  </a:lnTo>
                  <a:lnTo>
                    <a:pt x="1809877" y="2465959"/>
                  </a:lnTo>
                  <a:lnTo>
                    <a:pt x="1591690" y="2490851"/>
                  </a:lnTo>
                  <a:lnTo>
                    <a:pt x="1370076" y="2512822"/>
                  </a:lnTo>
                  <a:lnTo>
                    <a:pt x="1145920" y="2531872"/>
                  </a:lnTo>
                  <a:lnTo>
                    <a:pt x="919479" y="2547620"/>
                  </a:lnTo>
                  <a:lnTo>
                    <a:pt x="691134" y="2560066"/>
                  </a:lnTo>
                  <a:lnTo>
                    <a:pt x="461517" y="2569083"/>
                  </a:lnTo>
                  <a:lnTo>
                    <a:pt x="231012" y="2574671"/>
                  </a:lnTo>
                  <a:lnTo>
                    <a:pt x="82213" y="2575885"/>
                  </a:lnTo>
                  <a:lnTo>
                    <a:pt x="57531" y="2590560"/>
                  </a:lnTo>
                  <a:lnTo>
                    <a:pt x="82475" y="2604808"/>
                  </a:lnTo>
                  <a:lnTo>
                    <a:pt x="231648" y="2603500"/>
                  </a:lnTo>
                  <a:lnTo>
                    <a:pt x="462661" y="2598039"/>
                  </a:lnTo>
                  <a:lnTo>
                    <a:pt x="692657" y="2589022"/>
                  </a:lnTo>
                  <a:lnTo>
                    <a:pt x="921385" y="2576449"/>
                  </a:lnTo>
                  <a:lnTo>
                    <a:pt x="1148334" y="2560701"/>
                  </a:lnTo>
                  <a:lnTo>
                    <a:pt x="1372997" y="2541651"/>
                  </a:lnTo>
                  <a:lnTo>
                    <a:pt x="1594865" y="2519680"/>
                  </a:lnTo>
                  <a:lnTo>
                    <a:pt x="1813687" y="2494661"/>
                  </a:lnTo>
                  <a:lnTo>
                    <a:pt x="2028825" y="2466848"/>
                  </a:lnTo>
                  <a:lnTo>
                    <a:pt x="2239899" y="2436241"/>
                  </a:lnTo>
                  <a:lnTo>
                    <a:pt x="2446528" y="2403094"/>
                  </a:lnTo>
                  <a:lnTo>
                    <a:pt x="2648204" y="2367407"/>
                  </a:lnTo>
                  <a:lnTo>
                    <a:pt x="2844291" y="2329434"/>
                  </a:lnTo>
                  <a:lnTo>
                    <a:pt x="3034665" y="2289175"/>
                  </a:lnTo>
                  <a:lnTo>
                    <a:pt x="3218688" y="2246757"/>
                  </a:lnTo>
                  <a:lnTo>
                    <a:pt x="3308222" y="2224913"/>
                  </a:lnTo>
                  <a:lnTo>
                    <a:pt x="3395980" y="2202434"/>
                  </a:lnTo>
                  <a:lnTo>
                    <a:pt x="3566033" y="2156079"/>
                  </a:lnTo>
                  <a:lnTo>
                    <a:pt x="3648201" y="2132330"/>
                  </a:lnTo>
                  <a:lnTo>
                    <a:pt x="3728466" y="2108073"/>
                  </a:lnTo>
                  <a:lnTo>
                    <a:pt x="3806697" y="2083308"/>
                  </a:lnTo>
                  <a:lnTo>
                    <a:pt x="3882770" y="2058289"/>
                  </a:lnTo>
                  <a:lnTo>
                    <a:pt x="3956812" y="2032762"/>
                  </a:lnTo>
                  <a:lnTo>
                    <a:pt x="4028440" y="2006981"/>
                  </a:lnTo>
                  <a:lnTo>
                    <a:pt x="4098036" y="1980819"/>
                  </a:lnTo>
                  <a:lnTo>
                    <a:pt x="4165345" y="1954149"/>
                  </a:lnTo>
                  <a:lnTo>
                    <a:pt x="4230116" y="1927352"/>
                  </a:lnTo>
                  <a:lnTo>
                    <a:pt x="4292726" y="1900174"/>
                  </a:lnTo>
                  <a:lnTo>
                    <a:pt x="4352670" y="1872614"/>
                  </a:lnTo>
                  <a:lnTo>
                    <a:pt x="4410201" y="1844802"/>
                  </a:lnTo>
                  <a:lnTo>
                    <a:pt x="4465066" y="1816608"/>
                  </a:lnTo>
                  <a:lnTo>
                    <a:pt x="4517263" y="1788287"/>
                  </a:lnTo>
                  <a:lnTo>
                    <a:pt x="4566920" y="1759712"/>
                  </a:lnTo>
                  <a:lnTo>
                    <a:pt x="4613783" y="1730756"/>
                  </a:lnTo>
                  <a:lnTo>
                    <a:pt x="4657724" y="1701673"/>
                  </a:lnTo>
                  <a:lnTo>
                    <a:pt x="4698999" y="1672336"/>
                  </a:lnTo>
                  <a:lnTo>
                    <a:pt x="4737354" y="1642745"/>
                  </a:lnTo>
                  <a:lnTo>
                    <a:pt x="4772660" y="1612773"/>
                  </a:lnTo>
                  <a:lnTo>
                    <a:pt x="4804918" y="1582801"/>
                  </a:lnTo>
                  <a:lnTo>
                    <a:pt x="4834255" y="1552448"/>
                  </a:lnTo>
                  <a:lnTo>
                    <a:pt x="4860290" y="1521840"/>
                  </a:lnTo>
                  <a:lnTo>
                    <a:pt x="4883276" y="1491107"/>
                  </a:lnTo>
                  <a:lnTo>
                    <a:pt x="4919218" y="1428750"/>
                  </a:lnTo>
                  <a:lnTo>
                    <a:pt x="4941189" y="1365630"/>
                  </a:lnTo>
                  <a:lnTo>
                    <a:pt x="4948555" y="1302258"/>
                  </a:lnTo>
                  <a:lnTo>
                    <a:pt x="4948300" y="1241805"/>
                  </a:lnTo>
                  <a:lnTo>
                    <a:pt x="4947158" y="1181353"/>
                  </a:lnTo>
                  <a:lnTo>
                    <a:pt x="4945634" y="1121283"/>
                  </a:lnTo>
                  <a:lnTo>
                    <a:pt x="4943347" y="1061592"/>
                  </a:lnTo>
                  <a:lnTo>
                    <a:pt x="4940681" y="1002284"/>
                  </a:lnTo>
                  <a:lnTo>
                    <a:pt x="4937124" y="943483"/>
                  </a:lnTo>
                  <a:lnTo>
                    <a:pt x="4933315" y="885444"/>
                  </a:lnTo>
                  <a:lnTo>
                    <a:pt x="4928870" y="828294"/>
                  </a:lnTo>
                  <a:lnTo>
                    <a:pt x="4923917" y="772033"/>
                  </a:lnTo>
                  <a:lnTo>
                    <a:pt x="4918456" y="716788"/>
                  </a:lnTo>
                  <a:lnTo>
                    <a:pt x="4912487" y="662813"/>
                  </a:lnTo>
                  <a:lnTo>
                    <a:pt x="4906264" y="610108"/>
                  </a:lnTo>
                  <a:lnTo>
                    <a:pt x="4899406" y="558800"/>
                  </a:lnTo>
                  <a:lnTo>
                    <a:pt x="4892294" y="509015"/>
                  </a:lnTo>
                  <a:lnTo>
                    <a:pt x="4884800" y="460755"/>
                  </a:lnTo>
                  <a:lnTo>
                    <a:pt x="4876926" y="414400"/>
                  </a:lnTo>
                  <a:lnTo>
                    <a:pt x="4868671" y="369824"/>
                  </a:lnTo>
                  <a:lnTo>
                    <a:pt x="4860163" y="327278"/>
                  </a:lnTo>
                  <a:lnTo>
                    <a:pt x="4851272" y="287020"/>
                  </a:lnTo>
                  <a:lnTo>
                    <a:pt x="4842129" y="248665"/>
                  </a:lnTo>
                  <a:lnTo>
                    <a:pt x="4827778" y="195579"/>
                  </a:lnTo>
                  <a:lnTo>
                    <a:pt x="4813045" y="148209"/>
                  </a:lnTo>
                  <a:lnTo>
                    <a:pt x="4797679" y="106679"/>
                  </a:lnTo>
                  <a:lnTo>
                    <a:pt x="4781804" y="71500"/>
                  </a:lnTo>
                  <a:lnTo>
                    <a:pt x="4759351" y="34289"/>
                  </a:lnTo>
                  <a:lnTo>
                    <a:pt x="4757538" y="32003"/>
                  </a:lnTo>
                  <a:lnTo>
                    <a:pt x="4716018" y="32003"/>
                  </a:lnTo>
                  <a:lnTo>
                    <a:pt x="4714962" y="31514"/>
                  </a:lnTo>
                  <a:close/>
                </a:path>
                <a:path w="4948555" h="2657475">
                  <a:moveTo>
                    <a:pt x="35940" y="2578227"/>
                  </a:moveTo>
                  <a:lnTo>
                    <a:pt x="36194" y="2603246"/>
                  </a:lnTo>
                  <a:lnTo>
                    <a:pt x="57531" y="2590560"/>
                  </a:lnTo>
                  <a:lnTo>
                    <a:pt x="35940" y="2578227"/>
                  </a:lnTo>
                  <a:close/>
                </a:path>
                <a:path w="4948555" h="2657475">
                  <a:moveTo>
                    <a:pt x="57531" y="2590560"/>
                  </a:moveTo>
                  <a:lnTo>
                    <a:pt x="36194" y="2603246"/>
                  </a:lnTo>
                  <a:lnTo>
                    <a:pt x="79740" y="2603246"/>
                  </a:lnTo>
                  <a:lnTo>
                    <a:pt x="57531" y="2590560"/>
                  </a:lnTo>
                  <a:close/>
                </a:path>
                <a:path w="4948555" h="2657475">
                  <a:moveTo>
                    <a:pt x="78275" y="2578227"/>
                  </a:moveTo>
                  <a:lnTo>
                    <a:pt x="35940" y="2578227"/>
                  </a:lnTo>
                  <a:lnTo>
                    <a:pt x="57531" y="2590560"/>
                  </a:lnTo>
                  <a:lnTo>
                    <a:pt x="78275" y="2578227"/>
                  </a:lnTo>
                  <a:close/>
                </a:path>
                <a:path w="4948555" h="2657475">
                  <a:moveTo>
                    <a:pt x="4714113" y="30987"/>
                  </a:moveTo>
                  <a:lnTo>
                    <a:pt x="4714962" y="31514"/>
                  </a:lnTo>
                  <a:lnTo>
                    <a:pt x="4716018" y="32003"/>
                  </a:lnTo>
                  <a:lnTo>
                    <a:pt x="4714113" y="30987"/>
                  </a:lnTo>
                  <a:close/>
                </a:path>
                <a:path w="4948555" h="2657475">
                  <a:moveTo>
                    <a:pt x="4756732" y="30987"/>
                  </a:moveTo>
                  <a:lnTo>
                    <a:pt x="4714113" y="30987"/>
                  </a:lnTo>
                  <a:lnTo>
                    <a:pt x="4716018" y="32003"/>
                  </a:lnTo>
                  <a:lnTo>
                    <a:pt x="4757538" y="32003"/>
                  </a:lnTo>
                  <a:lnTo>
                    <a:pt x="4756732" y="30987"/>
                  </a:lnTo>
                  <a:close/>
                </a:path>
                <a:path w="4948555" h="2657475">
                  <a:moveTo>
                    <a:pt x="4708223" y="29242"/>
                  </a:moveTo>
                  <a:lnTo>
                    <a:pt x="4712462" y="30352"/>
                  </a:lnTo>
                  <a:lnTo>
                    <a:pt x="4714962" y="31514"/>
                  </a:lnTo>
                  <a:lnTo>
                    <a:pt x="4714113" y="30987"/>
                  </a:lnTo>
                  <a:lnTo>
                    <a:pt x="4756732" y="30987"/>
                  </a:lnTo>
                  <a:lnTo>
                    <a:pt x="4755423" y="29337"/>
                  </a:lnTo>
                  <a:lnTo>
                    <a:pt x="4709541" y="29337"/>
                  </a:lnTo>
                  <a:lnTo>
                    <a:pt x="4708223" y="29242"/>
                  </a:lnTo>
                  <a:close/>
                </a:path>
                <a:path w="4948555" h="2657475">
                  <a:moveTo>
                    <a:pt x="4707128" y="28955"/>
                  </a:moveTo>
                  <a:lnTo>
                    <a:pt x="4708223" y="29242"/>
                  </a:lnTo>
                  <a:lnTo>
                    <a:pt x="4709541" y="29337"/>
                  </a:lnTo>
                  <a:lnTo>
                    <a:pt x="4707128" y="28955"/>
                  </a:lnTo>
                  <a:close/>
                </a:path>
                <a:path w="4948555" h="2657475">
                  <a:moveTo>
                    <a:pt x="4755120" y="28955"/>
                  </a:moveTo>
                  <a:lnTo>
                    <a:pt x="4707128" y="28955"/>
                  </a:lnTo>
                  <a:lnTo>
                    <a:pt x="4709541" y="29337"/>
                  </a:lnTo>
                  <a:lnTo>
                    <a:pt x="4755423" y="29337"/>
                  </a:lnTo>
                  <a:lnTo>
                    <a:pt x="4755120" y="28955"/>
                  </a:lnTo>
                  <a:close/>
                </a:path>
                <a:path w="4948555" h="2657475">
                  <a:moveTo>
                    <a:pt x="4706746" y="0"/>
                  </a:moveTo>
                  <a:lnTo>
                    <a:pt x="4704207" y="28955"/>
                  </a:lnTo>
                  <a:lnTo>
                    <a:pt x="4708223" y="29242"/>
                  </a:lnTo>
                  <a:lnTo>
                    <a:pt x="4707128" y="28955"/>
                  </a:lnTo>
                  <a:lnTo>
                    <a:pt x="4755120" y="28955"/>
                  </a:lnTo>
                  <a:lnTo>
                    <a:pt x="4719955" y="2412"/>
                  </a:lnTo>
                  <a:lnTo>
                    <a:pt x="4714620" y="1015"/>
                  </a:lnTo>
                  <a:lnTo>
                    <a:pt x="4713732" y="762"/>
                  </a:lnTo>
                  <a:lnTo>
                    <a:pt x="4712081" y="508"/>
                  </a:lnTo>
                  <a:lnTo>
                    <a:pt x="4706746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56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9740" y="1509944"/>
            <a:ext cx="5774055" cy="431609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705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If I </a:t>
            </a:r>
            <a:r>
              <a:rPr sz="2600" spc="-35" dirty="0">
                <a:latin typeface="Perpetua"/>
                <a:cs typeface="Perpetua"/>
              </a:rPr>
              <a:t>love </a:t>
            </a:r>
            <a:r>
              <a:rPr sz="2600" spc="-5" dirty="0">
                <a:latin typeface="Perpetua"/>
                <a:cs typeface="Perpetua"/>
              </a:rPr>
              <a:t>math, </a:t>
            </a:r>
            <a:r>
              <a:rPr sz="2600" dirty="0">
                <a:latin typeface="Perpetua"/>
                <a:cs typeface="Perpetua"/>
              </a:rPr>
              <a:t>then I will pass </a:t>
            </a:r>
            <a:r>
              <a:rPr sz="2600" spc="-5" dirty="0">
                <a:latin typeface="Perpetua"/>
                <a:cs typeface="Perpetua"/>
              </a:rPr>
              <a:t>this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course.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I </a:t>
            </a:r>
            <a:r>
              <a:rPr sz="2600" spc="-35" dirty="0">
                <a:latin typeface="Perpetua"/>
                <a:cs typeface="Perpetua"/>
              </a:rPr>
              <a:t>love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math.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spc="-10" dirty="0">
                <a:latin typeface="Perpetua"/>
                <a:cs typeface="Perpetua"/>
              </a:rPr>
              <a:t>Therefore, </a:t>
            </a:r>
            <a:r>
              <a:rPr sz="2600" dirty="0">
                <a:latin typeface="Perpetua"/>
                <a:cs typeface="Perpetua"/>
              </a:rPr>
              <a:t>I will pass this</a:t>
            </a:r>
            <a:r>
              <a:rPr sz="2600" spc="-14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course.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7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latin typeface="Perpetua"/>
                <a:cs typeface="Perpetua"/>
              </a:rPr>
              <a:t>Solution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25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p </a:t>
            </a:r>
            <a:r>
              <a:rPr sz="2400" dirty="0">
                <a:latin typeface="Times New Roman"/>
                <a:cs typeface="Times New Roman"/>
              </a:rPr>
              <a:t>→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Perpetua"/>
                <a:cs typeface="Perpetua"/>
              </a:rPr>
              <a:t>q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58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p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spc="-10" dirty="0">
                <a:latin typeface="Perpetua"/>
                <a:cs typeface="Perpetua"/>
              </a:rPr>
              <a:t>Therefore,</a:t>
            </a:r>
            <a:r>
              <a:rPr sz="2600" spc="-1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</a:t>
            </a:r>
            <a:endParaRPr sz="26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  <a:tabLst>
                <a:tab pos="2669540" algn="l"/>
                <a:tab pos="4672330" algn="l"/>
                <a:tab pos="5135245" algn="l"/>
              </a:tabLst>
            </a:pPr>
            <a:r>
              <a:rPr sz="2600" b="1" spc="-5" dirty="0">
                <a:latin typeface="Perpetua"/>
                <a:cs typeface="Perpetua"/>
              </a:rPr>
              <a:t>This </a:t>
            </a:r>
            <a:r>
              <a:rPr sz="2600" b="1" dirty="0">
                <a:latin typeface="Perpetua"/>
                <a:cs typeface="Perpetua"/>
              </a:rPr>
              <a:t>is </a:t>
            </a:r>
            <a:r>
              <a:rPr sz="2600" b="1" spc="5" dirty="0">
                <a:latin typeface="Perpetua"/>
                <a:cs typeface="Perpetua"/>
              </a:rPr>
              <a:t>written</a:t>
            </a:r>
            <a:r>
              <a:rPr sz="2600" b="1" spc="3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as</a:t>
            </a:r>
            <a:r>
              <a:rPr sz="2600" b="1" spc="10" dirty="0">
                <a:latin typeface="Perpetua"/>
                <a:cs typeface="Perpetua"/>
              </a:rPr>
              <a:t> </a:t>
            </a:r>
            <a:r>
              <a:rPr sz="2600" b="1" dirty="0">
                <a:latin typeface="Perpetua"/>
                <a:cs typeface="Perpetua"/>
              </a:rPr>
              <a:t>:	</a:t>
            </a:r>
            <a:r>
              <a:rPr sz="2600" b="1" spc="-5" dirty="0">
                <a:latin typeface="Perpetua"/>
                <a:cs typeface="Perpetua"/>
              </a:rPr>
              <a:t>[(p </a:t>
            </a:r>
            <a:r>
              <a:rPr sz="2800" spc="-5" dirty="0">
                <a:latin typeface="Times New Roman"/>
                <a:cs typeface="Times New Roman"/>
              </a:rPr>
              <a:t>→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Perpetua"/>
                <a:cs typeface="Perpetua"/>
              </a:rPr>
              <a:t>q) and	p]	</a:t>
            </a:r>
            <a:r>
              <a:rPr sz="2800" spc="-5" dirty="0">
                <a:latin typeface="Times New Roman"/>
                <a:cs typeface="Times New Roman"/>
              </a:rPr>
              <a:t>→</a:t>
            </a:r>
            <a:r>
              <a:rPr sz="2800" spc="-15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Perpetua"/>
                <a:cs typeface="Perpetua"/>
              </a:rPr>
              <a:t>q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57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182626"/>
            <a:ext cx="64103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10" dirty="0"/>
              <a:t>Write </a:t>
            </a:r>
            <a:r>
              <a:rPr sz="3600" dirty="0"/>
              <a:t>the </a:t>
            </a:r>
            <a:r>
              <a:rPr sz="3600" spc="-5" dirty="0"/>
              <a:t>expression </a:t>
            </a:r>
            <a:r>
              <a:rPr sz="3600" dirty="0"/>
              <a:t>for the</a:t>
            </a:r>
            <a:r>
              <a:rPr sz="3600" spc="-80" dirty="0"/>
              <a:t> </a:t>
            </a:r>
            <a:r>
              <a:rPr sz="3600" spc="-5" dirty="0"/>
              <a:t>argument  and </a:t>
            </a:r>
            <a:r>
              <a:rPr sz="3600" spc="25" dirty="0"/>
              <a:t>check </a:t>
            </a:r>
            <a:r>
              <a:rPr sz="3600" dirty="0"/>
              <a:t>its </a:t>
            </a:r>
            <a:r>
              <a:rPr sz="3600" spc="15" dirty="0"/>
              <a:t>truth</a:t>
            </a:r>
            <a:r>
              <a:rPr sz="3600" spc="-40" dirty="0"/>
              <a:t> </a:t>
            </a:r>
            <a:r>
              <a:rPr sz="3600" spc="-15" dirty="0"/>
              <a:t>table</a:t>
            </a:r>
            <a:endParaRPr sz="36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2000" y="1905000"/>
          <a:ext cx="7618095" cy="2103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9595"/>
                <a:gridCol w="827405"/>
                <a:gridCol w="1739900"/>
                <a:gridCol w="2201545"/>
                <a:gridCol w="2279650"/>
              </a:tblGrid>
              <a:tr h="63421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5748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5748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p </a:t>
                      </a:r>
                      <a:r>
                        <a:rPr sz="18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b="1" spc="-3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5748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597535" marR="376555">
                        <a:lnSpc>
                          <a:spcPts val="2020"/>
                        </a:lnSpc>
                        <a:spcBef>
                          <a:spcPts val="484"/>
                        </a:spcBef>
                      </a:pP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(p </a:t>
                      </a:r>
                      <a:r>
                        <a:rPr sz="18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implies</a:t>
                      </a:r>
                      <a:r>
                        <a:rPr sz="1800" b="1" spc="-90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q)  </a:t>
                      </a: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b="1" spc="430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p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84175" marR="262890">
                        <a:lnSpc>
                          <a:spcPts val="2020"/>
                        </a:lnSpc>
                        <a:spcBef>
                          <a:spcPts val="484"/>
                        </a:spcBef>
                      </a:pP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[(p </a:t>
                      </a:r>
                      <a:r>
                        <a:rPr sz="18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implies q)  </a:t>
                      </a: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b="1" spc="-5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p] implies</a:t>
                      </a:r>
                      <a:r>
                        <a:rPr sz="1800" b="1" spc="-90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004466"/>
                          </a:solidFill>
                          <a:latin typeface="Times New Roman"/>
                          <a:cs typeface="Times New Roman"/>
                        </a:rPr>
                        <a:t>q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61594" marB="0">
                    <a:solidFill>
                      <a:srgbClr val="FFF1F5"/>
                    </a:solidFill>
                  </a:tcPr>
                </a:tc>
              </a:tr>
              <a:tr h="3751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2032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2032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2032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5975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20320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20320" marB="0">
                    <a:solidFill>
                      <a:srgbClr val="FFF1F5"/>
                    </a:solidFill>
                  </a:tcPr>
                </a:tc>
              </a:tr>
              <a:tr h="36606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5975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</a:tr>
              <a:tr h="36583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5975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</a:tr>
              <a:tr h="3618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492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59753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F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  <a:tc>
                  <a:txBody>
                    <a:bodyPr/>
                    <a:lstStyle/>
                    <a:p>
                      <a:pPr marL="38417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b="1" dirty="0">
                          <a:latin typeface="Perpetua"/>
                          <a:cs typeface="Perpetua"/>
                        </a:rPr>
                        <a:t>T</a:t>
                      </a:r>
                      <a:endParaRPr sz="1800">
                        <a:latin typeface="Perpetua"/>
                        <a:cs typeface="Perpetua"/>
                      </a:endParaRPr>
                    </a:p>
                  </a:txBody>
                  <a:tcPr marL="0" marR="0" marT="10795" marB="0">
                    <a:solidFill>
                      <a:srgbClr val="FFF1F5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0" y="0"/>
            <a:ext cx="114300" cy="85725"/>
            <a:chOff x="0" y="0"/>
            <a:chExt cx="114300" cy="8572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114300" cy="853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76200" cy="76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114300" cy="853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0"/>
              <a:ext cx="76200" cy="76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0"/>
              <a:ext cx="114300" cy="853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58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596239"/>
            <a:ext cx="8674735" cy="427863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If </a:t>
            </a:r>
            <a:r>
              <a:rPr sz="2600" spc="-5" dirty="0">
                <a:latin typeface="Perpetua"/>
                <a:cs typeface="Perpetua"/>
              </a:rPr>
              <a:t>roses </a:t>
            </a:r>
            <a:r>
              <a:rPr sz="2600" spc="-10" dirty="0">
                <a:latin typeface="Perpetua"/>
                <a:cs typeface="Perpetua"/>
              </a:rPr>
              <a:t>are red </a:t>
            </a:r>
            <a:r>
              <a:rPr sz="2600" spc="-5" dirty="0">
                <a:latin typeface="Perpetua"/>
                <a:cs typeface="Perpetua"/>
              </a:rPr>
              <a:t>and violets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25" dirty="0">
                <a:latin typeface="Perpetua"/>
                <a:cs typeface="Perpetua"/>
              </a:rPr>
              <a:t>blue, </a:t>
            </a:r>
            <a:r>
              <a:rPr sz="2600" dirty="0">
                <a:latin typeface="Perpetua"/>
                <a:cs typeface="Perpetua"/>
              </a:rPr>
              <a:t>then </a:t>
            </a:r>
            <a:r>
              <a:rPr sz="2600" spc="-5" dirty="0">
                <a:latin typeface="Perpetua"/>
                <a:cs typeface="Perpetua"/>
              </a:rPr>
              <a:t>sugar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30" dirty="0">
                <a:latin typeface="Perpetua"/>
                <a:cs typeface="Perpetua"/>
              </a:rPr>
              <a:t>sweet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so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you.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Roses </a:t>
            </a:r>
            <a:r>
              <a:rPr sz="2600" spc="-10" dirty="0">
                <a:latin typeface="Perpetua"/>
                <a:cs typeface="Perpetua"/>
              </a:rPr>
              <a:t>are red </a:t>
            </a:r>
            <a:r>
              <a:rPr sz="2600" spc="-5" dirty="0">
                <a:latin typeface="Perpetua"/>
                <a:cs typeface="Perpetua"/>
              </a:rPr>
              <a:t>and violets </a:t>
            </a:r>
            <a:r>
              <a:rPr sz="2600" spc="-15" dirty="0">
                <a:latin typeface="Perpetua"/>
                <a:cs typeface="Perpetua"/>
              </a:rPr>
              <a:t>are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25" dirty="0">
                <a:latin typeface="Perpetua"/>
                <a:cs typeface="Perpetua"/>
              </a:rPr>
              <a:t>blue.</a:t>
            </a:r>
            <a:endParaRPr sz="2600">
              <a:latin typeface="Perpetua"/>
              <a:cs typeface="Perpetua"/>
            </a:endParaRPr>
          </a:p>
          <a:p>
            <a:pPr marL="12700" marR="3517900">
              <a:lnSpc>
                <a:spcPts val="3720"/>
              </a:lnSpc>
              <a:spcBef>
                <a:spcPts val="22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10" dirty="0">
                <a:latin typeface="Perpetua"/>
                <a:cs typeface="Perpetua"/>
              </a:rPr>
              <a:t>Therefore, </a:t>
            </a:r>
            <a:r>
              <a:rPr sz="2600" spc="-5" dirty="0">
                <a:latin typeface="Perpetua"/>
                <a:cs typeface="Perpetua"/>
              </a:rPr>
              <a:t>sugar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30" dirty="0">
                <a:latin typeface="Perpetua"/>
                <a:cs typeface="Perpetua"/>
              </a:rPr>
              <a:t>sweet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so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15" dirty="0">
                <a:latin typeface="Perpetua"/>
                <a:cs typeface="Perpetua"/>
              </a:rPr>
              <a:t>you.  </a:t>
            </a:r>
            <a:r>
              <a:rPr sz="2600" spc="-5" dirty="0">
                <a:latin typeface="Perpetua"/>
                <a:cs typeface="Perpetua"/>
              </a:rPr>
              <a:t>Express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given argument as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proposition.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355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latin typeface="Perpetua"/>
                <a:cs typeface="Perpetua"/>
              </a:rPr>
              <a:t>Solution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7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(p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q)</a:t>
            </a:r>
            <a:r>
              <a:rPr sz="2600" dirty="0">
                <a:latin typeface="Times New Roman"/>
                <a:cs typeface="Times New Roman"/>
              </a:rPr>
              <a:t>→</a:t>
            </a:r>
            <a:r>
              <a:rPr sz="2600" dirty="0">
                <a:latin typeface="Perpetua"/>
                <a:cs typeface="Perpetua"/>
              </a:rPr>
              <a:t>(r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dirty="0">
                <a:latin typeface="Perpetua"/>
                <a:cs typeface="Perpetua"/>
              </a:rPr>
              <a:t> s)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53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q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1624965" algn="l"/>
              </a:tabLst>
            </a:pPr>
            <a:r>
              <a:rPr sz="2600" spc="-10" dirty="0">
                <a:latin typeface="Perpetua"/>
                <a:cs typeface="Perpetua"/>
              </a:rPr>
              <a:t>Therefore	</a:t>
            </a:r>
            <a:r>
              <a:rPr sz="2600" dirty="0">
                <a:latin typeface="Perpetua"/>
                <a:cs typeface="Perpetua"/>
              </a:rPr>
              <a:t>r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s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59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30834"/>
            <a:ext cx="84258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Represent </a:t>
            </a:r>
            <a:r>
              <a:rPr dirty="0"/>
              <a:t>the </a:t>
            </a:r>
            <a:r>
              <a:rPr spc="-15" dirty="0"/>
              <a:t>following </a:t>
            </a:r>
            <a:r>
              <a:rPr spc="-5" dirty="0"/>
              <a:t>statements </a:t>
            </a:r>
            <a:r>
              <a:rPr dirty="0"/>
              <a:t>in </a:t>
            </a:r>
            <a:r>
              <a:rPr spc="-5" dirty="0"/>
              <a:t>propositional</a:t>
            </a:r>
            <a:r>
              <a:rPr spc="70" dirty="0"/>
              <a:t> </a:t>
            </a:r>
            <a:r>
              <a:rPr spc="20" dirty="0"/>
              <a:t>form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60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0634" y="890185"/>
            <a:ext cx="7148195" cy="51225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3370" indent="-274955">
              <a:lnSpc>
                <a:spcPct val="100000"/>
              </a:lnSpc>
              <a:spcBef>
                <a:spcPts val="700"/>
              </a:spcBef>
              <a:buSzPct val="84615"/>
              <a:buFont typeface="Arial"/>
              <a:buChar char="•"/>
              <a:tabLst>
                <a:tab pos="293370" algn="l"/>
                <a:tab pos="294005" algn="l"/>
              </a:tabLst>
            </a:pPr>
            <a:r>
              <a:rPr sz="2600" spc="-5" dirty="0">
                <a:latin typeface="Perpetua"/>
                <a:cs typeface="Perpetua"/>
              </a:rPr>
              <a:t>If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win the game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will get much</a:t>
            </a:r>
            <a:r>
              <a:rPr sz="2600" spc="110" dirty="0">
                <a:latin typeface="Perpetua"/>
                <a:cs typeface="Perpetua"/>
              </a:rPr>
              <a:t> </a:t>
            </a:r>
            <a:r>
              <a:rPr sz="2600" spc="-55" dirty="0">
                <a:latin typeface="Perpetua"/>
                <a:cs typeface="Perpetua"/>
              </a:rPr>
              <a:t>money.</a:t>
            </a:r>
            <a:endParaRPr sz="2600">
              <a:latin typeface="Perpetua"/>
              <a:cs typeface="Perpetua"/>
            </a:endParaRPr>
          </a:p>
          <a:p>
            <a:pPr marL="293370" indent="-274955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93370" algn="l"/>
                <a:tab pos="294005" algn="l"/>
              </a:tabLst>
            </a:pPr>
            <a:r>
              <a:rPr sz="2600" dirty="0">
                <a:latin typeface="Perpetua"/>
                <a:cs typeface="Perpetua"/>
              </a:rPr>
              <a:t>If the </a:t>
            </a:r>
            <a:r>
              <a:rPr sz="2600" spc="-5" dirty="0">
                <a:latin typeface="Perpetua"/>
                <a:cs typeface="Perpetua"/>
              </a:rPr>
              <a:t>book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not </a:t>
            </a:r>
            <a:r>
              <a:rPr sz="2600" dirty="0">
                <a:latin typeface="Perpetua"/>
                <a:cs typeface="Perpetua"/>
              </a:rPr>
              <a:t>in the library </a:t>
            </a:r>
            <a:r>
              <a:rPr sz="2600" spc="-5" dirty="0">
                <a:latin typeface="Perpetua"/>
                <a:cs typeface="Perpetua"/>
              </a:rPr>
              <a:t>then </a:t>
            </a:r>
            <a:r>
              <a:rPr sz="2600" dirty="0">
                <a:latin typeface="Perpetua"/>
                <a:cs typeface="Perpetua"/>
              </a:rPr>
              <a:t>it is in </a:t>
            </a:r>
            <a:r>
              <a:rPr sz="2600" spc="-5" dirty="0">
                <a:latin typeface="Perpetua"/>
                <a:cs typeface="Perpetua"/>
              </a:rPr>
              <a:t>the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bookstore.</a:t>
            </a:r>
            <a:endParaRPr sz="2600">
              <a:latin typeface="Perpetua"/>
              <a:cs typeface="Perpetua"/>
            </a:endParaRPr>
          </a:p>
          <a:p>
            <a:pPr marL="324485" indent="-274955">
              <a:lnSpc>
                <a:spcPts val="2360"/>
              </a:lnSpc>
              <a:spcBef>
                <a:spcPts val="1505"/>
              </a:spcBef>
              <a:buSzPct val="85000"/>
              <a:buFont typeface="Arial"/>
              <a:buChar char="•"/>
              <a:tabLst>
                <a:tab pos="323850" algn="l"/>
                <a:tab pos="325120" algn="l"/>
              </a:tabLst>
            </a:pPr>
            <a:r>
              <a:rPr sz="2000" b="1" spc="-10" dirty="0">
                <a:latin typeface="Perpetua"/>
                <a:cs typeface="Perpetua"/>
              </a:rPr>
              <a:t>Statement </a:t>
            </a:r>
            <a:r>
              <a:rPr sz="2000" b="1" dirty="0">
                <a:latin typeface="Perpetua"/>
                <a:cs typeface="Perpetua"/>
              </a:rPr>
              <a:t>: </a:t>
            </a:r>
            <a:r>
              <a:rPr sz="2000" b="1" spc="-5" dirty="0">
                <a:latin typeface="Perpetua"/>
                <a:cs typeface="Perpetua"/>
              </a:rPr>
              <a:t>If </a:t>
            </a:r>
            <a:r>
              <a:rPr sz="2000" b="1" spc="-30" dirty="0">
                <a:latin typeface="Perpetua"/>
                <a:cs typeface="Perpetua"/>
              </a:rPr>
              <a:t>we </a:t>
            </a:r>
            <a:r>
              <a:rPr sz="2000" b="1" dirty="0">
                <a:latin typeface="Perpetua"/>
                <a:cs typeface="Perpetua"/>
              </a:rPr>
              <a:t>win </a:t>
            </a:r>
            <a:r>
              <a:rPr sz="2000" b="1" spc="-5" dirty="0">
                <a:latin typeface="Perpetua"/>
                <a:cs typeface="Perpetua"/>
              </a:rPr>
              <a:t>the game </a:t>
            </a:r>
            <a:r>
              <a:rPr sz="2000" b="1" spc="-30" dirty="0">
                <a:latin typeface="Perpetua"/>
                <a:cs typeface="Perpetua"/>
              </a:rPr>
              <a:t>we </a:t>
            </a:r>
            <a:r>
              <a:rPr sz="2000" b="1" dirty="0">
                <a:latin typeface="Perpetua"/>
                <a:cs typeface="Perpetua"/>
              </a:rPr>
              <a:t>will </a:t>
            </a:r>
            <a:r>
              <a:rPr sz="2000" b="1" spc="-5" dirty="0">
                <a:latin typeface="Perpetua"/>
                <a:cs typeface="Perpetua"/>
              </a:rPr>
              <a:t>get much</a:t>
            </a:r>
            <a:r>
              <a:rPr sz="2000" b="1" spc="-40" dirty="0">
                <a:latin typeface="Perpetua"/>
                <a:cs typeface="Perpetua"/>
              </a:rPr>
              <a:t> </a:t>
            </a:r>
            <a:r>
              <a:rPr sz="2000" b="1" spc="-35" dirty="0">
                <a:latin typeface="Perpetua"/>
                <a:cs typeface="Perpetua"/>
              </a:rPr>
              <a:t>money.</a:t>
            </a:r>
            <a:endParaRPr sz="2000">
              <a:latin typeface="Perpetua"/>
              <a:cs typeface="Perpetua"/>
            </a:endParaRPr>
          </a:p>
          <a:p>
            <a:pPr marL="324485">
              <a:lnSpc>
                <a:spcPts val="2360"/>
              </a:lnSpc>
            </a:pPr>
            <a:r>
              <a:rPr sz="2000" u="sng" spc="-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Propositions:-</a:t>
            </a:r>
            <a:endParaRPr sz="2000">
              <a:latin typeface="Perpetua"/>
              <a:cs typeface="Perpetua"/>
            </a:endParaRPr>
          </a:p>
          <a:p>
            <a:pPr marL="964565">
              <a:lnSpc>
                <a:spcPct val="100000"/>
              </a:lnSpc>
              <a:spcBef>
                <a:spcPts val="120"/>
              </a:spcBef>
            </a:pPr>
            <a:r>
              <a:rPr sz="2000" spc="-25" dirty="0">
                <a:latin typeface="Perpetua"/>
                <a:cs typeface="Perpetua"/>
              </a:rPr>
              <a:t>P:We </a:t>
            </a:r>
            <a:r>
              <a:rPr sz="2000" spc="-5" dirty="0">
                <a:latin typeface="Perpetua"/>
                <a:cs typeface="Perpetua"/>
              </a:rPr>
              <a:t>win </a:t>
            </a:r>
            <a:r>
              <a:rPr sz="2000" dirty="0">
                <a:latin typeface="Perpetua"/>
                <a:cs typeface="Perpetua"/>
              </a:rPr>
              <a:t>the</a:t>
            </a:r>
            <a:r>
              <a:rPr sz="2000" spc="3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game</a:t>
            </a:r>
            <a:endParaRPr sz="2000">
              <a:latin typeface="Perpetua"/>
              <a:cs typeface="Perpetua"/>
            </a:endParaRPr>
          </a:p>
          <a:p>
            <a:pPr marL="964565">
              <a:lnSpc>
                <a:spcPts val="2365"/>
              </a:lnSpc>
              <a:spcBef>
                <a:spcPts val="120"/>
              </a:spcBef>
            </a:pPr>
            <a:r>
              <a:rPr sz="2000" dirty="0">
                <a:latin typeface="Perpetua"/>
                <a:cs typeface="Perpetua"/>
              </a:rPr>
              <a:t>Q </a:t>
            </a:r>
            <a:r>
              <a:rPr sz="2000" spc="-30" dirty="0">
                <a:latin typeface="Perpetua"/>
                <a:cs typeface="Perpetua"/>
              </a:rPr>
              <a:t>:We </a:t>
            </a:r>
            <a:r>
              <a:rPr sz="2000" spc="-5" dirty="0">
                <a:latin typeface="Perpetua"/>
                <a:cs typeface="Perpetua"/>
              </a:rPr>
              <a:t>will </a:t>
            </a:r>
            <a:r>
              <a:rPr sz="2000" dirty="0">
                <a:latin typeface="Perpetua"/>
                <a:cs typeface="Perpetua"/>
              </a:rPr>
              <a:t>get much</a:t>
            </a:r>
            <a:r>
              <a:rPr sz="2000" spc="30" dirty="0">
                <a:latin typeface="Perpetua"/>
                <a:cs typeface="Perpetua"/>
              </a:rPr>
              <a:t> </a:t>
            </a:r>
            <a:r>
              <a:rPr sz="2000" spc="-10" dirty="0">
                <a:latin typeface="Perpetua"/>
                <a:cs typeface="Perpetua"/>
              </a:rPr>
              <a:t>money</a:t>
            </a:r>
            <a:endParaRPr sz="2000">
              <a:latin typeface="Perpetua"/>
              <a:cs typeface="Perpetua"/>
            </a:endParaRPr>
          </a:p>
          <a:p>
            <a:pPr marL="324485">
              <a:lnSpc>
                <a:spcPts val="2295"/>
              </a:lnSpc>
            </a:pPr>
            <a:r>
              <a:rPr sz="2000" u="sng" spc="-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Representation:-</a:t>
            </a:r>
            <a:endParaRPr sz="2000">
              <a:latin typeface="Perpetua"/>
              <a:cs typeface="Perpetua"/>
            </a:endParaRPr>
          </a:p>
          <a:p>
            <a:pPr marL="873125">
              <a:lnSpc>
                <a:spcPts val="2815"/>
              </a:lnSpc>
            </a:pPr>
            <a:r>
              <a:rPr sz="2000" dirty="0">
                <a:latin typeface="Perpetua"/>
                <a:cs typeface="Perpetua"/>
              </a:rPr>
              <a:t>If </a:t>
            </a:r>
            <a:r>
              <a:rPr sz="2000" spc="-170" dirty="0">
                <a:latin typeface="Perpetua"/>
                <a:cs typeface="Perpetua"/>
              </a:rPr>
              <a:t>P, </a:t>
            </a:r>
            <a:r>
              <a:rPr sz="2000" dirty="0">
                <a:latin typeface="Perpetua"/>
                <a:cs typeface="Perpetua"/>
              </a:rPr>
              <a:t>then Q : </a:t>
            </a:r>
            <a:r>
              <a:rPr sz="2400" b="1" dirty="0">
                <a:latin typeface="Perpetua"/>
                <a:cs typeface="Perpetua"/>
              </a:rPr>
              <a:t>P</a:t>
            </a:r>
            <a:r>
              <a:rPr sz="2400" b="1" spc="-15" dirty="0">
                <a:latin typeface="Perpetua"/>
                <a:cs typeface="Perpetua"/>
              </a:rPr>
              <a:t> </a:t>
            </a:r>
            <a:r>
              <a:rPr sz="2400" spc="5" dirty="0">
                <a:latin typeface="Wingdings"/>
                <a:cs typeface="Wingdings"/>
              </a:rPr>
              <a:t></a:t>
            </a:r>
            <a:r>
              <a:rPr sz="2400" b="1" spc="5" dirty="0">
                <a:latin typeface="Perpetua"/>
                <a:cs typeface="Perpetua"/>
              </a:rPr>
              <a:t>Q</a:t>
            </a:r>
            <a:endParaRPr sz="2400">
              <a:latin typeface="Perpetua"/>
              <a:cs typeface="Perpetua"/>
            </a:endParaRPr>
          </a:p>
          <a:p>
            <a:pPr marL="286385" marR="344170" indent="-274320">
              <a:lnSpc>
                <a:spcPts val="2320"/>
              </a:lnSpc>
              <a:spcBef>
                <a:spcPts val="1664"/>
              </a:spcBef>
              <a:buSzPct val="8500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000" b="1" spc="-10" dirty="0">
                <a:latin typeface="Perpetua"/>
                <a:cs typeface="Perpetua"/>
              </a:rPr>
              <a:t>Statement </a:t>
            </a:r>
            <a:r>
              <a:rPr sz="2000" b="1" dirty="0">
                <a:latin typeface="Perpetua"/>
                <a:cs typeface="Perpetua"/>
              </a:rPr>
              <a:t>: </a:t>
            </a:r>
            <a:r>
              <a:rPr sz="2000" dirty="0">
                <a:latin typeface="Perpetua"/>
                <a:cs typeface="Perpetua"/>
              </a:rPr>
              <a:t>If the </a:t>
            </a:r>
            <a:r>
              <a:rPr sz="2000" spc="-5" dirty="0">
                <a:latin typeface="Perpetua"/>
                <a:cs typeface="Perpetua"/>
              </a:rPr>
              <a:t>book </a:t>
            </a:r>
            <a:r>
              <a:rPr sz="2000" dirty="0">
                <a:latin typeface="Perpetua"/>
                <a:cs typeface="Perpetua"/>
              </a:rPr>
              <a:t>is </a:t>
            </a:r>
            <a:r>
              <a:rPr sz="2000" spc="-5" dirty="0">
                <a:latin typeface="Perpetua"/>
                <a:cs typeface="Perpetua"/>
              </a:rPr>
              <a:t>not </a:t>
            </a:r>
            <a:r>
              <a:rPr sz="2000" dirty="0">
                <a:latin typeface="Perpetua"/>
                <a:cs typeface="Perpetua"/>
              </a:rPr>
              <a:t>in the </a:t>
            </a:r>
            <a:r>
              <a:rPr sz="2000" spc="-5" dirty="0">
                <a:latin typeface="Perpetua"/>
                <a:cs typeface="Perpetua"/>
              </a:rPr>
              <a:t>library </a:t>
            </a:r>
            <a:r>
              <a:rPr sz="2000" dirty="0">
                <a:latin typeface="Perpetua"/>
                <a:cs typeface="Perpetua"/>
              </a:rPr>
              <a:t>then it is in the </a:t>
            </a:r>
            <a:r>
              <a:rPr sz="2000" spc="-10" dirty="0">
                <a:latin typeface="Perpetua"/>
                <a:cs typeface="Perpetua"/>
              </a:rPr>
              <a:t>bookstore.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 </a:t>
            </a:r>
            <a:r>
              <a:rPr sz="2000" u="sng" spc="-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Propositions:-</a:t>
            </a:r>
            <a:endParaRPr sz="2000">
              <a:latin typeface="Perpetua"/>
              <a:cs typeface="Perpetua"/>
            </a:endParaRPr>
          </a:p>
          <a:p>
            <a:pPr marL="927100">
              <a:lnSpc>
                <a:spcPct val="100000"/>
              </a:lnSpc>
              <a:spcBef>
                <a:spcPts val="55"/>
              </a:spcBef>
            </a:pPr>
            <a:r>
              <a:rPr sz="2000" dirty="0">
                <a:latin typeface="Perpetua"/>
                <a:cs typeface="Perpetua"/>
              </a:rPr>
              <a:t>P: </a:t>
            </a:r>
            <a:r>
              <a:rPr sz="2000" spc="-5" dirty="0">
                <a:latin typeface="Perpetua"/>
                <a:cs typeface="Perpetua"/>
              </a:rPr>
              <a:t>Book </a:t>
            </a:r>
            <a:r>
              <a:rPr sz="2000" dirty="0">
                <a:latin typeface="Perpetua"/>
                <a:cs typeface="Perpetua"/>
              </a:rPr>
              <a:t>is in</a:t>
            </a:r>
            <a:r>
              <a:rPr sz="2000" spc="-95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library</a:t>
            </a:r>
            <a:endParaRPr sz="2000">
              <a:latin typeface="Perpetua"/>
              <a:cs typeface="Perpetua"/>
            </a:endParaRPr>
          </a:p>
          <a:p>
            <a:pPr marL="286385" marR="3635375" indent="640080">
              <a:lnSpc>
                <a:spcPts val="2330"/>
              </a:lnSpc>
              <a:spcBef>
                <a:spcPts val="254"/>
              </a:spcBef>
            </a:pPr>
            <a:r>
              <a:rPr sz="2000" dirty="0">
                <a:latin typeface="Perpetua"/>
                <a:cs typeface="Perpetua"/>
              </a:rPr>
              <a:t>Q : </a:t>
            </a:r>
            <a:r>
              <a:rPr sz="2000" spc="-5" dirty="0">
                <a:latin typeface="Perpetua"/>
                <a:cs typeface="Perpetua"/>
              </a:rPr>
              <a:t>Book </a:t>
            </a:r>
            <a:r>
              <a:rPr sz="2000" dirty="0">
                <a:latin typeface="Perpetua"/>
                <a:cs typeface="Perpetua"/>
              </a:rPr>
              <a:t>is in the</a:t>
            </a:r>
            <a:r>
              <a:rPr sz="2000" spc="-170" dirty="0">
                <a:latin typeface="Perpetua"/>
                <a:cs typeface="Perpetua"/>
              </a:rPr>
              <a:t> </a:t>
            </a:r>
            <a:r>
              <a:rPr sz="2000" spc="-5" dirty="0">
                <a:latin typeface="Perpetua"/>
                <a:cs typeface="Perpetua"/>
              </a:rPr>
              <a:t>bookstore  </a:t>
            </a:r>
            <a:r>
              <a:rPr sz="2000" u="sng" spc="-5" dirty="0">
                <a:uFill>
                  <a:solidFill>
                    <a:srgbClr val="000000"/>
                  </a:solidFill>
                </a:uFill>
                <a:latin typeface="Perpetua"/>
                <a:cs typeface="Perpetua"/>
              </a:rPr>
              <a:t>Representation:-</a:t>
            </a:r>
            <a:endParaRPr sz="2000">
              <a:latin typeface="Perpetua"/>
              <a:cs typeface="Perpetua"/>
            </a:endParaRPr>
          </a:p>
          <a:p>
            <a:pPr marL="835660">
              <a:lnSpc>
                <a:spcPts val="2680"/>
              </a:lnSpc>
            </a:pPr>
            <a:r>
              <a:rPr sz="2000" dirty="0">
                <a:latin typeface="Perpetua"/>
                <a:cs typeface="Perpetua"/>
              </a:rPr>
              <a:t>If </a:t>
            </a:r>
            <a:r>
              <a:rPr sz="2000" spc="-25" dirty="0">
                <a:latin typeface="Perpetua"/>
                <a:cs typeface="Perpetua"/>
              </a:rPr>
              <a:t>NOT </a:t>
            </a:r>
            <a:r>
              <a:rPr sz="2000" spc="-165" dirty="0">
                <a:latin typeface="Perpetua"/>
                <a:cs typeface="Perpetua"/>
              </a:rPr>
              <a:t>P, </a:t>
            </a:r>
            <a:r>
              <a:rPr sz="2000" dirty="0">
                <a:latin typeface="Perpetua"/>
                <a:cs typeface="Perpetua"/>
              </a:rPr>
              <a:t>then Q : </a:t>
            </a:r>
            <a:r>
              <a:rPr sz="2400" b="1" spc="-5" dirty="0">
                <a:latin typeface="Perpetua"/>
                <a:cs typeface="Perpetua"/>
              </a:rPr>
              <a:t>~P </a:t>
            </a:r>
            <a:r>
              <a:rPr sz="2400" spc="5" dirty="0">
                <a:latin typeface="Wingdings"/>
                <a:cs typeface="Wingdings"/>
              </a:rPr>
              <a:t></a:t>
            </a:r>
            <a:r>
              <a:rPr sz="2400" b="1" spc="5" dirty="0">
                <a:latin typeface="Perpetua"/>
                <a:cs typeface="Perpetua"/>
              </a:rPr>
              <a:t>Q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9325" y="4243507"/>
            <a:ext cx="7314843" cy="6352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1000" y="1219200"/>
            <a:ext cx="7904988" cy="2895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2001" y="657605"/>
            <a:ext cx="6792034" cy="2990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06520" y="5888831"/>
            <a:ext cx="1430527" cy="2857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55309" y="5821171"/>
            <a:ext cx="1924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10" dirty="0">
                <a:solidFill>
                  <a:srgbClr val="C00000"/>
                </a:solidFill>
                <a:latin typeface="Perpetua"/>
                <a:cs typeface="Perpetua"/>
              </a:rPr>
              <a:t>What </a:t>
            </a:r>
            <a:r>
              <a:rPr sz="2400" i="1" dirty="0">
                <a:solidFill>
                  <a:srgbClr val="C00000"/>
                </a:solidFill>
                <a:latin typeface="Perpetua"/>
                <a:cs typeface="Perpetua"/>
              </a:rPr>
              <a:t>does this</a:t>
            </a:r>
            <a:r>
              <a:rPr sz="2400" i="1" spc="-8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i="1" spc="-20" dirty="0">
                <a:solidFill>
                  <a:srgbClr val="C00000"/>
                </a:solidFill>
                <a:latin typeface="Perpetua"/>
                <a:cs typeface="Perpetua"/>
              </a:rPr>
              <a:t>say</a:t>
            </a:r>
            <a:r>
              <a:rPr sz="2400" spc="-20" dirty="0">
                <a:solidFill>
                  <a:srgbClr val="C00000"/>
                </a:solidFill>
                <a:latin typeface="Perpetua"/>
                <a:cs typeface="Perpetua"/>
              </a:rPr>
              <a:t>?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718" y="1243329"/>
            <a:ext cx="1022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Sentence</a:t>
            </a:r>
            <a:r>
              <a:rPr sz="18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0718" y="1639265"/>
            <a:ext cx="8508365" cy="407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Times New Roman"/>
                <a:cs typeface="Times New Roman"/>
              </a:rPr>
              <a:t>If </a:t>
            </a:r>
            <a:r>
              <a:rPr sz="1800" dirty="0">
                <a:latin typeface="Times New Roman"/>
                <a:cs typeface="Times New Roman"/>
              </a:rPr>
              <a:t>the races are fixed or the </a:t>
            </a:r>
            <a:r>
              <a:rPr sz="1800" spc="-5" dirty="0">
                <a:latin typeface="Times New Roman"/>
                <a:cs typeface="Times New Roman"/>
              </a:rPr>
              <a:t>gambling houses </a:t>
            </a:r>
            <a:r>
              <a:rPr sz="1800" dirty="0">
                <a:latin typeface="Times New Roman"/>
                <a:cs typeface="Times New Roman"/>
              </a:rPr>
              <a:t>are crooked, then the tourist trade will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decline.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50">
              <a:latin typeface="Times New Roman"/>
              <a:cs typeface="Times New Roman"/>
            </a:endParaRPr>
          </a:p>
          <a:p>
            <a:pPr marL="513080" indent="-343535">
              <a:lnSpc>
                <a:spcPct val="100000"/>
              </a:lnSpc>
              <a:buAutoNum type="arabicPeriod"/>
              <a:tabLst>
                <a:tab pos="513080" algn="l"/>
                <a:tab pos="513715" algn="l"/>
              </a:tabLst>
            </a:pPr>
            <a:r>
              <a:rPr sz="1600" spc="-5" dirty="0">
                <a:latin typeface="Times New Roman"/>
                <a:cs typeface="Times New Roman"/>
              </a:rPr>
              <a:t>If the races are fixed </a:t>
            </a:r>
            <a:r>
              <a:rPr sz="1600" dirty="0">
                <a:latin typeface="Times New Roman"/>
                <a:cs typeface="Times New Roman"/>
              </a:rPr>
              <a:t>or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gambling </a:t>
            </a:r>
            <a:r>
              <a:rPr sz="1600" spc="-5" dirty="0">
                <a:latin typeface="Times New Roman"/>
                <a:cs typeface="Times New Roman"/>
              </a:rPr>
              <a:t>houses are crooked, then the tourist trade </a:t>
            </a:r>
            <a:r>
              <a:rPr sz="1600" spc="-10" dirty="0">
                <a:latin typeface="Times New Roman"/>
                <a:cs typeface="Times New Roman"/>
              </a:rPr>
              <a:t>will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decline.</a:t>
            </a:r>
            <a:endParaRPr sz="1600">
              <a:latin typeface="Times New Roman"/>
              <a:cs typeface="Times New Roman"/>
            </a:endParaRPr>
          </a:p>
          <a:p>
            <a:pPr marL="513080" indent="-343535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513080" algn="l"/>
                <a:tab pos="513715" algn="l"/>
              </a:tabLst>
            </a:pPr>
            <a:r>
              <a:rPr sz="1600" spc="-5" dirty="0">
                <a:latin typeface="Times New Roman"/>
                <a:cs typeface="Times New Roman"/>
              </a:rPr>
              <a:t>If(the races are fixed </a:t>
            </a:r>
            <a:r>
              <a:rPr sz="1600" dirty="0">
                <a:latin typeface="Times New Roman"/>
                <a:cs typeface="Times New Roman"/>
              </a:rPr>
              <a:t>or </a:t>
            </a:r>
            <a:r>
              <a:rPr sz="1600" spc="-5" dirty="0">
                <a:latin typeface="Times New Roman"/>
                <a:cs typeface="Times New Roman"/>
              </a:rPr>
              <a:t>the </a:t>
            </a:r>
            <a:r>
              <a:rPr sz="1600" spc="-10" dirty="0">
                <a:latin typeface="Times New Roman"/>
                <a:cs typeface="Times New Roman"/>
              </a:rPr>
              <a:t>gambling </a:t>
            </a:r>
            <a:r>
              <a:rPr sz="1600" spc="-5" dirty="0">
                <a:latin typeface="Times New Roman"/>
                <a:cs typeface="Times New Roman"/>
              </a:rPr>
              <a:t>houses are crooked), then (the tourist trade will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decline)</a:t>
            </a:r>
            <a:endParaRPr sz="1600">
              <a:latin typeface="Times New Roman"/>
              <a:cs typeface="Times New Roman"/>
            </a:endParaRPr>
          </a:p>
          <a:p>
            <a:pPr marL="513080" indent="-343535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513080" algn="l"/>
                <a:tab pos="513715" algn="l"/>
              </a:tabLst>
            </a:pPr>
            <a:r>
              <a:rPr sz="1600" spc="-5" dirty="0">
                <a:latin typeface="Times New Roman"/>
                <a:cs typeface="Times New Roman"/>
              </a:rPr>
              <a:t>(the races are </a:t>
            </a:r>
            <a:r>
              <a:rPr sz="1600" dirty="0">
                <a:latin typeface="Times New Roman"/>
                <a:cs typeface="Times New Roman"/>
              </a:rPr>
              <a:t>fixed </a:t>
            </a:r>
            <a:r>
              <a:rPr sz="1600" spc="-5" dirty="0">
                <a:latin typeface="Times New Roman"/>
                <a:cs typeface="Times New Roman"/>
              </a:rPr>
              <a:t>or the </a:t>
            </a:r>
            <a:r>
              <a:rPr sz="1600" spc="-10" dirty="0">
                <a:latin typeface="Times New Roman"/>
                <a:cs typeface="Times New Roman"/>
              </a:rPr>
              <a:t>gambling </a:t>
            </a:r>
            <a:r>
              <a:rPr sz="1600" spc="-5" dirty="0">
                <a:latin typeface="Times New Roman"/>
                <a:cs typeface="Times New Roman"/>
              </a:rPr>
              <a:t>houses are crooked) </a:t>
            </a:r>
            <a:r>
              <a:rPr sz="1600" spc="-5" dirty="0">
                <a:latin typeface="Wingdings"/>
                <a:cs typeface="Wingdings"/>
              </a:rPr>
              <a:t></a:t>
            </a:r>
            <a:r>
              <a:rPr sz="1600" spc="-5" dirty="0">
                <a:latin typeface="Times New Roman"/>
                <a:cs typeface="Times New Roman"/>
              </a:rPr>
              <a:t> (the </a:t>
            </a:r>
            <a:r>
              <a:rPr sz="1600" dirty="0">
                <a:latin typeface="Times New Roman"/>
                <a:cs typeface="Times New Roman"/>
              </a:rPr>
              <a:t>tourist </a:t>
            </a:r>
            <a:r>
              <a:rPr sz="1600" spc="-5" dirty="0">
                <a:latin typeface="Times New Roman"/>
                <a:cs typeface="Times New Roman"/>
              </a:rPr>
              <a:t>trade will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decline)</a:t>
            </a:r>
            <a:endParaRPr sz="1600">
              <a:latin typeface="Times New Roman"/>
              <a:cs typeface="Times New Roman"/>
            </a:endParaRPr>
          </a:p>
          <a:p>
            <a:pPr marL="513080" indent="-34353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513080" algn="l"/>
                <a:tab pos="513715" algn="l"/>
              </a:tabLst>
            </a:pPr>
            <a:r>
              <a:rPr sz="1600" spc="-5" dirty="0">
                <a:latin typeface="Times New Roman"/>
                <a:cs typeface="Times New Roman"/>
              </a:rPr>
              <a:t>(the races are fixed) </a:t>
            </a:r>
            <a:r>
              <a:rPr sz="1600" dirty="0">
                <a:latin typeface="Times New Roman"/>
                <a:cs typeface="Times New Roman"/>
              </a:rPr>
              <a:t>or </a:t>
            </a:r>
            <a:r>
              <a:rPr sz="1600" spc="-5" dirty="0">
                <a:latin typeface="Times New Roman"/>
                <a:cs typeface="Times New Roman"/>
              </a:rPr>
              <a:t>(the </a:t>
            </a:r>
            <a:r>
              <a:rPr sz="1600" spc="-10" dirty="0">
                <a:latin typeface="Times New Roman"/>
                <a:cs typeface="Times New Roman"/>
              </a:rPr>
              <a:t>gambling </a:t>
            </a:r>
            <a:r>
              <a:rPr sz="1600" spc="-5" dirty="0">
                <a:latin typeface="Times New Roman"/>
                <a:cs typeface="Times New Roman"/>
              </a:rPr>
              <a:t>houses are crooked) </a:t>
            </a:r>
            <a:r>
              <a:rPr sz="1600" spc="-5" dirty="0">
                <a:latin typeface="Wingdings"/>
                <a:cs typeface="Wingdings"/>
              </a:rPr>
              <a:t></a:t>
            </a:r>
            <a:r>
              <a:rPr sz="1600" spc="-5" dirty="0">
                <a:latin typeface="Times New Roman"/>
                <a:cs typeface="Times New Roman"/>
              </a:rPr>
              <a:t> (the tourist trade </a:t>
            </a:r>
            <a:r>
              <a:rPr sz="1600" spc="-10" dirty="0">
                <a:latin typeface="Times New Roman"/>
                <a:cs typeface="Times New Roman"/>
              </a:rPr>
              <a:t>will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decline)</a:t>
            </a:r>
            <a:endParaRPr sz="1600">
              <a:latin typeface="Times New Roman"/>
              <a:cs typeface="Times New Roman"/>
            </a:endParaRPr>
          </a:p>
          <a:p>
            <a:pPr marL="170180">
              <a:lnSpc>
                <a:spcPct val="100000"/>
              </a:lnSpc>
              <a:spcBef>
                <a:spcPts val="910"/>
              </a:spcBef>
              <a:tabLst>
                <a:tab pos="513080" algn="l"/>
              </a:tabLst>
            </a:pPr>
            <a:r>
              <a:rPr sz="1600" i="1" spc="-5" dirty="0">
                <a:latin typeface="Lucida Calligraphy"/>
                <a:cs typeface="Lucida Calligraphy"/>
              </a:rPr>
              <a:t>5.	(f </a:t>
            </a:r>
            <a:r>
              <a:rPr sz="1600" spc="-5" dirty="0">
                <a:latin typeface="Cambria Math"/>
                <a:cs typeface="Cambria Math"/>
              </a:rPr>
              <a:t>∨ </a:t>
            </a:r>
            <a:r>
              <a:rPr sz="1600" i="1" spc="-5" dirty="0">
                <a:latin typeface="Lucida Calligraphy"/>
                <a:cs typeface="Lucida Calligraphy"/>
              </a:rPr>
              <a:t>c) </a:t>
            </a:r>
            <a:r>
              <a:rPr sz="1600" spc="-5" dirty="0">
                <a:latin typeface="Wingdings"/>
                <a:cs typeface="Wingdings"/>
              </a:rPr>
              <a:t>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Lucida Calligraphy"/>
                <a:cs typeface="Lucida Calligraphy"/>
              </a:rPr>
              <a:t>d</a:t>
            </a:r>
            <a:endParaRPr sz="1600">
              <a:latin typeface="Lucida Calligraphy"/>
              <a:cs typeface="Lucida Calligraphy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750">
              <a:latin typeface="Lucida Calligraphy"/>
              <a:cs typeface="Lucida Calligraphy"/>
            </a:endParaRPr>
          </a:p>
          <a:p>
            <a:pPr marL="109220">
              <a:lnSpc>
                <a:spcPct val="100000"/>
              </a:lnSpc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Sentence 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109220">
              <a:lnSpc>
                <a:spcPct val="100000"/>
              </a:lnSpc>
              <a:spcBef>
                <a:spcPts val="965"/>
              </a:spcBef>
            </a:pPr>
            <a:r>
              <a:rPr sz="1800" dirty="0">
                <a:latin typeface="Times New Roman"/>
                <a:cs typeface="Times New Roman"/>
              </a:rPr>
              <a:t>If the races are fixed or the </a:t>
            </a:r>
            <a:r>
              <a:rPr sz="1800" spc="-5" dirty="0">
                <a:latin typeface="Times New Roman"/>
                <a:cs typeface="Times New Roman"/>
              </a:rPr>
              <a:t>gambling houses </a:t>
            </a:r>
            <a:r>
              <a:rPr sz="1800" dirty="0">
                <a:latin typeface="Times New Roman"/>
                <a:cs typeface="Times New Roman"/>
              </a:rPr>
              <a:t>are crooked, then the tourist trade </a:t>
            </a:r>
            <a:r>
              <a:rPr sz="1800" spc="-5" dirty="0">
                <a:latin typeface="Times New Roman"/>
                <a:cs typeface="Times New Roman"/>
              </a:rPr>
              <a:t>will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Times New Roman"/>
                <a:cs typeface="Times New Roman"/>
              </a:rPr>
              <a:t>decline.</a:t>
            </a:r>
            <a:endParaRPr sz="1800">
              <a:latin typeface="Times New Roman"/>
              <a:cs typeface="Times New Roman"/>
            </a:endParaRPr>
          </a:p>
          <a:p>
            <a:pPr marL="109220">
              <a:lnSpc>
                <a:spcPct val="100000"/>
              </a:lnSpc>
              <a:spcBef>
                <a:spcPts val="955"/>
              </a:spcBef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Logical 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Formula</a:t>
            </a:r>
            <a:r>
              <a:rPr sz="1600" b="1" u="heavy" spc="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marL="1023619">
              <a:lnSpc>
                <a:spcPct val="100000"/>
              </a:lnSpc>
              <a:spcBef>
                <a:spcPts val="910"/>
              </a:spcBef>
            </a:pPr>
            <a:r>
              <a:rPr sz="1600" i="1" spc="-5" dirty="0">
                <a:latin typeface="Lucida Calligraphy"/>
                <a:cs typeface="Lucida Calligraphy"/>
              </a:rPr>
              <a:t>(f </a:t>
            </a:r>
            <a:r>
              <a:rPr sz="1600" spc="-5" dirty="0">
                <a:latin typeface="Cambria Math"/>
                <a:cs typeface="Cambria Math"/>
              </a:rPr>
              <a:t>∨ </a:t>
            </a:r>
            <a:r>
              <a:rPr sz="1600" i="1" spc="-5" dirty="0">
                <a:latin typeface="Lucida Calligraphy"/>
                <a:cs typeface="Lucida Calligraphy"/>
              </a:rPr>
              <a:t>c) </a:t>
            </a:r>
            <a:r>
              <a:rPr sz="1600" spc="-5" dirty="0">
                <a:latin typeface="Wingdings"/>
                <a:cs typeface="Wingdings"/>
              </a:rPr>
              <a:t>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Lucida Calligraphy"/>
                <a:cs typeface="Lucida Calligraphy"/>
              </a:rPr>
              <a:t>d</a:t>
            </a:r>
            <a:endParaRPr sz="1600">
              <a:latin typeface="Lucida Calligraphy"/>
              <a:cs typeface="Lucida Calligraphy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0718" y="1243329"/>
            <a:ext cx="1022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Sentence</a:t>
            </a:r>
            <a:r>
              <a:rPr sz="1800" b="1" u="heavy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0718" y="1639265"/>
            <a:ext cx="5951220" cy="4330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If the car has no fuel or it has no </a:t>
            </a:r>
            <a:r>
              <a:rPr sz="1800" spc="-5" dirty="0">
                <a:latin typeface="Times New Roman"/>
                <a:cs typeface="Times New Roman"/>
              </a:rPr>
              <a:t>spark, </a:t>
            </a:r>
            <a:r>
              <a:rPr sz="1800" dirty="0">
                <a:latin typeface="Times New Roman"/>
                <a:cs typeface="Times New Roman"/>
              </a:rPr>
              <a:t>then it will </a:t>
            </a:r>
            <a:r>
              <a:rPr sz="1800" spc="-5" dirty="0">
                <a:latin typeface="Times New Roman"/>
                <a:cs typeface="Times New Roman"/>
              </a:rPr>
              <a:t>not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start.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50">
              <a:latin typeface="Times New Roman"/>
              <a:cs typeface="Times New Roman"/>
            </a:endParaRPr>
          </a:p>
          <a:p>
            <a:pPr marL="513080" indent="-343535">
              <a:lnSpc>
                <a:spcPct val="100000"/>
              </a:lnSpc>
              <a:buAutoNum type="arabicPeriod"/>
              <a:tabLst>
                <a:tab pos="513080" algn="l"/>
                <a:tab pos="513715" algn="l"/>
              </a:tabLst>
            </a:pPr>
            <a:r>
              <a:rPr sz="1600" spc="-5" dirty="0">
                <a:latin typeface="Times New Roman"/>
                <a:cs typeface="Times New Roman"/>
              </a:rPr>
              <a:t>If the car has no fuel or it has no spark, then it will not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start.</a:t>
            </a:r>
            <a:endParaRPr sz="1600">
              <a:latin typeface="Times New Roman"/>
              <a:cs typeface="Times New Roman"/>
            </a:endParaRPr>
          </a:p>
          <a:p>
            <a:pPr marL="513080" indent="-343535">
              <a:lnSpc>
                <a:spcPct val="100000"/>
              </a:lnSpc>
              <a:buAutoNum type="arabicPeriod"/>
              <a:tabLst>
                <a:tab pos="513080" algn="l"/>
                <a:tab pos="513715" algn="l"/>
              </a:tabLst>
            </a:pPr>
            <a:r>
              <a:rPr sz="1600" spc="-5" dirty="0">
                <a:latin typeface="Times New Roman"/>
                <a:cs typeface="Times New Roman"/>
              </a:rPr>
              <a:t>If the car has no fuel or car has no spark, then car will not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start.</a:t>
            </a:r>
            <a:endParaRPr sz="1600">
              <a:latin typeface="Times New Roman"/>
              <a:cs typeface="Times New Roman"/>
            </a:endParaRPr>
          </a:p>
          <a:p>
            <a:pPr marL="513080" indent="-343535">
              <a:lnSpc>
                <a:spcPts val="1914"/>
              </a:lnSpc>
              <a:buAutoNum type="arabicPeriod"/>
              <a:tabLst>
                <a:tab pos="513080" algn="l"/>
                <a:tab pos="513715" algn="l"/>
              </a:tabLst>
            </a:pPr>
            <a:r>
              <a:rPr sz="1600" spc="-5" dirty="0">
                <a:latin typeface="Times New Roman"/>
                <a:cs typeface="Times New Roman"/>
              </a:rPr>
              <a:t>If (the car has no fuel or car has no spark), then (car will not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start).</a:t>
            </a:r>
            <a:endParaRPr sz="1600">
              <a:latin typeface="Times New Roman"/>
              <a:cs typeface="Times New Roman"/>
            </a:endParaRPr>
          </a:p>
          <a:p>
            <a:pPr marL="513080" indent="-343535">
              <a:lnSpc>
                <a:spcPts val="1914"/>
              </a:lnSpc>
              <a:buAutoNum type="arabicPeriod"/>
              <a:tabLst>
                <a:tab pos="513080" algn="l"/>
                <a:tab pos="513715" algn="l"/>
              </a:tabLst>
            </a:pPr>
            <a:r>
              <a:rPr sz="1600" spc="-5" dirty="0">
                <a:latin typeface="Times New Roman"/>
                <a:cs typeface="Times New Roman"/>
              </a:rPr>
              <a:t>(the car has </a:t>
            </a:r>
            <a:r>
              <a:rPr sz="1600" dirty="0">
                <a:latin typeface="Times New Roman"/>
                <a:cs typeface="Times New Roman"/>
              </a:rPr>
              <a:t>no fuel </a:t>
            </a:r>
            <a:r>
              <a:rPr sz="1600" spc="-5" dirty="0">
                <a:latin typeface="Times New Roman"/>
                <a:cs typeface="Times New Roman"/>
              </a:rPr>
              <a:t>or car has no spark) </a:t>
            </a:r>
            <a:r>
              <a:rPr sz="1600" spc="-5" dirty="0">
                <a:latin typeface="Wingdings"/>
                <a:cs typeface="Wingdings"/>
              </a:rPr>
              <a:t></a:t>
            </a:r>
            <a:r>
              <a:rPr sz="1600" spc="-5" dirty="0">
                <a:latin typeface="Times New Roman"/>
                <a:cs typeface="Times New Roman"/>
              </a:rPr>
              <a:t> (car will not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start)</a:t>
            </a:r>
            <a:endParaRPr sz="1600">
              <a:latin typeface="Times New Roman"/>
              <a:cs typeface="Times New Roman"/>
            </a:endParaRPr>
          </a:p>
          <a:p>
            <a:pPr marL="513080" indent="-343535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513080" algn="l"/>
                <a:tab pos="513715" algn="l"/>
              </a:tabLst>
            </a:pPr>
            <a:r>
              <a:rPr sz="1600" spc="-5" dirty="0">
                <a:latin typeface="Times New Roman"/>
                <a:cs typeface="Times New Roman"/>
              </a:rPr>
              <a:t>(the car has </a:t>
            </a:r>
            <a:r>
              <a:rPr sz="1600" dirty="0">
                <a:latin typeface="Times New Roman"/>
                <a:cs typeface="Times New Roman"/>
              </a:rPr>
              <a:t>no </a:t>
            </a:r>
            <a:r>
              <a:rPr sz="1600" spc="-5" dirty="0">
                <a:latin typeface="Times New Roman"/>
                <a:cs typeface="Times New Roman"/>
              </a:rPr>
              <a:t>fuel ) </a:t>
            </a:r>
            <a:r>
              <a:rPr sz="1600" dirty="0">
                <a:latin typeface="Times New Roman"/>
                <a:cs typeface="Times New Roman"/>
              </a:rPr>
              <a:t>or </a:t>
            </a:r>
            <a:r>
              <a:rPr sz="1600" spc="-10" dirty="0">
                <a:latin typeface="Times New Roman"/>
                <a:cs typeface="Times New Roman"/>
              </a:rPr>
              <a:t>(car </a:t>
            </a:r>
            <a:r>
              <a:rPr sz="1600" spc="-5" dirty="0">
                <a:latin typeface="Times New Roman"/>
                <a:cs typeface="Times New Roman"/>
              </a:rPr>
              <a:t>has </a:t>
            </a:r>
            <a:r>
              <a:rPr sz="1600" dirty="0">
                <a:latin typeface="Times New Roman"/>
                <a:cs typeface="Times New Roman"/>
              </a:rPr>
              <a:t>no </a:t>
            </a:r>
            <a:r>
              <a:rPr sz="1600" spc="-5" dirty="0">
                <a:latin typeface="Times New Roman"/>
                <a:cs typeface="Times New Roman"/>
              </a:rPr>
              <a:t>spark) </a:t>
            </a:r>
            <a:r>
              <a:rPr sz="1600" spc="-5" dirty="0">
                <a:latin typeface="Wingdings"/>
                <a:cs typeface="Wingdings"/>
              </a:rPr>
              <a:t>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(car will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start)</a:t>
            </a:r>
            <a:endParaRPr sz="1600">
              <a:latin typeface="Times New Roman"/>
              <a:cs typeface="Times New Roman"/>
            </a:endParaRPr>
          </a:p>
          <a:p>
            <a:pPr marL="513080" indent="-343535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513080" algn="l"/>
                <a:tab pos="513715" algn="l"/>
              </a:tabLst>
            </a:pPr>
            <a:r>
              <a:rPr sz="1600" spc="-5" dirty="0">
                <a:latin typeface="Times New Roman"/>
                <a:cs typeface="Times New Roman"/>
              </a:rPr>
              <a:t>NOT(car has fuel) </a:t>
            </a:r>
            <a:r>
              <a:rPr sz="1600" dirty="0">
                <a:latin typeface="Times New Roman"/>
                <a:cs typeface="Times New Roman"/>
              </a:rPr>
              <a:t>or </a:t>
            </a:r>
            <a:r>
              <a:rPr sz="1600" spc="-5" dirty="0">
                <a:latin typeface="Times New Roman"/>
                <a:cs typeface="Times New Roman"/>
              </a:rPr>
              <a:t>NOT(car has </a:t>
            </a:r>
            <a:r>
              <a:rPr sz="1600" dirty="0">
                <a:latin typeface="Times New Roman"/>
                <a:cs typeface="Times New Roman"/>
              </a:rPr>
              <a:t>spark) </a:t>
            </a:r>
            <a:r>
              <a:rPr sz="1600" spc="-5" dirty="0">
                <a:latin typeface="Wingdings"/>
                <a:cs typeface="Wingdings"/>
              </a:rPr>
              <a:t></a:t>
            </a:r>
            <a:r>
              <a:rPr sz="1600" spc="-5" dirty="0">
                <a:latin typeface="Times New Roman"/>
                <a:cs typeface="Times New Roman"/>
              </a:rPr>
              <a:t> NOT(car </a:t>
            </a:r>
            <a:r>
              <a:rPr sz="1600" spc="-10" dirty="0">
                <a:latin typeface="Times New Roman"/>
                <a:cs typeface="Times New Roman"/>
              </a:rPr>
              <a:t>will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start)</a:t>
            </a:r>
            <a:endParaRPr sz="1600">
              <a:latin typeface="Times New Roman"/>
              <a:cs typeface="Times New Roman"/>
            </a:endParaRPr>
          </a:p>
          <a:p>
            <a:pPr marL="170180">
              <a:lnSpc>
                <a:spcPct val="100000"/>
              </a:lnSpc>
              <a:spcBef>
                <a:spcPts val="915"/>
              </a:spcBef>
              <a:tabLst>
                <a:tab pos="513080" algn="l"/>
              </a:tabLst>
            </a:pPr>
            <a:r>
              <a:rPr sz="1600" i="1" spc="-5" dirty="0">
                <a:latin typeface="Lucida Calligraphy"/>
                <a:cs typeface="Lucida Calligraphy"/>
              </a:rPr>
              <a:t>7.	(~f </a:t>
            </a:r>
            <a:r>
              <a:rPr sz="1600" spc="-5" dirty="0">
                <a:latin typeface="Cambria Math"/>
                <a:cs typeface="Cambria Math"/>
              </a:rPr>
              <a:t>∨ </a:t>
            </a:r>
            <a:r>
              <a:rPr sz="1600" i="1" spc="-10" dirty="0">
                <a:latin typeface="Lucida Calligraphy"/>
                <a:cs typeface="Lucida Calligraphy"/>
              </a:rPr>
              <a:t>~s) </a:t>
            </a:r>
            <a:r>
              <a:rPr sz="1600" spc="-5" dirty="0">
                <a:latin typeface="Wingdings"/>
                <a:cs typeface="Wingdings"/>
              </a:rPr>
              <a:t>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Lucida Calligraphy"/>
                <a:cs typeface="Lucida Calligraphy"/>
              </a:rPr>
              <a:t>~t</a:t>
            </a:r>
            <a:endParaRPr sz="1600">
              <a:latin typeface="Lucida Calligraphy"/>
              <a:cs typeface="Lucida Calligraphy"/>
            </a:endParaRPr>
          </a:p>
          <a:p>
            <a:pPr marL="166370">
              <a:lnSpc>
                <a:spcPct val="100000"/>
              </a:lnSpc>
              <a:spcBef>
                <a:spcPts val="1550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Sentence</a:t>
            </a:r>
            <a:r>
              <a:rPr sz="18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166370">
              <a:lnSpc>
                <a:spcPct val="100000"/>
              </a:lnSpc>
              <a:spcBef>
                <a:spcPts val="960"/>
              </a:spcBef>
            </a:pPr>
            <a:r>
              <a:rPr sz="1800" dirty="0">
                <a:latin typeface="Times New Roman"/>
                <a:cs typeface="Times New Roman"/>
              </a:rPr>
              <a:t>If the car has no fuel or it has no </a:t>
            </a:r>
            <a:r>
              <a:rPr sz="1800" spc="-5" dirty="0">
                <a:latin typeface="Times New Roman"/>
                <a:cs typeface="Times New Roman"/>
              </a:rPr>
              <a:t>spark, </a:t>
            </a:r>
            <a:r>
              <a:rPr sz="1800" dirty="0">
                <a:latin typeface="Times New Roman"/>
                <a:cs typeface="Times New Roman"/>
              </a:rPr>
              <a:t>then it will </a:t>
            </a:r>
            <a:r>
              <a:rPr sz="1800" spc="-5" dirty="0">
                <a:latin typeface="Times New Roman"/>
                <a:cs typeface="Times New Roman"/>
              </a:rPr>
              <a:t>not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start.</a:t>
            </a:r>
            <a:endParaRPr sz="1800">
              <a:latin typeface="Times New Roman"/>
              <a:cs typeface="Times New Roman"/>
            </a:endParaRPr>
          </a:p>
          <a:p>
            <a:pPr marL="166370">
              <a:lnSpc>
                <a:spcPct val="100000"/>
              </a:lnSpc>
              <a:spcBef>
                <a:spcPts val="960"/>
              </a:spcBef>
            </a:pP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Logical </a:t>
            </a:r>
            <a:r>
              <a:rPr sz="1600" b="1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Formula</a:t>
            </a:r>
            <a:r>
              <a:rPr sz="1600" b="1" u="heavy" spc="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1600">
              <a:latin typeface="Times New Roman"/>
              <a:cs typeface="Times New Roman"/>
            </a:endParaRPr>
          </a:p>
          <a:p>
            <a:pPr marL="1080770">
              <a:lnSpc>
                <a:spcPct val="100000"/>
              </a:lnSpc>
              <a:spcBef>
                <a:spcPts val="910"/>
              </a:spcBef>
            </a:pPr>
            <a:r>
              <a:rPr sz="1600" i="1" spc="-5" dirty="0">
                <a:latin typeface="Lucida Calligraphy"/>
                <a:cs typeface="Lucida Calligraphy"/>
              </a:rPr>
              <a:t>(~f </a:t>
            </a:r>
            <a:r>
              <a:rPr sz="1600" spc="-5" dirty="0">
                <a:latin typeface="Cambria Math"/>
                <a:cs typeface="Cambria Math"/>
              </a:rPr>
              <a:t>∨ </a:t>
            </a:r>
            <a:r>
              <a:rPr sz="1600" i="1" spc="-10" dirty="0">
                <a:latin typeface="Lucida Calligraphy"/>
                <a:cs typeface="Lucida Calligraphy"/>
              </a:rPr>
              <a:t>~s) </a:t>
            </a:r>
            <a:r>
              <a:rPr sz="1600" spc="-5" dirty="0">
                <a:latin typeface="Wingdings"/>
                <a:cs typeface="Wingdings"/>
              </a:rPr>
              <a:t>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Lucida Calligraphy"/>
                <a:cs typeface="Lucida Calligraphy"/>
              </a:rPr>
              <a:t>~t</a:t>
            </a:r>
            <a:endParaRPr sz="1600">
              <a:latin typeface="Lucida Calligraphy"/>
              <a:cs typeface="Lucida Calligraphy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59740" y="1205458"/>
            <a:ext cx="5085080" cy="28702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7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(p OR</a:t>
            </a:r>
            <a:r>
              <a:rPr sz="2600" spc="-204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q)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5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spc="-35" dirty="0">
                <a:latin typeface="Perpetua"/>
                <a:cs typeface="Perpetua"/>
              </a:rPr>
              <a:t>NOT </a:t>
            </a:r>
            <a:r>
              <a:rPr sz="2600" dirty="0">
                <a:latin typeface="Perpetua"/>
                <a:cs typeface="Perpetua"/>
              </a:rPr>
              <a:t>p OR</a:t>
            </a:r>
            <a:r>
              <a:rPr sz="2600" spc="3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(p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q) OR </a:t>
            </a:r>
            <a:r>
              <a:rPr sz="2600" spc="-25" dirty="0">
                <a:latin typeface="Perpetua"/>
                <a:cs typeface="Perpetua"/>
              </a:rPr>
              <a:t>(NOT </a:t>
            </a:r>
            <a:r>
              <a:rPr sz="2600" dirty="0">
                <a:latin typeface="Perpetua"/>
                <a:cs typeface="Perpetua"/>
              </a:rPr>
              <a:t>p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35" dirty="0">
                <a:latin typeface="Perpetua"/>
                <a:cs typeface="Perpetua"/>
              </a:rPr>
              <a:t>NOT</a:t>
            </a:r>
            <a:r>
              <a:rPr sz="2600" spc="-3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q)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7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(p </a:t>
            </a:r>
            <a:r>
              <a:rPr sz="2600" spc="5" dirty="0">
                <a:latin typeface="Times New Roman"/>
                <a:cs typeface="Times New Roman"/>
              </a:rPr>
              <a:t>→ </a:t>
            </a:r>
            <a:r>
              <a:rPr sz="2600" dirty="0">
                <a:latin typeface="Perpetua"/>
                <a:cs typeface="Perpetua"/>
              </a:rPr>
              <a:t>q) </a:t>
            </a:r>
            <a:r>
              <a:rPr sz="2600" dirty="0">
                <a:latin typeface="Times New Roman"/>
                <a:cs typeface="Times New Roman"/>
              </a:rPr>
              <a:t>≡ </a:t>
            </a:r>
            <a:r>
              <a:rPr sz="2600" spc="-25" dirty="0">
                <a:latin typeface="Perpetua"/>
                <a:cs typeface="Perpetua"/>
              </a:rPr>
              <a:t>(NOT </a:t>
            </a:r>
            <a:r>
              <a:rPr sz="2600" dirty="0">
                <a:latin typeface="Perpetua"/>
                <a:cs typeface="Perpetua"/>
              </a:rPr>
              <a:t>p </a:t>
            </a:r>
            <a:r>
              <a:rPr sz="2600" spc="-5" dirty="0">
                <a:latin typeface="Perpetua"/>
                <a:cs typeface="Perpetua"/>
              </a:rPr>
              <a:t>OR</a:t>
            </a:r>
            <a:r>
              <a:rPr sz="2600" spc="-1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q)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5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p </a:t>
            </a:r>
            <a:r>
              <a:rPr sz="2600" dirty="0">
                <a:latin typeface="Times New Roman"/>
                <a:cs typeface="Times New Roman"/>
              </a:rPr>
              <a:t>→ </a:t>
            </a:r>
            <a:r>
              <a:rPr sz="2600" dirty="0">
                <a:latin typeface="Perpetua"/>
                <a:cs typeface="Perpetua"/>
              </a:rPr>
              <a:t>(q </a:t>
            </a:r>
            <a:r>
              <a:rPr sz="2600" dirty="0">
                <a:latin typeface="Times New Roman"/>
                <a:cs typeface="Times New Roman"/>
              </a:rPr>
              <a:t>→ </a:t>
            </a:r>
            <a:r>
              <a:rPr sz="2600" dirty="0">
                <a:latin typeface="Perpetua"/>
                <a:cs typeface="Perpetua"/>
              </a:rPr>
              <a:t>(r OR </a:t>
            </a:r>
            <a:r>
              <a:rPr sz="2600" spc="-35" dirty="0">
                <a:latin typeface="Perpetua"/>
                <a:cs typeface="Perpetua"/>
              </a:rPr>
              <a:t>NOT</a:t>
            </a:r>
            <a:r>
              <a:rPr sz="2600" spc="-1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p))</a:t>
            </a:r>
            <a:endParaRPr sz="26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600"/>
              </a:spcBef>
              <a:buSzPct val="84615"/>
              <a:buAutoNum type="arabicPeriod"/>
              <a:tabLst>
                <a:tab pos="527685" algn="l"/>
                <a:tab pos="528320" algn="l"/>
              </a:tabLst>
            </a:pPr>
            <a:r>
              <a:rPr sz="2600" dirty="0">
                <a:latin typeface="Perpetua"/>
                <a:cs typeface="Perpetua"/>
              </a:rPr>
              <a:t>(p OR q) </a:t>
            </a:r>
            <a:r>
              <a:rPr sz="2600" dirty="0">
                <a:latin typeface="Times New Roman"/>
                <a:cs typeface="Times New Roman"/>
              </a:rPr>
              <a:t>→ </a:t>
            </a:r>
            <a:r>
              <a:rPr sz="2600" dirty="0">
                <a:latin typeface="Perpetua"/>
                <a:cs typeface="Perpetua"/>
              </a:rPr>
              <a:t>(p AND</a:t>
            </a:r>
            <a:r>
              <a:rPr sz="2600" spc="-29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q)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35940" y="105867"/>
            <a:ext cx="58273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Evaluate </a:t>
            </a:r>
            <a:r>
              <a:rPr sz="3600" dirty="0"/>
              <a:t>the </a:t>
            </a:r>
            <a:r>
              <a:rPr sz="3600" spc="-20" dirty="0"/>
              <a:t>following</a:t>
            </a:r>
            <a:r>
              <a:rPr sz="3600" spc="-15" dirty="0"/>
              <a:t> </a:t>
            </a:r>
            <a:r>
              <a:rPr sz="3600" spc="-5" dirty="0"/>
              <a:t>propositions</a:t>
            </a:r>
            <a:endParaRPr sz="36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654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/>
              <a:t>Tautology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7340" y="976630"/>
            <a:ext cx="58737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tautology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5" dirty="0">
                <a:latin typeface="Perpetua"/>
                <a:cs typeface="Perpetua"/>
              </a:rPr>
              <a:t>proposition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30" dirty="0">
                <a:latin typeface="Perpetua"/>
                <a:cs typeface="Perpetua"/>
              </a:rPr>
              <a:t>always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true.</a:t>
            </a:r>
            <a:endParaRPr sz="2600">
              <a:latin typeface="Perpetua"/>
              <a:cs typeface="Perpetu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53973" y="2203704"/>
            <a:ext cx="2098675" cy="1528445"/>
            <a:chOff x="2253973" y="2203704"/>
            <a:chExt cx="2098675" cy="1528445"/>
          </a:xfrm>
        </p:grpSpPr>
        <p:sp>
          <p:nvSpPr>
            <p:cNvPr id="5" name="object 5"/>
            <p:cNvSpPr/>
            <p:nvPr/>
          </p:nvSpPr>
          <p:spPr>
            <a:xfrm>
              <a:off x="2253973" y="2306144"/>
              <a:ext cx="2098260" cy="14259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49751" y="2209800"/>
              <a:ext cx="913130" cy="670560"/>
            </a:xfrm>
            <a:custGeom>
              <a:avLst/>
              <a:gdLst/>
              <a:ahLst/>
              <a:cxnLst/>
              <a:rect l="l" t="t" r="r" b="b"/>
              <a:pathLst>
                <a:path w="913129" h="670560">
                  <a:moveTo>
                    <a:pt x="0" y="335279"/>
                  </a:moveTo>
                  <a:lnTo>
                    <a:pt x="3070" y="296180"/>
                  </a:lnTo>
                  <a:lnTo>
                    <a:pt x="12054" y="258404"/>
                  </a:lnTo>
                  <a:lnTo>
                    <a:pt x="26608" y="222205"/>
                  </a:lnTo>
                  <a:lnTo>
                    <a:pt x="46390" y="187834"/>
                  </a:lnTo>
                  <a:lnTo>
                    <a:pt x="71059" y="155542"/>
                  </a:lnTo>
                  <a:lnTo>
                    <a:pt x="100270" y="125581"/>
                  </a:lnTo>
                  <a:lnTo>
                    <a:pt x="133683" y="98202"/>
                  </a:lnTo>
                  <a:lnTo>
                    <a:pt x="170954" y="73658"/>
                  </a:lnTo>
                  <a:lnTo>
                    <a:pt x="211741" y="52200"/>
                  </a:lnTo>
                  <a:lnTo>
                    <a:pt x="255703" y="34078"/>
                  </a:lnTo>
                  <a:lnTo>
                    <a:pt x="302495" y="19546"/>
                  </a:lnTo>
                  <a:lnTo>
                    <a:pt x="351777" y="8855"/>
                  </a:lnTo>
                  <a:lnTo>
                    <a:pt x="403205" y="2255"/>
                  </a:lnTo>
                  <a:lnTo>
                    <a:pt x="456438" y="0"/>
                  </a:lnTo>
                  <a:lnTo>
                    <a:pt x="509670" y="2255"/>
                  </a:lnTo>
                  <a:lnTo>
                    <a:pt x="561098" y="8855"/>
                  </a:lnTo>
                  <a:lnTo>
                    <a:pt x="610380" y="19546"/>
                  </a:lnTo>
                  <a:lnTo>
                    <a:pt x="657172" y="34078"/>
                  </a:lnTo>
                  <a:lnTo>
                    <a:pt x="701134" y="52200"/>
                  </a:lnTo>
                  <a:lnTo>
                    <a:pt x="741921" y="73658"/>
                  </a:lnTo>
                  <a:lnTo>
                    <a:pt x="779192" y="98202"/>
                  </a:lnTo>
                  <a:lnTo>
                    <a:pt x="812605" y="125581"/>
                  </a:lnTo>
                  <a:lnTo>
                    <a:pt x="841816" y="155542"/>
                  </a:lnTo>
                  <a:lnTo>
                    <a:pt x="866485" y="187834"/>
                  </a:lnTo>
                  <a:lnTo>
                    <a:pt x="886267" y="222205"/>
                  </a:lnTo>
                  <a:lnTo>
                    <a:pt x="900821" y="258404"/>
                  </a:lnTo>
                  <a:lnTo>
                    <a:pt x="909805" y="296180"/>
                  </a:lnTo>
                  <a:lnTo>
                    <a:pt x="912876" y="335279"/>
                  </a:lnTo>
                  <a:lnTo>
                    <a:pt x="909805" y="374379"/>
                  </a:lnTo>
                  <a:lnTo>
                    <a:pt x="900821" y="412155"/>
                  </a:lnTo>
                  <a:lnTo>
                    <a:pt x="886267" y="448354"/>
                  </a:lnTo>
                  <a:lnTo>
                    <a:pt x="866485" y="482725"/>
                  </a:lnTo>
                  <a:lnTo>
                    <a:pt x="841816" y="515017"/>
                  </a:lnTo>
                  <a:lnTo>
                    <a:pt x="812605" y="544978"/>
                  </a:lnTo>
                  <a:lnTo>
                    <a:pt x="779192" y="572357"/>
                  </a:lnTo>
                  <a:lnTo>
                    <a:pt x="741921" y="596901"/>
                  </a:lnTo>
                  <a:lnTo>
                    <a:pt x="701134" y="618359"/>
                  </a:lnTo>
                  <a:lnTo>
                    <a:pt x="657172" y="636481"/>
                  </a:lnTo>
                  <a:lnTo>
                    <a:pt x="610380" y="651013"/>
                  </a:lnTo>
                  <a:lnTo>
                    <a:pt x="561098" y="661704"/>
                  </a:lnTo>
                  <a:lnTo>
                    <a:pt x="509670" y="668304"/>
                  </a:lnTo>
                  <a:lnTo>
                    <a:pt x="456438" y="670560"/>
                  </a:lnTo>
                  <a:lnTo>
                    <a:pt x="403205" y="668304"/>
                  </a:lnTo>
                  <a:lnTo>
                    <a:pt x="351777" y="661704"/>
                  </a:lnTo>
                  <a:lnTo>
                    <a:pt x="302495" y="651013"/>
                  </a:lnTo>
                  <a:lnTo>
                    <a:pt x="255703" y="636481"/>
                  </a:lnTo>
                  <a:lnTo>
                    <a:pt x="211741" y="618359"/>
                  </a:lnTo>
                  <a:lnTo>
                    <a:pt x="170954" y="596901"/>
                  </a:lnTo>
                  <a:lnTo>
                    <a:pt x="133683" y="572357"/>
                  </a:lnTo>
                  <a:lnTo>
                    <a:pt x="100270" y="544978"/>
                  </a:lnTo>
                  <a:lnTo>
                    <a:pt x="71059" y="515017"/>
                  </a:lnTo>
                  <a:lnTo>
                    <a:pt x="46390" y="482725"/>
                  </a:lnTo>
                  <a:lnTo>
                    <a:pt x="26608" y="448354"/>
                  </a:lnTo>
                  <a:lnTo>
                    <a:pt x="12054" y="412155"/>
                  </a:lnTo>
                  <a:lnTo>
                    <a:pt x="3070" y="374379"/>
                  </a:lnTo>
                  <a:lnTo>
                    <a:pt x="0" y="335279"/>
                  </a:lnTo>
                  <a:close/>
                </a:path>
              </a:pathLst>
            </a:custGeom>
            <a:ln w="1219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937496" y="4413503"/>
            <a:ext cx="4293870" cy="1652270"/>
            <a:chOff x="1937496" y="4413503"/>
            <a:chExt cx="4293870" cy="1652270"/>
          </a:xfrm>
        </p:grpSpPr>
        <p:sp>
          <p:nvSpPr>
            <p:cNvPr id="8" name="object 8"/>
            <p:cNvSpPr/>
            <p:nvPr/>
          </p:nvSpPr>
          <p:spPr>
            <a:xfrm>
              <a:off x="1937496" y="4458788"/>
              <a:ext cx="4293499" cy="160673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33800" y="4419599"/>
              <a:ext cx="914400" cy="381000"/>
            </a:xfrm>
            <a:custGeom>
              <a:avLst/>
              <a:gdLst/>
              <a:ahLst/>
              <a:cxnLst/>
              <a:rect l="l" t="t" r="r" b="b"/>
              <a:pathLst>
                <a:path w="914400" h="381000">
                  <a:moveTo>
                    <a:pt x="0" y="190500"/>
                  </a:moveTo>
                  <a:lnTo>
                    <a:pt x="19359" y="135500"/>
                  </a:lnTo>
                  <a:lnTo>
                    <a:pt x="73664" y="86794"/>
                  </a:lnTo>
                  <a:lnTo>
                    <a:pt x="112153" y="65540"/>
                  </a:lnTo>
                  <a:lnTo>
                    <a:pt x="157254" y="46744"/>
                  </a:lnTo>
                  <a:lnTo>
                    <a:pt x="208262" y="30704"/>
                  </a:lnTo>
                  <a:lnTo>
                    <a:pt x="264468" y="17714"/>
                  </a:lnTo>
                  <a:lnTo>
                    <a:pt x="325165" y="8069"/>
                  </a:lnTo>
                  <a:lnTo>
                    <a:pt x="389644" y="2066"/>
                  </a:lnTo>
                  <a:lnTo>
                    <a:pt x="457200" y="0"/>
                  </a:lnTo>
                  <a:lnTo>
                    <a:pt x="524755" y="2066"/>
                  </a:lnTo>
                  <a:lnTo>
                    <a:pt x="589234" y="8069"/>
                  </a:lnTo>
                  <a:lnTo>
                    <a:pt x="649931" y="17714"/>
                  </a:lnTo>
                  <a:lnTo>
                    <a:pt x="706137" y="30704"/>
                  </a:lnTo>
                  <a:lnTo>
                    <a:pt x="757145" y="46744"/>
                  </a:lnTo>
                  <a:lnTo>
                    <a:pt x="802246" y="65540"/>
                  </a:lnTo>
                  <a:lnTo>
                    <a:pt x="840735" y="86794"/>
                  </a:lnTo>
                  <a:lnTo>
                    <a:pt x="871902" y="110213"/>
                  </a:lnTo>
                  <a:lnTo>
                    <a:pt x="909442" y="162361"/>
                  </a:lnTo>
                  <a:lnTo>
                    <a:pt x="914400" y="190500"/>
                  </a:lnTo>
                  <a:lnTo>
                    <a:pt x="909442" y="218638"/>
                  </a:lnTo>
                  <a:lnTo>
                    <a:pt x="871902" y="270786"/>
                  </a:lnTo>
                  <a:lnTo>
                    <a:pt x="840735" y="294205"/>
                  </a:lnTo>
                  <a:lnTo>
                    <a:pt x="802246" y="315459"/>
                  </a:lnTo>
                  <a:lnTo>
                    <a:pt x="757145" y="334255"/>
                  </a:lnTo>
                  <a:lnTo>
                    <a:pt x="706137" y="350295"/>
                  </a:lnTo>
                  <a:lnTo>
                    <a:pt x="649931" y="363285"/>
                  </a:lnTo>
                  <a:lnTo>
                    <a:pt x="589234" y="372930"/>
                  </a:lnTo>
                  <a:lnTo>
                    <a:pt x="524755" y="378933"/>
                  </a:lnTo>
                  <a:lnTo>
                    <a:pt x="457200" y="381000"/>
                  </a:lnTo>
                  <a:lnTo>
                    <a:pt x="389644" y="378933"/>
                  </a:lnTo>
                  <a:lnTo>
                    <a:pt x="325165" y="372930"/>
                  </a:lnTo>
                  <a:lnTo>
                    <a:pt x="264468" y="363285"/>
                  </a:lnTo>
                  <a:lnTo>
                    <a:pt x="208262" y="350295"/>
                  </a:lnTo>
                  <a:lnTo>
                    <a:pt x="157254" y="334255"/>
                  </a:lnTo>
                  <a:lnTo>
                    <a:pt x="112153" y="315459"/>
                  </a:lnTo>
                  <a:lnTo>
                    <a:pt x="73664" y="294205"/>
                  </a:lnTo>
                  <a:lnTo>
                    <a:pt x="42497" y="270786"/>
                  </a:lnTo>
                  <a:lnTo>
                    <a:pt x="4957" y="218638"/>
                  </a:lnTo>
                  <a:lnTo>
                    <a:pt x="0" y="190500"/>
                  </a:lnTo>
                  <a:close/>
                </a:path>
              </a:pathLst>
            </a:custGeom>
            <a:ln w="12192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31140" y="323799"/>
            <a:ext cx="7129780" cy="5873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5" dirty="0">
                <a:latin typeface="Perpetua"/>
                <a:cs typeface="Perpetua"/>
              </a:rPr>
              <a:t>If the </a:t>
            </a:r>
            <a:r>
              <a:rPr sz="2200" b="1" spc="-20" dirty="0">
                <a:latin typeface="Perpetua"/>
                <a:cs typeface="Perpetua"/>
              </a:rPr>
              <a:t>sky </a:t>
            </a:r>
            <a:r>
              <a:rPr sz="2200" b="1" spc="-5" dirty="0">
                <a:latin typeface="Perpetua"/>
                <a:cs typeface="Perpetua"/>
              </a:rPr>
              <a:t>is </a:t>
            </a:r>
            <a:r>
              <a:rPr sz="2200" b="1" spc="-15" dirty="0">
                <a:latin typeface="Perpetua"/>
                <a:cs typeface="Perpetua"/>
              </a:rPr>
              <a:t>blue </a:t>
            </a:r>
            <a:r>
              <a:rPr sz="2200" b="1" spc="-5" dirty="0">
                <a:latin typeface="Perpetua"/>
                <a:cs typeface="Perpetua"/>
              </a:rPr>
              <a:t>and the moon is round, then (in</a:t>
            </a:r>
            <a:r>
              <a:rPr sz="2200" b="1" spc="25" dirty="0">
                <a:latin typeface="Perpetua"/>
                <a:cs typeface="Perpetua"/>
              </a:rPr>
              <a:t> </a:t>
            </a:r>
            <a:r>
              <a:rPr sz="2200" b="1" dirty="0">
                <a:latin typeface="Perpetua"/>
                <a:cs typeface="Perpetua"/>
              </a:rPr>
              <a:t>particular)</a:t>
            </a:r>
            <a:endParaRPr sz="22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b="1" spc="-10" dirty="0">
                <a:latin typeface="Perpetua"/>
                <a:cs typeface="Perpetua"/>
              </a:rPr>
              <a:t>the </a:t>
            </a:r>
            <a:r>
              <a:rPr sz="2200" b="1" spc="-25" dirty="0">
                <a:latin typeface="Perpetua"/>
                <a:cs typeface="Perpetua"/>
              </a:rPr>
              <a:t>sky </a:t>
            </a:r>
            <a:r>
              <a:rPr sz="2200" b="1" spc="-5" dirty="0">
                <a:latin typeface="Perpetua"/>
                <a:cs typeface="Perpetua"/>
              </a:rPr>
              <a:t>is</a:t>
            </a:r>
            <a:r>
              <a:rPr sz="2200" b="1" spc="45" dirty="0">
                <a:latin typeface="Perpetua"/>
                <a:cs typeface="Perpetua"/>
              </a:rPr>
              <a:t> </a:t>
            </a:r>
            <a:r>
              <a:rPr sz="2200" b="1" spc="-15" dirty="0">
                <a:latin typeface="Perpetua"/>
                <a:cs typeface="Perpetua"/>
              </a:rPr>
              <a:t>blue</a:t>
            </a:r>
            <a:endParaRPr sz="22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200" spc="-5" dirty="0">
                <a:latin typeface="Perpetua"/>
                <a:cs typeface="Perpetua"/>
              </a:rPr>
              <a:t>A. </a:t>
            </a:r>
            <a:r>
              <a:rPr sz="2200" spc="5" dirty="0">
                <a:latin typeface="Perpetua"/>
                <a:cs typeface="Perpetua"/>
              </a:rPr>
              <a:t>Write </a:t>
            </a:r>
            <a:r>
              <a:rPr sz="2200" spc="-5" dirty="0">
                <a:latin typeface="Perpetua"/>
                <a:cs typeface="Perpetua"/>
              </a:rPr>
              <a:t>the given sentence as</a:t>
            </a:r>
            <a:r>
              <a:rPr sz="2200" spc="-335" dirty="0">
                <a:latin typeface="Perpetua"/>
                <a:cs typeface="Perpetua"/>
              </a:rPr>
              <a:t> </a:t>
            </a:r>
            <a:r>
              <a:rPr sz="2200" spc="-10" dirty="0">
                <a:latin typeface="Perpetua"/>
                <a:cs typeface="Perpetua"/>
              </a:rPr>
              <a:t>directed:</a:t>
            </a:r>
            <a:endParaRPr sz="22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70"/>
              </a:spcBef>
              <a:buSzPct val="84090"/>
              <a:buAutoNum type="arabicParenBoth"/>
              <a:tabLst>
                <a:tab pos="527685" algn="l"/>
                <a:tab pos="528320" algn="l"/>
              </a:tabLst>
            </a:pPr>
            <a:r>
              <a:rPr sz="2200" spc="-5" dirty="0">
                <a:latin typeface="Perpetua"/>
                <a:cs typeface="Perpetua"/>
              </a:rPr>
              <a:t>Argument</a:t>
            </a:r>
            <a:r>
              <a:rPr sz="2200" spc="15" dirty="0">
                <a:latin typeface="Perpetua"/>
                <a:cs typeface="Perpetua"/>
              </a:rPr>
              <a:t> </a:t>
            </a:r>
            <a:r>
              <a:rPr sz="2200" spc="10" dirty="0">
                <a:latin typeface="Perpetua"/>
                <a:cs typeface="Perpetua"/>
              </a:rPr>
              <a:t>form</a:t>
            </a:r>
            <a:endParaRPr sz="2200">
              <a:latin typeface="Perpetua"/>
              <a:cs typeface="Perpetua"/>
            </a:endParaRPr>
          </a:p>
          <a:p>
            <a:pPr marL="527685" indent="-515620">
              <a:lnSpc>
                <a:spcPct val="100000"/>
              </a:lnSpc>
              <a:spcBef>
                <a:spcPts val="75"/>
              </a:spcBef>
              <a:buSzPct val="84090"/>
              <a:buAutoNum type="arabicParenBoth"/>
              <a:tabLst>
                <a:tab pos="527685" algn="l"/>
                <a:tab pos="528320" algn="l"/>
              </a:tabLst>
            </a:pPr>
            <a:r>
              <a:rPr sz="2200" spc="-5" dirty="0">
                <a:latin typeface="Perpetua"/>
                <a:cs typeface="Perpetua"/>
              </a:rPr>
              <a:t>Proposition</a:t>
            </a:r>
            <a:r>
              <a:rPr sz="2200" spc="30" dirty="0">
                <a:latin typeface="Perpetua"/>
                <a:cs typeface="Perpetua"/>
              </a:rPr>
              <a:t> </a:t>
            </a:r>
            <a:r>
              <a:rPr sz="2200" spc="10" dirty="0">
                <a:latin typeface="Perpetua"/>
                <a:cs typeface="Perpetua"/>
              </a:rPr>
              <a:t>form</a:t>
            </a:r>
            <a:endParaRPr sz="22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200" b="1" spc="-20" dirty="0">
                <a:latin typeface="Perpetua"/>
                <a:cs typeface="Perpetua"/>
              </a:rPr>
              <a:t>B.Verify </a:t>
            </a:r>
            <a:r>
              <a:rPr sz="2200" b="1" spc="-5" dirty="0">
                <a:latin typeface="Perpetua"/>
                <a:cs typeface="Perpetua"/>
              </a:rPr>
              <a:t>it for</a:t>
            </a:r>
            <a:r>
              <a:rPr sz="2200" b="1" spc="25" dirty="0">
                <a:latin typeface="Perpetua"/>
                <a:cs typeface="Perpetua"/>
              </a:rPr>
              <a:t> </a:t>
            </a:r>
            <a:r>
              <a:rPr sz="2200" b="1" spc="-10" dirty="0">
                <a:latin typeface="Perpetua"/>
                <a:cs typeface="Perpetua"/>
              </a:rPr>
              <a:t>tautology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350">
              <a:latin typeface="Perpetua"/>
              <a:cs typeface="Perpetua"/>
            </a:endParaRPr>
          </a:p>
          <a:p>
            <a:pPr marL="12700" marR="6107430">
              <a:lnSpc>
                <a:spcPct val="102800"/>
              </a:lnSpc>
            </a:pPr>
            <a:r>
              <a:rPr sz="2200" b="1" spc="-5" dirty="0">
                <a:latin typeface="Perpetua"/>
                <a:cs typeface="Perpetua"/>
              </a:rPr>
              <a:t>Solut</a:t>
            </a:r>
            <a:r>
              <a:rPr sz="2200" b="1" spc="-20" dirty="0">
                <a:latin typeface="Perpetua"/>
                <a:cs typeface="Perpetua"/>
              </a:rPr>
              <a:t>i</a:t>
            </a:r>
            <a:r>
              <a:rPr sz="2200" b="1" spc="-5" dirty="0">
                <a:latin typeface="Perpetua"/>
                <a:cs typeface="Perpetua"/>
              </a:rPr>
              <a:t>on  A.</a:t>
            </a:r>
            <a:endParaRPr sz="2200">
              <a:latin typeface="Perpetua"/>
              <a:cs typeface="Perpetua"/>
            </a:endParaRPr>
          </a:p>
          <a:p>
            <a:pPr marL="486409" marR="2691765" indent="-474345">
              <a:lnSpc>
                <a:spcPct val="102699"/>
              </a:lnSpc>
              <a:tabLst>
                <a:tab pos="527685" algn="l"/>
              </a:tabLst>
            </a:pPr>
            <a:r>
              <a:rPr sz="1850" spc="5" dirty="0">
                <a:latin typeface="Perpetua"/>
                <a:cs typeface="Perpetua"/>
              </a:rPr>
              <a:t>(1)		</a:t>
            </a:r>
            <a:r>
              <a:rPr sz="2200" spc="-5" dirty="0">
                <a:latin typeface="Perpetua"/>
                <a:cs typeface="Perpetua"/>
              </a:rPr>
              <a:t>The sky is </a:t>
            </a:r>
            <a:r>
              <a:rPr sz="2200" spc="-15" dirty="0">
                <a:latin typeface="Perpetua"/>
                <a:cs typeface="Perpetua"/>
              </a:rPr>
              <a:t>blue </a:t>
            </a:r>
            <a:r>
              <a:rPr sz="2200" spc="-5" dirty="0">
                <a:latin typeface="Perpetua"/>
                <a:cs typeface="Perpetua"/>
              </a:rPr>
              <a:t>and the </a:t>
            </a:r>
            <a:r>
              <a:rPr sz="2200" dirty="0">
                <a:latin typeface="Perpetua"/>
                <a:cs typeface="Perpetua"/>
              </a:rPr>
              <a:t>moon </a:t>
            </a:r>
            <a:r>
              <a:rPr sz="2200" spc="-5" dirty="0">
                <a:latin typeface="Perpetua"/>
                <a:cs typeface="Perpetua"/>
              </a:rPr>
              <a:t>is </a:t>
            </a:r>
            <a:r>
              <a:rPr sz="2200" spc="-10" dirty="0">
                <a:latin typeface="Perpetua"/>
                <a:cs typeface="Perpetua"/>
              </a:rPr>
              <a:t>round.  </a:t>
            </a:r>
            <a:r>
              <a:rPr sz="2200" spc="-15" dirty="0">
                <a:latin typeface="Perpetua"/>
                <a:cs typeface="Perpetua"/>
              </a:rPr>
              <a:t>Therefore, </a:t>
            </a:r>
            <a:r>
              <a:rPr sz="2200" spc="-5" dirty="0">
                <a:latin typeface="Perpetua"/>
                <a:cs typeface="Perpetua"/>
              </a:rPr>
              <a:t>the sky is</a:t>
            </a:r>
            <a:r>
              <a:rPr sz="2200" spc="-50" dirty="0">
                <a:latin typeface="Perpetua"/>
                <a:cs typeface="Perpetua"/>
              </a:rPr>
              <a:t> </a:t>
            </a:r>
            <a:r>
              <a:rPr sz="2200" spc="-25" dirty="0">
                <a:latin typeface="Perpetua"/>
                <a:cs typeface="Perpetua"/>
              </a:rPr>
              <a:t>blue.</a:t>
            </a:r>
            <a:endParaRPr sz="22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200" spc="-5" dirty="0">
                <a:latin typeface="Perpetua"/>
                <a:cs typeface="Perpetua"/>
              </a:rPr>
              <a:t>(2)</a:t>
            </a:r>
            <a:endParaRPr sz="22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75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5" dirty="0">
                <a:latin typeface="Perpetua"/>
                <a:cs typeface="Perpetua"/>
              </a:rPr>
              <a:t>p and</a:t>
            </a:r>
            <a:r>
              <a:rPr sz="2200" spc="15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q</a:t>
            </a:r>
            <a:endParaRPr sz="22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75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10" dirty="0">
                <a:latin typeface="Perpetua"/>
                <a:cs typeface="Perpetua"/>
              </a:rPr>
              <a:t>Therefore</a:t>
            </a:r>
            <a:r>
              <a:rPr sz="2200" spc="2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p</a:t>
            </a:r>
            <a:endParaRPr sz="22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70"/>
              </a:spcBef>
              <a:buSzPct val="84090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200" spc="-5" dirty="0">
                <a:latin typeface="Perpetua"/>
                <a:cs typeface="Perpetua"/>
              </a:rPr>
              <a:t>(p and q) implies</a:t>
            </a:r>
            <a:r>
              <a:rPr sz="2200" spc="30" dirty="0">
                <a:latin typeface="Perpetua"/>
                <a:cs typeface="Perpetua"/>
              </a:rPr>
              <a:t> </a:t>
            </a:r>
            <a:r>
              <a:rPr sz="2200" spc="-5" dirty="0">
                <a:latin typeface="Perpetua"/>
                <a:cs typeface="Perpetua"/>
              </a:rPr>
              <a:t>p</a:t>
            </a:r>
            <a:endParaRPr sz="22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400">
              <a:latin typeface="Perpetua"/>
              <a:cs typeface="Perpetua"/>
            </a:endParaRPr>
          </a:p>
          <a:p>
            <a:pPr marL="12700">
              <a:lnSpc>
                <a:spcPct val="100000"/>
              </a:lnSpc>
            </a:pPr>
            <a:r>
              <a:rPr sz="2200" spc="-35" dirty="0">
                <a:latin typeface="Perpetua"/>
                <a:cs typeface="Perpetua"/>
              </a:rPr>
              <a:t>B. </a:t>
            </a:r>
            <a:r>
              <a:rPr sz="2200" spc="-15" dirty="0">
                <a:latin typeface="Perpetua"/>
                <a:cs typeface="Perpetua"/>
              </a:rPr>
              <a:t>yes </a:t>
            </a:r>
            <a:r>
              <a:rPr sz="2200" spc="-5" dirty="0">
                <a:latin typeface="Perpetua"/>
                <a:cs typeface="Perpetua"/>
              </a:rPr>
              <a:t>it is</a:t>
            </a:r>
            <a:r>
              <a:rPr sz="2200" spc="-305" dirty="0">
                <a:latin typeface="Perpetua"/>
                <a:cs typeface="Perpetua"/>
              </a:rPr>
              <a:t> </a:t>
            </a:r>
            <a:r>
              <a:rPr sz="2200" spc="-35" dirty="0">
                <a:latin typeface="Perpetua"/>
                <a:cs typeface="Perpetua"/>
              </a:rPr>
              <a:t>Tautology</a:t>
            </a:r>
            <a:endParaRPr sz="22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3377" y="6482301"/>
            <a:ext cx="15367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spc="-5" dirty="0">
                <a:latin typeface="Perpetua"/>
                <a:cs typeface="Perpetua"/>
              </a:rPr>
              <a:t>66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51803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Contradiction/Contingency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7693659" cy="17646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contradiction </a:t>
            </a:r>
            <a:r>
              <a:rPr sz="2600" dirty="0">
                <a:latin typeface="Perpetua"/>
                <a:cs typeface="Perpetua"/>
              </a:rPr>
              <a:t>is a </a:t>
            </a:r>
            <a:r>
              <a:rPr sz="2600" spc="-5" dirty="0">
                <a:latin typeface="Perpetua"/>
                <a:cs typeface="Perpetua"/>
              </a:rPr>
              <a:t>proposition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30" dirty="0">
                <a:latin typeface="Perpetua"/>
                <a:cs typeface="Perpetua"/>
              </a:rPr>
              <a:t>always</a:t>
            </a:r>
            <a:r>
              <a:rPr sz="2600" spc="2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false.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375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A contingency is a </a:t>
            </a:r>
            <a:r>
              <a:rPr sz="2600" spc="-5" dirty="0">
                <a:latin typeface="Perpetua"/>
                <a:cs typeface="Perpetua"/>
              </a:rPr>
              <a:t>proposition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-5" dirty="0">
                <a:latin typeface="Perpetua"/>
                <a:cs typeface="Perpetua"/>
              </a:rPr>
              <a:t>neither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tautology nor </a:t>
            </a:r>
            <a:r>
              <a:rPr sz="2600" dirty="0">
                <a:latin typeface="Perpetua"/>
                <a:cs typeface="Perpetua"/>
              </a:rPr>
              <a:t>a  </a:t>
            </a:r>
            <a:r>
              <a:rPr sz="2600" spc="-5" dirty="0">
                <a:latin typeface="Perpetua"/>
                <a:cs typeface="Perpetua"/>
              </a:rPr>
              <a:t>contradiction.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81800" y="1560945"/>
            <a:ext cx="1177636" cy="1939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38373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Arguments </a:t>
            </a:r>
            <a:r>
              <a:rPr sz="3600" spc="-5" dirty="0"/>
              <a:t>and</a:t>
            </a:r>
            <a:r>
              <a:rPr sz="3600" spc="-480" dirty="0"/>
              <a:t> </a:t>
            </a:r>
            <a:r>
              <a:rPr sz="3600" spc="-45" dirty="0"/>
              <a:t>Validity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68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940" y="953770"/>
            <a:ext cx="7772400" cy="51809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11785" marR="30480" indent="-274320" algn="just">
              <a:lnSpc>
                <a:spcPts val="2590"/>
              </a:lnSpc>
              <a:spcBef>
                <a:spcPts val="425"/>
              </a:spcBef>
              <a:buSzPct val="85416"/>
              <a:buFont typeface="Arial"/>
              <a:buChar char="•"/>
              <a:tabLst>
                <a:tab pos="312420" algn="l"/>
              </a:tabLst>
            </a:pPr>
            <a:r>
              <a:rPr sz="2400" dirty="0">
                <a:latin typeface="Perpetua"/>
                <a:cs typeface="Perpetua"/>
              </a:rPr>
              <a:t>An </a:t>
            </a:r>
            <a:r>
              <a:rPr sz="2400" b="1" dirty="0">
                <a:latin typeface="Perpetua"/>
                <a:cs typeface="Perpetua"/>
              </a:rPr>
              <a:t>argument </a:t>
            </a:r>
            <a:r>
              <a:rPr sz="2400" dirty="0">
                <a:latin typeface="Perpetua"/>
                <a:cs typeface="Perpetua"/>
              </a:rPr>
              <a:t>is a </a:t>
            </a:r>
            <a:r>
              <a:rPr sz="2400" spc="-5" dirty="0">
                <a:latin typeface="Perpetua"/>
                <a:cs typeface="Perpetua"/>
              </a:rPr>
              <a:t>list </a:t>
            </a:r>
            <a:r>
              <a:rPr sz="2400" dirty="0">
                <a:latin typeface="Perpetua"/>
                <a:cs typeface="Perpetua"/>
              </a:rPr>
              <a:t>of </a:t>
            </a:r>
            <a:r>
              <a:rPr sz="2400" spc="-5" dirty="0">
                <a:latin typeface="Perpetua"/>
                <a:cs typeface="Perpetua"/>
              </a:rPr>
              <a:t>statements called </a:t>
            </a:r>
            <a:r>
              <a:rPr sz="2400" b="1" dirty="0">
                <a:latin typeface="Perpetua"/>
                <a:cs typeface="Perpetua"/>
              </a:rPr>
              <a:t>premises </a:t>
            </a:r>
            <a:r>
              <a:rPr sz="2400" spc="-20" dirty="0">
                <a:latin typeface="Perpetua"/>
                <a:cs typeface="Perpetua"/>
              </a:rPr>
              <a:t>followed </a:t>
            </a:r>
            <a:r>
              <a:rPr sz="2400" spc="-25" dirty="0">
                <a:latin typeface="Perpetua"/>
                <a:cs typeface="Perpetua"/>
              </a:rPr>
              <a:t>by </a:t>
            </a:r>
            <a:r>
              <a:rPr sz="2400" dirty="0">
                <a:latin typeface="Perpetua"/>
                <a:cs typeface="Perpetua"/>
              </a:rPr>
              <a:t>a  </a:t>
            </a:r>
            <a:r>
              <a:rPr sz="2400" spc="-5" dirty="0">
                <a:latin typeface="Perpetua"/>
                <a:cs typeface="Perpetua"/>
              </a:rPr>
              <a:t>statement </a:t>
            </a:r>
            <a:r>
              <a:rPr sz="2400" dirty="0">
                <a:latin typeface="Perpetua"/>
                <a:cs typeface="Perpetua"/>
              </a:rPr>
              <a:t>called the</a:t>
            </a:r>
            <a:r>
              <a:rPr sz="2400" spc="-10" dirty="0">
                <a:latin typeface="Perpetua"/>
                <a:cs typeface="Perpetua"/>
              </a:rPr>
              <a:t> </a:t>
            </a:r>
            <a:r>
              <a:rPr sz="2400" b="1" spc="-5" dirty="0">
                <a:latin typeface="Perpetua"/>
                <a:cs typeface="Perpetua"/>
              </a:rPr>
              <a:t>conclusion.</a:t>
            </a:r>
            <a:endParaRPr sz="2400">
              <a:latin typeface="Perpetua"/>
              <a:cs typeface="Perpetua"/>
            </a:endParaRPr>
          </a:p>
          <a:p>
            <a:pPr marL="1866900" marR="4716780" algn="just">
              <a:lnSpc>
                <a:spcPts val="3190"/>
              </a:lnSpc>
              <a:spcBef>
                <a:spcPts val="130"/>
              </a:spcBef>
            </a:pPr>
            <a:r>
              <a:rPr sz="2400" spc="-5" dirty="0">
                <a:latin typeface="Perpetua"/>
                <a:cs typeface="Perpetua"/>
              </a:rPr>
              <a:t>P</a:t>
            </a:r>
            <a:r>
              <a:rPr sz="2400" spc="-7" baseline="-20833" dirty="0">
                <a:latin typeface="Perpetua"/>
                <a:cs typeface="Perpetua"/>
              </a:rPr>
              <a:t>1</a:t>
            </a:r>
            <a:r>
              <a:rPr sz="2400" spc="-97" baseline="-20833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Premise  P</a:t>
            </a:r>
            <a:r>
              <a:rPr sz="2400" spc="-7" baseline="-20833" dirty="0">
                <a:latin typeface="Perpetua"/>
                <a:cs typeface="Perpetua"/>
              </a:rPr>
              <a:t>2</a:t>
            </a:r>
            <a:r>
              <a:rPr sz="2400" spc="-97" baseline="-20833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Premise  P</a:t>
            </a:r>
            <a:r>
              <a:rPr sz="2400" spc="-7" baseline="-20833" dirty="0">
                <a:latin typeface="Perpetua"/>
                <a:cs typeface="Perpetua"/>
              </a:rPr>
              <a:t>3</a:t>
            </a:r>
            <a:r>
              <a:rPr sz="2400" spc="-97" baseline="-20833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Premise</a:t>
            </a:r>
            <a:endParaRPr sz="2400">
              <a:latin typeface="Perpetua"/>
              <a:cs typeface="Perpetua"/>
            </a:endParaRPr>
          </a:p>
          <a:p>
            <a:pPr marL="1866900">
              <a:lnSpc>
                <a:spcPct val="100000"/>
              </a:lnSpc>
              <a:spcBef>
                <a:spcPts val="155"/>
              </a:spcBef>
            </a:pPr>
            <a:r>
              <a:rPr sz="2400" dirty="0">
                <a:latin typeface="Perpetua"/>
                <a:cs typeface="Perpetua"/>
              </a:rPr>
              <a:t>.</a:t>
            </a:r>
            <a:r>
              <a:rPr sz="2400" spc="-110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.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.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.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..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.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.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.</a:t>
            </a:r>
            <a:r>
              <a:rPr sz="2400" spc="-105" dirty="0">
                <a:latin typeface="Perpetua"/>
                <a:cs typeface="Perpetua"/>
              </a:rPr>
              <a:t> </a:t>
            </a:r>
            <a:r>
              <a:rPr sz="2400" dirty="0">
                <a:latin typeface="Perpetua"/>
                <a:cs typeface="Perpetua"/>
              </a:rPr>
              <a:t>.</a:t>
            </a:r>
            <a:endParaRPr sz="2400">
              <a:latin typeface="Perpetua"/>
              <a:cs typeface="Perpetua"/>
            </a:endParaRPr>
          </a:p>
          <a:p>
            <a:pPr marL="1866900">
              <a:lnSpc>
                <a:spcPct val="100000"/>
              </a:lnSpc>
              <a:spcBef>
                <a:spcPts val="315"/>
              </a:spcBef>
            </a:pPr>
            <a:r>
              <a:rPr sz="2400" spc="-5" dirty="0">
                <a:latin typeface="Perpetua"/>
                <a:cs typeface="Perpetua"/>
              </a:rPr>
              <a:t>P</a:t>
            </a:r>
            <a:r>
              <a:rPr sz="2400" spc="-7" baseline="-20833" dirty="0">
                <a:latin typeface="Perpetua"/>
                <a:cs typeface="Perpetua"/>
              </a:rPr>
              <a:t>r</a:t>
            </a:r>
            <a:r>
              <a:rPr sz="2400" baseline="-20833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Premise</a:t>
            </a:r>
            <a:endParaRPr sz="2400">
              <a:latin typeface="Perpetua"/>
              <a:cs typeface="Perpetua"/>
            </a:endParaRPr>
          </a:p>
          <a:p>
            <a:pPr marL="1866900">
              <a:lnSpc>
                <a:spcPct val="100000"/>
              </a:lnSpc>
              <a:spcBef>
                <a:spcPts val="310"/>
              </a:spcBef>
              <a:tabLst>
                <a:tab pos="2189480" algn="l"/>
              </a:tabLst>
            </a:pPr>
            <a:r>
              <a:rPr sz="2400" dirty="0">
                <a:latin typeface="Perpetua"/>
                <a:cs typeface="Perpetua"/>
              </a:rPr>
              <a:t>C	Conclusion</a:t>
            </a:r>
            <a:endParaRPr sz="2400">
              <a:latin typeface="Perpetua"/>
              <a:cs typeface="Perpetua"/>
            </a:endParaRPr>
          </a:p>
          <a:p>
            <a:pPr marL="312420" indent="-274320">
              <a:lnSpc>
                <a:spcPct val="100000"/>
              </a:lnSpc>
              <a:spcBef>
                <a:spcPts val="315"/>
              </a:spcBef>
              <a:buSzPct val="85416"/>
              <a:buFont typeface="Arial"/>
              <a:buChar char="•"/>
              <a:tabLst>
                <a:tab pos="311785" algn="l"/>
                <a:tab pos="312420" algn="l"/>
              </a:tabLst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-5" dirty="0">
                <a:latin typeface="Perpetua"/>
                <a:cs typeface="Perpetua"/>
              </a:rPr>
              <a:t>argument </a:t>
            </a:r>
            <a:r>
              <a:rPr sz="2400" dirty="0">
                <a:latin typeface="Perpetua"/>
                <a:cs typeface="Perpetua"/>
              </a:rPr>
              <a:t>is said to be </a:t>
            </a:r>
            <a:r>
              <a:rPr sz="2400" b="1" spc="-10" dirty="0">
                <a:latin typeface="Perpetua"/>
                <a:cs typeface="Perpetua"/>
              </a:rPr>
              <a:t>valid </a:t>
            </a:r>
            <a:r>
              <a:rPr sz="2400" dirty="0">
                <a:latin typeface="Perpetua"/>
                <a:cs typeface="Perpetua"/>
              </a:rPr>
              <a:t>if the</a:t>
            </a:r>
            <a:r>
              <a:rPr sz="2400" spc="-45" dirty="0">
                <a:latin typeface="Perpetua"/>
                <a:cs typeface="Perpetua"/>
              </a:rPr>
              <a:t> </a:t>
            </a:r>
            <a:r>
              <a:rPr sz="2400" spc="-10" dirty="0">
                <a:latin typeface="Perpetua"/>
                <a:cs typeface="Perpetua"/>
              </a:rPr>
              <a:t>statement,</a:t>
            </a:r>
            <a:endParaRPr sz="2400">
              <a:latin typeface="Perpetua"/>
              <a:cs typeface="Perpetua"/>
            </a:endParaRPr>
          </a:p>
          <a:p>
            <a:pPr marL="310515">
              <a:lnSpc>
                <a:spcPct val="100000"/>
              </a:lnSpc>
              <a:spcBef>
                <a:spcPts val="315"/>
              </a:spcBef>
              <a:tabLst>
                <a:tab pos="1517650" algn="l"/>
              </a:tabLst>
            </a:pPr>
            <a:r>
              <a:rPr sz="2400" spc="-5" dirty="0">
                <a:latin typeface="Perpetua"/>
                <a:cs typeface="Perpetua"/>
              </a:rPr>
              <a:t>(P</a:t>
            </a:r>
            <a:r>
              <a:rPr sz="2400" spc="-7" baseline="-20833" dirty="0">
                <a:latin typeface="Perpetua"/>
                <a:cs typeface="Perpetua"/>
              </a:rPr>
              <a:t>1</a:t>
            </a:r>
            <a:r>
              <a:rPr sz="2400" spc="7" baseline="-20833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and</a:t>
            </a:r>
            <a:r>
              <a:rPr sz="2400" spc="-170" dirty="0">
                <a:latin typeface="Perpetua"/>
                <a:cs typeface="Perpetua"/>
              </a:rPr>
              <a:t> </a:t>
            </a:r>
            <a:r>
              <a:rPr sz="2400" spc="-5" dirty="0">
                <a:latin typeface="Perpetua"/>
                <a:cs typeface="Perpetua"/>
              </a:rPr>
              <a:t>P</a:t>
            </a:r>
            <a:r>
              <a:rPr sz="2400" spc="-7" baseline="-20833" dirty="0">
                <a:latin typeface="Perpetua"/>
                <a:cs typeface="Perpetua"/>
              </a:rPr>
              <a:t>2	</a:t>
            </a:r>
            <a:r>
              <a:rPr sz="2400" spc="-5" dirty="0">
                <a:latin typeface="Perpetua"/>
                <a:cs typeface="Perpetua"/>
              </a:rPr>
              <a:t>and. </a:t>
            </a:r>
            <a:r>
              <a:rPr sz="2400" dirty="0">
                <a:latin typeface="Perpetua"/>
                <a:cs typeface="Perpetua"/>
              </a:rPr>
              <a:t>. . and </a:t>
            </a:r>
            <a:r>
              <a:rPr sz="2400" spc="-5" dirty="0">
                <a:latin typeface="Perpetua"/>
                <a:cs typeface="Perpetua"/>
              </a:rPr>
              <a:t>P</a:t>
            </a:r>
            <a:r>
              <a:rPr sz="2400" spc="-7" baseline="-20833" dirty="0">
                <a:latin typeface="Perpetua"/>
                <a:cs typeface="Perpetua"/>
              </a:rPr>
              <a:t>r</a:t>
            </a:r>
            <a:r>
              <a:rPr sz="2400" spc="-5" dirty="0">
                <a:latin typeface="Perpetua"/>
                <a:cs typeface="Perpetua"/>
              </a:rPr>
              <a:t>) implies </a:t>
            </a:r>
            <a:r>
              <a:rPr sz="2400" dirty="0">
                <a:latin typeface="Perpetua"/>
                <a:cs typeface="Perpetua"/>
              </a:rPr>
              <a:t>C is a</a:t>
            </a:r>
            <a:r>
              <a:rPr sz="2400" spc="-365" dirty="0">
                <a:latin typeface="Perpetua"/>
                <a:cs typeface="Perpetua"/>
              </a:rPr>
              <a:t> </a:t>
            </a:r>
            <a:r>
              <a:rPr sz="2400" spc="-25" dirty="0">
                <a:latin typeface="Perpetua"/>
                <a:cs typeface="Perpetua"/>
              </a:rPr>
              <a:t>tautology.</a:t>
            </a:r>
            <a:endParaRPr sz="24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50">
              <a:latin typeface="Perpetua"/>
              <a:cs typeface="Perpetua"/>
            </a:endParaRPr>
          </a:p>
          <a:p>
            <a:pPr marL="310515" marR="628015" indent="-273050">
              <a:lnSpc>
                <a:spcPct val="110900"/>
              </a:lnSpc>
              <a:spcBef>
                <a:spcPts val="5"/>
              </a:spcBef>
              <a:buSzPct val="85416"/>
              <a:buFont typeface="Wingdings"/>
              <a:buChar char=""/>
              <a:tabLst>
                <a:tab pos="312420" algn="l"/>
              </a:tabLst>
            </a:pPr>
            <a:r>
              <a:rPr sz="2400" dirty="0">
                <a:solidFill>
                  <a:srgbClr val="C00000"/>
                </a:solidFill>
                <a:latin typeface="Perpetua"/>
                <a:cs typeface="Perpetua"/>
              </a:rPr>
              <a:t>In other </a:t>
            </a:r>
            <a:r>
              <a:rPr sz="2400" spc="-15" dirty="0">
                <a:solidFill>
                  <a:srgbClr val="C00000"/>
                </a:solidFill>
                <a:latin typeface="Perpetua"/>
                <a:cs typeface="Perpetua"/>
              </a:rPr>
              <a:t>words, </a:t>
            </a:r>
            <a:r>
              <a:rPr sz="2400" spc="-10" dirty="0">
                <a:solidFill>
                  <a:srgbClr val="C00000"/>
                </a:solidFill>
                <a:latin typeface="Perpetua"/>
                <a:cs typeface="Perpetua"/>
              </a:rPr>
              <a:t>validity </a:t>
            </a:r>
            <a:r>
              <a:rPr sz="2400" spc="-5" dirty="0">
                <a:solidFill>
                  <a:srgbClr val="C00000"/>
                </a:solidFill>
                <a:latin typeface="Perpetua"/>
                <a:cs typeface="Perpetua"/>
              </a:rPr>
              <a:t>means </a:t>
            </a:r>
            <a:r>
              <a:rPr sz="2400" spc="-10" dirty="0">
                <a:solidFill>
                  <a:srgbClr val="C00000"/>
                </a:solidFill>
                <a:latin typeface="Perpetua"/>
                <a:cs typeface="Perpetua"/>
              </a:rPr>
              <a:t>that </a:t>
            </a:r>
            <a:r>
              <a:rPr sz="2400" dirty="0">
                <a:solidFill>
                  <a:srgbClr val="C00000"/>
                </a:solidFill>
                <a:latin typeface="Perpetua"/>
                <a:cs typeface="Perpetua"/>
              </a:rPr>
              <a:t>if </a:t>
            </a:r>
            <a:r>
              <a:rPr sz="2400" spc="-5" dirty="0">
                <a:solidFill>
                  <a:srgbClr val="C00000"/>
                </a:solidFill>
                <a:latin typeface="Perpetua"/>
                <a:cs typeface="Perpetua"/>
              </a:rPr>
              <a:t>all </a:t>
            </a:r>
            <a:r>
              <a:rPr sz="2400" dirty="0">
                <a:solidFill>
                  <a:srgbClr val="C00000"/>
                </a:solidFill>
                <a:latin typeface="Perpetua"/>
                <a:cs typeface="Perpetua"/>
              </a:rPr>
              <a:t>the </a:t>
            </a:r>
            <a:r>
              <a:rPr sz="2400" spc="-5" dirty="0">
                <a:solidFill>
                  <a:srgbClr val="C00000"/>
                </a:solidFill>
                <a:latin typeface="Perpetua"/>
                <a:cs typeface="Perpetua"/>
              </a:rPr>
              <a:t>premises </a:t>
            </a:r>
            <a:r>
              <a:rPr sz="2400" spc="-10" dirty="0">
                <a:solidFill>
                  <a:srgbClr val="C00000"/>
                </a:solidFill>
                <a:latin typeface="Perpetua"/>
                <a:cs typeface="Perpetua"/>
              </a:rPr>
              <a:t>are</a:t>
            </a:r>
            <a:r>
              <a:rPr sz="2400" spc="-150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Perpetua"/>
                <a:cs typeface="Perpetua"/>
              </a:rPr>
              <a:t>true,  </a:t>
            </a:r>
            <a:r>
              <a:rPr sz="2400" dirty="0">
                <a:solidFill>
                  <a:srgbClr val="C00000"/>
                </a:solidFill>
                <a:latin typeface="Perpetua"/>
                <a:cs typeface="Perpetua"/>
              </a:rPr>
              <a:t>then the conclusion </a:t>
            </a:r>
            <a:r>
              <a:rPr sz="2400" spc="-5" dirty="0">
                <a:solidFill>
                  <a:srgbClr val="C00000"/>
                </a:solidFill>
                <a:latin typeface="Perpetua"/>
                <a:cs typeface="Perpetua"/>
              </a:rPr>
              <a:t>must </a:t>
            </a:r>
            <a:r>
              <a:rPr sz="2400" dirty="0">
                <a:solidFill>
                  <a:srgbClr val="C00000"/>
                </a:solidFill>
                <a:latin typeface="Perpetua"/>
                <a:cs typeface="Perpetua"/>
              </a:rPr>
              <a:t>be</a:t>
            </a:r>
            <a:r>
              <a:rPr sz="2400" spc="-65" dirty="0">
                <a:solidFill>
                  <a:srgbClr val="C00000"/>
                </a:solidFill>
                <a:latin typeface="Perpetua"/>
                <a:cs typeface="Perpetua"/>
              </a:rPr>
              <a:t> </a:t>
            </a:r>
            <a:r>
              <a:rPr sz="2400" dirty="0">
                <a:solidFill>
                  <a:srgbClr val="C00000"/>
                </a:solidFill>
                <a:latin typeface="Perpetua"/>
                <a:cs typeface="Perpetua"/>
              </a:rPr>
              <a:t>true.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81921" y="381115"/>
            <a:ext cx="1133100" cy="848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140" y="1316177"/>
            <a:ext cx="662559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502150" algn="l"/>
              </a:tabLst>
            </a:pPr>
            <a:r>
              <a:rPr sz="2600" dirty="0">
                <a:latin typeface="Times New Roman"/>
                <a:cs typeface="Times New Roman"/>
              </a:rPr>
              <a:t>Check whether 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following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are	</a:t>
            </a:r>
            <a:r>
              <a:rPr sz="2600" dirty="0">
                <a:latin typeface="Times New Roman"/>
                <a:cs typeface="Times New Roman"/>
              </a:rPr>
              <a:t>tautology or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not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69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2217213"/>
            <a:ext cx="2216150" cy="9417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  <a:tabLst>
                <a:tab pos="527685" algn="l"/>
              </a:tabLst>
            </a:pPr>
            <a:r>
              <a:rPr sz="2200" dirty="0">
                <a:latin typeface="Times New Roman"/>
                <a:cs typeface="Times New Roman"/>
              </a:rPr>
              <a:t>1.	</a:t>
            </a:r>
            <a:r>
              <a:rPr sz="2600" dirty="0">
                <a:latin typeface="Times New Roman"/>
                <a:cs typeface="Times New Roman"/>
              </a:rPr>
              <a:t>¬P→(</a:t>
            </a:r>
            <a:r>
              <a:rPr sz="2600" spc="5" dirty="0">
                <a:latin typeface="Times New Roman"/>
                <a:cs typeface="Times New Roman"/>
              </a:rPr>
              <a:t>P</a:t>
            </a:r>
            <a:r>
              <a:rPr sz="2600" dirty="0">
                <a:latin typeface="Times New Roman"/>
                <a:cs typeface="Times New Roman"/>
              </a:rPr>
              <a:t>→</a:t>
            </a:r>
            <a:r>
              <a:rPr sz="2600" spc="-5" dirty="0">
                <a:latin typeface="Times New Roman"/>
                <a:cs typeface="Times New Roman"/>
              </a:rPr>
              <a:t>Q</a:t>
            </a:r>
            <a:r>
              <a:rPr sz="2600" dirty="0">
                <a:latin typeface="Times New Roman"/>
                <a:cs typeface="Times New Roman"/>
              </a:rPr>
              <a:t>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  <a:tabLst>
                <a:tab pos="527685" algn="l"/>
              </a:tabLst>
            </a:pPr>
            <a:r>
              <a:rPr sz="2200" dirty="0">
                <a:latin typeface="Times New Roman"/>
                <a:cs typeface="Times New Roman"/>
              </a:rPr>
              <a:t>2.	</a:t>
            </a:r>
            <a:r>
              <a:rPr sz="2600" dirty="0">
                <a:latin typeface="Times New Roman"/>
                <a:cs typeface="Times New Roman"/>
              </a:rPr>
              <a:t>P </a:t>
            </a:r>
            <a:r>
              <a:rPr sz="2800" spc="-5" dirty="0">
                <a:latin typeface="Cambria Math"/>
                <a:cs typeface="Cambria Math"/>
              </a:rPr>
              <a:t>∨</a:t>
            </a:r>
            <a:r>
              <a:rPr sz="2800" spc="-100" dirty="0">
                <a:latin typeface="Cambria Math"/>
                <a:cs typeface="Cambria Math"/>
              </a:rPr>
              <a:t> </a:t>
            </a:r>
            <a:r>
              <a:rPr sz="2800" spc="-15" dirty="0">
                <a:latin typeface="Perpetua"/>
                <a:cs typeface="Perpetua"/>
              </a:rPr>
              <a:t>~P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1469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Example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70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825213"/>
            <a:ext cx="7863840" cy="522351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9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4765040" algn="l"/>
              </a:tabLst>
            </a:pPr>
            <a:r>
              <a:rPr sz="2600" spc="-170" dirty="0">
                <a:latin typeface="Perpetua"/>
                <a:cs typeface="Perpetua"/>
              </a:rPr>
              <a:t>To  </a:t>
            </a:r>
            <a:r>
              <a:rPr sz="2600" spc="-20" dirty="0">
                <a:latin typeface="Perpetua"/>
                <a:cs typeface="Perpetua"/>
              </a:rPr>
              <a:t>show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0" dirty="0">
                <a:latin typeface="Perpetua"/>
                <a:cs typeface="Perpetua"/>
              </a:rPr>
              <a:t>validity </a:t>
            </a:r>
            <a:r>
              <a:rPr sz="2600" dirty="0">
                <a:latin typeface="Perpetua"/>
                <a:cs typeface="Perpetua"/>
              </a:rPr>
              <a:t>of</a:t>
            </a:r>
            <a:r>
              <a:rPr sz="2600" spc="-2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following	</a:t>
            </a:r>
            <a:r>
              <a:rPr sz="2600" spc="-5" dirty="0">
                <a:latin typeface="Perpetua"/>
                <a:cs typeface="Perpetua"/>
              </a:rPr>
              <a:t>argument</a:t>
            </a:r>
            <a:endParaRPr sz="2600">
              <a:latin typeface="Perpetua"/>
              <a:cs typeface="Perpetua"/>
            </a:endParaRPr>
          </a:p>
          <a:p>
            <a:pPr marL="2783205" lvl="1" indent="-30797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783840" algn="l"/>
              </a:tabLst>
            </a:pPr>
            <a:r>
              <a:rPr sz="2600" dirty="0">
                <a:latin typeface="Perpetua"/>
                <a:cs typeface="Perpetua"/>
              </a:rPr>
              <a:t>a implies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</a:t>
            </a:r>
            <a:endParaRPr sz="2600">
              <a:latin typeface="Perpetua"/>
              <a:cs typeface="Perpetua"/>
            </a:endParaRPr>
          </a:p>
          <a:p>
            <a:pPr marL="2783205" lvl="1" indent="-307975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2783840" algn="l"/>
              </a:tabLst>
            </a:pPr>
            <a:r>
              <a:rPr sz="2600" dirty="0">
                <a:latin typeface="Perpetua"/>
                <a:cs typeface="Perpetua"/>
              </a:rPr>
              <a:t>b implies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</a:t>
            </a:r>
            <a:endParaRPr sz="2600">
              <a:latin typeface="Perpetua"/>
              <a:cs typeface="Perpetua"/>
            </a:endParaRPr>
          </a:p>
          <a:p>
            <a:pPr marL="2669540" lvl="1" indent="-269240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670175" algn="l"/>
                <a:tab pos="4090035" algn="l"/>
              </a:tabLst>
            </a:pPr>
            <a:r>
              <a:rPr sz="2600" spc="-10" dirty="0">
                <a:latin typeface="Perpetua"/>
                <a:cs typeface="Perpetua"/>
              </a:rPr>
              <a:t>Therefore,	</a:t>
            </a:r>
            <a:r>
              <a:rPr sz="2600" dirty="0">
                <a:latin typeface="Perpetua"/>
                <a:cs typeface="Perpetua"/>
              </a:rPr>
              <a:t>(a or b) implies</a:t>
            </a:r>
            <a:r>
              <a:rPr sz="2600" spc="-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q</a:t>
            </a:r>
            <a:endParaRPr sz="2600">
              <a:latin typeface="Perpetua"/>
              <a:cs typeface="Perpetua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Perpetua"/>
              <a:buAutoNum type="arabicPeriod"/>
            </a:pPr>
            <a:endParaRPr sz="375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50" dirty="0">
                <a:latin typeface="Perpetua"/>
                <a:cs typeface="Perpetua"/>
              </a:rPr>
              <a:t>we </a:t>
            </a:r>
            <a:r>
              <a:rPr sz="2600" dirty="0">
                <a:latin typeface="Perpetua"/>
                <a:cs typeface="Perpetua"/>
              </a:rPr>
              <a:t>need to do is </a:t>
            </a:r>
            <a:r>
              <a:rPr sz="2600" spc="15" dirty="0">
                <a:latin typeface="Perpetua"/>
                <a:cs typeface="Perpetua"/>
              </a:rPr>
              <a:t>check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statement,</a:t>
            </a:r>
            <a:endParaRPr sz="2600">
              <a:latin typeface="Perpetua"/>
              <a:cs typeface="Perpetua"/>
            </a:endParaRPr>
          </a:p>
          <a:p>
            <a:pPr marL="86995" marR="541020" indent="274320">
              <a:lnSpc>
                <a:spcPct val="119200"/>
              </a:lnSpc>
              <a:spcBef>
                <a:spcPts val="5"/>
              </a:spcBef>
            </a:pPr>
            <a:r>
              <a:rPr sz="2600" dirty="0">
                <a:latin typeface="Perpetua"/>
                <a:cs typeface="Perpetua"/>
              </a:rPr>
              <a:t>[(a implies q)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(b implies </a:t>
            </a:r>
            <a:r>
              <a:rPr sz="2600" spc="-5" dirty="0">
                <a:latin typeface="Perpetua"/>
                <a:cs typeface="Perpetua"/>
              </a:rPr>
              <a:t>q)] </a:t>
            </a:r>
            <a:r>
              <a:rPr sz="2600" dirty="0">
                <a:latin typeface="Perpetua"/>
                <a:cs typeface="Perpetua"/>
              </a:rPr>
              <a:t>implies [(a </a:t>
            </a:r>
            <a:r>
              <a:rPr sz="2600" spc="-5" dirty="0">
                <a:latin typeface="Perpetua"/>
                <a:cs typeface="Perpetua"/>
              </a:rPr>
              <a:t>or </a:t>
            </a:r>
            <a:r>
              <a:rPr sz="2600" dirty="0">
                <a:latin typeface="Perpetua"/>
                <a:cs typeface="Perpetua"/>
              </a:rPr>
              <a:t>b) </a:t>
            </a:r>
            <a:r>
              <a:rPr sz="2600" spc="-5" dirty="0">
                <a:latin typeface="Perpetua"/>
                <a:cs typeface="Perpetua"/>
              </a:rPr>
              <a:t>implies </a:t>
            </a:r>
            <a:r>
              <a:rPr sz="2600" dirty="0">
                <a:latin typeface="Perpetua"/>
                <a:cs typeface="Perpetua"/>
              </a:rPr>
              <a:t>q]  is a</a:t>
            </a:r>
            <a:r>
              <a:rPr sz="2600" spc="-5" dirty="0">
                <a:latin typeface="Perpetua"/>
                <a:cs typeface="Perpetua"/>
              </a:rPr>
              <a:t> tautology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200">
              <a:latin typeface="Perpetua"/>
              <a:cs typeface="Perpetua"/>
            </a:endParaRPr>
          </a:p>
          <a:p>
            <a:pPr marL="287020" marR="5080" indent="-287020">
              <a:lnSpc>
                <a:spcPct val="119200"/>
              </a:lnSpc>
              <a:buSzPct val="84615"/>
              <a:buFont typeface="Wingdings"/>
              <a:buChar char=""/>
              <a:tabLst>
                <a:tab pos="287020" algn="l"/>
              </a:tabLst>
            </a:pPr>
            <a:r>
              <a:rPr sz="2600" i="1" dirty="0">
                <a:latin typeface="Perpetua"/>
                <a:cs typeface="Perpetua"/>
              </a:rPr>
              <a:t>So to </a:t>
            </a:r>
            <a:r>
              <a:rPr sz="2600" i="1" spc="-10" dirty="0">
                <a:latin typeface="Perpetua"/>
                <a:cs typeface="Perpetua"/>
              </a:rPr>
              <a:t>show that </a:t>
            </a:r>
            <a:r>
              <a:rPr sz="2600" i="1" dirty="0">
                <a:latin typeface="Perpetua"/>
                <a:cs typeface="Perpetua"/>
              </a:rPr>
              <a:t>an </a:t>
            </a:r>
            <a:r>
              <a:rPr sz="2600" i="1" spc="-15" dirty="0">
                <a:latin typeface="Perpetua"/>
                <a:cs typeface="Perpetua"/>
              </a:rPr>
              <a:t>argument </a:t>
            </a:r>
            <a:r>
              <a:rPr sz="2600" i="1" spc="-5" dirty="0">
                <a:latin typeface="Perpetua"/>
                <a:cs typeface="Perpetua"/>
              </a:rPr>
              <a:t>is </a:t>
            </a:r>
            <a:r>
              <a:rPr sz="2600" i="1" spc="-15" dirty="0">
                <a:latin typeface="Perpetua"/>
                <a:cs typeface="Perpetua"/>
              </a:rPr>
              <a:t>valid we </a:t>
            </a:r>
            <a:r>
              <a:rPr sz="2600" i="1" dirty="0">
                <a:latin typeface="Perpetua"/>
                <a:cs typeface="Perpetua"/>
              </a:rPr>
              <a:t>need to construct a truth </a:t>
            </a:r>
            <a:r>
              <a:rPr sz="2600" i="1" spc="-10" dirty="0">
                <a:latin typeface="Perpetua"/>
                <a:cs typeface="Perpetua"/>
              </a:rPr>
              <a:t>table,  </a:t>
            </a:r>
            <a:r>
              <a:rPr sz="2600" i="1" spc="5" dirty="0">
                <a:latin typeface="Perpetua"/>
                <a:cs typeface="Perpetua"/>
              </a:rPr>
              <a:t>right?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3175" y="6074155"/>
            <a:ext cx="3845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Perpetua"/>
                <a:cs typeface="Perpetua"/>
              </a:rPr>
              <a:t>Case </a:t>
            </a:r>
            <a:r>
              <a:rPr sz="4000" spc="-15" dirty="0">
                <a:latin typeface="Perpetua"/>
                <a:cs typeface="Perpetua"/>
              </a:rPr>
              <a:t>study </a:t>
            </a:r>
            <a:r>
              <a:rPr sz="4000" spc="-10" dirty="0">
                <a:latin typeface="Perpetua"/>
                <a:cs typeface="Perpetua"/>
              </a:rPr>
              <a:t>time</a:t>
            </a:r>
            <a:r>
              <a:rPr sz="4000" spc="-2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…..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71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381000"/>
            <a:ext cx="3733800" cy="4985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57886"/>
            <a:ext cx="3322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The one-bit</a:t>
            </a:r>
            <a:r>
              <a:rPr sz="4000" spc="-40" dirty="0"/>
              <a:t> </a:t>
            </a:r>
            <a:r>
              <a:rPr sz="4000" spc="-10" dirty="0"/>
              <a:t>adder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205230"/>
            <a:ext cx="7944484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one-bit adder </a:t>
            </a:r>
            <a:r>
              <a:rPr sz="2600" dirty="0">
                <a:latin typeface="Perpetua"/>
                <a:cs typeface="Perpetua"/>
              </a:rPr>
              <a:t>sums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spc="-5" dirty="0">
                <a:latin typeface="Perpetua"/>
                <a:cs typeface="Perpetua"/>
              </a:rPr>
              <a:t>input </a:t>
            </a:r>
            <a:r>
              <a:rPr sz="2600" dirty="0">
                <a:latin typeface="Perpetua"/>
                <a:cs typeface="Perpetua"/>
              </a:rPr>
              <a:t>bits x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spc="-140" dirty="0">
                <a:latin typeface="Perpetua"/>
                <a:cs typeface="Perpetua"/>
              </a:rPr>
              <a:t>y,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10" dirty="0">
                <a:latin typeface="Perpetua"/>
                <a:cs typeface="Perpetua"/>
              </a:rPr>
              <a:t>carry-in </a:t>
            </a:r>
            <a:r>
              <a:rPr sz="2600" dirty="0">
                <a:latin typeface="Perpetua"/>
                <a:cs typeface="Perpetua"/>
              </a:rPr>
              <a:t>bit  </a:t>
            </a:r>
            <a:r>
              <a:rPr sz="2600" spc="5" dirty="0">
                <a:latin typeface="Perpetua"/>
                <a:cs typeface="Perpetua"/>
              </a:rPr>
              <a:t>c,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-5" dirty="0">
                <a:latin typeface="Perpetua"/>
                <a:cs typeface="Perpetua"/>
              </a:rPr>
              <a:t>produce </a:t>
            </a:r>
            <a:r>
              <a:rPr sz="2600" dirty="0">
                <a:latin typeface="Perpetua"/>
                <a:cs typeface="Perpetua"/>
              </a:rPr>
              <a:t>a carry-out bit d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a sum bit</a:t>
            </a:r>
            <a:r>
              <a:rPr sz="2600" spc="-12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z.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04854" y="2914646"/>
            <a:ext cx="2276214" cy="19141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16475" y="2645228"/>
            <a:ext cx="3149193" cy="25254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88340" y="5401462"/>
            <a:ext cx="74345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Perpetua"/>
                <a:cs typeface="Perpetua"/>
              </a:rPr>
              <a:t>The </a:t>
            </a:r>
            <a:r>
              <a:rPr sz="2400" spc="10" dirty="0">
                <a:latin typeface="Perpetua"/>
                <a:cs typeface="Perpetua"/>
              </a:rPr>
              <a:t>truth </a:t>
            </a:r>
            <a:r>
              <a:rPr sz="2400" spc="-10" dirty="0">
                <a:latin typeface="Perpetua"/>
                <a:cs typeface="Perpetua"/>
              </a:rPr>
              <a:t>table </a:t>
            </a:r>
            <a:r>
              <a:rPr sz="2400" spc="-5" dirty="0">
                <a:latin typeface="Perpetua"/>
                <a:cs typeface="Perpetua"/>
              </a:rPr>
              <a:t>tells </a:t>
            </a:r>
            <a:r>
              <a:rPr sz="2400" dirty="0">
                <a:latin typeface="Perpetua"/>
                <a:cs typeface="Perpetua"/>
              </a:rPr>
              <a:t>us </a:t>
            </a:r>
            <a:r>
              <a:rPr sz="2400" spc="-5" dirty="0">
                <a:latin typeface="Perpetua"/>
                <a:cs typeface="Perpetua"/>
              </a:rPr>
              <a:t>the </a:t>
            </a:r>
            <a:r>
              <a:rPr sz="2400" spc="-15" dirty="0">
                <a:latin typeface="Perpetua"/>
                <a:cs typeface="Perpetua"/>
              </a:rPr>
              <a:t>value </a:t>
            </a:r>
            <a:r>
              <a:rPr sz="2400" dirty="0">
                <a:latin typeface="Perpetua"/>
                <a:cs typeface="Perpetua"/>
              </a:rPr>
              <a:t>of the </a:t>
            </a:r>
            <a:r>
              <a:rPr sz="2400" spc="5" dirty="0">
                <a:latin typeface="Perpetua"/>
                <a:cs typeface="Perpetua"/>
              </a:rPr>
              <a:t>carry-out </a:t>
            </a:r>
            <a:r>
              <a:rPr sz="2400" dirty="0">
                <a:latin typeface="Perpetua"/>
                <a:cs typeface="Perpetua"/>
              </a:rPr>
              <a:t>bit d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the sum-  bit </a:t>
            </a:r>
            <a:r>
              <a:rPr sz="2400" spc="-5" dirty="0">
                <a:latin typeface="Perpetua"/>
                <a:cs typeface="Perpetua"/>
              </a:rPr>
              <a:t>z, as </a:t>
            </a:r>
            <a:r>
              <a:rPr sz="2400" dirty="0">
                <a:latin typeface="Perpetua"/>
                <a:cs typeface="Perpetua"/>
              </a:rPr>
              <a:t>a function of x, </a:t>
            </a:r>
            <a:r>
              <a:rPr sz="2400" spc="-125" dirty="0">
                <a:latin typeface="Perpetua"/>
                <a:cs typeface="Perpetua"/>
              </a:rPr>
              <a:t>y, </a:t>
            </a:r>
            <a:r>
              <a:rPr sz="2400" spc="-5" dirty="0">
                <a:latin typeface="Perpetua"/>
                <a:cs typeface="Perpetua"/>
              </a:rPr>
              <a:t>and </a:t>
            </a:r>
            <a:r>
              <a:rPr sz="2400" dirty="0">
                <a:latin typeface="Perpetua"/>
                <a:cs typeface="Perpetua"/>
              </a:rPr>
              <a:t>c for </a:t>
            </a:r>
            <a:r>
              <a:rPr sz="2400" spc="10" dirty="0">
                <a:latin typeface="Perpetua"/>
                <a:cs typeface="Perpetua"/>
              </a:rPr>
              <a:t>each </a:t>
            </a:r>
            <a:r>
              <a:rPr sz="2400" dirty="0">
                <a:latin typeface="Perpetua"/>
                <a:cs typeface="Perpetua"/>
              </a:rPr>
              <a:t>of the </a:t>
            </a:r>
            <a:r>
              <a:rPr sz="2400" spc="-5" dirty="0">
                <a:latin typeface="Perpetua"/>
                <a:cs typeface="Perpetua"/>
              </a:rPr>
              <a:t>eight combinations  </a:t>
            </a:r>
            <a:r>
              <a:rPr sz="2400" dirty="0">
                <a:latin typeface="Perpetua"/>
                <a:cs typeface="Perpetua"/>
              </a:rPr>
              <a:t>of input</a:t>
            </a:r>
            <a:r>
              <a:rPr sz="2400" spc="-35" dirty="0">
                <a:latin typeface="Perpetua"/>
                <a:cs typeface="Perpetua"/>
              </a:rPr>
              <a:t> </a:t>
            </a:r>
            <a:r>
              <a:rPr sz="2400" spc="-20" dirty="0">
                <a:latin typeface="Perpetua"/>
                <a:cs typeface="Perpetua"/>
              </a:rPr>
              <a:t>values.</a:t>
            </a:r>
            <a:endParaRPr sz="24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43897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" dirty="0"/>
              <a:t>Observe</a:t>
            </a:r>
            <a:r>
              <a:rPr sz="4000" spc="-25" dirty="0"/>
              <a:t> </a:t>
            </a:r>
            <a:r>
              <a:rPr sz="4000" spc="-5" dirty="0"/>
              <a:t>the</a:t>
            </a:r>
            <a:r>
              <a:rPr sz="4000" spc="-484" dirty="0"/>
              <a:t> </a:t>
            </a:r>
            <a:r>
              <a:rPr sz="4000" spc="-45" dirty="0"/>
              <a:t>Truth</a:t>
            </a:r>
            <a:r>
              <a:rPr sz="4000" spc="-495" dirty="0"/>
              <a:t> </a:t>
            </a:r>
            <a:r>
              <a:rPr sz="4000" spc="-105" dirty="0"/>
              <a:t>Table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83540" y="1509944"/>
            <a:ext cx="8279130" cy="333438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5" dirty="0">
                <a:latin typeface="Perpetua"/>
                <a:cs typeface="Perpetua"/>
              </a:rPr>
              <a:t>carry-out </a:t>
            </a:r>
            <a:r>
              <a:rPr sz="2600" dirty="0">
                <a:latin typeface="Perpetua"/>
                <a:cs typeface="Perpetua"/>
              </a:rPr>
              <a:t>bit d is 1 if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spc="-5" dirty="0">
                <a:latin typeface="Perpetua"/>
                <a:cs typeface="Perpetua"/>
              </a:rPr>
              <a:t>least </a:t>
            </a:r>
            <a:r>
              <a:rPr sz="2600" spc="-35" dirty="0">
                <a:latin typeface="Perpetua"/>
                <a:cs typeface="Perpetua"/>
              </a:rPr>
              <a:t>two </a:t>
            </a:r>
            <a:r>
              <a:rPr sz="2600" dirty="0">
                <a:latin typeface="Perpetua"/>
                <a:cs typeface="Perpetua"/>
              </a:rPr>
              <a:t>of x, </a:t>
            </a:r>
            <a:r>
              <a:rPr sz="2600" spc="-140" dirty="0">
                <a:latin typeface="Perpetua"/>
                <a:cs typeface="Perpetua"/>
              </a:rPr>
              <a:t>y,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c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15" dirty="0">
                <a:latin typeface="Perpetua"/>
                <a:cs typeface="Perpetua"/>
              </a:rPr>
              <a:t>value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d = 0 if </a:t>
            </a:r>
            <a:r>
              <a:rPr sz="2600" spc="-15" dirty="0">
                <a:latin typeface="Perpetua"/>
                <a:cs typeface="Perpetua"/>
              </a:rPr>
              <a:t>only </a:t>
            </a:r>
            <a:r>
              <a:rPr sz="2600" spc="-10" dirty="0">
                <a:latin typeface="Perpetua"/>
                <a:cs typeface="Perpetua"/>
              </a:rPr>
              <a:t>zero </a:t>
            </a:r>
            <a:r>
              <a:rPr sz="2600" dirty="0">
                <a:latin typeface="Perpetua"/>
                <a:cs typeface="Perpetua"/>
              </a:rPr>
              <a:t>or </a:t>
            </a:r>
            <a:r>
              <a:rPr sz="2600" spc="-5" dirty="0">
                <a:latin typeface="Perpetua"/>
                <a:cs typeface="Perpetua"/>
              </a:rPr>
              <a:t>one </a:t>
            </a:r>
            <a:r>
              <a:rPr sz="2600" dirty="0">
                <a:latin typeface="Perpetua"/>
                <a:cs typeface="Perpetua"/>
              </a:rPr>
              <a:t>of the </a:t>
            </a:r>
            <a:r>
              <a:rPr sz="2600" spc="-5" dirty="0">
                <a:latin typeface="Perpetua"/>
                <a:cs typeface="Perpetua"/>
              </a:rPr>
              <a:t>inputs </a:t>
            </a:r>
            <a:r>
              <a:rPr sz="2600" dirty="0">
                <a:latin typeface="Perpetua"/>
                <a:cs typeface="Perpetua"/>
              </a:rPr>
              <a:t>is 1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sum bit z is 1 if </a:t>
            </a:r>
            <a:r>
              <a:rPr sz="2600" spc="-5" dirty="0">
                <a:latin typeface="Perpetua"/>
                <a:cs typeface="Perpetua"/>
              </a:rPr>
              <a:t>an odd number </a:t>
            </a:r>
            <a:r>
              <a:rPr sz="2600" dirty="0">
                <a:latin typeface="Perpetua"/>
                <a:cs typeface="Perpetua"/>
              </a:rPr>
              <a:t>of x, </a:t>
            </a:r>
            <a:r>
              <a:rPr sz="2600" spc="-140" dirty="0">
                <a:latin typeface="Perpetua"/>
                <a:cs typeface="Perpetua"/>
              </a:rPr>
              <a:t>y,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c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1,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0 if</a:t>
            </a:r>
            <a:r>
              <a:rPr sz="2600" spc="-2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not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750">
              <a:latin typeface="Perpetua"/>
              <a:cs typeface="Perpetua"/>
            </a:endParaRPr>
          </a:p>
          <a:p>
            <a:pPr marL="321310" indent="-309245">
              <a:lnSpc>
                <a:spcPct val="100000"/>
              </a:lnSpc>
              <a:buAutoNum type="arabicPeriod"/>
              <a:tabLst>
                <a:tab pos="321945" algn="l"/>
              </a:tabLst>
            </a:pP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spc="-25" dirty="0">
                <a:latin typeface="Perpetua"/>
                <a:cs typeface="Perpetua"/>
              </a:rPr>
              <a:t>rows </a:t>
            </a:r>
            <a:r>
              <a:rPr sz="2600" dirty="0">
                <a:latin typeface="Perpetua"/>
                <a:cs typeface="Perpetua"/>
              </a:rPr>
              <a:t>3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7, d is 1 if both y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c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-16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1.</a:t>
            </a:r>
            <a:endParaRPr sz="2600">
              <a:latin typeface="Perpetua"/>
              <a:cs typeface="Perpetua"/>
            </a:endParaRPr>
          </a:p>
          <a:p>
            <a:pPr marL="321310" indent="-30924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21945" algn="l"/>
              </a:tabLst>
            </a:pP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spc="-25" dirty="0">
                <a:latin typeface="Perpetua"/>
                <a:cs typeface="Perpetua"/>
              </a:rPr>
              <a:t>rows </a:t>
            </a:r>
            <a:r>
              <a:rPr sz="2600" dirty="0">
                <a:latin typeface="Perpetua"/>
                <a:cs typeface="Perpetua"/>
              </a:rPr>
              <a:t>5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7, d is 1 if both x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c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-17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1.</a:t>
            </a:r>
            <a:endParaRPr sz="2600">
              <a:latin typeface="Perpetua"/>
              <a:cs typeface="Perpetua"/>
            </a:endParaRPr>
          </a:p>
          <a:p>
            <a:pPr marL="321310" indent="-309245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21945" algn="l"/>
              </a:tabLst>
            </a:pPr>
            <a:r>
              <a:rPr sz="2600" spc="-5" dirty="0">
                <a:latin typeface="Perpetua"/>
                <a:cs typeface="Perpetua"/>
              </a:rPr>
              <a:t>From </a:t>
            </a:r>
            <a:r>
              <a:rPr sz="2600" spc="-25" dirty="0">
                <a:latin typeface="Perpetua"/>
                <a:cs typeface="Perpetua"/>
              </a:rPr>
              <a:t>rows </a:t>
            </a:r>
            <a:r>
              <a:rPr sz="2600" dirty="0">
                <a:latin typeface="Perpetua"/>
                <a:cs typeface="Perpetua"/>
              </a:rPr>
              <a:t>6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7, d is 1 if both x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y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-1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1.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57886"/>
            <a:ext cx="48704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Modeling the</a:t>
            </a:r>
            <a:r>
              <a:rPr sz="4000" spc="-10" dirty="0"/>
              <a:t> </a:t>
            </a:r>
            <a:r>
              <a:rPr sz="4000" dirty="0"/>
              <a:t>observations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176274"/>
            <a:ext cx="8089265" cy="44469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86385" marR="5080" indent="-274320">
              <a:lnSpc>
                <a:spcPts val="2810"/>
              </a:lnSpc>
              <a:spcBef>
                <a:spcPts val="45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Condition </a:t>
            </a:r>
            <a:r>
              <a:rPr sz="2600" spc="-10" dirty="0">
                <a:latin typeface="Perpetua"/>
                <a:cs typeface="Perpetua"/>
              </a:rPr>
              <a:t>(1) </a:t>
            </a:r>
            <a:r>
              <a:rPr sz="2600" spc="-5" dirty="0">
                <a:latin typeface="Perpetua"/>
                <a:cs typeface="Perpetua"/>
              </a:rPr>
              <a:t>can be modeled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the logical </a:t>
            </a:r>
            <a:r>
              <a:rPr sz="2600" spc="-5" dirty="0">
                <a:latin typeface="Perpetua"/>
                <a:cs typeface="Perpetua"/>
              </a:rPr>
              <a:t>expression </a:t>
            </a:r>
            <a:r>
              <a:rPr sz="2600" dirty="0">
                <a:latin typeface="Perpetua"/>
                <a:cs typeface="Perpetua"/>
              </a:rPr>
              <a:t>y </a:t>
            </a:r>
            <a:r>
              <a:rPr sz="2600" spc="-10" dirty="0">
                <a:latin typeface="Perpetua"/>
                <a:cs typeface="Perpetua"/>
              </a:rPr>
              <a:t>AND </a:t>
            </a:r>
            <a:r>
              <a:rPr sz="2600" spc="5" dirty="0">
                <a:latin typeface="Perpetua"/>
                <a:cs typeface="Perpetua"/>
              </a:rPr>
              <a:t>c,  </a:t>
            </a:r>
            <a:r>
              <a:rPr sz="2600" dirty="0">
                <a:latin typeface="Perpetua"/>
                <a:cs typeface="Perpetua"/>
              </a:rPr>
              <a:t>because y AND c is </a:t>
            </a:r>
            <a:r>
              <a:rPr sz="2600" spc="10" dirty="0">
                <a:latin typeface="Perpetua"/>
                <a:cs typeface="Perpetua"/>
              </a:rPr>
              <a:t>true </a:t>
            </a:r>
            <a:r>
              <a:rPr sz="2600" spc="-10" dirty="0">
                <a:latin typeface="Perpetua"/>
                <a:cs typeface="Perpetua"/>
              </a:rPr>
              <a:t>exactly </a:t>
            </a:r>
            <a:r>
              <a:rPr sz="2600" dirty="0">
                <a:latin typeface="Perpetua"/>
                <a:cs typeface="Perpetua"/>
              </a:rPr>
              <a:t>when both y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c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-26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1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4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condition </a:t>
            </a:r>
            <a:r>
              <a:rPr sz="2600" spc="-5" dirty="0">
                <a:latin typeface="Perpetua"/>
                <a:cs typeface="Perpetua"/>
              </a:rPr>
              <a:t>(2) can be modeled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x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2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c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29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3938904" algn="l"/>
              </a:tabLst>
            </a:pPr>
            <a:r>
              <a:rPr sz="2600" dirty="0">
                <a:latin typeface="Perpetua"/>
                <a:cs typeface="Perpetua"/>
              </a:rPr>
              <a:t>condition </a:t>
            </a:r>
            <a:r>
              <a:rPr sz="2600" spc="-5" dirty="0">
                <a:latin typeface="Perpetua"/>
                <a:cs typeface="Perpetua"/>
              </a:rPr>
              <a:t>(3) can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be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modeled	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x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-18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y</a:t>
            </a:r>
            <a:endParaRPr sz="2600">
              <a:latin typeface="Perpetua"/>
              <a:cs typeface="Perpetua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500">
              <a:latin typeface="Perpetua"/>
              <a:cs typeface="Perpetua"/>
            </a:endParaRPr>
          </a:p>
          <a:p>
            <a:pPr marL="286385" marR="19685" indent="-274320" algn="just">
              <a:lnSpc>
                <a:spcPts val="2810"/>
              </a:lnSpc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spc="-5" dirty="0">
                <a:latin typeface="Perpetua"/>
                <a:cs typeface="Perpetua"/>
              </a:rPr>
              <a:t>All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25" dirty="0">
                <a:latin typeface="Perpetua"/>
                <a:cs typeface="Perpetua"/>
              </a:rPr>
              <a:t>rows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spc="-35" dirty="0">
                <a:latin typeface="Perpetua"/>
                <a:cs typeface="Perpetua"/>
              </a:rPr>
              <a:t>have </a:t>
            </a:r>
            <a:r>
              <a:rPr sz="2600" dirty="0">
                <a:latin typeface="Perpetua"/>
                <a:cs typeface="Perpetua"/>
              </a:rPr>
              <a:t>d = 1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included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15" dirty="0">
                <a:latin typeface="Perpetua"/>
                <a:cs typeface="Perpetua"/>
              </a:rPr>
              <a:t>at </a:t>
            </a:r>
            <a:r>
              <a:rPr sz="2600" spc="-5" dirty="0">
                <a:latin typeface="Perpetua"/>
                <a:cs typeface="Perpetua"/>
              </a:rPr>
              <a:t>least one of </a:t>
            </a:r>
            <a:r>
              <a:rPr sz="2600" dirty="0">
                <a:latin typeface="Perpetua"/>
                <a:cs typeface="Perpetua"/>
              </a:rPr>
              <a:t>these  </a:t>
            </a:r>
            <a:r>
              <a:rPr sz="2600" spc="-5" dirty="0">
                <a:latin typeface="Perpetua"/>
                <a:cs typeface="Perpetua"/>
              </a:rPr>
              <a:t>three </a:t>
            </a:r>
            <a:r>
              <a:rPr sz="2600" spc="10" dirty="0">
                <a:latin typeface="Perpetua"/>
                <a:cs typeface="Perpetua"/>
              </a:rPr>
              <a:t>pairs </a:t>
            </a:r>
            <a:r>
              <a:rPr sz="2600" spc="-5" dirty="0">
                <a:latin typeface="Perpetua"/>
                <a:cs typeface="Perpetua"/>
              </a:rPr>
              <a:t>of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30" dirty="0">
                <a:latin typeface="Perpetua"/>
                <a:cs typeface="Perpetua"/>
              </a:rPr>
              <a:t>rows.</a:t>
            </a:r>
            <a:endParaRPr sz="2600">
              <a:latin typeface="Perpetua"/>
              <a:cs typeface="Perpetua"/>
            </a:endParaRPr>
          </a:p>
          <a:p>
            <a:pPr marL="286385" marR="20955" indent="-274320" algn="just">
              <a:lnSpc>
                <a:spcPct val="90000"/>
              </a:lnSpc>
              <a:spcBef>
                <a:spcPts val="555"/>
              </a:spcBef>
              <a:buSzPct val="84615"/>
              <a:buFont typeface="Arial"/>
              <a:buChar char="•"/>
              <a:tabLst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Thus </a:t>
            </a:r>
            <a:r>
              <a:rPr sz="2600" spc="-45" dirty="0">
                <a:latin typeface="Perpetua"/>
                <a:cs typeface="Perpetua"/>
              </a:rPr>
              <a:t>we </a:t>
            </a:r>
            <a:r>
              <a:rPr sz="2600" spc="-5" dirty="0">
                <a:latin typeface="Perpetua"/>
                <a:cs typeface="Perpetua"/>
              </a:rPr>
              <a:t>can </a:t>
            </a:r>
            <a:r>
              <a:rPr sz="2600" spc="10" dirty="0">
                <a:latin typeface="Perpetua"/>
                <a:cs typeface="Perpetua"/>
              </a:rPr>
              <a:t>write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5" dirty="0">
                <a:latin typeface="Perpetua"/>
                <a:cs typeface="Perpetua"/>
              </a:rPr>
              <a:t>logical </a:t>
            </a:r>
            <a:r>
              <a:rPr sz="2600" spc="-5" dirty="0">
                <a:latin typeface="Perpetua"/>
                <a:cs typeface="Perpetua"/>
              </a:rPr>
              <a:t>expression </a:t>
            </a:r>
            <a:r>
              <a:rPr sz="2600" spc="-10" dirty="0">
                <a:latin typeface="Perpetua"/>
                <a:cs typeface="Perpetua"/>
              </a:rPr>
              <a:t>that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15" dirty="0">
                <a:latin typeface="Perpetua"/>
                <a:cs typeface="Perpetua"/>
              </a:rPr>
              <a:t>true </a:t>
            </a:r>
            <a:r>
              <a:rPr sz="2600" spc="-15" dirty="0">
                <a:latin typeface="Perpetua"/>
                <a:cs typeface="Perpetua"/>
              </a:rPr>
              <a:t>whenever </a:t>
            </a:r>
            <a:r>
              <a:rPr sz="2600" spc="-5" dirty="0">
                <a:latin typeface="Perpetua"/>
                <a:cs typeface="Perpetua"/>
              </a:rPr>
              <a:t>one  or </a:t>
            </a:r>
            <a:r>
              <a:rPr sz="2600" spc="-10" dirty="0">
                <a:latin typeface="Perpetua"/>
                <a:cs typeface="Perpetua"/>
              </a:rPr>
              <a:t>more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three conditions </a:t>
            </a:r>
            <a:r>
              <a:rPr sz="2600" dirty="0">
                <a:latin typeface="Perpetua"/>
                <a:cs typeface="Perpetua"/>
              </a:rPr>
              <a:t>hold </a:t>
            </a:r>
            <a:r>
              <a:rPr sz="2600" spc="-25" dirty="0">
                <a:latin typeface="Perpetua"/>
                <a:cs typeface="Perpetua"/>
              </a:rPr>
              <a:t>by </a:t>
            </a:r>
            <a:r>
              <a:rPr sz="2600" dirty="0">
                <a:latin typeface="Perpetua"/>
                <a:cs typeface="Perpetua"/>
              </a:rPr>
              <a:t>taking the logical OR </a:t>
            </a:r>
            <a:r>
              <a:rPr sz="2600" spc="-5" dirty="0">
                <a:latin typeface="Perpetua"/>
                <a:cs typeface="Perpetua"/>
              </a:rPr>
              <a:t>of  </a:t>
            </a:r>
            <a:r>
              <a:rPr sz="2600" dirty="0">
                <a:latin typeface="Perpetua"/>
                <a:cs typeface="Perpetua"/>
              </a:rPr>
              <a:t>these </a:t>
            </a:r>
            <a:r>
              <a:rPr sz="2600" spc="-5" dirty="0">
                <a:latin typeface="Perpetua"/>
                <a:cs typeface="Perpetua"/>
              </a:rPr>
              <a:t>three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expressions:</a:t>
            </a:r>
            <a:endParaRPr sz="2600">
              <a:latin typeface="Perpetua"/>
              <a:cs typeface="Perpetua"/>
            </a:endParaRPr>
          </a:p>
          <a:p>
            <a:pPr marL="1205865">
              <a:lnSpc>
                <a:spcPct val="100000"/>
              </a:lnSpc>
              <a:spcBef>
                <a:spcPts val="290"/>
              </a:spcBef>
            </a:pPr>
            <a:r>
              <a:rPr sz="2600" dirty="0">
                <a:latin typeface="Perpetua"/>
                <a:cs typeface="Perpetua"/>
              </a:rPr>
              <a:t>(y</a:t>
            </a:r>
            <a:r>
              <a:rPr sz="2600" spc="-204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c)</a:t>
            </a:r>
            <a:r>
              <a:rPr sz="2600" dirty="0">
                <a:latin typeface="Perpetua"/>
                <a:cs typeface="Perpetua"/>
              </a:rPr>
              <a:t> OR</a:t>
            </a:r>
            <a:r>
              <a:rPr sz="2600" spc="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(x</a:t>
            </a:r>
            <a:r>
              <a:rPr sz="2600" spc="-2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c)</a:t>
            </a:r>
            <a:r>
              <a:rPr sz="2600" dirty="0">
                <a:latin typeface="Perpetua"/>
                <a:cs typeface="Perpetua"/>
              </a:rPr>
              <a:t> OR (x</a:t>
            </a:r>
            <a:r>
              <a:rPr sz="2600" spc="-210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AND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spc="-10" dirty="0">
                <a:latin typeface="Perpetua"/>
                <a:cs typeface="Perpetua"/>
              </a:rPr>
              <a:t>y)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73901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0" dirty="0"/>
              <a:t>Check </a:t>
            </a:r>
            <a:r>
              <a:rPr sz="4000" spc="-5" dirty="0"/>
              <a:t>the </a:t>
            </a:r>
            <a:r>
              <a:rPr sz="4000" dirty="0"/>
              <a:t>correctness </a:t>
            </a:r>
            <a:r>
              <a:rPr sz="4000" spc="-5" dirty="0"/>
              <a:t>of this</a:t>
            </a:r>
            <a:r>
              <a:rPr sz="4000" spc="-50" dirty="0"/>
              <a:t> </a:t>
            </a:r>
            <a:r>
              <a:rPr sz="4000" spc="-5" dirty="0"/>
              <a:t>expression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397708" y="1885115"/>
            <a:ext cx="6316554" cy="34159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3175" y="6074155"/>
            <a:ext cx="38455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Perpetua"/>
                <a:cs typeface="Perpetua"/>
              </a:rPr>
              <a:t>Case </a:t>
            </a:r>
            <a:r>
              <a:rPr sz="4000" spc="-15" dirty="0">
                <a:latin typeface="Perpetua"/>
                <a:cs typeface="Perpetua"/>
              </a:rPr>
              <a:t>study </a:t>
            </a:r>
            <a:r>
              <a:rPr sz="4000" spc="-10" dirty="0">
                <a:latin typeface="Perpetua"/>
                <a:cs typeface="Perpetua"/>
              </a:rPr>
              <a:t>time</a:t>
            </a:r>
            <a:r>
              <a:rPr sz="4000" spc="-25" dirty="0">
                <a:latin typeface="Perpetua"/>
                <a:cs typeface="Perpetua"/>
              </a:rPr>
              <a:t> </a:t>
            </a:r>
            <a:r>
              <a:rPr sz="4000" spc="-5" dirty="0">
                <a:latin typeface="Perpetua"/>
                <a:cs typeface="Perpetua"/>
              </a:rPr>
              <a:t>…..</a:t>
            </a:r>
            <a:endParaRPr sz="40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3377" y="6456984"/>
            <a:ext cx="15367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Perpetua"/>
                <a:cs typeface="Perpetua"/>
              </a:rPr>
              <a:t>76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476491"/>
            <a:ext cx="8953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3400" y="381000"/>
            <a:ext cx="3733800" cy="4985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82651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4" dirty="0"/>
              <a:t>Wason’s </a:t>
            </a:r>
            <a:r>
              <a:rPr sz="4000" spc="-5" dirty="0"/>
              <a:t>4-card </a:t>
            </a:r>
            <a:r>
              <a:rPr sz="4000" spc="-20" dirty="0"/>
              <a:t>problem </a:t>
            </a:r>
            <a:r>
              <a:rPr sz="4000" spc="-5" dirty="0"/>
              <a:t>(the ‘selection’</a:t>
            </a:r>
            <a:r>
              <a:rPr sz="4000" spc="-375" dirty="0"/>
              <a:t> </a:t>
            </a:r>
            <a:r>
              <a:rPr sz="4000" spc="-5" dirty="0"/>
              <a:t>task)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77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433525"/>
            <a:ext cx="8342630" cy="3898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297305" indent="-274320">
              <a:lnSpc>
                <a:spcPct val="100000"/>
              </a:lnSpc>
              <a:spcBef>
                <a:spcPts val="1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6156325" algn="l"/>
              </a:tabLst>
            </a:pPr>
            <a:r>
              <a:rPr sz="2600" spc="-285" dirty="0">
                <a:latin typeface="Perpetua"/>
                <a:cs typeface="Perpetua"/>
              </a:rPr>
              <a:t>W</a:t>
            </a:r>
            <a:r>
              <a:rPr sz="2600" dirty="0">
                <a:latin typeface="Perpetua"/>
                <a:cs typeface="Perpetua"/>
              </a:rPr>
              <a:t>e will c</a:t>
            </a:r>
            <a:r>
              <a:rPr sz="2600" spc="-10" dirty="0">
                <a:latin typeface="Perpetua"/>
                <a:cs typeface="Perpetua"/>
              </a:rPr>
              <a:t>o</a:t>
            </a:r>
            <a:r>
              <a:rPr sz="2600" dirty="0">
                <a:latin typeface="Perpetua"/>
                <a:cs typeface="Perpetua"/>
              </a:rPr>
              <a:t>n</a:t>
            </a:r>
            <a:r>
              <a:rPr sz="2600" spc="-15" dirty="0">
                <a:latin typeface="Perpetua"/>
                <a:cs typeface="Perpetua"/>
              </a:rPr>
              <a:t>d</a:t>
            </a:r>
            <a:r>
              <a:rPr sz="2600" dirty="0">
                <a:latin typeface="Perpetua"/>
                <a:cs typeface="Perpetua"/>
              </a:rPr>
              <a:t>u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t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n</a:t>
            </a:r>
            <a:r>
              <a:rPr sz="2600" spc="-27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‘e</a:t>
            </a:r>
            <a:r>
              <a:rPr sz="2600" spc="-15" dirty="0">
                <a:latin typeface="Perpetua"/>
                <a:cs typeface="Perpetua"/>
              </a:rPr>
              <a:t>x</a:t>
            </a:r>
            <a:r>
              <a:rPr sz="2600" dirty="0">
                <a:latin typeface="Perpetua"/>
                <a:cs typeface="Perpetua"/>
              </a:rPr>
              <a:t>p</a:t>
            </a:r>
            <a:r>
              <a:rPr sz="2600" spc="-10" dirty="0">
                <a:latin typeface="Perpetua"/>
                <a:cs typeface="Perpetua"/>
              </a:rPr>
              <a:t>e</a:t>
            </a:r>
            <a:r>
              <a:rPr sz="2600" spc="4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imen</a:t>
            </a:r>
            <a:r>
              <a:rPr sz="2600" spc="-15" dirty="0">
                <a:latin typeface="Perpetua"/>
                <a:cs typeface="Perpetua"/>
              </a:rPr>
              <a:t>t</a:t>
            </a:r>
            <a:r>
              <a:rPr sz="2600" dirty="0">
                <a:latin typeface="Perpetua"/>
                <a:cs typeface="Perpetua"/>
              </a:rPr>
              <a:t>’</a:t>
            </a:r>
            <a:r>
              <a:rPr sz="2600" spc="-10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in </a:t>
            </a:r>
            <a:r>
              <a:rPr sz="2600" spc="-25" dirty="0">
                <a:latin typeface="Perpetua"/>
                <a:cs typeface="Perpetua"/>
              </a:rPr>
              <a:t>r</a:t>
            </a:r>
            <a:r>
              <a:rPr sz="2600" dirty="0">
                <a:latin typeface="Perpetua"/>
                <a:cs typeface="Perpetua"/>
              </a:rPr>
              <a:t>el</a:t>
            </a:r>
            <a:r>
              <a:rPr sz="2600" spc="-35" dirty="0">
                <a:latin typeface="Perpetua"/>
                <a:cs typeface="Perpetua"/>
              </a:rPr>
              <a:t>a</a:t>
            </a:r>
            <a:r>
              <a:rPr sz="2600" dirty="0">
                <a:latin typeface="Perpetua"/>
                <a:cs typeface="Perpetua"/>
              </a:rPr>
              <a:t>tion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	spe</a:t>
            </a:r>
            <a:r>
              <a:rPr sz="2600" spc="-15" dirty="0">
                <a:latin typeface="Perpetua"/>
                <a:cs typeface="Perpetua"/>
              </a:rPr>
              <a:t>c</a:t>
            </a:r>
            <a:r>
              <a:rPr sz="2600" dirty="0">
                <a:latin typeface="Perpetua"/>
                <a:cs typeface="Perpetua"/>
              </a:rPr>
              <a:t>ific  </a:t>
            </a:r>
            <a:r>
              <a:rPr sz="2600" spc="-5" dirty="0">
                <a:latin typeface="Perpetua"/>
                <a:cs typeface="Perpetua"/>
              </a:rPr>
              <a:t>phenomenon:</a:t>
            </a:r>
            <a:endParaRPr sz="2600">
              <a:latin typeface="Perpetua"/>
              <a:cs typeface="Perpetua"/>
            </a:endParaRPr>
          </a:p>
          <a:p>
            <a:pPr marL="286385" marR="40005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-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dirty="0">
                <a:latin typeface="Perpetua"/>
                <a:cs typeface="Perpetua"/>
              </a:rPr>
              <a:t>will see four cards - </a:t>
            </a:r>
            <a:r>
              <a:rPr sz="2600" spc="-5" dirty="0">
                <a:latin typeface="Perpetua"/>
                <a:cs typeface="Perpetua"/>
              </a:rPr>
              <a:t>pretend </a:t>
            </a:r>
            <a:r>
              <a:rPr sz="2600" spc="-10" dirty="0">
                <a:latin typeface="Perpetua"/>
                <a:cs typeface="Perpetua"/>
              </a:rPr>
              <a:t>they </a:t>
            </a:r>
            <a:r>
              <a:rPr sz="2600" spc="-15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real cards and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5" dirty="0">
                <a:latin typeface="Perpetua"/>
                <a:cs typeface="Perpetua"/>
              </a:rPr>
              <a:t>could  </a:t>
            </a:r>
            <a:r>
              <a:rPr sz="2600" spc="15" dirty="0">
                <a:latin typeface="Perpetua"/>
                <a:cs typeface="Perpetua"/>
              </a:rPr>
              <a:t>turn </a:t>
            </a:r>
            <a:r>
              <a:rPr sz="2600" dirty="0">
                <a:latin typeface="Perpetua"/>
                <a:cs typeface="Perpetua"/>
              </a:rPr>
              <a:t>them</a:t>
            </a:r>
            <a:r>
              <a:rPr sz="2600" spc="-15" dirty="0">
                <a:latin typeface="Perpetua"/>
                <a:cs typeface="Perpetua"/>
              </a:rPr>
              <a:t> </a:t>
            </a:r>
            <a:r>
              <a:rPr sz="2600" spc="-35" dirty="0">
                <a:latin typeface="Perpetua"/>
                <a:cs typeface="Perpetua"/>
              </a:rPr>
              <a:t>over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- </a:t>
            </a:r>
            <a:r>
              <a:rPr sz="2600" spc="10" dirty="0">
                <a:latin typeface="Perpetua"/>
                <a:cs typeface="Perpetua"/>
              </a:rPr>
              <a:t>each </a:t>
            </a:r>
            <a:r>
              <a:rPr sz="2600" dirty="0">
                <a:latin typeface="Perpetua"/>
                <a:cs typeface="Perpetua"/>
              </a:rPr>
              <a:t>card has a number </a:t>
            </a:r>
            <a:r>
              <a:rPr sz="2600" spc="-10" dirty="0">
                <a:latin typeface="Perpetua"/>
                <a:cs typeface="Perpetua"/>
              </a:rPr>
              <a:t>on </a:t>
            </a:r>
            <a:r>
              <a:rPr sz="2600" dirty="0">
                <a:latin typeface="Perpetua"/>
                <a:cs typeface="Perpetua"/>
              </a:rPr>
              <a:t>one side </a:t>
            </a:r>
            <a:r>
              <a:rPr sz="2600" spc="-5" dirty="0">
                <a:latin typeface="Perpetua"/>
                <a:cs typeface="Perpetua"/>
              </a:rPr>
              <a:t>and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5" dirty="0">
                <a:latin typeface="Perpetua"/>
                <a:cs typeface="Perpetua"/>
              </a:rPr>
              <a:t>letter </a:t>
            </a:r>
            <a:r>
              <a:rPr sz="2600" dirty="0">
                <a:latin typeface="Perpetua"/>
                <a:cs typeface="Perpetua"/>
              </a:rPr>
              <a:t>on the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other</a:t>
            </a:r>
            <a:endParaRPr sz="2600">
              <a:latin typeface="Perpetua"/>
              <a:cs typeface="Perpetua"/>
            </a:endParaRPr>
          </a:p>
          <a:p>
            <a:pPr marL="286385" marR="203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-75" dirty="0">
                <a:latin typeface="Perpetua"/>
                <a:cs typeface="Perpetua"/>
              </a:rPr>
              <a:t>Your </a:t>
            </a:r>
            <a:r>
              <a:rPr sz="2600" dirty="0">
                <a:latin typeface="Perpetua"/>
                <a:cs typeface="Perpetua"/>
              </a:rPr>
              <a:t>task is to </a:t>
            </a:r>
            <a:r>
              <a:rPr sz="2600" spc="-5" dirty="0">
                <a:latin typeface="Perpetua"/>
                <a:cs typeface="Perpetua"/>
              </a:rPr>
              <a:t>decide </a:t>
            </a:r>
            <a:r>
              <a:rPr sz="2600" dirty="0">
                <a:latin typeface="Perpetua"/>
                <a:cs typeface="Perpetua"/>
              </a:rPr>
              <a:t>whether the </a:t>
            </a:r>
            <a:r>
              <a:rPr sz="2600" spc="-10" dirty="0">
                <a:latin typeface="Perpetua"/>
                <a:cs typeface="Perpetua"/>
              </a:rPr>
              <a:t>following </a:t>
            </a:r>
            <a:r>
              <a:rPr sz="2600" dirty="0">
                <a:latin typeface="Perpetua"/>
                <a:cs typeface="Perpetua"/>
              </a:rPr>
              <a:t>is </a:t>
            </a:r>
            <a:r>
              <a:rPr sz="2600" spc="15" dirty="0">
                <a:latin typeface="Perpetua"/>
                <a:cs typeface="Perpetua"/>
              </a:rPr>
              <a:t>true </a:t>
            </a:r>
            <a:r>
              <a:rPr sz="2600" spc="-5" dirty="0">
                <a:latin typeface="Perpetua"/>
                <a:cs typeface="Perpetua"/>
              </a:rPr>
              <a:t>of </a:t>
            </a: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-5" dirty="0">
                <a:latin typeface="Perpetua"/>
                <a:cs typeface="Perpetua"/>
              </a:rPr>
              <a:t>cards </a:t>
            </a:r>
            <a:r>
              <a:rPr sz="2600" spc="-15" dirty="0">
                <a:latin typeface="Perpetua"/>
                <a:cs typeface="Perpetua"/>
              </a:rPr>
              <a:t>you  </a:t>
            </a:r>
            <a:r>
              <a:rPr sz="2600" spc="-10" dirty="0">
                <a:latin typeface="Perpetua"/>
                <a:cs typeface="Perpetua"/>
              </a:rPr>
              <a:t>are</a:t>
            </a:r>
            <a:r>
              <a:rPr sz="2600" spc="-20" dirty="0">
                <a:latin typeface="Perpetua"/>
                <a:cs typeface="Perpetua"/>
              </a:rPr>
              <a:t> </a:t>
            </a:r>
            <a:r>
              <a:rPr sz="2600" spc="-15" dirty="0">
                <a:latin typeface="Perpetua"/>
                <a:cs typeface="Perpetua"/>
              </a:rPr>
              <a:t>shown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b="1" i="1" dirty="0">
                <a:latin typeface="Perpetua"/>
                <a:cs typeface="Perpetua"/>
              </a:rPr>
              <a:t>– </a:t>
            </a:r>
            <a:r>
              <a:rPr sz="2600" b="1" i="1" spc="-5" dirty="0">
                <a:latin typeface="Perpetua"/>
                <a:cs typeface="Perpetua"/>
              </a:rPr>
              <a:t>If there </a:t>
            </a:r>
            <a:r>
              <a:rPr sz="2600" b="1" i="1" dirty="0">
                <a:latin typeface="Perpetua"/>
                <a:cs typeface="Perpetua"/>
              </a:rPr>
              <a:t>is a </a:t>
            </a:r>
            <a:r>
              <a:rPr sz="2600" b="1" i="1" spc="-30" dirty="0">
                <a:latin typeface="Perpetua"/>
                <a:cs typeface="Perpetua"/>
              </a:rPr>
              <a:t>vowel </a:t>
            </a:r>
            <a:r>
              <a:rPr sz="2600" b="1" i="1" dirty="0">
                <a:latin typeface="Perpetua"/>
                <a:cs typeface="Perpetua"/>
              </a:rPr>
              <a:t>on one </a:t>
            </a:r>
            <a:r>
              <a:rPr sz="2600" b="1" i="1" spc="-15" dirty="0">
                <a:latin typeface="Perpetua"/>
                <a:cs typeface="Perpetua"/>
              </a:rPr>
              <a:t>side, </a:t>
            </a:r>
            <a:r>
              <a:rPr sz="2600" b="1" i="1" spc="-10" dirty="0">
                <a:latin typeface="Perpetua"/>
                <a:cs typeface="Perpetua"/>
              </a:rPr>
              <a:t>there </a:t>
            </a:r>
            <a:r>
              <a:rPr sz="2600" b="1" i="1" dirty="0">
                <a:latin typeface="Perpetua"/>
                <a:cs typeface="Perpetua"/>
              </a:rPr>
              <a:t>is an </a:t>
            </a:r>
            <a:r>
              <a:rPr sz="2600" b="1" i="1" spc="-20" dirty="0">
                <a:latin typeface="Perpetua"/>
                <a:cs typeface="Perpetua"/>
              </a:rPr>
              <a:t>even </a:t>
            </a:r>
            <a:r>
              <a:rPr sz="2600" b="1" i="1" spc="-10" dirty="0">
                <a:latin typeface="Perpetua"/>
                <a:cs typeface="Perpetua"/>
              </a:rPr>
              <a:t>number </a:t>
            </a:r>
            <a:r>
              <a:rPr sz="2600" b="1" i="1" dirty="0">
                <a:latin typeface="Perpetua"/>
                <a:cs typeface="Perpetua"/>
              </a:rPr>
              <a:t>on</a:t>
            </a:r>
            <a:r>
              <a:rPr sz="2600" b="1" i="1" spc="-245" dirty="0">
                <a:latin typeface="Perpetua"/>
                <a:cs typeface="Perpetua"/>
              </a:rPr>
              <a:t> </a:t>
            </a:r>
            <a:r>
              <a:rPr sz="2600" b="1" i="1" dirty="0">
                <a:latin typeface="Perpetua"/>
                <a:cs typeface="Perpetua"/>
              </a:rPr>
              <a:t>the  other</a:t>
            </a:r>
            <a:endParaRPr sz="26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30384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/>
              <a:t>The</a:t>
            </a:r>
            <a:r>
              <a:rPr sz="4000" spc="-65" dirty="0"/>
              <a:t> </a:t>
            </a:r>
            <a:r>
              <a:rPr sz="4000" spc="5" dirty="0"/>
              <a:t>Experiment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07340" y="1357544"/>
            <a:ext cx="8394700" cy="310578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dirty="0">
                <a:latin typeface="Perpetua"/>
                <a:cs typeface="Perpetua"/>
              </a:rPr>
              <a:t>The </a:t>
            </a:r>
            <a:r>
              <a:rPr sz="2600" spc="15" dirty="0">
                <a:latin typeface="Perpetua"/>
                <a:cs typeface="Perpetua"/>
              </a:rPr>
              <a:t>rule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dirty="0">
                <a:latin typeface="Perpetua"/>
                <a:cs typeface="Perpetua"/>
              </a:rPr>
              <a:t>to</a:t>
            </a:r>
            <a:r>
              <a:rPr sz="2600" spc="-45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check:</a:t>
            </a:r>
            <a:endParaRPr sz="2600">
              <a:latin typeface="Perpetua"/>
              <a:cs typeface="Perpetua"/>
            </a:endParaRPr>
          </a:p>
          <a:p>
            <a:pPr marL="286385" marR="5715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b="1" i="1" dirty="0">
                <a:latin typeface="Perpetua"/>
                <a:cs typeface="Perpetua"/>
              </a:rPr>
              <a:t>– </a:t>
            </a:r>
            <a:r>
              <a:rPr sz="2600" b="1" i="1" spc="-5" dirty="0">
                <a:latin typeface="Perpetua"/>
                <a:cs typeface="Perpetua"/>
              </a:rPr>
              <a:t>If there </a:t>
            </a:r>
            <a:r>
              <a:rPr sz="2600" b="1" i="1" dirty="0">
                <a:latin typeface="Perpetua"/>
                <a:cs typeface="Perpetua"/>
              </a:rPr>
              <a:t>is a </a:t>
            </a:r>
            <a:r>
              <a:rPr sz="2600" b="1" i="1" spc="-30" dirty="0">
                <a:latin typeface="Perpetua"/>
                <a:cs typeface="Perpetua"/>
              </a:rPr>
              <a:t>vowel </a:t>
            </a:r>
            <a:r>
              <a:rPr sz="2600" b="1" i="1" dirty="0">
                <a:latin typeface="Perpetua"/>
                <a:cs typeface="Perpetua"/>
              </a:rPr>
              <a:t>on one </a:t>
            </a:r>
            <a:r>
              <a:rPr sz="2600" b="1" i="1" spc="-15" dirty="0">
                <a:latin typeface="Perpetua"/>
                <a:cs typeface="Perpetua"/>
              </a:rPr>
              <a:t>side, </a:t>
            </a:r>
            <a:r>
              <a:rPr sz="2600" b="1" i="1" spc="-10" dirty="0">
                <a:latin typeface="Perpetua"/>
                <a:cs typeface="Perpetua"/>
              </a:rPr>
              <a:t>there </a:t>
            </a:r>
            <a:r>
              <a:rPr sz="2600" b="1" i="1" dirty="0">
                <a:latin typeface="Perpetua"/>
                <a:cs typeface="Perpetua"/>
              </a:rPr>
              <a:t>is an </a:t>
            </a:r>
            <a:r>
              <a:rPr sz="2600" b="1" i="1" spc="-20" dirty="0">
                <a:latin typeface="Perpetua"/>
                <a:cs typeface="Perpetua"/>
              </a:rPr>
              <a:t>even </a:t>
            </a:r>
            <a:r>
              <a:rPr sz="2600" b="1" i="1" spc="-10" dirty="0">
                <a:latin typeface="Perpetua"/>
                <a:cs typeface="Perpetua"/>
              </a:rPr>
              <a:t>number </a:t>
            </a:r>
            <a:r>
              <a:rPr sz="2600" b="1" i="1" dirty="0">
                <a:latin typeface="Perpetua"/>
                <a:cs typeface="Perpetua"/>
              </a:rPr>
              <a:t>on</a:t>
            </a:r>
            <a:r>
              <a:rPr sz="2600" b="1" i="1" spc="-245" dirty="0">
                <a:latin typeface="Perpetua"/>
                <a:cs typeface="Perpetua"/>
              </a:rPr>
              <a:t> </a:t>
            </a:r>
            <a:r>
              <a:rPr sz="2600" b="1" i="1" dirty="0">
                <a:latin typeface="Perpetua"/>
                <a:cs typeface="Perpetua"/>
              </a:rPr>
              <a:t>the  other</a:t>
            </a:r>
            <a:endParaRPr sz="26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600" spc="10" dirty="0">
                <a:latin typeface="Perpetua"/>
                <a:cs typeface="Perpetua"/>
              </a:rPr>
              <a:t>Which </a:t>
            </a:r>
            <a:r>
              <a:rPr sz="2600" spc="-5" dirty="0">
                <a:latin typeface="Perpetua"/>
                <a:cs typeface="Perpetua"/>
              </a:rPr>
              <a:t>card/cards </a:t>
            </a:r>
            <a:r>
              <a:rPr sz="2600" dirty="0">
                <a:latin typeface="Perpetua"/>
                <a:cs typeface="Perpetua"/>
              </a:rPr>
              <a:t>do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15" dirty="0">
                <a:latin typeface="Perpetua"/>
                <a:cs typeface="Perpetua"/>
              </a:rPr>
              <a:t>turn </a:t>
            </a:r>
            <a:r>
              <a:rPr sz="2600" spc="-35" dirty="0">
                <a:latin typeface="Perpetua"/>
                <a:cs typeface="Perpetua"/>
              </a:rPr>
              <a:t>over </a:t>
            </a:r>
            <a:r>
              <a:rPr sz="2600" dirty="0">
                <a:latin typeface="Perpetua"/>
                <a:cs typeface="Perpetua"/>
              </a:rPr>
              <a:t>to </a:t>
            </a:r>
            <a:r>
              <a:rPr sz="2600" spc="15" dirty="0">
                <a:latin typeface="Perpetua"/>
                <a:cs typeface="Perpetua"/>
              </a:rPr>
              <a:t>check </a:t>
            </a:r>
            <a:r>
              <a:rPr sz="2600" dirty="0">
                <a:latin typeface="Perpetua"/>
                <a:cs typeface="Perpetua"/>
              </a:rPr>
              <a:t>the</a:t>
            </a:r>
            <a:r>
              <a:rPr sz="2600" spc="-35" dirty="0">
                <a:latin typeface="Perpetua"/>
                <a:cs typeface="Perpetua"/>
              </a:rPr>
              <a:t> </a:t>
            </a:r>
            <a:r>
              <a:rPr sz="2600" spc="10" dirty="0">
                <a:latin typeface="Perpetua"/>
                <a:cs typeface="Perpetua"/>
              </a:rPr>
              <a:t>rule?</a:t>
            </a:r>
            <a:endParaRPr sz="2600">
              <a:latin typeface="Perpetua"/>
              <a:cs typeface="Perpetua"/>
            </a:endParaRPr>
          </a:p>
          <a:p>
            <a:pPr marL="286385" marR="5080" indent="-274320">
              <a:lnSpc>
                <a:spcPct val="100000"/>
              </a:lnSpc>
              <a:spcBef>
                <a:spcPts val="605"/>
              </a:spcBef>
              <a:buSzPct val="84615"/>
              <a:buFont typeface="Arial"/>
              <a:buChar char="•"/>
              <a:tabLst>
                <a:tab pos="286385" algn="l"/>
                <a:tab pos="287020" algn="l"/>
                <a:tab pos="2078355" algn="l"/>
                <a:tab pos="3364229" algn="l"/>
              </a:tabLst>
            </a:pPr>
            <a:r>
              <a:rPr sz="2600" dirty="0">
                <a:latin typeface="Perpetua"/>
                <a:cs typeface="Perpetua"/>
              </a:rPr>
              <a:t>- </a:t>
            </a:r>
            <a:r>
              <a:rPr sz="2600" spc="10" dirty="0">
                <a:latin typeface="Perpetua"/>
                <a:cs typeface="Perpetua"/>
              </a:rPr>
              <a:t>write </a:t>
            </a:r>
            <a:r>
              <a:rPr sz="2600" spc="-20" dirty="0">
                <a:latin typeface="Perpetua"/>
                <a:cs typeface="Perpetua"/>
              </a:rPr>
              <a:t>down </a:t>
            </a:r>
            <a:r>
              <a:rPr sz="2600" spc="-10" dirty="0">
                <a:latin typeface="Perpetua"/>
                <a:cs typeface="Perpetua"/>
              </a:rPr>
              <a:t>your </a:t>
            </a:r>
            <a:r>
              <a:rPr sz="2600" spc="5" dirty="0">
                <a:latin typeface="Perpetua"/>
                <a:cs typeface="Perpetua"/>
              </a:rPr>
              <a:t>choice </a:t>
            </a:r>
            <a:r>
              <a:rPr sz="2600" dirty="0">
                <a:latin typeface="Perpetua"/>
                <a:cs typeface="Perpetua"/>
              </a:rPr>
              <a:t>of cards While </a:t>
            </a:r>
            <a:r>
              <a:rPr sz="2600" spc="-15" dirty="0">
                <a:latin typeface="Perpetua"/>
                <a:cs typeface="Perpetua"/>
              </a:rPr>
              <a:t>you </a:t>
            </a:r>
            <a:r>
              <a:rPr sz="2600" spc="-10" dirty="0">
                <a:latin typeface="Perpetua"/>
                <a:cs typeface="Perpetua"/>
              </a:rPr>
              <a:t>are </a:t>
            </a:r>
            <a:r>
              <a:rPr sz="2600" spc="-5" dirty="0">
                <a:latin typeface="Perpetua"/>
                <a:cs typeface="Perpetua"/>
              </a:rPr>
              <a:t>fresh from </a:t>
            </a:r>
            <a:r>
              <a:rPr sz="2600" dirty="0">
                <a:latin typeface="Perpetua"/>
                <a:cs typeface="Perpetua"/>
              </a:rPr>
              <a:t>making  the choices,</a:t>
            </a:r>
            <a:r>
              <a:rPr sz="2600" spc="-75" dirty="0">
                <a:latin typeface="Perpetua"/>
                <a:cs typeface="Perpetua"/>
              </a:rPr>
              <a:t> </a:t>
            </a:r>
            <a:r>
              <a:rPr sz="2600" spc="-5" dirty="0">
                <a:latin typeface="Perpetua"/>
                <a:cs typeface="Perpetua"/>
              </a:rPr>
              <a:t>examine</a:t>
            </a:r>
            <a:r>
              <a:rPr sz="2600" spc="5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the	</a:t>
            </a:r>
            <a:r>
              <a:rPr sz="2600" spc="-5" dirty="0">
                <a:latin typeface="Perpetua"/>
                <a:cs typeface="Perpetua"/>
              </a:rPr>
              <a:t>reasons </a:t>
            </a:r>
            <a:r>
              <a:rPr sz="2600" dirty="0">
                <a:latin typeface="Perpetua"/>
                <a:cs typeface="Perpetua"/>
              </a:rPr>
              <a:t>a </a:t>
            </a:r>
            <a:r>
              <a:rPr sz="2600" spc="-15" dirty="0">
                <a:latin typeface="Perpetua"/>
                <a:cs typeface="Perpetua"/>
              </a:rPr>
              <a:t>little. </a:t>
            </a:r>
            <a:r>
              <a:rPr sz="2600" spc="-5" dirty="0">
                <a:latin typeface="Perpetua"/>
                <a:cs typeface="Perpetua"/>
              </a:rPr>
              <a:t>Consider </a:t>
            </a:r>
            <a:r>
              <a:rPr sz="2600" spc="-15" dirty="0">
                <a:latin typeface="Perpetua"/>
                <a:cs typeface="Perpetua"/>
              </a:rPr>
              <a:t>why you </a:t>
            </a:r>
            <a:r>
              <a:rPr sz="2600" dirty="0">
                <a:latin typeface="Perpetua"/>
                <a:cs typeface="Perpetua"/>
              </a:rPr>
              <a:t>did or  did </a:t>
            </a:r>
            <a:r>
              <a:rPr sz="2600" spc="-5" dirty="0">
                <a:latin typeface="Perpetua"/>
                <a:cs typeface="Perpetua"/>
              </a:rPr>
              <a:t>not</a:t>
            </a:r>
            <a:r>
              <a:rPr sz="2600" dirty="0">
                <a:latin typeface="Perpetua"/>
                <a:cs typeface="Perpetua"/>
              </a:rPr>
              <a:t> </a:t>
            </a:r>
            <a:r>
              <a:rPr sz="2600" spc="15" dirty="0">
                <a:latin typeface="Perpetua"/>
                <a:cs typeface="Perpetua"/>
              </a:rPr>
              <a:t>turn</a:t>
            </a:r>
            <a:r>
              <a:rPr sz="2600" spc="10" dirty="0">
                <a:latin typeface="Perpetua"/>
                <a:cs typeface="Perpetua"/>
              </a:rPr>
              <a:t> </a:t>
            </a:r>
            <a:r>
              <a:rPr sz="2600" dirty="0">
                <a:latin typeface="Perpetua"/>
                <a:cs typeface="Perpetua"/>
              </a:rPr>
              <a:t>a	</a:t>
            </a:r>
            <a:r>
              <a:rPr sz="2600" spc="-5" dirty="0">
                <a:latin typeface="Perpetua"/>
                <a:cs typeface="Perpetua"/>
              </a:rPr>
              <a:t>card?</a:t>
            </a:r>
            <a:endParaRPr sz="2600">
              <a:latin typeface="Perpetua"/>
              <a:cs typeface="Perpet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85197" y="4938712"/>
            <a:ext cx="5085675" cy="10001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78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52527"/>
            <a:ext cx="62915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Consider </a:t>
            </a:r>
            <a:r>
              <a:rPr sz="3600" spc="-30" dirty="0"/>
              <a:t>why </a:t>
            </a:r>
            <a:r>
              <a:rPr sz="3600" spc="-25" dirty="0"/>
              <a:t>you </a:t>
            </a:r>
            <a:r>
              <a:rPr sz="3600" spc="-5" dirty="0"/>
              <a:t>did or </a:t>
            </a:r>
            <a:r>
              <a:rPr sz="3600" spc="-35" dirty="0"/>
              <a:t>didn’t </a:t>
            </a:r>
            <a:r>
              <a:rPr sz="3600" spc="25" dirty="0"/>
              <a:t>turn </a:t>
            </a:r>
            <a:r>
              <a:rPr sz="3600" dirty="0"/>
              <a:t>a  card?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79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372817"/>
            <a:ext cx="8395335" cy="466979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00"/>
              </a:spcBef>
              <a:buSzPct val="84375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3200" dirty="0">
                <a:latin typeface="Perpetua"/>
                <a:cs typeface="Perpetua"/>
              </a:rPr>
              <a:t>Most </a:t>
            </a:r>
            <a:r>
              <a:rPr sz="3200" spc="-5" dirty="0">
                <a:latin typeface="Perpetua"/>
                <a:cs typeface="Perpetua"/>
              </a:rPr>
              <a:t>responses </a:t>
            </a:r>
            <a:r>
              <a:rPr sz="3200" spc="25" dirty="0">
                <a:latin typeface="Perpetua"/>
                <a:cs typeface="Perpetua"/>
              </a:rPr>
              <a:t>run </a:t>
            </a:r>
            <a:r>
              <a:rPr sz="3200" dirty="0">
                <a:latin typeface="Perpetua"/>
                <a:cs typeface="Perpetua"/>
              </a:rPr>
              <a:t>a </a:t>
            </a:r>
            <a:r>
              <a:rPr sz="3200" spc="-5" dirty="0">
                <a:latin typeface="Perpetua"/>
                <a:cs typeface="Perpetua"/>
              </a:rPr>
              <a:t>little </a:t>
            </a:r>
            <a:r>
              <a:rPr sz="3200" spc="-15" dirty="0">
                <a:latin typeface="Perpetua"/>
                <a:cs typeface="Perpetua"/>
              </a:rPr>
              <a:t>like</a:t>
            </a:r>
            <a:r>
              <a:rPr sz="3200" spc="-50" dirty="0">
                <a:latin typeface="Perpetua"/>
                <a:cs typeface="Perpetua"/>
              </a:rPr>
              <a:t> </a:t>
            </a:r>
            <a:r>
              <a:rPr sz="3200" dirty="0">
                <a:latin typeface="Perpetua"/>
                <a:cs typeface="Perpetua"/>
              </a:rPr>
              <a:t>this:</a:t>
            </a:r>
            <a:endParaRPr sz="3200">
              <a:latin typeface="Perpetua"/>
              <a:cs typeface="Perpetua"/>
            </a:endParaRPr>
          </a:p>
          <a:p>
            <a:pPr marL="561340" marR="5080" lvl="1" indent="-228600">
              <a:lnSpc>
                <a:spcPct val="100000"/>
              </a:lnSpc>
              <a:spcBef>
                <a:spcPts val="400"/>
              </a:spcBef>
              <a:buSzPct val="84375"/>
              <a:buFont typeface="Arial"/>
              <a:buChar char="•"/>
              <a:tabLst>
                <a:tab pos="561340" algn="l"/>
              </a:tabLst>
            </a:pPr>
            <a:r>
              <a:rPr sz="3200" dirty="0">
                <a:latin typeface="Perpetua"/>
                <a:cs typeface="Perpetua"/>
              </a:rPr>
              <a:t>– I </a:t>
            </a:r>
            <a:r>
              <a:rPr sz="3200" spc="15" dirty="0">
                <a:latin typeface="Perpetua"/>
                <a:cs typeface="Perpetua"/>
              </a:rPr>
              <a:t>turned </a:t>
            </a:r>
            <a:r>
              <a:rPr sz="3200" dirty="0">
                <a:latin typeface="Perpetua"/>
                <a:cs typeface="Perpetua"/>
              </a:rPr>
              <a:t>the A because if it has, </a:t>
            </a:r>
            <a:r>
              <a:rPr sz="3200" spc="-110" dirty="0">
                <a:latin typeface="Perpetua"/>
                <a:cs typeface="Perpetua"/>
              </a:rPr>
              <a:t>say, </a:t>
            </a:r>
            <a:r>
              <a:rPr sz="3200" dirty="0">
                <a:latin typeface="Perpetua"/>
                <a:cs typeface="Perpetua"/>
              </a:rPr>
              <a:t>a 4 on the</a:t>
            </a:r>
            <a:r>
              <a:rPr sz="3200" spc="-409" dirty="0">
                <a:latin typeface="Perpetua"/>
                <a:cs typeface="Perpetua"/>
              </a:rPr>
              <a:t> </a:t>
            </a:r>
            <a:r>
              <a:rPr sz="3200" spc="10" dirty="0">
                <a:latin typeface="Perpetua"/>
                <a:cs typeface="Perpetua"/>
              </a:rPr>
              <a:t>back,  </a:t>
            </a:r>
            <a:r>
              <a:rPr sz="3200" dirty="0">
                <a:latin typeface="Perpetua"/>
                <a:cs typeface="Perpetua"/>
              </a:rPr>
              <a:t>then the </a:t>
            </a:r>
            <a:r>
              <a:rPr sz="3200" spc="20" dirty="0">
                <a:latin typeface="Perpetua"/>
                <a:cs typeface="Perpetua"/>
              </a:rPr>
              <a:t>rule </a:t>
            </a:r>
            <a:r>
              <a:rPr sz="3200" dirty="0">
                <a:latin typeface="Perpetua"/>
                <a:cs typeface="Perpetua"/>
              </a:rPr>
              <a:t>is </a:t>
            </a:r>
            <a:r>
              <a:rPr sz="3200" spc="20" dirty="0">
                <a:latin typeface="Perpetua"/>
                <a:cs typeface="Perpetua"/>
              </a:rPr>
              <a:t>true </a:t>
            </a:r>
            <a:r>
              <a:rPr sz="3200" spc="-5" dirty="0">
                <a:latin typeface="Perpetua"/>
                <a:cs typeface="Perpetua"/>
              </a:rPr>
              <a:t>of </a:t>
            </a:r>
            <a:r>
              <a:rPr sz="3200" dirty="0">
                <a:latin typeface="Perpetua"/>
                <a:cs typeface="Perpetua"/>
              </a:rPr>
              <a:t>this</a:t>
            </a:r>
            <a:r>
              <a:rPr sz="3200" spc="-15" dirty="0">
                <a:latin typeface="Perpetua"/>
                <a:cs typeface="Perpetua"/>
              </a:rPr>
              <a:t> </a:t>
            </a:r>
            <a:r>
              <a:rPr sz="3200" dirty="0">
                <a:latin typeface="Perpetua"/>
                <a:cs typeface="Perpetua"/>
              </a:rPr>
              <a:t>card.</a:t>
            </a:r>
            <a:endParaRPr sz="3200">
              <a:latin typeface="Perpetua"/>
              <a:cs typeface="Perpetua"/>
            </a:endParaRPr>
          </a:p>
          <a:p>
            <a:pPr marL="561340" marR="732155" lvl="1" indent="-228600">
              <a:lnSpc>
                <a:spcPct val="100000"/>
              </a:lnSpc>
              <a:spcBef>
                <a:spcPts val="409"/>
              </a:spcBef>
              <a:buSzPct val="84375"/>
              <a:buFont typeface="Arial"/>
              <a:buChar char="•"/>
              <a:tabLst>
                <a:tab pos="561340" algn="l"/>
              </a:tabLst>
            </a:pPr>
            <a:r>
              <a:rPr sz="3200" dirty="0">
                <a:latin typeface="Perpetua"/>
                <a:cs typeface="Perpetua"/>
              </a:rPr>
              <a:t>– I </a:t>
            </a:r>
            <a:r>
              <a:rPr sz="3200" spc="-30" dirty="0">
                <a:latin typeface="Perpetua"/>
                <a:cs typeface="Perpetua"/>
              </a:rPr>
              <a:t>didn’t </a:t>
            </a:r>
            <a:r>
              <a:rPr sz="3200" spc="20" dirty="0">
                <a:latin typeface="Perpetua"/>
                <a:cs typeface="Perpetua"/>
              </a:rPr>
              <a:t>turn </a:t>
            </a:r>
            <a:r>
              <a:rPr sz="3200" dirty="0">
                <a:latin typeface="Perpetua"/>
                <a:cs typeface="Perpetua"/>
              </a:rPr>
              <a:t>the K because the </a:t>
            </a:r>
            <a:r>
              <a:rPr sz="3200" spc="15" dirty="0">
                <a:latin typeface="Perpetua"/>
                <a:cs typeface="Perpetua"/>
              </a:rPr>
              <a:t>rule </a:t>
            </a:r>
            <a:r>
              <a:rPr sz="3200" spc="-35" dirty="0">
                <a:latin typeface="Perpetua"/>
                <a:cs typeface="Perpetua"/>
              </a:rPr>
              <a:t>isn’t </a:t>
            </a:r>
            <a:r>
              <a:rPr sz="3200" spc="-5" dirty="0">
                <a:latin typeface="Perpetua"/>
                <a:cs typeface="Perpetua"/>
              </a:rPr>
              <a:t>about  consonants.</a:t>
            </a:r>
            <a:endParaRPr sz="3200">
              <a:latin typeface="Perpetua"/>
              <a:cs typeface="Perpetua"/>
            </a:endParaRPr>
          </a:p>
          <a:p>
            <a:pPr marL="561340" marR="69850" lvl="1" indent="-228600">
              <a:lnSpc>
                <a:spcPct val="100000"/>
              </a:lnSpc>
              <a:spcBef>
                <a:spcPts val="395"/>
              </a:spcBef>
              <a:buSzPct val="84375"/>
              <a:buFont typeface="Arial"/>
              <a:buChar char="•"/>
              <a:tabLst>
                <a:tab pos="561340" algn="l"/>
              </a:tabLst>
            </a:pPr>
            <a:r>
              <a:rPr sz="3200" dirty="0">
                <a:latin typeface="Perpetua"/>
                <a:cs typeface="Perpetua"/>
              </a:rPr>
              <a:t>– I </a:t>
            </a:r>
            <a:r>
              <a:rPr sz="3200" spc="15" dirty="0">
                <a:latin typeface="Perpetua"/>
                <a:cs typeface="Perpetua"/>
              </a:rPr>
              <a:t>turned </a:t>
            </a:r>
            <a:r>
              <a:rPr sz="3200" dirty="0">
                <a:latin typeface="Perpetua"/>
                <a:cs typeface="Perpetua"/>
              </a:rPr>
              <a:t>the 4 to see if </a:t>
            </a:r>
            <a:r>
              <a:rPr sz="3200" spc="-10" dirty="0">
                <a:latin typeface="Perpetua"/>
                <a:cs typeface="Perpetua"/>
              </a:rPr>
              <a:t>there </a:t>
            </a:r>
            <a:r>
              <a:rPr sz="3200" spc="-15" dirty="0">
                <a:latin typeface="Perpetua"/>
                <a:cs typeface="Perpetua"/>
              </a:rPr>
              <a:t>was </a:t>
            </a:r>
            <a:r>
              <a:rPr sz="3200" dirty="0">
                <a:latin typeface="Perpetua"/>
                <a:cs typeface="Perpetua"/>
              </a:rPr>
              <a:t>an A, because</a:t>
            </a:r>
            <a:r>
              <a:rPr sz="3200" spc="-380" dirty="0">
                <a:latin typeface="Perpetua"/>
                <a:cs typeface="Perpetua"/>
              </a:rPr>
              <a:t> </a:t>
            </a:r>
            <a:r>
              <a:rPr sz="3200" spc="-10" dirty="0">
                <a:latin typeface="Perpetua"/>
                <a:cs typeface="Perpetua"/>
              </a:rPr>
              <a:t>that  </a:t>
            </a:r>
            <a:r>
              <a:rPr sz="3200" spc="-25" dirty="0">
                <a:latin typeface="Perpetua"/>
                <a:cs typeface="Perpetua"/>
              </a:rPr>
              <a:t>would </a:t>
            </a:r>
            <a:r>
              <a:rPr sz="3200" spc="15" dirty="0">
                <a:latin typeface="Perpetua"/>
                <a:cs typeface="Perpetua"/>
              </a:rPr>
              <a:t>support </a:t>
            </a:r>
            <a:r>
              <a:rPr sz="3200" dirty="0">
                <a:latin typeface="Perpetua"/>
                <a:cs typeface="Perpetua"/>
              </a:rPr>
              <a:t>the</a:t>
            </a:r>
            <a:r>
              <a:rPr sz="3200" spc="5" dirty="0">
                <a:latin typeface="Perpetua"/>
                <a:cs typeface="Perpetua"/>
              </a:rPr>
              <a:t> </a:t>
            </a:r>
            <a:r>
              <a:rPr sz="3200" dirty="0">
                <a:latin typeface="Perpetua"/>
                <a:cs typeface="Perpetua"/>
              </a:rPr>
              <a:t>rule.</a:t>
            </a:r>
            <a:endParaRPr sz="3200">
              <a:latin typeface="Perpetua"/>
              <a:cs typeface="Perpetua"/>
            </a:endParaRPr>
          </a:p>
          <a:p>
            <a:pPr marL="561340" marR="44450" lvl="1" indent="-228600">
              <a:lnSpc>
                <a:spcPct val="100000"/>
              </a:lnSpc>
              <a:spcBef>
                <a:spcPts val="400"/>
              </a:spcBef>
              <a:buSzPct val="84375"/>
              <a:buFont typeface="Arial"/>
              <a:buChar char="•"/>
              <a:tabLst>
                <a:tab pos="561340" algn="l"/>
              </a:tabLst>
            </a:pPr>
            <a:r>
              <a:rPr sz="3200" dirty="0">
                <a:latin typeface="Perpetua"/>
                <a:cs typeface="Perpetua"/>
              </a:rPr>
              <a:t>– I </a:t>
            </a:r>
            <a:r>
              <a:rPr sz="3200" spc="-30" dirty="0">
                <a:latin typeface="Perpetua"/>
                <a:cs typeface="Perpetua"/>
              </a:rPr>
              <a:t>didn’t </a:t>
            </a:r>
            <a:r>
              <a:rPr sz="3200" spc="20" dirty="0">
                <a:latin typeface="Perpetua"/>
                <a:cs typeface="Perpetua"/>
              </a:rPr>
              <a:t>turn </a:t>
            </a:r>
            <a:r>
              <a:rPr sz="3200" dirty="0">
                <a:latin typeface="Perpetua"/>
                <a:cs typeface="Perpetua"/>
              </a:rPr>
              <a:t>the 7, because the </a:t>
            </a:r>
            <a:r>
              <a:rPr sz="3200" spc="15" dirty="0">
                <a:latin typeface="Perpetua"/>
                <a:cs typeface="Perpetua"/>
              </a:rPr>
              <a:t>rule </a:t>
            </a:r>
            <a:r>
              <a:rPr sz="3200" spc="-30" dirty="0">
                <a:latin typeface="Perpetua"/>
                <a:cs typeface="Perpetua"/>
              </a:rPr>
              <a:t>isn’t </a:t>
            </a:r>
            <a:r>
              <a:rPr sz="3200" spc="-5" dirty="0">
                <a:latin typeface="Perpetua"/>
                <a:cs typeface="Perpetua"/>
              </a:rPr>
              <a:t>about</a:t>
            </a:r>
            <a:r>
              <a:rPr sz="3200" spc="-100" dirty="0">
                <a:latin typeface="Perpetua"/>
                <a:cs typeface="Perpetua"/>
              </a:rPr>
              <a:t> </a:t>
            </a:r>
            <a:r>
              <a:rPr sz="3200" spc="-5" dirty="0">
                <a:latin typeface="Perpetua"/>
                <a:cs typeface="Perpetua"/>
              </a:rPr>
              <a:t>odd  </a:t>
            </a:r>
            <a:r>
              <a:rPr sz="3200" spc="10" dirty="0">
                <a:latin typeface="Perpetua"/>
                <a:cs typeface="Perpetua"/>
              </a:rPr>
              <a:t>numbers</a:t>
            </a:r>
            <a:endParaRPr sz="32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632586"/>
            <a:ext cx="78746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What </a:t>
            </a:r>
            <a:r>
              <a:rPr sz="4000" spc="-5" dirty="0"/>
              <a:t>is the </a:t>
            </a:r>
            <a:r>
              <a:rPr sz="4000" spc="25" dirty="0"/>
              <a:t>norm </a:t>
            </a:r>
            <a:r>
              <a:rPr sz="4000" spc="-5" dirty="0"/>
              <a:t>(most frequent</a:t>
            </a:r>
            <a:r>
              <a:rPr sz="4000" spc="-35" dirty="0"/>
              <a:t> </a:t>
            </a:r>
            <a:r>
              <a:rPr sz="4000" spc="5" dirty="0"/>
              <a:t>choices)?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25"/>
              </a:lnSpc>
            </a:pPr>
            <a:fld id="{81D60167-4931-47E6-BA6A-407CBD079E47}" type="slidenum">
              <a:rPr dirty="0"/>
              <a:pPr marL="38100">
                <a:lnSpc>
                  <a:spcPts val="1225"/>
                </a:lnSpc>
              </a:pPr>
              <a:t>80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764540" y="6501753"/>
            <a:ext cx="89535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25"/>
              </a:lnSpc>
            </a:pPr>
            <a:r>
              <a:rPr sz="1100" i="1" dirty="0">
                <a:latin typeface="Perpetua"/>
                <a:cs typeface="Perpetua"/>
              </a:rPr>
              <a:t>Department of</a:t>
            </a:r>
            <a:r>
              <a:rPr sz="1100" i="1" spc="-70" dirty="0">
                <a:latin typeface="Perpetua"/>
                <a:cs typeface="Perpetua"/>
              </a:rPr>
              <a:t> </a:t>
            </a:r>
            <a:r>
              <a:rPr sz="1100" i="1" spc="-5" dirty="0">
                <a:latin typeface="Perpetua"/>
                <a:cs typeface="Perpetua"/>
              </a:rPr>
              <a:t>CSE</a:t>
            </a:r>
            <a:endParaRPr sz="1100">
              <a:latin typeface="Perpetua"/>
              <a:cs typeface="Perpet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377686"/>
            <a:ext cx="6057900" cy="3874135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51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5" dirty="0">
                <a:latin typeface="Perpetua"/>
                <a:cs typeface="Perpetua"/>
              </a:rPr>
              <a:t>Most people </a:t>
            </a:r>
            <a:r>
              <a:rPr sz="2800" dirty="0">
                <a:latin typeface="Perpetua"/>
                <a:cs typeface="Perpetua"/>
              </a:rPr>
              <a:t>select </a:t>
            </a:r>
            <a:r>
              <a:rPr sz="2800" spc="-5" dirty="0">
                <a:latin typeface="Perpetua"/>
                <a:cs typeface="Perpetua"/>
              </a:rPr>
              <a:t>the</a:t>
            </a:r>
            <a:r>
              <a:rPr sz="2800" spc="-245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A</a:t>
            </a:r>
            <a:endParaRPr sz="28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9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5" dirty="0">
                <a:latin typeface="Perpetua"/>
                <a:cs typeface="Perpetua"/>
              </a:rPr>
              <a:t>A </a:t>
            </a:r>
            <a:r>
              <a:rPr sz="2800" spc="-15" dirty="0">
                <a:latin typeface="Perpetua"/>
                <a:cs typeface="Perpetua"/>
              </a:rPr>
              <a:t>few </a:t>
            </a:r>
            <a:r>
              <a:rPr sz="2800" dirty="0">
                <a:latin typeface="Perpetua"/>
                <a:cs typeface="Perpetua"/>
              </a:rPr>
              <a:t>select </a:t>
            </a:r>
            <a:r>
              <a:rPr sz="2800" spc="-5" dirty="0">
                <a:latin typeface="Perpetua"/>
                <a:cs typeface="Perpetua"/>
              </a:rPr>
              <a:t>the</a:t>
            </a:r>
            <a:r>
              <a:rPr sz="2800" spc="-3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K</a:t>
            </a:r>
            <a:endParaRPr sz="28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5" dirty="0">
                <a:latin typeface="Perpetua"/>
                <a:cs typeface="Perpetua"/>
              </a:rPr>
              <a:t>A </a:t>
            </a:r>
            <a:r>
              <a:rPr sz="2800" spc="-15" dirty="0">
                <a:latin typeface="Perpetua"/>
                <a:cs typeface="Perpetua"/>
              </a:rPr>
              <a:t>few </a:t>
            </a:r>
            <a:r>
              <a:rPr sz="2800" dirty="0">
                <a:latin typeface="Perpetua"/>
                <a:cs typeface="Perpetua"/>
              </a:rPr>
              <a:t>select </a:t>
            </a:r>
            <a:r>
              <a:rPr sz="2800" spc="-5" dirty="0">
                <a:latin typeface="Perpetua"/>
                <a:cs typeface="Perpetua"/>
              </a:rPr>
              <a:t>the</a:t>
            </a:r>
            <a:r>
              <a:rPr sz="2800" spc="-3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4</a:t>
            </a:r>
            <a:endParaRPr sz="28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spc="-45" dirty="0">
                <a:latin typeface="Perpetua"/>
                <a:cs typeface="Perpetua"/>
              </a:rPr>
              <a:t>Few </a:t>
            </a:r>
            <a:r>
              <a:rPr sz="2800" dirty="0">
                <a:latin typeface="Perpetua"/>
                <a:cs typeface="Perpetua"/>
              </a:rPr>
              <a:t>people </a:t>
            </a:r>
            <a:r>
              <a:rPr sz="2800" spc="-5" dirty="0">
                <a:latin typeface="Perpetua"/>
                <a:cs typeface="Perpetua"/>
              </a:rPr>
              <a:t>select the</a:t>
            </a:r>
            <a:r>
              <a:rPr sz="2800" spc="4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7</a:t>
            </a:r>
            <a:endParaRPr sz="2800">
              <a:latin typeface="Perpetua"/>
              <a:cs typeface="Perpetua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SzPct val="83928"/>
              <a:buFont typeface="Arial"/>
              <a:buChar char="•"/>
              <a:tabLst>
                <a:tab pos="286385" algn="l"/>
                <a:tab pos="287020" algn="l"/>
              </a:tabLst>
            </a:pPr>
            <a:r>
              <a:rPr sz="2800" spc="-60" dirty="0">
                <a:latin typeface="Perpetua"/>
                <a:cs typeface="Perpetua"/>
              </a:rPr>
              <a:t>Wason </a:t>
            </a:r>
            <a:r>
              <a:rPr sz="2800" spc="-30" dirty="0">
                <a:latin typeface="Perpetua"/>
                <a:cs typeface="Perpetua"/>
              </a:rPr>
              <a:t>says </a:t>
            </a:r>
            <a:r>
              <a:rPr sz="2800" spc="-5" dirty="0">
                <a:latin typeface="Perpetua"/>
                <a:cs typeface="Perpetua"/>
              </a:rPr>
              <a:t>the </a:t>
            </a:r>
            <a:r>
              <a:rPr sz="2800" dirty="0">
                <a:latin typeface="Perpetua"/>
                <a:cs typeface="Perpetua"/>
              </a:rPr>
              <a:t>‘correct </a:t>
            </a:r>
            <a:r>
              <a:rPr sz="2800" spc="-30" dirty="0">
                <a:latin typeface="Perpetua"/>
                <a:cs typeface="Perpetua"/>
              </a:rPr>
              <a:t>answer’</a:t>
            </a:r>
            <a:r>
              <a:rPr sz="2800" spc="-340" dirty="0">
                <a:latin typeface="Perpetua"/>
                <a:cs typeface="Perpetua"/>
              </a:rPr>
              <a:t> </a:t>
            </a:r>
            <a:r>
              <a:rPr sz="2800" spc="-5" dirty="0">
                <a:latin typeface="Perpetua"/>
                <a:cs typeface="Perpetua"/>
              </a:rPr>
              <a:t>is:</a:t>
            </a:r>
            <a:endParaRPr sz="28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5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b="1" i="1" spc="-5" dirty="0">
                <a:latin typeface="Perpetua"/>
                <a:cs typeface="Perpetua"/>
              </a:rPr>
              <a:t>–Select A </a:t>
            </a:r>
            <a:r>
              <a:rPr sz="2800" b="1" i="1" spc="-20" dirty="0">
                <a:latin typeface="Perpetua"/>
                <a:cs typeface="Perpetua"/>
              </a:rPr>
              <a:t>(which </a:t>
            </a:r>
            <a:r>
              <a:rPr sz="2800" b="1" i="1" spc="-25" dirty="0">
                <a:latin typeface="Perpetua"/>
                <a:cs typeface="Perpetua"/>
              </a:rPr>
              <a:t>nearly everyone</a:t>
            </a:r>
            <a:r>
              <a:rPr sz="2800" b="1" i="1" spc="-85" dirty="0">
                <a:latin typeface="Perpetua"/>
                <a:cs typeface="Perpetua"/>
              </a:rPr>
              <a:t> </a:t>
            </a:r>
            <a:r>
              <a:rPr sz="2800" b="1" i="1" spc="-10" dirty="0">
                <a:latin typeface="Perpetua"/>
                <a:cs typeface="Perpetua"/>
              </a:rPr>
              <a:t>does)</a:t>
            </a:r>
            <a:endParaRPr sz="28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400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b="1" i="1" spc="-5" dirty="0">
                <a:latin typeface="Perpetua"/>
                <a:cs typeface="Perpetua"/>
              </a:rPr>
              <a:t>–Select 7 </a:t>
            </a:r>
            <a:r>
              <a:rPr sz="2800" b="1" i="1" spc="-15" dirty="0">
                <a:latin typeface="Perpetua"/>
                <a:cs typeface="Perpetua"/>
              </a:rPr>
              <a:t>(which </a:t>
            </a:r>
            <a:r>
              <a:rPr sz="2800" b="1" i="1" spc="-5" dirty="0">
                <a:latin typeface="Perpetua"/>
                <a:cs typeface="Perpetua"/>
              </a:rPr>
              <a:t>almost </a:t>
            </a:r>
            <a:r>
              <a:rPr sz="2800" b="1" i="1" spc="-15" dirty="0">
                <a:latin typeface="Perpetua"/>
                <a:cs typeface="Perpetua"/>
              </a:rPr>
              <a:t>nobody</a:t>
            </a:r>
            <a:r>
              <a:rPr sz="2800" b="1" i="1" spc="55" dirty="0">
                <a:latin typeface="Perpetua"/>
                <a:cs typeface="Perpetua"/>
              </a:rPr>
              <a:t> </a:t>
            </a:r>
            <a:r>
              <a:rPr sz="2800" b="1" i="1" spc="-10" dirty="0">
                <a:latin typeface="Perpetua"/>
                <a:cs typeface="Perpetua"/>
              </a:rPr>
              <a:t>does)</a:t>
            </a:r>
            <a:endParaRPr sz="2800">
              <a:latin typeface="Perpetua"/>
              <a:cs typeface="Perpetua"/>
            </a:endParaRPr>
          </a:p>
          <a:p>
            <a:pPr marL="561340" lvl="1" indent="-228600">
              <a:lnSpc>
                <a:spcPct val="100000"/>
              </a:lnSpc>
              <a:spcBef>
                <a:spcPts val="395"/>
              </a:spcBef>
              <a:buSzPct val="83928"/>
              <a:buFont typeface="Arial"/>
              <a:buChar char="•"/>
              <a:tabLst>
                <a:tab pos="561340" algn="l"/>
              </a:tabLst>
            </a:pPr>
            <a:r>
              <a:rPr sz="2800" b="1" i="1" spc="-5" dirty="0">
                <a:latin typeface="Perpetua"/>
                <a:cs typeface="Perpetua"/>
              </a:rPr>
              <a:t>– </a:t>
            </a:r>
            <a:r>
              <a:rPr sz="2800" b="1" i="1" spc="-35" dirty="0">
                <a:latin typeface="Perpetua"/>
                <a:cs typeface="Perpetua"/>
              </a:rPr>
              <a:t>Leave </a:t>
            </a:r>
            <a:r>
              <a:rPr sz="2800" b="1" i="1" spc="-5" dirty="0">
                <a:latin typeface="Perpetua"/>
                <a:cs typeface="Perpetua"/>
              </a:rPr>
              <a:t>K and 4 </a:t>
            </a:r>
            <a:r>
              <a:rPr sz="2800" b="1" i="1" spc="-15" dirty="0">
                <a:latin typeface="Perpetua"/>
                <a:cs typeface="Perpetua"/>
              </a:rPr>
              <a:t>(which </a:t>
            </a:r>
            <a:r>
              <a:rPr sz="2800" b="1" i="1" spc="-10" dirty="0">
                <a:latin typeface="Perpetua"/>
                <a:cs typeface="Perpetua"/>
              </a:rPr>
              <a:t>most people</a:t>
            </a:r>
            <a:r>
              <a:rPr sz="2800" b="1" i="1" spc="85" dirty="0">
                <a:latin typeface="Perpetua"/>
                <a:cs typeface="Perpetua"/>
              </a:rPr>
              <a:t> </a:t>
            </a:r>
            <a:r>
              <a:rPr sz="2800" b="1" i="1" spc="-10" dirty="0">
                <a:latin typeface="Perpetua"/>
                <a:cs typeface="Perpetua"/>
              </a:rPr>
              <a:t>do)</a:t>
            </a:r>
            <a:endParaRPr sz="2800">
              <a:latin typeface="Perpetua"/>
              <a:cs typeface="Perpet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196D1F7F73754F88450F2D99E4F7B5" ma:contentTypeVersion="2" ma:contentTypeDescription="Create a new document." ma:contentTypeScope="" ma:versionID="377713a6ec07779513477d2db2fdf306">
  <xsd:schema xmlns:xsd="http://www.w3.org/2001/XMLSchema" xmlns:xs="http://www.w3.org/2001/XMLSchema" xmlns:p="http://schemas.microsoft.com/office/2006/metadata/properties" xmlns:ns2="97fcc8e9-f7dc-4663-b115-0b99de842f01" targetNamespace="http://schemas.microsoft.com/office/2006/metadata/properties" ma:root="true" ma:fieldsID="6b5254e67f1be017f500236611855803" ns2:_="">
    <xsd:import namespace="97fcc8e9-f7dc-4663-b115-0b99de842f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cc8e9-f7dc-4663-b115-0b99de842f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C19089F-4B2B-43A1-AA36-AEC192768310}"/>
</file>

<file path=customXml/itemProps2.xml><?xml version="1.0" encoding="utf-8"?>
<ds:datastoreItem xmlns:ds="http://schemas.openxmlformats.org/officeDocument/2006/customXml" ds:itemID="{6BE766F1-22FA-45B7-9550-4A65FBA05E67}"/>
</file>

<file path=customXml/itemProps3.xml><?xml version="1.0" encoding="utf-8"?>
<ds:datastoreItem xmlns:ds="http://schemas.openxmlformats.org/officeDocument/2006/customXml" ds:itemID="{56F01B88-44C4-412A-8772-7A46153C8E7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4560</Words>
  <Application>Microsoft Office PowerPoint</Application>
  <PresentationFormat>On-screen Show (4:3)</PresentationFormat>
  <Paragraphs>900</Paragraphs>
  <Slides>80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1" baseType="lpstr">
      <vt:lpstr>Office Theme</vt:lpstr>
      <vt:lpstr>Slide 1</vt:lpstr>
      <vt:lpstr>Boolean Logic</vt:lpstr>
      <vt:lpstr>Expressions</vt:lpstr>
      <vt:lpstr>Operators</vt:lpstr>
      <vt:lpstr>Examples</vt:lpstr>
      <vt:lpstr>Truth assignment:True or False</vt:lpstr>
      <vt:lpstr>Logical expression</vt:lpstr>
      <vt:lpstr># B. Let, a is less than b be FALSE</vt:lpstr>
      <vt:lpstr>Slide 9</vt:lpstr>
      <vt:lpstr>Proposition</vt:lpstr>
      <vt:lpstr>Proposition Contd…</vt:lpstr>
      <vt:lpstr>Propositional logic</vt:lpstr>
      <vt:lpstr>Which of the following statements are propositions? If the  statement is a proposition, provide truth value.</vt:lpstr>
      <vt:lpstr>Propositional variable</vt:lpstr>
      <vt:lpstr>Example</vt:lpstr>
      <vt:lpstr>Examples</vt:lpstr>
      <vt:lpstr>Slide 17</vt:lpstr>
      <vt:lpstr>Slide 18</vt:lpstr>
      <vt:lpstr>Compound proposition</vt:lpstr>
      <vt:lpstr>Logical expressions</vt:lpstr>
      <vt:lpstr>Examples</vt:lpstr>
      <vt:lpstr>Slide 22</vt:lpstr>
      <vt:lpstr>Example #1</vt:lpstr>
      <vt:lpstr>Slide 24</vt:lpstr>
      <vt:lpstr>Example #2</vt:lpstr>
      <vt:lpstr>Arity of operators</vt:lpstr>
      <vt:lpstr>Slide 27</vt:lpstr>
      <vt:lpstr>Slide 28</vt:lpstr>
      <vt:lpstr>Slide 29</vt:lpstr>
      <vt:lpstr>Slide 30</vt:lpstr>
      <vt:lpstr>Slide 31</vt:lpstr>
      <vt:lpstr>Slide 32</vt:lpstr>
      <vt:lpstr>Solution</vt:lpstr>
      <vt:lpstr>Well formed proposition</vt:lpstr>
      <vt:lpstr>Well formed proposition contd---</vt:lpstr>
      <vt:lpstr>Example</vt:lpstr>
      <vt:lpstr>Example</vt:lpstr>
      <vt:lpstr>Evaluation of propositions</vt:lpstr>
      <vt:lpstr>To construct a truth table for some proposition</vt:lpstr>
      <vt:lpstr>Examples</vt:lpstr>
      <vt:lpstr>Construct Truth Table for the proposition : ~p AND (p OR q)</vt:lpstr>
      <vt:lpstr>Construct the truth table for~(p AND q)AND (~r).</vt:lpstr>
      <vt:lpstr>Order of precedence</vt:lpstr>
      <vt:lpstr>Computing truth Table of expressions</vt:lpstr>
      <vt:lpstr>Example</vt:lpstr>
      <vt:lpstr>Slide 46</vt:lpstr>
      <vt:lpstr>Let, p AND (~q) Let, NOTq be FALSE</vt:lpstr>
      <vt:lpstr>Revisit the logical expressions</vt:lpstr>
      <vt:lpstr>Slide 49</vt:lpstr>
      <vt:lpstr>The ≡ operator</vt:lpstr>
      <vt:lpstr>≡ means if and only if</vt:lpstr>
      <vt:lpstr>Example revisited</vt:lpstr>
      <vt:lpstr>Check whether the following pairs are equivalent  or not</vt:lpstr>
      <vt:lpstr>Implication</vt:lpstr>
      <vt:lpstr>a. Check if p→q ≡ (~p) OR q.  b.What it say?</vt:lpstr>
      <vt:lpstr>Understanding the implies operator</vt:lpstr>
      <vt:lpstr>Write the expression for the argument  and check its truth table</vt:lpstr>
      <vt:lpstr>Slide 58</vt:lpstr>
      <vt:lpstr>Slide 59</vt:lpstr>
      <vt:lpstr>Represent the following statements in propositional form</vt:lpstr>
      <vt:lpstr>Slide 61</vt:lpstr>
      <vt:lpstr>Sentence :</vt:lpstr>
      <vt:lpstr>Sentence :</vt:lpstr>
      <vt:lpstr>Evaluate the following propositions</vt:lpstr>
      <vt:lpstr>Tautology</vt:lpstr>
      <vt:lpstr>Slide 66</vt:lpstr>
      <vt:lpstr>Contradiction/Contingency</vt:lpstr>
      <vt:lpstr>Arguments and Validity</vt:lpstr>
      <vt:lpstr>Check whether the following are tautology or not</vt:lpstr>
      <vt:lpstr>Example</vt:lpstr>
      <vt:lpstr>Slide 71</vt:lpstr>
      <vt:lpstr>The one-bit adder</vt:lpstr>
      <vt:lpstr>Observe the Truth Table</vt:lpstr>
      <vt:lpstr>Modeling the observations</vt:lpstr>
      <vt:lpstr>Check the correctness of this expression</vt:lpstr>
      <vt:lpstr>Slide 76</vt:lpstr>
      <vt:lpstr>Wason’s 4-card problem (the ‘selection’ task)</vt:lpstr>
      <vt:lpstr>The Experiment</vt:lpstr>
      <vt:lpstr>Consider why you did or didn’t turn a  card?</vt:lpstr>
      <vt:lpstr>What is the norm (most frequent choices)?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Repetition</dc:title>
  <dc:creator>admins</dc:creator>
  <cp:lastModifiedBy>user</cp:lastModifiedBy>
  <cp:revision>1</cp:revision>
  <dcterms:created xsi:type="dcterms:W3CDTF">2020-09-07T07:07:31Z</dcterms:created>
  <dcterms:modified xsi:type="dcterms:W3CDTF">2021-10-03T05:56:06Z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2017-07-04T00:00:00Z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2020-09-07T00:00:00Z</vt:filetime>
  </property>
  <property fmtid="{D5CDD505-2E9C-101B-9397-08002B2CF9AE}" pid="5" name="ContentTypeId">
    <vt:lpwstr>0x01010093196D1F7F73754F88450F2D99E4F7B5</vt:lpwstr>
  </property>
</Properties>
</file>