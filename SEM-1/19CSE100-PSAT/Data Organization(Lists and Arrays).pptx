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8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11281"/>
            <a:ext cx="7767319" cy="111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8340" y="4815078"/>
            <a:ext cx="7767319" cy="87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632586"/>
            <a:ext cx="62096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069" y="1361500"/>
            <a:ext cx="8531860" cy="2526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31" y="70103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r>
              <a:rPr sz="4400" spc="-5" dirty="0">
                <a:latin typeface="Perpetua"/>
                <a:cs typeface="Perpetua"/>
              </a:rPr>
              <a:t>2.10</a:t>
            </a: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spc="-10" dirty="0">
                <a:latin typeface="Perpetua"/>
                <a:cs typeface="Perpetua"/>
              </a:rPr>
              <a:t>Data </a:t>
            </a:r>
            <a:r>
              <a:rPr sz="4400" spc="-5" dirty="0">
                <a:latin typeface="Perpetua"/>
                <a:cs typeface="Perpetua"/>
              </a:rPr>
              <a:t>Organization(Lists and</a:t>
            </a:r>
            <a:r>
              <a:rPr sz="4400" spc="-315" dirty="0">
                <a:latin typeface="Perpetua"/>
                <a:cs typeface="Perpetua"/>
              </a:rPr>
              <a:t> </a:t>
            </a:r>
            <a:r>
              <a:rPr sz="4400" spc="-15" dirty="0">
                <a:latin typeface="Perpetua"/>
                <a:cs typeface="Perpetua"/>
              </a:rPr>
              <a:t>Arrays)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271981"/>
            <a:ext cx="2277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Perpetua"/>
                <a:cs typeface="Perpetua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967611"/>
            <a:ext cx="660527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indexing </a:t>
            </a:r>
            <a:r>
              <a:rPr sz="2600" dirty="0">
                <a:latin typeface="Perpetua"/>
                <a:cs typeface="Perpetua"/>
              </a:rPr>
              <a:t>is used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organize</a:t>
            </a:r>
            <a:r>
              <a:rPr sz="2600" spc="-254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data.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concepts </a:t>
            </a:r>
            <a:r>
              <a:rPr sz="2600" spc="-5" dirty="0">
                <a:latin typeface="Perpetua"/>
                <a:cs typeface="Perpetua"/>
              </a:rPr>
              <a:t>of single and </a:t>
            </a:r>
            <a:r>
              <a:rPr sz="2600" spc="-10" dirty="0">
                <a:latin typeface="Perpetua"/>
                <a:cs typeface="Perpetua"/>
              </a:rPr>
              <a:t>multi</a:t>
            </a:r>
            <a:r>
              <a:rPr sz="2600" spc="-24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indexing.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228600"/>
            <a:ext cx="1526639" cy="1112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82626"/>
            <a:ext cx="2635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Organizing</a:t>
            </a:r>
            <a:r>
              <a:rPr sz="3600" spc="-100" dirty="0"/>
              <a:t> </a:t>
            </a:r>
            <a:r>
              <a:rPr sz="3600" spc="-10" dirty="0"/>
              <a:t>data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3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14490"/>
            <a:ext cx="8470900" cy="54457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Humans </a:t>
            </a:r>
            <a:r>
              <a:rPr sz="2400" spc="-5" dirty="0">
                <a:latin typeface="Perpetua"/>
                <a:cs typeface="Perpetua"/>
              </a:rPr>
              <a:t>hate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disorder.</a:t>
            </a:r>
            <a:endParaRPr sz="2400">
              <a:latin typeface="Perpetua"/>
              <a:cs typeface="Perpetua"/>
            </a:endParaRPr>
          </a:p>
          <a:p>
            <a:pPr marL="287020" indent="-274320" algn="just">
              <a:lnSpc>
                <a:spcPts val="274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14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try and organize our </a:t>
            </a:r>
            <a:r>
              <a:rPr sz="2400" spc="-15" dirty="0">
                <a:latin typeface="Perpetua"/>
                <a:cs typeface="Perpetua"/>
              </a:rPr>
              <a:t>lives, </a:t>
            </a:r>
            <a:r>
              <a:rPr sz="2400" dirty="0">
                <a:latin typeface="Perpetua"/>
                <a:cs typeface="Perpetua"/>
              </a:rPr>
              <a:t>our cities, our </a:t>
            </a:r>
            <a:r>
              <a:rPr sz="2400" spc="-5" dirty="0">
                <a:latin typeface="Perpetua"/>
                <a:cs typeface="Perpetua"/>
              </a:rPr>
              <a:t>homes and </a:t>
            </a:r>
            <a:r>
              <a:rPr sz="2400" spc="-30" dirty="0">
                <a:latin typeface="Perpetua"/>
                <a:cs typeface="Perpetua"/>
              </a:rPr>
              <a:t>even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sometimes</a:t>
            </a:r>
            <a:endParaRPr sz="2400">
              <a:latin typeface="Perpetua"/>
              <a:cs typeface="Perpetua"/>
            </a:endParaRPr>
          </a:p>
          <a:p>
            <a:pPr marL="286385" algn="just">
              <a:lnSpc>
                <a:spcPts val="2740"/>
              </a:lnSpc>
            </a:pPr>
            <a:r>
              <a:rPr sz="2400" dirty="0">
                <a:latin typeface="Perpetua"/>
                <a:cs typeface="Perpetua"/>
              </a:rPr>
              <a:t>our desks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our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bedrooms.</a:t>
            </a:r>
            <a:endParaRPr sz="2400">
              <a:latin typeface="Perpetua"/>
              <a:cs typeface="Perpetua"/>
            </a:endParaRPr>
          </a:p>
          <a:p>
            <a:pPr marL="286385" marR="706120" indent="-274320" algn="just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There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many </a:t>
            </a:r>
            <a:r>
              <a:rPr sz="2400" spc="-30" dirty="0">
                <a:latin typeface="Perpetua"/>
                <a:cs typeface="Perpetua"/>
              </a:rPr>
              <a:t>ways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organizing </a:t>
            </a:r>
            <a:r>
              <a:rPr sz="2400" dirty="0">
                <a:latin typeface="Perpetua"/>
                <a:cs typeface="Perpetua"/>
              </a:rPr>
              <a:t>things,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naturally </a:t>
            </a:r>
            <a:r>
              <a:rPr sz="2400" dirty="0">
                <a:latin typeface="Perpetua"/>
                <a:cs typeface="Perpetua"/>
              </a:rPr>
              <a:t>organize  </a:t>
            </a:r>
            <a:r>
              <a:rPr sz="2400" spc="-5" dirty="0">
                <a:latin typeface="Perpetua"/>
                <a:cs typeface="Perpetua"/>
              </a:rPr>
              <a:t>different </a:t>
            </a:r>
            <a:r>
              <a:rPr sz="2400" dirty="0">
                <a:latin typeface="Perpetua"/>
                <a:cs typeface="Perpetua"/>
              </a:rPr>
              <a:t>things in </a:t>
            </a:r>
            <a:r>
              <a:rPr sz="2400" spc="-5" dirty="0">
                <a:latin typeface="Perpetua"/>
                <a:cs typeface="Perpetua"/>
              </a:rPr>
              <a:t>different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ways.</a:t>
            </a:r>
            <a:endParaRPr sz="2400">
              <a:latin typeface="Perpetua"/>
              <a:cs typeface="Perpetua"/>
            </a:endParaRPr>
          </a:p>
          <a:p>
            <a:pPr marL="286385" marR="183515" indent="-274320" algn="just">
              <a:lnSpc>
                <a:spcPct val="90000"/>
              </a:lnSpc>
              <a:spcBef>
                <a:spcPts val="56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organization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use depends on the things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trying </a:t>
            </a:r>
            <a:r>
              <a:rPr sz="2400" spc="-10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organize 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often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spc="-20" dirty="0">
                <a:latin typeface="Perpetua"/>
                <a:cs typeface="Perpetua"/>
              </a:rPr>
              <a:t>importantly, </a:t>
            </a:r>
            <a:r>
              <a:rPr sz="2400" spc="-10" dirty="0">
                <a:latin typeface="Perpetua"/>
                <a:cs typeface="Perpetua"/>
              </a:rPr>
              <a:t>what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actually </a:t>
            </a:r>
            <a:r>
              <a:rPr sz="2400" spc="-5" dirty="0">
                <a:latin typeface="Perpetua"/>
                <a:cs typeface="Perpetua"/>
              </a:rPr>
              <a:t>wish </a:t>
            </a:r>
            <a:r>
              <a:rPr sz="2400" dirty="0">
                <a:latin typeface="Perpetua"/>
                <a:cs typeface="Perpetua"/>
              </a:rPr>
              <a:t>to do with them once  </a:t>
            </a:r>
            <a:r>
              <a:rPr sz="2400" spc="-10" dirty="0">
                <a:latin typeface="Perpetua"/>
                <a:cs typeface="Perpetua"/>
              </a:rPr>
              <a:t>they </a:t>
            </a:r>
            <a:r>
              <a:rPr sz="2400" spc="-15" dirty="0">
                <a:latin typeface="Perpetua"/>
                <a:cs typeface="Perpetua"/>
              </a:rPr>
              <a:t>are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organized.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ts val="2590"/>
              </a:lnSpc>
              <a:spcBef>
                <a:spcPts val="434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Addresses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organized into postal </a:t>
            </a:r>
            <a:r>
              <a:rPr sz="2400" spc="-5" dirty="0">
                <a:latin typeface="Perpetua"/>
                <a:cs typeface="Perpetua"/>
              </a:rPr>
              <a:t>areas </a:t>
            </a:r>
            <a:r>
              <a:rPr sz="2400" dirty="0">
                <a:latin typeface="Perpetua"/>
                <a:cs typeface="Perpetua"/>
              </a:rPr>
              <a:t>so </a:t>
            </a:r>
            <a:r>
              <a:rPr sz="2400" spc="-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it is easier for letters to  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delivered.</a:t>
            </a:r>
            <a:endParaRPr sz="2400">
              <a:latin typeface="Perpetua"/>
              <a:cs typeface="Perpetua"/>
            </a:endParaRPr>
          </a:p>
          <a:p>
            <a:pPr marL="561340" marR="120650" lvl="1" indent="-228600" algn="just">
              <a:lnSpc>
                <a:spcPts val="2590"/>
              </a:lnSpc>
              <a:spcBef>
                <a:spcPts val="405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A bookshop organizes its </a:t>
            </a:r>
            <a:r>
              <a:rPr sz="2400" spc="-20" dirty="0">
                <a:latin typeface="Perpetua"/>
                <a:cs typeface="Perpetua"/>
              </a:rPr>
              <a:t>novels </a:t>
            </a:r>
            <a:r>
              <a:rPr sz="2400" dirty="0">
                <a:latin typeface="Perpetua"/>
                <a:cs typeface="Perpetua"/>
              </a:rPr>
              <a:t>on the </a:t>
            </a:r>
            <a:r>
              <a:rPr sz="2400" spc="-10" dirty="0">
                <a:latin typeface="Perpetua"/>
                <a:cs typeface="Perpetua"/>
              </a:rPr>
              <a:t>shelves </a:t>
            </a:r>
            <a:r>
              <a:rPr sz="2400" spc="-5" dirty="0">
                <a:latin typeface="Perpetua"/>
                <a:cs typeface="Perpetua"/>
              </a:rPr>
              <a:t>usually alphabetically </a:t>
            </a:r>
            <a:r>
              <a:rPr sz="2400" spc="-25" dirty="0">
                <a:latin typeface="Perpetua"/>
                <a:cs typeface="Perpetua"/>
              </a:rPr>
              <a:t>by  </a:t>
            </a:r>
            <a:r>
              <a:rPr sz="2400" spc="-30" dirty="0">
                <a:latin typeface="Perpetua"/>
                <a:cs typeface="Perpetua"/>
              </a:rPr>
              <a:t>author.</a:t>
            </a:r>
            <a:endParaRPr sz="2400">
              <a:latin typeface="Perpetua"/>
              <a:cs typeface="Perpetua"/>
            </a:endParaRPr>
          </a:p>
          <a:p>
            <a:pPr marL="286385" marR="183515" indent="-274320">
              <a:lnSpc>
                <a:spcPct val="90000"/>
              </a:lnSpc>
              <a:spcBef>
                <a:spcPts val="56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organize the </a:t>
            </a:r>
            <a:r>
              <a:rPr sz="2400" spc="-5" dirty="0">
                <a:latin typeface="Perpetua"/>
                <a:cs typeface="Perpetua"/>
              </a:rPr>
              <a:t>things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5" dirty="0">
                <a:latin typeface="Perpetua"/>
                <a:cs typeface="Perpetua"/>
              </a:rPr>
              <a:t>must manipulate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achieve </a:t>
            </a:r>
            <a:r>
              <a:rPr sz="2400" dirty="0">
                <a:latin typeface="Perpetua"/>
                <a:cs typeface="Perpetua"/>
              </a:rPr>
              <a:t>a task can  </a:t>
            </a:r>
            <a:r>
              <a:rPr sz="2400" spc="-15" dirty="0">
                <a:latin typeface="Perpetua"/>
                <a:cs typeface="Perpetua"/>
              </a:rPr>
              <a:t>make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0" dirty="0">
                <a:latin typeface="Perpetua"/>
                <a:cs typeface="Perpetua"/>
              </a:rPr>
              <a:t>massive </a:t>
            </a:r>
            <a:r>
              <a:rPr sz="2400" spc="-5" dirty="0">
                <a:latin typeface="Perpetua"/>
                <a:cs typeface="Perpetua"/>
              </a:rPr>
              <a:t>difference to </a:t>
            </a: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spc="-35" dirty="0">
                <a:latin typeface="Perpetua"/>
                <a:cs typeface="Perpetua"/>
              </a:rPr>
              <a:t>quickly, </a:t>
            </a:r>
            <a:r>
              <a:rPr sz="2400" spc="-10" dirty="0">
                <a:latin typeface="Perpetua"/>
                <a:cs typeface="Perpetua"/>
              </a:rPr>
              <a:t>easily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successfully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task  </a:t>
            </a:r>
            <a:r>
              <a:rPr sz="2400" dirty="0">
                <a:latin typeface="Perpetua"/>
                <a:cs typeface="Perpetua"/>
              </a:rPr>
              <a:t>can 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done.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7653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Game of </a:t>
            </a:r>
            <a:r>
              <a:rPr i="1" spc="-5" dirty="0">
                <a:latin typeface="Perpetua"/>
                <a:cs typeface="Perpetua"/>
              </a:rPr>
              <a:t>Spit Not So </a:t>
            </a:r>
            <a:r>
              <a:rPr i="1" spc="-15" dirty="0">
                <a:latin typeface="Perpetua"/>
                <a:cs typeface="Perpetua"/>
              </a:rPr>
              <a:t>(Berlekamp </a:t>
            </a:r>
            <a:r>
              <a:rPr i="1" spc="-5" dirty="0">
                <a:latin typeface="Perpetua"/>
                <a:cs typeface="Perpetua"/>
              </a:rPr>
              <a:t>et al,</a:t>
            </a:r>
            <a:r>
              <a:rPr i="1" spc="-275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1982)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4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09421"/>
            <a:ext cx="8309609" cy="4268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Perpetua"/>
                <a:cs typeface="Perpetua"/>
              </a:rPr>
              <a:t>The game is </a:t>
            </a:r>
            <a:r>
              <a:rPr sz="2400" spc="-25" dirty="0">
                <a:latin typeface="Perpetua"/>
                <a:cs typeface="Perpetua"/>
              </a:rPr>
              <a:t>played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spc="-10" dirty="0">
                <a:latin typeface="Perpetua"/>
                <a:cs typeface="Perpetua"/>
              </a:rPr>
              <a:t>follows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players:</a:t>
            </a:r>
            <a:endParaRPr sz="2400">
              <a:latin typeface="Perpetua"/>
              <a:cs typeface="Perpetua"/>
            </a:endParaRPr>
          </a:p>
          <a:p>
            <a:pPr marL="286385" marR="71755" indent="-27432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94005" algn="l"/>
                <a:tab pos="294640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nine </a:t>
            </a:r>
            <a:r>
              <a:rPr sz="2400" i="1" spc="-10" dirty="0">
                <a:latin typeface="Perpetua"/>
                <a:cs typeface="Perpetua"/>
              </a:rPr>
              <a:t>words: </a:t>
            </a:r>
            <a:r>
              <a:rPr sz="2400" i="1" dirty="0">
                <a:latin typeface="Perpetua"/>
                <a:cs typeface="Perpetua"/>
              </a:rPr>
              <a:t>SPIT </a:t>
            </a:r>
            <a:r>
              <a:rPr sz="2400" i="1" spc="-50" dirty="0">
                <a:latin typeface="Perpetua"/>
                <a:cs typeface="Perpetua"/>
              </a:rPr>
              <a:t>NOT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120" dirty="0">
                <a:latin typeface="Perpetua"/>
                <a:cs typeface="Perpetua"/>
              </a:rPr>
              <a:t>FAT </a:t>
            </a:r>
            <a:r>
              <a:rPr sz="2400" i="1" dirty="0">
                <a:latin typeface="Perpetua"/>
                <a:cs typeface="Perpetua"/>
              </a:rPr>
              <a:t>FOP </a:t>
            </a:r>
            <a:r>
              <a:rPr sz="2400" i="1" spc="-5" dirty="0">
                <a:latin typeface="Perpetua"/>
                <a:cs typeface="Perpetua"/>
              </a:rPr>
              <a:t>AS </a:t>
            </a:r>
            <a:r>
              <a:rPr sz="2400" i="1" dirty="0">
                <a:latin typeface="Perpetua"/>
                <a:cs typeface="Perpetua"/>
              </a:rPr>
              <a:t>IF IN </a:t>
            </a:r>
            <a:r>
              <a:rPr sz="2400" i="1" spc="-75" dirty="0">
                <a:latin typeface="Perpetua"/>
                <a:cs typeface="Perpetua"/>
              </a:rPr>
              <a:t>PAN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5" dirty="0">
                <a:latin typeface="Perpetua"/>
                <a:cs typeface="Perpetua"/>
              </a:rPr>
              <a:t>separate</a:t>
            </a:r>
            <a:r>
              <a:rPr sz="2400" spc="-22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pieces  of</a:t>
            </a:r>
            <a:r>
              <a:rPr sz="2400" spc="-10" dirty="0">
                <a:latin typeface="Perpetua"/>
                <a:cs typeface="Perpetua"/>
              </a:rPr>
              <a:t> cards.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placed </a:t>
            </a:r>
            <a:r>
              <a:rPr sz="2400" spc="-10" dirty="0">
                <a:latin typeface="Perpetua"/>
                <a:cs typeface="Perpetua"/>
              </a:rPr>
              <a:t>face</a:t>
            </a:r>
            <a:r>
              <a:rPr sz="2400" spc="-40" dirty="0">
                <a:latin typeface="Perpetua"/>
                <a:cs typeface="Perpetua"/>
              </a:rPr>
              <a:t> up.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25" dirty="0">
                <a:latin typeface="Perpetua"/>
                <a:cs typeface="Perpetua"/>
              </a:rPr>
              <a:t>player </a:t>
            </a:r>
            <a:r>
              <a:rPr sz="2400" spc="-10" dirty="0">
                <a:latin typeface="Perpetua"/>
                <a:cs typeface="Perpetua"/>
              </a:rPr>
              <a:t>takes </a:t>
            </a:r>
            <a:r>
              <a:rPr sz="2400" dirty="0">
                <a:latin typeface="Perpetua"/>
                <a:cs typeface="Perpetua"/>
              </a:rPr>
              <a:t>it in </a:t>
            </a:r>
            <a:r>
              <a:rPr sz="2400" spc="10" dirty="0">
                <a:latin typeface="Perpetua"/>
                <a:cs typeface="Perpetua"/>
              </a:rPr>
              <a:t>turns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5" dirty="0">
                <a:latin typeface="Perpetua"/>
                <a:cs typeface="Perpetua"/>
              </a:rPr>
              <a:t>take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card.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5" dirty="0">
                <a:latin typeface="Perpetua"/>
                <a:cs typeface="Perpetua"/>
              </a:rPr>
              <a:t>To </a:t>
            </a:r>
            <a:r>
              <a:rPr sz="2400" spc="-5" dirty="0">
                <a:latin typeface="Perpetua"/>
                <a:cs typeface="Perpetua"/>
              </a:rPr>
              <a:t>win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5" dirty="0">
                <a:latin typeface="Perpetua"/>
                <a:cs typeface="Perpetua"/>
              </a:rPr>
              <a:t>must </a:t>
            </a:r>
            <a:r>
              <a:rPr sz="2400" dirty="0">
                <a:latin typeface="Perpetua"/>
                <a:cs typeface="Perpetua"/>
              </a:rPr>
              <a:t>get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the same</a:t>
            </a:r>
            <a:r>
              <a:rPr sz="2400" spc="-26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letter.</a:t>
            </a:r>
            <a:endParaRPr sz="2400">
              <a:latin typeface="Perpetua"/>
              <a:cs typeface="Perpetua"/>
            </a:endParaRPr>
          </a:p>
          <a:p>
            <a:pPr marL="286385" marR="5080" lvl="1" indent="45720">
              <a:lnSpc>
                <a:spcPts val="3479"/>
              </a:lnSpc>
              <a:spcBef>
                <a:spcPts val="1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dirty="0">
                <a:latin typeface="Perpetua"/>
                <a:cs typeface="Perpetua"/>
              </a:rPr>
              <a:t>example if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had picked up the cards </a:t>
            </a:r>
            <a:r>
              <a:rPr sz="2400" spc="-65" dirty="0">
                <a:latin typeface="Perpetua"/>
                <a:cs typeface="Perpetua"/>
              </a:rPr>
              <a:t>SPIT, </a:t>
            </a:r>
            <a:r>
              <a:rPr sz="2400" dirty="0">
                <a:latin typeface="Perpetua"/>
                <a:cs typeface="Perpetua"/>
              </a:rPr>
              <a:t>IF and </a:t>
            </a:r>
            <a:r>
              <a:rPr sz="2400" spc="-50" dirty="0">
                <a:latin typeface="Perpetua"/>
                <a:cs typeface="Perpetua"/>
              </a:rPr>
              <a:t>IN,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20" dirty="0">
                <a:latin typeface="Perpetua"/>
                <a:cs typeface="Perpetua"/>
              </a:rPr>
              <a:t>would 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cards </a:t>
            </a:r>
            <a:r>
              <a:rPr sz="2400" dirty="0">
                <a:latin typeface="Perpetua"/>
                <a:cs typeface="Perpetua"/>
              </a:rPr>
              <a:t>containing the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I so </a:t>
            </a:r>
            <a:r>
              <a:rPr sz="2400" spc="-20" dirty="0">
                <a:latin typeface="Perpetua"/>
                <a:cs typeface="Perpetua"/>
              </a:rPr>
              <a:t>would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win.</a:t>
            </a:r>
            <a:endParaRPr sz="2400">
              <a:latin typeface="Perpetua"/>
              <a:cs typeface="Perpetua"/>
            </a:endParaRPr>
          </a:p>
          <a:p>
            <a:pPr marL="286385" marR="39370" indent="-274320">
              <a:lnSpc>
                <a:spcPct val="100000"/>
              </a:lnSpc>
              <a:spcBef>
                <a:spcPts val="385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are taken </a:t>
            </a:r>
            <a:r>
              <a:rPr sz="2400" dirty="0">
                <a:latin typeface="Perpetua"/>
                <a:cs typeface="Perpetua"/>
              </a:rPr>
              <a:t>with no one </a:t>
            </a:r>
            <a:r>
              <a:rPr sz="2400" spc="-15" dirty="0">
                <a:latin typeface="Perpetua"/>
                <a:cs typeface="Perpetua"/>
              </a:rPr>
              <a:t>having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of a </a:t>
            </a:r>
            <a:r>
              <a:rPr sz="2400" spc="5" dirty="0">
                <a:latin typeface="Perpetua"/>
                <a:cs typeface="Perpetua"/>
              </a:rPr>
              <a:t>particular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then  the </a:t>
            </a:r>
            <a:r>
              <a:rPr sz="2400" spc="-5" dirty="0">
                <a:latin typeface="Perpetua"/>
                <a:cs typeface="Perpetua"/>
              </a:rPr>
              <a:t>game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80" dirty="0">
                <a:latin typeface="Perpetua"/>
                <a:cs typeface="Perpetua"/>
              </a:rPr>
              <a:t>draw.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12038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20" dirty="0">
                <a:latin typeface="Perpetua"/>
                <a:cs typeface="Perpetua"/>
              </a:rPr>
              <a:t>Play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few games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then idea, then </a:t>
            </a:r>
            <a:r>
              <a:rPr sz="2600" i="1" spc="10" dirty="0">
                <a:latin typeface="Perpetua"/>
                <a:cs typeface="Perpetua"/>
              </a:rPr>
              <a:t>turn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5" dirty="0">
                <a:latin typeface="Perpetua"/>
                <a:cs typeface="Perpetua"/>
              </a:rPr>
              <a:t>page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see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5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suitable  </a:t>
            </a:r>
            <a:r>
              <a:rPr sz="2600" i="1" spc="-20" dirty="0">
                <a:latin typeface="Perpetua"/>
                <a:cs typeface="Perpetua"/>
              </a:rPr>
              <a:t>organization </a:t>
            </a:r>
            <a:r>
              <a:rPr sz="2600" i="1" dirty="0">
                <a:latin typeface="Perpetua"/>
                <a:cs typeface="Perpetua"/>
              </a:rPr>
              <a:t>will help </a:t>
            </a:r>
            <a:r>
              <a:rPr sz="2600" i="1" spc="-20" dirty="0">
                <a:latin typeface="Perpetua"/>
                <a:cs typeface="Perpetua"/>
              </a:rPr>
              <a:t>you play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better.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5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580755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9527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Before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play draw </a:t>
            </a:r>
            <a:r>
              <a:rPr sz="2600" dirty="0">
                <a:latin typeface="Perpetua"/>
                <a:cs typeface="Perpetua"/>
              </a:rPr>
              <a:t>up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15" dirty="0">
                <a:latin typeface="Perpetua"/>
                <a:cs typeface="Perpetua"/>
              </a:rPr>
              <a:t>grid, </a:t>
            </a:r>
            <a:r>
              <a:rPr sz="2600" dirty="0">
                <a:latin typeface="Perpetua"/>
                <a:cs typeface="Perpetua"/>
              </a:rPr>
              <a:t>with the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words 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dirty="0">
                <a:latin typeface="Perpetua"/>
                <a:cs typeface="Perpetua"/>
              </a:rPr>
              <a:t>on the </a:t>
            </a:r>
            <a:r>
              <a:rPr sz="2600" spc="-5" dirty="0">
                <a:latin typeface="Perpetua"/>
                <a:cs typeface="Perpetua"/>
              </a:rPr>
              <a:t>cards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squares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shown.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position of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important.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been organized so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single letter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common </a:t>
            </a:r>
            <a:r>
              <a:rPr sz="2600" dirty="0">
                <a:latin typeface="Perpetua"/>
                <a:cs typeface="Perpetua"/>
              </a:rPr>
              <a:t>in 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5" dirty="0">
                <a:latin typeface="Perpetua"/>
                <a:cs typeface="Perpetua"/>
              </a:rPr>
              <a:t>row, </a:t>
            </a:r>
            <a:r>
              <a:rPr sz="2600" spc="-5" dirty="0">
                <a:latin typeface="Perpetua"/>
                <a:cs typeface="Perpetua"/>
              </a:rPr>
              <a:t>column and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diagonal.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F-words </a:t>
            </a:r>
            <a:r>
              <a:rPr sz="2600" spc="20" dirty="0">
                <a:latin typeface="Perpetua"/>
                <a:cs typeface="Perpetua"/>
              </a:rPr>
              <a:t>run </a:t>
            </a:r>
            <a:r>
              <a:rPr sz="2600" spc="-5" dirty="0">
                <a:latin typeface="Perpetua"/>
                <a:cs typeface="Perpetua"/>
              </a:rPr>
              <a:t>along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bottom, for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example.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90800" y="4257660"/>
            <a:ext cx="2419723" cy="1609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6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594090" cy="3425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9210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Keep </a:t>
            </a:r>
            <a:r>
              <a:rPr sz="2600" dirty="0">
                <a:latin typeface="Perpetua"/>
                <a:cs typeface="Perpetua"/>
              </a:rPr>
              <a:t>this hidden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5" dirty="0">
                <a:latin typeface="Perpetua"/>
                <a:cs typeface="Perpetua"/>
              </a:rPr>
              <a:t>opponent </a:t>
            </a:r>
            <a:r>
              <a:rPr sz="2600" dirty="0">
                <a:latin typeface="Perpetua"/>
                <a:cs typeface="Perpetua"/>
              </a:rPr>
              <a:t>– otherwise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see the  </a:t>
            </a:r>
            <a:r>
              <a:rPr sz="2600" spc="-5" dirty="0">
                <a:latin typeface="Perpetua"/>
                <a:cs typeface="Perpetua"/>
              </a:rPr>
              <a:t>secret.</a:t>
            </a:r>
            <a:endParaRPr sz="2600">
              <a:latin typeface="Perpetua"/>
              <a:cs typeface="Perpetua"/>
            </a:endParaRPr>
          </a:p>
          <a:p>
            <a:pPr marL="286385" marR="10541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Play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5" dirty="0">
                <a:latin typeface="Perpetua"/>
                <a:cs typeface="Perpetua"/>
              </a:rPr>
              <a:t>before, </a:t>
            </a:r>
            <a:r>
              <a:rPr sz="2600" spc="-5" dirty="0">
                <a:latin typeface="Perpetua"/>
                <a:cs typeface="Perpetua"/>
              </a:rPr>
              <a:t>except,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0" dirty="0">
                <a:latin typeface="Perpetua"/>
                <a:cs typeface="Perpetua"/>
              </a:rPr>
              <a:t>pick </a:t>
            </a:r>
            <a:r>
              <a:rPr sz="2600" dirty="0">
                <a:latin typeface="Perpetua"/>
                <a:cs typeface="Perpetua"/>
              </a:rPr>
              <a:t>up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card, put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cross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10" dirty="0">
                <a:latin typeface="Perpetua"/>
                <a:cs typeface="Perpetua"/>
              </a:rPr>
              <a:t>square that </a:t>
            </a:r>
            <a:r>
              <a:rPr sz="2600" dirty="0">
                <a:latin typeface="Perpetua"/>
                <a:cs typeface="Perpetua"/>
              </a:rPr>
              <a:t>corresponds to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word.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Put a </a:t>
            </a:r>
            <a:r>
              <a:rPr sz="2600" spc="-5" dirty="0">
                <a:latin typeface="Perpetua"/>
                <a:cs typeface="Perpetua"/>
              </a:rPr>
              <a:t>nought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squares </a:t>
            </a:r>
            <a:r>
              <a:rPr sz="2600" dirty="0">
                <a:latin typeface="Perpetua"/>
                <a:cs typeface="Perpetua"/>
              </a:rPr>
              <a:t>corresponding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cards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5" dirty="0">
                <a:latin typeface="Perpetua"/>
                <a:cs typeface="Perpetua"/>
              </a:rPr>
              <a:t>opponent  </a:t>
            </a:r>
            <a:r>
              <a:rPr sz="2600" spc="-15" dirty="0">
                <a:latin typeface="Perpetua"/>
                <a:cs typeface="Perpetua"/>
              </a:rPr>
              <a:t>takes.</a:t>
            </a:r>
            <a:endParaRPr sz="2600">
              <a:latin typeface="Perpetua"/>
              <a:cs typeface="Perpetua"/>
            </a:endParaRPr>
          </a:p>
          <a:p>
            <a:pPr marL="286385" marR="4394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dirty="0">
                <a:latin typeface="Perpetua"/>
                <a:cs typeface="Perpetua"/>
              </a:rPr>
              <a:t>will end with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10" dirty="0">
                <a:latin typeface="Perpetua"/>
                <a:cs typeface="Perpetua"/>
              </a:rPr>
              <a:t>table </a:t>
            </a:r>
            <a:r>
              <a:rPr sz="2600" spc="-5" dirty="0">
                <a:latin typeface="Perpetua"/>
                <a:cs typeface="Perpetua"/>
              </a:rPr>
              <a:t>looking </a:t>
            </a:r>
            <a:r>
              <a:rPr sz="2600" spc="-10" dirty="0">
                <a:latin typeface="Perpetua"/>
                <a:cs typeface="Perpetua"/>
              </a:rPr>
              <a:t>like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following: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76600" y="4495815"/>
            <a:ext cx="2419350" cy="1743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7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784731"/>
            <a:ext cx="7894955" cy="3742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0320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should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10" dirty="0">
                <a:latin typeface="Perpetua"/>
                <a:cs typeface="Perpetua"/>
              </a:rPr>
              <a:t>store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all </a:t>
            </a:r>
            <a:r>
              <a:rPr sz="2600" i="1" spc="-5" dirty="0">
                <a:latin typeface="Perpetua"/>
                <a:cs typeface="Perpetua"/>
              </a:rPr>
              <a:t>the student names of </a:t>
            </a:r>
            <a:r>
              <a:rPr sz="2600" i="1" spc="-40" dirty="0">
                <a:latin typeface="Perpetua"/>
                <a:cs typeface="Perpetua"/>
              </a:rPr>
              <a:t>my</a:t>
            </a:r>
            <a:r>
              <a:rPr sz="2600" i="1" spc="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class?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700">
              <a:latin typeface="Perpetua"/>
              <a:cs typeface="Perpetua"/>
            </a:endParaRPr>
          </a:p>
          <a:p>
            <a:pPr marL="809625" lvl="1" indent="-3403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09625" algn="l"/>
                <a:tab pos="810260" algn="l"/>
              </a:tabLst>
            </a:pPr>
            <a:r>
              <a:rPr sz="2600" i="1" spc="-5" dirty="0">
                <a:latin typeface="Perpetua"/>
                <a:cs typeface="Perpetua"/>
              </a:rPr>
              <a:t>If 60 students </a:t>
            </a:r>
            <a:r>
              <a:rPr sz="2600" i="1" dirty="0">
                <a:latin typeface="Perpetua"/>
                <a:cs typeface="Perpetua"/>
              </a:rPr>
              <a:t>in a </a:t>
            </a:r>
            <a:r>
              <a:rPr sz="2600" i="1" spc="-5" dirty="0">
                <a:latin typeface="Perpetua"/>
                <a:cs typeface="Perpetua"/>
              </a:rPr>
              <a:t>class </a:t>
            </a:r>
            <a:r>
              <a:rPr sz="2600" i="1" dirty="0">
                <a:latin typeface="Perpetua"/>
                <a:cs typeface="Perpetua"/>
              </a:rPr>
              <a:t>can I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60 </a:t>
            </a:r>
            <a:r>
              <a:rPr sz="2600" i="1" spc="-10" dirty="0">
                <a:latin typeface="Perpetua"/>
                <a:cs typeface="Perpetua"/>
              </a:rPr>
              <a:t>different variable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names?</a:t>
            </a:r>
            <a:endParaRPr sz="2600">
              <a:latin typeface="Perpetua"/>
              <a:cs typeface="Perpetua"/>
            </a:endParaRPr>
          </a:p>
          <a:p>
            <a:pPr marL="1117600" lvl="2" indent="-191135">
              <a:lnSpc>
                <a:spcPct val="100000"/>
              </a:lnSpc>
              <a:buFont typeface="Arial"/>
              <a:buChar char="•"/>
              <a:tabLst>
                <a:tab pos="1118235" algn="l"/>
                <a:tab pos="4436110" algn="l"/>
              </a:tabLst>
            </a:pPr>
            <a:r>
              <a:rPr sz="2600" spc="-60" dirty="0">
                <a:latin typeface="Perpetua"/>
                <a:cs typeface="Perpetua"/>
              </a:rPr>
              <a:t>E.g.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name1,name2,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name3	</a:t>
            </a:r>
            <a:r>
              <a:rPr sz="2600" dirty="0">
                <a:latin typeface="Perpetua"/>
                <a:cs typeface="Perpetua"/>
              </a:rPr>
              <a:t>…….,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name60.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750">
              <a:latin typeface="Perpetua"/>
              <a:cs typeface="Perpetua"/>
            </a:endParaRPr>
          </a:p>
          <a:p>
            <a:pPr marL="1484630" indent="-558165">
              <a:lnSpc>
                <a:spcPct val="100000"/>
              </a:lnSpc>
              <a:buFont typeface="Wingdings"/>
              <a:buChar char=""/>
              <a:tabLst>
                <a:tab pos="1484630" algn="l"/>
                <a:tab pos="1485265" algn="l"/>
              </a:tabLst>
            </a:pPr>
            <a:r>
              <a:rPr sz="2600" i="1" spc="-5" dirty="0">
                <a:latin typeface="Perpetua"/>
                <a:cs typeface="Perpetua"/>
              </a:rPr>
              <a:t>Is it </a:t>
            </a:r>
            <a:r>
              <a:rPr sz="2600" i="1" spc="-25" dirty="0">
                <a:latin typeface="Perpetua"/>
                <a:cs typeface="Perpetua"/>
              </a:rPr>
              <a:t>organized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efficient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access?</a:t>
            </a:r>
            <a:endParaRPr sz="2600">
              <a:latin typeface="Perpetua"/>
              <a:cs typeface="Perpetua"/>
            </a:endParaRPr>
          </a:p>
          <a:p>
            <a:pPr marL="1484630" indent="-558165">
              <a:lnSpc>
                <a:spcPct val="100000"/>
              </a:lnSpc>
              <a:spcBef>
                <a:spcPts val="1560"/>
              </a:spcBef>
              <a:buFont typeface="Wingdings"/>
              <a:buChar char=""/>
              <a:tabLst>
                <a:tab pos="1484630" algn="l"/>
                <a:tab pos="1485265" algn="l"/>
              </a:tabLst>
            </a:pPr>
            <a:r>
              <a:rPr sz="2600" i="1" spc="-5" dirty="0">
                <a:latin typeface="Perpetua"/>
                <a:cs typeface="Perpetua"/>
              </a:rPr>
              <a:t>Is it </a:t>
            </a:r>
            <a:r>
              <a:rPr sz="2600" i="1" dirty="0">
                <a:latin typeface="Perpetua"/>
                <a:cs typeface="Perpetua"/>
              </a:rPr>
              <a:t>easy </a:t>
            </a:r>
            <a:r>
              <a:rPr sz="2600" i="1" spc="-5" dirty="0">
                <a:latin typeface="Perpetua"/>
                <a:cs typeface="Perpetua"/>
              </a:rPr>
              <a:t>to be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remembered?</a:t>
            </a:r>
            <a:endParaRPr sz="2600">
              <a:latin typeface="Perpetua"/>
              <a:cs typeface="Perpetua"/>
            </a:endParaRPr>
          </a:p>
          <a:p>
            <a:pPr marL="1492250" indent="-565785">
              <a:lnSpc>
                <a:spcPct val="100000"/>
              </a:lnSpc>
              <a:spcBef>
                <a:spcPts val="1560"/>
              </a:spcBef>
              <a:buFont typeface="Wingdings"/>
              <a:buChar char=""/>
              <a:tabLst>
                <a:tab pos="1492250" algn="l"/>
                <a:tab pos="1492885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happens </a:t>
            </a:r>
            <a:r>
              <a:rPr sz="2600" i="1" spc="-5" dirty="0">
                <a:latin typeface="Perpetua"/>
                <a:cs typeface="Perpetua"/>
              </a:rPr>
              <a:t>if number of students increase from 60 to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80?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82840" y="3505200"/>
            <a:ext cx="655319" cy="918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7787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Perpetua"/>
                <a:cs typeface="Perpetua"/>
              </a:rPr>
              <a:t>Is </a:t>
            </a:r>
            <a:r>
              <a:rPr sz="3600" i="1" spc="-10" dirty="0">
                <a:latin typeface="Perpetua"/>
                <a:cs typeface="Perpetua"/>
              </a:rPr>
              <a:t>there </a:t>
            </a:r>
            <a:r>
              <a:rPr sz="3600" i="1" dirty="0">
                <a:latin typeface="Perpetua"/>
                <a:cs typeface="Perpetua"/>
              </a:rPr>
              <a:t>a </a:t>
            </a:r>
            <a:r>
              <a:rPr sz="3600" i="1" spc="-5" dirty="0">
                <a:latin typeface="Perpetua"/>
                <a:cs typeface="Perpetua"/>
              </a:rPr>
              <a:t>better </a:t>
            </a:r>
            <a:r>
              <a:rPr sz="3600" i="1" spc="-70" dirty="0">
                <a:latin typeface="Perpetua"/>
                <a:cs typeface="Perpetua"/>
              </a:rPr>
              <a:t>way </a:t>
            </a:r>
            <a:r>
              <a:rPr sz="3600" i="1" dirty="0">
                <a:latin typeface="Perpetua"/>
                <a:cs typeface="Perpetua"/>
              </a:rPr>
              <a:t>to </a:t>
            </a:r>
            <a:r>
              <a:rPr sz="3600" i="1" spc="-10" dirty="0">
                <a:latin typeface="Perpetua"/>
                <a:cs typeface="Perpetua"/>
              </a:rPr>
              <a:t>store </a:t>
            </a:r>
            <a:r>
              <a:rPr sz="3600" i="1" dirty="0">
                <a:latin typeface="Perpetua"/>
                <a:cs typeface="Perpetua"/>
              </a:rPr>
              <a:t>and access </a:t>
            </a:r>
            <a:r>
              <a:rPr sz="3600" i="1" spc="-15" dirty="0">
                <a:latin typeface="Perpetua"/>
                <a:cs typeface="Perpetua"/>
              </a:rPr>
              <a:t>related</a:t>
            </a:r>
            <a:r>
              <a:rPr sz="3600" i="1" spc="50" dirty="0">
                <a:latin typeface="Perpetua"/>
                <a:cs typeface="Perpetua"/>
              </a:rPr>
              <a:t> </a:t>
            </a:r>
            <a:r>
              <a:rPr sz="3600" i="1" spc="-5" dirty="0">
                <a:latin typeface="Perpetua"/>
                <a:cs typeface="Perpetua"/>
              </a:rPr>
              <a:t>items?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784731"/>
            <a:ext cx="8224520" cy="4337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0320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should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10" dirty="0">
                <a:latin typeface="Perpetua"/>
                <a:cs typeface="Perpetua"/>
              </a:rPr>
              <a:t>store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all </a:t>
            </a:r>
            <a:r>
              <a:rPr sz="2600" i="1" spc="-5" dirty="0">
                <a:latin typeface="Perpetua"/>
                <a:cs typeface="Perpetua"/>
              </a:rPr>
              <a:t>the student names of </a:t>
            </a:r>
            <a:r>
              <a:rPr sz="2600" i="1" spc="-40" dirty="0">
                <a:latin typeface="Perpetua"/>
                <a:cs typeface="Perpetua"/>
              </a:rPr>
              <a:t>my</a:t>
            </a:r>
            <a:r>
              <a:rPr sz="2600" i="1" spc="7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class?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700">
              <a:latin typeface="Perpetua"/>
              <a:cs typeface="Perpetua"/>
            </a:endParaRPr>
          </a:p>
          <a:p>
            <a:pPr marL="809625" lvl="1" indent="-3403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09625" algn="l"/>
                <a:tab pos="810260" algn="l"/>
              </a:tabLst>
            </a:pPr>
            <a:r>
              <a:rPr sz="2600" i="1" spc="-5" dirty="0">
                <a:latin typeface="Perpetua"/>
                <a:cs typeface="Perpetua"/>
              </a:rPr>
              <a:t>If 60 students </a:t>
            </a:r>
            <a:r>
              <a:rPr sz="2600" i="1" dirty="0">
                <a:latin typeface="Perpetua"/>
                <a:cs typeface="Perpetua"/>
              </a:rPr>
              <a:t>in a </a:t>
            </a:r>
            <a:r>
              <a:rPr sz="2600" i="1" spc="-5" dirty="0">
                <a:latin typeface="Perpetua"/>
                <a:cs typeface="Perpetua"/>
              </a:rPr>
              <a:t>class </a:t>
            </a:r>
            <a:r>
              <a:rPr sz="2600" i="1" dirty="0">
                <a:latin typeface="Perpetua"/>
                <a:cs typeface="Perpetua"/>
              </a:rPr>
              <a:t>can I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60 </a:t>
            </a:r>
            <a:r>
              <a:rPr sz="2600" i="1" spc="-10" dirty="0">
                <a:latin typeface="Perpetua"/>
                <a:cs typeface="Perpetua"/>
              </a:rPr>
              <a:t>different variable</a:t>
            </a:r>
            <a:r>
              <a:rPr sz="2600" i="1" spc="4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names?</a:t>
            </a:r>
            <a:endParaRPr sz="2600">
              <a:latin typeface="Perpetua"/>
              <a:cs typeface="Perpetua"/>
            </a:endParaRPr>
          </a:p>
          <a:p>
            <a:pPr marL="1117600" lvl="2" indent="-191135">
              <a:lnSpc>
                <a:spcPct val="100000"/>
              </a:lnSpc>
              <a:buFont typeface="Arial"/>
              <a:buChar char="•"/>
              <a:tabLst>
                <a:tab pos="1118235" algn="l"/>
                <a:tab pos="4436110" algn="l"/>
              </a:tabLst>
            </a:pPr>
            <a:r>
              <a:rPr sz="2600" spc="-60" dirty="0">
                <a:latin typeface="Perpetua"/>
                <a:cs typeface="Perpetua"/>
              </a:rPr>
              <a:t>E.g.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name1,name2,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name3	</a:t>
            </a:r>
            <a:r>
              <a:rPr sz="2600" dirty="0">
                <a:latin typeface="Perpetua"/>
                <a:cs typeface="Perpetua"/>
              </a:rPr>
              <a:t>…….,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name60.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750">
              <a:latin typeface="Perpetua"/>
              <a:cs typeface="Perpetua"/>
            </a:endParaRPr>
          </a:p>
          <a:p>
            <a:pPr marL="1484630" indent="-558165">
              <a:lnSpc>
                <a:spcPct val="100000"/>
              </a:lnSpc>
              <a:buFont typeface="Wingdings"/>
              <a:buChar char=""/>
              <a:tabLst>
                <a:tab pos="1484630" algn="l"/>
                <a:tab pos="1485265" algn="l"/>
              </a:tabLst>
            </a:pPr>
            <a:r>
              <a:rPr sz="2600" i="1" spc="-5" dirty="0">
                <a:latin typeface="Perpetua"/>
                <a:cs typeface="Perpetua"/>
              </a:rPr>
              <a:t>Is it </a:t>
            </a:r>
            <a:r>
              <a:rPr sz="2600" i="1" spc="-25" dirty="0">
                <a:latin typeface="Perpetua"/>
                <a:cs typeface="Perpetua"/>
              </a:rPr>
              <a:t>organized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efficient access?</a:t>
            </a:r>
            <a:r>
              <a:rPr sz="2600" i="1" spc="40" dirty="0"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No</a:t>
            </a:r>
            <a:endParaRPr sz="2600">
              <a:latin typeface="Perpetua"/>
              <a:cs typeface="Perpetua"/>
            </a:endParaRPr>
          </a:p>
          <a:p>
            <a:pPr marL="1484630" indent="-558165">
              <a:lnSpc>
                <a:spcPct val="100000"/>
              </a:lnSpc>
              <a:spcBef>
                <a:spcPts val="1560"/>
              </a:spcBef>
              <a:buFont typeface="Wingdings"/>
              <a:buChar char=""/>
              <a:tabLst>
                <a:tab pos="1484630" algn="l"/>
                <a:tab pos="1485265" algn="l"/>
              </a:tabLst>
            </a:pPr>
            <a:r>
              <a:rPr sz="2600" i="1" spc="-5" dirty="0">
                <a:latin typeface="Perpetua"/>
                <a:cs typeface="Perpetua"/>
              </a:rPr>
              <a:t>Is it </a:t>
            </a:r>
            <a:r>
              <a:rPr sz="2600" i="1" dirty="0">
                <a:latin typeface="Perpetua"/>
                <a:cs typeface="Perpetua"/>
              </a:rPr>
              <a:t>easy </a:t>
            </a:r>
            <a:r>
              <a:rPr sz="2600" i="1" spc="-5" dirty="0">
                <a:latin typeface="Perpetua"/>
                <a:cs typeface="Perpetua"/>
              </a:rPr>
              <a:t>to be remembered?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No</a:t>
            </a:r>
            <a:endParaRPr sz="2600">
              <a:latin typeface="Perpetua"/>
              <a:cs typeface="Perpetua"/>
            </a:endParaRPr>
          </a:p>
          <a:p>
            <a:pPr marL="1492250" indent="-565785">
              <a:lnSpc>
                <a:spcPct val="100000"/>
              </a:lnSpc>
              <a:spcBef>
                <a:spcPts val="1560"/>
              </a:spcBef>
              <a:buFont typeface="Wingdings"/>
              <a:buChar char=""/>
              <a:tabLst>
                <a:tab pos="1492250" algn="l"/>
                <a:tab pos="1492885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happens </a:t>
            </a:r>
            <a:r>
              <a:rPr sz="2600" i="1" spc="-5" dirty="0">
                <a:latin typeface="Perpetua"/>
                <a:cs typeface="Perpetua"/>
              </a:rPr>
              <a:t>if number of students increase from 60 to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80?</a:t>
            </a:r>
            <a:endParaRPr sz="26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1565"/>
              </a:spcBef>
            </a:pP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It becomes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even more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difficult to be handled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and</a:t>
            </a:r>
            <a:r>
              <a:rPr sz="2600" i="1" spc="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remembered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82840" y="3505200"/>
            <a:ext cx="655319" cy="918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81438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Perpetua"/>
                <a:cs typeface="Perpetua"/>
              </a:rPr>
              <a:t>Is </a:t>
            </a:r>
            <a:r>
              <a:rPr sz="3600" i="1" spc="-10" dirty="0">
                <a:latin typeface="Perpetua"/>
                <a:cs typeface="Perpetua"/>
              </a:rPr>
              <a:t>there </a:t>
            </a:r>
            <a:r>
              <a:rPr sz="3600" i="1" dirty="0">
                <a:latin typeface="Perpetua"/>
                <a:cs typeface="Perpetua"/>
              </a:rPr>
              <a:t>a </a:t>
            </a:r>
            <a:r>
              <a:rPr sz="3600" i="1" spc="-5" dirty="0">
                <a:latin typeface="Perpetua"/>
                <a:cs typeface="Perpetua"/>
              </a:rPr>
              <a:t>better </a:t>
            </a:r>
            <a:r>
              <a:rPr sz="3600" i="1" spc="-70" dirty="0">
                <a:latin typeface="Perpetua"/>
                <a:cs typeface="Perpetua"/>
              </a:rPr>
              <a:t>way </a:t>
            </a:r>
            <a:r>
              <a:rPr sz="3600" i="1" dirty="0">
                <a:latin typeface="Perpetua"/>
                <a:cs typeface="Perpetua"/>
              </a:rPr>
              <a:t>to </a:t>
            </a:r>
            <a:r>
              <a:rPr sz="3600" i="1" spc="-10" dirty="0">
                <a:latin typeface="Perpetua"/>
                <a:cs typeface="Perpetua"/>
              </a:rPr>
              <a:t>store </a:t>
            </a:r>
            <a:r>
              <a:rPr sz="3600" i="1" dirty="0">
                <a:latin typeface="Perpetua"/>
                <a:cs typeface="Perpetua"/>
              </a:rPr>
              <a:t>and access </a:t>
            </a:r>
            <a:r>
              <a:rPr sz="3600" i="1" spc="-15" dirty="0">
                <a:latin typeface="Perpetua"/>
                <a:cs typeface="Perpetua"/>
              </a:rPr>
              <a:t>related </a:t>
            </a:r>
            <a:r>
              <a:rPr sz="3600" i="1" spc="-5" dirty="0">
                <a:latin typeface="Perpetua"/>
                <a:cs typeface="Perpetua"/>
              </a:rPr>
              <a:t>items?...  </a:t>
            </a:r>
            <a:r>
              <a:rPr sz="3600" i="1" spc="-20" dirty="0">
                <a:latin typeface="Perpetua"/>
                <a:cs typeface="Perpetua"/>
              </a:rPr>
              <a:t>Answer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5562600"/>
            <a:ext cx="2743200" cy="933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05758" y="433428"/>
            <a:ext cx="795961" cy="9008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6169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Lists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340" y="1357544"/>
            <a:ext cx="8201025" cy="43967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sequence of </a:t>
            </a:r>
            <a:r>
              <a:rPr sz="2600" dirty="0">
                <a:latin typeface="Perpetua"/>
                <a:cs typeface="Perpetua"/>
              </a:rPr>
              <a:t>items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dirty="0">
                <a:latin typeface="Perpetua"/>
                <a:cs typeface="Perpetua"/>
              </a:rPr>
              <a:t>arranged in a </a:t>
            </a:r>
            <a:r>
              <a:rPr sz="2600" spc="10" dirty="0">
                <a:latin typeface="Perpetua"/>
                <a:cs typeface="Perpetua"/>
              </a:rPr>
              <a:t>particular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order.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spc="-5" dirty="0">
                <a:latin typeface="Perpetua"/>
                <a:cs typeface="Perpetua"/>
              </a:rPr>
              <a:t>list of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5" dirty="0">
                <a:latin typeface="Perpetua"/>
                <a:cs typeface="Perpetua"/>
              </a:rPr>
              <a:t>favorite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records</a:t>
            </a:r>
            <a:endParaRPr sz="2600">
              <a:latin typeface="Perpetua"/>
              <a:cs typeface="Perpetua"/>
            </a:endParaRPr>
          </a:p>
          <a:p>
            <a:pPr marL="1899285" lvl="1" indent="-515620">
              <a:lnSpc>
                <a:spcPct val="100000"/>
              </a:lnSpc>
              <a:spcBef>
                <a:spcPts val="430"/>
              </a:spcBef>
              <a:buSzPct val="79166"/>
              <a:buAutoNum type="arabicPeriod"/>
              <a:tabLst>
                <a:tab pos="1899285" algn="l"/>
                <a:tab pos="1899920" algn="l"/>
              </a:tabLst>
            </a:pPr>
            <a:r>
              <a:rPr sz="2400" dirty="0">
                <a:latin typeface="Perpetua"/>
                <a:cs typeface="Perpetua"/>
              </a:rPr>
              <a:t>Bohemisn </a:t>
            </a:r>
            <a:r>
              <a:rPr sz="2400" spc="-5" dirty="0">
                <a:latin typeface="Perpetua"/>
                <a:cs typeface="Perpetua"/>
              </a:rPr>
              <a:t>Rhspdody </a:t>
            </a:r>
            <a:r>
              <a:rPr sz="2400" dirty="0">
                <a:latin typeface="Perpetua"/>
                <a:cs typeface="Perpetua"/>
              </a:rPr>
              <a:t>–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Queen</a:t>
            </a:r>
            <a:endParaRPr sz="2400">
              <a:latin typeface="Perpetua"/>
              <a:cs typeface="Perpetua"/>
            </a:endParaRPr>
          </a:p>
          <a:p>
            <a:pPr marL="1899285" lvl="1" indent="-515620">
              <a:lnSpc>
                <a:spcPct val="100000"/>
              </a:lnSpc>
              <a:spcBef>
                <a:spcPts val="395"/>
              </a:spcBef>
              <a:buSzPct val="79166"/>
              <a:buAutoNum type="arabicPeriod"/>
              <a:tabLst>
                <a:tab pos="1899285" algn="l"/>
                <a:tab pos="1899920" algn="l"/>
              </a:tabLst>
            </a:pPr>
            <a:r>
              <a:rPr sz="2400" spc="-20" dirty="0">
                <a:latin typeface="Perpetua"/>
                <a:cs typeface="Perpetua"/>
              </a:rPr>
              <a:t>Stairway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25" dirty="0">
                <a:latin typeface="Perpetua"/>
                <a:cs typeface="Perpetua"/>
              </a:rPr>
              <a:t>Heaven </a:t>
            </a:r>
            <a:r>
              <a:rPr sz="2400" dirty="0">
                <a:latin typeface="Perpetua"/>
                <a:cs typeface="Perpetua"/>
              </a:rPr>
              <a:t>– Led</a:t>
            </a:r>
            <a:r>
              <a:rPr sz="2400" spc="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Zeppelin</a:t>
            </a:r>
            <a:endParaRPr sz="2400">
              <a:latin typeface="Perpetua"/>
              <a:cs typeface="Perpetua"/>
            </a:endParaRPr>
          </a:p>
          <a:p>
            <a:pPr marL="1899285" lvl="1" indent="-515620">
              <a:lnSpc>
                <a:spcPct val="100000"/>
              </a:lnSpc>
              <a:spcBef>
                <a:spcPts val="409"/>
              </a:spcBef>
              <a:buSzPct val="79166"/>
              <a:buAutoNum type="arabicPeriod"/>
              <a:tabLst>
                <a:tab pos="1899285" algn="l"/>
                <a:tab pos="1899920" algn="l"/>
              </a:tabLst>
            </a:pPr>
            <a:r>
              <a:rPr sz="2400" spc="-65" dirty="0">
                <a:latin typeface="Perpetua"/>
                <a:cs typeface="Perpetua"/>
              </a:rPr>
              <a:t>Your </a:t>
            </a:r>
            <a:r>
              <a:rPr sz="2400" dirty="0">
                <a:latin typeface="Perpetua"/>
                <a:cs typeface="Perpetua"/>
              </a:rPr>
              <a:t>Song – Elton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John</a:t>
            </a:r>
            <a:endParaRPr sz="2400">
              <a:latin typeface="Perpetua"/>
              <a:cs typeface="Perpetua"/>
            </a:endParaRPr>
          </a:p>
          <a:p>
            <a:pPr marL="1899285" lvl="1" indent="-515620">
              <a:lnSpc>
                <a:spcPct val="100000"/>
              </a:lnSpc>
              <a:spcBef>
                <a:spcPts val="395"/>
              </a:spcBef>
              <a:buSzPct val="79166"/>
              <a:buAutoNum type="arabicPeriod"/>
              <a:tabLst>
                <a:tab pos="1899285" algn="l"/>
                <a:tab pos="1899920" algn="l"/>
              </a:tabLst>
            </a:pPr>
            <a:r>
              <a:rPr sz="2400" dirty="0">
                <a:latin typeface="Perpetua"/>
                <a:cs typeface="Perpetua"/>
              </a:rPr>
              <a:t>Who </a:t>
            </a:r>
            <a:r>
              <a:rPr sz="2400" spc="-5" dirty="0">
                <a:latin typeface="Perpetua"/>
                <a:cs typeface="Perpetua"/>
              </a:rPr>
              <a:t>made </a:t>
            </a:r>
            <a:r>
              <a:rPr sz="2400" dirty="0">
                <a:latin typeface="Perpetua"/>
                <a:cs typeface="Perpetua"/>
              </a:rPr>
              <a:t>who –</a:t>
            </a:r>
            <a:r>
              <a:rPr sz="2400" spc="-204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AC/DC</a:t>
            </a:r>
            <a:endParaRPr sz="2400">
              <a:latin typeface="Perpetua"/>
              <a:cs typeface="Perpetua"/>
            </a:endParaRPr>
          </a:p>
          <a:p>
            <a:pPr marL="1899285" lvl="1" indent="-515620">
              <a:lnSpc>
                <a:spcPct val="100000"/>
              </a:lnSpc>
              <a:spcBef>
                <a:spcPts val="395"/>
              </a:spcBef>
              <a:buSzPct val="79166"/>
              <a:buAutoNum type="arabicPeriod"/>
              <a:tabLst>
                <a:tab pos="1899285" algn="l"/>
                <a:tab pos="1899920" algn="l"/>
              </a:tabLst>
            </a:pPr>
            <a:r>
              <a:rPr sz="2400" spc="-20" dirty="0">
                <a:latin typeface="Perpetua"/>
                <a:cs typeface="Perpetua"/>
              </a:rPr>
              <a:t>Sweet </a:t>
            </a:r>
            <a:r>
              <a:rPr sz="2400" spc="-5" dirty="0">
                <a:latin typeface="Perpetua"/>
                <a:cs typeface="Perpetua"/>
              </a:rPr>
              <a:t>Child </a:t>
            </a:r>
            <a:r>
              <a:rPr sz="2400" dirty="0">
                <a:latin typeface="Perpetua"/>
                <a:cs typeface="Perpetua"/>
              </a:rPr>
              <a:t>of Mine – Guns </a:t>
            </a:r>
            <a:r>
              <a:rPr sz="2400" spc="-5" dirty="0">
                <a:latin typeface="Perpetua"/>
                <a:cs typeface="Perpetua"/>
              </a:rPr>
              <a:t>‘n</a:t>
            </a:r>
            <a:r>
              <a:rPr sz="2400" spc="-2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Roses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8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7307580" algn="l"/>
              </a:tabLst>
            </a:pP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dirty="0">
                <a:latin typeface="Perpetua"/>
                <a:cs typeface="Perpetua"/>
              </a:rPr>
              <a:t>item on the </a:t>
            </a:r>
            <a:r>
              <a:rPr sz="2600" spc="-5" dirty="0">
                <a:latin typeface="Perpetua"/>
                <a:cs typeface="Perpetua"/>
              </a:rPr>
              <a:t>list 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identified </a:t>
            </a:r>
            <a:r>
              <a:rPr sz="2600" spc="-30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its </a:t>
            </a:r>
            <a:r>
              <a:rPr sz="2600" spc="-5" dirty="0">
                <a:latin typeface="Perpetua"/>
                <a:cs typeface="Perpetua"/>
              </a:rPr>
              <a:t>position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	</a:t>
            </a:r>
            <a:r>
              <a:rPr sz="2600" spc="-5" dirty="0">
                <a:latin typeface="Perpetua"/>
                <a:cs typeface="Perpetua"/>
              </a:rPr>
              <a:t>list.</a:t>
            </a:r>
            <a:endParaRPr sz="2600">
              <a:latin typeface="Perpetua"/>
              <a:cs typeface="Perpetua"/>
            </a:endParaRPr>
          </a:p>
          <a:p>
            <a:pPr marL="286385" marR="14033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7676515" algn="l"/>
              </a:tabLst>
            </a:pPr>
            <a:r>
              <a:rPr sz="2600" spc="-290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 de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item in the </a:t>
            </a:r>
            <a:r>
              <a:rPr sz="2600" spc="-5" dirty="0">
                <a:latin typeface="Perpetua"/>
                <a:cs typeface="Perpetua"/>
              </a:rPr>
              <a:t>lis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5" dirty="0">
                <a:latin typeface="Perpetua"/>
                <a:cs typeface="Perpetua"/>
              </a:rPr>
              <a:t> a</a:t>
            </a:r>
            <a:r>
              <a:rPr sz="2600" dirty="0">
                <a:latin typeface="Perpetua"/>
                <a:cs typeface="Perpetua"/>
              </a:rPr>
              <a:t>s</a:t>
            </a:r>
            <a:r>
              <a:rPr sz="2600" spc="-5" dirty="0">
                <a:latin typeface="Perpetua"/>
                <a:cs typeface="Perpetua"/>
              </a:rPr>
              <a:t> lis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[</a:t>
            </a:r>
            <a:r>
              <a:rPr sz="2600" dirty="0">
                <a:latin typeface="Perpetua"/>
                <a:cs typeface="Perpetua"/>
              </a:rPr>
              <a:t>fi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st_lo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]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the  </a:t>
            </a:r>
            <a:r>
              <a:rPr sz="2600" spc="-5" dirty="0">
                <a:latin typeface="Perpetua"/>
                <a:cs typeface="Perpetua"/>
              </a:rPr>
              <a:t>second </a:t>
            </a:r>
            <a:r>
              <a:rPr sz="2600" dirty="0">
                <a:latin typeface="Perpetua"/>
                <a:cs typeface="Perpetua"/>
              </a:rPr>
              <a:t>item in </a:t>
            </a:r>
            <a:r>
              <a:rPr sz="2600" spc="-5" dirty="0">
                <a:latin typeface="Perpetua"/>
                <a:cs typeface="Perpetua"/>
              </a:rPr>
              <a:t>the list as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list[second_location].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80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Lists – Storage</a:t>
            </a:r>
            <a:r>
              <a:rPr spc="-25" dirty="0"/>
              <a:t> </a:t>
            </a:r>
            <a:r>
              <a:rPr spc="-5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0477"/>
            <a:ext cx="8542655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49250">
              <a:lnSpc>
                <a:spcPts val="2765"/>
              </a:lnSpc>
              <a:spcBef>
                <a:spcPts val="100"/>
              </a:spcBef>
              <a:buSzPct val="91666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400" spc="-10" dirty="0">
                <a:latin typeface="Perpetua"/>
                <a:cs typeface="Perpetua"/>
              </a:rPr>
              <a:t>Data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stored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at</a:t>
            </a:r>
            <a:r>
              <a:rPr sz="2400" spc="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some</a:t>
            </a:r>
            <a:r>
              <a:rPr sz="2400" spc="1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location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13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each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location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has</a:t>
            </a:r>
            <a:r>
              <a:rPr sz="2400" spc="1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address</a:t>
            </a:r>
            <a:r>
              <a:rPr sz="2400" spc="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(</a:t>
            </a:r>
            <a:r>
              <a:rPr sz="2400" spc="1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Figure: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65"/>
              </a:lnSpc>
            </a:pPr>
            <a:r>
              <a:rPr sz="2400" spc="-5" dirty="0">
                <a:latin typeface="Perpetua"/>
                <a:cs typeface="Perpetua"/>
              </a:rPr>
              <a:t>Storage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Organization).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011673"/>
            <a:ext cx="80727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piece of </a:t>
            </a:r>
            <a:r>
              <a:rPr sz="2400" spc="-5" dirty="0">
                <a:latin typeface="Perpetua"/>
                <a:cs typeface="Perpetua"/>
              </a:rPr>
              <a:t>data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located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an address </a:t>
            </a:r>
            <a:r>
              <a:rPr sz="2400" dirty="0">
                <a:latin typeface="Perpetua"/>
                <a:cs typeface="Perpetua"/>
              </a:rPr>
              <a:t>( </a:t>
            </a: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List of </a:t>
            </a:r>
            <a:r>
              <a:rPr sz="2400" spc="-15" dirty="0">
                <a:latin typeface="Perpetua"/>
                <a:cs typeface="Perpetua"/>
              </a:rPr>
              <a:t>Five</a:t>
            </a:r>
            <a:r>
              <a:rPr sz="2400" spc="-2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painting  </a:t>
            </a:r>
            <a:r>
              <a:rPr sz="2400" spc="-5" dirty="0">
                <a:latin typeface="Perpetua"/>
                <a:cs typeface="Perpetua"/>
              </a:rPr>
              <a:t>records).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2628" y="4341621"/>
            <a:ext cx="2957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Figure: </a:t>
            </a:r>
            <a:r>
              <a:rPr sz="1800" dirty="0">
                <a:latin typeface="Perpetua"/>
                <a:cs typeface="Perpetua"/>
              </a:rPr>
              <a:t>List of </a:t>
            </a:r>
            <a:r>
              <a:rPr sz="1800" spc="-10" dirty="0">
                <a:latin typeface="Perpetua"/>
                <a:cs typeface="Perpetua"/>
              </a:rPr>
              <a:t>Five </a:t>
            </a:r>
            <a:r>
              <a:rPr sz="1800" dirty="0">
                <a:latin typeface="Perpetua"/>
                <a:cs typeface="Perpetua"/>
              </a:rPr>
              <a:t>painting</a:t>
            </a:r>
            <a:r>
              <a:rPr sz="1800" spc="-16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records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28359" y="2057400"/>
            <a:ext cx="1685543" cy="2372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2044" y="4504182"/>
            <a:ext cx="245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 </a:t>
            </a:r>
            <a:r>
              <a:rPr sz="1800" dirty="0">
                <a:latin typeface="Perpetua"/>
                <a:cs typeface="Perpetua"/>
              </a:rPr>
              <a:t>: Storage</a:t>
            </a:r>
            <a:r>
              <a:rPr sz="1800" spc="-15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Organization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27960" y="2362200"/>
            <a:ext cx="1761743" cy="2278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000" y="2641092"/>
            <a:ext cx="1056132" cy="13670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522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Lists -</a:t>
            </a:r>
            <a:r>
              <a:rPr spc="-80" dirty="0"/>
              <a:t> </a:t>
            </a:r>
            <a:r>
              <a:rPr dirty="0"/>
              <a:t>Indices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288655" cy="129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Addresses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lists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numbers (indices) </a:t>
            </a:r>
            <a:r>
              <a:rPr sz="2600" spc="-5" dirty="0">
                <a:latin typeface="Perpetua"/>
                <a:cs typeface="Perpetua"/>
              </a:rPr>
              <a:t>as illustrated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Figure: </a:t>
            </a:r>
            <a:r>
              <a:rPr sz="2600" dirty="0">
                <a:latin typeface="Perpetua"/>
                <a:cs typeface="Perpetua"/>
              </a:rPr>
              <a:t>List  indices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8224" y="2234183"/>
            <a:ext cx="4121981" cy="1389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74975" y="3659504"/>
            <a:ext cx="158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Figure: </a:t>
            </a:r>
            <a:r>
              <a:rPr sz="1800" dirty="0">
                <a:latin typeface="Perpetua"/>
                <a:cs typeface="Perpetua"/>
              </a:rPr>
              <a:t>List</a:t>
            </a:r>
            <a:r>
              <a:rPr sz="1800" spc="-1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indices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20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Adding Elements to</a:t>
            </a:r>
            <a:r>
              <a:rPr spc="-25" dirty="0"/>
              <a:t> </a:t>
            </a:r>
            <a:r>
              <a:rPr spc="-10" dirty="0"/>
              <a:t>list</a:t>
            </a:r>
          </a:p>
        </p:txBody>
      </p:sp>
      <p:sp>
        <p:nvSpPr>
          <p:cNvPr id="3" name="object 3"/>
          <p:cNvSpPr/>
          <p:nvPr/>
        </p:nvSpPr>
        <p:spPr>
          <a:xfrm>
            <a:off x="5562600" y="3733800"/>
            <a:ext cx="891719" cy="740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361897"/>
            <a:ext cx="8195309" cy="513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Lists can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5" dirty="0">
                <a:latin typeface="Perpetua"/>
                <a:cs typeface="Perpetua"/>
              </a:rPr>
              <a:t>new </a:t>
            </a:r>
            <a:r>
              <a:rPr sz="2400" spc="5" dirty="0">
                <a:latin typeface="Perpetua"/>
                <a:cs typeface="Perpetua"/>
              </a:rPr>
              <a:t>entries </a:t>
            </a:r>
            <a:r>
              <a:rPr sz="2400" dirty="0">
                <a:latin typeface="Perpetua"/>
                <a:cs typeface="Perpetua"/>
              </a:rPr>
              <a:t>added </a:t>
            </a:r>
            <a:r>
              <a:rPr sz="2400" spc="-20" dirty="0">
                <a:latin typeface="Perpetua"/>
                <a:cs typeface="Perpetua"/>
              </a:rPr>
              <a:t>anywhere, </a:t>
            </a:r>
            <a:r>
              <a:rPr sz="2400" dirty="0">
                <a:latin typeface="Perpetua"/>
                <a:cs typeface="Perpetua"/>
              </a:rPr>
              <a:t>including in the </a:t>
            </a:r>
            <a:r>
              <a:rPr sz="2400" spc="-10" dirty="0">
                <a:latin typeface="Perpetua"/>
                <a:cs typeface="Perpetua"/>
              </a:rPr>
              <a:t>middle,</a:t>
            </a:r>
            <a:r>
              <a:rPr sz="2400" spc="-2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their </a:t>
            </a:r>
            <a:r>
              <a:rPr sz="2400" spc="-5" dirty="0">
                <a:latin typeface="Perpetua"/>
                <a:cs typeface="Perpetua"/>
              </a:rPr>
              <a:t>length </a:t>
            </a:r>
            <a:r>
              <a:rPr sz="2400" dirty="0">
                <a:latin typeface="Perpetua"/>
                <a:cs typeface="Perpetua"/>
              </a:rPr>
              <a:t>can </a:t>
            </a:r>
            <a:r>
              <a:rPr sz="2400" spc="-5" dirty="0">
                <a:latin typeface="Perpetua"/>
                <a:cs typeface="Perpetua"/>
              </a:rPr>
              <a:t>increase as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needed.</a:t>
            </a:r>
            <a:endParaRPr sz="2400">
              <a:latin typeface="Perpetua"/>
              <a:cs typeface="Perpetua"/>
            </a:endParaRPr>
          </a:p>
          <a:p>
            <a:pPr marL="513715">
              <a:lnSpc>
                <a:spcPct val="100000"/>
              </a:lnSpc>
              <a:spcBef>
                <a:spcPts val="890"/>
              </a:spcBef>
            </a:pPr>
            <a:r>
              <a:rPr sz="2000" b="1" i="1" dirty="0">
                <a:latin typeface="Perpetua"/>
                <a:cs typeface="Perpetua"/>
              </a:rPr>
              <a:t>Original</a:t>
            </a:r>
            <a:r>
              <a:rPr sz="2000" b="1" i="1" spc="-20" dirty="0">
                <a:latin typeface="Perpetua"/>
                <a:cs typeface="Perpetua"/>
              </a:rPr>
              <a:t> </a:t>
            </a:r>
            <a:r>
              <a:rPr sz="2000" b="1" i="1" dirty="0">
                <a:latin typeface="Perpetua"/>
                <a:cs typeface="Perpetua"/>
              </a:rPr>
              <a:t>List</a:t>
            </a:r>
            <a:endParaRPr sz="2000">
              <a:latin typeface="Perpetua"/>
              <a:cs typeface="Perpetua"/>
            </a:endParaRPr>
          </a:p>
          <a:p>
            <a:pPr marL="1256030" lvl="1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dirty="0">
                <a:latin typeface="Perpetua"/>
                <a:cs typeface="Perpetua"/>
              </a:rPr>
              <a:t>Bohemisn </a:t>
            </a:r>
            <a:r>
              <a:rPr sz="2000" i="1" spc="-5" dirty="0">
                <a:latin typeface="Perpetua"/>
                <a:cs typeface="Perpetua"/>
              </a:rPr>
              <a:t>Rhspdody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55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Queen</a:t>
            </a:r>
            <a:endParaRPr sz="2000">
              <a:latin typeface="Perpetua"/>
              <a:cs typeface="Perpetua"/>
            </a:endParaRPr>
          </a:p>
          <a:p>
            <a:pPr marL="1256030" lvl="1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spc="-20" dirty="0">
                <a:latin typeface="Perpetua"/>
                <a:cs typeface="Perpetua"/>
              </a:rPr>
              <a:t>Stairway </a:t>
            </a:r>
            <a:r>
              <a:rPr sz="2000" i="1" spc="-5" dirty="0">
                <a:latin typeface="Perpetua"/>
                <a:cs typeface="Perpetua"/>
              </a:rPr>
              <a:t>to </a:t>
            </a:r>
            <a:r>
              <a:rPr sz="2000" i="1" spc="-20" dirty="0">
                <a:latin typeface="Perpetua"/>
                <a:cs typeface="Perpetua"/>
              </a:rPr>
              <a:t>Heaven </a:t>
            </a:r>
            <a:r>
              <a:rPr sz="2000" i="1" dirty="0">
                <a:latin typeface="Perpetua"/>
                <a:cs typeface="Perpetua"/>
              </a:rPr>
              <a:t>– Led</a:t>
            </a:r>
            <a:r>
              <a:rPr sz="2000" i="1" spc="-15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Zeppelin</a:t>
            </a:r>
            <a:endParaRPr sz="2000">
              <a:latin typeface="Perpetua"/>
              <a:cs typeface="Perpetua"/>
            </a:endParaRPr>
          </a:p>
          <a:p>
            <a:pPr marL="1256030" lvl="1" indent="-28511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56665" algn="l"/>
              </a:tabLst>
            </a:pPr>
            <a:r>
              <a:rPr sz="2000" i="1" spc="-45" dirty="0">
                <a:latin typeface="Perpetua"/>
                <a:cs typeface="Perpetua"/>
              </a:rPr>
              <a:t>Your </a:t>
            </a:r>
            <a:r>
              <a:rPr sz="2000" i="1" dirty="0">
                <a:latin typeface="Perpetua"/>
                <a:cs typeface="Perpetua"/>
              </a:rPr>
              <a:t>Song – </a:t>
            </a:r>
            <a:r>
              <a:rPr sz="2000" i="1" spc="-5" dirty="0">
                <a:latin typeface="Perpetua"/>
                <a:cs typeface="Perpetua"/>
              </a:rPr>
              <a:t>Elton</a:t>
            </a:r>
            <a:r>
              <a:rPr sz="2000" i="1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John</a:t>
            </a:r>
            <a:endParaRPr sz="2000">
              <a:latin typeface="Perpetua"/>
              <a:cs typeface="Perpetua"/>
            </a:endParaRPr>
          </a:p>
          <a:p>
            <a:pPr marL="1256030" lvl="1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dirty="0">
                <a:latin typeface="Perpetua"/>
                <a:cs typeface="Perpetua"/>
              </a:rPr>
              <a:t>Who </a:t>
            </a:r>
            <a:r>
              <a:rPr sz="2000" i="1" spc="-5" dirty="0">
                <a:latin typeface="Perpetua"/>
                <a:cs typeface="Perpetua"/>
              </a:rPr>
              <a:t>made </a:t>
            </a:r>
            <a:r>
              <a:rPr sz="2000" i="1" spc="-15" dirty="0">
                <a:latin typeface="Perpetua"/>
                <a:cs typeface="Perpetua"/>
              </a:rPr>
              <a:t>who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125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AC/DC</a:t>
            </a:r>
            <a:endParaRPr sz="2000">
              <a:latin typeface="Perpetua"/>
              <a:cs typeface="Perpetua"/>
            </a:endParaRPr>
          </a:p>
          <a:p>
            <a:pPr marL="1256030" lvl="1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spc="-10" dirty="0">
                <a:latin typeface="Perpetua"/>
                <a:cs typeface="Perpetua"/>
              </a:rPr>
              <a:t>Sweet </a:t>
            </a:r>
            <a:r>
              <a:rPr sz="2000" i="1" spc="-5" dirty="0">
                <a:latin typeface="Perpetua"/>
                <a:cs typeface="Perpetua"/>
              </a:rPr>
              <a:t>Child </a:t>
            </a:r>
            <a:r>
              <a:rPr sz="2000" i="1" dirty="0">
                <a:latin typeface="Perpetua"/>
                <a:cs typeface="Perpetua"/>
              </a:rPr>
              <a:t>of Mine – Guns’n</a:t>
            </a:r>
            <a:r>
              <a:rPr sz="2000" i="1" spc="-45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Roses</a:t>
            </a:r>
            <a:endParaRPr sz="2000">
              <a:latin typeface="Perpetua"/>
              <a:cs typeface="Perpetua"/>
            </a:endParaRPr>
          </a:p>
          <a:p>
            <a:pPr marL="508000">
              <a:lnSpc>
                <a:spcPct val="100000"/>
              </a:lnSpc>
            </a:pPr>
            <a:r>
              <a:rPr sz="2000" b="1" i="1" dirty="0">
                <a:latin typeface="Perpetua"/>
                <a:cs typeface="Perpetua"/>
              </a:rPr>
              <a:t>List after adding a </a:t>
            </a:r>
            <a:r>
              <a:rPr sz="2000" b="1" i="1" spc="-10" dirty="0">
                <a:latin typeface="Perpetua"/>
                <a:cs typeface="Perpetua"/>
              </a:rPr>
              <a:t>new</a:t>
            </a:r>
            <a:r>
              <a:rPr sz="2000" b="1" i="1" spc="-60" dirty="0">
                <a:latin typeface="Perpetua"/>
                <a:cs typeface="Perpetua"/>
              </a:rPr>
              <a:t> </a:t>
            </a:r>
            <a:r>
              <a:rPr sz="2000" b="1" i="1" dirty="0">
                <a:latin typeface="Perpetua"/>
                <a:cs typeface="Perpetua"/>
              </a:rPr>
              <a:t>element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spc="-5" dirty="0">
                <a:latin typeface="Perpetua"/>
                <a:cs typeface="Perpetua"/>
              </a:rPr>
              <a:t>Bohemisn Rhspdody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5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Queen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spc="-10" dirty="0">
                <a:latin typeface="Perpetua"/>
                <a:cs typeface="Perpetua"/>
              </a:rPr>
              <a:t>Every Breath </a:t>
            </a:r>
            <a:r>
              <a:rPr sz="2000" i="1" spc="-15" dirty="0">
                <a:latin typeface="Perpetua"/>
                <a:cs typeface="Perpetua"/>
              </a:rPr>
              <a:t>you </a:t>
            </a:r>
            <a:r>
              <a:rPr sz="2000" i="1" spc="-5" dirty="0">
                <a:latin typeface="Perpetua"/>
                <a:cs typeface="Perpetua"/>
              </a:rPr>
              <a:t>take </a:t>
            </a:r>
            <a:r>
              <a:rPr sz="2000" i="1" dirty="0">
                <a:latin typeface="Perpetua"/>
                <a:cs typeface="Perpetua"/>
              </a:rPr>
              <a:t>-</a:t>
            </a:r>
            <a:r>
              <a:rPr sz="2000" i="1" spc="15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Police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spc="-15" dirty="0">
                <a:latin typeface="Perpetua"/>
                <a:cs typeface="Perpetua"/>
              </a:rPr>
              <a:t>Stairway </a:t>
            </a:r>
            <a:r>
              <a:rPr sz="2000" i="1" spc="-5" dirty="0">
                <a:latin typeface="Perpetua"/>
                <a:cs typeface="Perpetua"/>
              </a:rPr>
              <a:t>to </a:t>
            </a:r>
            <a:r>
              <a:rPr sz="2000" i="1" spc="-20" dirty="0">
                <a:latin typeface="Perpetua"/>
                <a:cs typeface="Perpetua"/>
              </a:rPr>
              <a:t>Heaven </a:t>
            </a:r>
            <a:r>
              <a:rPr sz="2000" i="1" dirty="0">
                <a:latin typeface="Perpetua"/>
                <a:cs typeface="Perpetua"/>
              </a:rPr>
              <a:t>– Led</a:t>
            </a:r>
            <a:r>
              <a:rPr sz="2000" i="1" spc="-20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Zeppelin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spc="-45" dirty="0">
                <a:latin typeface="Perpetua"/>
                <a:cs typeface="Perpetua"/>
              </a:rPr>
              <a:t>Your </a:t>
            </a:r>
            <a:r>
              <a:rPr sz="2000" i="1" dirty="0">
                <a:latin typeface="Perpetua"/>
                <a:cs typeface="Perpetua"/>
              </a:rPr>
              <a:t>Song – </a:t>
            </a:r>
            <a:r>
              <a:rPr sz="2000" i="1" spc="-5" dirty="0">
                <a:latin typeface="Perpetua"/>
                <a:cs typeface="Perpetua"/>
              </a:rPr>
              <a:t>Elton</a:t>
            </a:r>
            <a:r>
              <a:rPr sz="2000" i="1" spc="5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John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dirty="0">
                <a:latin typeface="Perpetua"/>
                <a:cs typeface="Perpetua"/>
              </a:rPr>
              <a:t>Who </a:t>
            </a:r>
            <a:r>
              <a:rPr sz="2000" i="1" spc="-5" dirty="0">
                <a:latin typeface="Perpetua"/>
                <a:cs typeface="Perpetua"/>
              </a:rPr>
              <a:t>made </a:t>
            </a:r>
            <a:r>
              <a:rPr sz="2000" i="1" spc="-15" dirty="0">
                <a:latin typeface="Perpetua"/>
                <a:cs typeface="Perpetua"/>
              </a:rPr>
              <a:t>who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140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AC/DC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457325" algn="l"/>
                <a:tab pos="1457960" algn="l"/>
              </a:tabLst>
            </a:pPr>
            <a:r>
              <a:rPr sz="2000" i="1" spc="-10" dirty="0">
                <a:latin typeface="Perpetua"/>
                <a:cs typeface="Perpetua"/>
              </a:rPr>
              <a:t>Sweet </a:t>
            </a:r>
            <a:r>
              <a:rPr sz="2000" i="1" spc="-5" dirty="0">
                <a:latin typeface="Perpetua"/>
                <a:cs typeface="Perpetua"/>
              </a:rPr>
              <a:t>Child </a:t>
            </a:r>
            <a:r>
              <a:rPr sz="2000" i="1" dirty="0">
                <a:latin typeface="Perpetua"/>
                <a:cs typeface="Perpetua"/>
              </a:rPr>
              <a:t>of Mine – Guns </a:t>
            </a:r>
            <a:r>
              <a:rPr sz="2000" i="1" spc="-5" dirty="0">
                <a:latin typeface="Perpetua"/>
                <a:cs typeface="Perpetua"/>
              </a:rPr>
              <a:t>‘n</a:t>
            </a:r>
            <a:r>
              <a:rPr sz="2000" i="1" spc="-235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Roses</a:t>
            </a:r>
            <a:endParaRPr sz="2000">
              <a:latin typeface="Perpetua"/>
              <a:cs typeface="Perpetua"/>
            </a:endParaRPr>
          </a:p>
          <a:p>
            <a:pPr marL="1457325" indent="-515620">
              <a:lnSpc>
                <a:spcPct val="100000"/>
              </a:lnSpc>
              <a:buAutoNum type="arabicPeriod"/>
              <a:tabLst>
                <a:tab pos="1457325" algn="l"/>
                <a:tab pos="1457960" algn="l"/>
              </a:tabLst>
            </a:pPr>
            <a:r>
              <a:rPr sz="2000" i="1" dirty="0">
                <a:latin typeface="Perpetua"/>
                <a:cs typeface="Perpetua"/>
              </a:rPr>
              <a:t>The Ghost of </a:t>
            </a:r>
            <a:r>
              <a:rPr sz="2000" i="1" spc="-80" dirty="0">
                <a:latin typeface="Perpetua"/>
                <a:cs typeface="Perpetua"/>
              </a:rPr>
              <a:t>Tom </a:t>
            </a:r>
            <a:r>
              <a:rPr sz="2000" i="1" spc="-20" dirty="0">
                <a:latin typeface="Perpetua"/>
                <a:cs typeface="Perpetua"/>
              </a:rPr>
              <a:t>Jord </a:t>
            </a:r>
            <a:r>
              <a:rPr sz="2000" i="1" dirty="0">
                <a:latin typeface="Perpetua"/>
                <a:cs typeface="Perpetua"/>
              </a:rPr>
              <a:t>– </a:t>
            </a:r>
            <a:r>
              <a:rPr sz="2000" i="1" spc="5" dirty="0">
                <a:latin typeface="Perpetua"/>
                <a:cs typeface="Perpetua"/>
              </a:rPr>
              <a:t>Bruce</a:t>
            </a:r>
            <a:r>
              <a:rPr sz="2000" i="1" spc="-165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Springsteen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06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Removing </a:t>
            </a:r>
            <a:r>
              <a:rPr spc="-5" dirty="0"/>
              <a:t>Elements </a:t>
            </a:r>
            <a:r>
              <a:rPr spc="-10" dirty="0"/>
              <a:t>from</a:t>
            </a:r>
            <a:r>
              <a:rPr spc="-25" dirty="0"/>
              <a:t> </a:t>
            </a:r>
            <a:r>
              <a:rPr spc="-5" dirty="0"/>
              <a:t>List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0" y="533400"/>
            <a:ext cx="8382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229438"/>
            <a:ext cx="5286375" cy="504317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7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5" dirty="0">
                <a:latin typeface="Perpetua"/>
                <a:cs typeface="Perpetua"/>
              </a:rPr>
              <a:t>Entries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25" dirty="0">
                <a:latin typeface="Perpetua"/>
                <a:cs typeface="Perpetua"/>
              </a:rPr>
              <a:t>removed </a:t>
            </a:r>
            <a:r>
              <a:rPr sz="2400" spc="-10" dirty="0">
                <a:latin typeface="Perpetua"/>
                <a:cs typeface="Perpetua"/>
              </a:rPr>
              <a:t>from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lists.</a:t>
            </a:r>
            <a:endParaRPr sz="2400">
              <a:latin typeface="Perpetua"/>
              <a:cs typeface="Perpetua"/>
            </a:endParaRPr>
          </a:p>
          <a:p>
            <a:pPr marL="513715">
              <a:lnSpc>
                <a:spcPct val="100000"/>
              </a:lnSpc>
              <a:spcBef>
                <a:spcPts val="1375"/>
              </a:spcBef>
            </a:pPr>
            <a:r>
              <a:rPr sz="2000" b="1" i="1" dirty="0">
                <a:latin typeface="Perpetua"/>
                <a:cs typeface="Perpetua"/>
              </a:rPr>
              <a:t>Original</a:t>
            </a:r>
            <a:r>
              <a:rPr sz="2000" b="1" i="1" spc="-20" dirty="0">
                <a:latin typeface="Perpetua"/>
                <a:cs typeface="Perpetua"/>
              </a:rPr>
              <a:t> </a:t>
            </a:r>
            <a:r>
              <a:rPr sz="2000" b="1" i="1" dirty="0">
                <a:latin typeface="Perpetua"/>
                <a:cs typeface="Perpetua"/>
              </a:rPr>
              <a:t>List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dirty="0">
                <a:latin typeface="Perpetua"/>
                <a:cs typeface="Perpetua"/>
              </a:rPr>
              <a:t>Bohemisn </a:t>
            </a:r>
            <a:r>
              <a:rPr sz="2000" i="1" spc="-5" dirty="0">
                <a:latin typeface="Perpetua"/>
                <a:cs typeface="Perpetua"/>
              </a:rPr>
              <a:t>Rhspdody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6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Queen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spc="-10" dirty="0">
                <a:latin typeface="Perpetua"/>
                <a:cs typeface="Perpetua"/>
              </a:rPr>
              <a:t>Every Breath </a:t>
            </a:r>
            <a:r>
              <a:rPr sz="2000" i="1" spc="-15" dirty="0">
                <a:latin typeface="Perpetua"/>
                <a:cs typeface="Perpetua"/>
              </a:rPr>
              <a:t>you </a:t>
            </a:r>
            <a:r>
              <a:rPr sz="2000" i="1" spc="-5" dirty="0">
                <a:latin typeface="Perpetua"/>
                <a:cs typeface="Perpetua"/>
              </a:rPr>
              <a:t>take </a:t>
            </a:r>
            <a:r>
              <a:rPr sz="2000" i="1" dirty="0">
                <a:latin typeface="Perpetua"/>
                <a:cs typeface="Perpetua"/>
              </a:rPr>
              <a:t>-</a:t>
            </a:r>
            <a:r>
              <a:rPr sz="2000" i="1" spc="5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Police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spc="-20" dirty="0">
                <a:latin typeface="Perpetua"/>
                <a:cs typeface="Perpetua"/>
              </a:rPr>
              <a:t>Stairway </a:t>
            </a:r>
            <a:r>
              <a:rPr sz="2000" i="1" spc="-5" dirty="0">
                <a:latin typeface="Perpetua"/>
                <a:cs typeface="Perpetua"/>
              </a:rPr>
              <a:t>to </a:t>
            </a:r>
            <a:r>
              <a:rPr sz="2000" i="1" spc="-20" dirty="0">
                <a:latin typeface="Perpetua"/>
                <a:cs typeface="Perpetua"/>
              </a:rPr>
              <a:t>Heaven </a:t>
            </a:r>
            <a:r>
              <a:rPr sz="2000" i="1" dirty="0">
                <a:latin typeface="Perpetua"/>
                <a:cs typeface="Perpetua"/>
              </a:rPr>
              <a:t>– Led</a:t>
            </a:r>
            <a:r>
              <a:rPr sz="2000" i="1" spc="-15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Zeppelin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spc="-45" dirty="0">
                <a:latin typeface="Perpetua"/>
                <a:cs typeface="Perpetua"/>
              </a:rPr>
              <a:t>Your </a:t>
            </a:r>
            <a:r>
              <a:rPr sz="2000" i="1" dirty="0">
                <a:latin typeface="Perpetua"/>
                <a:cs typeface="Perpetua"/>
              </a:rPr>
              <a:t>Song – </a:t>
            </a:r>
            <a:r>
              <a:rPr sz="2000" i="1" spc="-5" dirty="0">
                <a:latin typeface="Perpetua"/>
                <a:cs typeface="Perpetua"/>
              </a:rPr>
              <a:t>Elton </a:t>
            </a:r>
            <a:r>
              <a:rPr sz="2000" i="1" spc="-20" dirty="0">
                <a:latin typeface="Perpetua"/>
                <a:cs typeface="Perpetua"/>
              </a:rPr>
              <a:t>John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dirty="0">
                <a:latin typeface="Perpetua"/>
                <a:cs typeface="Perpetua"/>
              </a:rPr>
              <a:t>Who </a:t>
            </a:r>
            <a:r>
              <a:rPr sz="2000" i="1" spc="-5" dirty="0">
                <a:latin typeface="Perpetua"/>
                <a:cs typeface="Perpetua"/>
              </a:rPr>
              <a:t>made </a:t>
            </a:r>
            <a:r>
              <a:rPr sz="2000" i="1" spc="-15" dirty="0">
                <a:latin typeface="Perpetua"/>
                <a:cs typeface="Perpetua"/>
              </a:rPr>
              <a:t>who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130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AC/DC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spc="-10" dirty="0">
                <a:latin typeface="Perpetua"/>
                <a:cs typeface="Perpetua"/>
              </a:rPr>
              <a:t>Sweet </a:t>
            </a:r>
            <a:r>
              <a:rPr sz="2000" i="1" spc="-5" dirty="0">
                <a:latin typeface="Perpetua"/>
                <a:cs typeface="Perpetua"/>
              </a:rPr>
              <a:t>Child </a:t>
            </a:r>
            <a:r>
              <a:rPr sz="2000" i="1" dirty="0">
                <a:latin typeface="Perpetua"/>
                <a:cs typeface="Perpetua"/>
              </a:rPr>
              <a:t>of Mine – Guns </a:t>
            </a:r>
            <a:r>
              <a:rPr sz="2000" i="1" spc="-5" dirty="0">
                <a:latin typeface="Perpetua"/>
                <a:cs typeface="Perpetua"/>
              </a:rPr>
              <a:t>‘n</a:t>
            </a:r>
            <a:r>
              <a:rPr sz="2000" i="1" spc="-24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Roses</a:t>
            </a:r>
            <a:endParaRPr sz="2000">
              <a:latin typeface="Perpetua"/>
              <a:cs typeface="Perpetua"/>
            </a:endParaRPr>
          </a:p>
          <a:p>
            <a:pPr marL="1731645" lvl="1" indent="-515620">
              <a:lnSpc>
                <a:spcPct val="100000"/>
              </a:lnSpc>
              <a:buAutoNum type="arabicPeriod"/>
              <a:tabLst>
                <a:tab pos="1731645" algn="l"/>
                <a:tab pos="1732280" algn="l"/>
              </a:tabLst>
            </a:pPr>
            <a:r>
              <a:rPr sz="2000" i="1" dirty="0">
                <a:latin typeface="Perpetua"/>
                <a:cs typeface="Perpetua"/>
              </a:rPr>
              <a:t>The Ghost of </a:t>
            </a:r>
            <a:r>
              <a:rPr sz="2000" i="1" spc="-80" dirty="0">
                <a:latin typeface="Perpetua"/>
                <a:cs typeface="Perpetua"/>
              </a:rPr>
              <a:t>Tom </a:t>
            </a:r>
            <a:r>
              <a:rPr sz="2000" i="1" spc="-20" dirty="0">
                <a:latin typeface="Perpetua"/>
                <a:cs typeface="Perpetua"/>
              </a:rPr>
              <a:t>Jord </a:t>
            </a:r>
            <a:r>
              <a:rPr sz="2000" i="1" dirty="0">
                <a:latin typeface="Perpetua"/>
                <a:cs typeface="Perpetua"/>
              </a:rPr>
              <a:t>– </a:t>
            </a:r>
            <a:r>
              <a:rPr sz="2000" i="1" spc="5" dirty="0">
                <a:latin typeface="Perpetua"/>
                <a:cs typeface="Perpetua"/>
              </a:rPr>
              <a:t>Bruce</a:t>
            </a:r>
            <a:r>
              <a:rPr sz="2000" i="1" spc="-210" dirty="0">
                <a:latin typeface="Perpetua"/>
                <a:cs typeface="Perpetua"/>
              </a:rPr>
              <a:t> </a:t>
            </a:r>
            <a:r>
              <a:rPr sz="2000" i="1" spc="5" dirty="0">
                <a:latin typeface="Perpetua"/>
                <a:cs typeface="Perpetua"/>
              </a:rPr>
              <a:t>Springsteen</a:t>
            </a:r>
            <a:endParaRPr sz="2000">
              <a:latin typeface="Perpetua"/>
              <a:cs typeface="Perpetua"/>
            </a:endParaRPr>
          </a:p>
          <a:p>
            <a:pPr marL="513715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Perpetua"/>
                <a:cs typeface="Perpetua"/>
              </a:rPr>
              <a:t>List after deletion </a:t>
            </a:r>
            <a:r>
              <a:rPr sz="2000" b="1" i="1" spc="-5" dirty="0">
                <a:latin typeface="Perpetua"/>
                <a:cs typeface="Perpetua"/>
              </a:rPr>
              <a:t>of two</a:t>
            </a:r>
            <a:r>
              <a:rPr sz="2000" b="1" i="1" spc="-70" dirty="0">
                <a:latin typeface="Perpetua"/>
                <a:cs typeface="Perpetua"/>
              </a:rPr>
              <a:t> </a:t>
            </a:r>
            <a:r>
              <a:rPr sz="2000" b="1" i="1" dirty="0">
                <a:latin typeface="Perpetua"/>
                <a:cs typeface="Perpetua"/>
              </a:rPr>
              <a:t>elements</a:t>
            </a:r>
            <a:endParaRPr sz="2000">
              <a:latin typeface="Perpetua"/>
              <a:cs typeface="Perpetua"/>
            </a:endParaRPr>
          </a:p>
          <a:p>
            <a:pPr marL="1256030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dirty="0">
                <a:latin typeface="Perpetua"/>
                <a:cs typeface="Perpetua"/>
              </a:rPr>
              <a:t>Bohemisn </a:t>
            </a:r>
            <a:r>
              <a:rPr sz="2000" i="1" spc="-5" dirty="0">
                <a:latin typeface="Perpetua"/>
                <a:cs typeface="Perpetua"/>
              </a:rPr>
              <a:t>Rhspdody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6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Queen</a:t>
            </a:r>
            <a:endParaRPr sz="2000">
              <a:latin typeface="Perpetua"/>
              <a:cs typeface="Perpetua"/>
            </a:endParaRPr>
          </a:p>
          <a:p>
            <a:pPr marL="1256030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spc="-15" dirty="0">
                <a:latin typeface="Perpetua"/>
                <a:cs typeface="Perpetua"/>
              </a:rPr>
              <a:t>Stairway </a:t>
            </a:r>
            <a:r>
              <a:rPr sz="2000" i="1" spc="-5" dirty="0">
                <a:latin typeface="Perpetua"/>
                <a:cs typeface="Perpetua"/>
              </a:rPr>
              <a:t>to </a:t>
            </a:r>
            <a:r>
              <a:rPr sz="2000" i="1" spc="-20" dirty="0">
                <a:latin typeface="Perpetua"/>
                <a:cs typeface="Perpetua"/>
              </a:rPr>
              <a:t>Heaven </a:t>
            </a:r>
            <a:r>
              <a:rPr sz="2000" i="1" dirty="0">
                <a:latin typeface="Perpetua"/>
                <a:cs typeface="Perpetua"/>
              </a:rPr>
              <a:t>– Led</a:t>
            </a:r>
            <a:r>
              <a:rPr sz="2000" i="1" spc="-15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Zeppelin</a:t>
            </a:r>
            <a:endParaRPr sz="2000">
              <a:latin typeface="Perpetua"/>
              <a:cs typeface="Perpetua"/>
            </a:endParaRPr>
          </a:p>
          <a:p>
            <a:pPr marL="1256030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spc="-45" dirty="0">
                <a:latin typeface="Perpetua"/>
                <a:cs typeface="Perpetua"/>
              </a:rPr>
              <a:t>Your </a:t>
            </a:r>
            <a:r>
              <a:rPr sz="2000" i="1" dirty="0">
                <a:latin typeface="Perpetua"/>
                <a:cs typeface="Perpetua"/>
              </a:rPr>
              <a:t>Song – </a:t>
            </a:r>
            <a:r>
              <a:rPr sz="2000" i="1" spc="-5" dirty="0">
                <a:latin typeface="Perpetua"/>
                <a:cs typeface="Perpetua"/>
              </a:rPr>
              <a:t>Elton </a:t>
            </a:r>
            <a:r>
              <a:rPr sz="2000" i="1" spc="-20" dirty="0">
                <a:latin typeface="Perpetua"/>
                <a:cs typeface="Perpetua"/>
              </a:rPr>
              <a:t>John</a:t>
            </a:r>
            <a:endParaRPr sz="2000">
              <a:latin typeface="Perpetua"/>
              <a:cs typeface="Perpetua"/>
            </a:endParaRPr>
          </a:p>
          <a:p>
            <a:pPr marL="1256030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dirty="0">
                <a:latin typeface="Perpetua"/>
                <a:cs typeface="Perpetua"/>
              </a:rPr>
              <a:t>Who </a:t>
            </a:r>
            <a:r>
              <a:rPr sz="2000" i="1" spc="-5" dirty="0">
                <a:latin typeface="Perpetua"/>
                <a:cs typeface="Perpetua"/>
              </a:rPr>
              <a:t>made </a:t>
            </a:r>
            <a:r>
              <a:rPr sz="2000" i="1" spc="-15" dirty="0">
                <a:latin typeface="Perpetua"/>
                <a:cs typeface="Perpetua"/>
              </a:rPr>
              <a:t>who </a:t>
            </a:r>
            <a:r>
              <a:rPr sz="2000" i="1" dirty="0">
                <a:latin typeface="Perpetua"/>
                <a:cs typeface="Perpetua"/>
              </a:rPr>
              <a:t>–</a:t>
            </a:r>
            <a:r>
              <a:rPr sz="2000" i="1" spc="-140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AC/DC</a:t>
            </a:r>
            <a:endParaRPr sz="2000">
              <a:latin typeface="Perpetua"/>
              <a:cs typeface="Perpetua"/>
            </a:endParaRPr>
          </a:p>
          <a:p>
            <a:pPr marL="1256030" indent="-285115">
              <a:lnSpc>
                <a:spcPct val="100000"/>
              </a:lnSpc>
              <a:buAutoNum type="arabicPeriod"/>
              <a:tabLst>
                <a:tab pos="1256665" algn="l"/>
              </a:tabLst>
            </a:pPr>
            <a:r>
              <a:rPr sz="2000" i="1" spc="-10" dirty="0">
                <a:latin typeface="Perpetua"/>
                <a:cs typeface="Perpetua"/>
              </a:rPr>
              <a:t>Sweet </a:t>
            </a:r>
            <a:r>
              <a:rPr sz="2000" i="1" spc="-5" dirty="0">
                <a:latin typeface="Perpetua"/>
                <a:cs typeface="Perpetua"/>
              </a:rPr>
              <a:t>Child </a:t>
            </a:r>
            <a:r>
              <a:rPr sz="2000" i="1" dirty="0">
                <a:latin typeface="Perpetua"/>
                <a:cs typeface="Perpetua"/>
              </a:rPr>
              <a:t>of Mine – Guns‘n</a:t>
            </a:r>
            <a:r>
              <a:rPr sz="2000" i="1" spc="-5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Roses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11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Real</a:t>
            </a:r>
            <a:r>
              <a:rPr spc="-745" dirty="0"/>
              <a:t> </a:t>
            </a:r>
            <a:r>
              <a:rPr spc="-5" dirty="0"/>
              <a:t>Time </a:t>
            </a:r>
            <a:r>
              <a:rPr spc="-10" dirty="0"/>
              <a:t>Applications </a:t>
            </a:r>
            <a:r>
              <a:rPr spc="-5" dirty="0"/>
              <a:t>of </a:t>
            </a:r>
            <a:r>
              <a:rPr spc="-1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208009" cy="23133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use </a:t>
            </a:r>
            <a:r>
              <a:rPr sz="2600" spc="-5" dirty="0">
                <a:latin typeface="Perpetua"/>
                <a:cs typeface="Perpetua"/>
              </a:rPr>
              <a:t>lists all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time…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Whenever </a:t>
            </a:r>
            <a:r>
              <a:rPr sz="2600" dirty="0">
                <a:latin typeface="Perpetua"/>
                <a:cs typeface="Perpetua"/>
              </a:rPr>
              <a:t>I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-30" dirty="0">
                <a:latin typeface="Perpetua"/>
                <a:cs typeface="Perpetua"/>
              </a:rPr>
              <a:t>shopping.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  <a:tab pos="682625" algn="l"/>
                <a:tab pos="576008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0" dirty="0">
                <a:latin typeface="Perpetua"/>
                <a:cs typeface="Perpetua"/>
              </a:rPr>
              <a:t>"To-Do"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most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common	</a:t>
            </a:r>
            <a:r>
              <a:rPr sz="2600" spc="-30" dirty="0">
                <a:latin typeface="Perpetua"/>
                <a:cs typeface="Perpetua"/>
              </a:rPr>
              <a:t>ways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people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  to	</a:t>
            </a:r>
            <a:r>
              <a:rPr sz="2600" spc="-5" dirty="0">
                <a:latin typeface="Perpetua"/>
                <a:cs typeface="Perpetua"/>
              </a:rPr>
              <a:t>organize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studies.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138166"/>
            <a:ext cx="84639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Many </a:t>
            </a:r>
            <a:r>
              <a:rPr sz="2600" dirty="0">
                <a:latin typeface="Perpetua"/>
                <a:cs typeface="Perpetua"/>
              </a:rPr>
              <a:t>simple children's </a:t>
            </a:r>
            <a:r>
              <a:rPr sz="2600" spc="-5" dirty="0">
                <a:latin typeface="Perpetua"/>
                <a:cs typeface="Perpetua"/>
              </a:rPr>
              <a:t>board games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based on </a:t>
            </a:r>
            <a:r>
              <a:rPr sz="2600" spc="-5" dirty="0">
                <a:latin typeface="Perpetua"/>
                <a:cs typeface="Perpetua"/>
              </a:rPr>
              <a:t>list-like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structures.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0" y="1600200"/>
            <a:ext cx="2060448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52082" y="3709480"/>
            <a:ext cx="1197692" cy="12640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226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</a:t>
            </a:r>
            <a:r>
              <a:rPr spc="80" dirty="0"/>
              <a:t>r</a:t>
            </a:r>
            <a:r>
              <a:rPr spc="-10" dirty="0"/>
              <a:t>r</a:t>
            </a:r>
            <a:r>
              <a:rPr spc="-140" dirty="0"/>
              <a:t>a</a:t>
            </a:r>
            <a:r>
              <a:rPr spc="-5" dirty="0"/>
              <a:t>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296" rIns="0" bIns="0" rtlCol="0">
            <a:spAutoFit/>
          </a:bodyPr>
          <a:lstStyle/>
          <a:p>
            <a:pPr marL="28829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pc="-10" dirty="0"/>
              <a:t>Array</a:t>
            </a:r>
            <a:r>
              <a:rPr spc="150" dirty="0"/>
              <a:t> </a:t>
            </a:r>
            <a:r>
              <a:rPr dirty="0"/>
              <a:t>is</a:t>
            </a:r>
            <a:r>
              <a:rPr spc="155" dirty="0"/>
              <a:t> </a:t>
            </a:r>
            <a:r>
              <a:rPr dirty="0"/>
              <a:t>a</a:t>
            </a:r>
            <a:r>
              <a:rPr spc="150" dirty="0"/>
              <a:t> </a:t>
            </a:r>
            <a:r>
              <a:rPr spc="-10" dirty="0"/>
              <a:t>fixed</a:t>
            </a:r>
            <a:r>
              <a:rPr spc="155" dirty="0"/>
              <a:t> </a:t>
            </a:r>
            <a:r>
              <a:rPr dirty="0"/>
              <a:t>sized</a:t>
            </a:r>
            <a:r>
              <a:rPr spc="155" dirty="0"/>
              <a:t> </a:t>
            </a:r>
            <a:r>
              <a:rPr spc="-5" dirty="0"/>
              <a:t>list</a:t>
            </a:r>
            <a:r>
              <a:rPr spc="155" dirty="0"/>
              <a:t> </a:t>
            </a:r>
            <a:r>
              <a:rPr dirty="0"/>
              <a:t>comprising</a:t>
            </a:r>
            <a:r>
              <a:rPr spc="155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collections</a:t>
            </a:r>
            <a:r>
              <a:rPr spc="155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spc="-5" dirty="0"/>
              <a:t>variables,</a:t>
            </a:r>
            <a:r>
              <a:rPr spc="55" dirty="0"/>
              <a:t> </a:t>
            </a:r>
            <a:r>
              <a:rPr spc="5" dirty="0"/>
              <a:t>which</a:t>
            </a:r>
            <a:r>
              <a:rPr spc="165" dirty="0"/>
              <a:t> </a:t>
            </a:r>
            <a:r>
              <a:rPr spc="-95" dirty="0"/>
              <a:t>we</a:t>
            </a:r>
          </a:p>
          <a:p>
            <a:pPr marL="287655">
              <a:lnSpc>
                <a:spcPct val="100000"/>
              </a:lnSpc>
              <a:spcBef>
                <a:spcPts val="5"/>
              </a:spcBef>
            </a:pPr>
            <a:r>
              <a:rPr dirty="0"/>
              <a:t>call</a:t>
            </a:r>
            <a:r>
              <a:rPr spc="-10" dirty="0"/>
              <a:t> elements.</a:t>
            </a:r>
          </a:p>
          <a:p>
            <a:pPr marL="287655" marR="508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dirty="0"/>
              <a:t>An </a:t>
            </a:r>
            <a:r>
              <a:rPr spc="-45" dirty="0"/>
              <a:t>array’s </a:t>
            </a:r>
            <a:r>
              <a:rPr spc="-5" dirty="0"/>
              <a:t>elements </a:t>
            </a:r>
            <a:r>
              <a:rPr spc="-10" dirty="0"/>
              <a:t>are numbered </a:t>
            </a:r>
            <a:r>
              <a:rPr dirty="0"/>
              <a:t>using indices </a:t>
            </a:r>
            <a:r>
              <a:rPr spc="-5" dirty="0"/>
              <a:t>(Figure: Organization </a:t>
            </a:r>
            <a:r>
              <a:rPr dirty="0"/>
              <a:t>of  </a:t>
            </a:r>
            <a:r>
              <a:rPr spc="-10" dirty="0"/>
              <a:t>array)</a:t>
            </a:r>
          </a:p>
          <a:p>
            <a:pPr marL="287655" marR="508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dirty="0"/>
              <a:t>The total </a:t>
            </a:r>
            <a:r>
              <a:rPr spc="-5" dirty="0"/>
              <a:t>number </a:t>
            </a:r>
            <a:r>
              <a:rPr dirty="0"/>
              <a:t>of </a:t>
            </a:r>
            <a:r>
              <a:rPr spc="-5" dirty="0"/>
              <a:t>elements </a:t>
            </a:r>
            <a:r>
              <a:rPr dirty="0"/>
              <a:t>in a </a:t>
            </a:r>
            <a:r>
              <a:rPr spc="-5" dirty="0"/>
              <a:t>given </a:t>
            </a:r>
            <a:r>
              <a:rPr spc="-10" dirty="0"/>
              <a:t>array </a:t>
            </a:r>
            <a:r>
              <a:rPr spc="-5" dirty="0"/>
              <a:t>is called as </a:t>
            </a:r>
            <a:r>
              <a:rPr dirty="0"/>
              <a:t>the </a:t>
            </a:r>
            <a:r>
              <a:rPr spc="-5" dirty="0"/>
              <a:t>length </a:t>
            </a:r>
            <a:r>
              <a:rPr dirty="0"/>
              <a:t>of </a:t>
            </a:r>
            <a:r>
              <a:rPr spc="-5" dirty="0"/>
              <a:t>an  </a:t>
            </a:r>
            <a:r>
              <a:rPr spc="-50" dirty="0"/>
              <a:t>array.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6428" y="5331663"/>
            <a:ext cx="26835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Organization of</a:t>
            </a:r>
            <a:r>
              <a:rPr sz="2000" spc="-110" dirty="0">
                <a:latin typeface="Perpetua"/>
                <a:cs typeface="Perpetua"/>
              </a:rPr>
              <a:t> </a:t>
            </a:r>
            <a:r>
              <a:rPr sz="2000" spc="-15" dirty="0">
                <a:latin typeface="Perpetua"/>
                <a:cs typeface="Perpetua"/>
              </a:rPr>
              <a:t>array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0992" y="3991107"/>
            <a:ext cx="3196448" cy="2444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886200"/>
            <a:ext cx="4099559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698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Arrays</a:t>
            </a:r>
            <a:r>
              <a:rPr spc="-70" dirty="0"/>
              <a:t> </a:t>
            </a:r>
            <a:r>
              <a:rPr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8290" indent="-274320">
              <a:lnSpc>
                <a:spcPct val="100000"/>
              </a:lnSpc>
              <a:spcBef>
                <a:spcPts val="705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pc="-5" dirty="0"/>
              <a:t>All elements </a:t>
            </a:r>
            <a:r>
              <a:rPr dirty="0"/>
              <a:t>of a </a:t>
            </a:r>
            <a:r>
              <a:rPr spc="-5" dirty="0"/>
              <a:t>given </a:t>
            </a:r>
            <a:r>
              <a:rPr spc="-10" dirty="0"/>
              <a:t>array are </a:t>
            </a:r>
            <a:r>
              <a:rPr dirty="0"/>
              <a:t>of the same</a:t>
            </a:r>
            <a:r>
              <a:rPr spc="-50" dirty="0"/>
              <a:t> </a:t>
            </a:r>
            <a:r>
              <a:rPr spc="-15" dirty="0"/>
              <a:t>type.</a:t>
            </a:r>
          </a:p>
          <a:p>
            <a:pPr marL="287655" marR="508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pc="-5" dirty="0"/>
              <a:t>This </a:t>
            </a:r>
            <a:r>
              <a:rPr spc="-15" dirty="0"/>
              <a:t>allows </a:t>
            </a:r>
            <a:r>
              <a:rPr dirty="0"/>
              <a:t>one </a:t>
            </a:r>
            <a:r>
              <a:rPr spc="-5" dirty="0"/>
              <a:t>to represent </a:t>
            </a:r>
            <a:r>
              <a:rPr dirty="0"/>
              <a:t>a group of </a:t>
            </a:r>
            <a:r>
              <a:rPr spc="-5" dirty="0"/>
              <a:t>similar elements as an ordered  </a:t>
            </a:r>
            <a:r>
              <a:rPr dirty="0"/>
              <a:t>sequence </a:t>
            </a:r>
            <a:r>
              <a:rPr spc="-5" dirty="0"/>
              <a:t>and </a:t>
            </a:r>
            <a:r>
              <a:rPr spc="-25" dirty="0"/>
              <a:t>work </a:t>
            </a:r>
            <a:r>
              <a:rPr dirty="0"/>
              <a:t>on them </a:t>
            </a:r>
            <a:r>
              <a:rPr spc="-5" dirty="0"/>
              <a:t>as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whole.</a:t>
            </a:r>
          </a:p>
          <a:p>
            <a:pPr marL="28829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pc="-10" dirty="0"/>
              <a:t>Arrays</a:t>
            </a:r>
            <a:r>
              <a:rPr spc="170" dirty="0"/>
              <a:t> </a:t>
            </a:r>
            <a:r>
              <a:rPr spc="-5" dirty="0"/>
              <a:t>can</a:t>
            </a:r>
            <a:r>
              <a:rPr spc="170" dirty="0"/>
              <a:t> </a:t>
            </a:r>
            <a:r>
              <a:rPr dirty="0"/>
              <a:t>be</a:t>
            </a:r>
            <a:r>
              <a:rPr spc="155" dirty="0"/>
              <a:t> </a:t>
            </a:r>
            <a:r>
              <a:rPr dirty="0"/>
              <a:t>in</a:t>
            </a:r>
            <a:r>
              <a:rPr spc="170" dirty="0"/>
              <a:t> </a:t>
            </a:r>
            <a:r>
              <a:rPr spc="-5" dirty="0"/>
              <a:t>different</a:t>
            </a:r>
            <a:r>
              <a:rPr spc="170" dirty="0"/>
              <a:t> </a:t>
            </a:r>
            <a:r>
              <a:rPr dirty="0"/>
              <a:t>dimensions</a:t>
            </a:r>
            <a:r>
              <a:rPr spc="165" dirty="0"/>
              <a:t> </a:t>
            </a:r>
            <a:r>
              <a:rPr spc="-5" dirty="0"/>
              <a:t>(Figure:</a:t>
            </a:r>
            <a:r>
              <a:rPr spc="70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dirty="0"/>
              <a:t>1-D</a:t>
            </a:r>
            <a:r>
              <a:rPr spc="160" dirty="0"/>
              <a:t> </a:t>
            </a:r>
            <a:r>
              <a:rPr spc="-5" dirty="0"/>
              <a:t>and</a:t>
            </a:r>
            <a:r>
              <a:rPr spc="175" dirty="0"/>
              <a:t> </a:t>
            </a:r>
            <a:r>
              <a:rPr dirty="0"/>
              <a:t>2-D</a:t>
            </a:r>
            <a:r>
              <a:rPr spc="160" dirty="0"/>
              <a:t> </a:t>
            </a:r>
            <a:r>
              <a:rPr spc="-15" dirty="0"/>
              <a:t>array),</a:t>
            </a:r>
            <a:r>
              <a:rPr spc="70" dirty="0"/>
              <a:t> </a:t>
            </a:r>
            <a:r>
              <a:rPr spc="-10" dirty="0"/>
              <a:t>but</a:t>
            </a:r>
          </a:p>
          <a:p>
            <a:pPr marL="287655">
              <a:lnSpc>
                <a:spcPct val="100000"/>
              </a:lnSpc>
              <a:spcBef>
                <a:spcPts val="5"/>
              </a:spcBef>
            </a:pPr>
            <a:r>
              <a:rPr dirty="0"/>
              <a:t>the </a:t>
            </a:r>
            <a:r>
              <a:rPr spc="-5" dirty="0"/>
              <a:t>most </a:t>
            </a:r>
            <a:r>
              <a:rPr dirty="0"/>
              <a:t>used </a:t>
            </a:r>
            <a:r>
              <a:rPr spc="-10" dirty="0"/>
              <a:t>are </a:t>
            </a:r>
            <a:r>
              <a:rPr dirty="0"/>
              <a:t>the one-dimensional </a:t>
            </a:r>
            <a:r>
              <a:rPr spc="-5" dirty="0"/>
              <a:t>and </a:t>
            </a:r>
            <a:r>
              <a:rPr dirty="0"/>
              <a:t>the </a:t>
            </a:r>
            <a:r>
              <a:rPr spc="-10" dirty="0"/>
              <a:t>two-dimensional</a:t>
            </a:r>
            <a:r>
              <a:rPr spc="-95" dirty="0"/>
              <a:t> </a:t>
            </a:r>
            <a:r>
              <a:rPr spc="-15" dirty="0"/>
              <a:t>arrays.</a:t>
            </a:r>
          </a:p>
          <a:p>
            <a:pPr marL="28829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dirty="0"/>
              <a:t>One-dimensional </a:t>
            </a:r>
            <a:r>
              <a:rPr spc="-10" dirty="0"/>
              <a:t>arrays are </a:t>
            </a:r>
            <a:r>
              <a:rPr spc="-5" dirty="0"/>
              <a:t>also </a:t>
            </a:r>
            <a:r>
              <a:rPr dirty="0"/>
              <a:t>called</a:t>
            </a:r>
            <a:r>
              <a:rPr spc="-50" dirty="0"/>
              <a:t> </a:t>
            </a:r>
            <a:r>
              <a:rPr spc="-10" dirty="0"/>
              <a:t>vectors.</a:t>
            </a:r>
          </a:p>
        </p:txBody>
      </p:sp>
      <p:sp>
        <p:nvSpPr>
          <p:cNvPr id="4" name="object 4"/>
          <p:cNvSpPr/>
          <p:nvPr/>
        </p:nvSpPr>
        <p:spPr>
          <a:xfrm>
            <a:off x="1752600" y="4191000"/>
            <a:ext cx="2743200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2807" y="4114800"/>
            <a:ext cx="2990490" cy="15926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03575" y="5712358"/>
            <a:ext cx="26085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1-D and 2-D</a:t>
            </a:r>
            <a:r>
              <a:rPr sz="2000" spc="-26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array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98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Array</a:t>
            </a:r>
            <a:r>
              <a:rPr spc="-95" dirty="0"/>
              <a:t> </a:t>
            </a:r>
            <a:r>
              <a:rPr spc="1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1860" cy="27857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03200" algn="l"/>
              </a:tabLst>
            </a:pPr>
            <a:r>
              <a:rPr sz="2600" i="1" spc="-20" dirty="0">
                <a:latin typeface="Perpetua"/>
                <a:cs typeface="Perpetua"/>
              </a:rPr>
              <a:t>Arrays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three </a:t>
            </a:r>
            <a:r>
              <a:rPr sz="2600" i="1" dirty="0">
                <a:latin typeface="Perpetua"/>
                <a:cs typeface="Perpetua"/>
              </a:rPr>
              <a:t>important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properties</a:t>
            </a:r>
            <a:r>
              <a:rPr sz="2600" spc="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61340" lvl="1" indent="-27495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latin typeface="Perpetua"/>
                <a:cs typeface="Perpetua"/>
              </a:rPr>
              <a:t>Arrays </a:t>
            </a:r>
            <a:r>
              <a:rPr sz="2600" spc="-5" dirty="0">
                <a:latin typeface="Perpetua"/>
                <a:cs typeface="Perpetua"/>
              </a:rPr>
              <a:t>represent </a:t>
            </a:r>
            <a:r>
              <a:rPr sz="2600" dirty="0">
                <a:latin typeface="Perpetua"/>
                <a:cs typeface="Perpetua"/>
              </a:rPr>
              <a:t>a group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related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data.</a:t>
            </a:r>
            <a:endParaRPr sz="2600">
              <a:latin typeface="Perpetua"/>
              <a:cs typeface="Perpetua"/>
            </a:endParaRPr>
          </a:p>
          <a:p>
            <a:pPr marL="561340" marR="5080" indent="-50800">
              <a:lnSpc>
                <a:spcPct val="100000"/>
              </a:lnSpc>
              <a:spcBef>
                <a:spcPts val="600"/>
              </a:spcBef>
            </a:pPr>
            <a:r>
              <a:rPr sz="2600" spc="-60" dirty="0">
                <a:latin typeface="Perpetua"/>
                <a:cs typeface="Perpetua"/>
              </a:rPr>
              <a:t>(e.g. </a:t>
            </a:r>
            <a:r>
              <a:rPr sz="2600" dirty="0">
                <a:latin typeface="Perpetua"/>
                <a:cs typeface="Perpetua"/>
              </a:rPr>
              <a:t>--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last </a:t>
            </a:r>
            <a:r>
              <a:rPr sz="2600" spc="-15" dirty="0">
                <a:latin typeface="Perpetua"/>
                <a:cs typeface="Perpetua"/>
              </a:rPr>
              <a:t>five </a:t>
            </a:r>
            <a:r>
              <a:rPr sz="2600" spc="-20" dirty="0">
                <a:latin typeface="Perpetua"/>
                <a:cs typeface="Perpetua"/>
              </a:rPr>
              <a:t>days,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spc="10" dirty="0">
                <a:latin typeface="Perpetua"/>
                <a:cs typeface="Perpetua"/>
              </a:rPr>
              <a:t>stock </a:t>
            </a:r>
            <a:r>
              <a:rPr sz="2600" spc="5" dirty="0">
                <a:latin typeface="Perpetua"/>
                <a:cs typeface="Perpetua"/>
              </a:rPr>
              <a:t>prices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last 30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days.)</a:t>
            </a:r>
            <a:endParaRPr sz="2600">
              <a:latin typeface="Perpetua"/>
              <a:cs typeface="Perpetua"/>
            </a:endParaRPr>
          </a:p>
          <a:p>
            <a:pPr marL="561340" lvl="1" indent="-274955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dirty="0">
                <a:latin typeface="Perpetua"/>
                <a:cs typeface="Perpetua"/>
              </a:rPr>
              <a:t>within a single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must share </a:t>
            </a:r>
            <a:r>
              <a:rPr sz="2600" dirty="0">
                <a:latin typeface="Perpetua"/>
                <a:cs typeface="Perpetua"/>
              </a:rPr>
              <a:t>the same </a:t>
            </a:r>
            <a:r>
              <a:rPr sz="2600" spc="-10" dirty="0">
                <a:latin typeface="Perpetua"/>
                <a:cs typeface="Perpetua"/>
              </a:rPr>
              <a:t>data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type.</a:t>
            </a:r>
            <a:endParaRPr sz="2600">
              <a:latin typeface="Perpetua"/>
              <a:cs typeface="Perpetua"/>
            </a:endParaRPr>
          </a:p>
          <a:p>
            <a:pPr marL="561340" lvl="1" indent="-27495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3937000" algn="l"/>
              </a:tabLst>
            </a:pPr>
            <a:r>
              <a:rPr sz="2600" dirty="0">
                <a:latin typeface="Perpetua"/>
                <a:cs typeface="Perpetua"/>
              </a:rPr>
              <a:t>The size </a:t>
            </a:r>
            <a:r>
              <a:rPr sz="2600" spc="-5" dirty="0">
                <a:latin typeface="Perpetua"/>
                <a:cs typeface="Perpetua"/>
              </a:rPr>
              <a:t>of an </a:t>
            </a:r>
            <a:r>
              <a:rPr sz="2600" spc="-15" dirty="0">
                <a:latin typeface="Perpetua"/>
                <a:cs typeface="Perpetua"/>
              </a:rPr>
              <a:t>array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fixed	</a:t>
            </a: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it is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created.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143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Declaration/Creation </a:t>
            </a:r>
            <a:r>
              <a:rPr spc="-5" dirty="0"/>
              <a:t>of an</a:t>
            </a:r>
            <a:r>
              <a:rPr spc="-295" dirty="0"/>
              <a:t> </a:t>
            </a:r>
            <a:r>
              <a:rPr spc="-15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0590" cy="4839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Allocate </a:t>
            </a:r>
            <a:r>
              <a:rPr sz="2600" dirty="0">
                <a:latin typeface="Perpetua"/>
                <a:cs typeface="Perpetua"/>
              </a:rPr>
              <a:t>an </a:t>
            </a:r>
            <a:r>
              <a:rPr sz="2600" spc="-10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length of </a:t>
            </a:r>
            <a:r>
              <a:rPr sz="2600" dirty="0">
                <a:latin typeface="Perpetua"/>
                <a:cs typeface="Perpetua"/>
              </a:rPr>
              <a:t>specified </a:t>
            </a:r>
            <a:r>
              <a:rPr sz="2600" spc="-5" dirty="0">
                <a:latin typeface="Perpetua"/>
                <a:cs typeface="Perpetua"/>
              </a:rPr>
              <a:t>elements of mentioned  </a:t>
            </a:r>
            <a:r>
              <a:rPr sz="2600" spc="-15" dirty="0">
                <a:latin typeface="Perpetua"/>
                <a:cs typeface="Perpetua"/>
              </a:rPr>
              <a:t>type.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During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creation/declaration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one must </a:t>
            </a:r>
            <a:r>
              <a:rPr sz="2600" dirty="0">
                <a:latin typeface="Perpetua"/>
                <a:cs typeface="Perpetua"/>
              </a:rPr>
              <a:t>set the </a:t>
            </a:r>
            <a:r>
              <a:rPr sz="2600" spc="-5" dirty="0">
                <a:latin typeface="Perpetua"/>
                <a:cs typeface="Perpetua"/>
              </a:rPr>
              <a:t>total  number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elements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brackets </a:t>
            </a:r>
            <a:r>
              <a:rPr sz="2600" dirty="0">
                <a:latin typeface="Perpetua"/>
                <a:cs typeface="Perpetua"/>
              </a:rPr>
              <a:t>(a </a:t>
            </a:r>
            <a:r>
              <a:rPr sz="2600" spc="-10" dirty="0">
                <a:latin typeface="Perpetua"/>
                <a:cs typeface="Perpetua"/>
              </a:rPr>
              <a:t>non-negative </a:t>
            </a:r>
            <a:r>
              <a:rPr sz="2600" spc="-5" dirty="0">
                <a:latin typeface="Perpetua"/>
                <a:cs typeface="Perpetua"/>
              </a:rPr>
              <a:t>integer  number), defining </a:t>
            </a:r>
            <a:r>
              <a:rPr sz="2600" dirty="0">
                <a:latin typeface="Perpetua"/>
                <a:cs typeface="Perpetua"/>
              </a:rPr>
              <a:t>its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length.</a:t>
            </a:r>
            <a:endParaRPr sz="2600">
              <a:latin typeface="Perpetua"/>
              <a:cs typeface="Perpetua"/>
            </a:endParaRPr>
          </a:p>
          <a:p>
            <a:pPr marL="927100" algn="just">
              <a:lnSpc>
                <a:spcPct val="100000"/>
              </a:lnSpc>
              <a:spcBef>
                <a:spcPts val="600"/>
              </a:spcBef>
            </a:pP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spc="-5" dirty="0">
                <a:latin typeface="Perpetua"/>
                <a:cs typeface="Perpetua"/>
              </a:rPr>
              <a:t>number mark[6], </a:t>
            </a:r>
            <a:r>
              <a:rPr sz="2600" spc="5" dirty="0">
                <a:latin typeface="Perpetua"/>
                <a:cs typeface="Perpetua"/>
              </a:rPr>
              <a:t>string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name[5]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cannot </a:t>
            </a:r>
            <a:r>
              <a:rPr sz="2600" spc="5" dirty="0">
                <a:latin typeface="Perpetua"/>
                <a:cs typeface="Perpetua"/>
              </a:rPr>
              <a:t>change </a:t>
            </a:r>
            <a:r>
              <a:rPr sz="2600" dirty="0">
                <a:latin typeface="Perpetua"/>
                <a:cs typeface="Perpetua"/>
              </a:rPr>
              <a:t>its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spc="-5" dirty="0">
                <a:latin typeface="Perpetua"/>
                <a:cs typeface="Perpetua"/>
              </a:rPr>
              <a:t>nor can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5" dirty="0">
                <a:latin typeface="Perpetua"/>
                <a:cs typeface="Perpetua"/>
              </a:rPr>
              <a:t>change </a:t>
            </a:r>
            <a:r>
              <a:rPr sz="2600" dirty="0">
                <a:latin typeface="Perpetua"/>
                <a:cs typeface="Perpetua"/>
              </a:rPr>
              <a:t>its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length.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cannot </a:t>
            </a:r>
            <a:r>
              <a:rPr sz="2600" dirty="0">
                <a:latin typeface="Perpetua"/>
                <a:cs typeface="Perpetua"/>
              </a:rPr>
              <a:t>expand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fill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nor can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5" dirty="0">
                <a:latin typeface="Perpetua"/>
                <a:cs typeface="Perpetua"/>
              </a:rPr>
              <a:t>shrink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take </a:t>
            </a:r>
            <a:r>
              <a:rPr sz="2600" spc="-5" dirty="0">
                <a:latin typeface="Perpetua"/>
                <a:cs typeface="Perpetua"/>
              </a:rPr>
              <a:t>up less  </a:t>
            </a:r>
            <a:r>
              <a:rPr sz="2600" spc="-10" dirty="0">
                <a:latin typeface="Perpetua"/>
                <a:cs typeface="Perpetua"/>
              </a:rPr>
              <a:t>storage.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50">
              <a:latin typeface="Perpetua"/>
              <a:cs typeface="Perpetua"/>
            </a:endParaRPr>
          </a:p>
          <a:p>
            <a:pPr marR="983615" algn="r">
              <a:lnSpc>
                <a:spcPct val="100000"/>
              </a:lnSpc>
            </a:pPr>
            <a:r>
              <a:rPr sz="2000" spc="-5" dirty="0">
                <a:latin typeface="Perpetua"/>
                <a:cs typeface="Perpetua"/>
              </a:rPr>
              <a:t>Figure:</a:t>
            </a:r>
            <a:r>
              <a:rPr sz="2000" spc="-15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mark[6]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0" y="5200659"/>
            <a:ext cx="2162175" cy="6956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97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Boundaries </a:t>
            </a:r>
            <a:r>
              <a:rPr spc="-5" dirty="0"/>
              <a:t>of an</a:t>
            </a:r>
            <a:r>
              <a:rPr spc="-360" dirty="0"/>
              <a:t> </a:t>
            </a:r>
            <a:r>
              <a:rPr spc="-15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225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Arrays are </a:t>
            </a:r>
            <a:r>
              <a:rPr sz="2600" spc="-30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default zero-based,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5" dirty="0">
                <a:latin typeface="Perpetua"/>
                <a:cs typeface="Perpetua"/>
              </a:rPr>
              <a:t>means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enumeration </a:t>
            </a:r>
            <a:r>
              <a:rPr sz="2600" spc="-10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 elements </a:t>
            </a:r>
            <a:r>
              <a:rPr sz="2600" spc="15" dirty="0">
                <a:latin typeface="Perpetua"/>
                <a:cs typeface="Perpetua"/>
              </a:rPr>
              <a:t>starts </a:t>
            </a:r>
            <a:r>
              <a:rPr sz="2600" spc="-10" dirty="0">
                <a:latin typeface="Perpetua"/>
                <a:cs typeface="Perpetua"/>
              </a:rPr>
              <a:t>from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index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element is </a:t>
            </a:r>
            <a:r>
              <a:rPr sz="2600" spc="-5" dirty="0">
                <a:latin typeface="Perpetua"/>
                <a:cs typeface="Perpetua"/>
              </a:rPr>
              <a:t>0, and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second element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1, and </a:t>
            </a:r>
            <a:r>
              <a:rPr sz="2600" dirty="0">
                <a:latin typeface="Perpetua"/>
                <a:cs typeface="Perpetua"/>
              </a:rPr>
              <a:t>so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an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N elements, the </a:t>
            </a:r>
            <a:r>
              <a:rPr sz="2600" spc="-5" dirty="0">
                <a:latin typeface="Perpetua"/>
                <a:cs typeface="Perpetua"/>
              </a:rPr>
              <a:t>last </a:t>
            </a:r>
            <a:r>
              <a:rPr sz="2600" dirty="0">
                <a:latin typeface="Perpetua"/>
                <a:cs typeface="Perpetua"/>
              </a:rPr>
              <a:t>element has the index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N-1.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4975" y="5173217"/>
            <a:ext cx="3687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Boundary of </a:t>
            </a:r>
            <a:r>
              <a:rPr sz="2400" spc="-20" dirty="0">
                <a:latin typeface="Perpetua"/>
                <a:cs typeface="Perpetua"/>
              </a:rPr>
              <a:t>myArray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1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5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2502" y="3733800"/>
            <a:ext cx="4586770" cy="144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882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Array </a:t>
            </a:r>
            <a:r>
              <a:rPr spc="-5" dirty="0"/>
              <a:t>element</a:t>
            </a:r>
            <a:r>
              <a:rPr spc="-35" dirty="0"/>
              <a:t> </a:t>
            </a:r>
            <a:r>
              <a:rPr spc="-10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433525"/>
            <a:ext cx="8581390" cy="270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51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324485" algn="l"/>
                <a:tab pos="3251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access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10" dirty="0">
                <a:latin typeface="Perpetua"/>
                <a:cs typeface="Perpetua"/>
              </a:rPr>
              <a:t>directly </a:t>
            </a:r>
            <a:r>
              <a:rPr sz="2600" dirty="0">
                <a:latin typeface="Perpetua"/>
                <a:cs typeface="Perpetua"/>
              </a:rPr>
              <a:t>using their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indices.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324485" marR="177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324485" algn="l"/>
                <a:tab pos="32512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element can be accessed through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30" dirty="0">
                <a:latin typeface="Perpetua"/>
                <a:cs typeface="Perpetua"/>
              </a:rPr>
              <a:t>element’s </a:t>
            </a:r>
            <a:r>
              <a:rPr sz="2600" dirty="0">
                <a:latin typeface="Perpetua"/>
                <a:cs typeface="Perpetua"/>
              </a:rPr>
              <a:t>index </a:t>
            </a:r>
            <a:r>
              <a:rPr sz="2600" spc="-10" dirty="0">
                <a:latin typeface="Perpetua"/>
                <a:cs typeface="Perpetua"/>
              </a:rPr>
              <a:t>(consecutive </a:t>
            </a:r>
            <a:r>
              <a:rPr sz="2600" spc="-5" dirty="0">
                <a:latin typeface="Perpetua"/>
                <a:cs typeface="Perpetua"/>
              </a:rPr>
              <a:t>number) placed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brackets.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3251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324485" algn="l"/>
                <a:tab pos="325120" algn="l"/>
                <a:tab pos="645541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spc="-10" dirty="0">
                <a:latin typeface="Perpetua"/>
                <a:cs typeface="Perpetua"/>
              </a:rPr>
              <a:t>numberArray[2] produces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3</a:t>
            </a:r>
            <a:r>
              <a:rPr sz="2550" spc="7" baseline="26143" dirty="0">
                <a:latin typeface="Perpetua"/>
                <a:cs typeface="Perpetua"/>
              </a:rPr>
              <a:t>rd</a:t>
            </a:r>
            <a:r>
              <a:rPr sz="2550" spc="352" baseline="26143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element,	</a:t>
            </a:r>
            <a:r>
              <a:rPr sz="2600" spc="-5" dirty="0">
                <a:latin typeface="Perpetua"/>
                <a:cs typeface="Perpetua"/>
              </a:rPr>
              <a:t>6.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86175" y="4553037"/>
            <a:ext cx="2219325" cy="953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32175" y="5564530"/>
            <a:ext cx="2809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Figure: </a:t>
            </a:r>
            <a:r>
              <a:rPr sz="1800" spc="-5" dirty="0">
                <a:latin typeface="Perpetua"/>
                <a:cs typeface="Perpetua"/>
              </a:rPr>
              <a:t>Elements </a:t>
            </a:r>
            <a:r>
              <a:rPr sz="1800" dirty="0">
                <a:latin typeface="Perpetua"/>
                <a:cs typeface="Perpetua"/>
              </a:rPr>
              <a:t>of</a:t>
            </a:r>
            <a:r>
              <a:rPr sz="1800" spc="-16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numberArray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356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Array </a:t>
            </a:r>
            <a:r>
              <a:rPr spc="-5" dirty="0"/>
              <a:t>element </a:t>
            </a:r>
            <a:r>
              <a:rPr spc="-10" dirty="0"/>
              <a:t>access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43290" cy="5030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87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As </a:t>
            </a:r>
            <a:r>
              <a:rPr sz="2600" spc="-5" dirty="0">
                <a:latin typeface="Perpetua"/>
                <a:cs typeface="Perpetua"/>
              </a:rPr>
              <a:t>long as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spc="5" dirty="0">
                <a:latin typeface="Perpetua"/>
                <a:cs typeface="Perpetua"/>
              </a:rPr>
              <a:t>track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5" dirty="0">
                <a:latin typeface="Perpetua"/>
                <a:cs typeface="Perpetua"/>
              </a:rPr>
              <a:t>array,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will be </a:t>
            </a:r>
            <a:r>
              <a:rPr sz="2600" spc="-15" dirty="0">
                <a:latin typeface="Perpetua"/>
                <a:cs typeface="Perpetua"/>
              </a:rPr>
              <a:t>able 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 access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item in the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the base </a:t>
            </a:r>
            <a:r>
              <a:rPr sz="2600" spc="-10" dirty="0">
                <a:latin typeface="Perpetua"/>
                <a:cs typeface="Perpetua"/>
              </a:rPr>
              <a:t>address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anchor, 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is the memory </a:t>
            </a:r>
            <a:r>
              <a:rPr sz="2600" spc="-5" dirty="0">
                <a:latin typeface="Perpetua"/>
                <a:cs typeface="Perpetua"/>
              </a:rPr>
              <a:t>address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item in the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  <a:p>
            <a:pPr marL="286385" marR="1651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computer's </a:t>
            </a:r>
            <a:r>
              <a:rPr sz="2600" spc="-10" dirty="0">
                <a:latin typeface="Perpetua"/>
                <a:cs typeface="Perpetua"/>
              </a:rPr>
              <a:t>perspective,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of an </a:t>
            </a:r>
            <a:r>
              <a:rPr sz="2600" spc="-10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corresponds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anchor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  <a:p>
            <a:pPr marL="561340" marR="19050" lvl="1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array </a:t>
            </a:r>
            <a:r>
              <a:rPr sz="2600" spc="5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known, </a:t>
            </a:r>
            <a:r>
              <a:rPr sz="2600" dirty="0">
                <a:latin typeface="Perpetua"/>
                <a:cs typeface="Perpetua"/>
              </a:rPr>
              <a:t>then the </a:t>
            </a:r>
            <a:r>
              <a:rPr sz="2600" spc="5" dirty="0">
                <a:latin typeface="Perpetua"/>
                <a:cs typeface="Perpetua"/>
              </a:rPr>
              <a:t>anchor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and all 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items </a:t>
            </a:r>
            <a:r>
              <a:rPr sz="2600" spc="-5" dirty="0">
                <a:latin typeface="Perpetua"/>
                <a:cs typeface="Perpetua"/>
              </a:rPr>
              <a:t>can be accessed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index.</a:t>
            </a:r>
            <a:endParaRPr sz="2600">
              <a:latin typeface="Perpetua"/>
              <a:cs typeface="Perpetua"/>
            </a:endParaRPr>
          </a:p>
          <a:p>
            <a:pPr marL="561340" lvl="1" indent="-274955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Access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by….(anchor of </a:t>
            </a:r>
            <a:r>
              <a:rPr sz="2600" spc="-15" dirty="0">
                <a:latin typeface="Perpetua"/>
                <a:cs typeface="Perpetua"/>
              </a:rPr>
              <a:t>array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A)+(i-1)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750">
              <a:latin typeface="Perpetua"/>
              <a:cs typeface="Perpetua"/>
            </a:endParaRPr>
          </a:p>
          <a:p>
            <a:pPr marL="2527935" marR="17145" lvl="2" indent="-274955">
              <a:lnSpc>
                <a:spcPct val="100000"/>
              </a:lnSpc>
              <a:buFont typeface="Wingdings"/>
              <a:buChar char=""/>
              <a:tabLst>
                <a:tab pos="252793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show how </a:t>
            </a:r>
            <a:r>
              <a:rPr sz="2400" i="1" dirty="0">
                <a:latin typeface="Perpetua"/>
                <a:cs typeface="Perpetua"/>
              </a:rPr>
              <a:t>can the elements (4,1, </a:t>
            </a:r>
            <a:r>
              <a:rPr sz="2400" i="1" spc="-10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6) </a:t>
            </a:r>
            <a:r>
              <a:rPr sz="2400" i="1" spc="-5" dirty="0">
                <a:latin typeface="Perpetua"/>
                <a:cs typeface="Perpetua"/>
              </a:rPr>
              <a:t>be accessed  from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0" dirty="0">
                <a:latin typeface="Perpetua"/>
                <a:cs typeface="Perpetua"/>
              </a:rPr>
              <a:t>array </a:t>
            </a:r>
            <a:r>
              <a:rPr sz="2400" i="1" dirty="0">
                <a:latin typeface="Perpetua"/>
                <a:cs typeface="Perpetua"/>
              </a:rPr>
              <a:t>Arr=[1,2,3,4,5,6]</a:t>
            </a:r>
            <a:r>
              <a:rPr sz="2400" i="1" spc="-1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2186" y="5617291"/>
            <a:ext cx="974226" cy="728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5394" y="1028141"/>
            <a:ext cx="2425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latin typeface="Perpetua"/>
                <a:cs typeface="Perpetua"/>
              </a:rPr>
              <a:t>Answer……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394" y="2086482"/>
            <a:ext cx="21418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  <a:tabLst>
                <a:tab pos="1399540" algn="l"/>
              </a:tabLst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4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Perpetua"/>
                <a:cs typeface="Perpetua"/>
              </a:rPr>
              <a:t> 	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800" spc="5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[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3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]  1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Perpetua"/>
                <a:cs typeface="Perpetua"/>
              </a:rPr>
              <a:t> </a:t>
            </a:r>
            <a:r>
              <a:rPr sz="2800" u="heavy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Perpetua"/>
                <a:cs typeface="Perpetua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800" spc="5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[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0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]  6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Perpetua"/>
                <a:cs typeface="Perpetua"/>
              </a:rPr>
              <a:t> </a:t>
            </a:r>
            <a:r>
              <a:rPr sz="2800" u="heavy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Perpetua"/>
                <a:cs typeface="Perpetua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800" spc="45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[5]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49" y="1053211"/>
            <a:ext cx="29845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  <a:tab pos="1285875" algn="l"/>
              </a:tabLst>
            </a:pPr>
            <a:r>
              <a:rPr sz="2600" i="1" spc="-5" dirty="0">
                <a:latin typeface="Perpetua"/>
                <a:cs typeface="Perpetua"/>
              </a:rPr>
              <a:t>1.	</a:t>
            </a:r>
            <a:r>
              <a:rPr sz="2600" i="1" spc="-10" dirty="0">
                <a:latin typeface="Perpetua"/>
                <a:cs typeface="Perpetua"/>
              </a:rPr>
              <a:t>Given	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array</a:t>
            </a:r>
            <a:r>
              <a:rPr sz="2600" i="1" spc="-6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scores,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11779" y="1525524"/>
          <a:ext cx="5784847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155"/>
                <a:gridCol w="568325"/>
                <a:gridCol w="548640"/>
                <a:gridCol w="567055"/>
                <a:gridCol w="594359"/>
                <a:gridCol w="568325"/>
                <a:gridCol w="569595"/>
                <a:gridCol w="577850"/>
                <a:gridCol w="586739"/>
                <a:gridCol w="598804"/>
              </a:tblGrid>
              <a:tr h="822960"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79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87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94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82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67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98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87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81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74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91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985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29521" y="5335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85615" y="5401055"/>
          <a:ext cx="1895475" cy="842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690"/>
                <a:gridCol w="946785"/>
              </a:tblGrid>
              <a:tr h="42294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spc="-5" dirty="0">
                          <a:latin typeface="Perpetua"/>
                          <a:cs typeface="Perpetua"/>
                        </a:rPr>
                        <a:t>95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AE340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spc="-10" dirty="0">
                          <a:latin typeface="Perpetua"/>
                          <a:cs typeface="Perpetua"/>
                        </a:rPr>
                        <a:t>85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AE340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</a:tr>
              <a:tr h="419830">
                <a:tc>
                  <a:txBody>
                    <a:bodyPr/>
                    <a:lstStyle/>
                    <a:p>
                      <a:pPr marL="92710">
                        <a:lnSpc>
                          <a:spcPts val="1560"/>
                        </a:lnSpc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89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AE3408"/>
                      </a:solidFill>
                      <a:prstDash val="solid"/>
                    </a:lnR>
                    <a:lnT w="12700">
                      <a:solidFill>
                        <a:srgbClr val="AE340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560"/>
                        </a:lnSpc>
                      </a:pPr>
                      <a:r>
                        <a:rPr sz="2000" spc="-10" dirty="0">
                          <a:latin typeface="Perpetua"/>
                          <a:cs typeface="Perpetua"/>
                        </a:rPr>
                        <a:t>80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L w="12700">
                      <a:solidFill>
                        <a:srgbClr val="AE340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AE340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84149" y="1667636"/>
            <a:ext cx="7734300" cy="440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scores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find</a:t>
            </a:r>
            <a:endParaRPr sz="2600">
              <a:latin typeface="Perpetua"/>
              <a:cs typeface="Perpetua"/>
            </a:endParaRPr>
          </a:p>
          <a:p>
            <a:pPr marL="728980" indent="-716915">
              <a:lnSpc>
                <a:spcPct val="100000"/>
              </a:lnSpc>
              <a:spcBef>
                <a:spcPts val="620"/>
              </a:spcBef>
              <a:buFont typeface="Wingdings"/>
              <a:buChar char=""/>
              <a:tabLst>
                <a:tab pos="728980" algn="l"/>
                <a:tab pos="729615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20" dirty="0">
                <a:latin typeface="Perpetua"/>
                <a:cs typeface="Perpetua"/>
              </a:rPr>
              <a:t>many </a:t>
            </a:r>
            <a:r>
              <a:rPr sz="2600" i="1" dirty="0">
                <a:latin typeface="Perpetua"/>
                <a:cs typeface="Perpetua"/>
              </a:rPr>
              <a:t>elements </a:t>
            </a:r>
            <a:r>
              <a:rPr sz="2600" i="1" spc="-10" dirty="0">
                <a:latin typeface="Perpetua"/>
                <a:cs typeface="Perpetua"/>
              </a:rPr>
              <a:t>are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there?</a:t>
            </a:r>
            <a:endParaRPr sz="2600">
              <a:latin typeface="Perpetua"/>
              <a:cs typeface="Perpetua"/>
            </a:endParaRPr>
          </a:p>
          <a:p>
            <a:pPr marL="661670" indent="-649605">
              <a:lnSpc>
                <a:spcPct val="100000"/>
              </a:lnSpc>
              <a:spcBef>
                <a:spcPts val="630"/>
              </a:spcBef>
              <a:buFont typeface="Wingdings"/>
              <a:buChar char=""/>
              <a:tabLst>
                <a:tab pos="661670" algn="l"/>
                <a:tab pos="662305" algn="l"/>
              </a:tabLst>
            </a:pPr>
            <a:r>
              <a:rPr sz="2600" i="1" spc="-5" dirty="0">
                <a:latin typeface="Perpetua"/>
                <a:cs typeface="Perpetua"/>
              </a:rPr>
              <a:t>What is the fifth </a:t>
            </a:r>
            <a:r>
              <a:rPr sz="2600" i="1" dirty="0">
                <a:latin typeface="Perpetua"/>
                <a:cs typeface="Perpetua"/>
              </a:rPr>
              <a:t>element </a:t>
            </a:r>
            <a:r>
              <a:rPr sz="2600" i="1" spc="-5" dirty="0">
                <a:latin typeface="Perpetua"/>
                <a:cs typeface="Perpetua"/>
              </a:rPr>
              <a:t>in the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array?</a:t>
            </a:r>
            <a:endParaRPr sz="2600">
              <a:latin typeface="Perpetua"/>
              <a:cs typeface="Perpetua"/>
            </a:endParaRPr>
          </a:p>
          <a:p>
            <a:pPr marL="661670" indent="-649605">
              <a:lnSpc>
                <a:spcPct val="100000"/>
              </a:lnSpc>
              <a:spcBef>
                <a:spcPts val="625"/>
              </a:spcBef>
              <a:buFont typeface="Wingdings"/>
              <a:buChar char=""/>
              <a:tabLst>
                <a:tab pos="661670" algn="l"/>
                <a:tab pos="662305" algn="l"/>
                <a:tab pos="2960370" algn="l"/>
              </a:tabLst>
            </a:pPr>
            <a:r>
              <a:rPr sz="2600" i="1" spc="-5" dirty="0">
                <a:latin typeface="Perpetua"/>
                <a:cs typeface="Perpetua"/>
              </a:rPr>
              <a:t>What is the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result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	mean </a:t>
            </a:r>
            <a:r>
              <a:rPr sz="2600" i="1" dirty="0">
                <a:latin typeface="Perpetua"/>
                <a:cs typeface="Perpetua"/>
              </a:rPr>
              <a:t>=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(scores[0]+scores[1])/2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27685" algn="l"/>
              </a:tabLst>
            </a:pPr>
            <a:r>
              <a:rPr sz="2600" i="1" spc="-5" dirty="0">
                <a:latin typeface="Perpetua"/>
                <a:cs typeface="Perpetua"/>
              </a:rPr>
              <a:t>2.	</a:t>
            </a:r>
            <a:r>
              <a:rPr sz="2600" i="1" spc="-35" dirty="0">
                <a:latin typeface="Perpetua"/>
                <a:cs typeface="Perpetua"/>
              </a:rPr>
              <a:t>Workout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40" dirty="0">
                <a:latin typeface="Perpetua"/>
                <a:cs typeface="Perpetua"/>
              </a:rPr>
              <a:t>average </a:t>
            </a:r>
            <a:r>
              <a:rPr sz="2600" i="1" spc="-5" dirty="0">
                <a:latin typeface="Perpetua"/>
                <a:cs typeface="Perpetua"/>
              </a:rPr>
              <a:t>of Quiz1and student0 </a:t>
            </a:r>
            <a:r>
              <a:rPr sz="2600" i="1" dirty="0">
                <a:latin typeface="Perpetua"/>
                <a:cs typeface="Perpetua"/>
              </a:rPr>
              <a:t>with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following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data?</a:t>
            </a:r>
            <a:endParaRPr sz="2600">
              <a:latin typeface="Perpetua"/>
              <a:cs typeface="Perpetua"/>
            </a:endParaRPr>
          </a:p>
          <a:p>
            <a:pPr marL="907415" algn="ctr">
              <a:lnSpc>
                <a:spcPct val="100000"/>
              </a:lnSpc>
              <a:spcBef>
                <a:spcPts val="1095"/>
              </a:spcBef>
              <a:tabLst>
                <a:tab pos="1761489" algn="l"/>
              </a:tabLst>
            </a:pPr>
            <a:r>
              <a:rPr sz="1800" spc="-5" dirty="0">
                <a:latin typeface="Perpetua"/>
                <a:cs typeface="Perpetua"/>
              </a:rPr>
              <a:t>Quiz1	Quiz2</a:t>
            </a:r>
            <a:endParaRPr sz="1800">
              <a:latin typeface="Perpetua"/>
              <a:cs typeface="Perpetua"/>
            </a:endParaRPr>
          </a:p>
          <a:p>
            <a:pPr marL="2145665" marR="4785995" indent="50800" algn="ctr">
              <a:lnSpc>
                <a:spcPts val="3270"/>
              </a:lnSpc>
              <a:spcBef>
                <a:spcPts val="180"/>
              </a:spcBef>
            </a:pPr>
            <a:r>
              <a:rPr sz="1800" dirty="0">
                <a:latin typeface="Perpetua"/>
                <a:cs typeface="Perpetua"/>
              </a:rPr>
              <a:t>S</a:t>
            </a:r>
            <a:r>
              <a:rPr sz="1800" spc="5" dirty="0">
                <a:latin typeface="Perpetua"/>
                <a:cs typeface="Perpetua"/>
              </a:rPr>
              <a:t>t</a:t>
            </a:r>
            <a:r>
              <a:rPr sz="1800" dirty="0">
                <a:latin typeface="Perpetua"/>
                <a:cs typeface="Perpetua"/>
              </a:rPr>
              <a:t>u</a:t>
            </a:r>
            <a:r>
              <a:rPr sz="1800" spc="5" dirty="0">
                <a:latin typeface="Perpetua"/>
                <a:cs typeface="Perpetua"/>
              </a:rPr>
              <a:t>d</a:t>
            </a:r>
            <a:r>
              <a:rPr sz="1800" dirty="0">
                <a:latin typeface="Perpetua"/>
                <a:cs typeface="Perpetua"/>
              </a:rPr>
              <a:t>en</a:t>
            </a:r>
            <a:r>
              <a:rPr sz="1800" spc="5" dirty="0">
                <a:latin typeface="Perpetua"/>
                <a:cs typeface="Perpetua"/>
              </a:rPr>
              <a:t>t</a:t>
            </a:r>
            <a:r>
              <a:rPr sz="1800" dirty="0">
                <a:latin typeface="Perpetua"/>
                <a:cs typeface="Perpetua"/>
              </a:rPr>
              <a:t>0  Student1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949" y="495427"/>
            <a:ext cx="157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</a:t>
            </a:r>
            <a:r>
              <a:rPr dirty="0"/>
              <a:t>n</a:t>
            </a:r>
            <a:r>
              <a:rPr spc="-90" dirty="0"/>
              <a:t>s</a:t>
            </a:r>
            <a:r>
              <a:rPr spc="-150" dirty="0"/>
              <a:t>w</a:t>
            </a:r>
            <a:r>
              <a:rPr spc="-5" dirty="0"/>
              <a:t>e</a:t>
            </a:r>
            <a:r>
              <a:rPr spc="80" dirty="0"/>
              <a:t>r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1125499"/>
            <a:ext cx="8044815" cy="40379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775"/>
              </a:spcBef>
            </a:pPr>
            <a:r>
              <a:rPr sz="2800" i="1" spc="-25" dirty="0">
                <a:latin typeface="Perpetua"/>
                <a:cs typeface="Perpetua"/>
              </a:rPr>
              <a:t>How </a:t>
            </a:r>
            <a:r>
              <a:rPr sz="2800" i="1" spc="-20" dirty="0">
                <a:latin typeface="Perpetua"/>
                <a:cs typeface="Perpetua"/>
              </a:rPr>
              <a:t>many </a:t>
            </a:r>
            <a:r>
              <a:rPr sz="2800" i="1" spc="-5" dirty="0">
                <a:latin typeface="Perpetua"/>
                <a:cs typeface="Perpetua"/>
              </a:rPr>
              <a:t>elements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10" dirty="0">
                <a:latin typeface="Perpetua"/>
                <a:cs typeface="Perpetua"/>
              </a:rPr>
              <a:t>there?</a:t>
            </a:r>
            <a:r>
              <a:rPr sz="2800" i="1" spc="40" dirty="0">
                <a:latin typeface="Perpetua"/>
                <a:cs typeface="Perpetua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Perpetua"/>
                <a:cs typeface="Perpetua"/>
              </a:rPr>
              <a:t>10</a:t>
            </a:r>
            <a:endParaRPr sz="2800">
              <a:latin typeface="Perpetua"/>
              <a:cs typeface="Perpetua"/>
            </a:endParaRPr>
          </a:p>
          <a:p>
            <a:pPr marL="339090" marR="2926715">
              <a:lnSpc>
                <a:spcPct val="120000"/>
              </a:lnSpc>
            </a:pPr>
            <a:r>
              <a:rPr sz="2800" i="1" spc="-10" dirty="0">
                <a:latin typeface="Perpetua"/>
                <a:cs typeface="Perpetua"/>
              </a:rPr>
              <a:t>What </a:t>
            </a:r>
            <a:r>
              <a:rPr sz="2800" i="1" spc="-5" dirty="0">
                <a:latin typeface="Perpetua"/>
                <a:cs typeface="Perpetua"/>
              </a:rPr>
              <a:t>is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fifth </a:t>
            </a:r>
            <a:r>
              <a:rPr sz="2800" i="1" spc="-5" dirty="0">
                <a:latin typeface="Perpetua"/>
                <a:cs typeface="Perpetua"/>
              </a:rPr>
              <a:t>element in the </a:t>
            </a:r>
            <a:r>
              <a:rPr sz="2800" i="1" spc="-25" dirty="0">
                <a:latin typeface="Perpetua"/>
                <a:cs typeface="Perpetua"/>
              </a:rPr>
              <a:t>array? </a:t>
            </a:r>
            <a:r>
              <a:rPr sz="2800" i="1" spc="-5" dirty="0">
                <a:solidFill>
                  <a:srgbClr val="FF0000"/>
                </a:solidFill>
                <a:latin typeface="Perpetua"/>
                <a:cs typeface="Perpetua"/>
              </a:rPr>
              <a:t>67  </a:t>
            </a:r>
            <a:r>
              <a:rPr sz="2800" i="1" spc="-10" dirty="0">
                <a:latin typeface="Perpetua"/>
                <a:cs typeface="Perpetua"/>
              </a:rPr>
              <a:t>What </a:t>
            </a:r>
            <a:r>
              <a:rPr sz="2800" i="1" spc="-5" dirty="0">
                <a:latin typeface="Perpetua"/>
                <a:cs typeface="Perpetua"/>
              </a:rPr>
              <a:t>is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result</a:t>
            </a:r>
            <a:r>
              <a:rPr sz="2800" i="1" spc="-3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of</a:t>
            </a:r>
            <a:endParaRPr sz="2800">
              <a:latin typeface="Perpetua"/>
              <a:cs typeface="Perpetua"/>
            </a:endParaRPr>
          </a:p>
          <a:p>
            <a:pPr marL="1841500" marR="2245995" indent="76200">
              <a:lnSpc>
                <a:spcPts val="4029"/>
              </a:lnSpc>
              <a:spcBef>
                <a:spcPts val="250"/>
              </a:spcBef>
            </a:pPr>
            <a:r>
              <a:rPr sz="2800" i="1" spc="-5" dirty="0">
                <a:latin typeface="Perpetua"/>
                <a:cs typeface="Perpetua"/>
              </a:rPr>
              <a:t>mean = (scores[0]+scores[1])/2;  </a:t>
            </a:r>
            <a:r>
              <a:rPr sz="2800" i="1" dirty="0">
                <a:solidFill>
                  <a:srgbClr val="FF0000"/>
                </a:solidFill>
                <a:latin typeface="Perpetua"/>
                <a:cs typeface="Perpetua"/>
              </a:rPr>
              <a:t>(79+87)/2 </a:t>
            </a:r>
            <a:r>
              <a:rPr sz="2800" i="1" spc="-5" dirty="0">
                <a:solidFill>
                  <a:srgbClr val="FF0000"/>
                </a:solidFill>
                <a:latin typeface="Perpetua"/>
                <a:cs typeface="Perpetua"/>
              </a:rPr>
              <a:t>=</a:t>
            </a:r>
            <a:r>
              <a:rPr sz="2800" i="1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Perpetua"/>
                <a:cs typeface="Perpetua"/>
              </a:rPr>
              <a:t>83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50">
              <a:latin typeface="Perpetua"/>
              <a:cs typeface="Perpetua"/>
            </a:endParaRPr>
          </a:p>
          <a:p>
            <a:pPr marL="355600" marR="5080" indent="-343535">
              <a:lnSpc>
                <a:spcPct val="100000"/>
              </a:lnSpc>
              <a:tabLst>
                <a:tab pos="1438910" algn="l"/>
              </a:tabLst>
            </a:pPr>
            <a:r>
              <a:rPr sz="2800" i="1" spc="-10" dirty="0">
                <a:latin typeface="Perpetua"/>
                <a:cs typeface="Perpetua"/>
              </a:rPr>
              <a:t>Can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workout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50" dirty="0">
                <a:latin typeface="Perpetua"/>
                <a:cs typeface="Perpetua"/>
              </a:rPr>
              <a:t>average </a:t>
            </a:r>
            <a:r>
              <a:rPr sz="2800" i="1" spc="-5" dirty="0">
                <a:latin typeface="Perpetua"/>
                <a:cs typeface="Perpetua"/>
              </a:rPr>
              <a:t>of Quiz1and student0 with the </a:t>
            </a:r>
            <a:r>
              <a:rPr sz="2800" i="1" spc="-15" dirty="0">
                <a:latin typeface="Perpetua"/>
                <a:cs typeface="Perpetua"/>
              </a:rPr>
              <a:t>following  </a:t>
            </a:r>
            <a:r>
              <a:rPr sz="2800" i="1" spc="-10" dirty="0">
                <a:latin typeface="Perpetua"/>
                <a:cs typeface="Perpetua"/>
              </a:rPr>
              <a:t>data???	</a:t>
            </a:r>
            <a:r>
              <a:rPr sz="2800" i="1" spc="-5" dirty="0">
                <a:solidFill>
                  <a:srgbClr val="FF0000"/>
                </a:solidFill>
                <a:latin typeface="Perpetua"/>
                <a:cs typeface="Perpetua"/>
              </a:rPr>
              <a:t>92,90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814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Real </a:t>
            </a:r>
            <a:r>
              <a:rPr spc="-5" dirty="0"/>
              <a:t>time </a:t>
            </a:r>
            <a:r>
              <a:rPr spc="-10" dirty="0"/>
              <a:t>Applications </a:t>
            </a:r>
            <a:r>
              <a:rPr spc="-5" dirty="0"/>
              <a:t>of</a:t>
            </a:r>
            <a:r>
              <a:rPr spc="-265" dirty="0"/>
              <a:t> </a:t>
            </a:r>
            <a:r>
              <a:rPr spc="-1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3388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97180" algn="l"/>
                <a:tab pos="297815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5" dirty="0">
                <a:latin typeface="Perpetua"/>
                <a:cs typeface="Perpetua"/>
              </a:rPr>
              <a:t>row </a:t>
            </a:r>
            <a:r>
              <a:rPr sz="2600" dirty="0">
                <a:latin typeface="Perpetua"/>
                <a:cs typeface="Perpetua"/>
              </a:rPr>
              <a:t>of houses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dirty="0">
                <a:latin typeface="Perpetua"/>
                <a:cs typeface="Perpetua"/>
              </a:rPr>
              <a:t>side of a </a:t>
            </a:r>
            <a:r>
              <a:rPr sz="2600" spc="-5" dirty="0">
                <a:latin typeface="Perpetua"/>
                <a:cs typeface="Perpetua"/>
              </a:rPr>
              <a:t>street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organized </a:t>
            </a:r>
            <a:r>
              <a:rPr sz="2600" spc="-15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796665"/>
            <a:ext cx="7985759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97180" algn="l"/>
                <a:tab pos="297815" algn="l"/>
              </a:tabLst>
            </a:pPr>
            <a:r>
              <a:rPr sz="2600" dirty="0">
                <a:latin typeface="Perpetua"/>
                <a:cs typeface="Perpetua"/>
              </a:rPr>
              <a:t>Photo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albums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dirty="0">
                <a:latin typeface="Perpetua"/>
                <a:cs typeface="Perpetua"/>
              </a:rPr>
              <a:t> similar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60" dirty="0">
                <a:latin typeface="Perpetua"/>
                <a:cs typeface="Perpetua"/>
              </a:rPr>
              <a:t>array.</a:t>
            </a:r>
            <a:r>
              <a:rPr sz="2600" spc="-4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They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are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“flip </a:t>
            </a:r>
            <a:r>
              <a:rPr sz="2600" spc="-5" dirty="0">
                <a:latin typeface="Perpetua"/>
                <a:cs typeface="Perpetua"/>
              </a:rPr>
              <a:t>albums”,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  </a:t>
            </a:r>
            <a:r>
              <a:rPr sz="2600" spc="-25" dirty="0">
                <a:latin typeface="Perpetua"/>
                <a:cs typeface="Perpetua"/>
              </a:rPr>
              <a:t>leaves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holding </a:t>
            </a:r>
            <a:r>
              <a:rPr sz="2600" spc="10" dirty="0">
                <a:latin typeface="Perpetua"/>
                <a:cs typeface="Perpetua"/>
              </a:rPr>
              <a:t>each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photo.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2317029"/>
            <a:ext cx="2667000" cy="1170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33811" y="4898282"/>
            <a:ext cx="2362553" cy="1153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900430"/>
            <a:ext cx="46240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60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array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animals </a:t>
            </a:r>
            <a:r>
              <a:rPr sz="2600" i="1" spc="-10" dirty="0">
                <a:latin typeface="Perpetua"/>
                <a:cs typeface="Perpetua"/>
              </a:rPr>
              <a:t>given </a:t>
            </a:r>
            <a:r>
              <a:rPr sz="2600" i="1" spc="-15" dirty="0">
                <a:latin typeface="Perpetua"/>
                <a:cs typeface="Perpetua"/>
              </a:rPr>
              <a:t>below</a:t>
            </a:r>
            <a:r>
              <a:rPr sz="2600" i="1" spc="-28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show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3263264"/>
            <a:ext cx="175006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add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10" dirty="0">
                <a:latin typeface="Perpetua"/>
                <a:cs typeface="Perpetua"/>
              </a:rPr>
              <a:t>to</a:t>
            </a:r>
            <a:r>
              <a:rPr sz="2600" i="1" spc="-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delete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23588" y="1808988"/>
            <a:ext cx="984885" cy="954405"/>
            <a:chOff x="4323588" y="1808988"/>
            <a:chExt cx="984885" cy="954405"/>
          </a:xfrm>
        </p:grpSpPr>
        <p:sp>
          <p:nvSpPr>
            <p:cNvPr id="5" name="object 5"/>
            <p:cNvSpPr/>
            <p:nvPr/>
          </p:nvSpPr>
          <p:spPr>
            <a:xfrm>
              <a:off x="4343400" y="1828800"/>
              <a:ext cx="944879" cy="914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3494" y="1818894"/>
              <a:ext cx="965200" cy="934719"/>
            </a:xfrm>
            <a:custGeom>
              <a:avLst/>
              <a:gdLst/>
              <a:ahLst/>
              <a:cxnLst/>
              <a:rect l="l" t="t" r="r" b="b"/>
              <a:pathLst>
                <a:path w="965200" h="934719">
                  <a:moveTo>
                    <a:pt x="0" y="934212"/>
                  </a:moveTo>
                  <a:lnTo>
                    <a:pt x="964691" y="934212"/>
                  </a:lnTo>
                  <a:lnTo>
                    <a:pt x="964691" y="0"/>
                  </a:lnTo>
                  <a:lnTo>
                    <a:pt x="0" y="0"/>
                  </a:lnTo>
                  <a:lnTo>
                    <a:pt x="0" y="934212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409188" y="1808988"/>
            <a:ext cx="836930" cy="974090"/>
            <a:chOff x="3409188" y="1808988"/>
            <a:chExt cx="836930" cy="974090"/>
          </a:xfrm>
        </p:grpSpPr>
        <p:sp>
          <p:nvSpPr>
            <p:cNvPr id="8" name="object 8"/>
            <p:cNvSpPr/>
            <p:nvPr/>
          </p:nvSpPr>
          <p:spPr>
            <a:xfrm>
              <a:off x="3429000" y="1828800"/>
              <a:ext cx="797051" cy="9342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19094" y="1818894"/>
              <a:ext cx="817244" cy="954405"/>
            </a:xfrm>
            <a:custGeom>
              <a:avLst/>
              <a:gdLst/>
              <a:ahLst/>
              <a:cxnLst/>
              <a:rect l="l" t="t" r="r" b="b"/>
              <a:pathLst>
                <a:path w="817245" h="954405">
                  <a:moveTo>
                    <a:pt x="0" y="954024"/>
                  </a:moveTo>
                  <a:lnTo>
                    <a:pt x="816863" y="954024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954024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66188" y="1808988"/>
            <a:ext cx="836930" cy="1010919"/>
            <a:chOff x="2266188" y="1808988"/>
            <a:chExt cx="836930" cy="1010919"/>
          </a:xfrm>
        </p:grpSpPr>
        <p:sp>
          <p:nvSpPr>
            <p:cNvPr id="11" name="object 11"/>
            <p:cNvSpPr/>
            <p:nvPr/>
          </p:nvSpPr>
          <p:spPr>
            <a:xfrm>
              <a:off x="2286000" y="1828800"/>
              <a:ext cx="797051" cy="9707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6094" y="1818894"/>
              <a:ext cx="817244" cy="990600"/>
            </a:xfrm>
            <a:custGeom>
              <a:avLst/>
              <a:gdLst/>
              <a:ahLst/>
              <a:cxnLst/>
              <a:rect l="l" t="t" r="r" b="b"/>
              <a:pathLst>
                <a:path w="817244" h="990600">
                  <a:moveTo>
                    <a:pt x="0" y="990600"/>
                  </a:moveTo>
                  <a:lnTo>
                    <a:pt x="816863" y="990600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281427" y="1367027"/>
          <a:ext cx="3006724" cy="3550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1001395"/>
                <a:gridCol w="1002664"/>
              </a:tblGrid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2342388" y="4018788"/>
            <a:ext cx="836930" cy="974090"/>
            <a:chOff x="2342388" y="4018788"/>
            <a:chExt cx="836930" cy="974090"/>
          </a:xfrm>
        </p:grpSpPr>
        <p:sp>
          <p:nvSpPr>
            <p:cNvPr id="15" name="object 15"/>
            <p:cNvSpPr/>
            <p:nvPr/>
          </p:nvSpPr>
          <p:spPr>
            <a:xfrm>
              <a:off x="2362200" y="4038600"/>
              <a:ext cx="797051" cy="9342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52294" y="4028694"/>
              <a:ext cx="817244" cy="954405"/>
            </a:xfrm>
            <a:custGeom>
              <a:avLst/>
              <a:gdLst/>
              <a:ahLst/>
              <a:cxnLst/>
              <a:rect l="l" t="t" r="r" b="b"/>
              <a:pathLst>
                <a:path w="817244" h="954404">
                  <a:moveTo>
                    <a:pt x="0" y="954023"/>
                  </a:moveTo>
                  <a:lnTo>
                    <a:pt x="816863" y="954023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954023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266188" y="3104388"/>
            <a:ext cx="836930" cy="753110"/>
            <a:chOff x="2266188" y="3104388"/>
            <a:chExt cx="836930" cy="753110"/>
          </a:xfrm>
        </p:grpSpPr>
        <p:sp>
          <p:nvSpPr>
            <p:cNvPr id="18" name="object 18"/>
            <p:cNvSpPr/>
            <p:nvPr/>
          </p:nvSpPr>
          <p:spPr>
            <a:xfrm>
              <a:off x="2286000" y="3124200"/>
              <a:ext cx="797051" cy="7132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6094" y="3114294"/>
              <a:ext cx="817244" cy="733425"/>
            </a:xfrm>
            <a:custGeom>
              <a:avLst/>
              <a:gdLst/>
              <a:ahLst/>
              <a:cxnLst/>
              <a:rect l="l" t="t" r="r" b="b"/>
              <a:pathLst>
                <a:path w="817244" h="733425">
                  <a:moveTo>
                    <a:pt x="0" y="733043"/>
                  </a:moveTo>
                  <a:lnTo>
                    <a:pt x="816863" y="733043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733043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11281"/>
            <a:ext cx="6633845" cy="11144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4000" spc="-35" dirty="0">
                <a:latin typeface="Perpetua"/>
                <a:cs typeface="Perpetua"/>
              </a:rPr>
              <a:t>Answer….</a:t>
            </a:r>
            <a:endParaRPr sz="4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15" dirty="0">
                <a:latin typeface="Perpetua"/>
                <a:cs typeface="Perpetua"/>
              </a:rPr>
              <a:t>Create </a:t>
            </a:r>
            <a:r>
              <a:rPr sz="2800" spc="-5" dirty="0">
                <a:latin typeface="Perpetua"/>
                <a:cs typeface="Perpetua"/>
              </a:rPr>
              <a:t>an </a:t>
            </a:r>
            <a:r>
              <a:rPr sz="2800" dirty="0">
                <a:latin typeface="Perpetua"/>
                <a:cs typeface="Perpetua"/>
              </a:rPr>
              <a:t>empty </a:t>
            </a:r>
            <a:r>
              <a:rPr sz="2800" spc="-10" dirty="0">
                <a:latin typeface="Perpetua"/>
                <a:cs typeface="Perpetua"/>
              </a:rPr>
              <a:t>location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5" dirty="0">
                <a:latin typeface="Perpetua"/>
                <a:cs typeface="Perpetua"/>
              </a:rPr>
              <a:t>first performing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delete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4815078"/>
            <a:ext cx="590994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15" dirty="0">
                <a:latin typeface="Perpetua"/>
                <a:cs typeface="Perpetua"/>
              </a:rPr>
              <a:t>Insert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20" dirty="0">
                <a:latin typeface="Perpetua"/>
                <a:cs typeface="Perpetua"/>
              </a:rPr>
              <a:t>new </a:t>
            </a:r>
            <a:r>
              <a:rPr sz="2800" spc="-5" dirty="0">
                <a:latin typeface="Perpetua"/>
                <a:cs typeface="Perpetua"/>
              </a:rPr>
              <a:t>element in the </a:t>
            </a:r>
            <a:r>
              <a:rPr sz="2800" spc="-10" dirty="0">
                <a:latin typeface="Perpetua"/>
                <a:cs typeface="Perpetua"/>
              </a:rPr>
              <a:t>desired location 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-20" dirty="0">
                <a:latin typeface="Perpetua"/>
                <a:cs typeface="Perpetua"/>
              </a:rPr>
              <a:t>moving </a:t>
            </a:r>
            <a:r>
              <a:rPr sz="2800" spc="-5" dirty="0">
                <a:latin typeface="Perpetua"/>
                <a:cs typeface="Perpetua"/>
              </a:rPr>
              <a:t>the other</a:t>
            </a:r>
            <a:r>
              <a:rPr sz="2800" spc="3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elements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0" y="5334000"/>
            <a:ext cx="1636938" cy="1297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4227" y="1748027"/>
          <a:ext cx="3006724" cy="3550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1001395"/>
                <a:gridCol w="1002664"/>
              </a:tblGrid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885188" y="2133600"/>
            <a:ext cx="836930" cy="1010919"/>
            <a:chOff x="1885188" y="2133600"/>
            <a:chExt cx="836930" cy="1010919"/>
          </a:xfrm>
        </p:grpSpPr>
        <p:sp>
          <p:nvSpPr>
            <p:cNvPr id="7" name="object 7"/>
            <p:cNvSpPr/>
            <p:nvPr/>
          </p:nvSpPr>
          <p:spPr>
            <a:xfrm>
              <a:off x="1905000" y="2153411"/>
              <a:ext cx="797051" cy="970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5094" y="2143505"/>
              <a:ext cx="817244" cy="990600"/>
            </a:xfrm>
            <a:custGeom>
              <a:avLst/>
              <a:gdLst/>
              <a:ahLst/>
              <a:cxnLst/>
              <a:rect l="l" t="t" r="r" b="b"/>
              <a:pathLst>
                <a:path w="817244" h="990600">
                  <a:moveTo>
                    <a:pt x="0" y="990600"/>
                  </a:moveTo>
                  <a:lnTo>
                    <a:pt x="816863" y="990600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835908" y="2189988"/>
            <a:ext cx="984885" cy="954405"/>
            <a:chOff x="3835908" y="2189988"/>
            <a:chExt cx="984885" cy="954405"/>
          </a:xfrm>
        </p:grpSpPr>
        <p:sp>
          <p:nvSpPr>
            <p:cNvPr id="10" name="object 10"/>
            <p:cNvSpPr/>
            <p:nvPr/>
          </p:nvSpPr>
          <p:spPr>
            <a:xfrm>
              <a:off x="3855720" y="2209800"/>
              <a:ext cx="944879" cy="9144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45814" y="2199894"/>
              <a:ext cx="965200" cy="934719"/>
            </a:xfrm>
            <a:custGeom>
              <a:avLst/>
              <a:gdLst/>
              <a:ahLst/>
              <a:cxnLst/>
              <a:rect l="l" t="t" r="r" b="b"/>
              <a:pathLst>
                <a:path w="965200" h="934719">
                  <a:moveTo>
                    <a:pt x="0" y="934212"/>
                  </a:moveTo>
                  <a:lnTo>
                    <a:pt x="964691" y="934212"/>
                  </a:lnTo>
                  <a:lnTo>
                    <a:pt x="964691" y="0"/>
                  </a:lnTo>
                  <a:lnTo>
                    <a:pt x="0" y="0"/>
                  </a:lnTo>
                  <a:lnTo>
                    <a:pt x="0" y="934212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748027" y="3195827"/>
          <a:ext cx="3006724" cy="3550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1001395"/>
                <a:gridCol w="1002664"/>
              </a:tblGrid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808988" y="3790188"/>
            <a:ext cx="836930" cy="1010919"/>
            <a:chOff x="1808988" y="3790188"/>
            <a:chExt cx="836930" cy="1010919"/>
          </a:xfrm>
        </p:grpSpPr>
        <p:sp>
          <p:nvSpPr>
            <p:cNvPr id="14" name="object 14"/>
            <p:cNvSpPr/>
            <p:nvPr/>
          </p:nvSpPr>
          <p:spPr>
            <a:xfrm>
              <a:off x="1828800" y="3810000"/>
              <a:ext cx="797051" cy="970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18894" y="3800094"/>
              <a:ext cx="817244" cy="990600"/>
            </a:xfrm>
            <a:custGeom>
              <a:avLst/>
              <a:gdLst/>
              <a:ahLst/>
              <a:cxnLst/>
              <a:rect l="l" t="t" r="r" b="b"/>
              <a:pathLst>
                <a:path w="817244" h="990600">
                  <a:moveTo>
                    <a:pt x="0" y="990599"/>
                  </a:moveTo>
                  <a:lnTo>
                    <a:pt x="816863" y="990599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990599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799588" y="3790188"/>
            <a:ext cx="1975485" cy="954405"/>
            <a:chOff x="2799588" y="3790188"/>
            <a:chExt cx="1975485" cy="954405"/>
          </a:xfrm>
        </p:grpSpPr>
        <p:sp>
          <p:nvSpPr>
            <p:cNvPr id="17" name="object 17"/>
            <p:cNvSpPr/>
            <p:nvPr/>
          </p:nvSpPr>
          <p:spPr>
            <a:xfrm>
              <a:off x="3810000" y="3810000"/>
              <a:ext cx="944879" cy="9144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0094" y="3800094"/>
              <a:ext cx="965200" cy="934719"/>
            </a:xfrm>
            <a:custGeom>
              <a:avLst/>
              <a:gdLst/>
              <a:ahLst/>
              <a:cxnLst/>
              <a:rect l="l" t="t" r="r" b="b"/>
              <a:pathLst>
                <a:path w="965200" h="934720">
                  <a:moveTo>
                    <a:pt x="0" y="934211"/>
                  </a:moveTo>
                  <a:lnTo>
                    <a:pt x="964691" y="934211"/>
                  </a:lnTo>
                  <a:lnTo>
                    <a:pt x="964691" y="0"/>
                  </a:lnTo>
                  <a:lnTo>
                    <a:pt x="0" y="0"/>
                  </a:lnTo>
                  <a:lnTo>
                    <a:pt x="0" y="934211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19400" y="3810000"/>
              <a:ext cx="914400" cy="9083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09494" y="3800094"/>
              <a:ext cx="934719" cy="928369"/>
            </a:xfrm>
            <a:custGeom>
              <a:avLst/>
              <a:gdLst/>
              <a:ahLst/>
              <a:cxnLst/>
              <a:rect l="l" t="t" r="r" b="b"/>
              <a:pathLst>
                <a:path w="934720" h="928370">
                  <a:moveTo>
                    <a:pt x="0" y="928115"/>
                  </a:moveTo>
                  <a:lnTo>
                    <a:pt x="934211" y="928115"/>
                  </a:lnTo>
                  <a:lnTo>
                    <a:pt x="934211" y="0"/>
                  </a:lnTo>
                  <a:lnTo>
                    <a:pt x="0" y="0"/>
                  </a:lnTo>
                  <a:lnTo>
                    <a:pt x="0" y="928115"/>
                  </a:lnTo>
                  <a:close/>
                </a:path>
              </a:pathLst>
            </a:custGeom>
            <a:ln w="19812">
              <a:solidFill>
                <a:srgbClr val="69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1129030"/>
            <a:ext cx="8214359" cy="255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spc="-15" dirty="0">
                <a:latin typeface="Perpetua"/>
                <a:cs typeface="Perpetua"/>
              </a:rPr>
              <a:t>payroll </a:t>
            </a:r>
            <a:r>
              <a:rPr sz="2600" i="1" spc="-5" dirty="0">
                <a:latin typeface="Perpetua"/>
                <a:cs typeface="Perpetua"/>
              </a:rPr>
              <a:t>task, </a:t>
            </a:r>
            <a:r>
              <a:rPr sz="2600" i="1" spc="-10" dirty="0">
                <a:latin typeface="Perpetua"/>
                <a:cs typeface="Perpetua"/>
              </a:rPr>
              <a:t>that requires </a:t>
            </a:r>
            <a:r>
              <a:rPr sz="2600" i="1" spc="-20" dirty="0">
                <a:latin typeface="Perpetua"/>
                <a:cs typeface="Perpetua"/>
              </a:rPr>
              <a:t>several </a:t>
            </a:r>
            <a:r>
              <a:rPr sz="2600" i="1" dirty="0">
                <a:latin typeface="Perpetua"/>
                <a:cs typeface="Perpetua"/>
              </a:rPr>
              <a:t>pieces </a:t>
            </a:r>
            <a:r>
              <a:rPr sz="2600" i="1" spc="-5" dirty="0">
                <a:latin typeface="Perpetua"/>
                <a:cs typeface="Perpetua"/>
              </a:rPr>
              <a:t>of information</a:t>
            </a:r>
            <a:r>
              <a:rPr sz="2600" i="1" spc="-17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(hours  </a:t>
            </a:r>
            <a:r>
              <a:rPr sz="2600" i="1" spc="-10" dirty="0">
                <a:latin typeface="Perpetua"/>
                <a:cs typeface="Perpetua"/>
              </a:rPr>
              <a:t>worked, </a:t>
            </a:r>
            <a:r>
              <a:rPr sz="2600" i="1" spc="-25" dirty="0">
                <a:latin typeface="Perpetua"/>
                <a:cs typeface="Perpetua"/>
              </a:rPr>
              <a:t>rate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65" dirty="0">
                <a:latin typeface="Perpetua"/>
                <a:cs typeface="Perpetua"/>
              </a:rPr>
              <a:t>pay,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regular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25" dirty="0">
                <a:latin typeface="Perpetua"/>
                <a:cs typeface="Perpetua"/>
              </a:rPr>
              <a:t>over </a:t>
            </a:r>
            <a:r>
              <a:rPr sz="2600" i="1" spc="-5" dirty="0">
                <a:latin typeface="Perpetua"/>
                <a:cs typeface="Perpetua"/>
              </a:rPr>
              <a:t>time </a:t>
            </a:r>
            <a:r>
              <a:rPr sz="2600" i="1" spc="-20" dirty="0">
                <a:latin typeface="Perpetua"/>
                <a:cs typeface="Perpetua"/>
              </a:rPr>
              <a:t>pay)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employees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12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  </a:t>
            </a:r>
            <a:r>
              <a:rPr sz="2600" i="1" spc="-15" dirty="0">
                <a:latin typeface="Perpetua"/>
                <a:cs typeface="Perpetua"/>
              </a:rPr>
              <a:t>organization.</a:t>
            </a:r>
            <a:endParaRPr sz="2600">
              <a:latin typeface="Perpetua"/>
              <a:cs typeface="Perpetua"/>
            </a:endParaRPr>
          </a:p>
          <a:p>
            <a:pPr marL="238125" marR="52069" indent="-226060" algn="just">
              <a:lnSpc>
                <a:spcPct val="100000"/>
              </a:lnSpc>
              <a:spcBef>
                <a:spcPts val="600"/>
              </a:spcBef>
              <a:buSzPct val="80769"/>
              <a:buFont typeface="Wingdings"/>
              <a:buChar char=""/>
              <a:tabLst>
                <a:tab pos="23876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25" dirty="0">
                <a:latin typeface="Perpetua"/>
                <a:cs typeface="Perpetua"/>
              </a:rPr>
              <a:t>organize </a:t>
            </a:r>
            <a:r>
              <a:rPr sz="2600" i="1" spc="-5" dirty="0">
                <a:latin typeface="Perpetua"/>
                <a:cs typeface="Perpetua"/>
              </a:rPr>
              <a:t>such data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-5" dirty="0">
                <a:latin typeface="Perpetua"/>
                <a:cs typeface="Perpetua"/>
              </a:rPr>
              <a:t>individual </a:t>
            </a:r>
            <a:r>
              <a:rPr sz="2600" i="1" spc="-25" dirty="0">
                <a:latin typeface="Perpetua"/>
                <a:cs typeface="Perpetua"/>
              </a:rPr>
              <a:t>arrays,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of the </a:t>
            </a:r>
            <a:r>
              <a:rPr sz="2600" i="1" dirty="0">
                <a:latin typeface="Perpetua"/>
                <a:cs typeface="Perpetua"/>
              </a:rPr>
              <a:t>piece</a:t>
            </a:r>
            <a:r>
              <a:rPr sz="2600" i="1" spc="-2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  information?</a:t>
            </a:r>
            <a:endParaRPr sz="2600">
              <a:latin typeface="Perpetua"/>
              <a:cs typeface="Perpetua"/>
            </a:endParaRPr>
          </a:p>
          <a:p>
            <a:pPr marL="238125" indent="-226060" algn="just">
              <a:lnSpc>
                <a:spcPct val="100000"/>
              </a:lnSpc>
              <a:spcBef>
                <a:spcPts val="600"/>
              </a:spcBef>
              <a:buSzPct val="80769"/>
              <a:buFont typeface="Wingdings"/>
              <a:buChar char=""/>
              <a:tabLst>
                <a:tab pos="238760" algn="l"/>
              </a:tabLst>
            </a:pP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5" dirty="0">
                <a:latin typeface="Perpetua"/>
                <a:cs typeface="Perpetua"/>
              </a:rPr>
              <a:t>efficient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approach?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0" y="3048000"/>
            <a:ext cx="1235963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91400" y="304800"/>
            <a:ext cx="1152144" cy="101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125981"/>
            <a:ext cx="1451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An</a:t>
            </a:r>
            <a:r>
              <a:rPr sz="2800" spc="-70" dirty="0"/>
              <a:t>s</a:t>
            </a:r>
            <a:r>
              <a:rPr sz="2800" spc="-110" dirty="0"/>
              <a:t>w</a:t>
            </a:r>
            <a:r>
              <a:rPr sz="2800" spc="-5" dirty="0"/>
              <a:t>er….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3540" y="2104770"/>
            <a:ext cx="8214359" cy="350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spc="-15" dirty="0">
                <a:latin typeface="Perpetua"/>
                <a:cs typeface="Perpetua"/>
              </a:rPr>
              <a:t>payroll </a:t>
            </a:r>
            <a:r>
              <a:rPr sz="2600" i="1" spc="-5" dirty="0">
                <a:latin typeface="Perpetua"/>
                <a:cs typeface="Perpetua"/>
              </a:rPr>
              <a:t>task, </a:t>
            </a:r>
            <a:r>
              <a:rPr sz="2600" i="1" spc="-10" dirty="0">
                <a:latin typeface="Perpetua"/>
                <a:cs typeface="Perpetua"/>
              </a:rPr>
              <a:t>that requires </a:t>
            </a:r>
            <a:r>
              <a:rPr sz="2600" i="1" spc="-20" dirty="0">
                <a:latin typeface="Perpetua"/>
                <a:cs typeface="Perpetua"/>
              </a:rPr>
              <a:t>several </a:t>
            </a:r>
            <a:r>
              <a:rPr sz="2600" i="1" dirty="0">
                <a:latin typeface="Perpetua"/>
                <a:cs typeface="Perpetua"/>
              </a:rPr>
              <a:t>pieces </a:t>
            </a:r>
            <a:r>
              <a:rPr sz="2600" i="1" spc="-5" dirty="0">
                <a:latin typeface="Perpetua"/>
                <a:cs typeface="Perpetua"/>
              </a:rPr>
              <a:t>of information</a:t>
            </a:r>
            <a:r>
              <a:rPr sz="2600" i="1" spc="-17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(hours  </a:t>
            </a:r>
            <a:r>
              <a:rPr sz="2600" i="1" spc="-10" dirty="0">
                <a:latin typeface="Perpetua"/>
                <a:cs typeface="Perpetua"/>
              </a:rPr>
              <a:t>worked, </a:t>
            </a:r>
            <a:r>
              <a:rPr sz="2600" i="1" spc="-25" dirty="0">
                <a:latin typeface="Perpetua"/>
                <a:cs typeface="Perpetua"/>
              </a:rPr>
              <a:t>rate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65" dirty="0">
                <a:latin typeface="Perpetua"/>
                <a:cs typeface="Perpetua"/>
              </a:rPr>
              <a:t>pay,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0" dirty="0">
                <a:latin typeface="Perpetua"/>
                <a:cs typeface="Perpetua"/>
              </a:rPr>
              <a:t>regular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25" dirty="0">
                <a:latin typeface="Perpetua"/>
                <a:cs typeface="Perpetua"/>
              </a:rPr>
              <a:t>over </a:t>
            </a:r>
            <a:r>
              <a:rPr sz="2600" i="1" dirty="0">
                <a:latin typeface="Perpetua"/>
                <a:cs typeface="Perpetua"/>
              </a:rPr>
              <a:t>time </a:t>
            </a:r>
            <a:r>
              <a:rPr sz="2600" i="1" spc="-20" dirty="0">
                <a:latin typeface="Perpetua"/>
                <a:cs typeface="Perpetua"/>
              </a:rPr>
              <a:t>pay)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employees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1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  </a:t>
            </a:r>
            <a:r>
              <a:rPr sz="2600" i="1" spc="-15" dirty="0">
                <a:latin typeface="Perpetua"/>
                <a:cs typeface="Perpetua"/>
              </a:rPr>
              <a:t>organization.</a:t>
            </a:r>
            <a:endParaRPr sz="2600">
              <a:latin typeface="Perpetua"/>
              <a:cs typeface="Perpetua"/>
            </a:endParaRPr>
          </a:p>
          <a:p>
            <a:pPr marL="238125" marR="52069" indent="-226060" algn="just">
              <a:lnSpc>
                <a:spcPct val="100000"/>
              </a:lnSpc>
              <a:spcBef>
                <a:spcPts val="600"/>
              </a:spcBef>
              <a:buSzPct val="80769"/>
              <a:buFont typeface="Wingdings"/>
              <a:buChar char=""/>
              <a:tabLst>
                <a:tab pos="23876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25" dirty="0">
                <a:latin typeface="Perpetua"/>
                <a:cs typeface="Perpetua"/>
              </a:rPr>
              <a:t>organize </a:t>
            </a:r>
            <a:r>
              <a:rPr sz="2600" i="1" spc="-5" dirty="0">
                <a:latin typeface="Perpetua"/>
                <a:cs typeface="Perpetua"/>
              </a:rPr>
              <a:t>such data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-5" dirty="0">
                <a:latin typeface="Perpetua"/>
                <a:cs typeface="Perpetua"/>
              </a:rPr>
              <a:t>individual </a:t>
            </a:r>
            <a:r>
              <a:rPr sz="2600" i="1" spc="-25" dirty="0">
                <a:latin typeface="Perpetua"/>
                <a:cs typeface="Perpetua"/>
              </a:rPr>
              <a:t>arrays,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of the </a:t>
            </a:r>
            <a:r>
              <a:rPr sz="2600" i="1" dirty="0">
                <a:latin typeface="Perpetua"/>
                <a:cs typeface="Perpetua"/>
              </a:rPr>
              <a:t>piece</a:t>
            </a:r>
            <a:r>
              <a:rPr sz="2600" i="1" spc="-2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  </a:t>
            </a:r>
            <a:r>
              <a:rPr sz="2600" i="1" spc="-20" dirty="0">
                <a:latin typeface="Perpetua"/>
                <a:cs typeface="Perpetua"/>
              </a:rPr>
              <a:t>information?</a:t>
            </a:r>
            <a:r>
              <a:rPr sz="2600" i="1" spc="-20" dirty="0">
                <a:solidFill>
                  <a:srgbClr val="FF0000"/>
                </a:solidFill>
                <a:latin typeface="Perpetua"/>
                <a:cs typeface="Perpetua"/>
              </a:rPr>
              <a:t>Yes</a:t>
            </a:r>
            <a:endParaRPr sz="2600">
              <a:latin typeface="Perpetua"/>
              <a:cs typeface="Perpetua"/>
            </a:endParaRPr>
          </a:p>
          <a:p>
            <a:pPr marL="238125" indent="-226060" algn="just">
              <a:lnSpc>
                <a:spcPct val="100000"/>
              </a:lnSpc>
              <a:spcBef>
                <a:spcPts val="600"/>
              </a:spcBef>
              <a:buSzPct val="80769"/>
              <a:buFont typeface="Wingdings"/>
              <a:buChar char=""/>
              <a:tabLst>
                <a:tab pos="238760" algn="l"/>
              </a:tabLst>
            </a:pP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5" dirty="0">
                <a:latin typeface="Perpetua"/>
                <a:cs typeface="Perpetua"/>
              </a:rPr>
              <a:t>efficient </a:t>
            </a:r>
            <a:r>
              <a:rPr sz="2600" i="1" dirty="0">
                <a:latin typeface="Perpetua"/>
                <a:cs typeface="Perpetua"/>
              </a:rPr>
              <a:t>approach?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No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because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individual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single</a:t>
            </a:r>
            <a:r>
              <a:rPr sz="2600" i="1" spc="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D</a:t>
            </a:r>
            <a:endParaRPr sz="2600">
              <a:latin typeface="Perpetua"/>
              <a:cs typeface="Perpetua"/>
            </a:endParaRPr>
          </a:p>
          <a:p>
            <a:pPr marL="12700" marR="1514475" algn="just">
              <a:lnSpc>
                <a:spcPct val="119200"/>
              </a:lnSpc>
              <a:spcBef>
                <a:spcPts val="5"/>
              </a:spcBef>
            </a:pPr>
            <a:r>
              <a:rPr sz="2600" i="1" spc="-20" dirty="0">
                <a:solidFill>
                  <a:srgbClr val="FF0000"/>
                </a:solidFill>
                <a:latin typeface="Perpetua"/>
                <a:cs typeface="Perpetua"/>
              </a:rPr>
              <a:t>Arrays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i="1" spc="-20" dirty="0">
                <a:solidFill>
                  <a:srgbClr val="FF0000"/>
                </a:solidFill>
                <a:latin typeface="Perpetua"/>
                <a:cs typeface="Perpetua"/>
              </a:rPr>
              <a:t>say…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2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attributes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do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not capture the relationship  between the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two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attributes…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Multi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D </a:t>
            </a:r>
            <a:r>
              <a:rPr sz="2600" i="1" spc="-20" dirty="0">
                <a:solidFill>
                  <a:srgbClr val="FF0000"/>
                </a:solidFill>
                <a:latin typeface="Perpetua"/>
                <a:cs typeface="Perpetua"/>
              </a:rPr>
              <a:t>array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is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better</a:t>
            </a:r>
            <a:r>
              <a:rPr sz="2600" i="1" spc="-114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choice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0" y="3886200"/>
            <a:ext cx="1235963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00921" y="4573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735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 Dimensional</a:t>
            </a:r>
            <a:r>
              <a:rPr spc="-305" dirty="0"/>
              <a:t> </a:t>
            </a:r>
            <a:r>
              <a:rPr spc="-1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54265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Although </a:t>
            </a:r>
            <a:r>
              <a:rPr sz="2400" dirty="0">
                <a:latin typeface="Perpetua"/>
                <a:cs typeface="Perpetua"/>
              </a:rPr>
              <a:t>it is useful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0" dirty="0">
                <a:latin typeface="Perpetua"/>
                <a:cs typeface="Perpetua"/>
              </a:rPr>
              <a:t>data </a:t>
            </a:r>
            <a:r>
              <a:rPr sz="2400" dirty="0">
                <a:latin typeface="Perpetua"/>
                <a:cs typeface="Perpetua"/>
              </a:rPr>
              <a:t>in one-dimensional </a:t>
            </a:r>
            <a:r>
              <a:rPr sz="2400" spc="-10" dirty="0">
                <a:latin typeface="Perpetua"/>
                <a:cs typeface="Perpetua"/>
              </a:rPr>
              <a:t>arrays, </a:t>
            </a: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-5" dirty="0">
                <a:latin typeface="Perpetua"/>
                <a:cs typeface="Perpetua"/>
              </a:rPr>
              <a:t>sometimes  </a:t>
            </a:r>
            <a:r>
              <a:rPr sz="2400" dirty="0">
                <a:latin typeface="Perpetua"/>
                <a:cs typeface="Perpetua"/>
              </a:rPr>
              <a:t>useful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arrange </a:t>
            </a:r>
            <a:r>
              <a:rPr sz="2400" spc="-5" dirty="0">
                <a:latin typeface="Perpetua"/>
                <a:cs typeface="Perpetua"/>
              </a:rPr>
              <a:t>data </a:t>
            </a:r>
            <a:r>
              <a:rPr sz="2400" dirty="0">
                <a:latin typeface="Perpetua"/>
                <a:cs typeface="Perpetua"/>
              </a:rPr>
              <a:t>into </a:t>
            </a:r>
            <a:r>
              <a:rPr sz="2400" spc="-25" dirty="0">
                <a:latin typeface="Perpetua"/>
                <a:cs typeface="Perpetua"/>
              </a:rPr>
              <a:t>rows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columns </a:t>
            </a:r>
            <a:r>
              <a:rPr sz="2400" spc="-25" dirty="0">
                <a:latin typeface="Perpetua"/>
                <a:cs typeface="Perpetua"/>
              </a:rPr>
              <a:t>(two </a:t>
            </a:r>
            <a:r>
              <a:rPr sz="2400" dirty="0">
                <a:latin typeface="Perpetua"/>
                <a:cs typeface="Perpetua"/>
              </a:rPr>
              <a:t>dimensional </a:t>
            </a:r>
            <a:r>
              <a:rPr sz="2400" spc="-10" dirty="0">
                <a:latin typeface="Perpetua"/>
                <a:cs typeface="Perpetua"/>
              </a:rPr>
              <a:t>arrays),  </a:t>
            </a:r>
            <a:r>
              <a:rPr sz="2400" spc="-25" dirty="0">
                <a:latin typeface="Perpetua"/>
                <a:cs typeface="Perpetua"/>
              </a:rPr>
              <a:t>rows </a:t>
            </a:r>
            <a:r>
              <a:rPr sz="2400" spc="-5" dirty="0">
                <a:latin typeface="Perpetua"/>
                <a:cs typeface="Perpetua"/>
              </a:rPr>
              <a:t>columns </a:t>
            </a:r>
            <a:r>
              <a:rPr sz="2400" dirty="0">
                <a:latin typeface="Perpetua"/>
                <a:cs typeface="Perpetua"/>
              </a:rPr>
              <a:t>and </a:t>
            </a:r>
            <a:r>
              <a:rPr sz="2400" spc="-5" dirty="0">
                <a:latin typeface="Perpetua"/>
                <a:cs typeface="Perpetua"/>
              </a:rPr>
              <a:t>ranks (three-dimensional),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25" dirty="0">
                <a:latin typeface="Perpetua"/>
                <a:cs typeface="Perpetua"/>
              </a:rPr>
              <a:t>even </a:t>
            </a:r>
            <a:r>
              <a:rPr sz="2400" dirty="0">
                <a:latin typeface="Perpetua"/>
                <a:cs typeface="Perpetua"/>
              </a:rPr>
              <a:t>higher  </a:t>
            </a:r>
            <a:r>
              <a:rPr sz="2400" spc="-20" dirty="0">
                <a:latin typeface="Perpetua"/>
                <a:cs typeface="Perpetua"/>
              </a:rPr>
              <a:t>dimensionality.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097017"/>
            <a:ext cx="79279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100"/>
              </a:spcBef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particular </a:t>
            </a:r>
            <a:r>
              <a:rPr sz="2400" dirty="0">
                <a:latin typeface="Perpetua"/>
                <a:cs typeface="Perpetua"/>
              </a:rPr>
              <a:t>cell in a </a:t>
            </a:r>
            <a:r>
              <a:rPr sz="2400" spc="-5" dirty="0">
                <a:latin typeface="Perpetua"/>
                <a:cs typeface="Perpetua"/>
              </a:rPr>
              <a:t>five-dimensional </a:t>
            </a:r>
            <a:r>
              <a:rPr sz="2400" spc="-10" dirty="0">
                <a:latin typeface="Perpetua"/>
                <a:cs typeface="Perpetua"/>
              </a:rPr>
              <a:t>array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accessed as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follows:</a:t>
            </a:r>
            <a:endParaRPr sz="2400">
              <a:latin typeface="Perpetua"/>
              <a:cs typeface="Perpetua"/>
            </a:endParaRPr>
          </a:p>
          <a:p>
            <a:pPr marL="680085">
              <a:lnSpc>
                <a:spcPct val="100000"/>
              </a:lnSpc>
            </a:pPr>
            <a:r>
              <a:rPr sz="2400" i="1" dirty="0">
                <a:latin typeface="Perpetua"/>
                <a:cs typeface="Perpetua"/>
              </a:rPr>
              <a:t>Arr_name</a:t>
            </a:r>
            <a:r>
              <a:rPr sz="2400" dirty="0">
                <a:latin typeface="Perpetua"/>
                <a:cs typeface="Perpetua"/>
              </a:rPr>
              <a:t>[</a:t>
            </a:r>
            <a:r>
              <a:rPr sz="2400" i="1" dirty="0">
                <a:latin typeface="Perpetua"/>
                <a:cs typeface="Perpetua"/>
              </a:rPr>
              <a:t>dim</a:t>
            </a:r>
            <a:r>
              <a:rPr sz="2400" dirty="0">
                <a:latin typeface="Perpetua"/>
                <a:cs typeface="Perpetua"/>
              </a:rPr>
              <a:t>1][</a:t>
            </a:r>
            <a:r>
              <a:rPr sz="2400" i="1" dirty="0">
                <a:latin typeface="Perpetua"/>
                <a:cs typeface="Perpetua"/>
              </a:rPr>
              <a:t>dim</a:t>
            </a:r>
            <a:r>
              <a:rPr sz="2400" dirty="0">
                <a:latin typeface="Perpetua"/>
                <a:cs typeface="Perpetua"/>
              </a:rPr>
              <a:t>2][</a:t>
            </a:r>
            <a:r>
              <a:rPr sz="2400" i="1" dirty="0">
                <a:latin typeface="Perpetua"/>
                <a:cs typeface="Perpetua"/>
              </a:rPr>
              <a:t>dim</a:t>
            </a:r>
            <a:r>
              <a:rPr sz="2400" dirty="0">
                <a:latin typeface="Perpetua"/>
                <a:cs typeface="Perpetua"/>
              </a:rPr>
              <a:t>3][</a:t>
            </a:r>
            <a:r>
              <a:rPr sz="2400" i="1" dirty="0">
                <a:latin typeface="Perpetua"/>
                <a:cs typeface="Perpetua"/>
              </a:rPr>
              <a:t>dim</a:t>
            </a:r>
            <a:r>
              <a:rPr sz="2400" dirty="0">
                <a:latin typeface="Perpetua"/>
                <a:cs typeface="Perpetua"/>
              </a:rPr>
              <a:t>4][</a:t>
            </a:r>
            <a:r>
              <a:rPr sz="2400" i="1" dirty="0">
                <a:latin typeface="Perpetua"/>
                <a:cs typeface="Perpetua"/>
              </a:rPr>
              <a:t>dim</a:t>
            </a:r>
            <a:r>
              <a:rPr sz="2400" dirty="0">
                <a:latin typeface="Perpetua"/>
                <a:cs typeface="Perpetua"/>
              </a:rPr>
              <a:t>5].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62150" y="3048000"/>
            <a:ext cx="4914900" cy="166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209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 Dimensional </a:t>
            </a:r>
            <a:r>
              <a:rPr spc="-15" dirty="0"/>
              <a:t>Arrays</a:t>
            </a:r>
            <a:r>
              <a:rPr spc="-28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27913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spc="-60" dirty="0">
                <a:latin typeface="Perpetua"/>
                <a:cs typeface="Perpetua"/>
              </a:rPr>
              <a:t>eg., 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10" dirty="0">
                <a:latin typeface="Perpetua"/>
                <a:cs typeface="Perpetua"/>
              </a:rPr>
              <a:t>there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eight </a:t>
            </a:r>
            <a:r>
              <a:rPr sz="2400" dirty="0">
                <a:latin typeface="Perpetua"/>
                <a:cs typeface="Perpetua"/>
              </a:rPr>
              <a:t>students </a:t>
            </a:r>
            <a:r>
              <a:rPr sz="2400" spc="-5" dirty="0">
                <a:latin typeface="Perpetua"/>
                <a:cs typeface="Perpetua"/>
              </a:rPr>
              <a:t>and ten </a:t>
            </a:r>
            <a:r>
              <a:rPr sz="2400" dirty="0">
                <a:latin typeface="Perpetua"/>
                <a:cs typeface="Perpetua"/>
              </a:rPr>
              <a:t>questions, </a:t>
            </a:r>
            <a:r>
              <a:rPr sz="2400" spc="-5" dirty="0">
                <a:latin typeface="Perpetua"/>
                <a:cs typeface="Perpetua"/>
              </a:rPr>
              <a:t>and the </a:t>
            </a:r>
            <a:r>
              <a:rPr sz="2400" spc="-15" dirty="0">
                <a:latin typeface="Perpetua"/>
                <a:cs typeface="Perpetua"/>
              </a:rPr>
              <a:t>answers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stored </a:t>
            </a:r>
            <a:r>
              <a:rPr sz="2400" dirty="0">
                <a:latin typeface="Perpetua"/>
                <a:cs typeface="Perpetua"/>
              </a:rPr>
              <a:t>in a </a:t>
            </a:r>
            <a:r>
              <a:rPr sz="2400" spc="-10" dirty="0">
                <a:latin typeface="Perpetua"/>
                <a:cs typeface="Perpetua"/>
              </a:rPr>
              <a:t>two-dimensional array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given.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572636"/>
            <a:ext cx="8364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30" dirty="0">
                <a:latin typeface="Perpetua"/>
                <a:cs typeface="Perpetua"/>
              </a:rPr>
              <a:t>Similarly, </a:t>
            </a:r>
            <a:r>
              <a:rPr sz="2400" dirty="0">
                <a:latin typeface="Perpetua"/>
                <a:cs typeface="Perpetua"/>
              </a:rPr>
              <a:t>the distances </a:t>
            </a:r>
            <a:r>
              <a:rPr sz="2400" spc="-15" dirty="0">
                <a:latin typeface="Perpetua"/>
                <a:cs typeface="Perpetua"/>
              </a:rPr>
              <a:t>between </a:t>
            </a:r>
            <a:r>
              <a:rPr sz="2400" dirty="0">
                <a:latin typeface="Perpetua"/>
                <a:cs typeface="Perpetua"/>
              </a:rPr>
              <a:t>the cities can be </a:t>
            </a:r>
            <a:r>
              <a:rPr sz="2400" spc="-5" dirty="0">
                <a:latin typeface="Perpetua"/>
                <a:cs typeface="Perpetua"/>
              </a:rPr>
              <a:t>represented </a:t>
            </a:r>
            <a:r>
              <a:rPr sz="2400" dirty="0">
                <a:latin typeface="Perpetua"/>
                <a:cs typeface="Perpetua"/>
              </a:rPr>
              <a:t>using a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two-  </a:t>
            </a:r>
            <a:r>
              <a:rPr sz="2400" dirty="0">
                <a:latin typeface="Perpetua"/>
                <a:cs typeface="Perpetua"/>
              </a:rPr>
              <a:t>dimensional </a:t>
            </a:r>
            <a:r>
              <a:rPr sz="2400" spc="-10" dirty="0">
                <a:latin typeface="Perpetua"/>
                <a:cs typeface="Perpetua"/>
              </a:rPr>
              <a:t>array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given.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59625" y="2047088"/>
            <a:ext cx="2908440" cy="1442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62400" y="3962400"/>
            <a:ext cx="4925567" cy="236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 Dimensional </a:t>
            </a:r>
            <a:r>
              <a:rPr spc="-15" dirty="0"/>
              <a:t>Arrays</a:t>
            </a:r>
            <a:r>
              <a:rPr spc="-28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159211"/>
            <a:ext cx="6372860" cy="112839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36220" indent="-224154">
              <a:lnSpc>
                <a:spcPct val="100000"/>
              </a:lnSpc>
              <a:spcBef>
                <a:spcPts val="1495"/>
              </a:spcBef>
              <a:buSzPct val="84615"/>
              <a:buFont typeface="Arial"/>
              <a:buChar char="•"/>
              <a:tabLst>
                <a:tab pos="236854" algn="l"/>
              </a:tabLst>
            </a:pPr>
            <a:r>
              <a:rPr sz="2600" dirty="0">
                <a:latin typeface="Perpetua"/>
                <a:cs typeface="Perpetua"/>
              </a:rPr>
              <a:t>An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can be </a:t>
            </a:r>
            <a:r>
              <a:rPr sz="2600" spc="-5" dirty="0">
                <a:latin typeface="Perpetua"/>
                <a:cs typeface="Perpetua"/>
              </a:rPr>
              <a:t>declared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multiple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dimensions.</a:t>
            </a:r>
            <a:endParaRPr sz="2600">
              <a:latin typeface="Perpetua"/>
              <a:cs typeface="Perpetua"/>
            </a:endParaRPr>
          </a:p>
          <a:p>
            <a:pPr marL="469900">
              <a:lnSpc>
                <a:spcPct val="100000"/>
              </a:lnSpc>
              <a:spcBef>
                <a:spcPts val="1285"/>
              </a:spcBef>
              <a:tabLst>
                <a:tab pos="4168775" algn="l"/>
              </a:tabLst>
            </a:pPr>
            <a:r>
              <a:rPr sz="2400" dirty="0">
                <a:latin typeface="Perpetua"/>
                <a:cs typeface="Perpetua"/>
              </a:rPr>
              <a:t>2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Dimensional	3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Dimensional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6521" y="2405814"/>
            <a:ext cx="2869434" cy="1282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86027" y="2510027"/>
            <a:ext cx="1381125" cy="1228725"/>
            <a:chOff x="986027" y="2510027"/>
            <a:chExt cx="1381125" cy="1228725"/>
          </a:xfrm>
        </p:grpSpPr>
        <p:sp>
          <p:nvSpPr>
            <p:cNvPr id="6" name="object 6"/>
            <p:cNvSpPr/>
            <p:nvPr/>
          </p:nvSpPr>
          <p:spPr>
            <a:xfrm>
              <a:off x="990599" y="2514599"/>
              <a:ext cx="1371600" cy="1219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0599" y="2514599"/>
              <a:ext cx="1371600" cy="1219200"/>
            </a:xfrm>
            <a:custGeom>
              <a:avLst/>
              <a:gdLst/>
              <a:ahLst/>
              <a:cxnLst/>
              <a:rect l="l" t="t" r="r" b="b"/>
              <a:pathLst>
                <a:path w="1371600" h="1219200">
                  <a:moveTo>
                    <a:pt x="0" y="1219200"/>
                  </a:moveTo>
                  <a:lnTo>
                    <a:pt x="1371600" y="1219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805428" y="2586227"/>
            <a:ext cx="1304925" cy="1304925"/>
            <a:chOff x="3805428" y="2586227"/>
            <a:chExt cx="1304925" cy="1304925"/>
          </a:xfrm>
        </p:grpSpPr>
        <p:sp>
          <p:nvSpPr>
            <p:cNvPr id="9" name="object 9"/>
            <p:cNvSpPr/>
            <p:nvPr/>
          </p:nvSpPr>
          <p:spPr>
            <a:xfrm>
              <a:off x="4122420" y="2590799"/>
              <a:ext cx="973836" cy="9738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22420" y="2590799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89">
                  <a:moveTo>
                    <a:pt x="0" y="973836"/>
                  </a:moveTo>
                  <a:lnTo>
                    <a:pt x="973836" y="973836"/>
                  </a:lnTo>
                  <a:lnTo>
                    <a:pt x="97383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8496" y="2743199"/>
              <a:ext cx="973836" cy="9738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8496" y="2743199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89">
                  <a:moveTo>
                    <a:pt x="0" y="973836"/>
                  </a:moveTo>
                  <a:lnTo>
                    <a:pt x="973836" y="973836"/>
                  </a:lnTo>
                  <a:lnTo>
                    <a:pt x="97383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68496" y="2590799"/>
              <a:ext cx="1137285" cy="1125220"/>
            </a:xfrm>
            <a:custGeom>
              <a:avLst/>
              <a:gdLst/>
              <a:ahLst/>
              <a:cxnLst/>
              <a:rect l="l" t="t" r="r" b="b"/>
              <a:pathLst>
                <a:path w="1137285" h="1125220">
                  <a:moveTo>
                    <a:pt x="153924" y="0"/>
                  </a:moveTo>
                  <a:lnTo>
                    <a:pt x="0" y="152400"/>
                  </a:lnTo>
                </a:path>
                <a:path w="1137285" h="1125220">
                  <a:moveTo>
                    <a:pt x="1100327" y="25908"/>
                  </a:moveTo>
                  <a:lnTo>
                    <a:pt x="984503" y="141732"/>
                  </a:lnTo>
                </a:path>
                <a:path w="1137285" h="1125220">
                  <a:moveTo>
                    <a:pt x="1136903" y="972312"/>
                  </a:moveTo>
                  <a:lnTo>
                    <a:pt x="984503" y="11247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0" y="2912363"/>
              <a:ext cx="973836" cy="9738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10000" y="2912363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89">
                  <a:moveTo>
                    <a:pt x="0" y="973836"/>
                  </a:moveTo>
                  <a:lnTo>
                    <a:pt x="973836" y="973836"/>
                  </a:lnTo>
                  <a:lnTo>
                    <a:pt x="97383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0000" y="2759963"/>
              <a:ext cx="1137285" cy="1125220"/>
            </a:xfrm>
            <a:custGeom>
              <a:avLst/>
              <a:gdLst/>
              <a:ahLst/>
              <a:cxnLst/>
              <a:rect l="l" t="t" r="r" b="b"/>
              <a:pathLst>
                <a:path w="1137285" h="1125220">
                  <a:moveTo>
                    <a:pt x="152400" y="0"/>
                  </a:moveTo>
                  <a:lnTo>
                    <a:pt x="0" y="152400"/>
                  </a:lnTo>
                </a:path>
                <a:path w="1137285" h="1125220">
                  <a:moveTo>
                    <a:pt x="1100327" y="24384"/>
                  </a:moveTo>
                  <a:lnTo>
                    <a:pt x="982979" y="141732"/>
                  </a:lnTo>
                </a:path>
                <a:path w="1137285" h="1125220">
                  <a:moveTo>
                    <a:pt x="1136903" y="972312"/>
                  </a:moveTo>
                  <a:lnTo>
                    <a:pt x="982979" y="11247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22719" y="5029961"/>
            <a:ext cx="1116330" cy="821690"/>
            <a:chOff x="6522719" y="5029961"/>
            <a:chExt cx="1116330" cy="821690"/>
          </a:xfrm>
        </p:grpSpPr>
        <p:sp>
          <p:nvSpPr>
            <p:cNvPr id="18" name="object 18"/>
            <p:cNvSpPr/>
            <p:nvPr/>
          </p:nvSpPr>
          <p:spPr>
            <a:xfrm>
              <a:off x="6534899" y="5036819"/>
              <a:ext cx="1090930" cy="787400"/>
            </a:xfrm>
            <a:custGeom>
              <a:avLst/>
              <a:gdLst/>
              <a:ahLst/>
              <a:cxnLst/>
              <a:rect l="l" t="t" r="r" b="b"/>
              <a:pathLst>
                <a:path w="1090929" h="787400">
                  <a:moveTo>
                    <a:pt x="1090688" y="207137"/>
                  </a:moveTo>
                  <a:lnTo>
                    <a:pt x="818146" y="6858"/>
                  </a:lnTo>
                  <a:lnTo>
                    <a:pt x="816787" y="6858"/>
                  </a:lnTo>
                  <a:lnTo>
                    <a:pt x="807732" y="0"/>
                  </a:lnTo>
                  <a:lnTo>
                    <a:pt x="807732" y="5359"/>
                  </a:lnTo>
                  <a:lnTo>
                    <a:pt x="807732" y="192671"/>
                  </a:lnTo>
                  <a:lnTo>
                    <a:pt x="807732" y="199644"/>
                  </a:lnTo>
                  <a:lnTo>
                    <a:pt x="797318" y="199644"/>
                  </a:lnTo>
                  <a:lnTo>
                    <a:pt x="797318" y="192671"/>
                  </a:lnTo>
                  <a:lnTo>
                    <a:pt x="807732" y="192671"/>
                  </a:lnTo>
                  <a:lnTo>
                    <a:pt x="807732" y="5359"/>
                  </a:lnTo>
                  <a:lnTo>
                    <a:pt x="800239" y="0"/>
                  </a:lnTo>
                  <a:lnTo>
                    <a:pt x="797318" y="0"/>
                  </a:lnTo>
                  <a:lnTo>
                    <a:pt x="272808" y="0"/>
                  </a:lnTo>
                  <a:lnTo>
                    <a:pt x="272808" y="585851"/>
                  </a:lnTo>
                  <a:lnTo>
                    <a:pt x="272808" y="592836"/>
                  </a:lnTo>
                  <a:lnTo>
                    <a:pt x="262394" y="592836"/>
                  </a:lnTo>
                  <a:lnTo>
                    <a:pt x="262394" y="585851"/>
                  </a:lnTo>
                  <a:lnTo>
                    <a:pt x="272808" y="585851"/>
                  </a:lnTo>
                  <a:lnTo>
                    <a:pt x="272808" y="0"/>
                  </a:lnTo>
                  <a:lnTo>
                    <a:pt x="0" y="0"/>
                  </a:lnTo>
                  <a:lnTo>
                    <a:pt x="0" y="585851"/>
                  </a:lnTo>
                  <a:lnTo>
                    <a:pt x="0" y="588467"/>
                  </a:lnTo>
                  <a:lnTo>
                    <a:pt x="5765" y="592836"/>
                  </a:lnTo>
                  <a:lnTo>
                    <a:pt x="0" y="592836"/>
                  </a:lnTo>
                  <a:lnTo>
                    <a:pt x="116243" y="676440"/>
                  </a:lnTo>
                  <a:lnTo>
                    <a:pt x="262394" y="787019"/>
                  </a:lnTo>
                  <a:lnTo>
                    <a:pt x="262394" y="781532"/>
                  </a:lnTo>
                  <a:lnTo>
                    <a:pt x="270014" y="787006"/>
                  </a:lnTo>
                  <a:lnTo>
                    <a:pt x="272808" y="787006"/>
                  </a:lnTo>
                  <a:lnTo>
                    <a:pt x="1070089" y="787006"/>
                  </a:lnTo>
                  <a:lnTo>
                    <a:pt x="1070114" y="203327"/>
                  </a:lnTo>
                  <a:lnTo>
                    <a:pt x="1090688" y="207137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44817" y="5043677"/>
              <a:ext cx="1080770" cy="200660"/>
            </a:xfrm>
            <a:custGeom>
              <a:avLst/>
              <a:gdLst/>
              <a:ahLst/>
              <a:cxnLst/>
              <a:rect l="l" t="t" r="r" b="b"/>
              <a:pathLst>
                <a:path w="1080770" h="200660">
                  <a:moveTo>
                    <a:pt x="0" y="0"/>
                  </a:moveTo>
                  <a:lnTo>
                    <a:pt x="808227" y="0"/>
                  </a:lnTo>
                  <a:lnTo>
                    <a:pt x="1080770" y="20027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44817" y="5043677"/>
              <a:ext cx="273050" cy="795020"/>
            </a:xfrm>
            <a:custGeom>
              <a:avLst/>
              <a:gdLst/>
              <a:ahLst/>
              <a:cxnLst/>
              <a:rect l="l" t="t" r="r" b="b"/>
              <a:pathLst>
                <a:path w="273050" h="795020">
                  <a:moveTo>
                    <a:pt x="0" y="0"/>
                  </a:moveTo>
                  <a:lnTo>
                    <a:pt x="0" y="594182"/>
                  </a:lnTo>
                  <a:lnTo>
                    <a:pt x="273050" y="794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44817" y="5043677"/>
              <a:ext cx="273050" cy="795020"/>
            </a:xfrm>
            <a:custGeom>
              <a:avLst/>
              <a:gdLst/>
              <a:ahLst/>
              <a:cxnLst/>
              <a:rect l="l" t="t" r="r" b="b"/>
              <a:pathLst>
                <a:path w="273050" h="795020">
                  <a:moveTo>
                    <a:pt x="273050" y="794639"/>
                  </a:moveTo>
                  <a:lnTo>
                    <a:pt x="0" y="594182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17486" y="5244083"/>
              <a:ext cx="808355" cy="594360"/>
            </a:xfrm>
            <a:custGeom>
              <a:avLst/>
              <a:gdLst/>
              <a:ahLst/>
              <a:cxnLst/>
              <a:rect l="l" t="t" r="r" b="b"/>
              <a:pathLst>
                <a:path w="808354" h="594360">
                  <a:moveTo>
                    <a:pt x="808101" y="0"/>
                  </a:moveTo>
                  <a:lnTo>
                    <a:pt x="0" y="0"/>
                  </a:lnTo>
                  <a:lnTo>
                    <a:pt x="0" y="594232"/>
                  </a:lnTo>
                  <a:lnTo>
                    <a:pt x="808101" y="594232"/>
                  </a:lnTo>
                  <a:lnTo>
                    <a:pt x="808101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44817" y="5043677"/>
              <a:ext cx="1080770" cy="795020"/>
            </a:xfrm>
            <a:custGeom>
              <a:avLst/>
              <a:gdLst/>
              <a:ahLst/>
              <a:cxnLst/>
              <a:rect l="l" t="t" r="r" b="b"/>
              <a:pathLst>
                <a:path w="1080770" h="795020">
                  <a:moveTo>
                    <a:pt x="272668" y="200406"/>
                  </a:moveTo>
                  <a:lnTo>
                    <a:pt x="1080770" y="200406"/>
                  </a:lnTo>
                  <a:lnTo>
                    <a:pt x="1080770" y="794639"/>
                  </a:lnTo>
                  <a:lnTo>
                    <a:pt x="272668" y="794639"/>
                  </a:lnTo>
                  <a:lnTo>
                    <a:pt x="272668" y="200406"/>
                  </a:lnTo>
                  <a:lnTo>
                    <a:pt x="0" y="0"/>
                  </a:lnTo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43393" y="5029961"/>
              <a:ext cx="0" cy="600710"/>
            </a:xfrm>
            <a:custGeom>
              <a:avLst/>
              <a:gdLst/>
              <a:ahLst/>
              <a:cxnLst/>
              <a:rect l="l" t="t" r="r" b="b"/>
              <a:pathLst>
                <a:path h="600710">
                  <a:moveTo>
                    <a:pt x="0" y="0"/>
                  </a:moveTo>
                  <a:lnTo>
                    <a:pt x="0" y="60045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35673" y="5630417"/>
              <a:ext cx="1080770" cy="201930"/>
            </a:xfrm>
            <a:custGeom>
              <a:avLst/>
              <a:gdLst/>
              <a:ahLst/>
              <a:cxnLst/>
              <a:rect l="l" t="t" r="r" b="b"/>
              <a:pathLst>
                <a:path w="1080770" h="201929">
                  <a:moveTo>
                    <a:pt x="808227" y="0"/>
                  </a:moveTo>
                  <a:lnTo>
                    <a:pt x="0" y="0"/>
                  </a:lnTo>
                  <a:lnTo>
                    <a:pt x="1080770" y="201790"/>
                  </a:lnTo>
                  <a:lnTo>
                    <a:pt x="808227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35673" y="5630417"/>
              <a:ext cx="1080770" cy="201930"/>
            </a:xfrm>
            <a:custGeom>
              <a:avLst/>
              <a:gdLst/>
              <a:ahLst/>
              <a:cxnLst/>
              <a:rect l="l" t="t" r="r" b="b"/>
              <a:pathLst>
                <a:path w="1080770" h="201929">
                  <a:moveTo>
                    <a:pt x="0" y="0"/>
                  </a:moveTo>
                  <a:lnTo>
                    <a:pt x="808227" y="0"/>
                  </a:lnTo>
                  <a:lnTo>
                    <a:pt x="1080770" y="20179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44055" y="5042915"/>
              <a:ext cx="1071880" cy="788035"/>
            </a:xfrm>
            <a:custGeom>
              <a:avLst/>
              <a:gdLst/>
              <a:ahLst/>
              <a:cxnLst/>
              <a:rect l="l" t="t" r="r" b="b"/>
              <a:pathLst>
                <a:path w="1071879" h="788035">
                  <a:moveTo>
                    <a:pt x="467868" y="637031"/>
                  </a:moveTo>
                  <a:lnTo>
                    <a:pt x="263651" y="787907"/>
                  </a:lnTo>
                </a:path>
                <a:path w="1071879" h="788035">
                  <a:moveTo>
                    <a:pt x="292608" y="519683"/>
                  </a:moveTo>
                  <a:lnTo>
                    <a:pt x="0" y="583691"/>
                  </a:lnTo>
                </a:path>
                <a:path w="1071879" h="788035">
                  <a:moveTo>
                    <a:pt x="312420" y="307847"/>
                  </a:moveTo>
                  <a:lnTo>
                    <a:pt x="0" y="15239"/>
                  </a:lnTo>
                </a:path>
                <a:path w="1071879" h="788035">
                  <a:moveTo>
                    <a:pt x="618744" y="301751"/>
                  </a:moveTo>
                  <a:lnTo>
                    <a:pt x="794003" y="0"/>
                  </a:lnTo>
                </a:path>
                <a:path w="1071879" h="788035">
                  <a:moveTo>
                    <a:pt x="769620" y="429767"/>
                  </a:moveTo>
                  <a:lnTo>
                    <a:pt x="1071372" y="193547"/>
                  </a:lnTo>
                </a:path>
                <a:path w="1071879" h="788035">
                  <a:moveTo>
                    <a:pt x="778764" y="637031"/>
                  </a:moveTo>
                  <a:lnTo>
                    <a:pt x="1071372" y="787907"/>
                  </a:lnTo>
                </a:path>
                <a:path w="1071879" h="788035">
                  <a:moveTo>
                    <a:pt x="477012" y="429767"/>
                  </a:moveTo>
                  <a:lnTo>
                    <a:pt x="263651" y="2011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45808" y="5344667"/>
              <a:ext cx="457834" cy="322580"/>
            </a:xfrm>
            <a:custGeom>
              <a:avLst/>
              <a:gdLst/>
              <a:ahLst/>
              <a:cxnLst/>
              <a:rect l="l" t="t" r="r" b="b"/>
              <a:pathLst>
                <a:path w="457834" h="322579">
                  <a:moveTo>
                    <a:pt x="457454" y="322199"/>
                  </a:moveTo>
                  <a:lnTo>
                    <a:pt x="305435" y="214884"/>
                  </a:lnTo>
                  <a:lnTo>
                    <a:pt x="0" y="214884"/>
                  </a:lnTo>
                  <a:lnTo>
                    <a:pt x="152146" y="322199"/>
                  </a:lnTo>
                  <a:lnTo>
                    <a:pt x="457454" y="322199"/>
                  </a:lnTo>
                  <a:close/>
                </a:path>
                <a:path w="457834" h="322579">
                  <a:moveTo>
                    <a:pt x="457454" y="107315"/>
                  </a:moveTo>
                  <a:lnTo>
                    <a:pt x="387667" y="58064"/>
                  </a:lnTo>
                  <a:lnTo>
                    <a:pt x="312420" y="0"/>
                  </a:lnTo>
                  <a:lnTo>
                    <a:pt x="312420" y="4940"/>
                  </a:lnTo>
                  <a:lnTo>
                    <a:pt x="305435" y="0"/>
                  </a:lnTo>
                  <a:lnTo>
                    <a:pt x="302006" y="0"/>
                  </a:lnTo>
                  <a:lnTo>
                    <a:pt x="0" y="0"/>
                  </a:lnTo>
                  <a:lnTo>
                    <a:pt x="0" y="206375"/>
                  </a:lnTo>
                  <a:lnTo>
                    <a:pt x="302006" y="206375"/>
                  </a:lnTo>
                  <a:lnTo>
                    <a:pt x="302006" y="107315"/>
                  </a:lnTo>
                  <a:lnTo>
                    <a:pt x="312420" y="107315"/>
                  </a:lnTo>
                  <a:lnTo>
                    <a:pt x="312420" y="210312"/>
                  </a:lnTo>
                  <a:lnTo>
                    <a:pt x="457454" y="322186"/>
                  </a:lnTo>
                  <a:lnTo>
                    <a:pt x="457454" y="111887"/>
                  </a:lnTo>
                  <a:lnTo>
                    <a:pt x="451523" y="107315"/>
                  </a:lnTo>
                  <a:lnTo>
                    <a:pt x="457454" y="107315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237" y="5351525"/>
              <a:ext cx="466725" cy="330200"/>
            </a:xfrm>
            <a:custGeom>
              <a:avLst/>
              <a:gdLst/>
              <a:ahLst/>
              <a:cxnLst/>
              <a:rect l="l" t="t" r="r" b="b"/>
              <a:pathLst>
                <a:path w="466725" h="330200">
                  <a:moveTo>
                    <a:pt x="0" y="0"/>
                  </a:moveTo>
                  <a:lnTo>
                    <a:pt x="311150" y="0"/>
                  </a:lnTo>
                  <a:lnTo>
                    <a:pt x="466597" y="114935"/>
                  </a:lnTo>
                </a:path>
                <a:path w="466725" h="330200">
                  <a:moveTo>
                    <a:pt x="155701" y="329806"/>
                  </a:moveTo>
                  <a:lnTo>
                    <a:pt x="0" y="215137"/>
                  </a:lnTo>
                  <a:lnTo>
                    <a:pt x="0" y="0"/>
                  </a:lnTo>
                </a:path>
                <a:path w="466725" h="330200">
                  <a:moveTo>
                    <a:pt x="155575" y="114681"/>
                  </a:moveTo>
                  <a:lnTo>
                    <a:pt x="466597" y="114681"/>
                  </a:lnTo>
                  <a:lnTo>
                    <a:pt x="466597" y="329806"/>
                  </a:lnTo>
                  <a:lnTo>
                    <a:pt x="155575" y="329806"/>
                  </a:lnTo>
                  <a:lnTo>
                    <a:pt x="155575" y="11468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8989" y="5552693"/>
              <a:ext cx="175260" cy="135890"/>
            </a:xfrm>
            <a:custGeom>
              <a:avLst/>
              <a:gdLst/>
              <a:ahLst/>
              <a:cxnLst/>
              <a:rect l="l" t="t" r="r" b="b"/>
              <a:pathLst>
                <a:path w="175259" h="135889">
                  <a:moveTo>
                    <a:pt x="175259" y="135635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6381" y="5351525"/>
              <a:ext cx="302260" cy="208279"/>
            </a:xfrm>
            <a:custGeom>
              <a:avLst/>
              <a:gdLst/>
              <a:ahLst/>
              <a:cxnLst/>
              <a:rect l="l" t="t" r="r" b="b"/>
              <a:pathLst>
                <a:path w="302259" h="208279">
                  <a:moveTo>
                    <a:pt x="302006" y="0"/>
                  </a:moveTo>
                  <a:lnTo>
                    <a:pt x="302006" y="207899"/>
                  </a:lnTo>
                  <a:lnTo>
                    <a:pt x="0" y="207899"/>
                  </a:lnTo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17613" y="5592317"/>
              <a:ext cx="0" cy="170815"/>
            </a:xfrm>
            <a:custGeom>
              <a:avLst/>
              <a:gdLst/>
              <a:ahLst/>
              <a:cxnLst/>
              <a:rect l="l" t="t" r="r" b="b"/>
              <a:pathLst>
                <a:path h="170814">
                  <a:moveTo>
                    <a:pt x="0" y="0"/>
                  </a:moveTo>
                  <a:lnTo>
                    <a:pt x="0" y="17068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7340" y="4270324"/>
            <a:ext cx="8415655" cy="127508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36220" marR="5080" indent="-224154">
              <a:lnSpc>
                <a:spcPct val="67400"/>
              </a:lnSpc>
              <a:spcBef>
                <a:spcPts val="1120"/>
              </a:spcBef>
              <a:buSzPct val="84615"/>
              <a:buFont typeface="Arial"/>
              <a:buChar char="•"/>
              <a:tabLst>
                <a:tab pos="260985" algn="l"/>
                <a:tab pos="261620" algn="l"/>
              </a:tabLst>
            </a:pPr>
            <a:r>
              <a:rPr sz="2600" spc="-5" dirty="0">
                <a:latin typeface="Perpetua"/>
                <a:cs typeface="Perpetua"/>
              </a:rPr>
              <a:t>Multiple </a:t>
            </a:r>
            <a:r>
              <a:rPr sz="2600" dirty="0">
                <a:latin typeface="Perpetua"/>
                <a:cs typeface="Perpetua"/>
              </a:rPr>
              <a:t>dimensions </a:t>
            </a:r>
            <a:r>
              <a:rPr sz="2600" spc="-5" dirty="0">
                <a:latin typeface="Perpetua"/>
                <a:cs typeface="Perpetua"/>
              </a:rPr>
              <a:t>get difficult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visualize graphically </a:t>
            </a:r>
            <a:r>
              <a:rPr sz="2600" dirty="0">
                <a:latin typeface="Perpetua"/>
                <a:cs typeface="Perpetua"/>
              </a:rPr>
              <a:t>( </a:t>
            </a:r>
            <a:r>
              <a:rPr sz="2600" spc="-95" dirty="0">
                <a:latin typeface="Perpetua"/>
                <a:cs typeface="Perpetua"/>
              </a:rPr>
              <a:t>say,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dot </a:t>
            </a:r>
            <a:r>
              <a:rPr sz="2600" dirty="0">
                <a:latin typeface="Perpetua"/>
                <a:cs typeface="Perpetua"/>
              </a:rPr>
              <a:t>to a </a:t>
            </a:r>
            <a:r>
              <a:rPr sz="2600" spc="-5" dirty="0">
                <a:latin typeface="Perpetua"/>
                <a:cs typeface="Perpetua"/>
              </a:rPr>
              <a:t>cube </a:t>
            </a:r>
            <a:r>
              <a:rPr sz="2600" dirty="0">
                <a:latin typeface="Perpetua"/>
                <a:cs typeface="Perpetua"/>
              </a:rPr>
              <a:t>within a </a:t>
            </a:r>
            <a:r>
              <a:rPr sz="2600" spc="-5" dirty="0">
                <a:latin typeface="Perpetua"/>
                <a:cs typeface="Perpetua"/>
              </a:rPr>
              <a:t>cube)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226310">
              <a:lnSpc>
                <a:spcPct val="100000"/>
              </a:lnSpc>
              <a:spcBef>
                <a:spcPts val="2450"/>
              </a:spcBef>
            </a:pPr>
            <a:r>
              <a:rPr sz="1800" b="1" dirty="0">
                <a:latin typeface="Perpetua"/>
                <a:cs typeface="Perpetua"/>
              </a:rPr>
              <a:t>•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10661" y="5348478"/>
            <a:ext cx="683260" cy="0"/>
          </a:xfrm>
          <a:custGeom>
            <a:avLst/>
            <a:gdLst/>
            <a:ahLst/>
            <a:cxnLst/>
            <a:rect l="l" t="t" r="r" b="b"/>
            <a:pathLst>
              <a:path w="683260">
                <a:moveTo>
                  <a:pt x="0" y="0"/>
                </a:moveTo>
                <a:lnTo>
                  <a:pt x="682751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76878" y="5189982"/>
            <a:ext cx="506095" cy="372110"/>
          </a:xfrm>
          <a:custGeom>
            <a:avLst/>
            <a:gdLst/>
            <a:ahLst/>
            <a:cxnLst/>
            <a:rect l="l" t="t" r="r" b="b"/>
            <a:pathLst>
              <a:path w="506095" h="372110">
                <a:moveTo>
                  <a:pt x="0" y="371856"/>
                </a:moveTo>
                <a:lnTo>
                  <a:pt x="505968" y="371856"/>
                </a:lnTo>
                <a:lnTo>
                  <a:pt x="505968" y="0"/>
                </a:lnTo>
                <a:lnTo>
                  <a:pt x="0" y="0"/>
                </a:lnTo>
                <a:lnTo>
                  <a:pt x="0" y="37185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25199" y="5119115"/>
            <a:ext cx="943610" cy="666750"/>
          </a:xfrm>
          <a:custGeom>
            <a:avLst/>
            <a:gdLst/>
            <a:ahLst/>
            <a:cxnLst/>
            <a:rect l="l" t="t" r="r" b="b"/>
            <a:pathLst>
              <a:path w="943610" h="666750">
                <a:moveTo>
                  <a:pt x="943267" y="231508"/>
                </a:moveTo>
                <a:lnTo>
                  <a:pt x="937691" y="231508"/>
                </a:lnTo>
                <a:lnTo>
                  <a:pt x="924217" y="221589"/>
                </a:lnTo>
                <a:lnTo>
                  <a:pt x="924217" y="245541"/>
                </a:lnTo>
                <a:lnTo>
                  <a:pt x="924217" y="642531"/>
                </a:lnTo>
                <a:lnTo>
                  <a:pt x="910704" y="632587"/>
                </a:lnTo>
                <a:lnTo>
                  <a:pt x="910704" y="652437"/>
                </a:lnTo>
                <a:lnTo>
                  <a:pt x="333476" y="652437"/>
                </a:lnTo>
                <a:lnTo>
                  <a:pt x="333476" y="427939"/>
                </a:lnTo>
                <a:lnTo>
                  <a:pt x="600265" y="427939"/>
                </a:lnTo>
                <a:lnTo>
                  <a:pt x="605815" y="427939"/>
                </a:lnTo>
                <a:lnTo>
                  <a:pt x="910704" y="652437"/>
                </a:lnTo>
                <a:lnTo>
                  <a:pt x="910704" y="632587"/>
                </a:lnTo>
                <a:lnTo>
                  <a:pt x="619315" y="418033"/>
                </a:lnTo>
                <a:lnTo>
                  <a:pt x="619315" y="413918"/>
                </a:lnTo>
                <a:lnTo>
                  <a:pt x="619315" y="245541"/>
                </a:lnTo>
                <a:lnTo>
                  <a:pt x="924217" y="245541"/>
                </a:lnTo>
                <a:lnTo>
                  <a:pt x="924217" y="221589"/>
                </a:lnTo>
                <a:lnTo>
                  <a:pt x="910729" y="211658"/>
                </a:lnTo>
                <a:lnTo>
                  <a:pt x="910729" y="231508"/>
                </a:lnTo>
                <a:lnTo>
                  <a:pt x="619315" y="231508"/>
                </a:lnTo>
                <a:lnTo>
                  <a:pt x="619315" y="16954"/>
                </a:lnTo>
                <a:lnTo>
                  <a:pt x="910729" y="231508"/>
                </a:lnTo>
                <a:lnTo>
                  <a:pt x="910729" y="211658"/>
                </a:lnTo>
                <a:lnTo>
                  <a:pt x="628840" y="4114"/>
                </a:lnTo>
                <a:lnTo>
                  <a:pt x="628840" y="0"/>
                </a:lnTo>
                <a:lnTo>
                  <a:pt x="623252" y="0"/>
                </a:lnTo>
                <a:lnTo>
                  <a:pt x="619315" y="0"/>
                </a:lnTo>
                <a:lnTo>
                  <a:pt x="609790" y="0"/>
                </a:lnTo>
                <a:lnTo>
                  <a:pt x="600265" y="0"/>
                </a:lnTo>
                <a:lnTo>
                  <a:pt x="600265" y="14033"/>
                </a:lnTo>
                <a:lnTo>
                  <a:pt x="600265" y="231508"/>
                </a:lnTo>
                <a:lnTo>
                  <a:pt x="600265" y="245541"/>
                </a:lnTo>
                <a:lnTo>
                  <a:pt x="600265" y="413918"/>
                </a:lnTo>
                <a:lnTo>
                  <a:pt x="333476" y="413918"/>
                </a:lnTo>
                <a:lnTo>
                  <a:pt x="333476" y="245541"/>
                </a:lnTo>
                <a:lnTo>
                  <a:pt x="600265" y="245541"/>
                </a:lnTo>
                <a:lnTo>
                  <a:pt x="600265" y="231508"/>
                </a:lnTo>
                <a:lnTo>
                  <a:pt x="327875" y="231508"/>
                </a:lnTo>
                <a:lnTo>
                  <a:pt x="314426" y="221615"/>
                </a:lnTo>
                <a:lnTo>
                  <a:pt x="314426" y="241439"/>
                </a:lnTo>
                <a:lnTo>
                  <a:pt x="314426" y="245541"/>
                </a:lnTo>
                <a:lnTo>
                  <a:pt x="314426" y="413918"/>
                </a:lnTo>
                <a:lnTo>
                  <a:pt x="314426" y="427939"/>
                </a:lnTo>
                <a:lnTo>
                  <a:pt x="314426" y="642518"/>
                </a:lnTo>
                <a:lnTo>
                  <a:pt x="22987" y="427939"/>
                </a:lnTo>
                <a:lnTo>
                  <a:pt x="314426" y="427939"/>
                </a:lnTo>
                <a:lnTo>
                  <a:pt x="314426" y="413918"/>
                </a:lnTo>
                <a:lnTo>
                  <a:pt x="19062" y="413918"/>
                </a:lnTo>
                <a:lnTo>
                  <a:pt x="19062" y="23977"/>
                </a:lnTo>
                <a:lnTo>
                  <a:pt x="314426" y="241439"/>
                </a:lnTo>
                <a:lnTo>
                  <a:pt x="314426" y="221615"/>
                </a:lnTo>
                <a:lnTo>
                  <a:pt x="32512" y="14033"/>
                </a:lnTo>
                <a:lnTo>
                  <a:pt x="600265" y="14033"/>
                </a:lnTo>
                <a:lnTo>
                  <a:pt x="600265" y="0"/>
                </a:lnTo>
                <a:lnTo>
                  <a:pt x="19062" y="0"/>
                </a:lnTo>
                <a:lnTo>
                  <a:pt x="13462" y="0"/>
                </a:lnTo>
                <a:lnTo>
                  <a:pt x="0" y="0"/>
                </a:lnTo>
                <a:lnTo>
                  <a:pt x="0" y="9931"/>
                </a:lnTo>
                <a:lnTo>
                  <a:pt x="0" y="14033"/>
                </a:lnTo>
                <a:lnTo>
                  <a:pt x="0" y="420928"/>
                </a:lnTo>
                <a:lnTo>
                  <a:pt x="0" y="430847"/>
                </a:lnTo>
                <a:lnTo>
                  <a:pt x="0" y="434949"/>
                </a:lnTo>
                <a:lnTo>
                  <a:pt x="5562" y="434949"/>
                </a:lnTo>
                <a:lnTo>
                  <a:pt x="314426" y="662368"/>
                </a:lnTo>
                <a:lnTo>
                  <a:pt x="314426" y="666457"/>
                </a:lnTo>
                <a:lnTo>
                  <a:pt x="319989" y="666457"/>
                </a:lnTo>
                <a:lnTo>
                  <a:pt x="333476" y="666470"/>
                </a:lnTo>
                <a:lnTo>
                  <a:pt x="924217" y="666457"/>
                </a:lnTo>
                <a:lnTo>
                  <a:pt x="943267" y="666457"/>
                </a:lnTo>
                <a:lnTo>
                  <a:pt x="943267" y="652437"/>
                </a:lnTo>
                <a:lnTo>
                  <a:pt x="943267" y="245541"/>
                </a:lnTo>
                <a:lnTo>
                  <a:pt x="943267" y="235610"/>
                </a:lnTo>
                <a:lnTo>
                  <a:pt x="943267" y="231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81202"/>
            <a:ext cx="85134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specify </a:t>
            </a:r>
            <a:r>
              <a:rPr sz="2400" i="1" dirty="0">
                <a:latin typeface="Perpetua"/>
                <a:cs typeface="Perpetua"/>
              </a:rPr>
              <a:t>the dimension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0" dirty="0">
                <a:latin typeface="Perpetua"/>
                <a:cs typeface="Perpetua"/>
              </a:rPr>
              <a:t>array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15" dirty="0">
                <a:latin typeface="Perpetua"/>
                <a:cs typeface="Perpetua"/>
              </a:rPr>
              <a:t>show how </a:t>
            </a:r>
            <a:r>
              <a:rPr sz="2400" i="1" spc="-10" dirty="0">
                <a:latin typeface="Perpetua"/>
                <a:cs typeface="Perpetua"/>
              </a:rPr>
              <a:t>individual </a:t>
            </a:r>
            <a:r>
              <a:rPr sz="2400" i="1" dirty="0">
                <a:latin typeface="Perpetua"/>
                <a:cs typeface="Perpetua"/>
              </a:rPr>
              <a:t>elements can </a:t>
            </a:r>
            <a:r>
              <a:rPr sz="2400" i="1" spc="-5" dirty="0">
                <a:latin typeface="Perpetua"/>
                <a:cs typeface="Perpetua"/>
              </a:rPr>
              <a:t>be  accessed?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3481196"/>
            <a:ext cx="86372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35560" indent="-27432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show </a:t>
            </a:r>
            <a:r>
              <a:rPr sz="2400" i="1" dirty="0">
                <a:latin typeface="Perpetua"/>
                <a:cs typeface="Perpetua"/>
              </a:rPr>
              <a:t>the pictorial </a:t>
            </a:r>
            <a:r>
              <a:rPr sz="2400" i="1" spc="-10" dirty="0">
                <a:latin typeface="Perpetua"/>
                <a:cs typeface="Perpetua"/>
              </a:rPr>
              <a:t>representation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memory associated </a:t>
            </a:r>
            <a:r>
              <a:rPr sz="2400" i="1" dirty="0">
                <a:latin typeface="Perpetua"/>
                <a:cs typeface="Perpetua"/>
              </a:rPr>
              <a:t>with </a:t>
            </a:r>
            <a:r>
              <a:rPr sz="2400" i="1" spc="-5" dirty="0">
                <a:latin typeface="Perpetua"/>
                <a:cs typeface="Perpetua"/>
              </a:rPr>
              <a:t>an </a:t>
            </a:r>
            <a:r>
              <a:rPr sz="2400" i="1" spc="-20" dirty="0">
                <a:latin typeface="Perpetua"/>
                <a:cs typeface="Perpetua"/>
              </a:rPr>
              <a:t>array  </a:t>
            </a:r>
            <a:r>
              <a:rPr sz="2400" i="1" spc="-5" dirty="0">
                <a:latin typeface="Perpetua"/>
                <a:cs typeface="Perpetua"/>
              </a:rPr>
              <a:t>named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containing </a:t>
            </a:r>
            <a:r>
              <a:rPr sz="2400" i="1" dirty="0">
                <a:latin typeface="Perpetua"/>
                <a:cs typeface="Perpetua"/>
              </a:rPr>
              <a:t>10 </a:t>
            </a:r>
            <a:r>
              <a:rPr sz="2400" i="1" spc="-10" dirty="0">
                <a:latin typeface="Perpetua"/>
                <a:cs typeface="Perpetua"/>
              </a:rPr>
              <a:t>integers?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5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model an </a:t>
            </a:r>
            <a:r>
              <a:rPr sz="2400" i="1" spc="-20" dirty="0">
                <a:latin typeface="Perpetua"/>
                <a:cs typeface="Perpetua"/>
              </a:rPr>
              <a:t>array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10" dirty="0">
                <a:latin typeface="Perpetua"/>
                <a:cs typeface="Perpetua"/>
              </a:rPr>
              <a:t>store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datebook information </a:t>
            </a:r>
            <a:r>
              <a:rPr sz="2400" i="1" dirty="0">
                <a:latin typeface="Perpetua"/>
                <a:cs typeface="Perpetua"/>
              </a:rPr>
              <a:t>(specify the </a:t>
            </a:r>
            <a:r>
              <a:rPr sz="2400" i="1" spc="-5" dirty="0">
                <a:latin typeface="Perpetua"/>
                <a:cs typeface="Perpetua"/>
              </a:rPr>
              <a:t>dimension, </a:t>
            </a:r>
            <a:r>
              <a:rPr sz="2400" i="1" spc="53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number of </a:t>
            </a:r>
            <a:r>
              <a:rPr sz="2400" i="1" spc="-15" dirty="0">
                <a:latin typeface="Perpetua"/>
                <a:cs typeface="Perpetua"/>
              </a:rPr>
              <a:t>indices, show how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15" dirty="0">
                <a:latin typeface="Perpetua"/>
                <a:cs typeface="Perpetua"/>
              </a:rPr>
              <a:t>access,</a:t>
            </a:r>
            <a:r>
              <a:rPr sz="2400" i="1" spc="-4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modify </a:t>
            </a:r>
            <a:r>
              <a:rPr sz="2400" i="1" dirty="0">
                <a:latin typeface="Perpetua"/>
                <a:cs typeface="Perpetua"/>
              </a:rPr>
              <a:t>a particular entry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datebook)?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0600" y="1752600"/>
            <a:ext cx="3113531" cy="153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93" y="2869809"/>
            <a:ext cx="3723977" cy="1192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7244" y="4555997"/>
            <a:ext cx="664146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8770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Model using one 2D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array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for </a:t>
            </a:r>
            <a:r>
              <a:rPr sz="2800" spc="5" dirty="0">
                <a:solidFill>
                  <a:srgbClr val="FF0000"/>
                </a:solidFill>
                <a:latin typeface="Perpetua"/>
                <a:cs typeface="Perpetua"/>
              </a:rPr>
              <a:t>storing </a:t>
            </a:r>
            <a:r>
              <a:rPr sz="2800" spc="-30" dirty="0">
                <a:solidFill>
                  <a:srgbClr val="FF0000"/>
                </a:solidFill>
                <a:latin typeface="Perpetua"/>
                <a:cs typeface="Perpetua"/>
              </a:rPr>
              <a:t>days 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a  </a:t>
            </a:r>
            <a:r>
              <a:rPr sz="2800" spc="5" dirty="0">
                <a:solidFill>
                  <a:srgbClr val="FF0000"/>
                </a:solidFill>
                <a:latin typeface="Perpetua"/>
                <a:cs typeface="Perpetua"/>
              </a:rPr>
              <a:t>particular</a:t>
            </a:r>
            <a:r>
              <a:rPr sz="2800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month</a:t>
            </a:r>
            <a:endParaRPr sz="28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Locate an 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entry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using 3 dimensions and update …..  </a:t>
            </a:r>
            <a:r>
              <a:rPr sz="2800" spc="-70" dirty="0">
                <a:solidFill>
                  <a:srgbClr val="FF0000"/>
                </a:solidFill>
                <a:latin typeface="Perpetua"/>
                <a:cs typeface="Perpetua"/>
              </a:rPr>
              <a:t>E.g.</a:t>
            </a:r>
            <a:r>
              <a:rPr sz="2800" spc="-1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cal[2015][10][3]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644" y="723646"/>
            <a:ext cx="2065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Answer….</a:t>
            </a:r>
          </a:p>
        </p:txBody>
      </p:sp>
      <p:sp>
        <p:nvSpPr>
          <p:cNvPr id="5" name="object 5"/>
          <p:cNvSpPr/>
          <p:nvPr/>
        </p:nvSpPr>
        <p:spPr>
          <a:xfrm>
            <a:off x="4648200" y="1143000"/>
            <a:ext cx="3791711" cy="312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444" y="1601165"/>
            <a:ext cx="718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.	2X4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444" y="1876171"/>
            <a:ext cx="71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AutoNum type="alphaUcPeriod" startAt="2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2X2</a:t>
            </a:r>
            <a:endParaRPr sz="1800">
              <a:latin typeface="Perpetua"/>
              <a:cs typeface="Perpetua"/>
            </a:endParaRPr>
          </a:p>
          <a:p>
            <a:pPr marL="354965" indent="-342900">
              <a:lnSpc>
                <a:spcPct val="100000"/>
              </a:lnSpc>
              <a:buAutoNum type="alphaUcPeriod" startAt="2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4X5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7794" y="1601165"/>
            <a:ext cx="61722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41300">
              <a:lnSpc>
                <a:spcPct val="100000"/>
              </a:lnSpc>
              <a:spcBef>
                <a:spcPts val="100"/>
              </a:spcBef>
              <a:buAutoNum type="alphaUcPeriod" startAt="4"/>
              <a:tabLst>
                <a:tab pos="254000" algn="l"/>
              </a:tabLst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3X3</a:t>
            </a:r>
            <a:endParaRPr sz="1800">
              <a:latin typeface="Perpetua"/>
              <a:cs typeface="Perpetua"/>
            </a:endParaRPr>
          </a:p>
          <a:p>
            <a:pPr marL="236220" indent="-224154">
              <a:lnSpc>
                <a:spcPct val="100000"/>
              </a:lnSpc>
              <a:spcBef>
                <a:spcPts val="5"/>
              </a:spcBef>
              <a:buAutoNum type="alphaUcPeriod" startAt="4"/>
              <a:tabLst>
                <a:tab pos="236854" algn="l"/>
              </a:tabLst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1X3</a:t>
            </a:r>
            <a:endParaRPr sz="1800">
              <a:latin typeface="Perpetua"/>
              <a:cs typeface="Perpetua"/>
            </a:endParaRPr>
          </a:p>
          <a:p>
            <a:pPr marL="202565" indent="-190500">
              <a:lnSpc>
                <a:spcPct val="100000"/>
              </a:lnSpc>
              <a:buAutoNum type="alphaUcPeriod" startAt="4"/>
              <a:tabLst>
                <a:tab pos="203200" algn="l"/>
              </a:tabLst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5X3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82626"/>
            <a:ext cx="2635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Organizing</a:t>
            </a:r>
            <a:r>
              <a:rPr sz="3600" spc="-100" dirty="0"/>
              <a:t> </a:t>
            </a:r>
            <a:r>
              <a:rPr sz="3600" spc="-10" dirty="0"/>
              <a:t>data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14490"/>
            <a:ext cx="8438515" cy="54457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Humans </a:t>
            </a:r>
            <a:r>
              <a:rPr sz="2400" spc="-5" dirty="0">
                <a:latin typeface="Perpetua"/>
                <a:cs typeface="Perpetua"/>
              </a:rPr>
              <a:t>hate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disorder.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4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4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try and organise our </a:t>
            </a:r>
            <a:r>
              <a:rPr sz="2400" spc="-15" dirty="0">
                <a:latin typeface="Perpetua"/>
                <a:cs typeface="Perpetua"/>
              </a:rPr>
              <a:t>lives, </a:t>
            </a:r>
            <a:r>
              <a:rPr sz="2400" dirty="0">
                <a:latin typeface="Perpetua"/>
                <a:cs typeface="Perpetua"/>
              </a:rPr>
              <a:t>our cities, our </a:t>
            </a:r>
            <a:r>
              <a:rPr sz="2400" spc="-5" dirty="0">
                <a:latin typeface="Perpetua"/>
                <a:cs typeface="Perpetua"/>
              </a:rPr>
              <a:t>homes and </a:t>
            </a:r>
            <a:r>
              <a:rPr sz="2400" spc="-30" dirty="0">
                <a:latin typeface="Perpetua"/>
                <a:cs typeface="Perpetua"/>
              </a:rPr>
              <a:t>even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sometimes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40"/>
              </a:lnSpc>
            </a:pPr>
            <a:r>
              <a:rPr sz="2400" dirty="0">
                <a:latin typeface="Perpetua"/>
                <a:cs typeface="Perpetua"/>
              </a:rPr>
              <a:t>our desks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our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bedrooms.</a:t>
            </a:r>
            <a:endParaRPr sz="2400">
              <a:latin typeface="Perpetua"/>
              <a:cs typeface="Perpetua"/>
            </a:endParaRPr>
          </a:p>
          <a:p>
            <a:pPr marL="286385" marR="702310" indent="-274320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There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many </a:t>
            </a:r>
            <a:r>
              <a:rPr sz="2400" spc="-30" dirty="0">
                <a:latin typeface="Perpetua"/>
                <a:cs typeface="Perpetua"/>
              </a:rPr>
              <a:t>ways </a:t>
            </a:r>
            <a:r>
              <a:rPr sz="2400" dirty="0">
                <a:latin typeface="Perpetua"/>
                <a:cs typeface="Perpetua"/>
              </a:rPr>
              <a:t>of organising things,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naturally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organise  </a:t>
            </a:r>
            <a:r>
              <a:rPr sz="2400" spc="-5" dirty="0">
                <a:latin typeface="Perpetua"/>
                <a:cs typeface="Perpetua"/>
              </a:rPr>
              <a:t>different </a:t>
            </a:r>
            <a:r>
              <a:rPr sz="2400" dirty="0">
                <a:latin typeface="Perpetua"/>
                <a:cs typeface="Perpetua"/>
              </a:rPr>
              <a:t>things in </a:t>
            </a:r>
            <a:r>
              <a:rPr sz="2400" spc="-5" dirty="0">
                <a:latin typeface="Perpetua"/>
                <a:cs typeface="Perpetua"/>
              </a:rPr>
              <a:t>different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ways.</a:t>
            </a:r>
            <a:endParaRPr sz="2400">
              <a:latin typeface="Perpetua"/>
              <a:cs typeface="Perpetua"/>
            </a:endParaRPr>
          </a:p>
          <a:p>
            <a:pPr marL="286385" marR="151765" indent="-274320">
              <a:lnSpc>
                <a:spcPct val="90000"/>
              </a:lnSpc>
              <a:spcBef>
                <a:spcPts val="56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organisation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use depends on the </a:t>
            </a:r>
            <a:r>
              <a:rPr sz="2400" spc="-5" dirty="0">
                <a:latin typeface="Perpetua"/>
                <a:cs typeface="Perpetua"/>
              </a:rPr>
              <a:t>things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trying </a:t>
            </a:r>
            <a:r>
              <a:rPr sz="2400" spc="-10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organise 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often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spc="-20" dirty="0">
                <a:latin typeface="Perpetua"/>
                <a:cs typeface="Perpetua"/>
              </a:rPr>
              <a:t>importantly, </a:t>
            </a:r>
            <a:r>
              <a:rPr sz="2400" spc="-10" dirty="0">
                <a:latin typeface="Perpetua"/>
                <a:cs typeface="Perpetua"/>
              </a:rPr>
              <a:t>what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actually </a:t>
            </a:r>
            <a:r>
              <a:rPr sz="2400" spc="-5" dirty="0">
                <a:latin typeface="Perpetua"/>
                <a:cs typeface="Perpetua"/>
              </a:rPr>
              <a:t>wish </a:t>
            </a:r>
            <a:r>
              <a:rPr sz="2400" dirty="0">
                <a:latin typeface="Perpetua"/>
                <a:cs typeface="Perpetua"/>
              </a:rPr>
              <a:t>to do with them once  </a:t>
            </a:r>
            <a:r>
              <a:rPr sz="2400" spc="-10" dirty="0">
                <a:latin typeface="Perpetua"/>
                <a:cs typeface="Perpetua"/>
              </a:rPr>
              <a:t>they </a:t>
            </a:r>
            <a:r>
              <a:rPr sz="2400" spc="-15" dirty="0">
                <a:latin typeface="Perpetua"/>
                <a:cs typeface="Perpetua"/>
              </a:rPr>
              <a:t>are</a:t>
            </a:r>
            <a:r>
              <a:rPr sz="2400" dirty="0">
                <a:latin typeface="Perpetua"/>
                <a:cs typeface="Perpetua"/>
              </a:rPr>
              <a:t> organised.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590"/>
              </a:lnSpc>
              <a:spcBef>
                <a:spcPts val="434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Addresses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organised into postal </a:t>
            </a:r>
            <a:r>
              <a:rPr sz="2400" spc="-10" dirty="0">
                <a:latin typeface="Perpetua"/>
                <a:cs typeface="Perpetua"/>
              </a:rPr>
              <a:t>areas </a:t>
            </a:r>
            <a:r>
              <a:rPr sz="2400" dirty="0">
                <a:latin typeface="Perpetua"/>
                <a:cs typeface="Perpetua"/>
              </a:rPr>
              <a:t>so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it is easier for letters to  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delivered.</a:t>
            </a:r>
            <a:endParaRPr sz="2400">
              <a:latin typeface="Perpetua"/>
              <a:cs typeface="Perpetua"/>
            </a:endParaRPr>
          </a:p>
          <a:p>
            <a:pPr marL="561340" marR="120014" lvl="1" indent="-228600">
              <a:lnSpc>
                <a:spcPts val="2590"/>
              </a:lnSpc>
              <a:spcBef>
                <a:spcPts val="4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A bookshop organises its </a:t>
            </a:r>
            <a:r>
              <a:rPr sz="2400" spc="-25" dirty="0">
                <a:latin typeface="Perpetua"/>
                <a:cs typeface="Perpetua"/>
              </a:rPr>
              <a:t>novels </a:t>
            </a:r>
            <a:r>
              <a:rPr sz="2400" dirty="0">
                <a:latin typeface="Perpetua"/>
                <a:cs typeface="Perpetua"/>
              </a:rPr>
              <a:t>on the </a:t>
            </a:r>
            <a:r>
              <a:rPr sz="2400" spc="-10" dirty="0">
                <a:latin typeface="Perpetua"/>
                <a:cs typeface="Perpetua"/>
              </a:rPr>
              <a:t>shelves usually alphabetically </a:t>
            </a:r>
            <a:r>
              <a:rPr sz="2400" spc="-25" dirty="0">
                <a:latin typeface="Perpetua"/>
                <a:cs typeface="Perpetua"/>
              </a:rPr>
              <a:t>by  </a:t>
            </a:r>
            <a:r>
              <a:rPr sz="2400" spc="-30" dirty="0">
                <a:latin typeface="Perpetua"/>
                <a:cs typeface="Perpetua"/>
              </a:rPr>
              <a:t>author.</a:t>
            </a:r>
            <a:endParaRPr sz="2400">
              <a:latin typeface="Perpetua"/>
              <a:cs typeface="Perpetua"/>
            </a:endParaRPr>
          </a:p>
          <a:p>
            <a:pPr marL="286385" marR="165735" indent="-274320">
              <a:lnSpc>
                <a:spcPct val="90000"/>
              </a:lnSpc>
              <a:spcBef>
                <a:spcPts val="56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organise the </a:t>
            </a:r>
            <a:r>
              <a:rPr sz="2400" spc="-5" dirty="0">
                <a:latin typeface="Perpetua"/>
                <a:cs typeface="Perpetua"/>
              </a:rPr>
              <a:t>things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5" dirty="0">
                <a:latin typeface="Perpetua"/>
                <a:cs typeface="Perpetua"/>
              </a:rPr>
              <a:t>must manipulate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achieve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task </a:t>
            </a:r>
            <a:r>
              <a:rPr sz="2400" dirty="0">
                <a:latin typeface="Perpetua"/>
                <a:cs typeface="Perpetua"/>
              </a:rPr>
              <a:t>can  </a:t>
            </a:r>
            <a:r>
              <a:rPr sz="2400" spc="-15" dirty="0">
                <a:latin typeface="Perpetua"/>
                <a:cs typeface="Perpetua"/>
              </a:rPr>
              <a:t>make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0" dirty="0">
                <a:latin typeface="Perpetua"/>
                <a:cs typeface="Perpetua"/>
              </a:rPr>
              <a:t>massive </a:t>
            </a:r>
            <a:r>
              <a:rPr sz="2400" spc="-5" dirty="0">
                <a:latin typeface="Perpetua"/>
                <a:cs typeface="Perpetua"/>
              </a:rPr>
              <a:t>difference to </a:t>
            </a: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spc="-35" dirty="0">
                <a:latin typeface="Perpetua"/>
                <a:cs typeface="Perpetua"/>
              </a:rPr>
              <a:t>quickly, </a:t>
            </a:r>
            <a:r>
              <a:rPr sz="2400" spc="-10" dirty="0">
                <a:latin typeface="Perpetua"/>
                <a:cs typeface="Perpetua"/>
              </a:rPr>
              <a:t>easily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successfully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task  </a:t>
            </a:r>
            <a:r>
              <a:rPr sz="2400" dirty="0">
                <a:latin typeface="Perpetua"/>
                <a:cs typeface="Perpetua"/>
              </a:rPr>
              <a:t>can 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done.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7653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Game of </a:t>
            </a:r>
            <a:r>
              <a:rPr i="1" spc="-5" dirty="0">
                <a:latin typeface="Perpetua"/>
                <a:cs typeface="Perpetua"/>
              </a:rPr>
              <a:t>Spit Not So </a:t>
            </a:r>
            <a:r>
              <a:rPr i="1" spc="-15" dirty="0">
                <a:latin typeface="Perpetua"/>
                <a:cs typeface="Perpetua"/>
              </a:rPr>
              <a:t>(Berlekamp </a:t>
            </a:r>
            <a:r>
              <a:rPr i="1" spc="-5" dirty="0">
                <a:latin typeface="Perpetua"/>
                <a:cs typeface="Perpetua"/>
              </a:rPr>
              <a:t>et al,</a:t>
            </a:r>
            <a:r>
              <a:rPr i="1" spc="-275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1982)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09421"/>
            <a:ext cx="8309609" cy="4268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Perpetua"/>
                <a:cs typeface="Perpetua"/>
              </a:rPr>
              <a:t>The game is </a:t>
            </a:r>
            <a:r>
              <a:rPr sz="2400" spc="-25" dirty="0">
                <a:latin typeface="Perpetua"/>
                <a:cs typeface="Perpetua"/>
              </a:rPr>
              <a:t>played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spc="-10" dirty="0">
                <a:latin typeface="Perpetua"/>
                <a:cs typeface="Perpetua"/>
              </a:rPr>
              <a:t>follows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players:</a:t>
            </a:r>
            <a:endParaRPr sz="2400">
              <a:latin typeface="Perpetua"/>
              <a:cs typeface="Perpetua"/>
            </a:endParaRPr>
          </a:p>
          <a:p>
            <a:pPr marL="286385" marR="71755" indent="-27432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94005" algn="l"/>
                <a:tab pos="294640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nine </a:t>
            </a:r>
            <a:r>
              <a:rPr sz="2400" i="1" spc="-10" dirty="0">
                <a:latin typeface="Perpetua"/>
                <a:cs typeface="Perpetua"/>
              </a:rPr>
              <a:t>words: </a:t>
            </a:r>
            <a:r>
              <a:rPr sz="2400" i="1" dirty="0">
                <a:latin typeface="Perpetua"/>
                <a:cs typeface="Perpetua"/>
              </a:rPr>
              <a:t>SPIT </a:t>
            </a:r>
            <a:r>
              <a:rPr sz="2400" i="1" spc="-50" dirty="0">
                <a:latin typeface="Perpetua"/>
                <a:cs typeface="Perpetua"/>
              </a:rPr>
              <a:t>NOT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120" dirty="0">
                <a:latin typeface="Perpetua"/>
                <a:cs typeface="Perpetua"/>
              </a:rPr>
              <a:t>FAT </a:t>
            </a:r>
            <a:r>
              <a:rPr sz="2400" i="1" dirty="0">
                <a:latin typeface="Perpetua"/>
                <a:cs typeface="Perpetua"/>
              </a:rPr>
              <a:t>FOP </a:t>
            </a:r>
            <a:r>
              <a:rPr sz="2400" i="1" spc="-5" dirty="0">
                <a:latin typeface="Perpetua"/>
                <a:cs typeface="Perpetua"/>
              </a:rPr>
              <a:t>AS </a:t>
            </a:r>
            <a:r>
              <a:rPr sz="2400" i="1" dirty="0">
                <a:latin typeface="Perpetua"/>
                <a:cs typeface="Perpetua"/>
              </a:rPr>
              <a:t>IF IN </a:t>
            </a:r>
            <a:r>
              <a:rPr sz="2400" i="1" spc="-75" dirty="0">
                <a:latin typeface="Perpetua"/>
                <a:cs typeface="Perpetua"/>
              </a:rPr>
              <a:t>PAN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5" dirty="0">
                <a:latin typeface="Perpetua"/>
                <a:cs typeface="Perpetua"/>
              </a:rPr>
              <a:t>separate</a:t>
            </a:r>
            <a:r>
              <a:rPr sz="2400" spc="-22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pieces  of</a:t>
            </a:r>
            <a:r>
              <a:rPr sz="2400" spc="-10" dirty="0">
                <a:latin typeface="Perpetua"/>
                <a:cs typeface="Perpetua"/>
              </a:rPr>
              <a:t> cards.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placed </a:t>
            </a:r>
            <a:r>
              <a:rPr sz="2400" spc="-10" dirty="0">
                <a:latin typeface="Perpetua"/>
                <a:cs typeface="Perpetua"/>
              </a:rPr>
              <a:t>face</a:t>
            </a:r>
            <a:r>
              <a:rPr sz="2400" spc="-40" dirty="0">
                <a:latin typeface="Perpetua"/>
                <a:cs typeface="Perpetua"/>
              </a:rPr>
              <a:t> up.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25" dirty="0">
                <a:latin typeface="Perpetua"/>
                <a:cs typeface="Perpetua"/>
              </a:rPr>
              <a:t>player </a:t>
            </a:r>
            <a:r>
              <a:rPr sz="2400" spc="-10" dirty="0">
                <a:latin typeface="Perpetua"/>
                <a:cs typeface="Perpetua"/>
              </a:rPr>
              <a:t>takes </a:t>
            </a:r>
            <a:r>
              <a:rPr sz="2400" dirty="0">
                <a:latin typeface="Perpetua"/>
                <a:cs typeface="Perpetua"/>
              </a:rPr>
              <a:t>it in </a:t>
            </a:r>
            <a:r>
              <a:rPr sz="2400" spc="10" dirty="0">
                <a:latin typeface="Perpetua"/>
                <a:cs typeface="Perpetua"/>
              </a:rPr>
              <a:t>turns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5" dirty="0">
                <a:latin typeface="Perpetua"/>
                <a:cs typeface="Perpetua"/>
              </a:rPr>
              <a:t>take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card.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5" dirty="0">
                <a:latin typeface="Perpetua"/>
                <a:cs typeface="Perpetua"/>
              </a:rPr>
              <a:t>To </a:t>
            </a:r>
            <a:r>
              <a:rPr sz="2400" spc="-5" dirty="0">
                <a:latin typeface="Perpetua"/>
                <a:cs typeface="Perpetua"/>
              </a:rPr>
              <a:t>win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5" dirty="0">
                <a:latin typeface="Perpetua"/>
                <a:cs typeface="Perpetua"/>
              </a:rPr>
              <a:t>must </a:t>
            </a:r>
            <a:r>
              <a:rPr sz="2400" dirty="0">
                <a:latin typeface="Perpetua"/>
                <a:cs typeface="Perpetua"/>
              </a:rPr>
              <a:t>get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the same</a:t>
            </a:r>
            <a:r>
              <a:rPr sz="2400" spc="-26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letter.</a:t>
            </a:r>
            <a:endParaRPr sz="2400">
              <a:latin typeface="Perpetua"/>
              <a:cs typeface="Perpetua"/>
            </a:endParaRPr>
          </a:p>
          <a:p>
            <a:pPr marL="286385" marR="5080" lvl="1" indent="45720">
              <a:lnSpc>
                <a:spcPts val="3479"/>
              </a:lnSpc>
              <a:spcBef>
                <a:spcPts val="1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dirty="0">
                <a:latin typeface="Perpetua"/>
                <a:cs typeface="Perpetua"/>
              </a:rPr>
              <a:t>example if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had picked up the cards </a:t>
            </a:r>
            <a:r>
              <a:rPr sz="2400" spc="-65" dirty="0">
                <a:latin typeface="Perpetua"/>
                <a:cs typeface="Perpetua"/>
              </a:rPr>
              <a:t>SPIT, </a:t>
            </a:r>
            <a:r>
              <a:rPr sz="2400" dirty="0">
                <a:latin typeface="Perpetua"/>
                <a:cs typeface="Perpetua"/>
              </a:rPr>
              <a:t>IF and </a:t>
            </a:r>
            <a:r>
              <a:rPr sz="2400" spc="-50" dirty="0">
                <a:latin typeface="Perpetua"/>
                <a:cs typeface="Perpetua"/>
              </a:rPr>
              <a:t>IN,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20" dirty="0">
                <a:latin typeface="Perpetua"/>
                <a:cs typeface="Perpetua"/>
              </a:rPr>
              <a:t>would 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cards </a:t>
            </a:r>
            <a:r>
              <a:rPr sz="2400" dirty="0">
                <a:latin typeface="Perpetua"/>
                <a:cs typeface="Perpetua"/>
              </a:rPr>
              <a:t>containing the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I so </a:t>
            </a:r>
            <a:r>
              <a:rPr sz="2400" spc="-20" dirty="0">
                <a:latin typeface="Perpetua"/>
                <a:cs typeface="Perpetua"/>
              </a:rPr>
              <a:t>would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win.</a:t>
            </a:r>
            <a:endParaRPr sz="2400">
              <a:latin typeface="Perpetua"/>
              <a:cs typeface="Perpetua"/>
            </a:endParaRPr>
          </a:p>
          <a:p>
            <a:pPr marL="286385" marR="39370" indent="-274320">
              <a:lnSpc>
                <a:spcPct val="100000"/>
              </a:lnSpc>
              <a:spcBef>
                <a:spcPts val="385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cards </a:t>
            </a:r>
            <a:r>
              <a:rPr sz="2400" spc="-10" dirty="0">
                <a:latin typeface="Perpetua"/>
                <a:cs typeface="Perpetua"/>
              </a:rPr>
              <a:t>are taken </a:t>
            </a:r>
            <a:r>
              <a:rPr sz="2400" dirty="0">
                <a:latin typeface="Perpetua"/>
                <a:cs typeface="Perpetua"/>
              </a:rPr>
              <a:t>with no one </a:t>
            </a:r>
            <a:r>
              <a:rPr sz="2400" spc="-15" dirty="0">
                <a:latin typeface="Perpetua"/>
                <a:cs typeface="Perpetua"/>
              </a:rPr>
              <a:t>having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of a </a:t>
            </a:r>
            <a:r>
              <a:rPr sz="2400" spc="5" dirty="0">
                <a:latin typeface="Perpetua"/>
                <a:cs typeface="Perpetua"/>
              </a:rPr>
              <a:t>particular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then  the </a:t>
            </a:r>
            <a:r>
              <a:rPr sz="2400" spc="-5" dirty="0">
                <a:latin typeface="Perpetua"/>
                <a:cs typeface="Perpetua"/>
              </a:rPr>
              <a:t>game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80" dirty="0">
                <a:latin typeface="Perpetua"/>
                <a:cs typeface="Perpetua"/>
              </a:rPr>
              <a:t>draw.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12038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20" dirty="0">
                <a:latin typeface="Perpetua"/>
                <a:cs typeface="Perpetua"/>
              </a:rPr>
              <a:t>Play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few games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then idea, then </a:t>
            </a:r>
            <a:r>
              <a:rPr sz="2600" i="1" spc="10" dirty="0">
                <a:latin typeface="Perpetua"/>
                <a:cs typeface="Perpetua"/>
              </a:rPr>
              <a:t>turn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5" dirty="0">
                <a:latin typeface="Perpetua"/>
                <a:cs typeface="Perpetua"/>
              </a:rPr>
              <a:t>page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see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5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suitable  </a:t>
            </a:r>
            <a:r>
              <a:rPr sz="2600" i="1" spc="-20" dirty="0">
                <a:latin typeface="Perpetua"/>
                <a:cs typeface="Perpetua"/>
              </a:rPr>
              <a:t>organisation </a:t>
            </a:r>
            <a:r>
              <a:rPr sz="2600" i="1" dirty="0">
                <a:latin typeface="Perpetua"/>
                <a:cs typeface="Perpetua"/>
              </a:rPr>
              <a:t>will help </a:t>
            </a:r>
            <a:r>
              <a:rPr sz="2600" i="1" spc="-20" dirty="0">
                <a:latin typeface="Perpetua"/>
                <a:cs typeface="Perpetua"/>
              </a:rPr>
              <a:t>you play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better.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562975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7749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Before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play draw </a:t>
            </a:r>
            <a:r>
              <a:rPr sz="2600" dirty="0">
                <a:latin typeface="Perpetua"/>
                <a:cs typeface="Perpetua"/>
              </a:rPr>
              <a:t>up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15" dirty="0">
                <a:latin typeface="Perpetua"/>
                <a:cs typeface="Perpetua"/>
              </a:rPr>
              <a:t>grid, </a:t>
            </a:r>
            <a:r>
              <a:rPr sz="2600" dirty="0">
                <a:latin typeface="Perpetua"/>
                <a:cs typeface="Perpetua"/>
              </a:rPr>
              <a:t>with the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words 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dirty="0">
                <a:latin typeface="Perpetua"/>
                <a:cs typeface="Perpetua"/>
              </a:rPr>
              <a:t>on the </a:t>
            </a:r>
            <a:r>
              <a:rPr sz="2600" spc="-5" dirty="0">
                <a:latin typeface="Perpetua"/>
                <a:cs typeface="Perpetua"/>
              </a:rPr>
              <a:t>cards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squares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shown.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position of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important.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been organised so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single letter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common </a:t>
            </a:r>
            <a:r>
              <a:rPr sz="2600" dirty="0">
                <a:latin typeface="Perpetua"/>
                <a:cs typeface="Perpetua"/>
              </a:rPr>
              <a:t>in 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5" dirty="0">
                <a:latin typeface="Perpetua"/>
                <a:cs typeface="Perpetua"/>
              </a:rPr>
              <a:t>row, </a:t>
            </a:r>
            <a:r>
              <a:rPr sz="2600" spc="-5" dirty="0">
                <a:latin typeface="Perpetua"/>
                <a:cs typeface="Perpetua"/>
              </a:rPr>
              <a:t>column and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diagonal.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F-words </a:t>
            </a:r>
            <a:r>
              <a:rPr sz="2600" spc="20" dirty="0">
                <a:latin typeface="Perpetua"/>
                <a:cs typeface="Perpetua"/>
              </a:rPr>
              <a:t>run </a:t>
            </a:r>
            <a:r>
              <a:rPr sz="2600" spc="-5" dirty="0">
                <a:latin typeface="Perpetua"/>
                <a:cs typeface="Perpetua"/>
              </a:rPr>
              <a:t>along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bottom, for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example.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90800" y="4257660"/>
            <a:ext cx="2419723" cy="1609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281430"/>
            <a:ext cx="8594090" cy="3425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9210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Keep </a:t>
            </a:r>
            <a:r>
              <a:rPr sz="2600" dirty="0">
                <a:latin typeface="Perpetua"/>
                <a:cs typeface="Perpetua"/>
              </a:rPr>
              <a:t>this hidden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5" dirty="0">
                <a:latin typeface="Perpetua"/>
                <a:cs typeface="Perpetua"/>
              </a:rPr>
              <a:t>opponent </a:t>
            </a:r>
            <a:r>
              <a:rPr sz="2600" dirty="0">
                <a:latin typeface="Perpetua"/>
                <a:cs typeface="Perpetua"/>
              </a:rPr>
              <a:t>– otherwise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see the  </a:t>
            </a:r>
            <a:r>
              <a:rPr sz="2600" spc="-5" dirty="0">
                <a:latin typeface="Perpetua"/>
                <a:cs typeface="Perpetua"/>
              </a:rPr>
              <a:t>secret.</a:t>
            </a:r>
            <a:endParaRPr sz="2600">
              <a:latin typeface="Perpetua"/>
              <a:cs typeface="Perpetua"/>
            </a:endParaRPr>
          </a:p>
          <a:p>
            <a:pPr marL="286385" marR="10541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Play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5" dirty="0">
                <a:latin typeface="Perpetua"/>
                <a:cs typeface="Perpetua"/>
              </a:rPr>
              <a:t>before, </a:t>
            </a:r>
            <a:r>
              <a:rPr sz="2600" spc="-5" dirty="0">
                <a:latin typeface="Perpetua"/>
                <a:cs typeface="Perpetua"/>
              </a:rPr>
              <a:t>except,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0" dirty="0">
                <a:latin typeface="Perpetua"/>
                <a:cs typeface="Perpetua"/>
              </a:rPr>
              <a:t>pick </a:t>
            </a:r>
            <a:r>
              <a:rPr sz="2600" dirty="0">
                <a:latin typeface="Perpetua"/>
                <a:cs typeface="Perpetua"/>
              </a:rPr>
              <a:t>up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card, put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cross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10" dirty="0">
                <a:latin typeface="Perpetua"/>
                <a:cs typeface="Perpetua"/>
              </a:rPr>
              <a:t>square that </a:t>
            </a:r>
            <a:r>
              <a:rPr sz="2600" dirty="0">
                <a:latin typeface="Perpetua"/>
                <a:cs typeface="Perpetua"/>
              </a:rPr>
              <a:t>corresponds to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word.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Put a </a:t>
            </a:r>
            <a:r>
              <a:rPr sz="2600" spc="-5" dirty="0">
                <a:latin typeface="Perpetua"/>
                <a:cs typeface="Perpetua"/>
              </a:rPr>
              <a:t>nought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squares </a:t>
            </a:r>
            <a:r>
              <a:rPr sz="2600" dirty="0">
                <a:latin typeface="Perpetua"/>
                <a:cs typeface="Perpetua"/>
              </a:rPr>
              <a:t>corresponding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cards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5" dirty="0">
                <a:latin typeface="Perpetua"/>
                <a:cs typeface="Perpetua"/>
              </a:rPr>
              <a:t>opponent  </a:t>
            </a:r>
            <a:r>
              <a:rPr sz="2600" spc="-15" dirty="0">
                <a:latin typeface="Perpetua"/>
                <a:cs typeface="Perpetua"/>
              </a:rPr>
              <a:t>takes.</a:t>
            </a:r>
            <a:endParaRPr sz="2600">
              <a:latin typeface="Perpetua"/>
              <a:cs typeface="Perpetua"/>
            </a:endParaRPr>
          </a:p>
          <a:p>
            <a:pPr marL="286385" marR="4394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dirty="0">
                <a:latin typeface="Perpetua"/>
                <a:cs typeface="Perpetua"/>
              </a:rPr>
              <a:t>will end with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-10" dirty="0">
                <a:latin typeface="Perpetua"/>
                <a:cs typeface="Perpetua"/>
              </a:rPr>
              <a:t>table </a:t>
            </a:r>
            <a:r>
              <a:rPr sz="2600" spc="-5" dirty="0">
                <a:latin typeface="Perpetua"/>
                <a:cs typeface="Perpetua"/>
              </a:rPr>
              <a:t>looking </a:t>
            </a:r>
            <a:r>
              <a:rPr sz="2600" spc="-10" dirty="0">
                <a:latin typeface="Perpetua"/>
                <a:cs typeface="Perpetua"/>
              </a:rPr>
              <a:t>like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following: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76600" y="4495815"/>
            <a:ext cx="2419350" cy="1743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40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119581"/>
            <a:ext cx="4141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has </a:t>
            </a:r>
            <a:r>
              <a:rPr i="1" dirty="0">
                <a:latin typeface="Perpetua"/>
                <a:cs typeface="Perpetua"/>
              </a:rPr>
              <a:t>been</a:t>
            </a:r>
            <a:r>
              <a:rPr i="1" spc="-45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912747"/>
            <a:ext cx="6130925" cy="326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6395" indent="-354330">
              <a:lnSpc>
                <a:spcPct val="100000"/>
              </a:lnSpc>
              <a:spcBef>
                <a:spcPts val="105"/>
              </a:spcBef>
              <a:buSzPct val="90384"/>
              <a:buFont typeface="Arial"/>
              <a:buChar char="•"/>
              <a:tabLst>
                <a:tab pos="366395" algn="l"/>
                <a:tab pos="367030" algn="l"/>
              </a:tabLst>
            </a:pPr>
            <a:r>
              <a:rPr sz="2600" spc="-10" dirty="0">
                <a:latin typeface="Perpetua"/>
                <a:cs typeface="Perpetua"/>
              </a:rPr>
              <a:t>Arrays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their importance.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38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Operations on </a:t>
            </a:r>
            <a:r>
              <a:rPr sz="2600" spc="-15" dirty="0">
                <a:latin typeface="Perpetua"/>
                <a:cs typeface="Perpetua"/>
              </a:rPr>
              <a:t>arrays(create, </a:t>
            </a:r>
            <a:r>
              <a:rPr sz="2600" spc="-5" dirty="0">
                <a:latin typeface="Perpetua"/>
                <a:cs typeface="Perpetua"/>
              </a:rPr>
              <a:t>add, </a:t>
            </a:r>
            <a:r>
              <a:rPr sz="2600" spc="-10" dirty="0">
                <a:latin typeface="Perpetua"/>
                <a:cs typeface="Perpetua"/>
              </a:rPr>
              <a:t>delete,</a:t>
            </a:r>
            <a:r>
              <a:rPr sz="2600" spc="-2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locate).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375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properties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arrays.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Multi-dimensional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arrays.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533400"/>
            <a:ext cx="533400" cy="5740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75175" y="5500827"/>
            <a:ext cx="3981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latin typeface="Perpetua"/>
                <a:cs typeface="Perpetua"/>
              </a:rPr>
              <a:t>Cre</a:t>
            </a:r>
            <a:r>
              <a:rPr sz="1050" b="1" i="1" spc="-5" dirty="0">
                <a:latin typeface="Perpetua"/>
                <a:cs typeface="Perpetua"/>
              </a:rPr>
              <a:t>d</a:t>
            </a:r>
            <a:r>
              <a:rPr sz="1050" b="1" i="1" dirty="0">
                <a:latin typeface="Perpetua"/>
                <a:cs typeface="Perpetua"/>
              </a:rPr>
              <a:t>i</a:t>
            </a:r>
            <a:r>
              <a:rPr sz="1050" b="1" i="1" spc="-5" dirty="0">
                <a:latin typeface="Perpetua"/>
                <a:cs typeface="Perpetua"/>
              </a:rPr>
              <a:t>t</a:t>
            </a:r>
            <a:r>
              <a:rPr sz="1050" b="1" i="1" dirty="0">
                <a:latin typeface="Perpetua"/>
                <a:cs typeface="Perpetua"/>
              </a:rPr>
              <a:t>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175" y="5661041"/>
            <a:ext cx="4169410" cy="8953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05"/>
              </a:spcBef>
              <a:buSzPct val="80952"/>
              <a:buFont typeface="Wingdings"/>
              <a:buChar char=""/>
              <a:tabLst>
                <a:tab pos="287020" algn="l"/>
                <a:tab pos="287655" algn="l"/>
              </a:tabLst>
            </a:pPr>
            <a:r>
              <a:rPr sz="1050" b="1" i="1" dirty="0">
                <a:latin typeface="Perpetua"/>
                <a:cs typeface="Perpetua"/>
              </a:rPr>
              <a:t>Software Solution, Foundation for </a:t>
            </a:r>
            <a:r>
              <a:rPr sz="1050" b="1" i="1" spc="-5" dirty="0">
                <a:latin typeface="Perpetua"/>
                <a:cs typeface="Perpetua"/>
              </a:rPr>
              <a:t>program </a:t>
            </a:r>
            <a:r>
              <a:rPr sz="1050" b="1" i="1" dirty="0">
                <a:latin typeface="Perpetua"/>
                <a:cs typeface="Perpetua"/>
              </a:rPr>
              <a:t>design, Lewis and</a:t>
            </a:r>
            <a:r>
              <a:rPr sz="1050" b="1" i="1" spc="-12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Loftus</a:t>
            </a:r>
            <a:endParaRPr sz="1050">
              <a:latin typeface="Perpetua"/>
              <a:cs typeface="Perpetua"/>
            </a:endParaRP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SzPct val="80952"/>
              <a:buFont typeface="Wingdings"/>
              <a:buChar char=""/>
              <a:tabLst>
                <a:tab pos="287020" algn="l"/>
                <a:tab pos="287655" algn="l"/>
              </a:tabLst>
            </a:pPr>
            <a:r>
              <a:rPr sz="1050" b="1" i="1" dirty="0">
                <a:latin typeface="Perpetua"/>
                <a:cs typeface="Perpetua"/>
              </a:rPr>
              <a:t>Computing Without Computers, A Gentle </a:t>
            </a:r>
            <a:r>
              <a:rPr sz="1050" b="1" i="1" spc="-5" dirty="0">
                <a:latin typeface="Perpetua"/>
                <a:cs typeface="Perpetua"/>
              </a:rPr>
              <a:t>Introduction </a:t>
            </a:r>
            <a:r>
              <a:rPr sz="1050" b="1" i="1" dirty="0">
                <a:latin typeface="Perpetua"/>
                <a:cs typeface="Perpetua"/>
              </a:rPr>
              <a:t>to Computer  </a:t>
            </a:r>
            <a:r>
              <a:rPr sz="1050" b="1" i="1" spc="-5" dirty="0">
                <a:latin typeface="Perpetua"/>
                <a:cs typeface="Perpetua"/>
              </a:rPr>
              <a:t>Programming, </a:t>
            </a:r>
            <a:r>
              <a:rPr sz="1050" b="1" i="1" dirty="0">
                <a:latin typeface="Perpetua"/>
                <a:cs typeface="Perpetua"/>
              </a:rPr>
              <a:t>Data Structures and Algorithms,V ersion 0.15,Paul</a:t>
            </a:r>
            <a:r>
              <a:rPr sz="1050" b="1" i="1" spc="-110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Curzon</a:t>
            </a:r>
            <a:endParaRPr sz="105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SzPct val="80952"/>
              <a:buFont typeface="Wingdings"/>
              <a:buChar char=""/>
              <a:tabLst>
                <a:tab pos="287020" algn="l"/>
                <a:tab pos="287655" algn="l"/>
              </a:tabLst>
            </a:pPr>
            <a:r>
              <a:rPr sz="1050" b="1" i="1" dirty="0">
                <a:latin typeface="Perpetua"/>
                <a:cs typeface="Perpetua"/>
              </a:rPr>
              <a:t>Google</a:t>
            </a:r>
            <a:r>
              <a:rPr sz="1050" b="1" i="1" spc="-3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CF920C-83A8-4D34-A441-3968CAA380A7}"/>
</file>

<file path=customXml/itemProps2.xml><?xml version="1.0" encoding="utf-8"?>
<ds:datastoreItem xmlns:ds="http://schemas.openxmlformats.org/officeDocument/2006/customXml" ds:itemID="{5FF991B8-FFD4-4F37-ABA9-C71B757C7951}"/>
</file>

<file path=customXml/itemProps3.xml><?xml version="1.0" encoding="utf-8"?>
<ds:datastoreItem xmlns:ds="http://schemas.openxmlformats.org/officeDocument/2006/customXml" ds:itemID="{D153BEEF-EE51-4C7C-A7A4-6120E83E6A9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2502</Words>
  <Application>Microsoft Office PowerPoint</Application>
  <PresentationFormat>On-screen Show (4:3)</PresentationFormat>
  <Paragraphs>291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Slide 1</vt:lpstr>
      <vt:lpstr>Objectives</vt:lpstr>
      <vt:lpstr>Organizing data</vt:lpstr>
      <vt:lpstr>Game of Spit Not So (Berlekamp et al, 1982)</vt:lpstr>
      <vt:lpstr>Slide 5</vt:lpstr>
      <vt:lpstr>Slide 6</vt:lpstr>
      <vt:lpstr>Slide 7</vt:lpstr>
      <vt:lpstr>Is there a better way to store and access related items?</vt:lpstr>
      <vt:lpstr>Is there a better way to store and access related items?...  Answer</vt:lpstr>
      <vt:lpstr>Lists</vt:lpstr>
      <vt:lpstr>Lists – Storage organization</vt:lpstr>
      <vt:lpstr>Lists - Indices</vt:lpstr>
      <vt:lpstr>Adding Elements to list</vt:lpstr>
      <vt:lpstr>Removing Elements from List</vt:lpstr>
      <vt:lpstr>Real Time Applications of lists</vt:lpstr>
      <vt:lpstr>Arrays</vt:lpstr>
      <vt:lpstr>Arrays contd---</vt:lpstr>
      <vt:lpstr>Array Properties</vt:lpstr>
      <vt:lpstr>Declaration/Creation of an Array</vt:lpstr>
      <vt:lpstr>Boundaries of an Array</vt:lpstr>
      <vt:lpstr>Array element access</vt:lpstr>
      <vt:lpstr>Array element access contd---</vt:lpstr>
      <vt:lpstr>Slide 23</vt:lpstr>
      <vt:lpstr>1. Given the array scores,</vt:lpstr>
      <vt:lpstr>Answers</vt:lpstr>
      <vt:lpstr>Real time Applications of arrays</vt:lpstr>
      <vt:lpstr>Slide 27</vt:lpstr>
      <vt:lpstr>Slide 28</vt:lpstr>
      <vt:lpstr>Slide 29</vt:lpstr>
      <vt:lpstr>Answer….</vt:lpstr>
      <vt:lpstr>Multi Dimensional Arrays</vt:lpstr>
      <vt:lpstr>Multi Dimensional Arrays contd---</vt:lpstr>
      <vt:lpstr>Multi Dimensional Arrays contd---</vt:lpstr>
      <vt:lpstr>Slide 34</vt:lpstr>
      <vt:lpstr>Answer….</vt:lpstr>
      <vt:lpstr>Organizing data</vt:lpstr>
      <vt:lpstr>Game of Spit Not So (Berlekamp et al, 1982)</vt:lpstr>
      <vt:lpstr>Slide 38</vt:lpstr>
      <vt:lpstr>Slide 39</vt:lpstr>
      <vt:lpstr>Slide 40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2020-09-07T06:48:03Z</dcterms:created>
  <dcterms:modified xsi:type="dcterms:W3CDTF">2021-10-03T05:50:44Z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