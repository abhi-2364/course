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7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7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1043381"/>
            <a:ext cx="227901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334465"/>
            <a:ext cx="8302625" cy="150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msu.edu/" TargetMode="External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dirty="0" smtClean="0">
                <a:latin typeface="Perpetua"/>
                <a:cs typeface="Perpetua"/>
              </a:rPr>
              <a:t>Selection</a:t>
            </a:r>
            <a:endParaRPr sz="44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14652"/>
            <a:ext cx="7617459" cy="449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5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function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elements 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selection.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10" dirty="0">
                <a:latin typeface="Perpetua"/>
                <a:cs typeface="Perpetua"/>
              </a:rPr>
              <a:t>computational </a:t>
            </a:r>
            <a:r>
              <a:rPr sz="2600" spc="-5" dirty="0">
                <a:latin typeface="Perpetua"/>
                <a:cs typeface="Perpetua"/>
              </a:rPr>
              <a:t>state of an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algorithms using selection</a:t>
            </a:r>
            <a:r>
              <a:rPr sz="2600" spc="-2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statements.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and functional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-2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selection.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501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810895" algn="l"/>
                <a:tab pos="2370455" algn="l"/>
                <a:tab pos="4306570" algn="l"/>
                <a:tab pos="5629275" algn="l"/>
                <a:tab pos="6096000" algn="l"/>
                <a:tab pos="7376159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de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2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l	st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uct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s</a:t>
            </a:r>
            <a:r>
              <a:rPr sz="2600" spc="-15" dirty="0">
                <a:latin typeface="Perpetua"/>
                <a:cs typeface="Perpetua"/>
              </a:rPr>
              <a:t>e</a:t>
            </a:r>
            <a:r>
              <a:rPr sz="2600" spc="-5" dirty="0">
                <a:latin typeface="Perpetua"/>
                <a:cs typeface="Perpetua"/>
              </a:rPr>
              <a:t>le</a:t>
            </a:r>
            <a:r>
              <a:rPr sz="2600" spc="-1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tion	in  </a:t>
            </a:r>
            <a:r>
              <a:rPr sz="2600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152400"/>
            <a:ext cx="1444752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670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Robots are</a:t>
            </a:r>
            <a:r>
              <a:rPr spc="-170" dirty="0"/>
              <a:t> </a:t>
            </a:r>
            <a:r>
              <a:rPr spc="-10" dirty="0"/>
              <a:t>“dumb”…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6761"/>
            <a:ext cx="8287384" cy="1748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372110" indent="-274320">
              <a:lnSpc>
                <a:spcPct val="100000"/>
              </a:lnSpc>
              <a:spcBef>
                <a:spcPts val="10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10" dirty="0">
                <a:latin typeface="Perpetua"/>
                <a:cs typeface="Perpetua"/>
              </a:rPr>
              <a:t>What </a:t>
            </a:r>
            <a:r>
              <a:rPr sz="3600" spc="-5" dirty="0">
                <a:latin typeface="Perpetua"/>
                <a:cs typeface="Perpetua"/>
              </a:rPr>
              <a:t>does </a:t>
            </a:r>
            <a:r>
              <a:rPr sz="3600" dirty="0">
                <a:latin typeface="Perpetua"/>
                <a:cs typeface="Perpetua"/>
              </a:rPr>
              <a:t>a </a:t>
            </a:r>
            <a:r>
              <a:rPr sz="3600" spc="-15" dirty="0">
                <a:latin typeface="Perpetua"/>
                <a:cs typeface="Perpetua"/>
              </a:rPr>
              <a:t>robot </a:t>
            </a:r>
            <a:r>
              <a:rPr sz="3600" spc="-5" dirty="0">
                <a:latin typeface="Perpetua"/>
                <a:cs typeface="Perpetua"/>
              </a:rPr>
              <a:t>need </a:t>
            </a:r>
            <a:r>
              <a:rPr sz="3600" spc="5" dirty="0">
                <a:latin typeface="Perpetua"/>
                <a:cs typeface="Perpetua"/>
              </a:rPr>
              <a:t>to </a:t>
            </a:r>
            <a:r>
              <a:rPr sz="3600" spc="-35" dirty="0">
                <a:latin typeface="Perpetua"/>
                <a:cs typeface="Perpetua"/>
              </a:rPr>
              <a:t>know </a:t>
            </a:r>
            <a:r>
              <a:rPr sz="3600" spc="-40" dirty="0">
                <a:latin typeface="Perpetua"/>
                <a:cs typeface="Perpetua"/>
              </a:rPr>
              <a:t>how </a:t>
            </a:r>
            <a:r>
              <a:rPr sz="3600" dirty="0">
                <a:latin typeface="Perpetua"/>
                <a:cs typeface="Perpetua"/>
              </a:rPr>
              <a:t>to </a:t>
            </a:r>
            <a:r>
              <a:rPr sz="3600" spc="-5" dirty="0">
                <a:latin typeface="Perpetua"/>
                <a:cs typeface="Perpetua"/>
              </a:rPr>
              <a:t>do </a:t>
            </a:r>
            <a:r>
              <a:rPr sz="3600" dirty="0">
                <a:latin typeface="Perpetua"/>
                <a:cs typeface="Perpetua"/>
              </a:rPr>
              <a:t>to  </a:t>
            </a:r>
            <a:r>
              <a:rPr sz="3600" spc="-20" dirty="0">
                <a:latin typeface="Perpetua"/>
                <a:cs typeface="Perpetua"/>
              </a:rPr>
              <a:t>solve </a:t>
            </a:r>
            <a:r>
              <a:rPr sz="3600" dirty="0">
                <a:latin typeface="Perpetua"/>
                <a:cs typeface="Perpetua"/>
              </a:rPr>
              <a:t>a</a:t>
            </a:r>
            <a:r>
              <a:rPr sz="3600" spc="20" dirty="0">
                <a:latin typeface="Perpetua"/>
                <a:cs typeface="Perpetua"/>
              </a:rPr>
              <a:t> </a:t>
            </a:r>
            <a:r>
              <a:rPr sz="3600" spc="-5" dirty="0">
                <a:latin typeface="Perpetua"/>
                <a:cs typeface="Perpetua"/>
              </a:rPr>
              <a:t>maze?</a:t>
            </a:r>
            <a:endParaRPr sz="3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10" dirty="0">
                <a:latin typeface="Perpetua"/>
                <a:cs typeface="Perpetua"/>
              </a:rPr>
              <a:t>What </a:t>
            </a:r>
            <a:r>
              <a:rPr sz="3600" spc="-5" dirty="0">
                <a:latin typeface="Perpetua"/>
                <a:cs typeface="Perpetua"/>
              </a:rPr>
              <a:t>commands </a:t>
            </a:r>
            <a:r>
              <a:rPr sz="3600" dirty="0">
                <a:latin typeface="Perpetua"/>
                <a:cs typeface="Perpetua"/>
              </a:rPr>
              <a:t>and </a:t>
            </a:r>
            <a:r>
              <a:rPr sz="3600" spc="-5" dirty="0">
                <a:latin typeface="Perpetua"/>
                <a:cs typeface="Perpetua"/>
              </a:rPr>
              <a:t>behaviors </a:t>
            </a:r>
            <a:r>
              <a:rPr sz="3600" spc="-30" dirty="0">
                <a:latin typeface="Perpetua"/>
                <a:cs typeface="Perpetua"/>
              </a:rPr>
              <a:t>would </a:t>
            </a:r>
            <a:r>
              <a:rPr sz="3600" dirty="0">
                <a:latin typeface="Perpetua"/>
                <a:cs typeface="Perpetua"/>
              </a:rPr>
              <a:t>be</a:t>
            </a:r>
            <a:r>
              <a:rPr sz="3600" spc="-5" dirty="0">
                <a:latin typeface="Perpetua"/>
                <a:cs typeface="Perpetua"/>
              </a:rPr>
              <a:t> useful?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7800" y="3352800"/>
            <a:ext cx="6239256" cy="308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240" y="6514454"/>
            <a:ext cx="141922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35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CSE,Coimbatore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" y="80772"/>
            <a:ext cx="9116568" cy="6624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1508" y="1729550"/>
            <a:ext cx="5319197" cy="36894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0227" y="1982920"/>
            <a:ext cx="5442608" cy="3465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3389" y="1809193"/>
            <a:ext cx="6401536" cy="3772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348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Conditionals</a:t>
            </a:r>
          </a:p>
        </p:txBody>
      </p:sp>
      <p:sp>
        <p:nvSpPr>
          <p:cNvPr id="3" name="object 3"/>
          <p:cNvSpPr/>
          <p:nvPr/>
        </p:nvSpPr>
        <p:spPr>
          <a:xfrm>
            <a:off x="2001945" y="2538334"/>
            <a:ext cx="4891922" cy="2574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2856" y="2506559"/>
            <a:ext cx="5119751" cy="2205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1902" y="2833370"/>
            <a:ext cx="6123481" cy="28356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768" y="2423360"/>
            <a:ext cx="6945663" cy="27757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003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22857"/>
            <a:ext cx="5447030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5" dirty="0">
                <a:latin typeface="Perpetua"/>
                <a:cs typeface="Perpetua"/>
              </a:rPr>
              <a:t>Everything </a:t>
            </a:r>
            <a:r>
              <a:rPr sz="3200" dirty="0">
                <a:latin typeface="Perpetua"/>
                <a:cs typeface="Perpetua"/>
              </a:rPr>
              <a:t>has to be</a:t>
            </a:r>
            <a:r>
              <a:rPr sz="3200" spc="-10" dirty="0">
                <a:latin typeface="Perpetua"/>
                <a:cs typeface="Perpetua"/>
              </a:rPr>
              <a:t> </a:t>
            </a:r>
            <a:r>
              <a:rPr sz="3200" spc="20" dirty="0">
                <a:latin typeface="Perpetua"/>
                <a:cs typeface="Perpetua"/>
              </a:rPr>
              <a:t>true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•"/>
            </a:pPr>
            <a:endParaRPr sz="4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b="1" spc="20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200" b="1" dirty="0">
                <a:latin typeface="Perpetua"/>
                <a:cs typeface="Perpetua"/>
              </a:rPr>
              <a:t>and </a:t>
            </a:r>
            <a:r>
              <a:rPr sz="3200" b="1" spc="20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200" b="1" dirty="0">
                <a:latin typeface="Perpetua"/>
                <a:cs typeface="Perpetua"/>
              </a:rPr>
              <a:t>=</a:t>
            </a:r>
            <a:r>
              <a:rPr sz="3200" b="1" spc="-70" dirty="0">
                <a:latin typeface="Perpetua"/>
                <a:cs typeface="Perpetua"/>
              </a:rPr>
              <a:t> </a:t>
            </a:r>
            <a:r>
              <a:rPr sz="3200" b="1" spc="20" dirty="0">
                <a:solidFill>
                  <a:srgbClr val="FFFF00"/>
                </a:solidFill>
                <a:latin typeface="Perpetua"/>
                <a:cs typeface="Perpetua"/>
              </a:rPr>
              <a:t>true</a:t>
            </a:r>
            <a:endParaRPr sz="3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200" b="1" spc="-5" dirty="0">
                <a:latin typeface="Perpetua"/>
                <a:cs typeface="Perpetua"/>
              </a:rPr>
              <a:t>and </a:t>
            </a:r>
            <a:r>
              <a:rPr sz="32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200" b="1" spc="-5" dirty="0">
                <a:latin typeface="Perpetua"/>
                <a:cs typeface="Perpetua"/>
              </a:rPr>
              <a:t>and </a:t>
            </a:r>
            <a:r>
              <a:rPr sz="32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200" b="1" dirty="0">
                <a:latin typeface="Perpetua"/>
                <a:cs typeface="Perpetua"/>
              </a:rPr>
              <a:t>=</a:t>
            </a:r>
            <a:r>
              <a:rPr sz="3200" b="1" spc="-40" dirty="0">
                <a:latin typeface="Perpetua"/>
                <a:cs typeface="Perpetua"/>
              </a:rPr>
              <a:t> </a:t>
            </a:r>
            <a:r>
              <a:rPr sz="3200" b="1" spc="10" dirty="0">
                <a:solidFill>
                  <a:srgbClr val="FF0000"/>
                </a:solidFill>
                <a:latin typeface="Perpetua"/>
                <a:cs typeface="Perpetua"/>
              </a:rPr>
              <a:t>false</a:t>
            </a:r>
            <a:endParaRPr sz="3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200" b="1" spc="-5" dirty="0">
                <a:latin typeface="Perpetua"/>
                <a:cs typeface="Perpetua"/>
              </a:rPr>
              <a:t>and </a:t>
            </a:r>
            <a:r>
              <a:rPr sz="32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200" b="1" dirty="0">
                <a:latin typeface="Perpetua"/>
                <a:cs typeface="Perpetua"/>
              </a:rPr>
              <a:t>=</a:t>
            </a:r>
            <a:r>
              <a:rPr sz="3200" b="1" spc="-15" dirty="0">
                <a:latin typeface="Perpetua"/>
                <a:cs typeface="Perpetua"/>
              </a:rPr>
              <a:t> </a:t>
            </a:r>
            <a:r>
              <a:rPr sz="3200" b="1" spc="5" dirty="0">
                <a:solidFill>
                  <a:srgbClr val="FF0000"/>
                </a:solidFill>
                <a:latin typeface="Perpetua"/>
                <a:cs typeface="Perpetua"/>
              </a:rPr>
              <a:t>false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38262"/>
            <a:ext cx="5443220" cy="4053204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4000" spc="-5" dirty="0">
                <a:latin typeface="Perpetua"/>
                <a:cs typeface="Perpetua"/>
              </a:rPr>
              <a:t>OR</a:t>
            </a:r>
            <a:endParaRPr sz="40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38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i="1" spc="-20" dirty="0">
                <a:latin typeface="Perpetua"/>
                <a:cs typeface="Perpetua"/>
              </a:rPr>
              <a:t>Only </a:t>
            </a:r>
            <a:r>
              <a:rPr sz="3600" i="1" spc="-5" dirty="0">
                <a:latin typeface="Perpetua"/>
                <a:cs typeface="Perpetua"/>
              </a:rPr>
              <a:t>one </a:t>
            </a:r>
            <a:r>
              <a:rPr sz="3600" i="1" dirty="0">
                <a:latin typeface="Perpetua"/>
                <a:cs typeface="Perpetua"/>
              </a:rPr>
              <a:t>thing has to </a:t>
            </a:r>
            <a:r>
              <a:rPr sz="3600" i="1" spc="-5" dirty="0">
                <a:latin typeface="Perpetua"/>
                <a:cs typeface="Perpetua"/>
              </a:rPr>
              <a:t>be</a:t>
            </a:r>
            <a:r>
              <a:rPr sz="3600" i="1" spc="-25" dirty="0">
                <a:latin typeface="Perpetua"/>
                <a:cs typeface="Perpetua"/>
              </a:rPr>
              <a:t> </a:t>
            </a:r>
            <a:r>
              <a:rPr sz="3600" i="1" spc="10" dirty="0">
                <a:latin typeface="Perpetua"/>
                <a:cs typeface="Perpetua"/>
              </a:rPr>
              <a:t>true</a:t>
            </a:r>
            <a:endParaRPr sz="3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600" b="1" dirty="0">
                <a:latin typeface="Perpetua"/>
                <a:cs typeface="Perpetua"/>
              </a:rPr>
              <a:t>=</a:t>
            </a:r>
            <a:r>
              <a:rPr sz="3600" b="1" spc="-40" dirty="0">
                <a:latin typeface="Perpetua"/>
                <a:cs typeface="Perpetua"/>
              </a:rPr>
              <a:t> </a:t>
            </a: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</a:t>
            </a:r>
            <a:endParaRPr sz="3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 </a:t>
            </a:r>
            <a:r>
              <a:rPr sz="3600" b="1" dirty="0">
                <a:latin typeface="Perpetua"/>
                <a:cs typeface="Perpetua"/>
              </a:rPr>
              <a:t>=</a:t>
            </a:r>
            <a:r>
              <a:rPr sz="3600" b="1" spc="-80" dirty="0">
                <a:latin typeface="Perpetua"/>
                <a:cs typeface="Perpetua"/>
              </a:rPr>
              <a:t> </a:t>
            </a:r>
            <a:r>
              <a:rPr sz="3600" b="1" spc="15" dirty="0">
                <a:solidFill>
                  <a:srgbClr val="FFFF00"/>
                </a:solidFill>
                <a:latin typeface="Perpetua"/>
                <a:cs typeface="Perpetua"/>
              </a:rPr>
              <a:t>true</a:t>
            </a:r>
            <a:endParaRPr sz="3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10" dirty="0">
                <a:solidFill>
                  <a:srgbClr val="FF0000"/>
                </a:solidFill>
                <a:latin typeface="Perpetua"/>
                <a:cs typeface="Perpetua"/>
              </a:rPr>
              <a:t>false </a:t>
            </a:r>
            <a:r>
              <a:rPr sz="3600" b="1" dirty="0">
                <a:latin typeface="Perpetua"/>
                <a:cs typeface="Perpetua"/>
              </a:rPr>
              <a:t>=</a:t>
            </a:r>
            <a:r>
              <a:rPr sz="3600" b="1" spc="-40" dirty="0">
                <a:latin typeface="Perpetua"/>
                <a:cs typeface="Perpetua"/>
              </a:rPr>
              <a:t> </a:t>
            </a:r>
            <a:r>
              <a:rPr sz="3600" b="1" spc="10" dirty="0">
                <a:solidFill>
                  <a:srgbClr val="FF0000"/>
                </a:solidFill>
                <a:latin typeface="Perpetua"/>
                <a:cs typeface="Perpetua"/>
              </a:rPr>
              <a:t>false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567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E</a:t>
            </a:r>
            <a:r>
              <a:rPr b="0" spc="-60" dirty="0">
                <a:latin typeface="Perpetua"/>
                <a:cs typeface="Perpetua"/>
              </a:rPr>
              <a:t>x</a:t>
            </a:r>
            <a:r>
              <a:rPr b="0" spc="-5" dirty="0">
                <a:latin typeface="Perpetua"/>
                <a:cs typeface="Perpetua"/>
              </a:rPr>
              <a:t>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6761"/>
            <a:ext cx="7428230" cy="299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10" dirty="0">
                <a:latin typeface="Perpetua"/>
                <a:cs typeface="Perpetua"/>
              </a:rPr>
              <a:t>What </a:t>
            </a:r>
            <a:r>
              <a:rPr sz="3600" dirty="0">
                <a:latin typeface="Perpetua"/>
                <a:cs typeface="Perpetua"/>
              </a:rPr>
              <a:t>will the </a:t>
            </a:r>
            <a:r>
              <a:rPr sz="3600" spc="-10" dirty="0">
                <a:latin typeface="Perpetua"/>
                <a:cs typeface="Perpetua"/>
              </a:rPr>
              <a:t>result </a:t>
            </a:r>
            <a:r>
              <a:rPr sz="3600" spc="-5" dirty="0">
                <a:latin typeface="Perpetua"/>
                <a:cs typeface="Perpetua"/>
              </a:rPr>
              <a:t>of </a:t>
            </a:r>
            <a:r>
              <a:rPr sz="3600" dirty="0">
                <a:latin typeface="Perpetua"/>
                <a:cs typeface="Perpetua"/>
              </a:rPr>
              <a:t>this </a:t>
            </a:r>
            <a:r>
              <a:rPr sz="3600" spc="-5" dirty="0">
                <a:latin typeface="Perpetua"/>
                <a:cs typeface="Perpetua"/>
              </a:rPr>
              <a:t>expression</a:t>
            </a:r>
            <a:r>
              <a:rPr sz="3600" spc="-25" dirty="0">
                <a:latin typeface="Perpetua"/>
                <a:cs typeface="Perpetua"/>
              </a:rPr>
              <a:t> </a:t>
            </a:r>
            <a:r>
              <a:rPr sz="3600" dirty="0">
                <a:latin typeface="Perpetua"/>
                <a:cs typeface="Perpetua"/>
              </a:rPr>
              <a:t>be?</a:t>
            </a:r>
            <a:endParaRPr sz="3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49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b="1" spc="15" dirty="0">
                <a:latin typeface="Perpetua"/>
                <a:cs typeface="Perpetua"/>
              </a:rPr>
              <a:t>(true </a:t>
            </a:r>
            <a:r>
              <a:rPr sz="3600" b="1" spc="-5" dirty="0">
                <a:latin typeface="Perpetua"/>
                <a:cs typeface="Perpetua"/>
              </a:rPr>
              <a:t>and </a:t>
            </a:r>
            <a:r>
              <a:rPr sz="3600" b="1" dirty="0">
                <a:latin typeface="Perpetua"/>
                <a:cs typeface="Perpetua"/>
              </a:rPr>
              <a:t>(not </a:t>
            </a:r>
            <a:r>
              <a:rPr sz="3600" b="1" spc="10" dirty="0">
                <a:latin typeface="Perpetua"/>
                <a:cs typeface="Perpetua"/>
              </a:rPr>
              <a:t>false)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15" dirty="0">
                <a:latin typeface="Perpetua"/>
                <a:cs typeface="Perpetua"/>
              </a:rPr>
              <a:t>(true </a:t>
            </a:r>
            <a:r>
              <a:rPr sz="3600" b="1" spc="-5" dirty="0">
                <a:latin typeface="Perpetua"/>
                <a:cs typeface="Perpetua"/>
              </a:rPr>
              <a:t>and</a:t>
            </a:r>
            <a:r>
              <a:rPr sz="3600" b="1" spc="-180" dirty="0">
                <a:latin typeface="Perpetua"/>
                <a:cs typeface="Perpetua"/>
              </a:rPr>
              <a:t> </a:t>
            </a:r>
            <a:r>
              <a:rPr sz="3600" b="1" dirty="0">
                <a:latin typeface="Perpetua"/>
                <a:cs typeface="Perpetua"/>
              </a:rPr>
              <a:t>not  </a:t>
            </a:r>
            <a:r>
              <a:rPr sz="3600" b="1" spc="10" dirty="0">
                <a:latin typeface="Perpetua"/>
                <a:cs typeface="Perpetua"/>
              </a:rPr>
              <a:t>false))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567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E</a:t>
            </a:r>
            <a:r>
              <a:rPr b="0" spc="-60" dirty="0">
                <a:latin typeface="Perpetua"/>
                <a:cs typeface="Perpetua"/>
              </a:rPr>
              <a:t>x</a:t>
            </a:r>
            <a:r>
              <a:rPr b="0" spc="-5" dirty="0">
                <a:latin typeface="Perpetua"/>
                <a:cs typeface="Perpetua"/>
              </a:rPr>
              <a:t>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6761"/>
            <a:ext cx="7977505" cy="299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10" dirty="0">
                <a:latin typeface="Perpetua"/>
                <a:cs typeface="Perpetua"/>
              </a:rPr>
              <a:t>What </a:t>
            </a:r>
            <a:r>
              <a:rPr sz="3600" dirty="0">
                <a:latin typeface="Perpetua"/>
                <a:cs typeface="Perpetua"/>
              </a:rPr>
              <a:t>will the </a:t>
            </a:r>
            <a:r>
              <a:rPr sz="3600" spc="-10" dirty="0">
                <a:latin typeface="Perpetua"/>
                <a:cs typeface="Perpetua"/>
              </a:rPr>
              <a:t>result </a:t>
            </a:r>
            <a:r>
              <a:rPr sz="3600" spc="-5" dirty="0">
                <a:latin typeface="Perpetua"/>
                <a:cs typeface="Perpetua"/>
              </a:rPr>
              <a:t>of </a:t>
            </a:r>
            <a:r>
              <a:rPr sz="3600" dirty="0">
                <a:latin typeface="Perpetua"/>
                <a:cs typeface="Perpetua"/>
              </a:rPr>
              <a:t>this </a:t>
            </a:r>
            <a:r>
              <a:rPr sz="3600" spc="-5" dirty="0">
                <a:latin typeface="Perpetua"/>
                <a:cs typeface="Perpetua"/>
              </a:rPr>
              <a:t>expression</a:t>
            </a:r>
            <a:r>
              <a:rPr sz="3600" spc="-15" dirty="0">
                <a:latin typeface="Perpetua"/>
                <a:cs typeface="Perpetua"/>
              </a:rPr>
              <a:t> </a:t>
            </a:r>
            <a:r>
              <a:rPr sz="3600" dirty="0">
                <a:latin typeface="Perpetua"/>
                <a:cs typeface="Perpetua"/>
              </a:rPr>
              <a:t>be?</a:t>
            </a:r>
            <a:endParaRPr sz="3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49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b="1" dirty="0">
                <a:latin typeface="Perpetua"/>
                <a:cs typeface="Perpetua"/>
              </a:rPr>
              <a:t>((not </a:t>
            </a:r>
            <a:r>
              <a:rPr sz="3600" b="1" spc="10" dirty="0">
                <a:latin typeface="Perpetua"/>
                <a:cs typeface="Perpetua"/>
              </a:rPr>
              <a:t>false) </a:t>
            </a:r>
            <a:r>
              <a:rPr sz="3600" b="1" dirty="0">
                <a:latin typeface="Perpetua"/>
                <a:cs typeface="Perpetua"/>
              </a:rPr>
              <a:t>or </a:t>
            </a:r>
            <a:r>
              <a:rPr sz="3600" b="1" spc="5" dirty="0">
                <a:latin typeface="Perpetua"/>
                <a:cs typeface="Perpetua"/>
              </a:rPr>
              <a:t>(false </a:t>
            </a:r>
            <a:r>
              <a:rPr sz="3600" b="1" spc="-5" dirty="0">
                <a:latin typeface="Perpetua"/>
                <a:cs typeface="Perpetua"/>
              </a:rPr>
              <a:t>and (not </a:t>
            </a:r>
            <a:r>
              <a:rPr sz="3600" b="1" spc="10" dirty="0">
                <a:latin typeface="Perpetua"/>
                <a:cs typeface="Perpetua"/>
              </a:rPr>
              <a:t>true))</a:t>
            </a:r>
            <a:r>
              <a:rPr sz="3600" b="1" spc="-114" dirty="0">
                <a:latin typeface="Perpetua"/>
                <a:cs typeface="Perpetua"/>
              </a:rPr>
              <a:t> </a:t>
            </a:r>
            <a:r>
              <a:rPr sz="3600" b="1" spc="-5" dirty="0">
                <a:latin typeface="Perpetua"/>
                <a:cs typeface="Perpetua"/>
              </a:rPr>
              <a:t>and  </a:t>
            </a:r>
            <a:r>
              <a:rPr sz="3600" b="1" spc="10" dirty="0">
                <a:latin typeface="Perpetua"/>
                <a:cs typeface="Perpetua"/>
              </a:rPr>
              <a:t>false)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404569"/>
            <a:ext cx="6333490" cy="42945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16510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Normally, </a:t>
            </a:r>
            <a:r>
              <a:rPr sz="2600" spc="-5" dirty="0">
                <a:latin typeface="Perpetua"/>
                <a:cs typeface="Perpetua"/>
              </a:rPr>
              <a:t>statements </a:t>
            </a:r>
            <a:r>
              <a:rPr sz="2600" dirty="0">
                <a:latin typeface="Perpetua"/>
                <a:cs typeface="Perpetua"/>
              </a:rPr>
              <a:t>in a program </a:t>
            </a:r>
            <a:r>
              <a:rPr sz="2600" spc="-10" dirty="0">
                <a:latin typeface="Perpetua"/>
                <a:cs typeface="Perpetua"/>
              </a:rPr>
              <a:t>are executed  </a:t>
            </a:r>
            <a:r>
              <a:rPr sz="2600" spc="-30" dirty="0">
                <a:latin typeface="Perpetua"/>
                <a:cs typeface="Perpetua"/>
              </a:rPr>
              <a:t>sequentially, </a:t>
            </a:r>
            <a:r>
              <a:rPr sz="2600" dirty="0">
                <a:latin typeface="Perpetua"/>
                <a:cs typeface="Perpetua"/>
              </a:rPr>
              <a:t>in the order </a:t>
            </a:r>
            <a:r>
              <a:rPr sz="2600" spc="-10" dirty="0">
                <a:latin typeface="Perpetua"/>
                <a:cs typeface="Perpetua"/>
              </a:rPr>
              <a:t>that they </a:t>
            </a:r>
            <a:r>
              <a:rPr sz="2600" spc="-30" dirty="0">
                <a:latin typeface="Perpetua"/>
                <a:cs typeface="Perpetua"/>
              </a:rPr>
              <a:t>were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written.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solutions </a:t>
            </a:r>
            <a:r>
              <a:rPr sz="2600" spc="-10" dirty="0">
                <a:latin typeface="Perpetua"/>
                <a:cs typeface="Perpetua"/>
              </a:rPr>
              <a:t>feature </a:t>
            </a:r>
            <a:r>
              <a:rPr sz="2600" spc="-15" dirty="0">
                <a:latin typeface="Perpetua"/>
                <a:cs typeface="Perpetua"/>
              </a:rPr>
              <a:t>several </a:t>
            </a:r>
            <a:r>
              <a:rPr sz="2600" spc="5" dirty="0">
                <a:latin typeface="Perpetua"/>
                <a:cs typeface="Perpetua"/>
              </a:rPr>
              <a:t>choices </a:t>
            </a:r>
            <a:r>
              <a:rPr sz="2600" spc="-5" dirty="0">
                <a:latin typeface="Perpetua"/>
                <a:cs typeface="Perpetua"/>
              </a:rPr>
              <a:t>or  </a:t>
            </a:r>
            <a:r>
              <a:rPr sz="2600" spc="-10" dirty="0">
                <a:latin typeface="Perpetua"/>
                <a:cs typeface="Perpetua"/>
              </a:rPr>
              <a:t>decisions. </a:t>
            </a:r>
            <a:r>
              <a:rPr sz="2600" spc="-5" dirty="0">
                <a:latin typeface="Perpetua"/>
                <a:cs typeface="Perpetua"/>
              </a:rPr>
              <a:t>These decisions lead to different </a:t>
            </a:r>
            <a:r>
              <a:rPr sz="2600" spc="-10" dirty="0">
                <a:latin typeface="Perpetua"/>
                <a:cs typeface="Perpetua"/>
              </a:rPr>
              <a:t>paths </a:t>
            </a:r>
            <a:r>
              <a:rPr sz="2600" dirty="0">
                <a:latin typeface="Perpetua"/>
                <a:cs typeface="Perpetua"/>
              </a:rPr>
              <a:t>.  </a:t>
            </a:r>
            <a:r>
              <a:rPr sz="2600" spc="-5" dirty="0">
                <a:latin typeface="Perpetua"/>
                <a:cs typeface="Perpetua"/>
              </a:rPr>
              <a:t>These </a:t>
            </a:r>
            <a:r>
              <a:rPr sz="2600" spc="-10" dirty="0">
                <a:latin typeface="Perpetua"/>
                <a:cs typeface="Perpetua"/>
              </a:rPr>
              <a:t>paths represent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result </a:t>
            </a:r>
            <a:r>
              <a:rPr sz="2600" spc="-5" dirty="0">
                <a:latin typeface="Perpetua"/>
                <a:cs typeface="Perpetua"/>
              </a:rPr>
              <a:t>of making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choice.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286385" marR="17145" indent="-274320" algn="just">
              <a:lnSpc>
                <a:spcPts val="281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Often </a:t>
            </a:r>
            <a:r>
              <a:rPr sz="2600" dirty="0">
                <a:latin typeface="Perpetua"/>
                <a:cs typeface="Perpetua"/>
              </a:rPr>
              <a:t>it is </a:t>
            </a:r>
            <a:r>
              <a:rPr sz="2600" spc="-5" dirty="0">
                <a:latin typeface="Perpetua"/>
                <a:cs typeface="Perpetua"/>
              </a:rPr>
              <a:t>useful to transfer control in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middle  of </a:t>
            </a:r>
            <a:r>
              <a:rPr sz="2600" spc="-10" dirty="0">
                <a:latin typeface="Perpetua"/>
                <a:cs typeface="Perpetua"/>
              </a:rPr>
              <a:t>execution </a:t>
            </a:r>
            <a:r>
              <a:rPr sz="2600" spc="-5" dirty="0">
                <a:latin typeface="Perpetua"/>
                <a:cs typeface="Perpetua"/>
              </a:rPr>
              <a:t>to another section of </a:t>
            </a:r>
            <a:r>
              <a:rPr sz="2600" spc="5" dirty="0">
                <a:latin typeface="Perpetua"/>
                <a:cs typeface="Perpetua"/>
              </a:rPr>
              <a:t>code—sort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spc="5" dirty="0">
                <a:latin typeface="Perpetua"/>
                <a:cs typeface="Perpetua"/>
              </a:rPr>
              <a:t>changing </a:t>
            </a:r>
            <a:r>
              <a:rPr sz="2600" dirty="0">
                <a:latin typeface="Perpetua"/>
                <a:cs typeface="Perpetua"/>
              </a:rPr>
              <a:t>trains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terminal.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10400" y="4495800"/>
            <a:ext cx="1338072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62800" y="1371600"/>
            <a:ext cx="1104900" cy="2997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8228" y="1367027"/>
            <a:ext cx="1114425" cy="3007360"/>
          </a:xfrm>
          <a:custGeom>
            <a:avLst/>
            <a:gdLst/>
            <a:ahLst/>
            <a:cxnLst/>
            <a:rect l="l" t="t" r="r" b="b"/>
            <a:pathLst>
              <a:path w="1114425" h="3007360">
                <a:moveTo>
                  <a:pt x="0" y="3006852"/>
                </a:moveTo>
                <a:lnTo>
                  <a:pt x="1114044" y="3006852"/>
                </a:lnTo>
                <a:lnTo>
                  <a:pt x="1114044" y="0"/>
                </a:lnTo>
                <a:lnTo>
                  <a:pt x="0" y="0"/>
                </a:lnTo>
                <a:lnTo>
                  <a:pt x="0" y="3006852"/>
                </a:lnTo>
                <a:close/>
              </a:path>
            </a:pathLst>
          </a:custGeom>
          <a:ln w="9143">
            <a:solidFill>
              <a:srgbClr val="9B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5595" y="304800"/>
            <a:ext cx="785315" cy="11033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2286000"/>
            <a:ext cx="2950464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02520" y="2280676"/>
            <a:ext cx="2032778" cy="1780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34000" y="4343400"/>
            <a:ext cx="2305811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62200" y="4724400"/>
            <a:ext cx="2667000" cy="13898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949" y="677925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i="1" spc="-155" dirty="0">
                <a:latin typeface="Perpetua"/>
                <a:cs typeface="Perpetua"/>
              </a:rPr>
              <a:t>Try </a:t>
            </a:r>
            <a:r>
              <a:rPr b="0" i="1" spc="-5" dirty="0">
                <a:latin typeface="Perpetua"/>
                <a:cs typeface="Perpetua"/>
              </a:rPr>
              <a:t>it</a:t>
            </a:r>
            <a:r>
              <a:rPr b="0" i="1" spc="95" dirty="0">
                <a:latin typeface="Perpetua"/>
                <a:cs typeface="Perpetua"/>
              </a:rPr>
              <a:t> </a:t>
            </a:r>
            <a:r>
              <a:rPr b="0" i="1" spc="-10" dirty="0">
                <a:latin typeface="Perpetua"/>
                <a:cs typeface="Perpetua"/>
              </a:rPr>
              <a:t>yourself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40" y="1433525"/>
            <a:ext cx="63449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25" dirty="0">
                <a:latin typeface="Perpetua"/>
                <a:cs typeface="Perpetua"/>
              </a:rPr>
              <a:t>say </a:t>
            </a:r>
            <a:r>
              <a:rPr sz="2600" i="1" spc="-15" dirty="0">
                <a:latin typeface="Perpetua"/>
                <a:cs typeface="Perpetua"/>
              </a:rPr>
              <a:t>how many </a:t>
            </a:r>
            <a:r>
              <a:rPr sz="2600" i="1" spc="-5" dirty="0">
                <a:latin typeface="Perpetua"/>
                <a:cs typeface="Perpetua"/>
              </a:rPr>
              <a:t>choices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20" dirty="0">
                <a:latin typeface="Perpetua"/>
                <a:cs typeface="Perpetua"/>
              </a:rPr>
              <a:t>available </a:t>
            </a:r>
            <a:r>
              <a:rPr sz="2600" i="1" spc="-15" dirty="0">
                <a:latin typeface="Perpetua"/>
                <a:cs typeface="Perpetua"/>
              </a:rPr>
              <a:t>for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selection.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80032" y="713116"/>
            <a:ext cx="908278" cy="5758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2209800"/>
            <a:ext cx="2950464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02520" y="2280676"/>
            <a:ext cx="2032778" cy="1780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400" y="4267200"/>
            <a:ext cx="2305811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6400" y="4495800"/>
            <a:ext cx="2667000" cy="13898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949" y="677925"/>
            <a:ext cx="3998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i="1" spc="-155" dirty="0">
                <a:latin typeface="Perpetua"/>
                <a:cs typeface="Perpetua"/>
              </a:rPr>
              <a:t>Try </a:t>
            </a:r>
            <a:r>
              <a:rPr b="0" i="1" spc="-5" dirty="0">
                <a:latin typeface="Perpetua"/>
                <a:cs typeface="Perpetua"/>
              </a:rPr>
              <a:t>it </a:t>
            </a:r>
            <a:r>
              <a:rPr b="0" i="1" spc="-10" dirty="0">
                <a:latin typeface="Perpetua"/>
                <a:cs typeface="Perpetua"/>
              </a:rPr>
              <a:t>yourself…</a:t>
            </a:r>
            <a:r>
              <a:rPr b="0" i="1" spc="-75" dirty="0">
                <a:latin typeface="Perpetua"/>
                <a:cs typeface="Perpetua"/>
              </a:rPr>
              <a:t> </a:t>
            </a:r>
            <a:r>
              <a:rPr b="0" i="1" spc="-25" dirty="0">
                <a:latin typeface="Perpetua"/>
                <a:cs typeface="Perpetua"/>
              </a:rPr>
              <a:t>Answer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40" y="1433525"/>
            <a:ext cx="63449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25" dirty="0">
                <a:latin typeface="Perpetua"/>
                <a:cs typeface="Perpetua"/>
              </a:rPr>
              <a:t>say </a:t>
            </a:r>
            <a:r>
              <a:rPr sz="2600" i="1" spc="-15" dirty="0">
                <a:latin typeface="Perpetua"/>
                <a:cs typeface="Perpetua"/>
              </a:rPr>
              <a:t>how many </a:t>
            </a:r>
            <a:r>
              <a:rPr sz="2600" i="1" spc="-5" dirty="0">
                <a:latin typeface="Perpetua"/>
                <a:cs typeface="Perpetua"/>
              </a:rPr>
              <a:t>choices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20" dirty="0">
                <a:latin typeface="Perpetua"/>
                <a:cs typeface="Perpetua"/>
              </a:rPr>
              <a:t>available </a:t>
            </a:r>
            <a:r>
              <a:rPr sz="2600" i="1" spc="-15" dirty="0">
                <a:latin typeface="Perpetua"/>
                <a:cs typeface="Perpetua"/>
              </a:rPr>
              <a:t>for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selection.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80032" y="713116"/>
            <a:ext cx="908278" cy="5758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7244" y="3430904"/>
            <a:ext cx="732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M</a:t>
            </a:r>
            <a:r>
              <a:rPr sz="1800" spc="5" dirty="0">
                <a:latin typeface="Perpetua"/>
                <a:cs typeface="Perpetua"/>
              </a:rPr>
              <a:t>u</a:t>
            </a:r>
            <a:r>
              <a:rPr sz="1800" spc="-5" dirty="0">
                <a:latin typeface="Perpetua"/>
                <a:cs typeface="Perpetua"/>
              </a:rPr>
              <a:t>ltiple  Choices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6609" y="3354704"/>
            <a:ext cx="1080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Perpetua"/>
                <a:cs typeface="Perpetua"/>
              </a:rPr>
              <a:t>Two </a:t>
            </a:r>
            <a:r>
              <a:rPr sz="1800" spc="-5" dirty="0">
                <a:latin typeface="Perpetua"/>
                <a:cs typeface="Perpetua"/>
              </a:rPr>
              <a:t>Choices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2575" y="5946140"/>
            <a:ext cx="101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One</a:t>
            </a:r>
            <a:r>
              <a:rPr sz="1800" spc="-8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Choice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6609" y="5564530"/>
            <a:ext cx="734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Multiple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Perpetua"/>
                <a:cs typeface="Perpetua"/>
              </a:rPr>
              <a:t>Choices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49" y="677925"/>
            <a:ext cx="3816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-10" dirty="0">
                <a:latin typeface="Perpetua"/>
                <a:cs typeface="Perpetua"/>
              </a:rPr>
              <a:t> 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529955" cy="394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498600" algn="l"/>
                <a:tab pos="2783840" algn="l"/>
                <a:tab pos="3536315" algn="l"/>
                <a:tab pos="3856354" algn="l"/>
                <a:tab pos="5013325" algn="l"/>
                <a:tab pos="5568315" algn="l"/>
                <a:tab pos="6452235" algn="l"/>
                <a:tab pos="6889750" algn="l"/>
                <a:tab pos="7853045" algn="l"/>
              </a:tabLst>
            </a:pPr>
            <a:r>
              <a:rPr sz="2400" dirty="0">
                <a:latin typeface="Perpetua"/>
                <a:cs typeface="Perpetua"/>
              </a:rPr>
              <a:t>S</a:t>
            </a:r>
            <a:r>
              <a:rPr sz="2400" spc="-10" dirty="0">
                <a:latin typeface="Perpetua"/>
                <a:cs typeface="Perpetua"/>
              </a:rPr>
              <a:t>e</a:t>
            </a:r>
            <a:r>
              <a:rPr sz="2400" spc="-5" dirty="0">
                <a:latin typeface="Perpetua"/>
                <a:cs typeface="Perpetua"/>
              </a:rPr>
              <a:t>lec</a:t>
            </a:r>
            <a:r>
              <a:rPr sz="2400" spc="-15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ion	st</a:t>
            </a:r>
            <a:r>
              <a:rPr sz="2400" spc="-30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</a:t>
            </a:r>
            <a:r>
              <a:rPr sz="2400" spc="-10" dirty="0">
                <a:latin typeface="Perpetua"/>
                <a:cs typeface="Perpetua"/>
              </a:rPr>
              <a:t>e</a:t>
            </a:r>
            <a:r>
              <a:rPr sz="2400" spc="-5" dirty="0">
                <a:latin typeface="Perpetua"/>
                <a:cs typeface="Perpetua"/>
              </a:rPr>
              <a:t>men</a:t>
            </a:r>
            <a:r>
              <a:rPr sz="2400" dirty="0">
                <a:latin typeface="Perpetua"/>
                <a:cs typeface="Perpetua"/>
              </a:rPr>
              <a:t>t	</a:t>
            </a:r>
            <a:r>
              <a:rPr sz="2400" spc="40" dirty="0">
                <a:latin typeface="Perpetua"/>
                <a:cs typeface="Perpetua"/>
              </a:rPr>
              <a:t>g</a:t>
            </a:r>
            <a:r>
              <a:rPr sz="2400" dirty="0">
                <a:latin typeface="Perpetua"/>
                <a:cs typeface="Perpetua"/>
              </a:rPr>
              <a:t>i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es	a	p</a:t>
            </a:r>
            <a:r>
              <a:rPr sz="2400" spc="-2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o</a:t>
            </a:r>
            <a:r>
              <a:rPr sz="2400" spc="40" dirty="0">
                <a:latin typeface="Perpetua"/>
                <a:cs typeface="Perpetua"/>
              </a:rPr>
              <a:t>g</a:t>
            </a:r>
            <a:r>
              <a:rPr sz="2400" spc="-5" dirty="0">
                <a:latin typeface="Perpetua"/>
                <a:cs typeface="Perpetua"/>
              </a:rPr>
              <a:t>r</a:t>
            </a:r>
            <a:r>
              <a:rPr sz="2400" spc="-1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m	the	</a:t>
            </a:r>
            <a:r>
              <a:rPr sz="2400" spc="-5" dirty="0">
                <a:latin typeface="Perpetua"/>
                <a:cs typeface="Perpetua"/>
              </a:rPr>
              <a:t>abilit</a:t>
            </a:r>
            <a:r>
              <a:rPr sz="2400" dirty="0">
                <a:latin typeface="Perpetua"/>
                <a:cs typeface="Perpetua"/>
              </a:rPr>
              <a:t>y	</a:t>
            </a:r>
            <a:r>
              <a:rPr sz="2400" spc="-1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o	</a:t>
            </a:r>
            <a:r>
              <a:rPr sz="2400" spc="45" dirty="0">
                <a:latin typeface="Perpetua"/>
                <a:cs typeface="Perpetua"/>
              </a:rPr>
              <a:t>c</a:t>
            </a:r>
            <a:r>
              <a:rPr sz="2400" dirty="0">
                <a:latin typeface="Perpetua"/>
                <a:cs typeface="Perpetua"/>
              </a:rPr>
              <a:t>hoose	whi</a:t>
            </a:r>
            <a:r>
              <a:rPr sz="2400" spc="40" dirty="0">
                <a:latin typeface="Perpetua"/>
                <a:cs typeface="Perpetua"/>
              </a:rPr>
              <a:t>c</a:t>
            </a:r>
            <a:r>
              <a:rPr sz="2400" dirty="0">
                <a:latin typeface="Perpetua"/>
                <a:cs typeface="Perpetua"/>
              </a:rPr>
              <a:t>h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dirty="0">
                <a:latin typeface="Perpetua"/>
                <a:cs typeface="Perpetua"/>
              </a:rPr>
              <a:t>instruction(s)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next </a:t>
            </a:r>
            <a:r>
              <a:rPr sz="2400" spc="-5" dirty="0">
                <a:latin typeface="Perpetua"/>
                <a:cs typeface="Perpetua"/>
              </a:rPr>
              <a:t>execute </a:t>
            </a:r>
            <a:r>
              <a:rPr sz="2400" dirty="0">
                <a:latin typeface="Perpetua"/>
                <a:cs typeface="Perpetua"/>
              </a:rPr>
              <a:t>based on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conditions.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Types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Perpetua"/>
                <a:cs typeface="Perpetua"/>
              </a:rPr>
              <a:t>1-Way selection (if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statement).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Perpetua"/>
                <a:cs typeface="Perpetua"/>
              </a:rPr>
              <a:t>2-Way selection </a:t>
            </a:r>
            <a:r>
              <a:rPr sz="2400" dirty="0">
                <a:latin typeface="Perpetua"/>
                <a:cs typeface="Perpetua"/>
              </a:rPr>
              <a:t>(if-else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statement).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Perpetua"/>
                <a:cs typeface="Perpetua"/>
              </a:rPr>
              <a:t>Multi-Way </a:t>
            </a:r>
            <a:r>
              <a:rPr sz="2400" dirty="0">
                <a:latin typeface="Perpetua"/>
                <a:cs typeface="Perpetua"/>
              </a:rPr>
              <a:t>selection (or n-way selection,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switch/case).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Perpetua"/>
                <a:cs typeface="Perpetua"/>
              </a:rPr>
              <a:t>Considerations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i="1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the form and type of </a:t>
            </a:r>
            <a:r>
              <a:rPr sz="2400" i="1" dirty="0">
                <a:latin typeface="Perpetua"/>
                <a:cs typeface="Perpetua"/>
              </a:rPr>
              <a:t>expression </a:t>
            </a:r>
            <a:r>
              <a:rPr sz="2400" i="1" spc="-5" dirty="0">
                <a:latin typeface="Perpetua"/>
                <a:cs typeface="Perpetua"/>
              </a:rPr>
              <a:t>that controls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selection?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i="1" spc="-5" dirty="0">
                <a:latin typeface="Perpetua"/>
                <a:cs typeface="Perpetua"/>
              </a:rPr>
              <a:t>How </a:t>
            </a:r>
            <a:r>
              <a:rPr sz="2400" i="1" dirty="0">
                <a:latin typeface="Perpetua"/>
                <a:cs typeface="Perpetua"/>
              </a:rPr>
              <a:t>are </a:t>
            </a:r>
            <a:r>
              <a:rPr sz="2400" i="1" spc="-5" dirty="0">
                <a:latin typeface="Perpetua"/>
                <a:cs typeface="Perpetua"/>
              </a:rPr>
              <a:t>clauses </a:t>
            </a:r>
            <a:r>
              <a:rPr sz="2400" i="1" dirty="0">
                <a:latin typeface="Perpetua"/>
                <a:cs typeface="Perpetua"/>
              </a:rPr>
              <a:t>specified </a:t>
            </a: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i="1" dirty="0">
                <a:latin typeface="Perpetua"/>
                <a:cs typeface="Perpetua"/>
              </a:rPr>
              <a:t>at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all?</a:t>
            </a:r>
            <a:endParaRPr sz="2400">
              <a:latin typeface="Perpetua"/>
              <a:cs typeface="Perpetua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85416"/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i="1" dirty="0">
                <a:latin typeface="Perpetua"/>
                <a:cs typeface="Perpetua"/>
              </a:rPr>
              <a:t>If nesting </a:t>
            </a:r>
            <a:r>
              <a:rPr sz="2400" i="1" spc="-5" dirty="0">
                <a:latin typeface="Perpetua"/>
                <a:cs typeface="Perpetua"/>
              </a:rPr>
              <a:t>is allowed, </a:t>
            </a:r>
            <a:r>
              <a:rPr sz="2400" i="1" dirty="0">
                <a:latin typeface="Perpetua"/>
                <a:cs typeface="Perpetua"/>
              </a:rPr>
              <a:t>how </a:t>
            </a:r>
            <a:r>
              <a:rPr sz="2400" i="1" spc="-5" dirty="0">
                <a:latin typeface="Perpetua"/>
                <a:cs typeface="Perpetua"/>
              </a:rPr>
              <a:t>is it </a:t>
            </a:r>
            <a:r>
              <a:rPr sz="2400" i="1" dirty="0">
                <a:latin typeface="Perpetua"/>
                <a:cs typeface="Perpetua"/>
              </a:rPr>
              <a:t>specified </a:t>
            </a:r>
            <a:r>
              <a:rPr sz="2400" i="1" spc="-5" dirty="0">
                <a:latin typeface="Perpetua"/>
                <a:cs typeface="Perpetua"/>
              </a:rPr>
              <a:t>and</a:t>
            </a:r>
            <a:r>
              <a:rPr sz="2400" i="1" spc="-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implemented?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800" y="381000"/>
            <a:ext cx="1066800" cy="9860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71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80" dirty="0">
                <a:latin typeface="Perpetua"/>
                <a:cs typeface="Perpetua"/>
              </a:rPr>
              <a:t>One-Way</a:t>
            </a:r>
            <a:r>
              <a:rPr b="0" spc="-65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5063490"/>
            <a:ext cx="6489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identify the number of selection choices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available?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1600200"/>
            <a:ext cx="548640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48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80" dirty="0">
                <a:latin typeface="Perpetua"/>
                <a:cs typeface="Perpetua"/>
              </a:rPr>
              <a:t>One-Way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4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1500"/>
            <a:ext cx="8084820" cy="2450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b="1" i="1" spc="-5" dirty="0">
                <a:latin typeface="Perpetua"/>
                <a:cs typeface="Perpetua"/>
              </a:rPr>
              <a:t>if </a:t>
            </a:r>
            <a:r>
              <a:rPr sz="2400" dirty="0">
                <a:latin typeface="Perpetua"/>
                <a:cs typeface="Perpetua"/>
              </a:rPr>
              <a:t>structure is a </a:t>
            </a:r>
            <a:r>
              <a:rPr sz="2400" spc="-20" dirty="0">
                <a:latin typeface="Perpetua"/>
                <a:cs typeface="Perpetua"/>
              </a:rPr>
              <a:t>one-way </a:t>
            </a:r>
            <a:r>
              <a:rPr sz="2400" spc="-5" dirty="0">
                <a:latin typeface="Perpetua"/>
                <a:cs typeface="Perpetua"/>
              </a:rPr>
              <a:t>selection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structure.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When a </a:t>
            </a:r>
            <a:r>
              <a:rPr sz="2400" spc="-10" dirty="0">
                <a:latin typeface="Perpetua"/>
                <a:cs typeface="Perpetua"/>
              </a:rPr>
              <a:t>control </a:t>
            </a:r>
            <a:r>
              <a:rPr sz="2400" spc="-5" dirty="0">
                <a:latin typeface="Perpetua"/>
                <a:cs typeface="Perpetua"/>
              </a:rPr>
              <a:t>expression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5" dirty="0">
                <a:latin typeface="Perpetua"/>
                <a:cs typeface="Perpetua"/>
              </a:rPr>
              <a:t>evaluated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be true,  the </a:t>
            </a:r>
            <a:r>
              <a:rPr sz="2400" spc="-5" dirty="0">
                <a:latin typeface="Perpetua"/>
                <a:cs typeface="Perpetua"/>
              </a:rPr>
              <a:t>statements associated </a:t>
            </a:r>
            <a:r>
              <a:rPr sz="2400" dirty="0">
                <a:latin typeface="Perpetua"/>
                <a:cs typeface="Perpetua"/>
              </a:rPr>
              <a:t>with the structure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executed.</a:t>
            </a:r>
            <a:endParaRPr sz="2400">
              <a:latin typeface="Perpetua"/>
              <a:cs typeface="Perpetua"/>
            </a:endParaRPr>
          </a:p>
          <a:p>
            <a:pPr marL="286385" marR="14604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19405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The flowchart for </a:t>
            </a:r>
            <a:r>
              <a:rPr sz="2400" spc="-20" dirty="0">
                <a:latin typeface="Perpetua"/>
                <a:cs typeface="Perpetua"/>
              </a:rPr>
              <a:t>one-way </a:t>
            </a:r>
            <a:r>
              <a:rPr sz="2400" dirty="0">
                <a:latin typeface="Perpetua"/>
                <a:cs typeface="Perpetua"/>
              </a:rPr>
              <a:t>selection is </a:t>
            </a:r>
            <a:r>
              <a:rPr sz="2400" spc="-5" dirty="0">
                <a:latin typeface="Perpetua"/>
                <a:cs typeface="Perpetua"/>
              </a:rPr>
              <a:t>given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spc="-20" dirty="0">
                <a:latin typeface="Perpetua"/>
                <a:cs typeface="Perpetua"/>
              </a:rPr>
              <a:t>Flow  </a:t>
            </a:r>
            <a:r>
              <a:rPr sz="2400" dirty="0">
                <a:latin typeface="Perpetua"/>
                <a:cs typeface="Perpetua"/>
              </a:rPr>
              <a:t>Structure- </a:t>
            </a:r>
            <a:r>
              <a:rPr sz="2400" spc="-5" dirty="0">
                <a:latin typeface="Perpetua"/>
                <a:cs typeface="Perpetua"/>
              </a:rPr>
              <a:t>One </a:t>
            </a:r>
            <a:r>
              <a:rPr sz="2400" spc="-110" dirty="0">
                <a:latin typeface="Perpetua"/>
                <a:cs typeface="Perpetua"/>
              </a:rPr>
              <a:t>Way </a:t>
            </a:r>
            <a:r>
              <a:rPr sz="2400" spc="-5" dirty="0">
                <a:latin typeface="Perpetua"/>
                <a:cs typeface="Perpetua"/>
              </a:rPr>
              <a:t>and the </a:t>
            </a:r>
            <a:r>
              <a:rPr sz="2400" dirty="0">
                <a:latin typeface="Perpetua"/>
                <a:cs typeface="Perpetua"/>
              </a:rPr>
              <a:t>corresponding </a:t>
            </a:r>
            <a:r>
              <a:rPr sz="2400" spc="-5" dirty="0">
                <a:latin typeface="Perpetua"/>
                <a:cs typeface="Perpetua"/>
              </a:rPr>
              <a:t>Syntactic </a:t>
            </a:r>
            <a:r>
              <a:rPr sz="2400" spc="5" dirty="0">
                <a:latin typeface="Perpetua"/>
                <a:cs typeface="Perpetua"/>
              </a:rPr>
              <a:t>structure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5" dirty="0">
                <a:latin typeface="Perpetua"/>
                <a:cs typeface="Perpetua"/>
              </a:rPr>
              <a:t>given 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Selection </a:t>
            </a:r>
            <a:r>
              <a:rPr sz="2400" dirty="0">
                <a:latin typeface="Perpetua"/>
                <a:cs typeface="Perpetua"/>
              </a:rPr>
              <a:t>- One</a:t>
            </a:r>
            <a:r>
              <a:rPr sz="2400" spc="-409" dirty="0">
                <a:latin typeface="Perpetua"/>
                <a:cs typeface="Perpetua"/>
              </a:rPr>
              <a:t> </a:t>
            </a:r>
            <a:r>
              <a:rPr sz="2400" spc="-145" dirty="0">
                <a:latin typeface="Perpetua"/>
                <a:cs typeface="Perpetua"/>
              </a:rPr>
              <a:t>Way.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2163" y="3886200"/>
            <a:ext cx="853440" cy="228600"/>
          </a:xfrm>
          <a:custGeom>
            <a:avLst/>
            <a:gdLst/>
            <a:ahLst/>
            <a:cxnLst/>
            <a:rect l="l" t="t" r="r" b="b"/>
            <a:pathLst>
              <a:path w="853439" h="228600">
                <a:moveTo>
                  <a:pt x="0" y="228600"/>
                </a:moveTo>
                <a:lnTo>
                  <a:pt x="853439" y="228600"/>
                </a:lnTo>
                <a:lnTo>
                  <a:pt x="853439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84401" y="4115561"/>
            <a:ext cx="111760" cy="304800"/>
          </a:xfrm>
          <a:custGeom>
            <a:avLst/>
            <a:gdLst/>
            <a:ahLst/>
            <a:cxnLst/>
            <a:rect l="l" t="t" r="r" b="b"/>
            <a:pathLst>
              <a:path w="111760" h="304800">
                <a:moveTo>
                  <a:pt x="11049" y="197485"/>
                </a:moveTo>
                <a:lnTo>
                  <a:pt x="6350" y="200151"/>
                </a:lnTo>
                <a:lnTo>
                  <a:pt x="1650" y="202945"/>
                </a:lnTo>
                <a:lnTo>
                  <a:pt x="0" y="208914"/>
                </a:lnTo>
                <a:lnTo>
                  <a:pt x="2667" y="213740"/>
                </a:lnTo>
                <a:lnTo>
                  <a:pt x="55244" y="304800"/>
                </a:lnTo>
                <a:lnTo>
                  <a:pt x="66793" y="285242"/>
                </a:lnTo>
                <a:lnTo>
                  <a:pt x="45466" y="285114"/>
                </a:lnTo>
                <a:lnTo>
                  <a:pt x="45661" y="248588"/>
                </a:lnTo>
                <a:lnTo>
                  <a:pt x="19938" y="203835"/>
                </a:lnTo>
                <a:lnTo>
                  <a:pt x="17144" y="199008"/>
                </a:lnTo>
                <a:lnTo>
                  <a:pt x="11049" y="197485"/>
                </a:lnTo>
                <a:close/>
              </a:path>
              <a:path w="111760" h="304800">
                <a:moveTo>
                  <a:pt x="45661" y="248588"/>
                </a:moveTo>
                <a:lnTo>
                  <a:pt x="45466" y="285114"/>
                </a:lnTo>
                <a:lnTo>
                  <a:pt x="65278" y="285242"/>
                </a:lnTo>
                <a:lnTo>
                  <a:pt x="65302" y="280288"/>
                </a:lnTo>
                <a:lnTo>
                  <a:pt x="46862" y="280162"/>
                </a:lnTo>
                <a:lnTo>
                  <a:pt x="55448" y="265617"/>
                </a:lnTo>
                <a:lnTo>
                  <a:pt x="45661" y="248588"/>
                </a:lnTo>
                <a:close/>
              </a:path>
              <a:path w="111760" h="304800">
                <a:moveTo>
                  <a:pt x="100456" y="197865"/>
                </a:moveTo>
                <a:lnTo>
                  <a:pt x="65500" y="248588"/>
                </a:lnTo>
                <a:lnTo>
                  <a:pt x="65278" y="285242"/>
                </a:lnTo>
                <a:lnTo>
                  <a:pt x="66793" y="285242"/>
                </a:lnTo>
                <a:lnTo>
                  <a:pt x="108712" y="214249"/>
                </a:lnTo>
                <a:lnTo>
                  <a:pt x="111506" y="209550"/>
                </a:lnTo>
                <a:lnTo>
                  <a:pt x="109981" y="203454"/>
                </a:lnTo>
                <a:lnTo>
                  <a:pt x="105282" y="200660"/>
                </a:lnTo>
                <a:lnTo>
                  <a:pt x="100456" y="197865"/>
                </a:lnTo>
                <a:close/>
              </a:path>
              <a:path w="111760" h="304800">
                <a:moveTo>
                  <a:pt x="55448" y="265617"/>
                </a:moveTo>
                <a:lnTo>
                  <a:pt x="46862" y="280162"/>
                </a:lnTo>
                <a:lnTo>
                  <a:pt x="63881" y="280288"/>
                </a:lnTo>
                <a:lnTo>
                  <a:pt x="55448" y="265617"/>
                </a:lnTo>
                <a:close/>
              </a:path>
              <a:path w="111760" h="304800">
                <a:moveTo>
                  <a:pt x="65457" y="248662"/>
                </a:moveTo>
                <a:lnTo>
                  <a:pt x="55448" y="265617"/>
                </a:lnTo>
                <a:lnTo>
                  <a:pt x="63881" y="280288"/>
                </a:lnTo>
                <a:lnTo>
                  <a:pt x="65302" y="280288"/>
                </a:lnTo>
                <a:lnTo>
                  <a:pt x="65457" y="248662"/>
                </a:lnTo>
                <a:close/>
              </a:path>
              <a:path w="111760" h="304800">
                <a:moveTo>
                  <a:pt x="66675" y="0"/>
                </a:moveTo>
                <a:lnTo>
                  <a:pt x="46990" y="0"/>
                </a:lnTo>
                <a:lnTo>
                  <a:pt x="45661" y="248588"/>
                </a:lnTo>
                <a:lnTo>
                  <a:pt x="55448" y="265617"/>
                </a:lnTo>
                <a:lnTo>
                  <a:pt x="65457" y="248662"/>
                </a:lnTo>
                <a:lnTo>
                  <a:pt x="66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5400" y="4439411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228600"/>
                </a:moveTo>
                <a:lnTo>
                  <a:pt x="457200" y="0"/>
                </a:lnTo>
                <a:lnTo>
                  <a:pt x="914400" y="228600"/>
                </a:lnTo>
                <a:lnTo>
                  <a:pt x="457200" y="457200"/>
                </a:lnTo>
                <a:lnTo>
                  <a:pt x="0" y="2286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51228" y="4572127"/>
            <a:ext cx="641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696363"/>
                </a:solidFill>
                <a:latin typeface="Courier New"/>
                <a:cs typeface="Courier New"/>
              </a:rPr>
              <a:t>condition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18182" y="4658867"/>
            <a:ext cx="734060" cy="394335"/>
          </a:xfrm>
          <a:custGeom>
            <a:avLst/>
            <a:gdLst/>
            <a:ahLst/>
            <a:cxnLst/>
            <a:rect l="l" t="t" r="r" b="b"/>
            <a:pathLst>
              <a:path w="734060" h="394335">
                <a:moveTo>
                  <a:pt x="633094" y="286892"/>
                </a:moveTo>
                <a:lnTo>
                  <a:pt x="623697" y="292480"/>
                </a:lnTo>
                <a:lnTo>
                  <a:pt x="622045" y="298576"/>
                </a:lnTo>
                <a:lnTo>
                  <a:pt x="624840" y="303275"/>
                </a:lnTo>
                <a:lnTo>
                  <a:pt x="677799" y="394080"/>
                </a:lnTo>
                <a:lnTo>
                  <a:pt x="689232" y="374522"/>
                </a:lnTo>
                <a:lnTo>
                  <a:pt x="667893" y="374522"/>
                </a:lnTo>
                <a:lnTo>
                  <a:pt x="667893" y="337656"/>
                </a:lnTo>
                <a:lnTo>
                  <a:pt x="641985" y="293242"/>
                </a:lnTo>
                <a:lnTo>
                  <a:pt x="639191" y="288543"/>
                </a:lnTo>
                <a:lnTo>
                  <a:pt x="633094" y="286892"/>
                </a:lnTo>
                <a:close/>
              </a:path>
              <a:path w="734060" h="394335">
                <a:moveTo>
                  <a:pt x="667893" y="337656"/>
                </a:moveTo>
                <a:lnTo>
                  <a:pt x="667893" y="374522"/>
                </a:lnTo>
                <a:lnTo>
                  <a:pt x="687705" y="374522"/>
                </a:lnTo>
                <a:lnTo>
                  <a:pt x="687705" y="369442"/>
                </a:lnTo>
                <a:lnTo>
                  <a:pt x="669290" y="369442"/>
                </a:lnTo>
                <a:lnTo>
                  <a:pt x="677862" y="354747"/>
                </a:lnTo>
                <a:lnTo>
                  <a:pt x="667893" y="337656"/>
                </a:lnTo>
                <a:close/>
              </a:path>
              <a:path w="734060" h="394335">
                <a:moveTo>
                  <a:pt x="722630" y="286892"/>
                </a:moveTo>
                <a:lnTo>
                  <a:pt x="716534" y="288543"/>
                </a:lnTo>
                <a:lnTo>
                  <a:pt x="713740" y="293242"/>
                </a:lnTo>
                <a:lnTo>
                  <a:pt x="687705" y="337874"/>
                </a:lnTo>
                <a:lnTo>
                  <a:pt x="687705" y="374522"/>
                </a:lnTo>
                <a:lnTo>
                  <a:pt x="689232" y="374522"/>
                </a:lnTo>
                <a:lnTo>
                  <a:pt x="730885" y="303275"/>
                </a:lnTo>
                <a:lnTo>
                  <a:pt x="733679" y="298576"/>
                </a:lnTo>
                <a:lnTo>
                  <a:pt x="732028" y="292480"/>
                </a:lnTo>
                <a:lnTo>
                  <a:pt x="722630" y="286892"/>
                </a:lnTo>
                <a:close/>
              </a:path>
              <a:path w="734060" h="394335">
                <a:moveTo>
                  <a:pt x="677862" y="354747"/>
                </a:moveTo>
                <a:lnTo>
                  <a:pt x="669290" y="369442"/>
                </a:lnTo>
                <a:lnTo>
                  <a:pt x="686435" y="369442"/>
                </a:lnTo>
                <a:lnTo>
                  <a:pt x="677862" y="354747"/>
                </a:lnTo>
                <a:close/>
              </a:path>
              <a:path w="734060" h="394335">
                <a:moveTo>
                  <a:pt x="687705" y="337874"/>
                </a:moveTo>
                <a:lnTo>
                  <a:pt x="677862" y="354747"/>
                </a:lnTo>
                <a:lnTo>
                  <a:pt x="686435" y="369442"/>
                </a:lnTo>
                <a:lnTo>
                  <a:pt x="687705" y="369442"/>
                </a:lnTo>
                <a:lnTo>
                  <a:pt x="687705" y="337874"/>
                </a:lnTo>
                <a:close/>
              </a:path>
              <a:path w="734060" h="394335">
                <a:moveTo>
                  <a:pt x="667893" y="9905"/>
                </a:moveTo>
                <a:lnTo>
                  <a:pt x="667893" y="337656"/>
                </a:lnTo>
                <a:lnTo>
                  <a:pt x="677862" y="354747"/>
                </a:lnTo>
                <a:lnTo>
                  <a:pt x="687705" y="337874"/>
                </a:lnTo>
                <a:lnTo>
                  <a:pt x="687705" y="19811"/>
                </a:lnTo>
                <a:lnTo>
                  <a:pt x="677799" y="19811"/>
                </a:lnTo>
                <a:lnTo>
                  <a:pt x="667893" y="9905"/>
                </a:lnTo>
                <a:close/>
              </a:path>
              <a:path w="734060" h="394335">
                <a:moveTo>
                  <a:pt x="683387" y="0"/>
                </a:moveTo>
                <a:lnTo>
                  <a:pt x="0" y="0"/>
                </a:lnTo>
                <a:lnTo>
                  <a:pt x="0" y="19811"/>
                </a:lnTo>
                <a:lnTo>
                  <a:pt x="667893" y="19811"/>
                </a:lnTo>
                <a:lnTo>
                  <a:pt x="667893" y="9905"/>
                </a:lnTo>
                <a:lnTo>
                  <a:pt x="687705" y="9905"/>
                </a:lnTo>
                <a:lnTo>
                  <a:pt x="687705" y="4444"/>
                </a:lnTo>
                <a:lnTo>
                  <a:pt x="683387" y="0"/>
                </a:lnTo>
                <a:close/>
              </a:path>
              <a:path w="734060" h="394335">
                <a:moveTo>
                  <a:pt x="687705" y="9905"/>
                </a:moveTo>
                <a:lnTo>
                  <a:pt x="667893" y="9905"/>
                </a:lnTo>
                <a:lnTo>
                  <a:pt x="677799" y="19811"/>
                </a:lnTo>
                <a:lnTo>
                  <a:pt x="687705" y="19811"/>
                </a:lnTo>
                <a:lnTo>
                  <a:pt x="687705" y="9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74748" y="4897373"/>
            <a:ext cx="111760" cy="396875"/>
          </a:xfrm>
          <a:custGeom>
            <a:avLst/>
            <a:gdLst/>
            <a:ahLst/>
            <a:cxnLst/>
            <a:rect l="l" t="t" r="r" b="b"/>
            <a:pathLst>
              <a:path w="111760" h="396875">
                <a:moveTo>
                  <a:pt x="11049" y="289687"/>
                </a:moveTo>
                <a:lnTo>
                  <a:pt x="6350" y="292481"/>
                </a:lnTo>
                <a:lnTo>
                  <a:pt x="1524" y="295275"/>
                </a:lnTo>
                <a:lnTo>
                  <a:pt x="0" y="301370"/>
                </a:lnTo>
                <a:lnTo>
                  <a:pt x="2793" y="306069"/>
                </a:lnTo>
                <a:lnTo>
                  <a:pt x="55752" y="396875"/>
                </a:lnTo>
                <a:lnTo>
                  <a:pt x="67159" y="377316"/>
                </a:lnTo>
                <a:lnTo>
                  <a:pt x="45846" y="377316"/>
                </a:lnTo>
                <a:lnTo>
                  <a:pt x="45846" y="340668"/>
                </a:lnTo>
                <a:lnTo>
                  <a:pt x="19812" y="296037"/>
                </a:lnTo>
                <a:lnTo>
                  <a:pt x="17144" y="291338"/>
                </a:lnTo>
                <a:lnTo>
                  <a:pt x="11049" y="289687"/>
                </a:lnTo>
                <a:close/>
              </a:path>
              <a:path w="111760" h="396875">
                <a:moveTo>
                  <a:pt x="45847" y="340668"/>
                </a:moveTo>
                <a:lnTo>
                  <a:pt x="45846" y="377316"/>
                </a:lnTo>
                <a:lnTo>
                  <a:pt x="65658" y="377316"/>
                </a:lnTo>
                <a:lnTo>
                  <a:pt x="65658" y="372237"/>
                </a:lnTo>
                <a:lnTo>
                  <a:pt x="47243" y="372237"/>
                </a:lnTo>
                <a:lnTo>
                  <a:pt x="55752" y="357650"/>
                </a:lnTo>
                <a:lnTo>
                  <a:pt x="45847" y="340668"/>
                </a:lnTo>
                <a:close/>
              </a:path>
              <a:path w="111760" h="396875">
                <a:moveTo>
                  <a:pt x="100456" y="289687"/>
                </a:moveTo>
                <a:lnTo>
                  <a:pt x="94361" y="291338"/>
                </a:lnTo>
                <a:lnTo>
                  <a:pt x="91693" y="296037"/>
                </a:lnTo>
                <a:lnTo>
                  <a:pt x="65658" y="340668"/>
                </a:lnTo>
                <a:lnTo>
                  <a:pt x="65658" y="377316"/>
                </a:lnTo>
                <a:lnTo>
                  <a:pt x="67159" y="377316"/>
                </a:lnTo>
                <a:lnTo>
                  <a:pt x="108712" y="306069"/>
                </a:lnTo>
                <a:lnTo>
                  <a:pt x="111506" y="301370"/>
                </a:lnTo>
                <a:lnTo>
                  <a:pt x="109981" y="295275"/>
                </a:lnTo>
                <a:lnTo>
                  <a:pt x="105156" y="292481"/>
                </a:lnTo>
                <a:lnTo>
                  <a:pt x="100456" y="289687"/>
                </a:lnTo>
                <a:close/>
              </a:path>
              <a:path w="111760" h="396875">
                <a:moveTo>
                  <a:pt x="55752" y="357650"/>
                </a:moveTo>
                <a:lnTo>
                  <a:pt x="47243" y="372237"/>
                </a:lnTo>
                <a:lnTo>
                  <a:pt x="64262" y="372237"/>
                </a:lnTo>
                <a:lnTo>
                  <a:pt x="55752" y="357650"/>
                </a:lnTo>
                <a:close/>
              </a:path>
              <a:path w="111760" h="396875">
                <a:moveTo>
                  <a:pt x="65658" y="340668"/>
                </a:moveTo>
                <a:lnTo>
                  <a:pt x="55752" y="357650"/>
                </a:lnTo>
                <a:lnTo>
                  <a:pt x="64262" y="372237"/>
                </a:lnTo>
                <a:lnTo>
                  <a:pt x="65658" y="372237"/>
                </a:lnTo>
                <a:lnTo>
                  <a:pt x="65658" y="340668"/>
                </a:lnTo>
                <a:close/>
              </a:path>
              <a:path w="111760" h="396875">
                <a:moveTo>
                  <a:pt x="65658" y="0"/>
                </a:moveTo>
                <a:lnTo>
                  <a:pt x="45846" y="0"/>
                </a:lnTo>
                <a:lnTo>
                  <a:pt x="45847" y="340668"/>
                </a:lnTo>
                <a:lnTo>
                  <a:pt x="55752" y="357650"/>
                </a:lnTo>
                <a:lnTo>
                  <a:pt x="65658" y="340668"/>
                </a:lnTo>
                <a:lnTo>
                  <a:pt x="65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5764" y="5567934"/>
            <a:ext cx="111760" cy="259079"/>
          </a:xfrm>
          <a:custGeom>
            <a:avLst/>
            <a:gdLst/>
            <a:ahLst/>
            <a:cxnLst/>
            <a:rect l="l" t="t" r="r" b="b"/>
            <a:pathLst>
              <a:path w="111760" h="259079">
                <a:moveTo>
                  <a:pt x="10922" y="151904"/>
                </a:moveTo>
                <a:lnTo>
                  <a:pt x="1524" y="157479"/>
                </a:lnTo>
                <a:lnTo>
                  <a:pt x="0" y="163563"/>
                </a:lnTo>
                <a:lnTo>
                  <a:pt x="56387" y="258813"/>
                </a:lnTo>
                <a:lnTo>
                  <a:pt x="67638" y="239204"/>
                </a:lnTo>
                <a:lnTo>
                  <a:pt x="46355" y="239204"/>
                </a:lnTo>
                <a:lnTo>
                  <a:pt x="46121" y="202610"/>
                </a:lnTo>
                <a:lnTo>
                  <a:pt x="17018" y="153466"/>
                </a:lnTo>
                <a:lnTo>
                  <a:pt x="10922" y="151904"/>
                </a:lnTo>
                <a:close/>
              </a:path>
              <a:path w="111760" h="259079">
                <a:moveTo>
                  <a:pt x="46121" y="202610"/>
                </a:moveTo>
                <a:lnTo>
                  <a:pt x="46355" y="239204"/>
                </a:lnTo>
                <a:lnTo>
                  <a:pt x="66167" y="239090"/>
                </a:lnTo>
                <a:lnTo>
                  <a:pt x="66135" y="234213"/>
                </a:lnTo>
                <a:lnTo>
                  <a:pt x="47625" y="234213"/>
                </a:lnTo>
                <a:lnTo>
                  <a:pt x="56101" y="219461"/>
                </a:lnTo>
                <a:lnTo>
                  <a:pt x="46121" y="202610"/>
                </a:lnTo>
                <a:close/>
              </a:path>
              <a:path w="111760" h="259079">
                <a:moveTo>
                  <a:pt x="100330" y="151358"/>
                </a:moveTo>
                <a:lnTo>
                  <a:pt x="94361" y="152996"/>
                </a:lnTo>
                <a:lnTo>
                  <a:pt x="91567" y="157733"/>
                </a:lnTo>
                <a:lnTo>
                  <a:pt x="65932" y="202349"/>
                </a:lnTo>
                <a:lnTo>
                  <a:pt x="66167" y="239090"/>
                </a:lnTo>
                <a:lnTo>
                  <a:pt x="46355" y="239204"/>
                </a:lnTo>
                <a:lnTo>
                  <a:pt x="67638" y="239204"/>
                </a:lnTo>
                <a:lnTo>
                  <a:pt x="108712" y="167614"/>
                </a:lnTo>
                <a:lnTo>
                  <a:pt x="111506" y="162877"/>
                </a:lnTo>
                <a:lnTo>
                  <a:pt x="109855" y="156819"/>
                </a:lnTo>
                <a:lnTo>
                  <a:pt x="105156" y="154089"/>
                </a:lnTo>
                <a:lnTo>
                  <a:pt x="100330" y="151358"/>
                </a:lnTo>
                <a:close/>
              </a:path>
              <a:path w="111760" h="259079">
                <a:moveTo>
                  <a:pt x="56101" y="219461"/>
                </a:moveTo>
                <a:lnTo>
                  <a:pt x="47625" y="234213"/>
                </a:lnTo>
                <a:lnTo>
                  <a:pt x="64770" y="234099"/>
                </a:lnTo>
                <a:lnTo>
                  <a:pt x="56101" y="219461"/>
                </a:lnTo>
                <a:close/>
              </a:path>
              <a:path w="111760" h="259079">
                <a:moveTo>
                  <a:pt x="65932" y="202349"/>
                </a:moveTo>
                <a:lnTo>
                  <a:pt x="56101" y="219461"/>
                </a:lnTo>
                <a:lnTo>
                  <a:pt x="64770" y="234099"/>
                </a:lnTo>
                <a:lnTo>
                  <a:pt x="47625" y="234213"/>
                </a:lnTo>
                <a:lnTo>
                  <a:pt x="66135" y="234213"/>
                </a:lnTo>
                <a:lnTo>
                  <a:pt x="65932" y="202349"/>
                </a:lnTo>
                <a:close/>
              </a:path>
              <a:path w="111760" h="259079">
                <a:moveTo>
                  <a:pt x="64643" y="0"/>
                </a:moveTo>
                <a:lnTo>
                  <a:pt x="44831" y="0"/>
                </a:lnTo>
                <a:lnTo>
                  <a:pt x="46121" y="202610"/>
                </a:lnTo>
                <a:lnTo>
                  <a:pt x="56101" y="219461"/>
                </a:lnTo>
                <a:lnTo>
                  <a:pt x="65932" y="202349"/>
                </a:lnTo>
                <a:lnTo>
                  <a:pt x="64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14627" y="5277611"/>
            <a:ext cx="1371600" cy="274320"/>
          </a:xfrm>
          <a:custGeom>
            <a:avLst/>
            <a:gdLst/>
            <a:ahLst/>
            <a:cxnLst/>
            <a:rect l="l" t="t" r="r" b="b"/>
            <a:pathLst>
              <a:path w="1371600" h="274320">
                <a:moveTo>
                  <a:pt x="0" y="274319"/>
                </a:moveTo>
                <a:lnTo>
                  <a:pt x="1371599" y="274319"/>
                </a:lnTo>
                <a:lnTo>
                  <a:pt x="1371599" y="0"/>
                </a:lnTo>
                <a:lnTo>
                  <a:pt x="0" y="0"/>
                </a:lnTo>
                <a:lnTo>
                  <a:pt x="0" y="2743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14627" y="5277611"/>
            <a:ext cx="1371600" cy="27432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43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default</a:t>
            </a:r>
            <a:r>
              <a:rPr sz="900" b="1" spc="-2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696363"/>
                </a:solidFill>
                <a:latin typeface="Courier New"/>
                <a:cs typeface="Courier New"/>
              </a:rPr>
              <a:t>action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7432" y="6093967"/>
            <a:ext cx="3133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20" dirty="0">
                <a:latin typeface="Perpetua"/>
                <a:cs typeface="Perpetua"/>
              </a:rPr>
              <a:t>Flow </a:t>
            </a:r>
            <a:r>
              <a:rPr sz="2000" dirty="0">
                <a:latin typeface="Perpetua"/>
                <a:cs typeface="Perpetua"/>
              </a:rPr>
              <a:t>Structure - One</a:t>
            </a:r>
            <a:r>
              <a:rPr sz="2000" spc="-350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26763" y="5407863"/>
            <a:ext cx="2590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Selection </a:t>
            </a:r>
            <a:r>
              <a:rPr sz="2000" dirty="0">
                <a:latin typeface="Perpetua"/>
                <a:cs typeface="Perpetua"/>
              </a:rPr>
              <a:t>- One</a:t>
            </a:r>
            <a:r>
              <a:rPr sz="2000" spc="-375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91000" y="3733800"/>
            <a:ext cx="2667000" cy="1600200"/>
          </a:xfrm>
          <a:prstGeom prst="rect">
            <a:avLst/>
          </a:prstGeom>
          <a:solidFill>
            <a:srgbClr val="F1F1F1"/>
          </a:solidFill>
          <a:ln w="12192">
            <a:solidFill>
              <a:srgbClr val="9B310D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sz="1800" dirty="0">
                <a:latin typeface="Perpetua"/>
                <a:cs typeface="Perpetua"/>
              </a:rPr>
              <a:t>If </a:t>
            </a:r>
            <a:r>
              <a:rPr sz="1800" spc="-5" dirty="0">
                <a:latin typeface="Perpetua"/>
                <a:cs typeface="Perpetua"/>
              </a:rPr>
              <a:t>CONDITION</a:t>
            </a:r>
            <a:r>
              <a:rPr sz="1800" spc="36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  <a:p>
            <a:pPr marL="508000">
              <a:lnSpc>
                <a:spcPct val="100000"/>
              </a:lnSpc>
            </a:pPr>
            <a:r>
              <a:rPr sz="1800" spc="-20" dirty="0">
                <a:latin typeface="Perpetua"/>
                <a:cs typeface="Perpetua"/>
              </a:rPr>
              <a:t>ACTIONS</a:t>
            </a:r>
            <a:endParaRPr sz="1800">
              <a:latin typeface="Perpetua"/>
              <a:cs typeface="Perpetua"/>
            </a:endParaRPr>
          </a:p>
          <a:p>
            <a:pPr marL="3206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Perpetua"/>
                <a:cs typeface="Perpetua"/>
              </a:rPr>
              <a:t>endif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48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80" dirty="0">
                <a:latin typeface="Perpetua"/>
                <a:cs typeface="Perpetua"/>
              </a:rPr>
              <a:t>One-Way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4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8249"/>
            <a:ext cx="8510905" cy="21424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statement…</a:t>
            </a:r>
            <a:endParaRPr sz="2600">
              <a:latin typeface="Perpetua"/>
              <a:cs typeface="Perpetua"/>
            </a:endParaRPr>
          </a:p>
          <a:p>
            <a:pPr marL="2756535" marR="3495040" indent="-915035">
              <a:lnSpc>
                <a:spcPct val="109200"/>
              </a:lnSpc>
              <a:spcBef>
                <a:spcPts val="5"/>
              </a:spcBef>
              <a:tabLst>
                <a:tab pos="4543425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10" dirty="0">
                <a:latin typeface="Perpetua"/>
                <a:cs typeface="Perpetua"/>
              </a:rPr>
              <a:t>(</a:t>
            </a:r>
            <a:r>
              <a:rPr sz="2600" i="1" dirty="0">
                <a:latin typeface="Perpetua"/>
                <a:cs typeface="Perpetua"/>
              </a:rPr>
              <a:t>I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h</a:t>
            </a:r>
            <a:r>
              <a:rPr sz="2600" i="1" spc="-80" dirty="0">
                <a:latin typeface="Perpetua"/>
                <a:cs typeface="Perpetua"/>
              </a:rPr>
              <a:t>a</a:t>
            </a:r>
            <a:r>
              <a:rPr sz="2600" i="1" spc="-45" dirty="0">
                <a:latin typeface="Perpetua"/>
                <a:cs typeface="Perpetua"/>
              </a:rPr>
              <a:t>v</a:t>
            </a:r>
            <a:r>
              <a:rPr sz="2600" i="1" dirty="0">
                <a:latin typeface="Perpetua"/>
                <a:cs typeface="Perpetua"/>
              </a:rPr>
              <a:t>e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fis</a:t>
            </a:r>
            <a:r>
              <a:rPr sz="2600" i="1" spc="-15" dirty="0">
                <a:latin typeface="Perpetua"/>
                <a:cs typeface="Perpetua"/>
              </a:rPr>
              <a:t>h</a:t>
            </a:r>
            <a:r>
              <a:rPr sz="2600" i="1" spc="-5" dirty="0">
                <a:latin typeface="Perpetua"/>
                <a:cs typeface="Perpetua"/>
              </a:rPr>
              <a:t>in</a:t>
            </a:r>
            <a:r>
              <a:rPr sz="2600" i="1" dirty="0">
                <a:latin typeface="Perpetua"/>
                <a:cs typeface="Perpetua"/>
              </a:rPr>
              <a:t>g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pole)	t</a:t>
            </a:r>
            <a:r>
              <a:rPr sz="2600" i="1" spc="-15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en  I am </a:t>
            </a:r>
            <a:r>
              <a:rPr sz="2600" i="1" spc="-15" dirty="0">
                <a:latin typeface="Perpetua"/>
                <a:cs typeface="Perpetua"/>
              </a:rPr>
              <a:t>going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fishing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ts val="2880"/>
              </a:lnSpc>
              <a:spcBef>
                <a:spcPts val="73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Perpetua"/>
                <a:cs typeface="Perpetua"/>
              </a:rPr>
              <a:t>Figure: </a:t>
            </a:r>
            <a:r>
              <a:rPr sz="2800" spc="-5" dirty="0">
                <a:latin typeface="Perpetua"/>
                <a:cs typeface="Perpetua"/>
              </a:rPr>
              <a:t>An example </a:t>
            </a:r>
            <a:r>
              <a:rPr sz="2800" dirty="0">
                <a:latin typeface="Perpetua"/>
                <a:cs typeface="Perpetua"/>
              </a:rPr>
              <a:t>for </a:t>
            </a:r>
            <a:r>
              <a:rPr sz="2800" spc="-5" dirty="0">
                <a:latin typeface="Perpetua"/>
                <a:cs typeface="Perpetua"/>
              </a:rPr>
              <a:t>One </a:t>
            </a:r>
            <a:r>
              <a:rPr sz="2800" spc="-95" dirty="0">
                <a:latin typeface="Perpetua"/>
                <a:cs typeface="Perpetua"/>
              </a:rPr>
              <a:t>-Way </a:t>
            </a:r>
            <a:r>
              <a:rPr sz="2800" dirty="0">
                <a:latin typeface="Perpetua"/>
                <a:cs typeface="Perpetua"/>
              </a:rPr>
              <a:t>selection </a:t>
            </a:r>
            <a:r>
              <a:rPr sz="2600" spc="-5" dirty="0">
                <a:latin typeface="Perpetua"/>
                <a:cs typeface="Perpetua"/>
              </a:rPr>
              <a:t>illustrates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One-Way  </a:t>
            </a:r>
            <a:r>
              <a:rPr sz="2600" dirty="0">
                <a:latin typeface="Perpetua"/>
                <a:cs typeface="Perpetua"/>
              </a:rPr>
              <a:t>selection for the </a:t>
            </a:r>
            <a:r>
              <a:rPr sz="2600" spc="-30" dirty="0">
                <a:latin typeface="Perpetua"/>
                <a:cs typeface="Perpetua"/>
              </a:rPr>
              <a:t>above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statement.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5000" y="3733800"/>
            <a:ext cx="3791712" cy="2211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24600" y="457200"/>
            <a:ext cx="2142744" cy="2142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64182" y="5865367"/>
            <a:ext cx="39693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An example for </a:t>
            </a:r>
            <a:r>
              <a:rPr sz="2000" dirty="0">
                <a:latin typeface="Perpetua"/>
                <a:cs typeface="Perpetua"/>
              </a:rPr>
              <a:t>One-</a:t>
            </a:r>
            <a:r>
              <a:rPr sz="2000" spc="-375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 </a:t>
            </a:r>
            <a:r>
              <a:rPr sz="2000" spc="-5" dirty="0">
                <a:latin typeface="Perpetua"/>
                <a:cs typeface="Perpetua"/>
              </a:rPr>
              <a:t>selection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94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80" dirty="0">
                <a:latin typeface="Perpetua"/>
                <a:cs typeface="Perpetua"/>
              </a:rPr>
              <a:t>One-Way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3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07148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Given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specifications </a:t>
            </a:r>
            <a:r>
              <a:rPr sz="2600" dirty="0">
                <a:latin typeface="Perpetua"/>
                <a:cs typeface="Perpetua"/>
              </a:rPr>
              <a:t>of an </a:t>
            </a:r>
            <a:r>
              <a:rPr sz="2600" i="1" dirty="0">
                <a:latin typeface="Perpetua"/>
                <a:cs typeface="Perpetua"/>
              </a:rPr>
              <a:t>Order System </a:t>
            </a:r>
            <a:r>
              <a:rPr sz="2600" spc="-5" dirty="0">
                <a:latin typeface="Perpetua"/>
                <a:cs typeface="Perpetua"/>
              </a:rPr>
              <a:t>(Figure: </a:t>
            </a:r>
            <a:r>
              <a:rPr sz="2600" dirty="0">
                <a:latin typeface="Perpetua"/>
                <a:cs typeface="Perpetua"/>
              </a:rPr>
              <a:t>Order</a:t>
            </a:r>
            <a:r>
              <a:rPr sz="2600" spc="-1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system)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2209800"/>
            <a:ext cx="4191000" cy="1828800"/>
          </a:xfrm>
          <a:custGeom>
            <a:avLst/>
            <a:gdLst/>
            <a:ahLst/>
            <a:cxnLst/>
            <a:rect l="l" t="t" r="r" b="b"/>
            <a:pathLst>
              <a:path w="4191000" h="1828800">
                <a:moveTo>
                  <a:pt x="0" y="1828800"/>
                </a:moveTo>
                <a:lnTo>
                  <a:pt x="4191000" y="1828800"/>
                </a:lnTo>
                <a:lnTo>
                  <a:pt x="41910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2209800"/>
            <a:ext cx="4191000" cy="1828800"/>
          </a:xfrm>
          <a:custGeom>
            <a:avLst/>
            <a:gdLst/>
            <a:ahLst/>
            <a:cxnLst/>
            <a:rect l="l" t="t" r="r" b="b"/>
            <a:pathLst>
              <a:path w="4191000" h="1828800">
                <a:moveTo>
                  <a:pt x="0" y="1828800"/>
                </a:moveTo>
                <a:lnTo>
                  <a:pt x="4191000" y="1828800"/>
                </a:lnTo>
                <a:lnTo>
                  <a:pt x="41910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10990" y="2440051"/>
            <a:ext cx="1666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622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S</a:t>
            </a:r>
            <a:r>
              <a:rPr sz="1800" spc="5" dirty="0">
                <a:latin typeface="Perpetua"/>
                <a:cs typeface="Perpetua"/>
              </a:rPr>
              <a:t>h</a:t>
            </a:r>
            <a:r>
              <a:rPr sz="1800" dirty="0">
                <a:latin typeface="Perpetua"/>
                <a:cs typeface="Perpetua"/>
              </a:rPr>
              <a:t>o</a:t>
            </a:r>
            <a:r>
              <a:rPr sz="1800" spc="5" dirty="0">
                <a:latin typeface="Perpetua"/>
                <a:cs typeface="Perpetua"/>
              </a:rPr>
              <a:t>p</a:t>
            </a:r>
            <a:r>
              <a:rPr sz="1800" dirty="0">
                <a:latin typeface="Perpetua"/>
                <a:cs typeface="Perpetua"/>
              </a:rPr>
              <a:t>ingCa</a:t>
            </a:r>
            <a:r>
              <a:rPr sz="1800" spc="65" dirty="0">
                <a:latin typeface="Perpetua"/>
                <a:cs typeface="Perpetua"/>
              </a:rPr>
              <a:t>r</a:t>
            </a:r>
            <a:r>
              <a:rPr sz="1800" dirty="0">
                <a:latin typeface="Perpetua"/>
                <a:cs typeface="Perpetua"/>
              </a:rPr>
              <a:t>t</a:t>
            </a:r>
            <a:r>
              <a:rPr sz="1800" spc="-235" dirty="0">
                <a:latin typeface="Perpetua"/>
                <a:cs typeface="Perpetua"/>
              </a:rPr>
              <a:t>T</a:t>
            </a:r>
            <a:r>
              <a:rPr sz="1800" dirty="0">
                <a:latin typeface="Perpetua"/>
                <a:cs typeface="Perpetua"/>
              </a:rPr>
              <a:t>ot</a:t>
            </a:r>
            <a:r>
              <a:rPr sz="1800" spc="-5" dirty="0">
                <a:latin typeface="Perpetua"/>
                <a:cs typeface="Perpetua"/>
              </a:rPr>
              <a:t>a</a:t>
            </a:r>
            <a:r>
              <a:rPr sz="1800" spc="10" dirty="0">
                <a:latin typeface="Perpetua"/>
                <a:cs typeface="Perpetua"/>
              </a:rPr>
              <a:t>l</a:t>
            </a:r>
            <a:r>
              <a:rPr sz="1800" dirty="0">
                <a:latin typeface="Perpetua"/>
                <a:cs typeface="Perpetua"/>
              </a:rPr>
              <a:t>()  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5694" y="2440051"/>
            <a:ext cx="254762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sz="1800" spc="-5" dirty="0">
                <a:latin typeface="Perpetua"/>
                <a:cs typeface="Perpetua"/>
              </a:rPr>
              <a:t>OrderAmount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spc="-5" dirty="0">
                <a:latin typeface="Perpetua"/>
                <a:cs typeface="Perpetua"/>
              </a:rPr>
              <a:t>ShippingCost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If </a:t>
            </a:r>
            <a:r>
              <a:rPr sz="1800" spc="-5" dirty="0">
                <a:latin typeface="Perpetua"/>
                <a:cs typeface="Perpetua"/>
              </a:rPr>
              <a:t>orderAmount </a:t>
            </a:r>
            <a:r>
              <a:rPr sz="1800" dirty="0">
                <a:latin typeface="Perpetua"/>
                <a:cs typeface="Perpetua"/>
              </a:rPr>
              <a:t>&lt; 40</a:t>
            </a:r>
            <a:r>
              <a:rPr sz="1800" spc="-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  <a:tab pos="1894205" algn="l"/>
              </a:tabLst>
            </a:pPr>
            <a:r>
              <a:rPr sz="1800" spc="-5" dirty="0">
                <a:latin typeface="Perpetua"/>
                <a:cs typeface="Perpetua"/>
              </a:rPr>
              <a:t>ShippingCost	</a:t>
            </a:r>
            <a:r>
              <a:rPr sz="1800" dirty="0">
                <a:latin typeface="Perpetua"/>
                <a:cs typeface="Perpetua"/>
              </a:rPr>
              <a:t>10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endif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24200" y="2857754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64185" h="76200">
                <a:moveTo>
                  <a:pt x="76221" y="31790"/>
                </a:moveTo>
                <a:lnTo>
                  <a:pt x="76178" y="44490"/>
                </a:lnTo>
                <a:lnTo>
                  <a:pt x="463803" y="45720"/>
                </a:lnTo>
                <a:lnTo>
                  <a:pt x="463803" y="33020"/>
                </a:lnTo>
                <a:lnTo>
                  <a:pt x="76221" y="31790"/>
                </a:lnTo>
                <a:close/>
              </a:path>
              <a:path w="464185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0"/>
                </a:lnTo>
                <a:lnTo>
                  <a:pt x="63500" y="31750"/>
                </a:lnTo>
                <a:close/>
              </a:path>
              <a:path w="464185" h="76200">
                <a:moveTo>
                  <a:pt x="76221" y="31750"/>
                </a:moveTo>
                <a:lnTo>
                  <a:pt x="63500" y="31750"/>
                </a:lnTo>
                <a:lnTo>
                  <a:pt x="76221" y="3179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0400" y="2629154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64185" h="76200">
                <a:moveTo>
                  <a:pt x="76221" y="31790"/>
                </a:moveTo>
                <a:lnTo>
                  <a:pt x="76178" y="44490"/>
                </a:lnTo>
                <a:lnTo>
                  <a:pt x="463803" y="45720"/>
                </a:lnTo>
                <a:lnTo>
                  <a:pt x="463803" y="33020"/>
                </a:lnTo>
                <a:lnTo>
                  <a:pt x="76221" y="31790"/>
                </a:lnTo>
                <a:close/>
              </a:path>
              <a:path w="464185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0"/>
                </a:lnTo>
                <a:lnTo>
                  <a:pt x="63500" y="31750"/>
                </a:lnTo>
                <a:close/>
              </a:path>
              <a:path w="464185" h="76200">
                <a:moveTo>
                  <a:pt x="76221" y="31750"/>
                </a:moveTo>
                <a:lnTo>
                  <a:pt x="63500" y="31750"/>
                </a:lnTo>
                <a:lnTo>
                  <a:pt x="76221" y="3179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8000" y="3389629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64185" h="76200">
                <a:moveTo>
                  <a:pt x="76221" y="31790"/>
                </a:moveTo>
                <a:lnTo>
                  <a:pt x="76178" y="44490"/>
                </a:lnTo>
                <a:lnTo>
                  <a:pt x="463803" y="45720"/>
                </a:lnTo>
                <a:lnTo>
                  <a:pt x="463803" y="33020"/>
                </a:lnTo>
                <a:lnTo>
                  <a:pt x="76221" y="31790"/>
                </a:lnTo>
                <a:close/>
              </a:path>
              <a:path w="464185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0"/>
                </a:lnTo>
                <a:lnTo>
                  <a:pt x="63500" y="31750"/>
                </a:lnTo>
                <a:close/>
              </a:path>
              <a:path w="464185" h="76200">
                <a:moveTo>
                  <a:pt x="76221" y="31750"/>
                </a:moveTo>
                <a:lnTo>
                  <a:pt x="63500" y="31750"/>
                </a:lnTo>
                <a:lnTo>
                  <a:pt x="76221" y="3179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21382" y="4112133"/>
            <a:ext cx="20237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Order</a:t>
            </a:r>
            <a:r>
              <a:rPr sz="2000" spc="-114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System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5994" y="5325567"/>
            <a:ext cx="59556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  <a:tab pos="1198880" algn="l"/>
              </a:tabLst>
            </a:pPr>
            <a:r>
              <a:rPr sz="2400" i="1" spc="-5" dirty="0">
                <a:latin typeface="Perpetua"/>
                <a:cs typeface="Perpetua"/>
              </a:rPr>
              <a:t>Can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you	</a:t>
            </a:r>
            <a:r>
              <a:rPr sz="2400" i="1" spc="-5" dirty="0">
                <a:latin typeface="Perpetua"/>
                <a:cs typeface="Perpetua"/>
              </a:rPr>
              <a:t>identify </a:t>
            </a:r>
            <a:r>
              <a:rPr sz="2400" i="1" dirty="0">
                <a:latin typeface="Perpetua"/>
                <a:cs typeface="Perpetua"/>
              </a:rPr>
              <a:t>the type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selection </a:t>
            </a:r>
            <a:r>
              <a:rPr sz="2400" i="1" spc="-5" dirty="0">
                <a:latin typeface="Perpetua"/>
                <a:cs typeface="Perpetua"/>
              </a:rPr>
              <a:t>statement </a:t>
            </a:r>
            <a:r>
              <a:rPr sz="2400" i="1" dirty="0">
                <a:latin typeface="Perpetua"/>
                <a:cs typeface="Perpetua"/>
              </a:rPr>
              <a:t>needed</a:t>
            </a:r>
            <a:r>
              <a:rPr sz="2400" i="1" spc="-10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to  </a:t>
            </a:r>
            <a:r>
              <a:rPr sz="2400" i="1" spc="-5" dirty="0">
                <a:latin typeface="Perpetua"/>
                <a:cs typeface="Perpetua"/>
              </a:rPr>
              <a:t>model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it?</a:t>
            </a:r>
            <a:endParaRPr sz="24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represent </a:t>
            </a:r>
            <a:r>
              <a:rPr sz="2400" i="1" dirty="0">
                <a:latin typeface="Perpetua"/>
                <a:cs typeface="Perpetua"/>
              </a:rPr>
              <a:t>these </a:t>
            </a:r>
            <a:r>
              <a:rPr sz="2400" i="1" spc="-5" dirty="0">
                <a:latin typeface="Perpetua"/>
                <a:cs typeface="Perpetua"/>
              </a:rPr>
              <a:t>computational states as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flowchart?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810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A </a:t>
            </a:r>
            <a:r>
              <a:rPr b="0" spc="10" dirty="0">
                <a:latin typeface="Perpetua"/>
                <a:cs typeface="Perpetua"/>
              </a:rPr>
              <a:t>flowchart </a:t>
            </a:r>
            <a:r>
              <a:rPr b="0" spc="-5" dirty="0">
                <a:latin typeface="Perpetua"/>
                <a:cs typeface="Perpetua"/>
              </a:rPr>
              <a:t>for the </a:t>
            </a:r>
            <a:r>
              <a:rPr b="0" i="1" spc="-5" dirty="0">
                <a:latin typeface="Perpetua"/>
                <a:cs typeface="Perpetua"/>
              </a:rPr>
              <a:t>Order</a:t>
            </a:r>
            <a:r>
              <a:rPr b="0" i="1" spc="-40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1219200" y="1219200"/>
            <a:ext cx="5105400" cy="4506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4182" y="5712358"/>
            <a:ext cx="32651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 </a:t>
            </a:r>
            <a:r>
              <a:rPr sz="2000" spc="-15" dirty="0">
                <a:latin typeface="Perpetua"/>
                <a:cs typeface="Perpetua"/>
              </a:rPr>
              <a:t>:Flow </a:t>
            </a:r>
            <a:r>
              <a:rPr sz="2000" spc="20" dirty="0">
                <a:latin typeface="Perpetua"/>
                <a:cs typeface="Perpetua"/>
              </a:rPr>
              <a:t>chart </a:t>
            </a:r>
            <a:r>
              <a:rPr sz="2000" dirty="0">
                <a:latin typeface="Perpetua"/>
                <a:cs typeface="Perpetua"/>
              </a:rPr>
              <a:t>– </a:t>
            </a:r>
            <a:r>
              <a:rPr sz="2000" spc="-5" dirty="0">
                <a:latin typeface="Perpetua"/>
                <a:cs typeface="Perpetua"/>
              </a:rPr>
              <a:t>Order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System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1125981"/>
            <a:ext cx="8108315" cy="344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"/>
              <a:tabLst>
                <a:tab pos="287020" algn="l"/>
              </a:tabLst>
            </a:pPr>
            <a:r>
              <a:rPr sz="2800" i="1" spc="-5" dirty="0">
                <a:latin typeface="Perpetua"/>
                <a:cs typeface="Perpetua"/>
              </a:rPr>
              <a:t>Model the </a:t>
            </a:r>
            <a:r>
              <a:rPr sz="2800" i="1" spc="-15" dirty="0">
                <a:latin typeface="Perpetua"/>
                <a:cs typeface="Perpetua"/>
              </a:rPr>
              <a:t>following </a:t>
            </a:r>
            <a:r>
              <a:rPr sz="2800" i="1" spc="-5" dirty="0">
                <a:latin typeface="Perpetua"/>
                <a:cs typeface="Perpetua"/>
              </a:rPr>
              <a:t>using </a:t>
            </a:r>
            <a:r>
              <a:rPr sz="2800" i="1" spc="-30" dirty="0">
                <a:latin typeface="Perpetua"/>
                <a:cs typeface="Perpetua"/>
              </a:rPr>
              <a:t>one-way </a:t>
            </a:r>
            <a:r>
              <a:rPr sz="2800" i="1" spc="-5" dirty="0">
                <a:latin typeface="Perpetua"/>
                <a:cs typeface="Perpetua"/>
              </a:rPr>
              <a:t>selection</a:t>
            </a:r>
            <a:r>
              <a:rPr sz="2800" i="1" spc="9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structure: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3450">
              <a:latin typeface="Times New Roman"/>
              <a:cs typeface="Times New Roman"/>
            </a:endParaRPr>
          </a:p>
          <a:p>
            <a:pPr marL="561340" marR="5080" lvl="1" indent="-229235">
              <a:lnSpc>
                <a:spcPct val="150000"/>
              </a:lnSpc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spc="-5" dirty="0">
                <a:latin typeface="Perpetua"/>
                <a:cs typeface="Perpetua"/>
              </a:rPr>
              <a:t>England </a:t>
            </a:r>
            <a:r>
              <a:rPr sz="2600" i="1" dirty="0">
                <a:latin typeface="Perpetua"/>
                <a:cs typeface="Perpetua"/>
              </a:rPr>
              <a:t>will </a:t>
            </a:r>
            <a:r>
              <a:rPr sz="2600" i="1" spc="-5" dirty="0">
                <a:latin typeface="Perpetua"/>
                <a:cs typeface="Perpetua"/>
              </a:rPr>
              <a:t>qualify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quarter-finals with </a:t>
            </a:r>
            <a:r>
              <a:rPr sz="2600" i="1" spc="-15" dirty="0">
                <a:latin typeface="Perpetua"/>
                <a:cs typeface="Perpetua"/>
              </a:rPr>
              <a:t>Portugal </a:t>
            </a:r>
            <a:r>
              <a:rPr sz="2600" i="1" spc="-5" dirty="0">
                <a:latin typeface="Perpetua"/>
                <a:cs typeface="Perpetua"/>
              </a:rPr>
              <a:t>if they </a:t>
            </a:r>
            <a:r>
              <a:rPr sz="2600" i="1" dirty="0">
                <a:latin typeface="Perpetua"/>
                <a:cs typeface="Perpetua"/>
              </a:rPr>
              <a:t>win </a:t>
            </a:r>
            <a:r>
              <a:rPr sz="2600" i="1" spc="-5" dirty="0">
                <a:latin typeface="Perpetua"/>
                <a:cs typeface="Perpetua"/>
              </a:rPr>
              <a:t>or  </a:t>
            </a:r>
            <a:r>
              <a:rPr sz="2600" i="1" spc="-30" dirty="0">
                <a:latin typeface="Perpetua"/>
                <a:cs typeface="Perpetua"/>
              </a:rPr>
              <a:t>draw </a:t>
            </a:r>
            <a:r>
              <a:rPr sz="2600" i="1" dirty="0">
                <a:latin typeface="Perpetua"/>
                <a:cs typeface="Perpetua"/>
              </a:rPr>
              <a:t>with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Romania.</a:t>
            </a:r>
            <a:endParaRPr sz="2600">
              <a:latin typeface="Perpetua"/>
              <a:cs typeface="Perpetua"/>
            </a:endParaRPr>
          </a:p>
          <a:p>
            <a:pPr marL="561340" lvl="1" indent="-229870">
              <a:lnSpc>
                <a:spcPct val="100000"/>
              </a:lnSpc>
              <a:spcBef>
                <a:spcPts val="1955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5" dirty="0">
                <a:latin typeface="Perpetua"/>
                <a:cs typeface="Perpetua"/>
              </a:rPr>
              <a:t>the shop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5" dirty="0">
                <a:latin typeface="Perpetua"/>
                <a:cs typeface="Perpetua"/>
              </a:rPr>
              <a:t>Croissants </a:t>
            </a:r>
            <a:r>
              <a:rPr sz="2600" i="1" spc="-10" dirty="0">
                <a:latin typeface="Perpetua"/>
                <a:cs typeface="Perpetua"/>
              </a:rPr>
              <a:t>buy </a:t>
            </a:r>
            <a:r>
              <a:rPr sz="2600" i="1" spc="-5" dirty="0">
                <a:latin typeface="Perpetua"/>
                <a:cs typeface="Perpetua"/>
              </a:rPr>
              <a:t>croissants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25" dirty="0">
                <a:latin typeface="Perpetua"/>
                <a:cs typeface="Perpetua"/>
              </a:rPr>
              <a:t>leave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shop.</a:t>
            </a:r>
            <a:endParaRPr sz="2600">
              <a:latin typeface="Perpetua"/>
              <a:cs typeface="Perpetua"/>
            </a:endParaRPr>
          </a:p>
          <a:p>
            <a:pPr marL="561340" lvl="1" indent="-229870">
              <a:lnSpc>
                <a:spcPct val="100000"/>
              </a:lnSpc>
              <a:spcBef>
                <a:spcPts val="1970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like salty </a:t>
            </a:r>
            <a:r>
              <a:rPr sz="2600" i="1" spc="-15" dirty="0">
                <a:latin typeface="Perpetua"/>
                <a:cs typeface="Perpetua"/>
              </a:rPr>
              <a:t>food </a:t>
            </a:r>
            <a:r>
              <a:rPr sz="2600" i="1" spc="-5" dirty="0">
                <a:latin typeface="Perpetua"/>
                <a:cs typeface="Perpetua"/>
              </a:rPr>
              <a:t>then </a:t>
            </a:r>
            <a:r>
              <a:rPr sz="2600" i="1" dirty="0">
                <a:latin typeface="Perpetua"/>
                <a:cs typeface="Perpetua"/>
              </a:rPr>
              <a:t>add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amount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salt </a:t>
            </a:r>
            <a:r>
              <a:rPr sz="2600" i="1" spc="-15" dirty="0">
                <a:latin typeface="Perpetua"/>
                <a:cs typeface="Perpetua"/>
              </a:rPr>
              <a:t>you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prefer.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506677"/>
            <a:ext cx="5856605" cy="3867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sz="2800" spc="-5" dirty="0">
                <a:latin typeface="Perpetua"/>
                <a:cs typeface="Perpetua"/>
              </a:rPr>
              <a:t>England </a:t>
            </a:r>
            <a:r>
              <a:rPr sz="2800" spc="-15" dirty="0">
                <a:latin typeface="Perpetua"/>
                <a:cs typeface="Perpetua"/>
              </a:rPr>
              <a:t>wins/draws </a:t>
            </a:r>
            <a:r>
              <a:rPr sz="2800" spc="-5" dirty="0">
                <a:latin typeface="Perpetua"/>
                <a:cs typeface="Perpetua"/>
              </a:rPr>
              <a:t>with Romania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then  </a:t>
            </a:r>
            <a:r>
              <a:rPr sz="2800" spc="-15" dirty="0">
                <a:latin typeface="Perpetua"/>
                <a:cs typeface="Perpetua"/>
              </a:rPr>
              <a:t>They </a:t>
            </a:r>
            <a:r>
              <a:rPr sz="2800" spc="-5" dirty="0">
                <a:latin typeface="Perpetua"/>
                <a:cs typeface="Perpetua"/>
              </a:rPr>
              <a:t>will qualify for the </a:t>
            </a:r>
            <a:r>
              <a:rPr sz="2800" dirty="0">
                <a:latin typeface="Perpetua"/>
                <a:cs typeface="Perpetua"/>
              </a:rPr>
              <a:t>quarter-finals </a:t>
            </a:r>
            <a:r>
              <a:rPr sz="2800" spc="-5" dirty="0">
                <a:latin typeface="Perpetua"/>
                <a:cs typeface="Perpetua"/>
              </a:rPr>
              <a:t>with  Portugal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250190" marR="1981835" indent="-238125">
              <a:lnSpc>
                <a:spcPct val="100000"/>
              </a:lnSpc>
            </a:pP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sz="2800" spc="-5" dirty="0">
                <a:latin typeface="Perpetua"/>
                <a:cs typeface="Perpetua"/>
              </a:rPr>
              <a:t>the shop has Croissants</a:t>
            </a:r>
            <a:r>
              <a:rPr sz="2800" spc="-50" dirty="0"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then  </a:t>
            </a:r>
            <a:r>
              <a:rPr sz="2800" spc="-15" dirty="0">
                <a:latin typeface="Perpetua"/>
                <a:cs typeface="Perpetua"/>
              </a:rPr>
              <a:t>buy</a:t>
            </a:r>
            <a:r>
              <a:rPr sz="2800" spc="-10" dirty="0">
                <a:latin typeface="Perpetua"/>
                <a:cs typeface="Perpetua"/>
              </a:rPr>
              <a:t> Croissants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sz="2800" spc="-25" dirty="0">
                <a:latin typeface="Perpetua"/>
                <a:cs typeface="Perpetua"/>
              </a:rPr>
              <a:t>you </a:t>
            </a:r>
            <a:r>
              <a:rPr sz="2800" spc="-20" dirty="0">
                <a:latin typeface="Perpetua"/>
                <a:cs typeface="Perpetua"/>
              </a:rPr>
              <a:t>like </a:t>
            </a:r>
            <a:r>
              <a:rPr sz="2800" spc="-5" dirty="0">
                <a:latin typeface="Perpetua"/>
                <a:cs typeface="Perpetua"/>
              </a:rPr>
              <a:t>salty food</a:t>
            </a:r>
            <a:r>
              <a:rPr sz="2800" spc="50" dirty="0">
                <a:latin typeface="Perpetua"/>
                <a:cs typeface="Perpetu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then</a:t>
            </a:r>
            <a:endParaRPr sz="2800">
              <a:latin typeface="Perpetua"/>
              <a:cs typeface="Perpetua"/>
            </a:endParaRPr>
          </a:p>
          <a:p>
            <a:pPr marL="250190">
              <a:lnSpc>
                <a:spcPct val="100000"/>
              </a:lnSpc>
            </a:pPr>
            <a:r>
              <a:rPr sz="2800" spc="-5" dirty="0">
                <a:latin typeface="Perpetua"/>
                <a:cs typeface="Perpetua"/>
              </a:rPr>
              <a:t>add the amount of salt </a:t>
            </a:r>
            <a:r>
              <a:rPr sz="2800" spc="-25" dirty="0">
                <a:latin typeface="Perpetua"/>
                <a:cs typeface="Perpetua"/>
              </a:rPr>
              <a:t>you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prefer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571246"/>
            <a:ext cx="140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45" dirty="0">
                <a:latin typeface="Perpetua"/>
                <a:cs typeface="Perpetua"/>
              </a:rPr>
              <a:t>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50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60" dirty="0">
                <a:latin typeface="Perpetua"/>
                <a:cs typeface="Perpetua"/>
              </a:rPr>
              <a:t>Two-Way</a:t>
            </a:r>
            <a:r>
              <a:rPr b="0" spc="-60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4787646"/>
            <a:ext cx="64890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identify the number of selection choices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available?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9200" y="1524000"/>
            <a:ext cx="5334000" cy="3113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26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60" dirty="0">
                <a:latin typeface="Perpetua"/>
                <a:cs typeface="Perpetua"/>
              </a:rPr>
              <a:t>Two-Way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130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1500"/>
            <a:ext cx="8543925" cy="2450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b="1" i="1" spc="-5" dirty="0">
                <a:latin typeface="Perpetua"/>
                <a:cs typeface="Perpetua"/>
              </a:rPr>
              <a:t>if/else </a:t>
            </a:r>
            <a:r>
              <a:rPr sz="2400" dirty="0">
                <a:latin typeface="Perpetua"/>
                <a:cs typeface="Perpetua"/>
              </a:rPr>
              <a:t>structure is a </a:t>
            </a:r>
            <a:r>
              <a:rPr sz="2400" spc="-35" dirty="0">
                <a:latin typeface="Perpetua"/>
                <a:cs typeface="Perpetua"/>
              </a:rPr>
              <a:t>two-way </a:t>
            </a:r>
            <a:r>
              <a:rPr sz="2400" spc="-5" dirty="0">
                <a:latin typeface="Perpetua"/>
                <a:cs typeface="Perpetua"/>
              </a:rPr>
              <a:t>selection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structure.</a:t>
            </a:r>
            <a:endParaRPr sz="2400">
              <a:latin typeface="Perpetua"/>
              <a:cs typeface="Perpetua"/>
            </a:endParaRPr>
          </a:p>
          <a:p>
            <a:pPr marL="286385" marR="18415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If the </a:t>
            </a:r>
            <a:r>
              <a:rPr sz="2400" spc="-5" dirty="0">
                <a:latin typeface="Perpetua"/>
                <a:cs typeface="Perpetua"/>
              </a:rPr>
              <a:t>control expression </a:t>
            </a:r>
            <a:r>
              <a:rPr sz="2400" dirty="0">
                <a:latin typeface="Perpetua"/>
                <a:cs typeface="Perpetua"/>
              </a:rPr>
              <a:t>in the </a:t>
            </a: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spc="-15" dirty="0">
                <a:latin typeface="Perpetua"/>
                <a:cs typeface="Perpetua"/>
              </a:rPr>
              <a:t>evaluates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true, one block </a:t>
            </a:r>
            <a:r>
              <a:rPr sz="2400" spc="-10" dirty="0">
                <a:latin typeface="Perpetua"/>
                <a:cs typeface="Perpetua"/>
              </a:rPr>
              <a:t>of  </a:t>
            </a:r>
            <a:r>
              <a:rPr sz="2400" spc="-5" dirty="0">
                <a:latin typeface="Perpetua"/>
                <a:cs typeface="Perpetua"/>
              </a:rPr>
              <a:t>statements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executed; </a:t>
            </a:r>
            <a:r>
              <a:rPr sz="2400" dirty="0">
                <a:latin typeface="Perpetua"/>
                <a:cs typeface="Perpetua"/>
              </a:rPr>
              <a:t>otherwise (</a:t>
            </a:r>
            <a:r>
              <a:rPr sz="2400" i="1" dirty="0">
                <a:latin typeface="Perpetua"/>
                <a:cs typeface="Perpetua"/>
              </a:rPr>
              <a:t>else</a:t>
            </a:r>
            <a:r>
              <a:rPr sz="2400" dirty="0">
                <a:latin typeface="Perpetua"/>
                <a:cs typeface="Perpetua"/>
              </a:rPr>
              <a:t>), </a:t>
            </a:r>
            <a:r>
              <a:rPr sz="2400" spc="-5" dirty="0">
                <a:latin typeface="Perpetua"/>
                <a:cs typeface="Perpetua"/>
              </a:rPr>
              <a:t>another </a:t>
            </a:r>
            <a:r>
              <a:rPr sz="2400" dirty="0">
                <a:latin typeface="Perpetua"/>
                <a:cs typeface="Perpetua"/>
              </a:rPr>
              <a:t>block is</a:t>
            </a:r>
            <a:r>
              <a:rPr sz="2400" spc="-27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executed.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19405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The flowchart for </a:t>
            </a:r>
            <a:r>
              <a:rPr sz="2400" spc="-20" dirty="0">
                <a:latin typeface="Perpetua"/>
                <a:cs typeface="Perpetua"/>
              </a:rPr>
              <a:t>one-way </a:t>
            </a:r>
            <a:r>
              <a:rPr sz="2400" spc="-5" dirty="0">
                <a:latin typeface="Perpetua"/>
                <a:cs typeface="Perpetua"/>
              </a:rPr>
              <a:t>selection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given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spc="-20" dirty="0">
                <a:latin typeface="Perpetua"/>
                <a:cs typeface="Perpetua"/>
              </a:rPr>
              <a:t>Flow </a:t>
            </a:r>
            <a:r>
              <a:rPr sz="2400" dirty="0">
                <a:latin typeface="Perpetua"/>
                <a:cs typeface="Perpetua"/>
              </a:rPr>
              <a:t>Structure -  </a:t>
            </a:r>
            <a:r>
              <a:rPr sz="2400" spc="-110" dirty="0">
                <a:latin typeface="Perpetua"/>
                <a:cs typeface="Perpetua"/>
              </a:rPr>
              <a:t>Two Way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the corresponding </a:t>
            </a:r>
            <a:r>
              <a:rPr sz="2400" spc="-5" dirty="0">
                <a:latin typeface="Perpetua"/>
                <a:cs typeface="Perpetua"/>
              </a:rPr>
              <a:t>Syntactic </a:t>
            </a:r>
            <a:r>
              <a:rPr sz="2400" dirty="0">
                <a:latin typeface="Perpetua"/>
                <a:cs typeface="Perpetua"/>
              </a:rPr>
              <a:t>structure is </a:t>
            </a:r>
            <a:r>
              <a:rPr sz="2400" spc="-5" dirty="0">
                <a:latin typeface="Perpetua"/>
                <a:cs typeface="Perpetua"/>
              </a:rPr>
              <a:t>given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 Selection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-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110" dirty="0">
                <a:latin typeface="Perpetua"/>
                <a:cs typeface="Perpetua"/>
              </a:rPr>
              <a:t>Two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145" dirty="0">
                <a:latin typeface="Perpetua"/>
                <a:cs typeface="Perpetua"/>
              </a:rPr>
              <a:t>Way.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79590" y="3582161"/>
            <a:ext cx="111760" cy="381000"/>
          </a:xfrm>
          <a:custGeom>
            <a:avLst/>
            <a:gdLst/>
            <a:ahLst/>
            <a:cxnLst/>
            <a:rect l="l" t="t" r="r" b="b"/>
            <a:pathLst>
              <a:path w="111759" h="381000">
                <a:moveTo>
                  <a:pt x="11049" y="273685"/>
                </a:moveTo>
                <a:lnTo>
                  <a:pt x="6350" y="276479"/>
                </a:lnTo>
                <a:lnTo>
                  <a:pt x="1650" y="279145"/>
                </a:lnTo>
                <a:lnTo>
                  <a:pt x="0" y="285242"/>
                </a:lnTo>
                <a:lnTo>
                  <a:pt x="2793" y="289940"/>
                </a:lnTo>
                <a:lnTo>
                  <a:pt x="55371" y="381000"/>
                </a:lnTo>
                <a:lnTo>
                  <a:pt x="66892" y="361442"/>
                </a:lnTo>
                <a:lnTo>
                  <a:pt x="45592" y="361314"/>
                </a:lnTo>
                <a:lnTo>
                  <a:pt x="45675" y="341717"/>
                </a:lnTo>
                <a:lnTo>
                  <a:pt x="45646" y="324635"/>
                </a:lnTo>
                <a:lnTo>
                  <a:pt x="19938" y="280035"/>
                </a:lnTo>
                <a:lnTo>
                  <a:pt x="17144" y="275336"/>
                </a:lnTo>
                <a:lnTo>
                  <a:pt x="11049" y="273685"/>
                </a:lnTo>
                <a:close/>
              </a:path>
              <a:path w="111759" h="381000">
                <a:moveTo>
                  <a:pt x="45746" y="324808"/>
                </a:moveTo>
                <a:lnTo>
                  <a:pt x="45592" y="361314"/>
                </a:lnTo>
                <a:lnTo>
                  <a:pt x="65404" y="361442"/>
                </a:lnTo>
                <a:lnTo>
                  <a:pt x="65425" y="356488"/>
                </a:lnTo>
                <a:lnTo>
                  <a:pt x="46862" y="356362"/>
                </a:lnTo>
                <a:lnTo>
                  <a:pt x="55493" y="341717"/>
                </a:lnTo>
                <a:lnTo>
                  <a:pt x="45746" y="324808"/>
                </a:lnTo>
                <a:close/>
              </a:path>
              <a:path w="111759" h="381000">
                <a:moveTo>
                  <a:pt x="100583" y="274065"/>
                </a:moveTo>
                <a:lnTo>
                  <a:pt x="94487" y="275589"/>
                </a:lnTo>
                <a:lnTo>
                  <a:pt x="91693" y="280288"/>
                </a:lnTo>
                <a:lnTo>
                  <a:pt x="65560" y="324635"/>
                </a:lnTo>
                <a:lnTo>
                  <a:pt x="65404" y="361442"/>
                </a:lnTo>
                <a:lnTo>
                  <a:pt x="66892" y="361442"/>
                </a:lnTo>
                <a:lnTo>
                  <a:pt x="108711" y="290449"/>
                </a:lnTo>
                <a:lnTo>
                  <a:pt x="111505" y="285623"/>
                </a:lnTo>
                <a:lnTo>
                  <a:pt x="109981" y="279654"/>
                </a:lnTo>
                <a:lnTo>
                  <a:pt x="100583" y="274065"/>
                </a:lnTo>
                <a:close/>
              </a:path>
              <a:path w="111759" h="381000">
                <a:moveTo>
                  <a:pt x="55493" y="341717"/>
                </a:moveTo>
                <a:lnTo>
                  <a:pt x="46862" y="356362"/>
                </a:lnTo>
                <a:lnTo>
                  <a:pt x="64007" y="356488"/>
                </a:lnTo>
                <a:lnTo>
                  <a:pt x="55493" y="341717"/>
                </a:lnTo>
                <a:close/>
              </a:path>
              <a:path w="111759" h="381000">
                <a:moveTo>
                  <a:pt x="65560" y="324635"/>
                </a:moveTo>
                <a:lnTo>
                  <a:pt x="55493" y="341717"/>
                </a:lnTo>
                <a:lnTo>
                  <a:pt x="64007" y="356488"/>
                </a:lnTo>
                <a:lnTo>
                  <a:pt x="65425" y="356488"/>
                </a:lnTo>
                <a:lnTo>
                  <a:pt x="65560" y="324635"/>
                </a:lnTo>
                <a:close/>
              </a:path>
              <a:path w="111759" h="381000">
                <a:moveTo>
                  <a:pt x="66928" y="0"/>
                </a:moveTo>
                <a:lnTo>
                  <a:pt x="47116" y="0"/>
                </a:lnTo>
                <a:lnTo>
                  <a:pt x="45746" y="324808"/>
                </a:lnTo>
                <a:lnTo>
                  <a:pt x="55493" y="341717"/>
                </a:lnTo>
                <a:lnTo>
                  <a:pt x="65560" y="324635"/>
                </a:lnTo>
                <a:lnTo>
                  <a:pt x="669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79208" y="5295138"/>
            <a:ext cx="111760" cy="421005"/>
          </a:xfrm>
          <a:custGeom>
            <a:avLst/>
            <a:gdLst/>
            <a:ahLst/>
            <a:cxnLst/>
            <a:rect l="l" t="t" r="r" b="b"/>
            <a:pathLst>
              <a:path w="111759" h="421004">
                <a:moveTo>
                  <a:pt x="11049" y="313563"/>
                </a:moveTo>
                <a:lnTo>
                  <a:pt x="6350" y="316318"/>
                </a:lnTo>
                <a:lnTo>
                  <a:pt x="1524" y="319074"/>
                </a:lnTo>
                <a:lnTo>
                  <a:pt x="0" y="325132"/>
                </a:lnTo>
                <a:lnTo>
                  <a:pt x="2794" y="329857"/>
                </a:lnTo>
                <a:lnTo>
                  <a:pt x="55752" y="420725"/>
                </a:lnTo>
                <a:lnTo>
                  <a:pt x="67210" y="401066"/>
                </a:lnTo>
                <a:lnTo>
                  <a:pt x="45847" y="401066"/>
                </a:lnTo>
                <a:lnTo>
                  <a:pt x="45847" y="364506"/>
                </a:lnTo>
                <a:lnTo>
                  <a:pt x="19812" y="319874"/>
                </a:lnTo>
                <a:lnTo>
                  <a:pt x="17145" y="315150"/>
                </a:lnTo>
                <a:lnTo>
                  <a:pt x="11049" y="313563"/>
                </a:lnTo>
                <a:close/>
              </a:path>
              <a:path w="111759" h="421004">
                <a:moveTo>
                  <a:pt x="45847" y="364506"/>
                </a:moveTo>
                <a:lnTo>
                  <a:pt x="45847" y="401066"/>
                </a:lnTo>
                <a:lnTo>
                  <a:pt x="65659" y="401066"/>
                </a:lnTo>
                <a:lnTo>
                  <a:pt x="65659" y="396074"/>
                </a:lnTo>
                <a:lnTo>
                  <a:pt x="47244" y="396074"/>
                </a:lnTo>
                <a:lnTo>
                  <a:pt x="55752" y="381488"/>
                </a:lnTo>
                <a:lnTo>
                  <a:pt x="45847" y="364506"/>
                </a:lnTo>
                <a:close/>
              </a:path>
              <a:path w="111759" h="421004">
                <a:moveTo>
                  <a:pt x="100457" y="313563"/>
                </a:moveTo>
                <a:lnTo>
                  <a:pt x="94361" y="315150"/>
                </a:lnTo>
                <a:lnTo>
                  <a:pt x="91694" y="319874"/>
                </a:lnTo>
                <a:lnTo>
                  <a:pt x="65659" y="364506"/>
                </a:lnTo>
                <a:lnTo>
                  <a:pt x="65659" y="401066"/>
                </a:lnTo>
                <a:lnTo>
                  <a:pt x="67210" y="401066"/>
                </a:lnTo>
                <a:lnTo>
                  <a:pt x="108712" y="329857"/>
                </a:lnTo>
                <a:lnTo>
                  <a:pt x="111506" y="325132"/>
                </a:lnTo>
                <a:lnTo>
                  <a:pt x="109982" y="319074"/>
                </a:lnTo>
                <a:lnTo>
                  <a:pt x="105156" y="316318"/>
                </a:lnTo>
                <a:lnTo>
                  <a:pt x="100457" y="313563"/>
                </a:lnTo>
                <a:close/>
              </a:path>
              <a:path w="111759" h="421004">
                <a:moveTo>
                  <a:pt x="55752" y="381488"/>
                </a:moveTo>
                <a:lnTo>
                  <a:pt x="47244" y="396074"/>
                </a:lnTo>
                <a:lnTo>
                  <a:pt x="64262" y="396074"/>
                </a:lnTo>
                <a:lnTo>
                  <a:pt x="55752" y="381488"/>
                </a:lnTo>
                <a:close/>
              </a:path>
              <a:path w="111759" h="421004">
                <a:moveTo>
                  <a:pt x="65659" y="364506"/>
                </a:moveTo>
                <a:lnTo>
                  <a:pt x="55752" y="381488"/>
                </a:lnTo>
                <a:lnTo>
                  <a:pt x="64262" y="396074"/>
                </a:lnTo>
                <a:lnTo>
                  <a:pt x="65659" y="396074"/>
                </a:lnTo>
                <a:lnTo>
                  <a:pt x="65659" y="364506"/>
                </a:lnTo>
                <a:close/>
              </a:path>
              <a:path w="111759" h="421004">
                <a:moveTo>
                  <a:pt x="65659" y="0"/>
                </a:moveTo>
                <a:lnTo>
                  <a:pt x="45847" y="0"/>
                </a:lnTo>
                <a:lnTo>
                  <a:pt x="45847" y="364506"/>
                </a:lnTo>
                <a:lnTo>
                  <a:pt x="55752" y="381488"/>
                </a:lnTo>
                <a:lnTo>
                  <a:pt x="65659" y="364506"/>
                </a:lnTo>
                <a:lnTo>
                  <a:pt x="656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26402" y="4848605"/>
            <a:ext cx="1052830" cy="410209"/>
          </a:xfrm>
          <a:custGeom>
            <a:avLst/>
            <a:gdLst/>
            <a:ahLst/>
            <a:cxnLst/>
            <a:rect l="l" t="t" r="r" b="b"/>
            <a:pathLst>
              <a:path w="1052829" h="410210">
                <a:moveTo>
                  <a:pt x="95503" y="298196"/>
                </a:moveTo>
                <a:lnTo>
                  <a:pt x="90804" y="300990"/>
                </a:lnTo>
                <a:lnTo>
                  <a:pt x="0" y="353949"/>
                </a:lnTo>
                <a:lnTo>
                  <a:pt x="95503" y="409829"/>
                </a:lnTo>
                <a:lnTo>
                  <a:pt x="101600" y="408178"/>
                </a:lnTo>
                <a:lnTo>
                  <a:pt x="107188" y="398780"/>
                </a:lnTo>
                <a:lnTo>
                  <a:pt x="105537" y="392684"/>
                </a:lnTo>
                <a:lnTo>
                  <a:pt x="100838" y="389890"/>
                </a:lnTo>
                <a:lnTo>
                  <a:pt x="56206" y="363855"/>
                </a:lnTo>
                <a:lnTo>
                  <a:pt x="19557" y="363855"/>
                </a:lnTo>
                <a:lnTo>
                  <a:pt x="19557" y="344043"/>
                </a:lnTo>
                <a:lnTo>
                  <a:pt x="56424" y="344043"/>
                </a:lnTo>
                <a:lnTo>
                  <a:pt x="100838" y="318135"/>
                </a:lnTo>
                <a:lnTo>
                  <a:pt x="105537" y="315341"/>
                </a:lnTo>
                <a:lnTo>
                  <a:pt x="107188" y="309245"/>
                </a:lnTo>
                <a:lnTo>
                  <a:pt x="101600" y="299847"/>
                </a:lnTo>
                <a:lnTo>
                  <a:pt x="95503" y="298196"/>
                </a:lnTo>
                <a:close/>
              </a:path>
              <a:path w="1052829" h="410210">
                <a:moveTo>
                  <a:pt x="56424" y="344043"/>
                </a:moveTo>
                <a:lnTo>
                  <a:pt x="19557" y="344043"/>
                </a:lnTo>
                <a:lnTo>
                  <a:pt x="19557" y="363855"/>
                </a:lnTo>
                <a:lnTo>
                  <a:pt x="56206" y="363855"/>
                </a:lnTo>
                <a:lnTo>
                  <a:pt x="54029" y="362585"/>
                </a:lnTo>
                <a:lnTo>
                  <a:pt x="24638" y="362585"/>
                </a:lnTo>
                <a:lnTo>
                  <a:pt x="24638" y="345440"/>
                </a:lnTo>
                <a:lnTo>
                  <a:pt x="54029" y="345440"/>
                </a:lnTo>
                <a:lnTo>
                  <a:pt x="56424" y="344043"/>
                </a:lnTo>
                <a:close/>
              </a:path>
              <a:path w="1052829" h="410210">
                <a:moveTo>
                  <a:pt x="1033018" y="344043"/>
                </a:moveTo>
                <a:lnTo>
                  <a:pt x="56424" y="344043"/>
                </a:lnTo>
                <a:lnTo>
                  <a:pt x="39333" y="354012"/>
                </a:lnTo>
                <a:lnTo>
                  <a:pt x="56206" y="363855"/>
                </a:lnTo>
                <a:lnTo>
                  <a:pt x="1048512" y="363855"/>
                </a:lnTo>
                <a:lnTo>
                  <a:pt x="1052829" y="359537"/>
                </a:lnTo>
                <a:lnTo>
                  <a:pt x="1052829" y="353949"/>
                </a:lnTo>
                <a:lnTo>
                  <a:pt x="1033018" y="353949"/>
                </a:lnTo>
                <a:lnTo>
                  <a:pt x="1033018" y="344043"/>
                </a:lnTo>
                <a:close/>
              </a:path>
              <a:path w="1052829" h="410210">
                <a:moveTo>
                  <a:pt x="24638" y="345440"/>
                </a:moveTo>
                <a:lnTo>
                  <a:pt x="24638" y="362585"/>
                </a:lnTo>
                <a:lnTo>
                  <a:pt x="39333" y="354012"/>
                </a:lnTo>
                <a:lnTo>
                  <a:pt x="24638" y="345440"/>
                </a:lnTo>
                <a:close/>
              </a:path>
              <a:path w="1052829" h="410210">
                <a:moveTo>
                  <a:pt x="39333" y="354012"/>
                </a:moveTo>
                <a:lnTo>
                  <a:pt x="24638" y="362585"/>
                </a:lnTo>
                <a:lnTo>
                  <a:pt x="54029" y="362585"/>
                </a:lnTo>
                <a:lnTo>
                  <a:pt x="39333" y="354012"/>
                </a:lnTo>
                <a:close/>
              </a:path>
              <a:path w="1052829" h="410210">
                <a:moveTo>
                  <a:pt x="54029" y="345440"/>
                </a:moveTo>
                <a:lnTo>
                  <a:pt x="24638" y="345440"/>
                </a:lnTo>
                <a:lnTo>
                  <a:pt x="39333" y="354012"/>
                </a:lnTo>
                <a:lnTo>
                  <a:pt x="54029" y="345440"/>
                </a:lnTo>
                <a:close/>
              </a:path>
              <a:path w="1052829" h="410210">
                <a:moveTo>
                  <a:pt x="1052829" y="0"/>
                </a:moveTo>
                <a:lnTo>
                  <a:pt x="1033018" y="0"/>
                </a:lnTo>
                <a:lnTo>
                  <a:pt x="1033018" y="353949"/>
                </a:lnTo>
                <a:lnTo>
                  <a:pt x="1042924" y="344043"/>
                </a:lnTo>
                <a:lnTo>
                  <a:pt x="1052829" y="344043"/>
                </a:lnTo>
                <a:lnTo>
                  <a:pt x="1052829" y="0"/>
                </a:lnTo>
                <a:close/>
              </a:path>
              <a:path w="1052829" h="410210">
                <a:moveTo>
                  <a:pt x="1052829" y="344043"/>
                </a:moveTo>
                <a:lnTo>
                  <a:pt x="1042924" y="344043"/>
                </a:lnTo>
                <a:lnTo>
                  <a:pt x="1033018" y="353949"/>
                </a:lnTo>
                <a:lnTo>
                  <a:pt x="1052829" y="353949"/>
                </a:lnTo>
                <a:lnTo>
                  <a:pt x="1052829" y="344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73496" y="4848605"/>
            <a:ext cx="970915" cy="410209"/>
          </a:xfrm>
          <a:custGeom>
            <a:avLst/>
            <a:gdLst/>
            <a:ahLst/>
            <a:cxnLst/>
            <a:rect l="l" t="t" r="r" b="b"/>
            <a:pathLst>
              <a:path w="970915" h="410210">
                <a:moveTo>
                  <a:pt x="931073" y="354012"/>
                </a:moveTo>
                <a:lnTo>
                  <a:pt x="869569" y="389890"/>
                </a:lnTo>
                <a:lnTo>
                  <a:pt x="864870" y="392684"/>
                </a:lnTo>
                <a:lnTo>
                  <a:pt x="863219" y="398780"/>
                </a:lnTo>
                <a:lnTo>
                  <a:pt x="866012" y="403479"/>
                </a:lnTo>
                <a:lnTo>
                  <a:pt x="868679" y="408178"/>
                </a:lnTo>
                <a:lnTo>
                  <a:pt x="874776" y="409829"/>
                </a:lnTo>
                <a:lnTo>
                  <a:pt x="879475" y="407035"/>
                </a:lnTo>
                <a:lnTo>
                  <a:pt x="953438" y="363855"/>
                </a:lnTo>
                <a:lnTo>
                  <a:pt x="950722" y="363855"/>
                </a:lnTo>
                <a:lnTo>
                  <a:pt x="950722" y="362585"/>
                </a:lnTo>
                <a:lnTo>
                  <a:pt x="945769" y="362585"/>
                </a:lnTo>
                <a:lnTo>
                  <a:pt x="931073" y="354012"/>
                </a:lnTo>
                <a:close/>
              </a:path>
              <a:path w="970915" h="410210">
                <a:moveTo>
                  <a:pt x="19812" y="0"/>
                </a:moveTo>
                <a:lnTo>
                  <a:pt x="0" y="0"/>
                </a:lnTo>
                <a:lnTo>
                  <a:pt x="0" y="359537"/>
                </a:lnTo>
                <a:lnTo>
                  <a:pt x="4444" y="363855"/>
                </a:lnTo>
                <a:lnTo>
                  <a:pt x="914200" y="363855"/>
                </a:lnTo>
                <a:lnTo>
                  <a:pt x="931073" y="354012"/>
                </a:lnTo>
                <a:lnTo>
                  <a:pt x="19812" y="353949"/>
                </a:lnTo>
                <a:lnTo>
                  <a:pt x="9905" y="344043"/>
                </a:lnTo>
                <a:lnTo>
                  <a:pt x="19812" y="344043"/>
                </a:lnTo>
                <a:lnTo>
                  <a:pt x="19812" y="0"/>
                </a:lnTo>
                <a:close/>
              </a:path>
              <a:path w="970915" h="410210">
                <a:moveTo>
                  <a:pt x="953398" y="344043"/>
                </a:moveTo>
                <a:lnTo>
                  <a:pt x="950722" y="344043"/>
                </a:lnTo>
                <a:lnTo>
                  <a:pt x="950722" y="363855"/>
                </a:lnTo>
                <a:lnTo>
                  <a:pt x="953438" y="363855"/>
                </a:lnTo>
                <a:lnTo>
                  <a:pt x="970406" y="353949"/>
                </a:lnTo>
                <a:lnTo>
                  <a:pt x="953398" y="344043"/>
                </a:lnTo>
                <a:close/>
              </a:path>
              <a:path w="970915" h="410210">
                <a:moveTo>
                  <a:pt x="945769" y="345440"/>
                </a:moveTo>
                <a:lnTo>
                  <a:pt x="931073" y="354012"/>
                </a:lnTo>
                <a:lnTo>
                  <a:pt x="945769" y="362585"/>
                </a:lnTo>
                <a:lnTo>
                  <a:pt x="945769" y="345440"/>
                </a:lnTo>
                <a:close/>
              </a:path>
              <a:path w="970915" h="410210">
                <a:moveTo>
                  <a:pt x="950722" y="345440"/>
                </a:moveTo>
                <a:lnTo>
                  <a:pt x="945769" y="345440"/>
                </a:lnTo>
                <a:lnTo>
                  <a:pt x="945769" y="362585"/>
                </a:lnTo>
                <a:lnTo>
                  <a:pt x="950722" y="362585"/>
                </a:lnTo>
                <a:lnTo>
                  <a:pt x="950722" y="345440"/>
                </a:lnTo>
                <a:close/>
              </a:path>
              <a:path w="970915" h="410210">
                <a:moveTo>
                  <a:pt x="874776" y="298196"/>
                </a:moveTo>
                <a:lnTo>
                  <a:pt x="868679" y="299847"/>
                </a:lnTo>
                <a:lnTo>
                  <a:pt x="866012" y="304546"/>
                </a:lnTo>
                <a:lnTo>
                  <a:pt x="863219" y="309245"/>
                </a:lnTo>
                <a:lnTo>
                  <a:pt x="864870" y="315341"/>
                </a:lnTo>
                <a:lnTo>
                  <a:pt x="869569" y="318135"/>
                </a:lnTo>
                <a:lnTo>
                  <a:pt x="931073" y="354012"/>
                </a:lnTo>
                <a:lnTo>
                  <a:pt x="945769" y="345440"/>
                </a:lnTo>
                <a:lnTo>
                  <a:pt x="950722" y="345440"/>
                </a:lnTo>
                <a:lnTo>
                  <a:pt x="950722" y="344043"/>
                </a:lnTo>
                <a:lnTo>
                  <a:pt x="953398" y="344043"/>
                </a:lnTo>
                <a:lnTo>
                  <a:pt x="879475" y="300990"/>
                </a:lnTo>
                <a:lnTo>
                  <a:pt x="874776" y="298196"/>
                </a:lnTo>
                <a:close/>
              </a:path>
              <a:path w="970915" h="410210">
                <a:moveTo>
                  <a:pt x="19812" y="344043"/>
                </a:moveTo>
                <a:lnTo>
                  <a:pt x="9905" y="344043"/>
                </a:lnTo>
                <a:lnTo>
                  <a:pt x="19812" y="353949"/>
                </a:lnTo>
                <a:lnTo>
                  <a:pt x="19812" y="344043"/>
                </a:lnTo>
                <a:close/>
              </a:path>
              <a:path w="970915" h="410210">
                <a:moveTo>
                  <a:pt x="913982" y="344043"/>
                </a:moveTo>
                <a:lnTo>
                  <a:pt x="19812" y="344043"/>
                </a:lnTo>
                <a:lnTo>
                  <a:pt x="19812" y="353949"/>
                </a:lnTo>
                <a:lnTo>
                  <a:pt x="930964" y="353949"/>
                </a:lnTo>
                <a:lnTo>
                  <a:pt x="913982" y="344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7000" y="39624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228600"/>
                </a:moveTo>
                <a:lnTo>
                  <a:pt x="457200" y="0"/>
                </a:lnTo>
                <a:lnTo>
                  <a:pt x="914400" y="228600"/>
                </a:lnTo>
                <a:lnTo>
                  <a:pt x="457200" y="457200"/>
                </a:lnTo>
                <a:lnTo>
                  <a:pt x="0" y="2286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33464" y="4096004"/>
            <a:ext cx="641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696363"/>
                </a:solidFill>
                <a:latin typeface="Courier New"/>
                <a:cs typeface="Courier New"/>
              </a:rPr>
              <a:t>condition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9720" y="4575047"/>
            <a:ext cx="1005840" cy="27305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425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Action</a:t>
            </a:r>
            <a:r>
              <a:rPr sz="900" b="1" spc="-4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a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6659" y="4575047"/>
            <a:ext cx="1005840" cy="27305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425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Action</a:t>
            </a:r>
            <a:r>
              <a:rPr sz="900" b="1" spc="-4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88609" y="4181855"/>
            <a:ext cx="649605" cy="394335"/>
          </a:xfrm>
          <a:custGeom>
            <a:avLst/>
            <a:gdLst/>
            <a:ahLst/>
            <a:cxnLst/>
            <a:rect l="l" t="t" r="r" b="b"/>
            <a:pathLst>
              <a:path w="649604" h="394335">
                <a:moveTo>
                  <a:pt x="11049" y="286893"/>
                </a:moveTo>
                <a:lnTo>
                  <a:pt x="6350" y="289687"/>
                </a:lnTo>
                <a:lnTo>
                  <a:pt x="1524" y="292481"/>
                </a:lnTo>
                <a:lnTo>
                  <a:pt x="0" y="298577"/>
                </a:lnTo>
                <a:lnTo>
                  <a:pt x="2793" y="303276"/>
                </a:lnTo>
                <a:lnTo>
                  <a:pt x="55752" y="394081"/>
                </a:lnTo>
                <a:lnTo>
                  <a:pt x="67159" y="374523"/>
                </a:lnTo>
                <a:lnTo>
                  <a:pt x="45846" y="374523"/>
                </a:lnTo>
                <a:lnTo>
                  <a:pt x="45846" y="337874"/>
                </a:lnTo>
                <a:lnTo>
                  <a:pt x="19812" y="293243"/>
                </a:lnTo>
                <a:lnTo>
                  <a:pt x="17144" y="288544"/>
                </a:lnTo>
                <a:lnTo>
                  <a:pt x="11049" y="286893"/>
                </a:lnTo>
                <a:close/>
              </a:path>
              <a:path w="649604" h="394335">
                <a:moveTo>
                  <a:pt x="45847" y="337874"/>
                </a:moveTo>
                <a:lnTo>
                  <a:pt x="45846" y="374523"/>
                </a:lnTo>
                <a:lnTo>
                  <a:pt x="65658" y="374523"/>
                </a:lnTo>
                <a:lnTo>
                  <a:pt x="65658" y="369443"/>
                </a:lnTo>
                <a:lnTo>
                  <a:pt x="47243" y="369443"/>
                </a:lnTo>
                <a:lnTo>
                  <a:pt x="55752" y="354856"/>
                </a:lnTo>
                <a:lnTo>
                  <a:pt x="45847" y="337874"/>
                </a:lnTo>
                <a:close/>
              </a:path>
              <a:path w="649604" h="394335">
                <a:moveTo>
                  <a:pt x="100456" y="286893"/>
                </a:moveTo>
                <a:lnTo>
                  <a:pt x="94361" y="288544"/>
                </a:lnTo>
                <a:lnTo>
                  <a:pt x="91693" y="293243"/>
                </a:lnTo>
                <a:lnTo>
                  <a:pt x="65658" y="337874"/>
                </a:lnTo>
                <a:lnTo>
                  <a:pt x="65658" y="374523"/>
                </a:lnTo>
                <a:lnTo>
                  <a:pt x="67159" y="374523"/>
                </a:lnTo>
                <a:lnTo>
                  <a:pt x="108712" y="303276"/>
                </a:lnTo>
                <a:lnTo>
                  <a:pt x="111505" y="298577"/>
                </a:lnTo>
                <a:lnTo>
                  <a:pt x="109981" y="292481"/>
                </a:lnTo>
                <a:lnTo>
                  <a:pt x="105155" y="289687"/>
                </a:lnTo>
                <a:lnTo>
                  <a:pt x="100456" y="286893"/>
                </a:lnTo>
                <a:close/>
              </a:path>
              <a:path w="649604" h="394335">
                <a:moveTo>
                  <a:pt x="55752" y="354856"/>
                </a:moveTo>
                <a:lnTo>
                  <a:pt x="47243" y="369443"/>
                </a:lnTo>
                <a:lnTo>
                  <a:pt x="64262" y="369443"/>
                </a:lnTo>
                <a:lnTo>
                  <a:pt x="55752" y="354856"/>
                </a:lnTo>
                <a:close/>
              </a:path>
              <a:path w="649604" h="394335">
                <a:moveTo>
                  <a:pt x="65658" y="337874"/>
                </a:moveTo>
                <a:lnTo>
                  <a:pt x="55752" y="354856"/>
                </a:lnTo>
                <a:lnTo>
                  <a:pt x="64262" y="369443"/>
                </a:lnTo>
                <a:lnTo>
                  <a:pt x="65658" y="369443"/>
                </a:lnTo>
                <a:lnTo>
                  <a:pt x="65658" y="337874"/>
                </a:lnTo>
                <a:close/>
              </a:path>
              <a:path w="649604" h="394335">
                <a:moveTo>
                  <a:pt x="649477" y="0"/>
                </a:moveTo>
                <a:lnTo>
                  <a:pt x="50291" y="0"/>
                </a:lnTo>
                <a:lnTo>
                  <a:pt x="45846" y="4445"/>
                </a:lnTo>
                <a:lnTo>
                  <a:pt x="45847" y="337874"/>
                </a:lnTo>
                <a:lnTo>
                  <a:pt x="55752" y="354856"/>
                </a:lnTo>
                <a:lnTo>
                  <a:pt x="65658" y="337874"/>
                </a:lnTo>
                <a:lnTo>
                  <a:pt x="65658" y="19812"/>
                </a:lnTo>
                <a:lnTo>
                  <a:pt x="55752" y="19812"/>
                </a:lnTo>
                <a:lnTo>
                  <a:pt x="65658" y="9906"/>
                </a:lnTo>
                <a:lnTo>
                  <a:pt x="649477" y="9906"/>
                </a:lnTo>
                <a:lnTo>
                  <a:pt x="649477" y="0"/>
                </a:lnTo>
                <a:close/>
              </a:path>
              <a:path w="649604" h="394335">
                <a:moveTo>
                  <a:pt x="65658" y="9906"/>
                </a:moveTo>
                <a:lnTo>
                  <a:pt x="55752" y="19812"/>
                </a:lnTo>
                <a:lnTo>
                  <a:pt x="65658" y="19812"/>
                </a:lnTo>
                <a:lnTo>
                  <a:pt x="65658" y="9906"/>
                </a:lnTo>
                <a:close/>
              </a:path>
              <a:path w="649604" h="394335">
                <a:moveTo>
                  <a:pt x="649477" y="9906"/>
                </a:moveTo>
                <a:lnTo>
                  <a:pt x="65658" y="9906"/>
                </a:lnTo>
                <a:lnTo>
                  <a:pt x="65658" y="19812"/>
                </a:lnTo>
                <a:lnTo>
                  <a:pt x="649477" y="19812"/>
                </a:lnTo>
                <a:lnTo>
                  <a:pt x="649477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68361" y="4181855"/>
            <a:ext cx="734060" cy="394335"/>
          </a:xfrm>
          <a:custGeom>
            <a:avLst/>
            <a:gdLst/>
            <a:ahLst/>
            <a:cxnLst/>
            <a:rect l="l" t="t" r="r" b="b"/>
            <a:pathLst>
              <a:path w="734059" h="394335">
                <a:moveTo>
                  <a:pt x="633095" y="286893"/>
                </a:moveTo>
                <a:lnTo>
                  <a:pt x="623697" y="292481"/>
                </a:lnTo>
                <a:lnTo>
                  <a:pt x="622046" y="298577"/>
                </a:lnTo>
                <a:lnTo>
                  <a:pt x="624840" y="303276"/>
                </a:lnTo>
                <a:lnTo>
                  <a:pt x="677799" y="394081"/>
                </a:lnTo>
                <a:lnTo>
                  <a:pt x="689232" y="374523"/>
                </a:lnTo>
                <a:lnTo>
                  <a:pt x="667893" y="374523"/>
                </a:lnTo>
                <a:lnTo>
                  <a:pt x="667893" y="337656"/>
                </a:lnTo>
                <a:lnTo>
                  <a:pt x="641985" y="293243"/>
                </a:lnTo>
                <a:lnTo>
                  <a:pt x="639191" y="288544"/>
                </a:lnTo>
                <a:lnTo>
                  <a:pt x="633095" y="286893"/>
                </a:lnTo>
                <a:close/>
              </a:path>
              <a:path w="734059" h="394335">
                <a:moveTo>
                  <a:pt x="667893" y="337656"/>
                </a:moveTo>
                <a:lnTo>
                  <a:pt x="667893" y="374523"/>
                </a:lnTo>
                <a:lnTo>
                  <a:pt x="687705" y="374523"/>
                </a:lnTo>
                <a:lnTo>
                  <a:pt x="687705" y="369443"/>
                </a:lnTo>
                <a:lnTo>
                  <a:pt x="669290" y="369443"/>
                </a:lnTo>
                <a:lnTo>
                  <a:pt x="677862" y="354747"/>
                </a:lnTo>
                <a:lnTo>
                  <a:pt x="667893" y="337656"/>
                </a:lnTo>
                <a:close/>
              </a:path>
              <a:path w="734059" h="394335">
                <a:moveTo>
                  <a:pt x="722630" y="286893"/>
                </a:moveTo>
                <a:lnTo>
                  <a:pt x="716534" y="288544"/>
                </a:lnTo>
                <a:lnTo>
                  <a:pt x="713740" y="293243"/>
                </a:lnTo>
                <a:lnTo>
                  <a:pt x="687832" y="337656"/>
                </a:lnTo>
                <a:lnTo>
                  <a:pt x="687705" y="374523"/>
                </a:lnTo>
                <a:lnTo>
                  <a:pt x="689232" y="374523"/>
                </a:lnTo>
                <a:lnTo>
                  <a:pt x="730885" y="303276"/>
                </a:lnTo>
                <a:lnTo>
                  <a:pt x="733679" y="298577"/>
                </a:lnTo>
                <a:lnTo>
                  <a:pt x="732028" y="292481"/>
                </a:lnTo>
                <a:lnTo>
                  <a:pt x="722630" y="286893"/>
                </a:lnTo>
                <a:close/>
              </a:path>
              <a:path w="734059" h="394335">
                <a:moveTo>
                  <a:pt x="677862" y="354747"/>
                </a:moveTo>
                <a:lnTo>
                  <a:pt x="669290" y="369443"/>
                </a:lnTo>
                <a:lnTo>
                  <a:pt x="686435" y="369443"/>
                </a:lnTo>
                <a:lnTo>
                  <a:pt x="677862" y="354747"/>
                </a:lnTo>
                <a:close/>
              </a:path>
              <a:path w="734059" h="394335">
                <a:moveTo>
                  <a:pt x="687705" y="337874"/>
                </a:moveTo>
                <a:lnTo>
                  <a:pt x="677862" y="354747"/>
                </a:lnTo>
                <a:lnTo>
                  <a:pt x="686435" y="369443"/>
                </a:lnTo>
                <a:lnTo>
                  <a:pt x="687705" y="369443"/>
                </a:lnTo>
                <a:lnTo>
                  <a:pt x="687705" y="337874"/>
                </a:lnTo>
                <a:close/>
              </a:path>
              <a:path w="734059" h="394335">
                <a:moveTo>
                  <a:pt x="667893" y="9906"/>
                </a:moveTo>
                <a:lnTo>
                  <a:pt x="668020" y="337874"/>
                </a:lnTo>
                <a:lnTo>
                  <a:pt x="677862" y="354747"/>
                </a:lnTo>
                <a:lnTo>
                  <a:pt x="687705" y="337874"/>
                </a:lnTo>
                <a:lnTo>
                  <a:pt x="687705" y="19812"/>
                </a:lnTo>
                <a:lnTo>
                  <a:pt x="677799" y="19812"/>
                </a:lnTo>
                <a:lnTo>
                  <a:pt x="667893" y="9906"/>
                </a:lnTo>
                <a:close/>
              </a:path>
              <a:path w="734059" h="394335">
                <a:moveTo>
                  <a:pt x="683387" y="0"/>
                </a:moveTo>
                <a:lnTo>
                  <a:pt x="0" y="0"/>
                </a:lnTo>
                <a:lnTo>
                  <a:pt x="0" y="19812"/>
                </a:lnTo>
                <a:lnTo>
                  <a:pt x="667893" y="19812"/>
                </a:lnTo>
                <a:lnTo>
                  <a:pt x="667893" y="9906"/>
                </a:lnTo>
                <a:lnTo>
                  <a:pt x="687705" y="9906"/>
                </a:lnTo>
                <a:lnTo>
                  <a:pt x="687705" y="4445"/>
                </a:lnTo>
                <a:lnTo>
                  <a:pt x="683387" y="0"/>
                </a:lnTo>
                <a:close/>
              </a:path>
              <a:path w="734059" h="394335">
                <a:moveTo>
                  <a:pt x="687705" y="9906"/>
                </a:moveTo>
                <a:lnTo>
                  <a:pt x="667893" y="9906"/>
                </a:lnTo>
                <a:lnTo>
                  <a:pt x="677799" y="19812"/>
                </a:lnTo>
                <a:lnTo>
                  <a:pt x="687705" y="19812"/>
                </a:lnTo>
                <a:lnTo>
                  <a:pt x="687705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51904" y="5145023"/>
            <a:ext cx="193548" cy="195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85800" y="3810000"/>
            <a:ext cx="2743200" cy="2057400"/>
          </a:xfrm>
          <a:prstGeom prst="rect">
            <a:avLst/>
          </a:prstGeom>
          <a:solidFill>
            <a:srgbClr val="F1F1F1"/>
          </a:solidFill>
          <a:ln w="12192">
            <a:solidFill>
              <a:srgbClr val="9B310D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R="552450" algn="r">
              <a:lnSpc>
                <a:spcPct val="100000"/>
              </a:lnSpc>
            </a:pPr>
            <a:r>
              <a:rPr sz="1800" dirty="0">
                <a:latin typeface="Perpetua"/>
                <a:cs typeface="Perpetua"/>
              </a:rPr>
              <a:t>If </a:t>
            </a:r>
            <a:r>
              <a:rPr sz="1800" spc="-5" dirty="0">
                <a:latin typeface="Perpetua"/>
                <a:cs typeface="Perpetua"/>
              </a:rPr>
              <a:t>CONDITION</a:t>
            </a:r>
            <a:r>
              <a:rPr sz="1800" spc="30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  <a:p>
            <a:pPr marR="558165" algn="r">
              <a:lnSpc>
                <a:spcPct val="100000"/>
              </a:lnSpc>
            </a:pPr>
            <a:r>
              <a:rPr sz="1800" spc="-20" dirty="0">
                <a:latin typeface="Perpetua"/>
                <a:cs typeface="Perpetua"/>
              </a:rPr>
              <a:t>if-TRUE</a:t>
            </a:r>
            <a:r>
              <a:rPr sz="1800" spc="210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ACTIONS</a:t>
            </a:r>
            <a:endParaRPr sz="1800">
              <a:latin typeface="Perpetua"/>
              <a:cs typeface="Perpetua"/>
            </a:endParaRPr>
          </a:p>
          <a:p>
            <a:pPr marL="3695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Perpetua"/>
                <a:cs typeface="Perpetua"/>
              </a:rPr>
              <a:t>Else</a:t>
            </a:r>
            <a:endParaRPr sz="1800">
              <a:latin typeface="Perpetua"/>
              <a:cs typeface="Perpetua"/>
            </a:endParaRPr>
          </a:p>
          <a:p>
            <a:pPr marR="520065" algn="r">
              <a:lnSpc>
                <a:spcPct val="100000"/>
              </a:lnSpc>
            </a:pPr>
            <a:r>
              <a:rPr sz="1800" spc="-5" dirty="0">
                <a:latin typeface="Perpetua"/>
                <a:cs typeface="Perpetua"/>
              </a:rPr>
              <a:t>if- </a:t>
            </a:r>
            <a:r>
              <a:rPr sz="1800" spc="-15" dirty="0">
                <a:latin typeface="Perpetua"/>
                <a:cs typeface="Perpetua"/>
              </a:rPr>
              <a:t>FALSE</a:t>
            </a:r>
            <a:r>
              <a:rPr sz="1800" spc="-235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ACTIONS</a:t>
            </a:r>
            <a:endParaRPr sz="1800">
              <a:latin typeface="Perpetua"/>
              <a:cs typeface="Perpetua"/>
            </a:endParaRPr>
          </a:p>
          <a:p>
            <a:pPr marL="369570">
              <a:lnSpc>
                <a:spcPct val="100000"/>
              </a:lnSpc>
            </a:pPr>
            <a:r>
              <a:rPr sz="1800" dirty="0">
                <a:latin typeface="Perpetua"/>
                <a:cs typeface="Perpetua"/>
              </a:rPr>
              <a:t>endif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8527" y="5865367"/>
            <a:ext cx="2550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</a:t>
            </a:r>
            <a:r>
              <a:rPr sz="2000" spc="-8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Selection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-</a:t>
            </a:r>
            <a:r>
              <a:rPr sz="2000" spc="-260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Two</a:t>
            </a:r>
            <a:r>
              <a:rPr sz="2000" spc="-250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7616" y="5789167"/>
            <a:ext cx="30384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20" dirty="0">
                <a:latin typeface="Perpetua"/>
                <a:cs typeface="Perpetua"/>
              </a:rPr>
              <a:t>Flow </a:t>
            </a:r>
            <a:r>
              <a:rPr sz="2000" dirty="0">
                <a:latin typeface="Perpetua"/>
                <a:cs typeface="Perpetua"/>
              </a:rPr>
              <a:t>structure </a:t>
            </a:r>
            <a:r>
              <a:rPr sz="2000" spc="-75" dirty="0">
                <a:latin typeface="Perpetua"/>
                <a:cs typeface="Perpetua"/>
              </a:rPr>
              <a:t>-Two</a:t>
            </a:r>
            <a:r>
              <a:rPr sz="2000" spc="-325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75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60" dirty="0">
                <a:latin typeface="Perpetua"/>
                <a:cs typeface="Perpetua"/>
              </a:rPr>
              <a:t>Two-Way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13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0" y="2362200"/>
            <a:ext cx="8382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5600" y="3810000"/>
            <a:ext cx="1143000" cy="7833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57800" y="1524000"/>
            <a:ext cx="3276600" cy="27675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67600" y="304800"/>
            <a:ext cx="1222248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340" y="1388960"/>
            <a:ext cx="8557895" cy="430657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9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Consider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following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statements…</a:t>
            </a:r>
            <a:endParaRPr sz="2400">
              <a:latin typeface="Perpetua"/>
              <a:cs typeface="Perpetua"/>
            </a:endParaRPr>
          </a:p>
          <a:p>
            <a:pPr marL="558165" marR="5437505" indent="-271780">
              <a:lnSpc>
                <a:spcPts val="3410"/>
              </a:lnSpc>
              <a:spcBef>
                <a:spcPts val="55"/>
              </a:spcBef>
            </a:pPr>
            <a:r>
              <a:rPr sz="2400" dirty="0">
                <a:latin typeface="Perpetua"/>
                <a:cs typeface="Perpetua"/>
              </a:rPr>
              <a:t>if (the sun is shining)</a:t>
            </a:r>
            <a:r>
              <a:rPr sz="2400" spc="-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then  I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dirty="0">
                <a:latin typeface="Perpetua"/>
                <a:cs typeface="Perpetua"/>
              </a:rPr>
              <a:t>go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fishing</a:t>
            </a:r>
            <a:endParaRPr sz="2400">
              <a:latin typeface="Perpetua"/>
              <a:cs typeface="Perpetua"/>
            </a:endParaRPr>
          </a:p>
          <a:p>
            <a:pPr marL="216535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Perpetua"/>
                <a:cs typeface="Perpetua"/>
              </a:rPr>
              <a:t>else</a:t>
            </a:r>
            <a:endParaRPr sz="2400">
              <a:latin typeface="Perpetua"/>
              <a:cs typeface="Perpetua"/>
            </a:endParaRPr>
          </a:p>
          <a:p>
            <a:pPr marL="55816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I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-20" dirty="0">
                <a:latin typeface="Perpetua"/>
                <a:cs typeface="Perpetua"/>
              </a:rPr>
              <a:t>play </a:t>
            </a:r>
            <a:r>
              <a:rPr sz="2400" dirty="0">
                <a:latin typeface="Perpetua"/>
                <a:cs typeface="Perpetua"/>
              </a:rPr>
              <a:t>computer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games.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464185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Perpetua"/>
                <a:cs typeface="Perpetua"/>
              </a:rPr>
              <a:t>Figure:</a:t>
            </a:r>
            <a:r>
              <a:rPr sz="2000" spc="-2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An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example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for</a:t>
            </a:r>
            <a:r>
              <a:rPr sz="2000" spc="-240" dirty="0">
                <a:latin typeface="Perpetua"/>
                <a:cs typeface="Perpetua"/>
              </a:rPr>
              <a:t> </a:t>
            </a:r>
            <a:r>
              <a:rPr sz="2000" spc="-75" dirty="0">
                <a:latin typeface="Perpetua"/>
                <a:cs typeface="Perpetua"/>
              </a:rPr>
              <a:t>Two-</a:t>
            </a:r>
            <a:r>
              <a:rPr sz="2000" spc="-235" dirty="0">
                <a:latin typeface="Perpetua"/>
                <a:cs typeface="Perpetua"/>
              </a:rPr>
              <a:t> </a:t>
            </a:r>
            <a:r>
              <a:rPr sz="2000" spc="-95" dirty="0">
                <a:latin typeface="Perpetua"/>
                <a:cs typeface="Perpetua"/>
              </a:rPr>
              <a:t>Way</a:t>
            </a:r>
            <a:r>
              <a:rPr sz="2000" spc="1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selection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286385" marR="186055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Figure:</a:t>
            </a:r>
            <a:r>
              <a:rPr sz="2400" spc="-2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example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295" dirty="0">
                <a:latin typeface="Perpetua"/>
                <a:cs typeface="Perpetua"/>
              </a:rPr>
              <a:t> </a:t>
            </a:r>
            <a:r>
              <a:rPr sz="2400" spc="-95" dirty="0">
                <a:latin typeface="Perpetua"/>
                <a:cs typeface="Perpetua"/>
              </a:rPr>
              <a:t>Two-Way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selection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illustrates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95" dirty="0">
                <a:latin typeface="Perpetua"/>
                <a:cs typeface="Perpetua"/>
              </a:rPr>
              <a:t>Two-Way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selection  </a:t>
            </a:r>
            <a:r>
              <a:rPr sz="2400" dirty="0">
                <a:latin typeface="Perpetua"/>
                <a:cs typeface="Perpetua"/>
              </a:rPr>
              <a:t>for the </a:t>
            </a:r>
            <a:r>
              <a:rPr sz="2400" spc="-30" dirty="0">
                <a:latin typeface="Perpetua"/>
                <a:cs typeface="Perpetua"/>
              </a:rPr>
              <a:t>above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75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60" dirty="0">
                <a:latin typeface="Perpetua"/>
                <a:cs typeface="Perpetua"/>
              </a:rPr>
              <a:t>Two-Way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13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2848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7747000" algn="l"/>
              </a:tabLst>
            </a:pPr>
            <a:r>
              <a:rPr sz="2400" i="1" spc="-5" dirty="0">
                <a:latin typeface="Perpetua"/>
                <a:cs typeface="Perpetua"/>
              </a:rPr>
              <a:t>Th</a:t>
            </a:r>
            <a:r>
              <a:rPr sz="2400" i="1" dirty="0">
                <a:latin typeface="Perpetua"/>
                <a:cs typeface="Perpetua"/>
              </a:rPr>
              <a:t>e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10" dirty="0">
                <a:latin typeface="Perpetua"/>
                <a:cs typeface="Perpetua"/>
              </a:rPr>
              <a:t>l</a:t>
            </a:r>
            <a:r>
              <a:rPr sz="2400" i="1" spc="-25" dirty="0">
                <a:latin typeface="Perpetua"/>
                <a:cs typeface="Perpetua"/>
              </a:rPr>
              <a:t>g</a:t>
            </a:r>
            <a:r>
              <a:rPr sz="2400" i="1" spc="-5" dirty="0">
                <a:latin typeface="Perpetua"/>
                <a:cs typeface="Perpetua"/>
              </a:rPr>
              <a:t>o</a:t>
            </a:r>
            <a:r>
              <a:rPr sz="2400" i="1" spc="50" dirty="0">
                <a:latin typeface="Perpetua"/>
                <a:cs typeface="Perpetua"/>
              </a:rPr>
              <a:t>r</a:t>
            </a:r>
            <a:r>
              <a:rPr sz="2400" i="1" spc="-5" dirty="0">
                <a:latin typeface="Perpetua"/>
                <a:cs typeface="Perpetua"/>
              </a:rPr>
              <a:t>ith</a:t>
            </a:r>
            <a:r>
              <a:rPr sz="2400" i="1" dirty="0">
                <a:latin typeface="Perpetua"/>
                <a:cs typeface="Perpetua"/>
              </a:rPr>
              <a:t>m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45" dirty="0">
                <a:latin typeface="Perpetua"/>
                <a:cs typeface="Perpetua"/>
              </a:rPr>
              <a:t>f</a:t>
            </a:r>
            <a:r>
              <a:rPr sz="2400" i="1" spc="-5" dirty="0">
                <a:latin typeface="Perpetua"/>
                <a:cs typeface="Perpetua"/>
              </a:rPr>
              <a:t>o</a:t>
            </a:r>
            <a:r>
              <a:rPr sz="2400" i="1" dirty="0">
                <a:latin typeface="Perpetua"/>
                <a:cs typeface="Perpetua"/>
              </a:rPr>
              <a:t>r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 Order </a:t>
            </a:r>
            <a:r>
              <a:rPr sz="2400" i="1" spc="-10" dirty="0">
                <a:latin typeface="Perpetua"/>
                <a:cs typeface="Perpetua"/>
              </a:rPr>
              <a:t>S</a:t>
            </a:r>
            <a:r>
              <a:rPr sz="2400" i="1" spc="-5" dirty="0">
                <a:latin typeface="Perpetua"/>
                <a:cs typeface="Perpetua"/>
              </a:rPr>
              <a:t>yste</a:t>
            </a:r>
            <a:r>
              <a:rPr sz="2400" i="1" dirty="0">
                <a:latin typeface="Perpetua"/>
                <a:cs typeface="Perpetua"/>
              </a:rPr>
              <a:t>m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w</a:t>
            </a:r>
            <a:r>
              <a:rPr sz="2400" i="1" spc="-5" dirty="0">
                <a:latin typeface="Perpetua"/>
                <a:cs typeface="Perpetua"/>
              </a:rPr>
              <a:t>it</a:t>
            </a:r>
            <a:r>
              <a:rPr sz="2400" i="1" dirty="0">
                <a:latin typeface="Perpetua"/>
                <a:cs typeface="Perpetua"/>
              </a:rPr>
              <a:t>h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</a:t>
            </a:r>
            <a:r>
              <a:rPr sz="2400" i="1" spc="-30" dirty="0">
                <a:latin typeface="Perpetua"/>
                <a:cs typeface="Perpetua"/>
              </a:rPr>
              <a:t>w</a:t>
            </a:r>
            <a:r>
              <a:rPr sz="2400" i="1" dirty="0">
                <a:latin typeface="Perpetua"/>
                <a:cs typeface="Perpetua"/>
              </a:rPr>
              <a:t>o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dif</a:t>
            </a:r>
            <a:r>
              <a:rPr sz="2400" i="1" spc="-45" dirty="0">
                <a:latin typeface="Perpetua"/>
                <a:cs typeface="Perpetua"/>
              </a:rPr>
              <a:t>f</a:t>
            </a:r>
            <a:r>
              <a:rPr sz="2400" i="1" dirty="0">
                <a:latin typeface="Perpetua"/>
                <a:cs typeface="Perpetua"/>
              </a:rPr>
              <a:t>e</a:t>
            </a:r>
            <a:r>
              <a:rPr sz="2400" i="1" spc="-25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ent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shi</a:t>
            </a:r>
            <a:r>
              <a:rPr sz="2400" i="1" spc="-10" dirty="0">
                <a:latin typeface="Perpetua"/>
                <a:cs typeface="Perpetua"/>
              </a:rPr>
              <a:t>p</a:t>
            </a:r>
            <a:r>
              <a:rPr sz="2400" i="1" dirty="0">
                <a:latin typeface="Perpetua"/>
                <a:cs typeface="Perpetua"/>
              </a:rPr>
              <a:t>pi</a:t>
            </a:r>
            <a:r>
              <a:rPr sz="2400" i="1" spc="-10" dirty="0">
                <a:latin typeface="Perpetua"/>
                <a:cs typeface="Perpetua"/>
              </a:rPr>
              <a:t>n</a:t>
            </a:r>
            <a:r>
              <a:rPr sz="2400" i="1" dirty="0">
                <a:latin typeface="Perpetua"/>
                <a:cs typeface="Perpetua"/>
              </a:rPr>
              <a:t>g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cos</a:t>
            </a:r>
            <a:r>
              <a:rPr sz="2400" i="1" spc="-10" dirty="0">
                <a:latin typeface="Perpetua"/>
                <a:cs typeface="Perpetua"/>
              </a:rPr>
              <a:t>t</a:t>
            </a:r>
            <a:r>
              <a:rPr sz="2400" i="1" dirty="0">
                <a:latin typeface="Perpetua"/>
                <a:cs typeface="Perpetua"/>
              </a:rPr>
              <a:t>s(10,</a:t>
            </a:r>
            <a:r>
              <a:rPr sz="2400" i="1" spc="5" dirty="0">
                <a:latin typeface="Perpetua"/>
                <a:cs typeface="Perpetua"/>
              </a:rPr>
              <a:t>0</a:t>
            </a:r>
            <a:r>
              <a:rPr sz="2400" i="1" dirty="0">
                <a:latin typeface="Perpetua"/>
                <a:cs typeface="Perpetua"/>
              </a:rPr>
              <a:t>)	</a:t>
            </a:r>
            <a:r>
              <a:rPr sz="2400" i="1" spc="-5" dirty="0">
                <a:latin typeface="Perpetua"/>
                <a:cs typeface="Perpetua"/>
              </a:rPr>
              <a:t>based  on OrderAmount </a:t>
            </a:r>
            <a:r>
              <a:rPr sz="2400" i="1" dirty="0">
                <a:latin typeface="Perpetua"/>
                <a:cs typeface="Perpetua"/>
              </a:rPr>
              <a:t>can </a:t>
            </a:r>
            <a:r>
              <a:rPr sz="2400" i="1" spc="-5" dirty="0">
                <a:latin typeface="Perpetua"/>
                <a:cs typeface="Perpetua"/>
              </a:rPr>
              <a:t>be </a:t>
            </a:r>
            <a:r>
              <a:rPr sz="2400" i="1" spc="5" dirty="0">
                <a:latin typeface="Perpetua"/>
                <a:cs typeface="Perpetua"/>
              </a:rPr>
              <a:t>written </a:t>
            </a:r>
            <a:r>
              <a:rPr sz="2400" i="1" dirty="0">
                <a:latin typeface="Perpetua"/>
                <a:cs typeface="Perpetua"/>
              </a:rPr>
              <a:t>as </a:t>
            </a:r>
            <a:r>
              <a:rPr sz="2400" i="1" spc="-10" dirty="0">
                <a:latin typeface="Perpetua"/>
                <a:cs typeface="Perpetua"/>
              </a:rPr>
              <a:t>given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Figure: </a:t>
            </a:r>
            <a:r>
              <a:rPr sz="2400" i="1" dirty="0">
                <a:latin typeface="Perpetua"/>
                <a:cs typeface="Perpetua"/>
              </a:rPr>
              <a:t>Order System- </a:t>
            </a:r>
            <a:r>
              <a:rPr sz="2400" i="1" spc="-10" dirty="0">
                <a:latin typeface="Perpetua"/>
                <a:cs typeface="Perpetua"/>
              </a:rPr>
              <a:t>two different  </a:t>
            </a:r>
            <a:r>
              <a:rPr sz="2400" i="1" spc="-5" dirty="0">
                <a:latin typeface="Perpetua"/>
                <a:cs typeface="Perpetua"/>
              </a:rPr>
              <a:t>shipping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costs.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2514600"/>
            <a:ext cx="4572000" cy="2057400"/>
          </a:xfrm>
          <a:custGeom>
            <a:avLst/>
            <a:gdLst/>
            <a:ahLst/>
            <a:cxnLst/>
            <a:rect l="l" t="t" r="r" b="b"/>
            <a:pathLst>
              <a:path w="4572000" h="2057400">
                <a:moveTo>
                  <a:pt x="0" y="2057400"/>
                </a:moveTo>
                <a:lnTo>
                  <a:pt x="4572000" y="2057400"/>
                </a:lnTo>
                <a:lnTo>
                  <a:pt x="4572000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6400" y="2514600"/>
            <a:ext cx="4572000" cy="2057400"/>
          </a:xfrm>
          <a:custGeom>
            <a:avLst/>
            <a:gdLst/>
            <a:ahLst/>
            <a:cxnLst/>
            <a:rect l="l" t="t" r="r" b="b"/>
            <a:pathLst>
              <a:path w="4572000" h="2057400">
                <a:moveTo>
                  <a:pt x="0" y="2057400"/>
                </a:moveTo>
                <a:lnTo>
                  <a:pt x="4572000" y="2057400"/>
                </a:lnTo>
                <a:lnTo>
                  <a:pt x="4572000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3390" y="2592451"/>
            <a:ext cx="16668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ShopingCartTotal()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Perpetua"/>
                <a:cs typeface="Perpetua"/>
              </a:rPr>
              <a:t>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4622" y="3964304"/>
            <a:ext cx="117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8094" y="2592451"/>
            <a:ext cx="254698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sz="1800" spc="-5" dirty="0">
                <a:latin typeface="Perpetua"/>
                <a:cs typeface="Perpetua"/>
              </a:rPr>
              <a:t>OrderAmount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ShippingCost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If orderAmount &lt; 40</a:t>
            </a:r>
            <a:r>
              <a:rPr sz="1800" spc="-1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  <a:tab pos="1894205" algn="l"/>
              </a:tabLst>
            </a:pPr>
            <a:r>
              <a:rPr sz="1800" spc="-5" dirty="0">
                <a:latin typeface="Perpetua"/>
                <a:cs typeface="Perpetua"/>
              </a:rPr>
              <a:t>ShippingCost	</a:t>
            </a:r>
            <a:r>
              <a:rPr sz="1800" dirty="0">
                <a:latin typeface="Perpetua"/>
                <a:cs typeface="Perpetua"/>
              </a:rPr>
              <a:t>10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spc="-5" dirty="0">
                <a:latin typeface="Perpetua"/>
                <a:cs typeface="Perpetua"/>
              </a:rPr>
              <a:t>Else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spc="-5" dirty="0">
                <a:latin typeface="Perpetua"/>
                <a:cs typeface="Perpetua"/>
              </a:rPr>
              <a:t>ShippingCost</a:t>
            </a:r>
            <a:endParaRPr sz="1800">
              <a:latin typeface="Perpetua"/>
              <a:cs typeface="Perpetua"/>
            </a:endParaRPr>
          </a:p>
          <a:p>
            <a:pPr marL="342265" indent="-342265">
              <a:lnSpc>
                <a:spcPct val="100000"/>
              </a:lnSpc>
              <a:buAutoNum type="arabicPeriod"/>
              <a:tabLst>
                <a:tab pos="342265" algn="l"/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endif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00400" y="3010154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52800" y="2780029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00400" y="4076953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6982" y="4722114"/>
            <a:ext cx="4680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Order </a:t>
            </a:r>
            <a:r>
              <a:rPr sz="2000" dirty="0">
                <a:latin typeface="Perpetua"/>
                <a:cs typeface="Perpetua"/>
              </a:rPr>
              <a:t>System- </a:t>
            </a:r>
            <a:r>
              <a:rPr sz="2000" spc="-25" dirty="0">
                <a:latin typeface="Perpetua"/>
                <a:cs typeface="Perpetua"/>
              </a:rPr>
              <a:t>two </a:t>
            </a:r>
            <a:r>
              <a:rPr sz="2000" spc="-5" dirty="0">
                <a:latin typeface="Perpetua"/>
                <a:cs typeface="Perpetua"/>
              </a:rPr>
              <a:t>different shipping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costs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0400" y="3543553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9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57200" h="76200">
                <a:moveTo>
                  <a:pt x="76221" y="31791"/>
                </a:moveTo>
                <a:lnTo>
                  <a:pt x="76178" y="44490"/>
                </a:lnTo>
                <a:lnTo>
                  <a:pt x="457200" y="45720"/>
                </a:lnTo>
                <a:lnTo>
                  <a:pt x="457200" y="33020"/>
                </a:lnTo>
                <a:lnTo>
                  <a:pt x="76221" y="31791"/>
                </a:lnTo>
                <a:close/>
              </a:path>
              <a:path w="457200" h="76200">
                <a:moveTo>
                  <a:pt x="63500" y="31750"/>
                </a:moveTo>
                <a:lnTo>
                  <a:pt x="63500" y="44450"/>
                </a:lnTo>
                <a:lnTo>
                  <a:pt x="76178" y="44490"/>
                </a:lnTo>
                <a:lnTo>
                  <a:pt x="76221" y="31791"/>
                </a:lnTo>
                <a:lnTo>
                  <a:pt x="63500" y="31750"/>
                </a:lnTo>
                <a:close/>
              </a:path>
              <a:path w="457200" h="76200">
                <a:moveTo>
                  <a:pt x="76221" y="31750"/>
                </a:moveTo>
                <a:lnTo>
                  <a:pt x="63500" y="31750"/>
                </a:lnTo>
                <a:lnTo>
                  <a:pt x="76221" y="31791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5603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A </a:t>
            </a:r>
            <a:r>
              <a:rPr b="0" spc="10" dirty="0">
                <a:latin typeface="Perpetua"/>
                <a:cs typeface="Perpetua"/>
              </a:rPr>
              <a:t>flowchart </a:t>
            </a:r>
            <a:r>
              <a:rPr b="0" spc="-5" dirty="0">
                <a:latin typeface="Perpetua"/>
                <a:cs typeface="Perpetua"/>
              </a:rPr>
              <a:t>for the modified </a:t>
            </a:r>
            <a:r>
              <a:rPr b="0" i="1" spc="-5" dirty="0">
                <a:latin typeface="Perpetua"/>
                <a:cs typeface="Perpetua"/>
              </a:rPr>
              <a:t>Order</a:t>
            </a:r>
            <a:r>
              <a:rPr b="0" i="1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295400"/>
            <a:ext cx="6781800" cy="358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59382" y="4950714"/>
            <a:ext cx="4617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Flowchart for the </a:t>
            </a:r>
            <a:r>
              <a:rPr sz="2000" spc="-5" dirty="0">
                <a:latin typeface="Perpetua"/>
                <a:cs typeface="Perpetua"/>
              </a:rPr>
              <a:t>modified Order</a:t>
            </a:r>
            <a:r>
              <a:rPr sz="2000" spc="-7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System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1049781"/>
            <a:ext cx="8274684" cy="2654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i="1" spc="-5" dirty="0">
                <a:latin typeface="Perpetua"/>
                <a:cs typeface="Perpetua"/>
              </a:rPr>
              <a:t>Model using </a:t>
            </a:r>
            <a:r>
              <a:rPr sz="2800" i="1" spc="-110" dirty="0">
                <a:latin typeface="Perpetua"/>
                <a:cs typeface="Perpetua"/>
              </a:rPr>
              <a:t>Two-Way </a:t>
            </a:r>
            <a:r>
              <a:rPr sz="2800" i="1" spc="-5" dirty="0">
                <a:latin typeface="Perpetua"/>
                <a:cs typeface="Perpetua"/>
              </a:rPr>
              <a:t>selection</a:t>
            </a:r>
            <a:r>
              <a:rPr sz="2800" i="1" spc="-200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structure.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286385" marR="4862195" indent="-274320">
              <a:lnSpc>
                <a:spcPct val="120800"/>
              </a:lnSpc>
              <a:spcBef>
                <a:spcPts val="5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If </a:t>
            </a: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10" dirty="0">
                <a:latin typeface="Perpetua"/>
                <a:cs typeface="Perpetua"/>
              </a:rPr>
              <a:t>fire </a:t>
            </a:r>
            <a:r>
              <a:rPr sz="2400" i="1" spc="-5" dirty="0">
                <a:latin typeface="Perpetua"/>
                <a:cs typeface="Perpetua"/>
              </a:rPr>
              <a:t>outside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8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door  then </a:t>
            </a:r>
            <a:r>
              <a:rPr sz="2400" i="1" spc="-5" dirty="0">
                <a:latin typeface="Perpetua"/>
                <a:cs typeface="Perpetua"/>
              </a:rPr>
              <a:t>Go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another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exit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400" i="1" spc="-5" dirty="0">
                <a:latin typeface="Perpetua"/>
                <a:cs typeface="Perpetua"/>
              </a:rPr>
              <a:t>otherwise </a:t>
            </a:r>
            <a:r>
              <a:rPr sz="2400" i="1" spc="-15" dirty="0">
                <a:latin typeface="Perpetua"/>
                <a:cs typeface="Perpetua"/>
              </a:rPr>
              <a:t>Remove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flap </a:t>
            </a:r>
            <a:r>
              <a:rPr sz="2400" i="1" spc="-10" dirty="0">
                <a:latin typeface="Perpetua"/>
                <a:cs typeface="Perpetua"/>
              </a:rPr>
              <a:t>covering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handle, </a:t>
            </a:r>
            <a:r>
              <a:rPr sz="2400" i="1" spc="10" dirty="0">
                <a:latin typeface="Perpetua"/>
                <a:cs typeface="Perpetua"/>
              </a:rPr>
              <a:t>turn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handle,</a:t>
            </a:r>
            <a:r>
              <a:rPr sz="2400" i="1" spc="-43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pull the </a:t>
            </a:r>
            <a:r>
              <a:rPr sz="2400" i="1" dirty="0">
                <a:latin typeface="Perpetua"/>
                <a:cs typeface="Perpetua"/>
              </a:rPr>
              <a:t>door </a:t>
            </a:r>
            <a:r>
              <a:rPr sz="2400" i="1" spc="-5" dirty="0">
                <a:latin typeface="Perpetua"/>
                <a:cs typeface="Perpetua"/>
              </a:rPr>
              <a:t>into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tabLst>
                <a:tab pos="1329690" algn="l"/>
              </a:tabLst>
            </a:pP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plane	and </a:t>
            </a:r>
            <a:r>
              <a:rPr sz="2400" i="1" spc="-10" dirty="0">
                <a:latin typeface="Perpetua"/>
                <a:cs typeface="Perpetua"/>
              </a:rPr>
              <a:t>throw </a:t>
            </a:r>
            <a:r>
              <a:rPr sz="2400" i="1" spc="-5" dirty="0">
                <a:latin typeface="Perpetua"/>
                <a:cs typeface="Perpetua"/>
              </a:rPr>
              <a:t>it out the </a:t>
            </a:r>
            <a:r>
              <a:rPr sz="2400" i="1" spc="-40" dirty="0">
                <a:latin typeface="Perpetua"/>
                <a:cs typeface="Perpetua"/>
              </a:rPr>
              <a:t>doorway, </a:t>
            </a:r>
            <a:r>
              <a:rPr sz="2400" i="1" dirty="0">
                <a:latin typeface="Perpetua"/>
                <a:cs typeface="Perpetua"/>
              </a:rPr>
              <a:t>as </a:t>
            </a:r>
            <a:r>
              <a:rPr sz="2400" i="1" spc="-20" dirty="0">
                <a:latin typeface="Perpetua"/>
                <a:cs typeface="Perpetua"/>
              </a:rPr>
              <a:t>far </a:t>
            </a:r>
            <a:r>
              <a:rPr sz="2400" i="1" spc="-50" dirty="0">
                <a:latin typeface="Perpetua"/>
                <a:cs typeface="Perpetua"/>
              </a:rPr>
              <a:t>away </a:t>
            </a:r>
            <a:r>
              <a:rPr sz="2400" i="1" dirty="0">
                <a:latin typeface="Perpetua"/>
                <a:cs typeface="Perpetua"/>
              </a:rPr>
              <a:t>as</a:t>
            </a:r>
            <a:r>
              <a:rPr sz="2400" i="1" spc="-14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possible.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91175" y="3733800"/>
            <a:ext cx="1990725" cy="2257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644" y="973581"/>
            <a:ext cx="652653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510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sz="2800" b="1" spc="-10" dirty="0">
                <a:solidFill>
                  <a:srgbClr val="FF0000"/>
                </a:solidFill>
                <a:latin typeface="Perpetua"/>
                <a:cs typeface="Perpetua"/>
              </a:rPr>
              <a:t>there </a:t>
            </a:r>
            <a:r>
              <a:rPr sz="2800" b="1" spc="-5" dirty="0">
                <a:solidFill>
                  <a:srgbClr val="FF0000"/>
                </a:solidFill>
                <a:latin typeface="Perpetua"/>
                <a:cs typeface="Perpetua"/>
              </a:rPr>
              <a:t>is a fire </a:t>
            </a:r>
            <a:r>
              <a:rPr sz="2800" b="1" spc="-10" dirty="0">
                <a:solidFill>
                  <a:srgbClr val="FF0000"/>
                </a:solidFill>
                <a:latin typeface="Perpetua"/>
                <a:cs typeface="Perpetua"/>
              </a:rPr>
              <a:t>outside the door  then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Perpetua"/>
                <a:cs typeface="Perpetua"/>
              </a:rPr>
              <a:t>1. Go to </a:t>
            </a:r>
            <a:r>
              <a:rPr sz="2800" spc="-10" dirty="0">
                <a:latin typeface="Perpetua"/>
                <a:cs typeface="Perpetua"/>
              </a:rPr>
              <a:t>another</a:t>
            </a:r>
            <a:r>
              <a:rPr sz="2800" spc="-11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exit.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0000"/>
                </a:solidFill>
                <a:latin typeface="Perpetua"/>
                <a:cs typeface="Perpetua"/>
              </a:rPr>
              <a:t>else</a:t>
            </a:r>
            <a:endParaRPr sz="2800">
              <a:latin typeface="Perpetua"/>
              <a:cs typeface="Perpetua"/>
            </a:endParaRPr>
          </a:p>
          <a:p>
            <a:pPr marL="345440" indent="-333375">
              <a:lnSpc>
                <a:spcPct val="100000"/>
              </a:lnSpc>
              <a:buAutoNum type="arabicPeriod"/>
              <a:tabLst>
                <a:tab pos="346075" algn="l"/>
              </a:tabLst>
            </a:pPr>
            <a:r>
              <a:rPr sz="2800" spc="-30" dirty="0">
                <a:latin typeface="Perpetua"/>
                <a:cs typeface="Perpetua"/>
              </a:rPr>
              <a:t>Remove </a:t>
            </a:r>
            <a:r>
              <a:rPr sz="2800" spc="-5" dirty="0">
                <a:latin typeface="Perpetua"/>
                <a:cs typeface="Perpetua"/>
              </a:rPr>
              <a:t>the flap </a:t>
            </a:r>
            <a:r>
              <a:rPr sz="2800" spc="-15" dirty="0">
                <a:latin typeface="Perpetua"/>
                <a:cs typeface="Perpetua"/>
              </a:rPr>
              <a:t>covering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handle.</a:t>
            </a:r>
            <a:endParaRPr sz="2800">
              <a:latin typeface="Perpetua"/>
              <a:cs typeface="Perpetua"/>
            </a:endParaRPr>
          </a:p>
          <a:p>
            <a:pPr marL="301625" indent="-289560">
              <a:lnSpc>
                <a:spcPct val="100000"/>
              </a:lnSpc>
              <a:buAutoNum type="arabicPeriod"/>
              <a:tabLst>
                <a:tab pos="302260" algn="l"/>
              </a:tabLst>
            </a:pPr>
            <a:r>
              <a:rPr sz="2800" spc="-5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4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handle.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Pull the door into the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plane</a:t>
            </a:r>
            <a:endParaRPr sz="2800">
              <a:latin typeface="Perpetua"/>
              <a:cs typeface="Perpetua"/>
            </a:endParaRPr>
          </a:p>
          <a:p>
            <a:pPr marL="302260" indent="-290195">
              <a:lnSpc>
                <a:spcPct val="100000"/>
              </a:lnSpc>
              <a:buAutoNum type="arabicPeriod"/>
              <a:tabLst>
                <a:tab pos="302895" algn="l"/>
              </a:tabLst>
            </a:pPr>
            <a:r>
              <a:rPr sz="2800" spc="-25" dirty="0">
                <a:latin typeface="Perpetua"/>
                <a:cs typeface="Perpetua"/>
              </a:rPr>
              <a:t>Throw </a:t>
            </a:r>
            <a:r>
              <a:rPr sz="2800" spc="-5" dirty="0">
                <a:latin typeface="Perpetua"/>
                <a:cs typeface="Perpetua"/>
              </a:rPr>
              <a:t>it out the </a:t>
            </a:r>
            <a:r>
              <a:rPr sz="2800" spc="-55" dirty="0">
                <a:latin typeface="Perpetua"/>
                <a:cs typeface="Perpetua"/>
              </a:rPr>
              <a:t>doorway, </a:t>
            </a:r>
            <a:r>
              <a:rPr sz="2800" spc="-5" dirty="0">
                <a:latin typeface="Perpetua"/>
                <a:cs typeface="Perpetua"/>
              </a:rPr>
              <a:t>as far </a:t>
            </a:r>
            <a:r>
              <a:rPr sz="2800" spc="-65" dirty="0">
                <a:latin typeface="Perpetua"/>
                <a:cs typeface="Perpetua"/>
              </a:rPr>
              <a:t>away </a:t>
            </a:r>
            <a:r>
              <a:rPr sz="2800" spc="-5" dirty="0">
                <a:latin typeface="Perpetua"/>
                <a:cs typeface="Perpetua"/>
              </a:rPr>
              <a:t>as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possible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772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65" dirty="0">
                <a:latin typeface="Perpetua"/>
                <a:cs typeface="Perpetua"/>
              </a:rPr>
              <a:t>Multi-Way</a:t>
            </a:r>
            <a:r>
              <a:rPr b="0" spc="-45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Selection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1447800"/>
            <a:ext cx="502920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4863846"/>
            <a:ext cx="6489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identify the number of selection choices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available?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249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65" dirty="0">
                <a:latin typeface="Perpetua"/>
                <a:cs typeface="Perpetua"/>
              </a:rPr>
              <a:t>Multi-Way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5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pc="-40" dirty="0"/>
              <a:t>Multi-Way </a:t>
            </a:r>
            <a:r>
              <a:rPr spc="-5" dirty="0"/>
              <a:t>selection </a:t>
            </a:r>
            <a:r>
              <a:rPr dirty="0"/>
              <a:t>structure </a:t>
            </a:r>
            <a:r>
              <a:rPr spc="5" dirty="0"/>
              <a:t>changes </a:t>
            </a:r>
            <a:r>
              <a:rPr spc="-20" dirty="0"/>
              <a:t>flow </a:t>
            </a:r>
            <a:r>
              <a:rPr dirty="0"/>
              <a:t>of </a:t>
            </a:r>
            <a:r>
              <a:rPr spc="-5" dirty="0"/>
              <a:t>control </a:t>
            </a:r>
            <a:r>
              <a:rPr spc="-20" dirty="0"/>
              <a:t>flow </a:t>
            </a:r>
            <a:r>
              <a:rPr dirty="0"/>
              <a:t>based upon</a:t>
            </a:r>
            <a:r>
              <a:rPr spc="55" dirty="0"/>
              <a:t> </a:t>
            </a:r>
            <a:r>
              <a:rPr dirty="0"/>
              <a:t>a</a:t>
            </a:r>
          </a:p>
          <a:p>
            <a:pPr marL="286385">
              <a:lnSpc>
                <a:spcPts val="2735"/>
              </a:lnSpc>
            </a:pPr>
            <a:r>
              <a:rPr spc="-15" dirty="0"/>
              <a:t>value </a:t>
            </a:r>
            <a:r>
              <a:rPr dirty="0"/>
              <a:t>matching a </a:t>
            </a:r>
            <a:r>
              <a:rPr spc="-5" dirty="0"/>
              <a:t>selected</a:t>
            </a:r>
            <a:r>
              <a:rPr spc="5" dirty="0"/>
              <a:t> criteria.</a:t>
            </a:r>
          </a:p>
          <a:p>
            <a:pPr marL="286385" marR="5080" indent="-274320">
              <a:lnSpc>
                <a:spcPts val="2810"/>
              </a:lnSpc>
              <a:spcBef>
                <a:spcPts val="6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/>
              <a:t>The </a:t>
            </a:r>
            <a:r>
              <a:rPr spc="5" dirty="0"/>
              <a:t>flowchart </a:t>
            </a:r>
            <a:r>
              <a:rPr dirty="0"/>
              <a:t>for </a:t>
            </a:r>
            <a:r>
              <a:rPr spc="-15" dirty="0"/>
              <a:t>one-way </a:t>
            </a:r>
            <a:r>
              <a:rPr dirty="0"/>
              <a:t>selection is </a:t>
            </a:r>
            <a:r>
              <a:rPr spc="-5" dirty="0"/>
              <a:t>given </a:t>
            </a:r>
            <a:r>
              <a:rPr dirty="0"/>
              <a:t>in </a:t>
            </a:r>
            <a:r>
              <a:rPr spc="-5" dirty="0"/>
              <a:t>Figure: </a:t>
            </a:r>
            <a:r>
              <a:rPr sz="2600" spc="-20" dirty="0"/>
              <a:t>Flow </a:t>
            </a:r>
            <a:r>
              <a:rPr sz="2600" dirty="0"/>
              <a:t>structure</a:t>
            </a:r>
            <a:r>
              <a:rPr sz="2600" spc="-155" dirty="0"/>
              <a:t> </a:t>
            </a:r>
            <a:r>
              <a:rPr sz="2600" dirty="0"/>
              <a:t>-  </a:t>
            </a:r>
            <a:r>
              <a:rPr sz="2600" spc="-15" dirty="0"/>
              <a:t>Multi-way</a:t>
            </a:r>
            <a:r>
              <a:rPr sz="2600" dirty="0"/>
              <a:t> selection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3397758" y="5204333"/>
            <a:ext cx="384810" cy="111760"/>
          </a:xfrm>
          <a:custGeom>
            <a:avLst/>
            <a:gdLst/>
            <a:ahLst/>
            <a:cxnLst/>
            <a:rect l="l" t="t" r="r" b="b"/>
            <a:pathLst>
              <a:path w="384810" h="111760">
                <a:moveTo>
                  <a:pt x="345331" y="55753"/>
                </a:moveTo>
                <a:lnTo>
                  <a:pt x="283717" y="91694"/>
                </a:lnTo>
                <a:lnTo>
                  <a:pt x="279018" y="94361"/>
                </a:lnTo>
                <a:lnTo>
                  <a:pt x="277367" y="100457"/>
                </a:lnTo>
                <a:lnTo>
                  <a:pt x="280162" y="105156"/>
                </a:lnTo>
                <a:lnTo>
                  <a:pt x="282828" y="109982"/>
                </a:lnTo>
                <a:lnTo>
                  <a:pt x="288925" y="111506"/>
                </a:lnTo>
                <a:lnTo>
                  <a:pt x="293624" y="108712"/>
                </a:lnTo>
                <a:lnTo>
                  <a:pt x="367547" y="65659"/>
                </a:lnTo>
                <a:lnTo>
                  <a:pt x="364870" y="65659"/>
                </a:lnTo>
                <a:lnTo>
                  <a:pt x="364870" y="64262"/>
                </a:lnTo>
                <a:lnTo>
                  <a:pt x="359917" y="64262"/>
                </a:lnTo>
                <a:lnTo>
                  <a:pt x="345331" y="55753"/>
                </a:lnTo>
                <a:close/>
              </a:path>
              <a:path w="384810" h="111760">
                <a:moveTo>
                  <a:pt x="192277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86816" y="65659"/>
                </a:lnTo>
                <a:lnTo>
                  <a:pt x="182371" y="61214"/>
                </a:lnTo>
                <a:lnTo>
                  <a:pt x="182371" y="55753"/>
                </a:lnTo>
                <a:lnTo>
                  <a:pt x="202183" y="55753"/>
                </a:lnTo>
                <a:lnTo>
                  <a:pt x="192277" y="45847"/>
                </a:lnTo>
                <a:close/>
              </a:path>
              <a:path w="384810" h="111760">
                <a:moveTo>
                  <a:pt x="182371" y="55753"/>
                </a:moveTo>
                <a:lnTo>
                  <a:pt x="182371" y="61214"/>
                </a:lnTo>
                <a:lnTo>
                  <a:pt x="186816" y="65659"/>
                </a:lnTo>
                <a:lnTo>
                  <a:pt x="192277" y="65659"/>
                </a:lnTo>
                <a:lnTo>
                  <a:pt x="182371" y="55753"/>
                </a:lnTo>
                <a:close/>
              </a:path>
              <a:path w="384810" h="111760">
                <a:moveTo>
                  <a:pt x="328349" y="45847"/>
                </a:moveTo>
                <a:lnTo>
                  <a:pt x="197738" y="45847"/>
                </a:lnTo>
                <a:lnTo>
                  <a:pt x="202183" y="50292"/>
                </a:lnTo>
                <a:lnTo>
                  <a:pt x="202183" y="55753"/>
                </a:lnTo>
                <a:lnTo>
                  <a:pt x="182371" y="55753"/>
                </a:lnTo>
                <a:lnTo>
                  <a:pt x="192277" y="65659"/>
                </a:lnTo>
                <a:lnTo>
                  <a:pt x="328349" y="65659"/>
                </a:lnTo>
                <a:lnTo>
                  <a:pt x="345331" y="55753"/>
                </a:lnTo>
                <a:lnTo>
                  <a:pt x="328349" y="45847"/>
                </a:lnTo>
                <a:close/>
              </a:path>
              <a:path w="384810" h="111760">
                <a:moveTo>
                  <a:pt x="367547" y="45847"/>
                </a:moveTo>
                <a:lnTo>
                  <a:pt x="364870" y="45847"/>
                </a:lnTo>
                <a:lnTo>
                  <a:pt x="364870" y="65659"/>
                </a:lnTo>
                <a:lnTo>
                  <a:pt x="367547" y="65659"/>
                </a:lnTo>
                <a:lnTo>
                  <a:pt x="384555" y="55753"/>
                </a:lnTo>
                <a:lnTo>
                  <a:pt x="367547" y="45847"/>
                </a:lnTo>
                <a:close/>
              </a:path>
              <a:path w="384810" h="111760">
                <a:moveTo>
                  <a:pt x="359917" y="47244"/>
                </a:moveTo>
                <a:lnTo>
                  <a:pt x="345331" y="55753"/>
                </a:lnTo>
                <a:lnTo>
                  <a:pt x="359917" y="64262"/>
                </a:lnTo>
                <a:lnTo>
                  <a:pt x="359917" y="47244"/>
                </a:lnTo>
                <a:close/>
              </a:path>
              <a:path w="384810" h="111760">
                <a:moveTo>
                  <a:pt x="364870" y="47244"/>
                </a:moveTo>
                <a:lnTo>
                  <a:pt x="359917" y="47244"/>
                </a:lnTo>
                <a:lnTo>
                  <a:pt x="359917" y="64262"/>
                </a:lnTo>
                <a:lnTo>
                  <a:pt x="364870" y="64262"/>
                </a:lnTo>
                <a:lnTo>
                  <a:pt x="364870" y="47244"/>
                </a:lnTo>
                <a:close/>
              </a:path>
              <a:path w="384810" h="111760">
                <a:moveTo>
                  <a:pt x="197738" y="45847"/>
                </a:moveTo>
                <a:lnTo>
                  <a:pt x="192277" y="45847"/>
                </a:lnTo>
                <a:lnTo>
                  <a:pt x="202183" y="55753"/>
                </a:lnTo>
                <a:lnTo>
                  <a:pt x="202183" y="50292"/>
                </a:lnTo>
                <a:lnTo>
                  <a:pt x="197738" y="45847"/>
                </a:lnTo>
                <a:close/>
              </a:path>
              <a:path w="384810" h="111760">
                <a:moveTo>
                  <a:pt x="288925" y="0"/>
                </a:moveTo>
                <a:lnTo>
                  <a:pt x="282828" y="1524"/>
                </a:lnTo>
                <a:lnTo>
                  <a:pt x="280162" y="6350"/>
                </a:lnTo>
                <a:lnTo>
                  <a:pt x="277367" y="11049"/>
                </a:lnTo>
                <a:lnTo>
                  <a:pt x="279018" y="17145"/>
                </a:lnTo>
                <a:lnTo>
                  <a:pt x="283717" y="19812"/>
                </a:lnTo>
                <a:lnTo>
                  <a:pt x="345331" y="55753"/>
                </a:lnTo>
                <a:lnTo>
                  <a:pt x="359917" y="47244"/>
                </a:lnTo>
                <a:lnTo>
                  <a:pt x="364870" y="47244"/>
                </a:lnTo>
                <a:lnTo>
                  <a:pt x="364870" y="45847"/>
                </a:lnTo>
                <a:lnTo>
                  <a:pt x="367547" y="45847"/>
                </a:lnTo>
                <a:lnTo>
                  <a:pt x="293624" y="2794"/>
                </a:lnTo>
                <a:lnTo>
                  <a:pt x="288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8126" y="4652009"/>
            <a:ext cx="111760" cy="481330"/>
          </a:xfrm>
          <a:custGeom>
            <a:avLst/>
            <a:gdLst/>
            <a:ahLst/>
            <a:cxnLst/>
            <a:rect l="l" t="t" r="r" b="b"/>
            <a:pathLst>
              <a:path w="111760" h="481329">
                <a:moveTo>
                  <a:pt x="11049" y="373760"/>
                </a:moveTo>
                <a:lnTo>
                  <a:pt x="6350" y="376427"/>
                </a:lnTo>
                <a:lnTo>
                  <a:pt x="1650" y="379221"/>
                </a:lnTo>
                <a:lnTo>
                  <a:pt x="0" y="385317"/>
                </a:lnTo>
                <a:lnTo>
                  <a:pt x="2793" y="390016"/>
                </a:lnTo>
                <a:lnTo>
                  <a:pt x="55499" y="480948"/>
                </a:lnTo>
                <a:lnTo>
                  <a:pt x="66976" y="461390"/>
                </a:lnTo>
                <a:lnTo>
                  <a:pt x="45593" y="461263"/>
                </a:lnTo>
                <a:lnTo>
                  <a:pt x="45693" y="424680"/>
                </a:lnTo>
                <a:lnTo>
                  <a:pt x="19812" y="380110"/>
                </a:lnTo>
                <a:lnTo>
                  <a:pt x="17145" y="375284"/>
                </a:lnTo>
                <a:lnTo>
                  <a:pt x="11049" y="373760"/>
                </a:lnTo>
                <a:close/>
              </a:path>
              <a:path w="111760" h="481329">
                <a:moveTo>
                  <a:pt x="45693" y="424680"/>
                </a:moveTo>
                <a:lnTo>
                  <a:pt x="45593" y="461263"/>
                </a:lnTo>
                <a:lnTo>
                  <a:pt x="65405" y="461390"/>
                </a:lnTo>
                <a:lnTo>
                  <a:pt x="65418" y="456438"/>
                </a:lnTo>
                <a:lnTo>
                  <a:pt x="46990" y="456310"/>
                </a:lnTo>
                <a:lnTo>
                  <a:pt x="55576" y="441699"/>
                </a:lnTo>
                <a:lnTo>
                  <a:pt x="45693" y="424680"/>
                </a:lnTo>
                <a:close/>
              </a:path>
              <a:path w="111760" h="481329">
                <a:moveTo>
                  <a:pt x="100456" y="374014"/>
                </a:moveTo>
                <a:lnTo>
                  <a:pt x="94487" y="375538"/>
                </a:lnTo>
                <a:lnTo>
                  <a:pt x="91693" y="380238"/>
                </a:lnTo>
                <a:lnTo>
                  <a:pt x="65505" y="424802"/>
                </a:lnTo>
                <a:lnTo>
                  <a:pt x="65405" y="461390"/>
                </a:lnTo>
                <a:lnTo>
                  <a:pt x="66976" y="461390"/>
                </a:lnTo>
                <a:lnTo>
                  <a:pt x="108712" y="390270"/>
                </a:lnTo>
                <a:lnTo>
                  <a:pt x="111506" y="385571"/>
                </a:lnTo>
                <a:lnTo>
                  <a:pt x="109981" y="379475"/>
                </a:lnTo>
                <a:lnTo>
                  <a:pt x="105156" y="376681"/>
                </a:lnTo>
                <a:lnTo>
                  <a:pt x="100456" y="374014"/>
                </a:lnTo>
                <a:close/>
              </a:path>
              <a:path w="111760" h="481329">
                <a:moveTo>
                  <a:pt x="55576" y="441699"/>
                </a:moveTo>
                <a:lnTo>
                  <a:pt x="46990" y="456310"/>
                </a:lnTo>
                <a:lnTo>
                  <a:pt x="64135" y="456438"/>
                </a:lnTo>
                <a:lnTo>
                  <a:pt x="55576" y="441699"/>
                </a:lnTo>
                <a:close/>
              </a:path>
              <a:path w="111760" h="481329">
                <a:moveTo>
                  <a:pt x="65505" y="424802"/>
                </a:moveTo>
                <a:lnTo>
                  <a:pt x="55576" y="441699"/>
                </a:lnTo>
                <a:lnTo>
                  <a:pt x="64135" y="456438"/>
                </a:lnTo>
                <a:lnTo>
                  <a:pt x="65418" y="456438"/>
                </a:lnTo>
                <a:lnTo>
                  <a:pt x="65505" y="424802"/>
                </a:lnTo>
                <a:close/>
              </a:path>
              <a:path w="111760" h="481329">
                <a:moveTo>
                  <a:pt x="66675" y="0"/>
                </a:moveTo>
                <a:lnTo>
                  <a:pt x="46862" y="0"/>
                </a:lnTo>
                <a:lnTo>
                  <a:pt x="45833" y="373760"/>
                </a:lnTo>
                <a:lnTo>
                  <a:pt x="45764" y="424802"/>
                </a:lnTo>
                <a:lnTo>
                  <a:pt x="55576" y="441699"/>
                </a:lnTo>
                <a:lnTo>
                  <a:pt x="65505" y="424802"/>
                </a:lnTo>
                <a:lnTo>
                  <a:pt x="66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10861" y="5204333"/>
            <a:ext cx="278130" cy="111760"/>
          </a:xfrm>
          <a:custGeom>
            <a:avLst/>
            <a:gdLst/>
            <a:ahLst/>
            <a:cxnLst/>
            <a:rect l="l" t="t" r="r" b="b"/>
            <a:pathLst>
              <a:path w="278129" h="111760">
                <a:moveTo>
                  <a:pt x="238651" y="55753"/>
                </a:moveTo>
                <a:lnTo>
                  <a:pt x="177037" y="91694"/>
                </a:lnTo>
                <a:lnTo>
                  <a:pt x="172338" y="94361"/>
                </a:lnTo>
                <a:lnTo>
                  <a:pt x="170814" y="100457"/>
                </a:lnTo>
                <a:lnTo>
                  <a:pt x="173482" y="105156"/>
                </a:lnTo>
                <a:lnTo>
                  <a:pt x="176275" y="109982"/>
                </a:lnTo>
                <a:lnTo>
                  <a:pt x="182372" y="111506"/>
                </a:lnTo>
                <a:lnTo>
                  <a:pt x="187071" y="108712"/>
                </a:lnTo>
                <a:lnTo>
                  <a:pt x="260994" y="65659"/>
                </a:lnTo>
                <a:lnTo>
                  <a:pt x="258317" y="65659"/>
                </a:lnTo>
                <a:lnTo>
                  <a:pt x="258317" y="64262"/>
                </a:lnTo>
                <a:lnTo>
                  <a:pt x="253237" y="64262"/>
                </a:lnTo>
                <a:lnTo>
                  <a:pt x="238651" y="55753"/>
                </a:lnTo>
                <a:close/>
              </a:path>
              <a:path w="278129" h="111760">
                <a:moveTo>
                  <a:pt x="133476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38937" y="65659"/>
                </a:lnTo>
                <a:lnTo>
                  <a:pt x="148843" y="55753"/>
                </a:lnTo>
                <a:lnTo>
                  <a:pt x="129032" y="55753"/>
                </a:lnTo>
                <a:lnTo>
                  <a:pt x="129032" y="50292"/>
                </a:lnTo>
                <a:lnTo>
                  <a:pt x="133476" y="45847"/>
                </a:lnTo>
                <a:close/>
              </a:path>
              <a:path w="278129" h="111760">
                <a:moveTo>
                  <a:pt x="148843" y="55753"/>
                </a:moveTo>
                <a:lnTo>
                  <a:pt x="138937" y="65659"/>
                </a:lnTo>
                <a:lnTo>
                  <a:pt x="144399" y="65659"/>
                </a:lnTo>
                <a:lnTo>
                  <a:pt x="148843" y="61214"/>
                </a:lnTo>
                <a:lnTo>
                  <a:pt x="148843" y="55753"/>
                </a:lnTo>
                <a:close/>
              </a:path>
              <a:path w="278129" h="111760">
                <a:moveTo>
                  <a:pt x="221669" y="45847"/>
                </a:moveTo>
                <a:lnTo>
                  <a:pt x="138937" y="45847"/>
                </a:lnTo>
                <a:lnTo>
                  <a:pt x="129032" y="55753"/>
                </a:lnTo>
                <a:lnTo>
                  <a:pt x="148843" y="55753"/>
                </a:lnTo>
                <a:lnTo>
                  <a:pt x="148843" y="61214"/>
                </a:lnTo>
                <a:lnTo>
                  <a:pt x="144399" y="65659"/>
                </a:lnTo>
                <a:lnTo>
                  <a:pt x="221669" y="65659"/>
                </a:lnTo>
                <a:lnTo>
                  <a:pt x="238651" y="55753"/>
                </a:lnTo>
                <a:lnTo>
                  <a:pt x="221669" y="45847"/>
                </a:lnTo>
                <a:close/>
              </a:path>
              <a:path w="278129" h="111760">
                <a:moveTo>
                  <a:pt x="260994" y="45847"/>
                </a:moveTo>
                <a:lnTo>
                  <a:pt x="258317" y="45847"/>
                </a:lnTo>
                <a:lnTo>
                  <a:pt x="258317" y="65659"/>
                </a:lnTo>
                <a:lnTo>
                  <a:pt x="260994" y="65659"/>
                </a:lnTo>
                <a:lnTo>
                  <a:pt x="278002" y="55753"/>
                </a:lnTo>
                <a:lnTo>
                  <a:pt x="260994" y="45847"/>
                </a:lnTo>
                <a:close/>
              </a:path>
              <a:path w="278129" h="111760">
                <a:moveTo>
                  <a:pt x="253237" y="47244"/>
                </a:moveTo>
                <a:lnTo>
                  <a:pt x="238651" y="55753"/>
                </a:lnTo>
                <a:lnTo>
                  <a:pt x="253237" y="64262"/>
                </a:lnTo>
                <a:lnTo>
                  <a:pt x="253237" y="47244"/>
                </a:lnTo>
                <a:close/>
              </a:path>
              <a:path w="278129" h="111760">
                <a:moveTo>
                  <a:pt x="258317" y="47244"/>
                </a:moveTo>
                <a:lnTo>
                  <a:pt x="253237" y="47244"/>
                </a:lnTo>
                <a:lnTo>
                  <a:pt x="253237" y="64262"/>
                </a:lnTo>
                <a:lnTo>
                  <a:pt x="258317" y="64262"/>
                </a:lnTo>
                <a:lnTo>
                  <a:pt x="258317" y="47244"/>
                </a:lnTo>
                <a:close/>
              </a:path>
              <a:path w="278129" h="111760">
                <a:moveTo>
                  <a:pt x="138937" y="45847"/>
                </a:moveTo>
                <a:lnTo>
                  <a:pt x="133476" y="45847"/>
                </a:lnTo>
                <a:lnTo>
                  <a:pt x="129032" y="50292"/>
                </a:lnTo>
                <a:lnTo>
                  <a:pt x="129032" y="55753"/>
                </a:lnTo>
                <a:lnTo>
                  <a:pt x="138937" y="45847"/>
                </a:lnTo>
                <a:close/>
              </a:path>
              <a:path w="278129" h="111760">
                <a:moveTo>
                  <a:pt x="182372" y="0"/>
                </a:moveTo>
                <a:lnTo>
                  <a:pt x="176275" y="1524"/>
                </a:lnTo>
                <a:lnTo>
                  <a:pt x="173482" y="6350"/>
                </a:lnTo>
                <a:lnTo>
                  <a:pt x="170814" y="11049"/>
                </a:lnTo>
                <a:lnTo>
                  <a:pt x="172338" y="17145"/>
                </a:lnTo>
                <a:lnTo>
                  <a:pt x="177037" y="19812"/>
                </a:lnTo>
                <a:lnTo>
                  <a:pt x="238651" y="55753"/>
                </a:lnTo>
                <a:lnTo>
                  <a:pt x="253237" y="47244"/>
                </a:lnTo>
                <a:lnTo>
                  <a:pt x="258317" y="47244"/>
                </a:lnTo>
                <a:lnTo>
                  <a:pt x="258317" y="45847"/>
                </a:lnTo>
                <a:lnTo>
                  <a:pt x="260994" y="45847"/>
                </a:lnTo>
                <a:lnTo>
                  <a:pt x="187071" y="2794"/>
                </a:lnTo>
                <a:lnTo>
                  <a:pt x="1823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4036" y="5067680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true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1044" y="5132832"/>
            <a:ext cx="829310" cy="253365"/>
          </a:xfrm>
          <a:custGeom>
            <a:avLst/>
            <a:gdLst/>
            <a:ahLst/>
            <a:cxnLst/>
            <a:rect l="l" t="t" r="r" b="b"/>
            <a:pathLst>
              <a:path w="829310" h="253364">
                <a:moveTo>
                  <a:pt x="0" y="252984"/>
                </a:moveTo>
                <a:lnTo>
                  <a:pt x="829055" y="252984"/>
                </a:lnTo>
                <a:lnTo>
                  <a:pt x="829055" y="0"/>
                </a:lnTo>
                <a:lnTo>
                  <a:pt x="0" y="0"/>
                </a:lnTo>
                <a:lnTo>
                  <a:pt x="0" y="25298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44873" y="5172202"/>
            <a:ext cx="573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action</a:t>
            </a:r>
            <a:r>
              <a:rPr sz="900" b="1" spc="-90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x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88991" y="5131308"/>
            <a:ext cx="585470" cy="254635"/>
          </a:xfrm>
          <a:custGeom>
            <a:avLst/>
            <a:gdLst/>
            <a:ahLst/>
            <a:cxnLst/>
            <a:rect l="l" t="t" r="r" b="b"/>
            <a:pathLst>
              <a:path w="585470" h="254635">
                <a:moveTo>
                  <a:pt x="0" y="254508"/>
                </a:moveTo>
                <a:lnTo>
                  <a:pt x="585215" y="254508"/>
                </a:lnTo>
                <a:lnTo>
                  <a:pt x="585215" y="0"/>
                </a:lnTo>
                <a:lnTo>
                  <a:pt x="0" y="0"/>
                </a:lnTo>
                <a:lnTo>
                  <a:pt x="0" y="254508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86350" y="517321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break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13304" y="5131308"/>
            <a:ext cx="584200" cy="254635"/>
          </a:xfrm>
          <a:custGeom>
            <a:avLst/>
            <a:gdLst/>
            <a:ahLst/>
            <a:cxnLst/>
            <a:rect l="l" t="t" r="r" b="b"/>
            <a:pathLst>
              <a:path w="584200" h="254635">
                <a:moveTo>
                  <a:pt x="291845" y="0"/>
                </a:moveTo>
                <a:lnTo>
                  <a:pt x="0" y="127254"/>
                </a:lnTo>
                <a:lnTo>
                  <a:pt x="291845" y="254508"/>
                </a:lnTo>
                <a:lnTo>
                  <a:pt x="583692" y="127254"/>
                </a:lnTo>
                <a:lnTo>
                  <a:pt x="2918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13304" y="5131308"/>
            <a:ext cx="584200" cy="254635"/>
          </a:xfrm>
          <a:custGeom>
            <a:avLst/>
            <a:gdLst/>
            <a:ahLst/>
            <a:cxnLst/>
            <a:rect l="l" t="t" r="r" b="b"/>
            <a:pathLst>
              <a:path w="584200" h="254635">
                <a:moveTo>
                  <a:pt x="0" y="127254"/>
                </a:moveTo>
                <a:lnTo>
                  <a:pt x="291845" y="0"/>
                </a:lnTo>
                <a:lnTo>
                  <a:pt x="583692" y="127254"/>
                </a:lnTo>
                <a:lnTo>
                  <a:pt x="291845" y="254508"/>
                </a:lnTo>
                <a:lnTo>
                  <a:pt x="0" y="12725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09697" y="517321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case  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x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49397" y="5386578"/>
            <a:ext cx="111760" cy="368935"/>
          </a:xfrm>
          <a:custGeom>
            <a:avLst/>
            <a:gdLst/>
            <a:ahLst/>
            <a:cxnLst/>
            <a:rect l="l" t="t" r="r" b="b"/>
            <a:pathLst>
              <a:path w="111760" h="368935">
                <a:moveTo>
                  <a:pt x="11048" y="261708"/>
                </a:moveTo>
                <a:lnTo>
                  <a:pt x="6350" y="264464"/>
                </a:lnTo>
                <a:lnTo>
                  <a:pt x="1523" y="267220"/>
                </a:lnTo>
                <a:lnTo>
                  <a:pt x="0" y="273291"/>
                </a:lnTo>
                <a:lnTo>
                  <a:pt x="2793" y="278015"/>
                </a:lnTo>
                <a:lnTo>
                  <a:pt x="55752" y="368884"/>
                </a:lnTo>
                <a:lnTo>
                  <a:pt x="67210" y="349224"/>
                </a:lnTo>
                <a:lnTo>
                  <a:pt x="45846" y="349224"/>
                </a:lnTo>
                <a:lnTo>
                  <a:pt x="45846" y="312664"/>
                </a:lnTo>
                <a:lnTo>
                  <a:pt x="19811" y="268033"/>
                </a:lnTo>
                <a:lnTo>
                  <a:pt x="17144" y="263309"/>
                </a:lnTo>
                <a:lnTo>
                  <a:pt x="11048" y="261708"/>
                </a:lnTo>
                <a:close/>
              </a:path>
              <a:path w="111760" h="368935">
                <a:moveTo>
                  <a:pt x="45846" y="312664"/>
                </a:moveTo>
                <a:lnTo>
                  <a:pt x="45846" y="349224"/>
                </a:lnTo>
                <a:lnTo>
                  <a:pt x="65658" y="349224"/>
                </a:lnTo>
                <a:lnTo>
                  <a:pt x="65658" y="344233"/>
                </a:lnTo>
                <a:lnTo>
                  <a:pt x="47243" y="344233"/>
                </a:lnTo>
                <a:lnTo>
                  <a:pt x="55752" y="329646"/>
                </a:lnTo>
                <a:lnTo>
                  <a:pt x="45846" y="312664"/>
                </a:lnTo>
                <a:close/>
              </a:path>
              <a:path w="111760" h="368935">
                <a:moveTo>
                  <a:pt x="100456" y="261708"/>
                </a:moveTo>
                <a:lnTo>
                  <a:pt x="94360" y="263309"/>
                </a:lnTo>
                <a:lnTo>
                  <a:pt x="91693" y="268033"/>
                </a:lnTo>
                <a:lnTo>
                  <a:pt x="65658" y="312664"/>
                </a:lnTo>
                <a:lnTo>
                  <a:pt x="65658" y="349224"/>
                </a:lnTo>
                <a:lnTo>
                  <a:pt x="67210" y="349224"/>
                </a:lnTo>
                <a:lnTo>
                  <a:pt x="108711" y="278015"/>
                </a:lnTo>
                <a:lnTo>
                  <a:pt x="111505" y="273291"/>
                </a:lnTo>
                <a:lnTo>
                  <a:pt x="109981" y="267220"/>
                </a:lnTo>
                <a:lnTo>
                  <a:pt x="105155" y="264464"/>
                </a:lnTo>
                <a:lnTo>
                  <a:pt x="100456" y="261708"/>
                </a:lnTo>
                <a:close/>
              </a:path>
              <a:path w="111760" h="368935">
                <a:moveTo>
                  <a:pt x="55752" y="329646"/>
                </a:moveTo>
                <a:lnTo>
                  <a:pt x="47243" y="344233"/>
                </a:lnTo>
                <a:lnTo>
                  <a:pt x="64261" y="344233"/>
                </a:lnTo>
                <a:lnTo>
                  <a:pt x="55752" y="329646"/>
                </a:lnTo>
                <a:close/>
              </a:path>
              <a:path w="111760" h="368935">
                <a:moveTo>
                  <a:pt x="65658" y="312664"/>
                </a:moveTo>
                <a:lnTo>
                  <a:pt x="55752" y="329646"/>
                </a:lnTo>
                <a:lnTo>
                  <a:pt x="64261" y="344233"/>
                </a:lnTo>
                <a:lnTo>
                  <a:pt x="65658" y="344233"/>
                </a:lnTo>
                <a:lnTo>
                  <a:pt x="65658" y="312664"/>
                </a:lnTo>
                <a:close/>
              </a:path>
              <a:path w="111760" h="368935">
                <a:moveTo>
                  <a:pt x="65658" y="0"/>
                </a:moveTo>
                <a:lnTo>
                  <a:pt x="45846" y="0"/>
                </a:lnTo>
                <a:lnTo>
                  <a:pt x="45846" y="312664"/>
                </a:lnTo>
                <a:lnTo>
                  <a:pt x="55752" y="329646"/>
                </a:lnTo>
                <a:lnTo>
                  <a:pt x="65658" y="312664"/>
                </a:lnTo>
                <a:lnTo>
                  <a:pt x="65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79826" y="5250179"/>
            <a:ext cx="2487295" cy="1143000"/>
          </a:xfrm>
          <a:custGeom>
            <a:avLst/>
            <a:gdLst/>
            <a:ahLst/>
            <a:cxnLst/>
            <a:rect l="l" t="t" r="r" b="b"/>
            <a:pathLst>
              <a:path w="2487295" h="1143000">
                <a:moveTo>
                  <a:pt x="95503" y="1031151"/>
                </a:moveTo>
                <a:lnTo>
                  <a:pt x="0" y="1086916"/>
                </a:lnTo>
                <a:lnTo>
                  <a:pt x="95503" y="1142682"/>
                </a:lnTo>
                <a:lnTo>
                  <a:pt x="101600" y="1141082"/>
                </a:lnTo>
                <a:lnTo>
                  <a:pt x="107187" y="1131633"/>
                </a:lnTo>
                <a:lnTo>
                  <a:pt x="105537" y="1125562"/>
                </a:lnTo>
                <a:lnTo>
                  <a:pt x="56283" y="1096822"/>
                </a:lnTo>
                <a:lnTo>
                  <a:pt x="19685" y="1096822"/>
                </a:lnTo>
                <a:lnTo>
                  <a:pt x="19685" y="1077010"/>
                </a:lnTo>
                <a:lnTo>
                  <a:pt x="56283" y="1077010"/>
                </a:lnTo>
                <a:lnTo>
                  <a:pt x="105537" y="1048270"/>
                </a:lnTo>
                <a:lnTo>
                  <a:pt x="107187" y="1042200"/>
                </a:lnTo>
                <a:lnTo>
                  <a:pt x="101600" y="1032751"/>
                </a:lnTo>
                <a:lnTo>
                  <a:pt x="95503" y="1031151"/>
                </a:lnTo>
                <a:close/>
              </a:path>
              <a:path w="2487295" h="1143000">
                <a:moveTo>
                  <a:pt x="56283" y="1077010"/>
                </a:moveTo>
                <a:lnTo>
                  <a:pt x="19685" y="1077010"/>
                </a:lnTo>
                <a:lnTo>
                  <a:pt x="19685" y="1096822"/>
                </a:lnTo>
                <a:lnTo>
                  <a:pt x="56283" y="1096822"/>
                </a:lnTo>
                <a:lnTo>
                  <a:pt x="53976" y="1095476"/>
                </a:lnTo>
                <a:lnTo>
                  <a:pt x="24637" y="1095476"/>
                </a:lnTo>
                <a:lnTo>
                  <a:pt x="24637" y="1078357"/>
                </a:lnTo>
                <a:lnTo>
                  <a:pt x="53976" y="1078357"/>
                </a:lnTo>
                <a:lnTo>
                  <a:pt x="56283" y="1077010"/>
                </a:lnTo>
                <a:close/>
              </a:path>
              <a:path w="2487295" h="1143000">
                <a:moveTo>
                  <a:pt x="2467102" y="1077010"/>
                </a:moveTo>
                <a:lnTo>
                  <a:pt x="56283" y="1077010"/>
                </a:lnTo>
                <a:lnTo>
                  <a:pt x="39307" y="1086916"/>
                </a:lnTo>
                <a:lnTo>
                  <a:pt x="56283" y="1096822"/>
                </a:lnTo>
                <a:lnTo>
                  <a:pt x="2482469" y="1096822"/>
                </a:lnTo>
                <a:lnTo>
                  <a:pt x="2486914" y="1092390"/>
                </a:lnTo>
                <a:lnTo>
                  <a:pt x="2486914" y="1086916"/>
                </a:lnTo>
                <a:lnTo>
                  <a:pt x="2467102" y="1086916"/>
                </a:lnTo>
                <a:lnTo>
                  <a:pt x="2467102" y="1077010"/>
                </a:lnTo>
                <a:close/>
              </a:path>
              <a:path w="2487295" h="1143000">
                <a:moveTo>
                  <a:pt x="24637" y="1078357"/>
                </a:moveTo>
                <a:lnTo>
                  <a:pt x="24637" y="1095476"/>
                </a:lnTo>
                <a:lnTo>
                  <a:pt x="39307" y="1086916"/>
                </a:lnTo>
                <a:lnTo>
                  <a:pt x="24637" y="1078357"/>
                </a:lnTo>
                <a:close/>
              </a:path>
              <a:path w="2487295" h="1143000">
                <a:moveTo>
                  <a:pt x="39307" y="1086916"/>
                </a:moveTo>
                <a:lnTo>
                  <a:pt x="24637" y="1095476"/>
                </a:lnTo>
                <a:lnTo>
                  <a:pt x="53976" y="1095476"/>
                </a:lnTo>
                <a:lnTo>
                  <a:pt x="39307" y="1086916"/>
                </a:lnTo>
                <a:close/>
              </a:path>
              <a:path w="2487295" h="1143000">
                <a:moveTo>
                  <a:pt x="53976" y="1078357"/>
                </a:moveTo>
                <a:lnTo>
                  <a:pt x="24637" y="1078357"/>
                </a:lnTo>
                <a:lnTo>
                  <a:pt x="39307" y="1086916"/>
                </a:lnTo>
                <a:lnTo>
                  <a:pt x="53976" y="1078357"/>
                </a:lnTo>
                <a:close/>
              </a:path>
              <a:path w="2487295" h="1143000">
                <a:moveTo>
                  <a:pt x="2467102" y="9906"/>
                </a:moveTo>
                <a:lnTo>
                  <a:pt x="2467102" y="1086916"/>
                </a:lnTo>
                <a:lnTo>
                  <a:pt x="2477008" y="1077010"/>
                </a:lnTo>
                <a:lnTo>
                  <a:pt x="2486914" y="1077010"/>
                </a:lnTo>
                <a:lnTo>
                  <a:pt x="2486914" y="19812"/>
                </a:lnTo>
                <a:lnTo>
                  <a:pt x="2477008" y="19812"/>
                </a:lnTo>
                <a:lnTo>
                  <a:pt x="2467102" y="9906"/>
                </a:lnTo>
                <a:close/>
              </a:path>
              <a:path w="2487295" h="1143000">
                <a:moveTo>
                  <a:pt x="2486914" y="1077010"/>
                </a:moveTo>
                <a:lnTo>
                  <a:pt x="2477008" y="1077010"/>
                </a:lnTo>
                <a:lnTo>
                  <a:pt x="2467102" y="1086916"/>
                </a:lnTo>
                <a:lnTo>
                  <a:pt x="2486914" y="1086916"/>
                </a:lnTo>
                <a:lnTo>
                  <a:pt x="2486914" y="1077010"/>
                </a:lnTo>
                <a:close/>
              </a:path>
              <a:path w="2487295" h="1143000">
                <a:moveTo>
                  <a:pt x="2482469" y="0"/>
                </a:moveTo>
                <a:lnTo>
                  <a:pt x="2294254" y="0"/>
                </a:lnTo>
                <a:lnTo>
                  <a:pt x="2294254" y="19812"/>
                </a:lnTo>
                <a:lnTo>
                  <a:pt x="2467102" y="19812"/>
                </a:lnTo>
                <a:lnTo>
                  <a:pt x="2467102" y="9906"/>
                </a:lnTo>
                <a:lnTo>
                  <a:pt x="2486914" y="9906"/>
                </a:lnTo>
                <a:lnTo>
                  <a:pt x="2486914" y="4445"/>
                </a:lnTo>
                <a:lnTo>
                  <a:pt x="2482469" y="0"/>
                </a:lnTo>
                <a:close/>
              </a:path>
              <a:path w="2487295" h="1143000">
                <a:moveTo>
                  <a:pt x="2486914" y="9906"/>
                </a:moveTo>
                <a:lnTo>
                  <a:pt x="2467102" y="9906"/>
                </a:lnTo>
                <a:lnTo>
                  <a:pt x="2477008" y="19812"/>
                </a:lnTo>
                <a:lnTo>
                  <a:pt x="2486914" y="19812"/>
                </a:lnTo>
                <a:lnTo>
                  <a:pt x="2486914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26664" y="6243828"/>
            <a:ext cx="158495" cy="184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50285" y="6422796"/>
            <a:ext cx="111760" cy="255904"/>
          </a:xfrm>
          <a:custGeom>
            <a:avLst/>
            <a:gdLst/>
            <a:ahLst/>
            <a:cxnLst/>
            <a:rect l="l" t="t" r="r" b="b"/>
            <a:pathLst>
              <a:path w="111760" h="255904">
                <a:moveTo>
                  <a:pt x="11175" y="147764"/>
                </a:moveTo>
                <a:lnTo>
                  <a:pt x="6476" y="150482"/>
                </a:lnTo>
                <a:lnTo>
                  <a:pt x="1650" y="153187"/>
                </a:lnTo>
                <a:lnTo>
                  <a:pt x="0" y="159232"/>
                </a:lnTo>
                <a:lnTo>
                  <a:pt x="2793" y="163995"/>
                </a:lnTo>
                <a:lnTo>
                  <a:pt x="54863" y="255384"/>
                </a:lnTo>
                <a:lnTo>
                  <a:pt x="66522" y="235826"/>
                </a:lnTo>
                <a:lnTo>
                  <a:pt x="65024" y="235826"/>
                </a:lnTo>
                <a:lnTo>
                  <a:pt x="45212" y="235623"/>
                </a:lnTo>
                <a:lnTo>
                  <a:pt x="45565" y="199136"/>
                </a:lnTo>
                <a:lnTo>
                  <a:pt x="19938" y="154178"/>
                </a:lnTo>
                <a:lnTo>
                  <a:pt x="17271" y="149428"/>
                </a:lnTo>
                <a:lnTo>
                  <a:pt x="11175" y="147764"/>
                </a:lnTo>
                <a:close/>
              </a:path>
              <a:path w="111760" h="255904">
                <a:moveTo>
                  <a:pt x="45565" y="199136"/>
                </a:moveTo>
                <a:lnTo>
                  <a:pt x="45212" y="235623"/>
                </a:lnTo>
                <a:lnTo>
                  <a:pt x="65024" y="235826"/>
                </a:lnTo>
                <a:lnTo>
                  <a:pt x="65072" y="230822"/>
                </a:lnTo>
                <a:lnTo>
                  <a:pt x="63626" y="230822"/>
                </a:lnTo>
                <a:lnTo>
                  <a:pt x="46608" y="230644"/>
                </a:lnTo>
                <a:lnTo>
                  <a:pt x="55260" y="216145"/>
                </a:lnTo>
                <a:lnTo>
                  <a:pt x="45565" y="199136"/>
                </a:lnTo>
                <a:close/>
              </a:path>
              <a:path w="111760" h="255904">
                <a:moveTo>
                  <a:pt x="100583" y="148653"/>
                </a:moveTo>
                <a:lnTo>
                  <a:pt x="94614" y="150190"/>
                </a:lnTo>
                <a:lnTo>
                  <a:pt x="65379" y="199186"/>
                </a:lnTo>
                <a:lnTo>
                  <a:pt x="65024" y="235826"/>
                </a:lnTo>
                <a:lnTo>
                  <a:pt x="66522" y="235826"/>
                </a:lnTo>
                <a:lnTo>
                  <a:pt x="108712" y="165049"/>
                </a:lnTo>
                <a:lnTo>
                  <a:pt x="111632" y="160350"/>
                </a:lnTo>
                <a:lnTo>
                  <a:pt x="109981" y="154266"/>
                </a:lnTo>
                <a:lnTo>
                  <a:pt x="100583" y="148653"/>
                </a:lnTo>
                <a:close/>
              </a:path>
              <a:path w="111760" h="255904">
                <a:moveTo>
                  <a:pt x="55260" y="216145"/>
                </a:moveTo>
                <a:lnTo>
                  <a:pt x="46608" y="230644"/>
                </a:lnTo>
                <a:lnTo>
                  <a:pt x="63626" y="230822"/>
                </a:lnTo>
                <a:lnTo>
                  <a:pt x="55260" y="216145"/>
                </a:lnTo>
                <a:close/>
              </a:path>
              <a:path w="111760" h="255904">
                <a:moveTo>
                  <a:pt x="65379" y="199186"/>
                </a:moveTo>
                <a:lnTo>
                  <a:pt x="55260" y="216145"/>
                </a:lnTo>
                <a:lnTo>
                  <a:pt x="63626" y="230822"/>
                </a:lnTo>
                <a:lnTo>
                  <a:pt x="65072" y="230822"/>
                </a:lnTo>
                <a:lnTo>
                  <a:pt x="65379" y="199186"/>
                </a:lnTo>
                <a:close/>
              </a:path>
              <a:path w="111760" h="255904">
                <a:moveTo>
                  <a:pt x="47497" y="0"/>
                </a:moveTo>
                <a:lnTo>
                  <a:pt x="45565" y="199136"/>
                </a:lnTo>
                <a:lnTo>
                  <a:pt x="55260" y="216145"/>
                </a:lnTo>
                <a:lnTo>
                  <a:pt x="65379" y="199186"/>
                </a:lnTo>
                <a:lnTo>
                  <a:pt x="67309" y="203"/>
                </a:lnTo>
                <a:lnTo>
                  <a:pt x="474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55748" y="5754623"/>
            <a:ext cx="1097280" cy="256540"/>
          </a:xfrm>
          <a:custGeom>
            <a:avLst/>
            <a:gdLst/>
            <a:ahLst/>
            <a:cxnLst/>
            <a:rect l="l" t="t" r="r" b="b"/>
            <a:pathLst>
              <a:path w="1097279" h="256539">
                <a:moveTo>
                  <a:pt x="0" y="256031"/>
                </a:moveTo>
                <a:lnTo>
                  <a:pt x="1097279" y="256031"/>
                </a:lnTo>
                <a:lnTo>
                  <a:pt x="1097279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55748" y="5754623"/>
            <a:ext cx="1097280" cy="256540"/>
          </a:xfrm>
          <a:custGeom>
            <a:avLst/>
            <a:gdLst/>
            <a:ahLst/>
            <a:cxnLst/>
            <a:rect l="l" t="t" r="r" b="b"/>
            <a:pathLst>
              <a:path w="1097279" h="256539">
                <a:moveTo>
                  <a:pt x="0" y="256031"/>
                </a:moveTo>
                <a:lnTo>
                  <a:pt x="1097279" y="256031"/>
                </a:lnTo>
                <a:lnTo>
                  <a:pt x="1097279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27757" y="5557824"/>
            <a:ext cx="982980" cy="40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false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900" b="1" spc="-10" dirty="0">
                <a:solidFill>
                  <a:srgbClr val="696363"/>
                </a:solidFill>
                <a:latin typeface="Courier New"/>
                <a:cs typeface="Courier New"/>
              </a:rPr>
              <a:t>default</a:t>
            </a:r>
            <a:r>
              <a:rPr sz="900" b="1" spc="-4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696363"/>
                </a:solidFill>
                <a:latin typeface="Courier New"/>
                <a:cs typeface="Courier New"/>
              </a:rPr>
              <a:t>action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50158" y="6011367"/>
            <a:ext cx="111506" cy="240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97758" y="2979292"/>
            <a:ext cx="379730" cy="111760"/>
          </a:xfrm>
          <a:custGeom>
            <a:avLst/>
            <a:gdLst/>
            <a:ahLst/>
            <a:cxnLst/>
            <a:rect l="l" t="t" r="r" b="b"/>
            <a:pathLst>
              <a:path w="379729" h="111760">
                <a:moveTo>
                  <a:pt x="340251" y="55753"/>
                </a:moveTo>
                <a:lnTo>
                  <a:pt x="278638" y="91694"/>
                </a:lnTo>
                <a:lnTo>
                  <a:pt x="273938" y="94361"/>
                </a:lnTo>
                <a:lnTo>
                  <a:pt x="272288" y="100457"/>
                </a:lnTo>
                <a:lnTo>
                  <a:pt x="275081" y="105156"/>
                </a:lnTo>
                <a:lnTo>
                  <a:pt x="277749" y="109982"/>
                </a:lnTo>
                <a:lnTo>
                  <a:pt x="283844" y="111506"/>
                </a:lnTo>
                <a:lnTo>
                  <a:pt x="288543" y="108712"/>
                </a:lnTo>
                <a:lnTo>
                  <a:pt x="362467" y="65659"/>
                </a:lnTo>
                <a:lnTo>
                  <a:pt x="359790" y="65659"/>
                </a:lnTo>
                <a:lnTo>
                  <a:pt x="359790" y="64262"/>
                </a:lnTo>
                <a:lnTo>
                  <a:pt x="354838" y="64262"/>
                </a:lnTo>
                <a:lnTo>
                  <a:pt x="340251" y="55753"/>
                </a:lnTo>
                <a:close/>
              </a:path>
              <a:path w="379729" h="111760">
                <a:moveTo>
                  <a:pt x="189737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84276" y="65659"/>
                </a:lnTo>
                <a:lnTo>
                  <a:pt x="179831" y="61214"/>
                </a:lnTo>
                <a:lnTo>
                  <a:pt x="179831" y="55753"/>
                </a:lnTo>
                <a:lnTo>
                  <a:pt x="199643" y="55753"/>
                </a:lnTo>
                <a:lnTo>
                  <a:pt x="189737" y="45847"/>
                </a:lnTo>
                <a:close/>
              </a:path>
              <a:path w="379729" h="111760">
                <a:moveTo>
                  <a:pt x="179831" y="55753"/>
                </a:moveTo>
                <a:lnTo>
                  <a:pt x="179831" y="61214"/>
                </a:lnTo>
                <a:lnTo>
                  <a:pt x="184276" y="65659"/>
                </a:lnTo>
                <a:lnTo>
                  <a:pt x="189737" y="65659"/>
                </a:lnTo>
                <a:lnTo>
                  <a:pt x="179831" y="55753"/>
                </a:lnTo>
                <a:close/>
              </a:path>
              <a:path w="379729" h="111760">
                <a:moveTo>
                  <a:pt x="323269" y="45847"/>
                </a:moveTo>
                <a:lnTo>
                  <a:pt x="195199" y="45847"/>
                </a:lnTo>
                <a:lnTo>
                  <a:pt x="199643" y="50292"/>
                </a:lnTo>
                <a:lnTo>
                  <a:pt x="199643" y="55753"/>
                </a:lnTo>
                <a:lnTo>
                  <a:pt x="179831" y="55753"/>
                </a:lnTo>
                <a:lnTo>
                  <a:pt x="189737" y="65659"/>
                </a:lnTo>
                <a:lnTo>
                  <a:pt x="323269" y="65659"/>
                </a:lnTo>
                <a:lnTo>
                  <a:pt x="340251" y="55753"/>
                </a:lnTo>
                <a:lnTo>
                  <a:pt x="323269" y="45847"/>
                </a:lnTo>
                <a:close/>
              </a:path>
              <a:path w="379729" h="111760">
                <a:moveTo>
                  <a:pt x="362467" y="45847"/>
                </a:moveTo>
                <a:lnTo>
                  <a:pt x="359790" y="45847"/>
                </a:lnTo>
                <a:lnTo>
                  <a:pt x="359790" y="65659"/>
                </a:lnTo>
                <a:lnTo>
                  <a:pt x="362467" y="65659"/>
                </a:lnTo>
                <a:lnTo>
                  <a:pt x="379475" y="55753"/>
                </a:lnTo>
                <a:lnTo>
                  <a:pt x="362467" y="45847"/>
                </a:lnTo>
                <a:close/>
              </a:path>
              <a:path w="379729" h="111760">
                <a:moveTo>
                  <a:pt x="354838" y="47244"/>
                </a:moveTo>
                <a:lnTo>
                  <a:pt x="340251" y="55753"/>
                </a:lnTo>
                <a:lnTo>
                  <a:pt x="354838" y="64262"/>
                </a:lnTo>
                <a:lnTo>
                  <a:pt x="354838" y="47244"/>
                </a:lnTo>
                <a:close/>
              </a:path>
              <a:path w="379729" h="111760">
                <a:moveTo>
                  <a:pt x="359790" y="47244"/>
                </a:moveTo>
                <a:lnTo>
                  <a:pt x="354838" y="47244"/>
                </a:lnTo>
                <a:lnTo>
                  <a:pt x="354838" y="64262"/>
                </a:lnTo>
                <a:lnTo>
                  <a:pt x="359790" y="64262"/>
                </a:lnTo>
                <a:lnTo>
                  <a:pt x="359790" y="47244"/>
                </a:lnTo>
                <a:close/>
              </a:path>
              <a:path w="379729" h="111760">
                <a:moveTo>
                  <a:pt x="195199" y="45847"/>
                </a:moveTo>
                <a:lnTo>
                  <a:pt x="189737" y="45847"/>
                </a:lnTo>
                <a:lnTo>
                  <a:pt x="199643" y="55753"/>
                </a:lnTo>
                <a:lnTo>
                  <a:pt x="199643" y="50292"/>
                </a:lnTo>
                <a:lnTo>
                  <a:pt x="195199" y="45847"/>
                </a:lnTo>
                <a:close/>
              </a:path>
              <a:path w="379729" h="111760">
                <a:moveTo>
                  <a:pt x="283844" y="0"/>
                </a:moveTo>
                <a:lnTo>
                  <a:pt x="277749" y="1524"/>
                </a:lnTo>
                <a:lnTo>
                  <a:pt x="275081" y="6350"/>
                </a:lnTo>
                <a:lnTo>
                  <a:pt x="272288" y="11049"/>
                </a:lnTo>
                <a:lnTo>
                  <a:pt x="273938" y="17145"/>
                </a:lnTo>
                <a:lnTo>
                  <a:pt x="278638" y="19812"/>
                </a:lnTo>
                <a:lnTo>
                  <a:pt x="340251" y="55753"/>
                </a:lnTo>
                <a:lnTo>
                  <a:pt x="354838" y="47244"/>
                </a:lnTo>
                <a:lnTo>
                  <a:pt x="359790" y="47244"/>
                </a:lnTo>
                <a:lnTo>
                  <a:pt x="359790" y="45847"/>
                </a:lnTo>
                <a:lnTo>
                  <a:pt x="362467" y="45847"/>
                </a:lnTo>
                <a:lnTo>
                  <a:pt x="288543" y="2794"/>
                </a:lnTo>
                <a:lnTo>
                  <a:pt x="2838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49397" y="2667761"/>
            <a:ext cx="111505" cy="2390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43805" y="2979292"/>
            <a:ext cx="346710" cy="111760"/>
          </a:xfrm>
          <a:custGeom>
            <a:avLst/>
            <a:gdLst/>
            <a:ahLst/>
            <a:cxnLst/>
            <a:rect l="l" t="t" r="r" b="b"/>
            <a:pathLst>
              <a:path w="346710" h="111760">
                <a:moveTo>
                  <a:pt x="307231" y="55753"/>
                </a:moveTo>
                <a:lnTo>
                  <a:pt x="245618" y="91694"/>
                </a:lnTo>
                <a:lnTo>
                  <a:pt x="240919" y="94361"/>
                </a:lnTo>
                <a:lnTo>
                  <a:pt x="239268" y="100457"/>
                </a:lnTo>
                <a:lnTo>
                  <a:pt x="242062" y="105156"/>
                </a:lnTo>
                <a:lnTo>
                  <a:pt x="244856" y="109982"/>
                </a:lnTo>
                <a:lnTo>
                  <a:pt x="250825" y="111506"/>
                </a:lnTo>
                <a:lnTo>
                  <a:pt x="329470" y="65659"/>
                </a:lnTo>
                <a:lnTo>
                  <a:pt x="326771" y="65659"/>
                </a:lnTo>
                <a:lnTo>
                  <a:pt x="326771" y="64262"/>
                </a:lnTo>
                <a:lnTo>
                  <a:pt x="321818" y="64262"/>
                </a:lnTo>
                <a:lnTo>
                  <a:pt x="307231" y="55753"/>
                </a:lnTo>
                <a:close/>
              </a:path>
              <a:path w="346710" h="111760">
                <a:moveTo>
                  <a:pt x="167767" y="45847"/>
                </a:moveTo>
                <a:lnTo>
                  <a:pt x="0" y="45847"/>
                </a:lnTo>
                <a:lnTo>
                  <a:pt x="0" y="65659"/>
                </a:lnTo>
                <a:lnTo>
                  <a:pt x="173228" y="65659"/>
                </a:lnTo>
                <a:lnTo>
                  <a:pt x="183134" y="55753"/>
                </a:lnTo>
                <a:lnTo>
                  <a:pt x="163322" y="55753"/>
                </a:lnTo>
                <a:lnTo>
                  <a:pt x="163322" y="50292"/>
                </a:lnTo>
                <a:lnTo>
                  <a:pt x="167767" y="45847"/>
                </a:lnTo>
                <a:close/>
              </a:path>
              <a:path w="346710" h="111760">
                <a:moveTo>
                  <a:pt x="183134" y="55753"/>
                </a:moveTo>
                <a:lnTo>
                  <a:pt x="173228" y="65659"/>
                </a:lnTo>
                <a:lnTo>
                  <a:pt x="178689" y="65659"/>
                </a:lnTo>
                <a:lnTo>
                  <a:pt x="183134" y="61214"/>
                </a:lnTo>
                <a:lnTo>
                  <a:pt x="183134" y="55753"/>
                </a:lnTo>
                <a:close/>
              </a:path>
              <a:path w="346710" h="111760">
                <a:moveTo>
                  <a:pt x="290249" y="45847"/>
                </a:moveTo>
                <a:lnTo>
                  <a:pt x="173228" y="45847"/>
                </a:lnTo>
                <a:lnTo>
                  <a:pt x="163322" y="55753"/>
                </a:lnTo>
                <a:lnTo>
                  <a:pt x="183134" y="55753"/>
                </a:lnTo>
                <a:lnTo>
                  <a:pt x="183134" y="61214"/>
                </a:lnTo>
                <a:lnTo>
                  <a:pt x="178689" y="65659"/>
                </a:lnTo>
                <a:lnTo>
                  <a:pt x="290249" y="65659"/>
                </a:lnTo>
                <a:lnTo>
                  <a:pt x="307231" y="55753"/>
                </a:lnTo>
                <a:lnTo>
                  <a:pt x="290249" y="45847"/>
                </a:lnTo>
                <a:close/>
              </a:path>
              <a:path w="346710" h="111760">
                <a:moveTo>
                  <a:pt x="329470" y="45847"/>
                </a:moveTo>
                <a:lnTo>
                  <a:pt x="326771" y="45847"/>
                </a:lnTo>
                <a:lnTo>
                  <a:pt x="326771" y="65659"/>
                </a:lnTo>
                <a:lnTo>
                  <a:pt x="329470" y="65659"/>
                </a:lnTo>
                <a:lnTo>
                  <a:pt x="346456" y="55753"/>
                </a:lnTo>
                <a:lnTo>
                  <a:pt x="329470" y="45847"/>
                </a:lnTo>
                <a:close/>
              </a:path>
              <a:path w="346710" h="111760">
                <a:moveTo>
                  <a:pt x="321818" y="47244"/>
                </a:moveTo>
                <a:lnTo>
                  <a:pt x="307231" y="55753"/>
                </a:lnTo>
                <a:lnTo>
                  <a:pt x="321818" y="64262"/>
                </a:lnTo>
                <a:lnTo>
                  <a:pt x="321818" y="47244"/>
                </a:lnTo>
                <a:close/>
              </a:path>
              <a:path w="346710" h="111760">
                <a:moveTo>
                  <a:pt x="326771" y="47244"/>
                </a:moveTo>
                <a:lnTo>
                  <a:pt x="321818" y="47244"/>
                </a:lnTo>
                <a:lnTo>
                  <a:pt x="321818" y="64262"/>
                </a:lnTo>
                <a:lnTo>
                  <a:pt x="326771" y="64262"/>
                </a:lnTo>
                <a:lnTo>
                  <a:pt x="326771" y="47244"/>
                </a:lnTo>
                <a:close/>
              </a:path>
              <a:path w="346710" h="111760">
                <a:moveTo>
                  <a:pt x="173228" y="45847"/>
                </a:moveTo>
                <a:lnTo>
                  <a:pt x="167767" y="45847"/>
                </a:lnTo>
                <a:lnTo>
                  <a:pt x="163322" y="50292"/>
                </a:lnTo>
                <a:lnTo>
                  <a:pt x="163322" y="55753"/>
                </a:lnTo>
                <a:lnTo>
                  <a:pt x="173228" y="45847"/>
                </a:lnTo>
                <a:close/>
              </a:path>
              <a:path w="346710" h="111760">
                <a:moveTo>
                  <a:pt x="250825" y="0"/>
                </a:moveTo>
                <a:lnTo>
                  <a:pt x="244856" y="1524"/>
                </a:lnTo>
                <a:lnTo>
                  <a:pt x="242062" y="6350"/>
                </a:lnTo>
                <a:lnTo>
                  <a:pt x="239268" y="11049"/>
                </a:lnTo>
                <a:lnTo>
                  <a:pt x="240919" y="17145"/>
                </a:lnTo>
                <a:lnTo>
                  <a:pt x="245618" y="19812"/>
                </a:lnTo>
                <a:lnTo>
                  <a:pt x="307231" y="55753"/>
                </a:lnTo>
                <a:lnTo>
                  <a:pt x="321818" y="47244"/>
                </a:lnTo>
                <a:lnTo>
                  <a:pt x="326771" y="47244"/>
                </a:lnTo>
                <a:lnTo>
                  <a:pt x="326771" y="45847"/>
                </a:lnTo>
                <a:lnTo>
                  <a:pt x="329470" y="45847"/>
                </a:lnTo>
                <a:lnTo>
                  <a:pt x="250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44036" y="2842005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true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76471" y="2906267"/>
            <a:ext cx="767080" cy="254635"/>
          </a:xfrm>
          <a:custGeom>
            <a:avLst/>
            <a:gdLst/>
            <a:ahLst/>
            <a:cxnLst/>
            <a:rect l="l" t="t" r="r" b="b"/>
            <a:pathLst>
              <a:path w="767079" h="254635">
                <a:moveTo>
                  <a:pt x="0" y="254508"/>
                </a:moveTo>
                <a:lnTo>
                  <a:pt x="766572" y="254508"/>
                </a:lnTo>
                <a:lnTo>
                  <a:pt x="766572" y="0"/>
                </a:lnTo>
                <a:lnTo>
                  <a:pt x="0" y="0"/>
                </a:lnTo>
                <a:lnTo>
                  <a:pt x="0" y="25450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8991" y="2906267"/>
            <a:ext cx="585470" cy="254635"/>
          </a:xfrm>
          <a:custGeom>
            <a:avLst/>
            <a:gdLst/>
            <a:ahLst/>
            <a:cxnLst/>
            <a:rect l="l" t="t" r="r" b="b"/>
            <a:pathLst>
              <a:path w="585470" h="254635">
                <a:moveTo>
                  <a:pt x="0" y="254508"/>
                </a:moveTo>
                <a:lnTo>
                  <a:pt x="585215" y="254508"/>
                </a:lnTo>
                <a:lnTo>
                  <a:pt x="585215" y="0"/>
                </a:lnTo>
                <a:lnTo>
                  <a:pt x="0" y="0"/>
                </a:lnTo>
                <a:lnTo>
                  <a:pt x="0" y="25450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13304" y="2906267"/>
            <a:ext cx="584200" cy="254635"/>
          </a:xfrm>
          <a:custGeom>
            <a:avLst/>
            <a:gdLst/>
            <a:ahLst/>
            <a:cxnLst/>
            <a:rect l="l" t="t" r="r" b="b"/>
            <a:pathLst>
              <a:path w="584200" h="254635">
                <a:moveTo>
                  <a:pt x="291845" y="0"/>
                </a:moveTo>
                <a:lnTo>
                  <a:pt x="0" y="127254"/>
                </a:lnTo>
                <a:lnTo>
                  <a:pt x="291845" y="254508"/>
                </a:lnTo>
                <a:lnTo>
                  <a:pt x="583692" y="127254"/>
                </a:lnTo>
                <a:lnTo>
                  <a:pt x="2918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13304" y="2906267"/>
            <a:ext cx="584200" cy="254635"/>
          </a:xfrm>
          <a:custGeom>
            <a:avLst/>
            <a:gdLst/>
            <a:ahLst/>
            <a:cxnLst/>
            <a:rect l="l" t="t" r="r" b="b"/>
            <a:pathLst>
              <a:path w="584200" h="254635">
                <a:moveTo>
                  <a:pt x="0" y="127254"/>
                </a:moveTo>
                <a:lnTo>
                  <a:pt x="291845" y="0"/>
                </a:lnTo>
                <a:lnTo>
                  <a:pt x="583692" y="127254"/>
                </a:lnTo>
                <a:lnTo>
                  <a:pt x="291845" y="254508"/>
                </a:lnTo>
                <a:lnTo>
                  <a:pt x="0" y="12725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909697" y="2947542"/>
            <a:ext cx="1571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  <a:tabLst>
                <a:tab pos="1010919" algn="l"/>
              </a:tabLst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case	action</a:t>
            </a:r>
            <a:r>
              <a:rPr sz="900" b="1" spc="-95" dirty="0">
                <a:solidFill>
                  <a:srgbClr val="696363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a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a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126" y="3163061"/>
            <a:ext cx="111760" cy="412115"/>
          </a:xfrm>
          <a:custGeom>
            <a:avLst/>
            <a:gdLst/>
            <a:ahLst/>
            <a:cxnLst/>
            <a:rect l="l" t="t" r="r" b="b"/>
            <a:pathLst>
              <a:path w="111760" h="412114">
                <a:moveTo>
                  <a:pt x="11175" y="304418"/>
                </a:moveTo>
                <a:lnTo>
                  <a:pt x="6350" y="307086"/>
                </a:lnTo>
                <a:lnTo>
                  <a:pt x="1650" y="309879"/>
                </a:lnTo>
                <a:lnTo>
                  <a:pt x="0" y="315849"/>
                </a:lnTo>
                <a:lnTo>
                  <a:pt x="55499" y="411607"/>
                </a:lnTo>
                <a:lnTo>
                  <a:pt x="67003" y="392049"/>
                </a:lnTo>
                <a:lnTo>
                  <a:pt x="45593" y="391922"/>
                </a:lnTo>
                <a:lnTo>
                  <a:pt x="45711" y="355278"/>
                </a:lnTo>
                <a:lnTo>
                  <a:pt x="17145" y="305942"/>
                </a:lnTo>
                <a:lnTo>
                  <a:pt x="11175" y="304418"/>
                </a:lnTo>
                <a:close/>
              </a:path>
              <a:path w="111760" h="412114">
                <a:moveTo>
                  <a:pt x="45711" y="355278"/>
                </a:moveTo>
                <a:lnTo>
                  <a:pt x="45593" y="391922"/>
                </a:lnTo>
                <a:lnTo>
                  <a:pt x="65405" y="392049"/>
                </a:lnTo>
                <a:lnTo>
                  <a:pt x="65421" y="387096"/>
                </a:lnTo>
                <a:lnTo>
                  <a:pt x="46990" y="386968"/>
                </a:lnTo>
                <a:lnTo>
                  <a:pt x="55588" y="372336"/>
                </a:lnTo>
                <a:lnTo>
                  <a:pt x="45711" y="355278"/>
                </a:lnTo>
                <a:close/>
              </a:path>
              <a:path w="111760" h="412114">
                <a:moveTo>
                  <a:pt x="100584" y="304673"/>
                </a:moveTo>
                <a:lnTo>
                  <a:pt x="94487" y="306197"/>
                </a:lnTo>
                <a:lnTo>
                  <a:pt x="91693" y="310896"/>
                </a:lnTo>
                <a:lnTo>
                  <a:pt x="65523" y="355430"/>
                </a:lnTo>
                <a:lnTo>
                  <a:pt x="65405" y="392049"/>
                </a:lnTo>
                <a:lnTo>
                  <a:pt x="67003" y="392049"/>
                </a:lnTo>
                <a:lnTo>
                  <a:pt x="108839" y="320928"/>
                </a:lnTo>
                <a:lnTo>
                  <a:pt x="111506" y="316229"/>
                </a:lnTo>
                <a:lnTo>
                  <a:pt x="109981" y="310134"/>
                </a:lnTo>
                <a:lnTo>
                  <a:pt x="105283" y="307466"/>
                </a:lnTo>
                <a:lnTo>
                  <a:pt x="100584" y="304673"/>
                </a:lnTo>
                <a:close/>
              </a:path>
              <a:path w="111760" h="412114">
                <a:moveTo>
                  <a:pt x="55588" y="372336"/>
                </a:moveTo>
                <a:lnTo>
                  <a:pt x="46990" y="386968"/>
                </a:lnTo>
                <a:lnTo>
                  <a:pt x="64135" y="387096"/>
                </a:lnTo>
                <a:lnTo>
                  <a:pt x="55588" y="372336"/>
                </a:lnTo>
                <a:close/>
              </a:path>
              <a:path w="111760" h="412114">
                <a:moveTo>
                  <a:pt x="65523" y="355430"/>
                </a:moveTo>
                <a:lnTo>
                  <a:pt x="55588" y="372336"/>
                </a:lnTo>
                <a:lnTo>
                  <a:pt x="64135" y="387096"/>
                </a:lnTo>
                <a:lnTo>
                  <a:pt x="65421" y="387096"/>
                </a:lnTo>
                <a:lnTo>
                  <a:pt x="65523" y="355430"/>
                </a:lnTo>
                <a:close/>
              </a:path>
              <a:path w="111760" h="412114">
                <a:moveTo>
                  <a:pt x="66675" y="0"/>
                </a:moveTo>
                <a:lnTo>
                  <a:pt x="46862" y="0"/>
                </a:lnTo>
                <a:lnTo>
                  <a:pt x="45876" y="304418"/>
                </a:lnTo>
                <a:lnTo>
                  <a:pt x="45799" y="355430"/>
                </a:lnTo>
                <a:lnTo>
                  <a:pt x="55588" y="372336"/>
                </a:lnTo>
                <a:lnTo>
                  <a:pt x="65523" y="355430"/>
                </a:lnTo>
                <a:lnTo>
                  <a:pt x="66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79826" y="3025139"/>
            <a:ext cx="2487295" cy="3368040"/>
          </a:xfrm>
          <a:custGeom>
            <a:avLst/>
            <a:gdLst/>
            <a:ahLst/>
            <a:cxnLst/>
            <a:rect l="l" t="t" r="r" b="b"/>
            <a:pathLst>
              <a:path w="2487295" h="3368040">
                <a:moveTo>
                  <a:pt x="95503" y="3255987"/>
                </a:moveTo>
                <a:lnTo>
                  <a:pt x="0" y="3311753"/>
                </a:lnTo>
                <a:lnTo>
                  <a:pt x="95503" y="3367519"/>
                </a:lnTo>
                <a:lnTo>
                  <a:pt x="101600" y="3365919"/>
                </a:lnTo>
                <a:lnTo>
                  <a:pt x="107187" y="3356470"/>
                </a:lnTo>
                <a:lnTo>
                  <a:pt x="105537" y="3350399"/>
                </a:lnTo>
                <a:lnTo>
                  <a:pt x="56283" y="3321659"/>
                </a:lnTo>
                <a:lnTo>
                  <a:pt x="19557" y="3321659"/>
                </a:lnTo>
                <a:lnTo>
                  <a:pt x="19557" y="3301847"/>
                </a:lnTo>
                <a:lnTo>
                  <a:pt x="56283" y="3301847"/>
                </a:lnTo>
                <a:lnTo>
                  <a:pt x="105537" y="3273107"/>
                </a:lnTo>
                <a:lnTo>
                  <a:pt x="107187" y="3267036"/>
                </a:lnTo>
                <a:lnTo>
                  <a:pt x="101600" y="3257588"/>
                </a:lnTo>
                <a:lnTo>
                  <a:pt x="95503" y="3255987"/>
                </a:lnTo>
                <a:close/>
              </a:path>
              <a:path w="2487295" h="3368040">
                <a:moveTo>
                  <a:pt x="56283" y="3301847"/>
                </a:moveTo>
                <a:lnTo>
                  <a:pt x="19557" y="3301847"/>
                </a:lnTo>
                <a:lnTo>
                  <a:pt x="19557" y="3321659"/>
                </a:lnTo>
                <a:lnTo>
                  <a:pt x="56283" y="3321659"/>
                </a:lnTo>
                <a:lnTo>
                  <a:pt x="53976" y="3320313"/>
                </a:lnTo>
                <a:lnTo>
                  <a:pt x="24637" y="3320313"/>
                </a:lnTo>
                <a:lnTo>
                  <a:pt x="24637" y="3303193"/>
                </a:lnTo>
                <a:lnTo>
                  <a:pt x="53976" y="3303193"/>
                </a:lnTo>
                <a:lnTo>
                  <a:pt x="56283" y="3301847"/>
                </a:lnTo>
                <a:close/>
              </a:path>
              <a:path w="2487295" h="3368040">
                <a:moveTo>
                  <a:pt x="2467102" y="3301847"/>
                </a:moveTo>
                <a:lnTo>
                  <a:pt x="56283" y="3301847"/>
                </a:lnTo>
                <a:lnTo>
                  <a:pt x="39307" y="3311753"/>
                </a:lnTo>
                <a:lnTo>
                  <a:pt x="56283" y="3321659"/>
                </a:lnTo>
                <a:lnTo>
                  <a:pt x="2482469" y="3321659"/>
                </a:lnTo>
                <a:lnTo>
                  <a:pt x="2486914" y="3317227"/>
                </a:lnTo>
                <a:lnTo>
                  <a:pt x="2486914" y="3311753"/>
                </a:lnTo>
                <a:lnTo>
                  <a:pt x="2467102" y="3311753"/>
                </a:lnTo>
                <a:lnTo>
                  <a:pt x="2467102" y="3301847"/>
                </a:lnTo>
                <a:close/>
              </a:path>
              <a:path w="2487295" h="3368040">
                <a:moveTo>
                  <a:pt x="24637" y="3303193"/>
                </a:moveTo>
                <a:lnTo>
                  <a:pt x="24637" y="3320313"/>
                </a:lnTo>
                <a:lnTo>
                  <a:pt x="39307" y="3311753"/>
                </a:lnTo>
                <a:lnTo>
                  <a:pt x="24637" y="3303193"/>
                </a:lnTo>
                <a:close/>
              </a:path>
              <a:path w="2487295" h="3368040">
                <a:moveTo>
                  <a:pt x="39307" y="3311753"/>
                </a:moveTo>
                <a:lnTo>
                  <a:pt x="24637" y="3320313"/>
                </a:lnTo>
                <a:lnTo>
                  <a:pt x="53976" y="3320313"/>
                </a:lnTo>
                <a:lnTo>
                  <a:pt x="39307" y="3311753"/>
                </a:lnTo>
                <a:close/>
              </a:path>
              <a:path w="2487295" h="3368040">
                <a:moveTo>
                  <a:pt x="53976" y="3303193"/>
                </a:moveTo>
                <a:lnTo>
                  <a:pt x="24637" y="3303193"/>
                </a:lnTo>
                <a:lnTo>
                  <a:pt x="39307" y="3311753"/>
                </a:lnTo>
                <a:lnTo>
                  <a:pt x="53976" y="3303193"/>
                </a:lnTo>
                <a:close/>
              </a:path>
              <a:path w="2487295" h="3368040">
                <a:moveTo>
                  <a:pt x="2467102" y="9906"/>
                </a:moveTo>
                <a:lnTo>
                  <a:pt x="2467102" y="3311753"/>
                </a:lnTo>
                <a:lnTo>
                  <a:pt x="2477008" y="3301847"/>
                </a:lnTo>
                <a:lnTo>
                  <a:pt x="2486914" y="3301847"/>
                </a:lnTo>
                <a:lnTo>
                  <a:pt x="2486914" y="19812"/>
                </a:lnTo>
                <a:lnTo>
                  <a:pt x="2477008" y="19812"/>
                </a:lnTo>
                <a:lnTo>
                  <a:pt x="2467102" y="9906"/>
                </a:lnTo>
                <a:close/>
              </a:path>
              <a:path w="2487295" h="3368040">
                <a:moveTo>
                  <a:pt x="2486914" y="3301847"/>
                </a:moveTo>
                <a:lnTo>
                  <a:pt x="2477008" y="3301847"/>
                </a:lnTo>
                <a:lnTo>
                  <a:pt x="2467102" y="3311753"/>
                </a:lnTo>
                <a:lnTo>
                  <a:pt x="2486914" y="3311753"/>
                </a:lnTo>
                <a:lnTo>
                  <a:pt x="2486914" y="3301847"/>
                </a:lnTo>
                <a:close/>
              </a:path>
              <a:path w="2487295" h="3368040">
                <a:moveTo>
                  <a:pt x="2482469" y="0"/>
                </a:moveTo>
                <a:lnTo>
                  <a:pt x="2294254" y="0"/>
                </a:lnTo>
                <a:lnTo>
                  <a:pt x="2294254" y="19812"/>
                </a:lnTo>
                <a:lnTo>
                  <a:pt x="2467102" y="19812"/>
                </a:lnTo>
                <a:lnTo>
                  <a:pt x="2467102" y="9906"/>
                </a:lnTo>
                <a:lnTo>
                  <a:pt x="2486914" y="9906"/>
                </a:lnTo>
                <a:lnTo>
                  <a:pt x="2486914" y="4445"/>
                </a:lnTo>
                <a:lnTo>
                  <a:pt x="2482469" y="0"/>
                </a:lnTo>
                <a:close/>
              </a:path>
              <a:path w="2487295" h="3368040">
                <a:moveTo>
                  <a:pt x="2486914" y="9906"/>
                </a:moveTo>
                <a:lnTo>
                  <a:pt x="2467102" y="9906"/>
                </a:lnTo>
                <a:lnTo>
                  <a:pt x="2477008" y="19812"/>
                </a:lnTo>
                <a:lnTo>
                  <a:pt x="2486914" y="19812"/>
                </a:lnTo>
                <a:lnTo>
                  <a:pt x="2486914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97758" y="3646804"/>
            <a:ext cx="367030" cy="111760"/>
          </a:xfrm>
          <a:custGeom>
            <a:avLst/>
            <a:gdLst/>
            <a:ahLst/>
            <a:cxnLst/>
            <a:rect l="l" t="t" r="r" b="b"/>
            <a:pathLst>
              <a:path w="367029" h="111760">
                <a:moveTo>
                  <a:pt x="327442" y="55689"/>
                </a:moveTo>
                <a:lnTo>
                  <a:pt x="265938" y="91567"/>
                </a:lnTo>
                <a:lnTo>
                  <a:pt x="261238" y="94361"/>
                </a:lnTo>
                <a:lnTo>
                  <a:pt x="259587" y="100457"/>
                </a:lnTo>
                <a:lnTo>
                  <a:pt x="262381" y="105156"/>
                </a:lnTo>
                <a:lnTo>
                  <a:pt x="265049" y="109855"/>
                </a:lnTo>
                <a:lnTo>
                  <a:pt x="271144" y="111506"/>
                </a:lnTo>
                <a:lnTo>
                  <a:pt x="275843" y="108712"/>
                </a:lnTo>
                <a:lnTo>
                  <a:pt x="349767" y="65659"/>
                </a:lnTo>
                <a:lnTo>
                  <a:pt x="347090" y="65659"/>
                </a:lnTo>
                <a:lnTo>
                  <a:pt x="347090" y="64262"/>
                </a:lnTo>
                <a:lnTo>
                  <a:pt x="342138" y="64262"/>
                </a:lnTo>
                <a:lnTo>
                  <a:pt x="327442" y="55689"/>
                </a:lnTo>
                <a:close/>
              </a:path>
              <a:path w="367029" h="111760">
                <a:moveTo>
                  <a:pt x="173481" y="54229"/>
                </a:moveTo>
                <a:lnTo>
                  <a:pt x="173481" y="61214"/>
                </a:lnTo>
                <a:lnTo>
                  <a:pt x="177926" y="65659"/>
                </a:lnTo>
                <a:lnTo>
                  <a:pt x="310351" y="65659"/>
                </a:lnTo>
                <a:lnTo>
                  <a:pt x="312964" y="64135"/>
                </a:lnTo>
                <a:lnTo>
                  <a:pt x="183387" y="64135"/>
                </a:lnTo>
                <a:lnTo>
                  <a:pt x="173481" y="54229"/>
                </a:lnTo>
                <a:close/>
              </a:path>
              <a:path w="367029" h="111760">
                <a:moveTo>
                  <a:pt x="349807" y="45847"/>
                </a:moveTo>
                <a:lnTo>
                  <a:pt x="347090" y="45847"/>
                </a:lnTo>
                <a:lnTo>
                  <a:pt x="347090" y="65659"/>
                </a:lnTo>
                <a:lnTo>
                  <a:pt x="349767" y="65659"/>
                </a:lnTo>
                <a:lnTo>
                  <a:pt x="366775" y="55753"/>
                </a:lnTo>
                <a:lnTo>
                  <a:pt x="349807" y="45847"/>
                </a:lnTo>
                <a:close/>
              </a:path>
              <a:path w="367029" h="111760">
                <a:moveTo>
                  <a:pt x="342138" y="47117"/>
                </a:moveTo>
                <a:lnTo>
                  <a:pt x="327442" y="55689"/>
                </a:lnTo>
                <a:lnTo>
                  <a:pt x="342138" y="64262"/>
                </a:lnTo>
                <a:lnTo>
                  <a:pt x="342138" y="47117"/>
                </a:lnTo>
                <a:close/>
              </a:path>
              <a:path w="367029" h="111760">
                <a:moveTo>
                  <a:pt x="347090" y="47117"/>
                </a:moveTo>
                <a:lnTo>
                  <a:pt x="342138" y="47117"/>
                </a:lnTo>
                <a:lnTo>
                  <a:pt x="342138" y="64262"/>
                </a:lnTo>
                <a:lnTo>
                  <a:pt x="347090" y="64262"/>
                </a:lnTo>
                <a:lnTo>
                  <a:pt x="347090" y="47117"/>
                </a:lnTo>
                <a:close/>
              </a:path>
              <a:path w="367029" h="111760">
                <a:moveTo>
                  <a:pt x="188849" y="44323"/>
                </a:moveTo>
                <a:lnTo>
                  <a:pt x="0" y="44323"/>
                </a:lnTo>
                <a:lnTo>
                  <a:pt x="0" y="64135"/>
                </a:lnTo>
                <a:lnTo>
                  <a:pt x="176402" y="64135"/>
                </a:lnTo>
                <a:lnTo>
                  <a:pt x="173481" y="61214"/>
                </a:lnTo>
                <a:lnTo>
                  <a:pt x="173481" y="54229"/>
                </a:lnTo>
                <a:lnTo>
                  <a:pt x="191769" y="54229"/>
                </a:lnTo>
                <a:lnTo>
                  <a:pt x="183387" y="45847"/>
                </a:lnTo>
                <a:lnTo>
                  <a:pt x="190373" y="45847"/>
                </a:lnTo>
                <a:lnTo>
                  <a:pt x="188849" y="44323"/>
                </a:lnTo>
                <a:close/>
              </a:path>
              <a:path w="367029" h="111760">
                <a:moveTo>
                  <a:pt x="191769" y="54229"/>
                </a:moveTo>
                <a:lnTo>
                  <a:pt x="173481" y="54229"/>
                </a:lnTo>
                <a:lnTo>
                  <a:pt x="183387" y="64135"/>
                </a:lnTo>
                <a:lnTo>
                  <a:pt x="312964" y="64135"/>
                </a:lnTo>
                <a:lnTo>
                  <a:pt x="327333" y="55753"/>
                </a:lnTo>
                <a:lnTo>
                  <a:pt x="193293" y="55753"/>
                </a:lnTo>
                <a:lnTo>
                  <a:pt x="191769" y="54229"/>
                </a:lnTo>
                <a:close/>
              </a:path>
              <a:path w="367029" h="111760">
                <a:moveTo>
                  <a:pt x="190373" y="45847"/>
                </a:moveTo>
                <a:lnTo>
                  <a:pt x="183387" y="45847"/>
                </a:lnTo>
                <a:lnTo>
                  <a:pt x="193293" y="55753"/>
                </a:lnTo>
                <a:lnTo>
                  <a:pt x="193293" y="48768"/>
                </a:lnTo>
                <a:lnTo>
                  <a:pt x="190373" y="45847"/>
                </a:lnTo>
                <a:close/>
              </a:path>
              <a:path w="367029" h="111760">
                <a:moveTo>
                  <a:pt x="310569" y="45847"/>
                </a:moveTo>
                <a:lnTo>
                  <a:pt x="190373" y="45847"/>
                </a:lnTo>
                <a:lnTo>
                  <a:pt x="193293" y="48768"/>
                </a:lnTo>
                <a:lnTo>
                  <a:pt x="193293" y="55753"/>
                </a:lnTo>
                <a:lnTo>
                  <a:pt x="327333" y="55753"/>
                </a:lnTo>
                <a:lnTo>
                  <a:pt x="310569" y="45847"/>
                </a:lnTo>
                <a:close/>
              </a:path>
              <a:path w="367029" h="111760">
                <a:moveTo>
                  <a:pt x="271144" y="0"/>
                </a:moveTo>
                <a:lnTo>
                  <a:pt x="265049" y="1524"/>
                </a:lnTo>
                <a:lnTo>
                  <a:pt x="262381" y="6223"/>
                </a:lnTo>
                <a:lnTo>
                  <a:pt x="259587" y="11049"/>
                </a:lnTo>
                <a:lnTo>
                  <a:pt x="261238" y="17018"/>
                </a:lnTo>
                <a:lnTo>
                  <a:pt x="265938" y="19812"/>
                </a:lnTo>
                <a:lnTo>
                  <a:pt x="327442" y="55689"/>
                </a:lnTo>
                <a:lnTo>
                  <a:pt x="342138" y="47117"/>
                </a:lnTo>
                <a:lnTo>
                  <a:pt x="347090" y="47117"/>
                </a:lnTo>
                <a:lnTo>
                  <a:pt x="347090" y="45847"/>
                </a:lnTo>
                <a:lnTo>
                  <a:pt x="349807" y="45847"/>
                </a:lnTo>
                <a:lnTo>
                  <a:pt x="275843" y="2667"/>
                </a:lnTo>
                <a:lnTo>
                  <a:pt x="271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68190" y="3691128"/>
            <a:ext cx="321310" cy="175260"/>
          </a:xfrm>
          <a:custGeom>
            <a:avLst/>
            <a:gdLst/>
            <a:ahLst/>
            <a:cxnLst/>
            <a:rect l="l" t="t" r="r" b="b"/>
            <a:pathLst>
              <a:path w="321310" h="175260">
                <a:moveTo>
                  <a:pt x="281722" y="119443"/>
                </a:moveTo>
                <a:lnTo>
                  <a:pt x="220218" y="155321"/>
                </a:lnTo>
                <a:lnTo>
                  <a:pt x="215519" y="158115"/>
                </a:lnTo>
                <a:lnTo>
                  <a:pt x="213868" y="164084"/>
                </a:lnTo>
                <a:lnTo>
                  <a:pt x="216662" y="168910"/>
                </a:lnTo>
                <a:lnTo>
                  <a:pt x="219456" y="173609"/>
                </a:lnTo>
                <a:lnTo>
                  <a:pt x="225551" y="175133"/>
                </a:lnTo>
                <a:lnTo>
                  <a:pt x="230250" y="172466"/>
                </a:lnTo>
                <a:lnTo>
                  <a:pt x="304111" y="129286"/>
                </a:lnTo>
                <a:lnTo>
                  <a:pt x="301371" y="129286"/>
                </a:lnTo>
                <a:lnTo>
                  <a:pt x="301371" y="128016"/>
                </a:lnTo>
                <a:lnTo>
                  <a:pt x="296418" y="128016"/>
                </a:lnTo>
                <a:lnTo>
                  <a:pt x="281722" y="119443"/>
                </a:lnTo>
                <a:close/>
              </a:path>
              <a:path w="321310" h="175260">
                <a:moveTo>
                  <a:pt x="150622" y="9906"/>
                </a:moveTo>
                <a:lnTo>
                  <a:pt x="150622" y="124841"/>
                </a:lnTo>
                <a:lnTo>
                  <a:pt x="155067" y="129286"/>
                </a:lnTo>
                <a:lnTo>
                  <a:pt x="264849" y="129286"/>
                </a:lnTo>
                <a:lnTo>
                  <a:pt x="281722" y="119443"/>
                </a:lnTo>
                <a:lnTo>
                  <a:pt x="170434" y="119380"/>
                </a:lnTo>
                <a:lnTo>
                  <a:pt x="160527" y="109474"/>
                </a:lnTo>
                <a:lnTo>
                  <a:pt x="170434" y="109474"/>
                </a:lnTo>
                <a:lnTo>
                  <a:pt x="170434" y="19812"/>
                </a:lnTo>
                <a:lnTo>
                  <a:pt x="160527" y="19812"/>
                </a:lnTo>
                <a:lnTo>
                  <a:pt x="150622" y="9906"/>
                </a:lnTo>
                <a:close/>
              </a:path>
              <a:path w="321310" h="175260">
                <a:moveTo>
                  <a:pt x="304070" y="109474"/>
                </a:moveTo>
                <a:lnTo>
                  <a:pt x="301371" y="109474"/>
                </a:lnTo>
                <a:lnTo>
                  <a:pt x="301371" y="129286"/>
                </a:lnTo>
                <a:lnTo>
                  <a:pt x="304111" y="129286"/>
                </a:lnTo>
                <a:lnTo>
                  <a:pt x="321056" y="119380"/>
                </a:lnTo>
                <a:lnTo>
                  <a:pt x="304070" y="109474"/>
                </a:lnTo>
                <a:close/>
              </a:path>
              <a:path w="321310" h="175260">
                <a:moveTo>
                  <a:pt x="296418" y="110871"/>
                </a:moveTo>
                <a:lnTo>
                  <a:pt x="281722" y="119443"/>
                </a:lnTo>
                <a:lnTo>
                  <a:pt x="296418" y="128016"/>
                </a:lnTo>
                <a:lnTo>
                  <a:pt x="296418" y="110871"/>
                </a:lnTo>
                <a:close/>
              </a:path>
              <a:path w="321310" h="175260">
                <a:moveTo>
                  <a:pt x="301371" y="110871"/>
                </a:moveTo>
                <a:lnTo>
                  <a:pt x="296418" y="110871"/>
                </a:lnTo>
                <a:lnTo>
                  <a:pt x="296418" y="128016"/>
                </a:lnTo>
                <a:lnTo>
                  <a:pt x="301371" y="128016"/>
                </a:lnTo>
                <a:lnTo>
                  <a:pt x="301371" y="110871"/>
                </a:lnTo>
                <a:close/>
              </a:path>
              <a:path w="321310" h="175260">
                <a:moveTo>
                  <a:pt x="225551" y="63627"/>
                </a:moveTo>
                <a:lnTo>
                  <a:pt x="219456" y="65278"/>
                </a:lnTo>
                <a:lnTo>
                  <a:pt x="213868" y="74676"/>
                </a:lnTo>
                <a:lnTo>
                  <a:pt x="215519" y="80772"/>
                </a:lnTo>
                <a:lnTo>
                  <a:pt x="220218" y="83566"/>
                </a:lnTo>
                <a:lnTo>
                  <a:pt x="281722" y="119443"/>
                </a:lnTo>
                <a:lnTo>
                  <a:pt x="296418" y="110871"/>
                </a:lnTo>
                <a:lnTo>
                  <a:pt x="301371" y="110871"/>
                </a:lnTo>
                <a:lnTo>
                  <a:pt x="301371" y="109474"/>
                </a:lnTo>
                <a:lnTo>
                  <a:pt x="304070" y="109474"/>
                </a:lnTo>
                <a:lnTo>
                  <a:pt x="230250" y="66421"/>
                </a:lnTo>
                <a:lnTo>
                  <a:pt x="225551" y="63627"/>
                </a:lnTo>
                <a:close/>
              </a:path>
              <a:path w="321310" h="175260">
                <a:moveTo>
                  <a:pt x="170434" y="109474"/>
                </a:moveTo>
                <a:lnTo>
                  <a:pt x="160527" y="109474"/>
                </a:lnTo>
                <a:lnTo>
                  <a:pt x="170434" y="119380"/>
                </a:lnTo>
                <a:lnTo>
                  <a:pt x="170434" y="109474"/>
                </a:lnTo>
                <a:close/>
              </a:path>
              <a:path w="321310" h="175260">
                <a:moveTo>
                  <a:pt x="264631" y="109474"/>
                </a:moveTo>
                <a:lnTo>
                  <a:pt x="170434" y="109474"/>
                </a:lnTo>
                <a:lnTo>
                  <a:pt x="170434" y="119380"/>
                </a:lnTo>
                <a:lnTo>
                  <a:pt x="281613" y="119380"/>
                </a:lnTo>
                <a:lnTo>
                  <a:pt x="264631" y="109474"/>
                </a:lnTo>
                <a:close/>
              </a:path>
              <a:path w="321310" h="175260">
                <a:moveTo>
                  <a:pt x="165988" y="0"/>
                </a:moveTo>
                <a:lnTo>
                  <a:pt x="0" y="0"/>
                </a:lnTo>
                <a:lnTo>
                  <a:pt x="0" y="19812"/>
                </a:lnTo>
                <a:lnTo>
                  <a:pt x="150622" y="19812"/>
                </a:lnTo>
                <a:lnTo>
                  <a:pt x="150622" y="9906"/>
                </a:lnTo>
                <a:lnTo>
                  <a:pt x="170434" y="9906"/>
                </a:lnTo>
                <a:lnTo>
                  <a:pt x="170434" y="4445"/>
                </a:lnTo>
                <a:lnTo>
                  <a:pt x="165988" y="0"/>
                </a:lnTo>
                <a:close/>
              </a:path>
              <a:path w="321310" h="175260">
                <a:moveTo>
                  <a:pt x="170434" y="9906"/>
                </a:moveTo>
                <a:lnTo>
                  <a:pt x="150622" y="9906"/>
                </a:lnTo>
                <a:lnTo>
                  <a:pt x="160527" y="19812"/>
                </a:lnTo>
                <a:lnTo>
                  <a:pt x="170434" y="19812"/>
                </a:lnTo>
                <a:lnTo>
                  <a:pt x="170434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762755" y="3572255"/>
            <a:ext cx="805180" cy="256540"/>
          </a:xfrm>
          <a:custGeom>
            <a:avLst/>
            <a:gdLst/>
            <a:ahLst/>
            <a:cxnLst/>
            <a:rect l="l" t="t" r="r" b="b"/>
            <a:pathLst>
              <a:path w="805179" h="256539">
                <a:moveTo>
                  <a:pt x="0" y="256032"/>
                </a:moveTo>
                <a:lnTo>
                  <a:pt x="804672" y="256032"/>
                </a:lnTo>
                <a:lnTo>
                  <a:pt x="804672" y="0"/>
                </a:lnTo>
                <a:lnTo>
                  <a:pt x="0" y="0"/>
                </a:lnTo>
                <a:lnTo>
                  <a:pt x="0" y="256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62755" y="3572255"/>
            <a:ext cx="805180" cy="256540"/>
          </a:xfrm>
          <a:custGeom>
            <a:avLst/>
            <a:gdLst/>
            <a:ahLst/>
            <a:cxnLst/>
            <a:rect l="l" t="t" r="r" b="b"/>
            <a:pathLst>
              <a:path w="805179" h="256539">
                <a:moveTo>
                  <a:pt x="0" y="256032"/>
                </a:moveTo>
                <a:lnTo>
                  <a:pt x="804672" y="256032"/>
                </a:lnTo>
                <a:lnTo>
                  <a:pt x="804672" y="0"/>
                </a:lnTo>
                <a:lnTo>
                  <a:pt x="0" y="0"/>
                </a:lnTo>
                <a:lnTo>
                  <a:pt x="0" y="256032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762755" y="3613530"/>
            <a:ext cx="805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00"/>
              </a:spcBef>
              <a:tabLst>
                <a:tab pos="669925" algn="l"/>
              </a:tabLst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action	</a:t>
            </a: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888991" y="3657600"/>
            <a:ext cx="673735" cy="304800"/>
          </a:xfrm>
          <a:custGeom>
            <a:avLst/>
            <a:gdLst/>
            <a:ahLst/>
            <a:cxnLst/>
            <a:rect l="l" t="t" r="r" b="b"/>
            <a:pathLst>
              <a:path w="673735" h="304800">
                <a:moveTo>
                  <a:pt x="0" y="304800"/>
                </a:moveTo>
                <a:lnTo>
                  <a:pt x="673608" y="304800"/>
                </a:lnTo>
                <a:lnTo>
                  <a:pt x="673608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88991" y="3657600"/>
            <a:ext cx="673735" cy="304800"/>
          </a:xfrm>
          <a:custGeom>
            <a:avLst/>
            <a:gdLst/>
            <a:ahLst/>
            <a:cxnLst/>
            <a:rect l="l" t="t" r="r" b="b"/>
            <a:pathLst>
              <a:path w="673735" h="304800">
                <a:moveTo>
                  <a:pt x="0" y="304800"/>
                </a:moveTo>
                <a:lnTo>
                  <a:pt x="673608" y="304800"/>
                </a:lnTo>
                <a:lnTo>
                  <a:pt x="673608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99101" y="3751579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break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813304" y="3572255"/>
            <a:ext cx="584200" cy="256540"/>
          </a:xfrm>
          <a:custGeom>
            <a:avLst/>
            <a:gdLst/>
            <a:ahLst/>
            <a:cxnLst/>
            <a:rect l="l" t="t" r="r" b="b"/>
            <a:pathLst>
              <a:path w="584200" h="256539">
                <a:moveTo>
                  <a:pt x="291845" y="0"/>
                </a:moveTo>
                <a:lnTo>
                  <a:pt x="0" y="128016"/>
                </a:lnTo>
                <a:lnTo>
                  <a:pt x="291845" y="256032"/>
                </a:lnTo>
                <a:lnTo>
                  <a:pt x="583692" y="128016"/>
                </a:lnTo>
                <a:lnTo>
                  <a:pt x="2918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13304" y="3572255"/>
            <a:ext cx="584200" cy="256540"/>
          </a:xfrm>
          <a:custGeom>
            <a:avLst/>
            <a:gdLst/>
            <a:ahLst/>
            <a:cxnLst/>
            <a:rect l="l" t="t" r="r" b="b"/>
            <a:pathLst>
              <a:path w="584200" h="256539">
                <a:moveTo>
                  <a:pt x="0" y="128016"/>
                </a:moveTo>
                <a:lnTo>
                  <a:pt x="291845" y="0"/>
                </a:lnTo>
                <a:lnTo>
                  <a:pt x="583692" y="128016"/>
                </a:lnTo>
                <a:lnTo>
                  <a:pt x="291845" y="256032"/>
                </a:lnTo>
                <a:lnTo>
                  <a:pt x="0" y="12801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909697" y="3293618"/>
            <a:ext cx="734060" cy="6210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405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false</a:t>
            </a:r>
            <a:endParaRPr sz="900">
              <a:latin typeface="Courier New"/>
              <a:cs typeface="Courier New"/>
            </a:endParaRPr>
          </a:p>
          <a:p>
            <a:pPr marL="446405">
              <a:lnSpc>
                <a:spcPts val="955"/>
              </a:lnSpc>
              <a:spcBef>
                <a:spcPts val="31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true</a:t>
            </a:r>
            <a:endParaRPr sz="900">
              <a:latin typeface="Courier New"/>
              <a:cs typeface="Courier New"/>
            </a:endParaRPr>
          </a:p>
          <a:p>
            <a:pPr marL="80645">
              <a:lnSpc>
                <a:spcPts val="955"/>
              </a:lnSpc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case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696363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92576" y="3999738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false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048126" y="3829050"/>
            <a:ext cx="111760" cy="389890"/>
          </a:xfrm>
          <a:custGeom>
            <a:avLst/>
            <a:gdLst/>
            <a:ahLst/>
            <a:cxnLst/>
            <a:rect l="l" t="t" r="r" b="b"/>
            <a:pathLst>
              <a:path w="111760" h="389889">
                <a:moveTo>
                  <a:pt x="11175" y="282194"/>
                </a:moveTo>
                <a:lnTo>
                  <a:pt x="6350" y="284988"/>
                </a:lnTo>
                <a:lnTo>
                  <a:pt x="1650" y="287655"/>
                </a:lnTo>
                <a:lnTo>
                  <a:pt x="0" y="293750"/>
                </a:lnTo>
                <a:lnTo>
                  <a:pt x="2793" y="298450"/>
                </a:lnTo>
                <a:lnTo>
                  <a:pt x="55499" y="389508"/>
                </a:lnTo>
                <a:lnTo>
                  <a:pt x="67003" y="369950"/>
                </a:lnTo>
                <a:lnTo>
                  <a:pt x="45720" y="369824"/>
                </a:lnTo>
                <a:lnTo>
                  <a:pt x="45752" y="333124"/>
                </a:lnTo>
                <a:lnTo>
                  <a:pt x="19939" y="288544"/>
                </a:lnTo>
                <a:lnTo>
                  <a:pt x="17145" y="283844"/>
                </a:lnTo>
                <a:lnTo>
                  <a:pt x="11175" y="282194"/>
                </a:lnTo>
                <a:close/>
              </a:path>
              <a:path w="111760" h="389889">
                <a:moveTo>
                  <a:pt x="45832" y="333263"/>
                </a:moveTo>
                <a:lnTo>
                  <a:pt x="45720" y="369824"/>
                </a:lnTo>
                <a:lnTo>
                  <a:pt x="65531" y="369950"/>
                </a:lnTo>
                <a:lnTo>
                  <a:pt x="65547" y="364870"/>
                </a:lnTo>
                <a:lnTo>
                  <a:pt x="46990" y="364870"/>
                </a:lnTo>
                <a:lnTo>
                  <a:pt x="55625" y="350175"/>
                </a:lnTo>
                <a:lnTo>
                  <a:pt x="45832" y="333263"/>
                </a:lnTo>
                <a:close/>
              </a:path>
              <a:path w="111760" h="389889">
                <a:moveTo>
                  <a:pt x="100584" y="282575"/>
                </a:moveTo>
                <a:lnTo>
                  <a:pt x="94487" y="284099"/>
                </a:lnTo>
                <a:lnTo>
                  <a:pt x="91693" y="288798"/>
                </a:lnTo>
                <a:lnTo>
                  <a:pt x="65645" y="333124"/>
                </a:lnTo>
                <a:lnTo>
                  <a:pt x="65531" y="369950"/>
                </a:lnTo>
                <a:lnTo>
                  <a:pt x="67003" y="369950"/>
                </a:lnTo>
                <a:lnTo>
                  <a:pt x="108839" y="298831"/>
                </a:lnTo>
                <a:lnTo>
                  <a:pt x="111633" y="294131"/>
                </a:lnTo>
                <a:lnTo>
                  <a:pt x="109981" y="288036"/>
                </a:lnTo>
                <a:lnTo>
                  <a:pt x="105283" y="285242"/>
                </a:lnTo>
                <a:lnTo>
                  <a:pt x="100584" y="282575"/>
                </a:lnTo>
                <a:close/>
              </a:path>
              <a:path w="111760" h="389889">
                <a:moveTo>
                  <a:pt x="55625" y="350175"/>
                </a:moveTo>
                <a:lnTo>
                  <a:pt x="46990" y="364870"/>
                </a:lnTo>
                <a:lnTo>
                  <a:pt x="64135" y="364870"/>
                </a:lnTo>
                <a:lnTo>
                  <a:pt x="55625" y="350175"/>
                </a:lnTo>
                <a:close/>
              </a:path>
              <a:path w="111760" h="389889">
                <a:moveTo>
                  <a:pt x="65645" y="333124"/>
                </a:moveTo>
                <a:lnTo>
                  <a:pt x="55625" y="350175"/>
                </a:lnTo>
                <a:lnTo>
                  <a:pt x="64135" y="364870"/>
                </a:lnTo>
                <a:lnTo>
                  <a:pt x="65547" y="364870"/>
                </a:lnTo>
                <a:lnTo>
                  <a:pt x="65645" y="333124"/>
                </a:lnTo>
                <a:close/>
              </a:path>
              <a:path w="111760" h="389889">
                <a:moveTo>
                  <a:pt x="66675" y="0"/>
                </a:moveTo>
                <a:lnTo>
                  <a:pt x="46862" y="0"/>
                </a:lnTo>
                <a:lnTo>
                  <a:pt x="45832" y="333263"/>
                </a:lnTo>
                <a:lnTo>
                  <a:pt x="55625" y="350175"/>
                </a:lnTo>
                <a:lnTo>
                  <a:pt x="65645" y="333124"/>
                </a:lnTo>
                <a:lnTo>
                  <a:pt x="66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79826" y="3800855"/>
            <a:ext cx="2621915" cy="2592070"/>
          </a:xfrm>
          <a:custGeom>
            <a:avLst/>
            <a:gdLst/>
            <a:ahLst/>
            <a:cxnLst/>
            <a:rect l="l" t="t" r="r" b="b"/>
            <a:pathLst>
              <a:path w="2621915" h="2592070">
                <a:moveTo>
                  <a:pt x="95503" y="2480360"/>
                </a:moveTo>
                <a:lnTo>
                  <a:pt x="0" y="2536126"/>
                </a:lnTo>
                <a:lnTo>
                  <a:pt x="95503" y="2591879"/>
                </a:lnTo>
                <a:lnTo>
                  <a:pt x="101600" y="2590292"/>
                </a:lnTo>
                <a:lnTo>
                  <a:pt x="107187" y="2580830"/>
                </a:lnTo>
                <a:lnTo>
                  <a:pt x="105537" y="2574772"/>
                </a:lnTo>
                <a:lnTo>
                  <a:pt x="56261" y="2546019"/>
                </a:lnTo>
                <a:lnTo>
                  <a:pt x="19557" y="2546019"/>
                </a:lnTo>
                <a:lnTo>
                  <a:pt x="19557" y="2526220"/>
                </a:lnTo>
                <a:lnTo>
                  <a:pt x="56261" y="2526220"/>
                </a:lnTo>
                <a:lnTo>
                  <a:pt x="105537" y="2497467"/>
                </a:lnTo>
                <a:lnTo>
                  <a:pt x="107187" y="2491409"/>
                </a:lnTo>
                <a:lnTo>
                  <a:pt x="101600" y="2481948"/>
                </a:lnTo>
                <a:lnTo>
                  <a:pt x="95503" y="2480360"/>
                </a:lnTo>
                <a:close/>
              </a:path>
              <a:path w="2621915" h="2592070">
                <a:moveTo>
                  <a:pt x="56261" y="2526220"/>
                </a:moveTo>
                <a:lnTo>
                  <a:pt x="19557" y="2526220"/>
                </a:lnTo>
                <a:lnTo>
                  <a:pt x="19557" y="2546019"/>
                </a:lnTo>
                <a:lnTo>
                  <a:pt x="56261" y="2546019"/>
                </a:lnTo>
                <a:lnTo>
                  <a:pt x="53954" y="2544673"/>
                </a:lnTo>
                <a:lnTo>
                  <a:pt x="24637" y="2544673"/>
                </a:lnTo>
                <a:lnTo>
                  <a:pt x="24637" y="2527566"/>
                </a:lnTo>
                <a:lnTo>
                  <a:pt x="53954" y="2527566"/>
                </a:lnTo>
                <a:lnTo>
                  <a:pt x="56261" y="2526220"/>
                </a:lnTo>
                <a:close/>
              </a:path>
              <a:path w="2621915" h="2592070">
                <a:moveTo>
                  <a:pt x="2601849" y="2526220"/>
                </a:moveTo>
                <a:lnTo>
                  <a:pt x="56261" y="2526220"/>
                </a:lnTo>
                <a:lnTo>
                  <a:pt x="39296" y="2536120"/>
                </a:lnTo>
                <a:lnTo>
                  <a:pt x="56261" y="2546019"/>
                </a:lnTo>
                <a:lnTo>
                  <a:pt x="2617216" y="2546019"/>
                </a:lnTo>
                <a:lnTo>
                  <a:pt x="2621661" y="2541587"/>
                </a:lnTo>
                <a:lnTo>
                  <a:pt x="2621661" y="2536126"/>
                </a:lnTo>
                <a:lnTo>
                  <a:pt x="2601849" y="2536126"/>
                </a:lnTo>
                <a:lnTo>
                  <a:pt x="2601849" y="2526220"/>
                </a:lnTo>
                <a:close/>
              </a:path>
              <a:path w="2621915" h="2592070">
                <a:moveTo>
                  <a:pt x="24637" y="2527566"/>
                </a:moveTo>
                <a:lnTo>
                  <a:pt x="24637" y="2544673"/>
                </a:lnTo>
                <a:lnTo>
                  <a:pt x="39296" y="2536120"/>
                </a:lnTo>
                <a:lnTo>
                  <a:pt x="24637" y="2527566"/>
                </a:lnTo>
                <a:close/>
              </a:path>
              <a:path w="2621915" h="2592070">
                <a:moveTo>
                  <a:pt x="39296" y="2536120"/>
                </a:moveTo>
                <a:lnTo>
                  <a:pt x="24637" y="2544673"/>
                </a:lnTo>
                <a:lnTo>
                  <a:pt x="53954" y="2544673"/>
                </a:lnTo>
                <a:lnTo>
                  <a:pt x="39296" y="2536120"/>
                </a:lnTo>
                <a:close/>
              </a:path>
              <a:path w="2621915" h="2592070">
                <a:moveTo>
                  <a:pt x="2601849" y="9906"/>
                </a:moveTo>
                <a:lnTo>
                  <a:pt x="2601849" y="2536126"/>
                </a:lnTo>
                <a:lnTo>
                  <a:pt x="2611754" y="2526220"/>
                </a:lnTo>
                <a:lnTo>
                  <a:pt x="2621661" y="2526220"/>
                </a:lnTo>
                <a:lnTo>
                  <a:pt x="2621661" y="19812"/>
                </a:lnTo>
                <a:lnTo>
                  <a:pt x="2611754" y="19812"/>
                </a:lnTo>
                <a:lnTo>
                  <a:pt x="2601849" y="9906"/>
                </a:lnTo>
                <a:close/>
              </a:path>
              <a:path w="2621915" h="2592070">
                <a:moveTo>
                  <a:pt x="2621661" y="2526220"/>
                </a:moveTo>
                <a:lnTo>
                  <a:pt x="2611754" y="2526220"/>
                </a:lnTo>
                <a:lnTo>
                  <a:pt x="2601849" y="2536126"/>
                </a:lnTo>
                <a:lnTo>
                  <a:pt x="2621661" y="2536126"/>
                </a:lnTo>
                <a:lnTo>
                  <a:pt x="2621661" y="2526220"/>
                </a:lnTo>
                <a:close/>
              </a:path>
              <a:path w="2621915" h="2592070">
                <a:moveTo>
                  <a:pt x="53954" y="2527566"/>
                </a:moveTo>
                <a:lnTo>
                  <a:pt x="24637" y="2527566"/>
                </a:lnTo>
                <a:lnTo>
                  <a:pt x="39296" y="2536120"/>
                </a:lnTo>
                <a:lnTo>
                  <a:pt x="53954" y="2527566"/>
                </a:lnTo>
                <a:close/>
              </a:path>
              <a:path w="2621915" h="2592070">
                <a:moveTo>
                  <a:pt x="2617216" y="0"/>
                </a:moveTo>
                <a:lnTo>
                  <a:pt x="2383154" y="0"/>
                </a:lnTo>
                <a:lnTo>
                  <a:pt x="2383154" y="19812"/>
                </a:lnTo>
                <a:lnTo>
                  <a:pt x="2601849" y="19812"/>
                </a:lnTo>
                <a:lnTo>
                  <a:pt x="2601849" y="9906"/>
                </a:lnTo>
                <a:lnTo>
                  <a:pt x="2621661" y="9906"/>
                </a:lnTo>
                <a:lnTo>
                  <a:pt x="2621661" y="4445"/>
                </a:lnTo>
                <a:lnTo>
                  <a:pt x="2617216" y="0"/>
                </a:lnTo>
                <a:close/>
              </a:path>
              <a:path w="2621915" h="2592070">
                <a:moveTo>
                  <a:pt x="2621661" y="9906"/>
                </a:moveTo>
                <a:lnTo>
                  <a:pt x="2601849" y="9906"/>
                </a:lnTo>
                <a:lnTo>
                  <a:pt x="2611754" y="19812"/>
                </a:lnTo>
                <a:lnTo>
                  <a:pt x="2621661" y="19812"/>
                </a:lnTo>
                <a:lnTo>
                  <a:pt x="2621661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870828" y="3731133"/>
            <a:ext cx="22790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8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20" dirty="0">
                <a:latin typeface="Perpetua"/>
                <a:cs typeface="Perpetua"/>
              </a:rPr>
              <a:t>Flow </a:t>
            </a:r>
            <a:r>
              <a:rPr sz="2000" dirty="0">
                <a:latin typeface="Perpetua"/>
                <a:cs typeface="Perpetua"/>
              </a:rPr>
              <a:t>structure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-  </a:t>
            </a:r>
            <a:r>
              <a:rPr sz="2000" spc="-15" dirty="0">
                <a:latin typeface="Perpetua"/>
                <a:cs typeface="Perpetua"/>
              </a:rPr>
              <a:t>Multi-way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selection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68621" y="2992628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696363"/>
                </a:solidFill>
                <a:latin typeface="Courier New"/>
                <a:cs typeface="Courier New"/>
              </a:rPr>
              <a:t>break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955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Selection </a:t>
            </a:r>
            <a:r>
              <a:rPr b="0" spc="-10" dirty="0">
                <a:latin typeface="Perpetua"/>
                <a:cs typeface="Perpetua"/>
              </a:rPr>
              <a:t>from </a:t>
            </a:r>
            <a:r>
              <a:rPr b="0" spc="-5" dirty="0">
                <a:latin typeface="Perpetua"/>
                <a:cs typeface="Perpetua"/>
              </a:rPr>
              <a:t>Multiple</a:t>
            </a:r>
            <a:r>
              <a:rPr b="0" spc="20" dirty="0">
                <a:latin typeface="Perpetua"/>
                <a:cs typeface="Perpetua"/>
              </a:rPr>
              <a:t> </a:t>
            </a:r>
            <a:r>
              <a:rPr b="0" spc="-10" dirty="0">
                <a:latin typeface="Perpetua"/>
                <a:cs typeface="Perpetua"/>
              </a:rPr>
              <a:t>Choices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41819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85407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spc="-10" dirty="0">
                <a:latin typeface="Perpetua"/>
                <a:cs typeface="Perpetua"/>
              </a:rPr>
              <a:t>problem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determining a </a:t>
            </a:r>
            <a:r>
              <a:rPr sz="2600" i="1" spc="-5" dirty="0">
                <a:latin typeface="Perpetua"/>
                <a:cs typeface="Perpetua"/>
              </a:rPr>
              <a:t>students letter </a:t>
            </a:r>
            <a:r>
              <a:rPr sz="2600" i="1" spc="-10" dirty="0">
                <a:latin typeface="Perpetua"/>
                <a:cs typeface="Perpetua"/>
              </a:rPr>
              <a:t>grade given </a:t>
            </a:r>
            <a:r>
              <a:rPr sz="2600" i="1" spc="-5" dirty="0">
                <a:latin typeface="Perpetua"/>
                <a:cs typeface="Perpetua"/>
              </a:rPr>
              <a:t>the  </a:t>
            </a:r>
            <a:r>
              <a:rPr sz="2600" i="1" dirty="0">
                <a:latin typeface="Perpetua"/>
                <a:cs typeface="Perpetua"/>
              </a:rPr>
              <a:t>numerical</a:t>
            </a:r>
            <a:r>
              <a:rPr sz="2600" i="1" spc="-10" dirty="0">
                <a:latin typeface="Perpetua"/>
                <a:cs typeface="Perpetua"/>
              </a:rPr>
              <a:t> grade.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modeled </a:t>
            </a:r>
            <a:r>
              <a:rPr sz="2600" dirty="0">
                <a:latin typeface="Perpetua"/>
                <a:cs typeface="Perpetua"/>
              </a:rPr>
              <a:t>using a </a:t>
            </a:r>
            <a:r>
              <a:rPr sz="2600" spc="-45" dirty="0">
                <a:latin typeface="Perpetua"/>
                <a:cs typeface="Perpetua"/>
              </a:rPr>
              <a:t>Multi-Way </a:t>
            </a:r>
            <a:r>
              <a:rPr sz="2600" dirty="0">
                <a:latin typeface="Perpetua"/>
                <a:cs typeface="Perpetua"/>
              </a:rPr>
              <a:t>selection structure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5" dirty="0">
                <a:latin typeface="Perpetua"/>
                <a:cs typeface="Perpetua"/>
              </a:rPr>
              <a:t>shown 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Figure: Selection </a:t>
            </a:r>
            <a:r>
              <a:rPr sz="2400" spc="-35" dirty="0">
                <a:latin typeface="Perpetua"/>
                <a:cs typeface="Perpetua"/>
              </a:rPr>
              <a:t>-Multi-Way </a:t>
            </a:r>
            <a:r>
              <a:rPr sz="2400" dirty="0">
                <a:latin typeface="Perpetua"/>
                <a:cs typeface="Perpetua"/>
              </a:rPr>
              <a:t>for student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grades.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6600" y="304800"/>
            <a:ext cx="1653540" cy="123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02763" y="6093967"/>
            <a:ext cx="43980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Selection </a:t>
            </a:r>
            <a:r>
              <a:rPr sz="2000" spc="-30" dirty="0">
                <a:latin typeface="Perpetua"/>
                <a:cs typeface="Perpetua"/>
              </a:rPr>
              <a:t>-Multi-Way </a:t>
            </a:r>
            <a:r>
              <a:rPr sz="2000" spc="-5" dirty="0">
                <a:latin typeface="Perpetua"/>
                <a:cs typeface="Perpetua"/>
              </a:rPr>
              <a:t>for student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grades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0608" y="3247780"/>
            <a:ext cx="5987615" cy="2849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197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65" dirty="0">
                <a:latin typeface="Perpetua"/>
                <a:cs typeface="Perpetua"/>
              </a:rPr>
              <a:t>Multi-Way </a:t>
            </a:r>
            <a:r>
              <a:rPr b="0" spc="-5" dirty="0">
                <a:latin typeface="Perpetua"/>
                <a:cs typeface="Perpetua"/>
              </a:rPr>
              <a:t>selection</a:t>
            </a:r>
            <a:r>
              <a:rPr b="0" spc="55" dirty="0">
                <a:latin typeface="Perpetua"/>
                <a:cs typeface="Perpetua"/>
              </a:rPr>
              <a:t> </a:t>
            </a:r>
            <a:r>
              <a:rPr b="0"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/>
          <p:nvPr/>
        </p:nvSpPr>
        <p:spPr>
          <a:xfrm>
            <a:off x="1295400" y="3200400"/>
            <a:ext cx="6477000" cy="2244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667383"/>
            <a:ext cx="8148955" cy="148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960" algn="l"/>
              </a:tabLst>
            </a:pPr>
            <a:r>
              <a:rPr sz="2400" i="1" spc="-5" dirty="0">
                <a:latin typeface="Perpetua"/>
                <a:cs typeface="Perpetua"/>
              </a:rPr>
              <a:t>Consider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requirements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computing </a:t>
            </a:r>
            <a:r>
              <a:rPr sz="2400" i="1" dirty="0">
                <a:latin typeface="Perpetua"/>
                <a:cs typeface="Perpetua"/>
              </a:rPr>
              <a:t>shipping cost </a:t>
            </a:r>
            <a:r>
              <a:rPr sz="2400" i="1" spc="-5" dirty="0">
                <a:latin typeface="Perpetua"/>
                <a:cs typeface="Perpetua"/>
              </a:rPr>
              <a:t>based on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information  </a:t>
            </a:r>
            <a:r>
              <a:rPr sz="2400" i="1" spc="-10" dirty="0">
                <a:latin typeface="Perpetua"/>
                <a:cs typeface="Perpetua"/>
              </a:rPr>
              <a:t>given </a:t>
            </a:r>
            <a:r>
              <a:rPr sz="2400" i="1" spc="-5" dirty="0">
                <a:latin typeface="Perpetua"/>
                <a:cs typeface="Perpetua"/>
              </a:rPr>
              <a:t>in table(ShippingCostsVs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OrderAmount)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imes New Roman"/>
              <a:cs typeface="Times New Roman"/>
            </a:endParaRPr>
          </a:p>
          <a:p>
            <a:pPr marR="454025" algn="ctr">
              <a:lnSpc>
                <a:spcPct val="100000"/>
              </a:lnSpc>
              <a:spcBef>
                <a:spcPts val="5"/>
              </a:spcBef>
            </a:pPr>
            <a:r>
              <a:rPr sz="2000" spc="-45" dirty="0">
                <a:latin typeface="Perpetua"/>
                <a:cs typeface="Perpetua"/>
              </a:rPr>
              <a:t>Table: </a:t>
            </a:r>
            <a:r>
              <a:rPr sz="2000" dirty="0">
                <a:latin typeface="Perpetua"/>
                <a:cs typeface="Perpetua"/>
              </a:rPr>
              <a:t>ShippingCosts</a:t>
            </a:r>
            <a:r>
              <a:rPr sz="2000" spc="-3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Vs </a:t>
            </a:r>
            <a:r>
              <a:rPr sz="2000" spc="-5" dirty="0">
                <a:latin typeface="Perpetua"/>
                <a:cs typeface="Perpetua"/>
              </a:rPr>
              <a:t>OrderAmount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530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spc="-5" dirty="0">
                <a:latin typeface="Perpetua"/>
                <a:cs typeface="Perpetua"/>
              </a:rPr>
              <a:t>An </a:t>
            </a:r>
            <a:r>
              <a:rPr sz="3600" b="0" dirty="0">
                <a:latin typeface="Perpetua"/>
                <a:cs typeface="Perpetua"/>
              </a:rPr>
              <a:t>algorithm for </a:t>
            </a:r>
            <a:r>
              <a:rPr sz="3600" b="0" spc="-55" dirty="0">
                <a:latin typeface="Perpetua"/>
                <a:cs typeface="Perpetua"/>
              </a:rPr>
              <a:t>Multi-Way </a:t>
            </a:r>
            <a:r>
              <a:rPr sz="3600" b="0" dirty="0">
                <a:latin typeface="Perpetua"/>
                <a:cs typeface="Perpetua"/>
              </a:rPr>
              <a:t>selection -Order  System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2067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Figure: </a:t>
            </a:r>
            <a:r>
              <a:rPr sz="2400" i="1" dirty="0">
                <a:latin typeface="Perpetua"/>
                <a:cs typeface="Perpetua"/>
              </a:rPr>
              <a:t>Algorithm - </a:t>
            </a:r>
            <a:r>
              <a:rPr sz="2400" i="1" spc="-35" dirty="0">
                <a:latin typeface="Perpetua"/>
                <a:cs typeface="Perpetua"/>
              </a:rPr>
              <a:t>Multi-Way </a:t>
            </a:r>
            <a:r>
              <a:rPr sz="2400" i="1" dirty="0">
                <a:latin typeface="Perpetua"/>
                <a:cs typeface="Perpetua"/>
              </a:rPr>
              <a:t>selection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Order </a:t>
            </a:r>
            <a:r>
              <a:rPr sz="2400" i="1" dirty="0">
                <a:latin typeface="Perpetua"/>
                <a:cs typeface="Perpetua"/>
              </a:rPr>
              <a:t>System </a:t>
            </a:r>
            <a:r>
              <a:rPr sz="2400" i="1" spc="-10" dirty="0">
                <a:latin typeface="Perpetua"/>
                <a:cs typeface="Perpetua"/>
              </a:rPr>
              <a:t>gives </a:t>
            </a:r>
            <a:r>
              <a:rPr sz="2400" i="1" dirty="0">
                <a:latin typeface="Perpetua"/>
                <a:cs typeface="Perpetua"/>
              </a:rPr>
              <a:t>an</a:t>
            </a:r>
            <a:r>
              <a:rPr sz="2400" i="1" spc="-35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algorithm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the requirement </a:t>
            </a:r>
            <a:r>
              <a:rPr sz="2400" i="1" spc="-10" dirty="0">
                <a:latin typeface="Perpetua"/>
                <a:cs typeface="Perpetua"/>
              </a:rPr>
              <a:t>given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table(ShippingCostsVs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OrderAmount).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2362200"/>
            <a:ext cx="6477000" cy="2590800"/>
          </a:xfrm>
          <a:custGeom>
            <a:avLst/>
            <a:gdLst/>
            <a:ahLst/>
            <a:cxnLst/>
            <a:rect l="l" t="t" r="r" b="b"/>
            <a:pathLst>
              <a:path w="6477000" h="2590800">
                <a:moveTo>
                  <a:pt x="0" y="2590800"/>
                </a:moveTo>
                <a:lnTo>
                  <a:pt x="6477000" y="2590800"/>
                </a:lnTo>
                <a:lnTo>
                  <a:pt x="64770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2362200"/>
            <a:ext cx="6477000" cy="2590800"/>
          </a:xfrm>
          <a:custGeom>
            <a:avLst/>
            <a:gdLst/>
            <a:ahLst/>
            <a:cxnLst/>
            <a:rect l="l" t="t" r="r" b="b"/>
            <a:pathLst>
              <a:path w="6477000" h="2590800">
                <a:moveTo>
                  <a:pt x="0" y="2590800"/>
                </a:moveTo>
                <a:lnTo>
                  <a:pt x="6477000" y="2590800"/>
                </a:lnTo>
                <a:lnTo>
                  <a:pt x="64770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74898" y="2363851"/>
            <a:ext cx="1664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609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S</a:t>
            </a:r>
            <a:r>
              <a:rPr sz="1800" spc="5" dirty="0">
                <a:latin typeface="Perpetua"/>
                <a:cs typeface="Perpetua"/>
              </a:rPr>
              <a:t>h</a:t>
            </a:r>
            <a:r>
              <a:rPr sz="1800" dirty="0">
                <a:latin typeface="Perpetua"/>
                <a:cs typeface="Perpetua"/>
              </a:rPr>
              <a:t>o</a:t>
            </a:r>
            <a:r>
              <a:rPr sz="1800" spc="5" dirty="0">
                <a:latin typeface="Perpetua"/>
                <a:cs typeface="Perpetua"/>
              </a:rPr>
              <a:t>p</a:t>
            </a:r>
            <a:r>
              <a:rPr sz="1800" dirty="0">
                <a:latin typeface="Perpetua"/>
                <a:cs typeface="Perpetua"/>
              </a:rPr>
              <a:t>ingCa</a:t>
            </a:r>
            <a:r>
              <a:rPr sz="1800" spc="65" dirty="0">
                <a:latin typeface="Perpetua"/>
                <a:cs typeface="Perpetua"/>
              </a:rPr>
              <a:t>r</a:t>
            </a:r>
            <a:r>
              <a:rPr sz="1800" dirty="0">
                <a:latin typeface="Perpetua"/>
                <a:cs typeface="Perpetua"/>
              </a:rPr>
              <a:t>t</a:t>
            </a:r>
            <a:r>
              <a:rPr sz="1800" spc="-235" dirty="0">
                <a:latin typeface="Perpetua"/>
                <a:cs typeface="Perpetua"/>
              </a:rPr>
              <a:t>T</a:t>
            </a:r>
            <a:r>
              <a:rPr sz="1800" dirty="0">
                <a:latin typeface="Perpetua"/>
                <a:cs typeface="Perpetua"/>
              </a:rPr>
              <a:t>ot</a:t>
            </a:r>
            <a:r>
              <a:rPr sz="1800" spc="-5" dirty="0">
                <a:latin typeface="Perpetua"/>
                <a:cs typeface="Perpetua"/>
              </a:rPr>
              <a:t>a</a:t>
            </a:r>
            <a:r>
              <a:rPr sz="1800" spc="5" dirty="0">
                <a:latin typeface="Perpetua"/>
                <a:cs typeface="Perpetua"/>
              </a:rPr>
              <a:t>l</a:t>
            </a:r>
            <a:r>
              <a:rPr sz="1800" dirty="0">
                <a:latin typeface="Perpetua"/>
                <a:cs typeface="Perpetua"/>
              </a:rPr>
              <a:t>()  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240" y="2363851"/>
            <a:ext cx="4496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35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42900" algn="l"/>
                <a:tab pos="343535" algn="l"/>
              </a:tabLst>
            </a:pPr>
            <a:r>
              <a:rPr sz="1800" spc="-5" dirty="0">
                <a:latin typeface="Perpetua"/>
                <a:cs typeface="Perpetua"/>
              </a:rPr>
              <a:t>OrderAmount</a:t>
            </a:r>
            <a:endParaRPr sz="1800">
              <a:latin typeface="Perpetua"/>
              <a:cs typeface="Perpetua"/>
            </a:endParaRPr>
          </a:p>
          <a:p>
            <a:pPr marL="342900" indent="-343535">
              <a:lnSpc>
                <a:spcPct val="100000"/>
              </a:lnSpc>
              <a:buAutoNum type="arabicPeriod"/>
              <a:tabLst>
                <a:tab pos="342900" algn="l"/>
                <a:tab pos="343535" algn="l"/>
              </a:tabLst>
            </a:pPr>
            <a:r>
              <a:rPr sz="1800" spc="-5" dirty="0">
                <a:latin typeface="Perpetua"/>
                <a:cs typeface="Perpetua"/>
              </a:rPr>
              <a:t>ShippingCost</a:t>
            </a:r>
            <a:endParaRPr sz="1800">
              <a:latin typeface="Perpetua"/>
              <a:cs typeface="Perpetua"/>
            </a:endParaRPr>
          </a:p>
          <a:p>
            <a:pPr marL="342900" indent="-343535">
              <a:lnSpc>
                <a:spcPct val="100000"/>
              </a:lnSpc>
              <a:buAutoNum type="arabicPeriod"/>
              <a:tabLst>
                <a:tab pos="342900" algn="l"/>
                <a:tab pos="343535" algn="l"/>
              </a:tabLst>
            </a:pPr>
            <a:r>
              <a:rPr sz="1800" dirty="0">
                <a:latin typeface="Perpetua"/>
                <a:cs typeface="Perpetua"/>
              </a:rPr>
              <a:t>If </a:t>
            </a:r>
            <a:r>
              <a:rPr sz="1800" spc="-5" dirty="0">
                <a:latin typeface="Perpetua"/>
                <a:cs typeface="Perpetua"/>
              </a:rPr>
              <a:t>orderAmount </a:t>
            </a:r>
            <a:r>
              <a:rPr sz="1800" dirty="0">
                <a:latin typeface="Perpetua"/>
                <a:cs typeface="Perpetua"/>
              </a:rPr>
              <a:t>&gt; 0 </a:t>
            </a:r>
            <a:r>
              <a:rPr sz="1800" spc="-5" dirty="0">
                <a:latin typeface="Perpetua"/>
                <a:cs typeface="Perpetua"/>
              </a:rPr>
              <a:t>and orderAmount </a:t>
            </a:r>
            <a:r>
              <a:rPr sz="1800" dirty="0">
                <a:latin typeface="Perpetua"/>
                <a:cs typeface="Perpetua"/>
              </a:rPr>
              <a:t>&lt; 20</a:t>
            </a:r>
            <a:r>
              <a:rPr sz="1800" spc="3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  <a:p>
            <a:pPr marL="457200">
              <a:lnSpc>
                <a:spcPct val="100000"/>
              </a:lnSpc>
              <a:tabLst>
                <a:tab pos="2161540" algn="l"/>
              </a:tabLst>
            </a:pPr>
            <a:r>
              <a:rPr sz="1800" spc="-5" dirty="0">
                <a:latin typeface="Perpetua"/>
                <a:cs typeface="Perpetua"/>
              </a:rPr>
              <a:t>ShippingCost	</a:t>
            </a:r>
            <a:r>
              <a:rPr sz="1800" dirty="0">
                <a:latin typeface="Perpetua"/>
                <a:cs typeface="Perpetua"/>
              </a:rPr>
              <a:t>10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3461384"/>
            <a:ext cx="5005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2900" algn="l"/>
              </a:tabLst>
            </a:pPr>
            <a:r>
              <a:rPr sz="1800" dirty="0">
                <a:latin typeface="Perpetua"/>
                <a:cs typeface="Perpetua"/>
              </a:rPr>
              <a:t>4.	elseif orderAmount &gt;= 20 and orderAmount &lt; 40</a:t>
            </a:r>
            <a:r>
              <a:rPr sz="1800" spc="-1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then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8907" y="3735704"/>
            <a:ext cx="117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5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8907" y="4284040"/>
            <a:ext cx="118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0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240" y="3735704"/>
            <a:ext cx="1565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ShippingCost</a:t>
            </a:r>
            <a:endParaRPr sz="1800">
              <a:latin typeface="Perpetua"/>
              <a:cs typeface="Perpetua"/>
            </a:endParaRPr>
          </a:p>
          <a:p>
            <a:pPr marL="342900" indent="-343535">
              <a:lnSpc>
                <a:spcPct val="100000"/>
              </a:lnSpc>
              <a:buAutoNum type="arabicPeriod" startAt="5"/>
              <a:tabLst>
                <a:tab pos="342900" algn="l"/>
                <a:tab pos="343535" algn="l"/>
              </a:tabLst>
            </a:pPr>
            <a:r>
              <a:rPr sz="1800" dirty="0">
                <a:latin typeface="Perpetua"/>
                <a:cs typeface="Perpetua"/>
              </a:rPr>
              <a:t>else</a:t>
            </a:r>
            <a:endParaRPr sz="1800">
              <a:latin typeface="Perpetua"/>
              <a:cs typeface="Perpetua"/>
            </a:endParaRPr>
          </a:p>
          <a:p>
            <a:pPr marL="457200">
              <a:lnSpc>
                <a:spcPct val="100000"/>
              </a:lnSpc>
            </a:pPr>
            <a:r>
              <a:rPr sz="1800" dirty="0">
                <a:latin typeface="Perpetua"/>
                <a:cs typeface="Perpetua"/>
              </a:rPr>
              <a:t>S</a:t>
            </a:r>
            <a:r>
              <a:rPr sz="1800" spc="5" dirty="0">
                <a:latin typeface="Perpetua"/>
                <a:cs typeface="Perpetua"/>
              </a:rPr>
              <a:t>h</a:t>
            </a:r>
            <a:r>
              <a:rPr sz="1800" dirty="0">
                <a:latin typeface="Perpetua"/>
                <a:cs typeface="Perpetua"/>
              </a:rPr>
              <a:t>ippingCost</a:t>
            </a:r>
            <a:endParaRPr sz="1800">
              <a:latin typeface="Perpetua"/>
              <a:cs typeface="Perpetua"/>
            </a:endParaRPr>
          </a:p>
          <a:p>
            <a:pPr marL="342900" indent="-343535">
              <a:lnSpc>
                <a:spcPct val="100000"/>
              </a:lnSpc>
              <a:buAutoNum type="arabicPeriod" startAt="6"/>
              <a:tabLst>
                <a:tab pos="342900" algn="l"/>
                <a:tab pos="343535" algn="l"/>
              </a:tabLst>
            </a:pPr>
            <a:r>
              <a:rPr sz="1800" dirty="0">
                <a:latin typeface="Perpetua"/>
                <a:cs typeface="Perpetua"/>
              </a:rPr>
              <a:t>endif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86000" y="2781554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9" y="44359"/>
                </a:lnTo>
                <a:lnTo>
                  <a:pt x="63500" y="44323"/>
                </a:lnTo>
                <a:lnTo>
                  <a:pt x="63500" y="31623"/>
                </a:lnTo>
                <a:lnTo>
                  <a:pt x="76221" y="31623"/>
                </a:lnTo>
                <a:lnTo>
                  <a:pt x="76326" y="0"/>
                </a:lnTo>
                <a:close/>
              </a:path>
              <a:path w="543560" h="76200">
                <a:moveTo>
                  <a:pt x="76221" y="31660"/>
                </a:moveTo>
                <a:lnTo>
                  <a:pt x="76179" y="44359"/>
                </a:lnTo>
                <a:lnTo>
                  <a:pt x="543306" y="45720"/>
                </a:lnTo>
                <a:lnTo>
                  <a:pt x="543306" y="33020"/>
                </a:lnTo>
                <a:lnTo>
                  <a:pt x="76221" y="31660"/>
                </a:lnTo>
                <a:close/>
              </a:path>
              <a:path w="543560" h="76200">
                <a:moveTo>
                  <a:pt x="63500" y="31623"/>
                </a:moveTo>
                <a:lnTo>
                  <a:pt x="63500" y="44323"/>
                </a:lnTo>
                <a:lnTo>
                  <a:pt x="76179" y="44359"/>
                </a:lnTo>
                <a:lnTo>
                  <a:pt x="76221" y="31660"/>
                </a:lnTo>
                <a:lnTo>
                  <a:pt x="63500" y="31623"/>
                </a:lnTo>
                <a:close/>
              </a:path>
              <a:path w="543560" h="76200">
                <a:moveTo>
                  <a:pt x="76221" y="31623"/>
                </a:moveTo>
                <a:lnTo>
                  <a:pt x="63500" y="31623"/>
                </a:lnTo>
                <a:lnTo>
                  <a:pt x="76221" y="3166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2200" y="2552954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9" y="44359"/>
                </a:lnTo>
                <a:lnTo>
                  <a:pt x="63500" y="44323"/>
                </a:lnTo>
                <a:lnTo>
                  <a:pt x="63500" y="31623"/>
                </a:lnTo>
                <a:lnTo>
                  <a:pt x="76221" y="31623"/>
                </a:lnTo>
                <a:lnTo>
                  <a:pt x="76326" y="0"/>
                </a:lnTo>
                <a:close/>
              </a:path>
              <a:path w="543560" h="76200">
                <a:moveTo>
                  <a:pt x="76221" y="31660"/>
                </a:moveTo>
                <a:lnTo>
                  <a:pt x="76179" y="44359"/>
                </a:lnTo>
                <a:lnTo>
                  <a:pt x="543306" y="45720"/>
                </a:lnTo>
                <a:lnTo>
                  <a:pt x="543306" y="33020"/>
                </a:lnTo>
                <a:lnTo>
                  <a:pt x="76221" y="31660"/>
                </a:lnTo>
                <a:close/>
              </a:path>
              <a:path w="543560" h="76200">
                <a:moveTo>
                  <a:pt x="63500" y="31623"/>
                </a:moveTo>
                <a:lnTo>
                  <a:pt x="63500" y="44323"/>
                </a:lnTo>
                <a:lnTo>
                  <a:pt x="76179" y="44359"/>
                </a:lnTo>
                <a:lnTo>
                  <a:pt x="76221" y="31660"/>
                </a:lnTo>
                <a:lnTo>
                  <a:pt x="63500" y="31623"/>
                </a:lnTo>
                <a:close/>
              </a:path>
              <a:path w="543560" h="76200">
                <a:moveTo>
                  <a:pt x="76221" y="31623"/>
                </a:moveTo>
                <a:lnTo>
                  <a:pt x="63500" y="31623"/>
                </a:lnTo>
                <a:lnTo>
                  <a:pt x="76221" y="3166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2200" y="3314953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9" y="44359"/>
                </a:lnTo>
                <a:lnTo>
                  <a:pt x="63500" y="44323"/>
                </a:lnTo>
                <a:lnTo>
                  <a:pt x="63500" y="31623"/>
                </a:lnTo>
                <a:lnTo>
                  <a:pt x="76221" y="31623"/>
                </a:lnTo>
                <a:lnTo>
                  <a:pt x="76326" y="0"/>
                </a:lnTo>
                <a:close/>
              </a:path>
              <a:path w="543560" h="76200">
                <a:moveTo>
                  <a:pt x="76221" y="31660"/>
                </a:moveTo>
                <a:lnTo>
                  <a:pt x="76179" y="44359"/>
                </a:lnTo>
                <a:lnTo>
                  <a:pt x="543306" y="45720"/>
                </a:lnTo>
                <a:lnTo>
                  <a:pt x="543306" y="33020"/>
                </a:lnTo>
                <a:lnTo>
                  <a:pt x="76221" y="31660"/>
                </a:lnTo>
                <a:close/>
              </a:path>
              <a:path w="543560" h="76200">
                <a:moveTo>
                  <a:pt x="63500" y="31623"/>
                </a:moveTo>
                <a:lnTo>
                  <a:pt x="63500" y="44323"/>
                </a:lnTo>
                <a:lnTo>
                  <a:pt x="76179" y="44359"/>
                </a:lnTo>
                <a:lnTo>
                  <a:pt x="76221" y="31660"/>
                </a:lnTo>
                <a:lnTo>
                  <a:pt x="63500" y="31623"/>
                </a:lnTo>
                <a:close/>
              </a:path>
              <a:path w="543560" h="76200">
                <a:moveTo>
                  <a:pt x="76221" y="31623"/>
                </a:moveTo>
                <a:lnTo>
                  <a:pt x="63500" y="31623"/>
                </a:lnTo>
                <a:lnTo>
                  <a:pt x="76221" y="3166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2200" y="3848353"/>
            <a:ext cx="497205" cy="76200"/>
          </a:xfrm>
          <a:custGeom>
            <a:avLst/>
            <a:gdLst/>
            <a:ahLst/>
            <a:cxnLst/>
            <a:rect l="l" t="t" r="r" b="b"/>
            <a:pathLst>
              <a:path w="497205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87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97205" h="76200">
                <a:moveTo>
                  <a:pt x="76221" y="31787"/>
                </a:moveTo>
                <a:lnTo>
                  <a:pt x="76178" y="44487"/>
                </a:lnTo>
                <a:lnTo>
                  <a:pt x="496950" y="45720"/>
                </a:lnTo>
                <a:lnTo>
                  <a:pt x="496950" y="33020"/>
                </a:lnTo>
                <a:lnTo>
                  <a:pt x="76221" y="31787"/>
                </a:lnTo>
                <a:close/>
              </a:path>
              <a:path w="497205" h="76200">
                <a:moveTo>
                  <a:pt x="63500" y="31750"/>
                </a:moveTo>
                <a:lnTo>
                  <a:pt x="63500" y="44450"/>
                </a:lnTo>
                <a:lnTo>
                  <a:pt x="76178" y="44487"/>
                </a:lnTo>
                <a:lnTo>
                  <a:pt x="76221" y="31787"/>
                </a:lnTo>
                <a:lnTo>
                  <a:pt x="63500" y="31750"/>
                </a:lnTo>
                <a:close/>
              </a:path>
              <a:path w="497205" h="76200">
                <a:moveTo>
                  <a:pt x="76221" y="31750"/>
                </a:moveTo>
                <a:lnTo>
                  <a:pt x="63500" y="31750"/>
                </a:lnTo>
                <a:lnTo>
                  <a:pt x="76221" y="31787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2200" y="4457953"/>
            <a:ext cx="497205" cy="76200"/>
          </a:xfrm>
          <a:custGeom>
            <a:avLst/>
            <a:gdLst/>
            <a:ahLst/>
            <a:cxnLst/>
            <a:rect l="l" t="t" r="r" b="b"/>
            <a:pathLst>
              <a:path w="497205" h="76200">
                <a:moveTo>
                  <a:pt x="76326" y="0"/>
                </a:moveTo>
                <a:lnTo>
                  <a:pt x="0" y="37846"/>
                </a:lnTo>
                <a:lnTo>
                  <a:pt x="76073" y="76200"/>
                </a:lnTo>
                <a:lnTo>
                  <a:pt x="76178" y="44487"/>
                </a:lnTo>
                <a:lnTo>
                  <a:pt x="63500" y="44450"/>
                </a:lnTo>
                <a:lnTo>
                  <a:pt x="63500" y="31750"/>
                </a:lnTo>
                <a:lnTo>
                  <a:pt x="76221" y="31750"/>
                </a:lnTo>
                <a:lnTo>
                  <a:pt x="76326" y="0"/>
                </a:lnTo>
                <a:close/>
              </a:path>
              <a:path w="497205" h="76200">
                <a:moveTo>
                  <a:pt x="76221" y="31787"/>
                </a:moveTo>
                <a:lnTo>
                  <a:pt x="76178" y="44487"/>
                </a:lnTo>
                <a:lnTo>
                  <a:pt x="496950" y="45720"/>
                </a:lnTo>
                <a:lnTo>
                  <a:pt x="496950" y="33020"/>
                </a:lnTo>
                <a:lnTo>
                  <a:pt x="76221" y="31787"/>
                </a:lnTo>
                <a:close/>
              </a:path>
              <a:path w="497205" h="76200">
                <a:moveTo>
                  <a:pt x="63500" y="31750"/>
                </a:moveTo>
                <a:lnTo>
                  <a:pt x="63500" y="44450"/>
                </a:lnTo>
                <a:lnTo>
                  <a:pt x="76178" y="44487"/>
                </a:lnTo>
                <a:lnTo>
                  <a:pt x="76221" y="31787"/>
                </a:lnTo>
                <a:lnTo>
                  <a:pt x="63500" y="31750"/>
                </a:lnTo>
                <a:close/>
              </a:path>
              <a:path w="497205" h="76200">
                <a:moveTo>
                  <a:pt x="76221" y="31750"/>
                </a:moveTo>
                <a:lnTo>
                  <a:pt x="63500" y="31750"/>
                </a:lnTo>
                <a:lnTo>
                  <a:pt x="76221" y="31787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02232" y="5026914"/>
            <a:ext cx="53257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Algorithm </a:t>
            </a:r>
            <a:r>
              <a:rPr sz="2000" spc="-30" dirty="0">
                <a:latin typeface="Perpetua"/>
                <a:cs typeface="Perpetua"/>
              </a:rPr>
              <a:t>-Multi-Way </a:t>
            </a:r>
            <a:r>
              <a:rPr sz="2000" spc="-5" dirty="0">
                <a:latin typeface="Perpetua"/>
                <a:cs typeface="Perpetua"/>
              </a:rPr>
              <a:t>selection for Order</a:t>
            </a:r>
            <a:r>
              <a:rPr sz="2000" spc="-16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System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2986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Perpetua"/>
                <a:cs typeface="Perpetua"/>
              </a:rPr>
              <a:t>A </a:t>
            </a:r>
            <a:r>
              <a:rPr sz="3600" b="0" spc="5" dirty="0">
                <a:latin typeface="Perpetua"/>
                <a:cs typeface="Perpetua"/>
              </a:rPr>
              <a:t>flowchart </a:t>
            </a:r>
            <a:r>
              <a:rPr sz="3600" b="0" dirty="0">
                <a:latin typeface="Perpetua"/>
                <a:cs typeface="Perpetua"/>
              </a:rPr>
              <a:t>for </a:t>
            </a:r>
            <a:r>
              <a:rPr sz="3600" b="0" spc="-55" dirty="0">
                <a:latin typeface="Perpetua"/>
                <a:cs typeface="Perpetua"/>
              </a:rPr>
              <a:t>Multi-Way </a:t>
            </a:r>
            <a:r>
              <a:rPr sz="3600" b="0" dirty="0">
                <a:latin typeface="Perpetua"/>
                <a:cs typeface="Perpetua"/>
              </a:rPr>
              <a:t>selection -Order  System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03846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Figure: </a:t>
            </a:r>
            <a:r>
              <a:rPr sz="2400" i="1" spc="-15" dirty="0">
                <a:latin typeface="Perpetua"/>
                <a:cs typeface="Perpetua"/>
              </a:rPr>
              <a:t>Flow </a:t>
            </a:r>
            <a:r>
              <a:rPr sz="2400" i="1" spc="-5" dirty="0">
                <a:latin typeface="Perpetua"/>
                <a:cs typeface="Perpetua"/>
              </a:rPr>
              <a:t>structure </a:t>
            </a:r>
            <a:r>
              <a:rPr sz="2400" i="1" spc="-35" dirty="0">
                <a:latin typeface="Perpetua"/>
                <a:cs typeface="Perpetua"/>
              </a:rPr>
              <a:t>-Multi-Way </a:t>
            </a:r>
            <a:r>
              <a:rPr sz="2400" i="1" dirty="0">
                <a:latin typeface="Perpetua"/>
                <a:cs typeface="Perpetua"/>
              </a:rPr>
              <a:t>selection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Order </a:t>
            </a:r>
            <a:r>
              <a:rPr sz="2400" i="1" dirty="0">
                <a:latin typeface="Perpetua"/>
                <a:cs typeface="Perpetua"/>
              </a:rPr>
              <a:t>System </a:t>
            </a:r>
            <a:r>
              <a:rPr sz="2400" i="1" spc="-10" dirty="0">
                <a:latin typeface="Perpetua"/>
                <a:cs typeface="Perpetua"/>
              </a:rPr>
              <a:t>gives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11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flow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i="1" spc="10" dirty="0">
                <a:latin typeface="Perpetua"/>
                <a:cs typeface="Perpetua"/>
              </a:rPr>
              <a:t>chart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the requirement </a:t>
            </a:r>
            <a:r>
              <a:rPr sz="2400" i="1" spc="-10" dirty="0">
                <a:latin typeface="Perpetua"/>
                <a:cs typeface="Perpetua"/>
              </a:rPr>
              <a:t>given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table(ShippingCostsVs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OrderAmount).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2362200"/>
            <a:ext cx="6234684" cy="3541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0775" y="5407863"/>
            <a:ext cx="509651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20" dirty="0">
                <a:latin typeface="Perpetua"/>
                <a:cs typeface="Perpetua"/>
              </a:rPr>
              <a:t>Flow </a:t>
            </a:r>
            <a:r>
              <a:rPr sz="2000" dirty="0">
                <a:latin typeface="Perpetua"/>
                <a:cs typeface="Perpetua"/>
              </a:rPr>
              <a:t>structure </a:t>
            </a:r>
            <a:r>
              <a:rPr sz="2000" spc="-30" dirty="0">
                <a:latin typeface="Perpetua"/>
                <a:cs typeface="Perpetua"/>
              </a:rPr>
              <a:t>-Multi-Way </a:t>
            </a:r>
            <a:r>
              <a:rPr sz="2000" dirty="0">
                <a:latin typeface="Perpetua"/>
                <a:cs typeface="Perpetua"/>
              </a:rPr>
              <a:t>selection </a:t>
            </a:r>
            <a:r>
              <a:rPr sz="2000" spc="-5" dirty="0">
                <a:latin typeface="Perpetua"/>
                <a:cs typeface="Perpetua"/>
              </a:rPr>
              <a:t>for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Order</a:t>
            </a:r>
            <a:endParaRPr sz="2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Perpetua"/>
                <a:cs typeface="Perpetua"/>
              </a:rPr>
              <a:t>System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21181"/>
            <a:ext cx="7809230" cy="4431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5" dirty="0">
                <a:latin typeface="Perpetua"/>
                <a:cs typeface="Perpetua"/>
              </a:rPr>
              <a:t>Model using </a:t>
            </a:r>
            <a:r>
              <a:rPr sz="2800" i="1" spc="-45" dirty="0">
                <a:latin typeface="Perpetua"/>
                <a:cs typeface="Perpetua"/>
              </a:rPr>
              <a:t>Multi-Way </a:t>
            </a:r>
            <a:r>
              <a:rPr sz="2800" i="1" spc="-5" dirty="0">
                <a:latin typeface="Perpetua"/>
                <a:cs typeface="Perpetua"/>
              </a:rPr>
              <a:t>selection</a:t>
            </a:r>
            <a:r>
              <a:rPr sz="2800" i="1" spc="85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structure.</a:t>
            </a:r>
            <a:endParaRPr sz="2800">
              <a:latin typeface="Perpetua"/>
              <a:cs typeface="Perpetua"/>
            </a:endParaRPr>
          </a:p>
          <a:p>
            <a:pPr marL="165100" marR="52069">
              <a:lnSpc>
                <a:spcPct val="100000"/>
              </a:lnSpc>
              <a:spcBef>
                <a:spcPts val="2070"/>
              </a:spcBef>
            </a:pPr>
            <a:r>
              <a:rPr sz="2600" i="1" spc="-5" dirty="0">
                <a:latin typeface="Perpetua"/>
                <a:cs typeface="Perpetua"/>
              </a:rPr>
              <a:t>The phone systems </a:t>
            </a:r>
            <a:r>
              <a:rPr sz="2600" i="1" dirty="0">
                <a:latin typeface="Perpetua"/>
                <a:cs typeface="Perpetua"/>
              </a:rPr>
              <a:t>giving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instructions in this form.The </a:t>
            </a:r>
            <a:r>
              <a:rPr sz="2600" i="1" spc="-20" dirty="0">
                <a:latin typeface="Perpetua"/>
                <a:cs typeface="Perpetua"/>
              </a:rPr>
              <a:t>message </a:t>
            </a:r>
            <a:r>
              <a:rPr sz="2600" i="1" dirty="0">
                <a:latin typeface="Perpetua"/>
                <a:cs typeface="Perpetua"/>
              </a:rPr>
              <a:t>will  </a:t>
            </a:r>
            <a:r>
              <a:rPr sz="2600" i="1" spc="-25" dirty="0">
                <a:latin typeface="Perpetua"/>
                <a:cs typeface="Perpetua"/>
              </a:rPr>
              <a:t>say </a:t>
            </a:r>
            <a:r>
              <a:rPr sz="2600" i="1" spc="-5" dirty="0">
                <a:latin typeface="Perpetua"/>
                <a:cs typeface="Perpetua"/>
              </a:rPr>
              <a:t>something like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this:</a:t>
            </a:r>
            <a:endParaRPr sz="2600">
              <a:latin typeface="Perpetua"/>
              <a:cs typeface="Perpetua"/>
            </a:endParaRPr>
          </a:p>
          <a:p>
            <a:pPr marL="680085" lvl="1" indent="-515620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680085" algn="l"/>
                <a:tab pos="680720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20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wish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buy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ticket </a:t>
            </a:r>
            <a:r>
              <a:rPr sz="2600" i="1" spc="-5" dirty="0">
                <a:latin typeface="Perpetua"/>
                <a:cs typeface="Perpetua"/>
              </a:rPr>
              <a:t>then press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 marL="680085" lvl="1" indent="-515620">
              <a:lnSpc>
                <a:spcPct val="100000"/>
              </a:lnSpc>
              <a:spcBef>
                <a:spcPts val="1565"/>
              </a:spcBef>
              <a:buAutoNum type="arabicPeriod"/>
              <a:tabLst>
                <a:tab pos="680085" algn="l"/>
                <a:tab pos="680720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20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wish </a:t>
            </a:r>
            <a:r>
              <a:rPr sz="2600" i="1" spc="-5" dirty="0">
                <a:latin typeface="Perpetua"/>
                <a:cs typeface="Perpetua"/>
              </a:rPr>
              <a:t>to listen to some </a:t>
            </a:r>
            <a:r>
              <a:rPr sz="2600" i="1" spc="5" dirty="0">
                <a:latin typeface="Perpetua"/>
                <a:cs typeface="Perpetua"/>
              </a:rPr>
              <a:t>horrible </a:t>
            </a:r>
            <a:r>
              <a:rPr sz="2600" i="1" spc="-15" dirty="0">
                <a:latin typeface="Perpetua"/>
                <a:cs typeface="Perpetua"/>
              </a:rPr>
              <a:t>tinny </a:t>
            </a:r>
            <a:r>
              <a:rPr sz="2600" i="1" spc="-5" dirty="0">
                <a:latin typeface="Perpetua"/>
                <a:cs typeface="Perpetua"/>
              </a:rPr>
              <a:t>music then press</a:t>
            </a:r>
            <a:r>
              <a:rPr sz="2600" i="1" spc="8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2.</a:t>
            </a:r>
            <a:endParaRPr sz="2600">
              <a:latin typeface="Perpetua"/>
              <a:cs typeface="Perpetua"/>
            </a:endParaRPr>
          </a:p>
          <a:p>
            <a:pPr marL="680085" marR="5080" lvl="1" indent="-515620">
              <a:lnSpc>
                <a:spcPct val="150000"/>
              </a:lnSpc>
              <a:buAutoNum type="arabicPeriod"/>
              <a:tabLst>
                <a:tab pos="680085" algn="l"/>
                <a:tab pos="680720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20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wish </a:t>
            </a:r>
            <a:r>
              <a:rPr sz="2600" i="1" spc="-5" dirty="0">
                <a:latin typeface="Perpetua"/>
                <a:cs typeface="Perpetua"/>
              </a:rPr>
              <a:t>to listen to recorded information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is of no use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20" dirty="0">
                <a:latin typeface="Perpetua"/>
                <a:cs typeface="Perpetua"/>
              </a:rPr>
              <a:t>you  </a:t>
            </a:r>
            <a:r>
              <a:rPr sz="2600" i="1" spc="-5" dirty="0">
                <a:latin typeface="Perpetua"/>
                <a:cs typeface="Perpetua"/>
              </a:rPr>
              <a:t>then press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3.</a:t>
            </a:r>
            <a:endParaRPr sz="2600">
              <a:latin typeface="Perpetua"/>
              <a:cs typeface="Perpetua"/>
            </a:endParaRPr>
          </a:p>
          <a:p>
            <a:pPr marL="680085" lvl="1" indent="-515620">
              <a:lnSpc>
                <a:spcPct val="100000"/>
              </a:lnSpc>
              <a:spcBef>
                <a:spcPts val="1560"/>
              </a:spcBef>
              <a:buAutoNum type="arabicPeriod"/>
              <a:tabLst>
                <a:tab pos="680085" algn="l"/>
                <a:tab pos="680720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20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wish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speak to an </a:t>
            </a:r>
            <a:r>
              <a:rPr sz="2600" i="1" spc="-15" dirty="0">
                <a:latin typeface="Perpetua"/>
                <a:cs typeface="Perpetua"/>
              </a:rPr>
              <a:t>operator </a:t>
            </a:r>
            <a:r>
              <a:rPr sz="2600" i="1" spc="-5" dirty="0">
                <a:latin typeface="Perpetua"/>
                <a:cs typeface="Perpetua"/>
              </a:rPr>
              <a:t>then press</a:t>
            </a:r>
            <a:r>
              <a:rPr sz="2600" i="1" spc="-3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4.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771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  <p:sp>
        <p:nvSpPr>
          <p:cNvPr id="3" name="object 3"/>
          <p:cNvSpPr/>
          <p:nvPr/>
        </p:nvSpPr>
        <p:spPr>
          <a:xfrm>
            <a:off x="1757922" y="1590675"/>
            <a:ext cx="5685293" cy="3714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600200"/>
            <a:ext cx="6096000" cy="3707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897381"/>
            <a:ext cx="5864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10" dirty="0">
                <a:latin typeface="Perpetua"/>
                <a:cs typeface="Perpetua"/>
              </a:rPr>
              <a:t>Complete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20" dirty="0">
                <a:latin typeface="Perpetua"/>
                <a:cs typeface="Perpetua"/>
              </a:rPr>
              <a:t>flow </a:t>
            </a:r>
            <a:r>
              <a:rPr sz="2800" i="1" spc="10" dirty="0">
                <a:latin typeface="Perpetua"/>
                <a:cs typeface="Perpetua"/>
              </a:rPr>
              <a:t>chart </a:t>
            </a: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Multi-card</a:t>
            </a:r>
            <a:r>
              <a:rPr sz="2800" i="1" spc="90" dirty="0">
                <a:latin typeface="Perpetua"/>
                <a:cs typeface="Perpetua"/>
              </a:rPr>
              <a:t> </a:t>
            </a:r>
            <a:r>
              <a:rPr sz="2800" i="1" spc="-20" dirty="0">
                <a:latin typeface="Perpetua"/>
                <a:cs typeface="Perpetua"/>
              </a:rPr>
              <a:t>payment.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65334" y="466725"/>
            <a:ext cx="1281287" cy="847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0" y="4495800"/>
            <a:ext cx="19050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  <p:sp>
        <p:nvSpPr>
          <p:cNvPr id="3" name="object 3"/>
          <p:cNvSpPr/>
          <p:nvPr/>
        </p:nvSpPr>
        <p:spPr>
          <a:xfrm>
            <a:off x="2718816" y="1447800"/>
            <a:ext cx="3706367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939" y="897381"/>
            <a:ext cx="8467725" cy="4549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"/>
              <a:tabLst>
                <a:tab pos="287020" algn="l"/>
              </a:tabLst>
            </a:pPr>
            <a:r>
              <a:rPr sz="2800" i="1" spc="-5" dirty="0">
                <a:latin typeface="Perpetua"/>
                <a:cs typeface="Perpetua"/>
              </a:rPr>
              <a:t>Model using appropriate selection</a:t>
            </a:r>
            <a:r>
              <a:rPr sz="2800" i="1" spc="55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structure.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3400">
              <a:latin typeface="Times New Roman"/>
              <a:cs typeface="Times New Roman"/>
            </a:endParaRPr>
          </a:p>
          <a:p>
            <a:pPr marL="789940" marR="514984" lvl="1" indent="-457834">
              <a:lnSpc>
                <a:spcPct val="100000"/>
              </a:lnSpc>
              <a:spcBef>
                <a:spcPts val="5"/>
              </a:spcBef>
              <a:buSzPct val="85416"/>
              <a:buAutoNum type="arabicPeriod"/>
              <a:tabLst>
                <a:tab pos="789940" algn="l"/>
                <a:tab pos="790575" algn="l"/>
              </a:tabLst>
            </a:pPr>
            <a:r>
              <a:rPr sz="2400" i="1" dirty="0">
                <a:latin typeface="Perpetua"/>
                <a:cs typeface="Perpetua"/>
              </a:rPr>
              <a:t>IF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user has </a:t>
            </a:r>
            <a:r>
              <a:rPr sz="2400" i="1" spc="-5" dirty="0">
                <a:latin typeface="Perpetua"/>
                <a:cs typeface="Perpetua"/>
              </a:rPr>
              <a:t>struck </a:t>
            </a:r>
            <a:r>
              <a:rPr sz="2400" i="1" dirty="0">
                <a:latin typeface="Perpetua"/>
                <a:cs typeface="Perpetua"/>
              </a:rPr>
              <a:t>the Confirm </a:t>
            </a:r>
            <a:r>
              <a:rPr sz="2400" i="1" spc="-5" dirty="0">
                <a:latin typeface="Perpetua"/>
                <a:cs typeface="Perpetua"/>
              </a:rPr>
              <a:t>Purchase button,THEN </a:t>
            </a:r>
            <a:r>
              <a:rPr sz="2400" i="1" spc="-10" dirty="0">
                <a:latin typeface="Perpetua"/>
                <a:cs typeface="Perpetua"/>
              </a:rPr>
              <a:t>initiate </a:t>
            </a:r>
            <a:r>
              <a:rPr sz="2400" i="1" spc="-5" dirty="0">
                <a:latin typeface="Perpetua"/>
                <a:cs typeface="Perpetua"/>
              </a:rPr>
              <a:t>billing  </a:t>
            </a:r>
            <a:r>
              <a:rPr sz="2400" i="1" spc="-10" dirty="0">
                <a:latin typeface="Perpetua"/>
                <a:cs typeface="Perpetua"/>
              </a:rPr>
              <a:t>procedures.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Perpetua"/>
              <a:buAutoNum type="arabicPeriod"/>
            </a:pPr>
            <a:endParaRPr sz="3200">
              <a:latin typeface="Times New Roman"/>
              <a:cs typeface="Times New Roman"/>
            </a:endParaRPr>
          </a:p>
          <a:p>
            <a:pPr marL="789940" lvl="1" indent="-457834">
              <a:lnSpc>
                <a:spcPct val="100000"/>
              </a:lnSpc>
              <a:buSzPct val="85416"/>
              <a:buAutoNum type="arabicPeriod"/>
              <a:tabLst>
                <a:tab pos="789940" algn="l"/>
                <a:tab pos="790575" algn="l"/>
              </a:tabLst>
            </a:pPr>
            <a:r>
              <a:rPr sz="2400" i="1" dirty="0">
                <a:latin typeface="Perpetua"/>
                <a:cs typeface="Perpetua"/>
              </a:rPr>
              <a:t>IF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camera </a:t>
            </a:r>
            <a:r>
              <a:rPr sz="2400" i="1" dirty="0">
                <a:latin typeface="Perpetua"/>
                <a:cs typeface="Perpetua"/>
              </a:rPr>
              <a:t>sensor </a:t>
            </a:r>
            <a:r>
              <a:rPr sz="2400" i="1" spc="-5" dirty="0">
                <a:latin typeface="Perpetua"/>
                <a:cs typeface="Perpetua"/>
              </a:rPr>
              <a:t>detects adequate </a:t>
            </a:r>
            <a:r>
              <a:rPr sz="2400" i="1" spc="-10" dirty="0">
                <a:latin typeface="Perpetua"/>
                <a:cs typeface="Perpetua"/>
              </a:rPr>
              <a:t>exposure,THEN </a:t>
            </a:r>
            <a:r>
              <a:rPr sz="2400" i="1" dirty="0">
                <a:latin typeface="Perpetua"/>
                <a:cs typeface="Perpetua"/>
              </a:rPr>
              <a:t>close the </a:t>
            </a:r>
            <a:r>
              <a:rPr sz="2400" i="1" spc="-15" dirty="0">
                <a:latin typeface="Perpetua"/>
                <a:cs typeface="Perpetua"/>
              </a:rPr>
              <a:t>camera</a:t>
            </a:r>
            <a:r>
              <a:rPr sz="2400" i="1" spc="2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shutter.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Perpetua"/>
              <a:buAutoNum type="arabicPeriod"/>
            </a:pPr>
            <a:endParaRPr sz="3150">
              <a:latin typeface="Times New Roman"/>
              <a:cs typeface="Times New Roman"/>
            </a:endParaRPr>
          </a:p>
          <a:p>
            <a:pPr marL="789940" marR="207010" lvl="1" indent="-457834">
              <a:lnSpc>
                <a:spcPct val="100000"/>
              </a:lnSpc>
              <a:buSzPct val="85416"/>
              <a:buAutoNum type="arabicPeriod"/>
              <a:tabLst>
                <a:tab pos="789940" algn="l"/>
                <a:tab pos="790575" algn="l"/>
              </a:tabLst>
            </a:pPr>
            <a:r>
              <a:rPr sz="2400" i="1" dirty="0">
                <a:latin typeface="Perpetua"/>
                <a:cs typeface="Perpetua"/>
              </a:rPr>
              <a:t>IF a </a:t>
            </a:r>
            <a:r>
              <a:rPr sz="2400" i="1" spc="-5" dirty="0">
                <a:latin typeface="Perpetua"/>
                <a:cs typeface="Perpetua"/>
              </a:rPr>
              <a:t>song has just finished </a:t>
            </a:r>
            <a:r>
              <a:rPr sz="2400" i="1" spc="-10" dirty="0">
                <a:latin typeface="Perpetua"/>
                <a:cs typeface="Perpetua"/>
              </a:rPr>
              <a:t>playing,THEN </a:t>
            </a:r>
            <a:r>
              <a:rPr sz="2400" i="1" dirty="0">
                <a:latin typeface="Perpetua"/>
                <a:cs typeface="Perpetua"/>
              </a:rPr>
              <a:t>begin </a:t>
            </a:r>
            <a:r>
              <a:rPr sz="2400" i="1" spc="-15" dirty="0">
                <a:latin typeface="Perpetua"/>
                <a:cs typeface="Perpetua"/>
              </a:rPr>
              <a:t>playing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next song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  </a:t>
            </a:r>
            <a:r>
              <a:rPr sz="2400" i="1" spc="-15" dirty="0">
                <a:latin typeface="Perpetua"/>
                <a:cs typeface="Perpetua"/>
              </a:rPr>
              <a:t>playlist.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Perpetua"/>
              <a:buAutoNum type="arabicPeriod"/>
            </a:pPr>
            <a:endParaRPr sz="3200">
              <a:latin typeface="Times New Roman"/>
              <a:cs typeface="Times New Roman"/>
            </a:endParaRPr>
          </a:p>
          <a:p>
            <a:pPr marL="789940" lvl="1" indent="-457834">
              <a:lnSpc>
                <a:spcPct val="100000"/>
              </a:lnSpc>
              <a:buSzPct val="85416"/>
              <a:buAutoNum type="arabicPeriod"/>
              <a:tabLst>
                <a:tab pos="789940" algn="l"/>
                <a:tab pos="790575" algn="l"/>
              </a:tabLst>
            </a:pPr>
            <a:r>
              <a:rPr sz="2400" i="1" spc="15" dirty="0">
                <a:latin typeface="Perpetua"/>
                <a:cs typeface="Perpetua"/>
              </a:rPr>
              <a:t>Sort </a:t>
            </a:r>
            <a:r>
              <a:rPr sz="2400" i="1" spc="-10" dirty="0">
                <a:latin typeface="Perpetua"/>
                <a:cs typeface="Perpetua"/>
              </a:rPr>
              <a:t>three characters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5" dirty="0">
                <a:latin typeface="Perpetua"/>
                <a:cs typeface="Perpetua"/>
              </a:rPr>
              <a:t>print </a:t>
            </a:r>
            <a:r>
              <a:rPr sz="2400" i="1" spc="-5" dirty="0">
                <a:latin typeface="Perpetua"/>
                <a:cs typeface="Perpetua"/>
              </a:rPr>
              <a:t>them out in ascending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spc="-30" dirty="0">
                <a:latin typeface="Perpetua"/>
                <a:cs typeface="Perpetua"/>
              </a:rPr>
              <a:t>order.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0" y="5105400"/>
            <a:ext cx="1746503" cy="1048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0" y="609600"/>
            <a:ext cx="4496540" cy="2096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2667000"/>
            <a:ext cx="4639056" cy="2014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91000" y="4191000"/>
            <a:ext cx="4076700" cy="2162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495046"/>
            <a:ext cx="140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45" dirty="0">
                <a:latin typeface="Perpetua"/>
                <a:cs typeface="Perpetua"/>
              </a:rPr>
              <a:t>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79984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  <p:sp>
        <p:nvSpPr>
          <p:cNvPr id="3" name="object 3"/>
          <p:cNvSpPr/>
          <p:nvPr/>
        </p:nvSpPr>
        <p:spPr>
          <a:xfrm>
            <a:off x="1066800" y="2243327"/>
            <a:ext cx="6719949" cy="2557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1281430"/>
            <a:ext cx="282956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2200" b="0" i="1" dirty="0">
                <a:latin typeface="Perpetua"/>
                <a:cs typeface="Perpetua"/>
              </a:rPr>
              <a:t>5.	</a:t>
            </a:r>
            <a:r>
              <a:rPr sz="2600" b="0" i="1" spc="-5" dirty="0">
                <a:latin typeface="Perpetua"/>
                <a:cs typeface="Perpetua"/>
              </a:rPr>
              <a:t>Shop opening</a:t>
            </a:r>
            <a:r>
              <a:rPr sz="2600" b="0" i="1" spc="-40" dirty="0">
                <a:latin typeface="Perpetua"/>
                <a:cs typeface="Perpetua"/>
              </a:rPr>
              <a:t> </a:t>
            </a:r>
            <a:r>
              <a:rPr sz="2600" b="0" i="1" spc="-5" dirty="0">
                <a:latin typeface="Perpetua"/>
                <a:cs typeface="Perpetua"/>
              </a:rPr>
              <a:t>timings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263264"/>
            <a:ext cx="839851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2200" i="1" dirty="0">
                <a:latin typeface="Perpetua"/>
                <a:cs typeface="Perpetua"/>
              </a:rPr>
              <a:t>6.	</a:t>
            </a:r>
            <a:r>
              <a:rPr sz="2600" i="1" dirty="0">
                <a:latin typeface="Perpetua"/>
                <a:cs typeface="Perpetua"/>
              </a:rPr>
              <a:t>Which </a:t>
            </a:r>
            <a:r>
              <a:rPr sz="2600" i="1" spc="-5" dirty="0">
                <a:latin typeface="Perpetua"/>
                <a:cs typeface="Perpetua"/>
              </a:rPr>
              <a:t>selection structure is </a:t>
            </a:r>
            <a:r>
              <a:rPr sz="2600" i="1" spc="-10" dirty="0">
                <a:latin typeface="Perpetua"/>
                <a:cs typeface="Perpetua"/>
              </a:rPr>
              <a:t>suitable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allowing the </a:t>
            </a:r>
            <a:r>
              <a:rPr sz="2600" i="1" dirty="0">
                <a:latin typeface="Perpetua"/>
                <a:cs typeface="Perpetua"/>
              </a:rPr>
              <a:t>users to perform </a:t>
            </a:r>
            <a:r>
              <a:rPr sz="2600" i="1" spc="-5" dirty="0">
                <a:latin typeface="Perpetua"/>
                <a:cs typeface="Perpetua"/>
              </a:rPr>
              <a:t>basic  </a:t>
            </a:r>
            <a:r>
              <a:rPr sz="2600" i="1" spc="-10" dirty="0">
                <a:latin typeface="Perpetua"/>
                <a:cs typeface="Perpetua"/>
              </a:rPr>
              <a:t>operations(add, </a:t>
            </a:r>
            <a:r>
              <a:rPr sz="2600" i="1" spc="-40" dirty="0">
                <a:latin typeface="Perpetua"/>
                <a:cs typeface="Perpetua"/>
              </a:rPr>
              <a:t>sub, </a:t>
            </a:r>
            <a:r>
              <a:rPr sz="2600" i="1" spc="-5" dirty="0">
                <a:latin typeface="Perpetua"/>
                <a:cs typeface="Perpetua"/>
              </a:rPr>
              <a:t>mul, </a:t>
            </a:r>
            <a:r>
              <a:rPr sz="2600" i="1" spc="-50" dirty="0">
                <a:latin typeface="Perpetua"/>
                <a:cs typeface="Perpetua"/>
              </a:rPr>
              <a:t>div, </a:t>
            </a:r>
            <a:r>
              <a:rPr sz="2600" i="1" spc="-5" dirty="0">
                <a:latin typeface="Perpetua"/>
                <a:cs typeface="Perpetua"/>
              </a:rPr>
              <a:t>modulo division)?......Can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model  </a:t>
            </a:r>
            <a:r>
              <a:rPr sz="2600" i="1" spc="-10" dirty="0">
                <a:latin typeface="Perpetua"/>
                <a:cs typeface="Perpetua"/>
              </a:rPr>
              <a:t>it?.......Are there </a:t>
            </a:r>
            <a:r>
              <a:rPr sz="2600" i="1" spc="-20" dirty="0">
                <a:latin typeface="Perpetua"/>
                <a:cs typeface="Perpetua"/>
              </a:rPr>
              <a:t>any </a:t>
            </a:r>
            <a:r>
              <a:rPr sz="2600" i="1" dirty="0">
                <a:latin typeface="Perpetua"/>
                <a:cs typeface="Perpetua"/>
              </a:rPr>
              <a:t>alternate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solutions?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97510" y="805742"/>
            <a:ext cx="3542109" cy="20150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28309" y="4681118"/>
            <a:ext cx="1578610" cy="12947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1972183"/>
            <a:ext cx="7172959" cy="311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2410">
              <a:lnSpc>
                <a:spcPct val="1208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5" dirty="0">
                <a:latin typeface="Perpetua"/>
                <a:cs typeface="Perpetua"/>
              </a:rPr>
              <a:t>Monday </a:t>
            </a:r>
            <a:r>
              <a:rPr sz="2400" spc="-5" dirty="0">
                <a:latin typeface="Perpetua"/>
                <a:cs typeface="Perpetua"/>
              </a:rPr>
              <a:t>then the </a:t>
            </a:r>
            <a:r>
              <a:rPr sz="2400" dirty="0">
                <a:latin typeface="Perpetua"/>
                <a:cs typeface="Perpetua"/>
              </a:rPr>
              <a:t>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8am-8pm. 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0" dirty="0">
                <a:latin typeface="Perpetua"/>
                <a:cs typeface="Perpetua"/>
              </a:rPr>
              <a:t>Tuesday </a:t>
            </a:r>
            <a:r>
              <a:rPr sz="2400" dirty="0">
                <a:latin typeface="Perpetua"/>
                <a:cs typeface="Perpetua"/>
              </a:rPr>
              <a:t>then the 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3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8am-12pm.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40" dirty="0">
                <a:latin typeface="Perpetua"/>
                <a:cs typeface="Perpetua"/>
              </a:rPr>
              <a:t>Wednesday </a:t>
            </a:r>
            <a:r>
              <a:rPr sz="2400" spc="-5" dirty="0">
                <a:latin typeface="Perpetua"/>
                <a:cs typeface="Perpetua"/>
              </a:rPr>
              <a:t>then </a:t>
            </a:r>
            <a:r>
              <a:rPr sz="2400" dirty="0">
                <a:latin typeface="Perpetua"/>
                <a:cs typeface="Perpetua"/>
              </a:rPr>
              <a:t>the 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3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8am-8pm.</a:t>
            </a:r>
            <a:endParaRPr sz="2400">
              <a:latin typeface="Perpetua"/>
              <a:cs typeface="Perpetua"/>
            </a:endParaRPr>
          </a:p>
          <a:p>
            <a:pPr marL="12700" marR="221615">
              <a:lnSpc>
                <a:spcPct val="120900"/>
              </a:lnSpc>
            </a:pP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4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Thursday </a:t>
            </a:r>
            <a:r>
              <a:rPr sz="2400" dirty="0">
                <a:latin typeface="Perpetua"/>
                <a:cs typeface="Perpetua"/>
              </a:rPr>
              <a:t>then the 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8am-8pm. 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Friday </a:t>
            </a:r>
            <a:r>
              <a:rPr sz="2400" dirty="0">
                <a:latin typeface="Perpetua"/>
                <a:cs typeface="Perpetua"/>
              </a:rPr>
              <a:t>then the 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8am-8pm. 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elseif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5" dirty="0">
                <a:latin typeface="Perpetua"/>
                <a:cs typeface="Perpetua"/>
              </a:rPr>
              <a:t>Saturday </a:t>
            </a:r>
            <a:r>
              <a:rPr sz="2400" spc="-5" dirty="0">
                <a:latin typeface="Perpetua"/>
                <a:cs typeface="Perpetua"/>
              </a:rPr>
              <a:t>then </a:t>
            </a:r>
            <a:r>
              <a:rPr sz="2400" dirty="0">
                <a:latin typeface="Perpetua"/>
                <a:cs typeface="Perpetua"/>
              </a:rPr>
              <a:t>the 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9am-5pm.  </a:t>
            </a: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Else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5" dirty="0">
                <a:latin typeface="Perpetua"/>
                <a:cs typeface="Perpetua"/>
              </a:rPr>
              <a:t>Sunday </a:t>
            </a:r>
            <a:r>
              <a:rPr sz="2400" spc="-5" dirty="0">
                <a:latin typeface="Perpetua"/>
                <a:cs typeface="Perpetua"/>
              </a:rPr>
              <a:t>and the </a:t>
            </a:r>
            <a:r>
              <a:rPr sz="2400" dirty="0">
                <a:latin typeface="Perpetua"/>
                <a:cs typeface="Perpetua"/>
              </a:rPr>
              <a:t>opening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10am-4pm.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64744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5925" y="1819268"/>
            <a:ext cx="5696330" cy="3714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64744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976630"/>
            <a:ext cx="767080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60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of the </a:t>
            </a:r>
            <a:r>
              <a:rPr sz="2600" i="1" spc="-10" dirty="0">
                <a:latin typeface="Perpetua"/>
                <a:cs typeface="Perpetua"/>
              </a:rPr>
              <a:t>following </a:t>
            </a:r>
            <a:r>
              <a:rPr sz="2600" i="1" spc="-15" dirty="0">
                <a:latin typeface="Perpetua"/>
                <a:cs typeface="Perpetua"/>
              </a:rPr>
              <a:t>flow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10" dirty="0">
                <a:latin typeface="Perpetua"/>
                <a:cs typeface="Perpetua"/>
              </a:rPr>
              <a:t>instructions, </a:t>
            </a:r>
            <a:r>
              <a:rPr sz="2600" i="1" spc="-5" dirty="0">
                <a:latin typeface="Perpetua"/>
                <a:cs typeface="Perpetua"/>
              </a:rPr>
              <a:t>list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action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the  computer </a:t>
            </a:r>
            <a:r>
              <a:rPr sz="2600" i="1" dirty="0">
                <a:latin typeface="Perpetua"/>
                <a:cs typeface="Perpetua"/>
              </a:rPr>
              <a:t>takes </a:t>
            </a:r>
            <a:r>
              <a:rPr sz="2600" i="1" spc="-5" dirty="0">
                <a:latin typeface="Perpetua"/>
                <a:cs typeface="Perpetua"/>
              </a:rPr>
              <a:t>and indicate the computational </a:t>
            </a:r>
            <a:r>
              <a:rPr sz="2600" i="1" spc="-10" dirty="0">
                <a:latin typeface="Perpetua"/>
                <a:cs typeface="Perpetua"/>
              </a:rPr>
              <a:t>state that </a:t>
            </a:r>
            <a:r>
              <a:rPr sz="2600" i="1" spc="-15" dirty="0">
                <a:latin typeface="Perpetua"/>
                <a:cs typeface="Perpetua"/>
              </a:rPr>
              <a:t>follows </a:t>
            </a:r>
            <a:r>
              <a:rPr sz="2600" i="1" spc="-5" dirty="0">
                <a:latin typeface="Perpetua"/>
                <a:cs typeface="Perpetua"/>
              </a:rPr>
              <a:t>from  </a:t>
            </a:r>
            <a:r>
              <a:rPr sz="2600" i="1" dirty="0">
                <a:latin typeface="Perpetua"/>
                <a:cs typeface="Perpetua"/>
              </a:rPr>
              <a:t>each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2200" y="2362200"/>
            <a:ext cx="5106137" cy="2362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52600" y="1752626"/>
            <a:ext cx="4362450" cy="1991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64744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17650" y="4413250"/>
          <a:ext cx="5943600" cy="109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Variable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Initial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Final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0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10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5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977613"/>
            <a:ext cx="7449820" cy="21596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Calculate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sales tax and </a:t>
            </a:r>
            <a:r>
              <a:rPr sz="2600" i="1" spc="-5" dirty="0">
                <a:latin typeface="Perpetua"/>
                <a:cs typeface="Perpetua"/>
              </a:rPr>
              <a:t>total amount </a:t>
            </a:r>
            <a:r>
              <a:rPr sz="2600" i="1" dirty="0">
                <a:latin typeface="Perpetua"/>
                <a:cs typeface="Perpetua"/>
              </a:rPr>
              <a:t>due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different </a:t>
            </a:r>
            <a:r>
              <a:rPr sz="2600" i="1" dirty="0">
                <a:latin typeface="Perpetua"/>
                <a:cs typeface="Perpetua"/>
              </a:rPr>
              <a:t>tax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codes.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0: sales_tax =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0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1: sales_tax = purch_amt *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0.03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2: sales_tax = purch_amt *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0.05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3: sales_tax = </a:t>
            </a:r>
            <a:r>
              <a:rPr sz="2600" spc="5" dirty="0">
                <a:latin typeface="Perpetua"/>
                <a:cs typeface="Perpetua"/>
              </a:rPr>
              <a:t>purch_amt </a:t>
            </a:r>
            <a:r>
              <a:rPr sz="2600" dirty="0">
                <a:latin typeface="Perpetua"/>
                <a:cs typeface="Perpetua"/>
              </a:rPr>
              <a:t>*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0.07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3048000"/>
            <a:ext cx="1726692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15261" y="1999885"/>
            <a:ext cx="5714999" cy="37059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647446"/>
            <a:ext cx="1409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An</a:t>
            </a:r>
            <a:r>
              <a:rPr b="0" spc="-90" dirty="0">
                <a:latin typeface="Perpetua"/>
                <a:cs typeface="Perpetua"/>
              </a:rPr>
              <a:t>s</a:t>
            </a:r>
            <a:r>
              <a:rPr b="0" spc="-150" dirty="0">
                <a:latin typeface="Perpetua"/>
                <a:cs typeface="Perpetua"/>
              </a:rPr>
              <a:t>w</a:t>
            </a:r>
            <a:r>
              <a:rPr b="0" spc="-5" dirty="0">
                <a:latin typeface="Perpetua"/>
                <a:cs typeface="Perpetua"/>
              </a:rPr>
              <a:t>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68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Complex</a:t>
            </a:r>
            <a:r>
              <a:rPr b="0" spc="-35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Conditionals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22857"/>
            <a:ext cx="8242934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  <a:tab pos="3881120" algn="l"/>
              </a:tabLst>
            </a:pPr>
            <a:r>
              <a:rPr sz="3200" spc="-10" dirty="0">
                <a:latin typeface="Perpetua"/>
                <a:cs typeface="Perpetua"/>
              </a:rPr>
              <a:t>Anything that</a:t>
            </a:r>
            <a:r>
              <a:rPr sz="3200" spc="3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results</a:t>
            </a:r>
            <a:r>
              <a:rPr sz="3200" spc="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in	</a:t>
            </a:r>
            <a:r>
              <a:rPr sz="3200" b="1" spc="20" dirty="0">
                <a:latin typeface="Perpetua"/>
                <a:cs typeface="Perpetua"/>
              </a:rPr>
              <a:t>true </a:t>
            </a:r>
            <a:r>
              <a:rPr sz="3200" b="1" dirty="0">
                <a:latin typeface="Perpetua"/>
                <a:cs typeface="Perpetua"/>
              </a:rPr>
              <a:t>or </a:t>
            </a:r>
            <a:r>
              <a:rPr sz="3200" b="1" spc="10" dirty="0">
                <a:latin typeface="Perpetua"/>
                <a:cs typeface="Perpetua"/>
              </a:rPr>
              <a:t>false </a:t>
            </a:r>
            <a:r>
              <a:rPr sz="3200" dirty="0">
                <a:latin typeface="Perpetua"/>
                <a:cs typeface="Perpetua"/>
              </a:rPr>
              <a:t>can go into</a:t>
            </a:r>
            <a:r>
              <a:rPr sz="3200" spc="-8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the  if </a:t>
            </a:r>
            <a:r>
              <a:rPr sz="3200" spc="25" dirty="0">
                <a:latin typeface="Perpetua"/>
                <a:cs typeface="Perpetua"/>
              </a:rPr>
              <a:t>part </a:t>
            </a:r>
            <a:r>
              <a:rPr sz="3200" spc="-5" dirty="0">
                <a:latin typeface="Perpetua"/>
                <a:cs typeface="Perpetua"/>
              </a:rPr>
              <a:t>of </a:t>
            </a:r>
            <a:r>
              <a:rPr sz="3200" dirty="0">
                <a:latin typeface="Perpetua"/>
                <a:cs typeface="Perpetua"/>
              </a:rPr>
              <a:t>a</a:t>
            </a:r>
            <a:r>
              <a:rPr sz="3200" spc="-2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conditional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8284" y="3457712"/>
            <a:ext cx="5210896" cy="1886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0556" y="2388357"/>
            <a:ext cx="6278340" cy="3005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170" y="2685030"/>
            <a:ext cx="6294008" cy="262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2444" y="2576285"/>
            <a:ext cx="6287359" cy="25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82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Perpetua"/>
                <a:cs typeface="Perpetua"/>
              </a:rPr>
              <a:t>Predict </a:t>
            </a:r>
            <a:r>
              <a:rPr b="0" spc="-5" dirty="0">
                <a:latin typeface="Perpetua"/>
                <a:cs typeface="Perpetua"/>
              </a:rPr>
              <a:t>the</a:t>
            </a:r>
            <a:r>
              <a:rPr b="0" spc="-25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2667000" y="1929031"/>
            <a:ext cx="3849756" cy="3310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59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2981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45" dirty="0">
                <a:latin typeface="Perpetua"/>
                <a:cs typeface="Perpetua"/>
              </a:rPr>
              <a:t>How </a:t>
            </a:r>
            <a:r>
              <a:rPr b="0" spc="-30" dirty="0">
                <a:latin typeface="Perpetua"/>
                <a:cs typeface="Perpetua"/>
              </a:rPr>
              <a:t>would </a:t>
            </a:r>
            <a:r>
              <a:rPr b="0" spc="-25" dirty="0">
                <a:latin typeface="Perpetua"/>
                <a:cs typeface="Perpetua"/>
              </a:rPr>
              <a:t>you </a:t>
            </a:r>
            <a:r>
              <a:rPr b="0" spc="-5" dirty="0">
                <a:latin typeface="Perpetua"/>
                <a:cs typeface="Perpetua"/>
              </a:rPr>
              <a:t>find </a:t>
            </a:r>
            <a:r>
              <a:rPr b="0" spc="-20" dirty="0">
                <a:latin typeface="Perpetua"/>
                <a:cs typeface="Perpetua"/>
              </a:rPr>
              <a:t>your </a:t>
            </a:r>
            <a:r>
              <a:rPr b="0" spc="-65" dirty="0">
                <a:latin typeface="Perpetua"/>
                <a:cs typeface="Perpetua"/>
              </a:rPr>
              <a:t>way </a:t>
            </a:r>
            <a:r>
              <a:rPr b="0" spc="-5" dirty="0">
                <a:latin typeface="Perpetua"/>
                <a:cs typeface="Perpetua"/>
              </a:rPr>
              <a:t>out of a</a:t>
            </a:r>
            <a:r>
              <a:rPr b="0" spc="170" dirty="0">
                <a:latin typeface="Perpetua"/>
                <a:cs typeface="Perpetua"/>
              </a:rPr>
              <a:t> </a:t>
            </a:r>
            <a:r>
              <a:rPr b="0" spc="-5" dirty="0">
                <a:latin typeface="Perpetua"/>
                <a:cs typeface="Perpetua"/>
              </a:rPr>
              <a:t>maze?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0" y="1447800"/>
            <a:ext cx="60960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159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One </a:t>
            </a:r>
            <a:r>
              <a:rPr spc="-55" dirty="0"/>
              <a:t>Move </a:t>
            </a:r>
            <a:r>
              <a:rPr spc="-5" dirty="0"/>
              <a:t>with Right-Hand</a:t>
            </a:r>
            <a:r>
              <a:rPr spc="40" dirty="0"/>
              <a:t> </a:t>
            </a:r>
            <a:r>
              <a:rPr spc="-1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838070"/>
            <a:ext cx="8292465" cy="409003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1.If there </a:t>
            </a:r>
            <a:r>
              <a:rPr sz="2600" b="1" dirty="0">
                <a:latin typeface="Perpetua"/>
                <a:cs typeface="Perpetua"/>
              </a:rPr>
              <a:t>is </a:t>
            </a:r>
            <a:r>
              <a:rPr sz="2600" b="1" spc="-5" dirty="0">
                <a:latin typeface="Perpetua"/>
                <a:cs typeface="Perpetua"/>
              </a:rPr>
              <a:t>empty space to </a:t>
            </a:r>
            <a:r>
              <a:rPr sz="2600" b="1" spc="-55" dirty="0">
                <a:latin typeface="Perpetua"/>
                <a:cs typeface="Perpetua"/>
              </a:rPr>
              <a:t>my </a:t>
            </a:r>
            <a:r>
              <a:rPr sz="2600" b="1" spc="5" dirty="0">
                <a:latin typeface="Perpetua"/>
                <a:cs typeface="Perpetua"/>
              </a:rPr>
              <a:t>right, </a:t>
            </a:r>
            <a:r>
              <a:rPr sz="2600" b="1" spc="-5" dirty="0">
                <a:latin typeface="Perpetua"/>
                <a:cs typeface="Perpetua"/>
              </a:rPr>
              <a:t>then </a:t>
            </a:r>
            <a:r>
              <a:rPr sz="2600" b="1" spc="-20" dirty="0">
                <a:latin typeface="Perpetua"/>
                <a:cs typeface="Perpetua"/>
              </a:rPr>
              <a:t>pivot </a:t>
            </a:r>
            <a:r>
              <a:rPr sz="2600" b="1" spc="5" dirty="0">
                <a:latin typeface="Perpetua"/>
                <a:cs typeface="Perpetua"/>
              </a:rPr>
              <a:t>right </a:t>
            </a:r>
            <a:r>
              <a:rPr sz="2600" b="1" dirty="0">
                <a:latin typeface="Perpetua"/>
                <a:cs typeface="Perpetua"/>
              </a:rPr>
              <a:t>and  </a:t>
            </a:r>
            <a:r>
              <a:rPr sz="2600" b="1" spc="-5" dirty="0">
                <a:latin typeface="Perpetua"/>
                <a:cs typeface="Perpetua"/>
              </a:rPr>
              <a:t>step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forward.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256540" indent="-274320">
              <a:lnSpc>
                <a:spcPts val="281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2.Otherwise, </a:t>
            </a:r>
            <a:r>
              <a:rPr sz="2600" b="1" dirty="0">
                <a:latin typeface="Perpetua"/>
                <a:cs typeface="Perpetua"/>
              </a:rPr>
              <a:t>if </a:t>
            </a:r>
            <a:r>
              <a:rPr sz="2600" b="1" spc="-5" dirty="0">
                <a:latin typeface="Perpetua"/>
                <a:cs typeface="Perpetua"/>
              </a:rPr>
              <a:t>there </a:t>
            </a:r>
            <a:r>
              <a:rPr sz="2600" b="1" dirty="0">
                <a:latin typeface="Perpetua"/>
                <a:cs typeface="Perpetua"/>
              </a:rPr>
              <a:t>is </a:t>
            </a:r>
            <a:r>
              <a:rPr sz="2600" b="1" spc="-5" dirty="0">
                <a:latin typeface="Perpetua"/>
                <a:cs typeface="Perpetua"/>
              </a:rPr>
              <a:t>empty space </a:t>
            </a:r>
            <a:r>
              <a:rPr sz="2600" b="1" dirty="0">
                <a:latin typeface="Perpetua"/>
                <a:cs typeface="Perpetua"/>
              </a:rPr>
              <a:t>in front of me,</a:t>
            </a:r>
            <a:r>
              <a:rPr sz="2600" b="1" spc="-204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then  step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forward.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4381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3.Otherwise, </a:t>
            </a:r>
            <a:r>
              <a:rPr sz="2600" b="1" dirty="0">
                <a:latin typeface="Perpetua"/>
                <a:cs typeface="Perpetua"/>
              </a:rPr>
              <a:t>if </a:t>
            </a:r>
            <a:r>
              <a:rPr sz="2600" b="1" spc="-5" dirty="0">
                <a:latin typeface="Perpetua"/>
                <a:cs typeface="Perpetua"/>
              </a:rPr>
              <a:t>there </a:t>
            </a:r>
            <a:r>
              <a:rPr sz="2600" b="1" dirty="0">
                <a:latin typeface="Perpetua"/>
                <a:cs typeface="Perpetua"/>
              </a:rPr>
              <a:t>is </a:t>
            </a:r>
            <a:r>
              <a:rPr sz="2600" b="1" spc="-5" dirty="0">
                <a:latin typeface="Perpetua"/>
                <a:cs typeface="Perpetua"/>
              </a:rPr>
              <a:t>empty space </a:t>
            </a:r>
            <a:r>
              <a:rPr sz="2600" b="1" dirty="0">
                <a:latin typeface="Perpetua"/>
                <a:cs typeface="Perpetua"/>
              </a:rPr>
              <a:t>to </a:t>
            </a:r>
            <a:r>
              <a:rPr sz="2600" b="1" spc="-60" dirty="0">
                <a:latin typeface="Perpetua"/>
                <a:cs typeface="Perpetua"/>
              </a:rPr>
              <a:t>my </a:t>
            </a:r>
            <a:r>
              <a:rPr sz="2600" b="1" dirty="0">
                <a:latin typeface="Perpetua"/>
                <a:cs typeface="Perpetua"/>
              </a:rPr>
              <a:t>left, </a:t>
            </a:r>
            <a:r>
              <a:rPr sz="2600" b="1" spc="-5" dirty="0">
                <a:latin typeface="Perpetua"/>
                <a:cs typeface="Perpetua"/>
              </a:rPr>
              <a:t>then </a:t>
            </a:r>
            <a:r>
              <a:rPr sz="2600" b="1" spc="-20" dirty="0">
                <a:latin typeface="Perpetua"/>
                <a:cs typeface="Perpetua"/>
              </a:rPr>
              <a:t>pivot  </a:t>
            </a:r>
            <a:r>
              <a:rPr sz="2600" b="1" dirty="0">
                <a:latin typeface="Perpetua"/>
                <a:cs typeface="Perpetua"/>
              </a:rPr>
              <a:t>left and </a:t>
            </a:r>
            <a:r>
              <a:rPr sz="2600" b="1" spc="-5" dirty="0">
                <a:latin typeface="Perpetua"/>
                <a:cs typeface="Perpetua"/>
              </a:rPr>
              <a:t>step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forward.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4.Otherwise </a:t>
            </a:r>
            <a:r>
              <a:rPr sz="2600" b="1" spc="-20" dirty="0">
                <a:latin typeface="Perpetua"/>
                <a:cs typeface="Perpetua"/>
              </a:rPr>
              <a:t>pivot </a:t>
            </a:r>
            <a:r>
              <a:rPr sz="2600" b="1" spc="5" dirty="0">
                <a:latin typeface="Perpetua"/>
                <a:cs typeface="Perpetua"/>
              </a:rPr>
              <a:t>right </a:t>
            </a:r>
            <a:r>
              <a:rPr sz="2600" b="1" dirty="0">
                <a:latin typeface="Perpetua"/>
                <a:cs typeface="Perpetua"/>
              </a:rPr>
              <a:t>without </a:t>
            </a:r>
            <a:r>
              <a:rPr sz="2600" b="1" spc="-5" dirty="0">
                <a:latin typeface="Perpetua"/>
                <a:cs typeface="Perpetua"/>
              </a:rPr>
              <a:t>stepping</a:t>
            </a:r>
            <a:r>
              <a:rPr sz="2600" b="1" spc="15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forward.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3632" y="6514454"/>
            <a:ext cx="118300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dirty="0">
                <a:latin typeface="Perpetua"/>
                <a:cs typeface="Perpetua"/>
              </a:rPr>
              <a:t>rtment of</a:t>
            </a:r>
            <a:r>
              <a:rPr sz="1100" i="1" spc="-35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CSE,Coimbatore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7430" y="204539"/>
            <a:ext cx="6324600" cy="647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304800"/>
            <a:ext cx="5134356" cy="601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0" y="1676400"/>
            <a:ext cx="2840509" cy="3191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3719" y="383976"/>
            <a:ext cx="4638626" cy="5575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37808" y="1974879"/>
            <a:ext cx="2049610" cy="1958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325" y="557796"/>
            <a:ext cx="4392190" cy="56112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51122" y="2137095"/>
            <a:ext cx="2212089" cy="2751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1967" y="634087"/>
            <a:ext cx="3824440" cy="5632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43958" y="2405791"/>
            <a:ext cx="2189944" cy="1970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3697" y="457200"/>
            <a:ext cx="4063641" cy="5716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90071" y="1757362"/>
            <a:ext cx="2128816" cy="1952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8622" y="393269"/>
            <a:ext cx="4043180" cy="5643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24575" y="2657475"/>
            <a:ext cx="1695450" cy="1562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0031" y="736818"/>
            <a:ext cx="4514430" cy="5074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81725" y="2476572"/>
            <a:ext cx="1695450" cy="1562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5007" y="709270"/>
            <a:ext cx="4071339" cy="5398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57964" y="2685981"/>
            <a:ext cx="1686207" cy="1561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540" y="685800"/>
            <a:ext cx="3702202" cy="5415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76925" y="2523798"/>
            <a:ext cx="1676400" cy="156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567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Perpetua"/>
                <a:cs typeface="Perpetua"/>
              </a:rPr>
              <a:t>E</a:t>
            </a:r>
            <a:r>
              <a:rPr b="0" spc="-60" dirty="0">
                <a:latin typeface="Perpetua"/>
                <a:cs typeface="Perpetua"/>
              </a:rPr>
              <a:t>x</a:t>
            </a:r>
            <a:r>
              <a:rPr b="0" spc="-5" dirty="0">
                <a:latin typeface="Perpetua"/>
                <a:cs typeface="Perpetua"/>
              </a:rPr>
              <a:t>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5521960" cy="44475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>
              <a:lnSpc>
                <a:spcPct val="90000"/>
              </a:lnSpc>
              <a:spcBef>
                <a:spcPts val="41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Using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logic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5" dirty="0">
                <a:latin typeface="Perpetua"/>
                <a:cs typeface="Perpetua"/>
              </a:rPr>
              <a:t>right, </a:t>
            </a:r>
            <a:r>
              <a:rPr sz="2600" spc="-5" dirty="0">
                <a:latin typeface="Perpetua"/>
                <a:cs typeface="Perpetua"/>
              </a:rPr>
              <a:t>suppose our </a:t>
            </a:r>
            <a:r>
              <a:rPr sz="2600" spc="-10" dirty="0">
                <a:latin typeface="Perpetua"/>
                <a:cs typeface="Perpetua"/>
              </a:rPr>
              <a:t>robot  </a:t>
            </a:r>
            <a:r>
              <a:rPr sz="2600" spc="-5" dirty="0">
                <a:latin typeface="Perpetua"/>
                <a:cs typeface="Perpetua"/>
              </a:rPr>
              <a:t>decides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pivot </a:t>
            </a:r>
            <a:r>
              <a:rPr sz="2600" spc="15" dirty="0">
                <a:latin typeface="Perpetua"/>
                <a:cs typeface="Perpetua"/>
              </a:rPr>
              <a:t>left.Which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-10" dirty="0">
                <a:latin typeface="Perpetua"/>
                <a:cs typeface="Perpetua"/>
              </a:rPr>
              <a:t>following 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10" dirty="0">
                <a:latin typeface="Perpetua"/>
                <a:cs typeface="Perpetua"/>
              </a:rPr>
              <a:t>true?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286385" marR="2857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(a)There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wall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behind the </a:t>
            </a:r>
            <a:r>
              <a:rPr sz="2600" spc="-10" dirty="0">
                <a:latin typeface="Perpetua"/>
                <a:cs typeface="Perpetua"/>
              </a:rPr>
              <a:t>robot 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dirty="0">
                <a:latin typeface="Perpetua"/>
                <a:cs typeface="Perpetua"/>
              </a:rPr>
              <a:t>to its</a:t>
            </a:r>
            <a:r>
              <a:rPr sz="2600" spc="-5" dirty="0">
                <a:latin typeface="Perpetua"/>
                <a:cs typeface="Perpetua"/>
              </a:rPr>
              <a:t> left.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(b)There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wall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behind 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robot.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286385" marR="15875" indent="-274320">
              <a:lnSpc>
                <a:spcPts val="281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(c)There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wall </a:t>
            </a:r>
            <a:r>
              <a:rPr sz="2600" dirty="0">
                <a:latin typeface="Perpetua"/>
                <a:cs typeface="Perpetua"/>
              </a:rPr>
              <a:t>to the </a:t>
            </a:r>
            <a:r>
              <a:rPr sz="2600" spc="-10" dirty="0">
                <a:latin typeface="Perpetua"/>
                <a:cs typeface="Perpetua"/>
              </a:rPr>
              <a:t>left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dirty="0">
                <a:latin typeface="Perpetua"/>
                <a:cs typeface="Perpetua"/>
              </a:rPr>
              <a:t>of the  </a:t>
            </a:r>
            <a:r>
              <a:rPr sz="2600" spc="-10" dirty="0">
                <a:latin typeface="Perpetua"/>
                <a:cs typeface="Perpetua"/>
              </a:rPr>
              <a:t>robot, but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front.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0" y="1838826"/>
            <a:ext cx="2286000" cy="17546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67181"/>
            <a:ext cx="4143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i="1" spc="-10" dirty="0">
                <a:latin typeface="Perpetua"/>
                <a:cs typeface="Perpetua"/>
              </a:rPr>
              <a:t>What </a:t>
            </a:r>
            <a:r>
              <a:rPr b="0" i="1" spc="-5" dirty="0">
                <a:latin typeface="Perpetua"/>
                <a:cs typeface="Perpetua"/>
              </a:rPr>
              <a:t>has been</a:t>
            </a:r>
            <a:r>
              <a:rPr b="0" i="1" spc="-55" dirty="0">
                <a:latin typeface="Perpetua"/>
                <a:cs typeface="Perpetua"/>
              </a:rPr>
              <a:t> </a:t>
            </a:r>
            <a:r>
              <a:rPr b="0" i="1" spc="5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8363"/>
            <a:ext cx="7766050" cy="2358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Selection control </a:t>
            </a:r>
            <a:r>
              <a:rPr sz="2600" dirty="0">
                <a:latin typeface="Perpetua"/>
                <a:cs typeface="Perpetua"/>
              </a:rPr>
              <a:t>structure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its various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forms.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501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1130935" algn="l"/>
                <a:tab pos="2338705" algn="l"/>
                <a:tab pos="3660140" algn="l"/>
                <a:tab pos="4042410" algn="l"/>
                <a:tab pos="5467350" algn="l"/>
                <a:tab pos="6045835" algn="l"/>
              </a:tabLst>
            </a:pPr>
            <a:r>
              <a:rPr sz="2600" dirty="0">
                <a:latin typeface="Perpetua"/>
                <a:cs typeface="Perpetua"/>
              </a:rPr>
              <a:t>Using	sele</a:t>
            </a:r>
            <a:r>
              <a:rPr sz="2600" spc="-1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tion	st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teme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in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lg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thms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comp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spc="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l  </a:t>
            </a:r>
            <a:r>
              <a:rPr sz="2600" spc="-10" dirty="0">
                <a:latin typeface="Perpetua"/>
                <a:cs typeface="Perpetua"/>
              </a:rPr>
              <a:t>processes.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Form and function of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selection.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533400"/>
            <a:ext cx="533400" cy="615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600" y="5649264"/>
            <a:ext cx="8164195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 dirty="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b="1" i="1" spc="-5" dirty="0">
                <a:latin typeface="Perpetua"/>
                <a:cs typeface="Perpetua"/>
              </a:rPr>
              <a:t>Programming </a:t>
            </a:r>
            <a:r>
              <a:rPr sz="1050" b="1" i="1" dirty="0">
                <a:latin typeface="Perpetua"/>
                <a:cs typeface="Perpetua"/>
              </a:rPr>
              <a:t>Languages,2nd edition,Tucker and</a:t>
            </a:r>
            <a:r>
              <a:rPr sz="1050" b="1" i="1" spc="-14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Noonan</a:t>
            </a:r>
            <a:endParaRPr sz="1050" dirty="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b="1" i="1" dirty="0">
                <a:latin typeface="Perpetua"/>
                <a:cs typeface="Perpetua"/>
                <a:hlinkClick r:id="rId3"/>
              </a:rPr>
              <a:t>www.cse.msu.edu/ </a:t>
            </a:r>
            <a:r>
              <a:rPr sz="1050" b="1" i="1" dirty="0">
                <a:latin typeface="Perpetua"/>
                <a:cs typeface="Perpetua"/>
              </a:rPr>
              <a:t>Organization of </a:t>
            </a:r>
            <a:r>
              <a:rPr sz="1050" b="1" i="1" spc="-5" dirty="0">
                <a:latin typeface="Perpetua"/>
                <a:cs typeface="Perpetua"/>
              </a:rPr>
              <a:t>Programming Languages-Cheng </a:t>
            </a:r>
            <a:r>
              <a:rPr sz="1050" b="1" i="1" dirty="0">
                <a:latin typeface="Perpetua"/>
                <a:cs typeface="Perpetua"/>
              </a:rPr>
              <a:t>(Fall</a:t>
            </a:r>
            <a:r>
              <a:rPr sz="1050" b="1" i="1" spc="-75" dirty="0">
                <a:latin typeface="Perpetua"/>
                <a:cs typeface="Perpetua"/>
              </a:rPr>
              <a:t> </a:t>
            </a:r>
            <a:r>
              <a:rPr sz="1050" b="1" i="1" spc="-5" dirty="0">
                <a:latin typeface="Perpetua"/>
                <a:cs typeface="Perpetua"/>
              </a:rPr>
              <a:t>2004)</a:t>
            </a:r>
            <a:endParaRPr sz="1050" dirty="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b="1" i="1" dirty="0">
                <a:latin typeface="Perpetua"/>
                <a:cs typeface="Perpetua"/>
              </a:rPr>
              <a:t>Computing Without Computers,A Gentle </a:t>
            </a:r>
            <a:r>
              <a:rPr sz="1050" b="1" i="1" spc="-5" dirty="0">
                <a:latin typeface="Perpetua"/>
                <a:cs typeface="Perpetua"/>
              </a:rPr>
              <a:t>Introduction </a:t>
            </a:r>
            <a:r>
              <a:rPr sz="1050" b="1" i="1" dirty="0">
                <a:latin typeface="Perpetua"/>
                <a:cs typeface="Perpetua"/>
              </a:rPr>
              <a:t>to</a:t>
            </a:r>
            <a:r>
              <a:rPr sz="1050" b="1" i="1" spc="-125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Computer</a:t>
            </a:r>
            <a:endParaRPr sz="1050" dirty="0">
              <a:latin typeface="Perpetua"/>
              <a:cs typeface="Perpetua"/>
            </a:endParaRPr>
          </a:p>
          <a:p>
            <a:pPr marL="119380" indent="-106680">
              <a:lnSpc>
                <a:spcPct val="100000"/>
              </a:lnSpc>
              <a:buSzPct val="90476"/>
              <a:buFont typeface="Arial"/>
              <a:buChar char="•"/>
              <a:tabLst>
                <a:tab pos="119380" algn="l"/>
              </a:tabLst>
            </a:pPr>
            <a:r>
              <a:rPr sz="1050" b="1" i="1" spc="-5" dirty="0">
                <a:latin typeface="Perpetua"/>
                <a:cs typeface="Perpetua"/>
              </a:rPr>
              <a:t>Programming,Data </a:t>
            </a:r>
            <a:r>
              <a:rPr sz="1050" b="1" i="1" dirty="0">
                <a:latin typeface="Perpetua"/>
                <a:cs typeface="Perpetua"/>
              </a:rPr>
              <a:t>Structures and Algorithms,Version 0.15,Paul</a:t>
            </a:r>
            <a:r>
              <a:rPr sz="1050" b="1" i="1" spc="-140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Curzon</a:t>
            </a:r>
            <a:endParaRPr sz="1050" dirty="0">
              <a:latin typeface="Perpetua"/>
              <a:cs typeface="Perpetua"/>
            </a:endParaRPr>
          </a:p>
          <a:p>
            <a:pPr marL="59690" indent="-47625">
              <a:lnSpc>
                <a:spcPct val="100000"/>
              </a:lnSpc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b="1" i="1" dirty="0">
                <a:latin typeface="Perpetua"/>
                <a:cs typeface="Perpetua"/>
              </a:rPr>
              <a:t>Google</a:t>
            </a:r>
            <a:r>
              <a:rPr sz="1050" b="1" i="1" spc="-40" dirty="0">
                <a:latin typeface="Perpetua"/>
                <a:cs typeface="Perpetua"/>
              </a:rPr>
              <a:t> </a:t>
            </a:r>
            <a:r>
              <a:rPr sz="1050" b="1" i="1" dirty="0">
                <a:latin typeface="Perpetua"/>
                <a:cs typeface="Perpetua"/>
              </a:rPr>
              <a:t>images</a:t>
            </a:r>
            <a:endParaRPr sz="105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B4418D-627B-4131-BB3E-9FB5E4BE248B}"/>
</file>

<file path=customXml/itemProps2.xml><?xml version="1.0" encoding="utf-8"?>
<ds:datastoreItem xmlns:ds="http://schemas.openxmlformats.org/officeDocument/2006/customXml" ds:itemID="{3A780AC2-5731-4450-9977-B4FA922328FD}"/>
</file>

<file path=customXml/itemProps3.xml><?xml version="1.0" encoding="utf-8"?>
<ds:datastoreItem xmlns:ds="http://schemas.openxmlformats.org/officeDocument/2006/customXml" ds:itemID="{98505B22-9028-47DC-AF55-671EA395138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1534</Words>
  <Application>Microsoft Office PowerPoint</Application>
  <PresentationFormat>On-screen Show (4:3)</PresentationFormat>
  <Paragraphs>287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Arial</vt:lpstr>
      <vt:lpstr>Calibri</vt:lpstr>
      <vt:lpstr>Courier New</vt:lpstr>
      <vt:lpstr>Perpetua</vt:lpstr>
      <vt:lpstr>Times New Roman</vt:lpstr>
      <vt:lpstr>Wingdings</vt:lpstr>
      <vt:lpstr>Office Theme</vt:lpstr>
      <vt:lpstr>PowerPoint Presentation</vt:lpstr>
      <vt:lpstr>Objectives</vt:lpstr>
      <vt:lpstr>Robots are “dumb”…</vt:lpstr>
      <vt:lpstr>PowerPoint Presentation</vt:lpstr>
      <vt:lpstr>PowerPoint Presentation</vt:lpstr>
      <vt:lpstr>PowerPoint Presentation</vt:lpstr>
      <vt:lpstr>PowerPoint Presentation</vt:lpstr>
      <vt:lpstr>Conditionals</vt:lpstr>
      <vt:lpstr>PowerPoint Presentation</vt:lpstr>
      <vt:lpstr>PowerPoint Presentation</vt:lpstr>
      <vt:lpstr>PowerPoint Presentation</vt:lpstr>
      <vt:lpstr>AND</vt:lpstr>
      <vt:lpstr>PowerPoint Presentation</vt:lpstr>
      <vt:lpstr>Exercise</vt:lpstr>
      <vt:lpstr>Exercise</vt:lpstr>
      <vt:lpstr>PowerPoint Presentation</vt:lpstr>
      <vt:lpstr>Try it yourself</vt:lpstr>
      <vt:lpstr>Try it yourself… Answer</vt:lpstr>
      <vt:lpstr>Selection Statements</vt:lpstr>
      <vt:lpstr>One-Way Selection</vt:lpstr>
      <vt:lpstr>One-Way Selection contd---</vt:lpstr>
      <vt:lpstr>One-Way Selection contd---</vt:lpstr>
      <vt:lpstr>One-Way selection contd---</vt:lpstr>
      <vt:lpstr>A flowchart for the Order System</vt:lpstr>
      <vt:lpstr>PowerPoint Presentation</vt:lpstr>
      <vt:lpstr>Answer</vt:lpstr>
      <vt:lpstr>Two-Way Selection</vt:lpstr>
      <vt:lpstr>Two-Way Selection contd---</vt:lpstr>
      <vt:lpstr>Two-Way selection contd---</vt:lpstr>
      <vt:lpstr>Two-Way selection contd---</vt:lpstr>
      <vt:lpstr>A flowchart for the modified Order System</vt:lpstr>
      <vt:lpstr>PowerPoint Presentation</vt:lpstr>
      <vt:lpstr>PowerPoint Presentation</vt:lpstr>
      <vt:lpstr>Multi-Way Selection</vt:lpstr>
      <vt:lpstr>Multi-Way Selection contd---</vt:lpstr>
      <vt:lpstr>Selection from Multiple Choices</vt:lpstr>
      <vt:lpstr>Multi-Way selection contd---</vt:lpstr>
      <vt:lpstr>An algorithm for Multi-Way selection -Order  System</vt:lpstr>
      <vt:lpstr>A flowchart for Multi-Way selection -Order  System</vt:lpstr>
      <vt:lpstr>PowerPoint Presentation</vt:lpstr>
      <vt:lpstr>Answer</vt:lpstr>
      <vt:lpstr>PowerPoint Presentation</vt:lpstr>
      <vt:lpstr>Answer</vt:lpstr>
      <vt:lpstr>PowerPoint Presentation</vt:lpstr>
      <vt:lpstr>Answer</vt:lpstr>
      <vt:lpstr>Answer</vt:lpstr>
      <vt:lpstr>5. Shop opening timings</vt:lpstr>
      <vt:lpstr>Answer</vt:lpstr>
      <vt:lpstr>Answer</vt:lpstr>
      <vt:lpstr>PowerPoint Presentation</vt:lpstr>
      <vt:lpstr>Answer</vt:lpstr>
      <vt:lpstr>PowerPoint Presentation</vt:lpstr>
      <vt:lpstr>Answer</vt:lpstr>
      <vt:lpstr>Complex Conditionals</vt:lpstr>
      <vt:lpstr>PowerPoint Presentation</vt:lpstr>
      <vt:lpstr>PowerPoint Presentation</vt:lpstr>
      <vt:lpstr>PowerPoint Presentation</vt:lpstr>
      <vt:lpstr>Predict the output</vt:lpstr>
      <vt:lpstr>PowerPoint Presentation</vt:lpstr>
      <vt:lpstr>How would you find your way out of a maze?</vt:lpstr>
      <vt:lpstr>One Move with Right-Hand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What has been described?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Dr.R.Prasanna Kumar</cp:lastModifiedBy>
  <cp:revision>4</cp:revision>
  <dcterms:created xsi:type="dcterms:W3CDTF">2020-09-07T06:54:49Z</dcterms:created>
  <dcterms:modified xsi:type="dcterms:W3CDTF">2020-09-11T05:55:10Z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