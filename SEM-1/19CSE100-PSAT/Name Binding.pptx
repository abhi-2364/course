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3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20.xml" ContentType="application/vnd.openxmlformats-officedocument.presentationml.slide+xml"/>
  <Override PartName="/ppt/slides/slide19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3.xml" ContentType="application/vnd.openxmlformats-officedocument.presentationml.slide+xml"/>
  <Override PartName="/ppt/slides/slide32.xml" ContentType="application/vnd.openxmlformats-officedocument.presentationml.slide+xml"/>
  <Override PartName="/ppt/slides/slide31.xml" ContentType="application/vnd.openxmlformats-officedocument.presentationml.slide+xml"/>
  <Override PartName="/ppt/slides/slide30.xml" ContentType="application/vnd.openxmlformats-officedocument.presentationml.slide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4.xml" ContentType="application/vnd.openxmlformats-officedocument.presentationml.slide+xml"/>
  <Override PartName="/ppt/slides/slide35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5.xml" ContentType="application/vnd.openxmlformats-officedocument.presentationml.slide+xml"/>
  <Override PartName="/ppt/slides/slide3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45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customXml" Target="../customXml/item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736975" y="951941"/>
            <a:ext cx="1670050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1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pPr marL="12700">
              <a:lnSpc>
                <a:spcPts val="1225"/>
              </a:lnSpc>
            </a:pPr>
            <a:r>
              <a:rPr dirty="0"/>
              <a:t>Department of</a:t>
            </a:r>
            <a:r>
              <a:rPr spc="-30" dirty="0"/>
              <a:t> </a:t>
            </a:r>
            <a:r>
              <a:rPr spc="-5" dirty="0"/>
              <a:t>CSE,Coimbatore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10/3/2021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1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600" b="0" i="1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1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pPr marL="12700">
              <a:lnSpc>
                <a:spcPts val="1225"/>
              </a:lnSpc>
            </a:pPr>
            <a:r>
              <a:rPr dirty="0"/>
              <a:t>Department of</a:t>
            </a:r>
            <a:r>
              <a:rPr spc="-30" dirty="0"/>
              <a:t> </a:t>
            </a:r>
            <a:r>
              <a:rPr spc="-5" dirty="0"/>
              <a:t>CSE,Coimbatore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10/3/2021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1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1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pPr marL="12700">
              <a:lnSpc>
                <a:spcPts val="1225"/>
              </a:lnSpc>
            </a:pPr>
            <a:r>
              <a:rPr dirty="0"/>
              <a:t>Department of</a:t>
            </a:r>
            <a:r>
              <a:rPr spc="-30" dirty="0"/>
              <a:t> </a:t>
            </a:r>
            <a:r>
              <a:rPr spc="-5" dirty="0"/>
              <a:t>CSE,Coimbatore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10/3/2021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1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1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pPr marL="12700">
              <a:lnSpc>
                <a:spcPts val="1225"/>
              </a:lnSpc>
            </a:pPr>
            <a:r>
              <a:rPr dirty="0"/>
              <a:t>Department of</a:t>
            </a:r>
            <a:r>
              <a:rPr spc="-30" dirty="0"/>
              <a:t> </a:t>
            </a:r>
            <a:r>
              <a:rPr spc="-5" dirty="0"/>
              <a:t>CSE,Coimbatore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10/3/2021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1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pPr marL="12700">
              <a:lnSpc>
                <a:spcPts val="1225"/>
              </a:lnSpc>
            </a:pPr>
            <a:r>
              <a:rPr dirty="0"/>
              <a:t>Department of</a:t>
            </a:r>
            <a:r>
              <a:rPr spc="-30" dirty="0"/>
              <a:t> </a:t>
            </a:r>
            <a:r>
              <a:rPr spc="-5" dirty="0"/>
              <a:t>CSE,Coimbatore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10/3/2021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64007" y="70103"/>
            <a:ext cx="9013190" cy="6693534"/>
          </a:xfrm>
          <a:custGeom>
            <a:avLst/>
            <a:gdLst/>
            <a:ahLst/>
            <a:cxnLst/>
            <a:rect l="l" t="t" r="r" b="b"/>
            <a:pathLst>
              <a:path w="9013190" h="6693534">
                <a:moveTo>
                  <a:pt x="0" y="329946"/>
                </a:moveTo>
                <a:lnTo>
                  <a:pt x="3577" y="281184"/>
                </a:lnTo>
                <a:lnTo>
                  <a:pt x="13968" y="234645"/>
                </a:lnTo>
                <a:lnTo>
                  <a:pt x="30664" y="190840"/>
                </a:lnTo>
                <a:lnTo>
                  <a:pt x="53153" y="150277"/>
                </a:lnTo>
                <a:lnTo>
                  <a:pt x="80925" y="113468"/>
                </a:lnTo>
                <a:lnTo>
                  <a:pt x="113469" y="80923"/>
                </a:lnTo>
                <a:lnTo>
                  <a:pt x="150276" y="53151"/>
                </a:lnTo>
                <a:lnTo>
                  <a:pt x="190835" y="30662"/>
                </a:lnTo>
                <a:lnTo>
                  <a:pt x="234636" y="13967"/>
                </a:lnTo>
                <a:lnTo>
                  <a:pt x="281168" y="3576"/>
                </a:lnTo>
                <a:lnTo>
                  <a:pt x="329920" y="0"/>
                </a:lnTo>
                <a:lnTo>
                  <a:pt x="8682990" y="0"/>
                </a:lnTo>
                <a:lnTo>
                  <a:pt x="8731751" y="3576"/>
                </a:lnTo>
                <a:lnTo>
                  <a:pt x="8778290" y="13967"/>
                </a:lnTo>
                <a:lnTo>
                  <a:pt x="8822095" y="30662"/>
                </a:lnTo>
                <a:lnTo>
                  <a:pt x="8862658" y="53151"/>
                </a:lnTo>
                <a:lnTo>
                  <a:pt x="8899467" y="80923"/>
                </a:lnTo>
                <a:lnTo>
                  <a:pt x="8932012" y="113468"/>
                </a:lnTo>
                <a:lnTo>
                  <a:pt x="8959784" y="150277"/>
                </a:lnTo>
                <a:lnTo>
                  <a:pt x="8982273" y="190840"/>
                </a:lnTo>
                <a:lnTo>
                  <a:pt x="8998968" y="234645"/>
                </a:lnTo>
                <a:lnTo>
                  <a:pt x="9009359" y="281184"/>
                </a:lnTo>
                <a:lnTo>
                  <a:pt x="9012936" y="329946"/>
                </a:lnTo>
                <a:lnTo>
                  <a:pt x="9012936" y="6363487"/>
                </a:lnTo>
                <a:lnTo>
                  <a:pt x="9009359" y="6412239"/>
                </a:lnTo>
                <a:lnTo>
                  <a:pt x="8998968" y="6458771"/>
                </a:lnTo>
                <a:lnTo>
                  <a:pt x="8982273" y="6502572"/>
                </a:lnTo>
                <a:lnTo>
                  <a:pt x="8959784" y="6543131"/>
                </a:lnTo>
                <a:lnTo>
                  <a:pt x="8932012" y="6579938"/>
                </a:lnTo>
                <a:lnTo>
                  <a:pt x="8899467" y="6612482"/>
                </a:lnTo>
                <a:lnTo>
                  <a:pt x="8862658" y="6640254"/>
                </a:lnTo>
                <a:lnTo>
                  <a:pt x="8822095" y="6662743"/>
                </a:lnTo>
                <a:lnTo>
                  <a:pt x="8778290" y="6679439"/>
                </a:lnTo>
                <a:lnTo>
                  <a:pt x="8731751" y="6689830"/>
                </a:lnTo>
                <a:lnTo>
                  <a:pt x="8682990" y="6693408"/>
                </a:lnTo>
                <a:lnTo>
                  <a:pt x="329920" y="6693408"/>
                </a:lnTo>
                <a:lnTo>
                  <a:pt x="281168" y="6689830"/>
                </a:lnTo>
                <a:lnTo>
                  <a:pt x="234636" y="6679439"/>
                </a:lnTo>
                <a:lnTo>
                  <a:pt x="190835" y="6662743"/>
                </a:lnTo>
                <a:lnTo>
                  <a:pt x="150276" y="6640254"/>
                </a:lnTo>
                <a:lnTo>
                  <a:pt x="113469" y="6612482"/>
                </a:lnTo>
                <a:lnTo>
                  <a:pt x="80925" y="6579938"/>
                </a:lnTo>
                <a:lnTo>
                  <a:pt x="53153" y="6543131"/>
                </a:lnTo>
                <a:lnTo>
                  <a:pt x="30664" y="6502572"/>
                </a:lnTo>
                <a:lnTo>
                  <a:pt x="13968" y="6458771"/>
                </a:lnTo>
                <a:lnTo>
                  <a:pt x="3577" y="6412239"/>
                </a:lnTo>
                <a:lnTo>
                  <a:pt x="0" y="6363487"/>
                </a:lnTo>
                <a:lnTo>
                  <a:pt x="0" y="329946"/>
                </a:lnTo>
                <a:close/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12140" y="967181"/>
            <a:ext cx="7919719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1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06069" y="1361500"/>
            <a:ext cx="8531860" cy="29686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1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764540" y="6501753"/>
            <a:ext cx="1444625" cy="1866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1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pPr marL="12700">
              <a:lnSpc>
                <a:spcPts val="1225"/>
              </a:lnSpc>
            </a:pPr>
            <a:r>
              <a:rPr dirty="0"/>
              <a:t>Department of</a:t>
            </a:r>
            <a:r>
              <a:rPr spc="-30" dirty="0"/>
              <a:t> </a:t>
            </a:r>
            <a:r>
              <a:rPr spc="-5" dirty="0"/>
              <a:t>CSE,Coimbatore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10/3/2021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hyperlink" Target="http://www.wikipedia.org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://en.wikipedia.org/wiki/Coral_snake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3.jpeg"/><Relationship Id="rId4" Type="http://schemas.openxmlformats.org/officeDocument/2006/relationships/image" Target="../media/image32.jpe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Relationship Id="rId4" Type="http://schemas.openxmlformats.org/officeDocument/2006/relationships/hyperlink" Target="mailto:joe@example.com" TargetMode="Externa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se.msu.edu/" TargetMode="External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0" y="6858000"/>
                </a:moveTo>
                <a:lnTo>
                  <a:pt x="9144000" y="6858000"/>
                </a:lnTo>
                <a:lnTo>
                  <a:pt x="9144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5531" y="70103"/>
            <a:ext cx="9012936" cy="669187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5531" y="70103"/>
            <a:ext cx="9013190" cy="6692265"/>
          </a:xfrm>
          <a:custGeom>
            <a:avLst/>
            <a:gdLst/>
            <a:ahLst/>
            <a:cxnLst/>
            <a:rect l="l" t="t" r="r" b="b"/>
            <a:pathLst>
              <a:path w="9013190" h="6692265">
                <a:moveTo>
                  <a:pt x="0" y="329819"/>
                </a:moveTo>
                <a:lnTo>
                  <a:pt x="3576" y="281088"/>
                </a:lnTo>
                <a:lnTo>
                  <a:pt x="13965" y="234576"/>
                </a:lnTo>
                <a:lnTo>
                  <a:pt x="30656" y="190791"/>
                </a:lnTo>
                <a:lnTo>
                  <a:pt x="53139" y="150245"/>
                </a:lnTo>
                <a:lnTo>
                  <a:pt x="80905" y="113448"/>
                </a:lnTo>
                <a:lnTo>
                  <a:pt x="113441" y="80911"/>
                </a:lnTo>
                <a:lnTo>
                  <a:pt x="150240" y="53144"/>
                </a:lnTo>
                <a:lnTo>
                  <a:pt x="190789" y="30660"/>
                </a:lnTo>
                <a:lnTo>
                  <a:pt x="234580" y="13967"/>
                </a:lnTo>
                <a:lnTo>
                  <a:pt x="281102" y="3576"/>
                </a:lnTo>
                <a:lnTo>
                  <a:pt x="329844" y="0"/>
                </a:lnTo>
                <a:lnTo>
                  <a:pt x="8683117" y="0"/>
                </a:lnTo>
                <a:lnTo>
                  <a:pt x="8731847" y="3576"/>
                </a:lnTo>
                <a:lnTo>
                  <a:pt x="8778359" y="13967"/>
                </a:lnTo>
                <a:lnTo>
                  <a:pt x="8822144" y="30660"/>
                </a:lnTo>
                <a:lnTo>
                  <a:pt x="8862690" y="53144"/>
                </a:lnTo>
                <a:lnTo>
                  <a:pt x="8899487" y="80911"/>
                </a:lnTo>
                <a:lnTo>
                  <a:pt x="8932024" y="113448"/>
                </a:lnTo>
                <a:lnTo>
                  <a:pt x="8959791" y="150245"/>
                </a:lnTo>
                <a:lnTo>
                  <a:pt x="8982275" y="190791"/>
                </a:lnTo>
                <a:lnTo>
                  <a:pt x="8998968" y="234576"/>
                </a:lnTo>
                <a:lnTo>
                  <a:pt x="9009359" y="281088"/>
                </a:lnTo>
                <a:lnTo>
                  <a:pt x="9012936" y="329819"/>
                </a:lnTo>
                <a:lnTo>
                  <a:pt x="9012936" y="6362026"/>
                </a:lnTo>
                <a:lnTo>
                  <a:pt x="9009359" y="6410769"/>
                </a:lnTo>
                <a:lnTo>
                  <a:pt x="8998968" y="6457290"/>
                </a:lnTo>
                <a:lnTo>
                  <a:pt x="8982275" y="6501081"/>
                </a:lnTo>
                <a:lnTo>
                  <a:pt x="8959791" y="6541631"/>
                </a:lnTo>
                <a:lnTo>
                  <a:pt x="8932024" y="6578430"/>
                </a:lnTo>
                <a:lnTo>
                  <a:pt x="8899487" y="6610967"/>
                </a:lnTo>
                <a:lnTo>
                  <a:pt x="8862690" y="6638733"/>
                </a:lnTo>
                <a:lnTo>
                  <a:pt x="8822144" y="6661216"/>
                </a:lnTo>
                <a:lnTo>
                  <a:pt x="8778359" y="6677908"/>
                </a:lnTo>
                <a:lnTo>
                  <a:pt x="8731847" y="6688297"/>
                </a:lnTo>
                <a:lnTo>
                  <a:pt x="8683117" y="6691873"/>
                </a:lnTo>
                <a:lnTo>
                  <a:pt x="329844" y="6691873"/>
                </a:lnTo>
                <a:lnTo>
                  <a:pt x="281102" y="6688297"/>
                </a:lnTo>
                <a:lnTo>
                  <a:pt x="234580" y="6677908"/>
                </a:lnTo>
                <a:lnTo>
                  <a:pt x="190789" y="6661216"/>
                </a:lnTo>
                <a:lnTo>
                  <a:pt x="150240" y="6638733"/>
                </a:lnTo>
                <a:lnTo>
                  <a:pt x="113441" y="6610967"/>
                </a:lnTo>
                <a:lnTo>
                  <a:pt x="80905" y="6578430"/>
                </a:lnTo>
                <a:lnTo>
                  <a:pt x="53139" y="6541631"/>
                </a:lnTo>
                <a:lnTo>
                  <a:pt x="30656" y="6501081"/>
                </a:lnTo>
                <a:lnTo>
                  <a:pt x="13965" y="6457290"/>
                </a:lnTo>
                <a:lnTo>
                  <a:pt x="3576" y="6410769"/>
                </a:lnTo>
                <a:lnTo>
                  <a:pt x="0" y="6362026"/>
                </a:lnTo>
                <a:lnTo>
                  <a:pt x="0" y="329819"/>
                </a:lnTo>
                <a:close/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2484" y="1395983"/>
            <a:ext cx="9022080" cy="121920"/>
          </a:xfrm>
          <a:custGeom>
            <a:avLst/>
            <a:gdLst/>
            <a:ahLst/>
            <a:cxnLst/>
            <a:rect l="l" t="t" r="r" b="b"/>
            <a:pathLst>
              <a:path w="9022080" h="121919">
                <a:moveTo>
                  <a:pt x="0" y="121920"/>
                </a:moveTo>
                <a:lnTo>
                  <a:pt x="9022080" y="121920"/>
                </a:lnTo>
                <a:lnTo>
                  <a:pt x="9022080" y="0"/>
                </a:lnTo>
                <a:lnTo>
                  <a:pt x="0" y="0"/>
                </a:lnTo>
                <a:lnTo>
                  <a:pt x="0" y="121920"/>
                </a:lnTo>
                <a:close/>
              </a:path>
            </a:pathLst>
          </a:custGeom>
          <a:solidFill>
            <a:srgbClr val="E6B0A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2484" y="2976372"/>
            <a:ext cx="9022080" cy="111760"/>
          </a:xfrm>
          <a:custGeom>
            <a:avLst/>
            <a:gdLst/>
            <a:ahLst/>
            <a:cxnLst/>
            <a:rect l="l" t="t" r="r" b="b"/>
            <a:pathLst>
              <a:path w="9022080" h="111760">
                <a:moveTo>
                  <a:pt x="0" y="111251"/>
                </a:moveTo>
                <a:lnTo>
                  <a:pt x="9022080" y="111251"/>
                </a:lnTo>
                <a:lnTo>
                  <a:pt x="9022080" y="0"/>
                </a:lnTo>
                <a:lnTo>
                  <a:pt x="0" y="0"/>
                </a:lnTo>
                <a:lnTo>
                  <a:pt x="0" y="111251"/>
                </a:lnTo>
                <a:close/>
              </a:path>
            </a:pathLst>
          </a:custGeom>
          <a:solidFill>
            <a:srgbClr val="9184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2484" y="1517903"/>
            <a:ext cx="9022080" cy="1458595"/>
          </a:xfrm>
          <a:prstGeom prst="rect">
            <a:avLst/>
          </a:prstGeom>
          <a:solidFill>
            <a:srgbClr val="D24717"/>
          </a:solidFill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4900"/>
              </a:lnSpc>
            </a:pPr>
            <a:r>
              <a:rPr sz="4400" spc="-5" dirty="0">
                <a:latin typeface="Perpetua"/>
                <a:cs typeface="Perpetua"/>
              </a:rPr>
              <a:t>2.6</a:t>
            </a:r>
            <a:endParaRPr sz="4400">
              <a:latin typeface="Perpetua"/>
              <a:cs typeface="Perpetua"/>
            </a:endParaRPr>
          </a:p>
          <a:p>
            <a:pPr algn="ctr">
              <a:lnSpc>
                <a:spcPct val="100000"/>
              </a:lnSpc>
            </a:pPr>
            <a:r>
              <a:rPr sz="4400" dirty="0">
                <a:latin typeface="Perpetua"/>
                <a:cs typeface="Perpetua"/>
              </a:rPr>
              <a:t>Name</a:t>
            </a:r>
            <a:r>
              <a:rPr sz="4400" spc="-5" dirty="0">
                <a:latin typeface="Perpetua"/>
                <a:cs typeface="Perpetua"/>
              </a:rPr>
              <a:t> </a:t>
            </a:r>
            <a:r>
              <a:rPr sz="4400" dirty="0">
                <a:latin typeface="Perpetua"/>
                <a:cs typeface="Perpetua"/>
              </a:rPr>
              <a:t>Binding</a:t>
            </a:r>
            <a:endParaRPr sz="44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1119581"/>
            <a:ext cx="227774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1" i="0" spc="-20" dirty="0">
                <a:latin typeface="Perpetua"/>
                <a:cs typeface="Perpetua"/>
              </a:rPr>
              <a:t>Objectives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815211"/>
            <a:ext cx="8075295" cy="3501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6985" indent="-274320">
              <a:lnSpc>
                <a:spcPct val="100000"/>
              </a:lnSpc>
              <a:spcBef>
                <a:spcPts val="10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-170" dirty="0">
                <a:latin typeface="Perpetua"/>
                <a:cs typeface="Perpetua"/>
              </a:rPr>
              <a:t>To </a:t>
            </a:r>
            <a:r>
              <a:rPr sz="2600" dirty="0">
                <a:latin typeface="Perpetua"/>
                <a:cs typeface="Perpetua"/>
              </a:rPr>
              <a:t>understand the </a:t>
            </a:r>
            <a:r>
              <a:rPr sz="2600" spc="15" dirty="0">
                <a:latin typeface="Perpetua"/>
                <a:cs typeface="Perpetua"/>
              </a:rPr>
              <a:t>form </a:t>
            </a:r>
            <a:r>
              <a:rPr sz="2600" spc="-5" dirty="0">
                <a:latin typeface="Perpetua"/>
                <a:cs typeface="Perpetua"/>
              </a:rPr>
              <a:t>and function of </a:t>
            </a:r>
            <a:r>
              <a:rPr sz="2600" spc="-10" dirty="0">
                <a:latin typeface="Perpetua"/>
                <a:cs typeface="Perpetua"/>
              </a:rPr>
              <a:t>imperative </a:t>
            </a:r>
            <a:r>
              <a:rPr sz="2600" spc="-5" dirty="0">
                <a:latin typeface="Perpetua"/>
                <a:cs typeface="Perpetua"/>
              </a:rPr>
              <a:t>statements  </a:t>
            </a:r>
            <a:r>
              <a:rPr sz="2600" dirty="0">
                <a:latin typeface="Perpetua"/>
                <a:cs typeface="Perpetua"/>
              </a:rPr>
              <a:t>including</a:t>
            </a:r>
            <a:r>
              <a:rPr sz="2600" spc="-15" dirty="0">
                <a:latin typeface="Perpetua"/>
                <a:cs typeface="Perpetua"/>
              </a:rPr>
              <a:t> </a:t>
            </a:r>
            <a:r>
              <a:rPr sz="2600" spc="-35" dirty="0">
                <a:latin typeface="Perpetua"/>
                <a:cs typeface="Perpetua"/>
              </a:rPr>
              <a:t>naming.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Char char="•"/>
            </a:pPr>
            <a:endParaRPr sz="3750">
              <a:latin typeface="Times New Roman"/>
              <a:cs typeface="Times New Roman"/>
            </a:endParaRPr>
          </a:p>
          <a:p>
            <a:pPr marL="286385" marR="6985" indent="-274320">
              <a:lnSpc>
                <a:spcPct val="100000"/>
              </a:lnSpc>
              <a:buSzPct val="84615"/>
              <a:buFont typeface="Arial"/>
              <a:buChar char="•"/>
              <a:tabLst>
                <a:tab pos="286385" algn="l"/>
                <a:tab pos="287020" algn="l"/>
                <a:tab pos="794385" algn="l"/>
                <a:tab pos="2335530" algn="l"/>
                <a:tab pos="2923540" algn="l"/>
                <a:tab pos="4505960" algn="l"/>
                <a:tab pos="4955540" algn="l"/>
                <a:tab pos="5880735" algn="l"/>
                <a:tab pos="7144384" algn="l"/>
              </a:tabLst>
            </a:pPr>
            <a:r>
              <a:rPr sz="2600" spc="-340" dirty="0">
                <a:latin typeface="Perpetua"/>
                <a:cs typeface="Perpetua"/>
              </a:rPr>
              <a:t>T</a:t>
            </a:r>
            <a:r>
              <a:rPr sz="2600" dirty="0">
                <a:latin typeface="Perpetua"/>
                <a:cs typeface="Perpetua"/>
              </a:rPr>
              <a:t>o	u</a:t>
            </a:r>
            <a:r>
              <a:rPr sz="2600" spc="-15" dirty="0">
                <a:latin typeface="Perpetua"/>
                <a:cs typeface="Perpetua"/>
              </a:rPr>
              <a:t>n</a:t>
            </a:r>
            <a:r>
              <a:rPr sz="2600" dirty="0">
                <a:latin typeface="Perpetua"/>
                <a:cs typeface="Perpetua"/>
              </a:rPr>
              <a:t>de</a:t>
            </a:r>
            <a:r>
              <a:rPr sz="2600" spc="40" dirty="0">
                <a:latin typeface="Perpetua"/>
                <a:cs typeface="Perpetua"/>
              </a:rPr>
              <a:t>r</a:t>
            </a:r>
            <a:r>
              <a:rPr sz="2600" dirty="0">
                <a:latin typeface="Perpetua"/>
                <a:cs typeface="Perpetua"/>
              </a:rPr>
              <a:t>st</a:t>
            </a:r>
            <a:r>
              <a:rPr sz="2600" spc="-20" dirty="0">
                <a:latin typeface="Perpetua"/>
                <a:cs typeface="Perpetua"/>
              </a:rPr>
              <a:t>a</a:t>
            </a:r>
            <a:r>
              <a:rPr sz="2600" dirty="0">
                <a:latin typeface="Perpetua"/>
                <a:cs typeface="Perpetua"/>
              </a:rPr>
              <a:t>nd	the	i</a:t>
            </a:r>
            <a:r>
              <a:rPr sz="2600" spc="-10" dirty="0">
                <a:latin typeface="Perpetua"/>
                <a:cs typeface="Perpetua"/>
              </a:rPr>
              <a:t>m</a:t>
            </a:r>
            <a:r>
              <a:rPr sz="2600" dirty="0">
                <a:latin typeface="Perpetua"/>
                <a:cs typeface="Perpetua"/>
              </a:rPr>
              <a:t>p</a:t>
            </a:r>
            <a:r>
              <a:rPr sz="2600" spc="-15" dirty="0">
                <a:latin typeface="Perpetua"/>
                <a:cs typeface="Perpetua"/>
              </a:rPr>
              <a:t>o</a:t>
            </a:r>
            <a:r>
              <a:rPr sz="2600" spc="95" dirty="0">
                <a:latin typeface="Perpetua"/>
                <a:cs typeface="Perpetua"/>
              </a:rPr>
              <a:t>r</a:t>
            </a:r>
            <a:r>
              <a:rPr sz="2600" dirty="0">
                <a:latin typeface="Perpetua"/>
                <a:cs typeface="Perpetua"/>
              </a:rPr>
              <a:t>ta</a:t>
            </a:r>
            <a:r>
              <a:rPr sz="2600" spc="-15" dirty="0">
                <a:latin typeface="Perpetua"/>
                <a:cs typeface="Perpetua"/>
              </a:rPr>
              <a:t>n</a:t>
            </a:r>
            <a:r>
              <a:rPr sz="2600" dirty="0">
                <a:latin typeface="Perpetua"/>
                <a:cs typeface="Perpetua"/>
              </a:rPr>
              <a:t>ce	</a:t>
            </a:r>
            <a:r>
              <a:rPr sz="2600" spc="-5" dirty="0">
                <a:latin typeface="Perpetua"/>
                <a:cs typeface="Perpetua"/>
              </a:rPr>
              <a:t>o</a:t>
            </a:r>
            <a:r>
              <a:rPr sz="2600" dirty="0">
                <a:latin typeface="Perpetua"/>
                <a:cs typeface="Perpetua"/>
              </a:rPr>
              <a:t>f	Name	se</a:t>
            </a:r>
            <a:r>
              <a:rPr sz="2600" spc="-15" dirty="0">
                <a:latin typeface="Perpetua"/>
                <a:cs typeface="Perpetua"/>
              </a:rPr>
              <a:t>l</a:t>
            </a:r>
            <a:r>
              <a:rPr sz="2600" dirty="0">
                <a:latin typeface="Perpetua"/>
                <a:cs typeface="Perpetua"/>
              </a:rPr>
              <a:t>ec</a:t>
            </a:r>
            <a:r>
              <a:rPr sz="2600" spc="-15" dirty="0">
                <a:latin typeface="Perpetua"/>
                <a:cs typeface="Perpetua"/>
              </a:rPr>
              <a:t>t</a:t>
            </a:r>
            <a:r>
              <a:rPr sz="2600" dirty="0">
                <a:latin typeface="Perpetua"/>
                <a:cs typeface="Perpetua"/>
              </a:rPr>
              <a:t>ion	(p</a:t>
            </a:r>
            <a:r>
              <a:rPr sz="2600" spc="-25" dirty="0">
                <a:latin typeface="Perpetua"/>
                <a:cs typeface="Perpetua"/>
              </a:rPr>
              <a:t>r</a:t>
            </a:r>
            <a:r>
              <a:rPr sz="2600" spc="-20" dirty="0">
                <a:latin typeface="Perpetua"/>
                <a:cs typeface="Perpetua"/>
              </a:rPr>
              <a:t>o</a:t>
            </a:r>
            <a:r>
              <a:rPr sz="2600" dirty="0">
                <a:latin typeface="Perpetua"/>
                <a:cs typeface="Perpetua"/>
              </a:rPr>
              <a:t>per  </a:t>
            </a:r>
            <a:r>
              <a:rPr sz="2600" spc="-5" dirty="0">
                <a:latin typeface="Perpetua"/>
                <a:cs typeface="Perpetua"/>
              </a:rPr>
              <a:t>naming).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Arial"/>
              <a:buChar char="•"/>
            </a:pPr>
            <a:endParaRPr sz="3750">
              <a:latin typeface="Times New Roman"/>
              <a:cs typeface="Times New Roman"/>
            </a:endParaRPr>
          </a:p>
          <a:p>
            <a:pPr marL="286385" marR="5080" indent="-274320">
              <a:lnSpc>
                <a:spcPct val="100000"/>
              </a:lnSpc>
              <a:spcBef>
                <a:spcPts val="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-170" dirty="0">
                <a:latin typeface="Perpetua"/>
                <a:cs typeface="Perpetua"/>
              </a:rPr>
              <a:t>To </a:t>
            </a:r>
            <a:r>
              <a:rPr sz="2600" dirty="0">
                <a:latin typeface="Perpetua"/>
                <a:cs typeface="Perpetua"/>
              </a:rPr>
              <a:t>understand the </a:t>
            </a:r>
            <a:r>
              <a:rPr sz="2600" spc="-5" dirty="0">
                <a:latin typeface="Perpetua"/>
                <a:cs typeface="Perpetua"/>
              </a:rPr>
              <a:t>concepts of computational </a:t>
            </a:r>
            <a:r>
              <a:rPr sz="2600" spc="-10" dirty="0">
                <a:latin typeface="Perpetua"/>
                <a:cs typeface="Perpetua"/>
              </a:rPr>
              <a:t>state, </a:t>
            </a:r>
            <a:r>
              <a:rPr sz="2600" spc="-15" dirty="0">
                <a:latin typeface="Perpetua"/>
                <a:cs typeface="Perpetua"/>
              </a:rPr>
              <a:t>events, </a:t>
            </a:r>
            <a:r>
              <a:rPr sz="2600" spc="-5" dirty="0">
                <a:latin typeface="Perpetua"/>
                <a:cs typeface="Perpetua"/>
              </a:rPr>
              <a:t>and  </a:t>
            </a:r>
            <a:r>
              <a:rPr sz="2600" spc="-15" dirty="0">
                <a:latin typeface="Perpetua"/>
                <a:cs typeface="Perpetua"/>
              </a:rPr>
              <a:t>actions.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52400" y="152400"/>
            <a:ext cx="1426768" cy="104791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340" y="1357544"/>
            <a:ext cx="4284345" cy="3806825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70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i="1" spc="-15" dirty="0">
                <a:latin typeface="Perpetua"/>
                <a:cs typeface="Perpetua"/>
              </a:rPr>
              <a:t>How </a:t>
            </a:r>
            <a:r>
              <a:rPr sz="2600" i="1" spc="-5" dirty="0">
                <a:latin typeface="Perpetua"/>
                <a:cs typeface="Perpetua"/>
              </a:rPr>
              <a:t>can </a:t>
            </a:r>
            <a:r>
              <a:rPr sz="2600" i="1" dirty="0">
                <a:latin typeface="Perpetua"/>
                <a:cs typeface="Perpetua"/>
              </a:rPr>
              <a:t>I call a </a:t>
            </a:r>
            <a:r>
              <a:rPr sz="2600" i="1" spc="-5" dirty="0">
                <a:latin typeface="Perpetua"/>
                <a:cs typeface="Perpetua"/>
              </a:rPr>
              <a:t>student of this</a:t>
            </a:r>
            <a:r>
              <a:rPr sz="2600" i="1" spc="15" dirty="0">
                <a:latin typeface="Perpetua"/>
                <a:cs typeface="Perpetua"/>
              </a:rPr>
              <a:t> </a:t>
            </a:r>
            <a:r>
              <a:rPr sz="2600" i="1" spc="-5" dirty="0">
                <a:latin typeface="Perpetua"/>
                <a:cs typeface="Perpetua"/>
              </a:rPr>
              <a:t>class</a:t>
            </a:r>
            <a:r>
              <a:rPr sz="2600" spc="-5" dirty="0">
                <a:latin typeface="Perpetua"/>
                <a:cs typeface="Perpetua"/>
              </a:rPr>
              <a:t>?</a:t>
            </a:r>
            <a:endParaRPr sz="2600">
              <a:latin typeface="Perpetua"/>
              <a:cs typeface="Perpetua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600" spc="-5" dirty="0">
                <a:latin typeface="Perpetua"/>
                <a:cs typeface="Perpetua"/>
              </a:rPr>
              <a:t>…Student </a:t>
            </a:r>
            <a:r>
              <a:rPr sz="2600" dirty="0">
                <a:latin typeface="Perpetua"/>
                <a:cs typeface="Perpetua"/>
              </a:rPr>
              <a:t>Name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75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i="1" spc="-15" dirty="0">
                <a:latin typeface="Perpetua"/>
                <a:cs typeface="Perpetua"/>
              </a:rPr>
              <a:t>How </a:t>
            </a:r>
            <a:r>
              <a:rPr sz="2600" i="1" spc="-5" dirty="0">
                <a:latin typeface="Perpetua"/>
                <a:cs typeface="Perpetua"/>
              </a:rPr>
              <a:t>can </a:t>
            </a:r>
            <a:r>
              <a:rPr sz="2600" i="1" dirty="0">
                <a:latin typeface="Perpetua"/>
                <a:cs typeface="Perpetua"/>
              </a:rPr>
              <a:t>I </a:t>
            </a:r>
            <a:r>
              <a:rPr sz="2600" i="1" spc="-5" dirty="0">
                <a:latin typeface="Perpetua"/>
                <a:cs typeface="Perpetua"/>
              </a:rPr>
              <a:t>mention </a:t>
            </a:r>
            <a:r>
              <a:rPr sz="2600" i="1" spc="-15" dirty="0">
                <a:latin typeface="Perpetua"/>
                <a:cs typeface="Perpetua"/>
              </a:rPr>
              <a:t>where </a:t>
            </a:r>
            <a:r>
              <a:rPr sz="2600" i="1" dirty="0">
                <a:latin typeface="Perpetua"/>
                <a:cs typeface="Perpetua"/>
              </a:rPr>
              <a:t>I</a:t>
            </a:r>
            <a:r>
              <a:rPr sz="2600" i="1" spc="5" dirty="0">
                <a:latin typeface="Perpetua"/>
                <a:cs typeface="Perpetua"/>
              </a:rPr>
              <a:t> </a:t>
            </a:r>
            <a:r>
              <a:rPr sz="2600" i="1" spc="-15" dirty="0">
                <a:latin typeface="Perpetua"/>
                <a:cs typeface="Perpetua"/>
              </a:rPr>
              <a:t>live</a:t>
            </a:r>
            <a:r>
              <a:rPr sz="2600" spc="-15" dirty="0">
                <a:latin typeface="Perpetua"/>
                <a:cs typeface="Perpetua"/>
              </a:rPr>
              <a:t>?</a:t>
            </a:r>
            <a:endParaRPr sz="2600">
              <a:latin typeface="Perpetua"/>
              <a:cs typeface="Perpetua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600" spc="-5" dirty="0">
                <a:latin typeface="Perpetua"/>
                <a:cs typeface="Perpetua"/>
              </a:rPr>
              <a:t>…City/Place</a:t>
            </a:r>
            <a:r>
              <a:rPr sz="2600" spc="-1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Name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75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i="1" spc="-15" dirty="0">
                <a:latin typeface="Perpetua"/>
                <a:cs typeface="Perpetua"/>
              </a:rPr>
              <a:t>How </a:t>
            </a:r>
            <a:r>
              <a:rPr sz="2600" i="1" spc="-5" dirty="0">
                <a:latin typeface="Perpetua"/>
                <a:cs typeface="Perpetua"/>
              </a:rPr>
              <a:t>can </a:t>
            </a:r>
            <a:r>
              <a:rPr sz="2600" i="1" dirty="0">
                <a:latin typeface="Perpetua"/>
                <a:cs typeface="Perpetua"/>
              </a:rPr>
              <a:t>I </a:t>
            </a:r>
            <a:r>
              <a:rPr sz="2600" i="1" spc="-10" dirty="0">
                <a:latin typeface="Perpetua"/>
                <a:cs typeface="Perpetua"/>
              </a:rPr>
              <a:t>locate </a:t>
            </a:r>
            <a:r>
              <a:rPr sz="2600" i="1" dirty="0">
                <a:latin typeface="Perpetua"/>
                <a:cs typeface="Perpetua"/>
              </a:rPr>
              <a:t>a </a:t>
            </a:r>
            <a:r>
              <a:rPr sz="2600" i="1" spc="-5" dirty="0">
                <a:latin typeface="Perpetua"/>
                <a:cs typeface="Perpetua"/>
              </a:rPr>
              <a:t>book in</a:t>
            </a:r>
            <a:r>
              <a:rPr sz="2600" i="1" spc="-10" dirty="0">
                <a:latin typeface="Perpetua"/>
                <a:cs typeface="Perpetua"/>
              </a:rPr>
              <a:t> library?</a:t>
            </a:r>
            <a:endParaRPr sz="2600">
              <a:latin typeface="Perpetua"/>
              <a:cs typeface="Perpetua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600" spc="-5" dirty="0">
                <a:latin typeface="Perpetua"/>
                <a:cs typeface="Perpetua"/>
              </a:rPr>
              <a:t>... </a:t>
            </a:r>
            <a:r>
              <a:rPr sz="2600" dirty="0">
                <a:latin typeface="Perpetua"/>
                <a:cs typeface="Perpetua"/>
              </a:rPr>
              <a:t>Book name/ </a:t>
            </a:r>
            <a:r>
              <a:rPr sz="2600" spc="-5" dirty="0">
                <a:latin typeface="Perpetua"/>
                <a:cs typeface="Perpetua"/>
              </a:rPr>
              <a:t>author</a:t>
            </a:r>
            <a:r>
              <a:rPr sz="2600" spc="-10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name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45703" y="381000"/>
            <a:ext cx="570565" cy="9951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629400" y="685800"/>
            <a:ext cx="1700783" cy="18867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81600" y="5048322"/>
            <a:ext cx="2205990" cy="148653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15000" y="2971800"/>
            <a:ext cx="2590800" cy="151638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701166"/>
            <a:ext cx="49377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20" dirty="0"/>
              <a:t>How </a:t>
            </a:r>
            <a:r>
              <a:rPr sz="3600" dirty="0"/>
              <a:t>to </a:t>
            </a:r>
            <a:r>
              <a:rPr sz="3600" spc="-10" dirty="0"/>
              <a:t>locate </a:t>
            </a:r>
            <a:r>
              <a:rPr sz="3600" spc="-5" dirty="0"/>
              <a:t>resources</a:t>
            </a:r>
            <a:r>
              <a:rPr sz="3600" spc="-55" dirty="0"/>
              <a:t> </a:t>
            </a:r>
            <a:r>
              <a:rPr sz="3600" spc="10" dirty="0"/>
              <a:t>inWWW?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307340" y="1404569"/>
            <a:ext cx="8544560" cy="4447540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286385" marR="6985" indent="-274320">
              <a:lnSpc>
                <a:spcPts val="2810"/>
              </a:lnSpc>
              <a:spcBef>
                <a:spcPts val="45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  <a:tab pos="885825" algn="l"/>
                <a:tab pos="1510665" algn="l"/>
                <a:tab pos="2618740" algn="l"/>
                <a:tab pos="3687445" algn="l"/>
                <a:tab pos="4425315" algn="l"/>
                <a:tab pos="5492115" algn="l"/>
                <a:tab pos="5862320" algn="l"/>
                <a:tab pos="6644640" algn="l"/>
                <a:tab pos="7014845" algn="l"/>
              </a:tabLst>
            </a:pPr>
            <a:r>
              <a:rPr sz="2600" dirty="0">
                <a:latin typeface="Perpetua"/>
                <a:cs typeface="Perpetua"/>
              </a:rPr>
              <a:t>The	</a:t>
            </a:r>
            <a:r>
              <a:rPr sz="2600" spc="-95" dirty="0">
                <a:latin typeface="Perpetua"/>
                <a:cs typeface="Perpetua"/>
              </a:rPr>
              <a:t>w</a:t>
            </a:r>
            <a:r>
              <a:rPr sz="2600" dirty="0">
                <a:latin typeface="Perpetua"/>
                <a:cs typeface="Perpetua"/>
              </a:rPr>
              <a:t>eb	c</a:t>
            </a:r>
            <a:r>
              <a:rPr sz="2600" spc="-30" dirty="0">
                <a:latin typeface="Perpetua"/>
                <a:cs typeface="Perpetua"/>
              </a:rPr>
              <a:t>o</a:t>
            </a:r>
            <a:r>
              <a:rPr sz="2600" dirty="0">
                <a:latin typeface="Perpetua"/>
                <a:cs typeface="Perpetua"/>
              </a:rPr>
              <a:t>n</a:t>
            </a:r>
            <a:r>
              <a:rPr sz="2600" spc="-15" dirty="0">
                <a:latin typeface="Perpetua"/>
                <a:cs typeface="Perpetua"/>
              </a:rPr>
              <a:t>t</a:t>
            </a:r>
            <a:r>
              <a:rPr sz="2600" spc="-5" dirty="0">
                <a:latin typeface="Perpetua"/>
                <a:cs typeface="Perpetua"/>
              </a:rPr>
              <a:t>ain</a:t>
            </a:r>
            <a:r>
              <a:rPr sz="2600" dirty="0">
                <a:latin typeface="Perpetua"/>
                <a:cs typeface="Perpetua"/>
              </a:rPr>
              <a:t>s	t</a:t>
            </a:r>
            <a:r>
              <a:rPr sz="2600" spc="40" dirty="0">
                <a:latin typeface="Perpetua"/>
                <a:cs typeface="Perpetua"/>
              </a:rPr>
              <a:t>r</a:t>
            </a:r>
            <a:r>
              <a:rPr sz="2600" dirty="0">
                <a:latin typeface="Perpetua"/>
                <a:cs typeface="Perpetua"/>
              </a:rPr>
              <a:t>illi</a:t>
            </a:r>
            <a:r>
              <a:rPr sz="2600" spc="5" dirty="0">
                <a:latin typeface="Perpetua"/>
                <a:cs typeface="Perpetua"/>
              </a:rPr>
              <a:t>o</a:t>
            </a:r>
            <a:r>
              <a:rPr sz="2600" dirty="0">
                <a:latin typeface="Perpetua"/>
                <a:cs typeface="Perpetua"/>
              </a:rPr>
              <a:t>ns	</a:t>
            </a:r>
            <a:r>
              <a:rPr sz="2600" spc="-10" dirty="0">
                <a:latin typeface="Perpetua"/>
                <a:cs typeface="Perpetua"/>
              </a:rPr>
              <a:t>upo</a:t>
            </a:r>
            <a:r>
              <a:rPr sz="2600" dirty="0">
                <a:latin typeface="Perpetua"/>
                <a:cs typeface="Perpetua"/>
              </a:rPr>
              <a:t>n	t</a:t>
            </a:r>
            <a:r>
              <a:rPr sz="2600" spc="40" dirty="0">
                <a:latin typeface="Perpetua"/>
                <a:cs typeface="Perpetua"/>
              </a:rPr>
              <a:t>r</a:t>
            </a:r>
            <a:r>
              <a:rPr sz="2600" dirty="0">
                <a:latin typeface="Perpetua"/>
                <a:cs typeface="Perpetua"/>
              </a:rPr>
              <a:t>illio</a:t>
            </a:r>
            <a:r>
              <a:rPr sz="2600" spc="-10" dirty="0">
                <a:latin typeface="Perpetua"/>
                <a:cs typeface="Perpetua"/>
              </a:rPr>
              <a:t>n</a:t>
            </a:r>
            <a:r>
              <a:rPr sz="2600" dirty="0">
                <a:latin typeface="Perpetua"/>
                <a:cs typeface="Perpetua"/>
              </a:rPr>
              <a:t>s	</a:t>
            </a:r>
            <a:r>
              <a:rPr sz="2600" spc="-10" dirty="0">
                <a:latin typeface="Perpetua"/>
                <a:cs typeface="Perpetua"/>
              </a:rPr>
              <a:t>o</a:t>
            </a:r>
            <a:r>
              <a:rPr sz="2600" dirty="0">
                <a:latin typeface="Perpetua"/>
                <a:cs typeface="Perpetua"/>
              </a:rPr>
              <a:t>f	p</a:t>
            </a:r>
            <a:r>
              <a:rPr sz="2600" spc="-10" dirty="0">
                <a:latin typeface="Perpetua"/>
                <a:cs typeface="Perpetua"/>
              </a:rPr>
              <a:t>a</a:t>
            </a:r>
            <a:r>
              <a:rPr sz="2600" dirty="0">
                <a:latin typeface="Perpetua"/>
                <a:cs typeface="Perpetua"/>
              </a:rPr>
              <a:t>ges	</a:t>
            </a:r>
            <a:r>
              <a:rPr sz="2600" spc="-10" dirty="0">
                <a:latin typeface="Perpetua"/>
                <a:cs typeface="Perpetua"/>
              </a:rPr>
              <a:t>o</a:t>
            </a:r>
            <a:r>
              <a:rPr sz="2600" dirty="0">
                <a:latin typeface="Perpetua"/>
                <a:cs typeface="Perpetua"/>
              </a:rPr>
              <a:t>f	in</a:t>
            </a:r>
            <a:r>
              <a:rPr sz="2600" spc="-10" dirty="0">
                <a:latin typeface="Perpetua"/>
                <a:cs typeface="Perpetua"/>
              </a:rPr>
              <a:t>f</a:t>
            </a:r>
            <a:r>
              <a:rPr sz="2600" dirty="0">
                <a:latin typeface="Perpetua"/>
                <a:cs typeface="Perpetua"/>
              </a:rPr>
              <a:t>o</a:t>
            </a:r>
            <a:r>
              <a:rPr sz="2600" spc="65" dirty="0">
                <a:latin typeface="Perpetua"/>
                <a:cs typeface="Perpetua"/>
              </a:rPr>
              <a:t>r</a:t>
            </a:r>
            <a:r>
              <a:rPr sz="2600" spc="-5" dirty="0">
                <a:latin typeface="Perpetua"/>
                <a:cs typeface="Perpetua"/>
              </a:rPr>
              <a:t>m</a:t>
            </a:r>
            <a:r>
              <a:rPr sz="2600" spc="-30" dirty="0">
                <a:latin typeface="Perpetua"/>
                <a:cs typeface="Perpetua"/>
              </a:rPr>
              <a:t>a</a:t>
            </a:r>
            <a:r>
              <a:rPr sz="2600" dirty="0">
                <a:latin typeface="Perpetua"/>
                <a:cs typeface="Perpetua"/>
              </a:rPr>
              <a:t>tion,  </a:t>
            </a:r>
            <a:r>
              <a:rPr sz="2600" spc="-15" dirty="0">
                <a:latin typeface="Perpetua"/>
                <a:cs typeface="Perpetua"/>
              </a:rPr>
              <a:t>every </a:t>
            </a:r>
            <a:r>
              <a:rPr sz="2600" spc="-5" dirty="0">
                <a:latin typeface="Perpetua"/>
                <a:cs typeface="Perpetua"/>
              </a:rPr>
              <a:t>piece of </a:t>
            </a:r>
            <a:r>
              <a:rPr sz="2600" dirty="0">
                <a:latin typeface="Perpetua"/>
                <a:cs typeface="Perpetua"/>
              </a:rPr>
              <a:t>this information has a </a:t>
            </a:r>
            <a:r>
              <a:rPr sz="2600" spc="-5" dirty="0">
                <a:latin typeface="Perpetua"/>
                <a:cs typeface="Perpetua"/>
              </a:rPr>
              <a:t>unique</a:t>
            </a:r>
            <a:r>
              <a:rPr sz="2600" spc="5" dirty="0">
                <a:latin typeface="Perpetua"/>
                <a:cs typeface="Perpetua"/>
              </a:rPr>
              <a:t> </a:t>
            </a:r>
            <a:r>
              <a:rPr sz="2600" spc="-15" dirty="0">
                <a:latin typeface="Perpetua"/>
                <a:cs typeface="Perpetua"/>
              </a:rPr>
              <a:t>name.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Arial"/>
              <a:buChar char="•"/>
            </a:pPr>
            <a:endParaRPr sz="3450">
              <a:latin typeface="Times New Roman"/>
              <a:cs typeface="Times New Roman"/>
            </a:endParaRPr>
          </a:p>
          <a:p>
            <a:pPr marL="286385" marR="20955" indent="-274320">
              <a:lnSpc>
                <a:spcPts val="2810"/>
              </a:lnSpc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-5" dirty="0">
                <a:latin typeface="Perpetua"/>
                <a:cs typeface="Perpetua"/>
              </a:rPr>
              <a:t>These names </a:t>
            </a:r>
            <a:r>
              <a:rPr sz="2600" spc="-10" dirty="0">
                <a:latin typeface="Perpetua"/>
                <a:cs typeface="Perpetua"/>
              </a:rPr>
              <a:t>are </a:t>
            </a:r>
            <a:r>
              <a:rPr sz="2600" dirty="0">
                <a:latin typeface="Perpetua"/>
                <a:cs typeface="Perpetua"/>
              </a:rPr>
              <a:t>informally </a:t>
            </a:r>
            <a:r>
              <a:rPr sz="2600" spc="-15" dirty="0">
                <a:latin typeface="Perpetua"/>
                <a:cs typeface="Perpetua"/>
              </a:rPr>
              <a:t>known </a:t>
            </a:r>
            <a:r>
              <a:rPr sz="2600" spc="-5" dirty="0">
                <a:latin typeface="Perpetua"/>
                <a:cs typeface="Perpetua"/>
              </a:rPr>
              <a:t>as </a:t>
            </a:r>
            <a:r>
              <a:rPr sz="2600" spc="-30" dirty="0">
                <a:latin typeface="Perpetua"/>
                <a:cs typeface="Perpetua"/>
              </a:rPr>
              <a:t>web </a:t>
            </a:r>
            <a:r>
              <a:rPr sz="2600" spc="-10" dirty="0">
                <a:latin typeface="Perpetua"/>
                <a:cs typeface="Perpetua"/>
              </a:rPr>
              <a:t>addresses but are </a:t>
            </a:r>
            <a:r>
              <a:rPr sz="2600" dirty="0">
                <a:latin typeface="Perpetua"/>
                <a:cs typeface="Perpetua"/>
              </a:rPr>
              <a:t>formally  </a:t>
            </a:r>
            <a:r>
              <a:rPr sz="2600" spc="-15" dirty="0">
                <a:latin typeface="Perpetua"/>
                <a:cs typeface="Perpetua"/>
              </a:rPr>
              <a:t>known </a:t>
            </a:r>
            <a:r>
              <a:rPr sz="2600" spc="-5" dirty="0">
                <a:latin typeface="Perpetua"/>
                <a:cs typeface="Perpetua"/>
              </a:rPr>
              <a:t>as </a:t>
            </a:r>
            <a:r>
              <a:rPr sz="2600" i="1" spc="-5" dirty="0">
                <a:latin typeface="Perpetua"/>
                <a:cs typeface="Perpetua"/>
              </a:rPr>
              <a:t>Uniform </a:t>
            </a:r>
            <a:r>
              <a:rPr sz="2600" i="1" dirty="0">
                <a:latin typeface="Perpetua"/>
                <a:cs typeface="Perpetua"/>
              </a:rPr>
              <a:t>Resource </a:t>
            </a:r>
            <a:r>
              <a:rPr sz="2600" i="1" spc="-5" dirty="0">
                <a:latin typeface="Perpetua"/>
                <a:cs typeface="Perpetua"/>
              </a:rPr>
              <a:t>Locators</a:t>
            </a:r>
            <a:r>
              <a:rPr sz="2600" i="1" dirty="0">
                <a:latin typeface="Perpetua"/>
                <a:cs typeface="Perpetua"/>
              </a:rPr>
              <a:t> </a:t>
            </a:r>
            <a:r>
              <a:rPr sz="2600" i="1" spc="-5" dirty="0">
                <a:latin typeface="Perpetua"/>
                <a:cs typeface="Perpetua"/>
              </a:rPr>
              <a:t>(URLs).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Arial"/>
              <a:buChar char="•"/>
            </a:pPr>
            <a:endParaRPr sz="3450">
              <a:latin typeface="Times New Roman"/>
              <a:cs typeface="Times New Roman"/>
            </a:endParaRPr>
          </a:p>
          <a:p>
            <a:pPr marL="286385" marR="5080" indent="-274320">
              <a:lnSpc>
                <a:spcPts val="2810"/>
              </a:lnSpc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The URL </a:t>
            </a:r>
            <a:r>
              <a:rPr sz="2600" spc="-5" dirty="0">
                <a:latin typeface="Perpetua"/>
                <a:cs typeface="Perpetua"/>
              </a:rPr>
              <a:t>of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-30" dirty="0">
                <a:latin typeface="Perpetua"/>
                <a:cs typeface="Perpetua"/>
              </a:rPr>
              <a:t>web </a:t>
            </a:r>
            <a:r>
              <a:rPr sz="2600" spc="-5" dirty="0">
                <a:latin typeface="Perpetua"/>
                <a:cs typeface="Perpetua"/>
              </a:rPr>
              <a:t>page </a:t>
            </a:r>
            <a:r>
              <a:rPr sz="2600" dirty="0">
                <a:latin typeface="Perpetua"/>
                <a:cs typeface="Perpetua"/>
              </a:rPr>
              <a:t>is </a:t>
            </a:r>
            <a:r>
              <a:rPr sz="2600" spc="-5" dirty="0">
                <a:latin typeface="Perpetua"/>
                <a:cs typeface="Perpetua"/>
              </a:rPr>
              <a:t>technically not </a:t>
            </a:r>
            <a:r>
              <a:rPr sz="2600" dirty="0">
                <a:latin typeface="Perpetua"/>
                <a:cs typeface="Perpetua"/>
              </a:rPr>
              <a:t>the name </a:t>
            </a:r>
            <a:r>
              <a:rPr sz="2600" spc="-5" dirty="0">
                <a:latin typeface="Perpetua"/>
                <a:cs typeface="Perpetua"/>
              </a:rPr>
              <a:t>of </a:t>
            </a:r>
            <a:r>
              <a:rPr sz="2600" dirty="0">
                <a:latin typeface="Perpetua"/>
                <a:cs typeface="Perpetua"/>
              </a:rPr>
              <a:t>the item itself,  </a:t>
            </a:r>
            <a:r>
              <a:rPr sz="2600" spc="-10" dirty="0">
                <a:latin typeface="Perpetua"/>
                <a:cs typeface="Perpetua"/>
              </a:rPr>
              <a:t>but </a:t>
            </a:r>
            <a:r>
              <a:rPr sz="2600" dirty="0">
                <a:latin typeface="Perpetua"/>
                <a:cs typeface="Perpetua"/>
              </a:rPr>
              <a:t>is </a:t>
            </a:r>
            <a:r>
              <a:rPr sz="2600" spc="-5" dirty="0">
                <a:latin typeface="Perpetua"/>
                <a:cs typeface="Perpetua"/>
              </a:rPr>
              <a:t>rather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-40" dirty="0">
                <a:latin typeface="Perpetua"/>
                <a:cs typeface="Perpetua"/>
              </a:rPr>
              <a:t>way </a:t>
            </a:r>
            <a:r>
              <a:rPr sz="2600" spc="-5" dirty="0">
                <a:latin typeface="Perpetua"/>
                <a:cs typeface="Perpetua"/>
              </a:rPr>
              <a:t>of </a:t>
            </a:r>
            <a:r>
              <a:rPr sz="2600" spc="-10" dirty="0">
                <a:latin typeface="Perpetua"/>
                <a:cs typeface="Perpetua"/>
              </a:rPr>
              <a:t>locating </a:t>
            </a:r>
            <a:r>
              <a:rPr sz="2600" dirty="0">
                <a:latin typeface="Perpetua"/>
                <a:cs typeface="Perpetua"/>
              </a:rPr>
              <a:t>the</a:t>
            </a:r>
            <a:r>
              <a:rPr sz="2600" spc="5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item.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Arial"/>
              <a:buChar char="•"/>
            </a:pPr>
            <a:endParaRPr sz="3450">
              <a:latin typeface="Times New Roman"/>
              <a:cs typeface="Times New Roman"/>
            </a:endParaRPr>
          </a:p>
          <a:p>
            <a:pPr marL="286385" marR="18415" indent="-274320">
              <a:lnSpc>
                <a:spcPts val="2810"/>
              </a:lnSpc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-5" dirty="0">
                <a:latin typeface="Perpetua"/>
                <a:cs typeface="Perpetua"/>
              </a:rPr>
              <a:t>Nonetheless, </a:t>
            </a:r>
            <a:r>
              <a:rPr sz="2600" dirty="0">
                <a:latin typeface="Perpetua"/>
                <a:cs typeface="Perpetua"/>
              </a:rPr>
              <a:t>in a practical </a:t>
            </a:r>
            <a:r>
              <a:rPr sz="2600" spc="-10" dirty="0">
                <a:latin typeface="Perpetua"/>
                <a:cs typeface="Perpetua"/>
              </a:rPr>
              <a:t>sense, </a:t>
            </a:r>
            <a:r>
              <a:rPr sz="2600" dirty="0">
                <a:latin typeface="Perpetua"/>
                <a:cs typeface="Perpetua"/>
              </a:rPr>
              <a:t>the URL </a:t>
            </a:r>
            <a:r>
              <a:rPr sz="2600" spc="5" dirty="0">
                <a:latin typeface="Perpetua"/>
                <a:cs typeface="Perpetua"/>
              </a:rPr>
              <a:t>serves </a:t>
            </a:r>
            <a:r>
              <a:rPr sz="2600" spc="-5" dirty="0">
                <a:latin typeface="Perpetua"/>
                <a:cs typeface="Perpetua"/>
              </a:rPr>
              <a:t>as both </a:t>
            </a:r>
            <a:r>
              <a:rPr sz="2600" dirty="0">
                <a:latin typeface="Perpetua"/>
                <a:cs typeface="Perpetua"/>
              </a:rPr>
              <a:t>the name  </a:t>
            </a:r>
            <a:r>
              <a:rPr sz="2600" spc="-5" dirty="0">
                <a:latin typeface="Perpetua"/>
                <a:cs typeface="Perpetua"/>
              </a:rPr>
              <a:t>and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10" dirty="0">
                <a:latin typeface="Perpetua"/>
                <a:cs typeface="Perpetua"/>
              </a:rPr>
              <a:t>location </a:t>
            </a:r>
            <a:r>
              <a:rPr sz="2600" spc="-5" dirty="0">
                <a:latin typeface="Perpetua"/>
                <a:cs typeface="Perpetua"/>
              </a:rPr>
              <a:t>of </a:t>
            </a:r>
            <a:r>
              <a:rPr sz="2600" dirty="0">
                <a:latin typeface="Perpetua"/>
                <a:cs typeface="Perpetua"/>
              </a:rPr>
              <a:t>an</a:t>
            </a:r>
            <a:r>
              <a:rPr sz="2600" spc="-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item.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620000" y="381000"/>
            <a:ext cx="1277111" cy="1066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244284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Did </a:t>
            </a:r>
            <a:r>
              <a:rPr spc="-25" dirty="0"/>
              <a:t>you</a:t>
            </a:r>
            <a:r>
              <a:rPr spc="-70" dirty="0"/>
              <a:t> </a:t>
            </a:r>
            <a:r>
              <a:rPr spc="-15" dirty="0"/>
              <a:t>know?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288290" indent="-274320">
              <a:lnSpc>
                <a:spcPct val="100000"/>
              </a:lnSpc>
              <a:spcBef>
                <a:spcPts val="705"/>
              </a:spcBef>
              <a:buSzPct val="85416"/>
              <a:buFont typeface="Arial"/>
              <a:buChar char="•"/>
              <a:tabLst>
                <a:tab pos="287655" algn="l"/>
                <a:tab pos="288290" algn="l"/>
              </a:tabLst>
            </a:pPr>
            <a:r>
              <a:rPr sz="2400" i="0" dirty="0">
                <a:latin typeface="Perpetua"/>
                <a:cs typeface="Perpetua"/>
              </a:rPr>
              <a:t>URLs </a:t>
            </a:r>
            <a:r>
              <a:rPr sz="2400" i="0" spc="-10" dirty="0">
                <a:latin typeface="Perpetua"/>
                <a:cs typeface="Perpetua"/>
              </a:rPr>
              <a:t>are </a:t>
            </a:r>
            <a:r>
              <a:rPr sz="2400" i="0" dirty="0">
                <a:latin typeface="Perpetua"/>
                <a:cs typeface="Perpetua"/>
              </a:rPr>
              <a:t>unique since a single</a:t>
            </a:r>
            <a:r>
              <a:rPr sz="2400" i="0" spc="-65" dirty="0">
                <a:latin typeface="Perpetua"/>
                <a:cs typeface="Perpetua"/>
              </a:rPr>
              <a:t> </a:t>
            </a:r>
            <a:r>
              <a:rPr sz="2400" i="0" spc="-5" dirty="0">
                <a:latin typeface="Perpetua"/>
                <a:cs typeface="Perpetua"/>
              </a:rPr>
              <a:t>URL.</a:t>
            </a:r>
            <a:endParaRPr sz="2400">
              <a:latin typeface="Perpetua"/>
              <a:cs typeface="Perpetua"/>
            </a:endParaRPr>
          </a:p>
          <a:p>
            <a:pPr marL="288290" indent="-274320">
              <a:lnSpc>
                <a:spcPct val="100000"/>
              </a:lnSpc>
              <a:spcBef>
                <a:spcPts val="600"/>
              </a:spcBef>
              <a:buSzPct val="85416"/>
              <a:buFont typeface="Arial"/>
              <a:buChar char="•"/>
              <a:tabLst>
                <a:tab pos="287655" algn="l"/>
                <a:tab pos="288290" algn="l"/>
              </a:tabLst>
            </a:pPr>
            <a:r>
              <a:rPr sz="2400" i="0" spc="-15" dirty="0">
                <a:latin typeface="Perpetua"/>
                <a:cs typeface="Perpetua"/>
              </a:rPr>
              <a:t>Will </a:t>
            </a:r>
            <a:r>
              <a:rPr sz="2400" i="0" dirty="0">
                <a:latin typeface="Perpetua"/>
                <a:cs typeface="Perpetua"/>
              </a:rPr>
              <a:t>not </a:t>
            </a:r>
            <a:r>
              <a:rPr sz="2400" i="0" spc="-5" dirty="0">
                <a:latin typeface="Perpetua"/>
                <a:cs typeface="Perpetua"/>
              </a:rPr>
              <a:t>refer to </a:t>
            </a:r>
            <a:r>
              <a:rPr sz="2400" i="0" spc="-10" dirty="0">
                <a:latin typeface="Perpetua"/>
                <a:cs typeface="Perpetua"/>
              </a:rPr>
              <a:t>more </a:t>
            </a:r>
            <a:r>
              <a:rPr sz="2400" i="0" dirty="0">
                <a:latin typeface="Perpetua"/>
                <a:cs typeface="Perpetua"/>
              </a:rPr>
              <a:t>than one</a:t>
            </a:r>
            <a:r>
              <a:rPr sz="2400" i="0" spc="-25" dirty="0">
                <a:latin typeface="Perpetua"/>
                <a:cs typeface="Perpetua"/>
              </a:rPr>
              <a:t> </a:t>
            </a:r>
            <a:r>
              <a:rPr sz="2400" i="0" spc="-20" dirty="0">
                <a:latin typeface="Perpetua"/>
                <a:cs typeface="Perpetua"/>
              </a:rPr>
              <a:t>website.</a:t>
            </a:r>
            <a:endParaRPr sz="2400">
              <a:latin typeface="Perpetua"/>
              <a:cs typeface="Perpetua"/>
            </a:endParaRPr>
          </a:p>
          <a:p>
            <a:pPr marL="287655" marR="5080" indent="-274320">
              <a:lnSpc>
                <a:spcPct val="100000"/>
              </a:lnSpc>
              <a:spcBef>
                <a:spcPts val="600"/>
              </a:spcBef>
              <a:buSzPct val="85416"/>
              <a:buFont typeface="Arial"/>
              <a:buChar char="•"/>
              <a:tabLst>
                <a:tab pos="287655" algn="l"/>
                <a:tab pos="288290" algn="l"/>
              </a:tabLst>
            </a:pPr>
            <a:r>
              <a:rPr sz="2400" i="0" spc="-25" dirty="0">
                <a:latin typeface="Perpetua"/>
                <a:cs typeface="Perpetua"/>
              </a:rPr>
              <a:t>For </a:t>
            </a:r>
            <a:r>
              <a:rPr sz="2400" i="0" spc="-10" dirty="0">
                <a:latin typeface="Perpetua"/>
                <a:cs typeface="Perpetua"/>
              </a:rPr>
              <a:t>example,</a:t>
            </a:r>
            <a:r>
              <a:rPr sz="2400" i="0" spc="-10" dirty="0">
                <a:solidFill>
                  <a:srgbClr val="CC9900"/>
                </a:solidFill>
                <a:latin typeface="Perpetua"/>
                <a:cs typeface="Perpetua"/>
              </a:rPr>
              <a:t> </a:t>
            </a:r>
            <a:r>
              <a:rPr sz="2400" i="0" u="heavy" spc="-15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Perpetua"/>
                <a:cs typeface="Perpetua"/>
                <a:hlinkClick r:id="rId2"/>
              </a:rPr>
              <a:t>http://www.wikipedia.org/</a:t>
            </a:r>
            <a:r>
              <a:rPr sz="2400" i="0" spc="-15" dirty="0">
                <a:solidFill>
                  <a:srgbClr val="CC9900"/>
                </a:solidFill>
                <a:latin typeface="Perpetua"/>
                <a:cs typeface="Perpetua"/>
                <a:hlinkClick r:id="rId2"/>
              </a:rPr>
              <a:t> </a:t>
            </a:r>
            <a:r>
              <a:rPr sz="2400" i="0" spc="-30" dirty="0">
                <a:latin typeface="Perpetua"/>
                <a:cs typeface="Perpetua"/>
              </a:rPr>
              <a:t>always </a:t>
            </a:r>
            <a:r>
              <a:rPr sz="2400" i="0" dirty="0">
                <a:latin typeface="Perpetua"/>
                <a:cs typeface="Perpetua"/>
              </a:rPr>
              <a:t>refers </a:t>
            </a:r>
            <a:r>
              <a:rPr sz="2400" i="0" spc="-5" dirty="0">
                <a:latin typeface="Perpetua"/>
                <a:cs typeface="Perpetua"/>
              </a:rPr>
              <a:t>to </a:t>
            </a:r>
            <a:r>
              <a:rPr sz="2400" i="0" dirty="0">
                <a:latin typeface="Perpetua"/>
                <a:cs typeface="Perpetua"/>
              </a:rPr>
              <a:t>the </a:t>
            </a:r>
            <a:r>
              <a:rPr sz="2400" i="0" spc="-5" dirty="0">
                <a:latin typeface="Perpetua"/>
                <a:cs typeface="Perpetua"/>
              </a:rPr>
              <a:t>Wikipedia  </a:t>
            </a:r>
            <a:r>
              <a:rPr sz="2400" i="0" spc="-15" dirty="0">
                <a:latin typeface="Perpetua"/>
                <a:cs typeface="Perpetua"/>
              </a:rPr>
              <a:t>website </a:t>
            </a:r>
            <a:r>
              <a:rPr sz="2400" i="0" spc="-5" dirty="0">
                <a:latin typeface="Perpetua"/>
                <a:cs typeface="Perpetua"/>
              </a:rPr>
              <a:t>and </a:t>
            </a:r>
            <a:r>
              <a:rPr sz="2400" i="0" dirty="0">
                <a:latin typeface="Perpetua"/>
                <a:cs typeface="Perpetua"/>
              </a:rPr>
              <a:t>not </a:t>
            </a:r>
            <a:r>
              <a:rPr sz="2400" i="0" spc="-5" dirty="0">
                <a:latin typeface="Perpetua"/>
                <a:cs typeface="Perpetua"/>
              </a:rPr>
              <a:t>to </a:t>
            </a:r>
            <a:r>
              <a:rPr sz="2400" i="0" dirty="0">
                <a:latin typeface="Perpetua"/>
                <a:cs typeface="Perpetua"/>
              </a:rPr>
              <a:t>some </a:t>
            </a:r>
            <a:r>
              <a:rPr sz="2400" i="0" spc="-20" dirty="0">
                <a:latin typeface="Perpetua"/>
                <a:cs typeface="Perpetua"/>
              </a:rPr>
              <a:t>weather </a:t>
            </a:r>
            <a:r>
              <a:rPr sz="2400" i="0" dirty="0">
                <a:latin typeface="Perpetua"/>
                <a:cs typeface="Perpetua"/>
              </a:rPr>
              <a:t>or </a:t>
            </a:r>
            <a:r>
              <a:rPr sz="2400" i="0" spc="-10" dirty="0">
                <a:latin typeface="Perpetua"/>
                <a:cs typeface="Perpetua"/>
              </a:rPr>
              <a:t>news</a:t>
            </a:r>
            <a:r>
              <a:rPr sz="2400" i="0" spc="-35" dirty="0">
                <a:latin typeface="Perpetua"/>
                <a:cs typeface="Perpetua"/>
              </a:rPr>
              <a:t> </a:t>
            </a:r>
            <a:r>
              <a:rPr sz="2400" i="0" spc="-15" dirty="0">
                <a:latin typeface="Perpetua"/>
                <a:cs typeface="Perpetua"/>
              </a:rPr>
              <a:t>page.</a:t>
            </a:r>
            <a:endParaRPr sz="2400">
              <a:latin typeface="Perpetua"/>
              <a:cs typeface="Perpetua"/>
            </a:endParaRPr>
          </a:p>
          <a:p>
            <a:pPr marL="287655" marR="5080" indent="-274320">
              <a:lnSpc>
                <a:spcPct val="100000"/>
              </a:lnSpc>
              <a:spcBef>
                <a:spcPts val="605"/>
              </a:spcBef>
              <a:buSzPct val="85416"/>
              <a:buFont typeface="Arial"/>
              <a:buChar char="•"/>
              <a:tabLst>
                <a:tab pos="287655" algn="l"/>
                <a:tab pos="288290" algn="l"/>
              </a:tabLst>
            </a:pPr>
            <a:r>
              <a:rPr sz="2400" i="0" dirty="0">
                <a:latin typeface="Perpetua"/>
                <a:cs typeface="Perpetua"/>
              </a:rPr>
              <a:t>Most </a:t>
            </a:r>
            <a:r>
              <a:rPr sz="2400" i="0" spc="-15" dirty="0">
                <a:latin typeface="Perpetua"/>
                <a:cs typeface="Perpetua"/>
              </a:rPr>
              <a:t>websites </a:t>
            </a:r>
            <a:r>
              <a:rPr sz="2400" i="0" dirty="0">
                <a:latin typeface="Perpetua"/>
                <a:cs typeface="Perpetua"/>
              </a:rPr>
              <a:t>do not </a:t>
            </a:r>
            <a:r>
              <a:rPr sz="2400" i="0" spc="-35" dirty="0">
                <a:latin typeface="Perpetua"/>
                <a:cs typeface="Perpetua"/>
              </a:rPr>
              <a:t>have two </a:t>
            </a:r>
            <a:r>
              <a:rPr sz="2400" i="0" spc="-5" dirty="0">
                <a:latin typeface="Perpetua"/>
                <a:cs typeface="Perpetua"/>
              </a:rPr>
              <a:t>different </a:t>
            </a:r>
            <a:r>
              <a:rPr sz="2400" i="0" dirty="0">
                <a:latin typeface="Perpetua"/>
                <a:cs typeface="Perpetua"/>
              </a:rPr>
              <a:t>URLs </a:t>
            </a:r>
            <a:r>
              <a:rPr sz="2400" i="0" spc="-5" dirty="0">
                <a:latin typeface="Perpetua"/>
                <a:cs typeface="Perpetua"/>
              </a:rPr>
              <a:t>to refer to </a:t>
            </a:r>
            <a:r>
              <a:rPr sz="2400" i="0" dirty="0">
                <a:latin typeface="Perpetua"/>
                <a:cs typeface="Perpetua"/>
              </a:rPr>
              <a:t>the same page  on the</a:t>
            </a:r>
            <a:r>
              <a:rPr sz="2400" i="0" spc="-20" dirty="0">
                <a:latin typeface="Perpetua"/>
                <a:cs typeface="Perpetua"/>
              </a:rPr>
              <a:t> </a:t>
            </a:r>
            <a:r>
              <a:rPr sz="2400" i="0" spc="-15" dirty="0">
                <a:latin typeface="Perpetua"/>
                <a:cs typeface="Perpetua"/>
              </a:rPr>
              <a:t>site.</a:t>
            </a:r>
            <a:endParaRPr sz="2400">
              <a:latin typeface="Perpetua"/>
              <a:cs typeface="Perpetua"/>
            </a:endParaRPr>
          </a:p>
          <a:p>
            <a:pPr marL="288290" indent="-274320">
              <a:lnSpc>
                <a:spcPct val="100000"/>
              </a:lnSpc>
              <a:spcBef>
                <a:spcPts val="600"/>
              </a:spcBef>
              <a:buSzPct val="85416"/>
              <a:buFont typeface="Arial"/>
              <a:buChar char="•"/>
              <a:tabLst>
                <a:tab pos="287655" algn="l"/>
                <a:tab pos="288290" algn="l"/>
              </a:tabLst>
            </a:pPr>
            <a:r>
              <a:rPr sz="2400" i="0" dirty="0">
                <a:latin typeface="Perpetua"/>
                <a:cs typeface="Perpetua"/>
              </a:rPr>
              <a:t>Most URLs contain a description of the information on the </a:t>
            </a:r>
            <a:r>
              <a:rPr sz="2400" i="0" spc="-30" dirty="0">
                <a:latin typeface="Perpetua"/>
                <a:cs typeface="Perpetua"/>
              </a:rPr>
              <a:t>web</a:t>
            </a:r>
            <a:r>
              <a:rPr sz="2400" i="0" spc="-75" dirty="0">
                <a:latin typeface="Perpetua"/>
                <a:cs typeface="Perpetua"/>
              </a:rPr>
              <a:t> </a:t>
            </a:r>
            <a:r>
              <a:rPr sz="2400" i="0" spc="-15" dirty="0">
                <a:latin typeface="Perpetua"/>
                <a:cs typeface="Perpetua"/>
              </a:rPr>
              <a:t>page.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715000" y="4648200"/>
            <a:ext cx="2593848" cy="16764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391731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Did </a:t>
            </a:r>
            <a:r>
              <a:rPr spc="-25" dirty="0"/>
              <a:t>you </a:t>
            </a:r>
            <a:r>
              <a:rPr spc="-15" dirty="0"/>
              <a:t>know?</a:t>
            </a:r>
            <a:r>
              <a:rPr spc="-30" dirty="0"/>
              <a:t> </a:t>
            </a:r>
            <a:r>
              <a:rPr spc="-5" dirty="0"/>
              <a:t>contd---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361500"/>
            <a:ext cx="8529955" cy="2840355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705"/>
              </a:spcBef>
              <a:buClr>
                <a:srgbClr val="9B2C1F"/>
              </a:buClr>
              <a:buSzPct val="85416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400" spc="-25" dirty="0">
                <a:latin typeface="Perpetua"/>
                <a:cs typeface="Perpetua"/>
              </a:rPr>
              <a:t>For </a:t>
            </a:r>
            <a:r>
              <a:rPr sz="2400" spc="-10" dirty="0">
                <a:latin typeface="Perpetua"/>
                <a:cs typeface="Perpetua"/>
              </a:rPr>
              <a:t>example, </a:t>
            </a:r>
            <a:r>
              <a:rPr sz="2400" dirty="0">
                <a:latin typeface="Perpetua"/>
                <a:cs typeface="Perpetua"/>
              </a:rPr>
              <a:t>the URL</a:t>
            </a:r>
            <a:r>
              <a:rPr sz="2400" spc="-90" dirty="0">
                <a:solidFill>
                  <a:srgbClr val="CC9900"/>
                </a:solidFill>
                <a:latin typeface="Perpetua"/>
                <a:cs typeface="Perpetua"/>
              </a:rPr>
              <a:t> </a:t>
            </a:r>
            <a:r>
              <a:rPr sz="2400" u="heavy" spc="-5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Perpetua"/>
                <a:cs typeface="Perpetua"/>
                <a:hlinkClick r:id="rId2"/>
              </a:rPr>
              <a:t>http://en.wikipedia.org/wiki/Coral_snake</a:t>
            </a:r>
            <a:r>
              <a:rPr sz="2400" spc="-5" dirty="0">
                <a:solidFill>
                  <a:srgbClr val="00AF50"/>
                </a:solidFill>
                <a:latin typeface="Perpetua"/>
                <a:cs typeface="Perpetua"/>
              </a:rPr>
              <a:t>.</a:t>
            </a:r>
            <a:endParaRPr sz="2400">
              <a:latin typeface="Perpetua"/>
              <a:cs typeface="Perpetua"/>
            </a:endParaRPr>
          </a:p>
          <a:p>
            <a:pPr marL="286385" marR="5080" indent="-274320">
              <a:lnSpc>
                <a:spcPct val="100000"/>
              </a:lnSpc>
              <a:spcBef>
                <a:spcPts val="600"/>
              </a:spcBef>
              <a:buClr>
                <a:srgbClr val="9B2C1F"/>
              </a:buClr>
              <a:buSzPct val="85416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400" spc="-10" dirty="0">
                <a:latin typeface="Perpetua"/>
                <a:cs typeface="Perpetua"/>
              </a:rPr>
              <a:t>Every </a:t>
            </a:r>
            <a:r>
              <a:rPr sz="2400" dirty="0">
                <a:latin typeface="Perpetua"/>
                <a:cs typeface="Perpetua"/>
              </a:rPr>
              <a:t>URL </a:t>
            </a:r>
            <a:r>
              <a:rPr sz="2400" spc="-5" dirty="0">
                <a:latin typeface="Perpetua"/>
                <a:cs typeface="Perpetua"/>
              </a:rPr>
              <a:t>indicates </a:t>
            </a:r>
            <a:r>
              <a:rPr sz="2400" dirty="0">
                <a:latin typeface="Perpetua"/>
                <a:cs typeface="Perpetua"/>
              </a:rPr>
              <a:t>not </a:t>
            </a:r>
            <a:r>
              <a:rPr sz="2400" spc="-15" dirty="0">
                <a:latin typeface="Perpetua"/>
                <a:cs typeface="Perpetua"/>
              </a:rPr>
              <a:t>only </a:t>
            </a:r>
            <a:r>
              <a:rPr sz="2400" dirty="0">
                <a:latin typeface="Perpetua"/>
                <a:cs typeface="Perpetua"/>
              </a:rPr>
              <a:t>the content of the </a:t>
            </a:r>
            <a:r>
              <a:rPr sz="2400" spc="-5" dirty="0">
                <a:latin typeface="Perpetua"/>
                <a:cs typeface="Perpetua"/>
              </a:rPr>
              <a:t>page </a:t>
            </a:r>
            <a:r>
              <a:rPr sz="2400" spc="-10" dirty="0">
                <a:latin typeface="Perpetua"/>
                <a:cs typeface="Perpetua"/>
              </a:rPr>
              <a:t>but </a:t>
            </a:r>
            <a:r>
              <a:rPr sz="2400" dirty="0">
                <a:latin typeface="Perpetua"/>
                <a:cs typeface="Perpetua"/>
              </a:rPr>
              <a:t>is primarily  </a:t>
            </a:r>
            <a:r>
              <a:rPr sz="2400" spc="-10" dirty="0">
                <a:latin typeface="Perpetua"/>
                <a:cs typeface="Perpetua"/>
              </a:rPr>
              <a:t>related </a:t>
            </a:r>
            <a:r>
              <a:rPr sz="2400" spc="-5" dirty="0">
                <a:latin typeface="Perpetua"/>
                <a:cs typeface="Perpetua"/>
              </a:rPr>
              <a:t>to where </a:t>
            </a:r>
            <a:r>
              <a:rPr sz="2400" dirty="0">
                <a:latin typeface="Perpetua"/>
                <a:cs typeface="Perpetua"/>
              </a:rPr>
              <a:t>the page can be</a:t>
            </a:r>
            <a:r>
              <a:rPr sz="2400" spc="-20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located.</a:t>
            </a:r>
            <a:endParaRPr sz="2400">
              <a:latin typeface="Perpetua"/>
              <a:cs typeface="Perpetua"/>
            </a:endParaRPr>
          </a:p>
          <a:p>
            <a:pPr marL="561340" marR="5080" lvl="1" indent="-228600">
              <a:lnSpc>
                <a:spcPct val="100000"/>
              </a:lnSpc>
              <a:spcBef>
                <a:spcPts val="400"/>
              </a:spcBef>
              <a:buSzPct val="85416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400" spc="-5" dirty="0">
                <a:latin typeface="Perpetua"/>
                <a:cs typeface="Perpetua"/>
              </a:rPr>
              <a:t>Every </a:t>
            </a:r>
            <a:r>
              <a:rPr sz="2400" dirty="0">
                <a:latin typeface="Perpetua"/>
                <a:cs typeface="Perpetua"/>
              </a:rPr>
              <a:t>computer on the </a:t>
            </a:r>
            <a:r>
              <a:rPr sz="2400" spc="5" dirty="0">
                <a:latin typeface="Perpetua"/>
                <a:cs typeface="Perpetua"/>
              </a:rPr>
              <a:t>Internet </a:t>
            </a:r>
            <a:r>
              <a:rPr sz="2400" dirty="0">
                <a:latin typeface="Perpetua"/>
                <a:cs typeface="Perpetua"/>
              </a:rPr>
              <a:t>has a </a:t>
            </a:r>
            <a:r>
              <a:rPr sz="2400" spc="-5" dirty="0">
                <a:latin typeface="Perpetua"/>
                <a:cs typeface="Perpetua"/>
              </a:rPr>
              <a:t>name and </a:t>
            </a:r>
            <a:r>
              <a:rPr sz="2400" dirty="0">
                <a:latin typeface="Perpetua"/>
                <a:cs typeface="Perpetua"/>
              </a:rPr>
              <a:t>the </a:t>
            </a:r>
            <a:r>
              <a:rPr sz="2400" spc="5" dirty="0">
                <a:latin typeface="Perpetua"/>
                <a:cs typeface="Perpetua"/>
              </a:rPr>
              <a:t>first </a:t>
            </a:r>
            <a:r>
              <a:rPr sz="2400" spc="20" dirty="0">
                <a:latin typeface="Perpetua"/>
                <a:cs typeface="Perpetua"/>
              </a:rPr>
              <a:t>part </a:t>
            </a:r>
            <a:r>
              <a:rPr sz="2400" dirty="0">
                <a:latin typeface="Perpetua"/>
                <a:cs typeface="Perpetua"/>
              </a:rPr>
              <a:t>of a URL  identifies one computer on the</a:t>
            </a:r>
            <a:r>
              <a:rPr sz="2400" spc="-70" dirty="0">
                <a:latin typeface="Perpetua"/>
                <a:cs typeface="Perpetua"/>
              </a:rPr>
              <a:t> </a:t>
            </a:r>
            <a:r>
              <a:rPr sz="2400" spc="5" dirty="0">
                <a:latin typeface="Perpetua"/>
                <a:cs typeface="Perpetua"/>
              </a:rPr>
              <a:t>Internet.</a:t>
            </a:r>
            <a:endParaRPr sz="2400">
              <a:latin typeface="Perpetua"/>
              <a:cs typeface="Perpetua"/>
            </a:endParaRPr>
          </a:p>
          <a:p>
            <a:pPr marL="561340" marR="6350" lvl="1" indent="-228600">
              <a:lnSpc>
                <a:spcPct val="100000"/>
              </a:lnSpc>
              <a:spcBef>
                <a:spcPts val="395"/>
              </a:spcBef>
              <a:buSzPct val="85416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400" spc="10" dirty="0">
                <a:latin typeface="Perpetua"/>
                <a:cs typeface="Perpetua"/>
              </a:rPr>
              <a:t>Each </a:t>
            </a:r>
            <a:r>
              <a:rPr sz="2400" spc="-5" dirty="0">
                <a:latin typeface="Perpetua"/>
                <a:cs typeface="Perpetua"/>
              </a:rPr>
              <a:t>computer also </a:t>
            </a:r>
            <a:r>
              <a:rPr sz="2400" dirty="0">
                <a:latin typeface="Perpetua"/>
                <a:cs typeface="Perpetua"/>
              </a:rPr>
              <a:t>has a </a:t>
            </a:r>
            <a:r>
              <a:rPr sz="2400" spc="-5" dirty="0">
                <a:latin typeface="Perpetua"/>
                <a:cs typeface="Perpetua"/>
              </a:rPr>
              <a:t>file </a:t>
            </a:r>
            <a:r>
              <a:rPr sz="2400" dirty="0">
                <a:latin typeface="Perpetua"/>
                <a:cs typeface="Perpetua"/>
              </a:rPr>
              <a:t>system </a:t>
            </a:r>
            <a:r>
              <a:rPr sz="2400" spc="-5" dirty="0">
                <a:latin typeface="Perpetua"/>
                <a:cs typeface="Perpetua"/>
              </a:rPr>
              <a:t>and </a:t>
            </a:r>
            <a:r>
              <a:rPr sz="2400" dirty="0">
                <a:latin typeface="Perpetua"/>
                <a:cs typeface="Perpetua"/>
              </a:rPr>
              <a:t>the </a:t>
            </a:r>
            <a:r>
              <a:rPr sz="2400" spc="-5" dirty="0">
                <a:latin typeface="Perpetua"/>
                <a:cs typeface="Perpetua"/>
              </a:rPr>
              <a:t>remaining </a:t>
            </a:r>
            <a:r>
              <a:rPr sz="2400" spc="15" dirty="0">
                <a:latin typeface="Perpetua"/>
                <a:cs typeface="Perpetua"/>
              </a:rPr>
              <a:t>parts </a:t>
            </a:r>
            <a:r>
              <a:rPr sz="2400" dirty="0">
                <a:latin typeface="Perpetua"/>
                <a:cs typeface="Perpetua"/>
              </a:rPr>
              <a:t>of a URL  correspond </a:t>
            </a:r>
            <a:r>
              <a:rPr sz="2400" spc="-5" dirty="0">
                <a:latin typeface="Perpetua"/>
                <a:cs typeface="Perpetua"/>
              </a:rPr>
              <a:t>to </a:t>
            </a:r>
            <a:r>
              <a:rPr sz="2400" dirty="0">
                <a:latin typeface="Perpetua"/>
                <a:cs typeface="Perpetua"/>
              </a:rPr>
              <a:t>the </a:t>
            </a:r>
            <a:r>
              <a:rPr sz="2400" spc="-5" dirty="0">
                <a:latin typeface="Perpetua"/>
                <a:cs typeface="Perpetua"/>
              </a:rPr>
              <a:t>location </a:t>
            </a:r>
            <a:r>
              <a:rPr sz="2400" dirty="0">
                <a:latin typeface="Perpetua"/>
                <a:cs typeface="Perpetua"/>
              </a:rPr>
              <a:t>of a file in </a:t>
            </a:r>
            <a:r>
              <a:rPr sz="2400" spc="-10" dirty="0">
                <a:latin typeface="Perpetua"/>
                <a:cs typeface="Perpetua"/>
              </a:rPr>
              <a:t>that </a:t>
            </a:r>
            <a:r>
              <a:rPr sz="2400" dirty="0">
                <a:latin typeface="Perpetua"/>
                <a:cs typeface="Perpetua"/>
              </a:rPr>
              <a:t>file</a:t>
            </a:r>
            <a:r>
              <a:rPr sz="2400" spc="-7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system.</a:t>
            </a:r>
            <a:endParaRPr sz="24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235585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1" i="0" spc="-5" dirty="0">
                <a:latin typeface="Perpetua"/>
                <a:cs typeface="Perpetua"/>
              </a:rPr>
              <a:t>User</a:t>
            </a:r>
            <a:r>
              <a:rPr b="1" i="0" spc="-75" dirty="0">
                <a:latin typeface="Perpetua"/>
                <a:cs typeface="Perpetua"/>
              </a:rPr>
              <a:t> </a:t>
            </a:r>
            <a:r>
              <a:rPr b="1" i="0" spc="-10" dirty="0">
                <a:latin typeface="Perpetua"/>
                <a:cs typeface="Perpetua"/>
              </a:rPr>
              <a:t>Input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383476"/>
            <a:ext cx="7884159" cy="2709545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500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-145" dirty="0">
                <a:latin typeface="Perpetua"/>
                <a:cs typeface="Perpetua"/>
              </a:rPr>
              <a:t>We </a:t>
            </a:r>
            <a:r>
              <a:rPr sz="2600" spc="-10" dirty="0">
                <a:latin typeface="Perpetua"/>
                <a:cs typeface="Perpetua"/>
              </a:rPr>
              <a:t>want </a:t>
            </a:r>
            <a:r>
              <a:rPr sz="2600" spc="-5" dirty="0">
                <a:latin typeface="Perpetua"/>
                <a:cs typeface="Perpetua"/>
              </a:rPr>
              <a:t>to ask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user </a:t>
            </a:r>
            <a:r>
              <a:rPr sz="2600" dirty="0">
                <a:latin typeface="Perpetua"/>
                <a:cs typeface="Perpetua"/>
              </a:rPr>
              <a:t>a</a:t>
            </a:r>
            <a:r>
              <a:rPr sz="2600" spc="-30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question.</a:t>
            </a:r>
            <a:endParaRPr sz="2600">
              <a:latin typeface="Perpetua"/>
              <a:cs typeface="Perpetua"/>
            </a:endParaRPr>
          </a:p>
          <a:p>
            <a:pPr marL="561340" lvl="1" indent="-228600">
              <a:lnSpc>
                <a:spcPct val="100000"/>
              </a:lnSpc>
              <a:spcBef>
                <a:spcPts val="400"/>
              </a:spcBef>
              <a:buSzPct val="84615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600" spc="5" dirty="0">
                <a:latin typeface="Perpetua"/>
                <a:cs typeface="Perpetua"/>
              </a:rPr>
              <a:t>print("Choose </a:t>
            </a:r>
            <a:r>
              <a:rPr sz="2600" spc="-5" dirty="0">
                <a:latin typeface="Perpetua"/>
                <a:cs typeface="Perpetua"/>
              </a:rPr>
              <a:t>from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10" dirty="0">
                <a:latin typeface="Perpetua"/>
                <a:cs typeface="Perpetua"/>
              </a:rPr>
              <a:t>following</a:t>
            </a:r>
            <a:r>
              <a:rPr sz="2600" spc="-1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options:")</a:t>
            </a:r>
            <a:endParaRPr sz="2600">
              <a:latin typeface="Perpetua"/>
              <a:cs typeface="Perpetua"/>
            </a:endParaRPr>
          </a:p>
          <a:p>
            <a:pPr marL="910590" lvl="2" indent="-304165">
              <a:lnSpc>
                <a:spcPct val="100000"/>
              </a:lnSpc>
              <a:spcBef>
                <a:spcPts val="405"/>
              </a:spcBef>
              <a:buSzPct val="84615"/>
              <a:buFont typeface="Arial"/>
              <a:buChar char="•"/>
              <a:tabLst>
                <a:tab pos="909955" algn="l"/>
                <a:tab pos="911225" algn="l"/>
              </a:tabLst>
            </a:pPr>
            <a:r>
              <a:rPr sz="2600" spc="5" dirty="0">
                <a:latin typeface="Perpetua"/>
                <a:cs typeface="Perpetua"/>
              </a:rPr>
              <a:t>print("1: </a:t>
            </a:r>
            <a:r>
              <a:rPr sz="2600" dirty="0">
                <a:latin typeface="Perpetua"/>
                <a:cs typeface="Perpetua"/>
              </a:rPr>
              <a:t>go</a:t>
            </a:r>
            <a:r>
              <a:rPr sz="2600" spc="-125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left")</a:t>
            </a:r>
            <a:endParaRPr sz="2600">
              <a:latin typeface="Perpetua"/>
              <a:cs typeface="Perpetua"/>
            </a:endParaRPr>
          </a:p>
          <a:p>
            <a:pPr marL="910590" lvl="2" indent="-304165">
              <a:lnSpc>
                <a:spcPct val="100000"/>
              </a:lnSpc>
              <a:spcBef>
                <a:spcPts val="395"/>
              </a:spcBef>
              <a:buSzPct val="84615"/>
              <a:buFont typeface="Arial"/>
              <a:buChar char="•"/>
              <a:tabLst>
                <a:tab pos="909955" algn="l"/>
                <a:tab pos="911225" algn="l"/>
              </a:tabLst>
            </a:pPr>
            <a:r>
              <a:rPr sz="2600" spc="5" dirty="0">
                <a:latin typeface="Perpetua"/>
                <a:cs typeface="Perpetua"/>
              </a:rPr>
              <a:t>print("2: </a:t>
            </a:r>
            <a:r>
              <a:rPr sz="2600" dirty="0">
                <a:latin typeface="Perpetua"/>
                <a:cs typeface="Perpetua"/>
              </a:rPr>
              <a:t>go</a:t>
            </a:r>
            <a:r>
              <a:rPr sz="2600" spc="-130" dirty="0">
                <a:latin typeface="Perpetua"/>
                <a:cs typeface="Perpetua"/>
              </a:rPr>
              <a:t> </a:t>
            </a:r>
            <a:r>
              <a:rPr sz="2600" spc="5" dirty="0">
                <a:latin typeface="Perpetua"/>
                <a:cs typeface="Perpetua"/>
              </a:rPr>
              <a:t>right")</a:t>
            </a:r>
            <a:endParaRPr sz="2600">
              <a:latin typeface="Perpetua"/>
              <a:cs typeface="Perpetua"/>
            </a:endParaRPr>
          </a:p>
          <a:p>
            <a:pPr lvl="2">
              <a:lnSpc>
                <a:spcPct val="100000"/>
              </a:lnSpc>
              <a:spcBef>
                <a:spcPts val="15"/>
              </a:spcBef>
              <a:buFont typeface="Arial"/>
              <a:buChar char="•"/>
            </a:pPr>
            <a:endParaRPr sz="3400">
              <a:latin typeface="Times New Roman"/>
              <a:cs typeface="Times New Roman"/>
            </a:endParaRPr>
          </a:p>
          <a:p>
            <a:pPr marL="835660" lvl="2" indent="-229235">
              <a:lnSpc>
                <a:spcPct val="100000"/>
              </a:lnSpc>
              <a:spcBef>
                <a:spcPts val="5"/>
              </a:spcBef>
              <a:buSzPct val="84615"/>
              <a:buFont typeface="Arial"/>
              <a:buChar char="•"/>
              <a:tabLst>
                <a:tab pos="835660" algn="l"/>
                <a:tab pos="836294" algn="l"/>
              </a:tabLst>
            </a:pPr>
            <a:r>
              <a:rPr sz="2600" b="1" i="1" spc="-5" dirty="0">
                <a:latin typeface="Perpetua"/>
                <a:cs typeface="Perpetua"/>
              </a:rPr>
              <a:t>The </a:t>
            </a:r>
            <a:r>
              <a:rPr sz="2600" b="1" i="1" dirty="0">
                <a:latin typeface="Perpetua"/>
                <a:cs typeface="Perpetua"/>
              </a:rPr>
              <a:t>user </a:t>
            </a:r>
            <a:r>
              <a:rPr sz="2600" b="1" i="1" spc="-20" dirty="0">
                <a:latin typeface="Perpetua"/>
                <a:cs typeface="Perpetua"/>
              </a:rPr>
              <a:t>gives </a:t>
            </a:r>
            <a:r>
              <a:rPr sz="2600" b="1" i="1" dirty="0">
                <a:latin typeface="Perpetua"/>
                <a:cs typeface="Perpetua"/>
              </a:rPr>
              <a:t>an </a:t>
            </a:r>
            <a:r>
              <a:rPr sz="2600" b="1" i="1" spc="-40" dirty="0">
                <a:latin typeface="Perpetua"/>
                <a:cs typeface="Perpetua"/>
              </a:rPr>
              <a:t>answer, </a:t>
            </a:r>
            <a:r>
              <a:rPr sz="2600" b="1" i="1" spc="-5" dirty="0">
                <a:latin typeface="Perpetua"/>
                <a:cs typeface="Perpetua"/>
              </a:rPr>
              <a:t>But </a:t>
            </a:r>
            <a:r>
              <a:rPr sz="2600" b="1" i="1" spc="-20" dirty="0">
                <a:latin typeface="Perpetua"/>
                <a:cs typeface="Perpetua"/>
              </a:rPr>
              <a:t>where </a:t>
            </a:r>
            <a:r>
              <a:rPr sz="2600" b="1" i="1" spc="-5" dirty="0">
                <a:latin typeface="Perpetua"/>
                <a:cs typeface="Perpetua"/>
              </a:rPr>
              <a:t>do </a:t>
            </a:r>
            <a:r>
              <a:rPr sz="2600" b="1" i="1" spc="-25" dirty="0">
                <a:latin typeface="Perpetua"/>
                <a:cs typeface="Perpetua"/>
              </a:rPr>
              <a:t>we </a:t>
            </a:r>
            <a:r>
              <a:rPr sz="2600" b="1" i="1" spc="-5" dirty="0">
                <a:latin typeface="Perpetua"/>
                <a:cs typeface="Perpetua"/>
              </a:rPr>
              <a:t>put</a:t>
            </a:r>
            <a:r>
              <a:rPr sz="2600" b="1" i="1" spc="-270" dirty="0">
                <a:latin typeface="Perpetua"/>
                <a:cs typeface="Perpetua"/>
              </a:rPr>
              <a:t> </a:t>
            </a:r>
            <a:r>
              <a:rPr sz="2600" b="1" i="1" spc="-5" dirty="0">
                <a:latin typeface="Perpetua"/>
                <a:cs typeface="Perpetua"/>
              </a:rPr>
              <a:t>it???????</a:t>
            </a:r>
            <a:endParaRPr sz="26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1951989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1" i="0" spc="-425" dirty="0">
                <a:latin typeface="Perpetua"/>
                <a:cs typeface="Perpetua"/>
              </a:rPr>
              <a:t>V</a:t>
            </a:r>
            <a:r>
              <a:rPr b="1" i="0" spc="-5" dirty="0">
                <a:latin typeface="Perpetua"/>
                <a:cs typeface="Perpetua"/>
              </a:rPr>
              <a:t>a</a:t>
            </a:r>
            <a:r>
              <a:rPr b="1" i="0" spc="75" dirty="0">
                <a:latin typeface="Perpetua"/>
                <a:cs typeface="Perpetua"/>
              </a:rPr>
              <a:t>r</a:t>
            </a:r>
            <a:r>
              <a:rPr b="1" i="0" spc="-5" dirty="0">
                <a:latin typeface="Perpetua"/>
                <a:cs typeface="Perpetua"/>
              </a:rPr>
              <a:t>i</a:t>
            </a:r>
            <a:r>
              <a:rPr b="1" i="0" spc="-65" dirty="0">
                <a:latin typeface="Perpetua"/>
                <a:cs typeface="Perpetua"/>
              </a:rPr>
              <a:t>a</a:t>
            </a:r>
            <a:r>
              <a:rPr b="1" i="0" spc="-60" dirty="0">
                <a:latin typeface="Perpetua"/>
                <a:cs typeface="Perpetua"/>
              </a:rPr>
              <a:t>b</a:t>
            </a:r>
            <a:r>
              <a:rPr b="1" i="0" spc="-5" dirty="0">
                <a:latin typeface="Perpetua"/>
                <a:cs typeface="Perpetua"/>
              </a:rPr>
              <a:t>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404569"/>
            <a:ext cx="6221730" cy="422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A </a:t>
            </a:r>
            <a:r>
              <a:rPr sz="2600" spc="-5" dirty="0">
                <a:latin typeface="Perpetua"/>
                <a:cs typeface="Perpetua"/>
              </a:rPr>
              <a:t>variable </a:t>
            </a:r>
            <a:r>
              <a:rPr sz="2600" dirty="0">
                <a:latin typeface="Perpetua"/>
                <a:cs typeface="Perpetua"/>
              </a:rPr>
              <a:t>is </a:t>
            </a:r>
            <a:r>
              <a:rPr sz="2600" spc="-10" dirty="0">
                <a:latin typeface="Perpetua"/>
                <a:cs typeface="Perpetua"/>
              </a:rPr>
              <a:t>like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-15" dirty="0">
                <a:latin typeface="Perpetua"/>
                <a:cs typeface="Perpetua"/>
              </a:rPr>
              <a:t>box </a:t>
            </a:r>
            <a:r>
              <a:rPr sz="2600" spc="-50" dirty="0">
                <a:latin typeface="Perpetua"/>
                <a:cs typeface="Perpetua"/>
              </a:rPr>
              <a:t>we </a:t>
            </a:r>
            <a:r>
              <a:rPr sz="2600" spc="-5" dirty="0">
                <a:latin typeface="Perpetua"/>
                <a:cs typeface="Perpetua"/>
              </a:rPr>
              <a:t>can put </a:t>
            </a:r>
            <a:r>
              <a:rPr sz="2600" dirty="0">
                <a:latin typeface="Perpetua"/>
                <a:cs typeface="Perpetua"/>
              </a:rPr>
              <a:t>information</a:t>
            </a:r>
            <a:r>
              <a:rPr sz="2600" spc="5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in.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905000" y="2081700"/>
            <a:ext cx="5967247" cy="36080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150241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0" spc="-365" dirty="0">
                <a:latin typeface="Perpetua"/>
                <a:cs typeface="Perpetua"/>
              </a:rPr>
              <a:t>V</a:t>
            </a:r>
            <a:r>
              <a:rPr i="0" spc="-10" dirty="0">
                <a:latin typeface="Perpetua"/>
                <a:cs typeface="Perpetua"/>
              </a:rPr>
              <a:t>a</a:t>
            </a:r>
            <a:r>
              <a:rPr i="0" spc="85" dirty="0">
                <a:latin typeface="Perpetua"/>
                <a:cs typeface="Perpetua"/>
              </a:rPr>
              <a:t>r</a:t>
            </a:r>
            <a:r>
              <a:rPr i="0" spc="-5" dirty="0">
                <a:latin typeface="Perpetua"/>
                <a:cs typeface="Perpetua"/>
              </a:rPr>
              <a:t>ia</a:t>
            </a:r>
            <a:r>
              <a:rPr i="0" spc="-65" dirty="0">
                <a:latin typeface="Perpetua"/>
                <a:cs typeface="Perpetua"/>
              </a:rPr>
              <a:t>b</a:t>
            </a:r>
            <a:r>
              <a:rPr i="0" spc="-10" dirty="0">
                <a:latin typeface="Perpetua"/>
                <a:cs typeface="Perpetua"/>
              </a:rPr>
              <a:t>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433525"/>
            <a:ext cx="1811020" cy="422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User </a:t>
            </a:r>
            <a:r>
              <a:rPr sz="2600" spc="-55" dirty="0">
                <a:latin typeface="Perpetua"/>
                <a:cs typeface="Perpetua"/>
              </a:rPr>
              <a:t>Types</a:t>
            </a:r>
            <a:r>
              <a:rPr sz="2600" spc="-39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2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47700" y="2866644"/>
            <a:ext cx="3733800" cy="269595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966813" y="3038495"/>
            <a:ext cx="3764984" cy="245780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200655" y="2005583"/>
            <a:ext cx="4742688" cy="28468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679194" y="5031485"/>
            <a:ext cx="272415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Perpetua"/>
                <a:cs typeface="Perpetua"/>
              </a:rPr>
              <a:t>if </a:t>
            </a:r>
            <a:r>
              <a:rPr sz="1800" spc="-20" dirty="0">
                <a:latin typeface="Perpetua"/>
                <a:cs typeface="Perpetua"/>
              </a:rPr>
              <a:t>answer </a:t>
            </a:r>
            <a:r>
              <a:rPr sz="1800" dirty="0">
                <a:latin typeface="Perpetua"/>
                <a:cs typeface="Perpetua"/>
              </a:rPr>
              <a:t>==</a:t>
            </a:r>
            <a:r>
              <a:rPr sz="1800" spc="-30" dirty="0">
                <a:latin typeface="Perpetua"/>
                <a:cs typeface="Perpetua"/>
              </a:rPr>
              <a:t> </a:t>
            </a:r>
            <a:r>
              <a:rPr sz="1800" dirty="0">
                <a:latin typeface="Perpetua"/>
                <a:cs typeface="Perpetua"/>
              </a:rPr>
              <a:t>2:</a:t>
            </a:r>
            <a:endParaRPr sz="1800">
              <a:latin typeface="Perpetua"/>
              <a:cs typeface="Perpetua"/>
            </a:endParaRPr>
          </a:p>
          <a:p>
            <a:pPr marL="12700">
              <a:lnSpc>
                <a:spcPct val="100000"/>
              </a:lnSpc>
            </a:pPr>
            <a:r>
              <a:rPr sz="1800" spc="-20" dirty="0">
                <a:latin typeface="Perpetua"/>
                <a:cs typeface="Perpetua"/>
              </a:rPr>
              <a:t>print("You </a:t>
            </a:r>
            <a:r>
              <a:rPr sz="1800" spc="5" dirty="0">
                <a:latin typeface="Perpetua"/>
                <a:cs typeface="Perpetua"/>
              </a:rPr>
              <a:t>chose </a:t>
            </a:r>
            <a:r>
              <a:rPr sz="1800" dirty="0">
                <a:latin typeface="Perpetua"/>
                <a:cs typeface="Perpetua"/>
              </a:rPr>
              <a:t>to go </a:t>
            </a:r>
            <a:r>
              <a:rPr sz="1800" spc="-5" dirty="0">
                <a:latin typeface="Perpetua"/>
                <a:cs typeface="Perpetua"/>
              </a:rPr>
              <a:t>left,</a:t>
            </a:r>
            <a:r>
              <a:rPr sz="1800" spc="-150" dirty="0">
                <a:latin typeface="Perpetua"/>
                <a:cs typeface="Perpetua"/>
              </a:rPr>
              <a:t> </a:t>
            </a:r>
            <a:r>
              <a:rPr sz="1800" spc="-5" dirty="0">
                <a:latin typeface="Perpetua"/>
                <a:cs typeface="Perpetua"/>
              </a:rPr>
              <a:t>")</a:t>
            </a:r>
            <a:endParaRPr sz="1800">
              <a:latin typeface="Perpetua"/>
              <a:cs typeface="Perpetua"/>
            </a:endParaRPr>
          </a:p>
          <a:p>
            <a:pPr marL="12700">
              <a:lnSpc>
                <a:spcPct val="100000"/>
              </a:lnSpc>
            </a:pPr>
            <a:r>
              <a:rPr sz="1800" spc="5" dirty="0">
                <a:latin typeface="Perpetua"/>
                <a:cs typeface="Perpetua"/>
              </a:rPr>
              <a:t>print(" </a:t>
            </a:r>
            <a:r>
              <a:rPr sz="1800" dirty="0">
                <a:latin typeface="Perpetua"/>
                <a:cs typeface="Perpetua"/>
              </a:rPr>
              <a:t>a most dangerous</a:t>
            </a:r>
            <a:r>
              <a:rPr sz="1800" spc="-114" dirty="0">
                <a:latin typeface="Perpetua"/>
                <a:cs typeface="Perpetua"/>
              </a:rPr>
              <a:t> </a:t>
            </a:r>
            <a:r>
              <a:rPr sz="1800" spc="-5" dirty="0">
                <a:latin typeface="Perpetua"/>
                <a:cs typeface="Perpetua"/>
              </a:rPr>
              <a:t>path.")</a:t>
            </a:r>
            <a:endParaRPr sz="1800">
              <a:latin typeface="Perpetua"/>
              <a:cs typeface="Perpet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33400" y="3657600"/>
            <a:ext cx="2124456" cy="10287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974976" y="4570476"/>
            <a:ext cx="187325" cy="611505"/>
          </a:xfrm>
          <a:custGeom>
            <a:avLst/>
            <a:gdLst/>
            <a:ahLst/>
            <a:cxnLst/>
            <a:rect l="l" t="t" r="r" b="b"/>
            <a:pathLst>
              <a:path w="187325" h="611504">
                <a:moveTo>
                  <a:pt x="96012" y="528828"/>
                </a:moveTo>
                <a:lnTo>
                  <a:pt x="92075" y="528828"/>
                </a:lnTo>
                <a:lnTo>
                  <a:pt x="86995" y="533654"/>
                </a:lnTo>
                <a:lnTo>
                  <a:pt x="86995" y="537718"/>
                </a:lnTo>
                <a:lnTo>
                  <a:pt x="89408" y="540257"/>
                </a:lnTo>
                <a:lnTo>
                  <a:pt x="158623" y="611124"/>
                </a:lnTo>
                <a:lnTo>
                  <a:pt x="161727" y="600456"/>
                </a:lnTo>
                <a:lnTo>
                  <a:pt x="149352" y="600456"/>
                </a:lnTo>
                <a:lnTo>
                  <a:pt x="143627" y="577559"/>
                </a:lnTo>
                <a:lnTo>
                  <a:pt x="98552" y="531368"/>
                </a:lnTo>
                <a:lnTo>
                  <a:pt x="96012" y="528828"/>
                </a:lnTo>
                <a:close/>
              </a:path>
              <a:path w="187325" h="611504">
                <a:moveTo>
                  <a:pt x="143627" y="577559"/>
                </a:moveTo>
                <a:lnTo>
                  <a:pt x="149352" y="600456"/>
                </a:lnTo>
                <a:lnTo>
                  <a:pt x="161671" y="597407"/>
                </a:lnTo>
                <a:lnTo>
                  <a:pt x="161607" y="597154"/>
                </a:lnTo>
                <a:lnTo>
                  <a:pt x="149479" y="597154"/>
                </a:lnTo>
                <a:lnTo>
                  <a:pt x="152526" y="586677"/>
                </a:lnTo>
                <a:lnTo>
                  <a:pt x="143627" y="577559"/>
                </a:lnTo>
                <a:close/>
              </a:path>
              <a:path w="187325" h="611504">
                <a:moveTo>
                  <a:pt x="178562" y="507111"/>
                </a:moveTo>
                <a:lnTo>
                  <a:pt x="175133" y="509016"/>
                </a:lnTo>
                <a:lnTo>
                  <a:pt x="174080" y="512572"/>
                </a:lnTo>
                <a:lnTo>
                  <a:pt x="156003" y="574720"/>
                </a:lnTo>
                <a:lnTo>
                  <a:pt x="161671" y="597407"/>
                </a:lnTo>
                <a:lnTo>
                  <a:pt x="149352" y="600456"/>
                </a:lnTo>
                <a:lnTo>
                  <a:pt x="161727" y="600456"/>
                </a:lnTo>
                <a:lnTo>
                  <a:pt x="186309" y="516000"/>
                </a:lnTo>
                <a:lnTo>
                  <a:pt x="187325" y="512572"/>
                </a:lnTo>
                <a:lnTo>
                  <a:pt x="185293" y="509143"/>
                </a:lnTo>
                <a:lnTo>
                  <a:pt x="181991" y="508126"/>
                </a:lnTo>
                <a:lnTo>
                  <a:pt x="178562" y="507111"/>
                </a:lnTo>
                <a:close/>
              </a:path>
              <a:path w="187325" h="611504">
                <a:moveTo>
                  <a:pt x="152526" y="586677"/>
                </a:moveTo>
                <a:lnTo>
                  <a:pt x="149479" y="597154"/>
                </a:lnTo>
                <a:lnTo>
                  <a:pt x="160147" y="594487"/>
                </a:lnTo>
                <a:lnTo>
                  <a:pt x="152526" y="586677"/>
                </a:lnTo>
                <a:close/>
              </a:path>
              <a:path w="187325" h="611504">
                <a:moveTo>
                  <a:pt x="156003" y="574720"/>
                </a:moveTo>
                <a:lnTo>
                  <a:pt x="152526" y="586677"/>
                </a:lnTo>
                <a:lnTo>
                  <a:pt x="160147" y="594487"/>
                </a:lnTo>
                <a:lnTo>
                  <a:pt x="149479" y="597154"/>
                </a:lnTo>
                <a:lnTo>
                  <a:pt x="161607" y="597154"/>
                </a:lnTo>
                <a:lnTo>
                  <a:pt x="156003" y="574720"/>
                </a:lnTo>
                <a:close/>
              </a:path>
              <a:path w="187325" h="611504">
                <a:moveTo>
                  <a:pt x="12446" y="0"/>
                </a:moveTo>
                <a:lnTo>
                  <a:pt x="0" y="3048"/>
                </a:lnTo>
                <a:lnTo>
                  <a:pt x="143627" y="577559"/>
                </a:lnTo>
                <a:lnTo>
                  <a:pt x="152526" y="586677"/>
                </a:lnTo>
                <a:lnTo>
                  <a:pt x="156003" y="574720"/>
                </a:lnTo>
                <a:lnTo>
                  <a:pt x="12446" y="0"/>
                </a:lnTo>
                <a:close/>
              </a:path>
            </a:pathLst>
          </a:custGeom>
          <a:solidFill>
            <a:srgbClr val="AE3408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990884" y="2143834"/>
            <a:ext cx="4680658" cy="359028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92912" y="1702911"/>
            <a:ext cx="6507588" cy="399869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693405" y="1877160"/>
            <a:ext cx="4055952" cy="35902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441531" y="1779620"/>
            <a:ext cx="4208745" cy="392019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054838" y="1752600"/>
            <a:ext cx="5794145" cy="397192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286244" y="1819262"/>
            <a:ext cx="6139122" cy="397157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465125" y="1876786"/>
            <a:ext cx="5795177" cy="376202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336463" y="2082613"/>
            <a:ext cx="6206010" cy="367272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127952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0" spc="-5" dirty="0">
                <a:latin typeface="Perpetua"/>
                <a:cs typeface="Perpetua"/>
              </a:rPr>
              <a:t>Names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0219" y="1438097"/>
            <a:ext cx="8425180" cy="49117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SzPct val="85416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Perpetua"/>
                <a:cs typeface="Perpetua"/>
              </a:rPr>
              <a:t>An</a:t>
            </a:r>
            <a:r>
              <a:rPr sz="2400" spc="36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identifier</a:t>
            </a:r>
            <a:r>
              <a:rPr sz="2400" spc="35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(or</a:t>
            </a:r>
            <a:r>
              <a:rPr sz="2400" spc="360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name)</a:t>
            </a:r>
            <a:r>
              <a:rPr sz="2400" spc="360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is</a:t>
            </a:r>
            <a:r>
              <a:rPr sz="2400" spc="36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used</a:t>
            </a:r>
            <a:r>
              <a:rPr sz="2400" spc="360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to</a:t>
            </a:r>
            <a:r>
              <a:rPr sz="2400" spc="360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identify</a:t>
            </a:r>
            <a:r>
              <a:rPr sz="2400" spc="35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the</a:t>
            </a:r>
            <a:r>
              <a:rPr sz="2400" spc="35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entities,</a:t>
            </a:r>
            <a:r>
              <a:rPr sz="2400" spc="365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eg.,</a:t>
            </a:r>
            <a:r>
              <a:rPr sz="2400" spc="36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variables,</a:t>
            </a:r>
            <a:endParaRPr sz="2400">
              <a:latin typeface="Perpetua"/>
              <a:cs typeface="Perpetua"/>
            </a:endParaRPr>
          </a:p>
          <a:p>
            <a:pPr marL="354965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Perpetua"/>
                <a:cs typeface="Perpetua"/>
              </a:rPr>
              <a:t>module</a:t>
            </a:r>
            <a:r>
              <a:rPr sz="2400" spc="-2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names.</a:t>
            </a:r>
            <a:endParaRPr sz="2400">
              <a:latin typeface="Perpetua"/>
              <a:cs typeface="Perpetua"/>
            </a:endParaRPr>
          </a:p>
          <a:p>
            <a:pPr marL="12700" marR="3582035">
              <a:lnSpc>
                <a:spcPct val="120000"/>
              </a:lnSpc>
              <a:buSzPct val="85416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Perpetua"/>
                <a:cs typeface="Perpetua"/>
              </a:rPr>
              <a:t>Naming </a:t>
            </a:r>
            <a:r>
              <a:rPr sz="2400" spc="-10" dirty="0">
                <a:latin typeface="Perpetua"/>
                <a:cs typeface="Perpetua"/>
              </a:rPr>
              <a:t>conventions </a:t>
            </a:r>
            <a:r>
              <a:rPr sz="2400" spc="-5" dirty="0">
                <a:latin typeface="Perpetua"/>
                <a:cs typeface="Perpetua"/>
              </a:rPr>
              <a:t>increase</a:t>
            </a:r>
            <a:r>
              <a:rPr sz="2400" spc="-60" dirty="0">
                <a:latin typeface="Perpetua"/>
                <a:cs typeface="Perpetua"/>
              </a:rPr>
              <a:t> </a:t>
            </a:r>
            <a:r>
              <a:rPr sz="2400" spc="-25" dirty="0">
                <a:latin typeface="Perpetua"/>
                <a:cs typeface="Perpetua"/>
              </a:rPr>
              <a:t>readability.  </a:t>
            </a:r>
            <a:r>
              <a:rPr sz="2400" dirty="0">
                <a:latin typeface="Perpetua"/>
                <a:cs typeface="Perpetua"/>
              </a:rPr>
              <a:t>Good naming</a:t>
            </a:r>
            <a:r>
              <a:rPr sz="2400" spc="-3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practices</a:t>
            </a:r>
            <a:endParaRPr sz="2400">
              <a:latin typeface="Perpetua"/>
              <a:cs typeface="Perpetua"/>
            </a:endParaRPr>
          </a:p>
          <a:p>
            <a:pPr marL="756285" marR="6350" lvl="1" indent="-287020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761365" algn="l"/>
              </a:tabLst>
            </a:pPr>
            <a:r>
              <a:rPr sz="2400" spc="-20" dirty="0">
                <a:latin typeface="Perpetua"/>
                <a:cs typeface="Perpetua"/>
              </a:rPr>
              <a:t>Never </a:t>
            </a:r>
            <a:r>
              <a:rPr sz="2400" dirty="0">
                <a:latin typeface="Perpetua"/>
                <a:cs typeface="Perpetua"/>
              </a:rPr>
              <a:t>use </a:t>
            </a:r>
            <a:r>
              <a:rPr sz="2400" i="1" dirty="0">
                <a:latin typeface="Perpetua"/>
                <a:cs typeface="Perpetua"/>
              </a:rPr>
              <a:t>I </a:t>
            </a:r>
            <a:r>
              <a:rPr sz="2400" spc="-20" dirty="0">
                <a:latin typeface="Perpetua"/>
                <a:cs typeface="Perpetua"/>
              </a:rPr>
              <a:t>(lowercase </a:t>
            </a:r>
            <a:r>
              <a:rPr sz="2400" i="1" dirty="0">
                <a:latin typeface="Perpetua"/>
                <a:cs typeface="Perpetua"/>
              </a:rPr>
              <a:t>L </a:t>
            </a:r>
            <a:r>
              <a:rPr sz="2400" dirty="0">
                <a:latin typeface="Perpetua"/>
                <a:cs typeface="Perpetua"/>
              </a:rPr>
              <a:t>) or </a:t>
            </a:r>
            <a:r>
              <a:rPr sz="2400" i="1" dirty="0">
                <a:latin typeface="Perpetua"/>
                <a:cs typeface="Perpetua"/>
              </a:rPr>
              <a:t>O </a:t>
            </a:r>
            <a:r>
              <a:rPr sz="2400" spc="-5" dirty="0">
                <a:latin typeface="Perpetua"/>
                <a:cs typeface="Perpetua"/>
              </a:rPr>
              <a:t>(uppercase </a:t>
            </a:r>
            <a:r>
              <a:rPr sz="2400" i="1" dirty="0">
                <a:latin typeface="Perpetua"/>
                <a:cs typeface="Perpetua"/>
              </a:rPr>
              <a:t>O </a:t>
            </a:r>
            <a:r>
              <a:rPr sz="2400" dirty="0">
                <a:latin typeface="Perpetua"/>
                <a:cs typeface="Perpetua"/>
              </a:rPr>
              <a:t>) as </a:t>
            </a:r>
            <a:r>
              <a:rPr sz="2400" spc="-5" dirty="0">
                <a:latin typeface="Perpetua"/>
                <a:cs typeface="Perpetua"/>
              </a:rPr>
              <a:t>variable </a:t>
            </a:r>
            <a:r>
              <a:rPr sz="2400" dirty="0">
                <a:latin typeface="Perpetua"/>
                <a:cs typeface="Perpetua"/>
              </a:rPr>
              <a:t>or </a:t>
            </a:r>
            <a:r>
              <a:rPr sz="2400" spc="-5" dirty="0">
                <a:latin typeface="Perpetua"/>
                <a:cs typeface="Perpetua"/>
              </a:rPr>
              <a:t>constant  </a:t>
            </a:r>
            <a:r>
              <a:rPr sz="2400" spc="-10" dirty="0">
                <a:latin typeface="Perpetua"/>
                <a:cs typeface="Perpetua"/>
              </a:rPr>
              <a:t>names.(</a:t>
            </a:r>
            <a:r>
              <a:rPr sz="2400" i="1" spc="-10" dirty="0">
                <a:latin typeface="Perpetua"/>
                <a:cs typeface="Perpetua"/>
              </a:rPr>
              <a:t>Confused </a:t>
            </a:r>
            <a:r>
              <a:rPr sz="2400" i="1" spc="-15" dirty="0">
                <a:latin typeface="Perpetua"/>
                <a:cs typeface="Perpetua"/>
              </a:rPr>
              <a:t>for </a:t>
            </a:r>
            <a:r>
              <a:rPr sz="2400" i="1" dirty="0">
                <a:latin typeface="Perpetua"/>
                <a:cs typeface="Perpetua"/>
              </a:rPr>
              <a:t>1 </a:t>
            </a:r>
            <a:r>
              <a:rPr sz="2400" i="1" spc="-5" dirty="0">
                <a:latin typeface="Perpetua"/>
                <a:cs typeface="Perpetua"/>
              </a:rPr>
              <a:t>or </a:t>
            </a:r>
            <a:r>
              <a:rPr sz="2400" i="1" dirty="0">
                <a:latin typeface="Perpetua"/>
                <a:cs typeface="Perpetua"/>
              </a:rPr>
              <a:t>a</a:t>
            </a:r>
            <a:r>
              <a:rPr sz="2400" i="1" spc="-10" dirty="0">
                <a:latin typeface="Perpetua"/>
                <a:cs typeface="Perpetua"/>
              </a:rPr>
              <a:t> </a:t>
            </a:r>
            <a:r>
              <a:rPr sz="2400" i="1" dirty="0">
                <a:latin typeface="Perpetua"/>
                <a:cs typeface="Perpetua"/>
              </a:rPr>
              <a:t>0</a:t>
            </a:r>
            <a:r>
              <a:rPr sz="2400" dirty="0">
                <a:latin typeface="Perpetua"/>
                <a:cs typeface="Perpetua"/>
              </a:rPr>
              <a:t>)</a:t>
            </a:r>
            <a:endParaRPr sz="2400">
              <a:latin typeface="Perpetua"/>
              <a:cs typeface="Perpetua"/>
            </a:endParaRPr>
          </a:p>
          <a:p>
            <a:pPr marL="756285" marR="787400" lvl="1" indent="-287020">
              <a:lnSpc>
                <a:spcPct val="100000"/>
              </a:lnSpc>
              <a:spcBef>
                <a:spcPts val="580"/>
              </a:spcBef>
              <a:buAutoNum type="arabicPeriod"/>
              <a:tabLst>
                <a:tab pos="767715" algn="l"/>
              </a:tabLst>
            </a:pPr>
            <a:r>
              <a:rPr sz="2400" dirty="0">
                <a:latin typeface="Perpetua"/>
                <a:cs typeface="Perpetua"/>
              </a:rPr>
              <a:t>What </a:t>
            </a:r>
            <a:r>
              <a:rPr sz="2400" spc="-5" dirty="0">
                <a:latin typeface="Perpetua"/>
                <a:cs typeface="Perpetua"/>
              </a:rPr>
              <a:t>about </a:t>
            </a:r>
            <a:r>
              <a:rPr sz="2400" dirty="0">
                <a:latin typeface="Perpetua"/>
                <a:cs typeface="Perpetua"/>
              </a:rPr>
              <a:t>the </a:t>
            </a:r>
            <a:r>
              <a:rPr sz="2400" spc="-10" dirty="0">
                <a:latin typeface="Perpetua"/>
                <a:cs typeface="Perpetua"/>
              </a:rPr>
              <a:t>length </a:t>
            </a:r>
            <a:r>
              <a:rPr sz="2400" dirty="0">
                <a:latin typeface="Perpetua"/>
                <a:cs typeface="Perpetua"/>
              </a:rPr>
              <a:t>of the </a:t>
            </a:r>
            <a:r>
              <a:rPr sz="2400" spc="-5" dirty="0">
                <a:latin typeface="Perpetua"/>
                <a:cs typeface="Perpetua"/>
              </a:rPr>
              <a:t>name?  “</a:t>
            </a:r>
            <a:r>
              <a:rPr sz="2400" i="1" spc="-5" dirty="0">
                <a:latin typeface="Perpetua"/>
                <a:cs typeface="Perpetua"/>
              </a:rPr>
              <a:t>total_number_of_entries_with_mangled_or_out_of_range_dates</a:t>
            </a:r>
            <a:r>
              <a:rPr sz="2400" i="1" spc="-1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”?</a:t>
            </a:r>
            <a:endParaRPr sz="2400">
              <a:latin typeface="Perpetua"/>
              <a:cs typeface="Perpetua"/>
            </a:endParaRPr>
          </a:p>
          <a:p>
            <a:pPr marL="1201420" lvl="2" indent="-229235">
              <a:lnSpc>
                <a:spcPct val="100000"/>
              </a:lnSpc>
              <a:spcBef>
                <a:spcPts val="395"/>
              </a:spcBef>
              <a:buFont typeface="Arial"/>
              <a:buChar char="•"/>
              <a:tabLst>
                <a:tab pos="1202055" algn="l"/>
              </a:tabLst>
            </a:pPr>
            <a:r>
              <a:rPr sz="2400" i="1" spc="-5" dirty="0">
                <a:latin typeface="Perpetua"/>
                <a:cs typeface="Perpetua"/>
              </a:rPr>
              <a:t>This is </a:t>
            </a:r>
            <a:r>
              <a:rPr sz="2400" i="1" dirty="0">
                <a:latin typeface="Perpetua"/>
                <a:cs typeface="Perpetua"/>
              </a:rPr>
              <a:t>an </a:t>
            </a:r>
            <a:r>
              <a:rPr sz="2400" i="1" spc="-10" dirty="0">
                <a:latin typeface="Perpetua"/>
                <a:cs typeface="Perpetua"/>
              </a:rPr>
              <a:t>extremely </a:t>
            </a:r>
            <a:r>
              <a:rPr sz="2400" i="1" spc="-5" dirty="0">
                <a:latin typeface="Perpetua"/>
                <a:cs typeface="Perpetua"/>
              </a:rPr>
              <a:t>descriptive</a:t>
            </a:r>
            <a:r>
              <a:rPr sz="2400" i="1" spc="-50" dirty="0">
                <a:latin typeface="Perpetua"/>
                <a:cs typeface="Perpetua"/>
              </a:rPr>
              <a:t> </a:t>
            </a:r>
            <a:r>
              <a:rPr sz="2400" i="1" dirty="0">
                <a:latin typeface="Perpetua"/>
                <a:cs typeface="Perpetua"/>
              </a:rPr>
              <a:t>name.</a:t>
            </a:r>
            <a:endParaRPr sz="2400">
              <a:latin typeface="Perpetua"/>
              <a:cs typeface="Perpetua"/>
            </a:endParaRPr>
          </a:p>
          <a:p>
            <a:pPr marL="1201420" lvl="2" indent="-229235">
              <a:lnSpc>
                <a:spcPct val="100000"/>
              </a:lnSpc>
              <a:spcBef>
                <a:spcPts val="400"/>
              </a:spcBef>
              <a:buFont typeface="Arial"/>
              <a:buChar char="•"/>
              <a:tabLst>
                <a:tab pos="1202055" algn="l"/>
              </a:tabLst>
            </a:pPr>
            <a:r>
              <a:rPr sz="2400" i="1" dirty="0">
                <a:latin typeface="Perpetua"/>
                <a:cs typeface="Perpetua"/>
              </a:rPr>
              <a:t>First, they </a:t>
            </a:r>
            <a:r>
              <a:rPr sz="2400" i="1" spc="-10" dirty="0">
                <a:latin typeface="Perpetua"/>
                <a:cs typeface="Perpetua"/>
              </a:rPr>
              <a:t>are </a:t>
            </a:r>
            <a:r>
              <a:rPr sz="2400" i="1" spc="-5" dirty="0">
                <a:latin typeface="Perpetua"/>
                <a:cs typeface="Perpetua"/>
              </a:rPr>
              <a:t>difficult </a:t>
            </a:r>
            <a:r>
              <a:rPr sz="2400" i="1" dirty="0">
                <a:latin typeface="Perpetua"/>
                <a:cs typeface="Perpetua"/>
              </a:rPr>
              <a:t>to</a:t>
            </a:r>
            <a:r>
              <a:rPr sz="2400" i="1" spc="-245" dirty="0">
                <a:latin typeface="Perpetua"/>
                <a:cs typeface="Perpetua"/>
              </a:rPr>
              <a:t> </a:t>
            </a:r>
            <a:r>
              <a:rPr sz="2400" i="1" dirty="0">
                <a:latin typeface="Perpetua"/>
                <a:cs typeface="Perpetua"/>
              </a:rPr>
              <a:t>type.</a:t>
            </a:r>
            <a:endParaRPr sz="2400">
              <a:latin typeface="Perpetua"/>
              <a:cs typeface="Perpetua"/>
            </a:endParaRPr>
          </a:p>
          <a:p>
            <a:pPr marL="1201420" lvl="2" indent="-229235">
              <a:lnSpc>
                <a:spcPct val="100000"/>
              </a:lnSpc>
              <a:spcBef>
                <a:spcPts val="405"/>
              </a:spcBef>
              <a:buFont typeface="Arial"/>
              <a:buChar char="•"/>
              <a:tabLst>
                <a:tab pos="1202055" algn="l"/>
              </a:tabLst>
            </a:pPr>
            <a:r>
              <a:rPr sz="2400" i="1" spc="-5" dirty="0">
                <a:latin typeface="Perpetua"/>
                <a:cs typeface="Perpetua"/>
              </a:rPr>
              <a:t>Second, </a:t>
            </a:r>
            <a:r>
              <a:rPr sz="2400" i="1" dirty="0">
                <a:latin typeface="Perpetua"/>
                <a:cs typeface="Perpetua"/>
              </a:rPr>
              <a:t>remembering the exact </a:t>
            </a:r>
            <a:r>
              <a:rPr sz="2400" i="1" spc="-10" dirty="0">
                <a:latin typeface="Perpetua"/>
                <a:cs typeface="Perpetua"/>
              </a:rPr>
              <a:t>wording </a:t>
            </a:r>
            <a:r>
              <a:rPr sz="2400" i="1" spc="-5" dirty="0">
                <a:latin typeface="Perpetua"/>
                <a:cs typeface="Perpetua"/>
              </a:rPr>
              <a:t>of such </a:t>
            </a:r>
            <a:r>
              <a:rPr sz="2400" i="1" dirty="0">
                <a:latin typeface="Perpetua"/>
                <a:cs typeface="Perpetua"/>
              </a:rPr>
              <a:t>a </a:t>
            </a:r>
            <a:r>
              <a:rPr sz="2400" i="1" spc="-5" dirty="0">
                <a:latin typeface="Perpetua"/>
                <a:cs typeface="Perpetua"/>
              </a:rPr>
              <a:t>long name is </a:t>
            </a:r>
            <a:r>
              <a:rPr sz="2400" i="1" dirty="0">
                <a:latin typeface="Perpetua"/>
                <a:cs typeface="Perpetua"/>
              </a:rPr>
              <a:t>not</a:t>
            </a:r>
            <a:r>
              <a:rPr sz="2400" i="1" spc="-280" dirty="0">
                <a:latin typeface="Perpetua"/>
                <a:cs typeface="Perpetua"/>
              </a:rPr>
              <a:t> </a:t>
            </a:r>
            <a:r>
              <a:rPr sz="2400" i="1" spc="-40" dirty="0">
                <a:latin typeface="Perpetua"/>
                <a:cs typeface="Perpetua"/>
              </a:rPr>
              <a:t>easy.</a:t>
            </a:r>
            <a:endParaRPr sz="2400">
              <a:latin typeface="Perpetua"/>
              <a:cs typeface="Perpetua"/>
            </a:endParaRPr>
          </a:p>
          <a:p>
            <a:pPr marL="1201420" lvl="2" indent="-229235">
              <a:lnSpc>
                <a:spcPct val="100000"/>
              </a:lnSpc>
              <a:spcBef>
                <a:spcPts val="400"/>
              </a:spcBef>
              <a:buFont typeface="Arial"/>
              <a:buChar char="•"/>
              <a:tabLst>
                <a:tab pos="1202055" algn="l"/>
              </a:tabLst>
            </a:pPr>
            <a:r>
              <a:rPr sz="2400" i="1" spc="-10" dirty="0">
                <a:latin typeface="Perpetua"/>
                <a:cs typeface="Perpetua"/>
              </a:rPr>
              <a:t>What </a:t>
            </a:r>
            <a:r>
              <a:rPr sz="2400" i="1" spc="-5" dirty="0">
                <a:latin typeface="Perpetua"/>
                <a:cs typeface="Perpetua"/>
              </a:rPr>
              <a:t>happens </a:t>
            </a:r>
            <a:r>
              <a:rPr sz="2400" i="1" spc="-15" dirty="0">
                <a:latin typeface="Perpetua"/>
                <a:cs typeface="Perpetua"/>
              </a:rPr>
              <a:t>when </a:t>
            </a:r>
            <a:r>
              <a:rPr sz="2400" i="1" spc="-20" dirty="0">
                <a:latin typeface="Perpetua"/>
                <a:cs typeface="Perpetua"/>
              </a:rPr>
              <a:t>you </a:t>
            </a:r>
            <a:r>
              <a:rPr sz="2400" i="1" spc="-5" dirty="0">
                <a:latin typeface="Perpetua"/>
                <a:cs typeface="Perpetua"/>
              </a:rPr>
              <a:t>try </a:t>
            </a:r>
            <a:r>
              <a:rPr sz="2400" i="1" dirty="0">
                <a:latin typeface="Perpetua"/>
                <a:cs typeface="Perpetua"/>
              </a:rPr>
              <a:t>to use this </a:t>
            </a:r>
            <a:r>
              <a:rPr sz="2400" i="1" spc="-10" dirty="0">
                <a:latin typeface="Perpetua"/>
                <a:cs typeface="Perpetua"/>
              </a:rPr>
              <a:t>variable </a:t>
            </a:r>
            <a:r>
              <a:rPr sz="2400" i="1" spc="-5" dirty="0">
                <a:latin typeface="Perpetua"/>
                <a:cs typeface="Perpetua"/>
              </a:rPr>
              <a:t>in </a:t>
            </a:r>
            <a:r>
              <a:rPr sz="2400" i="1" dirty="0">
                <a:latin typeface="Perpetua"/>
                <a:cs typeface="Perpetua"/>
              </a:rPr>
              <a:t>a </a:t>
            </a:r>
            <a:r>
              <a:rPr sz="2400" i="1" spc="-5" dirty="0">
                <a:latin typeface="Perpetua"/>
                <a:cs typeface="Perpetua"/>
              </a:rPr>
              <a:t>statement?</a:t>
            </a:r>
            <a:endParaRPr sz="24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259524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0" spc="-5" dirty="0">
                <a:latin typeface="Perpetua"/>
                <a:cs typeface="Perpetua"/>
              </a:rPr>
              <a:t>Names</a:t>
            </a:r>
            <a:r>
              <a:rPr i="0" spc="-60" dirty="0">
                <a:latin typeface="Perpetua"/>
                <a:cs typeface="Perpetua"/>
              </a:rPr>
              <a:t> </a:t>
            </a:r>
            <a:r>
              <a:rPr spc="-5" dirty="0"/>
              <a:t>contd</a:t>
            </a:r>
            <a:r>
              <a:rPr i="0" spc="-5" dirty="0">
                <a:latin typeface="Perpetua"/>
                <a:cs typeface="Perpetua"/>
              </a:rPr>
              <a:t>--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346575" y="6439664"/>
            <a:ext cx="1537970" cy="3752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550"/>
              </a:lnSpc>
            </a:pPr>
            <a:r>
              <a:rPr sz="2400" i="1" spc="-10" dirty="0">
                <a:latin typeface="Perpetua"/>
                <a:cs typeface="Perpetua"/>
              </a:rPr>
              <a:t>variable</a:t>
            </a:r>
            <a:r>
              <a:rPr sz="2400" i="1" spc="-90" dirty="0">
                <a:latin typeface="Perpetua"/>
                <a:cs typeface="Perpetua"/>
              </a:rPr>
              <a:t> </a:t>
            </a:r>
            <a:r>
              <a:rPr sz="2400" i="1" spc="-10" dirty="0">
                <a:latin typeface="Perpetua"/>
                <a:cs typeface="Perpetua"/>
              </a:rPr>
              <a:t>names.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27380" y="1410665"/>
            <a:ext cx="8173720" cy="4999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9880" indent="-297815">
              <a:lnSpc>
                <a:spcPct val="100000"/>
              </a:lnSpc>
              <a:spcBef>
                <a:spcPts val="100"/>
              </a:spcBef>
              <a:buAutoNum type="arabicPeriod" startAt="3"/>
              <a:tabLst>
                <a:tab pos="310515" algn="l"/>
              </a:tabLst>
            </a:pPr>
            <a:r>
              <a:rPr sz="2400" spc="-5" dirty="0">
                <a:latin typeface="Perpetua"/>
                <a:cs typeface="Perpetua"/>
              </a:rPr>
              <a:t>Connection </a:t>
            </a:r>
            <a:r>
              <a:rPr sz="2400" dirty="0">
                <a:latin typeface="Perpetua"/>
                <a:cs typeface="Perpetua"/>
              </a:rPr>
              <a:t>character </a:t>
            </a:r>
            <a:r>
              <a:rPr sz="2400" spc="-5" dirty="0">
                <a:latin typeface="Perpetua"/>
                <a:cs typeface="Perpetua"/>
              </a:rPr>
              <a:t>(e.g. </a:t>
            </a:r>
            <a:r>
              <a:rPr sz="2400" dirty="0">
                <a:latin typeface="Perpetua"/>
                <a:cs typeface="Perpetua"/>
              </a:rPr>
              <a:t>first_name,</a:t>
            </a:r>
            <a:r>
              <a:rPr sz="2400" spc="-5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First-name)</a:t>
            </a:r>
            <a:endParaRPr sz="2400">
              <a:latin typeface="Perpetua"/>
              <a:cs typeface="Perpetua"/>
            </a:endParaRPr>
          </a:p>
          <a:p>
            <a:pPr marL="515620" lvl="1" indent="-229235">
              <a:lnSpc>
                <a:spcPct val="100000"/>
              </a:lnSpc>
              <a:spcBef>
                <a:spcPts val="110"/>
              </a:spcBef>
              <a:buSzPct val="85416"/>
              <a:buFont typeface="Arial"/>
              <a:buChar char="•"/>
              <a:tabLst>
                <a:tab pos="515620" algn="l"/>
                <a:tab pos="516255" algn="l"/>
              </a:tabLst>
            </a:pPr>
            <a:r>
              <a:rPr sz="2400" i="1" dirty="0">
                <a:latin typeface="Perpetua"/>
                <a:cs typeface="Perpetua"/>
              </a:rPr>
              <a:t>What </a:t>
            </a:r>
            <a:r>
              <a:rPr sz="2400" i="1" spc="-5" dirty="0">
                <a:latin typeface="Perpetua"/>
                <a:cs typeface="Perpetua"/>
              </a:rPr>
              <a:t>about</a:t>
            </a:r>
            <a:r>
              <a:rPr sz="2400" i="1" spc="-15" dirty="0">
                <a:latin typeface="Perpetua"/>
                <a:cs typeface="Perpetua"/>
              </a:rPr>
              <a:t> </a:t>
            </a:r>
            <a:r>
              <a:rPr sz="2400" i="1" spc="-5" dirty="0">
                <a:latin typeface="Perpetua"/>
                <a:cs typeface="Perpetua"/>
              </a:rPr>
              <a:t>first$name</a:t>
            </a:r>
            <a:r>
              <a:rPr sz="2400" spc="-5" dirty="0">
                <a:latin typeface="Perpetua"/>
                <a:cs typeface="Perpetua"/>
              </a:rPr>
              <a:t>???</a:t>
            </a:r>
            <a:endParaRPr sz="2400">
              <a:latin typeface="Perpetua"/>
              <a:cs typeface="Perpetua"/>
            </a:endParaRPr>
          </a:p>
          <a:p>
            <a:pPr marL="309245" indent="-297180">
              <a:lnSpc>
                <a:spcPct val="100000"/>
              </a:lnSpc>
              <a:spcBef>
                <a:spcPts val="110"/>
              </a:spcBef>
              <a:buAutoNum type="arabicPeriod" startAt="3"/>
              <a:tabLst>
                <a:tab pos="309880" algn="l"/>
              </a:tabLst>
            </a:pPr>
            <a:r>
              <a:rPr sz="2400" spc="-5" dirty="0">
                <a:latin typeface="Perpetua"/>
                <a:cs typeface="Perpetua"/>
              </a:rPr>
              <a:t>Case sensitivity</a:t>
            </a:r>
            <a:r>
              <a:rPr sz="2400" spc="-25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(e.g.Name,name,NAME)</a:t>
            </a:r>
            <a:endParaRPr sz="2400">
              <a:latin typeface="Perpetua"/>
              <a:cs typeface="Perpetua"/>
            </a:endParaRPr>
          </a:p>
          <a:p>
            <a:pPr marL="297180" indent="-285115">
              <a:lnSpc>
                <a:spcPct val="100000"/>
              </a:lnSpc>
              <a:spcBef>
                <a:spcPts val="120"/>
              </a:spcBef>
              <a:buAutoNum type="arabicPeriod" startAt="3"/>
              <a:tabLst>
                <a:tab pos="297815" algn="l"/>
              </a:tabLst>
            </a:pPr>
            <a:r>
              <a:rPr sz="2400" dirty="0">
                <a:latin typeface="Perpetua"/>
                <a:cs typeface="Perpetua"/>
              </a:rPr>
              <a:t>Don´t use </a:t>
            </a:r>
            <a:r>
              <a:rPr sz="2400" spc="-15" dirty="0">
                <a:latin typeface="Perpetua"/>
                <a:cs typeface="Perpetua"/>
              </a:rPr>
              <a:t>negative </a:t>
            </a:r>
            <a:r>
              <a:rPr sz="2400" spc="5" dirty="0">
                <a:latin typeface="Perpetua"/>
                <a:cs typeface="Perpetua"/>
              </a:rPr>
              <a:t>logic </a:t>
            </a:r>
            <a:r>
              <a:rPr sz="2400" dirty="0">
                <a:latin typeface="Perpetua"/>
                <a:cs typeface="Perpetua"/>
              </a:rPr>
              <a:t>for </a:t>
            </a:r>
            <a:r>
              <a:rPr sz="2400" spc="-10" dirty="0">
                <a:latin typeface="Perpetua"/>
                <a:cs typeface="Perpetua"/>
              </a:rPr>
              <a:t>your </a:t>
            </a:r>
            <a:r>
              <a:rPr sz="2400" spc="-5" dirty="0">
                <a:latin typeface="Perpetua"/>
                <a:cs typeface="Perpetua"/>
              </a:rPr>
              <a:t>variable</a:t>
            </a:r>
            <a:r>
              <a:rPr sz="2400" spc="-55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names.</a:t>
            </a:r>
            <a:endParaRPr sz="2400">
              <a:latin typeface="Perpetua"/>
              <a:cs typeface="Perpetua"/>
            </a:endParaRPr>
          </a:p>
          <a:p>
            <a:pPr marL="515620" lvl="1" indent="-229235">
              <a:lnSpc>
                <a:spcPct val="100000"/>
              </a:lnSpc>
              <a:spcBef>
                <a:spcPts val="110"/>
              </a:spcBef>
              <a:buSzPct val="85416"/>
              <a:buFont typeface="Arial"/>
              <a:buChar char="•"/>
              <a:tabLst>
                <a:tab pos="515620" algn="l"/>
                <a:tab pos="516255" algn="l"/>
              </a:tabLst>
            </a:pPr>
            <a:r>
              <a:rPr sz="2400" dirty="0">
                <a:latin typeface="Perpetua"/>
                <a:cs typeface="Perpetua"/>
              </a:rPr>
              <a:t>Good Example:</a:t>
            </a:r>
            <a:r>
              <a:rPr sz="2400" spc="409" dirty="0">
                <a:latin typeface="Perpetua"/>
                <a:cs typeface="Perpetua"/>
              </a:rPr>
              <a:t> </a:t>
            </a:r>
            <a:r>
              <a:rPr sz="2400" i="1" spc="-10" dirty="0">
                <a:latin typeface="Perpetua"/>
                <a:cs typeface="Perpetua"/>
              </a:rPr>
              <a:t>IsEnabled</a:t>
            </a:r>
            <a:r>
              <a:rPr sz="2400" spc="-10" dirty="0">
                <a:latin typeface="Perpetua"/>
                <a:cs typeface="Perpetua"/>
              </a:rPr>
              <a:t>.</a:t>
            </a:r>
            <a:endParaRPr sz="2400">
              <a:latin typeface="Perpetua"/>
              <a:cs typeface="Perpetua"/>
            </a:endParaRPr>
          </a:p>
          <a:p>
            <a:pPr marL="515620" lvl="1" indent="-229235">
              <a:lnSpc>
                <a:spcPct val="100000"/>
              </a:lnSpc>
              <a:spcBef>
                <a:spcPts val="110"/>
              </a:spcBef>
              <a:buSzPct val="85416"/>
              <a:buFont typeface="Arial"/>
              <a:buChar char="•"/>
              <a:tabLst>
                <a:tab pos="515620" algn="l"/>
                <a:tab pos="516255" algn="l"/>
              </a:tabLst>
            </a:pPr>
            <a:r>
              <a:rPr sz="2400" dirty="0">
                <a:latin typeface="Perpetua"/>
                <a:cs typeface="Perpetua"/>
              </a:rPr>
              <a:t>Bad Example:</a:t>
            </a:r>
            <a:r>
              <a:rPr sz="2400" spc="-114" dirty="0">
                <a:latin typeface="Perpetua"/>
                <a:cs typeface="Perpetua"/>
              </a:rPr>
              <a:t> </a:t>
            </a:r>
            <a:r>
              <a:rPr sz="2400" i="1" spc="-5" dirty="0">
                <a:latin typeface="Perpetua"/>
                <a:cs typeface="Perpetua"/>
              </a:rPr>
              <a:t>IsNotEnabled</a:t>
            </a:r>
            <a:r>
              <a:rPr sz="2400" spc="-5" dirty="0">
                <a:latin typeface="Perpetua"/>
                <a:cs typeface="Perpetua"/>
              </a:rPr>
              <a:t>.</a:t>
            </a:r>
            <a:endParaRPr sz="2400">
              <a:latin typeface="Perpetua"/>
              <a:cs typeface="Perpetua"/>
            </a:endParaRPr>
          </a:p>
          <a:p>
            <a:pPr marL="241300" marR="5080" indent="-228600">
              <a:lnSpc>
                <a:spcPts val="2590"/>
              </a:lnSpc>
              <a:spcBef>
                <a:spcPts val="445"/>
              </a:spcBef>
              <a:buAutoNum type="arabicPeriod" startAt="3"/>
              <a:tabLst>
                <a:tab pos="297815" algn="l"/>
              </a:tabLst>
            </a:pPr>
            <a:r>
              <a:rPr sz="2400" spc="-60" dirty="0">
                <a:latin typeface="Perpetua"/>
                <a:cs typeface="Perpetua"/>
              </a:rPr>
              <a:t>It’s </a:t>
            </a:r>
            <a:r>
              <a:rPr sz="2400" spc="-30" dirty="0">
                <a:latin typeface="Perpetua"/>
                <a:cs typeface="Perpetua"/>
              </a:rPr>
              <a:t>always </a:t>
            </a:r>
            <a:r>
              <a:rPr sz="2400" dirty="0">
                <a:latin typeface="Perpetua"/>
                <a:cs typeface="Perpetua"/>
              </a:rPr>
              <a:t>easier to </a:t>
            </a:r>
            <a:r>
              <a:rPr sz="2400" spc="-10" dirty="0">
                <a:latin typeface="Perpetua"/>
                <a:cs typeface="Perpetua"/>
              </a:rPr>
              <a:t>read </a:t>
            </a:r>
            <a:r>
              <a:rPr sz="2400" spc="-5" dirty="0">
                <a:latin typeface="Perpetua"/>
                <a:cs typeface="Perpetua"/>
              </a:rPr>
              <a:t>and </a:t>
            </a:r>
            <a:r>
              <a:rPr sz="2400" spc="5" dirty="0">
                <a:latin typeface="Perpetua"/>
                <a:cs typeface="Perpetua"/>
              </a:rPr>
              <a:t>understand </a:t>
            </a:r>
            <a:r>
              <a:rPr sz="2400" dirty="0">
                <a:latin typeface="Perpetua"/>
                <a:cs typeface="Perpetua"/>
              </a:rPr>
              <a:t>a </a:t>
            </a:r>
            <a:r>
              <a:rPr sz="2400" spc="-5" dirty="0">
                <a:latin typeface="Perpetua"/>
                <a:cs typeface="Perpetua"/>
              </a:rPr>
              <a:t>statement </a:t>
            </a:r>
            <a:r>
              <a:rPr sz="2400" spc="-10" dirty="0">
                <a:latin typeface="Perpetua"/>
                <a:cs typeface="Perpetua"/>
              </a:rPr>
              <a:t>that </a:t>
            </a:r>
            <a:r>
              <a:rPr sz="2400" dirty="0">
                <a:latin typeface="Perpetua"/>
                <a:cs typeface="Perpetua"/>
              </a:rPr>
              <a:t>is </a:t>
            </a:r>
            <a:r>
              <a:rPr sz="2400" spc="-5" dirty="0">
                <a:latin typeface="Perpetua"/>
                <a:cs typeface="Perpetua"/>
              </a:rPr>
              <a:t>expressed </a:t>
            </a:r>
            <a:r>
              <a:rPr sz="2400" dirty="0">
                <a:latin typeface="Perpetua"/>
                <a:cs typeface="Perpetua"/>
              </a:rPr>
              <a:t>in  a </a:t>
            </a:r>
            <a:r>
              <a:rPr sz="2400" spc="-5" dirty="0">
                <a:latin typeface="Perpetua"/>
                <a:cs typeface="Perpetua"/>
              </a:rPr>
              <a:t>positive </a:t>
            </a:r>
            <a:r>
              <a:rPr sz="2400" dirty="0">
                <a:latin typeface="Perpetua"/>
                <a:cs typeface="Perpetua"/>
              </a:rPr>
              <a:t>language than </a:t>
            </a:r>
            <a:r>
              <a:rPr sz="2400" spc="-5" dirty="0">
                <a:latin typeface="Perpetua"/>
                <a:cs typeface="Perpetua"/>
              </a:rPr>
              <a:t>that </a:t>
            </a:r>
            <a:r>
              <a:rPr sz="2400" dirty="0">
                <a:latin typeface="Perpetua"/>
                <a:cs typeface="Perpetua"/>
              </a:rPr>
              <a:t>in a </a:t>
            </a:r>
            <a:r>
              <a:rPr sz="2400" spc="-10" dirty="0">
                <a:latin typeface="Perpetua"/>
                <a:cs typeface="Perpetua"/>
              </a:rPr>
              <a:t>negative</a:t>
            </a:r>
            <a:r>
              <a:rPr sz="2400" spc="-20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language.</a:t>
            </a:r>
            <a:endParaRPr sz="2400">
              <a:latin typeface="Perpetua"/>
              <a:cs typeface="Perpetua"/>
            </a:endParaRPr>
          </a:p>
          <a:p>
            <a:pPr marL="309245" indent="-297180">
              <a:lnSpc>
                <a:spcPct val="100000"/>
              </a:lnSpc>
              <a:spcBef>
                <a:spcPts val="75"/>
              </a:spcBef>
              <a:buAutoNum type="arabicPeriod" startAt="3"/>
              <a:tabLst>
                <a:tab pos="309880" algn="l"/>
              </a:tabLst>
            </a:pPr>
            <a:r>
              <a:rPr sz="2400" spc="-5" dirty="0">
                <a:latin typeface="Perpetua"/>
                <a:cs typeface="Perpetua"/>
              </a:rPr>
              <a:t>Reserved </a:t>
            </a:r>
            <a:r>
              <a:rPr sz="2400" dirty="0">
                <a:latin typeface="Perpetua"/>
                <a:cs typeface="Perpetua"/>
              </a:rPr>
              <a:t>words or</a:t>
            </a:r>
            <a:r>
              <a:rPr sz="2400" spc="-30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keywords?</a:t>
            </a:r>
            <a:endParaRPr sz="2400">
              <a:latin typeface="Perpetua"/>
              <a:cs typeface="Perpetua"/>
            </a:endParaRPr>
          </a:p>
          <a:p>
            <a:pPr marL="515620" lvl="1" indent="-229235">
              <a:lnSpc>
                <a:spcPct val="100000"/>
              </a:lnSpc>
              <a:spcBef>
                <a:spcPts val="110"/>
              </a:spcBef>
              <a:buSzPct val="85416"/>
              <a:buFont typeface="Arial"/>
              <a:buChar char="•"/>
              <a:tabLst>
                <a:tab pos="515620" algn="l"/>
                <a:tab pos="516255" algn="l"/>
              </a:tabLst>
            </a:pPr>
            <a:r>
              <a:rPr sz="2400" dirty="0">
                <a:latin typeface="Perpetua"/>
                <a:cs typeface="Perpetua"/>
              </a:rPr>
              <a:t>(PI,</a:t>
            </a:r>
            <a:r>
              <a:rPr sz="2400" spc="-1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Cu(copper))</a:t>
            </a:r>
            <a:endParaRPr sz="2400">
              <a:latin typeface="Perpetua"/>
              <a:cs typeface="Perpetua"/>
            </a:endParaRPr>
          </a:p>
          <a:p>
            <a:pPr marL="515620" marR="51435" lvl="1" indent="-228600">
              <a:lnSpc>
                <a:spcPts val="2590"/>
              </a:lnSpc>
              <a:spcBef>
                <a:spcPts val="445"/>
              </a:spcBef>
              <a:buSzPct val="85416"/>
              <a:buFont typeface="Arial"/>
              <a:buChar char="•"/>
              <a:tabLst>
                <a:tab pos="515620" algn="l"/>
                <a:tab pos="516255" algn="l"/>
                <a:tab pos="3139440" algn="l"/>
              </a:tabLst>
            </a:pPr>
            <a:r>
              <a:rPr sz="2400" i="1" dirty="0">
                <a:latin typeface="Perpetua"/>
                <a:cs typeface="Perpetua"/>
              </a:rPr>
              <a:t>What </a:t>
            </a:r>
            <a:r>
              <a:rPr sz="2400" i="1" spc="-5" dirty="0">
                <a:latin typeface="Perpetua"/>
                <a:cs typeface="Perpetua"/>
              </a:rPr>
              <a:t>about</a:t>
            </a:r>
            <a:r>
              <a:rPr sz="2400" i="1" spc="10" dirty="0">
                <a:latin typeface="Perpetua"/>
                <a:cs typeface="Perpetua"/>
              </a:rPr>
              <a:t> </a:t>
            </a:r>
            <a:r>
              <a:rPr sz="2400" i="1" spc="-5" dirty="0">
                <a:latin typeface="Perpetua"/>
                <a:cs typeface="Perpetua"/>
              </a:rPr>
              <a:t>assigning</a:t>
            </a:r>
            <a:r>
              <a:rPr sz="2400" i="1" dirty="0">
                <a:latin typeface="Perpetua"/>
                <a:cs typeface="Perpetua"/>
              </a:rPr>
              <a:t> PI(	</a:t>
            </a:r>
            <a:r>
              <a:rPr sz="2400" i="1" spc="-5" dirty="0">
                <a:latin typeface="Perpetua"/>
                <a:cs typeface="Perpetua"/>
              </a:rPr>
              <a:t>)=24(hours of </a:t>
            </a:r>
            <a:r>
              <a:rPr sz="2400" i="1" dirty="0">
                <a:latin typeface="Perpetua"/>
                <a:cs typeface="Perpetua"/>
              </a:rPr>
              <a:t>a </a:t>
            </a:r>
            <a:r>
              <a:rPr sz="2400" i="1" spc="-5" dirty="0">
                <a:latin typeface="Perpetua"/>
                <a:cs typeface="Perpetua"/>
              </a:rPr>
              <a:t>day), Cu in chemistry </a:t>
            </a:r>
            <a:r>
              <a:rPr sz="2400" i="1" dirty="0">
                <a:latin typeface="Perpetua"/>
                <a:cs typeface="Perpetua"/>
              </a:rPr>
              <a:t>to represent  </a:t>
            </a:r>
            <a:r>
              <a:rPr sz="2400" i="1" spc="-5" dirty="0">
                <a:latin typeface="Perpetua"/>
                <a:cs typeface="Perpetua"/>
              </a:rPr>
              <a:t>metal</a:t>
            </a:r>
            <a:r>
              <a:rPr sz="2400" i="1" spc="-25" dirty="0">
                <a:latin typeface="Perpetua"/>
                <a:cs typeface="Perpetua"/>
              </a:rPr>
              <a:t> </a:t>
            </a:r>
            <a:r>
              <a:rPr sz="2400" i="1" dirty="0">
                <a:latin typeface="Perpetua"/>
                <a:cs typeface="Perpetua"/>
              </a:rPr>
              <a:t>gold?</a:t>
            </a:r>
            <a:endParaRPr sz="2400">
              <a:latin typeface="Perpetua"/>
              <a:cs typeface="Perpetua"/>
            </a:endParaRPr>
          </a:p>
          <a:p>
            <a:pPr marL="3971925" lvl="2" indent="-240665">
              <a:lnSpc>
                <a:spcPct val="100000"/>
              </a:lnSpc>
              <a:spcBef>
                <a:spcPts val="1245"/>
              </a:spcBef>
              <a:buSzPct val="95833"/>
              <a:buFont typeface="Wingdings"/>
              <a:buChar char=""/>
              <a:tabLst>
                <a:tab pos="3972560" algn="l"/>
              </a:tabLst>
            </a:pPr>
            <a:r>
              <a:rPr sz="2400" i="1" dirty="0">
                <a:latin typeface="Perpetua"/>
                <a:cs typeface="Perpetua"/>
              </a:rPr>
              <a:t>Spend a </a:t>
            </a:r>
            <a:r>
              <a:rPr sz="2400" i="1" spc="-15" dirty="0">
                <a:latin typeface="Perpetua"/>
                <a:cs typeface="Perpetua"/>
              </a:rPr>
              <a:t>few </a:t>
            </a:r>
            <a:r>
              <a:rPr sz="2400" i="1" dirty="0">
                <a:latin typeface="Perpetua"/>
                <a:cs typeface="Perpetua"/>
              </a:rPr>
              <a:t>minutes thinking about</a:t>
            </a:r>
            <a:r>
              <a:rPr sz="2400" i="1" spc="-15" dirty="0">
                <a:latin typeface="Perpetua"/>
                <a:cs typeface="Perpetua"/>
              </a:rPr>
              <a:t> your</a:t>
            </a:r>
            <a:endParaRPr sz="24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420560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0" spc="-5" dirty="0">
                <a:latin typeface="Perpetua"/>
                <a:cs typeface="Perpetua"/>
              </a:rPr>
              <a:t>Guidelines for</a:t>
            </a:r>
            <a:r>
              <a:rPr i="0" spc="10" dirty="0">
                <a:latin typeface="Perpetua"/>
                <a:cs typeface="Perpetua"/>
              </a:rPr>
              <a:t> </a:t>
            </a:r>
            <a:r>
              <a:rPr i="0" spc="-5" dirty="0">
                <a:latin typeface="Perpetua"/>
                <a:cs typeface="Perpetua"/>
              </a:rPr>
              <a:t>Naming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357544"/>
            <a:ext cx="8508365" cy="4050665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70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Names </a:t>
            </a:r>
            <a:r>
              <a:rPr sz="2600" spc="-5" dirty="0">
                <a:latin typeface="Perpetua"/>
                <a:cs typeface="Perpetua"/>
              </a:rPr>
              <a:t>should be</a:t>
            </a:r>
            <a:r>
              <a:rPr sz="2600" spc="-30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unique.</a:t>
            </a:r>
            <a:endParaRPr sz="26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One item </a:t>
            </a:r>
            <a:r>
              <a:rPr sz="2600" spc="-5" dirty="0">
                <a:latin typeface="Perpetua"/>
                <a:cs typeface="Perpetua"/>
              </a:rPr>
              <a:t>should not </a:t>
            </a:r>
            <a:r>
              <a:rPr sz="2600" spc="-35" dirty="0">
                <a:latin typeface="Perpetua"/>
                <a:cs typeface="Perpetua"/>
              </a:rPr>
              <a:t>have </a:t>
            </a:r>
            <a:r>
              <a:rPr sz="2600" spc="-10" dirty="0">
                <a:latin typeface="Perpetua"/>
                <a:cs typeface="Perpetua"/>
              </a:rPr>
              <a:t>more </a:t>
            </a:r>
            <a:r>
              <a:rPr sz="2600" dirty="0">
                <a:latin typeface="Perpetua"/>
                <a:cs typeface="Perpetua"/>
              </a:rPr>
              <a:t>than one</a:t>
            </a:r>
            <a:r>
              <a:rPr sz="2600" spc="-5" dirty="0">
                <a:latin typeface="Perpetua"/>
                <a:cs typeface="Perpetua"/>
              </a:rPr>
              <a:t> </a:t>
            </a:r>
            <a:r>
              <a:rPr sz="2600" spc="-15" dirty="0">
                <a:latin typeface="Perpetua"/>
                <a:cs typeface="Perpetua"/>
              </a:rPr>
              <a:t>name.</a:t>
            </a:r>
            <a:endParaRPr sz="2600">
              <a:latin typeface="Perpetua"/>
              <a:cs typeface="Perpetua"/>
            </a:endParaRPr>
          </a:p>
          <a:p>
            <a:pPr marL="286385" marR="5080" indent="-274320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  <a:tab pos="4920615" algn="l"/>
              </a:tabLst>
            </a:pPr>
            <a:r>
              <a:rPr sz="2600" spc="-80" dirty="0">
                <a:latin typeface="Perpetua"/>
                <a:cs typeface="Perpetua"/>
              </a:rPr>
              <a:t>Eg. </a:t>
            </a:r>
            <a:r>
              <a:rPr sz="2600" spc="-15" dirty="0">
                <a:latin typeface="Perpetua"/>
                <a:cs typeface="Perpetua"/>
              </a:rPr>
              <a:t>“</a:t>
            </a:r>
            <a:r>
              <a:rPr sz="2600" i="1" spc="-15" dirty="0">
                <a:latin typeface="Perpetua"/>
                <a:cs typeface="Perpetua"/>
              </a:rPr>
              <a:t>get </a:t>
            </a:r>
            <a:r>
              <a:rPr sz="2600" i="1" spc="-5" dirty="0">
                <a:latin typeface="Perpetua"/>
                <a:cs typeface="Perpetua"/>
              </a:rPr>
              <a:t>the data</a:t>
            </a:r>
            <a:r>
              <a:rPr sz="2600" spc="-5" dirty="0">
                <a:latin typeface="Perpetua"/>
                <a:cs typeface="Perpetua"/>
              </a:rPr>
              <a:t>”,using</a:t>
            </a:r>
            <a:r>
              <a:rPr sz="2600" spc="-7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multiple</a:t>
            </a:r>
            <a:r>
              <a:rPr sz="2600" spc="15" dirty="0">
                <a:latin typeface="Perpetua"/>
                <a:cs typeface="Perpetua"/>
              </a:rPr>
              <a:t> </a:t>
            </a:r>
            <a:r>
              <a:rPr sz="2600" spc="-20" dirty="0">
                <a:latin typeface="Perpetua"/>
                <a:cs typeface="Perpetua"/>
              </a:rPr>
              <a:t>words	</a:t>
            </a:r>
            <a:r>
              <a:rPr sz="2600" spc="-10" dirty="0">
                <a:latin typeface="Perpetua"/>
                <a:cs typeface="Perpetua"/>
              </a:rPr>
              <a:t>like</a:t>
            </a:r>
            <a:r>
              <a:rPr sz="2600" spc="-12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“l</a:t>
            </a:r>
            <a:r>
              <a:rPr sz="2600" i="1" spc="-5" dirty="0">
                <a:latin typeface="Perpetua"/>
                <a:cs typeface="Perpetua"/>
              </a:rPr>
              <a:t>oad</a:t>
            </a:r>
            <a:r>
              <a:rPr sz="2600" spc="-5" dirty="0">
                <a:latin typeface="Perpetua"/>
                <a:cs typeface="Perpetua"/>
              </a:rPr>
              <a:t>”,</a:t>
            </a:r>
            <a:r>
              <a:rPr sz="2600" spc="-225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“</a:t>
            </a:r>
            <a:r>
              <a:rPr sz="2600" i="1" spc="-10" dirty="0">
                <a:latin typeface="Perpetua"/>
                <a:cs typeface="Perpetua"/>
              </a:rPr>
              <a:t>fetch</a:t>
            </a:r>
            <a:r>
              <a:rPr sz="2600" spc="-10" dirty="0">
                <a:latin typeface="Perpetua"/>
                <a:cs typeface="Perpetua"/>
              </a:rPr>
              <a:t>”,</a:t>
            </a:r>
            <a:r>
              <a:rPr sz="2600" spc="-204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“</a:t>
            </a:r>
            <a:r>
              <a:rPr sz="2600" i="1" spc="-10" dirty="0">
                <a:latin typeface="Perpetua"/>
                <a:cs typeface="Perpetua"/>
              </a:rPr>
              <a:t>get</a:t>
            </a:r>
            <a:r>
              <a:rPr sz="2600" spc="-10" dirty="0">
                <a:latin typeface="Perpetua"/>
                <a:cs typeface="Perpetua"/>
              </a:rPr>
              <a:t>”</a:t>
            </a:r>
            <a:r>
              <a:rPr sz="2600" spc="-114" dirty="0">
                <a:latin typeface="Perpetua"/>
                <a:cs typeface="Perpetua"/>
              </a:rPr>
              <a:t> </a:t>
            </a:r>
            <a:r>
              <a:rPr sz="2600" spc="-35" dirty="0">
                <a:latin typeface="Perpetua"/>
                <a:cs typeface="Perpetua"/>
              </a:rPr>
              <a:t>may</a:t>
            </a:r>
            <a:r>
              <a:rPr sz="2600" spc="-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be  </a:t>
            </a:r>
            <a:r>
              <a:rPr sz="2600" spc="-30" dirty="0">
                <a:latin typeface="Perpetua"/>
                <a:cs typeface="Perpetua"/>
              </a:rPr>
              <a:t>confusing.</a:t>
            </a:r>
            <a:endParaRPr sz="2600">
              <a:latin typeface="Perpetua"/>
              <a:cs typeface="Perpetua"/>
            </a:endParaRPr>
          </a:p>
          <a:p>
            <a:pPr marL="286385" marR="719455" indent="-274320">
              <a:lnSpc>
                <a:spcPct val="100000"/>
              </a:lnSpc>
              <a:spcBef>
                <a:spcPts val="605"/>
              </a:spcBef>
              <a:buSzPct val="84615"/>
              <a:buFont typeface="Arial"/>
              <a:buChar char="•"/>
              <a:tabLst>
                <a:tab pos="337185" algn="l"/>
                <a:tab pos="337820" algn="l"/>
              </a:tabLst>
            </a:pPr>
            <a:r>
              <a:rPr dirty="0"/>
              <a:t>	</a:t>
            </a:r>
            <a:r>
              <a:rPr sz="2600" dirty="0">
                <a:latin typeface="Perpetua"/>
                <a:cs typeface="Perpetua"/>
              </a:rPr>
              <a:t>A name </a:t>
            </a:r>
            <a:r>
              <a:rPr sz="2600" spc="-5" dirty="0">
                <a:latin typeface="Perpetua"/>
                <a:cs typeface="Perpetua"/>
              </a:rPr>
              <a:t>should </a:t>
            </a:r>
            <a:r>
              <a:rPr sz="2600" dirty="0">
                <a:latin typeface="Perpetua"/>
                <a:cs typeface="Perpetua"/>
              </a:rPr>
              <a:t>be </a:t>
            </a:r>
            <a:r>
              <a:rPr sz="2600" spc="-5" dirty="0">
                <a:latin typeface="Perpetua"/>
                <a:cs typeface="Perpetua"/>
              </a:rPr>
              <a:t>descriptive. </a:t>
            </a:r>
            <a:r>
              <a:rPr sz="2600" spc="-80" dirty="0">
                <a:latin typeface="Perpetua"/>
                <a:cs typeface="Perpetua"/>
              </a:rPr>
              <a:t>Eg. </a:t>
            </a:r>
            <a:r>
              <a:rPr sz="2600" spc="-10" dirty="0">
                <a:latin typeface="Perpetua"/>
                <a:cs typeface="Perpetua"/>
              </a:rPr>
              <a:t>FileAgeInDays </a:t>
            </a:r>
            <a:r>
              <a:rPr sz="2600" dirty="0">
                <a:latin typeface="Perpetua"/>
                <a:cs typeface="Perpetua"/>
              </a:rPr>
              <a:t>is better</a:t>
            </a:r>
            <a:r>
              <a:rPr sz="2600" spc="-13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than  </a:t>
            </a:r>
            <a:r>
              <a:rPr sz="2600" spc="-10" dirty="0">
                <a:latin typeface="Perpetua"/>
                <a:cs typeface="Perpetua"/>
              </a:rPr>
              <a:t>“</a:t>
            </a:r>
            <a:r>
              <a:rPr sz="2600" i="1" spc="-10" dirty="0">
                <a:latin typeface="Perpetua"/>
                <a:cs typeface="Perpetua"/>
              </a:rPr>
              <a:t>faid</a:t>
            </a:r>
            <a:r>
              <a:rPr sz="2600" spc="-10" dirty="0">
                <a:latin typeface="Perpetua"/>
                <a:cs typeface="Perpetua"/>
              </a:rPr>
              <a:t>”.</a:t>
            </a:r>
            <a:endParaRPr sz="2600">
              <a:latin typeface="Perpetua"/>
              <a:cs typeface="Perpetua"/>
            </a:endParaRPr>
          </a:p>
          <a:p>
            <a:pPr marL="561340" lvl="1" indent="-228600">
              <a:lnSpc>
                <a:spcPct val="100000"/>
              </a:lnSpc>
              <a:spcBef>
                <a:spcPts val="395"/>
              </a:spcBef>
              <a:buSzPct val="84615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600" dirty="0">
                <a:latin typeface="Perpetua"/>
                <a:cs typeface="Perpetua"/>
              </a:rPr>
              <a:t>Descriptive names </a:t>
            </a:r>
            <a:r>
              <a:rPr sz="2600" spc="-5" dirty="0">
                <a:latin typeface="Perpetua"/>
                <a:cs typeface="Perpetua"/>
              </a:rPr>
              <a:t>reduce </a:t>
            </a:r>
            <a:r>
              <a:rPr sz="2600" dirty="0">
                <a:latin typeface="Perpetua"/>
                <a:cs typeface="Perpetua"/>
              </a:rPr>
              <a:t>confusion.</a:t>
            </a:r>
            <a:endParaRPr sz="2600">
              <a:latin typeface="Perpetua"/>
              <a:cs typeface="Perpetua"/>
            </a:endParaRPr>
          </a:p>
          <a:p>
            <a:pPr marL="561340" lvl="1" indent="-228600">
              <a:lnSpc>
                <a:spcPct val="100000"/>
              </a:lnSpc>
              <a:spcBef>
                <a:spcPts val="409"/>
              </a:spcBef>
              <a:buSzPct val="84615"/>
              <a:buFont typeface="Arial"/>
              <a:buChar char="•"/>
              <a:tabLst>
                <a:tab pos="560705" algn="l"/>
                <a:tab pos="561340" algn="l"/>
                <a:tab pos="4941570" algn="l"/>
              </a:tabLst>
            </a:pPr>
            <a:r>
              <a:rPr sz="2600" spc="-10" dirty="0">
                <a:latin typeface="Perpetua"/>
                <a:cs typeface="Perpetua"/>
              </a:rPr>
              <a:t>They </a:t>
            </a:r>
            <a:r>
              <a:rPr sz="2600" dirty="0">
                <a:latin typeface="Perpetua"/>
                <a:cs typeface="Perpetua"/>
              </a:rPr>
              <a:t>help us understand the</a:t>
            </a:r>
            <a:r>
              <a:rPr sz="2600" spc="5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role</a:t>
            </a:r>
            <a:r>
              <a:rPr sz="2600" spc="1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of	the item.</a:t>
            </a:r>
            <a:endParaRPr sz="2600">
              <a:latin typeface="Perpetua"/>
              <a:cs typeface="Perpetua"/>
            </a:endParaRPr>
          </a:p>
          <a:p>
            <a:pPr marL="561340" lvl="1" indent="-228600">
              <a:lnSpc>
                <a:spcPct val="100000"/>
              </a:lnSpc>
              <a:spcBef>
                <a:spcPts val="395"/>
              </a:spcBef>
              <a:buSzPct val="84615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600" spc="-10" dirty="0">
                <a:latin typeface="Perpetua"/>
                <a:cs typeface="Perpetua"/>
              </a:rPr>
              <a:t>They </a:t>
            </a:r>
            <a:r>
              <a:rPr sz="2600" dirty="0">
                <a:latin typeface="Perpetua"/>
                <a:cs typeface="Perpetua"/>
              </a:rPr>
              <a:t>help us </a:t>
            </a:r>
            <a:r>
              <a:rPr sz="2600" spc="-10" dirty="0">
                <a:latin typeface="Perpetua"/>
                <a:cs typeface="Perpetua"/>
              </a:rPr>
              <a:t>to </a:t>
            </a:r>
            <a:r>
              <a:rPr sz="2600" spc="5" dirty="0">
                <a:latin typeface="Perpetua"/>
                <a:cs typeface="Perpetua"/>
              </a:rPr>
              <a:t>understand </a:t>
            </a:r>
            <a:r>
              <a:rPr sz="2600" dirty="0">
                <a:latin typeface="Perpetua"/>
                <a:cs typeface="Perpetua"/>
              </a:rPr>
              <a:t>the content of the</a:t>
            </a:r>
            <a:r>
              <a:rPr sz="2600" spc="1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item.</a:t>
            </a:r>
            <a:endParaRPr sz="26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227901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55" dirty="0"/>
              <a:t>Try </a:t>
            </a:r>
            <a:r>
              <a:rPr spc="-5" dirty="0"/>
              <a:t>it</a:t>
            </a:r>
            <a:r>
              <a:rPr spc="95" dirty="0"/>
              <a:t> </a:t>
            </a:r>
            <a:r>
              <a:rPr spc="-10" dirty="0"/>
              <a:t>yourself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430477"/>
            <a:ext cx="8085455" cy="18091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6385" marR="5080" indent="-274320">
              <a:lnSpc>
                <a:spcPct val="100000"/>
              </a:lnSpc>
              <a:spcBef>
                <a:spcPts val="95"/>
              </a:spcBef>
              <a:buSzPct val="83928"/>
              <a:buFont typeface="Wingdings"/>
              <a:buChar char=""/>
              <a:tabLst>
                <a:tab pos="287020" algn="l"/>
                <a:tab pos="4836160" algn="l"/>
                <a:tab pos="6414135" algn="l"/>
                <a:tab pos="7297420" algn="l"/>
              </a:tabLst>
            </a:pPr>
            <a:r>
              <a:rPr sz="2800" i="1" spc="-5" dirty="0">
                <a:latin typeface="Perpetua"/>
                <a:cs typeface="Perpetua"/>
              </a:rPr>
              <a:t>Assume </a:t>
            </a:r>
            <a:r>
              <a:rPr sz="2800" i="1" spc="-10" dirty="0">
                <a:latin typeface="Perpetua"/>
                <a:cs typeface="Perpetua"/>
              </a:rPr>
              <a:t>that </a:t>
            </a:r>
            <a:r>
              <a:rPr sz="2800" i="1" spc="-5" dirty="0">
                <a:latin typeface="Perpetua"/>
                <a:cs typeface="Perpetua"/>
              </a:rPr>
              <a:t>a user need </a:t>
            </a:r>
            <a:r>
              <a:rPr sz="2800" i="1" dirty="0">
                <a:latin typeface="Perpetua"/>
                <a:cs typeface="Perpetua"/>
              </a:rPr>
              <a:t>to </a:t>
            </a:r>
            <a:r>
              <a:rPr sz="2800" i="1" spc="-15" dirty="0">
                <a:latin typeface="Perpetua"/>
                <a:cs typeface="Perpetua"/>
              </a:rPr>
              <a:t>create </a:t>
            </a:r>
            <a:r>
              <a:rPr sz="2800" i="1" spc="-5" dirty="0">
                <a:latin typeface="Perpetua"/>
                <a:cs typeface="Perpetua"/>
              </a:rPr>
              <a:t>an</a:t>
            </a:r>
            <a:r>
              <a:rPr sz="2800" i="1" spc="65" dirty="0">
                <a:latin typeface="Perpetua"/>
                <a:cs typeface="Perpetua"/>
              </a:rPr>
              <a:t> </a:t>
            </a:r>
            <a:r>
              <a:rPr sz="2800" i="1" spc="-5" dirty="0">
                <a:latin typeface="Perpetua"/>
                <a:cs typeface="Perpetua"/>
              </a:rPr>
              <a:t>e-mail</a:t>
            </a:r>
            <a:r>
              <a:rPr sz="2800" i="1" spc="5" dirty="0">
                <a:latin typeface="Perpetua"/>
                <a:cs typeface="Perpetua"/>
              </a:rPr>
              <a:t> </a:t>
            </a:r>
            <a:r>
              <a:rPr sz="2800" i="1" spc="-5" dirty="0">
                <a:latin typeface="Perpetua"/>
                <a:cs typeface="Perpetua"/>
              </a:rPr>
              <a:t>account.	List the </a:t>
            </a:r>
            <a:r>
              <a:rPr sz="2800" i="1" spc="-10" dirty="0">
                <a:latin typeface="Perpetua"/>
                <a:cs typeface="Perpetua"/>
              </a:rPr>
              <a:t>fields  </a:t>
            </a:r>
            <a:r>
              <a:rPr sz="2800" i="1" spc="-40" dirty="0">
                <a:latin typeface="Perpetua"/>
                <a:cs typeface="Perpetua"/>
              </a:rPr>
              <a:t>r</a:t>
            </a:r>
            <a:r>
              <a:rPr sz="2800" i="1" spc="-5" dirty="0">
                <a:latin typeface="Perpetua"/>
                <a:cs typeface="Perpetua"/>
              </a:rPr>
              <a:t>equi</a:t>
            </a:r>
            <a:r>
              <a:rPr sz="2800" i="1" spc="-35" dirty="0">
                <a:latin typeface="Perpetua"/>
                <a:cs typeface="Perpetua"/>
              </a:rPr>
              <a:t>r</a:t>
            </a:r>
            <a:r>
              <a:rPr sz="2800" i="1" spc="-5" dirty="0">
                <a:latin typeface="Perpetua"/>
                <a:cs typeface="Perpetua"/>
              </a:rPr>
              <a:t>ed </a:t>
            </a:r>
            <a:r>
              <a:rPr sz="2800" i="1" dirty="0">
                <a:latin typeface="Perpetua"/>
                <a:cs typeface="Perpetua"/>
              </a:rPr>
              <a:t>t</a:t>
            </a:r>
            <a:r>
              <a:rPr sz="2800" i="1" spc="-5" dirty="0">
                <a:latin typeface="Perpetua"/>
                <a:cs typeface="Perpetua"/>
              </a:rPr>
              <a:t>o </a:t>
            </a:r>
            <a:r>
              <a:rPr sz="2800" i="1" spc="-10" dirty="0">
                <a:latin typeface="Perpetua"/>
                <a:cs typeface="Perpetua"/>
              </a:rPr>
              <a:t>b</a:t>
            </a:r>
            <a:r>
              <a:rPr sz="2800" i="1" spc="-5" dirty="0">
                <a:latin typeface="Perpetua"/>
                <a:cs typeface="Perpetua"/>
              </a:rPr>
              <a:t>e</a:t>
            </a:r>
            <a:r>
              <a:rPr sz="2800" i="1" spc="-15" dirty="0">
                <a:latin typeface="Perpetua"/>
                <a:cs typeface="Perpetua"/>
              </a:rPr>
              <a:t> </a:t>
            </a:r>
            <a:r>
              <a:rPr sz="2800" i="1" spc="-10" dirty="0">
                <a:latin typeface="Perpetua"/>
                <a:cs typeface="Perpetua"/>
              </a:rPr>
              <a:t>fille</a:t>
            </a:r>
            <a:r>
              <a:rPr sz="2800" i="1" spc="-5" dirty="0">
                <a:latin typeface="Perpetua"/>
                <a:cs typeface="Perpetua"/>
              </a:rPr>
              <a:t>d</a:t>
            </a:r>
            <a:r>
              <a:rPr sz="2800" i="1" spc="10" dirty="0">
                <a:latin typeface="Perpetua"/>
                <a:cs typeface="Perpetua"/>
              </a:rPr>
              <a:t> </a:t>
            </a:r>
            <a:r>
              <a:rPr sz="2800" i="1" spc="-10" dirty="0">
                <a:latin typeface="Perpetua"/>
                <a:cs typeface="Perpetua"/>
              </a:rPr>
              <a:t>i</a:t>
            </a:r>
            <a:r>
              <a:rPr sz="2800" i="1" spc="-5" dirty="0">
                <a:latin typeface="Perpetua"/>
                <a:cs typeface="Perpetua"/>
              </a:rPr>
              <a:t>n </a:t>
            </a:r>
            <a:r>
              <a:rPr sz="2800" i="1" spc="-45" dirty="0">
                <a:latin typeface="Perpetua"/>
                <a:cs typeface="Perpetua"/>
              </a:rPr>
              <a:t>r</a:t>
            </a:r>
            <a:r>
              <a:rPr sz="2800" i="1" spc="-5" dirty="0">
                <a:latin typeface="Perpetua"/>
                <a:cs typeface="Perpetua"/>
              </a:rPr>
              <a:t>e</a:t>
            </a:r>
            <a:r>
              <a:rPr sz="2800" i="1" spc="20" dirty="0">
                <a:latin typeface="Perpetua"/>
                <a:cs typeface="Perpetua"/>
              </a:rPr>
              <a:t>g</a:t>
            </a:r>
            <a:r>
              <a:rPr sz="2800" i="1" spc="-10" dirty="0">
                <a:latin typeface="Perpetua"/>
                <a:cs typeface="Perpetua"/>
              </a:rPr>
              <a:t>ist</a:t>
            </a:r>
            <a:r>
              <a:rPr sz="2800" i="1" spc="-95" dirty="0">
                <a:latin typeface="Perpetua"/>
                <a:cs typeface="Perpetua"/>
              </a:rPr>
              <a:t>r</a:t>
            </a:r>
            <a:r>
              <a:rPr sz="2800" i="1" spc="-35" dirty="0">
                <a:latin typeface="Perpetua"/>
                <a:cs typeface="Perpetua"/>
              </a:rPr>
              <a:t>a</a:t>
            </a:r>
            <a:r>
              <a:rPr sz="2800" i="1" spc="-5" dirty="0">
                <a:latin typeface="Perpetua"/>
                <a:cs typeface="Perpetua"/>
              </a:rPr>
              <a:t>tion</a:t>
            </a:r>
            <a:r>
              <a:rPr sz="2800" i="1" spc="15" dirty="0">
                <a:latin typeface="Perpetua"/>
                <a:cs typeface="Perpetua"/>
              </a:rPr>
              <a:t> </a:t>
            </a:r>
            <a:r>
              <a:rPr sz="2800" i="1" spc="-55" dirty="0">
                <a:latin typeface="Perpetua"/>
                <a:cs typeface="Perpetua"/>
              </a:rPr>
              <a:t>f</a:t>
            </a:r>
            <a:r>
              <a:rPr sz="2800" i="1" spc="-10" dirty="0">
                <a:latin typeface="Perpetua"/>
                <a:cs typeface="Perpetua"/>
              </a:rPr>
              <a:t>o</a:t>
            </a:r>
            <a:r>
              <a:rPr sz="2800" i="1" spc="55" dirty="0">
                <a:latin typeface="Perpetua"/>
                <a:cs typeface="Perpetua"/>
              </a:rPr>
              <a:t>r</a:t>
            </a:r>
            <a:r>
              <a:rPr sz="2800" i="1" spc="-5" dirty="0">
                <a:latin typeface="Perpetua"/>
                <a:cs typeface="Perpetua"/>
              </a:rPr>
              <a:t>m and</a:t>
            </a:r>
            <a:r>
              <a:rPr sz="2800" i="1" spc="5" dirty="0">
                <a:latin typeface="Perpetua"/>
                <a:cs typeface="Perpetua"/>
              </a:rPr>
              <a:t> </a:t>
            </a:r>
            <a:r>
              <a:rPr sz="2800" i="1" spc="-5" dirty="0">
                <a:latin typeface="Perpetua"/>
                <a:cs typeface="Perpetua"/>
              </a:rPr>
              <a:t>sug</a:t>
            </a:r>
            <a:r>
              <a:rPr sz="2800" i="1" spc="-50" dirty="0">
                <a:latin typeface="Perpetua"/>
                <a:cs typeface="Perpetua"/>
              </a:rPr>
              <a:t>g</a:t>
            </a:r>
            <a:r>
              <a:rPr sz="2800" i="1" spc="-5" dirty="0">
                <a:latin typeface="Perpetua"/>
                <a:cs typeface="Perpetua"/>
              </a:rPr>
              <a:t>est</a:t>
            </a:r>
            <a:r>
              <a:rPr sz="2800" i="1" spc="-20" dirty="0">
                <a:latin typeface="Perpetua"/>
                <a:cs typeface="Perpetua"/>
              </a:rPr>
              <a:t> </a:t>
            </a:r>
            <a:r>
              <a:rPr sz="2800" i="1" spc="-5" dirty="0">
                <a:latin typeface="Perpetua"/>
                <a:cs typeface="Perpetua"/>
              </a:rPr>
              <a:t>suita</a:t>
            </a:r>
            <a:r>
              <a:rPr sz="2800" i="1" spc="-60" dirty="0">
                <a:latin typeface="Perpetua"/>
                <a:cs typeface="Perpetua"/>
              </a:rPr>
              <a:t>b</a:t>
            </a:r>
            <a:r>
              <a:rPr sz="2800" i="1" spc="-10" dirty="0">
                <a:latin typeface="Perpetua"/>
                <a:cs typeface="Perpetua"/>
              </a:rPr>
              <a:t>l</a:t>
            </a:r>
            <a:r>
              <a:rPr sz="2800" i="1" spc="-5" dirty="0">
                <a:latin typeface="Perpetua"/>
                <a:cs typeface="Perpetua"/>
              </a:rPr>
              <a:t>e</a:t>
            </a:r>
            <a:r>
              <a:rPr sz="2800" i="1" dirty="0">
                <a:latin typeface="Perpetua"/>
                <a:cs typeface="Perpetua"/>
              </a:rPr>
              <a:t>	</a:t>
            </a:r>
            <a:r>
              <a:rPr sz="2800" i="1" spc="-5" dirty="0">
                <a:latin typeface="Perpetua"/>
                <a:cs typeface="Perpetua"/>
              </a:rPr>
              <a:t>n</a:t>
            </a:r>
            <a:r>
              <a:rPr sz="2800" i="1" spc="-20" dirty="0">
                <a:latin typeface="Perpetua"/>
                <a:cs typeface="Perpetua"/>
              </a:rPr>
              <a:t>a</a:t>
            </a:r>
            <a:r>
              <a:rPr sz="2800" i="1" spc="-10" dirty="0">
                <a:latin typeface="Perpetua"/>
                <a:cs typeface="Perpetua"/>
              </a:rPr>
              <a:t>me</a:t>
            </a:r>
            <a:r>
              <a:rPr sz="2800" i="1" spc="-75" dirty="0">
                <a:latin typeface="Perpetua"/>
                <a:cs typeface="Perpetua"/>
              </a:rPr>
              <a:t>s</a:t>
            </a:r>
            <a:r>
              <a:rPr sz="2800" i="1" spc="-5" dirty="0">
                <a:latin typeface="Perpetua"/>
                <a:cs typeface="Perpetua"/>
              </a:rPr>
              <a:t>,  </a:t>
            </a:r>
            <a:r>
              <a:rPr sz="2800" i="1" spc="-10" dirty="0">
                <a:latin typeface="Perpetua"/>
                <a:cs typeface="Perpetua"/>
              </a:rPr>
              <a:t>datatype </a:t>
            </a:r>
            <a:r>
              <a:rPr sz="2800" i="1" spc="-20" dirty="0">
                <a:latin typeface="Perpetua"/>
                <a:cs typeface="Perpetua"/>
              </a:rPr>
              <a:t>(number, </a:t>
            </a:r>
            <a:r>
              <a:rPr sz="2800" i="1" spc="5" dirty="0">
                <a:latin typeface="Perpetua"/>
                <a:cs typeface="Perpetua"/>
              </a:rPr>
              <a:t>string,</a:t>
            </a:r>
            <a:r>
              <a:rPr sz="2800" i="1" spc="-490" dirty="0">
                <a:latin typeface="Perpetua"/>
                <a:cs typeface="Perpetua"/>
              </a:rPr>
              <a:t> </a:t>
            </a:r>
            <a:r>
              <a:rPr sz="2800" i="1" spc="-10" dirty="0">
                <a:latin typeface="Perpetua"/>
                <a:cs typeface="Perpetua"/>
              </a:rPr>
              <a:t>boolean)</a:t>
            </a:r>
            <a:r>
              <a:rPr sz="2800" i="1" spc="30" dirty="0">
                <a:latin typeface="Perpetua"/>
                <a:cs typeface="Perpetua"/>
              </a:rPr>
              <a:t> </a:t>
            </a:r>
            <a:r>
              <a:rPr sz="2800" i="1" spc="-5" dirty="0">
                <a:latin typeface="Perpetua"/>
                <a:cs typeface="Perpetua"/>
              </a:rPr>
              <a:t>and	</a:t>
            </a:r>
            <a:r>
              <a:rPr sz="2800" i="1" spc="-35" dirty="0">
                <a:latin typeface="Perpetua"/>
                <a:cs typeface="Perpetua"/>
              </a:rPr>
              <a:t>range </a:t>
            </a:r>
            <a:r>
              <a:rPr sz="2800" i="1" spc="-5" dirty="0">
                <a:latin typeface="Perpetua"/>
                <a:cs typeface="Perpetua"/>
              </a:rPr>
              <a:t>of</a:t>
            </a:r>
            <a:r>
              <a:rPr sz="2800" i="1" spc="25" dirty="0">
                <a:latin typeface="Perpetua"/>
                <a:cs typeface="Perpetua"/>
              </a:rPr>
              <a:t> </a:t>
            </a:r>
            <a:r>
              <a:rPr sz="2800" i="1" spc="-20" dirty="0">
                <a:latin typeface="Perpetua"/>
                <a:cs typeface="Perpetua"/>
              </a:rPr>
              <a:t>values</a:t>
            </a:r>
            <a:endParaRPr sz="2800">
              <a:latin typeface="Perpetua"/>
              <a:cs typeface="Perpetua"/>
            </a:endParaRPr>
          </a:p>
          <a:p>
            <a:pPr marL="250190">
              <a:lnSpc>
                <a:spcPct val="100000"/>
              </a:lnSpc>
              <a:spcBef>
                <a:spcPts val="605"/>
              </a:spcBef>
            </a:pPr>
            <a:r>
              <a:rPr sz="2800" i="1" spc="-20" dirty="0">
                <a:latin typeface="Perpetua"/>
                <a:cs typeface="Perpetua"/>
              </a:rPr>
              <a:t>for </a:t>
            </a:r>
            <a:r>
              <a:rPr sz="2800" i="1" spc="-5" dirty="0">
                <a:latin typeface="Perpetua"/>
                <a:cs typeface="Perpetua"/>
              </a:rPr>
              <a:t>the attributes (fields)</a:t>
            </a:r>
            <a:r>
              <a:rPr sz="2800" i="1" spc="15" dirty="0">
                <a:latin typeface="Perpetua"/>
                <a:cs typeface="Perpetua"/>
              </a:rPr>
              <a:t> </a:t>
            </a:r>
            <a:r>
              <a:rPr sz="2800" i="1" spc="-10" dirty="0">
                <a:latin typeface="Perpetua"/>
                <a:cs typeface="Perpetua"/>
              </a:rPr>
              <a:t>identified.</a:t>
            </a:r>
            <a:endParaRPr sz="2800">
              <a:latin typeface="Perpetua"/>
              <a:cs typeface="Perpet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94359" y="3693998"/>
            <a:ext cx="8185150" cy="0"/>
          </a:xfrm>
          <a:custGeom>
            <a:avLst/>
            <a:gdLst/>
            <a:ahLst/>
            <a:cxnLst/>
            <a:rect l="l" t="t" r="r" b="b"/>
            <a:pathLst>
              <a:path w="8185150">
                <a:moveTo>
                  <a:pt x="0" y="0"/>
                </a:moveTo>
                <a:lnTo>
                  <a:pt x="8185123" y="0"/>
                </a:lnTo>
              </a:path>
            </a:pathLst>
          </a:custGeom>
          <a:ln w="177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94359" y="4120718"/>
            <a:ext cx="8185150" cy="0"/>
          </a:xfrm>
          <a:custGeom>
            <a:avLst/>
            <a:gdLst/>
            <a:ahLst/>
            <a:cxnLst/>
            <a:rect l="l" t="t" r="r" b="b"/>
            <a:pathLst>
              <a:path w="8185150">
                <a:moveTo>
                  <a:pt x="0" y="0"/>
                </a:moveTo>
                <a:lnTo>
                  <a:pt x="8185123" y="0"/>
                </a:lnTo>
              </a:path>
            </a:pathLst>
          </a:custGeom>
          <a:ln w="177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94359" y="4547468"/>
            <a:ext cx="8185150" cy="0"/>
          </a:xfrm>
          <a:custGeom>
            <a:avLst/>
            <a:gdLst/>
            <a:ahLst/>
            <a:cxnLst/>
            <a:rect l="l" t="t" r="r" b="b"/>
            <a:pathLst>
              <a:path w="8185150">
                <a:moveTo>
                  <a:pt x="0" y="0"/>
                </a:moveTo>
                <a:lnTo>
                  <a:pt x="8185109" y="0"/>
                </a:lnTo>
              </a:path>
            </a:pathLst>
          </a:custGeom>
          <a:ln w="177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94359" y="4974538"/>
            <a:ext cx="8185150" cy="0"/>
          </a:xfrm>
          <a:custGeom>
            <a:avLst/>
            <a:gdLst/>
            <a:ahLst/>
            <a:cxnLst/>
            <a:rect l="l" t="t" r="r" b="b"/>
            <a:pathLst>
              <a:path w="8185150">
                <a:moveTo>
                  <a:pt x="0" y="0"/>
                </a:moveTo>
                <a:lnTo>
                  <a:pt x="8185123" y="0"/>
                </a:lnTo>
              </a:path>
            </a:pathLst>
          </a:custGeom>
          <a:ln w="177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94359" y="5401259"/>
            <a:ext cx="8185150" cy="0"/>
          </a:xfrm>
          <a:custGeom>
            <a:avLst/>
            <a:gdLst/>
            <a:ahLst/>
            <a:cxnLst/>
            <a:rect l="l" t="t" r="r" b="b"/>
            <a:pathLst>
              <a:path w="8185150">
                <a:moveTo>
                  <a:pt x="0" y="0"/>
                </a:moveTo>
                <a:lnTo>
                  <a:pt x="8185123" y="0"/>
                </a:lnTo>
              </a:path>
            </a:pathLst>
          </a:custGeom>
          <a:ln w="177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848600" y="451031"/>
            <a:ext cx="1132331" cy="8443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01111" y="803624"/>
            <a:ext cx="6144340" cy="465594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4132579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0" spc="-10" dirty="0">
                <a:latin typeface="Perpetua"/>
                <a:cs typeface="Perpetua"/>
              </a:rPr>
              <a:t>Proper name </a:t>
            </a:r>
            <a:r>
              <a:rPr i="0" spc="-5" dirty="0">
                <a:latin typeface="Perpetua"/>
                <a:cs typeface="Perpetua"/>
              </a:rPr>
              <a:t>selection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404569"/>
            <a:ext cx="8531225" cy="4294505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286385" marR="5080" indent="-274320" algn="just">
              <a:lnSpc>
                <a:spcPts val="2810"/>
              </a:lnSpc>
              <a:spcBef>
                <a:spcPts val="455"/>
              </a:spcBef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spc="-5" dirty="0">
                <a:latin typeface="Perpetua"/>
                <a:cs typeface="Perpetua"/>
              </a:rPr>
              <a:t>Computer </a:t>
            </a:r>
            <a:r>
              <a:rPr sz="2600" dirty="0">
                <a:latin typeface="Perpetua"/>
                <a:cs typeface="Perpetua"/>
              </a:rPr>
              <a:t>scientists </a:t>
            </a:r>
            <a:r>
              <a:rPr sz="2600" spc="-30" dirty="0">
                <a:latin typeface="Perpetua"/>
                <a:cs typeface="Perpetua"/>
              </a:rPr>
              <a:t>have </a:t>
            </a:r>
            <a:r>
              <a:rPr sz="2600" spc="-5" dirty="0">
                <a:latin typeface="Perpetua"/>
                <a:cs typeface="Perpetua"/>
              </a:rPr>
              <a:t>long recognized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5" dirty="0">
                <a:latin typeface="Perpetua"/>
                <a:cs typeface="Perpetua"/>
              </a:rPr>
              <a:t>critical importance </a:t>
            </a:r>
            <a:r>
              <a:rPr sz="2600" spc="-10" dirty="0">
                <a:latin typeface="Perpetua"/>
                <a:cs typeface="Perpetua"/>
              </a:rPr>
              <a:t>of  </a:t>
            </a:r>
            <a:r>
              <a:rPr sz="2600" dirty="0">
                <a:latin typeface="Perpetua"/>
                <a:cs typeface="Perpetua"/>
              </a:rPr>
              <a:t>choosing correct names </a:t>
            </a:r>
            <a:r>
              <a:rPr sz="2600" spc="-5" dirty="0">
                <a:latin typeface="Perpetua"/>
                <a:cs typeface="Perpetua"/>
              </a:rPr>
              <a:t>for </a:t>
            </a:r>
            <a:r>
              <a:rPr sz="2600" dirty="0">
                <a:latin typeface="Perpetua"/>
                <a:cs typeface="Perpetua"/>
              </a:rPr>
              <a:t>the elements </a:t>
            </a:r>
            <a:r>
              <a:rPr sz="2600" spc="-5" dirty="0">
                <a:latin typeface="Perpetua"/>
                <a:cs typeface="Perpetua"/>
              </a:rPr>
              <a:t>of </a:t>
            </a:r>
            <a:r>
              <a:rPr sz="2600" dirty="0">
                <a:latin typeface="Perpetua"/>
                <a:cs typeface="Perpetua"/>
              </a:rPr>
              <a:t>a</a:t>
            </a:r>
            <a:r>
              <a:rPr sz="2600" spc="-2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program.</a:t>
            </a:r>
            <a:endParaRPr sz="2600">
              <a:latin typeface="Perpetua"/>
              <a:cs typeface="Perpetua"/>
            </a:endParaRPr>
          </a:p>
          <a:p>
            <a:pPr marL="286385" marR="5080" indent="-274320" algn="just">
              <a:lnSpc>
                <a:spcPts val="281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spc="-5" dirty="0">
                <a:latin typeface="Perpetua"/>
                <a:cs typeface="Perpetua"/>
              </a:rPr>
              <a:t>Computer scientists </a:t>
            </a:r>
            <a:r>
              <a:rPr sz="2600" dirty="0">
                <a:latin typeface="Perpetua"/>
                <a:cs typeface="Perpetua"/>
              </a:rPr>
              <a:t>also </a:t>
            </a:r>
            <a:r>
              <a:rPr sz="2600" spc="-5" dirty="0">
                <a:latin typeface="Perpetua"/>
                <a:cs typeface="Perpetua"/>
              </a:rPr>
              <a:t>recognize </a:t>
            </a:r>
            <a:r>
              <a:rPr sz="2600" spc="-10" dirty="0">
                <a:latin typeface="Perpetua"/>
                <a:cs typeface="Perpetua"/>
              </a:rPr>
              <a:t>that </a:t>
            </a:r>
            <a:r>
              <a:rPr sz="2600" dirty="0">
                <a:latin typeface="Perpetua"/>
                <a:cs typeface="Perpetua"/>
              </a:rPr>
              <a:t>a set </a:t>
            </a:r>
            <a:r>
              <a:rPr sz="2600" spc="-5" dirty="0">
                <a:latin typeface="Perpetua"/>
                <a:cs typeface="Perpetua"/>
              </a:rPr>
              <a:t>of </a:t>
            </a:r>
            <a:r>
              <a:rPr sz="2600" spc="-10" dirty="0">
                <a:latin typeface="Perpetua"/>
                <a:cs typeface="Perpetua"/>
              </a:rPr>
              <a:t>well-named  </a:t>
            </a:r>
            <a:r>
              <a:rPr sz="2600" dirty="0">
                <a:latin typeface="Perpetua"/>
                <a:cs typeface="Perpetua"/>
              </a:rPr>
              <a:t>programming elements </a:t>
            </a:r>
            <a:r>
              <a:rPr sz="2600" spc="-20" dirty="0">
                <a:latin typeface="Perpetua"/>
                <a:cs typeface="Perpetua"/>
              </a:rPr>
              <a:t>shows </a:t>
            </a:r>
            <a:r>
              <a:rPr sz="2600" dirty="0">
                <a:latin typeface="Perpetua"/>
                <a:cs typeface="Perpetua"/>
              </a:rPr>
              <a:t>a mastery </a:t>
            </a:r>
            <a:r>
              <a:rPr sz="2600" spc="-5" dirty="0">
                <a:latin typeface="Perpetua"/>
                <a:cs typeface="Perpetua"/>
              </a:rPr>
              <a:t>of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5" dirty="0">
                <a:latin typeface="Perpetua"/>
                <a:cs typeface="Perpetua"/>
              </a:rPr>
              <a:t>logic </a:t>
            </a:r>
            <a:r>
              <a:rPr sz="2600" spc="-5" dirty="0">
                <a:latin typeface="Perpetua"/>
                <a:cs typeface="Perpetua"/>
              </a:rPr>
              <a:t>and </a:t>
            </a:r>
            <a:r>
              <a:rPr sz="2600" spc="-10" dirty="0">
                <a:latin typeface="Perpetua"/>
                <a:cs typeface="Perpetua"/>
              </a:rPr>
              <a:t>nature </a:t>
            </a:r>
            <a:r>
              <a:rPr sz="2600" spc="-5" dirty="0">
                <a:latin typeface="Perpetua"/>
                <a:cs typeface="Perpetua"/>
              </a:rPr>
              <a:t>of 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10" dirty="0">
                <a:latin typeface="Perpetua"/>
                <a:cs typeface="Perpetua"/>
              </a:rPr>
              <a:t>underlying</a:t>
            </a:r>
            <a:r>
              <a:rPr sz="2600" spc="-1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computation.</a:t>
            </a:r>
            <a:endParaRPr sz="2600">
              <a:latin typeface="Perpetua"/>
              <a:cs typeface="Perpetua"/>
            </a:endParaRPr>
          </a:p>
          <a:p>
            <a:pPr marL="286385" marR="7620" indent="-274320" algn="just">
              <a:lnSpc>
                <a:spcPts val="2810"/>
              </a:lnSpc>
              <a:spcBef>
                <a:spcPts val="595"/>
              </a:spcBef>
              <a:buSzPct val="84615"/>
              <a:buFont typeface="Arial"/>
              <a:buChar char="•"/>
              <a:tabLst>
                <a:tab pos="337820" algn="l"/>
              </a:tabLst>
            </a:pPr>
            <a:r>
              <a:rPr dirty="0"/>
              <a:t>	</a:t>
            </a:r>
            <a:r>
              <a:rPr sz="2600" dirty="0">
                <a:latin typeface="Perpetua"/>
                <a:cs typeface="Perpetua"/>
              </a:rPr>
              <a:t>An </a:t>
            </a:r>
            <a:r>
              <a:rPr sz="2600" spc="-5" dirty="0">
                <a:latin typeface="Perpetua"/>
                <a:cs typeface="Perpetua"/>
              </a:rPr>
              <a:t>element </a:t>
            </a:r>
            <a:r>
              <a:rPr sz="2600" dirty="0">
                <a:latin typeface="Perpetua"/>
                <a:cs typeface="Perpetua"/>
              </a:rPr>
              <a:t>is </a:t>
            </a:r>
            <a:r>
              <a:rPr sz="2600" spc="-25" dirty="0">
                <a:latin typeface="Perpetua"/>
                <a:cs typeface="Perpetua"/>
              </a:rPr>
              <a:t>well </a:t>
            </a:r>
            <a:r>
              <a:rPr sz="2600" spc="-5" dirty="0">
                <a:latin typeface="Perpetua"/>
                <a:cs typeface="Perpetua"/>
              </a:rPr>
              <a:t>named </a:t>
            </a:r>
            <a:r>
              <a:rPr sz="2600" dirty="0">
                <a:latin typeface="Perpetua"/>
                <a:cs typeface="Perpetua"/>
              </a:rPr>
              <a:t>if the </a:t>
            </a:r>
            <a:r>
              <a:rPr sz="2600" spc="-5" dirty="0">
                <a:latin typeface="Perpetua"/>
                <a:cs typeface="Perpetua"/>
              </a:rPr>
              <a:t>name descriptively and </a:t>
            </a:r>
            <a:r>
              <a:rPr sz="2600" spc="-10" dirty="0">
                <a:latin typeface="Perpetua"/>
                <a:cs typeface="Perpetua"/>
              </a:rPr>
              <a:t>correctly  </a:t>
            </a:r>
            <a:r>
              <a:rPr sz="2600" spc="-5" dirty="0">
                <a:latin typeface="Perpetua"/>
                <a:cs typeface="Perpetua"/>
              </a:rPr>
              <a:t>reflects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central essence of </a:t>
            </a:r>
            <a:r>
              <a:rPr sz="2600" dirty="0">
                <a:latin typeface="Perpetua"/>
                <a:cs typeface="Perpetua"/>
              </a:rPr>
              <a:t>the</a:t>
            </a:r>
            <a:r>
              <a:rPr sz="2600" spc="-2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element.</a:t>
            </a:r>
            <a:endParaRPr sz="2600">
              <a:latin typeface="Perpetua"/>
              <a:cs typeface="Perpetua"/>
            </a:endParaRPr>
          </a:p>
          <a:p>
            <a:pPr marL="286385" marR="5080" indent="-274320" algn="just">
              <a:lnSpc>
                <a:spcPts val="281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spc="-5" dirty="0">
                <a:latin typeface="Perpetua"/>
                <a:cs typeface="Perpetua"/>
              </a:rPr>
              <a:t>Proper naming thus </a:t>
            </a:r>
            <a:r>
              <a:rPr sz="2600" spc="-10" dirty="0">
                <a:latin typeface="Perpetua"/>
                <a:cs typeface="Perpetua"/>
              </a:rPr>
              <a:t>enables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-5" dirty="0">
                <a:latin typeface="Perpetua"/>
                <a:cs typeface="Perpetua"/>
              </a:rPr>
              <a:t>computer scientist to </a:t>
            </a:r>
            <a:r>
              <a:rPr sz="2600" spc="-10" dirty="0">
                <a:latin typeface="Perpetua"/>
                <a:cs typeface="Perpetua"/>
              </a:rPr>
              <a:t>more clearly  </a:t>
            </a:r>
            <a:r>
              <a:rPr sz="2600" spc="-5" dirty="0">
                <a:latin typeface="Perpetua"/>
                <a:cs typeface="Perpetua"/>
              </a:rPr>
              <a:t>reason about </a:t>
            </a:r>
            <a:r>
              <a:rPr sz="2600" dirty="0">
                <a:latin typeface="Perpetua"/>
                <a:cs typeface="Perpetua"/>
              </a:rPr>
              <a:t>the algorithm </a:t>
            </a:r>
            <a:r>
              <a:rPr sz="2600" spc="-5" dirty="0">
                <a:latin typeface="Perpetua"/>
                <a:cs typeface="Perpetua"/>
              </a:rPr>
              <a:t>and </a:t>
            </a:r>
            <a:r>
              <a:rPr sz="2600" spc="-10" dirty="0">
                <a:latin typeface="Perpetua"/>
                <a:cs typeface="Perpetua"/>
              </a:rPr>
              <a:t>data </a:t>
            </a:r>
            <a:r>
              <a:rPr sz="2600" spc="-5" dirty="0">
                <a:latin typeface="Perpetua"/>
                <a:cs typeface="Perpetua"/>
              </a:rPr>
              <a:t>of </a:t>
            </a:r>
            <a:r>
              <a:rPr sz="2600" dirty="0">
                <a:latin typeface="Perpetua"/>
                <a:cs typeface="Perpetua"/>
              </a:rPr>
              <a:t>the</a:t>
            </a:r>
            <a:r>
              <a:rPr sz="2600" spc="1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program.</a:t>
            </a:r>
            <a:endParaRPr sz="2600">
              <a:latin typeface="Perpetua"/>
              <a:cs typeface="Perpetua"/>
            </a:endParaRPr>
          </a:p>
          <a:p>
            <a:pPr marL="286385" marR="7620" indent="-274320" algn="just">
              <a:lnSpc>
                <a:spcPts val="2810"/>
              </a:lnSpc>
              <a:spcBef>
                <a:spcPts val="595"/>
              </a:spcBef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spc="-30" dirty="0">
                <a:latin typeface="Perpetua"/>
                <a:cs typeface="Perpetua"/>
              </a:rPr>
              <a:t>Poorly </a:t>
            </a:r>
            <a:r>
              <a:rPr sz="2600" spc="-5" dirty="0">
                <a:latin typeface="Perpetua"/>
                <a:cs typeface="Perpetua"/>
              </a:rPr>
              <a:t>named </a:t>
            </a:r>
            <a:r>
              <a:rPr sz="2600" dirty="0">
                <a:latin typeface="Perpetua"/>
                <a:cs typeface="Perpetua"/>
              </a:rPr>
              <a:t>program elements </a:t>
            </a:r>
            <a:r>
              <a:rPr sz="2600" spc="-5" dirty="0">
                <a:latin typeface="Perpetua"/>
                <a:cs typeface="Perpetua"/>
              </a:rPr>
              <a:t>reflect </a:t>
            </a:r>
            <a:r>
              <a:rPr sz="2600" dirty="0">
                <a:latin typeface="Perpetua"/>
                <a:cs typeface="Perpetua"/>
              </a:rPr>
              <a:t>a confused understanding </a:t>
            </a:r>
            <a:r>
              <a:rPr sz="2600" spc="-5" dirty="0">
                <a:latin typeface="Perpetua"/>
                <a:cs typeface="Perpetua"/>
              </a:rPr>
              <a:t>of  </a:t>
            </a:r>
            <a:r>
              <a:rPr sz="2600" dirty="0">
                <a:latin typeface="Perpetua"/>
                <a:cs typeface="Perpetua"/>
              </a:rPr>
              <a:t>the elements </a:t>
            </a:r>
            <a:r>
              <a:rPr sz="2600" spc="-5" dirty="0">
                <a:latin typeface="Perpetua"/>
                <a:cs typeface="Perpetua"/>
              </a:rPr>
              <a:t>and also </a:t>
            </a:r>
            <a:r>
              <a:rPr sz="2600" spc="-15" dirty="0">
                <a:latin typeface="Perpetua"/>
                <a:cs typeface="Perpetua"/>
              </a:rPr>
              <a:t>make </a:t>
            </a:r>
            <a:r>
              <a:rPr sz="2600" spc="-5" dirty="0">
                <a:latin typeface="Perpetua"/>
                <a:cs typeface="Perpetua"/>
              </a:rPr>
              <a:t>clear-headed reasoning </a:t>
            </a:r>
            <a:r>
              <a:rPr sz="2600" spc="-10" dirty="0">
                <a:latin typeface="Perpetua"/>
                <a:cs typeface="Perpetua"/>
              </a:rPr>
              <a:t>more</a:t>
            </a:r>
            <a:r>
              <a:rPr sz="2600" spc="-1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difficult.</a:t>
            </a:r>
            <a:endParaRPr sz="26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561022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0" spc="-10" dirty="0">
                <a:latin typeface="Perpetua"/>
                <a:cs typeface="Perpetua"/>
              </a:rPr>
              <a:t>Proper name </a:t>
            </a:r>
            <a:r>
              <a:rPr i="0" spc="-5" dirty="0">
                <a:latin typeface="Perpetua"/>
                <a:cs typeface="Perpetua"/>
              </a:rPr>
              <a:t>selection</a:t>
            </a:r>
            <a:r>
              <a:rPr i="0" spc="40" dirty="0">
                <a:latin typeface="Perpetua"/>
                <a:cs typeface="Perpetua"/>
              </a:rPr>
              <a:t> </a:t>
            </a:r>
            <a:r>
              <a:rPr spc="-5" dirty="0"/>
              <a:t>contd</a:t>
            </a:r>
            <a:r>
              <a:rPr i="0" spc="-5" dirty="0">
                <a:latin typeface="Perpetua"/>
                <a:cs typeface="Perpetua"/>
              </a:rPr>
              <a:t>---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288290" indent="-274320">
              <a:lnSpc>
                <a:spcPct val="100000"/>
              </a:lnSpc>
              <a:spcBef>
                <a:spcPts val="705"/>
              </a:spcBef>
              <a:buSzPct val="84615"/>
              <a:buFont typeface="Wingdings"/>
              <a:buChar char=""/>
              <a:tabLst>
                <a:tab pos="288290" algn="l"/>
              </a:tabLst>
            </a:pPr>
            <a:r>
              <a:rPr dirty="0"/>
              <a:t>Appropriate </a:t>
            </a:r>
            <a:r>
              <a:rPr spc="-5" dirty="0"/>
              <a:t>choices of names </a:t>
            </a:r>
            <a:r>
              <a:rPr spc="-10" dirty="0"/>
              <a:t>are </a:t>
            </a:r>
            <a:r>
              <a:rPr spc="-5" dirty="0"/>
              <a:t>keystone </a:t>
            </a:r>
            <a:r>
              <a:rPr spc="-15" dirty="0"/>
              <a:t>for </a:t>
            </a:r>
            <a:r>
              <a:rPr spc="-10" dirty="0"/>
              <a:t>good</a:t>
            </a:r>
            <a:r>
              <a:rPr dirty="0"/>
              <a:t> </a:t>
            </a:r>
            <a:r>
              <a:rPr spc="-5" dirty="0"/>
              <a:t>style.</a:t>
            </a:r>
          </a:p>
          <a:p>
            <a:pPr marL="288290" indent="-274320">
              <a:lnSpc>
                <a:spcPct val="100000"/>
              </a:lnSpc>
              <a:spcBef>
                <a:spcPts val="600"/>
              </a:spcBef>
              <a:buSzPct val="84615"/>
              <a:buFont typeface="Wingdings"/>
              <a:buChar char=""/>
              <a:tabLst>
                <a:tab pos="288290" algn="l"/>
              </a:tabLst>
            </a:pPr>
            <a:r>
              <a:rPr spc="-30" dirty="0"/>
              <a:t>Poor </a:t>
            </a:r>
            <a:r>
              <a:rPr spc="-5" dirty="0"/>
              <a:t>naming makes </a:t>
            </a:r>
            <a:r>
              <a:rPr dirty="0"/>
              <a:t>is </a:t>
            </a:r>
            <a:r>
              <a:rPr spc="-5" dirty="0"/>
              <a:t>difficult to understand </a:t>
            </a:r>
            <a:r>
              <a:rPr dirty="0"/>
              <a:t>(leads </a:t>
            </a:r>
            <a:r>
              <a:rPr spc="-5" dirty="0"/>
              <a:t>to</a:t>
            </a:r>
            <a:r>
              <a:rPr spc="45" dirty="0"/>
              <a:t> </a:t>
            </a:r>
            <a:r>
              <a:rPr spc="-5" dirty="0"/>
              <a:t>confusion).</a:t>
            </a:r>
          </a:p>
          <a:p>
            <a:pPr marL="287655" marR="5080" indent="-274320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7655" algn="l"/>
                <a:tab pos="288290" algn="l"/>
                <a:tab pos="662940" algn="l"/>
                <a:tab pos="1176655" algn="l"/>
                <a:tab pos="3679190" algn="l"/>
                <a:tab pos="4054475" algn="l"/>
                <a:tab pos="6510020" algn="l"/>
                <a:tab pos="7141209" algn="l"/>
              </a:tabLst>
            </a:pPr>
            <a:r>
              <a:rPr i="0" spc="-5" dirty="0">
                <a:latin typeface="Perpetua"/>
                <a:cs typeface="Perpetua"/>
              </a:rPr>
              <a:t>I</a:t>
            </a:r>
            <a:r>
              <a:rPr i="0" dirty="0">
                <a:latin typeface="Perpetua"/>
                <a:cs typeface="Perpetua"/>
              </a:rPr>
              <a:t>n	the	Fig</a:t>
            </a:r>
            <a:r>
              <a:rPr i="0" spc="-15" dirty="0">
                <a:latin typeface="Perpetua"/>
                <a:cs typeface="Perpetua"/>
              </a:rPr>
              <a:t>u</a:t>
            </a:r>
            <a:r>
              <a:rPr i="0" spc="-5" dirty="0">
                <a:latin typeface="Perpetua"/>
                <a:cs typeface="Perpetua"/>
              </a:rPr>
              <a:t>r</a:t>
            </a:r>
            <a:r>
              <a:rPr i="0" spc="-10" dirty="0">
                <a:latin typeface="Perpetua"/>
                <a:cs typeface="Perpetua"/>
              </a:rPr>
              <a:t>e</a:t>
            </a:r>
            <a:r>
              <a:rPr i="0" dirty="0">
                <a:latin typeface="Perpetua"/>
                <a:cs typeface="Perpetua"/>
              </a:rPr>
              <a:t>: </a:t>
            </a:r>
            <a:r>
              <a:rPr i="0" spc="-195" dirty="0">
                <a:latin typeface="Perpetua"/>
                <a:cs typeface="Perpetua"/>
              </a:rPr>
              <a:t> </a:t>
            </a:r>
            <a:r>
              <a:rPr i="0" dirty="0">
                <a:latin typeface="Perpetua"/>
                <a:cs typeface="Perpetua"/>
              </a:rPr>
              <a:t>Im</a:t>
            </a:r>
            <a:r>
              <a:rPr i="0" spc="-10" dirty="0">
                <a:latin typeface="Perpetua"/>
                <a:cs typeface="Perpetua"/>
              </a:rPr>
              <a:t>p</a:t>
            </a:r>
            <a:r>
              <a:rPr i="0" dirty="0">
                <a:latin typeface="Perpetua"/>
                <a:cs typeface="Perpetua"/>
              </a:rPr>
              <a:t>o</a:t>
            </a:r>
            <a:r>
              <a:rPr i="0" spc="90" dirty="0">
                <a:latin typeface="Perpetua"/>
                <a:cs typeface="Perpetua"/>
              </a:rPr>
              <a:t>r</a:t>
            </a:r>
            <a:r>
              <a:rPr i="0" dirty="0">
                <a:latin typeface="Perpetua"/>
                <a:cs typeface="Perpetua"/>
              </a:rPr>
              <a:t>tance	</a:t>
            </a:r>
            <a:r>
              <a:rPr i="0" spc="-5" dirty="0">
                <a:latin typeface="Perpetua"/>
                <a:cs typeface="Perpetua"/>
              </a:rPr>
              <a:t>o</a:t>
            </a:r>
            <a:r>
              <a:rPr i="0" dirty="0">
                <a:latin typeface="Perpetua"/>
                <a:cs typeface="Perpetua"/>
              </a:rPr>
              <a:t>f	namin</a:t>
            </a:r>
            <a:r>
              <a:rPr i="0" spc="-40" dirty="0">
                <a:latin typeface="Perpetua"/>
                <a:cs typeface="Perpetua"/>
              </a:rPr>
              <a:t>g</a:t>
            </a:r>
            <a:r>
              <a:rPr i="0" dirty="0">
                <a:latin typeface="Perpetua"/>
                <a:cs typeface="Perpetua"/>
              </a:rPr>
              <a:t>, </a:t>
            </a:r>
            <a:r>
              <a:rPr i="0" spc="-190" dirty="0">
                <a:latin typeface="Perpetua"/>
                <a:cs typeface="Perpetua"/>
              </a:rPr>
              <a:t> </a:t>
            </a:r>
            <a:r>
              <a:rPr spc="-5" dirty="0"/>
              <a:t>A</a:t>
            </a:r>
            <a:r>
              <a:rPr spc="5" dirty="0"/>
              <a:t>l</a:t>
            </a:r>
            <a:r>
              <a:rPr spc="-35" dirty="0"/>
              <a:t>g</a:t>
            </a:r>
            <a:r>
              <a:rPr spc="-5" dirty="0"/>
              <a:t>o</a:t>
            </a:r>
            <a:r>
              <a:rPr spc="50" dirty="0"/>
              <a:t>r</a:t>
            </a:r>
            <a:r>
              <a:rPr spc="-5" dirty="0"/>
              <a:t>ith</a:t>
            </a:r>
            <a:r>
              <a:rPr spc="15" dirty="0"/>
              <a:t>m</a:t>
            </a:r>
            <a:r>
              <a:rPr dirty="0"/>
              <a:t>2	</a:t>
            </a:r>
            <a:r>
              <a:rPr i="0" dirty="0">
                <a:latin typeface="Perpetua"/>
                <a:cs typeface="Perpetua"/>
              </a:rPr>
              <a:t>uses	</a:t>
            </a:r>
            <a:r>
              <a:rPr i="0" spc="-5" dirty="0">
                <a:latin typeface="Perpetua"/>
                <a:cs typeface="Perpetua"/>
              </a:rPr>
              <a:t>ap</a:t>
            </a:r>
            <a:r>
              <a:rPr i="0" spc="-15" dirty="0">
                <a:latin typeface="Perpetua"/>
                <a:cs typeface="Perpetua"/>
              </a:rPr>
              <a:t>p</a:t>
            </a:r>
            <a:r>
              <a:rPr i="0" spc="-35" dirty="0">
                <a:latin typeface="Perpetua"/>
                <a:cs typeface="Perpetua"/>
              </a:rPr>
              <a:t>r</a:t>
            </a:r>
            <a:r>
              <a:rPr i="0" dirty="0">
                <a:latin typeface="Perpetua"/>
                <a:cs typeface="Perpetua"/>
              </a:rPr>
              <a:t>o</a:t>
            </a:r>
            <a:r>
              <a:rPr i="0" spc="-15" dirty="0">
                <a:latin typeface="Perpetua"/>
                <a:cs typeface="Perpetua"/>
              </a:rPr>
              <a:t>p</a:t>
            </a:r>
            <a:r>
              <a:rPr i="0" spc="45" dirty="0">
                <a:latin typeface="Perpetua"/>
                <a:cs typeface="Perpetua"/>
              </a:rPr>
              <a:t>r</a:t>
            </a:r>
            <a:r>
              <a:rPr i="0" dirty="0">
                <a:latin typeface="Perpetua"/>
                <a:cs typeface="Perpetua"/>
              </a:rPr>
              <a:t>i</a:t>
            </a:r>
            <a:r>
              <a:rPr i="0" spc="-25" dirty="0">
                <a:latin typeface="Perpetua"/>
                <a:cs typeface="Perpetua"/>
              </a:rPr>
              <a:t>a</a:t>
            </a:r>
            <a:r>
              <a:rPr i="0" dirty="0">
                <a:latin typeface="Perpetua"/>
                <a:cs typeface="Perpetua"/>
              </a:rPr>
              <a:t>te  </a:t>
            </a:r>
            <a:r>
              <a:rPr i="0" spc="-10" dirty="0">
                <a:latin typeface="Perpetua"/>
                <a:cs typeface="Perpetua"/>
              </a:rPr>
              <a:t>names.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12140" y="3344036"/>
            <a:ext cx="12230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spc="-5" dirty="0">
                <a:latin typeface="Perpetua"/>
                <a:cs typeface="Perpetua"/>
              </a:rPr>
              <a:t>Algorithm</a:t>
            </a:r>
            <a:r>
              <a:rPr sz="2400" i="1" spc="-45" dirty="0">
                <a:latin typeface="Perpetua"/>
                <a:cs typeface="Perpetua"/>
              </a:rPr>
              <a:t> </a:t>
            </a:r>
            <a:r>
              <a:rPr sz="2400" i="1" dirty="0">
                <a:latin typeface="Perpetua"/>
                <a:cs typeface="Perpetua"/>
              </a:rPr>
              <a:t>1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2140" y="4075252"/>
            <a:ext cx="3404870" cy="1855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750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298450" algn="l"/>
              </a:tabLst>
            </a:pPr>
            <a:r>
              <a:rPr sz="2400" spc="-5" dirty="0">
                <a:latin typeface="Perpetua"/>
                <a:cs typeface="Perpetua"/>
              </a:rPr>
              <a:t>Get</a:t>
            </a:r>
            <a:r>
              <a:rPr sz="2400" spc="-15" dirty="0">
                <a:latin typeface="Perpetua"/>
                <a:cs typeface="Perpetua"/>
              </a:rPr>
              <a:t> </a:t>
            </a:r>
            <a:r>
              <a:rPr sz="2400" spc="-35" dirty="0">
                <a:latin typeface="Perpetua"/>
                <a:cs typeface="Perpetua"/>
              </a:rPr>
              <a:t>a,b,c</a:t>
            </a:r>
            <a:endParaRPr sz="2400">
              <a:latin typeface="Perpetua"/>
              <a:cs typeface="Perpetua"/>
            </a:endParaRPr>
          </a:p>
          <a:p>
            <a:pPr marL="298450" marR="5080" indent="-298450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298450" algn="l"/>
              </a:tabLst>
            </a:pPr>
            <a:r>
              <a:rPr sz="2400" dirty="0">
                <a:latin typeface="Perpetua"/>
                <a:cs typeface="Perpetua"/>
              </a:rPr>
              <a:t>If </a:t>
            </a:r>
            <a:r>
              <a:rPr sz="2400" spc="-5" dirty="0">
                <a:latin typeface="Perpetua"/>
                <a:cs typeface="Perpetua"/>
              </a:rPr>
              <a:t>a&lt;24 and </a:t>
            </a:r>
            <a:r>
              <a:rPr sz="2400" dirty="0">
                <a:latin typeface="Perpetua"/>
                <a:cs typeface="Perpetua"/>
              </a:rPr>
              <a:t>b&lt;60 </a:t>
            </a:r>
            <a:r>
              <a:rPr sz="2400" spc="-5" dirty="0">
                <a:latin typeface="Perpetua"/>
                <a:cs typeface="Perpetua"/>
              </a:rPr>
              <a:t>and</a:t>
            </a:r>
            <a:r>
              <a:rPr sz="2400" spc="-85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c&lt;60  </a:t>
            </a:r>
            <a:r>
              <a:rPr sz="2400" spc="5" dirty="0">
                <a:latin typeface="Perpetua"/>
                <a:cs typeface="Perpetua"/>
              </a:rPr>
              <a:t>Return</a:t>
            </a:r>
            <a:r>
              <a:rPr sz="2400" spc="-10" dirty="0">
                <a:latin typeface="Perpetua"/>
                <a:cs typeface="Perpetua"/>
              </a:rPr>
              <a:t> </a:t>
            </a:r>
            <a:r>
              <a:rPr sz="2400" spc="10" dirty="0">
                <a:latin typeface="Perpetua"/>
                <a:cs typeface="Perpetua"/>
              </a:rPr>
              <a:t>true</a:t>
            </a:r>
            <a:endParaRPr sz="2400">
              <a:latin typeface="Perpetua"/>
              <a:cs typeface="Perpetua"/>
            </a:endParaRPr>
          </a:p>
          <a:p>
            <a:pPr marL="297815" indent="-285750">
              <a:lnSpc>
                <a:spcPct val="100000"/>
              </a:lnSpc>
              <a:buAutoNum type="arabicPeriod"/>
              <a:tabLst>
                <a:tab pos="298450" algn="l"/>
              </a:tabLst>
            </a:pPr>
            <a:r>
              <a:rPr sz="2400" dirty="0">
                <a:latin typeface="Perpetua"/>
                <a:cs typeface="Perpetua"/>
              </a:rPr>
              <a:t>Else</a:t>
            </a:r>
            <a:endParaRPr sz="2400">
              <a:latin typeface="Perpetua"/>
              <a:cs typeface="Perpetua"/>
            </a:endParaRPr>
          </a:p>
          <a:p>
            <a:pPr marL="927100">
              <a:lnSpc>
                <a:spcPct val="100000"/>
              </a:lnSpc>
            </a:pPr>
            <a:r>
              <a:rPr sz="2400" spc="5" dirty="0">
                <a:latin typeface="Perpetua"/>
                <a:cs typeface="Perpetua"/>
              </a:rPr>
              <a:t>Return</a:t>
            </a:r>
            <a:r>
              <a:rPr sz="2400" spc="-15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false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575175" y="3115436"/>
            <a:ext cx="12230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latin typeface="Perpetua"/>
                <a:cs typeface="Perpetua"/>
              </a:rPr>
              <a:t>Algorithm</a:t>
            </a:r>
            <a:r>
              <a:rPr sz="2400" i="1" spc="-85" dirty="0">
                <a:latin typeface="Perpetua"/>
                <a:cs typeface="Perpetua"/>
              </a:rPr>
              <a:t> </a:t>
            </a:r>
            <a:r>
              <a:rPr sz="2400" i="1" dirty="0">
                <a:latin typeface="Perpetua"/>
                <a:cs typeface="Perpetua"/>
              </a:rPr>
              <a:t>2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575175" y="3846957"/>
            <a:ext cx="3805554" cy="1854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750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298450" algn="l"/>
              </a:tabLst>
            </a:pPr>
            <a:r>
              <a:rPr sz="2400" spc="-5" dirty="0">
                <a:latin typeface="Perpetua"/>
                <a:cs typeface="Perpetua"/>
              </a:rPr>
              <a:t>Get </a:t>
            </a:r>
            <a:r>
              <a:rPr sz="2400" spc="5" dirty="0">
                <a:latin typeface="Perpetua"/>
                <a:cs typeface="Perpetua"/>
              </a:rPr>
              <a:t>hours, </a:t>
            </a:r>
            <a:r>
              <a:rPr sz="2400" spc="-5" dirty="0">
                <a:latin typeface="Perpetua"/>
                <a:cs typeface="Perpetua"/>
              </a:rPr>
              <a:t>minutes,</a:t>
            </a:r>
            <a:r>
              <a:rPr sz="2400" spc="-22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seconds</a:t>
            </a:r>
            <a:endParaRPr sz="2400">
              <a:latin typeface="Perpetua"/>
              <a:cs typeface="Perpetua"/>
            </a:endParaRPr>
          </a:p>
          <a:p>
            <a:pPr marL="367665" indent="-355600">
              <a:lnSpc>
                <a:spcPct val="100000"/>
              </a:lnSpc>
              <a:buAutoNum type="arabicPeriod"/>
              <a:tabLst>
                <a:tab pos="368300" algn="l"/>
                <a:tab pos="664845" algn="l"/>
                <a:tab pos="1905635" algn="l"/>
                <a:tab pos="2433320" algn="l"/>
              </a:tabLst>
            </a:pPr>
            <a:r>
              <a:rPr sz="2400" spc="-5" dirty="0">
                <a:latin typeface="Perpetua"/>
                <a:cs typeface="Perpetua"/>
              </a:rPr>
              <a:t>If	</a:t>
            </a:r>
            <a:r>
              <a:rPr sz="2400" dirty="0">
                <a:latin typeface="Perpetua"/>
                <a:cs typeface="Perpetua"/>
              </a:rPr>
              <a:t>hours&lt;24	</a:t>
            </a:r>
            <a:r>
              <a:rPr sz="2400" spc="-5" dirty="0">
                <a:latin typeface="Perpetua"/>
                <a:cs typeface="Perpetua"/>
              </a:rPr>
              <a:t>and	minutes&lt;60</a:t>
            </a:r>
            <a:endParaRPr sz="2400">
              <a:latin typeface="Perpetua"/>
              <a:cs typeface="Perpetua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Perpetua"/>
                <a:cs typeface="Perpetua"/>
              </a:rPr>
              <a:t>and</a:t>
            </a:r>
            <a:r>
              <a:rPr sz="2400" spc="-1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seconds&lt;60</a:t>
            </a:r>
            <a:endParaRPr sz="2400">
              <a:latin typeface="Perpetua"/>
              <a:cs typeface="Perpetua"/>
            </a:endParaRPr>
          </a:p>
          <a:p>
            <a:pPr marL="927100">
              <a:lnSpc>
                <a:spcPct val="100000"/>
              </a:lnSpc>
            </a:pPr>
            <a:r>
              <a:rPr sz="2400" spc="5" dirty="0">
                <a:latin typeface="Perpetua"/>
                <a:cs typeface="Perpetua"/>
              </a:rPr>
              <a:t>Return</a:t>
            </a:r>
            <a:r>
              <a:rPr sz="2400" spc="-10" dirty="0">
                <a:latin typeface="Perpetua"/>
                <a:cs typeface="Perpetua"/>
              </a:rPr>
              <a:t> </a:t>
            </a:r>
            <a:r>
              <a:rPr sz="2400" spc="10" dirty="0">
                <a:latin typeface="Perpetua"/>
                <a:cs typeface="Perpetua"/>
              </a:rPr>
              <a:t>true</a:t>
            </a:r>
            <a:endParaRPr sz="2400">
              <a:latin typeface="Perpetua"/>
              <a:cs typeface="Perpetua"/>
            </a:endParaRPr>
          </a:p>
          <a:p>
            <a:pPr marL="297815" indent="-285750">
              <a:lnSpc>
                <a:spcPct val="100000"/>
              </a:lnSpc>
              <a:buAutoNum type="arabicPeriod" startAt="3"/>
              <a:tabLst>
                <a:tab pos="298450" algn="l"/>
              </a:tabLst>
            </a:pPr>
            <a:r>
              <a:rPr sz="2400" dirty="0">
                <a:latin typeface="Perpetua"/>
                <a:cs typeface="Perpetua"/>
              </a:rPr>
              <a:t>Else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489828" y="5675782"/>
            <a:ext cx="136207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5" dirty="0">
                <a:latin typeface="Perpetua"/>
                <a:cs typeface="Perpetua"/>
              </a:rPr>
              <a:t>Return</a:t>
            </a:r>
            <a:r>
              <a:rPr sz="2400" spc="-55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false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745994" y="6022340"/>
            <a:ext cx="24911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Perpetua"/>
                <a:cs typeface="Perpetua"/>
              </a:rPr>
              <a:t>Figure: </a:t>
            </a:r>
            <a:r>
              <a:rPr sz="1800" spc="5" dirty="0">
                <a:latin typeface="Perpetua"/>
                <a:cs typeface="Perpetua"/>
              </a:rPr>
              <a:t>Importance </a:t>
            </a:r>
            <a:r>
              <a:rPr sz="1800" dirty="0">
                <a:latin typeface="Perpetua"/>
                <a:cs typeface="Perpetua"/>
              </a:rPr>
              <a:t>of</a:t>
            </a:r>
            <a:r>
              <a:rPr sz="1800" spc="-180" dirty="0">
                <a:latin typeface="Perpetua"/>
                <a:cs typeface="Perpetua"/>
              </a:rPr>
              <a:t> </a:t>
            </a:r>
            <a:r>
              <a:rPr sz="1800" dirty="0">
                <a:latin typeface="Perpetua"/>
                <a:cs typeface="Perpetua"/>
              </a:rPr>
              <a:t>naming</a:t>
            </a:r>
            <a:endParaRPr sz="18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561022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0" spc="-10" dirty="0">
                <a:latin typeface="Perpetua"/>
                <a:cs typeface="Perpetua"/>
              </a:rPr>
              <a:t>Proper name </a:t>
            </a:r>
            <a:r>
              <a:rPr i="0" spc="-5" dirty="0">
                <a:latin typeface="Perpetua"/>
                <a:cs typeface="Perpetua"/>
              </a:rPr>
              <a:t>selection</a:t>
            </a:r>
            <a:r>
              <a:rPr i="0" spc="40" dirty="0">
                <a:latin typeface="Perpetua"/>
                <a:cs typeface="Perpetua"/>
              </a:rPr>
              <a:t> </a:t>
            </a:r>
            <a:r>
              <a:rPr spc="-5" dirty="0"/>
              <a:t>contd</a:t>
            </a:r>
            <a:r>
              <a:rPr i="0" spc="-5" dirty="0">
                <a:latin typeface="Perpetua"/>
                <a:cs typeface="Perpetua"/>
              </a:rPr>
              <a:t>---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433525"/>
            <a:ext cx="8532495" cy="176466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5080" indent="-274320">
              <a:lnSpc>
                <a:spcPct val="100000"/>
              </a:lnSpc>
              <a:spcBef>
                <a:spcPts val="10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  <a:tab pos="1000125" algn="l"/>
                <a:tab pos="2471420" algn="l"/>
                <a:tab pos="3022600" algn="l"/>
                <a:tab pos="4502785" algn="l"/>
                <a:tab pos="5182870" algn="l"/>
                <a:tab pos="5619750" algn="l"/>
                <a:tab pos="6182360" algn="l"/>
                <a:tab pos="7069455" algn="l"/>
                <a:tab pos="7450455" algn="l"/>
                <a:tab pos="8290559" algn="l"/>
              </a:tabLst>
            </a:pPr>
            <a:r>
              <a:rPr sz="2600" spc="-270" dirty="0">
                <a:latin typeface="Perpetua"/>
                <a:cs typeface="Perpetua"/>
              </a:rPr>
              <a:t>T</a:t>
            </a:r>
            <a:r>
              <a:rPr sz="2600" spc="-95" dirty="0">
                <a:latin typeface="Perpetua"/>
                <a:cs typeface="Perpetua"/>
              </a:rPr>
              <a:t>w</a:t>
            </a:r>
            <a:r>
              <a:rPr sz="2600" dirty="0">
                <a:latin typeface="Perpetua"/>
                <a:cs typeface="Perpetua"/>
              </a:rPr>
              <a:t>o	</a:t>
            </a:r>
            <a:r>
              <a:rPr sz="2600" spc="-5" dirty="0">
                <a:latin typeface="Perpetua"/>
                <a:cs typeface="Perpetua"/>
              </a:rPr>
              <a:t>al</a:t>
            </a:r>
            <a:r>
              <a:rPr sz="2600" spc="-15" dirty="0">
                <a:latin typeface="Perpetua"/>
                <a:cs typeface="Perpetua"/>
              </a:rPr>
              <a:t>g</a:t>
            </a:r>
            <a:r>
              <a:rPr sz="2600" dirty="0">
                <a:latin typeface="Perpetua"/>
                <a:cs typeface="Perpetua"/>
              </a:rPr>
              <a:t>o</a:t>
            </a:r>
            <a:r>
              <a:rPr sz="2600" spc="40" dirty="0">
                <a:latin typeface="Perpetua"/>
                <a:cs typeface="Perpetua"/>
              </a:rPr>
              <a:t>r</a:t>
            </a:r>
            <a:r>
              <a:rPr sz="2600" spc="10" dirty="0">
                <a:latin typeface="Perpetua"/>
                <a:cs typeface="Perpetua"/>
              </a:rPr>
              <a:t>i</a:t>
            </a:r>
            <a:r>
              <a:rPr sz="2600" dirty="0">
                <a:latin typeface="Perpetua"/>
                <a:cs typeface="Perpetua"/>
              </a:rPr>
              <a:t>thms	</a:t>
            </a:r>
            <a:r>
              <a:rPr sz="2600" spc="-5" dirty="0">
                <a:latin typeface="Perpetua"/>
                <a:cs typeface="Perpetua"/>
              </a:rPr>
              <a:t>fo</a:t>
            </a:r>
            <a:r>
              <a:rPr sz="2600" dirty="0">
                <a:latin typeface="Perpetua"/>
                <a:cs typeface="Perpetua"/>
              </a:rPr>
              <a:t>r	c</a:t>
            </a:r>
            <a:r>
              <a:rPr sz="2600" spc="-15" dirty="0">
                <a:latin typeface="Perpetua"/>
                <a:cs typeface="Perpetua"/>
              </a:rPr>
              <a:t>o</a:t>
            </a:r>
            <a:r>
              <a:rPr sz="2600" spc="-5" dirty="0">
                <a:latin typeface="Perpetua"/>
                <a:cs typeface="Perpetua"/>
              </a:rPr>
              <a:t>mp</a:t>
            </a:r>
            <a:r>
              <a:rPr sz="2600" spc="-15" dirty="0">
                <a:latin typeface="Perpetua"/>
                <a:cs typeface="Perpetua"/>
              </a:rPr>
              <a:t>u</a:t>
            </a:r>
            <a:r>
              <a:rPr sz="2600" dirty="0">
                <a:latin typeface="Perpetua"/>
                <a:cs typeface="Perpetua"/>
              </a:rPr>
              <a:t>ting	cost	</a:t>
            </a:r>
            <a:r>
              <a:rPr sz="2600" spc="-10" dirty="0">
                <a:latin typeface="Perpetua"/>
                <a:cs typeface="Perpetua"/>
              </a:rPr>
              <a:t>o</a:t>
            </a:r>
            <a:r>
              <a:rPr sz="2600" dirty="0">
                <a:latin typeface="Perpetua"/>
                <a:cs typeface="Perpetua"/>
              </a:rPr>
              <a:t>f	g</a:t>
            </a:r>
            <a:r>
              <a:rPr sz="2600" spc="-15" dirty="0">
                <a:latin typeface="Perpetua"/>
                <a:cs typeface="Perpetua"/>
              </a:rPr>
              <a:t>a</a:t>
            </a:r>
            <a:r>
              <a:rPr sz="2600" dirty="0">
                <a:latin typeface="Perpetua"/>
                <a:cs typeface="Perpetua"/>
              </a:rPr>
              <a:t>s	</a:t>
            </a:r>
            <a:r>
              <a:rPr sz="2600" spc="5" dirty="0">
                <a:latin typeface="Perpetua"/>
                <a:cs typeface="Perpetua"/>
              </a:rPr>
              <a:t>f</a:t>
            </a:r>
            <a:r>
              <a:rPr sz="2600" dirty="0">
                <a:latin typeface="Perpetua"/>
                <a:cs typeface="Perpetua"/>
              </a:rPr>
              <a:t>ill</a:t>
            </a:r>
            <a:r>
              <a:rPr sz="2600" spc="10" dirty="0">
                <a:latin typeface="Perpetua"/>
                <a:cs typeface="Perpetua"/>
              </a:rPr>
              <a:t>i</a:t>
            </a:r>
            <a:r>
              <a:rPr sz="2600" dirty="0">
                <a:latin typeface="Perpetua"/>
                <a:cs typeface="Perpetua"/>
              </a:rPr>
              <a:t>ng	is	</a:t>
            </a:r>
            <a:r>
              <a:rPr sz="2600" spc="35" dirty="0">
                <a:latin typeface="Perpetua"/>
                <a:cs typeface="Perpetua"/>
              </a:rPr>
              <a:t>g</a:t>
            </a:r>
            <a:r>
              <a:rPr sz="2600" spc="10" dirty="0">
                <a:latin typeface="Perpetua"/>
                <a:cs typeface="Perpetua"/>
              </a:rPr>
              <a:t>i</a:t>
            </a:r>
            <a:r>
              <a:rPr sz="2600" spc="-45" dirty="0">
                <a:latin typeface="Perpetua"/>
                <a:cs typeface="Perpetua"/>
              </a:rPr>
              <a:t>v</a:t>
            </a:r>
            <a:r>
              <a:rPr sz="2600" dirty="0">
                <a:latin typeface="Perpetua"/>
                <a:cs typeface="Perpetua"/>
              </a:rPr>
              <a:t>en	in  Algorithm 1 </a:t>
            </a:r>
            <a:r>
              <a:rPr sz="2600" spc="-30" dirty="0">
                <a:latin typeface="Perpetua"/>
                <a:cs typeface="Perpetua"/>
              </a:rPr>
              <a:t>(Version </a:t>
            </a:r>
            <a:r>
              <a:rPr sz="2600" dirty="0">
                <a:latin typeface="Perpetua"/>
                <a:cs typeface="Perpetua"/>
              </a:rPr>
              <a:t>1)and Algorithm 2 </a:t>
            </a:r>
            <a:r>
              <a:rPr sz="2600" spc="-30" dirty="0">
                <a:latin typeface="Perpetua"/>
                <a:cs typeface="Perpetua"/>
              </a:rPr>
              <a:t>(Version</a:t>
            </a:r>
            <a:r>
              <a:rPr sz="2600" spc="-15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2).</a:t>
            </a:r>
            <a:endParaRPr sz="26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60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i="1" spc="-5" dirty="0">
                <a:latin typeface="Perpetua"/>
                <a:cs typeface="Perpetua"/>
              </a:rPr>
              <a:t>Can </a:t>
            </a:r>
            <a:r>
              <a:rPr sz="2600" i="1" spc="-15" dirty="0">
                <a:latin typeface="Perpetua"/>
                <a:cs typeface="Perpetua"/>
              </a:rPr>
              <a:t>you </a:t>
            </a:r>
            <a:r>
              <a:rPr sz="2600" i="1" spc="-5" dirty="0">
                <a:latin typeface="Perpetua"/>
                <a:cs typeface="Perpetua"/>
              </a:rPr>
              <a:t>comment on the names in </a:t>
            </a:r>
            <a:r>
              <a:rPr sz="2600" i="1" spc="10" dirty="0">
                <a:latin typeface="Perpetua"/>
                <a:cs typeface="Perpetua"/>
              </a:rPr>
              <a:t>terms </a:t>
            </a:r>
            <a:r>
              <a:rPr sz="2600" i="1" spc="-5" dirty="0">
                <a:latin typeface="Perpetua"/>
                <a:cs typeface="Perpetua"/>
              </a:rPr>
              <a:t>of their</a:t>
            </a:r>
            <a:r>
              <a:rPr sz="2600" i="1" spc="60" dirty="0">
                <a:latin typeface="Perpetua"/>
                <a:cs typeface="Perpetua"/>
              </a:rPr>
              <a:t> </a:t>
            </a:r>
            <a:r>
              <a:rPr sz="2600" i="1" spc="-5" dirty="0">
                <a:latin typeface="Perpetua"/>
                <a:cs typeface="Perpetua"/>
              </a:rPr>
              <a:t>readability?</a:t>
            </a:r>
            <a:endParaRPr sz="26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i="1" spc="-5" dirty="0">
                <a:latin typeface="Perpetua"/>
                <a:cs typeface="Perpetua"/>
              </a:rPr>
              <a:t>Which </a:t>
            </a:r>
            <a:r>
              <a:rPr sz="2600" i="1" dirty="0">
                <a:latin typeface="Perpetua"/>
                <a:cs typeface="Perpetua"/>
              </a:rPr>
              <a:t>algorithm </a:t>
            </a:r>
            <a:r>
              <a:rPr sz="2600" i="1" spc="-15" dirty="0">
                <a:latin typeface="Perpetua"/>
                <a:cs typeface="Perpetua"/>
              </a:rPr>
              <a:t>follows </a:t>
            </a:r>
            <a:r>
              <a:rPr sz="2600" i="1" dirty="0">
                <a:latin typeface="Perpetua"/>
                <a:cs typeface="Perpetua"/>
              </a:rPr>
              <a:t>proper </a:t>
            </a:r>
            <a:r>
              <a:rPr sz="2600" i="1" spc="-5" dirty="0">
                <a:latin typeface="Perpetua"/>
                <a:cs typeface="Perpetua"/>
              </a:rPr>
              <a:t>naming</a:t>
            </a:r>
            <a:r>
              <a:rPr sz="2600" i="1" spc="10" dirty="0">
                <a:latin typeface="Perpetua"/>
                <a:cs typeface="Perpetua"/>
              </a:rPr>
              <a:t> </a:t>
            </a:r>
            <a:r>
              <a:rPr sz="2600" i="1" spc="-15" dirty="0">
                <a:latin typeface="Perpetua"/>
                <a:cs typeface="Perpetua"/>
              </a:rPr>
              <a:t>conventions?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828800" y="5143753"/>
            <a:ext cx="381000" cy="76200"/>
          </a:xfrm>
          <a:custGeom>
            <a:avLst/>
            <a:gdLst/>
            <a:ahLst/>
            <a:cxnLst/>
            <a:rect l="l" t="t" r="r" b="b"/>
            <a:pathLst>
              <a:path w="381000" h="76200">
                <a:moveTo>
                  <a:pt x="76326" y="0"/>
                </a:moveTo>
                <a:lnTo>
                  <a:pt x="0" y="37846"/>
                </a:lnTo>
                <a:lnTo>
                  <a:pt x="76073" y="76200"/>
                </a:lnTo>
                <a:lnTo>
                  <a:pt x="76178" y="44500"/>
                </a:lnTo>
                <a:lnTo>
                  <a:pt x="63500" y="44450"/>
                </a:lnTo>
                <a:lnTo>
                  <a:pt x="63500" y="31750"/>
                </a:lnTo>
                <a:lnTo>
                  <a:pt x="76221" y="31750"/>
                </a:lnTo>
                <a:lnTo>
                  <a:pt x="76326" y="0"/>
                </a:lnTo>
                <a:close/>
              </a:path>
              <a:path w="381000" h="76200">
                <a:moveTo>
                  <a:pt x="76220" y="31800"/>
                </a:moveTo>
                <a:lnTo>
                  <a:pt x="76178" y="44500"/>
                </a:lnTo>
                <a:lnTo>
                  <a:pt x="381000" y="45720"/>
                </a:lnTo>
                <a:lnTo>
                  <a:pt x="381000" y="33020"/>
                </a:lnTo>
                <a:lnTo>
                  <a:pt x="76220" y="31800"/>
                </a:lnTo>
                <a:close/>
              </a:path>
              <a:path w="381000" h="76200">
                <a:moveTo>
                  <a:pt x="63500" y="31750"/>
                </a:moveTo>
                <a:lnTo>
                  <a:pt x="63500" y="44450"/>
                </a:lnTo>
                <a:lnTo>
                  <a:pt x="76178" y="44500"/>
                </a:lnTo>
                <a:lnTo>
                  <a:pt x="76220" y="31800"/>
                </a:lnTo>
                <a:lnTo>
                  <a:pt x="63500" y="31750"/>
                </a:lnTo>
                <a:close/>
              </a:path>
              <a:path w="381000" h="76200">
                <a:moveTo>
                  <a:pt x="76221" y="31750"/>
                </a:moveTo>
                <a:lnTo>
                  <a:pt x="63500" y="31750"/>
                </a:lnTo>
                <a:lnTo>
                  <a:pt x="76220" y="31800"/>
                </a:lnTo>
                <a:close/>
              </a:path>
            </a:pathLst>
          </a:custGeom>
          <a:solidFill>
            <a:srgbClr val="AE340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009969" y="4181932"/>
            <a:ext cx="1696085" cy="1123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4629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Perpetua"/>
                <a:cs typeface="Perpetua"/>
              </a:rPr>
              <a:t>3.75</a:t>
            </a:r>
            <a:endParaRPr sz="2400">
              <a:latin typeface="Perpetua"/>
              <a:cs typeface="Perpetu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Perpetua"/>
                <a:cs typeface="Perpetua"/>
              </a:rPr>
              <a:t>10</a:t>
            </a:r>
            <a:endParaRPr sz="2400">
              <a:latin typeface="Perpetua"/>
              <a:cs typeface="Perpetua"/>
            </a:endParaRPr>
          </a:p>
          <a:p>
            <a:pPr marL="339725">
              <a:lnSpc>
                <a:spcPct val="100000"/>
              </a:lnSpc>
            </a:pPr>
            <a:r>
              <a:rPr sz="2400" dirty="0">
                <a:latin typeface="Perpetua"/>
                <a:cs typeface="Perpetua"/>
              </a:rPr>
              <a:t>Size *</a:t>
            </a:r>
            <a:r>
              <a:rPr sz="2400" spc="-100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Cents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752600" y="4381753"/>
            <a:ext cx="381000" cy="76200"/>
          </a:xfrm>
          <a:custGeom>
            <a:avLst/>
            <a:gdLst/>
            <a:ahLst/>
            <a:cxnLst/>
            <a:rect l="l" t="t" r="r" b="b"/>
            <a:pathLst>
              <a:path w="381000" h="76200">
                <a:moveTo>
                  <a:pt x="76326" y="0"/>
                </a:moveTo>
                <a:lnTo>
                  <a:pt x="0" y="37846"/>
                </a:lnTo>
                <a:lnTo>
                  <a:pt x="76073" y="76200"/>
                </a:lnTo>
                <a:lnTo>
                  <a:pt x="76178" y="44500"/>
                </a:lnTo>
                <a:lnTo>
                  <a:pt x="63500" y="44450"/>
                </a:lnTo>
                <a:lnTo>
                  <a:pt x="63500" y="31750"/>
                </a:lnTo>
                <a:lnTo>
                  <a:pt x="76221" y="31750"/>
                </a:lnTo>
                <a:lnTo>
                  <a:pt x="76326" y="0"/>
                </a:lnTo>
                <a:close/>
              </a:path>
              <a:path w="381000" h="76200">
                <a:moveTo>
                  <a:pt x="76220" y="31800"/>
                </a:moveTo>
                <a:lnTo>
                  <a:pt x="76178" y="44500"/>
                </a:lnTo>
                <a:lnTo>
                  <a:pt x="381000" y="45720"/>
                </a:lnTo>
                <a:lnTo>
                  <a:pt x="381000" y="33020"/>
                </a:lnTo>
                <a:lnTo>
                  <a:pt x="76220" y="31800"/>
                </a:lnTo>
                <a:close/>
              </a:path>
              <a:path w="381000" h="76200">
                <a:moveTo>
                  <a:pt x="63500" y="31750"/>
                </a:moveTo>
                <a:lnTo>
                  <a:pt x="63500" y="44450"/>
                </a:lnTo>
                <a:lnTo>
                  <a:pt x="76178" y="44500"/>
                </a:lnTo>
                <a:lnTo>
                  <a:pt x="76220" y="31800"/>
                </a:lnTo>
                <a:lnTo>
                  <a:pt x="63500" y="31750"/>
                </a:lnTo>
                <a:close/>
              </a:path>
              <a:path w="381000" h="76200">
                <a:moveTo>
                  <a:pt x="76221" y="31750"/>
                </a:moveTo>
                <a:lnTo>
                  <a:pt x="63500" y="31750"/>
                </a:lnTo>
                <a:lnTo>
                  <a:pt x="76220" y="31800"/>
                </a:lnTo>
                <a:close/>
              </a:path>
            </a:pathLst>
          </a:custGeom>
          <a:solidFill>
            <a:srgbClr val="AE340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600200" y="4761229"/>
            <a:ext cx="381000" cy="76200"/>
          </a:xfrm>
          <a:custGeom>
            <a:avLst/>
            <a:gdLst/>
            <a:ahLst/>
            <a:cxnLst/>
            <a:rect l="l" t="t" r="r" b="b"/>
            <a:pathLst>
              <a:path w="381000" h="76200">
                <a:moveTo>
                  <a:pt x="76326" y="0"/>
                </a:moveTo>
                <a:lnTo>
                  <a:pt x="0" y="37846"/>
                </a:lnTo>
                <a:lnTo>
                  <a:pt x="76073" y="76200"/>
                </a:lnTo>
                <a:lnTo>
                  <a:pt x="76178" y="44500"/>
                </a:lnTo>
                <a:lnTo>
                  <a:pt x="63500" y="44450"/>
                </a:lnTo>
                <a:lnTo>
                  <a:pt x="63500" y="31750"/>
                </a:lnTo>
                <a:lnTo>
                  <a:pt x="76221" y="31750"/>
                </a:lnTo>
                <a:lnTo>
                  <a:pt x="76326" y="0"/>
                </a:lnTo>
                <a:close/>
              </a:path>
              <a:path w="381000" h="76200">
                <a:moveTo>
                  <a:pt x="76220" y="31800"/>
                </a:moveTo>
                <a:lnTo>
                  <a:pt x="76178" y="44500"/>
                </a:lnTo>
                <a:lnTo>
                  <a:pt x="381000" y="45720"/>
                </a:lnTo>
                <a:lnTo>
                  <a:pt x="381000" y="33020"/>
                </a:lnTo>
                <a:lnTo>
                  <a:pt x="76220" y="31800"/>
                </a:lnTo>
                <a:close/>
              </a:path>
              <a:path w="381000" h="76200">
                <a:moveTo>
                  <a:pt x="63500" y="31750"/>
                </a:moveTo>
                <a:lnTo>
                  <a:pt x="63500" y="44450"/>
                </a:lnTo>
                <a:lnTo>
                  <a:pt x="76178" y="44500"/>
                </a:lnTo>
                <a:lnTo>
                  <a:pt x="76220" y="31800"/>
                </a:lnTo>
                <a:lnTo>
                  <a:pt x="63500" y="31750"/>
                </a:lnTo>
                <a:close/>
              </a:path>
              <a:path w="381000" h="76200">
                <a:moveTo>
                  <a:pt x="76221" y="31750"/>
                </a:moveTo>
                <a:lnTo>
                  <a:pt x="63500" y="31750"/>
                </a:lnTo>
                <a:lnTo>
                  <a:pt x="76220" y="31800"/>
                </a:lnTo>
                <a:close/>
              </a:path>
            </a:pathLst>
          </a:custGeom>
          <a:solidFill>
            <a:srgbClr val="AE340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12140" y="3481668"/>
            <a:ext cx="1221740" cy="1823720"/>
          </a:xfrm>
          <a:prstGeom prst="rect">
            <a:avLst/>
          </a:prstGeom>
        </p:spPr>
        <p:txBody>
          <a:bodyPr vert="horz" wrap="square" lIns="0" tIns="1797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15"/>
              </a:spcBef>
            </a:pPr>
            <a:r>
              <a:rPr sz="2400" i="1" spc="-5" dirty="0">
                <a:latin typeface="Perpetua"/>
                <a:cs typeface="Perpetua"/>
              </a:rPr>
              <a:t>Algorithm</a:t>
            </a:r>
            <a:r>
              <a:rPr sz="2400" i="1" spc="-55" dirty="0">
                <a:latin typeface="Perpetua"/>
                <a:cs typeface="Perpetua"/>
              </a:rPr>
              <a:t> </a:t>
            </a:r>
            <a:r>
              <a:rPr sz="2400" i="1" dirty="0">
                <a:latin typeface="Perpetua"/>
                <a:cs typeface="Perpetua"/>
              </a:rPr>
              <a:t>1</a:t>
            </a:r>
            <a:endParaRPr sz="2400">
              <a:latin typeface="Perpetua"/>
              <a:cs typeface="Perpetua"/>
            </a:endParaRPr>
          </a:p>
          <a:p>
            <a:pPr marL="431800" indent="-343535">
              <a:lnSpc>
                <a:spcPct val="100000"/>
              </a:lnSpc>
              <a:spcBef>
                <a:spcPts val="1320"/>
              </a:spcBef>
              <a:buAutoNum type="arabicPeriod"/>
              <a:tabLst>
                <a:tab pos="432434" algn="l"/>
              </a:tabLst>
            </a:pPr>
            <a:r>
              <a:rPr sz="2400" spc="-5" dirty="0">
                <a:latin typeface="Perpetua"/>
                <a:cs typeface="Perpetua"/>
              </a:rPr>
              <a:t>Cents</a:t>
            </a:r>
            <a:endParaRPr sz="2400">
              <a:latin typeface="Perpetua"/>
              <a:cs typeface="Perpetua"/>
            </a:endParaRPr>
          </a:p>
          <a:p>
            <a:pPr marL="431800" indent="-343535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432434" algn="l"/>
              </a:tabLst>
            </a:pPr>
            <a:r>
              <a:rPr sz="2400" dirty="0">
                <a:latin typeface="Perpetua"/>
                <a:cs typeface="Perpetua"/>
              </a:rPr>
              <a:t>Size</a:t>
            </a:r>
            <a:endParaRPr sz="2400">
              <a:latin typeface="Perpetua"/>
              <a:cs typeface="Perpetua"/>
            </a:endParaRPr>
          </a:p>
          <a:p>
            <a:pPr marL="431800" indent="-343535">
              <a:lnSpc>
                <a:spcPct val="100000"/>
              </a:lnSpc>
              <a:buAutoNum type="arabicPeriod"/>
              <a:tabLst>
                <a:tab pos="432434" algn="l"/>
              </a:tabLst>
            </a:pPr>
            <a:r>
              <a:rPr sz="2400" spc="-10" dirty="0">
                <a:latin typeface="Perpetua"/>
                <a:cs typeface="Perpetua"/>
              </a:rPr>
              <a:t>Money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767321" y="4029532"/>
            <a:ext cx="53403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Perpetua"/>
                <a:cs typeface="Perpetua"/>
              </a:rPr>
              <a:t>3.75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245733" y="4395978"/>
            <a:ext cx="193992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209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Perpetua"/>
                <a:cs typeface="Perpetua"/>
              </a:rPr>
              <a:t>10</a:t>
            </a:r>
            <a:endParaRPr sz="2400">
              <a:latin typeface="Perpetua"/>
              <a:cs typeface="Perpetua"/>
            </a:endParaRPr>
          </a:p>
          <a:p>
            <a:pPr marL="12700" marR="5080" indent="5715">
              <a:lnSpc>
                <a:spcPct val="100000"/>
              </a:lnSpc>
            </a:pPr>
            <a:r>
              <a:rPr sz="2400" spc="-25" dirty="0">
                <a:latin typeface="Perpetua"/>
                <a:cs typeface="Perpetua"/>
              </a:rPr>
              <a:t>TankCapacity </a:t>
            </a:r>
            <a:r>
              <a:rPr sz="2400" dirty="0">
                <a:latin typeface="Perpetua"/>
                <a:cs typeface="Perpetua"/>
              </a:rPr>
              <a:t>*  Dolla</a:t>
            </a:r>
            <a:r>
              <a:rPr sz="2400" spc="45" dirty="0">
                <a:latin typeface="Perpetua"/>
                <a:cs typeface="Perpetua"/>
              </a:rPr>
              <a:t>r</a:t>
            </a:r>
            <a:r>
              <a:rPr sz="2400" dirty="0">
                <a:latin typeface="Perpetua"/>
                <a:cs typeface="Perpetua"/>
              </a:rPr>
              <a:t>s</a:t>
            </a:r>
            <a:r>
              <a:rPr sz="2400" spc="-95" dirty="0">
                <a:latin typeface="Perpetua"/>
                <a:cs typeface="Perpetua"/>
              </a:rPr>
              <a:t>P</a:t>
            </a:r>
            <a:r>
              <a:rPr sz="2400" dirty="0">
                <a:latin typeface="Perpetua"/>
                <a:cs typeface="Perpetua"/>
              </a:rPr>
              <a:t>erGallon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965575" y="3481592"/>
            <a:ext cx="2282190" cy="1671320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815"/>
              </a:spcBef>
            </a:pPr>
            <a:r>
              <a:rPr sz="2400" i="1" spc="-5" dirty="0">
                <a:latin typeface="Perpetua"/>
                <a:cs typeface="Perpetua"/>
              </a:rPr>
              <a:t>Algorithm</a:t>
            </a:r>
            <a:r>
              <a:rPr sz="2400" i="1" spc="-10" dirty="0">
                <a:latin typeface="Perpetua"/>
                <a:cs typeface="Perpetua"/>
              </a:rPr>
              <a:t> </a:t>
            </a:r>
            <a:r>
              <a:rPr sz="2400" i="1" dirty="0">
                <a:latin typeface="Perpetua"/>
                <a:cs typeface="Perpetua"/>
              </a:rPr>
              <a:t>2</a:t>
            </a:r>
            <a:endParaRPr sz="2400">
              <a:latin typeface="Perpetua"/>
              <a:cs typeface="Perpetua"/>
            </a:endParaRPr>
          </a:p>
          <a:p>
            <a:pPr marL="355600" indent="-342900">
              <a:lnSpc>
                <a:spcPct val="100000"/>
              </a:lnSpc>
              <a:spcBef>
                <a:spcPts val="720"/>
              </a:spcBef>
              <a:buAutoNum type="arabicPeriod"/>
              <a:tabLst>
                <a:tab pos="355600" algn="l"/>
              </a:tabLst>
            </a:pPr>
            <a:r>
              <a:rPr sz="2400" dirty="0">
                <a:latin typeface="Perpetua"/>
                <a:cs typeface="Perpetua"/>
              </a:rPr>
              <a:t>Dolla</a:t>
            </a:r>
            <a:r>
              <a:rPr sz="2400" spc="40" dirty="0">
                <a:latin typeface="Perpetua"/>
                <a:cs typeface="Perpetua"/>
              </a:rPr>
              <a:t>r</a:t>
            </a:r>
            <a:r>
              <a:rPr sz="2400" dirty="0">
                <a:latin typeface="Perpetua"/>
                <a:cs typeface="Perpetua"/>
              </a:rPr>
              <a:t>s</a:t>
            </a:r>
            <a:r>
              <a:rPr sz="2400" spc="-95" dirty="0">
                <a:latin typeface="Perpetua"/>
                <a:cs typeface="Perpetua"/>
              </a:rPr>
              <a:t>P</a:t>
            </a:r>
            <a:r>
              <a:rPr sz="2400" dirty="0">
                <a:latin typeface="Perpetua"/>
                <a:cs typeface="Perpetua"/>
              </a:rPr>
              <a:t>erGa</a:t>
            </a:r>
            <a:r>
              <a:rPr sz="2400" spc="-10" dirty="0">
                <a:latin typeface="Perpetua"/>
                <a:cs typeface="Perpetua"/>
              </a:rPr>
              <a:t>l</a:t>
            </a:r>
            <a:r>
              <a:rPr sz="2400" spc="-5" dirty="0">
                <a:latin typeface="Perpetua"/>
                <a:cs typeface="Perpetua"/>
              </a:rPr>
              <a:t>lon</a:t>
            </a:r>
            <a:endParaRPr sz="2400">
              <a:latin typeface="Perpetua"/>
              <a:cs typeface="Perpetua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355600" algn="l"/>
              </a:tabLst>
            </a:pPr>
            <a:r>
              <a:rPr sz="2400" spc="-25" dirty="0">
                <a:latin typeface="Perpetua"/>
                <a:cs typeface="Perpetua"/>
              </a:rPr>
              <a:t>TankCapacity</a:t>
            </a:r>
            <a:endParaRPr sz="2400">
              <a:latin typeface="Perpetua"/>
              <a:cs typeface="Perpetua"/>
            </a:endParaRPr>
          </a:p>
          <a:p>
            <a:pPr marL="355600" indent="-342900">
              <a:lnSpc>
                <a:spcPct val="100000"/>
              </a:lnSpc>
              <a:buAutoNum type="arabicPeriod"/>
              <a:tabLst>
                <a:tab pos="355600" algn="l"/>
              </a:tabLst>
            </a:pPr>
            <a:r>
              <a:rPr sz="2400" spc="-20" dirty="0">
                <a:latin typeface="Perpetua"/>
                <a:cs typeface="Perpetua"/>
              </a:rPr>
              <a:t>DollarsToFill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791200" y="4989829"/>
            <a:ext cx="381000" cy="76200"/>
          </a:xfrm>
          <a:custGeom>
            <a:avLst/>
            <a:gdLst/>
            <a:ahLst/>
            <a:cxnLst/>
            <a:rect l="l" t="t" r="r" b="b"/>
            <a:pathLst>
              <a:path w="381000" h="76200">
                <a:moveTo>
                  <a:pt x="76326" y="0"/>
                </a:moveTo>
                <a:lnTo>
                  <a:pt x="0" y="37846"/>
                </a:lnTo>
                <a:lnTo>
                  <a:pt x="76073" y="76200"/>
                </a:lnTo>
                <a:lnTo>
                  <a:pt x="76178" y="44500"/>
                </a:lnTo>
                <a:lnTo>
                  <a:pt x="63500" y="44450"/>
                </a:lnTo>
                <a:lnTo>
                  <a:pt x="63500" y="31750"/>
                </a:lnTo>
                <a:lnTo>
                  <a:pt x="76221" y="31750"/>
                </a:lnTo>
                <a:lnTo>
                  <a:pt x="76326" y="0"/>
                </a:lnTo>
                <a:close/>
              </a:path>
              <a:path w="381000" h="76200">
                <a:moveTo>
                  <a:pt x="76220" y="31800"/>
                </a:moveTo>
                <a:lnTo>
                  <a:pt x="76178" y="44500"/>
                </a:lnTo>
                <a:lnTo>
                  <a:pt x="381000" y="45720"/>
                </a:lnTo>
                <a:lnTo>
                  <a:pt x="381000" y="33020"/>
                </a:lnTo>
                <a:lnTo>
                  <a:pt x="76220" y="31800"/>
                </a:lnTo>
                <a:close/>
              </a:path>
              <a:path w="381000" h="76200">
                <a:moveTo>
                  <a:pt x="63500" y="31750"/>
                </a:moveTo>
                <a:lnTo>
                  <a:pt x="63500" y="44450"/>
                </a:lnTo>
                <a:lnTo>
                  <a:pt x="76178" y="44500"/>
                </a:lnTo>
                <a:lnTo>
                  <a:pt x="76220" y="31800"/>
                </a:lnTo>
                <a:lnTo>
                  <a:pt x="63500" y="31750"/>
                </a:lnTo>
                <a:close/>
              </a:path>
              <a:path w="381000" h="76200">
                <a:moveTo>
                  <a:pt x="76221" y="31750"/>
                </a:moveTo>
                <a:lnTo>
                  <a:pt x="63500" y="31750"/>
                </a:lnTo>
                <a:lnTo>
                  <a:pt x="76220" y="31800"/>
                </a:lnTo>
                <a:close/>
              </a:path>
            </a:pathLst>
          </a:custGeom>
          <a:solidFill>
            <a:srgbClr val="AE340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867400" y="4608829"/>
            <a:ext cx="381000" cy="76200"/>
          </a:xfrm>
          <a:custGeom>
            <a:avLst/>
            <a:gdLst/>
            <a:ahLst/>
            <a:cxnLst/>
            <a:rect l="l" t="t" r="r" b="b"/>
            <a:pathLst>
              <a:path w="381000" h="76200">
                <a:moveTo>
                  <a:pt x="76326" y="0"/>
                </a:moveTo>
                <a:lnTo>
                  <a:pt x="0" y="37846"/>
                </a:lnTo>
                <a:lnTo>
                  <a:pt x="76073" y="76200"/>
                </a:lnTo>
                <a:lnTo>
                  <a:pt x="76178" y="44500"/>
                </a:lnTo>
                <a:lnTo>
                  <a:pt x="63500" y="44450"/>
                </a:lnTo>
                <a:lnTo>
                  <a:pt x="63500" y="31750"/>
                </a:lnTo>
                <a:lnTo>
                  <a:pt x="76221" y="31750"/>
                </a:lnTo>
                <a:lnTo>
                  <a:pt x="76326" y="0"/>
                </a:lnTo>
                <a:close/>
              </a:path>
              <a:path w="381000" h="76200">
                <a:moveTo>
                  <a:pt x="76220" y="31800"/>
                </a:moveTo>
                <a:lnTo>
                  <a:pt x="76178" y="44500"/>
                </a:lnTo>
                <a:lnTo>
                  <a:pt x="381000" y="45720"/>
                </a:lnTo>
                <a:lnTo>
                  <a:pt x="381000" y="33020"/>
                </a:lnTo>
                <a:lnTo>
                  <a:pt x="76220" y="31800"/>
                </a:lnTo>
                <a:close/>
              </a:path>
              <a:path w="381000" h="76200">
                <a:moveTo>
                  <a:pt x="63500" y="31750"/>
                </a:moveTo>
                <a:lnTo>
                  <a:pt x="63500" y="44450"/>
                </a:lnTo>
                <a:lnTo>
                  <a:pt x="76178" y="44500"/>
                </a:lnTo>
                <a:lnTo>
                  <a:pt x="76220" y="31800"/>
                </a:lnTo>
                <a:lnTo>
                  <a:pt x="63500" y="31750"/>
                </a:lnTo>
                <a:close/>
              </a:path>
              <a:path w="381000" h="76200">
                <a:moveTo>
                  <a:pt x="76221" y="31750"/>
                </a:moveTo>
                <a:lnTo>
                  <a:pt x="63500" y="31750"/>
                </a:lnTo>
                <a:lnTo>
                  <a:pt x="76220" y="31800"/>
                </a:lnTo>
                <a:close/>
              </a:path>
            </a:pathLst>
          </a:custGeom>
          <a:solidFill>
            <a:srgbClr val="AE340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324600" y="4229353"/>
            <a:ext cx="381000" cy="76200"/>
          </a:xfrm>
          <a:custGeom>
            <a:avLst/>
            <a:gdLst/>
            <a:ahLst/>
            <a:cxnLst/>
            <a:rect l="l" t="t" r="r" b="b"/>
            <a:pathLst>
              <a:path w="381000" h="76200">
                <a:moveTo>
                  <a:pt x="76326" y="0"/>
                </a:moveTo>
                <a:lnTo>
                  <a:pt x="0" y="37846"/>
                </a:lnTo>
                <a:lnTo>
                  <a:pt x="76073" y="76200"/>
                </a:lnTo>
                <a:lnTo>
                  <a:pt x="76178" y="44500"/>
                </a:lnTo>
                <a:lnTo>
                  <a:pt x="63500" y="44450"/>
                </a:lnTo>
                <a:lnTo>
                  <a:pt x="63500" y="31750"/>
                </a:lnTo>
                <a:lnTo>
                  <a:pt x="76221" y="31750"/>
                </a:lnTo>
                <a:lnTo>
                  <a:pt x="76326" y="0"/>
                </a:lnTo>
                <a:close/>
              </a:path>
              <a:path w="381000" h="76200">
                <a:moveTo>
                  <a:pt x="76220" y="31800"/>
                </a:moveTo>
                <a:lnTo>
                  <a:pt x="76178" y="44500"/>
                </a:lnTo>
                <a:lnTo>
                  <a:pt x="381000" y="45720"/>
                </a:lnTo>
                <a:lnTo>
                  <a:pt x="381000" y="33020"/>
                </a:lnTo>
                <a:lnTo>
                  <a:pt x="76220" y="31800"/>
                </a:lnTo>
                <a:close/>
              </a:path>
              <a:path w="381000" h="76200">
                <a:moveTo>
                  <a:pt x="63500" y="31750"/>
                </a:moveTo>
                <a:lnTo>
                  <a:pt x="63500" y="44450"/>
                </a:lnTo>
                <a:lnTo>
                  <a:pt x="76178" y="44500"/>
                </a:lnTo>
                <a:lnTo>
                  <a:pt x="76220" y="31800"/>
                </a:lnTo>
                <a:lnTo>
                  <a:pt x="63500" y="31750"/>
                </a:lnTo>
                <a:close/>
              </a:path>
              <a:path w="381000" h="76200">
                <a:moveTo>
                  <a:pt x="76221" y="31750"/>
                </a:moveTo>
                <a:lnTo>
                  <a:pt x="63500" y="31750"/>
                </a:lnTo>
                <a:lnTo>
                  <a:pt x="76220" y="31800"/>
                </a:lnTo>
                <a:close/>
              </a:path>
            </a:pathLst>
          </a:custGeom>
          <a:solidFill>
            <a:srgbClr val="AE340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764540" y="5484063"/>
            <a:ext cx="173672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latin typeface="Perpetua"/>
                <a:cs typeface="Perpetua"/>
              </a:rPr>
              <a:t>Figure:</a:t>
            </a:r>
            <a:r>
              <a:rPr sz="2000" spc="-335" dirty="0">
                <a:latin typeface="Perpetua"/>
                <a:cs typeface="Perpetua"/>
              </a:rPr>
              <a:t> </a:t>
            </a:r>
            <a:r>
              <a:rPr sz="2000" spc="-30" dirty="0">
                <a:latin typeface="Perpetua"/>
                <a:cs typeface="Perpetua"/>
              </a:rPr>
              <a:t>Version </a:t>
            </a:r>
            <a:r>
              <a:rPr sz="2000" dirty="0">
                <a:latin typeface="Perpetua"/>
                <a:cs typeface="Perpetua"/>
              </a:rPr>
              <a:t>#1</a:t>
            </a:r>
            <a:endParaRPr sz="2000">
              <a:latin typeface="Perpetua"/>
              <a:cs typeface="Perpetu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194175" y="5559958"/>
            <a:ext cx="173355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latin typeface="Perpetua"/>
                <a:cs typeface="Perpetua"/>
              </a:rPr>
              <a:t>Figure:</a:t>
            </a:r>
            <a:r>
              <a:rPr sz="2000" spc="-335" dirty="0">
                <a:latin typeface="Perpetua"/>
                <a:cs typeface="Perpetua"/>
              </a:rPr>
              <a:t> </a:t>
            </a:r>
            <a:r>
              <a:rPr sz="2000" spc="-30" dirty="0">
                <a:latin typeface="Perpetua"/>
                <a:cs typeface="Perpetua"/>
              </a:rPr>
              <a:t>Version </a:t>
            </a:r>
            <a:r>
              <a:rPr sz="2000" spc="5" dirty="0">
                <a:latin typeface="Perpetua"/>
                <a:cs typeface="Perpetua"/>
              </a:rPr>
              <a:t>#2</a:t>
            </a:r>
            <a:endParaRPr sz="20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701166"/>
            <a:ext cx="50539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i="0" spc="-10" dirty="0">
                <a:latin typeface="Perpetua"/>
                <a:cs typeface="Perpetua"/>
              </a:rPr>
              <a:t>Proper </a:t>
            </a:r>
            <a:r>
              <a:rPr sz="3600" i="0" dirty="0">
                <a:latin typeface="Perpetua"/>
                <a:cs typeface="Perpetua"/>
              </a:rPr>
              <a:t>name selection</a:t>
            </a:r>
            <a:r>
              <a:rPr sz="3600" i="0" spc="-65" dirty="0">
                <a:latin typeface="Perpetua"/>
                <a:cs typeface="Perpetua"/>
              </a:rPr>
              <a:t> </a:t>
            </a:r>
            <a:r>
              <a:rPr sz="3600" dirty="0"/>
              <a:t>contd</a:t>
            </a:r>
            <a:r>
              <a:rPr sz="3600" i="0" dirty="0">
                <a:latin typeface="Perpetua"/>
                <a:cs typeface="Perpetua"/>
              </a:rPr>
              <a:t>---</a:t>
            </a:r>
            <a:endParaRPr sz="3600">
              <a:latin typeface="Perpetua"/>
              <a:cs typeface="Perpetu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486400" y="4038600"/>
            <a:ext cx="2438400" cy="10195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410200" y="2514600"/>
            <a:ext cx="2438400" cy="108813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209800" y="3086354"/>
            <a:ext cx="457200" cy="76200"/>
          </a:xfrm>
          <a:custGeom>
            <a:avLst/>
            <a:gdLst/>
            <a:ahLst/>
            <a:cxnLst/>
            <a:rect l="l" t="t" r="r" b="b"/>
            <a:pathLst>
              <a:path w="457200" h="76200">
                <a:moveTo>
                  <a:pt x="76326" y="0"/>
                </a:moveTo>
                <a:lnTo>
                  <a:pt x="0" y="37846"/>
                </a:lnTo>
                <a:lnTo>
                  <a:pt x="76073" y="76200"/>
                </a:lnTo>
                <a:lnTo>
                  <a:pt x="76178" y="44490"/>
                </a:lnTo>
                <a:lnTo>
                  <a:pt x="63500" y="44450"/>
                </a:lnTo>
                <a:lnTo>
                  <a:pt x="63500" y="31750"/>
                </a:lnTo>
                <a:lnTo>
                  <a:pt x="76221" y="31750"/>
                </a:lnTo>
                <a:lnTo>
                  <a:pt x="76326" y="0"/>
                </a:lnTo>
                <a:close/>
              </a:path>
              <a:path w="457200" h="76200">
                <a:moveTo>
                  <a:pt x="76221" y="31791"/>
                </a:moveTo>
                <a:lnTo>
                  <a:pt x="76178" y="44490"/>
                </a:lnTo>
                <a:lnTo>
                  <a:pt x="457200" y="45720"/>
                </a:lnTo>
                <a:lnTo>
                  <a:pt x="457200" y="33020"/>
                </a:lnTo>
                <a:lnTo>
                  <a:pt x="76221" y="31791"/>
                </a:lnTo>
                <a:close/>
              </a:path>
              <a:path w="457200" h="76200">
                <a:moveTo>
                  <a:pt x="63500" y="31750"/>
                </a:moveTo>
                <a:lnTo>
                  <a:pt x="63500" y="44450"/>
                </a:lnTo>
                <a:lnTo>
                  <a:pt x="76178" y="44490"/>
                </a:lnTo>
                <a:lnTo>
                  <a:pt x="76221" y="31791"/>
                </a:lnTo>
                <a:lnTo>
                  <a:pt x="63500" y="31750"/>
                </a:lnTo>
                <a:close/>
              </a:path>
              <a:path w="457200" h="76200">
                <a:moveTo>
                  <a:pt x="76221" y="31750"/>
                </a:moveTo>
                <a:lnTo>
                  <a:pt x="63500" y="31750"/>
                </a:lnTo>
                <a:lnTo>
                  <a:pt x="76221" y="31791"/>
                </a:lnTo>
                <a:close/>
              </a:path>
            </a:pathLst>
          </a:custGeom>
          <a:solidFill>
            <a:srgbClr val="AE340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200400" y="3467353"/>
            <a:ext cx="396240" cy="76200"/>
          </a:xfrm>
          <a:custGeom>
            <a:avLst/>
            <a:gdLst/>
            <a:ahLst/>
            <a:cxnLst/>
            <a:rect l="l" t="t" r="r" b="b"/>
            <a:pathLst>
              <a:path w="396239" h="76200">
                <a:moveTo>
                  <a:pt x="76326" y="0"/>
                </a:moveTo>
                <a:lnTo>
                  <a:pt x="0" y="37846"/>
                </a:lnTo>
                <a:lnTo>
                  <a:pt x="76073" y="76200"/>
                </a:lnTo>
                <a:lnTo>
                  <a:pt x="76178" y="44498"/>
                </a:lnTo>
                <a:lnTo>
                  <a:pt x="63500" y="44450"/>
                </a:lnTo>
                <a:lnTo>
                  <a:pt x="63500" y="31750"/>
                </a:lnTo>
                <a:lnTo>
                  <a:pt x="76221" y="31750"/>
                </a:lnTo>
                <a:lnTo>
                  <a:pt x="76326" y="0"/>
                </a:lnTo>
                <a:close/>
              </a:path>
              <a:path w="396239" h="76200">
                <a:moveTo>
                  <a:pt x="76221" y="31798"/>
                </a:moveTo>
                <a:lnTo>
                  <a:pt x="76178" y="44498"/>
                </a:lnTo>
                <a:lnTo>
                  <a:pt x="395986" y="45720"/>
                </a:lnTo>
                <a:lnTo>
                  <a:pt x="396113" y="33020"/>
                </a:lnTo>
                <a:lnTo>
                  <a:pt x="76221" y="31798"/>
                </a:lnTo>
                <a:close/>
              </a:path>
              <a:path w="396239" h="76200">
                <a:moveTo>
                  <a:pt x="63500" y="31750"/>
                </a:moveTo>
                <a:lnTo>
                  <a:pt x="63500" y="44450"/>
                </a:lnTo>
                <a:lnTo>
                  <a:pt x="76178" y="44498"/>
                </a:lnTo>
                <a:lnTo>
                  <a:pt x="76221" y="31798"/>
                </a:lnTo>
                <a:lnTo>
                  <a:pt x="63500" y="31750"/>
                </a:lnTo>
                <a:close/>
              </a:path>
              <a:path w="396239" h="76200">
                <a:moveTo>
                  <a:pt x="76221" y="31750"/>
                </a:moveTo>
                <a:lnTo>
                  <a:pt x="63500" y="31750"/>
                </a:lnTo>
                <a:lnTo>
                  <a:pt x="76221" y="31798"/>
                </a:lnTo>
                <a:close/>
              </a:path>
            </a:pathLst>
          </a:custGeom>
          <a:solidFill>
            <a:srgbClr val="AE340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209800" y="3848353"/>
            <a:ext cx="381000" cy="76200"/>
          </a:xfrm>
          <a:custGeom>
            <a:avLst/>
            <a:gdLst/>
            <a:ahLst/>
            <a:cxnLst/>
            <a:rect l="l" t="t" r="r" b="b"/>
            <a:pathLst>
              <a:path w="381000" h="76200">
                <a:moveTo>
                  <a:pt x="76326" y="0"/>
                </a:moveTo>
                <a:lnTo>
                  <a:pt x="0" y="37846"/>
                </a:lnTo>
                <a:lnTo>
                  <a:pt x="76073" y="76200"/>
                </a:lnTo>
                <a:lnTo>
                  <a:pt x="76178" y="44500"/>
                </a:lnTo>
                <a:lnTo>
                  <a:pt x="63500" y="44450"/>
                </a:lnTo>
                <a:lnTo>
                  <a:pt x="63500" y="31750"/>
                </a:lnTo>
                <a:lnTo>
                  <a:pt x="76221" y="31750"/>
                </a:lnTo>
                <a:lnTo>
                  <a:pt x="76326" y="0"/>
                </a:lnTo>
                <a:close/>
              </a:path>
              <a:path w="381000" h="76200">
                <a:moveTo>
                  <a:pt x="76220" y="31800"/>
                </a:moveTo>
                <a:lnTo>
                  <a:pt x="76178" y="44500"/>
                </a:lnTo>
                <a:lnTo>
                  <a:pt x="381000" y="45720"/>
                </a:lnTo>
                <a:lnTo>
                  <a:pt x="381000" y="33020"/>
                </a:lnTo>
                <a:lnTo>
                  <a:pt x="76220" y="31800"/>
                </a:lnTo>
                <a:close/>
              </a:path>
              <a:path w="381000" h="76200">
                <a:moveTo>
                  <a:pt x="63500" y="31750"/>
                </a:moveTo>
                <a:lnTo>
                  <a:pt x="63500" y="44450"/>
                </a:lnTo>
                <a:lnTo>
                  <a:pt x="76178" y="44500"/>
                </a:lnTo>
                <a:lnTo>
                  <a:pt x="76220" y="31800"/>
                </a:lnTo>
                <a:lnTo>
                  <a:pt x="63500" y="31750"/>
                </a:lnTo>
                <a:close/>
              </a:path>
              <a:path w="381000" h="76200">
                <a:moveTo>
                  <a:pt x="76221" y="31750"/>
                </a:moveTo>
                <a:lnTo>
                  <a:pt x="63500" y="31750"/>
                </a:lnTo>
                <a:lnTo>
                  <a:pt x="76220" y="31800"/>
                </a:lnTo>
                <a:close/>
              </a:path>
            </a:pathLst>
          </a:custGeom>
          <a:solidFill>
            <a:srgbClr val="AE340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07340" y="1357544"/>
            <a:ext cx="8527415" cy="4542155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236220" marR="5080" indent="-224154">
              <a:lnSpc>
                <a:spcPct val="109700"/>
              </a:lnSpc>
              <a:spcBef>
                <a:spcPts val="400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  <a:tab pos="855344" algn="l"/>
                <a:tab pos="2475865" algn="l"/>
                <a:tab pos="3176905" algn="l"/>
                <a:tab pos="4399280" algn="l"/>
                <a:tab pos="4745355" algn="l"/>
                <a:tab pos="5545455" algn="l"/>
                <a:tab pos="5938520" algn="l"/>
                <a:tab pos="6946265" algn="l"/>
              </a:tabLst>
            </a:pPr>
            <a:r>
              <a:rPr dirty="0"/>
              <a:t>	</a:t>
            </a:r>
            <a:r>
              <a:rPr sz="2600" dirty="0">
                <a:latin typeface="Perpetua"/>
                <a:cs typeface="Perpetua"/>
              </a:rPr>
              <a:t>An algorithm using an exchange </a:t>
            </a:r>
            <a:r>
              <a:rPr sz="2600" spc="-10" dirty="0">
                <a:latin typeface="Perpetua"/>
                <a:cs typeface="Perpetua"/>
              </a:rPr>
              <a:t>rate </a:t>
            </a:r>
            <a:r>
              <a:rPr sz="2600" spc="-5" dirty="0">
                <a:latin typeface="Perpetua"/>
                <a:cs typeface="Perpetua"/>
              </a:rPr>
              <a:t>of 10 to </a:t>
            </a:r>
            <a:r>
              <a:rPr sz="2600" spc="5" dirty="0">
                <a:latin typeface="Perpetua"/>
                <a:cs typeface="Perpetua"/>
              </a:rPr>
              <a:t>determine </a:t>
            </a:r>
            <a:r>
              <a:rPr sz="2600" dirty="0">
                <a:latin typeface="Perpetua"/>
                <a:cs typeface="Perpetua"/>
              </a:rPr>
              <a:t>the  BRL</a:t>
            </a:r>
            <a:r>
              <a:rPr sz="2600" spc="15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that	</a:t>
            </a:r>
            <a:r>
              <a:rPr sz="2600" dirty="0">
                <a:latin typeface="Perpetua"/>
                <a:cs typeface="Perpetua"/>
              </a:rPr>
              <a:t>corresponds	with	</a:t>
            </a:r>
            <a:r>
              <a:rPr sz="2600" spc="-5" dirty="0">
                <a:latin typeface="Perpetua"/>
                <a:cs typeface="Perpetua"/>
              </a:rPr>
              <a:t>US$3.75	</a:t>
            </a:r>
            <a:r>
              <a:rPr sz="2600" spc="5" dirty="0">
                <a:latin typeface="Perpetua"/>
                <a:cs typeface="Perpetua"/>
              </a:rPr>
              <a:t>is	</a:t>
            </a:r>
            <a:r>
              <a:rPr sz="2600" spc="-5" dirty="0">
                <a:latin typeface="Perpetua"/>
                <a:cs typeface="Perpetua"/>
              </a:rPr>
              <a:t>given	</a:t>
            </a:r>
            <a:r>
              <a:rPr sz="2600" dirty="0">
                <a:latin typeface="Perpetua"/>
                <a:cs typeface="Perpetua"/>
              </a:rPr>
              <a:t>in	</a:t>
            </a:r>
            <a:r>
              <a:rPr sz="2600" spc="-5" dirty="0">
                <a:latin typeface="Perpetua"/>
                <a:cs typeface="Perpetua"/>
              </a:rPr>
              <a:t>Figure:	</a:t>
            </a:r>
            <a:r>
              <a:rPr sz="2600" dirty="0">
                <a:latin typeface="Perpetua"/>
                <a:cs typeface="Perpetua"/>
              </a:rPr>
              <a:t>Concurrency </a:t>
            </a:r>
            <a:r>
              <a:rPr sz="2600" spc="-10" dirty="0">
                <a:latin typeface="Perpetua"/>
                <a:cs typeface="Perpetua"/>
              </a:rPr>
              <a:t>conversion.</a:t>
            </a:r>
            <a:endParaRPr sz="2600">
              <a:latin typeface="Perpetua"/>
              <a:cs typeface="Perpetua"/>
            </a:endParaRPr>
          </a:p>
          <a:p>
            <a:pPr marL="927100">
              <a:lnSpc>
                <a:spcPct val="100000"/>
              </a:lnSpc>
              <a:spcBef>
                <a:spcPts val="1475"/>
              </a:spcBef>
              <a:tabLst>
                <a:tab pos="2417445" algn="l"/>
              </a:tabLst>
            </a:pPr>
            <a:r>
              <a:rPr sz="2400" dirty="0">
                <a:latin typeface="Perpetua"/>
                <a:cs typeface="Perpetua"/>
              </a:rPr>
              <a:t>1.</a:t>
            </a:r>
            <a:r>
              <a:rPr sz="2400" spc="350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USD	</a:t>
            </a:r>
            <a:r>
              <a:rPr sz="2400" dirty="0">
                <a:latin typeface="Perpetua"/>
                <a:cs typeface="Perpetua"/>
              </a:rPr>
              <a:t>3.75</a:t>
            </a:r>
            <a:endParaRPr sz="2400">
              <a:latin typeface="Perpetua"/>
              <a:cs typeface="Perpetua"/>
            </a:endParaRPr>
          </a:p>
          <a:p>
            <a:pPr marL="1270000" lvl="1" indent="-343535">
              <a:lnSpc>
                <a:spcPct val="100000"/>
              </a:lnSpc>
              <a:buAutoNum type="arabicPeriod" startAt="2"/>
              <a:tabLst>
                <a:tab pos="1270635" algn="l"/>
                <a:tab pos="3303270" algn="l"/>
              </a:tabLst>
            </a:pPr>
            <a:r>
              <a:rPr sz="2400" dirty="0">
                <a:latin typeface="Perpetua"/>
                <a:cs typeface="Perpetua"/>
              </a:rPr>
              <a:t>ExchangeRate	10</a:t>
            </a:r>
            <a:endParaRPr sz="2400">
              <a:latin typeface="Perpetua"/>
              <a:cs typeface="Perpetua"/>
            </a:endParaRPr>
          </a:p>
          <a:p>
            <a:pPr marL="1270000" lvl="1" indent="-343535">
              <a:lnSpc>
                <a:spcPct val="100000"/>
              </a:lnSpc>
              <a:buAutoNum type="arabicPeriod" startAt="2"/>
              <a:tabLst>
                <a:tab pos="1270635" algn="l"/>
                <a:tab pos="2373630" algn="l"/>
                <a:tab pos="3298825" algn="l"/>
              </a:tabLst>
            </a:pPr>
            <a:r>
              <a:rPr sz="2400" dirty="0">
                <a:latin typeface="Perpetua"/>
                <a:cs typeface="Perpetua"/>
              </a:rPr>
              <a:t>BRL	</a:t>
            </a:r>
            <a:r>
              <a:rPr sz="2400" spc="-5" dirty="0">
                <a:latin typeface="Perpetua"/>
                <a:cs typeface="Perpetua"/>
              </a:rPr>
              <a:t>USD</a:t>
            </a:r>
            <a:r>
              <a:rPr sz="2400" dirty="0">
                <a:latin typeface="Perpetua"/>
                <a:cs typeface="Perpetua"/>
              </a:rPr>
              <a:t> X	ExchangeRate</a:t>
            </a:r>
            <a:endParaRPr sz="2400">
              <a:latin typeface="Perpetua"/>
              <a:cs typeface="Perpetua"/>
            </a:endParaRPr>
          </a:p>
          <a:p>
            <a:pPr marL="1612900">
              <a:lnSpc>
                <a:spcPct val="100000"/>
              </a:lnSpc>
              <a:spcBef>
                <a:spcPts val="1010"/>
              </a:spcBef>
            </a:pPr>
            <a:r>
              <a:rPr sz="2000" spc="-5" dirty="0">
                <a:latin typeface="Perpetua"/>
                <a:cs typeface="Perpetua"/>
              </a:rPr>
              <a:t>Figure: </a:t>
            </a:r>
            <a:r>
              <a:rPr sz="2000" dirty="0">
                <a:latin typeface="Perpetua"/>
                <a:cs typeface="Perpetua"/>
              </a:rPr>
              <a:t>Currency</a:t>
            </a:r>
            <a:r>
              <a:rPr sz="2000" spc="-65" dirty="0">
                <a:latin typeface="Perpetua"/>
                <a:cs typeface="Perpetua"/>
              </a:rPr>
              <a:t> </a:t>
            </a:r>
            <a:r>
              <a:rPr sz="2000" spc="-10" dirty="0">
                <a:latin typeface="Perpetua"/>
                <a:cs typeface="Perpetua"/>
              </a:rPr>
              <a:t>conversion</a:t>
            </a:r>
            <a:endParaRPr sz="2000">
              <a:latin typeface="Perpetua"/>
              <a:cs typeface="Perpetua"/>
            </a:endParaRPr>
          </a:p>
          <a:p>
            <a:pPr>
              <a:lnSpc>
                <a:spcPct val="100000"/>
              </a:lnSpc>
            </a:pPr>
            <a:endParaRPr sz="2300">
              <a:latin typeface="Times New Roman"/>
              <a:cs typeface="Times New Roman"/>
            </a:endParaRPr>
          </a:p>
          <a:p>
            <a:pPr marL="285115" marR="1973580" indent="-273050">
              <a:lnSpc>
                <a:spcPct val="120800"/>
              </a:lnSpc>
              <a:spcBef>
                <a:spcPts val="1870"/>
              </a:spcBef>
              <a:buSzPct val="85416"/>
              <a:buFont typeface="Wingdings"/>
              <a:buChar char=""/>
              <a:tabLst>
                <a:tab pos="287020" algn="l"/>
              </a:tabLst>
            </a:pPr>
            <a:r>
              <a:rPr sz="2400" i="1" spc="-10" dirty="0">
                <a:latin typeface="Perpetua"/>
                <a:cs typeface="Perpetua"/>
              </a:rPr>
              <a:t>What </a:t>
            </a:r>
            <a:r>
              <a:rPr sz="2400" i="1" dirty="0">
                <a:latin typeface="Perpetua"/>
                <a:cs typeface="Perpetua"/>
              </a:rPr>
              <a:t>will </a:t>
            </a:r>
            <a:r>
              <a:rPr sz="2400" i="1" spc="-5" dirty="0">
                <a:latin typeface="Perpetua"/>
                <a:cs typeface="Perpetua"/>
              </a:rPr>
              <a:t>happen in </a:t>
            </a:r>
            <a:r>
              <a:rPr sz="2400" i="1" dirty="0">
                <a:latin typeface="Perpetua"/>
                <a:cs typeface="Perpetua"/>
              </a:rPr>
              <a:t>the </a:t>
            </a:r>
            <a:r>
              <a:rPr sz="2400" i="1" spc="-20" dirty="0">
                <a:latin typeface="Perpetua"/>
                <a:cs typeface="Perpetua"/>
              </a:rPr>
              <a:t>above </a:t>
            </a:r>
            <a:r>
              <a:rPr sz="2400" i="1" dirty="0">
                <a:latin typeface="Perpetua"/>
                <a:cs typeface="Perpetua"/>
              </a:rPr>
              <a:t>examples </a:t>
            </a:r>
            <a:r>
              <a:rPr sz="2400" i="1" spc="-5" dirty="0">
                <a:latin typeface="Perpetua"/>
                <a:cs typeface="Perpetua"/>
              </a:rPr>
              <a:t>if descriptive names </a:t>
            </a:r>
            <a:r>
              <a:rPr sz="2400" i="1" spc="-10" dirty="0">
                <a:latin typeface="Perpetua"/>
                <a:cs typeface="Perpetua"/>
              </a:rPr>
              <a:t>are  </a:t>
            </a:r>
            <a:r>
              <a:rPr sz="2400" i="1" spc="-5" dirty="0">
                <a:latin typeface="Perpetua"/>
                <a:cs typeface="Perpetua"/>
              </a:rPr>
              <a:t>replaced </a:t>
            </a:r>
            <a:r>
              <a:rPr sz="2400" i="1" dirty="0">
                <a:latin typeface="Perpetua"/>
                <a:cs typeface="Perpetua"/>
              </a:rPr>
              <a:t>with </a:t>
            </a:r>
            <a:r>
              <a:rPr sz="2400" i="1" spc="-5" dirty="0">
                <a:latin typeface="Perpetua"/>
                <a:cs typeface="Perpetua"/>
              </a:rPr>
              <a:t>names like </a:t>
            </a:r>
            <a:r>
              <a:rPr sz="2400" i="1" spc="-40" dirty="0">
                <a:latin typeface="Perpetua"/>
                <a:cs typeface="Perpetua"/>
              </a:rPr>
              <a:t>x,y,z</a:t>
            </a:r>
            <a:r>
              <a:rPr sz="2400" i="1" spc="-20" dirty="0">
                <a:latin typeface="Perpetua"/>
                <a:cs typeface="Perpetua"/>
              </a:rPr>
              <a:t> </a:t>
            </a:r>
            <a:r>
              <a:rPr sz="2400" i="1" dirty="0">
                <a:latin typeface="Perpetua"/>
                <a:cs typeface="Perpetua"/>
              </a:rPr>
              <a:t>etc.</a:t>
            </a:r>
            <a:endParaRPr sz="24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426275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0" spc="-5" dirty="0">
                <a:latin typeface="Perpetua"/>
                <a:cs typeface="Perpetua"/>
              </a:rPr>
              <a:t>The concept </a:t>
            </a:r>
            <a:r>
              <a:rPr i="0" dirty="0">
                <a:latin typeface="Perpetua"/>
                <a:cs typeface="Perpetua"/>
              </a:rPr>
              <a:t>of</a:t>
            </a:r>
            <a:r>
              <a:rPr i="0" spc="-20" dirty="0">
                <a:latin typeface="Perpetua"/>
                <a:cs typeface="Perpetua"/>
              </a:rPr>
              <a:t> </a:t>
            </a:r>
            <a:r>
              <a:rPr i="0" spc="-5" dirty="0">
                <a:latin typeface="Perpetua"/>
                <a:cs typeface="Perpetua"/>
              </a:rPr>
              <a:t>binding</a:t>
            </a:r>
          </a:p>
        </p:txBody>
      </p:sp>
      <p:sp>
        <p:nvSpPr>
          <p:cNvPr id="3" name="object 3"/>
          <p:cNvSpPr/>
          <p:nvPr/>
        </p:nvSpPr>
        <p:spPr>
          <a:xfrm>
            <a:off x="5638800" y="4648200"/>
            <a:ext cx="2658533" cy="1752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362200" y="4724400"/>
            <a:ext cx="2743200" cy="143103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07340" y="1438097"/>
            <a:ext cx="8504555" cy="3181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SzPct val="85416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400" dirty="0">
                <a:latin typeface="Perpetua"/>
                <a:cs typeface="Perpetua"/>
              </a:rPr>
              <a:t>A </a:t>
            </a:r>
            <a:r>
              <a:rPr sz="2400" i="1" spc="-5" dirty="0">
                <a:latin typeface="Perpetua"/>
                <a:cs typeface="Perpetua"/>
              </a:rPr>
              <a:t>binding </a:t>
            </a:r>
            <a:r>
              <a:rPr sz="2400" dirty="0">
                <a:latin typeface="Perpetua"/>
                <a:cs typeface="Perpetua"/>
              </a:rPr>
              <a:t>is </a:t>
            </a:r>
            <a:r>
              <a:rPr sz="2400" spc="-5" dirty="0">
                <a:latin typeface="Perpetua"/>
                <a:cs typeface="Perpetua"/>
              </a:rPr>
              <a:t>an association, </a:t>
            </a:r>
            <a:r>
              <a:rPr sz="2400" spc="10" dirty="0">
                <a:latin typeface="Perpetua"/>
                <a:cs typeface="Perpetua"/>
              </a:rPr>
              <a:t>such </a:t>
            </a:r>
            <a:r>
              <a:rPr sz="2400" spc="-5" dirty="0">
                <a:latin typeface="Perpetua"/>
                <a:cs typeface="Perpetua"/>
              </a:rPr>
              <a:t>as </a:t>
            </a:r>
            <a:r>
              <a:rPr sz="2400" spc="-15" dirty="0">
                <a:latin typeface="Perpetua"/>
                <a:cs typeface="Perpetua"/>
              </a:rPr>
              <a:t>between </a:t>
            </a:r>
            <a:r>
              <a:rPr sz="2400" spc="-5" dirty="0">
                <a:latin typeface="Perpetua"/>
                <a:cs typeface="Perpetua"/>
              </a:rPr>
              <a:t>an attribute and an </a:t>
            </a:r>
            <a:r>
              <a:rPr sz="2400" spc="-40" dirty="0">
                <a:latin typeface="Perpetua"/>
                <a:cs typeface="Perpetua"/>
              </a:rPr>
              <a:t>entity,</a:t>
            </a:r>
            <a:r>
              <a:rPr sz="2400" spc="-21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or</a:t>
            </a:r>
            <a:endParaRPr sz="2400">
              <a:latin typeface="Perpetua"/>
              <a:cs typeface="Perpetua"/>
            </a:endParaRPr>
          </a:p>
          <a:p>
            <a:pPr marL="286385">
              <a:lnSpc>
                <a:spcPct val="100000"/>
              </a:lnSpc>
              <a:spcBef>
                <a:spcPts val="5"/>
              </a:spcBef>
            </a:pPr>
            <a:r>
              <a:rPr sz="2400" spc="-15" dirty="0">
                <a:latin typeface="Perpetua"/>
                <a:cs typeface="Perpetua"/>
              </a:rPr>
              <a:t>between </a:t>
            </a:r>
            <a:r>
              <a:rPr sz="2400" spc="-5" dirty="0">
                <a:latin typeface="Perpetua"/>
                <a:cs typeface="Perpetua"/>
              </a:rPr>
              <a:t>an operation and </a:t>
            </a:r>
            <a:r>
              <a:rPr sz="2400" dirty="0">
                <a:latin typeface="Perpetua"/>
                <a:cs typeface="Perpetua"/>
              </a:rPr>
              <a:t>a</a:t>
            </a:r>
            <a:r>
              <a:rPr sz="2400" spc="-1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symbol.</a:t>
            </a:r>
            <a:endParaRPr sz="2400">
              <a:latin typeface="Perpetua"/>
              <a:cs typeface="Perpetua"/>
            </a:endParaRPr>
          </a:p>
          <a:p>
            <a:pPr marL="286385" marR="114935" indent="-274320">
              <a:lnSpc>
                <a:spcPct val="100000"/>
              </a:lnSpc>
              <a:spcBef>
                <a:spcPts val="600"/>
              </a:spcBef>
              <a:buSzPct val="85416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400" i="1" dirty="0">
                <a:latin typeface="Perpetua"/>
                <a:cs typeface="Perpetua"/>
              </a:rPr>
              <a:t>Name </a:t>
            </a:r>
            <a:r>
              <a:rPr sz="2400" i="1" spc="-5" dirty="0">
                <a:latin typeface="Perpetua"/>
                <a:cs typeface="Perpetua"/>
              </a:rPr>
              <a:t>binding </a:t>
            </a:r>
            <a:r>
              <a:rPr sz="2400" dirty="0">
                <a:latin typeface="Perpetua"/>
                <a:cs typeface="Perpetua"/>
              </a:rPr>
              <a:t>is the </a:t>
            </a:r>
            <a:r>
              <a:rPr sz="2400" spc="-5" dirty="0">
                <a:latin typeface="Perpetua"/>
                <a:cs typeface="Perpetua"/>
              </a:rPr>
              <a:t>association </a:t>
            </a:r>
            <a:r>
              <a:rPr sz="2400" dirty="0">
                <a:latin typeface="Perpetua"/>
                <a:cs typeface="Perpetua"/>
              </a:rPr>
              <a:t>of a </a:t>
            </a:r>
            <a:r>
              <a:rPr sz="2400" i="1" spc="-5" dirty="0">
                <a:latin typeface="Perpetua"/>
                <a:cs typeface="Perpetua"/>
              </a:rPr>
              <a:t>name</a:t>
            </a:r>
            <a:r>
              <a:rPr sz="2400" spc="-5" dirty="0">
                <a:latin typeface="Perpetua"/>
                <a:cs typeface="Perpetua"/>
              </a:rPr>
              <a:t>, also </a:t>
            </a:r>
            <a:r>
              <a:rPr sz="2400" spc="-15" dirty="0">
                <a:latin typeface="Perpetua"/>
                <a:cs typeface="Perpetua"/>
              </a:rPr>
              <a:t>known </a:t>
            </a:r>
            <a:r>
              <a:rPr sz="2400" spc="-5" dirty="0">
                <a:latin typeface="Perpetua"/>
                <a:cs typeface="Perpetua"/>
              </a:rPr>
              <a:t>as an </a:t>
            </a:r>
            <a:r>
              <a:rPr sz="2400" i="1" spc="-5" dirty="0">
                <a:latin typeface="Perpetua"/>
                <a:cs typeface="Perpetua"/>
              </a:rPr>
              <a:t>identifier</a:t>
            </a:r>
            <a:r>
              <a:rPr sz="2400" spc="-5" dirty="0">
                <a:latin typeface="Perpetua"/>
                <a:cs typeface="Perpetua"/>
              </a:rPr>
              <a:t>, </a:t>
            </a:r>
            <a:r>
              <a:rPr sz="2400" dirty="0">
                <a:latin typeface="Perpetua"/>
                <a:cs typeface="Perpetua"/>
              </a:rPr>
              <a:t>with</a:t>
            </a:r>
            <a:r>
              <a:rPr sz="2400" spc="-26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a  </a:t>
            </a:r>
            <a:r>
              <a:rPr sz="2400" spc="-20" dirty="0">
                <a:latin typeface="Perpetua"/>
                <a:cs typeface="Perpetua"/>
              </a:rPr>
              <a:t>value.</a:t>
            </a:r>
            <a:endParaRPr sz="2400">
              <a:latin typeface="Perpetua"/>
              <a:cs typeface="Perpetua"/>
            </a:endParaRPr>
          </a:p>
          <a:p>
            <a:pPr marL="2756535">
              <a:lnSpc>
                <a:spcPts val="2160"/>
              </a:lnSpc>
              <a:tabLst>
                <a:tab pos="4391025" algn="l"/>
              </a:tabLst>
            </a:pPr>
            <a:r>
              <a:rPr sz="2400" dirty="0">
                <a:latin typeface="Perpetua"/>
                <a:cs typeface="Perpetua"/>
              </a:rPr>
              <a:t>Identifier	</a:t>
            </a:r>
            <a:r>
              <a:rPr sz="2400" spc="-5" dirty="0">
                <a:latin typeface="Perpetua"/>
                <a:cs typeface="Perpetua"/>
              </a:rPr>
              <a:t>Expression</a:t>
            </a:r>
            <a:endParaRPr sz="2400">
              <a:latin typeface="Perpetua"/>
              <a:cs typeface="Perpetua"/>
            </a:endParaRPr>
          </a:p>
          <a:p>
            <a:pPr marL="286385" marR="5080" indent="-274320">
              <a:lnSpc>
                <a:spcPct val="100000"/>
              </a:lnSpc>
              <a:spcBef>
                <a:spcPts val="1920"/>
              </a:spcBef>
              <a:buSzPct val="85416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400" dirty="0">
                <a:latin typeface="Perpetua"/>
                <a:cs typeface="Perpetua"/>
              </a:rPr>
              <a:t>Once </a:t>
            </a:r>
            <a:r>
              <a:rPr sz="2400" spc="-5" dirty="0">
                <a:latin typeface="Perpetua"/>
                <a:cs typeface="Perpetua"/>
              </a:rPr>
              <a:t>an </a:t>
            </a:r>
            <a:r>
              <a:rPr sz="2400" dirty="0">
                <a:latin typeface="Perpetua"/>
                <a:cs typeface="Perpetua"/>
              </a:rPr>
              <a:t>identifier is bound to a </a:t>
            </a:r>
            <a:r>
              <a:rPr sz="2400" spc="-20" dirty="0">
                <a:latin typeface="Perpetua"/>
                <a:cs typeface="Perpetua"/>
              </a:rPr>
              <a:t>value, </a:t>
            </a:r>
            <a:r>
              <a:rPr sz="2400" dirty="0">
                <a:latin typeface="Perpetua"/>
                <a:cs typeface="Perpetua"/>
              </a:rPr>
              <a:t>the identifier is said </a:t>
            </a:r>
            <a:r>
              <a:rPr sz="2400" spc="-10" dirty="0">
                <a:latin typeface="Perpetua"/>
                <a:cs typeface="Perpetua"/>
              </a:rPr>
              <a:t>to reference</a:t>
            </a:r>
            <a:r>
              <a:rPr sz="2400" spc="-204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the  corresponding </a:t>
            </a:r>
            <a:r>
              <a:rPr sz="2400" spc="-15" dirty="0">
                <a:latin typeface="Perpetua"/>
                <a:cs typeface="Perpetua"/>
              </a:rPr>
              <a:t>value </a:t>
            </a:r>
            <a:r>
              <a:rPr sz="2400" spc="10" dirty="0">
                <a:latin typeface="Perpetua"/>
                <a:cs typeface="Perpetua"/>
              </a:rPr>
              <a:t>such </a:t>
            </a:r>
            <a:r>
              <a:rPr sz="2400" spc="-10" dirty="0">
                <a:latin typeface="Perpetua"/>
                <a:cs typeface="Perpetua"/>
              </a:rPr>
              <a:t>that </a:t>
            </a:r>
            <a:r>
              <a:rPr sz="2400" spc="-5" dirty="0">
                <a:latin typeface="Perpetua"/>
                <a:cs typeface="Perpetua"/>
              </a:rPr>
              <a:t>when the </a:t>
            </a:r>
            <a:r>
              <a:rPr sz="2400" dirty="0">
                <a:latin typeface="Perpetua"/>
                <a:cs typeface="Perpetua"/>
              </a:rPr>
              <a:t>identifier is used in some </a:t>
            </a:r>
            <a:r>
              <a:rPr sz="2400" spc="-10" dirty="0">
                <a:latin typeface="Perpetua"/>
                <a:cs typeface="Perpetua"/>
              </a:rPr>
              <a:t>later  </a:t>
            </a:r>
            <a:r>
              <a:rPr sz="2400" dirty="0">
                <a:latin typeface="Perpetua"/>
                <a:cs typeface="Perpetua"/>
              </a:rPr>
              <a:t>context, the identifier stands for the </a:t>
            </a:r>
            <a:r>
              <a:rPr sz="2400" spc="-15" dirty="0">
                <a:latin typeface="Perpetua"/>
                <a:cs typeface="Perpetua"/>
              </a:rPr>
              <a:t>value </a:t>
            </a:r>
            <a:r>
              <a:rPr sz="2400" dirty="0">
                <a:latin typeface="Perpetua"/>
                <a:cs typeface="Perpetua"/>
              </a:rPr>
              <a:t>to </a:t>
            </a:r>
            <a:r>
              <a:rPr sz="2400" spc="5" dirty="0">
                <a:latin typeface="Perpetua"/>
                <a:cs typeface="Perpetua"/>
              </a:rPr>
              <a:t>which </a:t>
            </a:r>
            <a:r>
              <a:rPr sz="2400" dirty="0">
                <a:latin typeface="Perpetua"/>
                <a:cs typeface="Perpetua"/>
              </a:rPr>
              <a:t>it is</a:t>
            </a:r>
            <a:r>
              <a:rPr sz="2400" spc="-18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bound.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191000" y="3086354"/>
            <a:ext cx="457200" cy="76200"/>
          </a:xfrm>
          <a:custGeom>
            <a:avLst/>
            <a:gdLst/>
            <a:ahLst/>
            <a:cxnLst/>
            <a:rect l="l" t="t" r="r" b="b"/>
            <a:pathLst>
              <a:path w="457200" h="76200">
                <a:moveTo>
                  <a:pt x="76326" y="0"/>
                </a:moveTo>
                <a:lnTo>
                  <a:pt x="0" y="37846"/>
                </a:lnTo>
                <a:lnTo>
                  <a:pt x="76073" y="76200"/>
                </a:lnTo>
                <a:lnTo>
                  <a:pt x="76178" y="44490"/>
                </a:lnTo>
                <a:lnTo>
                  <a:pt x="63500" y="44450"/>
                </a:lnTo>
                <a:lnTo>
                  <a:pt x="63500" y="31750"/>
                </a:lnTo>
                <a:lnTo>
                  <a:pt x="76221" y="31750"/>
                </a:lnTo>
                <a:lnTo>
                  <a:pt x="76326" y="0"/>
                </a:lnTo>
                <a:close/>
              </a:path>
              <a:path w="457200" h="76200">
                <a:moveTo>
                  <a:pt x="76221" y="31791"/>
                </a:moveTo>
                <a:lnTo>
                  <a:pt x="76178" y="44490"/>
                </a:lnTo>
                <a:lnTo>
                  <a:pt x="457200" y="45720"/>
                </a:lnTo>
                <a:lnTo>
                  <a:pt x="457200" y="33020"/>
                </a:lnTo>
                <a:lnTo>
                  <a:pt x="76221" y="31791"/>
                </a:lnTo>
                <a:close/>
              </a:path>
              <a:path w="457200" h="76200">
                <a:moveTo>
                  <a:pt x="63500" y="31750"/>
                </a:moveTo>
                <a:lnTo>
                  <a:pt x="63500" y="44450"/>
                </a:lnTo>
                <a:lnTo>
                  <a:pt x="76178" y="44490"/>
                </a:lnTo>
                <a:lnTo>
                  <a:pt x="76221" y="31791"/>
                </a:lnTo>
                <a:lnTo>
                  <a:pt x="63500" y="31750"/>
                </a:lnTo>
                <a:close/>
              </a:path>
              <a:path w="457200" h="76200">
                <a:moveTo>
                  <a:pt x="76221" y="31750"/>
                </a:moveTo>
                <a:lnTo>
                  <a:pt x="63500" y="31750"/>
                </a:lnTo>
                <a:lnTo>
                  <a:pt x="76221" y="31791"/>
                </a:lnTo>
                <a:close/>
              </a:path>
            </a:pathLst>
          </a:custGeom>
          <a:solidFill>
            <a:srgbClr val="AE3408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3726179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0" spc="-5" dirty="0">
                <a:latin typeface="Perpetua"/>
                <a:cs typeface="Perpetua"/>
              </a:rPr>
              <a:t>Computational</a:t>
            </a:r>
            <a:r>
              <a:rPr i="0" spc="-60" dirty="0">
                <a:latin typeface="Perpetua"/>
                <a:cs typeface="Perpetua"/>
              </a:rPr>
              <a:t> </a:t>
            </a:r>
            <a:r>
              <a:rPr i="0" spc="-10" dirty="0">
                <a:latin typeface="Perpetua"/>
                <a:cs typeface="Perpetua"/>
              </a:rPr>
              <a:t>state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433525"/>
            <a:ext cx="8531860" cy="4456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6350" indent="-274320" algn="just">
              <a:lnSpc>
                <a:spcPct val="100000"/>
              </a:lnSpc>
              <a:spcBef>
                <a:spcPts val="105"/>
              </a:spcBef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The </a:t>
            </a:r>
            <a:r>
              <a:rPr sz="2600" i="1" spc="-5" dirty="0">
                <a:latin typeface="Perpetua"/>
                <a:cs typeface="Perpetua"/>
              </a:rPr>
              <a:t>computational </a:t>
            </a:r>
            <a:r>
              <a:rPr sz="2600" i="1" spc="-10" dirty="0">
                <a:latin typeface="Perpetua"/>
                <a:cs typeface="Perpetua"/>
              </a:rPr>
              <a:t>state </a:t>
            </a:r>
            <a:r>
              <a:rPr sz="2600" spc="-5" dirty="0">
                <a:latin typeface="Perpetua"/>
                <a:cs typeface="Perpetua"/>
              </a:rPr>
              <a:t>of </a:t>
            </a:r>
            <a:r>
              <a:rPr sz="2600" dirty="0">
                <a:latin typeface="Perpetua"/>
                <a:cs typeface="Perpetua"/>
              </a:rPr>
              <a:t>a program is the </a:t>
            </a:r>
            <a:r>
              <a:rPr sz="2600" spc="-5" dirty="0">
                <a:latin typeface="Perpetua"/>
                <a:cs typeface="Perpetua"/>
              </a:rPr>
              <a:t>collection of name  </a:t>
            </a:r>
            <a:r>
              <a:rPr sz="2600" dirty="0">
                <a:latin typeface="Perpetua"/>
                <a:cs typeface="Perpetua"/>
              </a:rPr>
              <a:t>bindings </a:t>
            </a:r>
            <a:r>
              <a:rPr sz="2600" spc="-10" dirty="0">
                <a:latin typeface="Perpetua"/>
                <a:cs typeface="Perpetua"/>
              </a:rPr>
              <a:t>that are </a:t>
            </a:r>
            <a:r>
              <a:rPr sz="2600" spc="-15" dirty="0">
                <a:latin typeface="Perpetua"/>
                <a:cs typeface="Perpetua"/>
              </a:rPr>
              <a:t>active at </a:t>
            </a:r>
            <a:r>
              <a:rPr sz="2600" spc="-20" dirty="0">
                <a:latin typeface="Perpetua"/>
                <a:cs typeface="Perpetua"/>
              </a:rPr>
              <a:t>any </a:t>
            </a:r>
            <a:r>
              <a:rPr sz="2600" dirty="0">
                <a:latin typeface="Perpetua"/>
                <a:cs typeface="Perpetua"/>
              </a:rPr>
              <a:t>single </a:t>
            </a:r>
            <a:r>
              <a:rPr sz="2600" spc="-5" dirty="0">
                <a:latin typeface="Perpetua"/>
                <a:cs typeface="Perpetua"/>
              </a:rPr>
              <a:t>point </a:t>
            </a:r>
            <a:r>
              <a:rPr sz="2600" dirty="0">
                <a:latin typeface="Perpetua"/>
                <a:cs typeface="Perpetua"/>
              </a:rPr>
              <a:t>in</a:t>
            </a:r>
            <a:r>
              <a:rPr sz="2600" spc="65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time.</a:t>
            </a:r>
            <a:endParaRPr sz="2600">
              <a:latin typeface="Perpetua"/>
              <a:cs typeface="Perpetua"/>
            </a:endParaRPr>
          </a:p>
          <a:p>
            <a:pPr marL="286385" marR="5080" indent="-274320" algn="just">
              <a:lnSpc>
                <a:spcPct val="100000"/>
              </a:lnSpc>
              <a:spcBef>
                <a:spcPts val="605"/>
              </a:spcBef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spc="-5" dirty="0">
                <a:latin typeface="Perpetua"/>
                <a:cs typeface="Perpetua"/>
              </a:rPr>
              <a:t>Since </a:t>
            </a:r>
            <a:r>
              <a:rPr sz="2600" spc="-20" dirty="0">
                <a:latin typeface="Perpetua"/>
                <a:cs typeface="Perpetua"/>
              </a:rPr>
              <a:t>any </a:t>
            </a:r>
            <a:r>
              <a:rPr sz="2600" dirty="0">
                <a:latin typeface="Perpetua"/>
                <a:cs typeface="Perpetua"/>
              </a:rPr>
              <a:t>programming </a:t>
            </a:r>
            <a:r>
              <a:rPr sz="2600" spc="-5" dirty="0">
                <a:latin typeface="Perpetua"/>
                <a:cs typeface="Perpetua"/>
              </a:rPr>
              <a:t>action </a:t>
            </a:r>
            <a:r>
              <a:rPr sz="2600" dirty="0">
                <a:latin typeface="Perpetua"/>
                <a:cs typeface="Perpetua"/>
              </a:rPr>
              <a:t>will </a:t>
            </a:r>
            <a:r>
              <a:rPr sz="2600" spc="-5" dirty="0">
                <a:latin typeface="Perpetua"/>
                <a:cs typeface="Perpetua"/>
              </a:rPr>
              <a:t>potentially </a:t>
            </a:r>
            <a:r>
              <a:rPr sz="2600" dirty="0">
                <a:latin typeface="Perpetua"/>
                <a:cs typeface="Perpetua"/>
              </a:rPr>
              <a:t>change the </a:t>
            </a:r>
            <a:r>
              <a:rPr sz="2600" spc="-5" dirty="0">
                <a:latin typeface="Perpetua"/>
                <a:cs typeface="Perpetua"/>
              </a:rPr>
              <a:t>state of </a:t>
            </a:r>
            <a:r>
              <a:rPr sz="2600" dirty="0">
                <a:latin typeface="Perpetua"/>
                <a:cs typeface="Perpetua"/>
              </a:rPr>
              <a:t>a  program, </a:t>
            </a:r>
            <a:r>
              <a:rPr sz="2600" spc="-40" dirty="0">
                <a:latin typeface="Perpetua"/>
                <a:cs typeface="Perpetua"/>
              </a:rPr>
              <a:t>we </a:t>
            </a:r>
            <a:r>
              <a:rPr sz="2600" spc="-5" dirty="0">
                <a:latin typeface="Perpetua"/>
                <a:cs typeface="Perpetua"/>
              </a:rPr>
              <a:t>can </a:t>
            </a:r>
            <a:r>
              <a:rPr sz="2600" spc="5" dirty="0">
                <a:latin typeface="Perpetua"/>
                <a:cs typeface="Perpetua"/>
              </a:rPr>
              <a:t>describe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meaning of </a:t>
            </a:r>
            <a:r>
              <a:rPr sz="2600" dirty="0">
                <a:latin typeface="Perpetua"/>
                <a:cs typeface="Perpetua"/>
              </a:rPr>
              <a:t>a program </a:t>
            </a:r>
            <a:r>
              <a:rPr sz="2600" spc="-25" dirty="0">
                <a:latin typeface="Perpetua"/>
                <a:cs typeface="Perpetua"/>
              </a:rPr>
              <a:t>by </a:t>
            </a:r>
            <a:r>
              <a:rPr sz="2600" spc="-5" dirty="0">
                <a:latin typeface="Perpetua"/>
                <a:cs typeface="Perpetua"/>
              </a:rPr>
              <a:t>examining 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sequence of </a:t>
            </a:r>
            <a:r>
              <a:rPr sz="2600" dirty="0">
                <a:latin typeface="Perpetua"/>
                <a:cs typeface="Perpetua"/>
              </a:rPr>
              <a:t>changes </a:t>
            </a:r>
            <a:r>
              <a:rPr sz="2600" spc="-5" dirty="0">
                <a:latin typeface="Perpetua"/>
                <a:cs typeface="Perpetua"/>
              </a:rPr>
              <a:t>made to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state as </a:t>
            </a:r>
            <a:r>
              <a:rPr sz="2600" dirty="0">
                <a:latin typeface="Perpetua"/>
                <a:cs typeface="Perpetua"/>
              </a:rPr>
              <a:t>the program</a:t>
            </a:r>
            <a:r>
              <a:rPr sz="2600" spc="40" dirty="0">
                <a:latin typeface="Perpetua"/>
                <a:cs typeface="Perpetua"/>
              </a:rPr>
              <a:t> </a:t>
            </a:r>
            <a:r>
              <a:rPr sz="2600" spc="-15" dirty="0">
                <a:latin typeface="Perpetua"/>
                <a:cs typeface="Perpetua"/>
              </a:rPr>
              <a:t>executes.</a:t>
            </a:r>
            <a:endParaRPr sz="2600">
              <a:latin typeface="Perpetua"/>
              <a:cs typeface="Perpetua"/>
            </a:endParaRPr>
          </a:p>
          <a:p>
            <a:pPr marL="311150">
              <a:lnSpc>
                <a:spcPct val="100000"/>
              </a:lnSpc>
              <a:spcBef>
                <a:spcPts val="600"/>
              </a:spcBef>
            </a:pPr>
            <a:r>
              <a:rPr sz="2600" spc="-80" dirty="0">
                <a:latin typeface="Perpetua"/>
                <a:cs typeface="Perpetua"/>
              </a:rPr>
              <a:t>Eg.</a:t>
            </a:r>
            <a:r>
              <a:rPr sz="2600" spc="-12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1</a:t>
            </a:r>
            <a:endParaRPr sz="2600">
              <a:latin typeface="Perpetua"/>
              <a:cs typeface="Perpetua"/>
            </a:endParaRPr>
          </a:p>
          <a:p>
            <a:pPr marL="619760" lvl="1" indent="-309245">
              <a:lnSpc>
                <a:spcPct val="100000"/>
              </a:lnSpc>
              <a:spcBef>
                <a:spcPts val="670"/>
              </a:spcBef>
              <a:buAutoNum type="arabicPeriod"/>
              <a:tabLst>
                <a:tab pos="620395" algn="l"/>
              </a:tabLst>
            </a:pPr>
            <a:r>
              <a:rPr sz="2600" dirty="0">
                <a:latin typeface="Perpetua"/>
                <a:cs typeface="Perpetua"/>
              </a:rPr>
              <a:t>X </a:t>
            </a:r>
            <a:r>
              <a:rPr sz="2600" spc="5" dirty="0">
                <a:latin typeface="Times New Roman"/>
                <a:cs typeface="Times New Roman"/>
              </a:rPr>
              <a:t>← </a:t>
            </a:r>
            <a:r>
              <a:rPr sz="2600" dirty="0">
                <a:latin typeface="Perpetua"/>
                <a:cs typeface="Perpetua"/>
              </a:rPr>
              <a:t>3 The </a:t>
            </a:r>
            <a:r>
              <a:rPr sz="2600" spc="-10" dirty="0">
                <a:latin typeface="Perpetua"/>
                <a:cs typeface="Perpetua"/>
              </a:rPr>
              <a:t>state </a:t>
            </a:r>
            <a:r>
              <a:rPr sz="2600" dirty="0">
                <a:latin typeface="Perpetua"/>
                <a:cs typeface="Perpetua"/>
              </a:rPr>
              <a:t>is </a:t>
            </a:r>
            <a:r>
              <a:rPr sz="2600" spc="-25" dirty="0">
                <a:latin typeface="Perpetua"/>
                <a:cs typeface="Perpetua"/>
              </a:rPr>
              <a:t>now </a:t>
            </a:r>
            <a:r>
              <a:rPr sz="2600" dirty="0">
                <a:latin typeface="Perpetua"/>
                <a:cs typeface="Perpetua"/>
              </a:rPr>
              <a:t>{X =</a:t>
            </a:r>
            <a:r>
              <a:rPr sz="2600" spc="-39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3}</a:t>
            </a:r>
            <a:endParaRPr sz="2600">
              <a:latin typeface="Perpetua"/>
              <a:cs typeface="Perpetua"/>
            </a:endParaRPr>
          </a:p>
          <a:p>
            <a:pPr marL="563880" lvl="1" indent="-253365">
              <a:lnSpc>
                <a:spcPct val="100000"/>
              </a:lnSpc>
              <a:spcBef>
                <a:spcPts val="605"/>
              </a:spcBef>
              <a:buAutoNum type="arabicPeriod"/>
              <a:tabLst>
                <a:tab pos="564515" algn="l"/>
              </a:tabLst>
            </a:pPr>
            <a:r>
              <a:rPr sz="2600" dirty="0">
                <a:latin typeface="Perpetua"/>
                <a:cs typeface="Perpetua"/>
              </a:rPr>
              <a:t>Y </a:t>
            </a:r>
            <a:r>
              <a:rPr sz="2600" dirty="0">
                <a:latin typeface="Times New Roman"/>
                <a:cs typeface="Times New Roman"/>
              </a:rPr>
              <a:t>← </a:t>
            </a:r>
            <a:r>
              <a:rPr sz="2600" dirty="0">
                <a:latin typeface="Perpetua"/>
                <a:cs typeface="Perpetua"/>
              </a:rPr>
              <a:t>X + 4 The </a:t>
            </a:r>
            <a:r>
              <a:rPr sz="2600" spc="-5" dirty="0">
                <a:latin typeface="Perpetua"/>
                <a:cs typeface="Perpetua"/>
              </a:rPr>
              <a:t>state </a:t>
            </a:r>
            <a:r>
              <a:rPr sz="2600" dirty="0">
                <a:latin typeface="Perpetua"/>
                <a:cs typeface="Perpetua"/>
              </a:rPr>
              <a:t>is </a:t>
            </a:r>
            <a:r>
              <a:rPr sz="2600" spc="-30" dirty="0">
                <a:latin typeface="Perpetua"/>
                <a:cs typeface="Perpetua"/>
              </a:rPr>
              <a:t>now </a:t>
            </a:r>
            <a:r>
              <a:rPr sz="2600" spc="-5" dirty="0">
                <a:latin typeface="Perpetua"/>
                <a:cs typeface="Perpetua"/>
              </a:rPr>
              <a:t>{X </a:t>
            </a:r>
            <a:r>
              <a:rPr sz="2600" dirty="0">
                <a:latin typeface="Perpetua"/>
                <a:cs typeface="Perpetua"/>
              </a:rPr>
              <a:t>= 3 </a:t>
            </a:r>
            <a:r>
              <a:rPr sz="2600" spc="30" dirty="0">
                <a:latin typeface="Perpetua"/>
                <a:cs typeface="Perpetua"/>
              </a:rPr>
              <a:t>andY </a:t>
            </a:r>
            <a:r>
              <a:rPr sz="2600" dirty="0">
                <a:latin typeface="Perpetua"/>
                <a:cs typeface="Perpetua"/>
              </a:rPr>
              <a:t>=</a:t>
            </a:r>
            <a:r>
              <a:rPr sz="2600" spc="-409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7}</a:t>
            </a:r>
            <a:endParaRPr sz="2600">
              <a:latin typeface="Perpetua"/>
              <a:cs typeface="Perpetua"/>
            </a:endParaRPr>
          </a:p>
          <a:p>
            <a:pPr marL="563880" lvl="1" indent="-253365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564515" algn="l"/>
              </a:tabLst>
            </a:pPr>
            <a:r>
              <a:rPr sz="2600" dirty="0">
                <a:latin typeface="Perpetua"/>
                <a:cs typeface="Perpetua"/>
              </a:rPr>
              <a:t>Y </a:t>
            </a:r>
            <a:r>
              <a:rPr sz="2600" dirty="0">
                <a:latin typeface="Times New Roman"/>
                <a:cs typeface="Times New Roman"/>
              </a:rPr>
              <a:t>← </a:t>
            </a:r>
            <a:r>
              <a:rPr sz="2600" dirty="0">
                <a:latin typeface="Perpetua"/>
                <a:cs typeface="Perpetua"/>
              </a:rPr>
              <a:t>X </a:t>
            </a:r>
            <a:r>
              <a:rPr sz="2600" spc="70" dirty="0">
                <a:latin typeface="Perpetua"/>
                <a:cs typeface="Perpetua"/>
              </a:rPr>
              <a:t>+Y</a:t>
            </a:r>
            <a:r>
              <a:rPr sz="2600" spc="-42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state </a:t>
            </a:r>
            <a:r>
              <a:rPr sz="2600" dirty="0">
                <a:latin typeface="Perpetua"/>
                <a:cs typeface="Perpetua"/>
              </a:rPr>
              <a:t>is </a:t>
            </a:r>
            <a:r>
              <a:rPr sz="2600" spc="-30" dirty="0">
                <a:latin typeface="Perpetua"/>
                <a:cs typeface="Perpetua"/>
              </a:rPr>
              <a:t>now </a:t>
            </a:r>
            <a:r>
              <a:rPr sz="2600" dirty="0">
                <a:latin typeface="Perpetua"/>
                <a:cs typeface="Perpetua"/>
              </a:rPr>
              <a:t>{X = 3 </a:t>
            </a:r>
            <a:r>
              <a:rPr sz="2600" spc="30" dirty="0">
                <a:latin typeface="Perpetua"/>
                <a:cs typeface="Perpetua"/>
              </a:rPr>
              <a:t>andY </a:t>
            </a:r>
            <a:r>
              <a:rPr sz="2600" dirty="0">
                <a:latin typeface="Perpetua"/>
                <a:cs typeface="Perpetua"/>
              </a:rPr>
              <a:t>= </a:t>
            </a:r>
            <a:r>
              <a:rPr sz="2600" spc="-5" dirty="0">
                <a:latin typeface="Perpetua"/>
                <a:cs typeface="Perpetua"/>
              </a:rPr>
              <a:t>10}</a:t>
            </a:r>
            <a:endParaRPr sz="2600">
              <a:latin typeface="Perpetua"/>
              <a:cs typeface="Perpetua"/>
            </a:endParaRPr>
          </a:p>
          <a:p>
            <a:pPr marL="619760" lvl="1" indent="-309245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620395" algn="l"/>
              </a:tabLst>
            </a:pPr>
            <a:r>
              <a:rPr sz="2600" dirty="0">
                <a:latin typeface="Perpetua"/>
                <a:cs typeface="Perpetua"/>
              </a:rPr>
              <a:t>X </a:t>
            </a:r>
            <a:r>
              <a:rPr sz="2600" spc="5" dirty="0">
                <a:latin typeface="Times New Roman"/>
                <a:cs typeface="Times New Roman"/>
              </a:rPr>
              <a:t>← </a:t>
            </a:r>
            <a:r>
              <a:rPr sz="2600" dirty="0">
                <a:latin typeface="Perpetua"/>
                <a:cs typeface="Perpetua"/>
              </a:rPr>
              <a:t>X </a:t>
            </a:r>
            <a:r>
              <a:rPr sz="2600" spc="65" dirty="0">
                <a:latin typeface="Perpetua"/>
                <a:cs typeface="Perpetua"/>
              </a:rPr>
              <a:t>*Y</a:t>
            </a:r>
            <a:r>
              <a:rPr sz="2600" spc="-45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state </a:t>
            </a:r>
            <a:r>
              <a:rPr sz="2600" dirty="0">
                <a:latin typeface="Perpetua"/>
                <a:cs typeface="Perpetua"/>
              </a:rPr>
              <a:t>is </a:t>
            </a:r>
            <a:r>
              <a:rPr sz="2600" spc="-25" dirty="0">
                <a:latin typeface="Perpetua"/>
                <a:cs typeface="Perpetua"/>
              </a:rPr>
              <a:t>now </a:t>
            </a:r>
            <a:r>
              <a:rPr sz="2600" dirty="0">
                <a:latin typeface="Perpetua"/>
                <a:cs typeface="Perpetua"/>
              </a:rPr>
              <a:t>{X = 30 </a:t>
            </a:r>
            <a:r>
              <a:rPr sz="2600" spc="30" dirty="0">
                <a:latin typeface="Perpetua"/>
                <a:cs typeface="Perpetua"/>
              </a:rPr>
              <a:t>andY </a:t>
            </a:r>
            <a:r>
              <a:rPr sz="2600" dirty="0">
                <a:latin typeface="Perpetua"/>
                <a:cs typeface="Perpetua"/>
              </a:rPr>
              <a:t>= </a:t>
            </a:r>
            <a:r>
              <a:rPr sz="2600" spc="-5" dirty="0">
                <a:latin typeface="Perpetua"/>
                <a:cs typeface="Perpetua"/>
              </a:rPr>
              <a:t>10}</a:t>
            </a:r>
            <a:endParaRPr sz="26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520065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0" spc="-5" dirty="0">
                <a:latin typeface="Perpetua"/>
                <a:cs typeface="Perpetua"/>
              </a:rPr>
              <a:t>Computational </a:t>
            </a:r>
            <a:r>
              <a:rPr i="0" spc="-10" dirty="0">
                <a:latin typeface="Perpetua"/>
                <a:cs typeface="Perpetua"/>
              </a:rPr>
              <a:t>state</a:t>
            </a:r>
            <a:r>
              <a:rPr i="0" spc="-45" dirty="0">
                <a:latin typeface="Perpetua"/>
                <a:cs typeface="Perpetua"/>
              </a:rPr>
              <a:t> </a:t>
            </a:r>
            <a:r>
              <a:rPr spc="-5" dirty="0"/>
              <a:t>contd</a:t>
            </a:r>
            <a:r>
              <a:rPr i="0" spc="-5" dirty="0">
                <a:latin typeface="Perpetua"/>
                <a:cs typeface="Perpetua"/>
              </a:rPr>
              <a:t>---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387462"/>
            <a:ext cx="8530590" cy="4444365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285"/>
              </a:spcBef>
              <a:buSzPct val="85416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400" spc="-5" dirty="0">
                <a:latin typeface="Perpetua"/>
                <a:cs typeface="Perpetua"/>
              </a:rPr>
              <a:t>Consider </a:t>
            </a:r>
            <a:r>
              <a:rPr sz="2400" dirty="0">
                <a:latin typeface="Perpetua"/>
                <a:cs typeface="Perpetua"/>
              </a:rPr>
              <a:t>the </a:t>
            </a:r>
            <a:r>
              <a:rPr sz="2400" spc="-10" dirty="0">
                <a:latin typeface="Perpetua"/>
                <a:cs typeface="Perpetua"/>
              </a:rPr>
              <a:t>following </a:t>
            </a:r>
            <a:r>
              <a:rPr sz="2400" dirty="0">
                <a:latin typeface="Perpetua"/>
                <a:cs typeface="Perpetua"/>
              </a:rPr>
              <a:t>sequence of name</a:t>
            </a:r>
            <a:r>
              <a:rPr sz="2400" spc="-65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bindings.</a:t>
            </a:r>
            <a:endParaRPr sz="2400">
              <a:latin typeface="Perpetua"/>
              <a:cs typeface="Perpetua"/>
            </a:endParaRPr>
          </a:p>
          <a:p>
            <a:pPr marL="332740">
              <a:lnSpc>
                <a:spcPct val="100000"/>
              </a:lnSpc>
              <a:spcBef>
                <a:spcPts val="180"/>
              </a:spcBef>
            </a:pPr>
            <a:r>
              <a:rPr sz="2400" dirty="0">
                <a:latin typeface="Perpetua"/>
                <a:cs typeface="Perpetua"/>
              </a:rPr>
              <a:t>1. X </a:t>
            </a:r>
            <a:r>
              <a:rPr sz="2400" dirty="0">
                <a:latin typeface="Times New Roman"/>
                <a:cs typeface="Times New Roman"/>
              </a:rPr>
              <a:t>←</a:t>
            </a:r>
            <a:r>
              <a:rPr sz="2400" spc="-1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Perpetua"/>
                <a:cs typeface="Perpetua"/>
              </a:rPr>
              <a:t>3</a:t>
            </a:r>
            <a:endParaRPr sz="2400">
              <a:latin typeface="Perpetua"/>
              <a:cs typeface="Perpetua"/>
            </a:endParaRPr>
          </a:p>
          <a:p>
            <a:pPr marL="332740">
              <a:lnSpc>
                <a:spcPct val="100000"/>
              </a:lnSpc>
              <a:spcBef>
                <a:spcPts val="110"/>
              </a:spcBef>
            </a:pPr>
            <a:r>
              <a:rPr sz="2400" spc="10" dirty="0">
                <a:latin typeface="Perpetua"/>
                <a:cs typeface="Perpetua"/>
              </a:rPr>
              <a:t>2.Y </a:t>
            </a:r>
            <a:r>
              <a:rPr sz="2400" dirty="0">
                <a:latin typeface="Times New Roman"/>
                <a:cs typeface="Times New Roman"/>
              </a:rPr>
              <a:t>←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Perpetua"/>
                <a:cs typeface="Perpetua"/>
              </a:rPr>
              <a:t>4</a:t>
            </a:r>
            <a:endParaRPr sz="2400">
              <a:latin typeface="Perpetua"/>
              <a:cs typeface="Perpetua"/>
            </a:endParaRPr>
          </a:p>
          <a:p>
            <a:pPr marL="332740">
              <a:lnSpc>
                <a:spcPct val="100000"/>
              </a:lnSpc>
              <a:spcBef>
                <a:spcPts val="110"/>
              </a:spcBef>
            </a:pPr>
            <a:r>
              <a:rPr sz="2400" dirty="0">
                <a:latin typeface="Perpetua"/>
                <a:cs typeface="Perpetua"/>
              </a:rPr>
              <a:t>3. Z </a:t>
            </a:r>
            <a:r>
              <a:rPr sz="2400" dirty="0">
                <a:latin typeface="Times New Roman"/>
                <a:cs typeface="Times New Roman"/>
              </a:rPr>
              <a:t>← </a:t>
            </a:r>
            <a:r>
              <a:rPr sz="2400" dirty="0">
                <a:latin typeface="Perpetua"/>
                <a:cs typeface="Perpetua"/>
              </a:rPr>
              <a:t>3 +</a:t>
            </a:r>
            <a:r>
              <a:rPr sz="2400" spc="-19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4</a:t>
            </a:r>
            <a:endParaRPr sz="2400">
              <a:latin typeface="Perpetua"/>
              <a:cs typeface="Perpetua"/>
            </a:endParaRPr>
          </a:p>
          <a:p>
            <a:pPr marL="287020" indent="-274320">
              <a:lnSpc>
                <a:spcPts val="2735"/>
              </a:lnSpc>
              <a:spcBef>
                <a:spcPts val="250"/>
              </a:spcBef>
              <a:buSzPct val="85416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400" dirty="0">
                <a:latin typeface="Perpetua"/>
                <a:cs typeface="Perpetua"/>
              </a:rPr>
              <a:t>The </a:t>
            </a:r>
            <a:r>
              <a:rPr sz="2400" spc="5" dirty="0">
                <a:latin typeface="Perpetua"/>
                <a:cs typeface="Perpetua"/>
              </a:rPr>
              <a:t>first </a:t>
            </a:r>
            <a:r>
              <a:rPr sz="2400" spc="-35" dirty="0">
                <a:latin typeface="Perpetua"/>
                <a:cs typeface="Perpetua"/>
              </a:rPr>
              <a:t>two </a:t>
            </a:r>
            <a:r>
              <a:rPr sz="2400" spc="-5" dirty="0">
                <a:latin typeface="Perpetua"/>
                <a:cs typeface="Perpetua"/>
              </a:rPr>
              <a:t>actions associate </a:t>
            </a:r>
            <a:r>
              <a:rPr sz="2400" dirty="0">
                <a:latin typeface="Perpetua"/>
                <a:cs typeface="Perpetua"/>
              </a:rPr>
              <a:t>the name X </a:t>
            </a:r>
            <a:r>
              <a:rPr sz="2400" spc="-5" dirty="0">
                <a:latin typeface="Perpetua"/>
                <a:cs typeface="Perpetua"/>
              </a:rPr>
              <a:t>with </a:t>
            </a:r>
            <a:r>
              <a:rPr sz="2400" dirty="0">
                <a:latin typeface="Perpetua"/>
                <a:cs typeface="Perpetua"/>
              </a:rPr>
              <a:t>the </a:t>
            </a:r>
            <a:r>
              <a:rPr sz="2400" spc="-15" dirty="0">
                <a:latin typeface="Perpetua"/>
                <a:cs typeface="Perpetua"/>
              </a:rPr>
              <a:t>value </a:t>
            </a:r>
            <a:r>
              <a:rPr sz="2400" dirty="0">
                <a:latin typeface="Perpetua"/>
                <a:cs typeface="Perpetua"/>
              </a:rPr>
              <a:t>3 </a:t>
            </a:r>
            <a:r>
              <a:rPr sz="2400" spc="-5" dirty="0">
                <a:latin typeface="Perpetua"/>
                <a:cs typeface="Perpetua"/>
              </a:rPr>
              <a:t>and the</a:t>
            </a:r>
            <a:r>
              <a:rPr sz="2400" spc="-25" dirty="0">
                <a:latin typeface="Perpetua"/>
                <a:cs typeface="Perpetua"/>
              </a:rPr>
              <a:t> </a:t>
            </a:r>
            <a:r>
              <a:rPr sz="2400" spc="25" dirty="0">
                <a:latin typeface="Perpetua"/>
                <a:cs typeface="Perpetua"/>
              </a:rPr>
              <a:t>nameY</a:t>
            </a:r>
            <a:endParaRPr sz="2400">
              <a:latin typeface="Perpetua"/>
              <a:cs typeface="Perpetua"/>
            </a:endParaRPr>
          </a:p>
          <a:p>
            <a:pPr marL="286385">
              <a:lnSpc>
                <a:spcPts val="2735"/>
              </a:lnSpc>
            </a:pPr>
            <a:r>
              <a:rPr sz="2400" dirty="0">
                <a:latin typeface="Perpetua"/>
                <a:cs typeface="Perpetua"/>
              </a:rPr>
              <a:t>with the </a:t>
            </a:r>
            <a:r>
              <a:rPr sz="2400" spc="-15" dirty="0">
                <a:latin typeface="Perpetua"/>
                <a:cs typeface="Perpetua"/>
              </a:rPr>
              <a:t>value</a:t>
            </a:r>
            <a:r>
              <a:rPr sz="2400" spc="-2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4.</a:t>
            </a:r>
            <a:endParaRPr sz="24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310"/>
              </a:spcBef>
              <a:buSzPct val="85416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400" dirty="0">
                <a:latin typeface="Perpetua"/>
                <a:cs typeface="Perpetua"/>
              </a:rPr>
              <a:t>The effect of </a:t>
            </a:r>
            <a:r>
              <a:rPr sz="2400" spc="-5" dirty="0">
                <a:latin typeface="Perpetua"/>
                <a:cs typeface="Perpetua"/>
              </a:rPr>
              <a:t>the </a:t>
            </a:r>
            <a:r>
              <a:rPr sz="2400" dirty="0">
                <a:latin typeface="Perpetua"/>
                <a:cs typeface="Perpetua"/>
              </a:rPr>
              <a:t>binding on </a:t>
            </a:r>
            <a:r>
              <a:rPr sz="2400" spc="-5" dirty="0">
                <a:latin typeface="Perpetua"/>
                <a:cs typeface="Perpetua"/>
              </a:rPr>
              <a:t>line </a:t>
            </a:r>
            <a:r>
              <a:rPr sz="2400" dirty="0">
                <a:latin typeface="Perpetua"/>
                <a:cs typeface="Perpetua"/>
              </a:rPr>
              <a:t>3 </a:t>
            </a:r>
            <a:r>
              <a:rPr sz="2400" spc="-5" dirty="0">
                <a:latin typeface="Perpetua"/>
                <a:cs typeface="Perpetua"/>
              </a:rPr>
              <a:t>associates </a:t>
            </a:r>
            <a:r>
              <a:rPr sz="2400" dirty="0">
                <a:latin typeface="Perpetua"/>
                <a:cs typeface="Perpetua"/>
              </a:rPr>
              <a:t>the name Z with the </a:t>
            </a:r>
            <a:r>
              <a:rPr sz="2400" spc="-15" dirty="0">
                <a:latin typeface="Perpetua"/>
                <a:cs typeface="Perpetua"/>
              </a:rPr>
              <a:t>value</a:t>
            </a:r>
            <a:r>
              <a:rPr sz="2400" spc="-15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7.</a:t>
            </a:r>
            <a:endParaRPr sz="24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buFont typeface="Arial"/>
              <a:buChar char="•"/>
            </a:pPr>
            <a:endParaRPr sz="3050">
              <a:latin typeface="Times New Roman"/>
              <a:cs typeface="Times New Roman"/>
            </a:endParaRPr>
          </a:p>
          <a:p>
            <a:pPr marL="4451350" lvl="1" indent="-275590">
              <a:lnSpc>
                <a:spcPct val="100000"/>
              </a:lnSpc>
              <a:buSzPct val="85416"/>
              <a:buFont typeface="Wingdings"/>
              <a:buChar char=""/>
              <a:tabLst>
                <a:tab pos="4451985" algn="l"/>
              </a:tabLst>
            </a:pPr>
            <a:r>
              <a:rPr sz="2400" i="1" spc="-5" dirty="0">
                <a:latin typeface="Perpetua"/>
                <a:cs typeface="Perpetua"/>
              </a:rPr>
              <a:t>Can </a:t>
            </a:r>
            <a:r>
              <a:rPr sz="2400" i="1" spc="-15" dirty="0">
                <a:latin typeface="Perpetua"/>
                <a:cs typeface="Perpetua"/>
              </a:rPr>
              <a:t>you </a:t>
            </a:r>
            <a:r>
              <a:rPr sz="2400" i="1" spc="-10" dirty="0">
                <a:latin typeface="Perpetua"/>
                <a:cs typeface="Perpetua"/>
              </a:rPr>
              <a:t>represent </a:t>
            </a:r>
            <a:r>
              <a:rPr sz="2400" i="1" spc="-5" dirty="0">
                <a:latin typeface="Perpetua"/>
                <a:cs typeface="Perpetua"/>
              </a:rPr>
              <a:t>the </a:t>
            </a:r>
            <a:r>
              <a:rPr sz="2400" i="1" spc="-15" dirty="0">
                <a:latin typeface="Perpetua"/>
                <a:cs typeface="Perpetua"/>
              </a:rPr>
              <a:t>following</a:t>
            </a:r>
            <a:r>
              <a:rPr sz="2400" i="1" dirty="0">
                <a:latin typeface="Perpetua"/>
                <a:cs typeface="Perpetua"/>
              </a:rPr>
              <a:t> </a:t>
            </a:r>
            <a:r>
              <a:rPr sz="2400" i="1" spc="-5" dirty="0">
                <a:latin typeface="Perpetua"/>
                <a:cs typeface="Perpetua"/>
              </a:rPr>
              <a:t>bindings?</a:t>
            </a:r>
            <a:endParaRPr sz="2400">
              <a:latin typeface="Perpetua"/>
              <a:cs typeface="Perpetua"/>
            </a:endParaRPr>
          </a:p>
          <a:p>
            <a:pPr marL="274320" marR="5715" lvl="2" indent="-274320" algn="r">
              <a:lnSpc>
                <a:spcPct val="100000"/>
              </a:lnSpc>
              <a:spcBef>
                <a:spcPts val="475"/>
              </a:spcBef>
              <a:buFont typeface="Wingdings"/>
              <a:buChar char=""/>
              <a:tabLst>
                <a:tab pos="274320" algn="l"/>
              </a:tabLst>
            </a:pPr>
            <a:r>
              <a:rPr sz="1700" i="1" spc="-45" dirty="0">
                <a:latin typeface="Perpetua"/>
                <a:cs typeface="Perpetua"/>
              </a:rPr>
              <a:t>Trevor </a:t>
            </a:r>
            <a:r>
              <a:rPr sz="1700" i="1" spc="-10" dirty="0">
                <a:latin typeface="Perpetua"/>
                <a:cs typeface="Perpetua"/>
              </a:rPr>
              <a:t>gets </a:t>
            </a:r>
            <a:r>
              <a:rPr sz="1700" i="1" spc="-5" dirty="0">
                <a:latin typeface="Perpetua"/>
                <a:cs typeface="Perpetua"/>
              </a:rPr>
              <a:t>Alf’s</a:t>
            </a:r>
            <a:r>
              <a:rPr sz="1700" i="1" spc="-70" dirty="0">
                <a:latin typeface="Perpetua"/>
                <a:cs typeface="Perpetua"/>
              </a:rPr>
              <a:t> </a:t>
            </a:r>
            <a:r>
              <a:rPr sz="1700" i="1" spc="-15" dirty="0">
                <a:latin typeface="Perpetua"/>
                <a:cs typeface="Perpetua"/>
              </a:rPr>
              <a:t>value</a:t>
            </a:r>
            <a:endParaRPr sz="1700">
              <a:latin typeface="Perpetua"/>
              <a:cs typeface="Perpetua"/>
            </a:endParaRPr>
          </a:p>
          <a:p>
            <a:pPr marL="274320" marR="5080" indent="-274320" algn="r">
              <a:lnSpc>
                <a:spcPct val="100000"/>
              </a:lnSpc>
              <a:spcBef>
                <a:spcPts val="395"/>
              </a:spcBef>
              <a:buFont typeface="Wingdings"/>
              <a:buChar char=""/>
              <a:tabLst>
                <a:tab pos="274320" algn="l"/>
              </a:tabLst>
            </a:pPr>
            <a:r>
              <a:rPr sz="1700" i="1" spc="-5" dirty="0">
                <a:latin typeface="Perpetua"/>
                <a:cs typeface="Perpetua"/>
              </a:rPr>
              <a:t>Alf </a:t>
            </a:r>
            <a:r>
              <a:rPr sz="1700" i="1" spc="-10" dirty="0">
                <a:latin typeface="Perpetua"/>
                <a:cs typeface="Perpetua"/>
              </a:rPr>
              <a:t>gets </a:t>
            </a:r>
            <a:r>
              <a:rPr sz="1700" i="1" spc="-15" dirty="0">
                <a:latin typeface="Perpetua"/>
                <a:cs typeface="Perpetua"/>
              </a:rPr>
              <a:t>Bridgit’s</a:t>
            </a:r>
            <a:r>
              <a:rPr sz="1700" i="1" spc="-20" dirty="0">
                <a:latin typeface="Perpetua"/>
                <a:cs typeface="Perpetua"/>
              </a:rPr>
              <a:t> </a:t>
            </a:r>
            <a:r>
              <a:rPr sz="1700" i="1" spc="-15" dirty="0">
                <a:latin typeface="Perpetua"/>
                <a:cs typeface="Perpetua"/>
              </a:rPr>
              <a:t>value</a:t>
            </a:r>
            <a:endParaRPr sz="1700">
              <a:latin typeface="Perpetua"/>
              <a:cs typeface="Perpetua"/>
            </a:endParaRPr>
          </a:p>
          <a:p>
            <a:pPr marL="274320" marR="5715" indent="-274320" algn="r">
              <a:lnSpc>
                <a:spcPct val="100000"/>
              </a:lnSpc>
              <a:spcBef>
                <a:spcPts val="395"/>
              </a:spcBef>
              <a:buFont typeface="Wingdings"/>
              <a:buChar char=""/>
              <a:tabLst>
                <a:tab pos="274320" algn="l"/>
              </a:tabLst>
            </a:pPr>
            <a:r>
              <a:rPr sz="1700" i="1" spc="5" dirty="0">
                <a:latin typeface="Perpetua"/>
                <a:cs typeface="Perpetua"/>
              </a:rPr>
              <a:t>Bridgit </a:t>
            </a:r>
            <a:r>
              <a:rPr sz="1700" i="1" spc="-10" dirty="0">
                <a:latin typeface="Perpetua"/>
                <a:cs typeface="Perpetua"/>
              </a:rPr>
              <a:t>gets</a:t>
            </a:r>
            <a:r>
              <a:rPr sz="1700" i="1" spc="-250" dirty="0">
                <a:latin typeface="Perpetua"/>
                <a:cs typeface="Perpetua"/>
              </a:rPr>
              <a:t> </a:t>
            </a:r>
            <a:r>
              <a:rPr sz="1700" i="1" spc="-50" dirty="0">
                <a:latin typeface="Perpetua"/>
                <a:cs typeface="Perpetua"/>
              </a:rPr>
              <a:t>Trevor’s </a:t>
            </a:r>
            <a:r>
              <a:rPr sz="1700" i="1" spc="-10" dirty="0">
                <a:latin typeface="Perpetua"/>
                <a:cs typeface="Perpetua"/>
              </a:rPr>
              <a:t>value</a:t>
            </a:r>
            <a:endParaRPr sz="1700">
              <a:latin typeface="Perpetua"/>
              <a:cs typeface="Perpet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62955" y="4892614"/>
            <a:ext cx="684956" cy="5118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736975" y="951941"/>
            <a:ext cx="14097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45" dirty="0">
                <a:latin typeface="Perpetua"/>
                <a:cs typeface="Perpetua"/>
              </a:rPr>
              <a:t>Answer</a:t>
            </a:r>
            <a:endParaRPr sz="4000">
              <a:latin typeface="Perpetua"/>
              <a:cs typeface="Perpetu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736975" y="1882266"/>
            <a:ext cx="140525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0000"/>
                </a:solidFill>
                <a:latin typeface="Perpetua"/>
                <a:cs typeface="Perpetua"/>
              </a:rPr>
              <a:t>Trevor</a:t>
            </a:r>
            <a:r>
              <a:rPr sz="1800" spc="-25" dirty="0">
                <a:solidFill>
                  <a:srgbClr val="FF0000"/>
                </a:solidFill>
                <a:latin typeface="Wingdings"/>
                <a:cs typeface="Wingdings"/>
              </a:rPr>
              <a:t></a:t>
            </a:r>
            <a:r>
              <a:rPr sz="1800" spc="-25" dirty="0">
                <a:solidFill>
                  <a:srgbClr val="FF0000"/>
                </a:solidFill>
                <a:latin typeface="Perpetua"/>
                <a:cs typeface="Perpetua"/>
              </a:rPr>
              <a:t>Alf  </a:t>
            </a:r>
            <a:r>
              <a:rPr sz="1800" dirty="0">
                <a:solidFill>
                  <a:srgbClr val="FF0000"/>
                </a:solidFill>
                <a:latin typeface="Perpetua"/>
                <a:cs typeface="Perpetua"/>
              </a:rPr>
              <a:t>Alf</a:t>
            </a:r>
            <a:r>
              <a:rPr sz="1800" dirty="0">
                <a:solidFill>
                  <a:srgbClr val="FF0000"/>
                </a:solidFill>
                <a:latin typeface="Wingdings"/>
                <a:cs typeface="Wingdings"/>
              </a:rPr>
              <a:t></a:t>
            </a:r>
            <a:r>
              <a:rPr sz="1800" dirty="0">
                <a:solidFill>
                  <a:srgbClr val="FF0000"/>
                </a:solidFill>
                <a:latin typeface="Perpetua"/>
                <a:cs typeface="Perpetua"/>
              </a:rPr>
              <a:t>Bridgit  </a:t>
            </a:r>
            <a:r>
              <a:rPr sz="1800" spc="5" dirty="0">
                <a:solidFill>
                  <a:srgbClr val="FF0000"/>
                </a:solidFill>
                <a:latin typeface="Perpetua"/>
                <a:cs typeface="Perpetua"/>
              </a:rPr>
              <a:t>Bridgit</a:t>
            </a:r>
            <a:r>
              <a:rPr sz="1800" spc="5" dirty="0">
                <a:solidFill>
                  <a:srgbClr val="FF0000"/>
                </a:solidFill>
                <a:latin typeface="Wingdings"/>
                <a:cs typeface="Wingdings"/>
              </a:rPr>
              <a:t></a:t>
            </a:r>
            <a:r>
              <a:rPr sz="1800" spc="-3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spc="-35" dirty="0">
                <a:solidFill>
                  <a:srgbClr val="FF0000"/>
                </a:solidFill>
                <a:latin typeface="Perpetua"/>
                <a:cs typeface="Perpetua"/>
              </a:rPr>
              <a:t>Trevor</a:t>
            </a:r>
            <a:endParaRPr sz="18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09600" y="1752600"/>
            <a:ext cx="2819400" cy="16581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09600" y="3733800"/>
            <a:ext cx="2785872" cy="206654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810000" y="2133600"/>
            <a:ext cx="4762500" cy="326745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83540" y="516381"/>
            <a:ext cx="7773034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  <a:buSzPct val="96428"/>
              <a:buFont typeface="Wingdings"/>
              <a:buChar char=""/>
              <a:tabLst>
                <a:tab pos="292735" algn="l"/>
              </a:tabLst>
            </a:pPr>
            <a:r>
              <a:rPr sz="2800" i="1" spc="-5" dirty="0">
                <a:latin typeface="Perpetua"/>
                <a:cs typeface="Perpetua"/>
              </a:rPr>
              <a:t>Identify the </a:t>
            </a:r>
            <a:r>
              <a:rPr sz="2800" i="1" spc="-10" dirty="0">
                <a:latin typeface="Perpetua"/>
                <a:cs typeface="Perpetua"/>
              </a:rPr>
              <a:t>datatype </a:t>
            </a:r>
            <a:r>
              <a:rPr sz="2800" i="1" spc="-5" dirty="0">
                <a:latin typeface="Perpetua"/>
                <a:cs typeface="Perpetua"/>
              </a:rPr>
              <a:t>of </a:t>
            </a:r>
            <a:r>
              <a:rPr sz="2800" i="1" dirty="0">
                <a:latin typeface="Perpetua"/>
                <a:cs typeface="Perpetua"/>
              </a:rPr>
              <a:t>the </a:t>
            </a:r>
            <a:r>
              <a:rPr sz="2800" i="1" spc="-15" dirty="0">
                <a:latin typeface="Perpetua"/>
                <a:cs typeface="Perpetua"/>
              </a:rPr>
              <a:t>binding(number, </a:t>
            </a:r>
            <a:r>
              <a:rPr sz="2800" i="1" spc="5" dirty="0">
                <a:latin typeface="Perpetua"/>
                <a:cs typeface="Perpetua"/>
              </a:rPr>
              <a:t>string) </a:t>
            </a:r>
            <a:r>
              <a:rPr sz="2800" i="1" spc="-5" dirty="0">
                <a:latin typeface="Perpetua"/>
                <a:cs typeface="Perpetua"/>
              </a:rPr>
              <a:t>and </a:t>
            </a:r>
            <a:r>
              <a:rPr sz="2800" i="1" spc="-10" dirty="0">
                <a:latin typeface="Perpetua"/>
                <a:cs typeface="Perpetua"/>
              </a:rPr>
              <a:t>suggest</a:t>
            </a:r>
            <a:r>
              <a:rPr sz="2800" i="1" spc="-280" dirty="0">
                <a:latin typeface="Perpetua"/>
                <a:cs typeface="Perpetua"/>
              </a:rPr>
              <a:t> </a:t>
            </a:r>
            <a:r>
              <a:rPr sz="2800" i="1" spc="-5" dirty="0">
                <a:latin typeface="Perpetua"/>
                <a:cs typeface="Perpetua"/>
              </a:rPr>
              <a:t>a  </a:t>
            </a:r>
            <a:r>
              <a:rPr sz="2800" i="1" spc="-10" dirty="0">
                <a:latin typeface="Perpetua"/>
                <a:cs typeface="Perpetua"/>
              </a:rPr>
              <a:t>possible </a:t>
            </a:r>
            <a:r>
              <a:rPr sz="2800" i="1" spc="-20" dirty="0">
                <a:latin typeface="Perpetua"/>
                <a:cs typeface="Perpetua"/>
              </a:rPr>
              <a:t>value </a:t>
            </a:r>
            <a:r>
              <a:rPr sz="2800" i="1" spc="-10" dirty="0">
                <a:latin typeface="Perpetua"/>
                <a:cs typeface="Perpetua"/>
              </a:rPr>
              <a:t>that </a:t>
            </a:r>
            <a:r>
              <a:rPr sz="2800" i="1" spc="-5" dirty="0">
                <a:latin typeface="Perpetua"/>
                <a:cs typeface="Perpetua"/>
              </a:rPr>
              <a:t>can be</a:t>
            </a:r>
            <a:r>
              <a:rPr sz="2800" i="1" spc="40" dirty="0">
                <a:latin typeface="Perpetua"/>
                <a:cs typeface="Perpetua"/>
              </a:rPr>
              <a:t> </a:t>
            </a:r>
            <a:r>
              <a:rPr sz="2800" i="1" spc="-10" dirty="0">
                <a:latin typeface="Perpetua"/>
                <a:cs typeface="Perpetua"/>
              </a:rPr>
              <a:t>bound</a:t>
            </a:r>
            <a:endParaRPr sz="2800">
              <a:latin typeface="Perpetua"/>
              <a:cs typeface="Perpetu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772400" y="990600"/>
            <a:ext cx="1132331" cy="9906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200" y="1219200"/>
            <a:ext cx="1685544" cy="990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57200" y="2286000"/>
            <a:ext cx="1888236" cy="12954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584575" y="534670"/>
            <a:ext cx="4302760" cy="5665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0" marR="92583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solidFill>
                  <a:srgbClr val="FF0000"/>
                </a:solidFill>
                <a:latin typeface="Perpetua"/>
                <a:cs typeface="Perpetua"/>
              </a:rPr>
              <a:t>Employee </a:t>
            </a:r>
            <a:r>
              <a:rPr sz="1800" dirty="0">
                <a:solidFill>
                  <a:srgbClr val="FF0000"/>
                </a:solidFill>
                <a:latin typeface="Perpetua"/>
                <a:cs typeface="Perpetua"/>
              </a:rPr>
              <a:t>Id – </a:t>
            </a:r>
            <a:r>
              <a:rPr sz="1800" spc="-25" dirty="0">
                <a:solidFill>
                  <a:srgbClr val="FF0000"/>
                </a:solidFill>
                <a:latin typeface="Perpetua"/>
                <a:cs typeface="Perpetua"/>
              </a:rPr>
              <a:t>Number, </a:t>
            </a:r>
            <a:r>
              <a:rPr sz="1800" spc="5" dirty="0">
                <a:solidFill>
                  <a:srgbClr val="FF0000"/>
                </a:solidFill>
                <a:latin typeface="Perpetua"/>
                <a:cs typeface="Perpetua"/>
              </a:rPr>
              <a:t>First </a:t>
            </a:r>
            <a:r>
              <a:rPr sz="1800" dirty="0">
                <a:solidFill>
                  <a:srgbClr val="FF0000"/>
                </a:solidFill>
                <a:latin typeface="Perpetua"/>
                <a:cs typeface="Perpetua"/>
              </a:rPr>
              <a:t>Name &amp;  Last Name : String, </a:t>
            </a:r>
            <a:r>
              <a:rPr sz="1800" spc="10" dirty="0">
                <a:solidFill>
                  <a:srgbClr val="FF0000"/>
                </a:solidFill>
                <a:latin typeface="Perpetua"/>
                <a:cs typeface="Perpetua"/>
              </a:rPr>
              <a:t>Birth </a:t>
            </a:r>
            <a:r>
              <a:rPr sz="1800" spc="-5" dirty="0">
                <a:solidFill>
                  <a:srgbClr val="FF0000"/>
                </a:solidFill>
                <a:latin typeface="Perpetua"/>
                <a:cs typeface="Perpetua"/>
              </a:rPr>
              <a:t>Date </a:t>
            </a:r>
            <a:r>
              <a:rPr sz="1800" spc="-50" dirty="0">
                <a:solidFill>
                  <a:srgbClr val="FF0000"/>
                </a:solidFill>
                <a:latin typeface="Perpetua"/>
                <a:cs typeface="Perpetua"/>
              </a:rPr>
              <a:t>(Day,  </a:t>
            </a:r>
            <a:r>
              <a:rPr sz="1800" spc="-20" dirty="0">
                <a:solidFill>
                  <a:srgbClr val="FF0000"/>
                </a:solidFill>
                <a:latin typeface="Perpetua"/>
                <a:cs typeface="Perpetua"/>
              </a:rPr>
              <a:t>Month,Year- </a:t>
            </a:r>
            <a:r>
              <a:rPr sz="1800" spc="-5" dirty="0">
                <a:solidFill>
                  <a:srgbClr val="FF0000"/>
                </a:solidFill>
                <a:latin typeface="Perpetua"/>
                <a:cs typeface="Perpetua"/>
              </a:rPr>
              <a:t>number </a:t>
            </a:r>
            <a:r>
              <a:rPr sz="1800" dirty="0">
                <a:solidFill>
                  <a:srgbClr val="FF0000"/>
                </a:solidFill>
                <a:latin typeface="Perpetua"/>
                <a:cs typeface="Perpetua"/>
              </a:rPr>
              <a:t>in </a:t>
            </a:r>
            <a:r>
              <a:rPr sz="1800" spc="-10" dirty="0">
                <a:solidFill>
                  <a:srgbClr val="FF0000"/>
                </a:solidFill>
                <a:latin typeface="Perpetua"/>
                <a:cs typeface="Perpetua"/>
              </a:rPr>
              <a:t>valid </a:t>
            </a:r>
            <a:r>
              <a:rPr sz="1800" dirty="0">
                <a:solidFill>
                  <a:srgbClr val="FF0000"/>
                </a:solidFill>
                <a:latin typeface="Perpetua"/>
                <a:cs typeface="Perpetua"/>
              </a:rPr>
              <a:t>range </a:t>
            </a:r>
            <a:r>
              <a:rPr sz="1800" spc="5" dirty="0">
                <a:solidFill>
                  <a:srgbClr val="FF0000"/>
                </a:solidFill>
                <a:latin typeface="Perpetua"/>
                <a:cs typeface="Perpetua"/>
              </a:rPr>
              <a:t>(1-  </a:t>
            </a:r>
            <a:r>
              <a:rPr sz="1800" dirty="0">
                <a:solidFill>
                  <a:srgbClr val="FF0000"/>
                </a:solidFill>
                <a:latin typeface="Perpetua"/>
                <a:cs typeface="Perpetua"/>
              </a:rPr>
              <a:t>31,1-12…, SUBMIT</a:t>
            </a:r>
            <a:r>
              <a:rPr sz="1800" spc="-130" dirty="0">
                <a:solidFill>
                  <a:srgbClr val="FF0000"/>
                </a:solidFill>
                <a:latin typeface="Perpetua"/>
                <a:cs typeface="Perpetua"/>
              </a:rPr>
              <a:t> </a:t>
            </a:r>
            <a:r>
              <a:rPr sz="1800" dirty="0">
                <a:solidFill>
                  <a:srgbClr val="FF0000"/>
                </a:solidFill>
                <a:latin typeface="Perpetua"/>
                <a:cs typeface="Perpetua"/>
              </a:rPr>
              <a:t>(Boolean-</a:t>
            </a:r>
            <a:endParaRPr sz="1800">
              <a:latin typeface="Perpetua"/>
              <a:cs typeface="Perpetua"/>
            </a:endParaRPr>
          </a:p>
          <a:p>
            <a:pPr marL="165100">
              <a:lnSpc>
                <a:spcPct val="100000"/>
              </a:lnSpc>
            </a:pPr>
            <a:r>
              <a:rPr sz="1800" spc="-5" dirty="0">
                <a:solidFill>
                  <a:srgbClr val="FF0000"/>
                </a:solidFill>
                <a:latin typeface="Perpetua"/>
                <a:cs typeface="Perpetua"/>
              </a:rPr>
              <a:t>Clicked=</a:t>
            </a:r>
            <a:r>
              <a:rPr sz="1800" spc="-229" dirty="0">
                <a:solidFill>
                  <a:srgbClr val="FF0000"/>
                </a:solidFill>
                <a:latin typeface="Perpetua"/>
                <a:cs typeface="Perpetua"/>
              </a:rPr>
              <a:t> </a:t>
            </a:r>
            <a:r>
              <a:rPr sz="1800" spc="-15" dirty="0">
                <a:solidFill>
                  <a:srgbClr val="FF0000"/>
                </a:solidFill>
                <a:latin typeface="Perpetua"/>
                <a:cs typeface="Perpetua"/>
              </a:rPr>
              <a:t>True/False)</a:t>
            </a:r>
            <a:endParaRPr sz="1800">
              <a:latin typeface="Perpetua"/>
              <a:cs typeface="Perpetua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1800" spc="-5" dirty="0">
                <a:solidFill>
                  <a:srgbClr val="FF0000"/>
                </a:solidFill>
                <a:latin typeface="Perpetua"/>
                <a:cs typeface="Perpetua"/>
              </a:rPr>
              <a:t>E-mail </a:t>
            </a:r>
            <a:r>
              <a:rPr sz="1800" dirty="0">
                <a:solidFill>
                  <a:srgbClr val="FF0000"/>
                </a:solidFill>
                <a:latin typeface="Perpetua"/>
                <a:cs typeface="Perpetua"/>
              </a:rPr>
              <a:t>(String):</a:t>
            </a:r>
            <a:r>
              <a:rPr sz="1800" spc="-90" dirty="0">
                <a:solidFill>
                  <a:srgbClr val="FF0000"/>
                </a:solidFill>
                <a:latin typeface="Perpetua"/>
                <a:cs typeface="Perpetua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Perpetua"/>
                <a:cs typeface="Perpetua"/>
                <a:hlinkClick r:id="rId4"/>
              </a:rPr>
              <a:t>joe@example.com</a:t>
            </a:r>
            <a:endParaRPr sz="1800">
              <a:latin typeface="Perpetua"/>
              <a:cs typeface="Perpetua"/>
            </a:endParaRPr>
          </a:p>
          <a:p>
            <a:pPr marL="12700" marR="238125">
              <a:lnSpc>
                <a:spcPct val="100000"/>
              </a:lnSpc>
            </a:pPr>
            <a:r>
              <a:rPr sz="1800" spc="-5" dirty="0">
                <a:solidFill>
                  <a:srgbClr val="FF0000"/>
                </a:solidFill>
                <a:latin typeface="Perpetua"/>
                <a:cs typeface="Perpetua"/>
              </a:rPr>
              <a:t>As </a:t>
            </a:r>
            <a:r>
              <a:rPr sz="1800" spc="-10" dirty="0">
                <a:solidFill>
                  <a:srgbClr val="FF0000"/>
                </a:solidFill>
                <a:latin typeface="Perpetua"/>
                <a:cs typeface="Perpetua"/>
              </a:rPr>
              <a:t>you </a:t>
            </a:r>
            <a:r>
              <a:rPr sz="1800" dirty="0">
                <a:solidFill>
                  <a:srgbClr val="FF0000"/>
                </a:solidFill>
                <a:latin typeface="Perpetua"/>
                <a:cs typeface="Perpetua"/>
              </a:rPr>
              <a:t>can </a:t>
            </a:r>
            <a:r>
              <a:rPr sz="1800" spc="-10" dirty="0">
                <a:solidFill>
                  <a:srgbClr val="FF0000"/>
                </a:solidFill>
                <a:latin typeface="Perpetua"/>
                <a:cs typeface="Perpetua"/>
              </a:rPr>
              <a:t>see, </a:t>
            </a:r>
            <a:r>
              <a:rPr sz="1800" dirty="0">
                <a:solidFill>
                  <a:srgbClr val="FF0000"/>
                </a:solidFill>
                <a:latin typeface="Perpetua"/>
                <a:cs typeface="Perpetua"/>
              </a:rPr>
              <a:t>the address has four</a:t>
            </a:r>
            <a:r>
              <a:rPr sz="1800" spc="-229" dirty="0">
                <a:solidFill>
                  <a:srgbClr val="FF0000"/>
                </a:solidFill>
                <a:latin typeface="Perpetua"/>
                <a:cs typeface="Perpetua"/>
              </a:rPr>
              <a:t> </a:t>
            </a:r>
            <a:r>
              <a:rPr sz="1800" dirty="0">
                <a:solidFill>
                  <a:srgbClr val="FF0000"/>
                </a:solidFill>
                <a:latin typeface="Perpetua"/>
                <a:cs typeface="Perpetua"/>
              </a:rPr>
              <a:t>components,  joe</a:t>
            </a:r>
            <a:endParaRPr sz="1800">
              <a:latin typeface="Perpetua"/>
              <a:cs typeface="Perpetua"/>
            </a:endParaRPr>
          </a:p>
          <a:p>
            <a:pPr marL="12700" marR="3583304">
              <a:lnSpc>
                <a:spcPct val="100000"/>
              </a:lnSpc>
            </a:pPr>
            <a:r>
              <a:rPr sz="1800" dirty="0">
                <a:solidFill>
                  <a:srgbClr val="FF0000"/>
                </a:solidFill>
                <a:latin typeface="Perpetua"/>
                <a:cs typeface="Perpetua"/>
              </a:rPr>
              <a:t>@  ex</a:t>
            </a:r>
            <a:r>
              <a:rPr sz="1800" spc="5" dirty="0">
                <a:solidFill>
                  <a:srgbClr val="FF0000"/>
                </a:solidFill>
                <a:latin typeface="Perpetua"/>
                <a:cs typeface="Perpetua"/>
              </a:rPr>
              <a:t>a</a:t>
            </a:r>
            <a:r>
              <a:rPr sz="1800" spc="-5" dirty="0">
                <a:solidFill>
                  <a:srgbClr val="FF0000"/>
                </a:solidFill>
                <a:latin typeface="Perpetua"/>
                <a:cs typeface="Perpetua"/>
              </a:rPr>
              <a:t>m</a:t>
            </a:r>
            <a:r>
              <a:rPr sz="1800" dirty="0">
                <a:solidFill>
                  <a:srgbClr val="FF0000"/>
                </a:solidFill>
                <a:latin typeface="Perpetua"/>
                <a:cs typeface="Perpetua"/>
              </a:rPr>
              <a:t>p</a:t>
            </a:r>
            <a:r>
              <a:rPr sz="1800" spc="-5" dirty="0">
                <a:solidFill>
                  <a:srgbClr val="FF0000"/>
                </a:solidFill>
                <a:latin typeface="Perpetua"/>
                <a:cs typeface="Perpetua"/>
              </a:rPr>
              <a:t>le  </a:t>
            </a:r>
            <a:r>
              <a:rPr sz="1800" dirty="0">
                <a:solidFill>
                  <a:srgbClr val="FF0000"/>
                </a:solidFill>
                <a:latin typeface="Perpetua"/>
                <a:cs typeface="Perpetua"/>
              </a:rPr>
              <a:t>com</a:t>
            </a:r>
            <a:endParaRPr sz="1800">
              <a:latin typeface="Perpetua"/>
              <a:cs typeface="Perpetua"/>
            </a:endParaRPr>
          </a:p>
          <a:p>
            <a:pPr marL="12700" marR="348615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solidFill>
                  <a:srgbClr val="FF0000"/>
                </a:solidFill>
                <a:latin typeface="Perpetua"/>
                <a:cs typeface="Perpetua"/>
              </a:rPr>
              <a:t>'Joe' </a:t>
            </a:r>
            <a:r>
              <a:rPr sz="1800" dirty="0">
                <a:solidFill>
                  <a:srgbClr val="FF0000"/>
                </a:solidFill>
                <a:latin typeface="Perpetua"/>
                <a:cs typeface="Perpetua"/>
              </a:rPr>
              <a:t>corresponds to the </a:t>
            </a:r>
            <a:r>
              <a:rPr sz="1800" spc="-5" dirty="0">
                <a:solidFill>
                  <a:srgbClr val="FF0000"/>
                </a:solidFill>
                <a:latin typeface="Perpetua"/>
                <a:cs typeface="Perpetua"/>
              </a:rPr>
              <a:t>'local' </a:t>
            </a:r>
            <a:r>
              <a:rPr sz="1800" dirty="0">
                <a:solidFill>
                  <a:srgbClr val="FF0000"/>
                </a:solidFill>
                <a:latin typeface="Perpetua"/>
                <a:cs typeface="Perpetua"/>
              </a:rPr>
              <a:t>segment of the  address, and is the </a:t>
            </a:r>
            <a:r>
              <a:rPr sz="1800" spc="-5" dirty="0">
                <a:solidFill>
                  <a:srgbClr val="FF0000"/>
                </a:solidFill>
                <a:latin typeface="Perpetua"/>
                <a:cs typeface="Perpetua"/>
              </a:rPr>
              <a:t>recipients </a:t>
            </a:r>
            <a:r>
              <a:rPr sz="1800" spc="5" dirty="0">
                <a:solidFill>
                  <a:srgbClr val="FF0000"/>
                </a:solidFill>
                <a:latin typeface="Perpetua"/>
                <a:cs typeface="Perpetua"/>
              </a:rPr>
              <a:t>username </a:t>
            </a:r>
            <a:r>
              <a:rPr sz="1800" spc="-5" dirty="0">
                <a:solidFill>
                  <a:srgbClr val="FF0000"/>
                </a:solidFill>
                <a:latin typeface="Perpetua"/>
                <a:cs typeface="Perpetua"/>
              </a:rPr>
              <a:t>at </a:t>
            </a:r>
            <a:r>
              <a:rPr sz="1800" dirty="0">
                <a:solidFill>
                  <a:srgbClr val="FF0000"/>
                </a:solidFill>
                <a:latin typeface="Perpetua"/>
                <a:cs typeface="Perpetua"/>
              </a:rPr>
              <a:t>a</a:t>
            </a:r>
            <a:r>
              <a:rPr sz="1800" spc="-240" dirty="0">
                <a:solidFill>
                  <a:srgbClr val="FF0000"/>
                </a:solidFill>
                <a:latin typeface="Perpetua"/>
                <a:cs typeface="Perpetua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Perpetua"/>
                <a:cs typeface="Perpetua"/>
              </a:rPr>
              <a:t>mail  </a:t>
            </a:r>
            <a:r>
              <a:rPr sz="1800" spc="5" dirty="0">
                <a:solidFill>
                  <a:srgbClr val="FF0000"/>
                </a:solidFill>
                <a:latin typeface="Perpetua"/>
                <a:cs typeface="Perpetua"/>
              </a:rPr>
              <a:t>service. </a:t>
            </a:r>
            <a:r>
              <a:rPr sz="1800" dirty="0">
                <a:solidFill>
                  <a:srgbClr val="FF0000"/>
                </a:solidFill>
                <a:latin typeface="Perpetua"/>
                <a:cs typeface="Perpetua"/>
              </a:rPr>
              <a:t>It connects the user to the</a:t>
            </a:r>
            <a:r>
              <a:rPr sz="1800" spc="-250" dirty="0">
                <a:solidFill>
                  <a:srgbClr val="FF0000"/>
                </a:solidFill>
                <a:latin typeface="Perpetua"/>
                <a:cs typeface="Perpetua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Perpetua"/>
                <a:cs typeface="Perpetua"/>
              </a:rPr>
              <a:t>machine.</a:t>
            </a:r>
            <a:endParaRPr sz="1800">
              <a:latin typeface="Perpetua"/>
              <a:cs typeface="Perpetua"/>
            </a:endParaRPr>
          </a:p>
          <a:p>
            <a:pPr marL="12700" marR="5080">
              <a:lnSpc>
                <a:spcPct val="100000"/>
              </a:lnSpc>
            </a:pPr>
            <a:r>
              <a:rPr sz="1800" spc="-5" dirty="0">
                <a:solidFill>
                  <a:srgbClr val="FF0000"/>
                </a:solidFill>
                <a:latin typeface="Perpetua"/>
                <a:cs typeface="Perpetua"/>
              </a:rPr>
              <a:t>The '@' </a:t>
            </a:r>
            <a:r>
              <a:rPr sz="1800" dirty="0">
                <a:solidFill>
                  <a:srgbClr val="FF0000"/>
                </a:solidFill>
                <a:latin typeface="Perpetua"/>
                <a:cs typeface="Perpetua"/>
              </a:rPr>
              <a:t>sign is </a:t>
            </a:r>
            <a:r>
              <a:rPr sz="1800" spc="-5" dirty="0">
                <a:solidFill>
                  <a:srgbClr val="FF0000"/>
                </a:solidFill>
                <a:latin typeface="Perpetua"/>
                <a:cs typeface="Perpetua"/>
              </a:rPr>
              <a:t>also </a:t>
            </a:r>
            <a:r>
              <a:rPr sz="1800" dirty="0">
                <a:solidFill>
                  <a:srgbClr val="FF0000"/>
                </a:solidFill>
                <a:latin typeface="Perpetua"/>
                <a:cs typeface="Perpetua"/>
              </a:rPr>
              <a:t>the one </a:t>
            </a:r>
            <a:r>
              <a:rPr sz="1800" spc="5" dirty="0">
                <a:solidFill>
                  <a:srgbClr val="FF0000"/>
                </a:solidFill>
                <a:latin typeface="Perpetua"/>
                <a:cs typeface="Perpetua"/>
              </a:rPr>
              <a:t>character </a:t>
            </a:r>
            <a:r>
              <a:rPr sz="1800" dirty="0">
                <a:solidFill>
                  <a:srgbClr val="FF0000"/>
                </a:solidFill>
                <a:latin typeface="Perpetua"/>
                <a:cs typeface="Perpetua"/>
              </a:rPr>
              <a:t>of </a:t>
            </a:r>
            <a:r>
              <a:rPr sz="1800" spc="-15" dirty="0">
                <a:solidFill>
                  <a:srgbClr val="FF0000"/>
                </a:solidFill>
                <a:latin typeface="Perpetua"/>
                <a:cs typeface="Perpetua"/>
              </a:rPr>
              <a:t>any </a:t>
            </a:r>
            <a:r>
              <a:rPr sz="1800" dirty="0">
                <a:solidFill>
                  <a:srgbClr val="FF0000"/>
                </a:solidFill>
                <a:latin typeface="Perpetua"/>
                <a:cs typeface="Perpetua"/>
              </a:rPr>
              <a:t>email  address</a:t>
            </a:r>
            <a:r>
              <a:rPr sz="1800" spc="-30" dirty="0">
                <a:solidFill>
                  <a:srgbClr val="FF0000"/>
                </a:solidFill>
                <a:latin typeface="Perpetua"/>
                <a:cs typeface="Perpetua"/>
              </a:rPr>
              <a:t> </a:t>
            </a:r>
            <a:r>
              <a:rPr sz="1800" spc="5" dirty="0">
                <a:solidFill>
                  <a:srgbClr val="FF0000"/>
                </a:solidFill>
                <a:latin typeface="Perpetua"/>
                <a:cs typeface="Perpetua"/>
              </a:rPr>
              <a:t>which</a:t>
            </a:r>
            <a:r>
              <a:rPr sz="1800" spc="-25" dirty="0">
                <a:solidFill>
                  <a:srgbClr val="FF0000"/>
                </a:solidFill>
                <a:latin typeface="Perpetua"/>
                <a:cs typeface="Perpetua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Perpetua"/>
                <a:cs typeface="Perpetua"/>
              </a:rPr>
              <a:t>remains</a:t>
            </a:r>
            <a:r>
              <a:rPr sz="1800" spc="-10" dirty="0">
                <a:solidFill>
                  <a:srgbClr val="FF0000"/>
                </a:solidFill>
                <a:latin typeface="Perpetua"/>
                <a:cs typeface="Perpetua"/>
              </a:rPr>
              <a:t> </a:t>
            </a:r>
            <a:r>
              <a:rPr sz="1800" dirty="0">
                <a:solidFill>
                  <a:srgbClr val="FF0000"/>
                </a:solidFill>
                <a:latin typeface="Perpetua"/>
                <a:cs typeface="Perpetua"/>
              </a:rPr>
              <a:t>the</a:t>
            </a:r>
            <a:r>
              <a:rPr sz="1800" spc="-25" dirty="0">
                <a:solidFill>
                  <a:srgbClr val="FF0000"/>
                </a:solidFill>
                <a:latin typeface="Perpetua"/>
                <a:cs typeface="Perpetua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Perpetua"/>
                <a:cs typeface="Perpetua"/>
              </a:rPr>
              <a:t>same.</a:t>
            </a:r>
            <a:r>
              <a:rPr sz="1800" spc="-80" dirty="0">
                <a:solidFill>
                  <a:srgbClr val="FF0000"/>
                </a:solidFill>
                <a:latin typeface="Perpetua"/>
                <a:cs typeface="Perpetua"/>
              </a:rPr>
              <a:t> </a:t>
            </a:r>
            <a:r>
              <a:rPr sz="1800" spc="-25" dirty="0">
                <a:solidFill>
                  <a:srgbClr val="FF0000"/>
                </a:solidFill>
                <a:latin typeface="Perpetua"/>
                <a:cs typeface="Perpetua"/>
              </a:rPr>
              <a:t>Ray</a:t>
            </a:r>
            <a:r>
              <a:rPr sz="1800" spc="-225" dirty="0">
                <a:solidFill>
                  <a:srgbClr val="FF0000"/>
                </a:solidFill>
                <a:latin typeface="Perpetua"/>
                <a:cs typeface="Perpetua"/>
              </a:rPr>
              <a:t> </a:t>
            </a:r>
            <a:r>
              <a:rPr sz="1800" spc="-30" dirty="0">
                <a:solidFill>
                  <a:srgbClr val="FF0000"/>
                </a:solidFill>
                <a:latin typeface="Perpetua"/>
                <a:cs typeface="Perpetua"/>
              </a:rPr>
              <a:t>Tomlinson</a:t>
            </a:r>
            <a:r>
              <a:rPr sz="1800" dirty="0">
                <a:solidFill>
                  <a:srgbClr val="FF0000"/>
                </a:solidFill>
                <a:latin typeface="Perpetua"/>
                <a:cs typeface="Perpetua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Perpetua"/>
                <a:cs typeface="Perpetua"/>
              </a:rPr>
              <a:t>was  </a:t>
            </a:r>
            <a:r>
              <a:rPr sz="1800" spc="-5" dirty="0">
                <a:solidFill>
                  <a:srgbClr val="FF0000"/>
                </a:solidFill>
                <a:latin typeface="Perpetua"/>
                <a:cs typeface="Perpetua"/>
              </a:rPr>
              <a:t>responsible </a:t>
            </a:r>
            <a:r>
              <a:rPr sz="1800" dirty="0">
                <a:solidFill>
                  <a:srgbClr val="FF0000"/>
                </a:solidFill>
                <a:latin typeface="Perpetua"/>
                <a:cs typeface="Perpetua"/>
              </a:rPr>
              <a:t>for proposing the use of the </a:t>
            </a:r>
            <a:r>
              <a:rPr sz="1800" spc="-5" dirty="0">
                <a:solidFill>
                  <a:srgbClr val="FF0000"/>
                </a:solidFill>
                <a:latin typeface="Perpetua"/>
                <a:cs typeface="Perpetua"/>
              </a:rPr>
              <a:t>'@' </a:t>
            </a:r>
            <a:r>
              <a:rPr sz="1800" dirty="0">
                <a:solidFill>
                  <a:srgbClr val="FF0000"/>
                </a:solidFill>
                <a:latin typeface="Perpetua"/>
                <a:cs typeface="Perpetua"/>
              </a:rPr>
              <a:t>sign in  1971.</a:t>
            </a:r>
            <a:endParaRPr sz="1800">
              <a:latin typeface="Perpetua"/>
              <a:cs typeface="Perpetua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FF0000"/>
                </a:solidFill>
                <a:latin typeface="Perpetua"/>
                <a:cs typeface="Perpetua"/>
              </a:rPr>
              <a:t>Part 3 </a:t>
            </a:r>
            <a:r>
              <a:rPr sz="1800" spc="-5" dirty="0">
                <a:solidFill>
                  <a:srgbClr val="FF0000"/>
                </a:solidFill>
                <a:latin typeface="Perpetua"/>
                <a:cs typeface="Perpetua"/>
              </a:rPr>
              <a:t>and </a:t>
            </a:r>
            <a:r>
              <a:rPr sz="1800" dirty="0">
                <a:solidFill>
                  <a:srgbClr val="FF0000"/>
                </a:solidFill>
                <a:latin typeface="Perpetua"/>
                <a:cs typeface="Perpetua"/>
              </a:rPr>
              <a:t>4 of </a:t>
            </a:r>
            <a:r>
              <a:rPr sz="1800" spc="-5" dirty="0">
                <a:solidFill>
                  <a:srgbClr val="FF0000"/>
                </a:solidFill>
                <a:latin typeface="Perpetua"/>
                <a:cs typeface="Perpetua"/>
              </a:rPr>
              <a:t>an e-mail address are </a:t>
            </a:r>
            <a:r>
              <a:rPr sz="1800" dirty="0">
                <a:solidFill>
                  <a:srgbClr val="FF0000"/>
                </a:solidFill>
                <a:latin typeface="Perpetua"/>
                <a:cs typeface="Perpetua"/>
              </a:rPr>
              <a:t>the</a:t>
            </a:r>
            <a:r>
              <a:rPr sz="1800" spc="-80" dirty="0">
                <a:solidFill>
                  <a:srgbClr val="FF0000"/>
                </a:solidFill>
                <a:latin typeface="Perpetua"/>
                <a:cs typeface="Perpetua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Perpetua"/>
                <a:cs typeface="Perpetua"/>
              </a:rPr>
              <a:t>hostname,</a:t>
            </a:r>
            <a:endParaRPr sz="1800">
              <a:latin typeface="Perpetua"/>
              <a:cs typeface="Perpetu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spc="-5" dirty="0">
                <a:solidFill>
                  <a:srgbClr val="FF0000"/>
                </a:solidFill>
                <a:latin typeface="Perpetua"/>
                <a:cs typeface="Perpetua"/>
              </a:rPr>
              <a:t>'example.com'.</a:t>
            </a:r>
            <a:endParaRPr sz="1800">
              <a:latin typeface="Perpetua"/>
              <a:cs typeface="Perpetu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9740" y="3659504"/>
            <a:ext cx="12877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0000"/>
                </a:solidFill>
                <a:latin typeface="Perpetua"/>
                <a:cs typeface="Perpetua"/>
              </a:rPr>
              <a:t>Phone</a:t>
            </a:r>
            <a:r>
              <a:rPr sz="1800" spc="-95" dirty="0">
                <a:solidFill>
                  <a:srgbClr val="FF0000"/>
                </a:solidFill>
                <a:latin typeface="Perpetua"/>
                <a:cs typeface="Perpetua"/>
              </a:rPr>
              <a:t> </a:t>
            </a:r>
            <a:r>
              <a:rPr sz="1800" dirty="0">
                <a:solidFill>
                  <a:srgbClr val="FF0000"/>
                </a:solidFill>
                <a:latin typeface="Perpetua"/>
                <a:cs typeface="Perpetua"/>
              </a:rPr>
              <a:t>Number</a:t>
            </a:r>
            <a:endParaRPr sz="1800">
              <a:latin typeface="Perpetua"/>
              <a:cs typeface="Perpetua"/>
            </a:endParaRPr>
          </a:p>
          <a:p>
            <a:pPr marL="12700">
              <a:lnSpc>
                <a:spcPct val="100000"/>
              </a:lnSpc>
            </a:pPr>
            <a:r>
              <a:rPr sz="1800" b="1" spc="-5" dirty="0">
                <a:solidFill>
                  <a:srgbClr val="FF0000"/>
                </a:solidFill>
                <a:latin typeface="Perpetua"/>
                <a:cs typeface="Perpetua"/>
              </a:rPr>
              <a:t>Landline</a:t>
            </a:r>
            <a:endParaRPr sz="1800">
              <a:latin typeface="Perpetua"/>
              <a:cs typeface="Perpetu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59740" y="4207840"/>
            <a:ext cx="754380" cy="575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2865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0000"/>
                </a:solidFill>
                <a:latin typeface="Perpetua"/>
                <a:cs typeface="Perpetua"/>
              </a:rPr>
              <a:t>aaa</a:t>
            </a:r>
            <a:endParaRPr sz="1800">
              <a:latin typeface="Perpetua"/>
              <a:cs typeface="Perpetu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spc="-5" dirty="0">
                <a:solidFill>
                  <a:srgbClr val="FF0000"/>
                </a:solidFill>
                <a:latin typeface="Perpetua"/>
                <a:cs typeface="Perpetua"/>
              </a:rPr>
              <a:t>areacode</a:t>
            </a:r>
            <a:endParaRPr sz="1800">
              <a:latin typeface="Perpetua"/>
              <a:cs typeface="Perpetu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74394" y="4207840"/>
            <a:ext cx="1310640" cy="849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0000"/>
                </a:solidFill>
                <a:latin typeface="Perpetua"/>
                <a:cs typeface="Perpetua"/>
              </a:rPr>
              <a:t>nnn</a:t>
            </a:r>
            <a:r>
              <a:rPr sz="1800" spc="-20" dirty="0">
                <a:solidFill>
                  <a:srgbClr val="FF0000"/>
                </a:solidFill>
                <a:latin typeface="Perpetua"/>
                <a:cs typeface="Perpetua"/>
              </a:rPr>
              <a:t> </a:t>
            </a:r>
            <a:r>
              <a:rPr sz="1800" dirty="0">
                <a:solidFill>
                  <a:srgbClr val="FF0000"/>
                </a:solidFill>
                <a:latin typeface="Perpetua"/>
                <a:cs typeface="Perpetua"/>
              </a:rPr>
              <a:t>nnnn</a:t>
            </a:r>
            <a:endParaRPr sz="1800">
              <a:latin typeface="Perpetua"/>
              <a:cs typeface="Perpetua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sz="1800" spc="-5" dirty="0">
                <a:solidFill>
                  <a:srgbClr val="FF0000"/>
                </a:solidFill>
                <a:latin typeface="Perpetua"/>
                <a:cs typeface="Perpetua"/>
              </a:rPr>
              <a:t>local</a:t>
            </a:r>
            <a:r>
              <a:rPr sz="1800" spc="-60" dirty="0">
                <a:solidFill>
                  <a:srgbClr val="FF0000"/>
                </a:solidFill>
                <a:latin typeface="Perpetua"/>
                <a:cs typeface="Perpetua"/>
              </a:rPr>
              <a:t> </a:t>
            </a:r>
            <a:r>
              <a:rPr sz="1800" dirty="0">
                <a:solidFill>
                  <a:srgbClr val="FF0000"/>
                </a:solidFill>
                <a:latin typeface="Perpetua"/>
                <a:cs typeface="Perpetua"/>
              </a:rPr>
              <a:t>subscriber  </a:t>
            </a:r>
            <a:r>
              <a:rPr sz="1800" spc="-5" dirty="0">
                <a:solidFill>
                  <a:srgbClr val="FF0000"/>
                </a:solidFill>
                <a:latin typeface="Perpetua"/>
                <a:cs typeface="Perpetua"/>
              </a:rPr>
              <a:t>number</a:t>
            </a:r>
            <a:endParaRPr sz="1800">
              <a:latin typeface="Perpetua"/>
              <a:cs typeface="Perpetua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440690" y="5085374"/>
          <a:ext cx="2790825" cy="135950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38200"/>
                <a:gridCol w="876300"/>
                <a:gridCol w="1076325"/>
              </a:tblGrid>
              <a:tr h="268147">
                <a:tc>
                  <a:txBody>
                    <a:bodyPr/>
                    <a:lstStyle/>
                    <a:p>
                      <a:pPr marL="31750">
                        <a:lnSpc>
                          <a:spcPts val="1835"/>
                        </a:lnSpc>
                      </a:pPr>
                      <a:r>
                        <a:rPr sz="1800" b="1" dirty="0">
                          <a:solidFill>
                            <a:srgbClr val="FF0000"/>
                          </a:solidFill>
                          <a:latin typeface="Perpetua"/>
                          <a:cs typeface="Perpetua"/>
                        </a:rPr>
                        <a:t>Mobile</a:t>
                      </a:r>
                      <a:endParaRPr sz="1800" dirty="0">
                        <a:latin typeface="Perpetua"/>
                        <a:cs typeface="Perpetua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274169">
                <a:tc>
                  <a:txBody>
                    <a:bodyPr/>
                    <a:lstStyle/>
                    <a:p>
                      <a:pPr marL="31750">
                        <a:lnSpc>
                          <a:spcPts val="1885"/>
                        </a:lnSpc>
                      </a:pPr>
                      <a:r>
                        <a:rPr sz="1800" dirty="0">
                          <a:solidFill>
                            <a:srgbClr val="FF0000"/>
                          </a:solidFill>
                          <a:latin typeface="Perpetua"/>
                          <a:cs typeface="Perpetua"/>
                        </a:rPr>
                        <a:t>9x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7950">
                        <a:lnSpc>
                          <a:spcPts val="1885"/>
                        </a:lnSpc>
                      </a:pPr>
                      <a:r>
                        <a:rPr sz="1800" dirty="0">
                          <a:solidFill>
                            <a:srgbClr val="FF0000"/>
                          </a:solidFill>
                          <a:latin typeface="Perpetua"/>
                          <a:cs typeface="Perpetua"/>
                        </a:rPr>
                        <a:t>aaa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6050">
                        <a:lnSpc>
                          <a:spcPts val="1885"/>
                        </a:lnSpc>
                      </a:pPr>
                      <a:r>
                        <a:rPr sz="1800" dirty="0">
                          <a:solidFill>
                            <a:srgbClr val="FF0000"/>
                          </a:solidFill>
                          <a:latin typeface="Perpetua"/>
                          <a:cs typeface="Perpetua"/>
                        </a:rPr>
                        <a:t>nnnnn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0" marB="0"/>
                </a:tc>
              </a:tr>
              <a:tr h="274621">
                <a:tc>
                  <a:txBody>
                    <a:bodyPr/>
                    <a:lstStyle/>
                    <a:p>
                      <a:pPr marL="31750">
                        <a:lnSpc>
                          <a:spcPts val="1885"/>
                        </a:lnSpc>
                      </a:pPr>
                      <a:r>
                        <a:rPr sz="1800" spc="-5" dirty="0">
                          <a:solidFill>
                            <a:srgbClr val="FF0000"/>
                          </a:solidFill>
                          <a:latin typeface="Perpetua"/>
                          <a:cs typeface="Perpetua"/>
                        </a:rPr>
                        <a:t>Access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8115">
                        <a:lnSpc>
                          <a:spcPts val="1885"/>
                        </a:lnSpc>
                      </a:pPr>
                      <a:r>
                        <a:rPr sz="1800" spc="-5" dirty="0">
                          <a:solidFill>
                            <a:srgbClr val="FF0000"/>
                          </a:solidFill>
                          <a:latin typeface="Perpetua"/>
                          <a:cs typeface="Perpetua"/>
                        </a:rPr>
                        <a:t>mobile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6215">
                        <a:lnSpc>
                          <a:spcPts val="1885"/>
                        </a:lnSpc>
                      </a:pPr>
                      <a:r>
                        <a:rPr sz="1800" spc="-5" dirty="0">
                          <a:solidFill>
                            <a:srgbClr val="FF0000"/>
                          </a:solidFill>
                          <a:latin typeface="Perpetua"/>
                          <a:cs typeface="Perpetua"/>
                        </a:rPr>
                        <a:t>local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0" marB="0"/>
                </a:tc>
              </a:tr>
              <a:tr h="274422">
                <a:tc>
                  <a:txBody>
                    <a:bodyPr/>
                    <a:lstStyle/>
                    <a:p>
                      <a:pPr marL="31750">
                        <a:lnSpc>
                          <a:spcPts val="1885"/>
                        </a:lnSpc>
                      </a:pPr>
                      <a:r>
                        <a:rPr sz="1800" dirty="0">
                          <a:solidFill>
                            <a:srgbClr val="FF0000"/>
                          </a:solidFill>
                          <a:latin typeface="Perpetua"/>
                          <a:cs typeface="Perpetua"/>
                        </a:rPr>
                        <a:t>code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8115">
                        <a:lnSpc>
                          <a:spcPts val="1885"/>
                        </a:lnSpc>
                      </a:pPr>
                      <a:r>
                        <a:rPr sz="1800" spc="-5" dirty="0">
                          <a:solidFill>
                            <a:srgbClr val="FF0000"/>
                          </a:solidFill>
                          <a:latin typeface="Perpetua"/>
                          <a:cs typeface="Perpetua"/>
                        </a:rPr>
                        <a:t>switch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6215">
                        <a:lnSpc>
                          <a:spcPts val="1885"/>
                        </a:lnSpc>
                      </a:pPr>
                      <a:r>
                        <a:rPr sz="1800" dirty="0">
                          <a:solidFill>
                            <a:srgbClr val="FF0000"/>
                          </a:solidFill>
                          <a:latin typeface="Perpetua"/>
                          <a:cs typeface="Perpetua"/>
                        </a:rPr>
                        <a:t>subscriber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0" marB="0"/>
                </a:tc>
              </a:tr>
              <a:tr h="26814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8115">
                        <a:lnSpc>
                          <a:spcPts val="1885"/>
                        </a:lnSpc>
                      </a:pPr>
                      <a:r>
                        <a:rPr sz="1800" dirty="0">
                          <a:solidFill>
                            <a:srgbClr val="FF0000"/>
                          </a:solidFill>
                          <a:latin typeface="Perpetua"/>
                          <a:cs typeface="Perpetua"/>
                        </a:rPr>
                        <a:t>code</a:t>
                      </a:r>
                      <a:endParaRPr sz="1800" dirty="0">
                        <a:latin typeface="Perpetua"/>
                        <a:cs typeface="Perpetu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6215">
                        <a:lnSpc>
                          <a:spcPts val="1885"/>
                        </a:lnSpc>
                      </a:pPr>
                      <a:r>
                        <a:rPr sz="1800" spc="-5" dirty="0">
                          <a:solidFill>
                            <a:srgbClr val="FF0000"/>
                          </a:solidFill>
                          <a:latin typeface="Perpetua"/>
                          <a:cs typeface="Perpetua"/>
                        </a:rPr>
                        <a:t>number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535940" y="418846"/>
            <a:ext cx="14097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0" spc="-45" dirty="0">
                <a:latin typeface="Perpetua"/>
                <a:cs typeface="Perpetua"/>
              </a:rPr>
              <a:t>Answer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90600" y="1752600"/>
            <a:ext cx="2785872" cy="20665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06983" y="4498085"/>
            <a:ext cx="757428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0000"/>
                </a:solidFill>
                <a:latin typeface="Perpetua"/>
                <a:cs typeface="Perpetua"/>
              </a:rPr>
              <a:t>E-mail </a:t>
            </a:r>
            <a:r>
              <a:rPr sz="1800" dirty="0">
                <a:solidFill>
                  <a:srgbClr val="FF0000"/>
                </a:solidFill>
                <a:latin typeface="Perpetua"/>
                <a:cs typeface="Perpetua"/>
              </a:rPr>
              <a:t>: </a:t>
            </a:r>
            <a:r>
              <a:rPr sz="1800" spc="-5" dirty="0">
                <a:solidFill>
                  <a:srgbClr val="FF0000"/>
                </a:solidFill>
                <a:latin typeface="Perpetua"/>
                <a:cs typeface="Perpetua"/>
              </a:rPr>
              <a:t>As </a:t>
            </a:r>
            <a:r>
              <a:rPr sz="1800" dirty="0">
                <a:solidFill>
                  <a:srgbClr val="FF0000"/>
                </a:solidFill>
                <a:latin typeface="Perpetua"/>
                <a:cs typeface="Perpetua"/>
              </a:rPr>
              <a:t>discussed in </a:t>
            </a:r>
            <a:r>
              <a:rPr sz="1800" spc="-5" dirty="0">
                <a:solidFill>
                  <a:srgbClr val="FF0000"/>
                </a:solidFill>
                <a:latin typeface="Perpetua"/>
                <a:cs typeface="Perpetua"/>
              </a:rPr>
              <a:t>previous</a:t>
            </a:r>
            <a:r>
              <a:rPr sz="1800" spc="-280" dirty="0">
                <a:solidFill>
                  <a:srgbClr val="FF0000"/>
                </a:solidFill>
                <a:latin typeface="Perpetua"/>
                <a:cs typeface="Perpetua"/>
              </a:rPr>
              <a:t> </a:t>
            </a:r>
            <a:r>
              <a:rPr sz="1800" dirty="0">
                <a:solidFill>
                  <a:srgbClr val="FF0000"/>
                </a:solidFill>
                <a:latin typeface="Perpetua"/>
                <a:cs typeface="Perpetua"/>
              </a:rPr>
              <a:t>slide</a:t>
            </a:r>
            <a:endParaRPr sz="1800">
              <a:latin typeface="Perpetua"/>
              <a:cs typeface="Perpetua"/>
            </a:endParaRPr>
          </a:p>
          <a:p>
            <a:pPr marL="12700" marR="5080">
              <a:lnSpc>
                <a:spcPct val="100000"/>
              </a:lnSpc>
            </a:pPr>
            <a:r>
              <a:rPr sz="1800" spc="-20" dirty="0">
                <a:solidFill>
                  <a:srgbClr val="FF0000"/>
                </a:solidFill>
                <a:latin typeface="Perpetua"/>
                <a:cs typeface="Perpetua"/>
              </a:rPr>
              <a:t>Password: </a:t>
            </a:r>
            <a:r>
              <a:rPr sz="1800" spc="5" dirty="0">
                <a:solidFill>
                  <a:srgbClr val="FF0000"/>
                </a:solidFill>
                <a:latin typeface="Perpetua"/>
                <a:cs typeface="Perpetua"/>
              </a:rPr>
              <a:t>(String </a:t>
            </a:r>
            <a:r>
              <a:rPr sz="1800" dirty="0">
                <a:solidFill>
                  <a:srgbClr val="FF0000"/>
                </a:solidFill>
                <a:latin typeface="Perpetua"/>
                <a:cs typeface="Perpetua"/>
              </a:rPr>
              <a:t>– </a:t>
            </a:r>
            <a:r>
              <a:rPr sz="1800" spc="-5" dirty="0">
                <a:solidFill>
                  <a:srgbClr val="FF0000"/>
                </a:solidFill>
                <a:latin typeface="Perpetua"/>
                <a:cs typeface="Perpetua"/>
              </a:rPr>
              <a:t>Make your </a:t>
            </a:r>
            <a:r>
              <a:rPr sz="1800" spc="-15" dirty="0">
                <a:solidFill>
                  <a:srgbClr val="FF0000"/>
                </a:solidFill>
                <a:latin typeface="Perpetua"/>
                <a:cs typeface="Perpetua"/>
              </a:rPr>
              <a:t>password </a:t>
            </a:r>
            <a:r>
              <a:rPr sz="1800" dirty="0">
                <a:solidFill>
                  <a:srgbClr val="FF0000"/>
                </a:solidFill>
                <a:latin typeface="Perpetua"/>
                <a:cs typeface="Perpetua"/>
              </a:rPr>
              <a:t>strong </a:t>
            </a:r>
            <a:r>
              <a:rPr sz="1800" spc="-20" dirty="0">
                <a:solidFill>
                  <a:srgbClr val="FF0000"/>
                </a:solidFill>
                <a:latin typeface="Perpetua"/>
                <a:cs typeface="Perpetua"/>
              </a:rPr>
              <a:t>by </a:t>
            </a:r>
            <a:r>
              <a:rPr sz="1800" spc="-5" dirty="0">
                <a:solidFill>
                  <a:srgbClr val="FF0000"/>
                </a:solidFill>
                <a:latin typeface="Perpetua"/>
                <a:cs typeface="Perpetua"/>
              </a:rPr>
              <a:t>including </a:t>
            </a:r>
            <a:r>
              <a:rPr sz="1800" dirty="0">
                <a:solidFill>
                  <a:srgbClr val="FF0000"/>
                </a:solidFill>
                <a:latin typeface="Perpetua"/>
                <a:cs typeface="Perpetua"/>
              </a:rPr>
              <a:t>text, </a:t>
            </a:r>
            <a:r>
              <a:rPr sz="1800" spc="-5" dirty="0">
                <a:solidFill>
                  <a:srgbClr val="FF0000"/>
                </a:solidFill>
                <a:latin typeface="Perpetua"/>
                <a:cs typeface="Perpetua"/>
              </a:rPr>
              <a:t>number </a:t>
            </a:r>
            <a:r>
              <a:rPr sz="1800" dirty="0">
                <a:solidFill>
                  <a:srgbClr val="FF0000"/>
                </a:solidFill>
                <a:latin typeface="Perpetua"/>
                <a:cs typeface="Perpetua"/>
              </a:rPr>
              <a:t>and spl</a:t>
            </a:r>
            <a:r>
              <a:rPr sz="1800" spc="-165" dirty="0">
                <a:solidFill>
                  <a:srgbClr val="FF0000"/>
                </a:solidFill>
                <a:latin typeface="Perpetua"/>
                <a:cs typeface="Perpetua"/>
              </a:rPr>
              <a:t> </a:t>
            </a:r>
            <a:r>
              <a:rPr sz="1800" spc="5" dirty="0">
                <a:solidFill>
                  <a:srgbClr val="FF0000"/>
                </a:solidFill>
                <a:latin typeface="Perpetua"/>
                <a:cs typeface="Perpetua"/>
              </a:rPr>
              <a:t>charaters  Login, </a:t>
            </a:r>
            <a:r>
              <a:rPr sz="1800" dirty="0">
                <a:solidFill>
                  <a:srgbClr val="FF0000"/>
                </a:solidFill>
                <a:latin typeface="Perpetua"/>
                <a:cs typeface="Perpetua"/>
              </a:rPr>
              <a:t>Signup</a:t>
            </a:r>
            <a:r>
              <a:rPr sz="1800" spc="35" dirty="0">
                <a:solidFill>
                  <a:srgbClr val="FF0000"/>
                </a:solidFill>
                <a:latin typeface="Perpetua"/>
                <a:cs typeface="Perpetua"/>
              </a:rPr>
              <a:t> </a:t>
            </a:r>
            <a:r>
              <a:rPr sz="1800" dirty="0">
                <a:solidFill>
                  <a:srgbClr val="FF0000"/>
                </a:solidFill>
                <a:latin typeface="Perpetua"/>
                <a:cs typeface="Perpetua"/>
              </a:rPr>
              <a:t>(Boolean- </a:t>
            </a:r>
            <a:r>
              <a:rPr sz="1800" spc="-5" dirty="0">
                <a:solidFill>
                  <a:srgbClr val="FF0000"/>
                </a:solidFill>
                <a:latin typeface="Perpetua"/>
                <a:cs typeface="Perpetua"/>
              </a:rPr>
              <a:t>Clicked= </a:t>
            </a:r>
            <a:r>
              <a:rPr sz="1800" spc="-15" dirty="0">
                <a:solidFill>
                  <a:srgbClr val="FF0000"/>
                </a:solidFill>
                <a:latin typeface="Perpetua"/>
                <a:cs typeface="Perpetua"/>
              </a:rPr>
              <a:t>True/False)</a:t>
            </a:r>
            <a:endParaRPr sz="1800">
              <a:latin typeface="Perpetua"/>
              <a:cs typeface="Perpetu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35940" y="799846"/>
            <a:ext cx="307594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0" spc="-45" dirty="0">
                <a:latin typeface="Perpetua"/>
                <a:cs typeface="Perpetua"/>
              </a:rPr>
              <a:t>Answer</a:t>
            </a:r>
            <a:r>
              <a:rPr i="0" spc="-35" dirty="0">
                <a:latin typeface="Perpetua"/>
                <a:cs typeface="Perpetua"/>
              </a:rPr>
              <a:t> </a:t>
            </a:r>
            <a:r>
              <a:rPr i="0" spc="-5" dirty="0">
                <a:latin typeface="Perpetua"/>
                <a:cs typeface="Perpetua"/>
              </a:rPr>
              <a:t>contd…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340" y="1042162"/>
            <a:ext cx="8528685" cy="418337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2100" indent="-280035">
              <a:lnSpc>
                <a:spcPct val="100000"/>
              </a:lnSpc>
              <a:spcBef>
                <a:spcPts val="105"/>
              </a:spcBef>
              <a:buSzPct val="96428"/>
              <a:buFont typeface="Wingdings"/>
              <a:buChar char=""/>
              <a:tabLst>
                <a:tab pos="292735" algn="l"/>
              </a:tabLst>
            </a:pPr>
            <a:r>
              <a:rPr sz="2800" i="1" spc="-15" dirty="0">
                <a:latin typeface="Perpetua"/>
                <a:cs typeface="Perpetua"/>
              </a:rPr>
              <a:t>Given</a:t>
            </a:r>
            <a:r>
              <a:rPr sz="2800" i="1" spc="5" dirty="0">
                <a:latin typeface="Perpetua"/>
                <a:cs typeface="Perpetua"/>
              </a:rPr>
              <a:t> </a:t>
            </a:r>
            <a:r>
              <a:rPr sz="2800" i="1" spc="-10" dirty="0">
                <a:latin typeface="Perpetua"/>
                <a:cs typeface="Perpetua"/>
              </a:rPr>
              <a:t>that</a:t>
            </a:r>
            <a:r>
              <a:rPr sz="2800" i="1" spc="-15" dirty="0">
                <a:latin typeface="Perpetua"/>
                <a:cs typeface="Perpetua"/>
              </a:rPr>
              <a:t> </a:t>
            </a:r>
            <a:r>
              <a:rPr sz="2800" i="1" spc="-5" dirty="0">
                <a:latin typeface="Perpetua"/>
                <a:cs typeface="Perpetua"/>
              </a:rPr>
              <a:t>width</a:t>
            </a:r>
            <a:r>
              <a:rPr sz="2800" i="1" spc="-10" dirty="0">
                <a:latin typeface="Perpetua"/>
                <a:cs typeface="Perpetua"/>
              </a:rPr>
              <a:t> </a:t>
            </a:r>
            <a:r>
              <a:rPr sz="2800" i="1" spc="-5" dirty="0">
                <a:latin typeface="Perpetua"/>
                <a:cs typeface="Perpetua"/>
              </a:rPr>
              <a:t>=</a:t>
            </a:r>
            <a:r>
              <a:rPr sz="2800" i="1" spc="-10" dirty="0">
                <a:latin typeface="Perpetua"/>
                <a:cs typeface="Perpetua"/>
              </a:rPr>
              <a:t> </a:t>
            </a:r>
            <a:r>
              <a:rPr sz="2800" i="1" spc="-5" dirty="0">
                <a:latin typeface="Perpetua"/>
                <a:cs typeface="Perpetua"/>
              </a:rPr>
              <a:t>17,</a:t>
            </a:r>
            <a:r>
              <a:rPr sz="2800" i="1" spc="-280" dirty="0">
                <a:latin typeface="Perpetua"/>
                <a:cs typeface="Perpetua"/>
              </a:rPr>
              <a:t> </a:t>
            </a:r>
            <a:r>
              <a:rPr sz="2800" i="1" spc="-5" dirty="0">
                <a:latin typeface="Perpetua"/>
                <a:cs typeface="Perpetua"/>
              </a:rPr>
              <a:t>height</a:t>
            </a:r>
            <a:r>
              <a:rPr sz="2800" i="1" spc="-10" dirty="0">
                <a:latin typeface="Perpetua"/>
                <a:cs typeface="Perpetua"/>
              </a:rPr>
              <a:t> </a:t>
            </a:r>
            <a:r>
              <a:rPr sz="2800" i="1" spc="-5" dirty="0">
                <a:latin typeface="Perpetua"/>
                <a:cs typeface="Perpetua"/>
              </a:rPr>
              <a:t>=</a:t>
            </a:r>
            <a:r>
              <a:rPr sz="2800" i="1" spc="-15" dirty="0">
                <a:latin typeface="Perpetua"/>
                <a:cs typeface="Perpetua"/>
              </a:rPr>
              <a:t> </a:t>
            </a:r>
            <a:r>
              <a:rPr sz="2800" i="1" dirty="0">
                <a:latin typeface="Perpetua"/>
                <a:cs typeface="Perpetua"/>
              </a:rPr>
              <a:t>2.0,</a:t>
            </a:r>
            <a:r>
              <a:rPr sz="2800" i="1" spc="-290" dirty="0">
                <a:latin typeface="Perpetua"/>
                <a:cs typeface="Perpetua"/>
              </a:rPr>
              <a:t> </a:t>
            </a:r>
            <a:r>
              <a:rPr sz="2800" i="1" spc="-5" dirty="0">
                <a:latin typeface="Perpetua"/>
                <a:cs typeface="Perpetua"/>
              </a:rPr>
              <a:t>and</a:t>
            </a:r>
            <a:r>
              <a:rPr sz="2800" i="1" spc="5" dirty="0">
                <a:latin typeface="Perpetua"/>
                <a:cs typeface="Perpetua"/>
              </a:rPr>
              <a:t> </a:t>
            </a:r>
            <a:r>
              <a:rPr sz="2800" i="1" spc="-5" dirty="0">
                <a:latin typeface="Perpetua"/>
                <a:cs typeface="Perpetua"/>
              </a:rPr>
              <a:t>delimiter</a:t>
            </a:r>
            <a:r>
              <a:rPr sz="2800" i="1" spc="5" dirty="0">
                <a:latin typeface="Perpetua"/>
                <a:cs typeface="Perpetua"/>
              </a:rPr>
              <a:t> </a:t>
            </a:r>
            <a:r>
              <a:rPr sz="2800" i="1" spc="160" dirty="0">
                <a:latin typeface="Perpetua"/>
                <a:cs typeface="Perpetua"/>
              </a:rPr>
              <a:t>=‘</a:t>
            </a:r>
            <a:r>
              <a:rPr sz="2800" i="1" dirty="0">
                <a:latin typeface="Perpetua"/>
                <a:cs typeface="Perpetua"/>
              </a:rPr>
              <a:t> </a:t>
            </a:r>
            <a:r>
              <a:rPr sz="3200" i="1" dirty="0">
                <a:latin typeface="Perpetua"/>
                <a:cs typeface="Perpetua"/>
              </a:rPr>
              <a:t>.</a:t>
            </a:r>
            <a:r>
              <a:rPr sz="3200" i="1" spc="-90" dirty="0">
                <a:latin typeface="Perpetua"/>
                <a:cs typeface="Perpetua"/>
              </a:rPr>
              <a:t> </a:t>
            </a:r>
            <a:r>
              <a:rPr sz="2800" i="1" spc="-5" dirty="0">
                <a:latin typeface="Perpetua"/>
                <a:cs typeface="Perpetua"/>
              </a:rPr>
              <a:t>’</a:t>
            </a:r>
            <a:endParaRPr sz="28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Wingdings"/>
              <a:buChar char=""/>
            </a:pPr>
            <a:endParaRPr sz="295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  <a:buSzPct val="96428"/>
              <a:buFont typeface="Wingdings"/>
              <a:buChar char=""/>
              <a:tabLst>
                <a:tab pos="292735" algn="l"/>
              </a:tabLst>
            </a:pPr>
            <a:r>
              <a:rPr sz="2800" i="1" spc="-65" dirty="0">
                <a:latin typeface="Perpetua"/>
                <a:cs typeface="Perpetua"/>
              </a:rPr>
              <a:t>For </a:t>
            </a:r>
            <a:r>
              <a:rPr sz="2800" i="1" dirty="0">
                <a:latin typeface="Perpetua"/>
                <a:cs typeface="Perpetua"/>
              </a:rPr>
              <a:t>each </a:t>
            </a:r>
            <a:r>
              <a:rPr sz="2800" i="1" spc="-5" dirty="0">
                <a:latin typeface="Perpetua"/>
                <a:cs typeface="Perpetua"/>
              </a:rPr>
              <a:t>of the </a:t>
            </a:r>
            <a:r>
              <a:rPr sz="2800" i="1" spc="-15" dirty="0">
                <a:latin typeface="Perpetua"/>
                <a:cs typeface="Perpetua"/>
              </a:rPr>
              <a:t>following </a:t>
            </a:r>
            <a:r>
              <a:rPr sz="2800" i="1" spc="-10" dirty="0">
                <a:latin typeface="Perpetua"/>
                <a:cs typeface="Perpetua"/>
              </a:rPr>
              <a:t>expressions, </a:t>
            </a:r>
            <a:r>
              <a:rPr sz="2800" i="1" spc="-5" dirty="0">
                <a:latin typeface="Perpetua"/>
                <a:cs typeface="Perpetua"/>
              </a:rPr>
              <a:t>find the </a:t>
            </a:r>
            <a:r>
              <a:rPr sz="2800" i="1" spc="-20" dirty="0">
                <a:latin typeface="Perpetua"/>
                <a:cs typeface="Perpetua"/>
              </a:rPr>
              <a:t>value </a:t>
            </a:r>
            <a:r>
              <a:rPr sz="2800" i="1" spc="-5" dirty="0">
                <a:latin typeface="Perpetua"/>
                <a:cs typeface="Perpetua"/>
              </a:rPr>
              <a:t>of the expression  and type (of the </a:t>
            </a:r>
            <a:r>
              <a:rPr sz="2800" i="1" spc="-20" dirty="0">
                <a:latin typeface="Perpetua"/>
                <a:cs typeface="Perpetua"/>
              </a:rPr>
              <a:t>value </a:t>
            </a:r>
            <a:r>
              <a:rPr sz="2800" i="1" spc="-5" dirty="0">
                <a:latin typeface="Perpetua"/>
                <a:cs typeface="Perpetua"/>
              </a:rPr>
              <a:t>of the expression) </a:t>
            </a:r>
            <a:r>
              <a:rPr sz="2800" i="1" spc="-20" dirty="0">
                <a:latin typeface="Perpetua"/>
                <a:cs typeface="Perpetua"/>
              </a:rPr>
              <a:t>(number,</a:t>
            </a:r>
            <a:r>
              <a:rPr sz="2800" i="1" spc="-254" dirty="0">
                <a:latin typeface="Perpetua"/>
                <a:cs typeface="Perpetua"/>
              </a:rPr>
              <a:t> </a:t>
            </a:r>
            <a:r>
              <a:rPr sz="2800" i="1" dirty="0">
                <a:latin typeface="Perpetua"/>
                <a:cs typeface="Perpetua"/>
              </a:rPr>
              <a:t>string,boolean)</a:t>
            </a:r>
            <a:endParaRPr sz="28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Wingdings"/>
              <a:buChar char=""/>
            </a:pPr>
            <a:endParaRPr sz="2700">
              <a:latin typeface="Times New Roman"/>
              <a:cs typeface="Times New Roman"/>
            </a:endParaRPr>
          </a:p>
          <a:p>
            <a:pPr marL="2814320" lvl="1" indent="-516255">
              <a:lnSpc>
                <a:spcPct val="100000"/>
              </a:lnSpc>
              <a:buAutoNum type="arabicPeriod"/>
              <a:tabLst>
                <a:tab pos="2814320" algn="l"/>
                <a:tab pos="2814955" algn="l"/>
              </a:tabLst>
            </a:pPr>
            <a:r>
              <a:rPr sz="2600" dirty="0">
                <a:latin typeface="Perpetua"/>
                <a:cs typeface="Perpetua"/>
              </a:rPr>
              <a:t>width/2</a:t>
            </a:r>
            <a:endParaRPr sz="2600">
              <a:latin typeface="Perpetua"/>
              <a:cs typeface="Perpetua"/>
            </a:endParaRPr>
          </a:p>
          <a:p>
            <a:pPr marL="2814320" lvl="1" indent="-516255">
              <a:lnSpc>
                <a:spcPct val="100000"/>
              </a:lnSpc>
              <a:buAutoNum type="arabicPeriod"/>
              <a:tabLst>
                <a:tab pos="2814320" algn="l"/>
                <a:tab pos="2814955" algn="l"/>
              </a:tabLst>
            </a:pPr>
            <a:r>
              <a:rPr sz="2600" dirty="0">
                <a:latin typeface="Perpetua"/>
                <a:cs typeface="Perpetua"/>
              </a:rPr>
              <a:t>width/2.0</a:t>
            </a:r>
            <a:endParaRPr sz="2600">
              <a:latin typeface="Perpetua"/>
              <a:cs typeface="Perpetua"/>
            </a:endParaRPr>
          </a:p>
          <a:p>
            <a:pPr marL="2298700" marR="4584065" lvl="1">
              <a:lnSpc>
                <a:spcPct val="100000"/>
              </a:lnSpc>
              <a:buAutoNum type="arabicPeriod"/>
              <a:tabLst>
                <a:tab pos="2814320" algn="l"/>
                <a:tab pos="2814955" algn="l"/>
              </a:tabLst>
            </a:pPr>
            <a:r>
              <a:rPr sz="2600" dirty="0">
                <a:latin typeface="Perpetua"/>
                <a:cs typeface="Perpetua"/>
              </a:rPr>
              <a:t>height/3  </a:t>
            </a:r>
            <a:r>
              <a:rPr sz="2600" spc="-5" dirty="0">
                <a:latin typeface="Perpetua"/>
                <a:cs typeface="Perpetua"/>
              </a:rPr>
              <a:t>4.	</a:t>
            </a:r>
            <a:r>
              <a:rPr sz="2600" dirty="0">
                <a:latin typeface="Perpetua"/>
                <a:cs typeface="Perpetua"/>
              </a:rPr>
              <a:t>1 + 2 *</a:t>
            </a:r>
            <a:r>
              <a:rPr sz="2600" spc="-11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5</a:t>
            </a:r>
            <a:endParaRPr sz="2600">
              <a:latin typeface="Perpetua"/>
              <a:cs typeface="Perpetua"/>
            </a:endParaRPr>
          </a:p>
          <a:p>
            <a:pPr marL="2298700">
              <a:lnSpc>
                <a:spcPct val="100000"/>
              </a:lnSpc>
              <a:spcBef>
                <a:spcPts val="5"/>
              </a:spcBef>
              <a:tabLst>
                <a:tab pos="2814320" algn="l"/>
              </a:tabLst>
            </a:pPr>
            <a:r>
              <a:rPr sz="2600" spc="-5" dirty="0">
                <a:latin typeface="Perpetua"/>
                <a:cs typeface="Perpetua"/>
              </a:rPr>
              <a:t>5.	</a:t>
            </a:r>
            <a:r>
              <a:rPr sz="2600" dirty="0">
                <a:latin typeface="Perpetua"/>
                <a:cs typeface="Perpetua"/>
              </a:rPr>
              <a:t>delimiter *</a:t>
            </a:r>
            <a:r>
              <a:rPr sz="2600" spc="-1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5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848600" y="451031"/>
            <a:ext cx="1132331" cy="8443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3540" y="1202181"/>
            <a:ext cx="7599680" cy="47199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5" dirty="0">
                <a:latin typeface="Perpetua"/>
                <a:cs typeface="Perpetua"/>
              </a:rPr>
              <a:t>Answer….</a:t>
            </a:r>
            <a:endParaRPr sz="28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800" spc="-15" dirty="0">
                <a:solidFill>
                  <a:srgbClr val="FF0000"/>
                </a:solidFill>
                <a:latin typeface="Perpetua"/>
                <a:cs typeface="Perpetua"/>
              </a:rPr>
              <a:t>Given </a:t>
            </a:r>
            <a:r>
              <a:rPr sz="2800" spc="-10" dirty="0">
                <a:solidFill>
                  <a:srgbClr val="FF0000"/>
                </a:solidFill>
                <a:latin typeface="Perpetua"/>
                <a:cs typeface="Perpetua"/>
              </a:rPr>
              <a:t>that </a:t>
            </a:r>
            <a:r>
              <a:rPr sz="2800" spc="-5" dirty="0">
                <a:solidFill>
                  <a:srgbClr val="FF0000"/>
                </a:solidFill>
                <a:latin typeface="Perpetua"/>
                <a:cs typeface="Perpetua"/>
              </a:rPr>
              <a:t>width = 17, height = 2.0, and delimiter =</a:t>
            </a:r>
            <a:r>
              <a:rPr sz="2800" spc="-215" dirty="0">
                <a:solidFill>
                  <a:srgbClr val="FF0000"/>
                </a:solidFill>
                <a:latin typeface="Perpetua"/>
                <a:cs typeface="Perpetua"/>
              </a:rPr>
              <a:t> </a:t>
            </a:r>
            <a:r>
              <a:rPr sz="2800" spc="-10" dirty="0">
                <a:solidFill>
                  <a:srgbClr val="FF0000"/>
                </a:solidFill>
                <a:latin typeface="Perpetua"/>
                <a:cs typeface="Perpetua"/>
              </a:rPr>
              <a:t>'.'</a:t>
            </a:r>
            <a:endParaRPr sz="2800">
              <a:latin typeface="Perpetua"/>
              <a:cs typeface="Perpetua"/>
            </a:endParaRPr>
          </a:p>
          <a:p>
            <a:pPr marL="469900" marR="615315" indent="-457200">
              <a:lnSpc>
                <a:spcPct val="100000"/>
              </a:lnSpc>
            </a:pPr>
            <a:r>
              <a:rPr sz="2800" spc="-30" dirty="0">
                <a:solidFill>
                  <a:srgbClr val="FF0000"/>
                </a:solidFill>
                <a:latin typeface="Perpetua"/>
                <a:cs typeface="Perpetua"/>
              </a:rPr>
              <a:t>For </a:t>
            </a:r>
            <a:r>
              <a:rPr sz="2800" spc="10" dirty="0">
                <a:solidFill>
                  <a:srgbClr val="FF0000"/>
                </a:solidFill>
                <a:latin typeface="Perpetua"/>
                <a:cs typeface="Perpetua"/>
              </a:rPr>
              <a:t>each </a:t>
            </a:r>
            <a:r>
              <a:rPr sz="2800" spc="-5" dirty="0">
                <a:solidFill>
                  <a:srgbClr val="FF0000"/>
                </a:solidFill>
                <a:latin typeface="Perpetua"/>
                <a:cs typeface="Perpetua"/>
              </a:rPr>
              <a:t>of the </a:t>
            </a:r>
            <a:r>
              <a:rPr sz="2800" spc="-15" dirty="0">
                <a:solidFill>
                  <a:srgbClr val="FF0000"/>
                </a:solidFill>
                <a:latin typeface="Perpetua"/>
                <a:cs typeface="Perpetua"/>
              </a:rPr>
              <a:t>following </a:t>
            </a:r>
            <a:r>
              <a:rPr sz="2800" spc="-5" dirty="0">
                <a:solidFill>
                  <a:srgbClr val="FF0000"/>
                </a:solidFill>
                <a:latin typeface="Perpetua"/>
                <a:cs typeface="Perpetua"/>
              </a:rPr>
              <a:t>expressions, can </a:t>
            </a:r>
            <a:r>
              <a:rPr sz="2800" spc="-25" dirty="0">
                <a:solidFill>
                  <a:srgbClr val="FF0000"/>
                </a:solidFill>
                <a:latin typeface="Perpetua"/>
                <a:cs typeface="Perpetua"/>
              </a:rPr>
              <a:t>you </a:t>
            </a:r>
            <a:r>
              <a:rPr sz="2800" spc="-5" dirty="0">
                <a:solidFill>
                  <a:srgbClr val="FF0000"/>
                </a:solidFill>
                <a:latin typeface="Perpetua"/>
                <a:cs typeface="Perpetua"/>
              </a:rPr>
              <a:t>find the  </a:t>
            </a:r>
            <a:r>
              <a:rPr sz="2800" spc="-15" dirty="0">
                <a:solidFill>
                  <a:srgbClr val="FF0000"/>
                </a:solidFill>
                <a:latin typeface="Perpetua"/>
                <a:cs typeface="Perpetua"/>
              </a:rPr>
              <a:t>value </a:t>
            </a:r>
            <a:r>
              <a:rPr sz="2800" spc="-5" dirty="0">
                <a:solidFill>
                  <a:srgbClr val="FF0000"/>
                </a:solidFill>
                <a:latin typeface="Perpetua"/>
                <a:cs typeface="Perpetua"/>
              </a:rPr>
              <a:t>of the</a:t>
            </a:r>
            <a:r>
              <a:rPr sz="2800" spc="10" dirty="0">
                <a:solidFill>
                  <a:srgbClr val="FF0000"/>
                </a:solidFill>
                <a:latin typeface="Perpetua"/>
                <a:cs typeface="Perpetua"/>
              </a:rPr>
              <a:t> </a:t>
            </a:r>
            <a:r>
              <a:rPr sz="2800" spc="-5" dirty="0">
                <a:solidFill>
                  <a:srgbClr val="FF0000"/>
                </a:solidFill>
                <a:latin typeface="Perpetua"/>
                <a:cs typeface="Perpetua"/>
              </a:rPr>
              <a:t>expression</a:t>
            </a:r>
            <a:endParaRPr sz="2800">
              <a:latin typeface="Perpetua"/>
              <a:cs typeface="Perpetua"/>
            </a:endParaRPr>
          </a:p>
          <a:p>
            <a:pPr marL="927100" marR="1533525" indent="-457834">
              <a:lnSpc>
                <a:spcPct val="100000"/>
              </a:lnSpc>
              <a:tabLst>
                <a:tab pos="3230245" algn="l"/>
              </a:tabLst>
            </a:pPr>
            <a:r>
              <a:rPr sz="2800" spc="-5" dirty="0">
                <a:solidFill>
                  <a:srgbClr val="FF0000"/>
                </a:solidFill>
                <a:latin typeface="Perpetua"/>
                <a:cs typeface="Perpetua"/>
              </a:rPr>
              <a:t>type (of the </a:t>
            </a:r>
            <a:r>
              <a:rPr sz="2800" spc="-20" dirty="0">
                <a:solidFill>
                  <a:srgbClr val="FF0000"/>
                </a:solidFill>
                <a:latin typeface="Perpetua"/>
                <a:cs typeface="Perpetua"/>
              </a:rPr>
              <a:t>value </a:t>
            </a:r>
            <a:r>
              <a:rPr sz="2800" dirty="0">
                <a:solidFill>
                  <a:srgbClr val="FF0000"/>
                </a:solidFill>
                <a:latin typeface="Perpetua"/>
                <a:cs typeface="Perpetua"/>
              </a:rPr>
              <a:t>of </a:t>
            </a:r>
            <a:r>
              <a:rPr sz="2800" spc="-5" dirty="0">
                <a:solidFill>
                  <a:srgbClr val="FF0000"/>
                </a:solidFill>
                <a:latin typeface="Perpetua"/>
                <a:cs typeface="Perpetua"/>
              </a:rPr>
              <a:t>the expression)  width/2</a:t>
            </a:r>
            <a:r>
              <a:rPr sz="2800" spc="5" dirty="0">
                <a:solidFill>
                  <a:srgbClr val="FF0000"/>
                </a:solidFill>
                <a:latin typeface="Perpetua"/>
                <a:cs typeface="Perpetua"/>
              </a:rPr>
              <a:t> </a:t>
            </a:r>
            <a:r>
              <a:rPr sz="2800" spc="-5" dirty="0">
                <a:solidFill>
                  <a:srgbClr val="FF0000"/>
                </a:solidFill>
                <a:latin typeface="Perpetua"/>
                <a:cs typeface="Perpetua"/>
              </a:rPr>
              <a:t>=</a:t>
            </a:r>
            <a:r>
              <a:rPr sz="2800" spc="-10" dirty="0">
                <a:solidFill>
                  <a:srgbClr val="FF0000"/>
                </a:solidFill>
                <a:latin typeface="Perpetua"/>
                <a:cs typeface="Perpetua"/>
              </a:rPr>
              <a:t> </a:t>
            </a:r>
            <a:r>
              <a:rPr sz="2800" dirty="0">
                <a:solidFill>
                  <a:srgbClr val="FF0000"/>
                </a:solidFill>
                <a:latin typeface="Perpetua"/>
                <a:cs typeface="Perpetua"/>
              </a:rPr>
              <a:t>17/2	</a:t>
            </a:r>
            <a:r>
              <a:rPr sz="2800" spc="-5" dirty="0">
                <a:solidFill>
                  <a:srgbClr val="FF0000"/>
                </a:solidFill>
                <a:latin typeface="Perpetua"/>
                <a:cs typeface="Perpetua"/>
              </a:rPr>
              <a:t>-------------</a:t>
            </a:r>
            <a:r>
              <a:rPr sz="2800" spc="-35" dirty="0">
                <a:solidFill>
                  <a:srgbClr val="FF0000"/>
                </a:solidFill>
                <a:latin typeface="Perpetua"/>
                <a:cs typeface="Perpetua"/>
              </a:rPr>
              <a:t> </a:t>
            </a:r>
            <a:r>
              <a:rPr sz="2800" spc="-5" dirty="0">
                <a:solidFill>
                  <a:srgbClr val="FF0000"/>
                </a:solidFill>
                <a:latin typeface="Perpetua"/>
                <a:cs typeface="Perpetua"/>
              </a:rPr>
              <a:t>8(Integer)</a:t>
            </a:r>
            <a:endParaRPr sz="2800">
              <a:latin typeface="Perpetua"/>
              <a:cs typeface="Perpetua"/>
            </a:endParaRPr>
          </a:p>
          <a:p>
            <a:pPr marL="927100">
              <a:lnSpc>
                <a:spcPct val="100000"/>
              </a:lnSpc>
              <a:tabLst>
                <a:tab pos="2513965" algn="l"/>
              </a:tabLst>
            </a:pPr>
            <a:r>
              <a:rPr sz="2800" spc="-5" dirty="0">
                <a:solidFill>
                  <a:srgbClr val="FF0000"/>
                </a:solidFill>
                <a:latin typeface="Perpetua"/>
                <a:cs typeface="Perpetua"/>
              </a:rPr>
              <a:t>width/2.0	=17.0/2.0 ----------8.5 (Float)</a:t>
            </a:r>
            <a:endParaRPr sz="2800">
              <a:latin typeface="Perpetua"/>
              <a:cs typeface="Perpetua"/>
            </a:endParaRPr>
          </a:p>
          <a:p>
            <a:pPr marL="927100" marR="1529080">
              <a:lnSpc>
                <a:spcPct val="100000"/>
              </a:lnSpc>
              <a:spcBef>
                <a:spcPts val="5"/>
              </a:spcBef>
              <a:tabLst>
                <a:tab pos="2215515" algn="l"/>
              </a:tabLst>
            </a:pPr>
            <a:r>
              <a:rPr sz="2800" spc="-5" dirty="0">
                <a:solidFill>
                  <a:srgbClr val="FF0000"/>
                </a:solidFill>
                <a:latin typeface="Perpetua"/>
                <a:cs typeface="Perpetua"/>
              </a:rPr>
              <a:t>height/3	=2.0/3 -----------0.66 (Float)  1 + 2 * 5 ---------11</a:t>
            </a:r>
            <a:endParaRPr sz="2800">
              <a:latin typeface="Perpetua"/>
              <a:cs typeface="Perpetua"/>
            </a:endParaRPr>
          </a:p>
          <a:p>
            <a:pPr marL="927100">
              <a:lnSpc>
                <a:spcPct val="100000"/>
              </a:lnSpc>
              <a:tabLst>
                <a:tab pos="2753360" algn="l"/>
              </a:tabLst>
            </a:pPr>
            <a:r>
              <a:rPr sz="2800" spc="-5" dirty="0">
                <a:solidFill>
                  <a:srgbClr val="FF0000"/>
                </a:solidFill>
                <a:latin typeface="Perpetua"/>
                <a:cs typeface="Perpetua"/>
              </a:rPr>
              <a:t>delimiter</a:t>
            </a:r>
            <a:r>
              <a:rPr sz="2800" dirty="0">
                <a:solidFill>
                  <a:srgbClr val="FF0000"/>
                </a:solidFill>
                <a:latin typeface="Perpetua"/>
                <a:cs typeface="Perpetua"/>
              </a:rPr>
              <a:t> </a:t>
            </a:r>
            <a:r>
              <a:rPr sz="2800" spc="-5" dirty="0">
                <a:solidFill>
                  <a:srgbClr val="FF0000"/>
                </a:solidFill>
                <a:latin typeface="Perpetua"/>
                <a:cs typeface="Perpetua"/>
              </a:rPr>
              <a:t>*</a:t>
            </a:r>
            <a:r>
              <a:rPr sz="2800" spc="5" dirty="0">
                <a:solidFill>
                  <a:srgbClr val="FF0000"/>
                </a:solidFill>
                <a:latin typeface="Perpetua"/>
                <a:cs typeface="Perpetua"/>
              </a:rPr>
              <a:t> </a:t>
            </a:r>
            <a:r>
              <a:rPr sz="2800" spc="-5" dirty="0">
                <a:solidFill>
                  <a:srgbClr val="FF0000"/>
                </a:solidFill>
                <a:latin typeface="Perpetua"/>
                <a:cs typeface="Perpetua"/>
              </a:rPr>
              <a:t>5	-------ASCII </a:t>
            </a:r>
            <a:r>
              <a:rPr sz="2800" spc="-15" dirty="0">
                <a:solidFill>
                  <a:srgbClr val="FF0000"/>
                </a:solidFill>
                <a:latin typeface="Perpetua"/>
                <a:cs typeface="Perpetua"/>
              </a:rPr>
              <a:t>value </a:t>
            </a:r>
            <a:r>
              <a:rPr sz="2800" spc="-5" dirty="0">
                <a:solidFill>
                  <a:srgbClr val="FF0000"/>
                </a:solidFill>
                <a:latin typeface="Perpetua"/>
                <a:cs typeface="Perpetua"/>
              </a:rPr>
              <a:t>of </a:t>
            </a:r>
            <a:r>
              <a:rPr sz="2800" spc="-114" dirty="0">
                <a:solidFill>
                  <a:srgbClr val="FF0000"/>
                </a:solidFill>
                <a:latin typeface="Perpetua"/>
                <a:cs typeface="Perpetua"/>
              </a:rPr>
              <a:t>‘.’ </a:t>
            </a:r>
            <a:r>
              <a:rPr sz="2800" spc="-5" dirty="0">
                <a:solidFill>
                  <a:srgbClr val="FF0000"/>
                </a:solidFill>
                <a:latin typeface="Perpetua"/>
                <a:cs typeface="Perpetua"/>
              </a:rPr>
              <a:t>(46)* 5 =</a:t>
            </a:r>
            <a:r>
              <a:rPr sz="2800" spc="-300" dirty="0">
                <a:solidFill>
                  <a:srgbClr val="FF0000"/>
                </a:solidFill>
                <a:latin typeface="Perpetua"/>
                <a:cs typeface="Perpetua"/>
              </a:rPr>
              <a:t> </a:t>
            </a:r>
            <a:r>
              <a:rPr sz="2800" spc="-5" dirty="0">
                <a:solidFill>
                  <a:srgbClr val="FF0000"/>
                </a:solidFill>
                <a:latin typeface="Perpetua"/>
                <a:cs typeface="Perpetua"/>
              </a:rPr>
              <a:t>230</a:t>
            </a:r>
            <a:endParaRPr sz="28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2140" y="967181"/>
            <a:ext cx="4138929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What </a:t>
            </a:r>
            <a:r>
              <a:rPr spc="-5" dirty="0"/>
              <a:t>has been</a:t>
            </a:r>
            <a:r>
              <a:rPr spc="-50" dirty="0"/>
              <a:t> </a:t>
            </a:r>
            <a:r>
              <a:rPr dirty="0"/>
              <a:t>described?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8340" y="1735962"/>
            <a:ext cx="5799455" cy="1427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7020" indent="-274955">
              <a:lnSpc>
                <a:spcPct val="100000"/>
              </a:lnSpc>
              <a:spcBef>
                <a:spcPts val="95"/>
              </a:spcBef>
              <a:buSzPct val="83928"/>
              <a:buFont typeface="Arial"/>
              <a:buChar char="•"/>
              <a:tabLst>
                <a:tab pos="287020" algn="l"/>
                <a:tab pos="287655" algn="l"/>
              </a:tabLst>
            </a:pPr>
            <a:r>
              <a:rPr sz="2800" spc="-5" dirty="0">
                <a:latin typeface="Perpetua"/>
                <a:cs typeface="Perpetua"/>
              </a:rPr>
              <a:t>Names and name binding</a:t>
            </a:r>
            <a:r>
              <a:rPr sz="2800" spc="30" dirty="0">
                <a:latin typeface="Perpetua"/>
                <a:cs typeface="Perpetua"/>
              </a:rPr>
              <a:t> </a:t>
            </a:r>
            <a:r>
              <a:rPr sz="2800" spc="-10" dirty="0">
                <a:latin typeface="Perpetua"/>
                <a:cs typeface="Perpetua"/>
              </a:rPr>
              <a:t>concepts.</a:t>
            </a:r>
            <a:endParaRPr sz="28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Char char="•"/>
            </a:pPr>
            <a:endParaRPr sz="3750">
              <a:latin typeface="Times New Roman"/>
              <a:cs typeface="Times New Roman"/>
            </a:endParaRPr>
          </a:p>
          <a:p>
            <a:pPr marL="287020" indent="-274955">
              <a:lnSpc>
                <a:spcPct val="100000"/>
              </a:lnSpc>
              <a:buSzPct val="83928"/>
              <a:buFont typeface="Arial"/>
              <a:buChar char="•"/>
              <a:tabLst>
                <a:tab pos="287020" algn="l"/>
                <a:tab pos="287655" algn="l"/>
              </a:tabLst>
            </a:pPr>
            <a:r>
              <a:rPr sz="2800" spc="5" dirty="0">
                <a:latin typeface="Perpetua"/>
                <a:cs typeface="Perpetua"/>
              </a:rPr>
              <a:t>Importance </a:t>
            </a:r>
            <a:r>
              <a:rPr sz="2800" spc="-5" dirty="0">
                <a:latin typeface="Perpetua"/>
                <a:cs typeface="Perpetua"/>
              </a:rPr>
              <a:t>of proper naming</a:t>
            </a:r>
            <a:r>
              <a:rPr sz="2800" spc="20" dirty="0">
                <a:latin typeface="Perpetua"/>
                <a:cs typeface="Perpetua"/>
              </a:rPr>
              <a:t> </a:t>
            </a:r>
            <a:r>
              <a:rPr sz="2800" spc="-20" dirty="0">
                <a:latin typeface="Perpetua"/>
                <a:cs typeface="Perpetua"/>
              </a:rPr>
              <a:t>conventions.</a:t>
            </a:r>
            <a:endParaRPr sz="2800">
              <a:latin typeface="Perpetua"/>
              <a:cs typeface="Perpet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33400" y="381000"/>
            <a:ext cx="533400" cy="57409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498975" y="5829096"/>
            <a:ext cx="4290060" cy="666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b="1" i="1" spc="-5" dirty="0">
                <a:latin typeface="Perpetua"/>
                <a:cs typeface="Perpetua"/>
              </a:rPr>
              <a:t>Credits</a:t>
            </a:r>
            <a:endParaRPr sz="1050">
              <a:latin typeface="Perpetua"/>
              <a:cs typeface="Perpetua"/>
            </a:endParaRPr>
          </a:p>
          <a:p>
            <a:pPr marL="74295" indent="-62230">
              <a:lnSpc>
                <a:spcPct val="100000"/>
              </a:lnSpc>
              <a:buSzPct val="90476"/>
              <a:buFont typeface="Wingdings"/>
              <a:buChar char=""/>
              <a:tabLst>
                <a:tab pos="74930" algn="l"/>
              </a:tabLst>
            </a:pPr>
            <a:r>
              <a:rPr sz="1050" b="1" i="1" spc="-5" dirty="0">
                <a:latin typeface="Perpetua"/>
                <a:cs typeface="Perpetua"/>
              </a:rPr>
              <a:t>Programming </a:t>
            </a:r>
            <a:r>
              <a:rPr sz="1050" b="1" i="1" dirty="0">
                <a:latin typeface="Perpetua"/>
                <a:cs typeface="Perpetua"/>
              </a:rPr>
              <a:t>Languages,2nd edition,Tucker and</a:t>
            </a:r>
            <a:r>
              <a:rPr sz="1050" b="1" i="1" spc="-145" dirty="0">
                <a:latin typeface="Perpetua"/>
                <a:cs typeface="Perpetua"/>
              </a:rPr>
              <a:t> </a:t>
            </a:r>
            <a:r>
              <a:rPr sz="1050" b="1" i="1" dirty="0">
                <a:latin typeface="Perpetua"/>
                <a:cs typeface="Perpetua"/>
              </a:rPr>
              <a:t>Noonan</a:t>
            </a:r>
            <a:endParaRPr sz="1050">
              <a:latin typeface="Perpetua"/>
              <a:cs typeface="Perpetua"/>
            </a:endParaRPr>
          </a:p>
          <a:p>
            <a:pPr marL="74295" indent="-62230">
              <a:lnSpc>
                <a:spcPct val="100000"/>
              </a:lnSpc>
              <a:buSzPct val="90476"/>
              <a:buFont typeface="Wingdings"/>
              <a:buChar char=""/>
              <a:tabLst>
                <a:tab pos="74930" algn="l"/>
              </a:tabLst>
            </a:pPr>
            <a:r>
              <a:rPr sz="1050" b="1" i="1" dirty="0">
                <a:latin typeface="Perpetua"/>
                <a:cs typeface="Perpetua"/>
                <a:hlinkClick r:id="rId3"/>
              </a:rPr>
              <a:t>www.cse.msu.edu/ </a:t>
            </a:r>
            <a:r>
              <a:rPr sz="1050" b="1" i="1" dirty="0">
                <a:latin typeface="Perpetua"/>
                <a:cs typeface="Perpetua"/>
              </a:rPr>
              <a:t>Organization of </a:t>
            </a:r>
            <a:r>
              <a:rPr sz="1050" b="1" i="1" spc="-5" dirty="0">
                <a:latin typeface="Perpetua"/>
                <a:cs typeface="Perpetua"/>
              </a:rPr>
              <a:t>Programming Languages-Cheng </a:t>
            </a:r>
            <a:r>
              <a:rPr sz="1050" b="1" i="1" dirty="0">
                <a:latin typeface="Perpetua"/>
                <a:cs typeface="Perpetua"/>
              </a:rPr>
              <a:t>(Fall</a:t>
            </a:r>
            <a:r>
              <a:rPr sz="1050" b="1" i="1" spc="-75" dirty="0">
                <a:latin typeface="Perpetua"/>
                <a:cs typeface="Perpetua"/>
              </a:rPr>
              <a:t> </a:t>
            </a:r>
            <a:r>
              <a:rPr sz="1050" b="1" i="1" spc="-5" dirty="0">
                <a:latin typeface="Perpetua"/>
                <a:cs typeface="Perpetua"/>
              </a:rPr>
              <a:t>2004)</a:t>
            </a:r>
            <a:endParaRPr sz="1050">
              <a:latin typeface="Perpetua"/>
              <a:cs typeface="Perpetua"/>
            </a:endParaRPr>
          </a:p>
          <a:p>
            <a:pPr marL="74295" indent="-62230">
              <a:lnSpc>
                <a:spcPct val="100000"/>
              </a:lnSpc>
              <a:buSzPct val="90476"/>
              <a:buFont typeface="Wingdings"/>
              <a:buChar char=""/>
              <a:tabLst>
                <a:tab pos="74930" algn="l"/>
              </a:tabLst>
            </a:pPr>
            <a:r>
              <a:rPr sz="1050" b="1" i="1" dirty="0">
                <a:latin typeface="Perpetua"/>
                <a:cs typeface="Perpetua"/>
              </a:rPr>
              <a:t>Google</a:t>
            </a:r>
            <a:r>
              <a:rPr sz="1050" b="1" i="1" spc="-35" dirty="0">
                <a:latin typeface="Perpetua"/>
                <a:cs typeface="Perpetua"/>
              </a:rPr>
              <a:t> </a:t>
            </a:r>
            <a:r>
              <a:rPr sz="1050" b="1" i="1" dirty="0">
                <a:latin typeface="Perpetua"/>
                <a:cs typeface="Perpetua"/>
              </a:rPr>
              <a:t>images</a:t>
            </a:r>
            <a:endParaRPr sz="1050">
              <a:latin typeface="Perpetua"/>
              <a:cs typeface="Perpetu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546458" y="3352800"/>
            <a:ext cx="2844941" cy="176936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3196D1F7F73754F88450F2D99E4F7B5" ma:contentTypeVersion="2" ma:contentTypeDescription="Create a new document." ma:contentTypeScope="" ma:versionID="377713a6ec07779513477d2db2fdf306">
  <xsd:schema xmlns:xsd="http://www.w3.org/2001/XMLSchema" xmlns:xs="http://www.w3.org/2001/XMLSchema" xmlns:p="http://schemas.microsoft.com/office/2006/metadata/properties" xmlns:ns2="97fcc8e9-f7dc-4663-b115-0b99de842f01" targetNamespace="http://schemas.microsoft.com/office/2006/metadata/properties" ma:root="true" ma:fieldsID="6b5254e67f1be017f500236611855803" ns2:_="">
    <xsd:import namespace="97fcc8e9-f7dc-4663-b115-0b99de842f0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fcc8e9-f7dc-4663-b115-0b99de842f0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3BEF8E8-CAB5-42B0-81F1-C9575D5473F4}"/>
</file>

<file path=customXml/itemProps2.xml><?xml version="1.0" encoding="utf-8"?>
<ds:datastoreItem xmlns:ds="http://schemas.openxmlformats.org/officeDocument/2006/customXml" ds:itemID="{355EDCD6-9833-4A34-B2FC-E911BFB2B7F5}"/>
</file>

<file path=customXml/itemProps3.xml><?xml version="1.0" encoding="utf-8"?>
<ds:datastoreItem xmlns:ds="http://schemas.openxmlformats.org/officeDocument/2006/customXml" ds:itemID="{399CEEB7-90FD-4860-AA32-9CA45101F07F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1283</Words>
  <Application>Microsoft Office PowerPoint</Application>
  <PresentationFormat>On-screen Show (4:3)</PresentationFormat>
  <Paragraphs>219</Paragraphs>
  <Slides>37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38" baseType="lpstr">
      <vt:lpstr>Office Theme</vt:lpstr>
      <vt:lpstr>Slide 1</vt:lpstr>
      <vt:lpstr>Objectives</vt:lpstr>
      <vt:lpstr>Slide 3</vt:lpstr>
      <vt:lpstr>How to locate resources inWWW?</vt:lpstr>
      <vt:lpstr>Did you know?</vt:lpstr>
      <vt:lpstr>Did you know? contd---</vt:lpstr>
      <vt:lpstr>User Input</vt:lpstr>
      <vt:lpstr>Variables</vt:lpstr>
      <vt:lpstr>Variable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Names</vt:lpstr>
      <vt:lpstr>Names contd--</vt:lpstr>
      <vt:lpstr>Guidelines for Naming</vt:lpstr>
      <vt:lpstr>Try it yourself</vt:lpstr>
      <vt:lpstr>Slide 23</vt:lpstr>
      <vt:lpstr>Proper name selection</vt:lpstr>
      <vt:lpstr>Proper name selection contd---</vt:lpstr>
      <vt:lpstr>Proper name selection contd---</vt:lpstr>
      <vt:lpstr>Proper name selection contd---</vt:lpstr>
      <vt:lpstr>The concept of binding</vt:lpstr>
      <vt:lpstr>Computational state</vt:lpstr>
      <vt:lpstr>Computational state contd---</vt:lpstr>
      <vt:lpstr>Slide 31</vt:lpstr>
      <vt:lpstr>Slide 32</vt:lpstr>
      <vt:lpstr>Answer</vt:lpstr>
      <vt:lpstr>Answer contd…</vt:lpstr>
      <vt:lpstr>Slide 35</vt:lpstr>
      <vt:lpstr>Slide 36</vt:lpstr>
      <vt:lpstr>What has been described?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Repetition</dc:title>
  <dc:creator>admins</dc:creator>
  <cp:lastModifiedBy>user</cp:lastModifiedBy>
  <cp:revision>1</cp:revision>
  <dcterms:created xsi:type="dcterms:W3CDTF">2020-09-07T06:55:21Z</dcterms:created>
  <dcterms:modified xsi:type="dcterms:W3CDTF">2021-10-03T05:59:50Z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2017-07-04T00:00:00Z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2020-09-07T00:00:00Z</vt:filetime>
  </property>
  <property fmtid="{D5CDD505-2E9C-101B-9397-08002B2CF9AE}" pid="5" name="ContentTypeId">
    <vt:lpwstr>0x01010093196D1F7F73754F88450F2D99E4F7B5</vt:lpwstr>
  </property>
</Properties>
</file>