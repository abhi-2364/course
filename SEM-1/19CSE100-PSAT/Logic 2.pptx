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jpeg" ContentType="image/jpeg"/>
  <Default Extension="xml" ContentType="application/xml"/>
  <Override PartName="/ppt/presentation.xml" ContentType="application/vnd.openxmlformats-officedocument.presentationml.presentation.main+xml"/>
  <Override PartName="/ppt/slides/slide46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4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607574"/>
            <a:ext cx="8072119" cy="1249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438097"/>
            <a:ext cx="8531225" cy="3547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1444625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blekko.com/" TargetMode="External"/><Relationship Id="rId3" Type="http://schemas.openxmlformats.org/officeDocument/2006/relationships/hyperlink" Target="http://www.malahalo.com/" TargetMode="External"/><Relationship Id="rId7" Type="http://schemas.openxmlformats.org/officeDocument/2006/relationships/hyperlink" Target="http://www.aol.com/" TargetMode="External"/><Relationship Id="rId12" Type="http://schemas.openxmlformats.org/officeDocument/2006/relationships/hyperlink" Target="http://www.wordstream.com/articles/internet-search-engines-history" TargetMode="External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ask.com/" TargetMode="External"/><Relationship Id="rId11" Type="http://schemas.openxmlformats.org/officeDocument/2006/relationships/hyperlink" Target="http://www.archive.org/" TargetMode="External"/><Relationship Id="rId5" Type="http://schemas.openxmlformats.org/officeDocument/2006/relationships/hyperlink" Target="http://www.bing.com/" TargetMode="External"/><Relationship Id="rId10" Type="http://schemas.openxmlformats.org/officeDocument/2006/relationships/hyperlink" Target="http://www.duckduckgo.com/" TargetMode="External"/><Relationship Id="rId4" Type="http://schemas.openxmlformats.org/officeDocument/2006/relationships/hyperlink" Target="http://www.yahoo.com/" TargetMode="External"/><Relationship Id="rId9" Type="http://schemas.openxmlformats.org/officeDocument/2006/relationships/hyperlink" Target="http://www.dogpile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acstaff.bucknell.edu/mastascu/elessonshtml/Logic/Logic1.html" TargetMode="External"/><Relationship Id="rId2" Type="http://schemas.openxmlformats.org/officeDocument/2006/relationships/hyperlink" Target="http://www.wordstream.com/articles/internet-search-engines-histor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hyperlink" Target="http://databases.about.com/od/access/a/Microsoft-Access-2013-Fundamental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31" y="70103"/>
            <a:ext cx="9012936" cy="6690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1" y="70103"/>
            <a:ext cx="9013190" cy="6690359"/>
          </a:xfrm>
          <a:custGeom>
            <a:avLst/>
            <a:gdLst/>
            <a:ahLst/>
            <a:cxnLst/>
            <a:rect l="l" t="t" r="r" b="b"/>
            <a:pathLst>
              <a:path w="9013190" h="6690359">
                <a:moveTo>
                  <a:pt x="0" y="329819"/>
                </a:moveTo>
                <a:lnTo>
                  <a:pt x="3575" y="281088"/>
                </a:lnTo>
                <a:lnTo>
                  <a:pt x="13961" y="234576"/>
                </a:lnTo>
                <a:lnTo>
                  <a:pt x="30648" y="190791"/>
                </a:lnTo>
                <a:lnTo>
                  <a:pt x="53126" y="150245"/>
                </a:lnTo>
                <a:lnTo>
                  <a:pt x="80884" y="113448"/>
                </a:lnTo>
                <a:lnTo>
                  <a:pt x="113414" y="80911"/>
                </a:lnTo>
                <a:lnTo>
                  <a:pt x="150203" y="53144"/>
                </a:lnTo>
                <a:lnTo>
                  <a:pt x="190744" y="30660"/>
                </a:lnTo>
                <a:lnTo>
                  <a:pt x="234525" y="13967"/>
                </a:lnTo>
                <a:lnTo>
                  <a:pt x="281036" y="3576"/>
                </a:lnTo>
                <a:lnTo>
                  <a:pt x="329768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0591"/>
                </a:lnTo>
                <a:lnTo>
                  <a:pt x="9009359" y="6409323"/>
                </a:lnTo>
                <a:lnTo>
                  <a:pt x="8998968" y="6455834"/>
                </a:lnTo>
                <a:lnTo>
                  <a:pt x="8982275" y="6499615"/>
                </a:lnTo>
                <a:lnTo>
                  <a:pt x="8959791" y="6540156"/>
                </a:lnTo>
                <a:lnTo>
                  <a:pt x="8932024" y="6576945"/>
                </a:lnTo>
                <a:lnTo>
                  <a:pt x="8899487" y="6609475"/>
                </a:lnTo>
                <a:lnTo>
                  <a:pt x="8862690" y="6637233"/>
                </a:lnTo>
                <a:lnTo>
                  <a:pt x="8822144" y="6659711"/>
                </a:lnTo>
                <a:lnTo>
                  <a:pt x="8778359" y="6676398"/>
                </a:lnTo>
                <a:lnTo>
                  <a:pt x="8731847" y="6686784"/>
                </a:lnTo>
                <a:lnTo>
                  <a:pt x="8683117" y="6690360"/>
                </a:lnTo>
                <a:lnTo>
                  <a:pt x="329768" y="6690360"/>
                </a:lnTo>
                <a:lnTo>
                  <a:pt x="281036" y="6686784"/>
                </a:lnTo>
                <a:lnTo>
                  <a:pt x="234525" y="6676398"/>
                </a:lnTo>
                <a:lnTo>
                  <a:pt x="190744" y="6659711"/>
                </a:lnTo>
                <a:lnTo>
                  <a:pt x="150203" y="6637233"/>
                </a:lnTo>
                <a:lnTo>
                  <a:pt x="113414" y="6609475"/>
                </a:lnTo>
                <a:lnTo>
                  <a:pt x="80884" y="6576945"/>
                </a:lnTo>
                <a:lnTo>
                  <a:pt x="53126" y="6540156"/>
                </a:lnTo>
                <a:lnTo>
                  <a:pt x="30648" y="6499615"/>
                </a:lnTo>
                <a:lnTo>
                  <a:pt x="13961" y="6455834"/>
                </a:lnTo>
                <a:lnTo>
                  <a:pt x="3575" y="6409323"/>
                </a:lnTo>
                <a:lnTo>
                  <a:pt x="0" y="6360591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7" y="1397508"/>
            <a:ext cx="9019540" cy="120650"/>
          </a:xfrm>
          <a:custGeom>
            <a:avLst/>
            <a:gdLst/>
            <a:ahLst/>
            <a:cxnLst/>
            <a:rect l="l" t="t" r="r" b="b"/>
            <a:pathLst>
              <a:path w="9019540" h="120650">
                <a:moveTo>
                  <a:pt x="0" y="120396"/>
                </a:moveTo>
                <a:lnTo>
                  <a:pt x="9019032" y="120396"/>
                </a:lnTo>
                <a:lnTo>
                  <a:pt x="9019032" y="0"/>
                </a:lnTo>
                <a:lnTo>
                  <a:pt x="0" y="0"/>
                </a:lnTo>
                <a:lnTo>
                  <a:pt x="0" y="120396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007" y="2976372"/>
            <a:ext cx="9019540" cy="111760"/>
          </a:xfrm>
          <a:custGeom>
            <a:avLst/>
            <a:gdLst/>
            <a:ahLst/>
            <a:cxnLst/>
            <a:rect l="l" t="t" r="r" b="b"/>
            <a:pathLst>
              <a:path w="9019540" h="111760">
                <a:moveTo>
                  <a:pt x="0" y="111251"/>
                </a:moveTo>
                <a:lnTo>
                  <a:pt x="9019032" y="111251"/>
                </a:lnTo>
                <a:lnTo>
                  <a:pt x="9019032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007" y="1517903"/>
            <a:ext cx="9019540" cy="145859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900"/>
              </a:lnSpc>
            </a:pPr>
            <a:r>
              <a:rPr sz="4400" spc="-5" dirty="0">
                <a:latin typeface="Perpetua"/>
                <a:cs typeface="Perpetua"/>
              </a:rPr>
              <a:t>1.5</a:t>
            </a:r>
            <a:endParaRPr sz="4400">
              <a:latin typeface="Perpetua"/>
              <a:cs typeface="Perpetua"/>
            </a:endParaRPr>
          </a:p>
          <a:p>
            <a:pPr marL="80010" algn="ctr">
              <a:lnSpc>
                <a:spcPct val="100000"/>
              </a:lnSpc>
            </a:pPr>
            <a:r>
              <a:rPr sz="4400" spc="-10" dirty="0">
                <a:latin typeface="Perpetua"/>
                <a:cs typeface="Perpetua"/>
              </a:rPr>
              <a:t>Applications </a:t>
            </a:r>
            <a:r>
              <a:rPr sz="4400" spc="-5" dirty="0">
                <a:latin typeface="Perpetua"/>
                <a:cs typeface="Perpetua"/>
              </a:rPr>
              <a:t>of Propositional</a:t>
            </a:r>
            <a:r>
              <a:rPr sz="4400" spc="-25" dirty="0">
                <a:latin typeface="Perpetua"/>
                <a:cs typeface="Perpetua"/>
              </a:rPr>
              <a:t> </a:t>
            </a:r>
            <a:r>
              <a:rPr sz="4400" spc="15" dirty="0">
                <a:latin typeface="Perpetua"/>
                <a:cs typeface="Perpetua"/>
              </a:rPr>
              <a:t>Logic</a:t>
            </a:r>
            <a:endParaRPr sz="4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188161"/>
            <a:ext cx="20554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20" dirty="0">
                <a:latin typeface="Perpetua"/>
                <a:cs typeface="Perpetua"/>
              </a:rPr>
              <a:t>Objectives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906651"/>
            <a:ext cx="6861809" cy="3131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5" dirty="0">
                <a:latin typeface="Perpetua"/>
                <a:cs typeface="Perpetua"/>
              </a:rPr>
              <a:t>understand </a:t>
            </a:r>
            <a:r>
              <a:rPr sz="2600" spc="-10" dirty="0">
                <a:latin typeface="Perpetua"/>
                <a:cs typeface="Perpetua"/>
              </a:rPr>
              <a:t>application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simple </a:t>
            </a:r>
            <a:r>
              <a:rPr sz="2600" spc="-5" dirty="0">
                <a:latin typeface="Perpetua"/>
                <a:cs typeface="Perpetua"/>
              </a:rPr>
              <a:t>propositional </a:t>
            </a:r>
            <a:r>
              <a:rPr sz="2600" spc="5" dirty="0">
                <a:latin typeface="Perpetua"/>
                <a:cs typeface="Perpetua"/>
              </a:rPr>
              <a:t>logic</a:t>
            </a:r>
            <a:r>
              <a:rPr sz="2600" spc="-2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550">
              <a:latin typeface="Times New Roman"/>
              <a:cs typeface="Times New Roman"/>
            </a:endParaRPr>
          </a:p>
          <a:p>
            <a:pPr marL="561340" indent="-229870">
              <a:lnSpc>
                <a:spcPct val="100000"/>
              </a:lnSpc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dirty="0">
                <a:latin typeface="Perpetua"/>
                <a:cs typeface="Perpetua"/>
              </a:rPr>
              <a:t>Querying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engines.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61340" indent="-22987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spc="-10" dirty="0">
                <a:latin typeface="Perpetua"/>
                <a:cs typeface="Perpetua"/>
              </a:rPr>
              <a:t>Analysis </a:t>
            </a:r>
            <a:r>
              <a:rPr sz="2600" spc="-5" dirty="0">
                <a:latin typeface="Perpetua"/>
                <a:cs typeface="Perpetua"/>
              </a:rPr>
              <a:t>and synthesis of </a:t>
            </a:r>
            <a:r>
              <a:rPr sz="2600" spc="5" dirty="0">
                <a:latin typeface="Perpetua"/>
                <a:cs typeface="Perpetua"/>
              </a:rPr>
              <a:t>digital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circuits.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61340" indent="-229870">
              <a:lnSpc>
                <a:spcPct val="100000"/>
              </a:lnSpc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dirty="0">
                <a:latin typeface="Perpetua"/>
                <a:cs typeface="Perpetua"/>
              </a:rPr>
              <a:t>Querying </a:t>
            </a:r>
            <a:r>
              <a:rPr sz="2600" spc="-10" dirty="0">
                <a:latin typeface="Perpetua"/>
                <a:cs typeface="Perpetua"/>
              </a:rPr>
              <a:t>databases.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2400" y="4495800"/>
            <a:ext cx="2362200" cy="2098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4400" y="2286000"/>
            <a:ext cx="2574036" cy="144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29400" y="3733800"/>
            <a:ext cx="1812687" cy="18882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152400"/>
            <a:ext cx="1425284" cy="10479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57886"/>
            <a:ext cx="3089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1. </a:t>
            </a:r>
            <a:r>
              <a:rPr i="0" spc="10" dirty="0">
                <a:latin typeface="Perpetua"/>
                <a:cs typeface="Perpetua"/>
              </a:rPr>
              <a:t>Search</a:t>
            </a:r>
            <a:r>
              <a:rPr i="0" spc="-220" dirty="0">
                <a:latin typeface="Perpetua"/>
                <a:cs typeface="Perpetua"/>
              </a:rPr>
              <a:t> </a:t>
            </a:r>
            <a:r>
              <a:rPr i="0" spc="10" dirty="0">
                <a:latin typeface="Perpetua"/>
                <a:cs typeface="Perpetua"/>
              </a:rPr>
              <a:t>Engine</a:t>
            </a:r>
          </a:p>
        </p:txBody>
      </p:sp>
      <p:sp>
        <p:nvSpPr>
          <p:cNvPr id="3" name="object 3"/>
          <p:cNvSpPr/>
          <p:nvPr/>
        </p:nvSpPr>
        <p:spPr>
          <a:xfrm>
            <a:off x="5181600" y="457200"/>
            <a:ext cx="3622548" cy="563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9740" y="1133602"/>
            <a:ext cx="8055609" cy="542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3492500" indent="-273050" algn="just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5750" algn="l"/>
              </a:tabLst>
            </a:pPr>
            <a:r>
              <a:rPr sz="2400" dirty="0">
                <a:latin typeface="Perpetua"/>
                <a:cs typeface="Perpetua"/>
              </a:rPr>
              <a:t>A </a:t>
            </a:r>
            <a:r>
              <a:rPr sz="2400" i="1" spc="-10" dirty="0">
                <a:latin typeface="Perpetua"/>
                <a:cs typeface="Perpetua"/>
              </a:rPr>
              <a:t>web </a:t>
            </a:r>
            <a:r>
              <a:rPr sz="2400" i="1" spc="-5" dirty="0">
                <a:latin typeface="Perpetua"/>
                <a:cs typeface="Perpetua"/>
              </a:rPr>
              <a:t>search </a:t>
            </a:r>
            <a:r>
              <a:rPr sz="2400" i="1" dirty="0">
                <a:latin typeface="Perpetua"/>
                <a:cs typeface="Perpetua"/>
              </a:rPr>
              <a:t>engine 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-10" dirty="0">
                <a:latin typeface="Perpetua"/>
                <a:cs typeface="Perpetua"/>
              </a:rPr>
              <a:t>software </a:t>
            </a:r>
            <a:r>
              <a:rPr sz="2400" dirty="0">
                <a:latin typeface="Perpetua"/>
                <a:cs typeface="Perpetua"/>
              </a:rPr>
              <a:t>system 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5" dirty="0">
                <a:latin typeface="Perpetua"/>
                <a:cs typeface="Perpetua"/>
              </a:rPr>
              <a:t>search </a:t>
            </a:r>
            <a:r>
              <a:rPr sz="2400" spc="-5" dirty="0">
                <a:latin typeface="Perpetua"/>
                <a:cs typeface="Perpetua"/>
              </a:rPr>
              <a:t>for </a:t>
            </a:r>
            <a:r>
              <a:rPr sz="2400" dirty="0">
                <a:latin typeface="Perpetua"/>
                <a:cs typeface="Perpetua"/>
              </a:rPr>
              <a:t>information </a:t>
            </a:r>
            <a:r>
              <a:rPr sz="2400" spc="-5" dirty="0">
                <a:latin typeface="Perpetua"/>
                <a:cs typeface="Perpetua"/>
              </a:rPr>
              <a:t>on </a:t>
            </a:r>
            <a:r>
              <a:rPr sz="2400" spc="-10" dirty="0">
                <a:latin typeface="Perpetua"/>
                <a:cs typeface="Perpetua"/>
              </a:rPr>
              <a:t>the</a:t>
            </a:r>
            <a:r>
              <a:rPr sz="2400" spc="-140" dirty="0">
                <a:latin typeface="Perpetua"/>
                <a:cs typeface="Perpetua"/>
              </a:rPr>
              <a:t> </a:t>
            </a:r>
            <a:r>
              <a:rPr sz="2400" spc="-65" dirty="0">
                <a:latin typeface="Perpetua"/>
                <a:cs typeface="Perpetua"/>
              </a:rPr>
              <a:t>World  </a:t>
            </a:r>
            <a:r>
              <a:rPr sz="2400" spc="-10" dirty="0">
                <a:latin typeface="Perpetua"/>
                <a:cs typeface="Perpetua"/>
              </a:rPr>
              <a:t>Wide</a:t>
            </a:r>
            <a:r>
              <a:rPr sz="2400" spc="-305" dirty="0">
                <a:latin typeface="Perpetua"/>
                <a:cs typeface="Perpetua"/>
              </a:rPr>
              <a:t> </a:t>
            </a:r>
            <a:r>
              <a:rPr sz="2400" spc="-105" dirty="0">
                <a:latin typeface="Perpetua"/>
                <a:cs typeface="Perpetua"/>
              </a:rPr>
              <a:t>Web.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550">
              <a:latin typeface="Times New Roman"/>
              <a:cs typeface="Times New Roman"/>
            </a:endParaRPr>
          </a:p>
          <a:p>
            <a:pPr marL="285115" marR="3494404" indent="-273050" algn="just">
              <a:lnSpc>
                <a:spcPct val="100000"/>
              </a:lnSpc>
              <a:buSzPct val="85416"/>
              <a:buFont typeface="Arial"/>
              <a:buChar char="•"/>
              <a:tabLst>
                <a:tab pos="285750" algn="l"/>
              </a:tabLst>
            </a:pPr>
            <a:r>
              <a:rPr sz="2400" spc="-5" dirty="0">
                <a:latin typeface="Perpetua"/>
                <a:cs typeface="Perpetua"/>
              </a:rPr>
              <a:t>It 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-15" dirty="0">
                <a:latin typeface="Perpetua"/>
                <a:cs typeface="Perpetua"/>
              </a:rPr>
              <a:t>remotely </a:t>
            </a:r>
            <a:r>
              <a:rPr sz="2400" spc="-10" dirty="0">
                <a:latin typeface="Perpetua"/>
                <a:cs typeface="Perpetua"/>
              </a:rPr>
              <a:t>accessible </a:t>
            </a:r>
            <a:r>
              <a:rPr sz="2400" dirty="0">
                <a:latin typeface="Perpetua"/>
                <a:cs typeface="Perpetua"/>
              </a:rPr>
              <a:t>program 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5" dirty="0">
                <a:latin typeface="Perpetua"/>
                <a:cs typeface="Perpetua"/>
              </a:rPr>
              <a:t>lets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do </a:t>
            </a:r>
            <a:r>
              <a:rPr sz="2400" i="1" spc="-10" dirty="0">
                <a:latin typeface="Perpetua"/>
                <a:cs typeface="Perpetua"/>
              </a:rPr>
              <a:t>keyword </a:t>
            </a:r>
            <a:r>
              <a:rPr sz="2400" i="1" spc="-5" dirty="0">
                <a:latin typeface="Perpetua"/>
                <a:cs typeface="Perpetua"/>
              </a:rPr>
              <a:t>searches </a:t>
            </a:r>
            <a:r>
              <a:rPr sz="2400" dirty="0">
                <a:latin typeface="Perpetua"/>
                <a:cs typeface="Perpetua"/>
              </a:rPr>
              <a:t>for  information on the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Internet.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550">
              <a:latin typeface="Times New Roman"/>
              <a:cs typeface="Times New Roman"/>
            </a:endParaRPr>
          </a:p>
          <a:p>
            <a:pPr marL="285115" marR="3492500" indent="-273050" algn="just">
              <a:lnSpc>
                <a:spcPct val="100000"/>
              </a:lnSpc>
              <a:buSzPct val="85416"/>
              <a:buFont typeface="Arial"/>
              <a:buChar char="•"/>
              <a:tabLst>
                <a:tab pos="28575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5" dirty="0">
                <a:latin typeface="Perpetua"/>
                <a:cs typeface="Perpetua"/>
              </a:rPr>
              <a:t>search engine </a:t>
            </a:r>
            <a:r>
              <a:rPr sz="2400" spc="-10" dirty="0">
                <a:latin typeface="Perpetua"/>
                <a:cs typeface="Perpetua"/>
              </a:rPr>
              <a:t>takes </a:t>
            </a:r>
            <a:r>
              <a:rPr sz="2400" spc="-15" dirty="0">
                <a:latin typeface="Perpetua"/>
                <a:cs typeface="Perpetua"/>
              </a:rPr>
              <a:t>your </a:t>
            </a:r>
            <a:r>
              <a:rPr sz="2400" i="1" spc="-15" dirty="0">
                <a:latin typeface="Perpetua"/>
                <a:cs typeface="Perpetua"/>
              </a:rPr>
              <a:t>phrase </a:t>
            </a:r>
            <a:r>
              <a:rPr sz="2400" i="1" dirty="0">
                <a:latin typeface="Perpetua"/>
                <a:cs typeface="Perpetua"/>
              </a:rPr>
              <a:t>/  </a:t>
            </a:r>
            <a:r>
              <a:rPr sz="2400" i="1" spc="-10" dirty="0">
                <a:latin typeface="Perpetua"/>
                <a:cs typeface="Perpetua"/>
              </a:rPr>
              <a:t>keyword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5" dirty="0">
                <a:latin typeface="Perpetua"/>
                <a:cs typeface="Perpetua"/>
              </a:rPr>
              <a:t>returns </a:t>
            </a:r>
            <a:r>
              <a:rPr sz="2400" dirty="0">
                <a:latin typeface="Perpetua"/>
                <a:cs typeface="Perpetua"/>
              </a:rPr>
              <a:t>search </a:t>
            </a:r>
            <a:r>
              <a:rPr sz="2400" spc="5" dirty="0">
                <a:latin typeface="Perpetua"/>
                <a:cs typeface="Perpetua"/>
              </a:rPr>
              <a:t>engine  </a:t>
            </a:r>
            <a:r>
              <a:rPr sz="2400" spc="-5" dirty="0">
                <a:latin typeface="Perpetua"/>
                <a:cs typeface="Perpetua"/>
              </a:rPr>
              <a:t>results </a:t>
            </a:r>
            <a:r>
              <a:rPr sz="2400" dirty="0">
                <a:latin typeface="Perpetua"/>
                <a:cs typeface="Perpetua"/>
              </a:rPr>
              <a:t>pages with a </a:t>
            </a:r>
            <a:r>
              <a:rPr sz="2400" spc="-5" dirty="0">
                <a:latin typeface="Perpetua"/>
                <a:cs typeface="Perpetua"/>
              </a:rPr>
              <a:t>list </a:t>
            </a:r>
            <a:r>
              <a:rPr sz="2400" dirty="0">
                <a:latin typeface="Perpetua"/>
                <a:cs typeface="Perpetua"/>
              </a:rPr>
              <a:t>of sites it  deems </a:t>
            </a:r>
            <a:r>
              <a:rPr sz="2400" spc="-20" dirty="0">
                <a:latin typeface="Perpetua"/>
                <a:cs typeface="Perpetua"/>
              </a:rPr>
              <a:t>relevant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5" dirty="0">
                <a:latin typeface="Perpetua"/>
                <a:cs typeface="Perpetua"/>
              </a:rPr>
              <a:t>connected to </a:t>
            </a:r>
            <a:r>
              <a:rPr sz="2400" spc="-15" dirty="0">
                <a:latin typeface="Perpetua"/>
                <a:cs typeface="Perpetua"/>
              </a:rPr>
              <a:t>your  </a:t>
            </a:r>
            <a:r>
              <a:rPr sz="2400" spc="5" dirty="0">
                <a:latin typeface="Perpetua"/>
                <a:cs typeface="Perpetua"/>
              </a:rPr>
              <a:t>searched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keyword.</a:t>
            </a:r>
            <a:endParaRPr sz="2400">
              <a:latin typeface="Perpetua"/>
              <a:cs typeface="Perpetua"/>
            </a:endParaRPr>
          </a:p>
          <a:p>
            <a:pPr marL="4977765" lvl="1" indent="-240665" algn="just">
              <a:lnSpc>
                <a:spcPts val="2640"/>
              </a:lnSpc>
              <a:buSzPct val="95833"/>
              <a:buFont typeface="Wingdings"/>
              <a:buChar char=""/>
              <a:tabLst>
                <a:tab pos="4978400" algn="l"/>
              </a:tabLst>
            </a:pPr>
            <a:r>
              <a:rPr sz="2400" i="1" dirty="0">
                <a:latin typeface="Perpetua"/>
                <a:cs typeface="Perpetua"/>
              </a:rPr>
              <a:t>List 10 </a:t>
            </a:r>
            <a:r>
              <a:rPr sz="2400" i="1" spc="5" dirty="0">
                <a:latin typeface="Perpetua"/>
                <a:cs typeface="Perpetua"/>
              </a:rPr>
              <a:t>Internet </a:t>
            </a:r>
            <a:r>
              <a:rPr sz="2400" i="1" dirty="0">
                <a:latin typeface="Perpetua"/>
                <a:cs typeface="Perpetua"/>
              </a:rPr>
              <a:t>search</a:t>
            </a:r>
            <a:r>
              <a:rPr sz="2400" i="1" spc="-7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engines.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05486"/>
            <a:ext cx="5657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180" dirty="0">
                <a:solidFill>
                  <a:srgbClr val="FF0000"/>
                </a:solidFill>
                <a:latin typeface="Perpetua"/>
                <a:cs typeface="Perpetua"/>
              </a:rPr>
              <a:t>Top </a:t>
            </a:r>
            <a:r>
              <a:rPr i="0" spc="-5" dirty="0">
                <a:solidFill>
                  <a:srgbClr val="FF0000"/>
                </a:solidFill>
                <a:latin typeface="Perpetua"/>
                <a:cs typeface="Perpetua"/>
              </a:rPr>
              <a:t>10 </a:t>
            </a:r>
            <a:r>
              <a:rPr i="0" spc="10" dirty="0">
                <a:solidFill>
                  <a:srgbClr val="FF0000"/>
                </a:solidFill>
                <a:latin typeface="Perpetua"/>
                <a:cs typeface="Perpetua"/>
              </a:rPr>
              <a:t>Internet search</a:t>
            </a:r>
            <a:r>
              <a:rPr i="0" spc="15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0" spc="5" dirty="0">
                <a:solidFill>
                  <a:srgbClr val="FF0000"/>
                </a:solidFill>
                <a:latin typeface="Perpetua"/>
                <a:cs typeface="Perpetua"/>
              </a:rPr>
              <a:t>engines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26921"/>
            <a:ext cx="7625080" cy="471741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85750" marR="5080" indent="-273685" algn="just">
              <a:lnSpc>
                <a:spcPts val="1730"/>
              </a:lnSpc>
              <a:spcBef>
                <a:spcPts val="515"/>
              </a:spcBef>
              <a:buClr>
                <a:srgbClr val="000000"/>
              </a:buClr>
              <a:buSzPct val="83333"/>
              <a:buFont typeface="Arial"/>
              <a:buChar char="•"/>
              <a:tabLst>
                <a:tab pos="286385" algn="l"/>
              </a:tabLst>
            </a:pPr>
            <a:r>
              <a:rPr sz="1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Google</a:t>
            </a:r>
            <a:r>
              <a:rPr sz="180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- Offering </a:t>
            </a:r>
            <a:r>
              <a:rPr sz="1800" spc="-5" dirty="0">
                <a:latin typeface="Perpetua"/>
                <a:cs typeface="Perpetua"/>
              </a:rPr>
              <a:t>everything from </a:t>
            </a:r>
            <a:r>
              <a:rPr sz="1800" dirty="0">
                <a:latin typeface="Perpetua"/>
                <a:cs typeface="Perpetua"/>
              </a:rPr>
              <a:t>image searches, </a:t>
            </a:r>
            <a:r>
              <a:rPr sz="1800" spc="-10" dirty="0">
                <a:latin typeface="Perpetua"/>
                <a:cs typeface="Perpetua"/>
              </a:rPr>
              <a:t>map </a:t>
            </a:r>
            <a:r>
              <a:rPr sz="1800" dirty="0">
                <a:latin typeface="Perpetua"/>
                <a:cs typeface="Perpetua"/>
              </a:rPr>
              <a:t>searches, </a:t>
            </a:r>
            <a:r>
              <a:rPr sz="1800" spc="-10" dirty="0">
                <a:latin typeface="Perpetua"/>
                <a:cs typeface="Perpetua"/>
              </a:rPr>
              <a:t>news </a:t>
            </a:r>
            <a:r>
              <a:rPr sz="1800" dirty="0">
                <a:latin typeface="Perpetua"/>
                <a:cs typeface="Perpetua"/>
              </a:rPr>
              <a:t>searches, </a:t>
            </a:r>
            <a:r>
              <a:rPr sz="1800" spc="-10" dirty="0">
                <a:latin typeface="Perpetua"/>
                <a:cs typeface="Perpetua"/>
              </a:rPr>
              <a:t>etc.  </a:t>
            </a:r>
            <a:r>
              <a:rPr sz="1800" spc="-5" dirty="0">
                <a:latin typeface="Perpetua"/>
                <a:cs typeface="Perpetua"/>
              </a:rPr>
              <a:t>With </a:t>
            </a:r>
            <a:r>
              <a:rPr sz="1800" spc="-10" dirty="0">
                <a:latin typeface="Perpetua"/>
                <a:cs typeface="Perpetua"/>
              </a:rPr>
              <a:t>impressive </a:t>
            </a:r>
            <a:r>
              <a:rPr sz="1800" spc="-20" dirty="0">
                <a:latin typeface="Perpetua"/>
                <a:cs typeface="Perpetua"/>
              </a:rPr>
              <a:t>keyword </a:t>
            </a:r>
            <a:r>
              <a:rPr sz="1800" spc="-10" dirty="0">
                <a:latin typeface="Perpetua"/>
                <a:cs typeface="Perpetua"/>
              </a:rPr>
              <a:t>relevancy </a:t>
            </a:r>
            <a:r>
              <a:rPr sz="1800" dirty="0">
                <a:latin typeface="Perpetua"/>
                <a:cs typeface="Perpetua"/>
              </a:rPr>
              <a:t>and a </a:t>
            </a:r>
            <a:r>
              <a:rPr sz="1800" spc="-5" dirty="0">
                <a:latin typeface="Perpetua"/>
                <a:cs typeface="Perpetua"/>
              </a:rPr>
              <a:t>continuously </a:t>
            </a:r>
            <a:r>
              <a:rPr sz="1800" spc="-10" dirty="0">
                <a:latin typeface="Perpetua"/>
                <a:cs typeface="Perpetua"/>
              </a:rPr>
              <a:t>improving </a:t>
            </a:r>
            <a:r>
              <a:rPr sz="1800" dirty="0">
                <a:latin typeface="Perpetua"/>
                <a:cs typeface="Perpetua"/>
              </a:rPr>
              <a:t>search algorithm, it's  easy to see </a:t>
            </a:r>
            <a:r>
              <a:rPr sz="1800" spc="-15" dirty="0">
                <a:latin typeface="Perpetua"/>
                <a:cs typeface="Perpetua"/>
              </a:rPr>
              <a:t>why </a:t>
            </a:r>
            <a:r>
              <a:rPr sz="1800" dirty="0">
                <a:latin typeface="Perpetua"/>
                <a:cs typeface="Perpetua"/>
              </a:rPr>
              <a:t>Google </a:t>
            </a:r>
            <a:r>
              <a:rPr sz="1800" spc="-5" dirty="0">
                <a:latin typeface="Perpetua"/>
                <a:cs typeface="Perpetua"/>
              </a:rPr>
              <a:t>is </a:t>
            </a:r>
            <a:r>
              <a:rPr sz="1800" dirty="0">
                <a:latin typeface="Perpetua"/>
                <a:cs typeface="Perpetua"/>
              </a:rPr>
              <a:t>still the </a:t>
            </a:r>
            <a:r>
              <a:rPr sz="1800" spc="-5" dirty="0">
                <a:latin typeface="Perpetua"/>
                <a:cs typeface="Perpetua"/>
              </a:rPr>
              <a:t>reigning</a:t>
            </a:r>
            <a:r>
              <a:rPr sz="1800" spc="-10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champ.</a:t>
            </a:r>
            <a:endParaRPr sz="1800">
              <a:latin typeface="Perpetua"/>
              <a:cs typeface="Perpetua"/>
            </a:endParaRPr>
          </a:p>
          <a:p>
            <a:pPr marL="285750" marR="13335" indent="-273685" algn="just">
              <a:lnSpc>
                <a:spcPct val="80000"/>
              </a:lnSpc>
              <a:spcBef>
                <a:spcPts val="615"/>
              </a:spcBef>
              <a:buClr>
                <a:srgbClr val="000000"/>
              </a:buClr>
              <a:buSzPct val="83333"/>
              <a:buFont typeface="Arial"/>
              <a:buChar char="•"/>
              <a:tabLst>
                <a:tab pos="286385" algn="l"/>
              </a:tabLst>
            </a:pPr>
            <a:r>
              <a:rPr sz="1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3"/>
              </a:rPr>
              <a:t>Mahalo</a:t>
            </a:r>
            <a:r>
              <a:rPr sz="180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- Mahalo </a:t>
            </a:r>
            <a:r>
              <a:rPr sz="1800" spc="-5" dirty="0">
                <a:latin typeface="Perpetua"/>
                <a:cs typeface="Perpetua"/>
              </a:rPr>
              <a:t>is </a:t>
            </a:r>
            <a:r>
              <a:rPr sz="1800" dirty="0">
                <a:latin typeface="Perpetua"/>
                <a:cs typeface="Perpetua"/>
              </a:rPr>
              <a:t>a </a:t>
            </a:r>
            <a:r>
              <a:rPr sz="1800" spc="-5" dirty="0">
                <a:latin typeface="Perpetua"/>
                <a:cs typeface="Perpetua"/>
              </a:rPr>
              <a:t>unique </a:t>
            </a:r>
            <a:r>
              <a:rPr sz="1800" spc="-15" dirty="0">
                <a:latin typeface="Perpetua"/>
                <a:cs typeface="Perpetua"/>
              </a:rPr>
              <a:t>'human-powered' </a:t>
            </a:r>
            <a:r>
              <a:rPr sz="1800" dirty="0">
                <a:latin typeface="Perpetua"/>
                <a:cs typeface="Perpetua"/>
              </a:rPr>
              <a:t>search engine </a:t>
            </a:r>
            <a:r>
              <a:rPr sz="1800" spc="-5" dirty="0">
                <a:latin typeface="Perpetua"/>
                <a:cs typeface="Perpetua"/>
              </a:rPr>
              <a:t>that </a:t>
            </a:r>
            <a:r>
              <a:rPr sz="1800" spc="-10" dirty="0">
                <a:latin typeface="Perpetua"/>
                <a:cs typeface="Perpetua"/>
              </a:rPr>
              <a:t>employs </a:t>
            </a:r>
            <a:r>
              <a:rPr sz="1800" dirty="0">
                <a:latin typeface="Perpetua"/>
                <a:cs typeface="Perpetua"/>
              </a:rPr>
              <a:t>a group of  </a:t>
            </a:r>
            <a:r>
              <a:rPr sz="1800" spc="5" dirty="0">
                <a:latin typeface="Perpetua"/>
                <a:cs typeface="Perpetua"/>
              </a:rPr>
              <a:t>editors </a:t>
            </a:r>
            <a:r>
              <a:rPr sz="1800" dirty="0">
                <a:latin typeface="Perpetua"/>
                <a:cs typeface="Perpetua"/>
              </a:rPr>
              <a:t>to </a:t>
            </a:r>
            <a:r>
              <a:rPr sz="1800" spc="-10" dirty="0">
                <a:latin typeface="Perpetua"/>
                <a:cs typeface="Perpetua"/>
              </a:rPr>
              <a:t>manually </a:t>
            </a:r>
            <a:r>
              <a:rPr sz="1800" dirty="0">
                <a:latin typeface="Perpetua"/>
                <a:cs typeface="Perpetua"/>
              </a:rPr>
              <a:t>sift and organize thousands of pieces of</a:t>
            </a:r>
            <a:r>
              <a:rPr sz="1800" spc="-12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content.</a:t>
            </a:r>
            <a:endParaRPr sz="1800">
              <a:latin typeface="Perpetua"/>
              <a:cs typeface="Perpetua"/>
            </a:endParaRPr>
          </a:p>
          <a:p>
            <a:pPr marL="285750" marR="13970" indent="-273685" algn="just">
              <a:lnSpc>
                <a:spcPct val="80000"/>
              </a:lnSpc>
              <a:spcBef>
                <a:spcPts val="600"/>
              </a:spcBef>
              <a:buClr>
                <a:srgbClr val="000000"/>
              </a:buClr>
              <a:buSzPct val="83333"/>
              <a:buFont typeface="Arial"/>
              <a:buChar char="•"/>
              <a:tabLst>
                <a:tab pos="286385" algn="l"/>
              </a:tabLst>
            </a:pPr>
            <a:r>
              <a:rPr sz="1800" u="sng" spc="-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4"/>
              </a:rPr>
              <a:t>Yahoo</a:t>
            </a:r>
            <a:r>
              <a:rPr sz="1800" spc="-40" dirty="0">
                <a:solidFill>
                  <a:srgbClr val="CC9900"/>
                </a:solidFill>
                <a:latin typeface="Perpetua"/>
                <a:cs typeface="Perpetua"/>
                <a:hlinkClick r:id="rId4"/>
              </a:rPr>
              <a:t> </a:t>
            </a:r>
            <a:r>
              <a:rPr sz="1800" dirty="0">
                <a:latin typeface="Perpetua"/>
                <a:cs typeface="Perpetua"/>
              </a:rPr>
              <a:t>- While </a:t>
            </a:r>
            <a:r>
              <a:rPr sz="1800" spc="-45" dirty="0">
                <a:latin typeface="Perpetua"/>
                <a:cs typeface="Perpetua"/>
              </a:rPr>
              <a:t>Yahoo </a:t>
            </a:r>
            <a:r>
              <a:rPr sz="1800" dirty="0">
                <a:latin typeface="Perpetua"/>
                <a:cs typeface="Perpetua"/>
              </a:rPr>
              <a:t>has </a:t>
            </a:r>
            <a:r>
              <a:rPr sz="1800" spc="-10" dirty="0">
                <a:latin typeface="Perpetua"/>
                <a:cs typeface="Perpetua"/>
              </a:rPr>
              <a:t>been </a:t>
            </a:r>
            <a:r>
              <a:rPr sz="1800" dirty="0">
                <a:latin typeface="Perpetua"/>
                <a:cs typeface="Perpetua"/>
              </a:rPr>
              <a:t>suffering as of </a:t>
            </a:r>
            <a:r>
              <a:rPr sz="1800" spc="-15" dirty="0">
                <a:latin typeface="Perpetua"/>
                <a:cs typeface="Perpetua"/>
              </a:rPr>
              <a:t>late, </a:t>
            </a:r>
            <a:r>
              <a:rPr sz="1800" dirty="0">
                <a:latin typeface="Perpetua"/>
                <a:cs typeface="Perpetua"/>
              </a:rPr>
              <a:t>it's </a:t>
            </a:r>
            <a:r>
              <a:rPr sz="1800" spc="-5" dirty="0">
                <a:latin typeface="Perpetua"/>
                <a:cs typeface="Perpetua"/>
              </a:rPr>
              <a:t>still </a:t>
            </a:r>
            <a:r>
              <a:rPr sz="1800" dirty="0">
                <a:latin typeface="Perpetua"/>
                <a:cs typeface="Perpetua"/>
              </a:rPr>
              <a:t>a classic </a:t>
            </a:r>
            <a:r>
              <a:rPr sz="1800" spc="-5" dirty="0">
                <a:latin typeface="Perpetua"/>
                <a:cs typeface="Perpetua"/>
              </a:rPr>
              <a:t>and </a:t>
            </a:r>
            <a:r>
              <a:rPr sz="1800" dirty="0">
                <a:latin typeface="Perpetua"/>
                <a:cs typeface="Perpetua"/>
              </a:rPr>
              <a:t>a popular search  engine.</a:t>
            </a:r>
            <a:endParaRPr sz="1800">
              <a:latin typeface="Perpetua"/>
              <a:cs typeface="Perpetua"/>
            </a:endParaRPr>
          </a:p>
          <a:p>
            <a:pPr marL="285750" indent="-273685" algn="just">
              <a:lnSpc>
                <a:spcPts val="1945"/>
              </a:lnSpc>
              <a:spcBef>
                <a:spcPts val="165"/>
              </a:spcBef>
              <a:buClr>
                <a:srgbClr val="000000"/>
              </a:buClr>
              <a:buSzPct val="83333"/>
              <a:buFont typeface="Arial"/>
              <a:buChar char="•"/>
              <a:tabLst>
                <a:tab pos="286385" algn="l"/>
              </a:tabLst>
            </a:pPr>
            <a:r>
              <a:rPr sz="1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5"/>
              </a:rPr>
              <a:t>Bing</a:t>
            </a:r>
            <a:r>
              <a:rPr sz="1800" spc="-5" dirty="0">
                <a:solidFill>
                  <a:srgbClr val="CC9900"/>
                </a:solidFill>
                <a:latin typeface="Perpetua"/>
                <a:cs typeface="Perpetua"/>
                <a:hlinkClick r:id="rId5"/>
              </a:rPr>
              <a:t> </a:t>
            </a:r>
            <a:r>
              <a:rPr sz="1800" dirty="0">
                <a:latin typeface="Perpetua"/>
                <a:cs typeface="Perpetua"/>
              </a:rPr>
              <a:t>- </a:t>
            </a:r>
            <a:r>
              <a:rPr sz="1800" spc="-5" dirty="0">
                <a:latin typeface="Perpetua"/>
                <a:cs typeface="Perpetua"/>
              </a:rPr>
              <a:t>The Microsoft </a:t>
            </a:r>
            <a:r>
              <a:rPr sz="1800" spc="-25" dirty="0">
                <a:latin typeface="Perpetua"/>
                <a:cs typeface="Perpetua"/>
              </a:rPr>
              <a:t>powered </a:t>
            </a:r>
            <a:r>
              <a:rPr sz="1800" dirty="0">
                <a:latin typeface="Perpetua"/>
                <a:cs typeface="Perpetua"/>
              </a:rPr>
              <a:t>search engine prides </a:t>
            </a:r>
            <a:r>
              <a:rPr sz="1800" spc="-5" dirty="0">
                <a:latin typeface="Perpetua"/>
                <a:cs typeface="Perpetua"/>
              </a:rPr>
              <a:t>itself on being </a:t>
            </a:r>
            <a:r>
              <a:rPr sz="1800" dirty="0">
                <a:latin typeface="Perpetua"/>
                <a:cs typeface="Perpetua"/>
              </a:rPr>
              <a:t>a </a:t>
            </a:r>
            <a:r>
              <a:rPr sz="1800" spc="-5" dirty="0">
                <a:latin typeface="Perpetua"/>
                <a:cs typeface="Perpetua"/>
              </a:rPr>
              <a:t>"decision </a:t>
            </a:r>
            <a:r>
              <a:rPr sz="1800" dirty="0">
                <a:latin typeface="Perpetua"/>
                <a:cs typeface="Perpetua"/>
              </a:rPr>
              <a:t>engine"</a:t>
            </a:r>
            <a:r>
              <a:rPr sz="1800" spc="280" dirty="0">
                <a:latin typeface="Perpetua"/>
                <a:cs typeface="Perpetua"/>
              </a:rPr>
              <a:t> </a:t>
            </a:r>
            <a:r>
              <a:rPr sz="1800" spc="-50" dirty="0">
                <a:latin typeface="Perpetua"/>
                <a:cs typeface="Perpetua"/>
              </a:rPr>
              <a:t>by</a:t>
            </a:r>
            <a:endParaRPr sz="1800">
              <a:latin typeface="Perpetua"/>
              <a:cs typeface="Perpetua"/>
            </a:endParaRPr>
          </a:p>
          <a:p>
            <a:pPr marL="285750" algn="just">
              <a:lnSpc>
                <a:spcPts val="1945"/>
              </a:lnSpc>
            </a:pPr>
            <a:r>
              <a:rPr sz="1800" spc="5" dirty="0">
                <a:latin typeface="Perpetua"/>
                <a:cs typeface="Perpetua"/>
              </a:rPr>
              <a:t>offering search </a:t>
            </a:r>
            <a:r>
              <a:rPr sz="1800" dirty="0">
                <a:latin typeface="Perpetua"/>
                <a:cs typeface="Perpetua"/>
              </a:rPr>
              <a:t>suggestions on the side column and </a:t>
            </a:r>
            <a:r>
              <a:rPr sz="1800" spc="-10" dirty="0">
                <a:latin typeface="Perpetua"/>
                <a:cs typeface="Perpetua"/>
              </a:rPr>
              <a:t>providing </a:t>
            </a:r>
            <a:r>
              <a:rPr sz="1800" dirty="0">
                <a:latin typeface="Perpetua"/>
                <a:cs typeface="Perpetua"/>
              </a:rPr>
              <a:t>extra </a:t>
            </a:r>
            <a:r>
              <a:rPr sz="1800" spc="5" dirty="0">
                <a:latin typeface="Perpetua"/>
                <a:cs typeface="Perpetua"/>
              </a:rPr>
              <a:t>search</a:t>
            </a:r>
            <a:r>
              <a:rPr sz="1800" spc="-20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options.</a:t>
            </a:r>
            <a:endParaRPr sz="1800">
              <a:latin typeface="Perpetua"/>
              <a:cs typeface="Perpetua"/>
            </a:endParaRPr>
          </a:p>
          <a:p>
            <a:pPr marL="285750" indent="-273685" algn="just">
              <a:lnSpc>
                <a:spcPct val="100000"/>
              </a:lnSpc>
              <a:spcBef>
                <a:spcPts val="170"/>
              </a:spcBef>
              <a:buClr>
                <a:srgbClr val="000000"/>
              </a:buClr>
              <a:buSzPct val="83333"/>
              <a:buFont typeface="Arial"/>
              <a:buChar char="•"/>
              <a:tabLst>
                <a:tab pos="286385" algn="l"/>
              </a:tabLst>
            </a:pPr>
            <a:r>
              <a:rPr sz="1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6"/>
              </a:rPr>
              <a:t>Ask</a:t>
            </a:r>
            <a:r>
              <a:rPr sz="1800" spc="-5" dirty="0">
                <a:solidFill>
                  <a:srgbClr val="CC9900"/>
                </a:solidFill>
                <a:latin typeface="Perpetua"/>
                <a:cs typeface="Perpetua"/>
                <a:hlinkClick r:id="rId6"/>
              </a:rPr>
              <a:t> </a:t>
            </a:r>
            <a:r>
              <a:rPr sz="1800" dirty="0">
                <a:latin typeface="Perpetua"/>
                <a:cs typeface="Perpetua"/>
              </a:rPr>
              <a:t>- </a:t>
            </a:r>
            <a:r>
              <a:rPr sz="1800" spc="-5" dirty="0">
                <a:latin typeface="Perpetua"/>
                <a:cs typeface="Perpetua"/>
              </a:rPr>
              <a:t>Clean </a:t>
            </a:r>
            <a:r>
              <a:rPr sz="1800" spc="-15" dirty="0">
                <a:latin typeface="Perpetua"/>
                <a:cs typeface="Perpetua"/>
              </a:rPr>
              <a:t>layout </a:t>
            </a:r>
            <a:r>
              <a:rPr sz="1800" dirty="0">
                <a:latin typeface="Perpetua"/>
                <a:cs typeface="Perpetua"/>
              </a:rPr>
              <a:t>and </a:t>
            </a:r>
            <a:r>
              <a:rPr sz="1800" spc="-5" dirty="0">
                <a:latin typeface="Perpetua"/>
                <a:cs typeface="Perpetua"/>
              </a:rPr>
              <a:t>handy results</a:t>
            </a:r>
            <a:r>
              <a:rPr sz="1800" spc="-40" dirty="0">
                <a:latin typeface="Perpetua"/>
                <a:cs typeface="Perpetua"/>
              </a:rPr>
              <a:t> </a:t>
            </a:r>
            <a:r>
              <a:rPr sz="1800" spc="-15" dirty="0">
                <a:latin typeface="Perpetua"/>
                <a:cs typeface="Perpetua"/>
              </a:rPr>
              <a:t>grouping.</a:t>
            </a:r>
            <a:endParaRPr sz="1800">
              <a:latin typeface="Perpetua"/>
              <a:cs typeface="Perpetua"/>
            </a:endParaRPr>
          </a:p>
          <a:p>
            <a:pPr marL="285750" indent="-273685" algn="just">
              <a:lnSpc>
                <a:spcPct val="100000"/>
              </a:lnSpc>
              <a:spcBef>
                <a:spcPts val="170"/>
              </a:spcBef>
              <a:buClr>
                <a:srgbClr val="000000"/>
              </a:buClr>
              <a:buSzPct val="83333"/>
              <a:buFont typeface="Arial"/>
              <a:buChar char="•"/>
              <a:tabLst>
                <a:tab pos="286385" algn="l"/>
              </a:tabLst>
            </a:pPr>
            <a:r>
              <a:rPr sz="1800" u="sng" spc="-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7"/>
              </a:rPr>
              <a:t>AOL</a:t>
            </a:r>
            <a:r>
              <a:rPr sz="18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7"/>
              </a:rPr>
              <a:t> </a:t>
            </a:r>
            <a:r>
              <a:rPr sz="1800" u="sng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7"/>
              </a:rPr>
              <a:t>Search</a:t>
            </a:r>
            <a:r>
              <a:rPr sz="1800" spc="-25" dirty="0">
                <a:solidFill>
                  <a:srgbClr val="CC9900"/>
                </a:solidFill>
                <a:latin typeface="Perpetua"/>
                <a:cs typeface="Perpetua"/>
                <a:hlinkClick r:id="rId7"/>
              </a:rPr>
              <a:t> </a:t>
            </a:r>
            <a:r>
              <a:rPr sz="1800" dirty="0">
                <a:latin typeface="Perpetua"/>
                <a:cs typeface="Perpetua"/>
              </a:rPr>
              <a:t>-</a:t>
            </a:r>
            <a:r>
              <a:rPr sz="1800" spc="-145" dirty="0">
                <a:latin typeface="Perpetua"/>
                <a:cs typeface="Perpetua"/>
              </a:rPr>
              <a:t> </a:t>
            </a:r>
            <a:r>
              <a:rPr sz="1800" spc="-30" dirty="0">
                <a:latin typeface="Perpetua"/>
                <a:cs typeface="Perpetua"/>
              </a:rPr>
              <a:t>AOL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continues</a:t>
            </a:r>
            <a:r>
              <a:rPr sz="1800" spc="-3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to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be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used,</a:t>
            </a:r>
            <a:r>
              <a:rPr sz="1800" spc="-9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primarily</a:t>
            </a:r>
            <a:r>
              <a:rPr sz="1800" spc="20" dirty="0">
                <a:latin typeface="Perpetua"/>
                <a:cs typeface="Perpetua"/>
              </a:rPr>
              <a:t> </a:t>
            </a:r>
            <a:r>
              <a:rPr sz="1800" spc="-20" dirty="0">
                <a:latin typeface="Perpetua"/>
                <a:cs typeface="Perpetua"/>
              </a:rPr>
              <a:t>by </a:t>
            </a:r>
            <a:r>
              <a:rPr sz="1800" dirty="0">
                <a:latin typeface="Perpetua"/>
                <a:cs typeface="Perpetua"/>
              </a:rPr>
              <a:t>people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who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still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use</a:t>
            </a:r>
            <a:r>
              <a:rPr sz="1800" spc="-150" dirty="0">
                <a:latin typeface="Perpetua"/>
                <a:cs typeface="Perpetua"/>
              </a:rPr>
              <a:t> </a:t>
            </a:r>
            <a:r>
              <a:rPr sz="1800" spc="-25" dirty="0">
                <a:latin typeface="Perpetua"/>
                <a:cs typeface="Perpetua"/>
              </a:rPr>
              <a:t>AOL.</a:t>
            </a:r>
            <a:endParaRPr sz="1800">
              <a:latin typeface="Perpetua"/>
              <a:cs typeface="Perpetua"/>
            </a:endParaRPr>
          </a:p>
          <a:p>
            <a:pPr marL="285750" marR="16510" indent="-273685" algn="just">
              <a:lnSpc>
                <a:spcPct val="80000"/>
              </a:lnSpc>
              <a:spcBef>
                <a:spcPts val="600"/>
              </a:spcBef>
              <a:buClr>
                <a:srgbClr val="000000"/>
              </a:buClr>
              <a:buSzPct val="83333"/>
              <a:buFont typeface="Arial"/>
              <a:buChar char="•"/>
              <a:tabLst>
                <a:tab pos="286385" algn="l"/>
              </a:tabLst>
            </a:pPr>
            <a:r>
              <a:rPr sz="18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8"/>
              </a:rPr>
              <a:t>Blekko</a:t>
            </a:r>
            <a:r>
              <a:rPr sz="1800" spc="-1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- </a:t>
            </a:r>
            <a:r>
              <a:rPr sz="1800" spc="-10" dirty="0">
                <a:latin typeface="Perpetua"/>
                <a:cs typeface="Perpetua"/>
              </a:rPr>
              <a:t>Blekko's </a:t>
            </a:r>
            <a:r>
              <a:rPr sz="1800" spc="-5" dirty="0">
                <a:latin typeface="Perpetua"/>
                <a:cs typeface="Perpetua"/>
              </a:rPr>
              <a:t>clean, minimalist </a:t>
            </a:r>
            <a:r>
              <a:rPr sz="1800" spc="-20" dirty="0">
                <a:latin typeface="Perpetua"/>
                <a:cs typeface="Perpetua"/>
              </a:rPr>
              <a:t>layout </a:t>
            </a:r>
            <a:r>
              <a:rPr sz="1800" spc="-5" dirty="0">
                <a:latin typeface="Perpetua"/>
                <a:cs typeface="Perpetua"/>
              </a:rPr>
              <a:t>is </a:t>
            </a:r>
            <a:r>
              <a:rPr sz="1800" dirty="0">
                <a:latin typeface="Perpetua"/>
                <a:cs typeface="Perpetua"/>
              </a:rPr>
              <a:t>easy </a:t>
            </a:r>
            <a:r>
              <a:rPr sz="1800" spc="-5" dirty="0">
                <a:latin typeface="Perpetua"/>
                <a:cs typeface="Perpetua"/>
              </a:rPr>
              <a:t>to </a:t>
            </a:r>
            <a:r>
              <a:rPr sz="1800" spc="-15" dirty="0">
                <a:latin typeface="Perpetua"/>
                <a:cs typeface="Perpetua"/>
              </a:rPr>
              <a:t>navigate, </a:t>
            </a:r>
            <a:r>
              <a:rPr sz="1800" spc="-5" dirty="0">
                <a:latin typeface="Perpetua"/>
                <a:cs typeface="Perpetua"/>
              </a:rPr>
              <a:t>and /tags </a:t>
            </a:r>
            <a:r>
              <a:rPr sz="1800" spc="-15" dirty="0">
                <a:latin typeface="Perpetua"/>
                <a:cs typeface="Perpetua"/>
              </a:rPr>
              <a:t>allow </a:t>
            </a:r>
            <a:r>
              <a:rPr sz="1800" spc="-5" dirty="0">
                <a:latin typeface="Perpetua"/>
                <a:cs typeface="Perpetua"/>
              </a:rPr>
              <a:t>for  </a:t>
            </a:r>
            <a:r>
              <a:rPr sz="1800" dirty="0">
                <a:latin typeface="Perpetua"/>
                <a:cs typeface="Perpetua"/>
              </a:rPr>
              <a:t>grouping</a:t>
            </a:r>
            <a:r>
              <a:rPr sz="1800" spc="-3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searches.</a:t>
            </a:r>
            <a:endParaRPr sz="1800">
              <a:latin typeface="Perpetua"/>
              <a:cs typeface="Perpetua"/>
            </a:endParaRPr>
          </a:p>
          <a:p>
            <a:pPr marL="285750" indent="-273685" algn="just">
              <a:lnSpc>
                <a:spcPts val="1945"/>
              </a:lnSpc>
              <a:spcBef>
                <a:spcPts val="165"/>
              </a:spcBef>
              <a:buClr>
                <a:srgbClr val="000000"/>
              </a:buClr>
              <a:buSzPct val="83333"/>
              <a:buFont typeface="Arial"/>
              <a:buChar char="•"/>
              <a:tabLst>
                <a:tab pos="286385" algn="l"/>
              </a:tabLst>
            </a:pPr>
            <a:r>
              <a:rPr sz="1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9"/>
              </a:rPr>
              <a:t>DogPile</a:t>
            </a:r>
            <a:r>
              <a:rPr sz="1800" spc="60" dirty="0">
                <a:solidFill>
                  <a:srgbClr val="CC9900"/>
                </a:solidFill>
                <a:latin typeface="Perpetua"/>
                <a:cs typeface="Perpetua"/>
                <a:hlinkClick r:id="rId9"/>
              </a:rPr>
              <a:t> </a:t>
            </a:r>
            <a:r>
              <a:rPr sz="1800" dirty="0">
                <a:latin typeface="Perpetua"/>
                <a:cs typeface="Perpetua"/>
              </a:rPr>
              <a:t>-</a:t>
            </a:r>
            <a:r>
              <a:rPr sz="1800" spc="5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the</a:t>
            </a:r>
            <a:r>
              <a:rPr sz="1800" spc="6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once</a:t>
            </a:r>
            <a:r>
              <a:rPr sz="1800" spc="6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alternative</a:t>
            </a:r>
            <a:r>
              <a:rPr sz="1800" spc="3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to</a:t>
            </a:r>
            <a:r>
              <a:rPr sz="1800" spc="7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Google</a:t>
            </a:r>
            <a:r>
              <a:rPr sz="1800" spc="5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is</a:t>
            </a:r>
            <a:r>
              <a:rPr sz="1800" spc="6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getting</a:t>
            </a:r>
            <a:r>
              <a:rPr sz="1800" spc="6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</a:t>
            </a:r>
            <a:r>
              <a:rPr sz="1800" spc="5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comeback</a:t>
            </a:r>
            <a:r>
              <a:rPr sz="1800" spc="6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and</a:t>
            </a:r>
            <a:r>
              <a:rPr sz="1800" spc="6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is</a:t>
            </a:r>
            <a:r>
              <a:rPr sz="1800" spc="6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</a:t>
            </a:r>
            <a:r>
              <a:rPr sz="1800" spc="5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great</a:t>
            </a:r>
            <a:r>
              <a:rPr sz="1800" spc="7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alternative</a:t>
            </a:r>
            <a:endParaRPr sz="1800">
              <a:latin typeface="Perpetua"/>
              <a:cs typeface="Perpetua"/>
            </a:endParaRPr>
          </a:p>
          <a:p>
            <a:pPr marL="285750" algn="just">
              <a:lnSpc>
                <a:spcPts val="1945"/>
              </a:lnSpc>
            </a:pPr>
            <a:r>
              <a:rPr sz="1800" dirty="0">
                <a:latin typeface="Perpetua"/>
                <a:cs typeface="Perpetua"/>
              </a:rPr>
              <a:t>to </a:t>
            </a:r>
            <a:r>
              <a:rPr sz="1800" spc="-5" dirty="0">
                <a:latin typeface="Perpetua"/>
                <a:cs typeface="Perpetua"/>
              </a:rPr>
              <a:t>bigger </a:t>
            </a:r>
            <a:r>
              <a:rPr sz="1800" spc="5" dirty="0">
                <a:latin typeface="Perpetua"/>
                <a:cs typeface="Perpetua"/>
              </a:rPr>
              <a:t>search</a:t>
            </a:r>
            <a:r>
              <a:rPr sz="1800" spc="-4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engines.</a:t>
            </a:r>
            <a:endParaRPr sz="1800">
              <a:latin typeface="Perpetua"/>
              <a:cs typeface="Perpetua"/>
            </a:endParaRPr>
          </a:p>
          <a:p>
            <a:pPr marL="285750" indent="-273685" algn="just">
              <a:lnSpc>
                <a:spcPct val="100000"/>
              </a:lnSpc>
              <a:spcBef>
                <a:spcPts val="170"/>
              </a:spcBef>
              <a:buClr>
                <a:srgbClr val="000000"/>
              </a:buClr>
              <a:buSzPct val="83333"/>
              <a:buFont typeface="Arial"/>
              <a:buChar char="•"/>
              <a:tabLst>
                <a:tab pos="286385" algn="l"/>
              </a:tabLst>
            </a:pPr>
            <a:r>
              <a:rPr sz="1800" u="sng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10"/>
              </a:rPr>
              <a:t>Duck Duck </a:t>
            </a:r>
            <a:r>
              <a:rPr sz="1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10"/>
              </a:rPr>
              <a:t>Go</a:t>
            </a:r>
            <a:r>
              <a:rPr sz="1800" spc="-5" dirty="0">
                <a:solidFill>
                  <a:srgbClr val="CC9900"/>
                </a:solidFill>
                <a:latin typeface="Perpetua"/>
                <a:cs typeface="Perpetua"/>
                <a:hlinkClick r:id="rId10"/>
              </a:rPr>
              <a:t> </a:t>
            </a:r>
            <a:r>
              <a:rPr sz="1800" dirty="0">
                <a:latin typeface="Perpetua"/>
                <a:cs typeface="Perpetua"/>
              </a:rPr>
              <a:t>- Doesn't </a:t>
            </a:r>
            <a:r>
              <a:rPr sz="1800" spc="5" dirty="0">
                <a:latin typeface="Perpetua"/>
                <a:cs typeface="Perpetua"/>
              </a:rPr>
              <a:t>track </a:t>
            </a:r>
            <a:r>
              <a:rPr sz="1800" spc="-5" dirty="0">
                <a:latin typeface="Perpetua"/>
                <a:cs typeface="Perpetua"/>
              </a:rPr>
              <a:t>your </a:t>
            </a:r>
            <a:r>
              <a:rPr sz="1800" spc="5" dirty="0">
                <a:latin typeface="Perpetua"/>
                <a:cs typeface="Perpetua"/>
              </a:rPr>
              <a:t>search </a:t>
            </a:r>
            <a:r>
              <a:rPr sz="1800" dirty="0">
                <a:latin typeface="Perpetua"/>
                <a:cs typeface="Perpetua"/>
              </a:rPr>
              <a:t>history and </a:t>
            </a:r>
            <a:r>
              <a:rPr sz="1800" spc="-15" dirty="0">
                <a:latin typeface="Perpetua"/>
                <a:cs typeface="Perpetua"/>
              </a:rPr>
              <a:t>avoids spammy</a:t>
            </a:r>
            <a:r>
              <a:rPr sz="1800" spc="-12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sites.</a:t>
            </a:r>
            <a:endParaRPr sz="1800">
              <a:latin typeface="Perpetua"/>
              <a:cs typeface="Perpetua"/>
            </a:endParaRPr>
          </a:p>
          <a:p>
            <a:pPr marL="285750" marR="15240" indent="-273685" algn="just">
              <a:lnSpc>
                <a:spcPct val="80000"/>
              </a:lnSpc>
              <a:spcBef>
                <a:spcPts val="600"/>
              </a:spcBef>
              <a:buClr>
                <a:srgbClr val="000000"/>
              </a:buClr>
              <a:buSzPct val="83333"/>
              <a:buFont typeface="Arial"/>
              <a:buChar char="•"/>
              <a:tabLst>
                <a:tab pos="286385" algn="l"/>
              </a:tabLst>
            </a:pPr>
            <a:r>
              <a:rPr sz="1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11"/>
              </a:rPr>
              <a:t>The </a:t>
            </a:r>
            <a:r>
              <a:rPr sz="1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11"/>
              </a:rPr>
              <a:t>Internet </a:t>
            </a:r>
            <a:r>
              <a:rPr sz="1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11"/>
              </a:rPr>
              <a:t>Archive</a:t>
            </a:r>
            <a:r>
              <a:rPr sz="1800" spc="-5" dirty="0">
                <a:solidFill>
                  <a:srgbClr val="CC9900"/>
                </a:solidFill>
                <a:latin typeface="Perpetua"/>
                <a:cs typeface="Perpetua"/>
                <a:hlinkClick r:id="rId11"/>
              </a:rPr>
              <a:t> </a:t>
            </a:r>
            <a:r>
              <a:rPr sz="1800" dirty="0">
                <a:latin typeface="Perpetua"/>
                <a:cs typeface="Perpetua"/>
              </a:rPr>
              <a:t>- </a:t>
            </a:r>
            <a:r>
              <a:rPr sz="1800" spc="-5" dirty="0">
                <a:latin typeface="Perpetua"/>
                <a:cs typeface="Perpetua"/>
              </a:rPr>
              <a:t>This </a:t>
            </a:r>
            <a:r>
              <a:rPr sz="1800" spc="5" dirty="0">
                <a:latin typeface="Perpetua"/>
                <a:cs typeface="Perpetua"/>
              </a:rPr>
              <a:t>search </a:t>
            </a:r>
            <a:r>
              <a:rPr sz="1800" dirty="0">
                <a:latin typeface="Perpetua"/>
                <a:cs typeface="Perpetua"/>
              </a:rPr>
              <a:t>engine </a:t>
            </a:r>
            <a:r>
              <a:rPr sz="1800" spc="-5" dirty="0">
                <a:latin typeface="Perpetua"/>
                <a:cs typeface="Perpetua"/>
              </a:rPr>
              <a:t>lets </a:t>
            </a:r>
            <a:r>
              <a:rPr sz="1800" spc="5" dirty="0">
                <a:latin typeface="Perpetua"/>
                <a:cs typeface="Perpetua"/>
              </a:rPr>
              <a:t>users </a:t>
            </a:r>
            <a:r>
              <a:rPr sz="1800" spc="-15" dirty="0">
                <a:latin typeface="Perpetua"/>
                <a:cs typeface="Perpetua"/>
              </a:rPr>
              <a:t>travel </a:t>
            </a:r>
            <a:r>
              <a:rPr sz="1800" spc="5" dirty="0">
                <a:latin typeface="Perpetua"/>
                <a:cs typeface="Perpetua"/>
              </a:rPr>
              <a:t>back </a:t>
            </a:r>
            <a:r>
              <a:rPr sz="1800" spc="-5" dirty="0">
                <a:latin typeface="Perpetua"/>
                <a:cs typeface="Perpetua"/>
              </a:rPr>
              <a:t>in </a:t>
            </a:r>
            <a:r>
              <a:rPr sz="1800" dirty="0">
                <a:latin typeface="Perpetua"/>
                <a:cs typeface="Perpetua"/>
              </a:rPr>
              <a:t>time </a:t>
            </a:r>
            <a:r>
              <a:rPr sz="1800" spc="-5" dirty="0">
                <a:latin typeface="Perpetua"/>
                <a:cs typeface="Perpetua"/>
              </a:rPr>
              <a:t>to see </a:t>
            </a:r>
            <a:r>
              <a:rPr sz="1800" spc="-20" dirty="0">
                <a:latin typeface="Perpetua"/>
                <a:cs typeface="Perpetua"/>
              </a:rPr>
              <a:t>how </a:t>
            </a:r>
            <a:r>
              <a:rPr sz="1800" spc="-30" dirty="0">
                <a:latin typeface="Perpetua"/>
                <a:cs typeface="Perpetua"/>
              </a:rPr>
              <a:t>web  </a:t>
            </a:r>
            <a:r>
              <a:rPr sz="1800" dirty="0">
                <a:latin typeface="Perpetua"/>
                <a:cs typeface="Perpetua"/>
              </a:rPr>
              <a:t>pages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looked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in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years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gone</a:t>
            </a:r>
            <a:r>
              <a:rPr sz="1800" spc="-30" dirty="0">
                <a:latin typeface="Perpetua"/>
                <a:cs typeface="Perpetua"/>
              </a:rPr>
              <a:t> </a:t>
            </a:r>
            <a:r>
              <a:rPr sz="1800" spc="-75" dirty="0">
                <a:latin typeface="Perpetua"/>
                <a:cs typeface="Perpetua"/>
              </a:rPr>
              <a:t>by.</a:t>
            </a:r>
            <a:r>
              <a:rPr sz="1800" spc="-22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 </a:t>
            </a:r>
            <a:r>
              <a:rPr sz="1800" spc="-5" dirty="0">
                <a:latin typeface="Perpetua"/>
                <a:cs typeface="Perpetua"/>
              </a:rPr>
              <a:t>very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fun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5" dirty="0">
                <a:latin typeface="Perpetua"/>
                <a:cs typeface="Perpetua"/>
              </a:rPr>
              <a:t>search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spc="5" dirty="0">
                <a:latin typeface="Perpetua"/>
                <a:cs typeface="Perpetua"/>
              </a:rPr>
              <a:t>engine</a:t>
            </a:r>
            <a:r>
              <a:rPr sz="1800" spc="-3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to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spc="-15" dirty="0">
                <a:latin typeface="Perpetua"/>
                <a:cs typeface="Perpetua"/>
              </a:rPr>
              <a:t>play</a:t>
            </a:r>
            <a:r>
              <a:rPr sz="1800" spc="-5" dirty="0">
                <a:latin typeface="Perpetua"/>
                <a:cs typeface="Perpetua"/>
              </a:rPr>
              <a:t> around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with.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8428" y="6339332"/>
            <a:ext cx="30556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spc="-5" dirty="0">
                <a:latin typeface="Perpetua"/>
                <a:cs typeface="Perpetua"/>
                <a:hlinkClick r:id="rId12"/>
              </a:rPr>
              <a:t>http://www.wordstream.com/articles/internet-search-engines-history</a:t>
            </a:r>
            <a:endParaRPr sz="105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64007"/>
            <a:ext cx="19589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latin typeface="Perpetua"/>
                <a:cs typeface="Perpetua"/>
              </a:rPr>
              <a:t>Querying</a:t>
            </a:r>
            <a:endParaRPr sz="44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04569"/>
            <a:ext cx="8531225" cy="499872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6385" marR="5080" indent="-274320" algn="just">
              <a:lnSpc>
                <a:spcPct val="90000"/>
              </a:lnSpc>
              <a:spcBef>
                <a:spcPts val="41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Consider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situation where </a:t>
            </a:r>
            <a:r>
              <a:rPr sz="2600" spc="-15" dirty="0">
                <a:latin typeface="Perpetua"/>
                <a:cs typeface="Perpetua"/>
              </a:rPr>
              <a:t>you live </a:t>
            </a: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city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has a grocery </a:t>
            </a:r>
            <a:r>
              <a:rPr sz="2600" spc="-10" dirty="0">
                <a:latin typeface="Perpetua"/>
                <a:cs typeface="Perpetua"/>
              </a:rPr>
              <a:t>store  </a:t>
            </a:r>
            <a:r>
              <a:rPr sz="2600" spc="-5" dirty="0">
                <a:latin typeface="Perpetua"/>
                <a:cs typeface="Perpetua"/>
              </a:rPr>
              <a:t>named </a:t>
            </a:r>
            <a:r>
              <a:rPr sz="2600" spc="-45" dirty="0">
                <a:latin typeface="Perpetua"/>
                <a:cs typeface="Perpetua"/>
              </a:rPr>
              <a:t>“</a:t>
            </a:r>
            <a:r>
              <a:rPr sz="2600" i="1" spc="-45" dirty="0">
                <a:latin typeface="Perpetua"/>
                <a:cs typeface="Perpetua"/>
              </a:rPr>
              <a:t>People</a:t>
            </a:r>
            <a:r>
              <a:rPr sz="2600" spc="-45" dirty="0">
                <a:latin typeface="Perpetua"/>
                <a:cs typeface="Perpetua"/>
              </a:rPr>
              <a:t>.” </a:t>
            </a: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10" dirty="0">
                <a:latin typeface="Perpetua"/>
                <a:cs typeface="Perpetua"/>
              </a:rPr>
              <a:t>like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use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dirty="0">
                <a:latin typeface="Perpetua"/>
                <a:cs typeface="Perpetua"/>
              </a:rPr>
              <a:t>engine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find the  </a:t>
            </a:r>
            <a:r>
              <a:rPr sz="2600" spc="-5" dirty="0">
                <a:latin typeface="Perpetua"/>
                <a:cs typeface="Perpetua"/>
              </a:rPr>
              <a:t>phone number and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hours </a:t>
            </a:r>
            <a:r>
              <a:rPr sz="2600" spc="-5" dirty="0">
                <a:latin typeface="Perpetua"/>
                <a:cs typeface="Perpetua"/>
              </a:rPr>
              <a:t>of operation for </a:t>
            </a:r>
            <a:r>
              <a:rPr sz="2600" dirty="0">
                <a:latin typeface="Perpetua"/>
                <a:cs typeface="Perpetua"/>
              </a:rPr>
              <a:t>this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store.</a:t>
            </a:r>
            <a:endParaRPr sz="2600">
              <a:latin typeface="Perpetua"/>
              <a:cs typeface="Perpetua"/>
            </a:endParaRPr>
          </a:p>
          <a:p>
            <a:pPr marL="304800" indent="-292735" algn="just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305435" algn="l"/>
              </a:tabLst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use the </a:t>
            </a:r>
            <a:r>
              <a:rPr sz="2600" spc="15" dirty="0">
                <a:latin typeface="Perpetua"/>
                <a:cs typeface="Perpetua"/>
              </a:rPr>
              <a:t>term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people</a:t>
            </a:r>
            <a:r>
              <a:rPr sz="2600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When this </a:t>
            </a:r>
            <a:r>
              <a:rPr sz="2600" spc="-5" dirty="0">
                <a:latin typeface="Perpetua"/>
                <a:cs typeface="Perpetua"/>
              </a:rPr>
              <a:t>text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5" dirty="0">
                <a:latin typeface="Perpetua"/>
                <a:cs typeface="Perpetua"/>
              </a:rPr>
              <a:t>written,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returned </a:t>
            </a:r>
            <a:r>
              <a:rPr sz="2600" spc="-5" dirty="0">
                <a:latin typeface="Perpetua"/>
                <a:cs typeface="Perpetua"/>
              </a:rPr>
              <a:t>results </a:t>
            </a:r>
            <a:r>
              <a:rPr sz="2600" spc="-35" dirty="0">
                <a:latin typeface="Perpetua"/>
                <a:cs typeface="Perpetua"/>
              </a:rPr>
              <a:t>may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be: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i="1" spc="-20" dirty="0">
                <a:latin typeface="Perpetua"/>
                <a:cs typeface="Perpetua"/>
              </a:rPr>
              <a:t>People </a:t>
            </a:r>
            <a:r>
              <a:rPr sz="2600" i="1" spc="-15" dirty="0">
                <a:latin typeface="Perpetua"/>
                <a:cs typeface="Perpetua"/>
              </a:rPr>
              <a:t>Magazine </a:t>
            </a:r>
            <a:r>
              <a:rPr sz="2600" spc="-20" dirty="0">
                <a:latin typeface="Perpetua"/>
                <a:cs typeface="Perpetua"/>
              </a:rPr>
              <a:t>website,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i="1" spc="-40" dirty="0">
                <a:latin typeface="Perpetua"/>
                <a:cs typeface="Perpetua"/>
              </a:rPr>
              <a:t>Yahoo's </a:t>
            </a:r>
            <a:r>
              <a:rPr sz="2600" i="1" spc="-25" dirty="0">
                <a:latin typeface="Perpetua"/>
                <a:cs typeface="Perpetua"/>
              </a:rPr>
              <a:t>People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page,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website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5" dirty="0">
                <a:latin typeface="Perpetua"/>
                <a:cs typeface="Perpetua"/>
              </a:rPr>
              <a:t>“</a:t>
            </a:r>
            <a:r>
              <a:rPr sz="2600" i="1" spc="-15" dirty="0">
                <a:latin typeface="Perpetua"/>
                <a:cs typeface="Perpetua"/>
              </a:rPr>
              <a:t>Peoples </a:t>
            </a:r>
            <a:r>
              <a:rPr sz="2600" i="1" spc="-5" dirty="0">
                <a:latin typeface="Perpetua"/>
                <a:cs typeface="Perpetua"/>
              </a:rPr>
              <a:t>Bank</a:t>
            </a:r>
            <a:r>
              <a:rPr sz="2600" spc="-5" dirty="0">
                <a:latin typeface="Perpetua"/>
                <a:cs typeface="Perpetua"/>
              </a:rPr>
              <a:t>”</a:t>
            </a:r>
            <a:r>
              <a:rPr sz="2600" spc="-2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,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20" dirty="0">
                <a:latin typeface="Perpetua"/>
                <a:cs typeface="Perpetua"/>
              </a:rPr>
              <a:t>AWikipedia </a:t>
            </a:r>
            <a:r>
              <a:rPr sz="2600" spc="10" dirty="0">
                <a:latin typeface="Perpetua"/>
                <a:cs typeface="Perpetua"/>
              </a:rPr>
              <a:t>article </a:t>
            </a:r>
            <a:r>
              <a:rPr sz="2600" dirty="0">
                <a:latin typeface="Perpetua"/>
                <a:cs typeface="Perpetua"/>
              </a:rPr>
              <a:t>titled </a:t>
            </a:r>
            <a:r>
              <a:rPr sz="2600" spc="-20" dirty="0">
                <a:latin typeface="Perpetua"/>
                <a:cs typeface="Perpetua"/>
              </a:rPr>
              <a:t>“</a:t>
            </a:r>
            <a:r>
              <a:rPr sz="2600" i="1" spc="-20" dirty="0">
                <a:latin typeface="Perpetua"/>
                <a:cs typeface="Perpetua"/>
              </a:rPr>
              <a:t>People</a:t>
            </a:r>
            <a:r>
              <a:rPr sz="2600" spc="-20" dirty="0">
                <a:latin typeface="Perpetua"/>
                <a:cs typeface="Perpetua"/>
              </a:rPr>
              <a:t>”</a:t>
            </a:r>
            <a:r>
              <a:rPr sz="2600" spc="-2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,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20" dirty="0">
                <a:latin typeface="Perpetua"/>
                <a:cs typeface="Perpetua"/>
              </a:rPr>
              <a:t>AWikipedia </a:t>
            </a:r>
            <a:r>
              <a:rPr sz="2600" spc="10" dirty="0">
                <a:latin typeface="Perpetua"/>
                <a:cs typeface="Perpetua"/>
              </a:rPr>
              <a:t>article </a:t>
            </a:r>
            <a:r>
              <a:rPr sz="2600" spc="-15" dirty="0">
                <a:latin typeface="Perpetua"/>
                <a:cs typeface="Perpetua"/>
              </a:rPr>
              <a:t>devoted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band named </a:t>
            </a:r>
            <a:r>
              <a:rPr sz="2600" spc="-15" dirty="0">
                <a:latin typeface="Perpetua"/>
                <a:cs typeface="Perpetua"/>
              </a:rPr>
              <a:t>“</a:t>
            </a:r>
            <a:r>
              <a:rPr sz="2600" i="1" spc="-15" dirty="0">
                <a:latin typeface="Perpetua"/>
                <a:cs typeface="Perpetua"/>
              </a:rPr>
              <a:t>Peoples</a:t>
            </a:r>
            <a:r>
              <a:rPr sz="2600" spc="-15" dirty="0">
                <a:latin typeface="Perpetua"/>
                <a:cs typeface="Perpetua"/>
              </a:rPr>
              <a:t>” </a:t>
            </a:r>
            <a:r>
              <a:rPr sz="2600" dirty="0">
                <a:latin typeface="Perpetua"/>
                <a:cs typeface="Perpetua"/>
              </a:rPr>
              <a:t>,</a:t>
            </a:r>
            <a:r>
              <a:rPr sz="2600" spc="-3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and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link 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dirty="0">
                <a:latin typeface="Perpetua"/>
                <a:cs typeface="Perpetua"/>
              </a:rPr>
              <a:t>page </a:t>
            </a:r>
            <a:r>
              <a:rPr sz="2600" spc="-15" dirty="0">
                <a:latin typeface="Perpetua"/>
                <a:cs typeface="Perpetua"/>
              </a:rPr>
              <a:t>devoted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0" dirty="0">
                <a:latin typeface="Perpetua"/>
                <a:cs typeface="Perpetua"/>
              </a:rPr>
              <a:t>“</a:t>
            </a:r>
            <a:r>
              <a:rPr sz="2600" i="1" spc="-20" dirty="0">
                <a:latin typeface="Perpetua"/>
                <a:cs typeface="Perpetua"/>
              </a:rPr>
              <a:t>People </a:t>
            </a:r>
            <a:r>
              <a:rPr sz="2600" i="1" spc="-5" dirty="0">
                <a:latin typeface="Perpetua"/>
                <a:cs typeface="Perpetua"/>
              </a:rPr>
              <a:t>of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Walmart</a:t>
            </a:r>
            <a:r>
              <a:rPr sz="2600" spc="-20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4139565" lvl="2" indent="-240665">
              <a:lnSpc>
                <a:spcPct val="100000"/>
              </a:lnSpc>
              <a:spcBef>
                <a:spcPts val="1465"/>
              </a:spcBef>
              <a:buSzPct val="95833"/>
              <a:buFont typeface="Wingdings"/>
              <a:buChar char=""/>
              <a:tabLst>
                <a:tab pos="4140200" algn="l"/>
              </a:tabLst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query did </a:t>
            </a:r>
            <a:r>
              <a:rPr sz="2400" i="1" spc="-5" dirty="0">
                <a:latin typeface="Perpetua"/>
                <a:cs typeface="Perpetua"/>
              </a:rPr>
              <a:t>not produce </a:t>
            </a:r>
            <a:r>
              <a:rPr sz="2400" i="1" dirty="0">
                <a:latin typeface="Perpetua"/>
                <a:cs typeface="Perpetua"/>
              </a:rPr>
              <a:t>useful</a:t>
            </a:r>
            <a:r>
              <a:rPr sz="2400" i="1" spc="-5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results!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01000" y="5257800"/>
            <a:ext cx="838200" cy="673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540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10" dirty="0">
                <a:latin typeface="Perpetua"/>
                <a:cs typeface="Perpetua"/>
              </a:rPr>
              <a:t>Search</a:t>
            </a:r>
            <a:r>
              <a:rPr i="0" spc="-70" dirty="0">
                <a:latin typeface="Perpetua"/>
                <a:cs typeface="Perpetua"/>
              </a:rPr>
              <a:t> </a:t>
            </a:r>
            <a:r>
              <a:rPr i="0" dirty="0">
                <a:latin typeface="Perpetua"/>
                <a:cs typeface="Perpetua"/>
              </a:rPr>
              <a:t>Query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8097"/>
            <a:ext cx="8531860" cy="493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400" dirty="0">
                <a:latin typeface="Perpetua"/>
                <a:cs typeface="Perpetua"/>
              </a:rPr>
              <a:t>A</a:t>
            </a:r>
            <a:r>
              <a:rPr sz="2400" spc="9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search</a:t>
            </a:r>
            <a:r>
              <a:rPr sz="2400" i="1" spc="7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query</a:t>
            </a:r>
            <a:r>
              <a:rPr sz="2400" i="1" spc="8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8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phrase</a:t>
            </a:r>
            <a:r>
              <a:rPr sz="2400" spc="10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</a:t>
            </a:r>
            <a:r>
              <a:rPr sz="2400" spc="85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describes</a:t>
            </a:r>
            <a:r>
              <a:rPr sz="2400" spc="1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the</a:t>
            </a:r>
            <a:r>
              <a:rPr sz="2400" spc="9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information</a:t>
            </a:r>
            <a:r>
              <a:rPr sz="2400" spc="9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</a:t>
            </a:r>
            <a:r>
              <a:rPr sz="2400" spc="8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9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user</a:t>
            </a:r>
            <a:r>
              <a:rPr sz="2400" spc="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seeks</a:t>
            </a:r>
            <a:endParaRPr sz="2400">
              <a:latin typeface="Perpetua"/>
              <a:cs typeface="Perpetua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dirty="0">
                <a:latin typeface="Perpetua"/>
                <a:cs typeface="Perpetua"/>
              </a:rPr>
              <a:t> obtain.</a:t>
            </a:r>
            <a:endParaRPr sz="24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400" i="1" spc="-5" dirty="0">
                <a:latin typeface="Perpetua"/>
                <a:cs typeface="Perpetua"/>
              </a:rPr>
              <a:t>Single-word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query</a:t>
            </a:r>
            <a:endParaRPr sz="2400">
              <a:latin typeface="Perpetua"/>
              <a:cs typeface="Perpetua"/>
            </a:endParaRPr>
          </a:p>
          <a:p>
            <a:pPr marL="561340" marR="6350" lvl="1" indent="-228600">
              <a:lnSpc>
                <a:spcPct val="100000"/>
              </a:lnSpc>
              <a:spcBef>
                <a:spcPts val="36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  <a:tab pos="1186180" algn="l"/>
                <a:tab pos="1971039" algn="l"/>
                <a:tab pos="2616200" algn="l"/>
                <a:tab pos="3058160" algn="l"/>
                <a:tab pos="4495165" algn="l"/>
                <a:tab pos="4920615" algn="l"/>
                <a:tab pos="6301740" algn="l"/>
                <a:tab pos="7000875" algn="l"/>
                <a:tab pos="7875905" algn="l"/>
              </a:tabLst>
            </a:pPr>
            <a:r>
              <a:rPr sz="2600" dirty="0">
                <a:latin typeface="Perpetua"/>
                <a:cs typeface="Perpetua"/>
              </a:rPr>
              <a:t>The	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ord	</a:t>
            </a:r>
            <a:r>
              <a:rPr sz="2600" spc="-5" dirty="0">
                <a:latin typeface="Perpetua"/>
                <a:cs typeface="Perpetua"/>
              </a:rPr>
              <a:t>m</a:t>
            </a:r>
            <a:r>
              <a:rPr sz="2600" spc="-10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y	</a:t>
            </a:r>
            <a:r>
              <a:rPr sz="2600" spc="-5" dirty="0">
                <a:latin typeface="Perpetua"/>
                <a:cs typeface="Perpetua"/>
              </a:rPr>
              <a:t>b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ambigu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us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r	f</a:t>
            </a:r>
            <a:r>
              <a:rPr sz="2600" spc="-3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eq</a:t>
            </a:r>
            <a:r>
              <a:rPr sz="2600" spc="-10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5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y	used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oss	</a:t>
            </a:r>
            <a:r>
              <a:rPr sz="2600" spc="-5" dirty="0">
                <a:latin typeface="Perpetua"/>
                <a:cs typeface="Perpetua"/>
              </a:rPr>
              <a:t>ma</a:t>
            </a:r>
            <a:r>
              <a:rPr sz="2600" spc="-6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y  </a:t>
            </a:r>
            <a:r>
              <a:rPr sz="2600" spc="-5" dirty="0">
                <a:latin typeface="Perpetua"/>
                <a:cs typeface="Perpetua"/>
              </a:rPr>
              <a:t>different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contexts.</a:t>
            </a:r>
            <a:endParaRPr sz="2600">
              <a:latin typeface="Perpetua"/>
              <a:cs typeface="Perpetua"/>
            </a:endParaRPr>
          </a:p>
          <a:p>
            <a:pPr marL="835660" marR="5080" lvl="2" indent="-228600">
              <a:lnSpc>
                <a:spcPct val="100000"/>
              </a:lnSpc>
              <a:spcBef>
                <a:spcPts val="430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  <a:tab pos="2193290" algn="l"/>
                <a:tab pos="3341370" algn="l"/>
                <a:tab pos="3855085" algn="l"/>
                <a:tab pos="4577715" algn="l"/>
                <a:tab pos="5060950" algn="l"/>
                <a:tab pos="5438775" algn="l"/>
                <a:tab pos="6492240" algn="l"/>
                <a:tab pos="6987540" algn="l"/>
                <a:tab pos="7668895" algn="l"/>
                <a:tab pos="8298180" algn="l"/>
              </a:tabLst>
            </a:pPr>
            <a:r>
              <a:rPr sz="2400" dirty="0">
                <a:latin typeface="Perpetua"/>
                <a:cs typeface="Perpetua"/>
              </a:rPr>
              <a:t>Sometimes	effec</a:t>
            </a:r>
            <a:r>
              <a:rPr sz="2400" spc="-10" dirty="0">
                <a:latin typeface="Perpetua"/>
                <a:cs typeface="Perpetua"/>
              </a:rPr>
              <a:t>t</a:t>
            </a:r>
            <a:r>
              <a:rPr sz="2400" dirty="0">
                <a:latin typeface="Perpetua"/>
                <a:cs typeface="Perpetua"/>
              </a:rPr>
              <a:t>i</a:t>
            </a:r>
            <a:r>
              <a:rPr sz="2400" spc="-55" dirty="0">
                <a:latin typeface="Perpetua"/>
                <a:cs typeface="Perpetua"/>
              </a:rPr>
              <a:t>v</a:t>
            </a:r>
            <a:r>
              <a:rPr sz="2400" spc="-40" dirty="0">
                <a:latin typeface="Perpetua"/>
                <a:cs typeface="Perpetua"/>
              </a:rPr>
              <a:t>e</a:t>
            </a:r>
            <a:r>
              <a:rPr sz="2400" dirty="0">
                <a:latin typeface="Perpetua"/>
                <a:cs typeface="Perpetua"/>
              </a:rPr>
              <a:t>,	</a:t>
            </a:r>
            <a:r>
              <a:rPr sz="2400" spc="-20" dirty="0">
                <a:latin typeface="Perpetua"/>
                <a:cs typeface="Perpetua"/>
              </a:rPr>
              <a:t>b</a:t>
            </a:r>
            <a:r>
              <a:rPr sz="2400" dirty="0">
                <a:latin typeface="Perpetua"/>
                <a:cs typeface="Perpetua"/>
              </a:rPr>
              <a:t>ut	often	</a:t>
            </a:r>
            <a:r>
              <a:rPr sz="2400" spc="-15" dirty="0">
                <a:latin typeface="Perpetua"/>
                <a:cs typeface="Perpetua"/>
              </a:rPr>
              <a:t>f</a:t>
            </a:r>
            <a:r>
              <a:rPr sz="2400" spc="-5" dirty="0">
                <a:latin typeface="Perpetua"/>
                <a:cs typeface="Perpetua"/>
              </a:rPr>
              <a:t>ai</a:t>
            </a:r>
            <a:r>
              <a:rPr sz="2400" dirty="0">
                <a:latin typeface="Perpetua"/>
                <a:cs typeface="Perpetua"/>
              </a:rPr>
              <a:t>l	</a:t>
            </a:r>
            <a:r>
              <a:rPr sz="2400" spc="-5" dirty="0">
                <a:latin typeface="Perpetua"/>
                <a:cs typeface="Perpetua"/>
              </a:rPr>
              <a:t>t</a:t>
            </a:r>
            <a:r>
              <a:rPr sz="2400" dirty="0">
                <a:latin typeface="Perpetua"/>
                <a:cs typeface="Perpetua"/>
              </a:rPr>
              <a:t>o	p</a:t>
            </a:r>
            <a:r>
              <a:rPr sz="2400" spc="-2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oduce	the	</a:t>
            </a:r>
            <a:r>
              <a:rPr sz="2400" spc="45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ight	t</a:t>
            </a:r>
            <a:r>
              <a:rPr sz="2400" spc="-10" dirty="0">
                <a:latin typeface="Perpetua"/>
                <a:cs typeface="Perpetua"/>
              </a:rPr>
              <a:t>y</a:t>
            </a:r>
            <a:r>
              <a:rPr sz="2400" dirty="0">
                <a:latin typeface="Perpetua"/>
                <a:cs typeface="Perpetua"/>
              </a:rPr>
              <a:t>pe	of  information.</a:t>
            </a:r>
            <a:endParaRPr sz="2400">
              <a:latin typeface="Perpetua"/>
              <a:cs typeface="Perpetua"/>
            </a:endParaRPr>
          </a:p>
          <a:p>
            <a:pPr marL="835660" lvl="2" indent="-229235">
              <a:lnSpc>
                <a:spcPct val="100000"/>
              </a:lnSpc>
              <a:spcBef>
                <a:spcPts val="405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400" spc="-5" dirty="0">
                <a:latin typeface="Perpetua"/>
                <a:cs typeface="Perpetua"/>
              </a:rPr>
              <a:t>Often </a:t>
            </a:r>
            <a:r>
              <a:rPr sz="2400" dirty="0">
                <a:latin typeface="Perpetua"/>
                <a:cs typeface="Perpetua"/>
              </a:rPr>
              <a:t>not specific enough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15" dirty="0">
                <a:latin typeface="Perpetua"/>
                <a:cs typeface="Perpetua"/>
              </a:rPr>
              <a:t>provide </a:t>
            </a:r>
            <a:r>
              <a:rPr sz="2400" dirty="0">
                <a:latin typeface="Perpetua"/>
                <a:cs typeface="Perpetua"/>
              </a:rPr>
              <a:t>useful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results.</a:t>
            </a:r>
            <a:endParaRPr sz="24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need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narrow </a:t>
            </a:r>
            <a:r>
              <a:rPr sz="2400" dirty="0">
                <a:latin typeface="Perpetua"/>
                <a:cs typeface="Perpetua"/>
              </a:rPr>
              <a:t>the focus of </a:t>
            </a:r>
            <a:r>
              <a:rPr sz="2400" spc="-10" dirty="0">
                <a:latin typeface="Perpetua"/>
                <a:cs typeface="Perpetua"/>
              </a:rPr>
              <a:t>your</a:t>
            </a:r>
            <a:r>
              <a:rPr sz="2400" spc="25" dirty="0">
                <a:latin typeface="Perpetua"/>
                <a:cs typeface="Perpetua"/>
              </a:rPr>
              <a:t> </a:t>
            </a:r>
            <a:r>
              <a:rPr sz="2400" spc="-40" dirty="0">
                <a:latin typeface="Perpetua"/>
                <a:cs typeface="Perpetua"/>
              </a:rPr>
              <a:t>query.</a:t>
            </a:r>
            <a:endParaRPr sz="24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should </a:t>
            </a:r>
            <a:r>
              <a:rPr sz="2400" spc="5" dirty="0">
                <a:latin typeface="Perpetua"/>
                <a:cs typeface="Perpetua"/>
              </a:rPr>
              <a:t>construct </a:t>
            </a:r>
            <a:r>
              <a:rPr sz="2400" spc="-10" dirty="0">
                <a:latin typeface="Perpetua"/>
                <a:cs typeface="Perpetua"/>
              </a:rPr>
              <a:t>more </a:t>
            </a:r>
            <a:r>
              <a:rPr sz="2400" dirty="0">
                <a:latin typeface="Perpetua"/>
                <a:cs typeface="Perpetua"/>
              </a:rPr>
              <a:t>specific </a:t>
            </a:r>
            <a:r>
              <a:rPr sz="2400" spc="5" dirty="0">
                <a:latin typeface="Perpetua"/>
                <a:cs typeface="Perpetua"/>
              </a:rPr>
              <a:t>search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queries.</a:t>
            </a:r>
            <a:endParaRPr sz="24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Boolean </a:t>
            </a:r>
            <a:r>
              <a:rPr sz="2400" dirty="0">
                <a:latin typeface="Perpetua"/>
                <a:cs typeface="Perpetua"/>
              </a:rPr>
              <a:t>operators </a:t>
            </a:r>
            <a:r>
              <a:rPr sz="2400" spc="-60" dirty="0">
                <a:latin typeface="Perpetua"/>
                <a:cs typeface="Perpetua"/>
              </a:rPr>
              <a:t>AND, </a:t>
            </a:r>
            <a:r>
              <a:rPr sz="2400" dirty="0">
                <a:latin typeface="Perpetua"/>
                <a:cs typeface="Perpetua"/>
              </a:rPr>
              <a:t>OR,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30" dirty="0">
                <a:latin typeface="Perpetua"/>
                <a:cs typeface="Perpetua"/>
              </a:rPr>
              <a:t>NOT </a:t>
            </a:r>
            <a:r>
              <a:rPr sz="2400" spc="-15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one technique </a:t>
            </a:r>
            <a:r>
              <a:rPr sz="2400" spc="-10" dirty="0">
                <a:latin typeface="Perpetua"/>
                <a:cs typeface="Perpetua"/>
              </a:rPr>
              <a:t>that</a:t>
            </a:r>
            <a:r>
              <a:rPr sz="2400" spc="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endParaRPr sz="2400">
              <a:latin typeface="Perpetua"/>
              <a:cs typeface="Perpetua"/>
            </a:endParaRPr>
          </a:p>
          <a:p>
            <a:pPr marL="285115">
              <a:lnSpc>
                <a:spcPct val="100000"/>
              </a:lnSpc>
            </a:pPr>
            <a:r>
              <a:rPr sz="2400" spc="-10" dirty="0">
                <a:latin typeface="Perpetua"/>
                <a:cs typeface="Perpetua"/>
              </a:rPr>
              <a:t>commonly </a:t>
            </a:r>
            <a:r>
              <a:rPr sz="2400" dirty="0">
                <a:latin typeface="Perpetua"/>
                <a:cs typeface="Perpetua"/>
              </a:rPr>
              <a:t>used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narrow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5" dirty="0">
                <a:latin typeface="Perpetua"/>
                <a:cs typeface="Perpetua"/>
              </a:rPr>
              <a:t>search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-40" dirty="0">
                <a:latin typeface="Perpetua"/>
                <a:cs typeface="Perpetua"/>
              </a:rPr>
              <a:t>query.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0" y="228600"/>
            <a:ext cx="1790700" cy="114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6788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Conjunction in </a:t>
            </a:r>
            <a:r>
              <a:rPr i="0" spc="10" dirty="0">
                <a:latin typeface="Perpetua"/>
                <a:cs typeface="Perpetua"/>
              </a:rPr>
              <a:t>Search</a:t>
            </a:r>
            <a:r>
              <a:rPr i="0" spc="-10" dirty="0">
                <a:latin typeface="Perpetua"/>
                <a:cs typeface="Perpetua"/>
              </a:rPr>
              <a:t> </a:t>
            </a:r>
            <a:r>
              <a:rPr i="0" spc="5" dirty="0">
                <a:latin typeface="Perpetua"/>
                <a:cs typeface="Perpetua"/>
              </a:rPr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287526"/>
            <a:ext cx="8531860" cy="5163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SzPct val="84782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300" dirty="0">
                <a:latin typeface="Perpetua"/>
                <a:cs typeface="Perpetua"/>
              </a:rPr>
              <a:t>A</a:t>
            </a:r>
            <a:r>
              <a:rPr sz="2300" spc="270" dirty="0">
                <a:latin typeface="Perpetua"/>
                <a:cs typeface="Perpetua"/>
              </a:rPr>
              <a:t> </a:t>
            </a:r>
            <a:r>
              <a:rPr sz="2300" spc="5" dirty="0">
                <a:latin typeface="Perpetua"/>
                <a:cs typeface="Perpetua"/>
              </a:rPr>
              <a:t>search</a:t>
            </a:r>
            <a:r>
              <a:rPr sz="2300" spc="254" dirty="0">
                <a:latin typeface="Perpetua"/>
                <a:cs typeface="Perpetua"/>
              </a:rPr>
              <a:t> </a:t>
            </a:r>
            <a:r>
              <a:rPr sz="2300" spc="-5" dirty="0">
                <a:latin typeface="Perpetua"/>
                <a:cs typeface="Perpetua"/>
              </a:rPr>
              <a:t>query</a:t>
            </a:r>
            <a:r>
              <a:rPr sz="2300" spc="275" dirty="0">
                <a:latin typeface="Perpetua"/>
                <a:cs typeface="Perpetua"/>
              </a:rPr>
              <a:t> </a:t>
            </a:r>
            <a:r>
              <a:rPr sz="2300" spc="5" dirty="0">
                <a:latin typeface="Perpetua"/>
                <a:cs typeface="Perpetua"/>
              </a:rPr>
              <a:t>returns</a:t>
            </a:r>
            <a:r>
              <a:rPr sz="2300" spc="280" dirty="0">
                <a:latin typeface="Perpetua"/>
                <a:cs typeface="Perpetua"/>
              </a:rPr>
              <a:t> </a:t>
            </a:r>
            <a:r>
              <a:rPr sz="2300" spc="-30" dirty="0">
                <a:latin typeface="Perpetua"/>
                <a:cs typeface="Perpetua"/>
              </a:rPr>
              <a:t>web</a:t>
            </a:r>
            <a:r>
              <a:rPr sz="2300" spc="265" dirty="0">
                <a:latin typeface="Perpetua"/>
                <a:cs typeface="Perpetua"/>
              </a:rPr>
              <a:t> </a:t>
            </a:r>
            <a:r>
              <a:rPr sz="2300" dirty="0">
                <a:latin typeface="Perpetua"/>
                <a:cs typeface="Perpetua"/>
              </a:rPr>
              <a:t>pages</a:t>
            </a:r>
            <a:r>
              <a:rPr sz="2300" spc="270" dirty="0">
                <a:latin typeface="Perpetua"/>
                <a:cs typeface="Perpetua"/>
              </a:rPr>
              <a:t> </a:t>
            </a:r>
            <a:r>
              <a:rPr sz="2300" spc="-10" dirty="0">
                <a:latin typeface="Perpetua"/>
                <a:cs typeface="Perpetua"/>
              </a:rPr>
              <a:t>that</a:t>
            </a:r>
            <a:r>
              <a:rPr sz="2300" spc="275" dirty="0">
                <a:latin typeface="Perpetua"/>
                <a:cs typeface="Perpetua"/>
              </a:rPr>
              <a:t> </a:t>
            </a:r>
            <a:r>
              <a:rPr sz="2300" dirty="0">
                <a:latin typeface="Perpetua"/>
                <a:cs typeface="Perpetua"/>
              </a:rPr>
              <a:t>contain</a:t>
            </a:r>
            <a:r>
              <a:rPr sz="2300" spc="260" dirty="0">
                <a:latin typeface="Perpetua"/>
                <a:cs typeface="Perpetua"/>
              </a:rPr>
              <a:t> </a:t>
            </a:r>
            <a:r>
              <a:rPr sz="2300" i="1" spc="-5" dirty="0">
                <a:latin typeface="Perpetua"/>
                <a:cs typeface="Perpetua"/>
              </a:rPr>
              <a:t>all</a:t>
            </a:r>
            <a:r>
              <a:rPr sz="2300" i="1" spc="270" dirty="0">
                <a:latin typeface="Perpetua"/>
                <a:cs typeface="Perpetua"/>
              </a:rPr>
              <a:t> </a:t>
            </a:r>
            <a:r>
              <a:rPr sz="2300" i="1" dirty="0">
                <a:latin typeface="Perpetua"/>
                <a:cs typeface="Perpetua"/>
              </a:rPr>
              <a:t>the</a:t>
            </a:r>
            <a:r>
              <a:rPr sz="2300" i="1" spc="270" dirty="0">
                <a:latin typeface="Perpetua"/>
                <a:cs typeface="Perpetua"/>
              </a:rPr>
              <a:t> </a:t>
            </a:r>
            <a:r>
              <a:rPr sz="2300" i="1" spc="10" dirty="0">
                <a:latin typeface="Perpetua"/>
                <a:cs typeface="Perpetua"/>
              </a:rPr>
              <a:t>terms</a:t>
            </a:r>
            <a:r>
              <a:rPr sz="2300" i="1" spc="270" dirty="0">
                <a:latin typeface="Perpetua"/>
                <a:cs typeface="Perpetua"/>
              </a:rPr>
              <a:t> </a:t>
            </a:r>
            <a:r>
              <a:rPr sz="2300" i="1" spc="-5" dirty="0">
                <a:latin typeface="Perpetua"/>
                <a:cs typeface="Perpetua"/>
              </a:rPr>
              <a:t>or</a:t>
            </a:r>
            <a:r>
              <a:rPr sz="2300" i="1" spc="265" dirty="0">
                <a:latin typeface="Perpetua"/>
                <a:cs typeface="Perpetua"/>
              </a:rPr>
              <a:t> </a:t>
            </a:r>
            <a:r>
              <a:rPr sz="2300" i="1" spc="-10" dirty="0">
                <a:latin typeface="Perpetua"/>
                <a:cs typeface="Perpetua"/>
              </a:rPr>
              <a:t>phrases</a:t>
            </a:r>
            <a:r>
              <a:rPr sz="2300" i="1" spc="265" dirty="0">
                <a:latin typeface="Perpetua"/>
                <a:cs typeface="Perpetua"/>
              </a:rPr>
              <a:t> </a:t>
            </a:r>
            <a:r>
              <a:rPr sz="2300" dirty="0">
                <a:latin typeface="Perpetua"/>
                <a:cs typeface="Perpetua"/>
              </a:rPr>
              <a:t>in</a:t>
            </a:r>
            <a:r>
              <a:rPr sz="2300" spc="275" dirty="0">
                <a:latin typeface="Perpetua"/>
                <a:cs typeface="Perpetua"/>
              </a:rPr>
              <a:t> </a:t>
            </a:r>
            <a:r>
              <a:rPr sz="2300" spc="-5" dirty="0">
                <a:latin typeface="Perpetua"/>
                <a:cs typeface="Perpetua"/>
              </a:rPr>
              <a:t>the</a:t>
            </a:r>
            <a:endParaRPr sz="2300">
              <a:latin typeface="Perpetua"/>
              <a:cs typeface="Perpetua"/>
            </a:endParaRPr>
          </a:p>
          <a:p>
            <a:pPr marL="285115">
              <a:lnSpc>
                <a:spcPct val="100000"/>
              </a:lnSpc>
            </a:pPr>
            <a:r>
              <a:rPr sz="2300" spc="-35" dirty="0">
                <a:latin typeface="Perpetua"/>
                <a:cs typeface="Perpetua"/>
              </a:rPr>
              <a:t>query.</a:t>
            </a:r>
            <a:endParaRPr sz="23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190"/>
              </a:spcBef>
              <a:buSzPct val="84782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300" dirty="0">
                <a:latin typeface="Perpetua"/>
                <a:cs typeface="Perpetua"/>
              </a:rPr>
              <a:t>By </a:t>
            </a:r>
            <a:r>
              <a:rPr sz="2300" spc="-5" dirty="0">
                <a:latin typeface="Perpetua"/>
                <a:cs typeface="Perpetua"/>
              </a:rPr>
              <a:t>default, all </a:t>
            </a:r>
            <a:r>
              <a:rPr sz="2300" spc="5" dirty="0">
                <a:latin typeface="Perpetua"/>
                <a:cs typeface="Perpetua"/>
              </a:rPr>
              <a:t>search queries </a:t>
            </a:r>
            <a:r>
              <a:rPr sz="2300" spc="-10" dirty="0">
                <a:latin typeface="Perpetua"/>
                <a:cs typeface="Perpetua"/>
              </a:rPr>
              <a:t>that </a:t>
            </a:r>
            <a:r>
              <a:rPr sz="2300" dirty="0">
                <a:latin typeface="Perpetua"/>
                <a:cs typeface="Perpetua"/>
              </a:rPr>
              <a:t>use </a:t>
            </a:r>
            <a:r>
              <a:rPr sz="2300" spc="-10" dirty="0">
                <a:latin typeface="Perpetua"/>
                <a:cs typeface="Perpetua"/>
              </a:rPr>
              <a:t>more </a:t>
            </a:r>
            <a:r>
              <a:rPr sz="2300" spc="-5" dirty="0">
                <a:latin typeface="Perpetua"/>
                <a:cs typeface="Perpetua"/>
              </a:rPr>
              <a:t>than </a:t>
            </a:r>
            <a:r>
              <a:rPr sz="2300" dirty="0">
                <a:latin typeface="Perpetua"/>
                <a:cs typeface="Perpetua"/>
              </a:rPr>
              <a:t>one </a:t>
            </a:r>
            <a:r>
              <a:rPr sz="2300" spc="-25" dirty="0">
                <a:latin typeface="Perpetua"/>
                <a:cs typeface="Perpetua"/>
              </a:rPr>
              <a:t>word </a:t>
            </a:r>
            <a:r>
              <a:rPr sz="2300" dirty="0">
                <a:latin typeface="Perpetua"/>
                <a:cs typeface="Perpetua"/>
              </a:rPr>
              <a:t>use</a:t>
            </a:r>
            <a:r>
              <a:rPr sz="2300" spc="-155" dirty="0">
                <a:latin typeface="Perpetua"/>
                <a:cs typeface="Perpetua"/>
              </a:rPr>
              <a:t> </a:t>
            </a:r>
            <a:r>
              <a:rPr sz="2300" dirty="0">
                <a:latin typeface="Perpetua"/>
                <a:cs typeface="Perpetua"/>
              </a:rPr>
              <a:t>conjunction.</a:t>
            </a:r>
            <a:endParaRPr sz="2300">
              <a:latin typeface="Perpetua"/>
              <a:cs typeface="Perpetua"/>
            </a:endParaRPr>
          </a:p>
          <a:p>
            <a:pPr marL="285115" marR="5080" indent="-273050">
              <a:lnSpc>
                <a:spcPct val="100000"/>
              </a:lnSpc>
              <a:spcBef>
                <a:spcPts val="204"/>
              </a:spcBef>
              <a:buSzPct val="84782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300" spc="-5" dirty="0">
                <a:latin typeface="Perpetua"/>
                <a:cs typeface="Perpetua"/>
              </a:rPr>
              <a:t>As an </a:t>
            </a:r>
            <a:r>
              <a:rPr sz="2300" spc="-10" dirty="0">
                <a:latin typeface="Perpetua"/>
                <a:cs typeface="Perpetua"/>
              </a:rPr>
              <a:t>example, </a:t>
            </a:r>
            <a:r>
              <a:rPr sz="2300" dirty="0">
                <a:latin typeface="Perpetua"/>
                <a:cs typeface="Perpetua"/>
              </a:rPr>
              <a:t>consider searching </a:t>
            </a:r>
            <a:r>
              <a:rPr sz="2300" spc="-5" dirty="0">
                <a:latin typeface="Perpetua"/>
                <a:cs typeface="Perpetua"/>
              </a:rPr>
              <a:t>for </a:t>
            </a:r>
            <a:r>
              <a:rPr sz="2300" dirty="0">
                <a:latin typeface="Perpetua"/>
                <a:cs typeface="Perpetua"/>
              </a:rPr>
              <a:t>information </a:t>
            </a:r>
            <a:r>
              <a:rPr sz="2300" spc="-5" dirty="0">
                <a:latin typeface="Perpetua"/>
                <a:cs typeface="Perpetua"/>
              </a:rPr>
              <a:t>about </a:t>
            </a:r>
            <a:r>
              <a:rPr sz="2300" i="1" dirty="0">
                <a:latin typeface="Perpetua"/>
                <a:cs typeface="Perpetua"/>
              </a:rPr>
              <a:t>a high school </a:t>
            </a:r>
            <a:r>
              <a:rPr sz="2300" i="1" spc="-5" dirty="0">
                <a:latin typeface="Perpetua"/>
                <a:cs typeface="Perpetua"/>
              </a:rPr>
              <a:t>classmate  named Hannah </a:t>
            </a:r>
            <a:r>
              <a:rPr sz="2300" i="1" dirty="0">
                <a:latin typeface="Perpetua"/>
                <a:cs typeface="Perpetua"/>
              </a:rPr>
              <a:t>Garcia</a:t>
            </a:r>
            <a:r>
              <a:rPr sz="2300" dirty="0">
                <a:latin typeface="Perpetua"/>
                <a:cs typeface="Perpetua"/>
              </a:rPr>
              <a:t>.</a:t>
            </a:r>
            <a:endParaRPr sz="23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04"/>
              </a:spcBef>
              <a:buSzPct val="84782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300" spc="-85" dirty="0">
                <a:latin typeface="Perpetua"/>
                <a:cs typeface="Perpetua"/>
              </a:rPr>
              <a:t>You </a:t>
            </a:r>
            <a:r>
              <a:rPr sz="2300" spc="10" dirty="0">
                <a:latin typeface="Perpetua"/>
                <a:cs typeface="Perpetua"/>
              </a:rPr>
              <a:t>first </a:t>
            </a:r>
            <a:r>
              <a:rPr sz="2300" dirty="0">
                <a:latin typeface="Perpetua"/>
                <a:cs typeface="Perpetua"/>
              </a:rPr>
              <a:t>decide </a:t>
            </a:r>
            <a:r>
              <a:rPr sz="2300" spc="-5" dirty="0">
                <a:latin typeface="Perpetua"/>
                <a:cs typeface="Perpetua"/>
              </a:rPr>
              <a:t>to </a:t>
            </a:r>
            <a:r>
              <a:rPr sz="2300" dirty="0">
                <a:latin typeface="Perpetua"/>
                <a:cs typeface="Perpetua"/>
              </a:rPr>
              <a:t>use </a:t>
            </a:r>
            <a:r>
              <a:rPr sz="2300" spc="-5" dirty="0">
                <a:latin typeface="Perpetua"/>
                <a:cs typeface="Perpetua"/>
              </a:rPr>
              <a:t>the </a:t>
            </a:r>
            <a:r>
              <a:rPr sz="2300" spc="5" dirty="0">
                <a:latin typeface="Perpetua"/>
                <a:cs typeface="Perpetua"/>
              </a:rPr>
              <a:t>search query</a:t>
            </a:r>
            <a:r>
              <a:rPr sz="2300" spc="-80" dirty="0">
                <a:latin typeface="Perpetua"/>
                <a:cs typeface="Perpetua"/>
              </a:rPr>
              <a:t> </a:t>
            </a:r>
            <a:r>
              <a:rPr sz="2300" spc="-5" dirty="0">
                <a:latin typeface="Perpetua"/>
                <a:cs typeface="Perpetua"/>
              </a:rPr>
              <a:t>“</a:t>
            </a:r>
            <a:r>
              <a:rPr sz="2300" i="1" spc="-5" dirty="0">
                <a:latin typeface="Perpetua"/>
                <a:cs typeface="Perpetua"/>
              </a:rPr>
              <a:t>Hannah</a:t>
            </a:r>
            <a:r>
              <a:rPr sz="2300" spc="-5" dirty="0">
                <a:latin typeface="Perpetua"/>
                <a:cs typeface="Perpetua"/>
              </a:rPr>
              <a:t>”.</a:t>
            </a:r>
            <a:endParaRPr sz="2300">
              <a:latin typeface="Perpetua"/>
              <a:cs typeface="Perpetua"/>
            </a:endParaRPr>
          </a:p>
          <a:p>
            <a:pPr marL="285115" marR="5715" indent="-273050">
              <a:lnSpc>
                <a:spcPct val="100000"/>
              </a:lnSpc>
              <a:spcBef>
                <a:spcPts val="195"/>
              </a:spcBef>
              <a:buSzPct val="84782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300" spc="-5" dirty="0">
                <a:latin typeface="Perpetua"/>
                <a:cs typeface="Perpetua"/>
              </a:rPr>
              <a:t>The </a:t>
            </a:r>
            <a:r>
              <a:rPr sz="2300" spc="5" dirty="0">
                <a:latin typeface="Perpetua"/>
                <a:cs typeface="Perpetua"/>
              </a:rPr>
              <a:t>query </a:t>
            </a:r>
            <a:r>
              <a:rPr sz="2300" dirty="0">
                <a:latin typeface="Perpetua"/>
                <a:cs typeface="Perpetua"/>
              </a:rPr>
              <a:t>returns a </a:t>
            </a:r>
            <a:r>
              <a:rPr sz="2300" spc="-5" dirty="0">
                <a:latin typeface="Perpetua"/>
                <a:cs typeface="Perpetua"/>
              </a:rPr>
              <a:t>flood </a:t>
            </a:r>
            <a:r>
              <a:rPr sz="2300" dirty="0">
                <a:latin typeface="Perpetua"/>
                <a:cs typeface="Perpetua"/>
              </a:rPr>
              <a:t>of </a:t>
            </a:r>
            <a:r>
              <a:rPr sz="2300" spc="-30" dirty="0">
                <a:latin typeface="Perpetua"/>
                <a:cs typeface="Perpetua"/>
              </a:rPr>
              <a:t>web </a:t>
            </a:r>
            <a:r>
              <a:rPr sz="2300" dirty="0">
                <a:latin typeface="Perpetua"/>
                <a:cs typeface="Perpetua"/>
              </a:rPr>
              <a:t>pages </a:t>
            </a:r>
            <a:r>
              <a:rPr sz="2300" spc="-10" dirty="0">
                <a:latin typeface="Perpetua"/>
                <a:cs typeface="Perpetua"/>
              </a:rPr>
              <a:t>related </a:t>
            </a:r>
            <a:r>
              <a:rPr sz="2300" spc="-5" dirty="0">
                <a:latin typeface="Perpetua"/>
                <a:cs typeface="Perpetua"/>
              </a:rPr>
              <a:t>to Hannah's </a:t>
            </a:r>
            <a:r>
              <a:rPr sz="2300" dirty="0">
                <a:latin typeface="Perpetua"/>
                <a:cs typeface="Perpetua"/>
              </a:rPr>
              <a:t>of </a:t>
            </a:r>
            <a:r>
              <a:rPr sz="2300" spc="-5" dirty="0">
                <a:latin typeface="Perpetua"/>
                <a:cs typeface="Perpetua"/>
              </a:rPr>
              <a:t>all kinds; none  </a:t>
            </a:r>
            <a:r>
              <a:rPr sz="2300" dirty="0">
                <a:latin typeface="Perpetua"/>
                <a:cs typeface="Perpetua"/>
              </a:rPr>
              <a:t>of whom </a:t>
            </a:r>
            <a:r>
              <a:rPr sz="2300" spc="-15" dirty="0">
                <a:latin typeface="Perpetua"/>
                <a:cs typeface="Perpetua"/>
              </a:rPr>
              <a:t>are </a:t>
            </a:r>
            <a:r>
              <a:rPr sz="2300" spc="-10" dirty="0">
                <a:latin typeface="Perpetua"/>
                <a:cs typeface="Perpetua"/>
              </a:rPr>
              <a:t>related </a:t>
            </a:r>
            <a:r>
              <a:rPr sz="2300" spc="-5" dirty="0">
                <a:latin typeface="Perpetua"/>
                <a:cs typeface="Perpetua"/>
              </a:rPr>
              <a:t>to the “</a:t>
            </a:r>
            <a:r>
              <a:rPr sz="2300" i="1" spc="-5" dirty="0">
                <a:latin typeface="Perpetua"/>
                <a:cs typeface="Perpetua"/>
              </a:rPr>
              <a:t>Hannah </a:t>
            </a:r>
            <a:r>
              <a:rPr sz="2300" i="1" dirty="0">
                <a:latin typeface="Perpetua"/>
                <a:cs typeface="Perpetua"/>
              </a:rPr>
              <a:t>Garcia</a:t>
            </a:r>
            <a:r>
              <a:rPr sz="2300" dirty="0">
                <a:latin typeface="Perpetua"/>
                <a:cs typeface="Perpetua"/>
              </a:rPr>
              <a:t>” </a:t>
            </a:r>
            <a:r>
              <a:rPr sz="2300" spc="-10" dirty="0">
                <a:latin typeface="Perpetua"/>
                <a:cs typeface="Perpetua"/>
              </a:rPr>
              <a:t>that was your </a:t>
            </a:r>
            <a:r>
              <a:rPr sz="2300" dirty="0">
                <a:latin typeface="Perpetua"/>
                <a:cs typeface="Perpetua"/>
              </a:rPr>
              <a:t>high </a:t>
            </a:r>
            <a:r>
              <a:rPr sz="2300" spc="5" dirty="0">
                <a:latin typeface="Perpetua"/>
                <a:cs typeface="Perpetua"/>
              </a:rPr>
              <a:t>school</a:t>
            </a:r>
            <a:r>
              <a:rPr sz="2300" spc="-140" dirty="0">
                <a:latin typeface="Perpetua"/>
                <a:cs typeface="Perpetua"/>
              </a:rPr>
              <a:t> </a:t>
            </a:r>
            <a:r>
              <a:rPr sz="2300" spc="5" dirty="0">
                <a:latin typeface="Perpetua"/>
                <a:cs typeface="Perpetua"/>
              </a:rPr>
              <a:t>friend.</a:t>
            </a:r>
            <a:endParaRPr sz="23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04"/>
              </a:spcBef>
              <a:buSzPct val="84782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300" spc="-85" dirty="0">
                <a:latin typeface="Perpetua"/>
                <a:cs typeface="Perpetua"/>
              </a:rPr>
              <a:t>You </a:t>
            </a:r>
            <a:r>
              <a:rPr sz="2300" spc="-5" dirty="0">
                <a:latin typeface="Perpetua"/>
                <a:cs typeface="Perpetua"/>
              </a:rPr>
              <a:t>decide to </a:t>
            </a:r>
            <a:r>
              <a:rPr sz="2300" spc="-10" dirty="0">
                <a:latin typeface="Perpetua"/>
                <a:cs typeface="Perpetua"/>
              </a:rPr>
              <a:t>narrow your</a:t>
            </a:r>
            <a:r>
              <a:rPr sz="2300" spc="10" dirty="0">
                <a:latin typeface="Perpetua"/>
                <a:cs typeface="Perpetua"/>
              </a:rPr>
              <a:t> </a:t>
            </a:r>
            <a:r>
              <a:rPr sz="2300" spc="5" dirty="0">
                <a:latin typeface="Perpetua"/>
                <a:cs typeface="Perpetua"/>
              </a:rPr>
              <a:t>search</a:t>
            </a:r>
            <a:endParaRPr sz="23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204"/>
              </a:spcBef>
              <a:buSzPct val="84782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300" spc="-25" dirty="0">
                <a:latin typeface="Perpetua"/>
                <a:cs typeface="Perpetua"/>
              </a:rPr>
              <a:t>by </a:t>
            </a:r>
            <a:r>
              <a:rPr sz="2300" spc="5" dirty="0">
                <a:latin typeface="Perpetua"/>
                <a:cs typeface="Perpetua"/>
              </a:rPr>
              <a:t>forming </a:t>
            </a:r>
            <a:r>
              <a:rPr sz="2300" spc="-5" dirty="0">
                <a:latin typeface="Perpetua"/>
                <a:cs typeface="Perpetua"/>
              </a:rPr>
              <a:t>the </a:t>
            </a:r>
            <a:r>
              <a:rPr sz="2300" spc="-25" dirty="0">
                <a:latin typeface="Perpetua"/>
                <a:cs typeface="Perpetua"/>
              </a:rPr>
              <a:t>two-word </a:t>
            </a:r>
            <a:r>
              <a:rPr sz="2300" spc="5" dirty="0">
                <a:latin typeface="Perpetua"/>
                <a:cs typeface="Perpetua"/>
              </a:rPr>
              <a:t>query </a:t>
            </a:r>
            <a:r>
              <a:rPr sz="2300" spc="-5" dirty="0">
                <a:latin typeface="Perpetua"/>
                <a:cs typeface="Perpetua"/>
              </a:rPr>
              <a:t>“</a:t>
            </a:r>
            <a:r>
              <a:rPr sz="2300" i="1" spc="-5" dirty="0">
                <a:latin typeface="Perpetua"/>
                <a:cs typeface="Perpetua"/>
              </a:rPr>
              <a:t>Hannah</a:t>
            </a:r>
            <a:r>
              <a:rPr sz="2300" i="1" spc="-125" dirty="0">
                <a:latin typeface="Perpetua"/>
                <a:cs typeface="Perpetua"/>
              </a:rPr>
              <a:t> </a:t>
            </a:r>
            <a:r>
              <a:rPr sz="2300" i="1" spc="-25" dirty="0">
                <a:latin typeface="Perpetua"/>
                <a:cs typeface="Perpetua"/>
              </a:rPr>
              <a:t>Garcia</a:t>
            </a:r>
            <a:r>
              <a:rPr sz="2300" spc="-25" dirty="0">
                <a:latin typeface="Perpetua"/>
                <a:cs typeface="Perpetua"/>
              </a:rPr>
              <a:t>.”</a:t>
            </a:r>
            <a:endParaRPr sz="23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190"/>
              </a:spcBef>
              <a:buSzPct val="84782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300" spc="-5" dirty="0">
                <a:latin typeface="Perpetua"/>
                <a:cs typeface="Perpetua"/>
              </a:rPr>
              <a:t>The </a:t>
            </a:r>
            <a:r>
              <a:rPr sz="2300" spc="5" dirty="0">
                <a:latin typeface="Perpetua"/>
                <a:cs typeface="Perpetua"/>
              </a:rPr>
              <a:t>search engine understands </a:t>
            </a:r>
            <a:r>
              <a:rPr sz="2300" dirty="0">
                <a:latin typeface="Perpetua"/>
                <a:cs typeface="Perpetua"/>
              </a:rPr>
              <a:t>this </a:t>
            </a:r>
            <a:r>
              <a:rPr sz="2300" spc="5" dirty="0">
                <a:latin typeface="Perpetua"/>
                <a:cs typeface="Perpetua"/>
              </a:rPr>
              <a:t>query </a:t>
            </a:r>
            <a:r>
              <a:rPr sz="2300" spc="-5" dirty="0">
                <a:latin typeface="Perpetua"/>
                <a:cs typeface="Perpetua"/>
              </a:rPr>
              <a:t>to </a:t>
            </a:r>
            <a:r>
              <a:rPr sz="2300" dirty="0">
                <a:latin typeface="Perpetua"/>
                <a:cs typeface="Perpetua"/>
              </a:rPr>
              <a:t>be </a:t>
            </a:r>
            <a:r>
              <a:rPr sz="2300" spc="-5" dirty="0">
                <a:latin typeface="Perpetua"/>
                <a:cs typeface="Perpetua"/>
              </a:rPr>
              <a:t>the </a:t>
            </a:r>
            <a:r>
              <a:rPr sz="2300" i="1" dirty="0">
                <a:latin typeface="Perpetua"/>
                <a:cs typeface="Perpetua"/>
              </a:rPr>
              <a:t>conjunction </a:t>
            </a:r>
            <a:r>
              <a:rPr sz="2300" i="1" spc="-5" dirty="0">
                <a:latin typeface="Perpetua"/>
                <a:cs typeface="Perpetua"/>
              </a:rPr>
              <a:t>of </a:t>
            </a:r>
            <a:r>
              <a:rPr sz="2300" i="1" dirty="0">
                <a:latin typeface="Perpetua"/>
                <a:cs typeface="Perpetua"/>
              </a:rPr>
              <a:t>the </a:t>
            </a:r>
            <a:r>
              <a:rPr sz="2300" i="1" spc="-10" dirty="0">
                <a:latin typeface="Perpetua"/>
                <a:cs typeface="Perpetua"/>
              </a:rPr>
              <a:t>two</a:t>
            </a:r>
            <a:r>
              <a:rPr sz="2300" i="1" spc="-65" dirty="0">
                <a:latin typeface="Perpetua"/>
                <a:cs typeface="Perpetua"/>
              </a:rPr>
              <a:t> </a:t>
            </a:r>
            <a:r>
              <a:rPr sz="2300" i="1" spc="-10" dirty="0">
                <a:latin typeface="Perpetua"/>
                <a:cs typeface="Perpetua"/>
              </a:rPr>
              <a:t>words</a:t>
            </a:r>
            <a:r>
              <a:rPr sz="2300" spc="-10" dirty="0">
                <a:latin typeface="Perpetua"/>
                <a:cs typeface="Perpetua"/>
              </a:rPr>
              <a:t>.</a:t>
            </a:r>
            <a:endParaRPr sz="23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04"/>
              </a:spcBef>
              <a:buSzPct val="84782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300" dirty="0">
                <a:latin typeface="Perpetua"/>
                <a:cs typeface="Perpetua"/>
              </a:rPr>
              <a:t>It </a:t>
            </a:r>
            <a:r>
              <a:rPr sz="2300" spc="5" dirty="0">
                <a:latin typeface="Perpetua"/>
                <a:cs typeface="Perpetua"/>
              </a:rPr>
              <a:t>understands </a:t>
            </a:r>
            <a:r>
              <a:rPr sz="2300" spc="-5" dirty="0">
                <a:latin typeface="Perpetua"/>
                <a:cs typeface="Perpetua"/>
              </a:rPr>
              <a:t>the </a:t>
            </a:r>
            <a:r>
              <a:rPr sz="2300" spc="5" dirty="0">
                <a:latin typeface="Perpetua"/>
                <a:cs typeface="Perpetua"/>
              </a:rPr>
              <a:t>query </a:t>
            </a:r>
            <a:r>
              <a:rPr sz="2300" spc="-5" dirty="0">
                <a:latin typeface="Perpetua"/>
                <a:cs typeface="Perpetua"/>
              </a:rPr>
              <a:t>to mean “</a:t>
            </a:r>
            <a:r>
              <a:rPr sz="2300" i="1" spc="-5" dirty="0">
                <a:latin typeface="Perpetua"/>
                <a:cs typeface="Perpetua"/>
              </a:rPr>
              <a:t>Hannah </a:t>
            </a:r>
            <a:r>
              <a:rPr sz="2300" spc="-5" dirty="0">
                <a:latin typeface="Perpetua"/>
                <a:cs typeface="Perpetua"/>
              </a:rPr>
              <a:t>AND</a:t>
            </a:r>
            <a:r>
              <a:rPr sz="2300" spc="-350" dirty="0">
                <a:latin typeface="Perpetua"/>
                <a:cs typeface="Perpetua"/>
              </a:rPr>
              <a:t> </a:t>
            </a:r>
            <a:r>
              <a:rPr sz="2300" i="1" spc="-25" dirty="0">
                <a:latin typeface="Perpetua"/>
                <a:cs typeface="Perpetua"/>
              </a:rPr>
              <a:t>Garcia</a:t>
            </a:r>
            <a:r>
              <a:rPr sz="2300" spc="-25" dirty="0">
                <a:latin typeface="Perpetua"/>
                <a:cs typeface="Perpetua"/>
              </a:rPr>
              <a:t>.”</a:t>
            </a:r>
            <a:endParaRPr sz="2300">
              <a:latin typeface="Perpetua"/>
              <a:cs typeface="Perpetua"/>
            </a:endParaRPr>
          </a:p>
          <a:p>
            <a:pPr marL="285115" marR="5080" indent="-273050">
              <a:lnSpc>
                <a:spcPct val="100000"/>
              </a:lnSpc>
              <a:spcBef>
                <a:spcPts val="204"/>
              </a:spcBef>
              <a:buSzPct val="84782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300" spc="-5" dirty="0">
                <a:latin typeface="Perpetua"/>
                <a:cs typeface="Perpetua"/>
              </a:rPr>
              <a:t>The </a:t>
            </a:r>
            <a:r>
              <a:rPr sz="2300" spc="-15" dirty="0">
                <a:latin typeface="Perpetua"/>
                <a:cs typeface="Perpetua"/>
              </a:rPr>
              <a:t>only </a:t>
            </a:r>
            <a:r>
              <a:rPr sz="2300" spc="-5" dirty="0">
                <a:latin typeface="Perpetua"/>
                <a:cs typeface="Perpetua"/>
              </a:rPr>
              <a:t>pages </a:t>
            </a:r>
            <a:r>
              <a:rPr sz="2300" spc="-10" dirty="0">
                <a:latin typeface="Perpetua"/>
                <a:cs typeface="Perpetua"/>
              </a:rPr>
              <a:t>that </a:t>
            </a:r>
            <a:r>
              <a:rPr sz="2300" spc="-15" dirty="0">
                <a:latin typeface="Perpetua"/>
                <a:cs typeface="Perpetua"/>
              </a:rPr>
              <a:t>are </a:t>
            </a:r>
            <a:r>
              <a:rPr sz="2300" dirty="0">
                <a:latin typeface="Perpetua"/>
                <a:cs typeface="Perpetua"/>
              </a:rPr>
              <a:t>returned </a:t>
            </a:r>
            <a:r>
              <a:rPr sz="2300" spc="-25" dirty="0">
                <a:latin typeface="Perpetua"/>
                <a:cs typeface="Perpetua"/>
              </a:rPr>
              <a:t>by </a:t>
            </a:r>
            <a:r>
              <a:rPr sz="2300" dirty="0">
                <a:latin typeface="Perpetua"/>
                <a:cs typeface="Perpetua"/>
              </a:rPr>
              <a:t>the </a:t>
            </a:r>
            <a:r>
              <a:rPr sz="2300" spc="5" dirty="0">
                <a:latin typeface="Perpetua"/>
                <a:cs typeface="Perpetua"/>
              </a:rPr>
              <a:t>search engine </a:t>
            </a:r>
            <a:r>
              <a:rPr sz="2300" spc="-15" dirty="0">
                <a:latin typeface="Perpetua"/>
                <a:cs typeface="Perpetua"/>
              </a:rPr>
              <a:t>are </a:t>
            </a:r>
            <a:r>
              <a:rPr sz="2300" dirty="0">
                <a:latin typeface="Perpetua"/>
                <a:cs typeface="Perpetua"/>
              </a:rPr>
              <a:t>those </a:t>
            </a:r>
            <a:r>
              <a:rPr sz="2300" spc="-30" dirty="0">
                <a:latin typeface="Perpetua"/>
                <a:cs typeface="Perpetua"/>
              </a:rPr>
              <a:t>web </a:t>
            </a:r>
            <a:r>
              <a:rPr sz="2300" dirty="0">
                <a:latin typeface="Perpetua"/>
                <a:cs typeface="Perpetua"/>
              </a:rPr>
              <a:t>pages  </a:t>
            </a:r>
            <a:r>
              <a:rPr sz="2300" spc="-10" dirty="0">
                <a:latin typeface="Perpetua"/>
                <a:cs typeface="Perpetua"/>
              </a:rPr>
              <a:t>that </a:t>
            </a:r>
            <a:r>
              <a:rPr sz="2300" dirty="0">
                <a:latin typeface="Perpetua"/>
                <a:cs typeface="Perpetua"/>
              </a:rPr>
              <a:t>contain both </a:t>
            </a:r>
            <a:r>
              <a:rPr sz="2300" spc="-5" dirty="0">
                <a:latin typeface="Perpetua"/>
                <a:cs typeface="Perpetua"/>
              </a:rPr>
              <a:t>the </a:t>
            </a:r>
            <a:r>
              <a:rPr sz="2300" spc="-25" dirty="0">
                <a:latin typeface="Perpetua"/>
                <a:cs typeface="Perpetua"/>
              </a:rPr>
              <a:t>word </a:t>
            </a:r>
            <a:r>
              <a:rPr sz="2300" spc="-5" dirty="0">
                <a:latin typeface="Perpetua"/>
                <a:cs typeface="Perpetua"/>
              </a:rPr>
              <a:t>“</a:t>
            </a:r>
            <a:r>
              <a:rPr sz="2300" i="1" spc="-5" dirty="0">
                <a:latin typeface="Perpetua"/>
                <a:cs typeface="Perpetua"/>
              </a:rPr>
              <a:t>Hannah</a:t>
            </a:r>
            <a:r>
              <a:rPr sz="2300" spc="-5" dirty="0">
                <a:latin typeface="Perpetua"/>
                <a:cs typeface="Perpetua"/>
              </a:rPr>
              <a:t>” and the </a:t>
            </a:r>
            <a:r>
              <a:rPr sz="2300" spc="-25" dirty="0">
                <a:latin typeface="Perpetua"/>
                <a:cs typeface="Perpetua"/>
              </a:rPr>
              <a:t>word</a:t>
            </a:r>
            <a:r>
              <a:rPr sz="2300" spc="-295" dirty="0">
                <a:latin typeface="Perpetua"/>
                <a:cs typeface="Perpetua"/>
              </a:rPr>
              <a:t> </a:t>
            </a:r>
            <a:r>
              <a:rPr sz="2300" spc="-20" dirty="0">
                <a:latin typeface="Perpetua"/>
                <a:cs typeface="Perpetua"/>
              </a:rPr>
              <a:t>“</a:t>
            </a:r>
            <a:r>
              <a:rPr sz="2300" i="1" spc="-20" dirty="0">
                <a:latin typeface="Perpetua"/>
                <a:cs typeface="Perpetua"/>
              </a:rPr>
              <a:t>Garcia</a:t>
            </a:r>
            <a:r>
              <a:rPr sz="2300" spc="-20" dirty="0">
                <a:latin typeface="Perpetua"/>
                <a:cs typeface="Perpetua"/>
              </a:rPr>
              <a:t>.”</a:t>
            </a:r>
            <a:endParaRPr sz="23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10400" y="0"/>
            <a:ext cx="1857755" cy="1345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1564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Conjunction in </a:t>
            </a:r>
            <a:r>
              <a:rPr i="0" spc="10" dirty="0">
                <a:latin typeface="Perpetua"/>
                <a:cs typeface="Perpetua"/>
              </a:rPr>
              <a:t>Search </a:t>
            </a:r>
            <a:r>
              <a:rPr i="0" spc="5" dirty="0">
                <a:latin typeface="Perpetua"/>
                <a:cs typeface="Perpetua"/>
              </a:rPr>
              <a:t>Queries</a:t>
            </a:r>
            <a:r>
              <a:rPr i="0" spc="20" dirty="0">
                <a:latin typeface="Perpetua"/>
                <a:cs typeface="Perpetua"/>
              </a:rPr>
              <a:t> </a:t>
            </a:r>
            <a:r>
              <a:rPr spc="-5" dirty="0"/>
              <a:t>contd</a:t>
            </a:r>
            <a:r>
              <a:rPr i="0" spc="-5" dirty="0">
                <a:latin typeface="Perpetua"/>
                <a:cs typeface="Perpetua"/>
              </a:rPr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10665"/>
            <a:ext cx="8531860" cy="5068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735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i="1" dirty="0">
                <a:latin typeface="Perpetua"/>
                <a:cs typeface="Perpetua"/>
              </a:rPr>
              <a:t>Let </a:t>
            </a:r>
            <a:r>
              <a:rPr sz="2400" i="1" spc="-5" dirty="0">
                <a:latin typeface="Perpetua"/>
                <a:cs typeface="Perpetua"/>
              </a:rPr>
              <a:t>us consider </a:t>
            </a:r>
            <a:r>
              <a:rPr sz="2400" i="1" spc="-10" dirty="0">
                <a:latin typeface="Perpetua"/>
                <a:cs typeface="Perpetua"/>
              </a:rPr>
              <a:t>that </a:t>
            </a:r>
            <a:r>
              <a:rPr sz="2400" i="1" spc="-20" dirty="0">
                <a:latin typeface="Perpetua"/>
                <a:cs typeface="Perpetua"/>
              </a:rPr>
              <a:t>unfortunately,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still </a:t>
            </a:r>
            <a:r>
              <a:rPr sz="2400" i="1" spc="-10" dirty="0">
                <a:latin typeface="Perpetua"/>
                <a:cs typeface="Perpetua"/>
              </a:rPr>
              <a:t>cannot </a:t>
            </a:r>
            <a:r>
              <a:rPr sz="2400" i="1" spc="-5" dirty="0">
                <a:latin typeface="Perpetua"/>
                <a:cs typeface="Perpetua"/>
              </a:rPr>
              <a:t>find </a:t>
            </a:r>
            <a:r>
              <a:rPr sz="2400" i="1" spc="-20" dirty="0">
                <a:latin typeface="Perpetua"/>
                <a:cs typeface="Perpetua"/>
              </a:rPr>
              <a:t>any </a:t>
            </a:r>
            <a:r>
              <a:rPr sz="2400" i="1" spc="-10" dirty="0">
                <a:latin typeface="Perpetua"/>
                <a:cs typeface="Perpetua"/>
              </a:rPr>
              <a:t>web </a:t>
            </a:r>
            <a:r>
              <a:rPr sz="2400" i="1" spc="-25" dirty="0">
                <a:latin typeface="Perpetua"/>
                <a:cs typeface="Perpetua"/>
              </a:rPr>
              <a:t>page </a:t>
            </a:r>
            <a:r>
              <a:rPr sz="2400" i="1" spc="-10" dirty="0">
                <a:latin typeface="Perpetua"/>
                <a:cs typeface="Perpetua"/>
              </a:rPr>
              <a:t>related </a:t>
            </a:r>
            <a:r>
              <a:rPr sz="2400" i="1" spc="-5" dirty="0">
                <a:latin typeface="Perpetua"/>
                <a:cs typeface="Perpetua"/>
              </a:rPr>
              <a:t>to</a:t>
            </a:r>
            <a:r>
              <a:rPr sz="2400" i="1" spc="8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your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35"/>
              </a:lnSpc>
            </a:pPr>
            <a:r>
              <a:rPr sz="2400" i="1" dirty="0">
                <a:latin typeface="Perpetua"/>
                <a:cs typeface="Perpetua"/>
              </a:rPr>
              <a:t>high </a:t>
            </a:r>
            <a:r>
              <a:rPr sz="2400" i="1" spc="-5" dirty="0">
                <a:latin typeface="Perpetua"/>
                <a:cs typeface="Perpetua"/>
              </a:rPr>
              <a:t>school classmate Hannah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Garcia</a:t>
            </a:r>
            <a:r>
              <a:rPr sz="2400" spc="-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6385" marR="5715" indent="-274320">
              <a:lnSpc>
                <a:spcPts val="2590"/>
              </a:lnSpc>
              <a:spcBef>
                <a:spcPts val="64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As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think </a:t>
            </a:r>
            <a:r>
              <a:rPr sz="2400" spc="-5" dirty="0">
                <a:latin typeface="Perpetua"/>
                <a:cs typeface="Perpetua"/>
              </a:rPr>
              <a:t>about </a:t>
            </a:r>
            <a:r>
              <a:rPr sz="2400" spc="-25" dirty="0">
                <a:latin typeface="Perpetua"/>
                <a:cs typeface="Perpetua"/>
              </a:rPr>
              <a:t>how </a:t>
            </a:r>
            <a:r>
              <a:rPr sz="2400" spc="-10" dirty="0">
                <a:latin typeface="Perpetua"/>
                <a:cs typeface="Perpetua"/>
              </a:rPr>
              <a:t>to </a:t>
            </a:r>
            <a:r>
              <a:rPr sz="2400" spc="-25" dirty="0">
                <a:latin typeface="Perpetua"/>
                <a:cs typeface="Perpetua"/>
              </a:rPr>
              <a:t>improve </a:t>
            </a:r>
            <a:r>
              <a:rPr sz="2400" spc="-10" dirty="0">
                <a:latin typeface="Perpetua"/>
                <a:cs typeface="Perpetua"/>
              </a:rPr>
              <a:t>your </a:t>
            </a:r>
            <a:r>
              <a:rPr sz="2400" spc="5" dirty="0">
                <a:latin typeface="Perpetua"/>
                <a:cs typeface="Perpetua"/>
              </a:rPr>
              <a:t>search </a:t>
            </a:r>
            <a:r>
              <a:rPr sz="2400" spc="-5" dirty="0">
                <a:latin typeface="Perpetua"/>
                <a:cs typeface="Perpetua"/>
              </a:rPr>
              <a:t>results,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5" dirty="0">
                <a:latin typeface="Perpetua"/>
                <a:cs typeface="Perpetua"/>
              </a:rPr>
              <a:t>remember 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she </a:t>
            </a:r>
            <a:r>
              <a:rPr sz="2400" spc="10" dirty="0">
                <a:latin typeface="Perpetua"/>
                <a:cs typeface="Perpetua"/>
              </a:rPr>
              <a:t>married </a:t>
            </a:r>
            <a:r>
              <a:rPr sz="2400" spc="-5" dirty="0">
                <a:latin typeface="Perpetua"/>
                <a:cs typeface="Perpetua"/>
              </a:rPr>
              <a:t>someone </a:t>
            </a:r>
            <a:r>
              <a:rPr sz="2400" dirty="0">
                <a:latin typeface="Perpetua"/>
                <a:cs typeface="Perpetua"/>
              </a:rPr>
              <a:t>with the </a:t>
            </a:r>
            <a:r>
              <a:rPr sz="2400" spc="10" dirty="0">
                <a:latin typeface="Perpetua"/>
                <a:cs typeface="Perpetua"/>
              </a:rPr>
              <a:t>surname</a:t>
            </a:r>
            <a:r>
              <a:rPr sz="2400" spc="-17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“</a:t>
            </a:r>
            <a:r>
              <a:rPr sz="2400" i="1" spc="-5" dirty="0">
                <a:latin typeface="Perpetua"/>
                <a:cs typeface="Perpetua"/>
              </a:rPr>
              <a:t>Mason”</a:t>
            </a:r>
            <a:r>
              <a:rPr sz="2400" spc="-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ts val="2735"/>
              </a:lnSpc>
              <a:spcBef>
                <a:spcPts val="27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90" dirty="0">
                <a:latin typeface="Perpetua"/>
                <a:cs typeface="Perpetua"/>
              </a:rPr>
              <a:t>You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realize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although</a:t>
            </a:r>
            <a:r>
              <a:rPr sz="2400" spc="16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she</a:t>
            </a:r>
            <a:r>
              <a:rPr sz="2400" spc="165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may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still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use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165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surname</a:t>
            </a:r>
            <a:r>
              <a:rPr sz="2400" spc="17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“</a:t>
            </a:r>
            <a:r>
              <a:rPr sz="2400" i="1" spc="-5" dirty="0">
                <a:latin typeface="Perpetua"/>
                <a:cs typeface="Perpetua"/>
              </a:rPr>
              <a:t>Garcia</a:t>
            </a:r>
            <a:r>
              <a:rPr sz="2400" spc="-5" dirty="0">
                <a:latin typeface="Perpetua"/>
                <a:cs typeface="Perpetua"/>
              </a:rPr>
              <a:t>”</a:t>
            </a:r>
            <a:r>
              <a:rPr sz="2400" spc="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175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certain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35"/>
              </a:lnSpc>
            </a:pPr>
            <a:r>
              <a:rPr sz="2400" spc="-5" dirty="0">
                <a:latin typeface="Perpetua"/>
                <a:cs typeface="Perpetua"/>
              </a:rPr>
              <a:t>business contexts, </a:t>
            </a:r>
            <a:r>
              <a:rPr sz="2400" dirty="0">
                <a:latin typeface="Perpetua"/>
                <a:cs typeface="Perpetua"/>
              </a:rPr>
              <a:t>she </a:t>
            </a:r>
            <a:r>
              <a:rPr sz="2400" spc="-30" dirty="0">
                <a:latin typeface="Perpetua"/>
                <a:cs typeface="Perpetua"/>
              </a:rPr>
              <a:t>may </a:t>
            </a:r>
            <a:r>
              <a:rPr sz="2400" spc="-5" dirty="0">
                <a:latin typeface="Perpetua"/>
                <a:cs typeface="Perpetua"/>
              </a:rPr>
              <a:t>instead </a:t>
            </a:r>
            <a:r>
              <a:rPr sz="2400" dirty="0">
                <a:latin typeface="Perpetua"/>
                <a:cs typeface="Perpetua"/>
              </a:rPr>
              <a:t>use the </a:t>
            </a:r>
            <a:r>
              <a:rPr sz="2400" spc="10" dirty="0">
                <a:latin typeface="Perpetua"/>
                <a:cs typeface="Perpetua"/>
              </a:rPr>
              <a:t>surname</a:t>
            </a:r>
            <a:r>
              <a:rPr sz="2400" spc="-2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“</a:t>
            </a:r>
            <a:r>
              <a:rPr sz="2400" i="1" spc="-5" dirty="0">
                <a:latin typeface="Perpetua"/>
                <a:cs typeface="Perpetua"/>
              </a:rPr>
              <a:t>Mason</a:t>
            </a:r>
            <a:r>
              <a:rPr sz="2400" spc="-5" dirty="0">
                <a:latin typeface="Perpetua"/>
                <a:cs typeface="Perpetua"/>
              </a:rPr>
              <a:t>”.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spc="-5" dirty="0">
                <a:latin typeface="Perpetua"/>
                <a:cs typeface="Perpetua"/>
              </a:rPr>
              <a:t>therefore attempt to </a:t>
            </a:r>
            <a:r>
              <a:rPr sz="2400" spc="5" dirty="0">
                <a:latin typeface="Perpetua"/>
                <a:cs typeface="Perpetua"/>
              </a:rPr>
              <a:t>construct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5" dirty="0">
                <a:latin typeface="Perpetua"/>
                <a:cs typeface="Perpetua"/>
              </a:rPr>
              <a:t>search</a:t>
            </a:r>
            <a:r>
              <a:rPr sz="2400" spc="40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query</a:t>
            </a:r>
            <a:endParaRPr sz="2400">
              <a:latin typeface="Perpetua"/>
              <a:cs typeface="Perpetua"/>
            </a:endParaRPr>
          </a:p>
          <a:p>
            <a:pPr marL="617855" lvl="1" indent="-332105">
              <a:lnSpc>
                <a:spcPct val="100000"/>
              </a:lnSpc>
              <a:spcBef>
                <a:spcPts val="310"/>
              </a:spcBef>
              <a:buSzPct val="85416"/>
              <a:buFont typeface="Arial"/>
              <a:buChar char="•"/>
              <a:tabLst>
                <a:tab pos="617855" algn="l"/>
                <a:tab pos="618490" algn="l"/>
              </a:tabLst>
            </a:pPr>
            <a:r>
              <a:rPr sz="2400" spc="-5" dirty="0">
                <a:latin typeface="Perpetua"/>
                <a:cs typeface="Perpetua"/>
              </a:rPr>
              <a:t>“</a:t>
            </a:r>
            <a:r>
              <a:rPr sz="2400" i="1" spc="-5" dirty="0">
                <a:latin typeface="Perpetua"/>
                <a:cs typeface="Perpetua"/>
              </a:rPr>
              <a:t>Hannah Garcia Maso</a:t>
            </a:r>
            <a:r>
              <a:rPr sz="2400" spc="-5" dirty="0">
                <a:latin typeface="Perpetua"/>
                <a:cs typeface="Perpetua"/>
              </a:rPr>
              <a:t>n”</a:t>
            </a:r>
            <a:r>
              <a:rPr sz="2400" spc="-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ts val="2590"/>
              </a:lnSpc>
              <a:spcBef>
                <a:spcPts val="64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This </a:t>
            </a:r>
            <a:r>
              <a:rPr sz="2400" spc="5" dirty="0">
                <a:latin typeface="Perpetua"/>
                <a:cs typeface="Perpetua"/>
              </a:rPr>
              <a:t>search </a:t>
            </a:r>
            <a:r>
              <a:rPr sz="2400" dirty="0">
                <a:latin typeface="Perpetua"/>
                <a:cs typeface="Perpetua"/>
              </a:rPr>
              <a:t>query </a:t>
            </a:r>
            <a:r>
              <a:rPr sz="2400" spc="-20" dirty="0">
                <a:latin typeface="Perpetua"/>
                <a:cs typeface="Perpetua"/>
              </a:rPr>
              <a:t>would </a:t>
            </a:r>
            <a:r>
              <a:rPr sz="2400" spc="-5" dirty="0">
                <a:latin typeface="Perpetua"/>
                <a:cs typeface="Perpetua"/>
              </a:rPr>
              <a:t>be </a:t>
            </a:r>
            <a:r>
              <a:rPr sz="2400" spc="-30" dirty="0">
                <a:latin typeface="Perpetua"/>
                <a:cs typeface="Perpetua"/>
              </a:rPr>
              <a:t>overly </a:t>
            </a:r>
            <a:r>
              <a:rPr sz="2400" spc="-10" dirty="0">
                <a:latin typeface="Perpetua"/>
                <a:cs typeface="Perpetua"/>
              </a:rPr>
              <a:t>narrow </a:t>
            </a:r>
            <a:r>
              <a:rPr sz="2400" dirty="0">
                <a:latin typeface="Perpetua"/>
                <a:cs typeface="Perpetua"/>
              </a:rPr>
              <a:t>since </a:t>
            </a:r>
            <a:r>
              <a:rPr sz="2400" spc="-15" dirty="0">
                <a:latin typeface="Perpetua"/>
                <a:cs typeface="Perpetua"/>
              </a:rPr>
              <a:t>only </a:t>
            </a:r>
            <a:r>
              <a:rPr sz="2400" dirty="0">
                <a:latin typeface="Perpetua"/>
                <a:cs typeface="Perpetua"/>
              </a:rPr>
              <a:t>pages </a:t>
            </a:r>
            <a:r>
              <a:rPr sz="2400" spc="-5" dirty="0">
                <a:latin typeface="Perpetua"/>
                <a:cs typeface="Perpetua"/>
              </a:rPr>
              <a:t>containing </a:t>
            </a:r>
            <a:r>
              <a:rPr sz="2400" i="1" dirty="0">
                <a:latin typeface="Perpetua"/>
                <a:cs typeface="Perpetua"/>
              </a:rPr>
              <a:t>all  </a:t>
            </a:r>
            <a:r>
              <a:rPr sz="2400" i="1" spc="-10" dirty="0">
                <a:latin typeface="Perpetua"/>
                <a:cs typeface="Perpetua"/>
              </a:rPr>
              <a:t>three words </a:t>
            </a:r>
            <a:r>
              <a:rPr sz="2400" spc="-20" dirty="0">
                <a:latin typeface="Perpetua"/>
                <a:cs typeface="Perpetua"/>
              </a:rPr>
              <a:t>would </a:t>
            </a:r>
            <a:r>
              <a:rPr sz="2400" dirty="0">
                <a:latin typeface="Perpetua"/>
                <a:cs typeface="Perpetua"/>
              </a:rPr>
              <a:t>be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returned.</a:t>
            </a:r>
            <a:endParaRPr sz="2400">
              <a:latin typeface="Perpetua"/>
              <a:cs typeface="Perpetua"/>
            </a:endParaRPr>
          </a:p>
          <a:p>
            <a:pPr marL="286385" marR="6350" indent="-274320">
              <a:lnSpc>
                <a:spcPts val="259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5" dirty="0">
                <a:latin typeface="Perpetua"/>
                <a:cs typeface="Perpetua"/>
              </a:rPr>
              <a:t>search engine </a:t>
            </a:r>
            <a:r>
              <a:rPr sz="2400" spc="-20" dirty="0">
                <a:latin typeface="Perpetua"/>
                <a:cs typeface="Perpetua"/>
              </a:rPr>
              <a:t>would </a:t>
            </a:r>
            <a:r>
              <a:rPr sz="2400" dirty="0">
                <a:latin typeface="Perpetua"/>
                <a:cs typeface="Perpetua"/>
              </a:rPr>
              <a:t>interpret this </a:t>
            </a:r>
            <a:r>
              <a:rPr sz="2400" spc="5" dirty="0">
                <a:latin typeface="Perpetua"/>
                <a:cs typeface="Perpetua"/>
              </a:rPr>
              <a:t>query </a:t>
            </a:r>
            <a:r>
              <a:rPr sz="2400" spc="-5" dirty="0">
                <a:latin typeface="Perpetua"/>
                <a:cs typeface="Perpetua"/>
              </a:rPr>
              <a:t>to mean “</a:t>
            </a:r>
            <a:r>
              <a:rPr sz="2400" i="1" spc="-5" dirty="0">
                <a:latin typeface="Perpetua"/>
                <a:cs typeface="Perpetua"/>
              </a:rPr>
              <a:t>find </a:t>
            </a:r>
            <a:r>
              <a:rPr sz="2400" i="1" dirty="0">
                <a:latin typeface="Perpetua"/>
                <a:cs typeface="Perpetua"/>
              </a:rPr>
              <a:t>all </a:t>
            </a:r>
            <a:r>
              <a:rPr sz="2400" i="1" spc="-10" dirty="0">
                <a:latin typeface="Perpetua"/>
                <a:cs typeface="Perpetua"/>
              </a:rPr>
              <a:t>web </a:t>
            </a:r>
            <a:r>
              <a:rPr sz="2400" i="1" spc="-20" dirty="0">
                <a:latin typeface="Perpetua"/>
                <a:cs typeface="Perpetua"/>
              </a:rPr>
              <a:t>pages  </a:t>
            </a:r>
            <a:r>
              <a:rPr sz="2400" i="1" spc="-10" dirty="0">
                <a:latin typeface="Perpetua"/>
                <a:cs typeface="Perpetua"/>
              </a:rPr>
              <a:t>that </a:t>
            </a:r>
            <a:r>
              <a:rPr sz="2400" i="1" spc="-5" dirty="0">
                <a:latin typeface="Perpetua"/>
                <a:cs typeface="Perpetua"/>
              </a:rPr>
              <a:t>contain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words </a:t>
            </a:r>
            <a:r>
              <a:rPr sz="2400" i="1" spc="-5" dirty="0">
                <a:latin typeface="Perpetua"/>
                <a:cs typeface="Perpetua"/>
              </a:rPr>
              <a:t>Hannah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i="1" spc="-5" dirty="0">
                <a:latin typeface="Perpetua"/>
                <a:cs typeface="Perpetua"/>
              </a:rPr>
              <a:t>Garcia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30" dirty="0">
                <a:latin typeface="Perpetua"/>
                <a:cs typeface="Perpetua"/>
              </a:rPr>
              <a:t> </a:t>
            </a:r>
            <a:r>
              <a:rPr sz="2400" i="1" spc="-35" dirty="0">
                <a:latin typeface="Perpetua"/>
                <a:cs typeface="Perpetua"/>
              </a:rPr>
              <a:t>Mason</a:t>
            </a:r>
            <a:r>
              <a:rPr sz="2400" spc="-35" dirty="0">
                <a:latin typeface="Perpetua"/>
                <a:cs typeface="Perpetua"/>
              </a:rPr>
              <a:t>.”</a:t>
            </a:r>
            <a:endParaRPr sz="2400">
              <a:latin typeface="Perpetua"/>
              <a:cs typeface="Perpetua"/>
            </a:endParaRPr>
          </a:p>
          <a:p>
            <a:pPr marL="3301365" indent="-240665">
              <a:lnSpc>
                <a:spcPct val="100000"/>
              </a:lnSpc>
              <a:spcBef>
                <a:spcPts val="1790"/>
              </a:spcBef>
              <a:buSzPct val="95833"/>
              <a:buFont typeface="Wingdings"/>
              <a:buChar char=""/>
              <a:tabLst>
                <a:tab pos="3302000" algn="l"/>
              </a:tabLst>
            </a:pPr>
            <a:r>
              <a:rPr sz="2400" i="1" dirty="0">
                <a:latin typeface="Perpetua"/>
                <a:cs typeface="Perpetua"/>
              </a:rPr>
              <a:t>Is this </a:t>
            </a:r>
            <a:r>
              <a:rPr sz="2400" i="1" spc="-25" dirty="0">
                <a:latin typeface="Perpetua"/>
                <a:cs typeface="Perpetua"/>
              </a:rPr>
              <a:t>what </a:t>
            </a:r>
            <a:r>
              <a:rPr sz="2400" i="1" spc="-15" dirty="0">
                <a:latin typeface="Perpetua"/>
                <a:cs typeface="Perpetua"/>
              </a:rPr>
              <a:t>you wanted </a:t>
            </a:r>
            <a:r>
              <a:rPr sz="2400" i="1" dirty="0">
                <a:latin typeface="Perpetua"/>
                <a:cs typeface="Perpetua"/>
              </a:rPr>
              <a:t>the search engine to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search?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513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Disjunction in </a:t>
            </a:r>
            <a:r>
              <a:rPr i="0" spc="10" dirty="0">
                <a:latin typeface="Perpetua"/>
                <a:cs typeface="Perpetua"/>
              </a:rPr>
              <a:t>Search</a:t>
            </a:r>
            <a:r>
              <a:rPr i="0" spc="-10" dirty="0">
                <a:latin typeface="Perpetua"/>
                <a:cs typeface="Perpetua"/>
              </a:rPr>
              <a:t> </a:t>
            </a:r>
            <a:r>
              <a:rPr i="0" spc="5" dirty="0">
                <a:latin typeface="Perpetua"/>
                <a:cs typeface="Perpetua"/>
              </a:rPr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1225" cy="4421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8255" indent="-27305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  <a:tab pos="1708785" algn="l"/>
                <a:tab pos="2397760" algn="l"/>
                <a:tab pos="2941955" algn="l"/>
                <a:tab pos="4016375" algn="l"/>
                <a:tab pos="5085080" algn="l"/>
                <a:tab pos="5502910" algn="l"/>
                <a:tab pos="6490335" algn="l"/>
                <a:tab pos="7174865" algn="l"/>
                <a:tab pos="7874634" algn="l"/>
              </a:tabLst>
            </a:pPr>
            <a:r>
              <a:rPr sz="2600" i="1" spc="-5" dirty="0">
                <a:latin typeface="Perpetua"/>
                <a:cs typeface="Perpetua"/>
              </a:rPr>
              <a:t>C</a:t>
            </a:r>
            <a:r>
              <a:rPr sz="2600" i="1" spc="-10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n</a:t>
            </a:r>
            <a:r>
              <a:rPr sz="2600" i="1" spc="-15" dirty="0">
                <a:latin typeface="Perpetua"/>
                <a:cs typeface="Perpetua"/>
              </a:rPr>
              <a:t>t</a:t>
            </a:r>
            <a:r>
              <a:rPr sz="2600" i="1" spc="5" dirty="0">
                <a:latin typeface="Perpetua"/>
                <a:cs typeface="Perpetua"/>
              </a:rPr>
              <a:t>i</a:t>
            </a:r>
            <a:r>
              <a:rPr sz="2600" i="1" dirty="0">
                <a:latin typeface="Perpetua"/>
                <a:cs typeface="Perpetua"/>
              </a:rPr>
              <a:t>nuing	with	the	p</a:t>
            </a:r>
            <a:r>
              <a:rPr sz="2600" i="1" spc="-25" dirty="0">
                <a:latin typeface="Perpetua"/>
                <a:cs typeface="Perpetua"/>
              </a:rPr>
              <a:t>r</a:t>
            </a:r>
            <a:r>
              <a:rPr sz="2600" i="1" spc="-15" dirty="0">
                <a:latin typeface="Perpetua"/>
                <a:cs typeface="Perpetua"/>
              </a:rPr>
              <a:t>e</a:t>
            </a:r>
            <a:r>
              <a:rPr sz="2600" i="1" spc="-5" dirty="0">
                <a:latin typeface="Perpetua"/>
                <a:cs typeface="Perpetua"/>
              </a:rPr>
              <a:t>vio</a:t>
            </a:r>
            <a:r>
              <a:rPr sz="2600" i="1" spc="-10" dirty="0">
                <a:latin typeface="Perpetua"/>
                <a:cs typeface="Perpetua"/>
              </a:rPr>
              <a:t>u</a:t>
            </a:r>
            <a:r>
              <a:rPr sz="2600" i="1" dirty="0">
                <a:latin typeface="Perpetua"/>
                <a:cs typeface="Perpetua"/>
              </a:rPr>
              <a:t>s	examp</a:t>
            </a:r>
            <a:r>
              <a:rPr sz="2600" i="1" spc="-20" dirty="0">
                <a:latin typeface="Perpetua"/>
                <a:cs typeface="Perpetua"/>
              </a:rPr>
              <a:t>l</a:t>
            </a:r>
            <a:r>
              <a:rPr sz="2600" i="1" dirty="0">
                <a:latin typeface="Perpetua"/>
                <a:cs typeface="Perpetua"/>
              </a:rPr>
              <a:t>e	</a:t>
            </a:r>
            <a:r>
              <a:rPr sz="2600" i="1" spc="-5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f	</a:t>
            </a:r>
            <a:r>
              <a:rPr sz="2600" i="1" spc="-5" dirty="0">
                <a:latin typeface="Perpetua"/>
                <a:cs typeface="Perpetua"/>
              </a:rPr>
              <a:t>fi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dirty="0">
                <a:latin typeface="Perpetua"/>
                <a:cs typeface="Perpetua"/>
              </a:rPr>
              <a:t>di</a:t>
            </a:r>
            <a:r>
              <a:rPr sz="2600" i="1" spc="-10" dirty="0">
                <a:latin typeface="Perpetua"/>
                <a:cs typeface="Perpetua"/>
              </a:rPr>
              <a:t>n</a:t>
            </a:r>
            <a:r>
              <a:rPr sz="2600" i="1" dirty="0">
                <a:latin typeface="Perpetua"/>
                <a:cs typeface="Perpetua"/>
              </a:rPr>
              <a:t>g	</a:t>
            </a:r>
            <a:r>
              <a:rPr sz="2600" i="1" spc="-40" dirty="0">
                <a:latin typeface="Perpetua"/>
                <a:cs typeface="Perpetua"/>
              </a:rPr>
              <a:t>y</a:t>
            </a:r>
            <a:r>
              <a:rPr sz="2600" i="1" spc="-5" dirty="0">
                <a:latin typeface="Perpetua"/>
                <a:cs typeface="Perpetua"/>
              </a:rPr>
              <a:t>o</a:t>
            </a:r>
            <a:r>
              <a:rPr sz="2600" i="1" spc="-15" dirty="0">
                <a:latin typeface="Perpetua"/>
                <a:cs typeface="Perpetua"/>
              </a:rPr>
              <a:t>u</a:t>
            </a:r>
            <a:r>
              <a:rPr sz="2600" i="1" dirty="0">
                <a:latin typeface="Perpetua"/>
                <a:cs typeface="Perpetua"/>
              </a:rPr>
              <a:t>r	h</a:t>
            </a:r>
            <a:r>
              <a:rPr sz="2600" i="1" spc="-10" dirty="0">
                <a:latin typeface="Perpetua"/>
                <a:cs typeface="Perpetua"/>
              </a:rPr>
              <a:t>i</a:t>
            </a:r>
            <a:r>
              <a:rPr sz="2600" i="1" dirty="0">
                <a:latin typeface="Perpetua"/>
                <a:cs typeface="Perpetua"/>
              </a:rPr>
              <a:t>gh	s</a:t>
            </a:r>
            <a:r>
              <a:rPr sz="2600" i="1" spc="-15" dirty="0">
                <a:latin typeface="Perpetua"/>
                <a:cs typeface="Perpetua"/>
              </a:rPr>
              <a:t>c</a:t>
            </a:r>
            <a:r>
              <a:rPr sz="2600" i="1" dirty="0">
                <a:latin typeface="Perpetua"/>
                <a:cs typeface="Perpetua"/>
              </a:rPr>
              <a:t>h</a:t>
            </a:r>
            <a:r>
              <a:rPr sz="2600" i="1" spc="-15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ol  </a:t>
            </a:r>
            <a:r>
              <a:rPr sz="2600" i="1" spc="-5" dirty="0">
                <a:latin typeface="Perpetua"/>
                <a:cs typeface="Perpetua"/>
              </a:rPr>
              <a:t>classmate</a:t>
            </a:r>
            <a:r>
              <a:rPr sz="2600" spc="-5" dirty="0">
                <a:latin typeface="Perpetua"/>
                <a:cs typeface="Perpetua"/>
              </a:rPr>
              <a:t>…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buSzPct val="84615"/>
              <a:buFont typeface="Arial"/>
              <a:buChar char="•"/>
              <a:tabLst>
                <a:tab pos="303530" algn="l"/>
                <a:tab pos="304165" algn="l"/>
              </a:tabLst>
            </a:pPr>
            <a:r>
              <a:rPr sz="2600" spc="-100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therefore attempt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construct a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dirty="0">
                <a:latin typeface="Perpetua"/>
                <a:cs typeface="Perpetua"/>
              </a:rPr>
              <a:t>query </a:t>
            </a:r>
            <a:r>
              <a:rPr sz="2600" spc="-10" dirty="0">
                <a:latin typeface="Perpetua"/>
                <a:cs typeface="Perpetua"/>
              </a:rPr>
              <a:t>that expresses </a:t>
            </a:r>
            <a:r>
              <a:rPr sz="2600" dirty="0">
                <a:latin typeface="Perpetua"/>
                <a:cs typeface="Perpetua"/>
              </a:rPr>
              <a:t>the  possibility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her last </a:t>
            </a:r>
            <a:r>
              <a:rPr sz="2600" dirty="0">
                <a:latin typeface="Perpetua"/>
                <a:cs typeface="Perpetua"/>
              </a:rPr>
              <a:t>name is either </a:t>
            </a:r>
            <a:r>
              <a:rPr sz="2600" i="1" dirty="0">
                <a:latin typeface="Perpetua"/>
                <a:cs typeface="Perpetua"/>
              </a:rPr>
              <a:t>Garcia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Mason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therefore </a:t>
            </a:r>
            <a:r>
              <a:rPr sz="2600" dirty="0">
                <a:latin typeface="Perpetua"/>
                <a:cs typeface="Perpetua"/>
              </a:rPr>
              <a:t>construct the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query</a:t>
            </a:r>
            <a:endParaRPr sz="2600">
              <a:latin typeface="Perpetua"/>
              <a:cs typeface="Perpetua"/>
            </a:endParaRPr>
          </a:p>
          <a:p>
            <a:pPr marL="622300" lvl="1" indent="-290195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622300" algn="l"/>
                <a:tab pos="622935" algn="l"/>
              </a:tabLst>
            </a:pPr>
            <a:r>
              <a:rPr sz="2600" spc="-5" dirty="0">
                <a:latin typeface="Perpetua"/>
                <a:cs typeface="Perpetua"/>
              </a:rPr>
              <a:t>“</a:t>
            </a:r>
            <a:r>
              <a:rPr sz="2600" i="1" spc="-5" dirty="0">
                <a:latin typeface="Perpetua"/>
                <a:cs typeface="Perpetua"/>
              </a:rPr>
              <a:t>Hannah </a:t>
            </a:r>
            <a:r>
              <a:rPr sz="2600" dirty="0">
                <a:latin typeface="Perpetua"/>
                <a:cs typeface="Perpetua"/>
              </a:rPr>
              <a:t>AND (</a:t>
            </a:r>
            <a:r>
              <a:rPr sz="2600" i="1" dirty="0">
                <a:latin typeface="Perpetua"/>
                <a:cs typeface="Perpetua"/>
              </a:rPr>
              <a:t>Garcia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Mason</a:t>
            </a:r>
            <a:r>
              <a:rPr sz="2600" spc="-30" dirty="0">
                <a:latin typeface="Perpetua"/>
                <a:cs typeface="Perpetua"/>
              </a:rPr>
              <a:t>).”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buSzPct val="84615"/>
              <a:buFont typeface="Arial"/>
              <a:buChar char="•"/>
              <a:tabLst>
                <a:tab pos="285115" algn="l"/>
                <a:tab pos="285750" algn="l"/>
                <a:tab pos="923925" algn="l"/>
                <a:tab pos="2940685" algn="l"/>
                <a:tab pos="4868545" algn="l"/>
                <a:tab pos="5705475" algn="l"/>
                <a:tab pos="6080125" algn="l"/>
                <a:tab pos="6670675" algn="l"/>
                <a:tab pos="8061959" algn="l"/>
              </a:tabLst>
            </a:pPr>
            <a:r>
              <a:rPr sz="2600" dirty="0">
                <a:latin typeface="Perpetua"/>
                <a:cs typeface="Perpetua"/>
              </a:rPr>
              <a:t>This	q</a:t>
            </a:r>
            <a:r>
              <a:rPr sz="2600" spc="-20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2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y </a:t>
            </a:r>
            <a:r>
              <a:rPr sz="2600" spc="-1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ec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spc="-5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y	ex</a:t>
            </a:r>
            <a:r>
              <a:rPr sz="2600" spc="-10" dirty="0">
                <a:latin typeface="Perpetua"/>
                <a:cs typeface="Perpetua"/>
              </a:rPr>
              <a:t>p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es</a:t>
            </a:r>
            <a:r>
              <a:rPr sz="2600" spc="-10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es </a:t>
            </a:r>
            <a:r>
              <a:rPr sz="2600" spc="-180" dirty="0">
                <a:latin typeface="Perpetua"/>
                <a:cs typeface="Perpetua"/>
              </a:rPr>
              <a:t> </a:t>
            </a:r>
            <a:r>
              <a:rPr sz="2600" spc="-45" dirty="0">
                <a:latin typeface="Perpetua"/>
                <a:cs typeface="Perpetua"/>
              </a:rPr>
              <a:t>y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r	desi</a:t>
            </a:r>
            <a:r>
              <a:rPr sz="2600" spc="-3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f</a:t>
            </a:r>
            <a:r>
              <a:rPr sz="2600" spc="-1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nd	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eb </a:t>
            </a:r>
            <a:r>
              <a:rPr sz="2600" spc="-1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pa</a:t>
            </a:r>
            <a:r>
              <a:rPr sz="2600" spc="-1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es	th</a:t>
            </a:r>
            <a:r>
              <a:rPr sz="2600" spc="-2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  </a:t>
            </a:r>
            <a:r>
              <a:rPr sz="2600" spc="-5" dirty="0">
                <a:latin typeface="Perpetua"/>
                <a:cs typeface="Perpetua"/>
              </a:rPr>
              <a:t>contain </a:t>
            </a:r>
            <a:r>
              <a:rPr sz="2600" i="1" spc="-15" dirty="0">
                <a:latin typeface="Perpetua"/>
                <a:cs typeface="Perpetua"/>
              </a:rPr>
              <a:t>only </a:t>
            </a:r>
            <a:r>
              <a:rPr sz="2600" i="1" spc="-5" dirty="0">
                <a:latin typeface="Perpetua"/>
                <a:cs typeface="Perpetua"/>
              </a:rPr>
              <a:t>one of the </a:t>
            </a:r>
            <a:r>
              <a:rPr sz="2600" i="1" spc="5" dirty="0">
                <a:latin typeface="Perpetua"/>
                <a:cs typeface="Perpetua"/>
              </a:rPr>
              <a:t>surnames </a:t>
            </a:r>
            <a:r>
              <a:rPr sz="2600" i="1" dirty="0">
                <a:latin typeface="Perpetua"/>
                <a:cs typeface="Perpetua"/>
              </a:rPr>
              <a:t>Garcia </a:t>
            </a:r>
            <a:r>
              <a:rPr sz="2600" i="1" spc="-5" dirty="0">
                <a:latin typeface="Perpetua"/>
                <a:cs typeface="Perpetua"/>
              </a:rPr>
              <a:t>or </a:t>
            </a:r>
            <a:r>
              <a:rPr sz="2600" i="1" dirty="0">
                <a:latin typeface="Perpetua"/>
                <a:cs typeface="Perpetua"/>
              </a:rPr>
              <a:t>Mason </a:t>
            </a:r>
            <a:r>
              <a:rPr sz="2600" i="1" spc="-10" dirty="0">
                <a:latin typeface="Perpetua"/>
                <a:cs typeface="Perpetua"/>
              </a:rPr>
              <a:t>but </a:t>
            </a:r>
            <a:r>
              <a:rPr sz="2600" i="1" dirty="0">
                <a:latin typeface="Perpetua"/>
                <a:cs typeface="Perpetua"/>
              </a:rPr>
              <a:t>not</a:t>
            </a:r>
            <a:r>
              <a:rPr sz="2600" i="1" spc="3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both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79105" y="234981"/>
            <a:ext cx="1567542" cy="1142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64007"/>
            <a:ext cx="55670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5" dirty="0">
                <a:latin typeface="Perpetua"/>
                <a:cs typeface="Perpetua"/>
              </a:rPr>
              <a:t>Negation </a:t>
            </a:r>
            <a:r>
              <a:rPr sz="4400" i="0" dirty="0">
                <a:latin typeface="Perpetua"/>
                <a:cs typeface="Perpetua"/>
              </a:rPr>
              <a:t>in </a:t>
            </a:r>
            <a:r>
              <a:rPr sz="4400" i="0" spc="10" dirty="0">
                <a:latin typeface="Perpetua"/>
                <a:cs typeface="Perpetua"/>
              </a:rPr>
              <a:t>Search</a:t>
            </a:r>
            <a:r>
              <a:rPr sz="4400" i="0" spc="-65" dirty="0">
                <a:latin typeface="Perpetua"/>
                <a:cs typeface="Perpetua"/>
              </a:rPr>
              <a:t> </a:t>
            </a:r>
            <a:r>
              <a:rPr sz="4400" i="0" spc="10" dirty="0">
                <a:latin typeface="Perpetua"/>
                <a:cs typeface="Perpetua"/>
              </a:rPr>
              <a:t>Queries</a:t>
            </a:r>
            <a:endParaRPr sz="44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04569"/>
            <a:ext cx="8544560" cy="472821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19685" indent="-274320" algn="just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Perhaps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dirty="0">
                <a:latin typeface="Perpetua"/>
                <a:cs typeface="Perpetua"/>
              </a:rPr>
              <a:t>query </a:t>
            </a:r>
            <a:r>
              <a:rPr sz="2600" spc="-5" dirty="0">
                <a:latin typeface="Perpetua"/>
                <a:cs typeface="Perpetua"/>
              </a:rPr>
              <a:t>“</a:t>
            </a:r>
            <a:r>
              <a:rPr sz="2600" i="1" spc="-5" dirty="0">
                <a:latin typeface="Perpetua"/>
                <a:cs typeface="Perpetua"/>
              </a:rPr>
              <a:t>Hannah </a:t>
            </a:r>
            <a:r>
              <a:rPr sz="2600" dirty="0">
                <a:latin typeface="Perpetua"/>
                <a:cs typeface="Perpetua"/>
              </a:rPr>
              <a:t>AND </a:t>
            </a:r>
            <a:r>
              <a:rPr sz="2600" spc="-5" dirty="0">
                <a:latin typeface="Perpetua"/>
                <a:cs typeface="Perpetua"/>
              </a:rPr>
              <a:t>(</a:t>
            </a:r>
            <a:r>
              <a:rPr sz="2600" i="1" spc="-5" dirty="0">
                <a:latin typeface="Perpetua"/>
                <a:cs typeface="Perpetua"/>
              </a:rPr>
              <a:t>Garcia </a:t>
            </a:r>
            <a:r>
              <a:rPr sz="2600" dirty="0">
                <a:latin typeface="Perpetua"/>
                <a:cs typeface="Perpetua"/>
              </a:rPr>
              <a:t>OR </a:t>
            </a:r>
            <a:r>
              <a:rPr sz="2600" i="1" dirty="0">
                <a:latin typeface="Perpetua"/>
                <a:cs typeface="Perpetua"/>
              </a:rPr>
              <a:t>Mason</a:t>
            </a:r>
            <a:r>
              <a:rPr sz="2600" dirty="0">
                <a:latin typeface="Perpetua"/>
                <a:cs typeface="Perpetua"/>
              </a:rPr>
              <a:t>)” </a:t>
            </a:r>
            <a:r>
              <a:rPr sz="2600" spc="5" dirty="0">
                <a:latin typeface="Perpetua"/>
                <a:cs typeface="Perpetua"/>
              </a:rPr>
              <a:t>returns  </a:t>
            </a:r>
            <a:r>
              <a:rPr sz="2600" spc="-20" dirty="0">
                <a:latin typeface="Perpetua"/>
                <a:cs typeface="Perpetua"/>
              </a:rPr>
              <a:t>many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spc="-5" dirty="0">
                <a:latin typeface="Perpetua"/>
                <a:cs typeface="Perpetua"/>
              </a:rPr>
              <a:t>pages </a:t>
            </a:r>
            <a:r>
              <a:rPr sz="2600" spc="-10" dirty="0">
                <a:latin typeface="Perpetua"/>
                <a:cs typeface="Perpetua"/>
              </a:rPr>
              <a:t>related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20" dirty="0">
                <a:latin typeface="Perpetua"/>
                <a:cs typeface="Perpetua"/>
              </a:rPr>
              <a:t>well-known </a:t>
            </a:r>
            <a:r>
              <a:rPr sz="2600" spc="-5" dirty="0">
                <a:latin typeface="Perpetua"/>
                <a:cs typeface="Perpetua"/>
              </a:rPr>
              <a:t>soccer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55" dirty="0">
                <a:latin typeface="Perpetua"/>
                <a:cs typeface="Perpetua"/>
              </a:rPr>
              <a:t>player.</a:t>
            </a:r>
            <a:endParaRPr sz="2600">
              <a:latin typeface="Perpetua"/>
              <a:cs typeface="Perpetua"/>
            </a:endParaRPr>
          </a:p>
          <a:p>
            <a:pPr marL="286385" marR="20955" indent="-274320" algn="just">
              <a:lnSpc>
                <a:spcPts val="281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10" dirty="0">
                <a:latin typeface="Perpetua"/>
                <a:cs typeface="Perpetua"/>
              </a:rPr>
              <a:t>certain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dirty="0">
                <a:latin typeface="Perpetua"/>
                <a:cs typeface="Perpetua"/>
              </a:rPr>
              <a:t>high school </a:t>
            </a:r>
            <a:r>
              <a:rPr sz="2600" spc="-5" dirty="0">
                <a:latin typeface="Perpetua"/>
                <a:cs typeface="Perpetua"/>
              </a:rPr>
              <a:t>classmate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soccer </a:t>
            </a:r>
            <a:r>
              <a:rPr sz="2600" spc="-25" dirty="0">
                <a:latin typeface="Perpetua"/>
                <a:cs typeface="Perpetua"/>
              </a:rPr>
              <a:t>player 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therefore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attempt to </a:t>
            </a:r>
            <a:r>
              <a:rPr sz="2600" spc="5" dirty="0">
                <a:latin typeface="Perpetua"/>
                <a:cs typeface="Perpetua"/>
              </a:rPr>
              <a:t>construct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dirty="0">
                <a:latin typeface="Perpetua"/>
                <a:cs typeface="Perpetua"/>
              </a:rPr>
              <a:t>query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i="1" spc="-15" dirty="0">
                <a:latin typeface="Perpetua"/>
                <a:cs typeface="Perpetua"/>
              </a:rPr>
              <a:t>prevents  </a:t>
            </a:r>
            <a:r>
              <a:rPr sz="2600" i="1" spc="-5" dirty="0">
                <a:latin typeface="Perpetua"/>
                <a:cs typeface="Perpetua"/>
              </a:rPr>
              <a:t>soccer-related </a:t>
            </a:r>
            <a:r>
              <a:rPr sz="2600" i="1" spc="-20" dirty="0">
                <a:latin typeface="Perpetua"/>
                <a:cs typeface="Perpetua"/>
              </a:rPr>
              <a:t>pages </a:t>
            </a:r>
            <a:r>
              <a:rPr sz="2600" spc="-5" dirty="0">
                <a:latin typeface="Perpetua"/>
                <a:cs typeface="Perpetua"/>
              </a:rPr>
              <a:t>from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appearing.</a:t>
            </a:r>
            <a:endParaRPr sz="2600">
              <a:latin typeface="Perpetua"/>
              <a:cs typeface="Perpetua"/>
            </a:endParaRPr>
          </a:p>
          <a:p>
            <a:pPr marL="286385" marR="20955" indent="-274320" algn="just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Search </a:t>
            </a:r>
            <a:r>
              <a:rPr sz="2600" spc="5" dirty="0">
                <a:latin typeface="Perpetua"/>
                <a:cs typeface="Perpetua"/>
              </a:rPr>
              <a:t>engines </a:t>
            </a:r>
            <a:r>
              <a:rPr sz="2600" spc="-10" dirty="0">
                <a:latin typeface="Perpetua"/>
                <a:cs typeface="Perpetua"/>
              </a:rPr>
              <a:t>use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35" dirty="0">
                <a:latin typeface="Perpetua"/>
                <a:cs typeface="Perpetua"/>
              </a:rPr>
              <a:t>NOT </a:t>
            </a:r>
            <a:r>
              <a:rPr sz="2600" spc="-5" dirty="0">
                <a:latin typeface="Perpetua"/>
                <a:cs typeface="Perpetua"/>
              </a:rPr>
              <a:t>operator to exclude pages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contain  </a:t>
            </a:r>
            <a:r>
              <a:rPr sz="2600" spc="10" dirty="0">
                <a:latin typeface="Perpetua"/>
                <a:cs typeface="Perpetua"/>
              </a:rPr>
              <a:t>certain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words.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24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00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-10" dirty="0">
                <a:latin typeface="Perpetua"/>
                <a:cs typeface="Perpetua"/>
              </a:rPr>
              <a:t>therefore </a:t>
            </a:r>
            <a:r>
              <a:rPr sz="2600" dirty="0">
                <a:latin typeface="Perpetua"/>
                <a:cs typeface="Perpetua"/>
              </a:rPr>
              <a:t>construct the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-2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query:</a:t>
            </a:r>
            <a:endParaRPr sz="2600">
              <a:latin typeface="Perpetua"/>
              <a:cs typeface="Perpetua"/>
            </a:endParaRPr>
          </a:p>
          <a:p>
            <a:pPr marL="561340" lvl="1" indent="-274955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“</a:t>
            </a:r>
            <a:r>
              <a:rPr sz="2600" i="1" spc="-5" dirty="0">
                <a:latin typeface="Perpetua"/>
                <a:cs typeface="Perpetua"/>
              </a:rPr>
              <a:t>Hannah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(</a:t>
            </a:r>
            <a:r>
              <a:rPr sz="2600" i="1" dirty="0">
                <a:latin typeface="Perpetua"/>
                <a:cs typeface="Perpetua"/>
              </a:rPr>
              <a:t>Garcia </a:t>
            </a:r>
            <a:r>
              <a:rPr sz="2600" dirty="0">
                <a:latin typeface="Perpetua"/>
                <a:cs typeface="Perpetua"/>
              </a:rPr>
              <a:t>OR </a:t>
            </a:r>
            <a:r>
              <a:rPr sz="2600" i="1" spc="-5" dirty="0">
                <a:latin typeface="Perpetua"/>
                <a:cs typeface="Perpetua"/>
              </a:rPr>
              <a:t>Mason</a:t>
            </a:r>
            <a:r>
              <a:rPr sz="2600" spc="-5" dirty="0">
                <a:latin typeface="Perpetua"/>
                <a:cs typeface="Perpetua"/>
              </a:rPr>
              <a:t>) AND </a:t>
            </a:r>
            <a:r>
              <a:rPr sz="2600" spc="-35" dirty="0">
                <a:latin typeface="Perpetua"/>
                <a:cs typeface="Perpetua"/>
              </a:rPr>
              <a:t>NOT</a:t>
            </a:r>
            <a:r>
              <a:rPr sz="2600" spc="-37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soccer</a:t>
            </a:r>
            <a:r>
              <a:rPr sz="2600" spc="-5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9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query will find </a:t>
            </a:r>
            <a:r>
              <a:rPr sz="2600" spc="-5" dirty="0">
                <a:latin typeface="Perpetua"/>
                <a:cs typeface="Perpetua"/>
              </a:rPr>
              <a:t>all pages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contain </a:t>
            </a:r>
            <a:r>
              <a:rPr sz="2600" dirty="0">
                <a:latin typeface="Perpetua"/>
                <a:cs typeface="Perpetua"/>
              </a:rPr>
              <a:t>either the </a:t>
            </a:r>
            <a:r>
              <a:rPr sz="2600" spc="-20" dirty="0">
                <a:latin typeface="Perpetua"/>
                <a:cs typeface="Perpetua"/>
              </a:rPr>
              <a:t>words </a:t>
            </a:r>
            <a:r>
              <a:rPr sz="2600" spc="-5" dirty="0">
                <a:latin typeface="Perpetua"/>
                <a:cs typeface="Perpetua"/>
              </a:rPr>
              <a:t>“</a:t>
            </a:r>
            <a:r>
              <a:rPr sz="2600" i="1" spc="-5" dirty="0">
                <a:latin typeface="Perpetua"/>
                <a:cs typeface="Perpetua"/>
              </a:rPr>
              <a:t>Hannah</a:t>
            </a:r>
            <a:r>
              <a:rPr sz="2600" spc="-5" dirty="0">
                <a:latin typeface="Perpetua"/>
                <a:cs typeface="Perpetua"/>
              </a:rPr>
              <a:t>”  and “</a:t>
            </a:r>
            <a:r>
              <a:rPr sz="2600" i="1" spc="-5" dirty="0">
                <a:latin typeface="Perpetua"/>
                <a:cs typeface="Perpetua"/>
              </a:rPr>
              <a:t>Garcia</a:t>
            </a:r>
            <a:r>
              <a:rPr sz="2600" spc="-5" dirty="0">
                <a:latin typeface="Perpetua"/>
                <a:cs typeface="Perpetua"/>
              </a:rPr>
              <a:t>” 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0" dirty="0">
                <a:latin typeface="Perpetua"/>
                <a:cs typeface="Perpetua"/>
              </a:rPr>
              <a:t>words </a:t>
            </a:r>
            <a:r>
              <a:rPr sz="2600" spc="-5" dirty="0">
                <a:latin typeface="Perpetua"/>
                <a:cs typeface="Perpetua"/>
              </a:rPr>
              <a:t>“</a:t>
            </a:r>
            <a:r>
              <a:rPr sz="2600" i="1" spc="-5" dirty="0">
                <a:latin typeface="Perpetua"/>
                <a:cs typeface="Perpetua"/>
              </a:rPr>
              <a:t>Hannah</a:t>
            </a:r>
            <a:r>
              <a:rPr sz="2600" spc="-5" dirty="0">
                <a:latin typeface="Perpetua"/>
                <a:cs typeface="Perpetua"/>
              </a:rPr>
              <a:t>” and </a:t>
            </a:r>
            <a:r>
              <a:rPr sz="2600" spc="-30" dirty="0">
                <a:latin typeface="Perpetua"/>
                <a:cs typeface="Perpetua"/>
              </a:rPr>
              <a:t>“</a:t>
            </a:r>
            <a:r>
              <a:rPr sz="2600" i="1" spc="-30" dirty="0">
                <a:latin typeface="Perpetua"/>
                <a:cs typeface="Perpetua"/>
              </a:rPr>
              <a:t>Mason</a:t>
            </a:r>
            <a:r>
              <a:rPr sz="2600" spc="-30" dirty="0">
                <a:latin typeface="Perpetua"/>
                <a:cs typeface="Perpetua"/>
              </a:rPr>
              <a:t>,” </a:t>
            </a:r>
            <a:r>
              <a:rPr sz="2600" dirty="0">
                <a:latin typeface="Perpetua"/>
                <a:cs typeface="Perpetua"/>
              </a:rPr>
              <a:t>while </a:t>
            </a:r>
            <a:r>
              <a:rPr sz="2600" spc="-15" dirty="0">
                <a:latin typeface="Perpetua"/>
                <a:cs typeface="Perpetua"/>
              </a:rPr>
              <a:t>preventing </a:t>
            </a:r>
            <a:r>
              <a:rPr sz="2600" spc="-20" dirty="0">
                <a:latin typeface="Perpetua"/>
                <a:cs typeface="Perpetua"/>
              </a:rPr>
              <a:t>any 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spc="-5" dirty="0">
                <a:latin typeface="Perpetua"/>
                <a:cs typeface="Perpetua"/>
              </a:rPr>
              <a:t>page containing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5" dirty="0">
                <a:latin typeface="Perpetua"/>
                <a:cs typeface="Perpetua"/>
              </a:rPr>
              <a:t>word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“</a:t>
            </a:r>
            <a:r>
              <a:rPr sz="2600" i="1" spc="-25" dirty="0">
                <a:latin typeface="Perpetua"/>
                <a:cs typeface="Perpetua"/>
              </a:rPr>
              <a:t>soccer</a:t>
            </a:r>
            <a:r>
              <a:rPr sz="2600" spc="-25" dirty="0">
                <a:latin typeface="Perpetua"/>
                <a:cs typeface="Perpetua"/>
              </a:rPr>
              <a:t>.”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62800" y="228600"/>
            <a:ext cx="1638300" cy="1341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86486"/>
            <a:ext cx="1457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Note…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433525"/>
            <a:ext cx="8226425" cy="4218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marR="5080" indent="-273685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</a:tabLst>
            </a:pPr>
            <a:r>
              <a:rPr sz="2600" spc="-5" dirty="0">
                <a:latin typeface="Perpetua"/>
                <a:cs typeface="Perpetua"/>
              </a:rPr>
              <a:t>Negation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expressed </a:t>
            </a:r>
            <a:r>
              <a:rPr sz="2600" dirty="0">
                <a:latin typeface="Perpetua"/>
                <a:cs typeface="Perpetua"/>
              </a:rPr>
              <a:t>in some search </a:t>
            </a:r>
            <a:r>
              <a:rPr sz="2600" spc="5" dirty="0">
                <a:latin typeface="Perpetua"/>
                <a:cs typeface="Perpetua"/>
              </a:rPr>
              <a:t>engines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 dash </a:t>
            </a:r>
            <a:r>
              <a:rPr sz="2600" spc="-5" dirty="0">
                <a:latin typeface="Perpetua"/>
                <a:cs typeface="Perpetua"/>
              </a:rPr>
              <a:t>(–)  </a:t>
            </a:r>
            <a:r>
              <a:rPr sz="2600" spc="-10" dirty="0">
                <a:latin typeface="Perpetua"/>
                <a:cs typeface="Perpetua"/>
              </a:rPr>
              <a:t>immediately </a:t>
            </a:r>
            <a:r>
              <a:rPr sz="2600" spc="-5" dirty="0">
                <a:latin typeface="Perpetua"/>
                <a:cs typeface="Perpetua"/>
              </a:rPr>
              <a:t>preceding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5" dirty="0">
                <a:latin typeface="Perpetua"/>
                <a:cs typeface="Perpetua"/>
              </a:rPr>
              <a:t>word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should be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excluded.</a:t>
            </a:r>
            <a:endParaRPr sz="2600">
              <a:latin typeface="Perpetua"/>
              <a:cs typeface="Perpetua"/>
            </a:endParaRPr>
          </a:p>
          <a:p>
            <a:pPr marL="285750" marR="5715" indent="-273685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15" dirty="0">
                <a:latin typeface="Perpetua"/>
                <a:cs typeface="Perpetua"/>
              </a:rPr>
              <a:t>case, </a:t>
            </a:r>
            <a:r>
              <a:rPr sz="2600" dirty="0">
                <a:latin typeface="Perpetua"/>
                <a:cs typeface="Perpetua"/>
              </a:rPr>
              <a:t>the search query </a:t>
            </a:r>
            <a:r>
              <a:rPr sz="2600" spc="-5" dirty="0">
                <a:latin typeface="Perpetua"/>
                <a:cs typeface="Perpetua"/>
              </a:rPr>
              <a:t>“</a:t>
            </a:r>
            <a:r>
              <a:rPr sz="2600" i="1" spc="-5" dirty="0">
                <a:latin typeface="Perpetua"/>
                <a:cs typeface="Perpetua"/>
              </a:rPr>
              <a:t>Hannah </a:t>
            </a:r>
            <a:r>
              <a:rPr sz="2600" spc="-5" dirty="0">
                <a:latin typeface="Perpetua"/>
                <a:cs typeface="Perpetua"/>
              </a:rPr>
              <a:t>AND (</a:t>
            </a:r>
            <a:r>
              <a:rPr sz="2600" i="1" spc="-5" dirty="0">
                <a:latin typeface="Perpetua"/>
                <a:cs typeface="Perpetua"/>
              </a:rPr>
              <a:t>Garcia </a:t>
            </a:r>
            <a:r>
              <a:rPr sz="2600" dirty="0">
                <a:latin typeface="Perpetua"/>
                <a:cs typeface="Perpetua"/>
              </a:rPr>
              <a:t>OR </a:t>
            </a:r>
            <a:r>
              <a:rPr sz="2600" i="1" spc="-5" dirty="0">
                <a:latin typeface="Perpetua"/>
                <a:cs typeface="Perpetua"/>
              </a:rPr>
              <a:t>Mason</a:t>
            </a:r>
            <a:r>
              <a:rPr sz="2600" spc="-5" dirty="0">
                <a:latin typeface="Perpetua"/>
                <a:cs typeface="Perpetua"/>
              </a:rPr>
              <a:t>) </a:t>
            </a:r>
            <a:r>
              <a:rPr sz="2600" spc="5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 </a:t>
            </a:r>
            <a:r>
              <a:rPr sz="2600" spc="-30" dirty="0">
                <a:latin typeface="Perpetua"/>
                <a:cs typeface="Perpetua"/>
              </a:rPr>
              <a:t>NOT </a:t>
            </a:r>
            <a:r>
              <a:rPr sz="2600" spc="-5" dirty="0">
                <a:latin typeface="Perpetua"/>
                <a:cs typeface="Perpetua"/>
              </a:rPr>
              <a:t>s</a:t>
            </a:r>
            <a:r>
              <a:rPr sz="2600" i="1" spc="-5" dirty="0">
                <a:latin typeface="Perpetua"/>
                <a:cs typeface="Perpetua"/>
              </a:rPr>
              <a:t>occer</a:t>
            </a:r>
            <a:r>
              <a:rPr sz="2600" spc="-5" dirty="0">
                <a:latin typeface="Perpetua"/>
                <a:cs typeface="Perpetua"/>
              </a:rPr>
              <a:t>”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expressed as “</a:t>
            </a:r>
            <a:r>
              <a:rPr sz="2600" i="1" spc="-5" dirty="0">
                <a:latin typeface="Perpetua"/>
                <a:cs typeface="Perpetua"/>
              </a:rPr>
              <a:t>Hannah </a:t>
            </a:r>
            <a:r>
              <a:rPr sz="2600" dirty="0">
                <a:latin typeface="Perpetua"/>
                <a:cs typeface="Perpetua"/>
              </a:rPr>
              <a:t>AND (</a:t>
            </a:r>
            <a:r>
              <a:rPr sz="2600" i="1" dirty="0">
                <a:latin typeface="Perpetua"/>
                <a:cs typeface="Perpetua"/>
              </a:rPr>
              <a:t>Garcia  </a:t>
            </a:r>
            <a:r>
              <a:rPr sz="2600" dirty="0">
                <a:latin typeface="Perpetua"/>
                <a:cs typeface="Perpetua"/>
              </a:rPr>
              <a:t>OR </a:t>
            </a:r>
            <a:r>
              <a:rPr sz="2600" i="1" spc="-5" dirty="0">
                <a:latin typeface="Perpetua"/>
                <a:cs typeface="Perpetua"/>
              </a:rPr>
              <a:t>Mason</a:t>
            </a:r>
            <a:r>
              <a:rPr sz="2600" spc="-5" dirty="0">
                <a:latin typeface="Perpetua"/>
                <a:cs typeface="Perpetua"/>
              </a:rPr>
              <a:t>)</a:t>
            </a:r>
            <a:r>
              <a:rPr sz="2600" spc="-1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AND–</a:t>
            </a:r>
            <a:r>
              <a:rPr sz="2600" i="1" dirty="0">
                <a:latin typeface="Perpetua"/>
                <a:cs typeface="Perpetua"/>
              </a:rPr>
              <a:t>soccer</a:t>
            </a:r>
            <a:r>
              <a:rPr sz="2600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285750" marR="7620" indent="-273685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</a:tabLst>
            </a:pPr>
            <a:r>
              <a:rPr sz="2600" spc="-5" dirty="0">
                <a:latin typeface="Perpetua"/>
                <a:cs typeface="Perpetua"/>
              </a:rPr>
              <a:t>Also note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most </a:t>
            </a:r>
            <a:r>
              <a:rPr sz="2600" spc="5" dirty="0">
                <a:latin typeface="Perpetua"/>
                <a:cs typeface="Perpetua"/>
              </a:rPr>
              <a:t>search engines </a:t>
            </a:r>
            <a:r>
              <a:rPr sz="2600" spc="-10" dirty="0">
                <a:latin typeface="Perpetua"/>
                <a:cs typeface="Perpetua"/>
              </a:rPr>
              <a:t>require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logical </a:t>
            </a:r>
            <a:r>
              <a:rPr sz="2600" dirty="0">
                <a:latin typeface="Perpetua"/>
                <a:cs typeface="Perpetua"/>
              </a:rPr>
              <a:t>operators </a:t>
            </a:r>
            <a:r>
              <a:rPr sz="2600" spc="-5" dirty="0">
                <a:latin typeface="Perpetua"/>
                <a:cs typeface="Perpetua"/>
              </a:rPr>
              <a:t>to  be entered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all capital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letters.</a:t>
            </a:r>
            <a:endParaRPr sz="2600">
              <a:latin typeface="Perpetua"/>
              <a:cs typeface="Perpetua"/>
            </a:endParaRPr>
          </a:p>
          <a:p>
            <a:pPr marL="285750" marR="5715" indent="-273685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5" dirty="0">
                <a:latin typeface="Perpetua"/>
                <a:cs typeface="Perpetua"/>
              </a:rPr>
              <a:t>word </a:t>
            </a:r>
            <a:r>
              <a:rPr sz="2600" dirty="0">
                <a:latin typeface="Perpetua"/>
                <a:cs typeface="Perpetua"/>
              </a:rPr>
              <a:t>is typed in </a:t>
            </a:r>
            <a:r>
              <a:rPr sz="2600" spc="-25" dirty="0">
                <a:latin typeface="Perpetua"/>
                <a:cs typeface="Perpetua"/>
              </a:rPr>
              <a:t>lowercase,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search engine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15" dirty="0">
                <a:latin typeface="Perpetua"/>
                <a:cs typeface="Perpetua"/>
              </a:rPr>
              <a:t>likely  </a:t>
            </a:r>
            <a:r>
              <a:rPr sz="2600" spc="5" dirty="0">
                <a:latin typeface="Perpetua"/>
                <a:cs typeface="Perpetua"/>
              </a:rPr>
              <a:t>return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dirty="0">
                <a:latin typeface="Perpetua"/>
                <a:cs typeface="Perpetua"/>
              </a:rPr>
              <a:t>pages </a:t>
            </a:r>
            <a:r>
              <a:rPr sz="2600" spc="-10" dirty="0">
                <a:latin typeface="Perpetua"/>
                <a:cs typeface="Perpetua"/>
              </a:rPr>
              <a:t>related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5" dirty="0">
                <a:latin typeface="Perpetua"/>
                <a:cs typeface="Perpetua"/>
              </a:rPr>
              <a:t>word </a:t>
            </a:r>
            <a:r>
              <a:rPr sz="2600" spc="-35" dirty="0">
                <a:latin typeface="Perpetua"/>
                <a:cs typeface="Perpetua"/>
              </a:rPr>
              <a:t>“</a:t>
            </a:r>
            <a:r>
              <a:rPr sz="2600" i="1" spc="-35" dirty="0">
                <a:latin typeface="Perpetua"/>
                <a:cs typeface="Perpetua"/>
              </a:rPr>
              <a:t>and</a:t>
            </a:r>
            <a:r>
              <a:rPr sz="2600" spc="-35" dirty="0">
                <a:latin typeface="Perpetua"/>
                <a:cs typeface="Perpetua"/>
              </a:rPr>
              <a:t>,”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spc="-5" dirty="0">
                <a:latin typeface="Perpetua"/>
                <a:cs typeface="Perpetua"/>
              </a:rPr>
              <a:t>rather  </a:t>
            </a:r>
            <a:r>
              <a:rPr sz="2600" dirty="0">
                <a:latin typeface="Perpetua"/>
                <a:cs typeface="Perpetua"/>
              </a:rPr>
              <a:t>than interpreting </a:t>
            </a:r>
            <a:r>
              <a:rPr sz="2600" spc="-5" dirty="0">
                <a:latin typeface="Perpetua"/>
                <a:cs typeface="Perpetua"/>
              </a:rPr>
              <a:t>AND as an</a:t>
            </a:r>
            <a:r>
              <a:rPr sz="2600" spc="-18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operator!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4640" y="241037"/>
            <a:ext cx="889518" cy="1131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883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2. </a:t>
            </a:r>
            <a:r>
              <a:rPr i="0" spc="10" dirty="0">
                <a:latin typeface="Perpetua"/>
                <a:cs typeface="Perpetua"/>
              </a:rPr>
              <a:t>Digital</a:t>
            </a:r>
            <a:r>
              <a:rPr i="0" spc="-225" dirty="0">
                <a:latin typeface="Perpetua"/>
                <a:cs typeface="Perpetua"/>
              </a:rPr>
              <a:t> </a:t>
            </a:r>
            <a:r>
              <a:rPr i="0" spc="10" dirty="0">
                <a:latin typeface="Perpetua"/>
                <a:cs typeface="Perpetua"/>
              </a:rPr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531225" cy="437070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5115" indent="-273050" algn="just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i="1" dirty="0">
                <a:latin typeface="Perpetua"/>
                <a:cs typeface="Perpetua"/>
              </a:rPr>
              <a:t>Digital </a:t>
            </a:r>
            <a:r>
              <a:rPr sz="2600" i="1" spc="-5" dirty="0">
                <a:latin typeface="Perpetua"/>
                <a:cs typeface="Perpetua"/>
              </a:rPr>
              <a:t>circuits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physical </a:t>
            </a:r>
            <a:r>
              <a:rPr sz="2600" spc="-5" dirty="0">
                <a:latin typeface="Perpetua"/>
                <a:cs typeface="Perpetua"/>
              </a:rPr>
              <a:t>components of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computing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system.</a:t>
            </a:r>
            <a:endParaRPr sz="2600">
              <a:latin typeface="Perpetua"/>
              <a:cs typeface="Perpetua"/>
            </a:endParaRPr>
          </a:p>
          <a:p>
            <a:pPr marL="285115" marR="6350" indent="-27305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digital </a:t>
            </a:r>
            <a:r>
              <a:rPr sz="2600" dirty="0">
                <a:latin typeface="Perpetua"/>
                <a:cs typeface="Perpetua"/>
              </a:rPr>
              <a:t>circuit is </a:t>
            </a:r>
            <a:r>
              <a:rPr sz="2600" spc="-5" dirty="0">
                <a:latin typeface="Perpetua"/>
                <a:cs typeface="Perpetua"/>
              </a:rPr>
              <a:t>an </a:t>
            </a:r>
            <a:r>
              <a:rPr sz="2600" i="1" spc="-5" dirty="0">
                <a:latin typeface="Perpetua"/>
                <a:cs typeface="Perpetua"/>
              </a:rPr>
              <a:t>electronic </a:t>
            </a:r>
            <a:r>
              <a:rPr sz="2600" i="1" dirty="0">
                <a:latin typeface="Perpetua"/>
                <a:cs typeface="Perpetua"/>
              </a:rPr>
              <a:t>system </a:t>
            </a:r>
            <a:r>
              <a:rPr sz="2600" spc="-10" dirty="0">
                <a:latin typeface="Perpetua"/>
                <a:cs typeface="Perpetua"/>
              </a:rPr>
              <a:t>that enables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computer </a:t>
            </a:r>
            <a:r>
              <a:rPr sz="2600" spc="-20" dirty="0">
                <a:latin typeface="Perpetua"/>
                <a:cs typeface="Perpetua"/>
              </a:rPr>
              <a:t>to  </a:t>
            </a:r>
            <a:r>
              <a:rPr sz="2600" spc="5" dirty="0">
                <a:latin typeface="Perpetua"/>
                <a:cs typeface="Perpetua"/>
              </a:rPr>
              <a:t>perform arithmetic </a:t>
            </a:r>
            <a:r>
              <a:rPr sz="2600" spc="-5" dirty="0">
                <a:latin typeface="Perpetua"/>
                <a:cs typeface="Perpetua"/>
              </a:rPr>
              <a:t>operations </a:t>
            </a:r>
            <a:r>
              <a:rPr sz="2600" spc="10" dirty="0">
                <a:latin typeface="Perpetua"/>
                <a:cs typeface="Perpetua"/>
              </a:rPr>
              <a:t>such </a:t>
            </a:r>
            <a:r>
              <a:rPr sz="2600" spc="-5" dirty="0">
                <a:latin typeface="Perpetua"/>
                <a:cs typeface="Perpetua"/>
              </a:rPr>
              <a:t>as addition and multiplication  among </a:t>
            </a:r>
            <a:r>
              <a:rPr sz="2600" spc="-20" dirty="0">
                <a:latin typeface="Perpetua"/>
                <a:cs typeface="Perpetua"/>
              </a:rPr>
              <a:t>many </a:t>
            </a:r>
            <a:r>
              <a:rPr sz="2600" spc="-5" dirty="0">
                <a:latin typeface="Perpetua"/>
                <a:cs typeface="Perpetua"/>
              </a:rPr>
              <a:t>other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operations.</a:t>
            </a:r>
            <a:endParaRPr sz="2600">
              <a:latin typeface="Perpetua"/>
              <a:cs typeface="Perpetua"/>
            </a:endParaRPr>
          </a:p>
          <a:p>
            <a:pPr marL="285115" indent="-27305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These </a:t>
            </a:r>
            <a:r>
              <a:rPr sz="2600" spc="5" dirty="0">
                <a:latin typeface="Perpetua"/>
                <a:cs typeface="Perpetua"/>
              </a:rPr>
              <a:t>digital </a:t>
            </a:r>
            <a:r>
              <a:rPr sz="2600" dirty="0">
                <a:latin typeface="Perpetua"/>
                <a:cs typeface="Perpetua"/>
              </a:rPr>
              <a:t>circuits </a:t>
            </a:r>
            <a:r>
              <a:rPr sz="2600" spc="-10" dirty="0">
                <a:latin typeface="Perpetua"/>
                <a:cs typeface="Perpetua"/>
              </a:rPr>
              <a:t>are typically </a:t>
            </a:r>
            <a:r>
              <a:rPr sz="2600" dirty="0">
                <a:latin typeface="Perpetua"/>
                <a:cs typeface="Perpetua"/>
              </a:rPr>
              <a:t>constructed </a:t>
            </a:r>
            <a:r>
              <a:rPr sz="2600" spc="-20" dirty="0">
                <a:latin typeface="Perpetua"/>
                <a:cs typeface="Perpetua"/>
              </a:rPr>
              <a:t>by </a:t>
            </a:r>
            <a:r>
              <a:rPr sz="2600" i="1" dirty="0">
                <a:latin typeface="Perpetua"/>
                <a:cs typeface="Perpetua"/>
              </a:rPr>
              <a:t>combining </a:t>
            </a:r>
            <a:r>
              <a:rPr sz="2600" i="1" spc="-10" dirty="0">
                <a:latin typeface="Perpetua"/>
                <a:cs typeface="Perpetua"/>
              </a:rPr>
              <a:t>logic</a:t>
            </a:r>
            <a:r>
              <a:rPr sz="2600" i="1" spc="8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gates</a:t>
            </a:r>
            <a:endParaRPr sz="2600">
              <a:latin typeface="Perpetua"/>
              <a:cs typeface="Perpetua"/>
            </a:endParaRPr>
          </a:p>
          <a:p>
            <a:pPr marL="285115" algn="just">
              <a:lnSpc>
                <a:spcPct val="100000"/>
              </a:lnSpc>
            </a:pPr>
            <a:r>
              <a:rPr sz="2600" dirty="0">
                <a:latin typeface="Perpetua"/>
                <a:cs typeface="Perpetua"/>
              </a:rPr>
              <a:t>in various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ways.</a:t>
            </a:r>
            <a:endParaRPr sz="2600">
              <a:latin typeface="Perpetua"/>
              <a:cs typeface="Perpetua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logic </a:t>
            </a:r>
            <a:r>
              <a:rPr sz="2600" i="1" spc="-20" dirty="0">
                <a:latin typeface="Perpetua"/>
                <a:cs typeface="Perpetua"/>
              </a:rPr>
              <a:t>gate </a:t>
            </a:r>
            <a:r>
              <a:rPr sz="2600" dirty="0">
                <a:latin typeface="Perpetua"/>
                <a:cs typeface="Perpetua"/>
              </a:rPr>
              <a:t>is an </a:t>
            </a:r>
            <a:r>
              <a:rPr sz="2600" spc="-5" dirty="0">
                <a:latin typeface="Perpetua"/>
                <a:cs typeface="Perpetua"/>
              </a:rPr>
              <a:t>electronic </a:t>
            </a:r>
            <a:r>
              <a:rPr sz="2600" spc="-10" dirty="0">
                <a:latin typeface="Perpetua"/>
                <a:cs typeface="Perpetua"/>
              </a:rPr>
              <a:t>device that </a:t>
            </a:r>
            <a:r>
              <a:rPr sz="2600" dirty="0">
                <a:latin typeface="Perpetua"/>
                <a:cs typeface="Perpetua"/>
              </a:rPr>
              <a:t>implements a </a:t>
            </a:r>
            <a:r>
              <a:rPr sz="2600" spc="-5" dirty="0">
                <a:latin typeface="Perpetua"/>
                <a:cs typeface="Perpetua"/>
              </a:rPr>
              <a:t>Boolean  </a:t>
            </a:r>
            <a:r>
              <a:rPr sz="2600" spc="-30" dirty="0">
                <a:latin typeface="Perpetua"/>
                <a:cs typeface="Perpetua"/>
              </a:rPr>
              <a:t>operator.</a:t>
            </a:r>
            <a:endParaRPr sz="2600">
              <a:latin typeface="Perpetua"/>
              <a:cs typeface="Perpetua"/>
            </a:endParaRPr>
          </a:p>
          <a:p>
            <a:pPr marL="285115" marR="5715" indent="-27305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i="1" spc="-5" dirty="0">
                <a:latin typeface="Perpetua"/>
                <a:cs typeface="Perpetua"/>
              </a:rPr>
              <a:t>inputs </a:t>
            </a:r>
            <a:r>
              <a:rPr sz="2600" spc="-5" dirty="0">
                <a:latin typeface="Perpetua"/>
                <a:cs typeface="Perpetua"/>
              </a:rPr>
              <a:t>and produces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dirty="0">
                <a:latin typeface="Perpetua"/>
                <a:cs typeface="Perpetua"/>
              </a:rPr>
              <a:t>single </a:t>
            </a:r>
            <a:r>
              <a:rPr sz="2600" i="1" spc="-5" dirty="0">
                <a:latin typeface="Perpetua"/>
                <a:cs typeface="Perpetua"/>
              </a:rPr>
              <a:t>output </a:t>
            </a:r>
            <a:r>
              <a:rPr sz="2600" dirty="0">
                <a:latin typeface="Perpetua"/>
                <a:cs typeface="Perpetua"/>
              </a:rPr>
              <a:t>corresponding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5" dirty="0">
                <a:latin typeface="Perpetua"/>
                <a:cs typeface="Perpetua"/>
              </a:rPr>
              <a:t>operator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implements.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552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Think</a:t>
            </a:r>
            <a:r>
              <a:rPr i="0" spc="-50" dirty="0">
                <a:latin typeface="Perpetua"/>
                <a:cs typeface="Perpetua"/>
              </a:rPr>
              <a:t> </a:t>
            </a:r>
            <a:r>
              <a:rPr i="0" dirty="0">
                <a:latin typeface="Perpetua"/>
                <a:cs typeface="Perpetua"/>
              </a:rPr>
              <a:t>Binary!</a:t>
            </a:r>
          </a:p>
        </p:txBody>
      </p:sp>
      <p:sp>
        <p:nvSpPr>
          <p:cNvPr id="3" name="object 3"/>
          <p:cNvSpPr/>
          <p:nvPr/>
        </p:nvSpPr>
        <p:spPr>
          <a:xfrm>
            <a:off x="5791689" y="5563279"/>
            <a:ext cx="2896235" cy="1200785"/>
          </a:xfrm>
          <a:custGeom>
            <a:avLst/>
            <a:gdLst/>
            <a:ahLst/>
            <a:cxnLst/>
            <a:rect l="l" t="t" r="r" b="b"/>
            <a:pathLst>
              <a:path w="2896234" h="1200784">
                <a:moveTo>
                  <a:pt x="844822" y="1200233"/>
                </a:moveTo>
                <a:lnTo>
                  <a:pt x="736618" y="998023"/>
                </a:lnTo>
                <a:lnTo>
                  <a:pt x="670630" y="983457"/>
                </a:lnTo>
                <a:lnTo>
                  <a:pt x="607493" y="967815"/>
                </a:lnTo>
                <a:lnTo>
                  <a:pt x="547245" y="951146"/>
                </a:lnTo>
                <a:lnTo>
                  <a:pt x="489923" y="933500"/>
                </a:lnTo>
                <a:lnTo>
                  <a:pt x="435565" y="914928"/>
                </a:lnTo>
                <a:lnTo>
                  <a:pt x="384210" y="895479"/>
                </a:lnTo>
                <a:lnTo>
                  <a:pt x="335895" y="875204"/>
                </a:lnTo>
                <a:lnTo>
                  <a:pt x="290658" y="854154"/>
                </a:lnTo>
                <a:lnTo>
                  <a:pt x="248538" y="832377"/>
                </a:lnTo>
                <a:lnTo>
                  <a:pt x="209572" y="809926"/>
                </a:lnTo>
                <a:lnTo>
                  <a:pt x="173799" y="786849"/>
                </a:lnTo>
                <a:lnTo>
                  <a:pt x="141256" y="763197"/>
                </a:lnTo>
                <a:lnTo>
                  <a:pt x="86012" y="714369"/>
                </a:lnTo>
                <a:lnTo>
                  <a:pt x="44146" y="663844"/>
                </a:lnTo>
                <a:lnTo>
                  <a:pt x="15961" y="612023"/>
                </a:lnTo>
                <a:lnTo>
                  <a:pt x="1760" y="559309"/>
                </a:lnTo>
                <a:lnTo>
                  <a:pt x="0" y="532742"/>
                </a:lnTo>
                <a:lnTo>
                  <a:pt x="1849" y="506102"/>
                </a:lnTo>
                <a:lnTo>
                  <a:pt x="16530" y="452805"/>
                </a:lnTo>
                <a:lnTo>
                  <a:pt x="46107" y="399819"/>
                </a:lnTo>
                <a:lnTo>
                  <a:pt x="90884" y="347547"/>
                </a:lnTo>
                <a:lnTo>
                  <a:pt x="119068" y="321804"/>
                </a:lnTo>
                <a:lnTo>
                  <a:pt x="151166" y="296389"/>
                </a:lnTo>
                <a:lnTo>
                  <a:pt x="187216" y="271354"/>
                </a:lnTo>
                <a:lnTo>
                  <a:pt x="248139" y="235004"/>
                </a:lnTo>
                <a:lnTo>
                  <a:pt x="315588" y="201070"/>
                </a:lnTo>
                <a:lnTo>
                  <a:pt x="351612" y="185024"/>
                </a:lnTo>
                <a:lnTo>
                  <a:pt x="389091" y="169601"/>
                </a:lnTo>
                <a:lnTo>
                  <a:pt x="427966" y="154806"/>
                </a:lnTo>
                <a:lnTo>
                  <a:pt x="468178" y="140646"/>
                </a:lnTo>
                <a:lnTo>
                  <a:pt x="509668" y="127126"/>
                </a:lnTo>
                <a:lnTo>
                  <a:pt x="552376" y="114252"/>
                </a:lnTo>
                <a:lnTo>
                  <a:pt x="596245" y="102032"/>
                </a:lnTo>
                <a:lnTo>
                  <a:pt x="641215" y="90469"/>
                </a:lnTo>
                <a:lnTo>
                  <a:pt x="687227" y="79572"/>
                </a:lnTo>
                <a:lnTo>
                  <a:pt x="734223" y="69345"/>
                </a:lnTo>
                <a:lnTo>
                  <a:pt x="782143" y="59796"/>
                </a:lnTo>
                <a:lnTo>
                  <a:pt x="830929" y="50929"/>
                </a:lnTo>
                <a:lnTo>
                  <a:pt x="880521" y="42751"/>
                </a:lnTo>
                <a:lnTo>
                  <a:pt x="930861" y="35268"/>
                </a:lnTo>
                <a:lnTo>
                  <a:pt x="981889" y="28486"/>
                </a:lnTo>
                <a:lnTo>
                  <a:pt x="1033548" y="22412"/>
                </a:lnTo>
                <a:lnTo>
                  <a:pt x="1085777" y="17050"/>
                </a:lnTo>
                <a:lnTo>
                  <a:pt x="1138519" y="12408"/>
                </a:lnTo>
                <a:lnTo>
                  <a:pt x="1191713" y="8491"/>
                </a:lnTo>
                <a:lnTo>
                  <a:pt x="1245302" y="5306"/>
                </a:lnTo>
                <a:lnTo>
                  <a:pt x="1299226" y="2858"/>
                </a:lnTo>
                <a:lnTo>
                  <a:pt x="1353426" y="1154"/>
                </a:lnTo>
                <a:lnTo>
                  <a:pt x="1407844" y="199"/>
                </a:lnTo>
                <a:lnTo>
                  <a:pt x="1462420" y="0"/>
                </a:lnTo>
                <a:lnTo>
                  <a:pt x="1517096" y="562"/>
                </a:lnTo>
                <a:lnTo>
                  <a:pt x="1571812" y="1892"/>
                </a:lnTo>
                <a:lnTo>
                  <a:pt x="1626510" y="3996"/>
                </a:lnTo>
                <a:lnTo>
                  <a:pt x="1681131" y="6880"/>
                </a:lnTo>
                <a:lnTo>
                  <a:pt x="1735616" y="10550"/>
                </a:lnTo>
                <a:lnTo>
                  <a:pt x="1789906" y="15012"/>
                </a:lnTo>
                <a:lnTo>
                  <a:pt x="1843942" y="20271"/>
                </a:lnTo>
                <a:lnTo>
                  <a:pt x="1897665" y="26335"/>
                </a:lnTo>
                <a:lnTo>
                  <a:pt x="1951016" y="33209"/>
                </a:lnTo>
                <a:lnTo>
                  <a:pt x="2003937" y="40900"/>
                </a:lnTo>
                <a:lnTo>
                  <a:pt x="2056368" y="49412"/>
                </a:lnTo>
                <a:lnTo>
                  <a:pt x="2108251" y="58753"/>
                </a:lnTo>
                <a:lnTo>
                  <a:pt x="2159526" y="68929"/>
                </a:lnTo>
                <a:lnTo>
                  <a:pt x="2225513" y="83495"/>
                </a:lnTo>
                <a:lnTo>
                  <a:pt x="2288651" y="99138"/>
                </a:lnTo>
                <a:lnTo>
                  <a:pt x="2348899" y="115808"/>
                </a:lnTo>
                <a:lnTo>
                  <a:pt x="2406221" y="133455"/>
                </a:lnTo>
                <a:lnTo>
                  <a:pt x="2460579" y="152029"/>
                </a:lnTo>
                <a:lnTo>
                  <a:pt x="2511934" y="171478"/>
                </a:lnTo>
                <a:lnTo>
                  <a:pt x="2560249" y="191754"/>
                </a:lnTo>
                <a:lnTo>
                  <a:pt x="2605486" y="212805"/>
                </a:lnTo>
                <a:lnTo>
                  <a:pt x="2647606" y="234582"/>
                </a:lnTo>
                <a:lnTo>
                  <a:pt x="2686572" y="257034"/>
                </a:lnTo>
                <a:lnTo>
                  <a:pt x="2722345" y="280112"/>
                </a:lnTo>
                <a:lnTo>
                  <a:pt x="2754888" y="303764"/>
                </a:lnTo>
                <a:lnTo>
                  <a:pt x="2810131" y="352593"/>
                </a:lnTo>
                <a:lnTo>
                  <a:pt x="2851998" y="403118"/>
                </a:lnTo>
                <a:lnTo>
                  <a:pt x="2880183" y="454940"/>
                </a:lnTo>
                <a:lnTo>
                  <a:pt x="2894383" y="507655"/>
                </a:lnTo>
                <a:lnTo>
                  <a:pt x="2896144" y="534222"/>
                </a:lnTo>
                <a:lnTo>
                  <a:pt x="2894295" y="560861"/>
                </a:lnTo>
                <a:lnTo>
                  <a:pt x="2879614" y="614159"/>
                </a:lnTo>
                <a:lnTo>
                  <a:pt x="2850037" y="667144"/>
                </a:lnTo>
                <a:lnTo>
                  <a:pt x="2805259" y="719417"/>
                </a:lnTo>
                <a:lnTo>
                  <a:pt x="2777076" y="745160"/>
                </a:lnTo>
                <a:lnTo>
                  <a:pt x="2744978" y="770575"/>
                </a:lnTo>
                <a:lnTo>
                  <a:pt x="2708928" y="795610"/>
                </a:lnTo>
                <a:lnTo>
                  <a:pt x="2647246" y="832352"/>
                </a:lnTo>
                <a:lnTo>
                  <a:pt x="2578496" y="866769"/>
                </a:lnTo>
                <a:lnTo>
                  <a:pt x="2541621" y="883079"/>
                </a:lnTo>
                <a:lnTo>
                  <a:pt x="2503160" y="898774"/>
                </a:lnTo>
                <a:lnTo>
                  <a:pt x="2463174" y="913845"/>
                </a:lnTo>
                <a:lnTo>
                  <a:pt x="2421721" y="928279"/>
                </a:lnTo>
                <a:lnTo>
                  <a:pt x="2378863" y="942065"/>
                </a:lnTo>
                <a:lnTo>
                  <a:pt x="2334659" y="955193"/>
                </a:lnTo>
                <a:lnTo>
                  <a:pt x="2289170" y="967651"/>
                </a:lnTo>
                <a:lnTo>
                  <a:pt x="2242456" y="979429"/>
                </a:lnTo>
                <a:lnTo>
                  <a:pt x="2194577" y="990515"/>
                </a:lnTo>
                <a:lnTo>
                  <a:pt x="2145593" y="1000898"/>
                </a:lnTo>
                <a:lnTo>
                  <a:pt x="2095566" y="1010567"/>
                </a:lnTo>
                <a:lnTo>
                  <a:pt x="2044553" y="1019511"/>
                </a:lnTo>
                <a:lnTo>
                  <a:pt x="1992617" y="1027719"/>
                </a:lnTo>
                <a:lnTo>
                  <a:pt x="1939817" y="1035180"/>
                </a:lnTo>
                <a:lnTo>
                  <a:pt x="1886213" y="1041883"/>
                </a:lnTo>
                <a:lnTo>
                  <a:pt x="1831866" y="1047816"/>
                </a:lnTo>
                <a:lnTo>
                  <a:pt x="1776835" y="1052969"/>
                </a:lnTo>
                <a:lnTo>
                  <a:pt x="1721182" y="1057330"/>
                </a:lnTo>
                <a:lnTo>
                  <a:pt x="1664965" y="1060889"/>
                </a:lnTo>
                <a:lnTo>
                  <a:pt x="1608246" y="1063634"/>
                </a:lnTo>
                <a:lnTo>
                  <a:pt x="1551085" y="1065555"/>
                </a:lnTo>
                <a:lnTo>
                  <a:pt x="1493541" y="1066640"/>
                </a:lnTo>
                <a:lnTo>
                  <a:pt x="1435675" y="1066877"/>
                </a:lnTo>
                <a:lnTo>
                  <a:pt x="1377547" y="1066257"/>
                </a:lnTo>
                <a:lnTo>
                  <a:pt x="1319218" y="1064768"/>
                </a:lnTo>
                <a:lnTo>
                  <a:pt x="1260747" y="1062399"/>
                </a:lnTo>
                <a:lnTo>
                  <a:pt x="844822" y="1200233"/>
                </a:lnTo>
                <a:close/>
              </a:path>
            </a:pathLst>
          </a:custGeom>
          <a:ln w="25907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42659" y="5890259"/>
            <a:ext cx="2392680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29000" y="3505200"/>
            <a:ext cx="3991355" cy="10576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3540" y="1314958"/>
            <a:ext cx="8454390" cy="4829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Let's examine a typical</a:t>
            </a:r>
            <a:r>
              <a:rPr sz="2200" spc="2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situation.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ts val="2375"/>
              </a:lnSpc>
              <a:spcBef>
                <a:spcPts val="7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85" dirty="0">
                <a:latin typeface="Perpetua"/>
                <a:cs typeface="Perpetua"/>
              </a:rPr>
              <a:t>You </a:t>
            </a:r>
            <a:r>
              <a:rPr sz="2200" spc="-35" dirty="0">
                <a:latin typeface="Perpetua"/>
                <a:cs typeface="Perpetua"/>
              </a:rPr>
              <a:t>have </a:t>
            </a:r>
            <a:r>
              <a:rPr sz="2200" spc="-5" dirty="0">
                <a:latin typeface="Perpetua"/>
                <a:cs typeface="Perpetua"/>
              </a:rPr>
              <a:t>some </a:t>
            </a:r>
            <a:r>
              <a:rPr sz="2200" spc="15" dirty="0">
                <a:latin typeface="Perpetua"/>
                <a:cs typeface="Perpetua"/>
              </a:rPr>
              <a:t>sort </a:t>
            </a:r>
            <a:r>
              <a:rPr sz="2200" spc="-5" dirty="0">
                <a:latin typeface="Perpetua"/>
                <a:cs typeface="Perpetua"/>
              </a:rPr>
              <a:t>of </a:t>
            </a:r>
            <a:r>
              <a:rPr sz="2200" spc="-10" dirty="0">
                <a:latin typeface="Perpetua"/>
                <a:cs typeface="Perpetua"/>
              </a:rPr>
              <a:t>device </a:t>
            </a:r>
            <a:r>
              <a:rPr sz="2200" spc="-5" dirty="0">
                <a:latin typeface="Perpetua"/>
                <a:cs typeface="Perpetua"/>
              </a:rPr>
              <a:t>(Figure: A </a:t>
            </a:r>
            <a:r>
              <a:rPr sz="2200" dirty="0">
                <a:latin typeface="Perpetua"/>
                <a:cs typeface="Perpetua"/>
              </a:rPr>
              <a:t>schematic </a:t>
            </a:r>
            <a:r>
              <a:rPr sz="2200" spc="-10" dirty="0">
                <a:latin typeface="Perpetua"/>
                <a:cs typeface="Perpetua"/>
              </a:rPr>
              <a:t>representation </a:t>
            </a:r>
            <a:r>
              <a:rPr sz="2200" spc="-5" dirty="0">
                <a:latin typeface="Perpetua"/>
                <a:cs typeface="Perpetua"/>
              </a:rPr>
              <a:t>of </a:t>
            </a:r>
            <a:r>
              <a:rPr sz="2200" spc="5" dirty="0">
                <a:latin typeface="Perpetua"/>
                <a:cs typeface="Perpetua"/>
              </a:rPr>
              <a:t>Logic</a:t>
            </a:r>
            <a:r>
              <a:rPr sz="2200" spc="49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Signal</a:t>
            </a:r>
            <a:endParaRPr sz="2200">
              <a:latin typeface="Perpetua"/>
              <a:cs typeface="Perpetua"/>
            </a:endParaRPr>
          </a:p>
          <a:p>
            <a:pPr marL="286385">
              <a:lnSpc>
                <a:spcPts val="2375"/>
              </a:lnSpc>
            </a:pPr>
            <a:r>
              <a:rPr sz="2200" spc="-5" dirty="0">
                <a:latin typeface="Perpetua"/>
                <a:cs typeface="Perpetua"/>
              </a:rPr>
              <a:t>generator) </a:t>
            </a:r>
            <a:r>
              <a:rPr sz="2200" spc="-15" dirty="0">
                <a:latin typeface="Perpetua"/>
                <a:cs typeface="Perpetua"/>
              </a:rPr>
              <a:t>that </a:t>
            </a:r>
            <a:r>
              <a:rPr sz="2200" spc="-10" dirty="0">
                <a:latin typeface="Perpetua"/>
                <a:cs typeface="Perpetua"/>
              </a:rPr>
              <a:t>generates </a:t>
            </a:r>
            <a:r>
              <a:rPr sz="2200" spc="-5" dirty="0">
                <a:latin typeface="Perpetua"/>
                <a:cs typeface="Perpetua"/>
              </a:rPr>
              <a:t>a </a:t>
            </a:r>
            <a:r>
              <a:rPr sz="2200" i="1" spc="-15" dirty="0">
                <a:latin typeface="Perpetua"/>
                <a:cs typeface="Perpetua"/>
              </a:rPr>
              <a:t>logic</a:t>
            </a:r>
            <a:r>
              <a:rPr sz="2200" i="1" spc="75" dirty="0">
                <a:latin typeface="Perpetua"/>
                <a:cs typeface="Perpetua"/>
              </a:rPr>
              <a:t> </a:t>
            </a:r>
            <a:r>
              <a:rPr sz="2200" i="1" spc="-5" dirty="0">
                <a:latin typeface="Perpetua"/>
                <a:cs typeface="Perpetua"/>
              </a:rPr>
              <a:t>signal</a:t>
            </a:r>
            <a:r>
              <a:rPr sz="2200" spc="-5" dirty="0">
                <a:latin typeface="Perpetua"/>
                <a:cs typeface="Perpetua"/>
              </a:rPr>
              <a:t>.</a:t>
            </a:r>
            <a:endParaRPr sz="2200">
              <a:latin typeface="Perpetua"/>
              <a:cs typeface="Perpetua"/>
            </a:endParaRPr>
          </a:p>
          <a:p>
            <a:pPr marL="286385" marR="7620" indent="-274320">
              <a:lnSpc>
                <a:spcPct val="80000"/>
              </a:lnSpc>
              <a:spcBef>
                <a:spcPts val="60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dirty="0">
                <a:latin typeface="Perpetua"/>
                <a:cs typeface="Perpetua"/>
              </a:rPr>
              <a:t>It </a:t>
            </a:r>
            <a:r>
              <a:rPr sz="2200" spc="-5" dirty="0">
                <a:latin typeface="Perpetua"/>
                <a:cs typeface="Perpetua"/>
              </a:rPr>
              <a:t>could be a telephone </a:t>
            </a:r>
            <a:r>
              <a:rPr sz="2200" spc="-15" dirty="0">
                <a:latin typeface="Perpetua"/>
                <a:cs typeface="Perpetua"/>
              </a:rPr>
              <a:t>that </a:t>
            </a:r>
            <a:r>
              <a:rPr sz="2200" spc="-10" dirty="0">
                <a:latin typeface="Perpetua"/>
                <a:cs typeface="Perpetua"/>
              </a:rPr>
              <a:t>converts your </a:t>
            </a:r>
            <a:r>
              <a:rPr sz="2200" spc="-15" dirty="0">
                <a:latin typeface="Perpetua"/>
                <a:cs typeface="Perpetua"/>
              </a:rPr>
              <a:t>voice </a:t>
            </a:r>
            <a:r>
              <a:rPr sz="2200" spc="-5" dirty="0">
                <a:latin typeface="Perpetua"/>
                <a:cs typeface="Perpetua"/>
              </a:rPr>
              <a:t>signal into a sequence </a:t>
            </a:r>
            <a:r>
              <a:rPr sz="2200" dirty="0">
                <a:latin typeface="Perpetua"/>
                <a:cs typeface="Perpetua"/>
              </a:rPr>
              <a:t>of </a:t>
            </a:r>
            <a:r>
              <a:rPr sz="2200" spc="-10" dirty="0">
                <a:latin typeface="Perpetua"/>
                <a:cs typeface="Perpetua"/>
              </a:rPr>
              <a:t>zeros  </a:t>
            </a:r>
            <a:r>
              <a:rPr sz="2200" spc="-5" dirty="0">
                <a:latin typeface="Perpetua"/>
                <a:cs typeface="Perpetua"/>
              </a:rPr>
              <a:t>and</a:t>
            </a:r>
            <a:r>
              <a:rPr sz="2200" spc="5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ones.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ts val="2375"/>
              </a:lnSpc>
              <a:spcBef>
                <a:spcPts val="7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It could be the thermostat on the </a:t>
            </a:r>
            <a:r>
              <a:rPr sz="2200" spc="-15" dirty="0">
                <a:latin typeface="Perpetua"/>
                <a:cs typeface="Perpetua"/>
              </a:rPr>
              <a:t>wall </a:t>
            </a:r>
            <a:r>
              <a:rPr sz="2200" spc="-10" dirty="0">
                <a:latin typeface="Perpetua"/>
                <a:cs typeface="Perpetua"/>
              </a:rPr>
              <a:t>that generates </a:t>
            </a:r>
            <a:r>
              <a:rPr sz="2200" spc="-5" dirty="0">
                <a:latin typeface="Perpetua"/>
                <a:cs typeface="Perpetua"/>
              </a:rPr>
              <a:t>a 1 </a:t>
            </a:r>
            <a:r>
              <a:rPr sz="2200" dirty="0">
                <a:latin typeface="Perpetua"/>
                <a:cs typeface="Perpetua"/>
              </a:rPr>
              <a:t>when </a:t>
            </a: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spc="-10" dirty="0">
                <a:latin typeface="Perpetua"/>
                <a:cs typeface="Perpetua"/>
              </a:rPr>
              <a:t>temperature</a:t>
            </a:r>
            <a:r>
              <a:rPr sz="2200" spc="38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is</a:t>
            </a:r>
            <a:endParaRPr sz="2200">
              <a:latin typeface="Perpetua"/>
              <a:cs typeface="Perpetua"/>
            </a:endParaRPr>
          </a:p>
          <a:p>
            <a:pPr marL="286385">
              <a:lnSpc>
                <a:spcPts val="2375"/>
              </a:lnSpc>
            </a:pPr>
            <a:r>
              <a:rPr sz="2200" spc="-5" dirty="0">
                <a:latin typeface="Perpetua"/>
                <a:cs typeface="Perpetua"/>
              </a:rPr>
              <a:t>too </a:t>
            </a:r>
            <a:r>
              <a:rPr sz="2200" spc="-90" dirty="0">
                <a:latin typeface="Perpetua"/>
                <a:cs typeface="Perpetua"/>
              </a:rPr>
              <a:t>low, </a:t>
            </a:r>
            <a:r>
              <a:rPr sz="2200" spc="-5" dirty="0">
                <a:latin typeface="Perpetua"/>
                <a:cs typeface="Perpetua"/>
              </a:rPr>
              <a:t>and a 0 when the </a:t>
            </a:r>
            <a:r>
              <a:rPr sz="2200" spc="-10" dirty="0">
                <a:latin typeface="Perpetua"/>
                <a:cs typeface="Perpetua"/>
              </a:rPr>
              <a:t>temperature </a:t>
            </a:r>
            <a:r>
              <a:rPr sz="2200" spc="-5" dirty="0">
                <a:latin typeface="Perpetua"/>
                <a:cs typeface="Perpetua"/>
              </a:rPr>
              <a:t>is </a:t>
            </a:r>
            <a:r>
              <a:rPr sz="2200" spc="-30" dirty="0">
                <a:latin typeface="Perpetua"/>
                <a:cs typeface="Perpetua"/>
              </a:rPr>
              <a:t>above </a:t>
            </a:r>
            <a:r>
              <a:rPr sz="2200" spc="-5" dirty="0">
                <a:latin typeface="Perpetua"/>
                <a:cs typeface="Perpetua"/>
              </a:rPr>
              <a:t>the set point</a:t>
            </a:r>
            <a:r>
              <a:rPr sz="2200" spc="204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temperature.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2374900">
              <a:lnSpc>
                <a:spcPct val="100000"/>
              </a:lnSpc>
              <a:tabLst>
                <a:tab pos="4509135" algn="l"/>
              </a:tabLst>
            </a:pPr>
            <a:r>
              <a:rPr sz="1800" dirty="0">
                <a:latin typeface="Perpetua"/>
                <a:cs typeface="Perpetua"/>
              </a:rPr>
              <a:t>Inputs	Outputs</a:t>
            </a:r>
            <a:endParaRPr sz="1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marL="1993900">
              <a:lnSpc>
                <a:spcPct val="100000"/>
              </a:lnSpc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A schematic </a:t>
            </a:r>
            <a:r>
              <a:rPr sz="2000" spc="-10" dirty="0">
                <a:latin typeface="Perpetua"/>
                <a:cs typeface="Perpetua"/>
              </a:rPr>
              <a:t>representation </a:t>
            </a:r>
            <a:r>
              <a:rPr sz="2000" spc="-5" dirty="0">
                <a:latin typeface="Perpetua"/>
                <a:cs typeface="Perpetua"/>
              </a:rPr>
              <a:t>of </a:t>
            </a:r>
            <a:r>
              <a:rPr sz="2000" spc="5" dirty="0">
                <a:latin typeface="Perpetua"/>
                <a:cs typeface="Perpetua"/>
              </a:rPr>
              <a:t>Logic </a:t>
            </a:r>
            <a:r>
              <a:rPr sz="2000" dirty="0">
                <a:latin typeface="Perpetua"/>
                <a:cs typeface="Perpetua"/>
              </a:rPr>
              <a:t>Signal</a:t>
            </a:r>
            <a:r>
              <a:rPr sz="2000" spc="-21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generator</a:t>
            </a:r>
            <a:endParaRPr sz="2000">
              <a:latin typeface="Perpetua"/>
              <a:cs typeface="Perpetua"/>
            </a:endParaRPr>
          </a:p>
          <a:p>
            <a:pPr marL="287020" indent="-274320">
              <a:lnSpc>
                <a:spcPts val="2610"/>
              </a:lnSpc>
              <a:spcBef>
                <a:spcPts val="61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i="1" spc="-15" dirty="0">
                <a:latin typeface="Perpetua"/>
                <a:cs typeface="Perpetua"/>
              </a:rPr>
              <a:t>logic </a:t>
            </a:r>
            <a:r>
              <a:rPr sz="2200" i="1" spc="-5" dirty="0">
                <a:latin typeface="Perpetua"/>
                <a:cs typeface="Perpetua"/>
              </a:rPr>
              <a:t>signal</a:t>
            </a:r>
            <a:r>
              <a:rPr sz="2200" spc="-5" dirty="0">
                <a:latin typeface="Perpetua"/>
                <a:cs typeface="Perpetua"/>
              </a:rPr>
              <a:t>, </a:t>
            </a:r>
            <a:r>
              <a:rPr sz="2200" spc="-10" dirty="0">
                <a:latin typeface="Perpetua"/>
                <a:cs typeface="Perpetua"/>
              </a:rPr>
              <a:t>takes </a:t>
            </a:r>
            <a:r>
              <a:rPr sz="2200" spc="-5" dirty="0">
                <a:latin typeface="Perpetua"/>
                <a:cs typeface="Perpetua"/>
              </a:rPr>
              <a:t>on </a:t>
            </a:r>
            <a:r>
              <a:rPr sz="2200" spc="-15" dirty="0">
                <a:latin typeface="Perpetua"/>
                <a:cs typeface="Perpetua"/>
              </a:rPr>
              <a:t>values </a:t>
            </a:r>
            <a:r>
              <a:rPr sz="2200" spc="-5" dirty="0">
                <a:latin typeface="Perpetua"/>
                <a:cs typeface="Perpetua"/>
              </a:rPr>
              <a:t>of 0 </a:t>
            </a:r>
            <a:r>
              <a:rPr sz="2200" spc="-15" dirty="0">
                <a:latin typeface="Perpetua"/>
                <a:cs typeface="Perpetua"/>
              </a:rPr>
              <a:t>(FALSE, </a:t>
            </a:r>
            <a:r>
              <a:rPr sz="2200" spc="-5" dirty="0">
                <a:latin typeface="Perpetua"/>
                <a:cs typeface="Perpetua"/>
              </a:rPr>
              <a:t>OFF) or 1 </a:t>
            </a:r>
            <a:r>
              <a:rPr sz="2200" spc="-25" dirty="0">
                <a:latin typeface="Perpetua"/>
                <a:cs typeface="Perpetua"/>
              </a:rPr>
              <a:t>(TRUE, </a:t>
            </a:r>
            <a:r>
              <a:rPr sz="2200" spc="-5" dirty="0">
                <a:latin typeface="Perpetua"/>
                <a:cs typeface="Perpetua"/>
              </a:rPr>
              <a:t>ON).</a:t>
            </a:r>
            <a:endParaRPr sz="2200">
              <a:latin typeface="Perpetua"/>
              <a:cs typeface="Perpetua"/>
            </a:endParaRPr>
          </a:p>
          <a:p>
            <a:pPr marL="561340" lvl="1" indent="-229235">
              <a:lnSpc>
                <a:spcPts val="2370"/>
              </a:lnSpc>
              <a:buSzPct val="85000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signal might </a:t>
            </a:r>
            <a:r>
              <a:rPr sz="2000" spc="-15" dirty="0">
                <a:latin typeface="Perpetua"/>
                <a:cs typeface="Perpetua"/>
              </a:rPr>
              <a:t>really </a:t>
            </a:r>
            <a:r>
              <a:rPr sz="2000" dirty="0">
                <a:latin typeface="Perpetua"/>
                <a:cs typeface="Perpetua"/>
              </a:rPr>
              <a:t>be a </a:t>
            </a:r>
            <a:r>
              <a:rPr sz="2000" spc="-10" dirty="0">
                <a:latin typeface="Perpetua"/>
                <a:cs typeface="Perpetua"/>
              </a:rPr>
              <a:t>voltage,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spc="-5" dirty="0">
                <a:latin typeface="Perpetua"/>
                <a:cs typeface="Perpetua"/>
              </a:rPr>
              <a:t>switch </a:t>
            </a:r>
            <a:r>
              <a:rPr sz="2000" spc="-10" dirty="0">
                <a:latin typeface="Perpetua"/>
                <a:cs typeface="Perpetua"/>
              </a:rPr>
              <a:t>closure,</a:t>
            </a:r>
            <a:r>
              <a:rPr sz="2000" spc="-18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etc.</a:t>
            </a:r>
            <a:endParaRPr sz="2000">
              <a:latin typeface="Perpetua"/>
              <a:cs typeface="Perpetua"/>
            </a:endParaRPr>
          </a:p>
          <a:p>
            <a:pPr marL="287020" indent="-274320">
              <a:lnSpc>
                <a:spcPts val="2375"/>
              </a:lnSpc>
              <a:spcBef>
                <a:spcPts val="6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5" dirty="0">
                <a:latin typeface="Perpetua"/>
                <a:cs typeface="Perpetua"/>
              </a:rPr>
              <a:t>However,</a:t>
            </a:r>
            <a:r>
              <a:rPr sz="2200" spc="-40" dirty="0">
                <a:latin typeface="Perpetua"/>
                <a:cs typeface="Perpetua"/>
              </a:rPr>
              <a:t> we</a:t>
            </a:r>
            <a:r>
              <a:rPr sz="2200" spc="45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want</a:t>
            </a:r>
            <a:r>
              <a:rPr sz="2200" spc="5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to</a:t>
            </a:r>
            <a:r>
              <a:rPr sz="2200" spc="6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think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i="1" dirty="0">
                <a:latin typeface="Perpetua"/>
                <a:cs typeface="Perpetua"/>
              </a:rPr>
              <a:t>in</a:t>
            </a:r>
            <a:r>
              <a:rPr sz="2200" i="1" spc="55" dirty="0">
                <a:latin typeface="Perpetua"/>
                <a:cs typeface="Perpetua"/>
              </a:rPr>
              <a:t> </a:t>
            </a:r>
            <a:r>
              <a:rPr sz="2200" i="1" spc="5" dirty="0">
                <a:latin typeface="Perpetua"/>
                <a:cs typeface="Perpetua"/>
              </a:rPr>
              <a:t>terms</a:t>
            </a:r>
            <a:r>
              <a:rPr sz="2200" i="1" spc="65" dirty="0">
                <a:latin typeface="Perpetua"/>
                <a:cs typeface="Perpetua"/>
              </a:rPr>
              <a:t> </a:t>
            </a:r>
            <a:r>
              <a:rPr sz="2200" i="1" spc="-5" dirty="0">
                <a:latin typeface="Perpetua"/>
                <a:cs typeface="Perpetua"/>
              </a:rPr>
              <a:t>of</a:t>
            </a:r>
            <a:r>
              <a:rPr sz="2200" i="1" spc="60" dirty="0">
                <a:latin typeface="Perpetua"/>
                <a:cs typeface="Perpetua"/>
              </a:rPr>
              <a:t> </a:t>
            </a:r>
            <a:r>
              <a:rPr sz="2200" i="1" spc="-15" dirty="0">
                <a:latin typeface="Perpetua"/>
                <a:cs typeface="Perpetua"/>
              </a:rPr>
              <a:t>zeros</a:t>
            </a:r>
            <a:r>
              <a:rPr sz="2200" i="1" spc="65" dirty="0">
                <a:latin typeface="Perpetua"/>
                <a:cs typeface="Perpetua"/>
              </a:rPr>
              <a:t> </a:t>
            </a:r>
            <a:r>
              <a:rPr sz="2200" i="1" spc="-5" dirty="0">
                <a:latin typeface="Perpetua"/>
                <a:cs typeface="Perpetua"/>
              </a:rPr>
              <a:t>and</a:t>
            </a:r>
            <a:r>
              <a:rPr sz="2200" i="1" spc="55" dirty="0">
                <a:latin typeface="Perpetua"/>
                <a:cs typeface="Perpetua"/>
              </a:rPr>
              <a:t> </a:t>
            </a:r>
            <a:r>
              <a:rPr sz="2200" i="1" spc="-5" dirty="0">
                <a:latin typeface="Perpetua"/>
                <a:cs typeface="Perpetua"/>
              </a:rPr>
              <a:t>ones</a:t>
            </a:r>
            <a:r>
              <a:rPr sz="2200" spc="-5" dirty="0">
                <a:latin typeface="Perpetua"/>
                <a:cs typeface="Perpetua"/>
              </a:rPr>
              <a:t>,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not</a:t>
            </a:r>
            <a:r>
              <a:rPr sz="2200" spc="5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in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spc="5" dirty="0">
                <a:latin typeface="Perpetua"/>
                <a:cs typeface="Perpetua"/>
              </a:rPr>
              <a:t>terms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of</a:t>
            </a:r>
            <a:r>
              <a:rPr sz="2200" spc="6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the</a:t>
            </a:r>
            <a:r>
              <a:rPr sz="2200" spc="6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values</a:t>
            </a:r>
            <a:r>
              <a:rPr sz="2200" spc="5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of</a:t>
            </a:r>
            <a:endParaRPr sz="2200">
              <a:latin typeface="Perpetua"/>
              <a:cs typeface="Perpetua"/>
            </a:endParaRPr>
          </a:p>
          <a:p>
            <a:pPr marL="286385">
              <a:lnSpc>
                <a:spcPts val="2375"/>
              </a:lnSpc>
            </a:pPr>
            <a:r>
              <a:rPr sz="2200" spc="-5" dirty="0">
                <a:latin typeface="Perpetua"/>
                <a:cs typeface="Perpetua"/>
              </a:rPr>
              <a:t>the</a:t>
            </a:r>
            <a:r>
              <a:rPr sz="2200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voltage.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72561" y="3810761"/>
            <a:ext cx="457200" cy="1905"/>
          </a:xfrm>
          <a:custGeom>
            <a:avLst/>
            <a:gdLst/>
            <a:ahLst/>
            <a:cxnLst/>
            <a:rect l="l" t="t" r="r" b="b"/>
            <a:pathLst>
              <a:path w="457200" h="1904">
                <a:moveTo>
                  <a:pt x="0" y="1650"/>
                </a:moveTo>
                <a:lnTo>
                  <a:pt x="457200" y="0"/>
                </a:lnTo>
              </a:path>
            </a:pathLst>
          </a:custGeom>
          <a:ln w="25907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72561" y="4191761"/>
            <a:ext cx="457200" cy="1905"/>
          </a:xfrm>
          <a:custGeom>
            <a:avLst/>
            <a:gdLst/>
            <a:ahLst/>
            <a:cxnLst/>
            <a:rect l="l" t="t" r="r" b="b"/>
            <a:pathLst>
              <a:path w="457200" h="1904">
                <a:moveTo>
                  <a:pt x="0" y="1650"/>
                </a:moveTo>
                <a:lnTo>
                  <a:pt x="457200" y="0"/>
                </a:lnTo>
              </a:path>
            </a:pathLst>
          </a:custGeom>
          <a:ln w="25907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1460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Operations on </a:t>
            </a:r>
            <a:r>
              <a:rPr i="0" spc="15" dirty="0">
                <a:latin typeface="Perpetua"/>
                <a:cs typeface="Perpetua"/>
              </a:rPr>
              <a:t>Logic</a:t>
            </a:r>
            <a:r>
              <a:rPr i="0" spc="-55" dirty="0">
                <a:latin typeface="Perpetua"/>
                <a:cs typeface="Perpetua"/>
              </a:rPr>
              <a:t> </a:t>
            </a:r>
            <a:r>
              <a:rPr i="0" spc="-5" dirty="0">
                <a:latin typeface="Perpetua"/>
                <a:cs typeface="Perpetua"/>
              </a:rPr>
              <a:t>Signals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78661"/>
            <a:ext cx="8529320" cy="3989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 algn="just">
              <a:lnSpc>
                <a:spcPts val="2700"/>
              </a:lnSpc>
              <a:spcBef>
                <a:spcPts val="95"/>
              </a:spcBef>
              <a:buSzPct val="84000"/>
              <a:buFont typeface="Arial"/>
              <a:buChar char="•"/>
              <a:tabLst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Once</a:t>
            </a:r>
            <a:r>
              <a:rPr sz="2500" spc="135" dirty="0">
                <a:latin typeface="Perpetua"/>
                <a:cs typeface="Perpetua"/>
              </a:rPr>
              <a:t> </a:t>
            </a:r>
            <a:r>
              <a:rPr sz="2500" spc="-45" dirty="0">
                <a:latin typeface="Perpetua"/>
                <a:cs typeface="Perpetua"/>
              </a:rPr>
              <a:t>we</a:t>
            </a:r>
            <a:r>
              <a:rPr sz="2500" spc="130" dirty="0">
                <a:latin typeface="Perpetua"/>
                <a:cs typeface="Perpetua"/>
              </a:rPr>
              <a:t> </a:t>
            </a:r>
            <a:r>
              <a:rPr sz="2500" spc="-30" dirty="0">
                <a:latin typeface="Perpetua"/>
                <a:cs typeface="Perpetua"/>
              </a:rPr>
              <a:t>have</a:t>
            </a:r>
            <a:r>
              <a:rPr sz="2500" spc="130" dirty="0">
                <a:latin typeface="Perpetua"/>
                <a:cs typeface="Perpetua"/>
              </a:rPr>
              <a:t> </a:t>
            </a:r>
            <a:r>
              <a:rPr sz="2500" spc="-5" dirty="0">
                <a:latin typeface="Perpetua"/>
                <a:cs typeface="Perpetua"/>
              </a:rPr>
              <a:t>the</a:t>
            </a:r>
            <a:r>
              <a:rPr sz="2500" spc="140" dirty="0">
                <a:latin typeface="Perpetua"/>
                <a:cs typeface="Perpetua"/>
              </a:rPr>
              <a:t> </a:t>
            </a:r>
            <a:r>
              <a:rPr sz="2500" dirty="0">
                <a:latin typeface="Perpetua"/>
                <a:cs typeface="Perpetua"/>
              </a:rPr>
              <a:t>concept</a:t>
            </a:r>
            <a:r>
              <a:rPr sz="2500" spc="140" dirty="0">
                <a:latin typeface="Perpetua"/>
                <a:cs typeface="Perpetua"/>
              </a:rPr>
              <a:t> </a:t>
            </a:r>
            <a:r>
              <a:rPr sz="2500" spc="-5" dirty="0">
                <a:latin typeface="Perpetua"/>
                <a:cs typeface="Perpetua"/>
              </a:rPr>
              <a:t>of</a:t>
            </a:r>
            <a:r>
              <a:rPr sz="2500" spc="130" dirty="0">
                <a:latin typeface="Perpetua"/>
                <a:cs typeface="Perpetua"/>
              </a:rPr>
              <a:t> </a:t>
            </a:r>
            <a:r>
              <a:rPr sz="2500" spc="-5" dirty="0">
                <a:latin typeface="Perpetua"/>
                <a:cs typeface="Perpetua"/>
              </a:rPr>
              <a:t>a</a:t>
            </a:r>
            <a:r>
              <a:rPr sz="2500" spc="135" dirty="0">
                <a:latin typeface="Perpetua"/>
                <a:cs typeface="Perpetua"/>
              </a:rPr>
              <a:t> </a:t>
            </a:r>
            <a:r>
              <a:rPr sz="2500" spc="5" dirty="0">
                <a:latin typeface="Perpetua"/>
                <a:cs typeface="Perpetua"/>
              </a:rPr>
              <a:t>logic</a:t>
            </a:r>
            <a:r>
              <a:rPr sz="2500" spc="160" dirty="0">
                <a:latin typeface="Perpetua"/>
                <a:cs typeface="Perpetua"/>
              </a:rPr>
              <a:t> </a:t>
            </a:r>
            <a:r>
              <a:rPr sz="2500" dirty="0">
                <a:latin typeface="Perpetua"/>
                <a:cs typeface="Perpetua"/>
              </a:rPr>
              <a:t>signal</a:t>
            </a:r>
            <a:r>
              <a:rPr sz="2500" spc="135" dirty="0">
                <a:latin typeface="Perpetua"/>
                <a:cs typeface="Perpetua"/>
              </a:rPr>
              <a:t> </a:t>
            </a:r>
            <a:r>
              <a:rPr sz="2500" spc="-45" dirty="0">
                <a:latin typeface="Perpetua"/>
                <a:cs typeface="Perpetua"/>
              </a:rPr>
              <a:t>we</a:t>
            </a:r>
            <a:r>
              <a:rPr sz="2500" spc="130" dirty="0">
                <a:latin typeface="Perpetua"/>
                <a:cs typeface="Perpetua"/>
              </a:rPr>
              <a:t> </a:t>
            </a:r>
            <a:r>
              <a:rPr sz="2500" dirty="0">
                <a:latin typeface="Perpetua"/>
                <a:cs typeface="Perpetua"/>
              </a:rPr>
              <a:t>can</a:t>
            </a:r>
            <a:r>
              <a:rPr sz="2500" spc="130" dirty="0">
                <a:latin typeface="Perpetua"/>
                <a:cs typeface="Perpetua"/>
              </a:rPr>
              <a:t> </a:t>
            </a:r>
            <a:r>
              <a:rPr sz="2500" spc="-5" dirty="0">
                <a:latin typeface="Perpetua"/>
                <a:cs typeface="Perpetua"/>
              </a:rPr>
              <a:t>talk</a:t>
            </a:r>
            <a:r>
              <a:rPr sz="2500" spc="135" dirty="0">
                <a:latin typeface="Perpetua"/>
                <a:cs typeface="Perpetua"/>
              </a:rPr>
              <a:t> </a:t>
            </a:r>
            <a:r>
              <a:rPr sz="2500" dirty="0">
                <a:latin typeface="Perpetua"/>
                <a:cs typeface="Perpetua"/>
              </a:rPr>
              <a:t>about</a:t>
            </a:r>
            <a:r>
              <a:rPr sz="2500" spc="145" dirty="0">
                <a:latin typeface="Perpetua"/>
                <a:cs typeface="Perpetua"/>
              </a:rPr>
              <a:t> </a:t>
            </a:r>
            <a:r>
              <a:rPr sz="2500" i="1" spc="-15" dirty="0">
                <a:latin typeface="Perpetua"/>
                <a:cs typeface="Perpetua"/>
              </a:rPr>
              <a:t>operations</a:t>
            </a:r>
            <a:endParaRPr sz="2500">
              <a:latin typeface="Perpetua"/>
              <a:cs typeface="Perpetua"/>
            </a:endParaRPr>
          </a:p>
          <a:p>
            <a:pPr marL="286385" algn="just">
              <a:lnSpc>
                <a:spcPts val="2700"/>
              </a:lnSpc>
            </a:pPr>
            <a:r>
              <a:rPr sz="2500" spc="-10" dirty="0">
                <a:latin typeface="Perpetua"/>
                <a:cs typeface="Perpetua"/>
              </a:rPr>
              <a:t>that </a:t>
            </a:r>
            <a:r>
              <a:rPr sz="2500" spc="-5" dirty="0">
                <a:latin typeface="Perpetua"/>
                <a:cs typeface="Perpetua"/>
              </a:rPr>
              <a:t>can be </a:t>
            </a:r>
            <a:r>
              <a:rPr sz="2500" dirty="0">
                <a:latin typeface="Perpetua"/>
                <a:cs typeface="Perpetua"/>
              </a:rPr>
              <a:t>performed </a:t>
            </a:r>
            <a:r>
              <a:rPr sz="2500" spc="-5" dirty="0">
                <a:latin typeface="Perpetua"/>
                <a:cs typeface="Perpetua"/>
              </a:rPr>
              <a:t>on </a:t>
            </a:r>
            <a:r>
              <a:rPr sz="2500" spc="5" dirty="0">
                <a:latin typeface="Perpetua"/>
                <a:cs typeface="Perpetua"/>
              </a:rPr>
              <a:t>logic</a:t>
            </a:r>
            <a:r>
              <a:rPr sz="2500" spc="105" dirty="0">
                <a:latin typeface="Perpetua"/>
                <a:cs typeface="Perpetua"/>
              </a:rPr>
              <a:t> </a:t>
            </a:r>
            <a:r>
              <a:rPr sz="2500" spc="-10" dirty="0">
                <a:latin typeface="Perpetua"/>
                <a:cs typeface="Perpetua"/>
              </a:rPr>
              <a:t>signals.</a:t>
            </a:r>
            <a:endParaRPr sz="25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buSzPct val="84000"/>
              <a:buFont typeface="Arial"/>
              <a:buChar char="•"/>
              <a:tabLst>
                <a:tab pos="287020" algn="l"/>
              </a:tabLst>
            </a:pPr>
            <a:r>
              <a:rPr sz="2500" spc="5" dirty="0">
                <a:latin typeface="Perpetua"/>
                <a:cs typeface="Perpetua"/>
              </a:rPr>
              <a:t>Begin </a:t>
            </a:r>
            <a:r>
              <a:rPr sz="2500" spc="-30" dirty="0">
                <a:latin typeface="Perpetua"/>
                <a:cs typeface="Perpetua"/>
              </a:rPr>
              <a:t>by </a:t>
            </a:r>
            <a:r>
              <a:rPr sz="2500" spc="-10" dirty="0">
                <a:latin typeface="Perpetua"/>
                <a:cs typeface="Perpetua"/>
              </a:rPr>
              <a:t>assuming </a:t>
            </a:r>
            <a:r>
              <a:rPr sz="2500" spc="-45" dirty="0">
                <a:latin typeface="Perpetua"/>
                <a:cs typeface="Perpetua"/>
              </a:rPr>
              <a:t>we </a:t>
            </a:r>
            <a:r>
              <a:rPr sz="2500" spc="-35" dirty="0">
                <a:latin typeface="Perpetua"/>
                <a:cs typeface="Perpetua"/>
              </a:rPr>
              <a:t>have </a:t>
            </a:r>
            <a:r>
              <a:rPr sz="2500" spc="-30" dirty="0">
                <a:latin typeface="Perpetua"/>
                <a:cs typeface="Perpetua"/>
              </a:rPr>
              <a:t>two </a:t>
            </a:r>
            <a:r>
              <a:rPr sz="2500" spc="5" dirty="0">
                <a:latin typeface="Perpetua"/>
                <a:cs typeface="Perpetua"/>
              </a:rPr>
              <a:t>logic </a:t>
            </a:r>
            <a:r>
              <a:rPr sz="2500" spc="-5" dirty="0">
                <a:latin typeface="Perpetua"/>
                <a:cs typeface="Perpetua"/>
              </a:rPr>
              <a:t>signals, A and</a:t>
            </a:r>
            <a:r>
              <a:rPr sz="2500" spc="-65" dirty="0">
                <a:latin typeface="Perpetua"/>
                <a:cs typeface="Perpetua"/>
              </a:rPr>
              <a:t> </a:t>
            </a:r>
            <a:r>
              <a:rPr sz="2500" spc="-40" dirty="0">
                <a:latin typeface="Perpetua"/>
                <a:cs typeface="Perpetua"/>
              </a:rPr>
              <a:t>B.</a:t>
            </a:r>
            <a:endParaRPr sz="25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400"/>
              </a:lnSpc>
              <a:spcBef>
                <a:spcPts val="580"/>
              </a:spcBef>
              <a:buSzPct val="84000"/>
              <a:buFont typeface="Arial"/>
              <a:buChar char="•"/>
              <a:tabLst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Then </a:t>
            </a:r>
            <a:r>
              <a:rPr sz="2500" dirty="0">
                <a:latin typeface="Perpetua"/>
                <a:cs typeface="Perpetua"/>
              </a:rPr>
              <a:t>assume </a:t>
            </a:r>
            <a:r>
              <a:rPr sz="2500" spc="-10" dirty="0">
                <a:latin typeface="Perpetua"/>
                <a:cs typeface="Perpetua"/>
              </a:rPr>
              <a:t>that </a:t>
            </a:r>
            <a:r>
              <a:rPr sz="2500" dirty="0">
                <a:latin typeface="Perpetua"/>
                <a:cs typeface="Perpetua"/>
              </a:rPr>
              <a:t>those </a:t>
            </a:r>
            <a:r>
              <a:rPr sz="2500" spc="-30" dirty="0">
                <a:latin typeface="Perpetua"/>
                <a:cs typeface="Perpetua"/>
              </a:rPr>
              <a:t>two </a:t>
            </a:r>
            <a:r>
              <a:rPr sz="2500" dirty="0">
                <a:latin typeface="Perpetua"/>
                <a:cs typeface="Perpetua"/>
              </a:rPr>
              <a:t>signals </a:t>
            </a:r>
            <a:r>
              <a:rPr sz="2500" spc="15" dirty="0">
                <a:latin typeface="Perpetua"/>
                <a:cs typeface="Perpetua"/>
              </a:rPr>
              <a:t>form </a:t>
            </a:r>
            <a:r>
              <a:rPr sz="2500" spc="-5" dirty="0">
                <a:latin typeface="Perpetua"/>
                <a:cs typeface="Perpetua"/>
              </a:rPr>
              <a:t>an </a:t>
            </a:r>
            <a:r>
              <a:rPr sz="2500" dirty="0">
                <a:latin typeface="Perpetua"/>
                <a:cs typeface="Perpetua"/>
              </a:rPr>
              <a:t>input </a:t>
            </a:r>
            <a:r>
              <a:rPr sz="2500" spc="-5" dirty="0">
                <a:latin typeface="Perpetua"/>
                <a:cs typeface="Perpetua"/>
              </a:rPr>
              <a:t>set to some circuit  </a:t>
            </a:r>
            <a:r>
              <a:rPr sz="2500" spc="-10" dirty="0">
                <a:latin typeface="Perpetua"/>
                <a:cs typeface="Perpetua"/>
              </a:rPr>
              <a:t>that takes </a:t>
            </a:r>
            <a:r>
              <a:rPr sz="2500" spc="-35" dirty="0">
                <a:latin typeface="Perpetua"/>
                <a:cs typeface="Perpetua"/>
              </a:rPr>
              <a:t>two </a:t>
            </a:r>
            <a:r>
              <a:rPr sz="2500" spc="5" dirty="0">
                <a:latin typeface="Perpetua"/>
                <a:cs typeface="Perpetua"/>
              </a:rPr>
              <a:t>logic </a:t>
            </a:r>
            <a:r>
              <a:rPr sz="2500" dirty="0">
                <a:latin typeface="Perpetua"/>
                <a:cs typeface="Perpetua"/>
              </a:rPr>
              <a:t>signals </a:t>
            </a:r>
            <a:r>
              <a:rPr sz="2500" spc="-5" dirty="0">
                <a:latin typeface="Perpetua"/>
                <a:cs typeface="Perpetua"/>
              </a:rPr>
              <a:t>as </a:t>
            </a:r>
            <a:r>
              <a:rPr sz="2500" dirty="0">
                <a:latin typeface="Perpetua"/>
                <a:cs typeface="Perpetua"/>
              </a:rPr>
              <a:t>inputs, </a:t>
            </a:r>
            <a:r>
              <a:rPr sz="2500" spc="-5" dirty="0">
                <a:latin typeface="Perpetua"/>
                <a:cs typeface="Perpetua"/>
              </a:rPr>
              <a:t>and </a:t>
            </a:r>
            <a:r>
              <a:rPr sz="2500" dirty="0">
                <a:latin typeface="Perpetua"/>
                <a:cs typeface="Perpetua"/>
              </a:rPr>
              <a:t>has </a:t>
            </a:r>
            <a:r>
              <a:rPr sz="2500" spc="-5" dirty="0">
                <a:latin typeface="Perpetua"/>
                <a:cs typeface="Perpetua"/>
              </a:rPr>
              <a:t>an </a:t>
            </a:r>
            <a:r>
              <a:rPr sz="2500" dirty="0">
                <a:latin typeface="Perpetua"/>
                <a:cs typeface="Perpetua"/>
              </a:rPr>
              <a:t>output </a:t>
            </a:r>
            <a:r>
              <a:rPr sz="2500" spc="-10" dirty="0">
                <a:latin typeface="Perpetua"/>
                <a:cs typeface="Perpetua"/>
              </a:rPr>
              <a:t>that </a:t>
            </a:r>
            <a:r>
              <a:rPr sz="2500" spc="-5" dirty="0">
                <a:latin typeface="Perpetua"/>
                <a:cs typeface="Perpetua"/>
              </a:rPr>
              <a:t>is also a </a:t>
            </a:r>
            <a:r>
              <a:rPr sz="2500" spc="550" dirty="0">
                <a:latin typeface="Perpetua"/>
                <a:cs typeface="Perpetua"/>
              </a:rPr>
              <a:t> </a:t>
            </a:r>
            <a:r>
              <a:rPr sz="2500" spc="5" dirty="0">
                <a:latin typeface="Perpetua"/>
                <a:cs typeface="Perpetua"/>
              </a:rPr>
              <a:t>logic </a:t>
            </a:r>
            <a:r>
              <a:rPr sz="2500" spc="-5" dirty="0">
                <a:latin typeface="Perpetua"/>
                <a:cs typeface="Perpetua"/>
              </a:rPr>
              <a:t>signal.</a:t>
            </a:r>
            <a:endParaRPr sz="25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spc="-10" dirty="0">
                <a:latin typeface="Perpetua"/>
                <a:cs typeface="Perpetua"/>
              </a:rPr>
              <a:t>The </a:t>
            </a:r>
            <a:r>
              <a:rPr sz="2500" spc="-5" dirty="0">
                <a:latin typeface="Perpetua"/>
                <a:cs typeface="Perpetua"/>
              </a:rPr>
              <a:t>output, </a:t>
            </a:r>
            <a:r>
              <a:rPr sz="2500" spc="-40" dirty="0">
                <a:latin typeface="Perpetua"/>
                <a:cs typeface="Perpetua"/>
              </a:rPr>
              <a:t>C, </a:t>
            </a:r>
            <a:r>
              <a:rPr sz="2500" spc="-5" dirty="0">
                <a:latin typeface="Perpetua"/>
                <a:cs typeface="Perpetua"/>
              </a:rPr>
              <a:t>depends </a:t>
            </a:r>
            <a:r>
              <a:rPr sz="2500" spc="-10" dirty="0">
                <a:latin typeface="Perpetua"/>
                <a:cs typeface="Perpetua"/>
              </a:rPr>
              <a:t>upon </a:t>
            </a:r>
            <a:r>
              <a:rPr sz="2500" spc="-5" dirty="0">
                <a:latin typeface="Perpetua"/>
                <a:cs typeface="Perpetua"/>
              </a:rPr>
              <a:t>the inputs, A and</a:t>
            </a:r>
            <a:r>
              <a:rPr sz="2500" spc="-260" dirty="0">
                <a:latin typeface="Perpetua"/>
                <a:cs typeface="Perpetua"/>
              </a:rPr>
              <a:t> </a:t>
            </a:r>
            <a:r>
              <a:rPr sz="2500" spc="-40" dirty="0">
                <a:latin typeface="Perpetua"/>
                <a:cs typeface="Perpetua"/>
              </a:rPr>
              <a:t>B.</a:t>
            </a:r>
            <a:endParaRPr sz="25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spc="-10" dirty="0">
                <a:latin typeface="Perpetua"/>
                <a:cs typeface="Perpetua"/>
              </a:rPr>
              <a:t>There are </a:t>
            </a:r>
            <a:r>
              <a:rPr sz="2500" i="1" spc="-20" dirty="0">
                <a:latin typeface="Perpetua"/>
                <a:cs typeface="Perpetua"/>
              </a:rPr>
              <a:t>many </a:t>
            </a:r>
            <a:r>
              <a:rPr sz="2500" i="1" spc="-10" dirty="0">
                <a:latin typeface="Perpetua"/>
                <a:cs typeface="Perpetua"/>
              </a:rPr>
              <a:t>different </a:t>
            </a:r>
            <a:r>
              <a:rPr sz="2500" i="1" spc="-40" dirty="0">
                <a:latin typeface="Perpetua"/>
                <a:cs typeface="Perpetua"/>
              </a:rPr>
              <a:t>ways </a:t>
            </a:r>
            <a:r>
              <a:rPr sz="2500" i="1" spc="-10" dirty="0">
                <a:latin typeface="Perpetua"/>
                <a:cs typeface="Perpetua"/>
              </a:rPr>
              <a:t>that </a:t>
            </a:r>
            <a:r>
              <a:rPr sz="2500" i="1" spc="-5" dirty="0">
                <a:latin typeface="Perpetua"/>
                <a:cs typeface="Perpetua"/>
              </a:rPr>
              <a:t>C </a:t>
            </a:r>
            <a:r>
              <a:rPr sz="2500" i="1" dirty="0">
                <a:latin typeface="Perpetua"/>
                <a:cs typeface="Perpetua"/>
              </a:rPr>
              <a:t>could </a:t>
            </a:r>
            <a:r>
              <a:rPr sz="2500" i="1" spc="-5" dirty="0">
                <a:latin typeface="Perpetua"/>
                <a:cs typeface="Perpetua"/>
              </a:rPr>
              <a:t>depend upon A and</a:t>
            </a:r>
            <a:r>
              <a:rPr sz="2500" i="1" spc="10" dirty="0">
                <a:latin typeface="Perpetua"/>
                <a:cs typeface="Perpetua"/>
              </a:rPr>
              <a:t> </a:t>
            </a:r>
            <a:r>
              <a:rPr sz="2500" i="1" spc="-5" dirty="0">
                <a:latin typeface="Perpetua"/>
                <a:cs typeface="Perpetua"/>
              </a:rPr>
              <a:t>B</a:t>
            </a:r>
            <a:r>
              <a:rPr sz="2500" spc="-5" dirty="0">
                <a:latin typeface="Perpetua"/>
                <a:cs typeface="Perpetua"/>
              </a:rPr>
              <a:t>.</a:t>
            </a:r>
            <a:endParaRPr sz="25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The output, </a:t>
            </a:r>
            <a:r>
              <a:rPr sz="2500" spc="-40" dirty="0">
                <a:latin typeface="Perpetua"/>
                <a:cs typeface="Perpetua"/>
              </a:rPr>
              <a:t>C, </a:t>
            </a:r>
            <a:r>
              <a:rPr sz="2500" spc="-5" dirty="0">
                <a:latin typeface="Perpetua"/>
                <a:cs typeface="Perpetua"/>
              </a:rPr>
              <a:t>is a function, - </a:t>
            </a:r>
            <a:r>
              <a:rPr sz="2500" i="1" spc="-5" dirty="0">
                <a:latin typeface="Perpetua"/>
                <a:cs typeface="Perpetua"/>
              </a:rPr>
              <a:t>a </a:t>
            </a:r>
            <a:r>
              <a:rPr sz="2500" i="1" spc="-15" dirty="0">
                <a:latin typeface="Perpetua"/>
                <a:cs typeface="Perpetua"/>
              </a:rPr>
              <a:t>logic </a:t>
            </a:r>
            <a:r>
              <a:rPr sz="2500" i="1" spc="-5" dirty="0">
                <a:latin typeface="Perpetua"/>
                <a:cs typeface="Perpetua"/>
              </a:rPr>
              <a:t>function </a:t>
            </a:r>
            <a:r>
              <a:rPr sz="2500" spc="-5" dirty="0">
                <a:latin typeface="Perpetua"/>
                <a:cs typeface="Perpetua"/>
              </a:rPr>
              <a:t>- of the inputs, A and</a:t>
            </a:r>
            <a:r>
              <a:rPr sz="2500" spc="-360" dirty="0">
                <a:latin typeface="Perpetua"/>
                <a:cs typeface="Perpetua"/>
              </a:rPr>
              <a:t> </a:t>
            </a:r>
            <a:r>
              <a:rPr sz="2500" spc="-40" dirty="0">
                <a:latin typeface="Perpetua"/>
                <a:cs typeface="Perpetua"/>
              </a:rPr>
              <a:t>B.</a:t>
            </a:r>
            <a:endParaRPr sz="2500">
              <a:latin typeface="Perpetua"/>
              <a:cs typeface="Perpetua"/>
            </a:endParaRPr>
          </a:p>
          <a:p>
            <a:pPr marL="320040" indent="-307975">
              <a:lnSpc>
                <a:spcPct val="100000"/>
              </a:lnSpc>
              <a:buSzPct val="84000"/>
              <a:buFont typeface="Arial"/>
              <a:buChar char="•"/>
              <a:tabLst>
                <a:tab pos="320040" algn="l"/>
                <a:tab pos="320675" algn="l"/>
              </a:tabLst>
            </a:pPr>
            <a:r>
              <a:rPr sz="2500" spc="-5" dirty="0">
                <a:latin typeface="Perpetua"/>
                <a:cs typeface="Perpetua"/>
              </a:rPr>
              <a:t>This situation is </a:t>
            </a:r>
            <a:r>
              <a:rPr sz="2500" spc="-10" dirty="0">
                <a:latin typeface="Perpetua"/>
                <a:cs typeface="Perpetua"/>
              </a:rPr>
              <a:t>represented </a:t>
            </a:r>
            <a:r>
              <a:rPr sz="2500" spc="-5" dirty="0">
                <a:latin typeface="Perpetua"/>
                <a:cs typeface="Perpetua"/>
              </a:rPr>
              <a:t>as a </a:t>
            </a:r>
            <a:r>
              <a:rPr sz="2500" spc="5" dirty="0">
                <a:latin typeface="Perpetua"/>
                <a:cs typeface="Perpetua"/>
              </a:rPr>
              <a:t>logic </a:t>
            </a:r>
            <a:r>
              <a:rPr sz="2500" spc="-5" dirty="0">
                <a:latin typeface="Perpetua"/>
                <a:cs typeface="Perpetua"/>
              </a:rPr>
              <a:t>circuit</a:t>
            </a:r>
            <a:r>
              <a:rPr sz="2500" spc="114" dirty="0">
                <a:latin typeface="Perpetua"/>
                <a:cs typeface="Perpetua"/>
              </a:rPr>
              <a:t> </a:t>
            </a:r>
            <a:r>
              <a:rPr sz="2500" spc="-5" dirty="0">
                <a:latin typeface="Perpetua"/>
                <a:cs typeface="Perpetua"/>
              </a:rPr>
              <a:t>in:</a:t>
            </a:r>
            <a:endParaRPr sz="2500">
              <a:latin typeface="Perpetua"/>
              <a:cs typeface="Perpetua"/>
            </a:endParaRPr>
          </a:p>
          <a:p>
            <a:pPr marL="1001394">
              <a:lnSpc>
                <a:spcPct val="100000"/>
              </a:lnSpc>
            </a:pPr>
            <a:r>
              <a:rPr sz="2400" spc="-5" dirty="0">
                <a:latin typeface="Perpetua"/>
                <a:cs typeface="Perpetua"/>
              </a:rPr>
              <a:t>Figure: </a:t>
            </a:r>
            <a:r>
              <a:rPr sz="2400" dirty="0">
                <a:latin typeface="Perpetua"/>
                <a:cs typeface="Perpetua"/>
              </a:rPr>
              <a:t>A schematic </a:t>
            </a:r>
            <a:r>
              <a:rPr sz="2400" spc="-5" dirty="0">
                <a:latin typeface="Perpetua"/>
                <a:cs typeface="Perpetua"/>
              </a:rPr>
              <a:t>representation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5" dirty="0">
                <a:latin typeface="Perpetua"/>
                <a:cs typeface="Perpetua"/>
              </a:rPr>
              <a:t>Logic</a:t>
            </a:r>
            <a:r>
              <a:rPr sz="2400" spc="-3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Function</a:t>
            </a:r>
            <a:r>
              <a:rPr sz="2500" dirty="0">
                <a:latin typeface="Perpetua"/>
                <a:cs typeface="Perpetua"/>
              </a:rPr>
              <a:t>.</a:t>
            </a:r>
            <a:endParaRPr sz="25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0" y="5334000"/>
            <a:ext cx="3214116" cy="99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46575" y="6327444"/>
            <a:ext cx="4384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Perpetua"/>
                <a:cs typeface="Perpetua"/>
              </a:rPr>
              <a:t>Figure:</a:t>
            </a:r>
            <a:r>
              <a:rPr sz="1800" spc="-33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 schematic </a:t>
            </a:r>
            <a:r>
              <a:rPr sz="1800" spc="-5" dirty="0">
                <a:latin typeface="Perpetua"/>
                <a:cs typeface="Perpetua"/>
              </a:rPr>
              <a:t>representation </a:t>
            </a:r>
            <a:r>
              <a:rPr sz="1800" dirty="0">
                <a:latin typeface="Perpetua"/>
                <a:cs typeface="Perpetua"/>
              </a:rPr>
              <a:t>of </a:t>
            </a:r>
            <a:r>
              <a:rPr sz="1800" spc="5" dirty="0">
                <a:latin typeface="Perpetua"/>
                <a:cs typeface="Perpetua"/>
              </a:rPr>
              <a:t>Logic </a:t>
            </a:r>
            <a:r>
              <a:rPr sz="1800" dirty="0">
                <a:latin typeface="Perpetua"/>
                <a:cs typeface="Perpetua"/>
              </a:rPr>
              <a:t>Function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97865"/>
            <a:ext cx="7874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5" dirty="0">
                <a:latin typeface="Perpetua"/>
                <a:cs typeface="Perpetua"/>
              </a:rPr>
              <a:t>Electrical </a:t>
            </a:r>
            <a:r>
              <a:rPr sz="3600" i="0" spc="-5" dirty="0">
                <a:latin typeface="Perpetua"/>
                <a:cs typeface="Perpetua"/>
              </a:rPr>
              <a:t>circuits </a:t>
            </a:r>
            <a:r>
              <a:rPr sz="3600" i="0" spc="-10" dirty="0">
                <a:latin typeface="Perpetua"/>
                <a:cs typeface="Perpetua"/>
              </a:rPr>
              <a:t>that </a:t>
            </a:r>
            <a:r>
              <a:rPr sz="3600" i="0" dirty="0">
                <a:latin typeface="Perpetua"/>
                <a:cs typeface="Perpetua"/>
              </a:rPr>
              <a:t>implement </a:t>
            </a:r>
            <a:r>
              <a:rPr sz="3600" i="0" spc="-5" dirty="0">
                <a:latin typeface="Perpetua"/>
                <a:cs typeface="Perpetua"/>
              </a:rPr>
              <a:t>AND and</a:t>
            </a:r>
            <a:r>
              <a:rPr sz="3600" i="0" spc="-320" dirty="0">
                <a:latin typeface="Perpetua"/>
                <a:cs typeface="Perpetua"/>
              </a:rPr>
              <a:t> </a:t>
            </a:r>
            <a:r>
              <a:rPr sz="3600" i="0" dirty="0">
                <a:latin typeface="Perpetua"/>
                <a:cs typeface="Perpetua"/>
              </a:rPr>
              <a:t>OR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52800" y="3107634"/>
            <a:ext cx="1669773" cy="13119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00400" y="5225796"/>
            <a:ext cx="1752600" cy="1403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7340" y="900430"/>
            <a:ext cx="8454390" cy="5372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discuss </a:t>
            </a:r>
            <a:r>
              <a:rPr sz="2600" dirty="0">
                <a:latin typeface="Perpetua"/>
                <a:cs typeface="Perpetua"/>
              </a:rPr>
              <a:t>electrical circuits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implement </a:t>
            </a:r>
            <a:r>
              <a:rPr sz="2600" spc="-5" dirty="0">
                <a:latin typeface="Perpetua"/>
                <a:cs typeface="Perpetua"/>
              </a:rPr>
              <a:t>AND and </a:t>
            </a:r>
            <a:r>
              <a:rPr sz="2600" dirty="0">
                <a:latin typeface="Perpetua"/>
                <a:cs typeface="Perpetua"/>
              </a:rPr>
              <a:t>OR , </a:t>
            </a:r>
            <a:r>
              <a:rPr sz="2600" spc="-5" dirty="0">
                <a:latin typeface="Perpetua"/>
                <a:cs typeface="Perpetua"/>
              </a:rPr>
              <a:t>let us  consider for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0" dirty="0">
                <a:latin typeface="Perpetua"/>
                <a:cs typeface="Perpetua"/>
              </a:rPr>
              <a:t>case,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battery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connected 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light bulb and </a:t>
            </a:r>
            <a:r>
              <a:rPr sz="2600" spc="-35" dirty="0">
                <a:latin typeface="Perpetua"/>
                <a:cs typeface="Perpetua"/>
              </a:rPr>
              <a:t>two  </a:t>
            </a:r>
            <a:r>
              <a:rPr sz="2600" spc="-5" dirty="0">
                <a:latin typeface="Perpetua"/>
                <a:cs typeface="Perpetua"/>
              </a:rPr>
              <a:t>switches.</a:t>
            </a:r>
            <a:endParaRPr sz="2600">
              <a:latin typeface="Perpetua"/>
              <a:cs typeface="Perpetua"/>
            </a:endParaRPr>
          </a:p>
          <a:p>
            <a:pPr marL="285115" marR="5715" indent="-27305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AND circuit (Figure: AND circuit) </a:t>
            </a:r>
            <a:r>
              <a:rPr sz="2600" dirty="0">
                <a:latin typeface="Perpetua"/>
                <a:cs typeface="Perpetua"/>
              </a:rPr>
              <a:t>, </a:t>
            </a:r>
            <a:r>
              <a:rPr sz="2600" spc="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apparent </a:t>
            </a:r>
            <a:r>
              <a:rPr sz="2600" spc="-5" dirty="0">
                <a:latin typeface="Perpetua"/>
                <a:cs typeface="Perpetua"/>
              </a:rPr>
              <a:t>that both  </a:t>
            </a:r>
            <a:r>
              <a:rPr sz="2600" dirty="0">
                <a:latin typeface="Perpetua"/>
                <a:cs typeface="Perpetua"/>
              </a:rPr>
              <a:t>switches </a:t>
            </a:r>
            <a:r>
              <a:rPr sz="2600" spc="-5" dirty="0">
                <a:latin typeface="Perpetua"/>
                <a:cs typeface="Perpetua"/>
              </a:rPr>
              <a:t>must be </a:t>
            </a:r>
            <a:r>
              <a:rPr sz="2600" dirty="0">
                <a:latin typeface="Perpetua"/>
                <a:cs typeface="Perpetua"/>
              </a:rPr>
              <a:t>closed in order </a:t>
            </a:r>
            <a:r>
              <a:rPr sz="2600" spc="-5" dirty="0">
                <a:latin typeface="Perpetua"/>
                <a:cs typeface="Perpetua"/>
              </a:rPr>
              <a:t>to light up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40" dirty="0">
                <a:latin typeface="Perpetua"/>
                <a:cs typeface="Perpetua"/>
              </a:rPr>
              <a:t> bulb.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4250">
              <a:latin typeface="Times New Roman"/>
              <a:cs typeface="Times New Roman"/>
            </a:endParaRPr>
          </a:p>
          <a:p>
            <a:pPr marL="4966335">
              <a:lnSpc>
                <a:spcPct val="100000"/>
              </a:lnSpc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spc="-5" dirty="0">
                <a:latin typeface="Perpetua"/>
                <a:cs typeface="Perpetua"/>
              </a:rPr>
              <a:t>AND</a:t>
            </a:r>
            <a:r>
              <a:rPr sz="2000" spc="-22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circuit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183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either </a:t>
            </a:r>
            <a:r>
              <a:rPr sz="2600" spc="-5" dirty="0">
                <a:latin typeface="Perpetua"/>
                <a:cs typeface="Perpetua"/>
              </a:rPr>
              <a:t>one of </a:t>
            </a:r>
            <a:r>
              <a:rPr sz="2600" dirty="0">
                <a:latin typeface="Perpetua"/>
                <a:cs typeface="Perpetua"/>
              </a:rPr>
              <a:t>the switches in the OR </a:t>
            </a:r>
            <a:r>
              <a:rPr sz="2600" spc="-5" dirty="0">
                <a:latin typeface="Perpetua"/>
                <a:cs typeface="Perpetua"/>
              </a:rPr>
              <a:t>circuit (Figure: </a:t>
            </a:r>
            <a:r>
              <a:rPr sz="2600" dirty="0">
                <a:latin typeface="Perpetua"/>
                <a:cs typeface="Perpetua"/>
              </a:rPr>
              <a:t>OR circuit) is  </a:t>
            </a:r>
            <a:r>
              <a:rPr sz="2600" spc="-5" dirty="0">
                <a:latin typeface="Perpetua"/>
                <a:cs typeface="Perpetua"/>
              </a:rPr>
              <a:t>closed,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light </a:t>
            </a:r>
            <a:r>
              <a:rPr sz="2600" spc="-10" dirty="0">
                <a:latin typeface="Perpetua"/>
                <a:cs typeface="Perpetua"/>
              </a:rPr>
              <a:t>bulb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be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illuminated.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4813935">
              <a:lnSpc>
                <a:spcPct val="100000"/>
              </a:lnSpc>
              <a:spcBef>
                <a:spcPts val="2035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OR</a:t>
            </a:r>
            <a:r>
              <a:rPr sz="2000" spc="-7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circuit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3729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10" dirty="0">
                <a:latin typeface="Perpetua"/>
                <a:cs typeface="Perpetua"/>
              </a:rPr>
              <a:t>Logical</a:t>
            </a:r>
            <a:r>
              <a:rPr i="0" spc="-85" dirty="0">
                <a:latin typeface="Perpetua"/>
                <a:cs typeface="Perpetua"/>
              </a:rPr>
              <a:t> </a:t>
            </a:r>
            <a:r>
              <a:rPr i="0" spc="-10" dirty="0">
                <a:latin typeface="Perpetua"/>
                <a:cs typeface="Perpetua"/>
              </a:rPr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0590" cy="4447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spc="-10" dirty="0">
                <a:latin typeface="Perpetua"/>
                <a:cs typeface="Perpetua"/>
              </a:rPr>
              <a:t>Logic </a:t>
            </a:r>
            <a:r>
              <a:rPr sz="2600" i="1" spc="-15" dirty="0">
                <a:latin typeface="Perpetua"/>
                <a:cs typeface="Perpetua"/>
              </a:rPr>
              <a:t>gates </a:t>
            </a:r>
            <a:r>
              <a:rPr sz="2600" spc="-10" dirty="0">
                <a:latin typeface="Perpetua"/>
                <a:cs typeface="Perpetua"/>
              </a:rPr>
              <a:t>are usually </a:t>
            </a:r>
            <a:r>
              <a:rPr sz="2600" spc="-5" dirty="0">
                <a:latin typeface="Perpetua"/>
                <a:cs typeface="Perpetua"/>
              </a:rPr>
              <a:t>implemented </a:t>
            </a:r>
            <a:r>
              <a:rPr sz="2600" dirty="0">
                <a:latin typeface="Perpetua"/>
                <a:cs typeface="Perpetua"/>
              </a:rPr>
              <a:t>using transistors </a:t>
            </a:r>
            <a:r>
              <a:rPr sz="2600" spc="-5" dirty="0">
                <a:latin typeface="Perpetua"/>
                <a:cs typeface="Perpetua"/>
              </a:rPr>
              <a:t>as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switches.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 2"/>
              <a:buChar char=""/>
            </a:pPr>
            <a:endParaRPr sz="375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context of </a:t>
            </a:r>
            <a:r>
              <a:rPr sz="2600" spc="5" dirty="0">
                <a:latin typeface="Perpetua"/>
                <a:cs typeface="Perpetua"/>
              </a:rPr>
              <a:t>digital logic, </a:t>
            </a:r>
            <a:r>
              <a:rPr sz="2600" dirty="0">
                <a:latin typeface="Perpetua"/>
                <a:cs typeface="Perpetua"/>
              </a:rPr>
              <a:t>a battery </a:t>
            </a:r>
            <a:r>
              <a:rPr sz="2600" spc="-5" dirty="0">
                <a:latin typeface="Perpetua"/>
                <a:cs typeface="Perpetua"/>
              </a:rPr>
              <a:t>can be thought of 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35" dirty="0">
                <a:latin typeface="Perpetua"/>
                <a:cs typeface="Perpetua"/>
              </a:rPr>
              <a:t>power  </a:t>
            </a:r>
            <a:r>
              <a:rPr sz="2600" spc="-5" dirty="0">
                <a:latin typeface="Perpetua"/>
                <a:cs typeface="Perpetua"/>
              </a:rPr>
              <a:t>source </a:t>
            </a:r>
            <a:r>
              <a:rPr sz="2600" dirty="0">
                <a:latin typeface="Perpetua"/>
                <a:cs typeface="Perpetua"/>
              </a:rPr>
              <a:t>with a </a:t>
            </a:r>
            <a:r>
              <a:rPr sz="2600" spc="-15" dirty="0">
                <a:latin typeface="Perpetua"/>
                <a:cs typeface="Perpetua"/>
              </a:rPr>
              <a:t>voltage </a:t>
            </a:r>
            <a:r>
              <a:rPr sz="2600" spc="-20" dirty="0">
                <a:latin typeface="Perpetua"/>
                <a:cs typeface="Perpetua"/>
              </a:rPr>
              <a:t>level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 2"/>
              <a:buChar char=""/>
            </a:pPr>
            <a:endParaRPr sz="375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buSzPct val="84615"/>
              <a:buFont typeface="Wingdings 2"/>
              <a:buChar char=""/>
              <a:tabLst>
                <a:tab pos="360045" algn="l"/>
                <a:tab pos="360680" algn="l"/>
                <a:tab pos="1130935" algn="l"/>
                <a:tab pos="1652270" algn="l"/>
                <a:tab pos="2803525" algn="l"/>
                <a:tab pos="3647440" algn="l"/>
                <a:tab pos="4559300" algn="l"/>
                <a:tab pos="5100320" algn="l"/>
                <a:tab pos="5996305" algn="l"/>
                <a:tab pos="6406515" algn="l"/>
                <a:tab pos="6854825" algn="l"/>
                <a:tab pos="7747634" algn="l"/>
                <a:tab pos="8141334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Sin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e	the	</a:t>
            </a:r>
            <a:r>
              <a:rPr sz="2600" spc="-60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wit</a:t>
            </a:r>
            <a:r>
              <a:rPr sz="2600" spc="4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hes	eit</a:t>
            </a:r>
            <a:r>
              <a:rPr sz="2600" spc="-15" dirty="0">
                <a:latin typeface="Perpetua"/>
                <a:cs typeface="Perpetua"/>
              </a:rPr>
              <a:t>h</a:t>
            </a:r>
            <a:r>
              <a:rPr sz="2600" dirty="0">
                <a:latin typeface="Perpetua"/>
                <a:cs typeface="Perpetua"/>
              </a:rPr>
              <a:t>er	su</a:t>
            </a:r>
            <a:r>
              <a:rPr sz="2600" spc="-10" dirty="0">
                <a:latin typeface="Perpetua"/>
                <a:cs typeface="Perpetua"/>
              </a:rPr>
              <a:t>p</a:t>
            </a:r>
            <a:r>
              <a:rPr sz="2600" spc="-20" dirty="0">
                <a:latin typeface="Perpetua"/>
                <a:cs typeface="Perpetua"/>
              </a:rPr>
              <a:t>p</a:t>
            </a:r>
            <a:r>
              <a:rPr sz="2600" spc="-5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y	f</a:t>
            </a:r>
            <a:r>
              <a:rPr sz="2600" spc="-10" dirty="0">
                <a:latin typeface="Perpetua"/>
                <a:cs typeface="Perpetua"/>
              </a:rPr>
              <a:t>u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l	p</a:t>
            </a:r>
            <a:r>
              <a:rPr sz="2600" spc="-85" dirty="0">
                <a:latin typeface="Perpetua"/>
                <a:cs typeface="Perpetua"/>
              </a:rPr>
              <a:t>o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er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r	</a:t>
            </a:r>
            <a:r>
              <a:rPr sz="2600" spc="-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o	p</a:t>
            </a:r>
            <a:r>
              <a:rPr sz="2600" spc="-85" dirty="0">
                <a:latin typeface="Perpetua"/>
                <a:cs typeface="Perpetua"/>
              </a:rPr>
              <a:t>o</a:t>
            </a:r>
            <a:r>
              <a:rPr sz="2600" spc="-10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er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the  </a:t>
            </a:r>
            <a:r>
              <a:rPr sz="2600" spc="-10" dirty="0">
                <a:latin typeface="Perpetua"/>
                <a:cs typeface="Perpetua"/>
              </a:rPr>
              <a:t>output </a:t>
            </a:r>
            <a:r>
              <a:rPr sz="2600" spc="-15" dirty="0">
                <a:latin typeface="Perpetua"/>
                <a:cs typeface="Perpetua"/>
              </a:rPr>
              <a:t>device,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15" dirty="0">
                <a:latin typeface="Perpetua"/>
                <a:cs typeface="Perpetua"/>
              </a:rPr>
              <a:t>only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dirty="0">
                <a:latin typeface="Perpetua"/>
                <a:cs typeface="Perpetua"/>
              </a:rPr>
              <a:t>signal </a:t>
            </a:r>
            <a:r>
              <a:rPr sz="2600" spc="-15" dirty="0">
                <a:latin typeface="Perpetua"/>
                <a:cs typeface="Perpetua"/>
              </a:rPr>
              <a:t>levels </a:t>
            </a:r>
            <a:r>
              <a:rPr sz="2600" spc="-5" dirty="0">
                <a:latin typeface="Perpetua"/>
                <a:cs typeface="Perpetua"/>
              </a:rPr>
              <a:t>present </a:t>
            </a:r>
            <a:r>
              <a:rPr sz="2600" dirty="0">
                <a:latin typeface="Perpetua"/>
                <a:cs typeface="Perpetua"/>
              </a:rPr>
              <a:t>in the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circuit.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 2"/>
              <a:buChar char=""/>
            </a:pPr>
            <a:endParaRPr sz="3750">
              <a:latin typeface="Times New Roman"/>
              <a:cs typeface="Times New Roman"/>
            </a:endParaRPr>
          </a:p>
          <a:p>
            <a:pPr marL="285115" marR="6985" indent="-273050">
              <a:lnSpc>
                <a:spcPct val="100000"/>
              </a:lnSpc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These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spc="-5" dirty="0">
                <a:latin typeface="Perpetua"/>
                <a:cs typeface="Perpetua"/>
              </a:rPr>
              <a:t>signals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15" dirty="0">
                <a:latin typeface="Perpetua"/>
                <a:cs typeface="Perpetua"/>
              </a:rPr>
              <a:t>usually </a:t>
            </a:r>
            <a:r>
              <a:rPr sz="2600" spc="-5" dirty="0">
                <a:latin typeface="Perpetua"/>
                <a:cs typeface="Perpetua"/>
              </a:rPr>
              <a:t>denoted </a:t>
            </a:r>
            <a:r>
              <a:rPr sz="2600" dirty="0">
                <a:latin typeface="Perpetua"/>
                <a:cs typeface="Perpetua"/>
              </a:rPr>
              <a:t>using </a:t>
            </a:r>
            <a:r>
              <a:rPr sz="2600" spc="-5" dirty="0">
                <a:latin typeface="Perpetua"/>
                <a:cs typeface="Perpetua"/>
              </a:rPr>
              <a:t>0,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corresponds </a:t>
            </a:r>
            <a:r>
              <a:rPr sz="2600" spc="-5" dirty="0">
                <a:latin typeface="Perpetua"/>
                <a:cs typeface="Perpetua"/>
              </a:rPr>
              <a:t>to  no </a:t>
            </a:r>
            <a:r>
              <a:rPr sz="2600" spc="-35" dirty="0">
                <a:latin typeface="Perpetua"/>
                <a:cs typeface="Perpetua"/>
              </a:rPr>
              <a:t>power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spc="-15" dirty="0">
                <a:latin typeface="Perpetua"/>
                <a:cs typeface="Perpetua"/>
              </a:rPr>
              <a:t>False </a:t>
            </a:r>
            <a:r>
              <a:rPr sz="2600" spc="-5" dirty="0">
                <a:latin typeface="Perpetua"/>
                <a:cs typeface="Perpetua"/>
              </a:rPr>
              <a:t>and 1, </a:t>
            </a: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corresponds </a:t>
            </a:r>
            <a:r>
              <a:rPr sz="2600" spc="-5" dirty="0">
                <a:latin typeface="Perpetua"/>
                <a:cs typeface="Perpetua"/>
              </a:rPr>
              <a:t>to full </a:t>
            </a:r>
            <a:r>
              <a:rPr sz="2600" spc="-35" dirty="0">
                <a:latin typeface="Perpetua"/>
                <a:cs typeface="Perpetua"/>
              </a:rPr>
              <a:t>power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-36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True.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082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45" dirty="0">
                <a:latin typeface="Perpetua"/>
                <a:cs typeface="Perpetua"/>
              </a:rPr>
              <a:t>Truth</a:t>
            </a:r>
            <a:r>
              <a:rPr i="0" spc="-535" dirty="0">
                <a:latin typeface="Perpetua"/>
                <a:cs typeface="Perpetua"/>
              </a:rPr>
              <a:t> </a:t>
            </a:r>
            <a:r>
              <a:rPr i="0" spc="-105" dirty="0">
                <a:latin typeface="Perpetua"/>
                <a:cs typeface="Perpetua"/>
              </a:rPr>
              <a:t>Table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6350" indent="-273050" algn="just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5750" algn="l"/>
              </a:tabLst>
            </a:pPr>
            <a:r>
              <a:rPr spc="-5" dirty="0"/>
              <a:t>If </a:t>
            </a:r>
            <a:r>
              <a:rPr spc="-45" dirty="0"/>
              <a:t>we </a:t>
            </a:r>
            <a:r>
              <a:rPr dirty="0"/>
              <a:t>think </a:t>
            </a:r>
            <a:r>
              <a:rPr spc="-5" dirty="0"/>
              <a:t>of </a:t>
            </a:r>
            <a:r>
              <a:rPr spc="-35" dirty="0"/>
              <a:t>two </a:t>
            </a:r>
            <a:r>
              <a:rPr dirty="0"/>
              <a:t>signals, A </a:t>
            </a:r>
            <a:r>
              <a:rPr spc="-5" dirty="0"/>
              <a:t>and B, as representing </a:t>
            </a:r>
            <a:r>
              <a:rPr i="1" dirty="0">
                <a:latin typeface="Perpetua"/>
                <a:cs typeface="Perpetua"/>
              </a:rPr>
              <a:t>a </a:t>
            </a:r>
            <a:r>
              <a:rPr i="1" spc="5" dirty="0">
                <a:latin typeface="Perpetua"/>
                <a:cs typeface="Perpetua"/>
              </a:rPr>
              <a:t>truth </a:t>
            </a:r>
            <a:r>
              <a:rPr i="1" spc="-15" dirty="0">
                <a:latin typeface="Perpetua"/>
                <a:cs typeface="Perpetua"/>
              </a:rPr>
              <a:t>value </a:t>
            </a:r>
            <a:r>
              <a:rPr dirty="0"/>
              <a:t>of </a:t>
            </a:r>
            <a:r>
              <a:rPr spc="-35" dirty="0"/>
              <a:t>two  </a:t>
            </a:r>
            <a:r>
              <a:rPr spc="-5" dirty="0"/>
              <a:t>different propositions, </a:t>
            </a:r>
            <a:r>
              <a:rPr dirty="0"/>
              <a:t>then A could be either </a:t>
            </a:r>
            <a:r>
              <a:rPr spc="-35" dirty="0"/>
              <a:t>TRUE </a:t>
            </a:r>
            <a:r>
              <a:rPr dirty="0"/>
              <a:t>(a logical 1) </a:t>
            </a:r>
            <a:r>
              <a:rPr spc="-5" dirty="0"/>
              <a:t>or </a:t>
            </a:r>
            <a:r>
              <a:rPr spc="-25" dirty="0"/>
              <a:t>FALSE  </a:t>
            </a:r>
            <a:r>
              <a:rPr dirty="0"/>
              <a:t>(a </a:t>
            </a:r>
            <a:r>
              <a:rPr spc="5" dirty="0"/>
              <a:t>logical </a:t>
            </a:r>
            <a:r>
              <a:rPr dirty="0"/>
              <a:t>0). B can </a:t>
            </a:r>
            <a:r>
              <a:rPr spc="-10" dirty="0"/>
              <a:t>take </a:t>
            </a:r>
            <a:r>
              <a:rPr dirty="0"/>
              <a:t>on the same</a:t>
            </a:r>
            <a:r>
              <a:rPr spc="-195" dirty="0"/>
              <a:t> </a:t>
            </a:r>
            <a:r>
              <a:rPr spc="-15" dirty="0"/>
              <a:t>values.</a:t>
            </a:r>
          </a:p>
          <a:p>
            <a:pPr marL="285115" marR="5080" indent="-273050" algn="just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85750" algn="l"/>
              </a:tabLst>
            </a:pPr>
            <a:r>
              <a:rPr spc="-25" dirty="0"/>
              <a:t>Now </a:t>
            </a:r>
            <a:r>
              <a:rPr dirty="0"/>
              <a:t>consider a </a:t>
            </a:r>
            <a:r>
              <a:rPr spc="-5" dirty="0"/>
              <a:t>situation in </a:t>
            </a:r>
            <a:r>
              <a:rPr spc="5" dirty="0"/>
              <a:t>which </a:t>
            </a:r>
            <a:r>
              <a:rPr dirty="0"/>
              <a:t>the output, </a:t>
            </a:r>
            <a:r>
              <a:rPr spc="-40" dirty="0"/>
              <a:t>C, </a:t>
            </a:r>
            <a:r>
              <a:rPr dirty="0"/>
              <a:t>is </a:t>
            </a:r>
            <a:r>
              <a:rPr spc="-35" dirty="0"/>
              <a:t>TRUE </a:t>
            </a:r>
            <a:r>
              <a:rPr spc="-15" dirty="0"/>
              <a:t>only </a:t>
            </a:r>
            <a:r>
              <a:rPr dirty="0"/>
              <a:t>when both  A</a:t>
            </a:r>
            <a:r>
              <a:rPr spc="-5" dirty="0"/>
              <a:t> </a:t>
            </a:r>
            <a:r>
              <a:rPr dirty="0"/>
              <a:t>is</a:t>
            </a:r>
            <a:r>
              <a:rPr spc="-300" dirty="0"/>
              <a:t> </a:t>
            </a:r>
            <a:r>
              <a:rPr spc="-35" dirty="0"/>
              <a:t>TRUE</a:t>
            </a:r>
            <a:r>
              <a:rPr spc="-25" dirty="0"/>
              <a:t>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dirty="0"/>
              <a:t>B</a:t>
            </a:r>
            <a:r>
              <a:rPr spc="-5" dirty="0"/>
              <a:t> </a:t>
            </a:r>
            <a:r>
              <a:rPr dirty="0"/>
              <a:t>is</a:t>
            </a:r>
            <a:r>
              <a:rPr spc="-300" dirty="0"/>
              <a:t> </a:t>
            </a:r>
            <a:r>
              <a:rPr spc="-30" dirty="0"/>
              <a:t>TRUE.</a:t>
            </a:r>
          </a:p>
          <a:p>
            <a:pPr marL="315595" indent="-303530" algn="just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16230" algn="l"/>
              </a:tabLst>
            </a:pPr>
            <a:r>
              <a:rPr spc="-135" dirty="0"/>
              <a:t>We </a:t>
            </a:r>
            <a:r>
              <a:rPr dirty="0"/>
              <a:t>can </a:t>
            </a:r>
            <a:r>
              <a:rPr spc="5" dirty="0"/>
              <a:t>construct </a:t>
            </a:r>
            <a:r>
              <a:rPr dirty="0"/>
              <a:t>a </a:t>
            </a:r>
            <a:r>
              <a:rPr i="1" spc="5" dirty="0">
                <a:latin typeface="Perpetua"/>
                <a:cs typeface="Perpetua"/>
              </a:rPr>
              <a:t>truth </a:t>
            </a:r>
            <a:r>
              <a:rPr i="1" spc="-10" dirty="0">
                <a:latin typeface="Perpetua"/>
                <a:cs typeface="Perpetua"/>
              </a:rPr>
              <a:t>table </a:t>
            </a:r>
            <a:r>
              <a:rPr dirty="0"/>
              <a:t>for this</a:t>
            </a:r>
            <a:r>
              <a:rPr spc="-310" dirty="0"/>
              <a:t> </a:t>
            </a:r>
            <a:r>
              <a:rPr spc="-5" dirty="0"/>
              <a:t>situation.</a:t>
            </a:r>
          </a:p>
          <a:p>
            <a:pPr marL="285115" marR="5080" indent="-273050" algn="just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54330" algn="l"/>
              </a:tabLst>
            </a:pPr>
            <a:r>
              <a:rPr dirty="0"/>
              <a:t>	In the </a:t>
            </a:r>
            <a:r>
              <a:rPr spc="10" dirty="0"/>
              <a:t>truth </a:t>
            </a:r>
            <a:r>
              <a:rPr spc="-10" dirty="0"/>
              <a:t>table </a:t>
            </a:r>
            <a:r>
              <a:rPr spc="-5" dirty="0"/>
              <a:t>(Figure: </a:t>
            </a:r>
            <a:r>
              <a:rPr spc="-25" dirty="0"/>
              <a:t>Truth </a:t>
            </a:r>
            <a:r>
              <a:rPr spc="-45" dirty="0"/>
              <a:t>Table), we </a:t>
            </a:r>
            <a:r>
              <a:rPr spc="10" dirty="0"/>
              <a:t>insert </a:t>
            </a:r>
            <a:r>
              <a:rPr spc="-5" dirty="0"/>
              <a:t>all </a:t>
            </a:r>
            <a:r>
              <a:rPr dirty="0"/>
              <a:t>of the </a:t>
            </a:r>
            <a:r>
              <a:rPr spc="-5" dirty="0"/>
              <a:t>possible  combinations </a:t>
            </a:r>
            <a:r>
              <a:rPr dirty="0"/>
              <a:t>of inputs, A </a:t>
            </a:r>
            <a:r>
              <a:rPr spc="-5" dirty="0"/>
              <a:t>and B, and </a:t>
            </a:r>
            <a:r>
              <a:rPr dirty="0"/>
              <a:t>for </a:t>
            </a:r>
            <a:r>
              <a:rPr spc="-15" dirty="0"/>
              <a:t>every </a:t>
            </a:r>
            <a:r>
              <a:rPr spc="-5" dirty="0"/>
              <a:t>combination </a:t>
            </a:r>
            <a:r>
              <a:rPr dirty="0"/>
              <a:t>of A </a:t>
            </a:r>
            <a:r>
              <a:rPr spc="-10" dirty="0"/>
              <a:t>and </a:t>
            </a:r>
            <a:r>
              <a:rPr dirty="0"/>
              <a:t>B </a:t>
            </a:r>
            <a:r>
              <a:rPr spc="-95" dirty="0"/>
              <a:t>we  </a:t>
            </a:r>
            <a:r>
              <a:rPr spc="-5" dirty="0"/>
              <a:t>list </a:t>
            </a:r>
            <a:r>
              <a:rPr dirty="0"/>
              <a:t>the output,</a:t>
            </a:r>
            <a:r>
              <a:rPr spc="-120" dirty="0"/>
              <a:t> </a:t>
            </a:r>
            <a:r>
              <a:rPr spc="-40" dirty="0"/>
              <a:t>C.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108450" y="4794250"/>
          <a:ext cx="335280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7600"/>
                <a:gridCol w="1117600"/>
                <a:gridCol w="1117600"/>
              </a:tblGrid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A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B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C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latin typeface="Perpetua"/>
                          <a:cs typeface="Perpetua"/>
                        </a:rPr>
                        <a:t>False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latin typeface="Perpetua"/>
                          <a:cs typeface="Perpetua"/>
                        </a:rPr>
                        <a:t>False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latin typeface="Perpetua"/>
                          <a:cs typeface="Perpetua"/>
                        </a:rPr>
                        <a:t>False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latin typeface="Perpetua"/>
                          <a:cs typeface="Perpetua"/>
                        </a:rPr>
                        <a:t>False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20" dirty="0">
                          <a:latin typeface="Perpetua"/>
                          <a:cs typeface="Perpetua"/>
                        </a:rPr>
                        <a:t>True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latin typeface="Perpetua"/>
                          <a:cs typeface="Perpetua"/>
                        </a:rPr>
                        <a:t>False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20" dirty="0">
                          <a:latin typeface="Perpetua"/>
                          <a:cs typeface="Perpetua"/>
                        </a:rPr>
                        <a:t>True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latin typeface="Perpetua"/>
                          <a:cs typeface="Perpetua"/>
                        </a:rPr>
                        <a:t>False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latin typeface="Perpetua"/>
                          <a:cs typeface="Perpetua"/>
                        </a:rPr>
                        <a:t>False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spc="-20" dirty="0">
                          <a:latin typeface="Perpetua"/>
                          <a:cs typeface="Perpetua"/>
                        </a:rPr>
                        <a:t>True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spc="-20" dirty="0">
                          <a:latin typeface="Perpetua"/>
                          <a:cs typeface="Perpetua"/>
                        </a:rPr>
                        <a:t>True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spc="-20" dirty="0">
                          <a:latin typeface="Perpetua"/>
                          <a:cs typeface="Perpetua"/>
                        </a:rPr>
                        <a:t>True</a:t>
                      </a:r>
                      <a:endParaRPr sz="1200">
                        <a:latin typeface="Perpetua"/>
                        <a:cs typeface="Perpetu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880228" y="6327140"/>
            <a:ext cx="1558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Figure:Truth</a:t>
            </a:r>
            <a:r>
              <a:rPr sz="1800" spc="-280" dirty="0">
                <a:latin typeface="Perpetua"/>
                <a:cs typeface="Perpetua"/>
              </a:rPr>
              <a:t> </a:t>
            </a:r>
            <a:r>
              <a:rPr sz="1800" spc="-50" dirty="0">
                <a:latin typeface="Perpetua"/>
                <a:cs typeface="Perpetua"/>
              </a:rPr>
              <a:t>Table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777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Perpetua"/>
                <a:cs typeface="Perpetua"/>
              </a:rPr>
              <a:t>Schematic </a:t>
            </a:r>
            <a:r>
              <a:rPr i="0" spc="-5" dirty="0">
                <a:latin typeface="Perpetua"/>
                <a:cs typeface="Perpetua"/>
              </a:rPr>
              <a:t>notation </a:t>
            </a:r>
            <a:r>
              <a:rPr i="0" dirty="0">
                <a:latin typeface="Perpetua"/>
                <a:cs typeface="Perpetua"/>
              </a:rPr>
              <a:t>for </a:t>
            </a:r>
            <a:r>
              <a:rPr i="0" spc="-5" dirty="0">
                <a:latin typeface="Perpetua"/>
                <a:cs typeface="Perpetua"/>
              </a:rPr>
              <a:t>Boolean </a:t>
            </a:r>
            <a:r>
              <a:rPr i="0" spc="10" dirty="0">
                <a:latin typeface="Perpetua"/>
                <a:cs typeface="Perpetua"/>
              </a:rPr>
              <a:t>logic</a:t>
            </a:r>
            <a:r>
              <a:rPr i="0" spc="-25" dirty="0">
                <a:latin typeface="Perpetua"/>
                <a:cs typeface="Perpetua"/>
              </a:rPr>
              <a:t> </a:t>
            </a:r>
            <a:r>
              <a:rPr i="0" spc="-10" dirty="0">
                <a:latin typeface="Perpetua"/>
                <a:cs typeface="Perpetua"/>
              </a:rPr>
              <a:t>gates</a:t>
            </a:r>
          </a:p>
        </p:txBody>
      </p:sp>
      <p:sp>
        <p:nvSpPr>
          <p:cNvPr id="3" name="object 3"/>
          <p:cNvSpPr/>
          <p:nvPr/>
        </p:nvSpPr>
        <p:spPr>
          <a:xfrm>
            <a:off x="2667000" y="3962400"/>
            <a:ext cx="3886200" cy="60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38400" y="2362200"/>
            <a:ext cx="1251203" cy="4199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12691" y="2362200"/>
            <a:ext cx="1153667" cy="4204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6691" y="2286000"/>
            <a:ext cx="1341848" cy="543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7340" y="1438097"/>
            <a:ext cx="8531225" cy="466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Wingdings 2"/>
              <a:buChar char=""/>
              <a:tabLst>
                <a:tab pos="286385" algn="l"/>
                <a:tab pos="287020" algn="l"/>
                <a:tab pos="1096010" algn="l"/>
                <a:tab pos="1750060" algn="l"/>
                <a:tab pos="2315210" algn="l"/>
                <a:tab pos="3074670" algn="l"/>
                <a:tab pos="3780154" algn="l"/>
                <a:tab pos="4497070" algn="l"/>
                <a:tab pos="5007610" algn="l"/>
                <a:tab pos="5934075" algn="l"/>
                <a:tab pos="6793865" algn="l"/>
                <a:tab pos="7539355" algn="l"/>
              </a:tabLst>
            </a:pPr>
            <a:r>
              <a:rPr sz="2400" spc="-60" dirty="0">
                <a:latin typeface="Perpetua"/>
                <a:cs typeface="Perpetua"/>
              </a:rPr>
              <a:t>AND,	</a:t>
            </a:r>
            <a:r>
              <a:rPr sz="2400" dirty="0">
                <a:latin typeface="Perpetua"/>
                <a:cs typeface="Perpetua"/>
              </a:rPr>
              <a:t>OR,	</a:t>
            </a:r>
            <a:r>
              <a:rPr sz="2400" spc="-5" dirty="0">
                <a:latin typeface="Perpetua"/>
                <a:cs typeface="Perpetua"/>
              </a:rPr>
              <a:t>and	</a:t>
            </a:r>
            <a:r>
              <a:rPr sz="2400" spc="-30" dirty="0">
                <a:latin typeface="Perpetua"/>
                <a:cs typeface="Perpetua"/>
              </a:rPr>
              <a:t>NOT	</a:t>
            </a:r>
            <a:r>
              <a:rPr sz="2400" dirty="0">
                <a:latin typeface="Perpetua"/>
                <a:cs typeface="Perpetua"/>
              </a:rPr>
              <a:t>logic	</a:t>
            </a:r>
            <a:r>
              <a:rPr sz="2400" spc="-10" dirty="0">
                <a:latin typeface="Perpetua"/>
                <a:cs typeface="Perpetua"/>
              </a:rPr>
              <a:t>gates	are	usually	</a:t>
            </a:r>
            <a:r>
              <a:rPr sz="2400" spc="-20" dirty="0">
                <a:latin typeface="Perpetua"/>
                <a:cs typeface="Perpetua"/>
              </a:rPr>
              <a:t>drawn	</a:t>
            </a:r>
            <a:r>
              <a:rPr sz="2400" spc="-5" dirty="0">
                <a:latin typeface="Perpetua"/>
                <a:cs typeface="Perpetua"/>
              </a:rPr>
              <a:t>using	symbolic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forms(Figure: </a:t>
            </a:r>
            <a:r>
              <a:rPr sz="2400" spc="-5" dirty="0">
                <a:latin typeface="Perpetua"/>
                <a:cs typeface="Perpetua"/>
              </a:rPr>
              <a:t>Symbolic </a:t>
            </a:r>
            <a:r>
              <a:rPr sz="2400" spc="10" dirty="0">
                <a:latin typeface="Perpetua"/>
                <a:cs typeface="Perpetua"/>
              </a:rPr>
              <a:t>forms </a:t>
            </a:r>
            <a:r>
              <a:rPr sz="2400" dirty="0">
                <a:latin typeface="Perpetua"/>
                <a:cs typeface="Perpetua"/>
              </a:rPr>
              <a:t>for </a:t>
            </a:r>
            <a:r>
              <a:rPr sz="2400" spc="-60" dirty="0">
                <a:latin typeface="Perpetua"/>
                <a:cs typeface="Perpetua"/>
              </a:rPr>
              <a:t>AND,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38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NOT).</a:t>
            </a:r>
            <a:endParaRPr sz="2400">
              <a:latin typeface="Perpetua"/>
              <a:cs typeface="Perpetua"/>
            </a:endParaRPr>
          </a:p>
          <a:p>
            <a:pPr marL="8890" algn="ctr">
              <a:lnSpc>
                <a:spcPct val="100000"/>
              </a:lnSpc>
              <a:spcBef>
                <a:spcPts val="2205"/>
              </a:spcBef>
              <a:tabLst>
                <a:tab pos="1583055" algn="l"/>
                <a:tab pos="3096895" algn="l"/>
              </a:tabLst>
            </a:pPr>
            <a:r>
              <a:rPr sz="1200" spc="-5" dirty="0">
                <a:latin typeface="Perpetua"/>
                <a:cs typeface="Perpetua"/>
              </a:rPr>
              <a:t>AND	</a:t>
            </a:r>
            <a:r>
              <a:rPr sz="1200" dirty="0">
                <a:latin typeface="Perpetua"/>
                <a:cs typeface="Perpetua"/>
              </a:rPr>
              <a:t>OR	</a:t>
            </a:r>
            <a:r>
              <a:rPr sz="1200" spc="-15" dirty="0">
                <a:latin typeface="Perpetua"/>
                <a:cs typeface="Perpetua"/>
              </a:rPr>
              <a:t>NOT</a:t>
            </a:r>
            <a:endParaRPr sz="1200">
              <a:latin typeface="Perpetua"/>
              <a:cs typeface="Perpetua"/>
            </a:endParaRPr>
          </a:p>
          <a:p>
            <a:pPr marL="2292985">
              <a:lnSpc>
                <a:spcPct val="100000"/>
              </a:lnSpc>
              <a:spcBef>
                <a:spcPts val="1105"/>
              </a:spcBef>
            </a:pPr>
            <a:r>
              <a:rPr sz="2000" spc="-5" dirty="0">
                <a:latin typeface="Perpetua"/>
                <a:cs typeface="Perpetua"/>
              </a:rPr>
              <a:t>Figure: Symbolic </a:t>
            </a:r>
            <a:r>
              <a:rPr sz="2000" spc="5" dirty="0">
                <a:latin typeface="Perpetua"/>
                <a:cs typeface="Perpetua"/>
              </a:rPr>
              <a:t>forms </a:t>
            </a:r>
            <a:r>
              <a:rPr sz="2000" spc="-5" dirty="0">
                <a:latin typeface="Perpetua"/>
                <a:cs typeface="Perpetua"/>
              </a:rPr>
              <a:t>for </a:t>
            </a:r>
            <a:r>
              <a:rPr sz="2000" spc="-50" dirty="0">
                <a:latin typeface="Perpetua"/>
                <a:cs typeface="Perpetua"/>
              </a:rPr>
              <a:t>AND, </a:t>
            </a:r>
            <a:r>
              <a:rPr sz="2000" spc="5" dirty="0">
                <a:latin typeface="Perpetua"/>
                <a:cs typeface="Perpetua"/>
              </a:rPr>
              <a:t>OR </a:t>
            </a:r>
            <a:r>
              <a:rPr sz="2000" spc="-5" dirty="0">
                <a:latin typeface="Perpetua"/>
                <a:cs typeface="Perpetua"/>
              </a:rPr>
              <a:t>and</a:t>
            </a:r>
            <a:r>
              <a:rPr sz="2000" spc="-270" dirty="0">
                <a:latin typeface="Perpetua"/>
                <a:cs typeface="Perpetua"/>
              </a:rPr>
              <a:t> </a:t>
            </a:r>
            <a:r>
              <a:rPr sz="2000" spc="-25" dirty="0">
                <a:latin typeface="Perpetua"/>
                <a:cs typeface="Perpetua"/>
              </a:rPr>
              <a:t>NOT</a:t>
            </a:r>
            <a:endParaRPr sz="20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409"/>
              </a:spcBef>
              <a:buSzPct val="85416"/>
              <a:buFont typeface="Wingdings 2"/>
              <a:buChar char=""/>
              <a:tabLst>
                <a:tab pos="286385" algn="l"/>
                <a:tab pos="287020" algn="l"/>
              </a:tabLst>
            </a:pPr>
            <a:r>
              <a:rPr sz="2400" i="1" dirty="0">
                <a:latin typeface="Perpetua"/>
                <a:cs typeface="Perpetua"/>
              </a:rPr>
              <a:t>Simple </a:t>
            </a:r>
            <a:r>
              <a:rPr sz="2400" i="1" spc="-5" dirty="0">
                <a:latin typeface="Perpetua"/>
                <a:cs typeface="Perpetua"/>
              </a:rPr>
              <a:t>propositions </a:t>
            </a:r>
            <a:r>
              <a:rPr sz="2400" dirty="0">
                <a:latin typeface="Perpetua"/>
                <a:cs typeface="Perpetua"/>
              </a:rPr>
              <a:t>can be </a:t>
            </a:r>
            <a:r>
              <a:rPr sz="2400" spc="-5" dirty="0">
                <a:latin typeface="Perpetua"/>
                <a:cs typeface="Perpetua"/>
              </a:rPr>
              <a:t>represented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one of these </a:t>
            </a:r>
            <a:r>
              <a:rPr sz="2400" spc="5" dirty="0">
                <a:latin typeface="Perpetua"/>
                <a:cs typeface="Perpetua"/>
              </a:rPr>
              <a:t>logic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gates.</a:t>
            </a:r>
            <a:endParaRPr sz="2400">
              <a:latin typeface="Perpetua"/>
              <a:cs typeface="Perpetua"/>
            </a:endParaRPr>
          </a:p>
          <a:p>
            <a:pPr marL="744220" lvl="1" indent="-274955">
              <a:lnSpc>
                <a:spcPct val="100000"/>
              </a:lnSpc>
              <a:spcBef>
                <a:spcPts val="600"/>
              </a:spcBef>
              <a:buSzPct val="85416"/>
              <a:buFont typeface="Wingdings 2"/>
              <a:buChar char=""/>
              <a:tabLst>
                <a:tab pos="744220" algn="l"/>
                <a:tab pos="744855" algn="l"/>
              </a:tabLst>
            </a:pPr>
            <a:r>
              <a:rPr sz="2400" dirty="0">
                <a:latin typeface="Perpetua"/>
                <a:cs typeface="Perpetua"/>
              </a:rPr>
              <a:t>P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</a:t>
            </a:r>
            <a:endParaRPr sz="2400">
              <a:latin typeface="Perpetua"/>
              <a:cs typeface="Perpetua"/>
            </a:endParaRPr>
          </a:p>
          <a:p>
            <a:pPr marL="744220" lvl="1" indent="-274955">
              <a:lnSpc>
                <a:spcPct val="100000"/>
              </a:lnSpc>
              <a:spcBef>
                <a:spcPts val="600"/>
              </a:spcBef>
              <a:buSzPct val="85416"/>
              <a:buFont typeface="Wingdings 2"/>
              <a:buChar char=""/>
              <a:tabLst>
                <a:tab pos="744220" algn="l"/>
                <a:tab pos="744855" algn="l"/>
              </a:tabLst>
            </a:pPr>
            <a:r>
              <a:rPr sz="2400" dirty="0">
                <a:latin typeface="Perpetua"/>
                <a:cs typeface="Perpetua"/>
              </a:rPr>
              <a:t>P or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</a:t>
            </a:r>
            <a:endParaRPr sz="2400">
              <a:latin typeface="Perpetua"/>
              <a:cs typeface="Perpetua"/>
            </a:endParaRPr>
          </a:p>
          <a:p>
            <a:pPr marL="744220" lvl="1" indent="-274955">
              <a:lnSpc>
                <a:spcPct val="100000"/>
              </a:lnSpc>
              <a:spcBef>
                <a:spcPts val="605"/>
              </a:spcBef>
              <a:buSzPct val="85416"/>
              <a:buFont typeface="Wingdings 2"/>
              <a:buChar char=""/>
              <a:tabLst>
                <a:tab pos="744220" algn="l"/>
                <a:tab pos="744855" algn="l"/>
              </a:tabLst>
            </a:pPr>
            <a:r>
              <a:rPr sz="2400" dirty="0">
                <a:latin typeface="Perpetua"/>
                <a:cs typeface="Perpetua"/>
              </a:rPr>
              <a:t>Not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5416"/>
              <a:buFont typeface="Wingdings 2"/>
              <a:buChar char=""/>
              <a:tabLst>
                <a:tab pos="286385" algn="l"/>
                <a:tab pos="287020" algn="l"/>
              </a:tabLst>
            </a:pPr>
            <a:r>
              <a:rPr sz="2400" i="1" spc="-5" dirty="0">
                <a:latin typeface="Perpetua"/>
                <a:cs typeface="Perpetua"/>
              </a:rPr>
              <a:t>Compound </a:t>
            </a:r>
            <a:r>
              <a:rPr sz="2400" i="1" dirty="0">
                <a:latin typeface="Perpetua"/>
                <a:cs typeface="Perpetua"/>
              </a:rPr>
              <a:t>propositions </a:t>
            </a:r>
            <a:r>
              <a:rPr sz="2400" dirty="0">
                <a:latin typeface="Perpetua"/>
                <a:cs typeface="Perpetua"/>
              </a:rPr>
              <a:t>can be </a:t>
            </a:r>
            <a:r>
              <a:rPr sz="2400" spc="-5" dirty="0">
                <a:latin typeface="Perpetua"/>
                <a:cs typeface="Perpetua"/>
              </a:rPr>
              <a:t>represented as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combination </a:t>
            </a:r>
            <a:r>
              <a:rPr sz="2400" dirty="0">
                <a:latin typeface="Perpetua"/>
                <a:cs typeface="Perpetua"/>
              </a:rPr>
              <a:t>of these </a:t>
            </a:r>
            <a:r>
              <a:rPr sz="2400" spc="-5" dirty="0">
                <a:latin typeface="Perpetua"/>
                <a:cs typeface="Perpetua"/>
              </a:rPr>
              <a:t>simple  </a:t>
            </a:r>
            <a:r>
              <a:rPr sz="2400" spc="5" dirty="0">
                <a:latin typeface="Perpetua"/>
                <a:cs typeface="Perpetua"/>
              </a:rPr>
              <a:t>logic</a:t>
            </a:r>
            <a:r>
              <a:rPr sz="240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gates.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Wingdings 2"/>
              <a:buChar char=""/>
              <a:tabLst>
                <a:tab pos="286385" algn="l"/>
                <a:tab pos="287020" algn="l"/>
              </a:tabLst>
            </a:pPr>
            <a:r>
              <a:rPr sz="2400" i="1" dirty="0">
                <a:latin typeface="Perpetua"/>
                <a:cs typeface="Perpetua"/>
              </a:rPr>
              <a:t>Digital </a:t>
            </a:r>
            <a:r>
              <a:rPr sz="2400" i="1" spc="-5" dirty="0">
                <a:latin typeface="Perpetua"/>
                <a:cs typeface="Perpetua"/>
              </a:rPr>
              <a:t>circuits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5" dirty="0">
                <a:latin typeface="Perpetua"/>
                <a:cs typeface="Perpetua"/>
              </a:rPr>
              <a:t>therefore </a:t>
            </a:r>
            <a:r>
              <a:rPr sz="2400" spc="-10" dirty="0">
                <a:latin typeface="Perpetua"/>
                <a:cs typeface="Perpetua"/>
              </a:rPr>
              <a:t>equivalent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compound </a:t>
            </a:r>
            <a:r>
              <a:rPr sz="2400" spc="-5" dirty="0">
                <a:latin typeface="Perpetua"/>
                <a:cs typeface="Perpetua"/>
              </a:rPr>
              <a:t>Boolean</a:t>
            </a:r>
            <a:r>
              <a:rPr sz="2400" spc="3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propositions.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6302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10" dirty="0">
                <a:latin typeface="Perpetua"/>
                <a:cs typeface="Perpetua"/>
              </a:rPr>
              <a:t>Control </a:t>
            </a:r>
            <a:r>
              <a:rPr i="0" spc="-50" dirty="0">
                <a:latin typeface="Perpetua"/>
                <a:cs typeface="Perpetua"/>
              </a:rPr>
              <a:t>two</a:t>
            </a:r>
            <a:r>
              <a:rPr i="0" spc="-75" dirty="0">
                <a:latin typeface="Perpetua"/>
                <a:cs typeface="Perpetua"/>
              </a:rPr>
              <a:t> </a:t>
            </a:r>
            <a:r>
              <a:rPr i="0" dirty="0">
                <a:latin typeface="Perpetua"/>
                <a:cs typeface="Perpetua"/>
              </a:rPr>
              <a:t>pumps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10665"/>
            <a:ext cx="8531860" cy="5068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 algn="just">
              <a:lnSpc>
                <a:spcPts val="2735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need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control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dirty="0">
                <a:latin typeface="Perpetua"/>
                <a:cs typeface="Perpetua"/>
              </a:rPr>
              <a:t>pumps </a:t>
            </a:r>
            <a:r>
              <a:rPr sz="2400" spc="-10" dirty="0">
                <a:latin typeface="Perpetua"/>
                <a:cs typeface="Perpetua"/>
              </a:rPr>
              <a:t>that supply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spc="-5" dirty="0">
                <a:latin typeface="Perpetua"/>
                <a:cs typeface="Perpetua"/>
              </a:rPr>
              <a:t>different concentrations</a:t>
            </a:r>
            <a:r>
              <a:rPr sz="2400" spc="4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of</a:t>
            </a:r>
            <a:endParaRPr sz="2400">
              <a:latin typeface="Perpetua"/>
              <a:cs typeface="Perpetua"/>
            </a:endParaRPr>
          </a:p>
          <a:p>
            <a:pPr marL="286385" algn="just">
              <a:lnSpc>
                <a:spcPts val="2735"/>
              </a:lnSpc>
            </a:pPr>
            <a:r>
              <a:rPr sz="2400" spc="-10" dirty="0">
                <a:latin typeface="Perpetua"/>
                <a:cs typeface="Perpetua"/>
              </a:rPr>
              <a:t>reactant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5" dirty="0">
                <a:latin typeface="Perpetua"/>
                <a:cs typeface="Perpetua"/>
              </a:rPr>
              <a:t>chemical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process.</a:t>
            </a:r>
            <a:endParaRPr sz="24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590"/>
              </a:lnSpc>
              <a:spcBef>
                <a:spcPts val="64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strong </a:t>
            </a:r>
            <a:r>
              <a:rPr sz="2400" spc="-10" dirty="0">
                <a:latin typeface="Perpetua"/>
                <a:cs typeface="Perpetua"/>
              </a:rPr>
              <a:t>reactant </a:t>
            </a:r>
            <a:r>
              <a:rPr sz="2400" dirty="0">
                <a:latin typeface="Perpetua"/>
                <a:cs typeface="Perpetua"/>
              </a:rPr>
              <a:t>is used when pH is </a:t>
            </a:r>
            <a:r>
              <a:rPr sz="2400" spc="-10" dirty="0">
                <a:latin typeface="Perpetua"/>
                <a:cs typeface="Perpetua"/>
              </a:rPr>
              <a:t>very far from </a:t>
            </a:r>
            <a:r>
              <a:rPr sz="2400" spc="-5" dirty="0">
                <a:latin typeface="Perpetua"/>
                <a:cs typeface="Perpetua"/>
              </a:rPr>
              <a:t>the desired </a:t>
            </a:r>
            <a:r>
              <a:rPr sz="2400" spc="-20" dirty="0">
                <a:latin typeface="Perpetua"/>
                <a:cs typeface="Perpetua"/>
              </a:rPr>
              <a:t>value, </a:t>
            </a:r>
            <a:r>
              <a:rPr sz="2400" spc="-5" dirty="0">
                <a:latin typeface="Perpetua"/>
                <a:cs typeface="Perpetua"/>
              </a:rPr>
              <a:t>and 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25" dirty="0">
                <a:latin typeface="Perpetua"/>
                <a:cs typeface="Perpetua"/>
              </a:rPr>
              <a:t>weak </a:t>
            </a:r>
            <a:r>
              <a:rPr sz="2400" spc="-10" dirty="0">
                <a:latin typeface="Perpetua"/>
                <a:cs typeface="Perpetua"/>
              </a:rPr>
              <a:t>reactant </a:t>
            </a:r>
            <a:r>
              <a:rPr sz="2400" dirty="0">
                <a:latin typeface="Perpetua"/>
                <a:cs typeface="Perpetua"/>
              </a:rPr>
              <a:t>when pH is close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desired.</a:t>
            </a:r>
            <a:endParaRPr sz="24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27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i="1" spc="-70" dirty="0">
                <a:latin typeface="Perpetua"/>
                <a:cs typeface="Perpetua"/>
              </a:rPr>
              <a:t>You </a:t>
            </a:r>
            <a:r>
              <a:rPr sz="2400" i="1" dirty="0">
                <a:latin typeface="Perpetua"/>
                <a:cs typeface="Perpetua"/>
              </a:rPr>
              <a:t>need </a:t>
            </a:r>
            <a:r>
              <a:rPr sz="2400" i="1" spc="-5" dirty="0">
                <a:latin typeface="Perpetua"/>
                <a:cs typeface="Perpetua"/>
              </a:rPr>
              <a:t>to </a:t>
            </a:r>
            <a:r>
              <a:rPr sz="2400" i="1" spc="-10" dirty="0">
                <a:latin typeface="Perpetua"/>
                <a:cs typeface="Perpetua"/>
              </a:rPr>
              <a:t>ensure that </a:t>
            </a:r>
            <a:r>
              <a:rPr sz="2400" i="1" spc="-15" dirty="0">
                <a:latin typeface="Perpetua"/>
                <a:cs typeface="Perpetua"/>
              </a:rPr>
              <a:t>only </a:t>
            </a:r>
            <a:r>
              <a:rPr sz="2400" i="1" spc="-5" dirty="0">
                <a:latin typeface="Perpetua"/>
                <a:cs typeface="Perpetua"/>
              </a:rPr>
              <a:t>one of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two </a:t>
            </a:r>
            <a:r>
              <a:rPr sz="2400" i="1" spc="-5" dirty="0">
                <a:latin typeface="Perpetua"/>
                <a:cs typeface="Perpetua"/>
              </a:rPr>
              <a:t>pumps </a:t>
            </a:r>
            <a:r>
              <a:rPr sz="2400" i="1" dirty="0">
                <a:latin typeface="Perpetua"/>
                <a:cs typeface="Perpetua"/>
              </a:rPr>
              <a:t>runs </a:t>
            </a:r>
            <a:r>
              <a:rPr sz="2400" i="1" spc="-15" dirty="0">
                <a:latin typeface="Perpetua"/>
                <a:cs typeface="Perpetua"/>
              </a:rPr>
              <a:t>at </a:t>
            </a:r>
            <a:r>
              <a:rPr sz="2400" i="1" spc="-20" dirty="0">
                <a:latin typeface="Perpetua"/>
                <a:cs typeface="Perpetua"/>
              </a:rPr>
              <a:t>any</a:t>
            </a:r>
            <a:r>
              <a:rPr sz="2400" i="1" spc="10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time</a:t>
            </a:r>
            <a:r>
              <a:rPr sz="240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6385" marR="6985" indent="-274320" algn="just">
              <a:lnSpc>
                <a:spcPts val="2590"/>
              </a:lnSpc>
              <a:spcBef>
                <a:spcPts val="64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dirty="0">
                <a:latin typeface="Perpetua"/>
                <a:cs typeface="Perpetua"/>
              </a:rPr>
              <a:t>pump </a:t>
            </a:r>
            <a:r>
              <a:rPr sz="2400" spc="-5" dirty="0">
                <a:latin typeface="Perpetua"/>
                <a:cs typeface="Perpetua"/>
              </a:rPr>
              <a:t>controller </a:t>
            </a:r>
            <a:r>
              <a:rPr sz="2400" dirty="0">
                <a:latin typeface="Perpetua"/>
                <a:cs typeface="Perpetua"/>
              </a:rPr>
              <a:t>(S </a:t>
            </a:r>
            <a:r>
              <a:rPr sz="2400" spc="-5" dirty="0">
                <a:latin typeface="Perpetua"/>
                <a:cs typeface="Perpetua"/>
              </a:rPr>
              <a:t>and W) responds to standard </a:t>
            </a:r>
            <a:r>
              <a:rPr sz="2400" spc="5" dirty="0">
                <a:latin typeface="Perpetua"/>
                <a:cs typeface="Perpetua"/>
              </a:rPr>
              <a:t>logic </a:t>
            </a:r>
            <a:r>
              <a:rPr sz="2400" dirty="0">
                <a:latin typeface="Perpetua"/>
                <a:cs typeface="Perpetua"/>
              </a:rPr>
              <a:t>signals,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is  when the input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pump controller is </a:t>
            </a:r>
            <a:r>
              <a:rPr sz="2400" dirty="0">
                <a:latin typeface="Perpetua"/>
                <a:cs typeface="Perpetua"/>
              </a:rPr>
              <a:t>1, the pump </a:t>
            </a:r>
            <a:r>
              <a:rPr sz="2400" spc="-5" dirty="0">
                <a:latin typeface="Perpetua"/>
                <a:cs typeface="Perpetua"/>
              </a:rPr>
              <a:t>operates, and </a:t>
            </a:r>
            <a:r>
              <a:rPr sz="2400" dirty="0">
                <a:latin typeface="Perpetua"/>
                <a:cs typeface="Perpetua"/>
              </a:rPr>
              <a:t>when 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input is 0, the pump does not</a:t>
            </a:r>
            <a:r>
              <a:rPr sz="2400" spc="-17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operate.</a:t>
            </a:r>
            <a:endParaRPr sz="24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590"/>
              </a:lnSpc>
              <a:spcBef>
                <a:spcPts val="61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dirty="0">
                <a:latin typeface="Perpetua"/>
                <a:cs typeface="Perpetua"/>
              </a:rPr>
              <a:t>a bunch of </a:t>
            </a:r>
            <a:r>
              <a:rPr sz="2400" spc="-15" dirty="0">
                <a:latin typeface="Perpetua"/>
                <a:cs typeface="Perpetua"/>
              </a:rPr>
              <a:t>two-input </a:t>
            </a:r>
            <a:r>
              <a:rPr sz="2400" spc="-5" dirty="0">
                <a:latin typeface="Perpetua"/>
                <a:cs typeface="Perpetua"/>
              </a:rPr>
              <a:t>AND gates,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10" dirty="0">
                <a:latin typeface="Perpetua"/>
                <a:cs typeface="Perpetua"/>
              </a:rPr>
              <a:t>gates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Inverters,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i="1" spc="-20" dirty="0">
                <a:latin typeface="Perpetua"/>
                <a:cs typeface="Perpetua"/>
              </a:rPr>
              <a:t>you  </a:t>
            </a:r>
            <a:r>
              <a:rPr sz="2400" i="1" dirty="0">
                <a:latin typeface="Perpetua"/>
                <a:cs typeface="Perpetua"/>
              </a:rPr>
              <a:t>need to design a </a:t>
            </a:r>
            <a:r>
              <a:rPr sz="2400" i="1" spc="-15" dirty="0">
                <a:latin typeface="Perpetua"/>
                <a:cs typeface="Perpetua"/>
              </a:rPr>
              <a:t>logic </a:t>
            </a:r>
            <a:r>
              <a:rPr sz="2400" i="1" dirty="0">
                <a:latin typeface="Perpetua"/>
                <a:cs typeface="Perpetua"/>
              </a:rPr>
              <a:t>circuit to </a:t>
            </a:r>
            <a:r>
              <a:rPr sz="2400" i="1" spc="-5" dirty="0">
                <a:latin typeface="Perpetua"/>
                <a:cs typeface="Perpetua"/>
              </a:rPr>
              <a:t>control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-4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pumps</a:t>
            </a:r>
            <a:r>
              <a:rPr sz="2400" spc="-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6385" marR="6350" indent="-274320" algn="just">
              <a:lnSpc>
                <a:spcPts val="259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04165" algn="l"/>
              </a:tabLst>
            </a:pP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can </a:t>
            </a:r>
            <a:r>
              <a:rPr sz="2400" spc="-10" dirty="0">
                <a:latin typeface="Perpetua"/>
                <a:cs typeface="Perpetua"/>
              </a:rPr>
              <a:t>generate </a:t>
            </a:r>
            <a:r>
              <a:rPr sz="2400" dirty="0">
                <a:latin typeface="Perpetua"/>
                <a:cs typeface="Perpetua"/>
              </a:rPr>
              <a:t>a signal </a:t>
            </a:r>
            <a:r>
              <a:rPr sz="2400" spc="-5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is 1 </a:t>
            </a:r>
            <a:r>
              <a:rPr sz="2400" spc="-5" dirty="0">
                <a:latin typeface="Perpetua"/>
                <a:cs typeface="Perpetua"/>
              </a:rPr>
              <a:t>when </a:t>
            </a:r>
            <a:r>
              <a:rPr sz="2400" dirty="0">
                <a:latin typeface="Perpetua"/>
                <a:cs typeface="Perpetua"/>
              </a:rPr>
              <a:t>Pump S </a:t>
            </a:r>
            <a:r>
              <a:rPr sz="2400" spc="-5" dirty="0">
                <a:latin typeface="Perpetua"/>
                <a:cs typeface="Perpetua"/>
              </a:rPr>
              <a:t>is </a:t>
            </a:r>
            <a:r>
              <a:rPr sz="2400" spc="-55" dirty="0">
                <a:latin typeface="Perpetua"/>
                <a:cs typeface="Perpetua"/>
              </a:rPr>
              <a:t>ON,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0 </a:t>
            </a:r>
            <a:r>
              <a:rPr sz="2400" spc="-5" dirty="0">
                <a:latin typeface="Perpetua"/>
                <a:cs typeface="Perpetua"/>
              </a:rPr>
              <a:t>when Pump  </a:t>
            </a:r>
            <a:r>
              <a:rPr sz="2400" dirty="0">
                <a:latin typeface="Perpetua"/>
                <a:cs typeface="Perpetua"/>
              </a:rPr>
              <a:t>W is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55" dirty="0">
                <a:latin typeface="Perpetua"/>
                <a:cs typeface="Perpetua"/>
              </a:rPr>
              <a:t>ON.</a:t>
            </a:r>
            <a:endParaRPr sz="2400">
              <a:latin typeface="Perpetua"/>
              <a:cs typeface="Perpetua"/>
            </a:endParaRPr>
          </a:p>
          <a:p>
            <a:pPr marL="5663565" lvl="1" indent="-240665">
              <a:lnSpc>
                <a:spcPct val="100000"/>
              </a:lnSpc>
              <a:spcBef>
                <a:spcPts val="2390"/>
              </a:spcBef>
              <a:buSzPct val="95833"/>
              <a:buFont typeface="Wingdings"/>
              <a:buChar char=""/>
              <a:tabLst>
                <a:tab pos="5664200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dirty="0">
                <a:latin typeface="Perpetua"/>
                <a:cs typeface="Perpetua"/>
              </a:rPr>
              <a:t>design the</a:t>
            </a:r>
            <a:r>
              <a:rPr sz="2400" i="1" spc="-4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circuit</a:t>
            </a:r>
            <a:r>
              <a:rPr sz="2400" spc="-5" dirty="0">
                <a:latin typeface="Perpetua"/>
                <a:cs typeface="Perpetua"/>
              </a:rPr>
              <a:t>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81921" y="3049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5579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10" dirty="0">
                <a:latin typeface="Perpetua"/>
                <a:cs typeface="Perpetua"/>
              </a:rPr>
              <a:t>More </a:t>
            </a:r>
            <a:r>
              <a:rPr i="0" spc="10" dirty="0">
                <a:latin typeface="Perpetua"/>
                <a:cs typeface="Perpetua"/>
              </a:rPr>
              <a:t>logic</a:t>
            </a:r>
            <a:r>
              <a:rPr i="0" spc="-50" dirty="0">
                <a:latin typeface="Perpetua"/>
                <a:cs typeface="Perpetua"/>
              </a:rPr>
              <a:t> </a:t>
            </a:r>
            <a:r>
              <a:rPr i="0" spc="-10" dirty="0">
                <a:latin typeface="Perpetua"/>
                <a:cs typeface="Perpetua"/>
              </a:rPr>
              <a:t>gates…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019" y="1357544"/>
            <a:ext cx="8346440" cy="18402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spc="-55" dirty="0">
                <a:latin typeface="Perpetua"/>
                <a:cs typeface="Perpetua"/>
              </a:rPr>
              <a:t>Now, </a:t>
            </a:r>
            <a:r>
              <a:rPr sz="2600" i="1" spc="-5" dirty="0">
                <a:latin typeface="Perpetua"/>
                <a:cs typeface="Perpetua"/>
              </a:rPr>
              <a:t>let us </a:t>
            </a:r>
            <a:r>
              <a:rPr sz="2600" i="1" dirty="0">
                <a:latin typeface="Perpetua"/>
                <a:cs typeface="Perpetua"/>
              </a:rPr>
              <a:t>try </a:t>
            </a:r>
            <a:r>
              <a:rPr sz="2600" i="1" spc="-5" dirty="0">
                <a:latin typeface="Perpetua"/>
                <a:cs typeface="Perpetua"/>
              </a:rPr>
              <a:t>to understand the </a:t>
            </a:r>
            <a:r>
              <a:rPr sz="2600" i="1" dirty="0">
                <a:latin typeface="Perpetua"/>
                <a:cs typeface="Perpetua"/>
              </a:rPr>
              <a:t>NOR</a:t>
            </a:r>
            <a:r>
              <a:rPr sz="2600" i="1" spc="-2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function.</a:t>
            </a:r>
            <a:endParaRPr sz="2600">
              <a:latin typeface="Perpetua"/>
              <a:cs typeface="Perpetu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  <a:tab pos="1614170" algn="l"/>
                <a:tab pos="5586730" algn="l"/>
              </a:tabLst>
            </a:pPr>
            <a:r>
              <a:rPr sz="2600" dirty="0">
                <a:latin typeface="Perpetua"/>
                <a:cs typeface="Perpetua"/>
              </a:rPr>
              <a:t>The</a:t>
            </a:r>
            <a:r>
              <a:rPr sz="2600" spc="40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truth	</a:t>
            </a:r>
            <a:r>
              <a:rPr sz="2600" spc="-10" dirty="0">
                <a:latin typeface="Perpetua"/>
                <a:cs typeface="Perpetua"/>
              </a:rPr>
              <a:t>table  </a:t>
            </a:r>
            <a:r>
              <a:rPr sz="2600" spc="-5" dirty="0">
                <a:latin typeface="Perpetua"/>
                <a:cs typeface="Perpetua"/>
              </a:rPr>
              <a:t>and 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5" dirty="0">
                <a:latin typeface="Perpetua"/>
                <a:cs typeface="Perpetua"/>
              </a:rPr>
              <a:t>symbolic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20" dirty="0">
                <a:latin typeface="Perpetua"/>
                <a:cs typeface="Perpetua"/>
              </a:rPr>
              <a:t>form</a:t>
            </a:r>
            <a:r>
              <a:rPr sz="2600" spc="4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	</a:t>
            </a:r>
            <a:r>
              <a:rPr sz="2600" spc="-5" dirty="0">
                <a:latin typeface="Perpetua"/>
                <a:cs typeface="Perpetua"/>
              </a:rPr>
              <a:t>given </a:t>
            </a:r>
            <a:r>
              <a:rPr sz="2600" spc="5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Figure: </a:t>
            </a:r>
            <a:r>
              <a:rPr sz="2600" spc="5" dirty="0">
                <a:latin typeface="Perpetua"/>
                <a:cs typeface="Perpetua"/>
              </a:rPr>
              <a:t>NOR  </a:t>
            </a:r>
            <a:r>
              <a:rPr sz="2600" spc="-20" dirty="0">
                <a:latin typeface="Perpetua"/>
                <a:cs typeface="Perpetua"/>
              </a:rPr>
              <a:t>Gate.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NOR =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NOT(OR).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9447" y="2580132"/>
            <a:ext cx="2359152" cy="1275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800" y="2438400"/>
            <a:ext cx="2063496" cy="2377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4019" y="4901310"/>
            <a:ext cx="8347075" cy="147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926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NOR</a:t>
            </a:r>
            <a:r>
              <a:rPr sz="2000" spc="-7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Gate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285115" indent="-273050">
              <a:lnSpc>
                <a:spcPct val="100000"/>
              </a:lnSpc>
              <a:buSzPct val="85416"/>
              <a:buFont typeface="Wingdings"/>
              <a:buChar char=""/>
              <a:tabLst>
                <a:tab pos="285750" algn="l"/>
              </a:tabLst>
            </a:pPr>
            <a:r>
              <a:rPr sz="2400" i="1" spc="-5" dirty="0">
                <a:latin typeface="Perpetua"/>
                <a:cs typeface="Perpetua"/>
              </a:rPr>
              <a:t>Can</a:t>
            </a:r>
            <a:r>
              <a:rPr sz="2400" i="1" spc="15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you</a:t>
            </a:r>
            <a:r>
              <a:rPr sz="2400" i="1" spc="15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try</a:t>
            </a:r>
            <a:r>
              <a:rPr sz="2400" i="1" spc="16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175" dirty="0">
                <a:latin typeface="Perpetua"/>
                <a:cs typeface="Perpetua"/>
              </a:rPr>
              <a:t> </a:t>
            </a:r>
            <a:r>
              <a:rPr sz="2400" i="1" spc="5" dirty="0">
                <a:latin typeface="Perpetua"/>
                <a:cs typeface="Perpetua"/>
              </a:rPr>
              <a:t>truth</a:t>
            </a:r>
            <a:r>
              <a:rPr sz="2400" i="1" spc="15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table</a:t>
            </a:r>
            <a:r>
              <a:rPr sz="2400" i="1" spc="16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for</a:t>
            </a:r>
            <a:r>
              <a:rPr sz="2400" i="1" spc="16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1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NAND</a:t>
            </a:r>
            <a:r>
              <a:rPr sz="2400" spc="15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function</a:t>
            </a:r>
            <a:r>
              <a:rPr sz="2400" i="1" spc="16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and</a:t>
            </a:r>
            <a:r>
              <a:rPr sz="2400" i="1" spc="16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give</a:t>
            </a:r>
            <a:r>
              <a:rPr sz="2400" i="1" spc="17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16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symbolic</a:t>
            </a:r>
            <a:r>
              <a:rPr sz="2400" i="1" spc="14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form</a:t>
            </a:r>
            <a:endParaRPr sz="2400">
              <a:latin typeface="Perpetua"/>
              <a:cs typeface="Perpetua"/>
            </a:endParaRPr>
          </a:p>
          <a:p>
            <a:pPr marL="285115">
              <a:lnSpc>
                <a:spcPct val="100000"/>
              </a:lnSpc>
            </a:pPr>
            <a:r>
              <a:rPr sz="2400" i="1" spc="-15" dirty="0">
                <a:latin typeface="Perpetua"/>
                <a:cs typeface="Perpetua"/>
              </a:rPr>
              <a:t>for</a:t>
            </a:r>
            <a:r>
              <a:rPr sz="2400" i="1" spc="-5" dirty="0">
                <a:latin typeface="Perpetua"/>
                <a:cs typeface="Perpetua"/>
              </a:rPr>
              <a:t> it?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29521" y="4800715"/>
            <a:ext cx="1133100" cy="8483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3403"/>
            <a:ext cx="443166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  <a:latin typeface="Perpetua"/>
                <a:cs typeface="Perpetua"/>
              </a:rPr>
              <a:t>So</a:t>
            </a:r>
            <a:r>
              <a:rPr sz="3200" spc="-10" dirty="0">
                <a:solidFill>
                  <a:srgbClr val="FF0000"/>
                </a:solidFill>
                <a:latin typeface="Perpetua"/>
                <a:cs typeface="Perpetua"/>
              </a:rPr>
              <a:t>l</a:t>
            </a:r>
            <a:r>
              <a:rPr sz="3200" dirty="0">
                <a:solidFill>
                  <a:srgbClr val="FF0000"/>
                </a:solidFill>
                <a:latin typeface="Perpetua"/>
                <a:cs typeface="Perpetua"/>
              </a:rPr>
              <a:t>uti</a:t>
            </a:r>
            <a:r>
              <a:rPr sz="3200" spc="-15" dirty="0">
                <a:solidFill>
                  <a:srgbClr val="FF0000"/>
                </a:solidFill>
                <a:latin typeface="Perpetua"/>
                <a:cs typeface="Perpetua"/>
              </a:rPr>
              <a:t>o</a:t>
            </a:r>
            <a:r>
              <a:rPr sz="3200" dirty="0">
                <a:solidFill>
                  <a:srgbClr val="FF0000"/>
                </a:solidFill>
                <a:latin typeface="Perpetua"/>
                <a:cs typeface="Perpetua"/>
              </a:rPr>
              <a:t>n</a:t>
            </a:r>
            <a:endParaRPr sz="3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FF0000"/>
                </a:solidFill>
                <a:latin typeface="Perpetua"/>
                <a:cs typeface="Perpetua"/>
              </a:rPr>
              <a:t>NAND =</a:t>
            </a:r>
            <a:r>
              <a:rPr sz="3200" spc="-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Perpetua"/>
                <a:cs typeface="Perpetua"/>
              </a:rPr>
              <a:t>NOT(AND)</a:t>
            </a:r>
            <a:endParaRPr sz="32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81400" y="4648200"/>
            <a:ext cx="2871216" cy="144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2510027"/>
            <a:ext cx="1850136" cy="2362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434086"/>
            <a:ext cx="5929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Compound Boolean</a:t>
            </a:r>
            <a:r>
              <a:rPr i="0" spc="-20" dirty="0">
                <a:latin typeface="Perpetua"/>
                <a:cs typeface="Perpetua"/>
              </a:rPr>
              <a:t> </a:t>
            </a:r>
            <a:r>
              <a:rPr i="0" spc="-5" dirty="0">
                <a:latin typeface="Perpetua"/>
                <a:cs typeface="Perpetua"/>
              </a:rPr>
              <a:t>Proposition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05000" y="2209800"/>
            <a:ext cx="4800600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1205230"/>
            <a:ext cx="845375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5750" algn="l"/>
                <a:tab pos="935990" algn="l"/>
                <a:tab pos="2390140" algn="l"/>
                <a:tab pos="3509010" algn="l"/>
                <a:tab pos="5062220" algn="l"/>
                <a:tab pos="5516245" algn="l"/>
                <a:tab pos="6124575" algn="l"/>
                <a:tab pos="6706870" algn="l"/>
                <a:tab pos="7234555" algn="l"/>
                <a:tab pos="7684134" algn="l"/>
                <a:tab pos="8260080" algn="l"/>
              </a:tabLst>
            </a:pPr>
            <a:r>
              <a:rPr sz="2600" dirty="0">
                <a:latin typeface="Perpetua"/>
                <a:cs typeface="Perpetua"/>
              </a:rPr>
              <a:t>The	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spc="-5" dirty="0">
                <a:latin typeface="Perpetua"/>
                <a:cs typeface="Perpetua"/>
              </a:rPr>
              <a:t>mp</a:t>
            </a:r>
            <a:r>
              <a:rPr sz="2600" spc="-2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u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	boole</a:t>
            </a:r>
            <a:r>
              <a:rPr sz="2600" spc="-1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n	p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dirty="0">
                <a:latin typeface="Perpetua"/>
                <a:cs typeface="Perpetua"/>
              </a:rPr>
              <a:t>ositi</a:t>
            </a:r>
            <a:r>
              <a:rPr sz="2600" spc="-2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	“P	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dirty="0">
                <a:latin typeface="Perpetua"/>
                <a:cs typeface="Perpetua"/>
              </a:rPr>
              <a:t>d	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ot	(Q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r	R)”	is  </a:t>
            </a:r>
            <a:r>
              <a:rPr sz="2600" spc="-5" dirty="0">
                <a:latin typeface="Perpetua"/>
                <a:cs typeface="Perpetua"/>
              </a:rPr>
              <a:t>represented </a:t>
            </a:r>
            <a:r>
              <a:rPr sz="2600" dirty="0">
                <a:latin typeface="Perpetua"/>
                <a:cs typeface="Perpetua"/>
              </a:rPr>
              <a:t>using </a:t>
            </a:r>
            <a:r>
              <a:rPr sz="2600" spc="5" dirty="0">
                <a:latin typeface="Perpetua"/>
                <a:cs typeface="Perpetua"/>
              </a:rPr>
              <a:t>logic </a:t>
            </a:r>
            <a:r>
              <a:rPr sz="2600" spc="-5" dirty="0">
                <a:latin typeface="Perpetua"/>
                <a:cs typeface="Perpetua"/>
              </a:rPr>
              <a:t>gates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Figure: </a:t>
            </a:r>
            <a:r>
              <a:rPr sz="2600" dirty="0">
                <a:latin typeface="Perpetua"/>
                <a:cs typeface="Perpetua"/>
              </a:rPr>
              <a:t>P </a:t>
            </a:r>
            <a:r>
              <a:rPr sz="2600" spc="-5" dirty="0">
                <a:latin typeface="Perpetua"/>
                <a:cs typeface="Perpetua"/>
              </a:rPr>
              <a:t>and not </a:t>
            </a:r>
            <a:r>
              <a:rPr sz="2600" dirty="0">
                <a:latin typeface="Perpetua"/>
                <a:cs typeface="Perpetua"/>
              </a:rPr>
              <a:t>(Q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-1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R).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3171156"/>
            <a:ext cx="8107680" cy="312166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2527935">
              <a:lnSpc>
                <a:spcPct val="100000"/>
              </a:lnSpc>
              <a:spcBef>
                <a:spcPts val="151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P </a:t>
            </a:r>
            <a:r>
              <a:rPr sz="2000" spc="-5" dirty="0">
                <a:latin typeface="Perpetua"/>
                <a:cs typeface="Perpetua"/>
              </a:rPr>
              <a:t>and not </a:t>
            </a:r>
            <a:r>
              <a:rPr sz="2000" dirty="0">
                <a:latin typeface="Perpetua"/>
                <a:cs typeface="Perpetua"/>
              </a:rPr>
              <a:t>(Q or</a:t>
            </a:r>
            <a:r>
              <a:rPr sz="2000" spc="-12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R)</a:t>
            </a:r>
            <a:endParaRPr sz="2000">
              <a:latin typeface="Perpetua"/>
              <a:cs typeface="Perpetua"/>
            </a:endParaRPr>
          </a:p>
          <a:p>
            <a:pPr marL="129539" marR="708660" indent="-129539">
              <a:lnSpc>
                <a:spcPct val="100000"/>
              </a:lnSpc>
              <a:spcBef>
                <a:spcPts val="1840"/>
              </a:spcBef>
              <a:buSzPct val="96153"/>
              <a:buFont typeface="Arial"/>
              <a:buChar char="•"/>
              <a:tabLst>
                <a:tab pos="129539" algn="l"/>
              </a:tabLst>
            </a:pPr>
            <a:r>
              <a:rPr sz="2600" dirty="0">
                <a:latin typeface="Perpetua"/>
                <a:cs typeface="Perpetua"/>
              </a:rPr>
              <a:t>The “OR” </a:t>
            </a:r>
            <a:r>
              <a:rPr sz="2600" spc="-5" dirty="0">
                <a:latin typeface="Perpetua"/>
                <a:cs typeface="Perpetua"/>
              </a:rPr>
              <a:t>operator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enclosed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parenthesis,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25" dirty="0">
                <a:latin typeface="Perpetua"/>
                <a:cs typeface="Perpetua"/>
              </a:rPr>
              <a:t>part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-3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5" dirty="0">
                <a:latin typeface="Perpetua"/>
                <a:cs typeface="Perpetua"/>
              </a:rPr>
              <a:t>expression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5" dirty="0">
                <a:latin typeface="Perpetua"/>
                <a:cs typeface="Perpetua"/>
              </a:rPr>
              <a:t>performed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first.</a:t>
            </a:r>
            <a:endParaRPr sz="2600">
              <a:latin typeface="Perpetua"/>
              <a:cs typeface="Perpetua"/>
            </a:endParaRPr>
          </a:p>
          <a:p>
            <a:pPr marL="203200" marR="60960" indent="-203200">
              <a:lnSpc>
                <a:spcPct val="100000"/>
              </a:lnSpc>
              <a:buSzPct val="96153"/>
              <a:buFont typeface="Arial"/>
              <a:buChar char="•"/>
              <a:tabLst>
                <a:tab pos="20320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logic </a:t>
            </a:r>
            <a:r>
              <a:rPr sz="2600" dirty="0">
                <a:latin typeface="Perpetua"/>
                <a:cs typeface="Perpetua"/>
              </a:rPr>
              <a:t>circuit, this implies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“OR” </a:t>
            </a:r>
            <a:r>
              <a:rPr sz="2600" spc="-10" dirty="0">
                <a:latin typeface="Perpetua"/>
                <a:cs typeface="Perpetua"/>
              </a:rPr>
              <a:t>gate </a:t>
            </a:r>
            <a:r>
              <a:rPr sz="2600" dirty="0">
                <a:latin typeface="Perpetua"/>
                <a:cs typeface="Perpetua"/>
              </a:rPr>
              <a:t>occurs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2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10" dirty="0">
                <a:latin typeface="Perpetua"/>
                <a:cs typeface="Perpetua"/>
              </a:rPr>
              <a:t>path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" dirty="0">
                <a:latin typeface="Perpetua"/>
                <a:cs typeface="Perpetua"/>
              </a:rPr>
              <a:t> signal.</a:t>
            </a:r>
            <a:endParaRPr sz="2600">
              <a:latin typeface="Perpetua"/>
              <a:cs typeface="Perpetua"/>
            </a:endParaRPr>
          </a:p>
          <a:p>
            <a:pPr marL="129539" marR="5080" indent="-129539">
              <a:lnSpc>
                <a:spcPct val="100000"/>
              </a:lnSpc>
              <a:buSzPct val="96153"/>
              <a:buFont typeface="Arial"/>
              <a:buChar char="•"/>
              <a:tabLst>
                <a:tab pos="129539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resulting expression, </a:t>
            </a:r>
            <a:r>
              <a:rPr sz="2600" dirty="0">
                <a:latin typeface="Perpetua"/>
                <a:cs typeface="Perpetua"/>
              </a:rPr>
              <a:t>(Q OR R) is then inverted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finally</a:t>
            </a:r>
            <a:r>
              <a:rPr sz="2600" spc="-1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fed  </a:t>
            </a:r>
            <a:r>
              <a:rPr sz="2600" dirty="0">
                <a:latin typeface="Perpetua"/>
                <a:cs typeface="Perpetua"/>
              </a:rPr>
              <a:t>into the “AND” </a:t>
            </a:r>
            <a:r>
              <a:rPr sz="2600" spc="-10" dirty="0">
                <a:latin typeface="Perpetua"/>
                <a:cs typeface="Perpetua"/>
              </a:rPr>
              <a:t>gate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produce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result.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133600"/>
            <a:ext cx="3733800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29521" y="381115"/>
            <a:ext cx="1133100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2140" y="3496436"/>
            <a:ext cx="7386320" cy="109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0" indent="-273050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3486785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think the circuit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performs?</a:t>
            </a:r>
            <a:endParaRPr sz="2400">
              <a:latin typeface="Perpetua"/>
              <a:cs typeface="Perpetua"/>
            </a:endParaRPr>
          </a:p>
          <a:p>
            <a:pPr marL="292100" indent="-280035">
              <a:lnSpc>
                <a:spcPct val="100000"/>
              </a:lnSpc>
              <a:spcBef>
                <a:spcPts val="221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10" dirty="0">
                <a:latin typeface="Perpetua"/>
                <a:cs typeface="Perpetua"/>
              </a:rPr>
              <a:t>What </a:t>
            </a:r>
            <a:r>
              <a:rPr sz="2800" i="1" spc="-5" dirty="0">
                <a:latin typeface="Perpetua"/>
                <a:cs typeface="Perpetua"/>
              </a:rPr>
              <a:t>does this </a:t>
            </a:r>
            <a:r>
              <a:rPr sz="2800" i="1" spc="-10" dirty="0">
                <a:latin typeface="Perpetua"/>
                <a:cs typeface="Perpetua"/>
              </a:rPr>
              <a:t>circuit</a:t>
            </a:r>
            <a:r>
              <a:rPr sz="2800" i="1" spc="40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implement?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65332" y="4677725"/>
            <a:ext cx="5269962" cy="1653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3540" y="350265"/>
            <a:ext cx="205358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35" dirty="0"/>
              <a:t>Try </a:t>
            </a:r>
            <a:r>
              <a:rPr sz="3600" spc="-5" dirty="0"/>
              <a:t>it</a:t>
            </a:r>
            <a:r>
              <a:rPr sz="3600" spc="65" dirty="0"/>
              <a:t> </a:t>
            </a:r>
            <a:r>
              <a:rPr sz="3600" spc="-10" dirty="0"/>
              <a:t>yourself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83540" y="1460957"/>
            <a:ext cx="4252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8003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20" dirty="0">
                <a:latin typeface="Perpetua"/>
                <a:cs typeface="Perpetua"/>
              </a:rPr>
              <a:t>Give </a:t>
            </a:r>
            <a:r>
              <a:rPr sz="2800" i="1" dirty="0">
                <a:latin typeface="Perpetua"/>
                <a:cs typeface="Perpetua"/>
              </a:rPr>
              <a:t>the </a:t>
            </a:r>
            <a:r>
              <a:rPr sz="2800" i="1" spc="5" dirty="0">
                <a:latin typeface="Perpetua"/>
                <a:cs typeface="Perpetua"/>
              </a:rPr>
              <a:t>truth </a:t>
            </a:r>
            <a:r>
              <a:rPr sz="2800" i="1" spc="-15" dirty="0">
                <a:latin typeface="Perpetua"/>
                <a:cs typeface="Perpetua"/>
              </a:rPr>
              <a:t>table </a:t>
            </a:r>
            <a:r>
              <a:rPr sz="2800" i="1" spc="-20" dirty="0">
                <a:latin typeface="Perpetua"/>
                <a:cs typeface="Perpetua"/>
              </a:rPr>
              <a:t>for </a:t>
            </a:r>
            <a:r>
              <a:rPr sz="2800" i="1" spc="-5" dirty="0">
                <a:latin typeface="Perpetua"/>
                <a:cs typeface="Perpetua"/>
              </a:rPr>
              <a:t>the</a:t>
            </a:r>
            <a:r>
              <a:rPr sz="2800" i="1" spc="-4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circuit.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1555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solidFill>
                  <a:srgbClr val="FF0000"/>
                </a:solidFill>
                <a:latin typeface="Perpetua"/>
                <a:cs typeface="Perpetua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3862196"/>
            <a:ext cx="7997825" cy="2007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5115" algn="l"/>
                <a:tab pos="286385" algn="l"/>
              </a:tabLst>
            </a:pPr>
            <a:r>
              <a:rPr sz="2400" spc="-5" dirty="0">
                <a:latin typeface="Perpetua"/>
                <a:cs typeface="Perpetua"/>
              </a:rPr>
              <a:t>This </a:t>
            </a:r>
            <a:r>
              <a:rPr sz="2400" dirty="0">
                <a:latin typeface="Perpetua"/>
                <a:cs typeface="Perpetua"/>
              </a:rPr>
              <a:t>circuit </a:t>
            </a:r>
            <a:r>
              <a:rPr sz="2400" spc="-5" dirty="0">
                <a:latin typeface="Perpetua"/>
                <a:cs typeface="Perpetua"/>
              </a:rPr>
              <a:t>encodes </a:t>
            </a:r>
            <a:r>
              <a:rPr sz="2400" dirty="0">
                <a:latin typeface="Perpetua"/>
                <a:cs typeface="Perpetua"/>
              </a:rPr>
              <a:t>the concept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P is </a:t>
            </a:r>
            <a:r>
              <a:rPr sz="2400" spc="-15" dirty="0">
                <a:latin typeface="Perpetua"/>
                <a:cs typeface="Perpetua"/>
              </a:rPr>
              <a:t>only </a:t>
            </a:r>
            <a:r>
              <a:rPr sz="2400" dirty="0">
                <a:latin typeface="Perpetua"/>
                <a:cs typeface="Perpetua"/>
              </a:rPr>
              <a:t>equal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Q</a:t>
            </a:r>
            <a:r>
              <a:rPr sz="2400" spc="19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whenever</a:t>
            </a:r>
            <a:endParaRPr sz="2400">
              <a:latin typeface="Perpetua"/>
              <a:cs typeface="Perpetua"/>
            </a:endParaRPr>
          </a:p>
          <a:p>
            <a:pPr marL="655955" lvl="1" indent="-370840">
              <a:lnSpc>
                <a:spcPct val="100000"/>
              </a:lnSpc>
              <a:buAutoNum type="alphaLcParenBoth"/>
              <a:tabLst>
                <a:tab pos="656590" algn="l"/>
              </a:tabLst>
            </a:pPr>
            <a:r>
              <a:rPr sz="2400" dirty="0">
                <a:latin typeface="Perpetua"/>
                <a:cs typeface="Perpetua"/>
              </a:rPr>
              <a:t>both P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Q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30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15" dirty="0">
                <a:latin typeface="Perpetua"/>
                <a:cs typeface="Perpetua"/>
              </a:rPr>
              <a:t>whenever </a:t>
            </a:r>
            <a:r>
              <a:rPr sz="2400" dirty="0">
                <a:latin typeface="Perpetua"/>
                <a:cs typeface="Perpetua"/>
              </a:rPr>
              <a:t>(b) both P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Q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37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False.</a:t>
            </a:r>
            <a:endParaRPr sz="2400">
              <a:latin typeface="Perpetua"/>
              <a:cs typeface="Perpetua"/>
            </a:endParaRPr>
          </a:p>
          <a:p>
            <a:pPr marL="285750" marR="6350" indent="-273685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53695" algn="l"/>
                <a:tab pos="354965" algn="l"/>
              </a:tabLst>
            </a:pPr>
            <a:r>
              <a:rPr dirty="0"/>
              <a:t>	</a:t>
            </a:r>
            <a:r>
              <a:rPr sz="2400" dirty="0">
                <a:latin typeface="Perpetua"/>
                <a:cs typeface="Perpetua"/>
              </a:rPr>
              <a:t>It has </a:t>
            </a:r>
            <a:r>
              <a:rPr sz="2400" spc="-5" dirty="0">
                <a:latin typeface="Perpetua"/>
                <a:cs typeface="Perpetua"/>
              </a:rPr>
              <a:t>an </a:t>
            </a:r>
            <a:r>
              <a:rPr sz="2400" dirty="0">
                <a:latin typeface="Perpetua"/>
                <a:cs typeface="Perpetua"/>
              </a:rPr>
              <a:t>output of </a:t>
            </a:r>
            <a:r>
              <a:rPr sz="2400" spc="-30" dirty="0">
                <a:latin typeface="Perpetua"/>
                <a:cs typeface="Perpetua"/>
              </a:rPr>
              <a:t>True </a:t>
            </a:r>
            <a:r>
              <a:rPr sz="2400" spc="-15" dirty="0">
                <a:latin typeface="Perpetua"/>
                <a:cs typeface="Perpetua"/>
              </a:rPr>
              <a:t>whenever </a:t>
            </a:r>
            <a:r>
              <a:rPr sz="2400" dirty="0">
                <a:latin typeface="Perpetua"/>
                <a:cs typeface="Perpetua"/>
              </a:rPr>
              <a:t>P = </a:t>
            </a:r>
            <a:r>
              <a:rPr sz="2400" spc="-50" dirty="0">
                <a:latin typeface="Perpetua"/>
                <a:cs typeface="Perpetua"/>
              </a:rPr>
              <a:t>Q, </a:t>
            </a:r>
            <a:r>
              <a:rPr sz="2400" dirty="0">
                <a:latin typeface="Perpetua"/>
                <a:cs typeface="Perpetua"/>
              </a:rPr>
              <a:t>otherwise the output is  </a:t>
            </a:r>
            <a:r>
              <a:rPr sz="2400" spc="-20" dirty="0">
                <a:latin typeface="Perpetua"/>
                <a:cs typeface="Perpetua"/>
              </a:rPr>
              <a:t>False.</a:t>
            </a:r>
            <a:endParaRPr sz="2400">
              <a:latin typeface="Perpetua"/>
              <a:cs typeface="Perpetua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5115" algn="l"/>
                <a:tab pos="286385" algn="l"/>
              </a:tabLst>
            </a:pPr>
            <a:r>
              <a:rPr sz="2400" spc="-5" dirty="0">
                <a:latin typeface="Perpetua"/>
                <a:cs typeface="Perpetua"/>
              </a:rPr>
              <a:t>It </a:t>
            </a:r>
            <a:r>
              <a:rPr sz="2400" dirty="0">
                <a:latin typeface="Perpetua"/>
                <a:cs typeface="Perpetua"/>
              </a:rPr>
              <a:t>is a circuit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5" dirty="0">
                <a:latin typeface="Perpetua"/>
                <a:cs typeface="Perpetua"/>
              </a:rPr>
              <a:t>performs </a:t>
            </a:r>
            <a:r>
              <a:rPr sz="2400" spc="-5" dirty="0">
                <a:latin typeface="Perpetua"/>
                <a:cs typeface="Perpetua"/>
              </a:rPr>
              <a:t>an equivalency </a:t>
            </a:r>
            <a:r>
              <a:rPr sz="2400" spc="15" dirty="0">
                <a:latin typeface="Perpetua"/>
                <a:cs typeface="Perpetua"/>
              </a:rPr>
              <a:t>check </a:t>
            </a:r>
            <a:r>
              <a:rPr sz="2400" dirty="0">
                <a:latin typeface="Perpetua"/>
                <a:cs typeface="Perpetua"/>
              </a:rPr>
              <a:t>on </a:t>
            </a:r>
            <a:r>
              <a:rPr sz="2400" spc="-35" dirty="0">
                <a:latin typeface="Perpetua"/>
                <a:cs typeface="Perpetua"/>
              </a:rPr>
              <a:t>two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inputs.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5000" y="1295400"/>
            <a:ext cx="42672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662686"/>
            <a:ext cx="1555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solidFill>
                  <a:srgbClr val="FF0000"/>
                </a:solidFill>
                <a:latin typeface="Perpetua"/>
                <a:cs typeface="Perpetua"/>
              </a:rPr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822553" y="2620360"/>
            <a:ext cx="7036612" cy="2207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457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Note…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1225" cy="3822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5" dirty="0">
                <a:latin typeface="Perpetua"/>
                <a:cs typeface="Perpetua"/>
              </a:rPr>
              <a:t>designing </a:t>
            </a:r>
            <a:r>
              <a:rPr sz="2600" dirty="0">
                <a:latin typeface="Perpetua"/>
                <a:cs typeface="Perpetua"/>
              </a:rPr>
              <a:t>an </a:t>
            </a:r>
            <a:r>
              <a:rPr sz="2600" spc="-5" dirty="0">
                <a:latin typeface="Perpetua"/>
                <a:cs typeface="Perpetua"/>
              </a:rPr>
              <a:t>electronic </a:t>
            </a:r>
            <a:r>
              <a:rPr sz="2600" dirty="0">
                <a:latin typeface="Perpetua"/>
                <a:cs typeface="Perpetua"/>
              </a:rPr>
              <a:t>circuit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10" dirty="0">
                <a:latin typeface="Perpetua"/>
                <a:cs typeface="Perpetua"/>
              </a:rPr>
              <a:t>prefer </a:t>
            </a:r>
            <a:r>
              <a:rPr sz="2600" spc="-5" dirty="0">
                <a:latin typeface="Perpetua"/>
                <a:cs typeface="Perpetua"/>
              </a:rPr>
              <a:t>to use as </a:t>
            </a:r>
            <a:r>
              <a:rPr sz="2600" spc="-20" dirty="0">
                <a:latin typeface="Perpetua"/>
                <a:cs typeface="Perpetua"/>
              </a:rPr>
              <a:t>few  </a:t>
            </a:r>
            <a:r>
              <a:rPr sz="2600" spc="-10" dirty="0">
                <a:latin typeface="Perpetua"/>
                <a:cs typeface="Perpetua"/>
              </a:rPr>
              <a:t>gates </a:t>
            </a:r>
            <a:r>
              <a:rPr sz="2600" spc="-5" dirty="0">
                <a:latin typeface="Perpetua"/>
                <a:cs typeface="Perpetua"/>
              </a:rPr>
              <a:t>as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possible.</a:t>
            </a:r>
            <a:endParaRPr sz="2600">
              <a:latin typeface="Perpetua"/>
              <a:cs typeface="Perpetua"/>
            </a:endParaRPr>
          </a:p>
          <a:p>
            <a:pPr marL="285115" marR="6985" indent="-27305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Since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0" dirty="0">
                <a:latin typeface="Perpetua"/>
                <a:cs typeface="Perpetua"/>
              </a:rPr>
              <a:t>gate </a:t>
            </a:r>
            <a:r>
              <a:rPr sz="2600" spc="-5" dirty="0">
                <a:latin typeface="Perpetua"/>
                <a:cs typeface="Perpetua"/>
              </a:rPr>
              <a:t>increases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cost of </a:t>
            </a:r>
            <a:r>
              <a:rPr sz="2600" dirty="0">
                <a:latin typeface="Perpetua"/>
                <a:cs typeface="Perpetua"/>
              </a:rPr>
              <a:t>the system, </a:t>
            </a:r>
            <a:r>
              <a:rPr sz="2600" spc="-5" dirty="0">
                <a:latin typeface="Perpetua"/>
                <a:cs typeface="Perpetua"/>
              </a:rPr>
              <a:t>minimizing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5" dirty="0">
                <a:latin typeface="Perpetua"/>
                <a:cs typeface="Perpetua"/>
              </a:rPr>
              <a:t>number of </a:t>
            </a:r>
            <a:r>
              <a:rPr sz="2600" spc="5" dirty="0">
                <a:latin typeface="Perpetua"/>
                <a:cs typeface="Perpetua"/>
              </a:rPr>
              <a:t>logic </a:t>
            </a:r>
            <a:r>
              <a:rPr sz="2600" spc="-5" dirty="0">
                <a:latin typeface="Perpetua"/>
                <a:cs typeface="Perpetua"/>
              </a:rPr>
              <a:t>gates results </a:t>
            </a:r>
            <a:r>
              <a:rPr sz="2600" dirty="0">
                <a:latin typeface="Perpetua"/>
                <a:cs typeface="Perpetua"/>
              </a:rPr>
              <a:t>in a </a:t>
            </a:r>
            <a:r>
              <a:rPr sz="2600" spc="-5" dirty="0">
                <a:latin typeface="Perpetua"/>
                <a:cs typeface="Perpetua"/>
              </a:rPr>
              <a:t>less </a:t>
            </a:r>
            <a:r>
              <a:rPr sz="2600" spc="-10" dirty="0">
                <a:latin typeface="Perpetua"/>
                <a:cs typeface="Perpetua"/>
              </a:rPr>
              <a:t>expensive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system.</a:t>
            </a:r>
            <a:endParaRPr sz="2600">
              <a:latin typeface="Perpetua"/>
              <a:cs typeface="Perpetua"/>
            </a:endParaRPr>
          </a:p>
          <a:p>
            <a:pPr marL="285115" marR="5715" indent="-27305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35915" algn="l"/>
              </a:tabLst>
            </a:pPr>
            <a:r>
              <a:rPr dirty="0"/>
              <a:t>	</a:t>
            </a:r>
            <a:r>
              <a:rPr sz="2600" spc="-15" dirty="0">
                <a:latin typeface="Perpetua"/>
                <a:cs typeface="Perpetua"/>
              </a:rPr>
              <a:t>Also, </a:t>
            </a:r>
            <a:r>
              <a:rPr sz="2600" spc="-30" dirty="0">
                <a:latin typeface="Perpetua"/>
                <a:cs typeface="Perpetua"/>
              </a:rPr>
              <a:t>fewer </a:t>
            </a:r>
            <a:r>
              <a:rPr sz="2600" spc="-10" dirty="0">
                <a:latin typeface="Perpetua"/>
                <a:cs typeface="Perpetua"/>
              </a:rPr>
              <a:t>gates </a:t>
            </a:r>
            <a:r>
              <a:rPr sz="2600" spc="-5" dirty="0">
                <a:latin typeface="Perpetua"/>
                <a:cs typeface="Perpetua"/>
              </a:rPr>
              <a:t>often </a:t>
            </a:r>
            <a:r>
              <a:rPr sz="2600" dirty="0">
                <a:latin typeface="Perpetua"/>
                <a:cs typeface="Perpetua"/>
              </a:rPr>
              <a:t>also </a:t>
            </a:r>
            <a:r>
              <a:rPr sz="2600" spc="-5" dirty="0">
                <a:latin typeface="Perpetua"/>
                <a:cs typeface="Perpetua"/>
              </a:rPr>
              <a:t>means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circuitry is </a:t>
            </a:r>
            <a:r>
              <a:rPr sz="2600" spc="-10" dirty="0">
                <a:latin typeface="Perpetua"/>
                <a:cs typeface="Perpetua"/>
              </a:rPr>
              <a:t>faster </a:t>
            </a:r>
            <a:r>
              <a:rPr sz="2600" dirty="0">
                <a:latin typeface="Perpetua"/>
                <a:cs typeface="Perpetua"/>
              </a:rPr>
              <a:t>since a  </a:t>
            </a:r>
            <a:r>
              <a:rPr sz="2600" spc="5" dirty="0">
                <a:latin typeface="Perpetua"/>
                <a:cs typeface="Perpetua"/>
              </a:rPr>
              <a:t>digital </a:t>
            </a:r>
            <a:r>
              <a:rPr sz="2600" spc="-5" dirty="0">
                <a:latin typeface="Perpetua"/>
                <a:cs typeface="Perpetua"/>
              </a:rPr>
              <a:t>signal does not </a:t>
            </a: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travel </a:t>
            </a:r>
            <a:r>
              <a:rPr sz="2600" spc="-5" dirty="0">
                <a:latin typeface="Perpetua"/>
                <a:cs typeface="Perpetua"/>
              </a:rPr>
              <a:t>through as </a:t>
            </a:r>
            <a:r>
              <a:rPr sz="2600" spc="-20" dirty="0">
                <a:latin typeface="Perpetua"/>
                <a:cs typeface="Perpetua"/>
              </a:rPr>
              <a:t>many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gates.</a:t>
            </a:r>
            <a:endParaRPr sz="2600">
              <a:latin typeface="Perpetua"/>
              <a:cs typeface="Perpetua"/>
            </a:endParaRPr>
          </a:p>
          <a:p>
            <a:pPr marL="285115" marR="5715" indent="-27305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Since </a:t>
            </a:r>
            <a:r>
              <a:rPr sz="2600" spc="5" dirty="0">
                <a:latin typeface="Perpetua"/>
                <a:cs typeface="Perpetua"/>
              </a:rPr>
              <a:t>digital </a:t>
            </a:r>
            <a:r>
              <a:rPr sz="2600" dirty="0">
                <a:latin typeface="Perpetua"/>
                <a:cs typeface="Perpetua"/>
              </a:rPr>
              <a:t>circuits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expressions of Boolean propositions, </a:t>
            </a:r>
            <a:r>
              <a:rPr sz="2600" spc="5" dirty="0">
                <a:latin typeface="Perpetua"/>
                <a:cs typeface="Perpetua"/>
              </a:rPr>
              <a:t>it </a:t>
            </a:r>
            <a:r>
              <a:rPr sz="2600" spc="15" dirty="0">
                <a:latin typeface="Perpetua"/>
                <a:cs typeface="Perpetua"/>
              </a:rPr>
              <a:t>is  </a:t>
            </a:r>
            <a:r>
              <a:rPr sz="2600" spc="-10" dirty="0">
                <a:latin typeface="Perpetua"/>
                <a:cs typeface="Perpetua"/>
              </a:rPr>
              <a:t>natural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use Boolean </a:t>
            </a:r>
            <a:r>
              <a:rPr sz="2600" spc="-5" dirty="0">
                <a:latin typeface="Perpetua"/>
                <a:cs typeface="Perpetua"/>
              </a:rPr>
              <a:t>algebra to </a:t>
            </a:r>
            <a:r>
              <a:rPr sz="2600" dirty="0">
                <a:latin typeface="Perpetua"/>
                <a:cs typeface="Perpetua"/>
              </a:rPr>
              <a:t>design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analyze </a:t>
            </a:r>
            <a:r>
              <a:rPr sz="2600" spc="-5" dirty="0">
                <a:latin typeface="Perpetua"/>
                <a:cs typeface="Perpetua"/>
              </a:rPr>
              <a:t>complex </a:t>
            </a:r>
            <a:r>
              <a:rPr sz="2600" spc="5" dirty="0">
                <a:latin typeface="Perpetua"/>
                <a:cs typeface="Perpetua"/>
              </a:rPr>
              <a:t>digital  </a:t>
            </a:r>
            <a:r>
              <a:rPr sz="2600" spc="-25" dirty="0">
                <a:latin typeface="Perpetua"/>
                <a:cs typeface="Perpetua"/>
              </a:rPr>
              <a:t>circuitry.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57400" y="762000"/>
            <a:ext cx="609600" cy="771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71800" y="2354579"/>
            <a:ext cx="1895855" cy="1272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48400" y="3048000"/>
            <a:ext cx="2667000" cy="2249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67000" y="4149852"/>
            <a:ext cx="2386583" cy="20269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08375" y="3647059"/>
            <a:ext cx="9220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Perpetua"/>
                <a:cs typeface="Perpetua"/>
              </a:rPr>
              <a:t>Figure </a:t>
            </a:r>
            <a:r>
              <a:rPr sz="2000" dirty="0">
                <a:latin typeface="Perpetua"/>
                <a:cs typeface="Perpetua"/>
              </a:rPr>
              <a:t>:</a:t>
            </a:r>
            <a:r>
              <a:rPr sz="2000" spc="-26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A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42809" y="5323738"/>
            <a:ext cx="9448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Perpetua"/>
                <a:cs typeface="Perpetua"/>
              </a:rPr>
              <a:t>Figure </a:t>
            </a:r>
            <a:r>
              <a:rPr sz="2000" dirty="0">
                <a:latin typeface="Perpetua"/>
                <a:cs typeface="Perpetua"/>
              </a:rPr>
              <a:t>:</a:t>
            </a:r>
            <a:r>
              <a:rPr sz="2000" spc="-13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C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08375" y="6238443"/>
            <a:ext cx="918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Perpetua"/>
                <a:cs typeface="Perpetua"/>
              </a:rPr>
              <a:t>Figure </a:t>
            </a:r>
            <a:r>
              <a:rPr sz="2000" dirty="0">
                <a:latin typeface="Perpetua"/>
                <a:cs typeface="Perpetua"/>
              </a:rPr>
              <a:t>:</a:t>
            </a:r>
            <a:r>
              <a:rPr sz="2000" spc="-13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59740" y="342646"/>
            <a:ext cx="2279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Try </a:t>
            </a:r>
            <a:r>
              <a:rPr spc="-5" dirty="0"/>
              <a:t>it</a:t>
            </a:r>
            <a:r>
              <a:rPr spc="95" dirty="0"/>
              <a:t> </a:t>
            </a:r>
            <a:r>
              <a:rPr spc="-10" dirty="0"/>
              <a:t>yourself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9740" y="1582877"/>
            <a:ext cx="708469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735" marR="5080" indent="-29273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40" dirty="0">
                <a:latin typeface="Perpetua"/>
                <a:cs typeface="Perpetua"/>
              </a:rPr>
              <a:t>Verify </a:t>
            </a:r>
            <a:r>
              <a:rPr sz="2800" i="1" spc="-10" dirty="0">
                <a:latin typeface="Perpetua"/>
                <a:cs typeface="Perpetua"/>
              </a:rPr>
              <a:t>whether </a:t>
            </a:r>
            <a:r>
              <a:rPr sz="2800" i="1" spc="-5" dirty="0">
                <a:latin typeface="Perpetua"/>
                <a:cs typeface="Perpetua"/>
              </a:rPr>
              <a:t>the </a:t>
            </a:r>
            <a:r>
              <a:rPr sz="2800" i="1" spc="-15" dirty="0">
                <a:latin typeface="Perpetua"/>
                <a:cs typeface="Perpetua"/>
              </a:rPr>
              <a:t>given </a:t>
            </a:r>
            <a:r>
              <a:rPr sz="2800" i="1" spc="-5" dirty="0">
                <a:latin typeface="Perpetua"/>
                <a:cs typeface="Perpetua"/>
              </a:rPr>
              <a:t>pair of circuits implement the same  Boolean</a:t>
            </a:r>
            <a:r>
              <a:rPr sz="2800" i="1" spc="15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function.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647446"/>
            <a:ext cx="2279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Try </a:t>
            </a:r>
            <a:r>
              <a:rPr spc="-5" dirty="0"/>
              <a:t>it</a:t>
            </a:r>
            <a:r>
              <a:rPr spc="95" dirty="0"/>
              <a:t> </a:t>
            </a:r>
            <a:r>
              <a:rPr spc="-10" dirty="0"/>
              <a:t>yourself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888362"/>
            <a:ext cx="7152640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8003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45" dirty="0">
                <a:latin typeface="Perpetua"/>
                <a:cs typeface="Perpetua"/>
              </a:rPr>
              <a:t>Draw </a:t>
            </a:r>
            <a:r>
              <a:rPr sz="2800" i="1" spc="-5" dirty="0">
                <a:latin typeface="Perpetua"/>
                <a:cs typeface="Perpetua"/>
              </a:rPr>
              <a:t>a </a:t>
            </a:r>
            <a:r>
              <a:rPr sz="2800" i="1" dirty="0">
                <a:latin typeface="Perpetua"/>
                <a:cs typeface="Perpetua"/>
              </a:rPr>
              <a:t>digital </a:t>
            </a:r>
            <a:r>
              <a:rPr sz="2800" i="1" spc="-5" dirty="0">
                <a:latin typeface="Perpetua"/>
                <a:cs typeface="Perpetua"/>
              </a:rPr>
              <a:t>circuit </a:t>
            </a:r>
            <a:r>
              <a:rPr sz="2800" i="1" spc="-20" dirty="0">
                <a:latin typeface="Perpetua"/>
                <a:cs typeface="Perpetua"/>
              </a:rPr>
              <a:t>for </a:t>
            </a:r>
            <a:r>
              <a:rPr sz="2800" i="1" spc="-5" dirty="0">
                <a:latin typeface="Perpetua"/>
                <a:cs typeface="Perpetua"/>
              </a:rPr>
              <a:t>each of </a:t>
            </a:r>
            <a:r>
              <a:rPr sz="2800" i="1" dirty="0">
                <a:latin typeface="Perpetua"/>
                <a:cs typeface="Perpetua"/>
              </a:rPr>
              <a:t>the </a:t>
            </a:r>
            <a:r>
              <a:rPr sz="2800" i="1" spc="-15" dirty="0">
                <a:latin typeface="Perpetua"/>
                <a:cs typeface="Perpetua"/>
              </a:rPr>
              <a:t>following</a:t>
            </a:r>
            <a:r>
              <a:rPr sz="2800" i="1" spc="130" dirty="0">
                <a:latin typeface="Perpetua"/>
                <a:cs typeface="Perpetua"/>
              </a:rPr>
              <a:t> </a:t>
            </a:r>
            <a:r>
              <a:rPr sz="2800" i="1" spc="-15" dirty="0">
                <a:latin typeface="Perpetua"/>
                <a:cs typeface="Perpetua"/>
              </a:rPr>
              <a:t>propositions.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"/>
            </a:pPr>
            <a:endParaRPr sz="2900">
              <a:latin typeface="Times New Roman"/>
              <a:cs typeface="Times New Roman"/>
            </a:endParaRPr>
          </a:p>
          <a:p>
            <a:pPr marL="1226185" lvl="1" indent="-299720">
              <a:lnSpc>
                <a:spcPct val="100000"/>
              </a:lnSpc>
              <a:buAutoNum type="alphaLcPeriod"/>
              <a:tabLst>
                <a:tab pos="1226820" algn="l"/>
              </a:tabLst>
            </a:pPr>
            <a:r>
              <a:rPr sz="2800" spc="-5" dirty="0">
                <a:latin typeface="Perpetua"/>
                <a:cs typeface="Perpetua"/>
              </a:rPr>
              <a:t>(P OR Q) </a:t>
            </a:r>
            <a:r>
              <a:rPr sz="2800" spc="-10" dirty="0">
                <a:latin typeface="Perpetua"/>
                <a:cs typeface="Perpetua"/>
              </a:rPr>
              <a:t>AND</a:t>
            </a:r>
            <a:r>
              <a:rPr sz="2800" spc="-3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R</a:t>
            </a:r>
            <a:endParaRPr sz="2800">
              <a:latin typeface="Perpetua"/>
              <a:cs typeface="Perpetua"/>
            </a:endParaRPr>
          </a:p>
          <a:p>
            <a:pPr marL="1233805" lvl="1" indent="-307340">
              <a:lnSpc>
                <a:spcPct val="100000"/>
              </a:lnSpc>
              <a:buAutoNum type="alphaLcPeriod"/>
              <a:tabLst>
                <a:tab pos="1234440" algn="l"/>
              </a:tabLst>
            </a:pPr>
            <a:r>
              <a:rPr sz="2800" spc="-5" dirty="0">
                <a:latin typeface="Perpetua"/>
                <a:cs typeface="Perpetua"/>
              </a:rPr>
              <a:t>P OR (Q </a:t>
            </a:r>
            <a:r>
              <a:rPr sz="2800" spc="-10" dirty="0">
                <a:latin typeface="Perpetua"/>
                <a:cs typeface="Perpetua"/>
              </a:rPr>
              <a:t>AND</a:t>
            </a:r>
            <a:r>
              <a:rPr sz="2800" spc="-30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R)</a:t>
            </a:r>
            <a:endParaRPr sz="2800">
              <a:latin typeface="Perpetua"/>
              <a:cs typeface="Perpetua"/>
            </a:endParaRPr>
          </a:p>
          <a:p>
            <a:pPr marL="1228725" lvl="1" indent="-302260">
              <a:lnSpc>
                <a:spcPct val="100000"/>
              </a:lnSpc>
              <a:buAutoNum type="alphaLcPeriod"/>
              <a:tabLst>
                <a:tab pos="1229360" algn="l"/>
              </a:tabLst>
            </a:pPr>
            <a:r>
              <a:rPr sz="2800" spc="-40" dirty="0">
                <a:latin typeface="Perpetua"/>
                <a:cs typeface="Perpetua"/>
              </a:rPr>
              <a:t>NOT </a:t>
            </a:r>
            <a:r>
              <a:rPr sz="2800" spc="-5" dirty="0">
                <a:latin typeface="Perpetua"/>
                <a:cs typeface="Perpetua"/>
              </a:rPr>
              <a:t>(P </a:t>
            </a:r>
            <a:r>
              <a:rPr sz="2800" spc="-10" dirty="0">
                <a:latin typeface="Perpetua"/>
                <a:cs typeface="Perpetua"/>
              </a:rPr>
              <a:t>AND </a:t>
            </a:r>
            <a:r>
              <a:rPr sz="2800" spc="-5" dirty="0">
                <a:latin typeface="Perpetua"/>
                <a:cs typeface="Perpetua"/>
              </a:rPr>
              <a:t>(Q OR</a:t>
            </a:r>
            <a:r>
              <a:rPr sz="2800" spc="-204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R))</a:t>
            </a:r>
            <a:endParaRPr sz="2800">
              <a:latin typeface="Perpetua"/>
              <a:cs typeface="Perpetua"/>
            </a:endParaRPr>
          </a:p>
          <a:p>
            <a:pPr marL="1259840" lvl="1" indent="-333375">
              <a:lnSpc>
                <a:spcPct val="100000"/>
              </a:lnSpc>
              <a:buAutoNum type="alphaLcPeriod"/>
              <a:tabLst>
                <a:tab pos="1260475" algn="l"/>
              </a:tabLst>
            </a:pPr>
            <a:r>
              <a:rPr sz="2800" spc="-15" dirty="0">
                <a:latin typeface="Perpetua"/>
                <a:cs typeface="Perpetua"/>
              </a:rPr>
              <a:t>(NOT(A))B </a:t>
            </a:r>
            <a:r>
              <a:rPr sz="2800" spc="-5" dirty="0">
                <a:latin typeface="Perpetua"/>
                <a:cs typeface="Perpetua"/>
              </a:rPr>
              <a:t>+</a:t>
            </a:r>
            <a:r>
              <a:rPr sz="2800" spc="-220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A(NOT(B))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9194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Simple </a:t>
            </a:r>
            <a:r>
              <a:rPr i="0" spc="-10" dirty="0">
                <a:latin typeface="Perpetua"/>
                <a:cs typeface="Perpetua"/>
              </a:rPr>
              <a:t>gates using</a:t>
            </a:r>
            <a:r>
              <a:rPr i="0" spc="-30" dirty="0">
                <a:latin typeface="Perpetua"/>
                <a:cs typeface="Perpetua"/>
              </a:rPr>
              <a:t> </a:t>
            </a:r>
            <a:r>
              <a:rPr i="0" spc="-5" dirty="0">
                <a:latin typeface="Perpetua"/>
                <a:cs typeface="Perpetua"/>
              </a:rPr>
              <a:t>combinations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752600"/>
            <a:ext cx="7162800" cy="464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8174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0" spc="-5" dirty="0">
                <a:latin typeface="Perpetua"/>
                <a:cs typeface="Perpetua"/>
              </a:rPr>
              <a:t>SIMPLIFY THE </a:t>
            </a:r>
            <a:r>
              <a:rPr b="1" i="0" spc="-25" dirty="0">
                <a:latin typeface="Perpetua"/>
                <a:cs typeface="Perpetua"/>
              </a:rPr>
              <a:t>FOLLOWING</a:t>
            </a:r>
            <a:r>
              <a:rPr b="1" i="0" spc="-535" dirty="0">
                <a:latin typeface="Perpetua"/>
                <a:cs typeface="Perpetua"/>
              </a:rPr>
              <a:t> </a:t>
            </a:r>
            <a:r>
              <a:rPr b="1" i="0" spc="-5" dirty="0">
                <a:latin typeface="Perpetua"/>
                <a:cs typeface="Perpetua"/>
              </a:rPr>
              <a:t>CIRCUIT</a:t>
            </a:r>
          </a:p>
        </p:txBody>
      </p:sp>
      <p:sp>
        <p:nvSpPr>
          <p:cNvPr id="3" name="object 3"/>
          <p:cNvSpPr/>
          <p:nvPr/>
        </p:nvSpPr>
        <p:spPr>
          <a:xfrm>
            <a:off x="990600" y="1600200"/>
            <a:ext cx="6934200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409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10" dirty="0">
                <a:latin typeface="Perpetua"/>
                <a:cs typeface="Perpetua"/>
              </a:rPr>
              <a:t>An</a:t>
            </a:r>
            <a:r>
              <a:rPr i="0" spc="-90" dirty="0">
                <a:latin typeface="Perpetua"/>
                <a:cs typeface="Perpetua"/>
              </a:rPr>
              <a:t>s</a:t>
            </a:r>
            <a:r>
              <a:rPr i="0" spc="-150" dirty="0">
                <a:latin typeface="Perpetua"/>
                <a:cs typeface="Perpetua"/>
              </a:rPr>
              <a:t>w</a:t>
            </a:r>
            <a:r>
              <a:rPr i="0" spc="-5" dirty="0">
                <a:latin typeface="Perpetua"/>
                <a:cs typeface="Perpetua"/>
              </a:rPr>
              <a:t>er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1676400"/>
            <a:ext cx="8001000" cy="4404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403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45" dirty="0">
                <a:latin typeface="Perpetua"/>
                <a:cs typeface="Perpetua"/>
              </a:rPr>
              <a:t>Truth </a:t>
            </a:r>
            <a:r>
              <a:rPr i="0" spc="-105" dirty="0">
                <a:latin typeface="Perpetua"/>
                <a:cs typeface="Perpetua"/>
              </a:rPr>
              <a:t>Table </a:t>
            </a:r>
            <a:r>
              <a:rPr i="0" dirty="0">
                <a:latin typeface="Perpetua"/>
                <a:cs typeface="Perpetua"/>
              </a:rPr>
              <a:t>for </a:t>
            </a:r>
            <a:r>
              <a:rPr i="0" spc="-5" dirty="0">
                <a:latin typeface="Perpetua"/>
                <a:cs typeface="Perpetua"/>
              </a:rPr>
              <a:t>the </a:t>
            </a:r>
            <a:r>
              <a:rPr i="0" spc="-15" dirty="0">
                <a:latin typeface="Perpetua"/>
                <a:cs typeface="Perpetua"/>
              </a:rPr>
              <a:t>following</a:t>
            </a:r>
            <a:r>
              <a:rPr i="0" spc="-380" dirty="0">
                <a:latin typeface="Perpetua"/>
                <a:cs typeface="Perpetua"/>
              </a:rPr>
              <a:t> </a:t>
            </a:r>
            <a:r>
              <a:rPr i="0" spc="15" dirty="0">
                <a:latin typeface="Perpetua"/>
                <a:cs typeface="Perpetua"/>
              </a:rPr>
              <a:t>Logic</a:t>
            </a:r>
          </a:p>
        </p:txBody>
      </p:sp>
      <p:sp>
        <p:nvSpPr>
          <p:cNvPr id="3" name="object 3"/>
          <p:cNvSpPr/>
          <p:nvPr/>
        </p:nvSpPr>
        <p:spPr>
          <a:xfrm>
            <a:off x="835490" y="1615800"/>
            <a:ext cx="7829234" cy="4810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403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45" dirty="0">
                <a:latin typeface="Perpetua"/>
                <a:cs typeface="Perpetua"/>
              </a:rPr>
              <a:t>Truth </a:t>
            </a:r>
            <a:r>
              <a:rPr i="0" spc="-105" dirty="0">
                <a:latin typeface="Perpetua"/>
                <a:cs typeface="Perpetua"/>
              </a:rPr>
              <a:t>Table </a:t>
            </a:r>
            <a:r>
              <a:rPr i="0" dirty="0">
                <a:latin typeface="Perpetua"/>
                <a:cs typeface="Perpetua"/>
              </a:rPr>
              <a:t>for </a:t>
            </a:r>
            <a:r>
              <a:rPr i="0" spc="-5" dirty="0">
                <a:latin typeface="Perpetua"/>
                <a:cs typeface="Perpetua"/>
              </a:rPr>
              <a:t>the </a:t>
            </a:r>
            <a:r>
              <a:rPr i="0" spc="-15" dirty="0">
                <a:latin typeface="Perpetua"/>
                <a:cs typeface="Perpetua"/>
              </a:rPr>
              <a:t>following</a:t>
            </a:r>
            <a:r>
              <a:rPr i="0" spc="-380" dirty="0">
                <a:latin typeface="Perpetua"/>
                <a:cs typeface="Perpetua"/>
              </a:rPr>
              <a:t> </a:t>
            </a:r>
            <a:r>
              <a:rPr i="0" spc="15" dirty="0">
                <a:latin typeface="Perpetua"/>
                <a:cs typeface="Perpetua"/>
              </a:rPr>
              <a:t>Logic</a:t>
            </a:r>
          </a:p>
        </p:txBody>
      </p:sp>
      <p:sp>
        <p:nvSpPr>
          <p:cNvPr id="3" name="object 3"/>
          <p:cNvSpPr/>
          <p:nvPr/>
        </p:nvSpPr>
        <p:spPr>
          <a:xfrm>
            <a:off x="216408" y="1295400"/>
            <a:ext cx="8775192" cy="518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61121" y="181355"/>
            <a:ext cx="1105786" cy="1190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715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3. </a:t>
            </a:r>
            <a:r>
              <a:rPr i="0" spc="-10" dirty="0">
                <a:latin typeface="Perpetua"/>
                <a:cs typeface="Perpetua"/>
              </a:rPr>
              <a:t>Database</a:t>
            </a:r>
            <a:r>
              <a:rPr i="0" spc="-195" dirty="0">
                <a:latin typeface="Perpetua"/>
                <a:cs typeface="Perpetua"/>
              </a:rPr>
              <a:t> </a:t>
            </a:r>
            <a:r>
              <a:rPr i="0" spc="5" dirty="0">
                <a:latin typeface="Perpetua"/>
                <a:cs typeface="Perpetua"/>
              </a:rPr>
              <a:t>Queries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5750" algn="l"/>
              </a:tabLst>
            </a:pPr>
            <a:r>
              <a:rPr i="1" spc="-5" dirty="0">
                <a:latin typeface="Perpetua"/>
                <a:cs typeface="Perpetua"/>
              </a:rPr>
              <a:t>Databases </a:t>
            </a:r>
            <a:r>
              <a:rPr spc="-10" dirty="0"/>
              <a:t>are software </a:t>
            </a:r>
            <a:r>
              <a:rPr spc="-5" dirty="0"/>
              <a:t>systems designed to </a:t>
            </a:r>
            <a:r>
              <a:rPr spc="-10" dirty="0"/>
              <a:t>efficiently </a:t>
            </a:r>
            <a:r>
              <a:rPr spc="-5" dirty="0"/>
              <a:t>store </a:t>
            </a:r>
            <a:r>
              <a:rPr dirty="0"/>
              <a:t>enormous  </a:t>
            </a:r>
            <a:r>
              <a:rPr spc="-5" dirty="0"/>
              <a:t>amounts </a:t>
            </a:r>
            <a:r>
              <a:rPr dirty="0"/>
              <a:t>of </a:t>
            </a:r>
            <a:r>
              <a:rPr spc="-10" dirty="0"/>
              <a:t>data </a:t>
            </a:r>
            <a:r>
              <a:rPr spc="10" dirty="0"/>
              <a:t>such </a:t>
            </a:r>
            <a:r>
              <a:rPr spc="-10" dirty="0"/>
              <a:t>that </a:t>
            </a:r>
            <a:r>
              <a:rPr spc="-5" dirty="0"/>
              <a:t>pieces </a:t>
            </a:r>
            <a:r>
              <a:rPr dirty="0"/>
              <a:t>of </a:t>
            </a:r>
            <a:r>
              <a:rPr spc="-5" dirty="0"/>
              <a:t>data </a:t>
            </a:r>
            <a:r>
              <a:rPr dirty="0"/>
              <a:t>in the </a:t>
            </a:r>
            <a:r>
              <a:rPr spc="-5" dirty="0"/>
              <a:t>database </a:t>
            </a:r>
            <a:r>
              <a:rPr dirty="0"/>
              <a:t>can be </a:t>
            </a:r>
            <a:r>
              <a:rPr spc="-10" dirty="0"/>
              <a:t>very </a:t>
            </a:r>
            <a:r>
              <a:rPr dirty="0"/>
              <a:t>quickly  </a:t>
            </a:r>
            <a:r>
              <a:rPr spc="-5" dirty="0"/>
              <a:t>located and </a:t>
            </a:r>
            <a:r>
              <a:rPr spc="-10" dirty="0"/>
              <a:t>retrieved.</a:t>
            </a:r>
          </a:p>
          <a:p>
            <a:pPr marL="285115" indent="-273050" algn="just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85750" algn="l"/>
              </a:tabLst>
            </a:pPr>
            <a:r>
              <a:rPr dirty="0"/>
              <a:t>Most </a:t>
            </a:r>
            <a:r>
              <a:rPr spc="-5" dirty="0"/>
              <a:t>databases </a:t>
            </a:r>
            <a:r>
              <a:rPr i="1" spc="-10" dirty="0">
                <a:latin typeface="Perpetua"/>
                <a:cs typeface="Perpetua"/>
              </a:rPr>
              <a:t>store </a:t>
            </a:r>
            <a:r>
              <a:rPr i="1" spc="-5" dirty="0">
                <a:latin typeface="Perpetua"/>
                <a:cs typeface="Perpetua"/>
              </a:rPr>
              <a:t>information in </a:t>
            </a:r>
            <a:r>
              <a:rPr i="1" spc="-10" dirty="0">
                <a:latin typeface="Perpetua"/>
                <a:cs typeface="Perpetua"/>
              </a:rPr>
              <a:t>tables </a:t>
            </a:r>
            <a:r>
              <a:rPr spc="10" dirty="0"/>
              <a:t>such</a:t>
            </a:r>
            <a:r>
              <a:rPr spc="-10" dirty="0"/>
              <a:t> that:</a:t>
            </a:r>
          </a:p>
          <a:p>
            <a:pPr marL="561340" lvl="1" indent="-228600" algn="just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i="1" dirty="0">
                <a:latin typeface="Perpetua"/>
                <a:cs typeface="Perpetua"/>
              </a:rPr>
              <a:t>Each </a:t>
            </a:r>
            <a:r>
              <a:rPr sz="2400" i="1" spc="-15" dirty="0">
                <a:latin typeface="Perpetua"/>
                <a:cs typeface="Perpetua"/>
              </a:rPr>
              <a:t>row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-10" dirty="0">
                <a:latin typeface="Perpetua"/>
                <a:cs typeface="Perpetua"/>
              </a:rPr>
              <a:t>table </a:t>
            </a:r>
            <a:r>
              <a:rPr sz="2400" dirty="0">
                <a:latin typeface="Perpetua"/>
                <a:cs typeface="Perpetua"/>
              </a:rPr>
              <a:t>contains a set of </a:t>
            </a:r>
            <a:r>
              <a:rPr sz="2400" spc="-5" dirty="0">
                <a:latin typeface="Perpetua"/>
                <a:cs typeface="Perpetua"/>
              </a:rPr>
              <a:t>data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belongs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a single</a:t>
            </a:r>
            <a:r>
              <a:rPr sz="2400" spc="-14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record</a:t>
            </a:r>
            <a:r>
              <a:rPr sz="2400" spc="-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561340" lvl="1" indent="-228600" algn="just">
              <a:lnSpc>
                <a:spcPct val="100000"/>
              </a:lnSpc>
              <a:spcBef>
                <a:spcPts val="400"/>
              </a:spcBef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i="1" dirty="0">
                <a:latin typeface="Perpetua"/>
                <a:cs typeface="Perpetua"/>
              </a:rPr>
              <a:t>Each </a:t>
            </a:r>
            <a:r>
              <a:rPr sz="2400" i="1" spc="-5" dirty="0">
                <a:latin typeface="Perpetua"/>
                <a:cs typeface="Perpetua"/>
              </a:rPr>
              <a:t>column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-10" dirty="0">
                <a:latin typeface="Perpetua"/>
                <a:cs typeface="Perpetua"/>
              </a:rPr>
              <a:t>table </a:t>
            </a:r>
            <a:r>
              <a:rPr sz="2400" dirty="0">
                <a:latin typeface="Perpetua"/>
                <a:cs typeface="Perpetua"/>
              </a:rPr>
              <a:t>defines a </a:t>
            </a:r>
            <a:r>
              <a:rPr sz="2400" i="1" spc="-5" dirty="0">
                <a:latin typeface="Perpetua"/>
                <a:cs typeface="Perpetua"/>
              </a:rPr>
              <a:t>field</a:t>
            </a:r>
            <a:r>
              <a:rPr sz="2400" i="1" spc="-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and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3812259"/>
            <a:ext cx="4439285" cy="1741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451484" indent="66675">
              <a:lnSpc>
                <a:spcPct val="113700"/>
              </a:lnSpc>
              <a:spcBef>
                <a:spcPts val="95"/>
              </a:spcBef>
            </a:pPr>
            <a:r>
              <a:rPr sz="2400" spc="-15" dirty="0">
                <a:latin typeface="Perpetua"/>
                <a:cs typeface="Perpetua"/>
              </a:rPr>
              <a:t>every </a:t>
            </a:r>
            <a:r>
              <a:rPr sz="2400" dirty="0">
                <a:latin typeface="Perpetua"/>
                <a:cs typeface="Perpetua"/>
              </a:rPr>
              <a:t>cell of the </a:t>
            </a:r>
            <a:r>
              <a:rPr sz="2400" spc="-10" dirty="0">
                <a:latin typeface="Perpetua"/>
                <a:cs typeface="Perpetua"/>
              </a:rPr>
              <a:t>table </a:t>
            </a:r>
            <a:r>
              <a:rPr sz="2400" dirty="0">
                <a:latin typeface="Perpetua"/>
                <a:cs typeface="Perpetua"/>
              </a:rPr>
              <a:t>contains  one field for one </a:t>
            </a:r>
            <a:r>
              <a:rPr sz="2400" spc="-5" dirty="0">
                <a:latin typeface="Perpetua"/>
                <a:cs typeface="Perpetua"/>
              </a:rPr>
              <a:t>record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data.</a:t>
            </a:r>
            <a:endParaRPr sz="2400">
              <a:latin typeface="Perpetua"/>
              <a:cs typeface="Perpetua"/>
            </a:endParaRPr>
          </a:p>
          <a:p>
            <a:pPr marL="216535" marR="5080" indent="-204470">
              <a:lnSpc>
                <a:spcPct val="120800"/>
              </a:lnSpc>
              <a:spcBef>
                <a:spcPts val="5"/>
              </a:spcBef>
              <a:buSzPct val="85416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dirty="0"/>
              <a:t>	</a:t>
            </a:r>
            <a:r>
              <a:rPr sz="2400" spc="-5" dirty="0">
                <a:latin typeface="Perpetua"/>
                <a:cs typeface="Perpetua"/>
              </a:rPr>
              <a:t>Database </a:t>
            </a:r>
            <a:r>
              <a:rPr sz="2400" dirty="0">
                <a:latin typeface="Perpetua"/>
                <a:cs typeface="Perpetua"/>
              </a:rPr>
              <a:t>systems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5" dirty="0">
                <a:latin typeface="Perpetua"/>
                <a:cs typeface="Perpetua"/>
              </a:rPr>
              <a:t>an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indispensable  </a:t>
            </a:r>
            <a:r>
              <a:rPr sz="2400" dirty="0">
                <a:latin typeface="Perpetua"/>
                <a:cs typeface="Perpetua"/>
              </a:rPr>
              <a:t>component of </a:t>
            </a:r>
            <a:r>
              <a:rPr sz="2400" spc="-5" dirty="0">
                <a:latin typeface="Perpetua"/>
                <a:cs typeface="Perpetua"/>
              </a:rPr>
              <a:t>almost </a:t>
            </a:r>
            <a:r>
              <a:rPr sz="2400" spc="-15" dirty="0">
                <a:latin typeface="Perpetua"/>
                <a:cs typeface="Perpetua"/>
              </a:rPr>
              <a:t>every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software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555" y="5604154"/>
            <a:ext cx="48279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system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used in </a:t>
            </a:r>
            <a:r>
              <a:rPr sz="2400" spc="-5" dirty="0">
                <a:latin typeface="Perpetua"/>
                <a:cs typeface="Perpetua"/>
              </a:rPr>
              <a:t>almost </a:t>
            </a:r>
            <a:r>
              <a:rPr sz="2400" spc="-15" dirty="0">
                <a:latin typeface="Perpetua"/>
                <a:cs typeface="Perpetua"/>
              </a:rPr>
              <a:t>every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profession.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4028" y="6240271"/>
            <a:ext cx="396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10" dirty="0">
                <a:latin typeface="Perpetua"/>
                <a:cs typeface="Perpetua"/>
              </a:rPr>
              <a:t>give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list of </a:t>
            </a:r>
            <a:r>
              <a:rPr sz="2400" i="1" spc="-30" dirty="0">
                <a:latin typeface="Perpetua"/>
                <a:cs typeface="Perpetua"/>
              </a:rPr>
              <a:t>large</a:t>
            </a:r>
            <a:r>
              <a:rPr sz="2400" i="1" spc="-7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databases?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87057" y="4002468"/>
            <a:ext cx="1044575" cy="366395"/>
          </a:xfrm>
          <a:custGeom>
            <a:avLst/>
            <a:gdLst/>
            <a:ahLst/>
            <a:cxnLst/>
            <a:rect l="l" t="t" r="r" b="b"/>
            <a:pathLst>
              <a:path w="1044575" h="366395">
                <a:moveTo>
                  <a:pt x="0" y="365823"/>
                </a:moveTo>
                <a:lnTo>
                  <a:pt x="1044143" y="365823"/>
                </a:lnTo>
                <a:lnTo>
                  <a:pt x="1044143" y="0"/>
                </a:lnTo>
                <a:lnTo>
                  <a:pt x="0" y="0"/>
                </a:lnTo>
                <a:lnTo>
                  <a:pt x="0" y="365823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87161" y="4192396"/>
            <a:ext cx="625475" cy="120650"/>
          </a:xfrm>
          <a:custGeom>
            <a:avLst/>
            <a:gdLst/>
            <a:ahLst/>
            <a:cxnLst/>
            <a:rect l="l" t="t" r="r" b="b"/>
            <a:pathLst>
              <a:path w="625475" h="120650">
                <a:moveTo>
                  <a:pt x="551887" y="73157"/>
                </a:moveTo>
                <a:lnTo>
                  <a:pt x="509270" y="97789"/>
                </a:lnTo>
                <a:lnTo>
                  <a:pt x="507238" y="105790"/>
                </a:lnTo>
                <a:lnTo>
                  <a:pt x="510793" y="112013"/>
                </a:lnTo>
                <a:lnTo>
                  <a:pt x="514350" y="118109"/>
                </a:lnTo>
                <a:lnTo>
                  <a:pt x="522350" y="120268"/>
                </a:lnTo>
                <a:lnTo>
                  <a:pt x="603189" y="73278"/>
                </a:lnTo>
                <a:lnTo>
                  <a:pt x="551887" y="73157"/>
                </a:lnTo>
                <a:close/>
              </a:path>
              <a:path w="625475" h="120650">
                <a:moveTo>
                  <a:pt x="574121" y="60281"/>
                </a:moveTo>
                <a:lnTo>
                  <a:pt x="551887" y="73157"/>
                </a:lnTo>
                <a:lnTo>
                  <a:pt x="599821" y="73278"/>
                </a:lnTo>
                <a:lnTo>
                  <a:pt x="599821" y="71500"/>
                </a:lnTo>
                <a:lnTo>
                  <a:pt x="593216" y="71500"/>
                </a:lnTo>
                <a:lnTo>
                  <a:pt x="574121" y="60281"/>
                </a:lnTo>
                <a:close/>
              </a:path>
              <a:path w="625475" h="120650">
                <a:moveTo>
                  <a:pt x="522604" y="0"/>
                </a:moveTo>
                <a:lnTo>
                  <a:pt x="514603" y="2031"/>
                </a:lnTo>
                <a:lnTo>
                  <a:pt x="511048" y="8254"/>
                </a:lnTo>
                <a:lnTo>
                  <a:pt x="507364" y="14350"/>
                </a:lnTo>
                <a:lnTo>
                  <a:pt x="509524" y="22351"/>
                </a:lnTo>
                <a:lnTo>
                  <a:pt x="551941" y="47249"/>
                </a:lnTo>
                <a:lnTo>
                  <a:pt x="599821" y="47370"/>
                </a:lnTo>
                <a:lnTo>
                  <a:pt x="599821" y="73278"/>
                </a:lnTo>
                <a:lnTo>
                  <a:pt x="603189" y="73278"/>
                </a:lnTo>
                <a:lnTo>
                  <a:pt x="625475" y="60325"/>
                </a:lnTo>
                <a:lnTo>
                  <a:pt x="528827" y="3555"/>
                </a:lnTo>
                <a:lnTo>
                  <a:pt x="522604" y="0"/>
                </a:lnTo>
                <a:close/>
              </a:path>
              <a:path w="625475" h="120650">
                <a:moveTo>
                  <a:pt x="0" y="45846"/>
                </a:moveTo>
                <a:lnTo>
                  <a:pt x="0" y="71754"/>
                </a:lnTo>
                <a:lnTo>
                  <a:pt x="551887" y="73157"/>
                </a:lnTo>
                <a:lnTo>
                  <a:pt x="574121" y="60281"/>
                </a:lnTo>
                <a:lnTo>
                  <a:pt x="551941" y="47249"/>
                </a:lnTo>
                <a:lnTo>
                  <a:pt x="0" y="45846"/>
                </a:lnTo>
                <a:close/>
              </a:path>
              <a:path w="625475" h="120650">
                <a:moveTo>
                  <a:pt x="593343" y="49148"/>
                </a:moveTo>
                <a:lnTo>
                  <a:pt x="574121" y="60281"/>
                </a:lnTo>
                <a:lnTo>
                  <a:pt x="593216" y="71500"/>
                </a:lnTo>
                <a:lnTo>
                  <a:pt x="593343" y="49148"/>
                </a:lnTo>
                <a:close/>
              </a:path>
              <a:path w="625475" h="120650">
                <a:moveTo>
                  <a:pt x="599821" y="49148"/>
                </a:moveTo>
                <a:lnTo>
                  <a:pt x="593343" y="49148"/>
                </a:lnTo>
                <a:lnTo>
                  <a:pt x="593216" y="71500"/>
                </a:lnTo>
                <a:lnTo>
                  <a:pt x="599821" y="71500"/>
                </a:lnTo>
                <a:lnTo>
                  <a:pt x="599821" y="49148"/>
                </a:lnTo>
                <a:close/>
              </a:path>
              <a:path w="625475" h="120650">
                <a:moveTo>
                  <a:pt x="551941" y="47249"/>
                </a:moveTo>
                <a:lnTo>
                  <a:pt x="574121" y="60281"/>
                </a:lnTo>
                <a:lnTo>
                  <a:pt x="593343" y="49148"/>
                </a:lnTo>
                <a:lnTo>
                  <a:pt x="599821" y="49148"/>
                </a:lnTo>
                <a:lnTo>
                  <a:pt x="599821" y="47370"/>
                </a:lnTo>
                <a:lnTo>
                  <a:pt x="551941" y="47249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27828" y="4001114"/>
            <a:ext cx="735965" cy="69786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400" spc="-5" dirty="0">
                <a:latin typeface="Perpetua"/>
                <a:cs typeface="Perpetua"/>
              </a:rPr>
              <a:t>Record</a:t>
            </a:r>
            <a:r>
              <a:rPr sz="1400" spc="-100" dirty="0">
                <a:latin typeface="Perpetua"/>
                <a:cs typeface="Perpetua"/>
              </a:rPr>
              <a:t> </a:t>
            </a:r>
            <a:r>
              <a:rPr sz="1400" dirty="0">
                <a:latin typeface="Perpetua"/>
                <a:cs typeface="Perpetua"/>
              </a:rPr>
              <a:t>#1</a:t>
            </a:r>
            <a:endParaRPr sz="1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400" dirty="0">
                <a:latin typeface="Perpetua"/>
                <a:cs typeface="Perpetua"/>
              </a:rPr>
              <a:t>Record</a:t>
            </a:r>
            <a:r>
              <a:rPr sz="1400" spc="-114" dirty="0">
                <a:latin typeface="Perpetua"/>
                <a:cs typeface="Perpetua"/>
              </a:rPr>
              <a:t> </a:t>
            </a:r>
            <a:r>
              <a:rPr sz="1400" dirty="0">
                <a:latin typeface="Perpetua"/>
                <a:cs typeface="Perpetua"/>
              </a:rPr>
              <a:t>#2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87161" y="4526153"/>
            <a:ext cx="625475" cy="120650"/>
          </a:xfrm>
          <a:custGeom>
            <a:avLst/>
            <a:gdLst/>
            <a:ahLst/>
            <a:cxnLst/>
            <a:rect l="l" t="t" r="r" b="b"/>
            <a:pathLst>
              <a:path w="625475" h="120650">
                <a:moveTo>
                  <a:pt x="551887" y="73157"/>
                </a:moveTo>
                <a:lnTo>
                  <a:pt x="509270" y="97790"/>
                </a:lnTo>
                <a:lnTo>
                  <a:pt x="507238" y="105791"/>
                </a:lnTo>
                <a:lnTo>
                  <a:pt x="510793" y="112014"/>
                </a:lnTo>
                <a:lnTo>
                  <a:pt x="514350" y="118110"/>
                </a:lnTo>
                <a:lnTo>
                  <a:pt x="522350" y="120269"/>
                </a:lnTo>
                <a:lnTo>
                  <a:pt x="603189" y="73279"/>
                </a:lnTo>
                <a:lnTo>
                  <a:pt x="551887" y="73157"/>
                </a:lnTo>
                <a:close/>
              </a:path>
              <a:path w="625475" h="120650">
                <a:moveTo>
                  <a:pt x="574121" y="60281"/>
                </a:moveTo>
                <a:lnTo>
                  <a:pt x="551887" y="73157"/>
                </a:lnTo>
                <a:lnTo>
                  <a:pt x="599821" y="73279"/>
                </a:lnTo>
                <a:lnTo>
                  <a:pt x="599821" y="71501"/>
                </a:lnTo>
                <a:lnTo>
                  <a:pt x="593216" y="71501"/>
                </a:lnTo>
                <a:lnTo>
                  <a:pt x="574121" y="60281"/>
                </a:lnTo>
                <a:close/>
              </a:path>
              <a:path w="625475" h="120650">
                <a:moveTo>
                  <a:pt x="522604" y="0"/>
                </a:moveTo>
                <a:lnTo>
                  <a:pt x="514603" y="2032"/>
                </a:lnTo>
                <a:lnTo>
                  <a:pt x="511048" y="8255"/>
                </a:lnTo>
                <a:lnTo>
                  <a:pt x="507364" y="14351"/>
                </a:lnTo>
                <a:lnTo>
                  <a:pt x="509524" y="22352"/>
                </a:lnTo>
                <a:lnTo>
                  <a:pt x="551941" y="47249"/>
                </a:lnTo>
                <a:lnTo>
                  <a:pt x="599821" y="47371"/>
                </a:lnTo>
                <a:lnTo>
                  <a:pt x="599821" y="73279"/>
                </a:lnTo>
                <a:lnTo>
                  <a:pt x="603189" y="73279"/>
                </a:lnTo>
                <a:lnTo>
                  <a:pt x="625475" y="60325"/>
                </a:lnTo>
                <a:lnTo>
                  <a:pt x="528827" y="3556"/>
                </a:lnTo>
                <a:lnTo>
                  <a:pt x="522604" y="0"/>
                </a:lnTo>
                <a:close/>
              </a:path>
              <a:path w="625475" h="120650">
                <a:moveTo>
                  <a:pt x="0" y="45847"/>
                </a:moveTo>
                <a:lnTo>
                  <a:pt x="0" y="71755"/>
                </a:lnTo>
                <a:lnTo>
                  <a:pt x="551887" y="73157"/>
                </a:lnTo>
                <a:lnTo>
                  <a:pt x="574121" y="60281"/>
                </a:lnTo>
                <a:lnTo>
                  <a:pt x="551941" y="47249"/>
                </a:lnTo>
                <a:lnTo>
                  <a:pt x="0" y="45847"/>
                </a:lnTo>
                <a:close/>
              </a:path>
              <a:path w="625475" h="120650">
                <a:moveTo>
                  <a:pt x="593343" y="49149"/>
                </a:moveTo>
                <a:lnTo>
                  <a:pt x="574121" y="60281"/>
                </a:lnTo>
                <a:lnTo>
                  <a:pt x="593216" y="71501"/>
                </a:lnTo>
                <a:lnTo>
                  <a:pt x="593343" y="49149"/>
                </a:lnTo>
                <a:close/>
              </a:path>
              <a:path w="625475" h="120650">
                <a:moveTo>
                  <a:pt x="599821" y="49149"/>
                </a:moveTo>
                <a:lnTo>
                  <a:pt x="593343" y="49149"/>
                </a:lnTo>
                <a:lnTo>
                  <a:pt x="593216" y="71501"/>
                </a:lnTo>
                <a:lnTo>
                  <a:pt x="599821" y="71501"/>
                </a:lnTo>
                <a:lnTo>
                  <a:pt x="599821" y="49149"/>
                </a:lnTo>
                <a:close/>
              </a:path>
              <a:path w="625475" h="120650">
                <a:moveTo>
                  <a:pt x="551941" y="47249"/>
                </a:moveTo>
                <a:lnTo>
                  <a:pt x="574121" y="60281"/>
                </a:lnTo>
                <a:lnTo>
                  <a:pt x="593343" y="49149"/>
                </a:lnTo>
                <a:lnTo>
                  <a:pt x="599821" y="49149"/>
                </a:lnTo>
                <a:lnTo>
                  <a:pt x="599821" y="47371"/>
                </a:lnTo>
                <a:lnTo>
                  <a:pt x="551941" y="47249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29784" y="4847844"/>
            <a:ext cx="149352" cy="147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29784" y="5116067"/>
            <a:ext cx="149352" cy="147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81800" y="4038600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152400"/>
                </a:moveTo>
                <a:lnTo>
                  <a:pt x="23834" y="99209"/>
                </a:lnTo>
                <a:lnTo>
                  <a:pt x="89600" y="54197"/>
                </a:lnTo>
                <a:lnTo>
                  <a:pt x="135518" y="35831"/>
                </a:lnTo>
                <a:lnTo>
                  <a:pt x="188693" y="20799"/>
                </a:lnTo>
                <a:lnTo>
                  <a:pt x="248049" y="9530"/>
                </a:lnTo>
                <a:lnTo>
                  <a:pt x="312509" y="2454"/>
                </a:lnTo>
                <a:lnTo>
                  <a:pt x="381000" y="0"/>
                </a:lnTo>
                <a:lnTo>
                  <a:pt x="449490" y="2454"/>
                </a:lnTo>
                <a:lnTo>
                  <a:pt x="513950" y="9530"/>
                </a:lnTo>
                <a:lnTo>
                  <a:pt x="573306" y="20799"/>
                </a:lnTo>
                <a:lnTo>
                  <a:pt x="626481" y="35831"/>
                </a:lnTo>
                <a:lnTo>
                  <a:pt x="672399" y="54197"/>
                </a:lnTo>
                <a:lnTo>
                  <a:pt x="709986" y="75466"/>
                </a:lnTo>
                <a:lnTo>
                  <a:pt x="755862" y="124997"/>
                </a:lnTo>
                <a:lnTo>
                  <a:pt x="762000" y="152400"/>
                </a:lnTo>
                <a:lnTo>
                  <a:pt x="755862" y="179802"/>
                </a:lnTo>
                <a:lnTo>
                  <a:pt x="709986" y="229333"/>
                </a:lnTo>
                <a:lnTo>
                  <a:pt x="672399" y="250602"/>
                </a:lnTo>
                <a:lnTo>
                  <a:pt x="626481" y="268968"/>
                </a:lnTo>
                <a:lnTo>
                  <a:pt x="573306" y="284000"/>
                </a:lnTo>
                <a:lnTo>
                  <a:pt x="513950" y="295269"/>
                </a:lnTo>
                <a:lnTo>
                  <a:pt x="449490" y="302345"/>
                </a:lnTo>
                <a:lnTo>
                  <a:pt x="381000" y="304800"/>
                </a:lnTo>
                <a:lnTo>
                  <a:pt x="312509" y="302345"/>
                </a:lnTo>
                <a:lnTo>
                  <a:pt x="248049" y="295269"/>
                </a:lnTo>
                <a:lnTo>
                  <a:pt x="188693" y="284000"/>
                </a:lnTo>
                <a:lnTo>
                  <a:pt x="135518" y="268968"/>
                </a:lnTo>
                <a:lnTo>
                  <a:pt x="89600" y="250602"/>
                </a:lnTo>
                <a:lnTo>
                  <a:pt x="52013" y="229333"/>
                </a:lnTo>
                <a:lnTo>
                  <a:pt x="6137" y="179802"/>
                </a:lnTo>
                <a:lnTo>
                  <a:pt x="0" y="152400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556250" y="3498850"/>
          <a:ext cx="2972435" cy="19604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4585"/>
                <a:gridCol w="1044575"/>
                <a:gridCol w="803275"/>
              </a:tblGrid>
              <a:tr h="49733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Filed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#1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Filed#2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……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5" dirty="0">
                          <a:latin typeface="Perpetua"/>
                          <a:cs typeface="Perpetua"/>
                        </a:rPr>
                        <a:t>Cell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65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718428" y="5407863"/>
            <a:ext cx="2709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Information in a</a:t>
            </a:r>
            <a:r>
              <a:rPr sz="2000" spc="-13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table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57886"/>
            <a:ext cx="4276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solidFill>
                  <a:srgbClr val="FF0000"/>
                </a:solidFill>
                <a:latin typeface="Perpetua"/>
                <a:cs typeface="Perpetua"/>
              </a:rPr>
              <a:t>A list of large</a:t>
            </a:r>
            <a:r>
              <a:rPr i="0" spc="-4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0" spc="-10" dirty="0">
                <a:solidFill>
                  <a:srgbClr val="FF0000"/>
                </a:solidFill>
                <a:latin typeface="Perpetua"/>
                <a:cs typeface="Perpetua"/>
              </a:rPr>
              <a:t>databases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176274"/>
            <a:ext cx="7691120" cy="480377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5750" marR="5715" indent="-273685" algn="just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No </a:t>
            </a:r>
            <a:r>
              <a:rPr sz="2600" spc="-20" dirty="0">
                <a:latin typeface="Perpetua"/>
                <a:cs typeface="Perpetua"/>
              </a:rPr>
              <a:t>Fly </a:t>
            </a:r>
            <a:r>
              <a:rPr sz="2600" dirty="0">
                <a:latin typeface="Perpetua"/>
                <a:cs typeface="Perpetua"/>
              </a:rPr>
              <a:t>List is a </a:t>
            </a:r>
            <a:r>
              <a:rPr sz="2600" spc="-5" dirty="0">
                <a:latin typeface="Perpetua"/>
                <a:cs typeface="Perpetua"/>
              </a:rPr>
              <a:t>large </a:t>
            </a:r>
            <a:r>
              <a:rPr sz="2600" spc="-10" dirty="0">
                <a:latin typeface="Perpetua"/>
                <a:cs typeface="Perpetua"/>
              </a:rPr>
              <a:t>database </a:t>
            </a:r>
            <a:r>
              <a:rPr sz="2600" spc="-5" dirty="0">
                <a:latin typeface="Perpetua"/>
                <a:cs typeface="Perpetua"/>
              </a:rPr>
              <a:t>of individuals </a:t>
            </a:r>
            <a:r>
              <a:rPr sz="2600" dirty="0">
                <a:latin typeface="Perpetua"/>
                <a:cs typeface="Perpetua"/>
              </a:rPr>
              <a:t>who </a:t>
            </a:r>
            <a:r>
              <a:rPr sz="2600" spc="-10" dirty="0">
                <a:latin typeface="Perpetua"/>
                <a:cs typeface="Perpetua"/>
              </a:rPr>
              <a:t>are not  </a:t>
            </a:r>
            <a:r>
              <a:rPr sz="2600" spc="-30" dirty="0">
                <a:latin typeface="Perpetua"/>
                <a:cs typeface="Perpetua"/>
              </a:rPr>
              <a:t>allowed </a:t>
            </a:r>
            <a:r>
              <a:rPr sz="2600" spc="-5" dirty="0">
                <a:latin typeface="Perpetua"/>
                <a:cs typeface="Perpetua"/>
              </a:rPr>
              <a:t>to board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commercial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aircraft</a:t>
            </a:r>
            <a:endParaRPr sz="2600">
              <a:latin typeface="Perpetua"/>
              <a:cs typeface="Perpetua"/>
            </a:endParaRPr>
          </a:p>
          <a:p>
            <a:pPr marL="285750" marR="5080" indent="-273685" algn="just">
              <a:lnSpc>
                <a:spcPts val="281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National </a:t>
            </a:r>
            <a:r>
              <a:rPr sz="2600" dirty="0">
                <a:latin typeface="Perpetua"/>
                <a:cs typeface="Perpetua"/>
              </a:rPr>
              <a:t>Do Not </a:t>
            </a:r>
            <a:r>
              <a:rPr sz="2600" spc="-5" dirty="0">
                <a:latin typeface="Perpetua"/>
                <a:cs typeface="Perpetua"/>
              </a:rPr>
              <a:t>Call </a:t>
            </a:r>
            <a:r>
              <a:rPr sz="2600" spc="5" dirty="0">
                <a:latin typeface="Perpetua"/>
                <a:cs typeface="Perpetua"/>
              </a:rPr>
              <a:t>Registry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10" dirty="0">
                <a:latin typeface="Perpetua"/>
                <a:cs typeface="Perpetua"/>
              </a:rPr>
              <a:t>database </a:t>
            </a:r>
            <a:r>
              <a:rPr sz="2600" spc="-5" dirty="0">
                <a:latin typeface="Perpetua"/>
                <a:cs typeface="Perpetua"/>
              </a:rPr>
              <a:t>containing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names of </a:t>
            </a:r>
            <a:r>
              <a:rPr sz="2600" dirty="0">
                <a:latin typeface="Perpetua"/>
                <a:cs typeface="Perpetua"/>
              </a:rPr>
              <a:t>individuals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telemarketers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30" dirty="0">
                <a:latin typeface="Perpetua"/>
                <a:cs typeface="Perpetua"/>
              </a:rPr>
              <a:t>allowed </a:t>
            </a:r>
            <a:r>
              <a:rPr sz="2600" spc="-5" dirty="0">
                <a:latin typeface="Perpetua"/>
                <a:cs typeface="Perpetua"/>
              </a:rPr>
              <a:t>to  solicit.</a:t>
            </a:r>
            <a:endParaRPr sz="2600">
              <a:latin typeface="Perpetua"/>
              <a:cs typeface="Perpetua"/>
            </a:endParaRPr>
          </a:p>
          <a:p>
            <a:pPr marL="285750" marR="7620" indent="-273685" algn="just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National </a:t>
            </a:r>
            <a:r>
              <a:rPr sz="2600" dirty="0">
                <a:latin typeface="Perpetua"/>
                <a:cs typeface="Perpetua"/>
              </a:rPr>
              <a:t>Sex </a:t>
            </a:r>
            <a:r>
              <a:rPr sz="2600" spc="-5" dirty="0">
                <a:latin typeface="Perpetua"/>
                <a:cs typeface="Perpetua"/>
              </a:rPr>
              <a:t>Offender </a:t>
            </a:r>
            <a:r>
              <a:rPr sz="2600" spc="5" dirty="0">
                <a:latin typeface="Perpetua"/>
                <a:cs typeface="Perpetua"/>
              </a:rPr>
              <a:t>Registry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used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35" dirty="0">
                <a:latin typeface="Perpetua"/>
                <a:cs typeface="Perpetua"/>
              </a:rPr>
              <a:t>law  </a:t>
            </a:r>
            <a:r>
              <a:rPr sz="2600" spc="-5" dirty="0">
                <a:latin typeface="Perpetua"/>
                <a:cs typeface="Perpetua"/>
              </a:rPr>
              <a:t>enforcement to </a:t>
            </a:r>
            <a:r>
              <a:rPr sz="2600" spc="5" dirty="0">
                <a:latin typeface="Perpetua"/>
                <a:cs typeface="Perpetua"/>
              </a:rPr>
              <a:t>track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location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convicted </a:t>
            </a:r>
            <a:r>
              <a:rPr sz="2600" dirty="0">
                <a:latin typeface="Perpetua"/>
                <a:cs typeface="Perpetua"/>
              </a:rPr>
              <a:t>sex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offender.</a:t>
            </a:r>
            <a:endParaRPr sz="2600">
              <a:latin typeface="Perpetua"/>
              <a:cs typeface="Perpetua"/>
            </a:endParaRPr>
          </a:p>
          <a:p>
            <a:pPr marL="285750" marR="5080" indent="-273685" algn="just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6385" algn="l"/>
              </a:tabLst>
            </a:pPr>
            <a:r>
              <a:rPr sz="2600" spc="-5" dirty="0">
                <a:latin typeface="Perpetua"/>
                <a:cs typeface="Perpetua"/>
              </a:rPr>
              <a:t>Every bank and financial </a:t>
            </a:r>
            <a:r>
              <a:rPr sz="2600" dirty="0">
                <a:latin typeface="Perpetua"/>
                <a:cs typeface="Perpetua"/>
              </a:rPr>
              <a:t>institution </a:t>
            </a:r>
            <a:r>
              <a:rPr sz="2600" spc="-5" dirty="0">
                <a:latin typeface="Perpetua"/>
                <a:cs typeface="Perpetua"/>
              </a:rPr>
              <a:t>maintains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database </a:t>
            </a:r>
            <a:r>
              <a:rPr sz="2600" spc="-5" dirty="0">
                <a:latin typeface="Perpetua"/>
                <a:cs typeface="Perpetua"/>
              </a:rPr>
              <a:t>of  clients and </a:t>
            </a:r>
            <a:r>
              <a:rPr sz="2600" spc="-10" dirty="0">
                <a:latin typeface="Perpetua"/>
                <a:cs typeface="Perpetua"/>
              </a:rPr>
              <a:t>accounts.</a:t>
            </a:r>
            <a:endParaRPr sz="2600">
              <a:latin typeface="Perpetua"/>
              <a:cs typeface="Perpetua"/>
            </a:endParaRPr>
          </a:p>
          <a:p>
            <a:pPr marL="285750" indent="-273685">
              <a:lnSpc>
                <a:spcPct val="100000"/>
              </a:lnSpc>
              <a:spcBef>
                <a:spcPts val="250"/>
              </a:spcBef>
              <a:buSzPct val="84615"/>
              <a:buFont typeface="Arial"/>
              <a:buChar char="•"/>
              <a:tabLst>
                <a:tab pos="285115" algn="l"/>
                <a:tab pos="286385" algn="l"/>
              </a:tabLst>
            </a:pPr>
            <a:r>
              <a:rPr sz="2600" spc="-5" dirty="0">
                <a:latin typeface="Perpetua"/>
                <a:cs typeface="Perpetua"/>
              </a:rPr>
              <a:t>Wikipedia maintains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database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articles.</a:t>
            </a:r>
            <a:endParaRPr sz="2600">
              <a:latin typeface="Perpetua"/>
              <a:cs typeface="Perpetua"/>
            </a:endParaRPr>
          </a:p>
          <a:p>
            <a:pPr marL="285750" indent="-273685">
              <a:lnSpc>
                <a:spcPct val="100000"/>
              </a:lnSpc>
              <a:spcBef>
                <a:spcPts val="285"/>
              </a:spcBef>
              <a:buSzPct val="84615"/>
              <a:buFont typeface="Arial"/>
              <a:buChar char="•"/>
              <a:tabLst>
                <a:tab pos="285115" algn="l"/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Biologists </a:t>
            </a:r>
            <a:r>
              <a:rPr sz="2600" spc="-5" dirty="0">
                <a:latin typeface="Perpetua"/>
                <a:cs typeface="Perpetua"/>
              </a:rPr>
              <a:t>maintain large </a:t>
            </a:r>
            <a:r>
              <a:rPr sz="2600" spc="-10" dirty="0">
                <a:latin typeface="Perpetua"/>
                <a:cs typeface="Perpetua"/>
              </a:rPr>
              <a:t>databases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DNA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sequences.</a:t>
            </a:r>
            <a:endParaRPr sz="2600">
              <a:latin typeface="Perpetua"/>
              <a:cs typeface="Perpetua"/>
            </a:endParaRPr>
          </a:p>
          <a:p>
            <a:pPr marL="285750" indent="-273685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5115" algn="l"/>
                <a:tab pos="286385" algn="l"/>
              </a:tabLst>
            </a:pPr>
            <a:r>
              <a:rPr sz="2600" spc="-15" dirty="0">
                <a:latin typeface="Perpetua"/>
                <a:cs typeface="Perpetua"/>
              </a:rPr>
              <a:t>Politicians </a:t>
            </a:r>
            <a:r>
              <a:rPr sz="2600" spc="-5" dirty="0">
                <a:latin typeface="Perpetua"/>
                <a:cs typeface="Perpetua"/>
              </a:rPr>
              <a:t>maintain large databases of </a:t>
            </a:r>
            <a:r>
              <a:rPr sz="2600" dirty="0">
                <a:latin typeface="Perpetua"/>
                <a:cs typeface="Perpetua"/>
              </a:rPr>
              <a:t>registered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voters.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377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125" dirty="0">
                <a:latin typeface="Perpetua"/>
                <a:cs typeface="Perpetua"/>
              </a:rPr>
              <a:t>Eg. </a:t>
            </a:r>
            <a:r>
              <a:rPr i="0" spc="-5" dirty="0">
                <a:latin typeface="Perpetua"/>
                <a:cs typeface="Perpetua"/>
              </a:rPr>
              <a:t>A professional</a:t>
            </a:r>
            <a:r>
              <a:rPr i="0" spc="-395" dirty="0">
                <a:latin typeface="Perpetua"/>
                <a:cs typeface="Perpetua"/>
              </a:rPr>
              <a:t> </a:t>
            </a:r>
            <a:r>
              <a:rPr i="0" spc="-15" dirty="0">
                <a:latin typeface="Perpetua"/>
                <a:cs typeface="Perpetua"/>
              </a:rPr>
              <a:t>baker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370570" cy="1216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0" dirty="0">
                <a:latin typeface="Perpetua"/>
                <a:cs typeface="Perpetua"/>
              </a:rPr>
              <a:t>were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professional </a:t>
            </a:r>
            <a:r>
              <a:rPr sz="2600" spc="-45" dirty="0">
                <a:latin typeface="Perpetua"/>
                <a:cs typeface="Perpetua"/>
              </a:rPr>
              <a:t>baker,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lists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keep </a:t>
            </a:r>
            <a:r>
              <a:rPr sz="2600" spc="5" dirty="0">
                <a:latin typeface="Perpetua"/>
                <a:cs typeface="Perpetua"/>
              </a:rPr>
              <a:t>track  </a:t>
            </a:r>
            <a:r>
              <a:rPr sz="2600" spc="-5" dirty="0">
                <a:latin typeface="Perpetua"/>
                <a:cs typeface="Perpetua"/>
              </a:rPr>
              <a:t>of: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dirty="0">
                <a:latin typeface="Perpetua"/>
                <a:cs typeface="Perpetua"/>
              </a:rPr>
              <a:t>of customers, a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products </a:t>
            </a:r>
            <a:r>
              <a:rPr sz="2600" spc="-5" dirty="0">
                <a:latin typeface="Perpetua"/>
                <a:cs typeface="Perpetua"/>
              </a:rPr>
              <a:t>sold,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5" dirty="0">
                <a:latin typeface="Perpetua"/>
                <a:cs typeface="Perpetua"/>
              </a:rPr>
              <a:t>prices,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list</a:t>
            </a:r>
            <a:r>
              <a:rPr sz="2600" spc="-3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  </a:t>
            </a:r>
            <a:r>
              <a:rPr sz="2600" spc="-5" dirty="0">
                <a:latin typeface="Perpetua"/>
                <a:cs typeface="Perpetua"/>
              </a:rPr>
              <a:t>orders...and </a:t>
            </a:r>
            <a:r>
              <a:rPr sz="2600" dirty="0">
                <a:latin typeface="Perpetua"/>
                <a:cs typeface="Perpetua"/>
              </a:rPr>
              <a:t>so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81200" y="2695955"/>
            <a:ext cx="4419600" cy="2488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53761" y="2896361"/>
            <a:ext cx="1371600" cy="457200"/>
          </a:xfrm>
          <a:custGeom>
            <a:avLst/>
            <a:gdLst/>
            <a:ahLst/>
            <a:cxnLst/>
            <a:rect l="l" t="t" r="r" b="b"/>
            <a:pathLst>
              <a:path w="1371600" h="457200">
                <a:moveTo>
                  <a:pt x="0" y="228600"/>
                </a:moveTo>
                <a:lnTo>
                  <a:pt x="13934" y="182533"/>
                </a:lnTo>
                <a:lnTo>
                  <a:pt x="53899" y="139624"/>
                </a:lnTo>
                <a:lnTo>
                  <a:pt x="117135" y="100793"/>
                </a:lnTo>
                <a:lnTo>
                  <a:pt x="156617" y="83195"/>
                </a:lnTo>
                <a:lnTo>
                  <a:pt x="200882" y="66960"/>
                </a:lnTo>
                <a:lnTo>
                  <a:pt x="249585" y="52205"/>
                </a:lnTo>
                <a:lnTo>
                  <a:pt x="302381" y="39045"/>
                </a:lnTo>
                <a:lnTo>
                  <a:pt x="358925" y="27593"/>
                </a:lnTo>
                <a:lnTo>
                  <a:pt x="418873" y="17966"/>
                </a:lnTo>
                <a:lnTo>
                  <a:pt x="481879" y="10278"/>
                </a:lnTo>
                <a:lnTo>
                  <a:pt x="547599" y="4644"/>
                </a:lnTo>
                <a:lnTo>
                  <a:pt x="615688" y="1180"/>
                </a:lnTo>
                <a:lnTo>
                  <a:pt x="685800" y="0"/>
                </a:lnTo>
                <a:lnTo>
                  <a:pt x="755911" y="1180"/>
                </a:lnTo>
                <a:lnTo>
                  <a:pt x="824000" y="4644"/>
                </a:lnTo>
                <a:lnTo>
                  <a:pt x="889720" y="10278"/>
                </a:lnTo>
                <a:lnTo>
                  <a:pt x="952726" y="17966"/>
                </a:lnTo>
                <a:lnTo>
                  <a:pt x="1012674" y="27593"/>
                </a:lnTo>
                <a:lnTo>
                  <a:pt x="1069218" y="39045"/>
                </a:lnTo>
                <a:lnTo>
                  <a:pt x="1122014" y="52205"/>
                </a:lnTo>
                <a:lnTo>
                  <a:pt x="1170717" y="66960"/>
                </a:lnTo>
                <a:lnTo>
                  <a:pt x="1214982" y="83195"/>
                </a:lnTo>
                <a:lnTo>
                  <a:pt x="1254464" y="100793"/>
                </a:lnTo>
                <a:lnTo>
                  <a:pt x="1288819" y="119641"/>
                </a:lnTo>
                <a:lnTo>
                  <a:pt x="1340764" y="160626"/>
                </a:lnTo>
                <a:lnTo>
                  <a:pt x="1368058" y="205229"/>
                </a:lnTo>
                <a:lnTo>
                  <a:pt x="1371600" y="228600"/>
                </a:lnTo>
                <a:lnTo>
                  <a:pt x="1368058" y="251970"/>
                </a:lnTo>
                <a:lnTo>
                  <a:pt x="1340764" y="296573"/>
                </a:lnTo>
                <a:lnTo>
                  <a:pt x="1288819" y="337558"/>
                </a:lnTo>
                <a:lnTo>
                  <a:pt x="1254464" y="356406"/>
                </a:lnTo>
                <a:lnTo>
                  <a:pt x="1214982" y="374004"/>
                </a:lnTo>
                <a:lnTo>
                  <a:pt x="1170717" y="390239"/>
                </a:lnTo>
                <a:lnTo>
                  <a:pt x="1122014" y="404994"/>
                </a:lnTo>
                <a:lnTo>
                  <a:pt x="1069218" y="418154"/>
                </a:lnTo>
                <a:lnTo>
                  <a:pt x="1012674" y="429606"/>
                </a:lnTo>
                <a:lnTo>
                  <a:pt x="952726" y="439233"/>
                </a:lnTo>
                <a:lnTo>
                  <a:pt x="889720" y="446921"/>
                </a:lnTo>
                <a:lnTo>
                  <a:pt x="824000" y="452555"/>
                </a:lnTo>
                <a:lnTo>
                  <a:pt x="755911" y="456019"/>
                </a:lnTo>
                <a:lnTo>
                  <a:pt x="685800" y="457200"/>
                </a:lnTo>
                <a:lnTo>
                  <a:pt x="615688" y="456019"/>
                </a:lnTo>
                <a:lnTo>
                  <a:pt x="547599" y="452555"/>
                </a:lnTo>
                <a:lnTo>
                  <a:pt x="481879" y="446921"/>
                </a:lnTo>
                <a:lnTo>
                  <a:pt x="418873" y="439233"/>
                </a:lnTo>
                <a:lnTo>
                  <a:pt x="358925" y="429606"/>
                </a:lnTo>
                <a:lnTo>
                  <a:pt x="302381" y="418154"/>
                </a:lnTo>
                <a:lnTo>
                  <a:pt x="249585" y="404994"/>
                </a:lnTo>
                <a:lnTo>
                  <a:pt x="200882" y="390239"/>
                </a:lnTo>
                <a:lnTo>
                  <a:pt x="156617" y="374004"/>
                </a:lnTo>
                <a:lnTo>
                  <a:pt x="117135" y="356406"/>
                </a:lnTo>
                <a:lnTo>
                  <a:pt x="82780" y="337558"/>
                </a:lnTo>
                <a:lnTo>
                  <a:pt x="30835" y="296573"/>
                </a:lnTo>
                <a:lnTo>
                  <a:pt x="3541" y="251970"/>
                </a:lnTo>
                <a:lnTo>
                  <a:pt x="0" y="228600"/>
                </a:lnTo>
                <a:close/>
              </a:path>
            </a:pathLst>
          </a:custGeom>
          <a:ln w="502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57009" y="3578733"/>
            <a:ext cx="200723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A</a:t>
            </a:r>
            <a:r>
              <a:rPr sz="2000" spc="-27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professional  </a:t>
            </a:r>
            <a:r>
              <a:rPr sz="2000" spc="-30" dirty="0">
                <a:latin typeface="Perpetua"/>
                <a:cs typeface="Perpetua"/>
              </a:rPr>
              <a:t>baker’s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list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4648200"/>
            <a:ext cx="1295400" cy="487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000" y="5105400"/>
            <a:ext cx="5257800" cy="12359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0428" y="5712358"/>
            <a:ext cx="22936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Perpetua"/>
                <a:cs typeface="Perpetua"/>
              </a:rPr>
              <a:t>Figure: Customer</a:t>
            </a:r>
            <a:r>
              <a:rPr sz="2000" spc="-1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details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761" y="4725161"/>
            <a:ext cx="1371600" cy="381000"/>
          </a:xfrm>
          <a:custGeom>
            <a:avLst/>
            <a:gdLst/>
            <a:ahLst/>
            <a:cxnLst/>
            <a:rect l="l" t="t" r="r" b="b"/>
            <a:pathLst>
              <a:path w="1371600" h="381000">
                <a:moveTo>
                  <a:pt x="0" y="190500"/>
                </a:moveTo>
                <a:lnTo>
                  <a:pt x="13933" y="152123"/>
                </a:lnTo>
                <a:lnTo>
                  <a:pt x="53894" y="116371"/>
                </a:lnTo>
                <a:lnTo>
                  <a:pt x="117125" y="84013"/>
                </a:lnTo>
                <a:lnTo>
                  <a:pt x="156604" y="69346"/>
                </a:lnTo>
                <a:lnTo>
                  <a:pt x="200867" y="55816"/>
                </a:lnTo>
                <a:lnTo>
                  <a:pt x="249569" y="43518"/>
                </a:lnTo>
                <a:lnTo>
                  <a:pt x="302364" y="32548"/>
                </a:lnTo>
                <a:lnTo>
                  <a:pt x="358909" y="23003"/>
                </a:lnTo>
                <a:lnTo>
                  <a:pt x="418857" y="14978"/>
                </a:lnTo>
                <a:lnTo>
                  <a:pt x="481865" y="8569"/>
                </a:lnTo>
                <a:lnTo>
                  <a:pt x="547588" y="3872"/>
                </a:lnTo>
                <a:lnTo>
                  <a:pt x="615681" y="984"/>
                </a:lnTo>
                <a:lnTo>
                  <a:pt x="685800" y="0"/>
                </a:lnTo>
                <a:lnTo>
                  <a:pt x="755911" y="984"/>
                </a:lnTo>
                <a:lnTo>
                  <a:pt x="824000" y="3872"/>
                </a:lnTo>
                <a:lnTo>
                  <a:pt x="889720" y="8569"/>
                </a:lnTo>
                <a:lnTo>
                  <a:pt x="952726" y="14978"/>
                </a:lnTo>
                <a:lnTo>
                  <a:pt x="1012674" y="23003"/>
                </a:lnTo>
                <a:lnTo>
                  <a:pt x="1069218" y="32548"/>
                </a:lnTo>
                <a:lnTo>
                  <a:pt x="1122014" y="43518"/>
                </a:lnTo>
                <a:lnTo>
                  <a:pt x="1170717" y="55816"/>
                </a:lnTo>
                <a:lnTo>
                  <a:pt x="1214982" y="69346"/>
                </a:lnTo>
                <a:lnTo>
                  <a:pt x="1254464" y="84013"/>
                </a:lnTo>
                <a:lnTo>
                  <a:pt x="1317700" y="116371"/>
                </a:lnTo>
                <a:lnTo>
                  <a:pt x="1357665" y="152123"/>
                </a:lnTo>
                <a:lnTo>
                  <a:pt x="1371600" y="190500"/>
                </a:lnTo>
                <a:lnTo>
                  <a:pt x="1368058" y="209968"/>
                </a:lnTo>
                <a:lnTo>
                  <a:pt x="1340764" y="247128"/>
                </a:lnTo>
                <a:lnTo>
                  <a:pt x="1288819" y="281279"/>
                </a:lnTo>
                <a:lnTo>
                  <a:pt x="1214982" y="311653"/>
                </a:lnTo>
                <a:lnTo>
                  <a:pt x="1170717" y="325183"/>
                </a:lnTo>
                <a:lnTo>
                  <a:pt x="1122014" y="337481"/>
                </a:lnTo>
                <a:lnTo>
                  <a:pt x="1069218" y="348451"/>
                </a:lnTo>
                <a:lnTo>
                  <a:pt x="1012674" y="357996"/>
                </a:lnTo>
                <a:lnTo>
                  <a:pt x="952726" y="366021"/>
                </a:lnTo>
                <a:lnTo>
                  <a:pt x="889720" y="372430"/>
                </a:lnTo>
                <a:lnTo>
                  <a:pt x="824000" y="377127"/>
                </a:lnTo>
                <a:lnTo>
                  <a:pt x="755911" y="380015"/>
                </a:lnTo>
                <a:lnTo>
                  <a:pt x="685800" y="381000"/>
                </a:lnTo>
                <a:lnTo>
                  <a:pt x="615681" y="380015"/>
                </a:lnTo>
                <a:lnTo>
                  <a:pt x="547588" y="377127"/>
                </a:lnTo>
                <a:lnTo>
                  <a:pt x="481865" y="372430"/>
                </a:lnTo>
                <a:lnTo>
                  <a:pt x="418857" y="366021"/>
                </a:lnTo>
                <a:lnTo>
                  <a:pt x="358909" y="357996"/>
                </a:lnTo>
                <a:lnTo>
                  <a:pt x="302364" y="348451"/>
                </a:lnTo>
                <a:lnTo>
                  <a:pt x="249569" y="337481"/>
                </a:lnTo>
                <a:lnTo>
                  <a:pt x="200867" y="325183"/>
                </a:lnTo>
                <a:lnTo>
                  <a:pt x="156604" y="311653"/>
                </a:lnTo>
                <a:lnTo>
                  <a:pt x="117125" y="296986"/>
                </a:lnTo>
                <a:lnTo>
                  <a:pt x="53894" y="264628"/>
                </a:lnTo>
                <a:lnTo>
                  <a:pt x="13933" y="228876"/>
                </a:lnTo>
                <a:lnTo>
                  <a:pt x="0" y="190500"/>
                </a:lnTo>
                <a:close/>
              </a:path>
            </a:pathLst>
          </a:custGeom>
          <a:ln w="502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083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125" dirty="0">
                <a:latin typeface="Perpetua"/>
                <a:cs typeface="Perpetua"/>
              </a:rPr>
              <a:t>Eg. </a:t>
            </a:r>
            <a:r>
              <a:rPr i="0" spc="-5" dirty="0">
                <a:latin typeface="Perpetua"/>
                <a:cs typeface="Perpetua"/>
              </a:rPr>
              <a:t>A political</a:t>
            </a:r>
            <a:r>
              <a:rPr i="0" spc="-375" dirty="0">
                <a:latin typeface="Perpetua"/>
                <a:cs typeface="Perpetua"/>
              </a:rPr>
              <a:t> </a:t>
            </a:r>
            <a:r>
              <a:rPr i="0" spc="-20" dirty="0">
                <a:latin typeface="Perpetua"/>
                <a:cs typeface="Perpetua"/>
              </a:rPr>
              <a:t>lobbyist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51050" y="4184650"/>
          <a:ext cx="6248400" cy="1854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914400"/>
                <a:gridCol w="1143000"/>
                <a:gridCol w="1219200"/>
                <a:gridCol w="838200"/>
                <a:gridCol w="1066800"/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First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Last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Age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Amount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State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Party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677161" y="4818760"/>
            <a:ext cx="685800" cy="120650"/>
          </a:xfrm>
          <a:custGeom>
            <a:avLst/>
            <a:gdLst/>
            <a:ahLst/>
            <a:cxnLst/>
            <a:rect l="l" t="t" r="r" b="b"/>
            <a:pathLst>
              <a:path w="685800" h="120650">
                <a:moveTo>
                  <a:pt x="612193" y="73168"/>
                </a:moveTo>
                <a:lnTo>
                  <a:pt x="575818" y="94233"/>
                </a:lnTo>
                <a:lnTo>
                  <a:pt x="569594" y="97916"/>
                </a:lnTo>
                <a:lnTo>
                  <a:pt x="567563" y="105790"/>
                </a:lnTo>
                <a:lnTo>
                  <a:pt x="574675" y="118237"/>
                </a:lnTo>
                <a:lnTo>
                  <a:pt x="582676" y="120268"/>
                </a:lnTo>
                <a:lnTo>
                  <a:pt x="663514" y="73278"/>
                </a:lnTo>
                <a:lnTo>
                  <a:pt x="612193" y="73168"/>
                </a:lnTo>
                <a:close/>
              </a:path>
              <a:path w="685800" h="120650">
                <a:moveTo>
                  <a:pt x="634419" y="60296"/>
                </a:moveTo>
                <a:lnTo>
                  <a:pt x="612193" y="73168"/>
                </a:lnTo>
                <a:lnTo>
                  <a:pt x="660145" y="73278"/>
                </a:lnTo>
                <a:lnTo>
                  <a:pt x="660145" y="71500"/>
                </a:lnTo>
                <a:lnTo>
                  <a:pt x="653542" y="71500"/>
                </a:lnTo>
                <a:lnTo>
                  <a:pt x="634419" y="60296"/>
                </a:lnTo>
                <a:close/>
              </a:path>
              <a:path w="685800" h="120650">
                <a:moveTo>
                  <a:pt x="582930" y="0"/>
                </a:moveTo>
                <a:lnTo>
                  <a:pt x="574929" y="2031"/>
                </a:lnTo>
                <a:lnTo>
                  <a:pt x="571373" y="8255"/>
                </a:lnTo>
                <a:lnTo>
                  <a:pt x="567689" y="14477"/>
                </a:lnTo>
                <a:lnTo>
                  <a:pt x="569849" y="22351"/>
                </a:lnTo>
                <a:lnTo>
                  <a:pt x="575944" y="26034"/>
                </a:lnTo>
                <a:lnTo>
                  <a:pt x="612170" y="47260"/>
                </a:lnTo>
                <a:lnTo>
                  <a:pt x="660145" y="47370"/>
                </a:lnTo>
                <a:lnTo>
                  <a:pt x="660145" y="73278"/>
                </a:lnTo>
                <a:lnTo>
                  <a:pt x="663514" y="73278"/>
                </a:lnTo>
                <a:lnTo>
                  <a:pt x="685800" y="60325"/>
                </a:lnTo>
                <a:lnTo>
                  <a:pt x="589026" y="3682"/>
                </a:lnTo>
                <a:lnTo>
                  <a:pt x="582930" y="0"/>
                </a:lnTo>
                <a:close/>
              </a:path>
              <a:path w="685800" h="120650">
                <a:moveTo>
                  <a:pt x="0" y="45846"/>
                </a:moveTo>
                <a:lnTo>
                  <a:pt x="0" y="71755"/>
                </a:lnTo>
                <a:lnTo>
                  <a:pt x="612193" y="73168"/>
                </a:lnTo>
                <a:lnTo>
                  <a:pt x="634419" y="60296"/>
                </a:lnTo>
                <a:lnTo>
                  <a:pt x="612170" y="47260"/>
                </a:lnTo>
                <a:lnTo>
                  <a:pt x="0" y="45846"/>
                </a:lnTo>
                <a:close/>
              </a:path>
              <a:path w="685800" h="120650">
                <a:moveTo>
                  <a:pt x="653669" y="49149"/>
                </a:moveTo>
                <a:lnTo>
                  <a:pt x="634419" y="60296"/>
                </a:lnTo>
                <a:lnTo>
                  <a:pt x="653542" y="71500"/>
                </a:lnTo>
                <a:lnTo>
                  <a:pt x="653669" y="49149"/>
                </a:lnTo>
                <a:close/>
              </a:path>
              <a:path w="685800" h="120650">
                <a:moveTo>
                  <a:pt x="660145" y="49149"/>
                </a:moveTo>
                <a:lnTo>
                  <a:pt x="653669" y="49149"/>
                </a:lnTo>
                <a:lnTo>
                  <a:pt x="653542" y="71500"/>
                </a:lnTo>
                <a:lnTo>
                  <a:pt x="660145" y="71500"/>
                </a:lnTo>
                <a:lnTo>
                  <a:pt x="660145" y="49149"/>
                </a:lnTo>
                <a:close/>
              </a:path>
              <a:path w="685800" h="120650">
                <a:moveTo>
                  <a:pt x="612170" y="47260"/>
                </a:moveTo>
                <a:lnTo>
                  <a:pt x="634419" y="60296"/>
                </a:lnTo>
                <a:lnTo>
                  <a:pt x="653669" y="49149"/>
                </a:lnTo>
                <a:lnTo>
                  <a:pt x="660145" y="49149"/>
                </a:lnTo>
                <a:lnTo>
                  <a:pt x="660145" y="47370"/>
                </a:lnTo>
                <a:lnTo>
                  <a:pt x="612170" y="4726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7161" y="5275960"/>
            <a:ext cx="685800" cy="120650"/>
          </a:xfrm>
          <a:custGeom>
            <a:avLst/>
            <a:gdLst/>
            <a:ahLst/>
            <a:cxnLst/>
            <a:rect l="l" t="t" r="r" b="b"/>
            <a:pathLst>
              <a:path w="685800" h="120650">
                <a:moveTo>
                  <a:pt x="612193" y="73168"/>
                </a:moveTo>
                <a:lnTo>
                  <a:pt x="575818" y="94233"/>
                </a:lnTo>
                <a:lnTo>
                  <a:pt x="569594" y="97916"/>
                </a:lnTo>
                <a:lnTo>
                  <a:pt x="567563" y="105790"/>
                </a:lnTo>
                <a:lnTo>
                  <a:pt x="574675" y="118236"/>
                </a:lnTo>
                <a:lnTo>
                  <a:pt x="582676" y="120268"/>
                </a:lnTo>
                <a:lnTo>
                  <a:pt x="663514" y="73278"/>
                </a:lnTo>
                <a:lnTo>
                  <a:pt x="612193" y="73168"/>
                </a:lnTo>
                <a:close/>
              </a:path>
              <a:path w="685800" h="120650">
                <a:moveTo>
                  <a:pt x="634419" y="60296"/>
                </a:moveTo>
                <a:lnTo>
                  <a:pt x="612193" y="73168"/>
                </a:lnTo>
                <a:lnTo>
                  <a:pt x="660145" y="73278"/>
                </a:lnTo>
                <a:lnTo>
                  <a:pt x="660145" y="71500"/>
                </a:lnTo>
                <a:lnTo>
                  <a:pt x="653542" y="71500"/>
                </a:lnTo>
                <a:lnTo>
                  <a:pt x="634419" y="60296"/>
                </a:lnTo>
                <a:close/>
              </a:path>
              <a:path w="685800" h="120650">
                <a:moveTo>
                  <a:pt x="582930" y="0"/>
                </a:moveTo>
                <a:lnTo>
                  <a:pt x="574929" y="2031"/>
                </a:lnTo>
                <a:lnTo>
                  <a:pt x="571373" y="8254"/>
                </a:lnTo>
                <a:lnTo>
                  <a:pt x="567689" y="14477"/>
                </a:lnTo>
                <a:lnTo>
                  <a:pt x="569849" y="22351"/>
                </a:lnTo>
                <a:lnTo>
                  <a:pt x="575944" y="26034"/>
                </a:lnTo>
                <a:lnTo>
                  <a:pt x="612170" y="47260"/>
                </a:lnTo>
                <a:lnTo>
                  <a:pt x="660145" y="47370"/>
                </a:lnTo>
                <a:lnTo>
                  <a:pt x="660145" y="73278"/>
                </a:lnTo>
                <a:lnTo>
                  <a:pt x="663514" y="73278"/>
                </a:lnTo>
                <a:lnTo>
                  <a:pt x="685800" y="60325"/>
                </a:lnTo>
                <a:lnTo>
                  <a:pt x="589026" y="3682"/>
                </a:lnTo>
                <a:lnTo>
                  <a:pt x="582930" y="0"/>
                </a:lnTo>
                <a:close/>
              </a:path>
              <a:path w="685800" h="120650">
                <a:moveTo>
                  <a:pt x="0" y="45846"/>
                </a:moveTo>
                <a:lnTo>
                  <a:pt x="0" y="71754"/>
                </a:lnTo>
                <a:lnTo>
                  <a:pt x="612193" y="73168"/>
                </a:lnTo>
                <a:lnTo>
                  <a:pt x="634419" y="60296"/>
                </a:lnTo>
                <a:lnTo>
                  <a:pt x="612170" y="47260"/>
                </a:lnTo>
                <a:lnTo>
                  <a:pt x="0" y="45846"/>
                </a:lnTo>
                <a:close/>
              </a:path>
              <a:path w="685800" h="120650">
                <a:moveTo>
                  <a:pt x="653669" y="49148"/>
                </a:moveTo>
                <a:lnTo>
                  <a:pt x="634419" y="60296"/>
                </a:lnTo>
                <a:lnTo>
                  <a:pt x="653542" y="71500"/>
                </a:lnTo>
                <a:lnTo>
                  <a:pt x="653669" y="49148"/>
                </a:lnTo>
                <a:close/>
              </a:path>
              <a:path w="685800" h="120650">
                <a:moveTo>
                  <a:pt x="660145" y="49148"/>
                </a:moveTo>
                <a:lnTo>
                  <a:pt x="653669" y="49148"/>
                </a:lnTo>
                <a:lnTo>
                  <a:pt x="653542" y="71500"/>
                </a:lnTo>
                <a:lnTo>
                  <a:pt x="660145" y="71500"/>
                </a:lnTo>
                <a:lnTo>
                  <a:pt x="660145" y="49148"/>
                </a:lnTo>
                <a:close/>
              </a:path>
              <a:path w="685800" h="120650">
                <a:moveTo>
                  <a:pt x="612170" y="47260"/>
                </a:moveTo>
                <a:lnTo>
                  <a:pt x="634419" y="60296"/>
                </a:lnTo>
                <a:lnTo>
                  <a:pt x="653669" y="49148"/>
                </a:lnTo>
                <a:lnTo>
                  <a:pt x="660145" y="49148"/>
                </a:lnTo>
                <a:lnTo>
                  <a:pt x="660145" y="47370"/>
                </a:lnTo>
                <a:lnTo>
                  <a:pt x="612170" y="4726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7340" y="1433525"/>
            <a:ext cx="8542020" cy="3898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17145" indent="-27305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lobbyist </a:t>
            </a:r>
            <a:r>
              <a:rPr sz="2600" spc="-10" dirty="0">
                <a:latin typeface="Perpetua"/>
                <a:cs typeface="Perpetua"/>
              </a:rPr>
              <a:t>wants </a:t>
            </a:r>
            <a:r>
              <a:rPr sz="2600" spc="-5" dirty="0">
                <a:latin typeface="Perpetua"/>
                <a:cs typeface="Perpetua"/>
              </a:rPr>
              <a:t>to concentrate all of </a:t>
            </a:r>
            <a:r>
              <a:rPr sz="2600" dirty="0">
                <a:latin typeface="Perpetua"/>
                <a:cs typeface="Perpetua"/>
              </a:rPr>
              <a:t>their </a:t>
            </a:r>
            <a:r>
              <a:rPr sz="2600" spc="-5" dirty="0">
                <a:latin typeface="Perpetua"/>
                <a:cs typeface="Perpetua"/>
              </a:rPr>
              <a:t>fund-raising </a:t>
            </a:r>
            <a:r>
              <a:rPr sz="2600" spc="10" dirty="0">
                <a:latin typeface="Perpetua"/>
                <a:cs typeface="Perpetua"/>
              </a:rPr>
              <a:t>efforts </a:t>
            </a:r>
            <a:r>
              <a:rPr sz="2600" spc="-10" dirty="0">
                <a:latin typeface="Perpetua"/>
                <a:cs typeface="Perpetua"/>
              </a:rPr>
              <a:t>on 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narrow </a:t>
            </a:r>
            <a:r>
              <a:rPr sz="2600" dirty="0">
                <a:latin typeface="Perpetua"/>
                <a:cs typeface="Perpetua"/>
              </a:rPr>
              <a:t>group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20" dirty="0">
                <a:latin typeface="Perpetua"/>
                <a:cs typeface="Perpetua"/>
              </a:rPr>
              <a:t>likely </a:t>
            </a:r>
            <a:r>
              <a:rPr sz="2600" dirty="0">
                <a:latin typeface="Perpetua"/>
                <a:cs typeface="Perpetua"/>
              </a:rPr>
              <a:t>donors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has been </a:t>
            </a:r>
            <a:r>
              <a:rPr sz="2600" spc="-5" dirty="0">
                <a:latin typeface="Perpetua"/>
                <a:cs typeface="Perpetua"/>
              </a:rPr>
              <a:t>given access to</a:t>
            </a:r>
            <a:r>
              <a:rPr sz="2600" spc="4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10" dirty="0">
                <a:latin typeface="Perpetua"/>
                <a:cs typeface="Perpetua"/>
              </a:rPr>
              <a:t>database </a:t>
            </a:r>
            <a:r>
              <a:rPr sz="2600" spc="-5" dirty="0">
                <a:latin typeface="Perpetua"/>
                <a:cs typeface="Perpetua"/>
              </a:rPr>
              <a:t>of individuals </a:t>
            </a:r>
            <a:r>
              <a:rPr sz="2600" dirty="0">
                <a:latin typeface="Perpetua"/>
                <a:cs typeface="Perpetua"/>
              </a:rPr>
              <a:t>who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made </a:t>
            </a:r>
            <a:r>
              <a:rPr sz="2600" dirty="0">
                <a:latin typeface="Perpetua"/>
                <a:cs typeface="Perpetua"/>
              </a:rPr>
              <a:t>similar </a:t>
            </a:r>
            <a:r>
              <a:rPr sz="2600" spc="-10" dirty="0">
                <a:latin typeface="Perpetua"/>
                <a:cs typeface="Perpetua"/>
              </a:rPr>
              <a:t>donations </a:t>
            </a:r>
            <a:r>
              <a:rPr sz="2600" dirty="0">
                <a:latin typeface="Perpetua"/>
                <a:cs typeface="Perpetua"/>
              </a:rPr>
              <a:t>in the</a:t>
            </a:r>
            <a:r>
              <a:rPr sz="2600" spc="1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past.</a:t>
            </a:r>
            <a:endParaRPr sz="2600">
              <a:latin typeface="Perpetua"/>
              <a:cs typeface="Perpetua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record should contain </a:t>
            </a:r>
            <a:r>
              <a:rPr sz="2600" dirty="0">
                <a:latin typeface="Perpetua"/>
                <a:cs typeface="Perpetua"/>
              </a:rPr>
              <a:t>person's </a:t>
            </a:r>
            <a:r>
              <a:rPr sz="2600" spc="-15" dirty="0">
                <a:latin typeface="Perpetua"/>
                <a:cs typeface="Perpetua"/>
              </a:rPr>
              <a:t>name,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amount </a:t>
            </a:r>
            <a:r>
              <a:rPr sz="2600" spc="-10" dirty="0">
                <a:latin typeface="Perpetua"/>
                <a:cs typeface="Perpetua"/>
              </a:rPr>
              <a:t>donated,  </a:t>
            </a:r>
            <a:r>
              <a:rPr sz="2600" dirty="0">
                <a:latin typeface="Perpetua"/>
                <a:cs typeface="Perpetua"/>
              </a:rPr>
              <a:t>their </a:t>
            </a:r>
            <a:r>
              <a:rPr sz="2600" spc="-5" dirty="0">
                <a:latin typeface="Perpetua"/>
                <a:cs typeface="Perpetua"/>
              </a:rPr>
              <a:t>state of </a:t>
            </a:r>
            <a:r>
              <a:rPr sz="2600" spc="-10" dirty="0">
                <a:latin typeface="Perpetua"/>
                <a:cs typeface="Perpetua"/>
              </a:rPr>
              <a:t>residence,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their </a:t>
            </a:r>
            <a:r>
              <a:rPr sz="2600" spc="20" dirty="0">
                <a:latin typeface="Perpetua"/>
                <a:cs typeface="Perpetua"/>
              </a:rPr>
              <a:t>party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affiliation.</a:t>
            </a:r>
            <a:endParaRPr sz="2600">
              <a:latin typeface="Perpetua"/>
              <a:cs typeface="Perpetua"/>
            </a:endParaRPr>
          </a:p>
          <a:p>
            <a:pPr marL="285115" indent="-27305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i="1" spc="-5" dirty="0">
                <a:latin typeface="Perpetua"/>
                <a:cs typeface="Perpetua"/>
              </a:rPr>
              <a:t>Structure of the </a:t>
            </a:r>
            <a:r>
              <a:rPr sz="2600" i="1" spc="-10" dirty="0">
                <a:latin typeface="Perpetua"/>
                <a:cs typeface="Perpetua"/>
              </a:rPr>
              <a:t>table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given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as: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150">
              <a:latin typeface="Times New Roman"/>
              <a:cs typeface="Times New Roman"/>
            </a:endParaRPr>
          </a:p>
          <a:p>
            <a:pPr marL="850900">
              <a:lnSpc>
                <a:spcPct val="100000"/>
              </a:lnSpc>
            </a:pPr>
            <a:r>
              <a:rPr sz="1800" spc="-5" dirty="0">
                <a:latin typeface="Perpetua"/>
                <a:cs typeface="Perpetua"/>
              </a:rPr>
              <a:t>Record</a:t>
            </a:r>
            <a:r>
              <a:rPr sz="1800" spc="-10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#1</a:t>
            </a:r>
            <a:endParaRPr sz="1800">
              <a:latin typeface="Perpetua"/>
              <a:cs typeface="Perpetua"/>
            </a:endParaRPr>
          </a:p>
          <a:p>
            <a:pPr marL="850900">
              <a:lnSpc>
                <a:spcPct val="100000"/>
              </a:lnSpc>
              <a:spcBef>
                <a:spcPts val="1440"/>
              </a:spcBef>
            </a:pPr>
            <a:r>
              <a:rPr sz="1800" spc="-5" dirty="0">
                <a:latin typeface="Perpetua"/>
                <a:cs typeface="Perpetua"/>
              </a:rPr>
              <a:t>Record</a:t>
            </a:r>
            <a:r>
              <a:rPr sz="1800" spc="-10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#2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41703" y="5480303"/>
            <a:ext cx="164592" cy="164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41703" y="5861303"/>
            <a:ext cx="164592" cy="1645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5402"/>
            <a:ext cx="8116570" cy="12750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SzPct val="85416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Donor </a:t>
            </a:r>
            <a:r>
              <a:rPr sz="2400" i="1" spc="-10" dirty="0">
                <a:latin typeface="Perpetua"/>
                <a:cs typeface="Perpetua"/>
              </a:rPr>
              <a:t>table </a:t>
            </a:r>
            <a:r>
              <a:rPr sz="2400" dirty="0">
                <a:latin typeface="Perpetua"/>
                <a:cs typeface="Perpetua"/>
              </a:rPr>
              <a:t>for the fund-raising is </a:t>
            </a:r>
            <a:r>
              <a:rPr sz="2400" spc="-5" dirty="0">
                <a:latin typeface="Perpetua"/>
                <a:cs typeface="Perpetua"/>
              </a:rPr>
              <a:t>given </a:t>
            </a:r>
            <a:r>
              <a:rPr sz="2400" dirty="0">
                <a:latin typeface="Perpetua"/>
                <a:cs typeface="Perpetua"/>
              </a:rPr>
              <a:t>in </a:t>
            </a:r>
            <a:r>
              <a:rPr sz="2400" spc="-5" dirty="0">
                <a:latin typeface="Perpetua"/>
                <a:cs typeface="Perpetua"/>
              </a:rPr>
              <a:t>Figure: </a:t>
            </a:r>
            <a:r>
              <a:rPr sz="2400" dirty="0">
                <a:latin typeface="Perpetua"/>
                <a:cs typeface="Perpetua"/>
              </a:rPr>
              <a:t>Donor</a:t>
            </a:r>
            <a:r>
              <a:rPr sz="2400" spc="-204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table.</a:t>
            </a:r>
            <a:endParaRPr sz="2400">
              <a:latin typeface="Perpetua"/>
              <a:cs typeface="Perpetu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spc="-5" dirty="0">
                <a:latin typeface="Perpetua"/>
                <a:cs typeface="Perpetua"/>
              </a:rPr>
              <a:t>record consists </a:t>
            </a:r>
            <a:r>
              <a:rPr sz="2400" dirty="0">
                <a:latin typeface="Perpetua"/>
                <a:cs typeface="Perpetua"/>
              </a:rPr>
              <a:t>of six fields : </a:t>
            </a:r>
            <a:r>
              <a:rPr sz="2400" spc="5" dirty="0">
                <a:latin typeface="Perpetua"/>
                <a:cs typeface="Perpetua"/>
              </a:rPr>
              <a:t>First, </a:t>
            </a:r>
            <a:r>
              <a:rPr sz="2400" dirty="0">
                <a:latin typeface="Perpetua"/>
                <a:cs typeface="Perpetua"/>
              </a:rPr>
              <a:t>Last, </a:t>
            </a:r>
            <a:r>
              <a:rPr sz="2400" spc="-20" dirty="0">
                <a:latin typeface="Perpetua"/>
                <a:cs typeface="Perpetua"/>
              </a:rPr>
              <a:t>Age, </a:t>
            </a:r>
            <a:r>
              <a:rPr sz="2400" dirty="0">
                <a:latin typeface="Perpetua"/>
                <a:cs typeface="Perpetua"/>
              </a:rPr>
              <a:t>Amount, </a:t>
            </a:r>
            <a:r>
              <a:rPr sz="2400" spc="-20" dirty="0">
                <a:latin typeface="Perpetua"/>
                <a:cs typeface="Perpetua"/>
              </a:rPr>
              <a:t>State, </a:t>
            </a:r>
            <a:r>
              <a:rPr sz="2400" spc="-5" dirty="0">
                <a:latin typeface="Perpetua"/>
                <a:cs typeface="Perpetua"/>
              </a:rPr>
              <a:t>and  </a:t>
            </a:r>
            <a:r>
              <a:rPr sz="2400" spc="-40" dirty="0">
                <a:latin typeface="Perpetua"/>
                <a:cs typeface="Perpetua"/>
              </a:rPr>
              <a:t>Party.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09800" y="1447800"/>
            <a:ext cx="5029200" cy="2926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4338024"/>
            <a:ext cx="8301990" cy="194310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173355" algn="ctr">
              <a:lnSpc>
                <a:spcPct val="100000"/>
              </a:lnSpc>
              <a:spcBef>
                <a:spcPts val="365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spc="-5" dirty="0">
                <a:latin typeface="Perpetua"/>
                <a:cs typeface="Perpetua"/>
              </a:rPr>
              <a:t>Donor</a:t>
            </a:r>
            <a:r>
              <a:rPr sz="2000" spc="-7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table</a:t>
            </a:r>
            <a:endParaRPr sz="2000">
              <a:latin typeface="Perpetua"/>
              <a:cs typeface="Perpetua"/>
            </a:endParaRPr>
          </a:p>
          <a:p>
            <a:pPr marL="285115" marR="5080" indent="-27305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political </a:t>
            </a:r>
            <a:r>
              <a:rPr sz="2400" spc="15" dirty="0">
                <a:latin typeface="Perpetua"/>
                <a:cs typeface="Perpetua"/>
              </a:rPr>
              <a:t>party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denoted as </a:t>
            </a:r>
            <a:r>
              <a:rPr sz="2400" dirty="0">
                <a:latin typeface="Perpetua"/>
                <a:cs typeface="Perpetua"/>
              </a:rPr>
              <a:t>D for </a:t>
            </a:r>
            <a:r>
              <a:rPr sz="2400" spc="-5" dirty="0">
                <a:latin typeface="Perpetua"/>
                <a:cs typeface="Perpetua"/>
              </a:rPr>
              <a:t>Democrats, </a:t>
            </a:r>
            <a:r>
              <a:rPr sz="2400" dirty="0">
                <a:latin typeface="Perpetua"/>
                <a:cs typeface="Perpetua"/>
              </a:rPr>
              <a:t>R for </a:t>
            </a:r>
            <a:r>
              <a:rPr sz="2400" spc="-10" dirty="0">
                <a:latin typeface="Perpetua"/>
                <a:cs typeface="Perpetua"/>
              </a:rPr>
              <a:t>Republicans, </a:t>
            </a:r>
            <a:r>
              <a:rPr sz="2400" dirty="0">
                <a:latin typeface="Perpetua"/>
                <a:cs typeface="Perpetua"/>
              </a:rPr>
              <a:t>T  for the </a:t>
            </a:r>
            <a:r>
              <a:rPr sz="2400" spc="-105" dirty="0">
                <a:latin typeface="Perpetua"/>
                <a:cs typeface="Perpetua"/>
              </a:rPr>
              <a:t>Tea </a:t>
            </a:r>
            <a:r>
              <a:rPr sz="2400" spc="-40" dirty="0">
                <a:latin typeface="Perpetua"/>
                <a:cs typeface="Perpetua"/>
              </a:rPr>
              <a:t>Party,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I for </a:t>
            </a:r>
            <a:r>
              <a:rPr sz="2400" spc="-5" dirty="0">
                <a:latin typeface="Perpetua"/>
                <a:cs typeface="Perpetua"/>
              </a:rPr>
              <a:t>all</a:t>
            </a:r>
            <a:r>
              <a:rPr sz="2400" spc="-28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independents.</a:t>
            </a:r>
            <a:endParaRPr sz="24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400" spc="-5" dirty="0">
                <a:latin typeface="Perpetua"/>
                <a:cs typeface="Perpetua"/>
              </a:rPr>
              <a:t>There</a:t>
            </a:r>
            <a:r>
              <a:rPr sz="2400" spc="25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24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seven</a:t>
            </a:r>
            <a:r>
              <a:rPr sz="2400" spc="25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rows</a:t>
            </a:r>
            <a:r>
              <a:rPr sz="2400" spc="2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2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hence</a:t>
            </a:r>
            <a:r>
              <a:rPr sz="2400" spc="250" dirty="0">
                <a:latin typeface="Perpetua"/>
                <a:cs typeface="Perpetua"/>
              </a:rPr>
              <a:t> </a:t>
            </a:r>
            <a:r>
              <a:rPr sz="2400" spc="-50" dirty="0">
                <a:latin typeface="Perpetua"/>
                <a:cs typeface="Perpetua"/>
              </a:rPr>
              <a:t>we</a:t>
            </a:r>
            <a:r>
              <a:rPr sz="2400" spc="250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understand</a:t>
            </a:r>
            <a:r>
              <a:rPr sz="2400" spc="2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</a:t>
            </a:r>
            <a:r>
              <a:rPr sz="2400" spc="2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24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table</a:t>
            </a:r>
            <a:r>
              <a:rPr sz="2400" spc="2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contains</a:t>
            </a:r>
            <a:endParaRPr sz="2400">
              <a:latin typeface="Perpetua"/>
              <a:cs typeface="Perpetua"/>
            </a:endParaRPr>
          </a:p>
          <a:p>
            <a:pPr marL="285115">
              <a:lnSpc>
                <a:spcPct val="100000"/>
              </a:lnSpc>
            </a:pPr>
            <a:r>
              <a:rPr sz="2400" spc="-20" dirty="0">
                <a:latin typeface="Perpetua"/>
                <a:cs typeface="Perpetua"/>
              </a:rPr>
              <a:t>seven</a:t>
            </a:r>
            <a:r>
              <a:rPr sz="240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records.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110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dirty="0">
                <a:latin typeface="Perpetua"/>
                <a:cs typeface="Perpetua"/>
              </a:rPr>
              <a:t>Querying </a:t>
            </a:r>
            <a:r>
              <a:rPr i="0" spc="-5" dirty="0">
                <a:latin typeface="Perpetua"/>
                <a:cs typeface="Perpetua"/>
              </a:rPr>
              <a:t>the</a:t>
            </a:r>
            <a:r>
              <a:rPr i="0" spc="-45" dirty="0">
                <a:latin typeface="Perpetua"/>
                <a:cs typeface="Perpetua"/>
              </a:rPr>
              <a:t> </a:t>
            </a:r>
            <a:r>
              <a:rPr i="0" spc="-10" dirty="0">
                <a:latin typeface="Perpetua"/>
                <a:cs typeface="Perpetua"/>
              </a:rPr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83233"/>
            <a:ext cx="8531225" cy="443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595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20" dirty="0">
                <a:latin typeface="Perpetua"/>
                <a:cs typeface="Perpetua"/>
              </a:rPr>
              <a:t>Perhaps</a:t>
            </a:r>
            <a:r>
              <a:rPr sz="2400" i="1" spc="5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5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lobbyist</a:t>
            </a:r>
            <a:r>
              <a:rPr sz="2400" i="1" spc="6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wants</a:t>
            </a:r>
            <a:r>
              <a:rPr sz="2400" i="1" spc="6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to</a:t>
            </a:r>
            <a:r>
              <a:rPr sz="2400" i="1" spc="5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solicit</a:t>
            </a:r>
            <a:r>
              <a:rPr sz="2400" i="1" spc="6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individuals</a:t>
            </a:r>
            <a:r>
              <a:rPr sz="2400" i="1" spc="65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who</a:t>
            </a:r>
            <a:r>
              <a:rPr sz="2400" i="1" spc="50" dirty="0">
                <a:latin typeface="Perpetua"/>
                <a:cs typeface="Perpetua"/>
              </a:rPr>
              <a:t> </a:t>
            </a:r>
            <a:r>
              <a:rPr sz="2400" i="1" spc="-35" dirty="0">
                <a:latin typeface="Perpetua"/>
                <a:cs typeface="Perpetua"/>
              </a:rPr>
              <a:t>have</a:t>
            </a:r>
            <a:r>
              <a:rPr sz="2400" i="1" spc="6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made</a:t>
            </a:r>
            <a:r>
              <a:rPr sz="2400" i="1" spc="6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similar</a:t>
            </a:r>
            <a:r>
              <a:rPr sz="2400" i="1" spc="5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donations</a:t>
            </a:r>
            <a:r>
              <a:rPr sz="2400" i="1" spc="5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of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595"/>
              </a:lnSpc>
            </a:pPr>
            <a:r>
              <a:rPr sz="2400" i="1" spc="-15" dirty="0">
                <a:latin typeface="Perpetua"/>
                <a:cs typeface="Perpetua"/>
              </a:rPr>
              <a:t>at </a:t>
            </a:r>
            <a:r>
              <a:rPr sz="2400" i="1" dirty="0">
                <a:latin typeface="Perpetua"/>
                <a:cs typeface="Perpetua"/>
              </a:rPr>
              <a:t>least</a:t>
            </a:r>
            <a:r>
              <a:rPr sz="2400" i="1" spc="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$500.</a:t>
            </a:r>
            <a:endParaRPr sz="2400">
              <a:latin typeface="Perpetua"/>
              <a:cs typeface="Perpetua"/>
            </a:endParaRPr>
          </a:p>
          <a:p>
            <a:pPr marL="286385" marR="7620" indent="-274320">
              <a:lnSpc>
                <a:spcPts val="2300"/>
              </a:lnSpc>
              <a:spcBef>
                <a:spcPts val="58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list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potential </a:t>
            </a:r>
            <a:r>
              <a:rPr sz="2400" spc="5" dirty="0">
                <a:latin typeface="Perpetua"/>
                <a:cs typeface="Perpetua"/>
              </a:rPr>
              <a:t>donors </a:t>
            </a:r>
            <a:r>
              <a:rPr sz="2400" dirty="0">
                <a:latin typeface="Perpetua"/>
                <a:cs typeface="Perpetua"/>
              </a:rPr>
              <a:t>can be </a:t>
            </a:r>
            <a:r>
              <a:rPr sz="2400" spc="-5" dirty="0">
                <a:latin typeface="Perpetua"/>
                <a:cs typeface="Perpetua"/>
              </a:rPr>
              <a:t>generated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selecting a subset </a:t>
            </a:r>
            <a:r>
              <a:rPr sz="2400" spc="-5" dirty="0">
                <a:latin typeface="Perpetua"/>
                <a:cs typeface="Perpetua"/>
              </a:rPr>
              <a:t>of </a:t>
            </a:r>
            <a:r>
              <a:rPr sz="2400" dirty="0">
                <a:latin typeface="Perpetua"/>
                <a:cs typeface="Perpetua"/>
              </a:rPr>
              <a:t>the  individual </a:t>
            </a:r>
            <a:r>
              <a:rPr sz="2400" spc="5" dirty="0">
                <a:latin typeface="Perpetua"/>
                <a:cs typeface="Perpetua"/>
              </a:rPr>
              <a:t>donors </a:t>
            </a:r>
            <a:r>
              <a:rPr sz="2400" dirty="0">
                <a:latin typeface="Perpetua"/>
                <a:cs typeface="Perpetua"/>
              </a:rPr>
              <a:t>in the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database.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50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Perpetua"/>
                <a:cs typeface="Perpetua"/>
              </a:rPr>
              <a:t>In </a:t>
            </a:r>
            <a:r>
              <a:rPr sz="2400" dirty="0">
                <a:latin typeface="Perpetua"/>
                <a:cs typeface="Perpetua"/>
              </a:rPr>
              <a:t>this </a:t>
            </a:r>
            <a:r>
              <a:rPr sz="2400" spc="-10" dirty="0">
                <a:latin typeface="Perpetua"/>
                <a:cs typeface="Perpetua"/>
              </a:rPr>
              <a:t>case,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lobbyist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5" dirty="0">
                <a:latin typeface="Perpetua"/>
                <a:cs typeface="Perpetua"/>
              </a:rPr>
              <a:t>generate </a:t>
            </a:r>
            <a:r>
              <a:rPr sz="2400" dirty="0">
                <a:latin typeface="Perpetua"/>
                <a:cs typeface="Perpetua"/>
              </a:rPr>
              <a:t>this</a:t>
            </a:r>
            <a:r>
              <a:rPr sz="2400" spc="-1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list</a:t>
            </a:r>
            <a:endParaRPr sz="2400">
              <a:latin typeface="Perpetua"/>
              <a:cs typeface="Perpetua"/>
            </a:endParaRPr>
          </a:p>
          <a:p>
            <a:pPr marL="629920" lvl="1" indent="-34417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629920" algn="l"/>
                <a:tab pos="630555" algn="l"/>
              </a:tabLst>
            </a:pP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scanning </a:t>
            </a:r>
            <a:r>
              <a:rPr sz="2400" spc="-20" dirty="0">
                <a:latin typeface="Perpetua"/>
                <a:cs typeface="Perpetua"/>
              </a:rPr>
              <a:t>down </a:t>
            </a:r>
            <a:r>
              <a:rPr sz="2400" dirty="0">
                <a:latin typeface="Perpetua"/>
                <a:cs typeface="Perpetua"/>
              </a:rPr>
              <a:t>the column </a:t>
            </a:r>
            <a:r>
              <a:rPr sz="2400" spc="-5" dirty="0">
                <a:latin typeface="Perpetua"/>
                <a:cs typeface="Perpetua"/>
              </a:rPr>
              <a:t>labeled ‘</a:t>
            </a:r>
            <a:r>
              <a:rPr sz="2400" i="1" spc="-5" dirty="0">
                <a:latin typeface="Perpetua"/>
                <a:cs typeface="Perpetua"/>
              </a:rPr>
              <a:t>Amount’</a:t>
            </a:r>
            <a:r>
              <a:rPr sz="2400" i="1" spc="-2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and</a:t>
            </a:r>
            <a:endParaRPr sz="2400">
              <a:latin typeface="Perpetua"/>
              <a:cs typeface="Perpetua"/>
            </a:endParaRPr>
          </a:p>
          <a:p>
            <a:pPr marL="629920" lvl="1" indent="-34417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629920" algn="l"/>
                <a:tab pos="630555" algn="l"/>
              </a:tabLst>
            </a:pPr>
            <a:r>
              <a:rPr sz="2400" dirty="0">
                <a:latin typeface="Perpetua"/>
                <a:cs typeface="Perpetua"/>
              </a:rPr>
              <a:t>selecting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those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rows</a:t>
            </a:r>
            <a:r>
              <a:rPr sz="2400" i="1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having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value</a:t>
            </a:r>
            <a:r>
              <a:rPr sz="2400" i="1" dirty="0">
                <a:latin typeface="Perpetua"/>
                <a:cs typeface="Perpetua"/>
              </a:rPr>
              <a:t> of</a:t>
            </a:r>
            <a:r>
              <a:rPr sz="2400" i="1" spc="-15" dirty="0">
                <a:latin typeface="Perpetua"/>
                <a:cs typeface="Perpetua"/>
              </a:rPr>
              <a:t> at</a:t>
            </a:r>
            <a:r>
              <a:rPr sz="2400" i="1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least </a:t>
            </a:r>
            <a:r>
              <a:rPr sz="2400" i="1" dirty="0">
                <a:latin typeface="Perpetua"/>
                <a:cs typeface="Perpetua"/>
              </a:rPr>
              <a:t>500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-25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‘Amount’</a:t>
            </a:r>
            <a:r>
              <a:rPr sz="2400" i="1" spc="-24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column.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>
              <a:latin typeface="Times New Roman"/>
              <a:cs typeface="Times New Roman"/>
            </a:endParaRPr>
          </a:p>
          <a:p>
            <a:pPr marL="561340" marR="6350" indent="-274320" algn="just">
              <a:lnSpc>
                <a:spcPct val="80100"/>
              </a:lnSpc>
              <a:buSzPct val="85416"/>
              <a:buFont typeface="Wingdings"/>
              <a:buChar char=""/>
              <a:tabLst>
                <a:tab pos="561340" algn="l"/>
              </a:tabLst>
            </a:pPr>
            <a:r>
              <a:rPr sz="2400" i="1" dirty="0">
                <a:latin typeface="Perpetua"/>
                <a:cs typeface="Perpetua"/>
              </a:rPr>
              <a:t>Since </a:t>
            </a:r>
            <a:r>
              <a:rPr sz="2400" i="1" spc="-10" dirty="0">
                <a:latin typeface="Perpetua"/>
                <a:cs typeface="Perpetua"/>
              </a:rPr>
              <a:t>there </a:t>
            </a:r>
            <a:r>
              <a:rPr sz="2400" i="1" spc="-15" dirty="0">
                <a:latin typeface="Perpetua"/>
                <a:cs typeface="Perpetua"/>
              </a:rPr>
              <a:t>are only </a:t>
            </a:r>
            <a:r>
              <a:rPr sz="2400" i="1" spc="-10" dirty="0">
                <a:latin typeface="Perpetua"/>
                <a:cs typeface="Perpetua"/>
              </a:rPr>
              <a:t>seven </a:t>
            </a:r>
            <a:r>
              <a:rPr sz="2400" i="1" spc="-5" dirty="0">
                <a:latin typeface="Perpetua"/>
                <a:cs typeface="Perpetua"/>
              </a:rPr>
              <a:t>records in our </a:t>
            </a:r>
            <a:r>
              <a:rPr sz="2400" i="1" spc="-10" dirty="0">
                <a:latin typeface="Perpetua"/>
                <a:cs typeface="Perpetua"/>
              </a:rPr>
              <a:t>naïve </a:t>
            </a:r>
            <a:r>
              <a:rPr sz="2400" i="1" spc="-5" dirty="0">
                <a:latin typeface="Perpetua"/>
                <a:cs typeface="Perpetua"/>
              </a:rPr>
              <a:t>example, </a:t>
            </a:r>
            <a:r>
              <a:rPr sz="2400" i="1" spc="-20" dirty="0">
                <a:latin typeface="Perpetua"/>
                <a:cs typeface="Perpetua"/>
              </a:rPr>
              <a:t>generating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list of  </a:t>
            </a:r>
            <a:r>
              <a:rPr sz="2400" i="1" dirty="0">
                <a:latin typeface="Perpetua"/>
                <a:cs typeface="Perpetua"/>
              </a:rPr>
              <a:t>potential </a:t>
            </a:r>
            <a:r>
              <a:rPr sz="2400" i="1" spc="-5" dirty="0">
                <a:latin typeface="Perpetua"/>
                <a:cs typeface="Perpetua"/>
              </a:rPr>
              <a:t>donors is </a:t>
            </a:r>
            <a:r>
              <a:rPr sz="2400" i="1" spc="-10" dirty="0">
                <a:latin typeface="Perpetua"/>
                <a:cs typeface="Perpetua"/>
              </a:rPr>
              <a:t>easily </a:t>
            </a:r>
            <a:r>
              <a:rPr sz="2400" i="1" spc="-5" dirty="0">
                <a:latin typeface="Perpetua"/>
                <a:cs typeface="Perpetua"/>
              </a:rPr>
              <a:t>done, </a:t>
            </a:r>
            <a:r>
              <a:rPr sz="2400" i="1" spc="-10" dirty="0">
                <a:latin typeface="Perpetua"/>
                <a:cs typeface="Perpetua"/>
              </a:rPr>
              <a:t>but </a:t>
            </a:r>
            <a:r>
              <a:rPr sz="2400" i="1" spc="-5" dirty="0">
                <a:latin typeface="Perpetua"/>
                <a:cs typeface="Perpetua"/>
              </a:rPr>
              <a:t>most </a:t>
            </a:r>
            <a:r>
              <a:rPr sz="2400" i="1" spc="-15" dirty="0">
                <a:latin typeface="Perpetua"/>
                <a:cs typeface="Perpetua"/>
              </a:rPr>
              <a:t>real-world </a:t>
            </a:r>
            <a:r>
              <a:rPr sz="2400" i="1" spc="-5" dirty="0">
                <a:latin typeface="Perpetua"/>
                <a:cs typeface="Perpetua"/>
              </a:rPr>
              <a:t>databases contain </a:t>
            </a:r>
            <a:r>
              <a:rPr sz="2400" i="1" spc="-20" dirty="0">
                <a:latin typeface="Perpetua"/>
                <a:cs typeface="Perpetua"/>
              </a:rPr>
              <a:t>many  </a:t>
            </a:r>
            <a:r>
              <a:rPr sz="2400" i="1" spc="-5" dirty="0">
                <a:latin typeface="Perpetua"/>
                <a:cs typeface="Perpetua"/>
              </a:rPr>
              <a:t>millions of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records.</a:t>
            </a:r>
            <a:endParaRPr sz="2400">
              <a:latin typeface="Perpetua"/>
              <a:cs typeface="Perpetua"/>
            </a:endParaRPr>
          </a:p>
          <a:p>
            <a:pPr marL="561340" marR="8255" indent="-274320" algn="just">
              <a:lnSpc>
                <a:spcPct val="80000"/>
              </a:lnSpc>
              <a:spcBef>
                <a:spcPts val="600"/>
              </a:spcBef>
              <a:buSzPct val="85416"/>
              <a:buFont typeface="Wingdings"/>
              <a:buChar char=""/>
              <a:tabLst>
                <a:tab pos="561340" algn="l"/>
              </a:tabLst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spc="5" dirty="0">
                <a:latin typeface="Perpetua"/>
                <a:cs typeface="Perpetua"/>
              </a:rPr>
              <a:t>enormous </a:t>
            </a:r>
            <a:r>
              <a:rPr sz="2400" i="1" spc="-10" dirty="0">
                <a:latin typeface="Perpetua"/>
                <a:cs typeface="Perpetua"/>
              </a:rPr>
              <a:t>size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spc="-10" dirty="0">
                <a:latin typeface="Perpetua"/>
                <a:cs typeface="Perpetua"/>
              </a:rPr>
              <a:t>data </a:t>
            </a:r>
            <a:r>
              <a:rPr sz="2400" i="1" spc="-5" dirty="0">
                <a:latin typeface="Perpetua"/>
                <a:cs typeface="Perpetua"/>
              </a:rPr>
              <a:t>in most </a:t>
            </a:r>
            <a:r>
              <a:rPr sz="2400" i="1" spc="-15" dirty="0">
                <a:latin typeface="Perpetua"/>
                <a:cs typeface="Perpetua"/>
              </a:rPr>
              <a:t>real-world </a:t>
            </a:r>
            <a:r>
              <a:rPr sz="2400" i="1" spc="-5" dirty="0">
                <a:latin typeface="Perpetua"/>
                <a:cs typeface="Perpetua"/>
              </a:rPr>
              <a:t>databases </a:t>
            </a:r>
            <a:r>
              <a:rPr sz="2400" i="1" spc="-10" dirty="0">
                <a:latin typeface="Perpetua"/>
                <a:cs typeface="Perpetua"/>
              </a:rPr>
              <a:t>requires sophisticated  software </a:t>
            </a:r>
            <a:r>
              <a:rPr sz="2400" i="1" spc="-5" dirty="0">
                <a:latin typeface="Perpetua"/>
                <a:cs typeface="Perpetua"/>
              </a:rPr>
              <a:t>to </a:t>
            </a:r>
            <a:r>
              <a:rPr sz="2400" i="1" spc="-15" dirty="0">
                <a:latin typeface="Perpetua"/>
                <a:cs typeface="Perpetua"/>
              </a:rPr>
              <a:t>extract </a:t>
            </a:r>
            <a:r>
              <a:rPr sz="2400" i="1" dirty="0">
                <a:latin typeface="Perpetua"/>
                <a:cs typeface="Perpetua"/>
              </a:rPr>
              <a:t>and </a:t>
            </a:r>
            <a:r>
              <a:rPr sz="2400" i="1" spc="-15" dirty="0">
                <a:latin typeface="Perpetua"/>
                <a:cs typeface="Perpetua"/>
              </a:rPr>
              <a:t>analyze </a:t>
            </a:r>
            <a:r>
              <a:rPr sz="2400" i="1" spc="-10" dirty="0">
                <a:latin typeface="Perpetua"/>
                <a:cs typeface="Perpetua"/>
              </a:rPr>
              <a:t>data </a:t>
            </a:r>
            <a:r>
              <a:rPr sz="2400" i="1" spc="-5" dirty="0">
                <a:latin typeface="Perpetua"/>
                <a:cs typeface="Perpetua"/>
              </a:rPr>
              <a:t>of</a:t>
            </a:r>
            <a:r>
              <a:rPr sz="2400" i="1" spc="2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interest.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1346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5" dirty="0">
                <a:latin typeface="Perpetua"/>
                <a:cs typeface="Perpetua"/>
              </a:rPr>
              <a:t>Structured </a:t>
            </a:r>
            <a:r>
              <a:rPr i="0" dirty="0">
                <a:latin typeface="Perpetua"/>
                <a:cs typeface="Perpetua"/>
              </a:rPr>
              <a:t>Query</a:t>
            </a:r>
            <a:r>
              <a:rPr i="0" spc="-65" dirty="0">
                <a:latin typeface="Perpetua"/>
                <a:cs typeface="Perpetua"/>
              </a:rPr>
              <a:t> </a:t>
            </a:r>
            <a:r>
              <a:rPr i="0" spc="-5" dirty="0">
                <a:latin typeface="Perpetua"/>
                <a:cs typeface="Perpetua"/>
              </a:rPr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04569"/>
            <a:ext cx="8532495" cy="279209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 algn="just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30" dirty="0">
                <a:latin typeface="Perpetua"/>
                <a:cs typeface="Perpetua"/>
              </a:rPr>
              <a:t>Fortunately, </a:t>
            </a:r>
            <a:r>
              <a:rPr sz="2600" spc="-5" dirty="0">
                <a:latin typeface="Perpetua"/>
                <a:cs typeface="Perpetua"/>
              </a:rPr>
              <a:t>databases </a:t>
            </a:r>
            <a:r>
              <a:rPr sz="2600" spc="-15" dirty="0">
                <a:latin typeface="Perpetua"/>
                <a:cs typeface="Perpetua"/>
              </a:rPr>
              <a:t>are</a:t>
            </a:r>
            <a:r>
              <a:rPr sz="2600" spc="5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designed to </a:t>
            </a:r>
            <a:r>
              <a:rPr sz="2600" spc="-10" dirty="0">
                <a:latin typeface="Perpetua"/>
                <a:cs typeface="Perpetua"/>
              </a:rPr>
              <a:t>efficiently </a:t>
            </a:r>
            <a:r>
              <a:rPr sz="2600" i="1" spc="-10" dirty="0">
                <a:latin typeface="Perpetua"/>
                <a:cs typeface="Perpetua"/>
              </a:rPr>
              <a:t>locate records </a:t>
            </a:r>
            <a:r>
              <a:rPr sz="2600" dirty="0">
                <a:latin typeface="Perpetua"/>
                <a:cs typeface="Perpetua"/>
              </a:rPr>
              <a:t>in  </a:t>
            </a:r>
            <a:r>
              <a:rPr sz="2600" spc="-5" dirty="0">
                <a:latin typeface="Perpetua"/>
                <a:cs typeface="Perpetua"/>
              </a:rPr>
              <a:t>response to well-formed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queries.</a:t>
            </a:r>
            <a:endParaRPr sz="2600">
              <a:latin typeface="Perpetua"/>
              <a:cs typeface="Perpetua"/>
            </a:endParaRPr>
          </a:p>
          <a:p>
            <a:pPr marL="286385" marR="6985" indent="-274320" algn="just">
              <a:lnSpc>
                <a:spcPts val="281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Although </a:t>
            </a:r>
            <a:r>
              <a:rPr sz="2600" spc="-10" dirty="0">
                <a:latin typeface="Perpetua"/>
                <a:cs typeface="Perpetua"/>
              </a:rPr>
              <a:t>somewhat </a:t>
            </a:r>
            <a:r>
              <a:rPr sz="2600" dirty="0">
                <a:latin typeface="Perpetua"/>
                <a:cs typeface="Perpetua"/>
              </a:rPr>
              <a:t>similar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dirty="0">
                <a:latin typeface="Perpetua"/>
                <a:cs typeface="Perpetua"/>
              </a:rPr>
              <a:t>search, a </a:t>
            </a:r>
            <a:r>
              <a:rPr sz="2600" spc="-10" dirty="0">
                <a:latin typeface="Perpetua"/>
                <a:cs typeface="Perpetua"/>
              </a:rPr>
              <a:t>database </a:t>
            </a:r>
            <a:r>
              <a:rPr sz="2600" dirty="0">
                <a:latin typeface="Perpetua"/>
                <a:cs typeface="Perpetua"/>
              </a:rPr>
              <a:t>query  </a:t>
            </a:r>
            <a:r>
              <a:rPr sz="2600" spc="-10" dirty="0">
                <a:latin typeface="Perpetua"/>
                <a:cs typeface="Perpetua"/>
              </a:rPr>
              <a:t>requires more </a:t>
            </a:r>
            <a:r>
              <a:rPr sz="2600" spc="-5" dirty="0">
                <a:latin typeface="Perpetua"/>
                <a:cs typeface="Perpetua"/>
              </a:rPr>
              <a:t>precise </a:t>
            </a:r>
            <a:r>
              <a:rPr sz="2600" dirty="0">
                <a:latin typeface="Perpetua"/>
                <a:cs typeface="Perpetua"/>
              </a:rPr>
              <a:t>structure and is </a:t>
            </a:r>
            <a:r>
              <a:rPr sz="2600" spc="-10" dirty="0">
                <a:latin typeface="Perpetua"/>
                <a:cs typeface="Perpetua"/>
              </a:rPr>
              <a:t>generally </a:t>
            </a:r>
            <a:r>
              <a:rPr sz="2600" spc="5" dirty="0">
                <a:latin typeface="Perpetua"/>
                <a:cs typeface="Perpetua"/>
              </a:rPr>
              <a:t>written </a:t>
            </a:r>
            <a:r>
              <a:rPr sz="2600" dirty="0">
                <a:latin typeface="Perpetua"/>
                <a:cs typeface="Perpetua"/>
              </a:rPr>
              <a:t>in a  </a:t>
            </a:r>
            <a:r>
              <a:rPr sz="2600" spc="-5" dirty="0">
                <a:latin typeface="Perpetua"/>
                <a:cs typeface="Perpetua"/>
              </a:rPr>
              <a:t>language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i="1" dirty="0">
                <a:latin typeface="Perpetua"/>
                <a:cs typeface="Perpetua"/>
              </a:rPr>
              <a:t>SQL </a:t>
            </a:r>
            <a:r>
              <a:rPr sz="2600" i="1" spc="-5" dirty="0">
                <a:latin typeface="Perpetua"/>
                <a:cs typeface="Perpetua"/>
              </a:rPr>
              <a:t>(Structured Query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Language)</a:t>
            </a:r>
            <a:r>
              <a:rPr sz="2600" spc="-1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361315" indent="-349250" algn="just">
              <a:lnSpc>
                <a:spcPct val="100000"/>
              </a:lnSpc>
              <a:spcBef>
                <a:spcPts val="245"/>
              </a:spcBef>
              <a:buSzPct val="84615"/>
              <a:buFont typeface="Arial"/>
              <a:buChar char="•"/>
              <a:tabLst>
                <a:tab pos="361950" algn="l"/>
              </a:tabLst>
            </a:pPr>
            <a:r>
              <a:rPr sz="2600" spc="-5" dirty="0">
                <a:latin typeface="Perpetua"/>
                <a:cs typeface="Perpetua"/>
              </a:rPr>
              <a:t>Records </a:t>
            </a:r>
            <a:r>
              <a:rPr sz="2600" dirty="0">
                <a:latin typeface="Perpetua"/>
                <a:cs typeface="Perpetua"/>
              </a:rPr>
              <a:t>in a </a:t>
            </a:r>
            <a:r>
              <a:rPr sz="2600" spc="-10" dirty="0">
                <a:latin typeface="Perpetua"/>
                <a:cs typeface="Perpetua"/>
              </a:rPr>
              <a:t>database are located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issuing a </a:t>
            </a:r>
            <a:r>
              <a:rPr sz="2600" i="1" spc="-5" dirty="0">
                <a:latin typeface="Perpetua"/>
                <a:cs typeface="Perpetua"/>
              </a:rPr>
              <a:t>select</a:t>
            </a:r>
            <a:r>
              <a:rPr sz="2600" i="1" spc="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statement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general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select statement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is: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034533"/>
            <a:ext cx="7935595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8600">
              <a:lnSpc>
                <a:spcPts val="2380"/>
              </a:lnSpc>
              <a:spcBef>
                <a:spcPts val="390"/>
              </a:spcBef>
              <a:buSzPct val="84090"/>
              <a:buFont typeface="Arial"/>
              <a:buChar char="•"/>
              <a:tabLst>
                <a:tab pos="240665" algn="l"/>
                <a:tab pos="241300" algn="l"/>
                <a:tab pos="696595" algn="l"/>
                <a:tab pos="1728470" algn="l"/>
                <a:tab pos="2772410" algn="l"/>
                <a:tab pos="3950970" algn="l"/>
                <a:tab pos="4408170" algn="l"/>
                <a:tab pos="5191760" algn="l"/>
                <a:tab pos="5714365" algn="l"/>
                <a:tab pos="6590665" algn="l"/>
                <a:tab pos="7218680" algn="l"/>
                <a:tab pos="7770495" algn="l"/>
              </a:tabLst>
            </a:pPr>
            <a:r>
              <a:rPr sz="2200" spc="-5" dirty="0">
                <a:latin typeface="Perpetua"/>
                <a:cs typeface="Perpetua"/>
              </a:rPr>
              <a:t>t</a:t>
            </a:r>
            <a:r>
              <a:rPr sz="2200" spc="-15" dirty="0">
                <a:latin typeface="Perpetua"/>
                <a:cs typeface="Perpetua"/>
              </a:rPr>
              <a:t>h</a:t>
            </a:r>
            <a:r>
              <a:rPr sz="2200" spc="-5" dirty="0">
                <a:latin typeface="Perpetua"/>
                <a:cs typeface="Perpetua"/>
              </a:rPr>
              <a:t>e</a:t>
            </a:r>
            <a:r>
              <a:rPr sz="2200" dirty="0">
                <a:latin typeface="Perpetua"/>
                <a:cs typeface="Perpetua"/>
              </a:rPr>
              <a:t>	</a:t>
            </a:r>
            <a:r>
              <a:rPr sz="2200" spc="-5" dirty="0">
                <a:latin typeface="Perpetua"/>
                <a:cs typeface="Perpetua"/>
              </a:rPr>
              <a:t>italicized</a:t>
            </a:r>
            <a:r>
              <a:rPr sz="2200" dirty="0">
                <a:latin typeface="Perpetua"/>
                <a:cs typeface="Perpetua"/>
              </a:rPr>
              <a:t>	</a:t>
            </a:r>
            <a:r>
              <a:rPr sz="2200" spc="-5" dirty="0">
                <a:latin typeface="Perpetua"/>
                <a:cs typeface="Perpetua"/>
              </a:rPr>
              <a:t>elements</a:t>
            </a:r>
            <a:r>
              <a:rPr sz="2200" dirty="0">
                <a:latin typeface="Perpetua"/>
                <a:cs typeface="Perpetua"/>
              </a:rPr>
              <a:t>	</a:t>
            </a:r>
            <a:r>
              <a:rPr sz="2200" spc="-30" dirty="0">
                <a:latin typeface="Perpetua"/>
                <a:cs typeface="Perpetua"/>
              </a:rPr>
              <a:t>r</a:t>
            </a:r>
            <a:r>
              <a:rPr sz="2200" spc="-5" dirty="0">
                <a:latin typeface="Perpetua"/>
                <a:cs typeface="Perpetua"/>
              </a:rPr>
              <a:t>e</a:t>
            </a:r>
            <a:r>
              <a:rPr sz="2200" dirty="0">
                <a:latin typeface="Perpetua"/>
                <a:cs typeface="Perpetua"/>
              </a:rPr>
              <a:t>p</a:t>
            </a:r>
            <a:r>
              <a:rPr sz="2200" spc="-20" dirty="0">
                <a:latin typeface="Perpetua"/>
                <a:cs typeface="Perpetua"/>
              </a:rPr>
              <a:t>r</a:t>
            </a:r>
            <a:r>
              <a:rPr sz="2200" spc="-5" dirty="0">
                <a:latin typeface="Perpetua"/>
                <a:cs typeface="Perpetua"/>
              </a:rPr>
              <a:t>e</a:t>
            </a:r>
            <a:r>
              <a:rPr sz="2200" spc="-15" dirty="0">
                <a:latin typeface="Perpetua"/>
                <a:cs typeface="Perpetua"/>
              </a:rPr>
              <a:t>s</a:t>
            </a:r>
            <a:r>
              <a:rPr sz="2200" spc="-5" dirty="0">
                <a:latin typeface="Perpetua"/>
                <a:cs typeface="Perpetua"/>
              </a:rPr>
              <a:t>ents</a:t>
            </a:r>
            <a:r>
              <a:rPr sz="2200" dirty="0">
                <a:latin typeface="Perpetua"/>
                <a:cs typeface="Perpetua"/>
              </a:rPr>
              <a:t>	</a:t>
            </a:r>
            <a:r>
              <a:rPr sz="2200" spc="-5" dirty="0">
                <a:latin typeface="Perpetua"/>
                <a:cs typeface="Perpetua"/>
              </a:rPr>
              <a:t>the</a:t>
            </a:r>
            <a:r>
              <a:rPr sz="2200" dirty="0">
                <a:latin typeface="Perpetua"/>
                <a:cs typeface="Perpetua"/>
              </a:rPr>
              <a:t>	</a:t>
            </a:r>
            <a:r>
              <a:rPr sz="2200" spc="-5" dirty="0">
                <a:latin typeface="Perpetua"/>
                <a:cs typeface="Perpetua"/>
              </a:rPr>
              <a:t>det</a:t>
            </a:r>
            <a:r>
              <a:rPr sz="2200" dirty="0">
                <a:latin typeface="Perpetua"/>
                <a:cs typeface="Perpetua"/>
              </a:rPr>
              <a:t>a</a:t>
            </a:r>
            <a:r>
              <a:rPr sz="2200" spc="-5" dirty="0">
                <a:latin typeface="Perpetua"/>
                <a:cs typeface="Perpetua"/>
              </a:rPr>
              <a:t>ils</a:t>
            </a:r>
            <a:r>
              <a:rPr sz="2200" dirty="0">
                <a:latin typeface="Perpetua"/>
                <a:cs typeface="Perpetua"/>
              </a:rPr>
              <a:t>	</a:t>
            </a:r>
            <a:r>
              <a:rPr sz="2200" spc="-5" dirty="0">
                <a:latin typeface="Perpetua"/>
                <a:cs typeface="Perpetua"/>
              </a:rPr>
              <a:t>t</a:t>
            </a:r>
            <a:r>
              <a:rPr sz="2200" spc="-15" dirty="0">
                <a:latin typeface="Perpetua"/>
                <a:cs typeface="Perpetua"/>
              </a:rPr>
              <a:t>h</a:t>
            </a:r>
            <a:r>
              <a:rPr sz="2200" spc="-30" dirty="0">
                <a:latin typeface="Perpetua"/>
                <a:cs typeface="Perpetua"/>
              </a:rPr>
              <a:t>a</a:t>
            </a:r>
            <a:r>
              <a:rPr sz="2200" spc="-5" dirty="0">
                <a:latin typeface="Perpetua"/>
                <a:cs typeface="Perpetua"/>
              </a:rPr>
              <a:t>t</a:t>
            </a:r>
            <a:r>
              <a:rPr sz="2200" dirty="0">
                <a:latin typeface="Perpetua"/>
                <a:cs typeface="Perpetua"/>
              </a:rPr>
              <a:t>	</a:t>
            </a:r>
            <a:r>
              <a:rPr sz="2200" spc="-5" dirty="0">
                <a:latin typeface="Perpetua"/>
                <a:cs typeface="Perpetua"/>
              </a:rPr>
              <a:t>c</a:t>
            </a:r>
            <a:r>
              <a:rPr sz="2200" dirty="0">
                <a:latin typeface="Perpetua"/>
                <a:cs typeface="Perpetua"/>
              </a:rPr>
              <a:t>o</a:t>
            </a:r>
            <a:r>
              <a:rPr sz="2200" spc="-5" dirty="0">
                <a:latin typeface="Perpetua"/>
                <a:cs typeface="Perpetua"/>
              </a:rPr>
              <a:t>n</a:t>
            </a:r>
            <a:r>
              <a:rPr sz="2200" dirty="0">
                <a:latin typeface="Perpetua"/>
                <a:cs typeface="Perpetua"/>
              </a:rPr>
              <a:t>t</a:t>
            </a:r>
            <a:r>
              <a:rPr sz="2200" spc="-20" dirty="0">
                <a:latin typeface="Perpetua"/>
                <a:cs typeface="Perpetua"/>
              </a:rPr>
              <a:t>r</a:t>
            </a:r>
            <a:r>
              <a:rPr sz="2200" spc="-5" dirty="0">
                <a:latin typeface="Perpetua"/>
                <a:cs typeface="Perpetua"/>
              </a:rPr>
              <a:t>ol</a:t>
            </a:r>
            <a:r>
              <a:rPr sz="2200" dirty="0">
                <a:latin typeface="Perpetua"/>
                <a:cs typeface="Perpetua"/>
              </a:rPr>
              <a:t>	</a:t>
            </a:r>
            <a:r>
              <a:rPr sz="2200" spc="-5" dirty="0">
                <a:latin typeface="Perpetua"/>
                <a:cs typeface="Perpetua"/>
              </a:rPr>
              <a:t>wh</a:t>
            </a:r>
            <a:r>
              <a:rPr sz="2200" spc="-30" dirty="0">
                <a:latin typeface="Perpetua"/>
                <a:cs typeface="Perpetua"/>
              </a:rPr>
              <a:t>a</a:t>
            </a:r>
            <a:r>
              <a:rPr sz="2200" spc="-5" dirty="0">
                <a:latin typeface="Perpetua"/>
                <a:cs typeface="Perpetua"/>
              </a:rPr>
              <a:t>t</a:t>
            </a:r>
            <a:r>
              <a:rPr sz="2200" dirty="0">
                <a:latin typeface="Perpetua"/>
                <a:cs typeface="Perpetua"/>
              </a:rPr>
              <a:t>	</a:t>
            </a:r>
            <a:r>
              <a:rPr sz="2200" spc="-5" dirty="0">
                <a:latin typeface="Perpetua"/>
                <a:cs typeface="Perpetua"/>
              </a:rPr>
              <a:t>d</a:t>
            </a:r>
            <a:r>
              <a:rPr sz="2200" spc="-25" dirty="0">
                <a:latin typeface="Perpetua"/>
                <a:cs typeface="Perpetua"/>
              </a:rPr>
              <a:t>a</a:t>
            </a:r>
            <a:r>
              <a:rPr sz="2200" spc="-5" dirty="0">
                <a:latin typeface="Perpetua"/>
                <a:cs typeface="Perpetua"/>
              </a:rPr>
              <a:t>ta</a:t>
            </a:r>
            <a:r>
              <a:rPr sz="2200" dirty="0">
                <a:latin typeface="Perpetua"/>
                <a:cs typeface="Perpetua"/>
              </a:rPr>
              <a:t>	</a:t>
            </a:r>
            <a:r>
              <a:rPr sz="2200" spc="-5" dirty="0">
                <a:latin typeface="Perpetua"/>
                <a:cs typeface="Perpetua"/>
              </a:rPr>
              <a:t>is  </a:t>
            </a:r>
            <a:r>
              <a:rPr sz="2200" spc="-10" dirty="0">
                <a:latin typeface="Perpetua"/>
                <a:cs typeface="Perpetua"/>
              </a:rPr>
              <a:t>retrieved.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95600" y="4419600"/>
            <a:ext cx="51054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5519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i="0" spc="-235" dirty="0">
                <a:latin typeface="Perpetua"/>
                <a:cs typeface="Perpetua"/>
              </a:rPr>
              <a:t>To </a:t>
            </a:r>
            <a:r>
              <a:rPr sz="3600" i="0" dirty="0">
                <a:latin typeface="Perpetua"/>
                <a:cs typeface="Perpetua"/>
              </a:rPr>
              <a:t>select the names </a:t>
            </a:r>
            <a:r>
              <a:rPr sz="3600" i="0" spc="-5" dirty="0">
                <a:latin typeface="Perpetua"/>
                <a:cs typeface="Perpetua"/>
              </a:rPr>
              <a:t>of </a:t>
            </a:r>
            <a:r>
              <a:rPr sz="3600" i="0" spc="5" dirty="0">
                <a:latin typeface="Perpetua"/>
                <a:cs typeface="Perpetua"/>
              </a:rPr>
              <a:t>donors </a:t>
            </a:r>
            <a:r>
              <a:rPr sz="3600" i="0" dirty="0">
                <a:latin typeface="Perpetua"/>
                <a:cs typeface="Perpetua"/>
              </a:rPr>
              <a:t>who </a:t>
            </a:r>
            <a:r>
              <a:rPr sz="3600" i="0" spc="-45" dirty="0">
                <a:latin typeface="Perpetua"/>
                <a:cs typeface="Perpetua"/>
              </a:rPr>
              <a:t>have  </a:t>
            </a:r>
            <a:r>
              <a:rPr sz="3600" i="0" dirty="0">
                <a:latin typeface="Perpetua"/>
                <a:cs typeface="Perpetua"/>
              </a:rPr>
              <a:t>contributed </a:t>
            </a:r>
            <a:r>
              <a:rPr sz="3600" spc="-20" dirty="0"/>
              <a:t>at </a:t>
            </a:r>
            <a:r>
              <a:rPr sz="3600" spc="-5" dirty="0"/>
              <a:t>least</a:t>
            </a:r>
            <a:r>
              <a:rPr sz="3600" spc="30" dirty="0"/>
              <a:t> </a:t>
            </a:r>
            <a:r>
              <a:rPr sz="3600" i="0" spc="-5" dirty="0">
                <a:latin typeface="Perpetua"/>
                <a:cs typeface="Perpetua"/>
              </a:rPr>
              <a:t>$500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10665"/>
            <a:ext cx="8541385" cy="449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735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Since</a:t>
            </a:r>
            <a:r>
              <a:rPr sz="2400" spc="355" dirty="0">
                <a:latin typeface="Perpetua"/>
                <a:cs typeface="Perpetua"/>
              </a:rPr>
              <a:t> </a:t>
            </a:r>
            <a:r>
              <a:rPr sz="2400" spc="-50" dirty="0">
                <a:latin typeface="Perpetua"/>
                <a:cs typeface="Perpetua"/>
              </a:rPr>
              <a:t>we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only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interested</a:t>
            </a:r>
            <a:r>
              <a:rPr sz="2400" spc="3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3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34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names</a:t>
            </a:r>
            <a:r>
              <a:rPr sz="2400" spc="3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the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individuals,</a:t>
            </a:r>
            <a:r>
              <a:rPr sz="2400" spc="270" dirty="0">
                <a:latin typeface="Perpetua"/>
                <a:cs typeface="Perpetua"/>
              </a:rPr>
              <a:t> </a:t>
            </a:r>
            <a:r>
              <a:rPr sz="2400" spc="-50" dirty="0">
                <a:latin typeface="Perpetua"/>
                <a:cs typeface="Perpetua"/>
              </a:rPr>
              <a:t>we</a:t>
            </a:r>
            <a:r>
              <a:rPr sz="2400" spc="36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would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35"/>
              </a:lnSpc>
            </a:pPr>
            <a:r>
              <a:rPr sz="2400" dirty="0">
                <a:latin typeface="Perpetua"/>
                <a:cs typeface="Perpetua"/>
              </a:rPr>
              <a:t>select </a:t>
            </a:r>
            <a:r>
              <a:rPr sz="2400" spc="-15" dirty="0">
                <a:latin typeface="Perpetua"/>
                <a:cs typeface="Perpetua"/>
              </a:rPr>
              <a:t>only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10" dirty="0">
                <a:latin typeface="Perpetua"/>
                <a:cs typeface="Perpetua"/>
              </a:rPr>
              <a:t>First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Last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fields.</a:t>
            </a:r>
            <a:endParaRPr sz="2400">
              <a:latin typeface="Perpetua"/>
              <a:cs typeface="Perpetua"/>
            </a:endParaRPr>
          </a:p>
          <a:p>
            <a:pPr marL="286385" marR="16510" indent="-274320">
              <a:lnSpc>
                <a:spcPts val="2590"/>
              </a:lnSpc>
              <a:spcBef>
                <a:spcPts val="64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838835" algn="l"/>
                <a:tab pos="1358265" algn="l"/>
                <a:tab pos="2501900" algn="l"/>
                <a:tab pos="3132455" algn="l"/>
                <a:tab pos="3856354" algn="l"/>
                <a:tab pos="4385310" algn="l"/>
                <a:tab pos="5295265" algn="l"/>
                <a:tab pos="6007100" algn="l"/>
                <a:tab pos="6580505" algn="l"/>
                <a:tab pos="7109459" algn="l"/>
                <a:tab pos="8095615" algn="l"/>
              </a:tabLst>
            </a:pPr>
            <a:r>
              <a:rPr sz="2400" spc="-270" dirty="0">
                <a:latin typeface="Perpetua"/>
                <a:cs typeface="Perpetua"/>
              </a:rPr>
              <a:t>W</a:t>
            </a:r>
            <a:r>
              <a:rPr sz="2400" dirty="0">
                <a:latin typeface="Perpetua"/>
                <a:cs typeface="Perpetua"/>
              </a:rPr>
              <a:t>e	</a:t>
            </a:r>
            <a:r>
              <a:rPr sz="2400" spc="-5" dirty="0">
                <a:latin typeface="Perpetua"/>
                <a:cs typeface="Perpetua"/>
              </a:rPr>
              <a:t>a</a:t>
            </a:r>
            <a:r>
              <a:rPr sz="2400" spc="-25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e	sel</a:t>
            </a:r>
            <a:r>
              <a:rPr sz="2400" spc="5" dirty="0">
                <a:latin typeface="Perpetua"/>
                <a:cs typeface="Perpetua"/>
              </a:rPr>
              <a:t>e</a:t>
            </a:r>
            <a:r>
              <a:rPr sz="2400" dirty="0">
                <a:latin typeface="Perpetua"/>
                <a:cs typeface="Perpetua"/>
              </a:rPr>
              <a:t>cting	d</a:t>
            </a:r>
            <a:r>
              <a:rPr sz="2400" spc="-20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ta	f</a:t>
            </a:r>
            <a:r>
              <a:rPr sz="2400" spc="-25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om	the	Donor	ta</a:t>
            </a:r>
            <a:r>
              <a:rPr sz="2400" spc="-40" dirty="0">
                <a:latin typeface="Perpetua"/>
                <a:cs typeface="Perpetua"/>
              </a:rPr>
              <a:t>b</a:t>
            </a:r>
            <a:r>
              <a:rPr sz="2400" spc="-5" dirty="0">
                <a:latin typeface="Perpetua"/>
                <a:cs typeface="Perpetua"/>
              </a:rPr>
              <a:t>l</a:t>
            </a:r>
            <a:r>
              <a:rPr sz="2400" dirty="0">
                <a:latin typeface="Perpetua"/>
                <a:cs typeface="Perpetua"/>
              </a:rPr>
              <a:t>e	</a:t>
            </a:r>
            <a:r>
              <a:rPr sz="2400" spc="-5" dirty="0">
                <a:latin typeface="Perpetua"/>
                <a:cs typeface="Perpetua"/>
              </a:rPr>
              <a:t>an</a:t>
            </a:r>
            <a:r>
              <a:rPr sz="2400" dirty="0">
                <a:latin typeface="Perpetua"/>
                <a:cs typeface="Perpetua"/>
              </a:rPr>
              <a:t>d	the	c</a:t>
            </a:r>
            <a:r>
              <a:rPr sz="2400" spc="45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ite</a:t>
            </a:r>
            <a:r>
              <a:rPr sz="2400" spc="4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ia	th</a:t>
            </a:r>
            <a:r>
              <a:rPr sz="2400" spc="-20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t  </a:t>
            </a:r>
            <a:r>
              <a:rPr sz="2400" spc="5" dirty="0">
                <a:latin typeface="Perpetua"/>
                <a:cs typeface="Perpetua"/>
              </a:rPr>
              <a:t>determines which </a:t>
            </a:r>
            <a:r>
              <a:rPr sz="2400" dirty="0">
                <a:latin typeface="Perpetua"/>
                <a:cs typeface="Perpetua"/>
              </a:rPr>
              <a:t>elements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select is </a:t>
            </a:r>
            <a:r>
              <a:rPr sz="2400" spc="-5" dirty="0">
                <a:latin typeface="Perpetua"/>
                <a:cs typeface="Perpetua"/>
              </a:rPr>
              <a:t>expressed as </a:t>
            </a:r>
            <a:r>
              <a:rPr sz="2400" dirty="0">
                <a:latin typeface="Perpetua"/>
                <a:cs typeface="Perpetua"/>
              </a:rPr>
              <a:t>Amount </a:t>
            </a:r>
            <a:r>
              <a:rPr sz="2400" spc="-5" dirty="0">
                <a:latin typeface="Perpetua"/>
                <a:cs typeface="Perpetua"/>
              </a:rPr>
              <a:t>&gt;=</a:t>
            </a:r>
            <a:r>
              <a:rPr sz="2400" spc="-2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500.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7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proper </a:t>
            </a:r>
            <a:r>
              <a:rPr sz="2400" i="1" dirty="0">
                <a:latin typeface="Perpetua"/>
                <a:cs typeface="Perpetua"/>
              </a:rPr>
              <a:t>SQL query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given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as: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287020" indent="-274320">
              <a:lnSpc>
                <a:spcPts val="2735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</a:t>
            </a:r>
            <a:r>
              <a:rPr sz="2400" spc="70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criterion</a:t>
            </a:r>
            <a:r>
              <a:rPr sz="2400" spc="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this</a:t>
            </a:r>
            <a:r>
              <a:rPr sz="2400" spc="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select</a:t>
            </a:r>
            <a:r>
              <a:rPr sz="2400" spc="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statement</a:t>
            </a:r>
            <a:r>
              <a:rPr sz="2400" spc="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8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simple</a:t>
            </a:r>
            <a:r>
              <a:rPr sz="2400" i="1" spc="70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logical</a:t>
            </a:r>
            <a:r>
              <a:rPr sz="2400" i="1" spc="7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predicate</a:t>
            </a:r>
            <a:r>
              <a:rPr sz="2400" i="1" spc="8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</a:t>
            </a:r>
            <a:r>
              <a:rPr sz="2400" spc="6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locates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35"/>
              </a:lnSpc>
            </a:pP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10" dirty="0">
                <a:latin typeface="Perpetua"/>
                <a:cs typeface="Perpetua"/>
              </a:rPr>
              <a:t>retrieves </a:t>
            </a:r>
            <a:r>
              <a:rPr sz="2400" spc="-15" dirty="0">
                <a:latin typeface="Perpetua"/>
                <a:cs typeface="Perpetua"/>
              </a:rPr>
              <a:t>only </a:t>
            </a:r>
            <a:r>
              <a:rPr sz="2400" dirty="0">
                <a:latin typeface="Perpetua"/>
                <a:cs typeface="Perpetua"/>
              </a:rPr>
              <a:t>those </a:t>
            </a:r>
            <a:r>
              <a:rPr sz="2400" spc="-5" dirty="0">
                <a:latin typeface="Perpetua"/>
                <a:cs typeface="Perpetua"/>
              </a:rPr>
              <a:t>records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interest to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lobbyist.</a:t>
            </a:r>
            <a:endParaRPr sz="2400">
              <a:latin typeface="Perpetua"/>
              <a:cs typeface="Perpetua"/>
            </a:endParaRPr>
          </a:p>
          <a:p>
            <a:pPr marL="318770" indent="-306705">
              <a:lnSpc>
                <a:spcPct val="100000"/>
              </a:lnSpc>
              <a:spcBef>
                <a:spcPts val="310"/>
              </a:spcBef>
              <a:buSzPct val="85416"/>
              <a:buFont typeface="Arial"/>
              <a:buChar char="•"/>
              <a:tabLst>
                <a:tab pos="318770" algn="l"/>
                <a:tab pos="319405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result </a:t>
            </a:r>
            <a:r>
              <a:rPr sz="2400" dirty="0">
                <a:latin typeface="Perpetua"/>
                <a:cs typeface="Perpetua"/>
              </a:rPr>
              <a:t>of the select </a:t>
            </a:r>
            <a:r>
              <a:rPr sz="2400" spc="-5" dirty="0">
                <a:latin typeface="Perpetua"/>
                <a:cs typeface="Perpetua"/>
              </a:rPr>
              <a:t>statement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endParaRPr sz="2400">
              <a:latin typeface="Perpetua"/>
              <a:cs typeface="Perpetua"/>
            </a:endParaRPr>
          </a:p>
          <a:p>
            <a:pPr marL="561340" lvl="1" indent="-274955">
              <a:lnSpc>
                <a:spcPts val="278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list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15" dirty="0">
                <a:latin typeface="Perpetua"/>
                <a:cs typeface="Perpetua"/>
              </a:rPr>
              <a:t>five </a:t>
            </a:r>
            <a:r>
              <a:rPr sz="2400" spc="5" dirty="0">
                <a:latin typeface="Perpetua"/>
                <a:cs typeface="Perpetua"/>
              </a:rPr>
              <a:t>donors: </a:t>
            </a:r>
            <a:r>
              <a:rPr sz="2000" spc="-10" dirty="0">
                <a:latin typeface="Perpetua"/>
                <a:cs typeface="Perpetua"/>
              </a:rPr>
              <a:t>William </a:t>
            </a:r>
            <a:r>
              <a:rPr sz="2000" spc="-5" dirty="0">
                <a:latin typeface="Perpetua"/>
                <a:cs typeface="Perpetua"/>
              </a:rPr>
              <a:t>Shell, </a:t>
            </a:r>
            <a:r>
              <a:rPr sz="2000" dirty="0">
                <a:latin typeface="Perpetua"/>
                <a:cs typeface="Perpetua"/>
              </a:rPr>
              <a:t>Helen </a:t>
            </a:r>
            <a:r>
              <a:rPr sz="2000" spc="-45" dirty="0">
                <a:latin typeface="Perpetua"/>
                <a:cs typeface="Perpetua"/>
              </a:rPr>
              <a:t>Lobby, </a:t>
            </a:r>
            <a:r>
              <a:rPr sz="2000" spc="5" dirty="0">
                <a:latin typeface="Perpetua"/>
                <a:cs typeface="Perpetua"/>
              </a:rPr>
              <a:t>Reggie </a:t>
            </a:r>
            <a:r>
              <a:rPr sz="2000" spc="-5" dirty="0">
                <a:latin typeface="Perpetua"/>
                <a:cs typeface="Perpetua"/>
              </a:rPr>
              <a:t>Green, </a:t>
            </a:r>
            <a:r>
              <a:rPr sz="2000" dirty="0">
                <a:latin typeface="Perpetua"/>
                <a:cs typeface="Perpetua"/>
              </a:rPr>
              <a:t>Harvey</a:t>
            </a:r>
            <a:r>
              <a:rPr sz="2000" spc="24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Levirage,</a:t>
            </a:r>
            <a:endParaRPr sz="2000">
              <a:latin typeface="Perpetua"/>
              <a:cs typeface="Perpetua"/>
            </a:endParaRPr>
          </a:p>
          <a:p>
            <a:pPr marL="561340">
              <a:lnSpc>
                <a:spcPts val="2300"/>
              </a:lnSpc>
            </a:pPr>
            <a:r>
              <a:rPr sz="2000" spc="-5" dirty="0">
                <a:latin typeface="Perpetua"/>
                <a:cs typeface="Perpetua"/>
              </a:rPr>
              <a:t>and </a:t>
            </a:r>
            <a:r>
              <a:rPr sz="2000" spc="-10" dirty="0">
                <a:latin typeface="Perpetua"/>
                <a:cs typeface="Perpetua"/>
              </a:rPr>
              <a:t>Jennifer</a:t>
            </a:r>
            <a:r>
              <a:rPr sz="2000" spc="-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Dichali.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95600" y="3581400"/>
            <a:ext cx="4876800" cy="2910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5137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latin typeface="Perpetua"/>
                <a:cs typeface="Perpetua"/>
              </a:rPr>
              <a:t>A compound </a:t>
            </a:r>
            <a:r>
              <a:rPr i="0" spc="5" dirty="0">
                <a:latin typeface="Perpetua"/>
                <a:cs typeface="Perpetua"/>
              </a:rPr>
              <a:t>logical</a:t>
            </a:r>
            <a:r>
              <a:rPr i="0" spc="-10" dirty="0">
                <a:latin typeface="Perpetua"/>
                <a:cs typeface="Perpetua"/>
              </a:rPr>
              <a:t> predicate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1860" cy="2084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spc="-30" dirty="0">
                <a:latin typeface="Perpetua"/>
                <a:cs typeface="Perpetua"/>
              </a:rPr>
              <a:t>Consider, </a:t>
            </a:r>
            <a:r>
              <a:rPr sz="2600" spc="-65" dirty="0">
                <a:latin typeface="Perpetua"/>
                <a:cs typeface="Perpetua"/>
              </a:rPr>
              <a:t>however, </a:t>
            </a:r>
            <a:r>
              <a:rPr sz="2600" dirty="0">
                <a:latin typeface="Perpetua"/>
                <a:cs typeface="Perpetua"/>
              </a:rPr>
              <a:t>a scenario </a:t>
            </a:r>
            <a:r>
              <a:rPr sz="2600" spc="-5" dirty="0">
                <a:latin typeface="Perpetua"/>
                <a:cs typeface="Perpetua"/>
              </a:rPr>
              <a:t>where the </a:t>
            </a:r>
            <a:r>
              <a:rPr sz="2600" spc="-10" dirty="0">
                <a:latin typeface="Perpetua"/>
                <a:cs typeface="Perpetua"/>
              </a:rPr>
              <a:t>lobbyist wants </a:t>
            </a:r>
            <a:r>
              <a:rPr sz="2600" spc="-5" dirty="0">
                <a:latin typeface="Perpetua"/>
                <a:cs typeface="Perpetua"/>
              </a:rPr>
              <a:t>to  specifically </a:t>
            </a:r>
            <a:r>
              <a:rPr sz="2600" dirty="0">
                <a:latin typeface="Perpetua"/>
                <a:cs typeface="Perpetua"/>
              </a:rPr>
              <a:t>target </a:t>
            </a:r>
            <a:r>
              <a:rPr sz="2600" spc="-10" dirty="0">
                <a:latin typeface="Perpetua"/>
                <a:cs typeface="Perpetua"/>
              </a:rPr>
              <a:t>only </a:t>
            </a:r>
            <a:r>
              <a:rPr sz="2600" dirty="0">
                <a:latin typeface="Perpetua"/>
                <a:cs typeface="Perpetua"/>
              </a:rPr>
              <a:t>those donors who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i="1" spc="-5" dirty="0">
                <a:latin typeface="Perpetua"/>
                <a:cs typeface="Perpetua"/>
              </a:rPr>
              <a:t>under 40 years of </a:t>
            </a:r>
            <a:r>
              <a:rPr sz="2600" i="1" spc="-35" dirty="0">
                <a:latin typeface="Perpetua"/>
                <a:cs typeface="Perpetua"/>
              </a:rPr>
              <a:t>age </a:t>
            </a:r>
            <a:r>
              <a:rPr sz="2600" i="1" dirty="0">
                <a:latin typeface="Perpetua"/>
                <a:cs typeface="Perpetua"/>
              </a:rPr>
              <a:t>and 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contributed </a:t>
            </a:r>
            <a:r>
              <a:rPr sz="2600" i="1" spc="-15" dirty="0">
                <a:latin typeface="Perpetua"/>
                <a:cs typeface="Perpetua"/>
              </a:rPr>
              <a:t>at </a:t>
            </a:r>
            <a:r>
              <a:rPr sz="2600" i="1" spc="-5" dirty="0">
                <a:latin typeface="Perpetua"/>
                <a:cs typeface="Perpetua"/>
              </a:rPr>
              <a:t>least </a:t>
            </a:r>
            <a:r>
              <a:rPr sz="2600" spc="-5" dirty="0">
                <a:latin typeface="Perpetua"/>
                <a:cs typeface="Perpetua"/>
              </a:rPr>
              <a:t>$500 </a:t>
            </a:r>
            <a:r>
              <a:rPr sz="2600" dirty="0">
                <a:latin typeface="Perpetua"/>
                <a:cs typeface="Perpetua"/>
              </a:rPr>
              <a:t>in the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past.</a:t>
            </a:r>
            <a:endParaRPr sz="2600">
              <a:latin typeface="Perpetua"/>
              <a:cs typeface="Perpetua"/>
            </a:endParaRPr>
          </a:p>
          <a:p>
            <a:pPr marL="285115" marR="8890" indent="-27305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320675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10" dirty="0">
                <a:latin typeface="Perpetua"/>
                <a:cs typeface="Perpetua"/>
              </a:rPr>
              <a:t>requires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0" dirty="0">
                <a:latin typeface="Perpetua"/>
                <a:cs typeface="Perpetua"/>
              </a:rPr>
              <a:t>criterion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expressed 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compound </a:t>
            </a:r>
            <a:r>
              <a:rPr sz="2600" i="1" spc="-10" dirty="0">
                <a:latin typeface="Perpetua"/>
                <a:cs typeface="Perpetua"/>
              </a:rPr>
              <a:t>logical  </a:t>
            </a:r>
            <a:r>
              <a:rPr sz="2600" i="1" spc="-5" dirty="0">
                <a:latin typeface="Perpetua"/>
                <a:cs typeface="Perpetua"/>
              </a:rPr>
              <a:t>predicate</a:t>
            </a:r>
            <a:r>
              <a:rPr sz="2600" spc="-5" dirty="0">
                <a:latin typeface="Perpetua"/>
                <a:cs typeface="Perpetua"/>
              </a:rPr>
              <a:t>: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4513326"/>
            <a:ext cx="8527415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list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three </a:t>
            </a:r>
            <a:r>
              <a:rPr sz="2600" dirty="0">
                <a:latin typeface="Perpetua"/>
                <a:cs typeface="Perpetua"/>
              </a:rPr>
              <a:t>donors: Helen </a:t>
            </a:r>
            <a:r>
              <a:rPr sz="2600" spc="-60" dirty="0">
                <a:latin typeface="Perpetua"/>
                <a:cs typeface="Perpetua"/>
              </a:rPr>
              <a:t>Lobby, </a:t>
            </a:r>
            <a:r>
              <a:rPr sz="2600" spc="5" dirty="0">
                <a:latin typeface="Perpetua"/>
                <a:cs typeface="Perpetua"/>
              </a:rPr>
              <a:t>Reggie </a:t>
            </a:r>
            <a:r>
              <a:rPr sz="2600" spc="-5" dirty="0">
                <a:latin typeface="Perpetua"/>
                <a:cs typeface="Perpetua"/>
              </a:rPr>
              <a:t>Green, and </a:t>
            </a:r>
            <a:r>
              <a:rPr sz="2600" spc="-10" dirty="0">
                <a:latin typeface="Perpetua"/>
                <a:cs typeface="Perpetua"/>
              </a:rPr>
              <a:t>Jennifer  </a:t>
            </a:r>
            <a:r>
              <a:rPr sz="2600" spc="5" dirty="0">
                <a:latin typeface="Perpetua"/>
                <a:cs typeface="Perpetua"/>
              </a:rPr>
              <a:t>Dichali.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05956" y="4114800"/>
            <a:ext cx="656844" cy="209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800" y="3657600"/>
            <a:ext cx="3364991" cy="199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48711" y="4114800"/>
            <a:ext cx="3909060" cy="2712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57402"/>
            <a:ext cx="7616190" cy="146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20" dirty="0">
                <a:latin typeface="Perpetua"/>
                <a:cs typeface="Perpetua"/>
              </a:rPr>
              <a:t>Perhaps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5" dirty="0">
                <a:latin typeface="Perpetua"/>
                <a:cs typeface="Perpetua"/>
              </a:rPr>
              <a:t>lobbyist wants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5" dirty="0">
                <a:latin typeface="Perpetua"/>
                <a:cs typeface="Perpetua"/>
              </a:rPr>
              <a:t>specifically </a:t>
            </a:r>
            <a:r>
              <a:rPr sz="2400" i="1" spc="-25" dirty="0">
                <a:latin typeface="Perpetua"/>
                <a:cs typeface="Perpetua"/>
              </a:rPr>
              <a:t>target </a:t>
            </a:r>
            <a:r>
              <a:rPr sz="2400" i="1" spc="-15" dirty="0">
                <a:latin typeface="Perpetua"/>
                <a:cs typeface="Perpetua"/>
              </a:rPr>
              <a:t>only </a:t>
            </a:r>
            <a:r>
              <a:rPr sz="2400" i="1" dirty="0">
                <a:latin typeface="Perpetua"/>
                <a:cs typeface="Perpetua"/>
              </a:rPr>
              <a:t>those </a:t>
            </a:r>
            <a:r>
              <a:rPr sz="2400" i="1" spc="-10" dirty="0">
                <a:latin typeface="Perpetua"/>
                <a:cs typeface="Perpetua"/>
              </a:rPr>
              <a:t>donors </a:t>
            </a:r>
            <a:r>
              <a:rPr sz="2400" i="1" spc="-20" dirty="0">
                <a:latin typeface="Perpetua"/>
                <a:cs typeface="Perpetua"/>
              </a:rPr>
              <a:t>who </a:t>
            </a:r>
            <a:r>
              <a:rPr sz="2400" i="1" spc="-15" dirty="0">
                <a:latin typeface="Perpetua"/>
                <a:cs typeface="Perpetua"/>
              </a:rPr>
              <a:t>live 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either the </a:t>
            </a:r>
            <a:r>
              <a:rPr sz="2400" i="1" spc="-5" dirty="0">
                <a:latin typeface="Perpetua"/>
                <a:cs typeface="Perpetua"/>
              </a:rPr>
              <a:t>coastal states of </a:t>
            </a:r>
            <a:r>
              <a:rPr sz="2400" i="1" dirty="0">
                <a:latin typeface="Perpetua"/>
                <a:cs typeface="Perpetua"/>
              </a:rPr>
              <a:t>New </a:t>
            </a:r>
            <a:r>
              <a:rPr sz="2400" i="1" spc="-60" dirty="0">
                <a:latin typeface="Perpetua"/>
                <a:cs typeface="Perpetua"/>
              </a:rPr>
              <a:t>York </a:t>
            </a:r>
            <a:r>
              <a:rPr sz="2400" i="1" spc="-5" dirty="0">
                <a:latin typeface="Perpetua"/>
                <a:cs typeface="Perpetua"/>
              </a:rPr>
              <a:t>or California </a:t>
            </a:r>
            <a:r>
              <a:rPr sz="2400" i="1" spc="-10" dirty="0">
                <a:latin typeface="Perpetua"/>
                <a:cs typeface="Perpetua"/>
              </a:rPr>
              <a:t>regardless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their </a:t>
            </a:r>
            <a:r>
              <a:rPr sz="2400" i="1" spc="-35" dirty="0">
                <a:latin typeface="Perpetua"/>
                <a:cs typeface="Perpetua"/>
              </a:rPr>
              <a:t>age </a:t>
            </a:r>
            <a:r>
              <a:rPr sz="2400" i="1" spc="-5" dirty="0">
                <a:latin typeface="Perpetua"/>
                <a:cs typeface="Perpetua"/>
              </a:rPr>
              <a:t>or  </a:t>
            </a:r>
            <a:r>
              <a:rPr sz="2400" i="1" dirty="0">
                <a:latin typeface="Perpetua"/>
                <a:cs typeface="Perpetua"/>
              </a:rPr>
              <a:t>their past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donations.</a:t>
            </a:r>
            <a:endParaRPr sz="2400">
              <a:latin typeface="Perpetua"/>
              <a:cs typeface="Perpetua"/>
            </a:endParaRPr>
          </a:p>
          <a:p>
            <a:pPr marL="469900" algn="just">
              <a:lnSpc>
                <a:spcPct val="100000"/>
              </a:lnSpc>
              <a:spcBef>
                <a:spcPts val="20"/>
              </a:spcBef>
            </a:pPr>
            <a:r>
              <a:rPr sz="2200" i="1" spc="-5" dirty="0">
                <a:latin typeface="Perpetua"/>
                <a:cs typeface="Perpetua"/>
              </a:rPr>
              <a:t>The appropriate SQL </a:t>
            </a:r>
            <a:r>
              <a:rPr sz="2200" i="1" spc="-10" dirty="0">
                <a:latin typeface="Perpetua"/>
                <a:cs typeface="Perpetua"/>
              </a:rPr>
              <a:t>query </a:t>
            </a:r>
            <a:r>
              <a:rPr sz="2200" i="1" spc="-5" dirty="0">
                <a:latin typeface="Perpetua"/>
                <a:cs typeface="Perpetua"/>
              </a:rPr>
              <a:t>is </a:t>
            </a:r>
            <a:r>
              <a:rPr sz="2200" i="1" spc="-10" dirty="0">
                <a:latin typeface="Perpetua"/>
                <a:cs typeface="Perpetua"/>
              </a:rPr>
              <a:t>expressed</a:t>
            </a:r>
            <a:r>
              <a:rPr sz="2200" i="1" spc="135" dirty="0">
                <a:latin typeface="Perpetua"/>
                <a:cs typeface="Perpetua"/>
              </a:rPr>
              <a:t> </a:t>
            </a:r>
            <a:r>
              <a:rPr sz="2200" i="1" spc="-5" dirty="0">
                <a:latin typeface="Perpetua"/>
                <a:cs typeface="Perpetua"/>
              </a:rPr>
              <a:t>as</a:t>
            </a:r>
            <a:r>
              <a:rPr sz="2200" spc="-5" dirty="0">
                <a:latin typeface="Perpetua"/>
                <a:cs typeface="Perpetua"/>
              </a:rPr>
              <a:t>: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6144" y="2812872"/>
            <a:ext cx="7120255" cy="0"/>
          </a:xfrm>
          <a:custGeom>
            <a:avLst/>
            <a:gdLst/>
            <a:ahLst/>
            <a:cxnLst/>
            <a:rect l="l" t="t" r="r" b="b"/>
            <a:pathLst>
              <a:path w="7120255">
                <a:moveTo>
                  <a:pt x="0" y="0"/>
                </a:moveTo>
                <a:lnTo>
                  <a:pt x="7120113" y="0"/>
                </a:lnTo>
              </a:path>
            </a:pathLst>
          </a:custGeom>
          <a:ln w="1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6144" y="3148182"/>
            <a:ext cx="7120255" cy="0"/>
          </a:xfrm>
          <a:custGeom>
            <a:avLst/>
            <a:gdLst/>
            <a:ahLst/>
            <a:cxnLst/>
            <a:rect l="l" t="t" r="r" b="b"/>
            <a:pathLst>
              <a:path w="7120255">
                <a:moveTo>
                  <a:pt x="0" y="0"/>
                </a:moveTo>
                <a:lnTo>
                  <a:pt x="7119797" y="0"/>
                </a:lnTo>
              </a:path>
            </a:pathLst>
          </a:custGeom>
          <a:ln w="139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6144" y="3483686"/>
            <a:ext cx="7130415" cy="0"/>
          </a:xfrm>
          <a:custGeom>
            <a:avLst/>
            <a:gdLst/>
            <a:ahLst/>
            <a:cxnLst/>
            <a:rect l="l" t="t" r="r" b="b"/>
            <a:pathLst>
              <a:path w="7130415">
                <a:moveTo>
                  <a:pt x="0" y="0"/>
                </a:moveTo>
                <a:lnTo>
                  <a:pt x="7130323" y="0"/>
                </a:lnTo>
              </a:path>
            </a:pathLst>
          </a:custGeom>
          <a:ln w="1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140" y="3953636"/>
            <a:ext cx="76130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145" dirty="0">
                <a:latin typeface="Perpetua"/>
                <a:cs typeface="Perpetua"/>
              </a:rPr>
              <a:t>To</a:t>
            </a:r>
            <a:r>
              <a:rPr sz="2400" i="1" spc="210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locate</a:t>
            </a:r>
            <a:r>
              <a:rPr sz="2400" i="1" spc="220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every</a:t>
            </a:r>
            <a:r>
              <a:rPr sz="2400" i="1" spc="204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donor</a:t>
            </a:r>
            <a:r>
              <a:rPr sz="2400" i="1" spc="2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that</a:t>
            </a:r>
            <a:r>
              <a:rPr sz="2400" i="1" spc="21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is</a:t>
            </a:r>
            <a:r>
              <a:rPr sz="2400" i="1" spc="22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under</a:t>
            </a:r>
            <a:r>
              <a:rPr sz="2400" i="1" spc="21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40</a:t>
            </a:r>
            <a:r>
              <a:rPr sz="2400" i="1" spc="21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years</a:t>
            </a:r>
            <a:r>
              <a:rPr sz="2400" i="1" spc="21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of</a:t>
            </a:r>
            <a:r>
              <a:rPr sz="2400" i="1" spc="215" dirty="0">
                <a:latin typeface="Perpetua"/>
                <a:cs typeface="Perpetua"/>
              </a:rPr>
              <a:t> </a:t>
            </a:r>
            <a:r>
              <a:rPr sz="2400" i="1" spc="-25" dirty="0">
                <a:latin typeface="Perpetua"/>
                <a:cs typeface="Perpetua"/>
              </a:rPr>
              <a:t>age, </a:t>
            </a:r>
            <a:r>
              <a:rPr sz="2400" i="1" spc="-5" dirty="0">
                <a:latin typeface="Perpetua"/>
                <a:cs typeface="Perpetua"/>
              </a:rPr>
              <a:t>has</a:t>
            </a:r>
            <a:r>
              <a:rPr sz="2400" i="1" spc="21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donated</a:t>
            </a:r>
            <a:r>
              <a:rPr sz="2400" i="1" spc="21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at</a:t>
            </a:r>
            <a:r>
              <a:rPr sz="2400" i="1" spc="21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least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Perpetua"/>
                <a:cs typeface="Perpetua"/>
              </a:rPr>
              <a:t>$500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past, and </a:t>
            </a:r>
            <a:r>
              <a:rPr sz="2400" i="1" spc="-15" dirty="0">
                <a:latin typeface="Perpetua"/>
                <a:cs typeface="Perpetua"/>
              </a:rPr>
              <a:t>lives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either </a:t>
            </a:r>
            <a:r>
              <a:rPr sz="2400" i="1" spc="-35" dirty="0">
                <a:latin typeface="Perpetua"/>
                <a:cs typeface="Perpetua"/>
              </a:rPr>
              <a:t>NewYork </a:t>
            </a:r>
            <a:r>
              <a:rPr sz="2400" i="1" spc="-5" dirty="0">
                <a:latin typeface="Perpetua"/>
                <a:cs typeface="Perpetua"/>
              </a:rPr>
              <a:t>or</a:t>
            </a:r>
            <a:r>
              <a:rPr sz="2400" i="1" spc="-254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California.</a:t>
            </a:r>
            <a:endParaRPr sz="2400">
              <a:latin typeface="Perpetua"/>
              <a:cs typeface="Perpetua"/>
            </a:endParaRPr>
          </a:p>
          <a:p>
            <a:pPr marL="248285">
              <a:lnSpc>
                <a:spcPct val="100000"/>
              </a:lnSpc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appropriate SQL query </a:t>
            </a:r>
            <a:r>
              <a:rPr sz="2400" i="1" spc="-5" dirty="0">
                <a:latin typeface="Perpetua"/>
                <a:cs typeface="Perpetua"/>
              </a:rPr>
              <a:t>is expressed</a:t>
            </a:r>
            <a:r>
              <a:rPr sz="2400" i="1" spc="-3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as</a:t>
            </a:r>
            <a:r>
              <a:rPr sz="2400" spc="-5" dirty="0">
                <a:latin typeface="Perpetua"/>
                <a:cs typeface="Perpetua"/>
              </a:rPr>
              <a:t>: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7940" y="5399277"/>
            <a:ext cx="7315200" cy="0"/>
          </a:xfrm>
          <a:custGeom>
            <a:avLst/>
            <a:gdLst/>
            <a:ahLst/>
            <a:cxnLst/>
            <a:rect l="l" t="t" r="r" b="b"/>
            <a:pathLst>
              <a:path w="7315200">
                <a:moveTo>
                  <a:pt x="0" y="0"/>
                </a:moveTo>
                <a:lnTo>
                  <a:pt x="7315200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7940" y="5765017"/>
            <a:ext cx="7315200" cy="0"/>
          </a:xfrm>
          <a:custGeom>
            <a:avLst/>
            <a:gdLst/>
            <a:ahLst/>
            <a:cxnLst/>
            <a:rect l="l" t="t" r="r" b="b"/>
            <a:pathLst>
              <a:path w="7315200">
                <a:moveTo>
                  <a:pt x="0" y="0"/>
                </a:moveTo>
                <a:lnTo>
                  <a:pt x="7315200" y="0"/>
                </a:lnTo>
              </a:path>
            </a:pathLst>
          </a:custGeom>
          <a:ln w="152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7940" y="6131052"/>
            <a:ext cx="7315200" cy="0"/>
          </a:xfrm>
          <a:custGeom>
            <a:avLst/>
            <a:gdLst/>
            <a:ahLst/>
            <a:cxnLst/>
            <a:rect l="l" t="t" r="r" b="b"/>
            <a:pathLst>
              <a:path w="7315200">
                <a:moveTo>
                  <a:pt x="0" y="0"/>
                </a:moveTo>
                <a:lnTo>
                  <a:pt x="7315200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48600" y="152400"/>
            <a:ext cx="1152144" cy="1010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59740" y="266446"/>
            <a:ext cx="2279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Try </a:t>
            </a:r>
            <a:r>
              <a:rPr spc="-5" dirty="0"/>
              <a:t>it</a:t>
            </a:r>
            <a:r>
              <a:rPr spc="95" dirty="0"/>
              <a:t> </a:t>
            </a:r>
            <a:r>
              <a:rPr spc="-10" dirty="0"/>
              <a:t>yourself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1555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0" spc="-5" dirty="0">
                <a:solidFill>
                  <a:srgbClr val="FF0000"/>
                </a:solidFill>
                <a:latin typeface="Perpetua"/>
                <a:cs typeface="Perpetua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209802"/>
            <a:ext cx="7845425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marR="5080" indent="-273685" algn="just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5" dirty="0">
                <a:latin typeface="Perpetua"/>
                <a:cs typeface="Perpetua"/>
              </a:rPr>
              <a:t>lobbyist </a:t>
            </a:r>
            <a:r>
              <a:rPr sz="2400" spc="-10" dirty="0">
                <a:latin typeface="Perpetua"/>
                <a:cs typeface="Perpetua"/>
              </a:rPr>
              <a:t>wants </a:t>
            </a:r>
            <a:r>
              <a:rPr sz="2400" spc="-5" dirty="0">
                <a:latin typeface="Perpetua"/>
                <a:cs typeface="Perpetua"/>
              </a:rPr>
              <a:t>to specifically target </a:t>
            </a:r>
            <a:r>
              <a:rPr sz="2400" spc="-15" dirty="0">
                <a:latin typeface="Perpetua"/>
                <a:cs typeface="Perpetua"/>
              </a:rPr>
              <a:t>only </a:t>
            </a:r>
            <a:r>
              <a:rPr sz="2400" spc="-5" dirty="0">
                <a:latin typeface="Perpetua"/>
                <a:cs typeface="Perpetua"/>
              </a:rPr>
              <a:t>those </a:t>
            </a:r>
            <a:r>
              <a:rPr sz="2400" spc="5" dirty="0">
                <a:latin typeface="Perpetua"/>
                <a:cs typeface="Perpetua"/>
              </a:rPr>
              <a:t>donors </a:t>
            </a:r>
            <a:r>
              <a:rPr sz="2400" dirty="0">
                <a:latin typeface="Perpetua"/>
                <a:cs typeface="Perpetua"/>
              </a:rPr>
              <a:t>who </a:t>
            </a:r>
            <a:r>
              <a:rPr sz="2400" spc="-20" dirty="0">
                <a:latin typeface="Perpetua"/>
                <a:cs typeface="Perpetua"/>
              </a:rPr>
              <a:t>live  </a:t>
            </a:r>
            <a:r>
              <a:rPr sz="2400" dirty="0">
                <a:latin typeface="Perpetua"/>
                <a:cs typeface="Perpetua"/>
              </a:rPr>
              <a:t>in either the coastal </a:t>
            </a:r>
            <a:r>
              <a:rPr sz="2400" spc="-10" dirty="0">
                <a:latin typeface="Perpetua"/>
                <a:cs typeface="Perpetua"/>
              </a:rPr>
              <a:t>states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15" dirty="0">
                <a:latin typeface="Perpetua"/>
                <a:cs typeface="Perpetua"/>
              </a:rPr>
              <a:t>New </a:t>
            </a:r>
            <a:r>
              <a:rPr sz="2400" spc="-65" dirty="0">
                <a:latin typeface="Perpetua"/>
                <a:cs typeface="Perpetua"/>
              </a:rPr>
              <a:t>York </a:t>
            </a:r>
            <a:r>
              <a:rPr sz="2400" dirty="0">
                <a:latin typeface="Perpetua"/>
                <a:cs typeface="Perpetua"/>
              </a:rPr>
              <a:t>or California </a:t>
            </a:r>
            <a:r>
              <a:rPr sz="2400" spc="-10" dirty="0">
                <a:latin typeface="Perpetua"/>
                <a:cs typeface="Perpetua"/>
              </a:rPr>
              <a:t>regardless of  </a:t>
            </a:r>
            <a:r>
              <a:rPr sz="2400" dirty="0">
                <a:latin typeface="Perpetua"/>
                <a:cs typeface="Perpetua"/>
              </a:rPr>
              <a:t>their </a:t>
            </a:r>
            <a:r>
              <a:rPr sz="2400" spc="-5" dirty="0">
                <a:latin typeface="Perpetua"/>
                <a:cs typeface="Perpetua"/>
              </a:rPr>
              <a:t>age </a:t>
            </a:r>
            <a:r>
              <a:rPr sz="2400" dirty="0">
                <a:latin typeface="Perpetua"/>
                <a:cs typeface="Perpetua"/>
              </a:rPr>
              <a:t>or their past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donations.</a:t>
            </a:r>
            <a:endParaRPr sz="2400">
              <a:latin typeface="Perpetua"/>
              <a:cs typeface="Perpetua"/>
            </a:endParaRPr>
          </a:p>
          <a:p>
            <a:pPr marL="285750" indent="-273685" algn="just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appropriate </a:t>
            </a:r>
            <a:r>
              <a:rPr sz="2400" dirty="0">
                <a:latin typeface="Perpetua"/>
                <a:cs typeface="Perpetua"/>
              </a:rPr>
              <a:t>SQL </a:t>
            </a:r>
            <a:r>
              <a:rPr sz="2400" spc="5" dirty="0">
                <a:latin typeface="Perpetua"/>
                <a:cs typeface="Perpetua"/>
              </a:rPr>
              <a:t>query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expressed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as: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835660" marR="5715" lvl="1" indent="-228600">
              <a:lnSpc>
                <a:spcPct val="100000"/>
              </a:lnSpc>
              <a:buSzPct val="83333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1800" dirty="0">
                <a:latin typeface="Perpetua"/>
                <a:cs typeface="Perpetua"/>
              </a:rPr>
              <a:t>A </a:t>
            </a:r>
            <a:r>
              <a:rPr sz="1800" spc="-5" dirty="0">
                <a:latin typeface="Perpetua"/>
                <a:cs typeface="Perpetua"/>
              </a:rPr>
              <a:t>list </a:t>
            </a:r>
            <a:r>
              <a:rPr sz="1800" dirty="0">
                <a:latin typeface="Perpetua"/>
                <a:cs typeface="Perpetua"/>
              </a:rPr>
              <a:t>of four </a:t>
            </a:r>
            <a:r>
              <a:rPr sz="1800" spc="5" dirty="0">
                <a:latin typeface="Perpetua"/>
                <a:cs typeface="Perpetua"/>
              </a:rPr>
              <a:t>donors: </a:t>
            </a:r>
            <a:r>
              <a:rPr sz="1800" spc="-5" dirty="0">
                <a:latin typeface="Perpetua"/>
                <a:cs typeface="Perpetua"/>
              </a:rPr>
              <a:t>Helen </a:t>
            </a:r>
            <a:r>
              <a:rPr sz="1800" spc="-45" dirty="0">
                <a:latin typeface="Perpetua"/>
                <a:cs typeface="Perpetua"/>
              </a:rPr>
              <a:t>Lobby, </a:t>
            </a:r>
            <a:r>
              <a:rPr sz="1800" dirty="0">
                <a:latin typeface="Perpetua"/>
                <a:cs typeface="Perpetua"/>
              </a:rPr>
              <a:t>Reggie </a:t>
            </a:r>
            <a:r>
              <a:rPr sz="1800" spc="-5" dirty="0">
                <a:latin typeface="Perpetua"/>
                <a:cs typeface="Perpetua"/>
              </a:rPr>
              <a:t>Green, </a:t>
            </a:r>
            <a:r>
              <a:rPr sz="1800" dirty="0">
                <a:latin typeface="Perpetua"/>
                <a:cs typeface="Perpetua"/>
              </a:rPr>
              <a:t>Harvey </a:t>
            </a:r>
            <a:r>
              <a:rPr sz="1800" spc="-10" dirty="0">
                <a:latin typeface="Perpetua"/>
                <a:cs typeface="Perpetua"/>
              </a:rPr>
              <a:t>Levirage, </a:t>
            </a:r>
            <a:r>
              <a:rPr sz="1800" dirty="0">
                <a:latin typeface="Perpetua"/>
                <a:cs typeface="Perpetua"/>
              </a:rPr>
              <a:t>and </a:t>
            </a:r>
            <a:r>
              <a:rPr sz="1800" spc="-10" dirty="0">
                <a:latin typeface="Perpetua"/>
                <a:cs typeface="Perpetua"/>
              </a:rPr>
              <a:t>Robin  </a:t>
            </a:r>
            <a:r>
              <a:rPr sz="1800" dirty="0">
                <a:latin typeface="Perpetua"/>
                <a:cs typeface="Perpetua"/>
              </a:rPr>
              <a:t>Round.</a:t>
            </a:r>
            <a:endParaRPr sz="1800">
              <a:latin typeface="Perpetua"/>
              <a:cs typeface="Perpetua"/>
            </a:endParaRPr>
          </a:p>
          <a:p>
            <a:pPr marL="285750" marR="11430" indent="-273685" algn="just">
              <a:lnSpc>
                <a:spcPct val="100000"/>
              </a:lnSpc>
              <a:spcBef>
                <a:spcPts val="515"/>
              </a:spcBef>
              <a:buSzPct val="85416"/>
              <a:buFont typeface="Arial"/>
              <a:buChar char="•"/>
              <a:tabLst>
                <a:tab pos="286385" algn="l"/>
              </a:tabLst>
            </a:pPr>
            <a:r>
              <a:rPr sz="2400" spc="-155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locate </a:t>
            </a:r>
            <a:r>
              <a:rPr sz="2400" spc="-15" dirty="0">
                <a:latin typeface="Perpetua"/>
                <a:cs typeface="Perpetua"/>
              </a:rPr>
              <a:t>every </a:t>
            </a:r>
            <a:r>
              <a:rPr sz="2400" dirty="0">
                <a:latin typeface="Perpetua"/>
                <a:cs typeface="Perpetua"/>
              </a:rPr>
              <a:t>donor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is under 40 years of </a:t>
            </a:r>
            <a:r>
              <a:rPr sz="2400" spc="-20" dirty="0">
                <a:latin typeface="Perpetua"/>
                <a:cs typeface="Perpetua"/>
              </a:rPr>
              <a:t>age, </a:t>
            </a:r>
            <a:r>
              <a:rPr sz="2400" dirty="0">
                <a:latin typeface="Perpetua"/>
                <a:cs typeface="Perpetua"/>
              </a:rPr>
              <a:t>has </a:t>
            </a:r>
            <a:r>
              <a:rPr sz="2400" spc="-5" dirty="0">
                <a:latin typeface="Perpetua"/>
                <a:cs typeface="Perpetua"/>
              </a:rPr>
              <a:t>donated </a:t>
            </a:r>
            <a:r>
              <a:rPr sz="2400" spc="-40" dirty="0">
                <a:latin typeface="Perpetua"/>
                <a:cs typeface="Perpetua"/>
              </a:rPr>
              <a:t>at  </a:t>
            </a:r>
            <a:r>
              <a:rPr sz="2400" spc="-5" dirty="0">
                <a:latin typeface="Perpetua"/>
                <a:cs typeface="Perpetua"/>
              </a:rPr>
              <a:t>least </a:t>
            </a:r>
            <a:r>
              <a:rPr sz="2400" dirty="0">
                <a:latin typeface="Perpetua"/>
                <a:cs typeface="Perpetua"/>
              </a:rPr>
              <a:t>$500 in the past,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15" dirty="0">
                <a:latin typeface="Perpetua"/>
                <a:cs typeface="Perpetua"/>
              </a:rPr>
              <a:t>lives </a:t>
            </a:r>
            <a:r>
              <a:rPr sz="2400" dirty="0">
                <a:latin typeface="Perpetua"/>
                <a:cs typeface="Perpetua"/>
              </a:rPr>
              <a:t>in either </a:t>
            </a:r>
            <a:r>
              <a:rPr sz="2400" spc="-30" dirty="0">
                <a:latin typeface="Perpetua"/>
                <a:cs typeface="Perpetua"/>
              </a:rPr>
              <a:t>NewYork </a:t>
            </a:r>
            <a:r>
              <a:rPr sz="2400" dirty="0">
                <a:latin typeface="Perpetua"/>
                <a:cs typeface="Perpetua"/>
              </a:rPr>
              <a:t>or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California.</a:t>
            </a:r>
            <a:endParaRPr sz="2400">
              <a:latin typeface="Perpetua"/>
              <a:cs typeface="Perpetua"/>
            </a:endParaRPr>
          </a:p>
          <a:p>
            <a:pPr marL="285750" indent="-273685" algn="just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86385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appropriate </a:t>
            </a:r>
            <a:r>
              <a:rPr sz="2400" dirty="0">
                <a:latin typeface="Perpetua"/>
                <a:cs typeface="Perpetua"/>
              </a:rPr>
              <a:t>SQL </a:t>
            </a:r>
            <a:r>
              <a:rPr sz="2400" spc="5" dirty="0">
                <a:latin typeface="Perpetua"/>
                <a:cs typeface="Perpetua"/>
              </a:rPr>
              <a:t>query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expressed</a:t>
            </a:r>
            <a:r>
              <a:rPr sz="2400" spc="-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as: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561340" lvl="1" indent="-274955">
              <a:lnSpc>
                <a:spcPct val="100000"/>
              </a:lnSpc>
              <a:buSzPct val="8055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1800" spc="-15" dirty="0">
                <a:latin typeface="Perpetua"/>
                <a:cs typeface="Perpetua"/>
              </a:rPr>
              <a:t>Only </a:t>
            </a:r>
            <a:r>
              <a:rPr sz="1800" spc="-25" dirty="0">
                <a:latin typeface="Perpetua"/>
                <a:cs typeface="Perpetua"/>
              </a:rPr>
              <a:t>two </a:t>
            </a:r>
            <a:r>
              <a:rPr sz="1800" spc="5" dirty="0">
                <a:latin typeface="Perpetua"/>
                <a:cs typeface="Perpetua"/>
              </a:rPr>
              <a:t>such donors: </a:t>
            </a:r>
            <a:r>
              <a:rPr sz="1800" dirty="0">
                <a:latin typeface="Perpetua"/>
                <a:cs typeface="Perpetua"/>
              </a:rPr>
              <a:t>Helen </a:t>
            </a:r>
            <a:r>
              <a:rPr sz="1800" spc="-10" dirty="0">
                <a:latin typeface="Perpetua"/>
                <a:cs typeface="Perpetua"/>
              </a:rPr>
              <a:t>Lobby </a:t>
            </a:r>
            <a:r>
              <a:rPr sz="1800" dirty="0">
                <a:latin typeface="Perpetua"/>
                <a:cs typeface="Perpetua"/>
              </a:rPr>
              <a:t>and </a:t>
            </a:r>
            <a:r>
              <a:rPr sz="1800" spc="5" dirty="0">
                <a:latin typeface="Perpetua"/>
                <a:cs typeface="Perpetua"/>
              </a:rPr>
              <a:t>Reggie</a:t>
            </a:r>
            <a:r>
              <a:rPr sz="1800" spc="-17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Green.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0800" y="2971800"/>
            <a:ext cx="48768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09800" y="5181600"/>
            <a:ext cx="5410200" cy="38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52600" y="3048000"/>
            <a:ext cx="5638800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7340" y="373107"/>
            <a:ext cx="8224520" cy="2672080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292100" indent="-280035">
              <a:lnSpc>
                <a:spcPct val="100000"/>
              </a:lnSpc>
              <a:spcBef>
                <a:spcPts val="158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5" dirty="0">
                <a:latin typeface="Perpetua"/>
                <a:cs typeface="Perpetua"/>
              </a:rPr>
              <a:t>Write </a:t>
            </a:r>
            <a:r>
              <a:rPr sz="2800" i="1" spc="-5" dirty="0">
                <a:latin typeface="Perpetua"/>
                <a:cs typeface="Perpetua"/>
              </a:rPr>
              <a:t>SQL query </a:t>
            </a:r>
            <a:r>
              <a:rPr sz="2800" i="1" spc="-25" dirty="0">
                <a:latin typeface="Perpetua"/>
                <a:cs typeface="Perpetua"/>
              </a:rPr>
              <a:t>for </a:t>
            </a:r>
            <a:r>
              <a:rPr sz="2800" i="1" spc="-5" dirty="0">
                <a:latin typeface="Perpetua"/>
                <a:cs typeface="Perpetua"/>
              </a:rPr>
              <a:t>the </a:t>
            </a:r>
            <a:r>
              <a:rPr sz="2800" i="1" spc="-15" dirty="0">
                <a:latin typeface="Perpetua"/>
                <a:cs typeface="Perpetua"/>
              </a:rPr>
              <a:t>given</a:t>
            </a:r>
            <a:r>
              <a:rPr sz="2800" i="1" spc="25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database</a:t>
            </a:r>
            <a:endParaRPr sz="2800">
              <a:latin typeface="Perpetua"/>
              <a:cs typeface="Perpetua"/>
            </a:endParaRPr>
          </a:p>
          <a:p>
            <a:pPr marL="513715" marR="5080" indent="-20320" algn="just">
              <a:lnSpc>
                <a:spcPct val="100000"/>
              </a:lnSpc>
              <a:spcBef>
                <a:spcPts val="1160"/>
              </a:spcBef>
            </a:pPr>
            <a:r>
              <a:rPr sz="2200" i="1" spc="-5" dirty="0">
                <a:latin typeface="Perpetua"/>
                <a:cs typeface="Perpetua"/>
              </a:rPr>
              <a:t>Consider the </a:t>
            </a:r>
            <a:r>
              <a:rPr sz="2200" i="1" spc="-15" dirty="0">
                <a:latin typeface="Perpetua"/>
                <a:cs typeface="Perpetua"/>
              </a:rPr>
              <a:t>following </a:t>
            </a:r>
            <a:r>
              <a:rPr sz="2200" i="1" spc="-5" dirty="0">
                <a:latin typeface="Perpetua"/>
                <a:cs typeface="Perpetua"/>
              </a:rPr>
              <a:t>database table. The database is used </a:t>
            </a:r>
            <a:r>
              <a:rPr sz="2200" i="1" spc="-35" dirty="0">
                <a:latin typeface="Perpetua"/>
                <a:cs typeface="Perpetua"/>
              </a:rPr>
              <a:t>by </a:t>
            </a:r>
            <a:r>
              <a:rPr sz="2200" i="1" spc="-5" dirty="0">
                <a:latin typeface="Perpetua"/>
                <a:cs typeface="Perpetua"/>
              </a:rPr>
              <a:t>a </a:t>
            </a:r>
            <a:r>
              <a:rPr sz="2200" i="1" spc="-10" dirty="0">
                <a:latin typeface="Perpetua"/>
                <a:cs typeface="Perpetua"/>
              </a:rPr>
              <a:t>local </a:t>
            </a:r>
            <a:r>
              <a:rPr sz="2200" i="1" spc="-5" dirty="0">
                <a:latin typeface="Perpetua"/>
                <a:cs typeface="Perpetua"/>
              </a:rPr>
              <a:t>club </a:t>
            </a:r>
            <a:r>
              <a:rPr sz="2200" i="1" dirty="0">
                <a:latin typeface="Perpetua"/>
                <a:cs typeface="Perpetua"/>
              </a:rPr>
              <a:t>to </a:t>
            </a:r>
            <a:r>
              <a:rPr sz="2200" i="1" spc="-25" dirty="0">
                <a:latin typeface="Perpetua"/>
                <a:cs typeface="Perpetua"/>
              </a:rPr>
              <a:t>track </a:t>
            </a:r>
            <a:r>
              <a:rPr sz="2200" i="1" spc="-10" dirty="0">
                <a:latin typeface="Perpetua"/>
                <a:cs typeface="Perpetua"/>
              </a:rPr>
              <a:t>its  members. </a:t>
            </a:r>
            <a:r>
              <a:rPr sz="2200" i="1" spc="-5" dirty="0">
                <a:latin typeface="Perpetua"/>
                <a:cs typeface="Perpetua"/>
              </a:rPr>
              <a:t>The </a:t>
            </a:r>
            <a:r>
              <a:rPr sz="2200" i="1" spc="-30" dirty="0">
                <a:latin typeface="Perpetua"/>
                <a:cs typeface="Perpetua"/>
              </a:rPr>
              <a:t>Paid </a:t>
            </a:r>
            <a:r>
              <a:rPr sz="2200" i="1" spc="-5" dirty="0">
                <a:latin typeface="Perpetua"/>
                <a:cs typeface="Perpetua"/>
              </a:rPr>
              <a:t>column indicates </a:t>
            </a:r>
            <a:r>
              <a:rPr sz="2200" i="1" spc="-10" dirty="0">
                <a:latin typeface="Perpetua"/>
                <a:cs typeface="Perpetua"/>
              </a:rPr>
              <a:t>whether </a:t>
            </a:r>
            <a:r>
              <a:rPr sz="2200" i="1" spc="-5" dirty="0">
                <a:latin typeface="Perpetua"/>
                <a:cs typeface="Perpetua"/>
              </a:rPr>
              <a:t>a person </a:t>
            </a:r>
            <a:r>
              <a:rPr sz="2200" i="1" spc="-10" dirty="0">
                <a:latin typeface="Perpetua"/>
                <a:cs typeface="Perpetua"/>
              </a:rPr>
              <a:t>has </a:t>
            </a:r>
            <a:r>
              <a:rPr sz="2200" i="1" dirty="0">
                <a:latin typeface="Perpetua"/>
                <a:cs typeface="Perpetua"/>
              </a:rPr>
              <a:t>paid </a:t>
            </a:r>
            <a:r>
              <a:rPr sz="2200" i="1" spc="-5" dirty="0">
                <a:latin typeface="Perpetua"/>
                <a:cs typeface="Perpetua"/>
              </a:rPr>
              <a:t>dues </a:t>
            </a:r>
            <a:r>
              <a:rPr sz="2200" i="1" spc="-20" dirty="0">
                <a:latin typeface="Perpetua"/>
                <a:cs typeface="Perpetua"/>
              </a:rPr>
              <a:t>for </a:t>
            </a:r>
            <a:r>
              <a:rPr sz="2200" i="1" spc="-5" dirty="0">
                <a:latin typeface="Perpetua"/>
                <a:cs typeface="Perpetua"/>
              </a:rPr>
              <a:t>this </a:t>
            </a:r>
            <a:r>
              <a:rPr sz="2200" i="1" spc="-30" dirty="0">
                <a:latin typeface="Perpetua"/>
                <a:cs typeface="Perpetua"/>
              </a:rPr>
              <a:t>year, </a:t>
            </a:r>
            <a:r>
              <a:rPr sz="2200" i="1" spc="-5" dirty="0">
                <a:latin typeface="Perpetua"/>
                <a:cs typeface="Perpetua"/>
              </a:rPr>
              <a:t>the  Gender column has the entry </a:t>
            </a:r>
            <a:r>
              <a:rPr sz="2200" i="1" spc="5" dirty="0">
                <a:latin typeface="Perpetua"/>
                <a:cs typeface="Perpetua"/>
              </a:rPr>
              <a:t>‘U’ </a:t>
            </a:r>
            <a:r>
              <a:rPr sz="2200" i="1" spc="-20" dirty="0">
                <a:latin typeface="Perpetua"/>
                <a:cs typeface="Perpetua"/>
              </a:rPr>
              <a:t>for </a:t>
            </a:r>
            <a:r>
              <a:rPr sz="2200" i="1" spc="-5" dirty="0">
                <a:latin typeface="Perpetua"/>
                <a:cs typeface="Perpetua"/>
              </a:rPr>
              <a:t>those members </a:t>
            </a:r>
            <a:r>
              <a:rPr sz="2200" i="1" spc="-25" dirty="0">
                <a:latin typeface="Perpetua"/>
                <a:cs typeface="Perpetua"/>
              </a:rPr>
              <a:t>who </a:t>
            </a:r>
            <a:r>
              <a:rPr sz="2200" i="1" spc="-30" dirty="0">
                <a:latin typeface="Perpetua"/>
                <a:cs typeface="Perpetua"/>
              </a:rPr>
              <a:t>have </a:t>
            </a:r>
            <a:r>
              <a:rPr sz="2200" i="1" spc="-5" dirty="0">
                <a:latin typeface="Perpetua"/>
                <a:cs typeface="Perpetua"/>
              </a:rPr>
              <a:t>signed </a:t>
            </a:r>
            <a:r>
              <a:rPr sz="2200" i="1" dirty="0">
                <a:latin typeface="Perpetua"/>
                <a:cs typeface="Perpetua"/>
              </a:rPr>
              <a:t>up </a:t>
            </a:r>
            <a:r>
              <a:rPr sz="2200" i="1" spc="-10" dirty="0">
                <a:latin typeface="Perpetua"/>
                <a:cs typeface="Perpetua"/>
              </a:rPr>
              <a:t>but </a:t>
            </a:r>
            <a:r>
              <a:rPr sz="2200" i="1" spc="-5" dirty="0">
                <a:latin typeface="Perpetua"/>
                <a:cs typeface="Perpetua"/>
              </a:rPr>
              <a:t>not </a:t>
            </a:r>
            <a:r>
              <a:rPr sz="2200" i="1" spc="-15" dirty="0">
                <a:latin typeface="Perpetua"/>
                <a:cs typeface="Perpetua"/>
              </a:rPr>
              <a:t>yet  </a:t>
            </a:r>
            <a:r>
              <a:rPr sz="2200" i="1" spc="-10" dirty="0">
                <a:latin typeface="Perpetua"/>
                <a:cs typeface="Perpetua"/>
              </a:rPr>
              <a:t>provided </a:t>
            </a:r>
            <a:r>
              <a:rPr sz="2200" i="1" spc="-5" dirty="0">
                <a:latin typeface="Perpetua"/>
                <a:cs typeface="Perpetua"/>
              </a:rPr>
              <a:t>their </a:t>
            </a:r>
            <a:r>
              <a:rPr sz="2200" i="1" spc="-15" dirty="0">
                <a:latin typeface="Perpetua"/>
                <a:cs typeface="Perpetua"/>
              </a:rPr>
              <a:t>gender</a:t>
            </a:r>
            <a:r>
              <a:rPr sz="2200" i="1" spc="65" dirty="0">
                <a:latin typeface="Perpetua"/>
                <a:cs typeface="Perpetua"/>
              </a:rPr>
              <a:t> </a:t>
            </a:r>
            <a:r>
              <a:rPr sz="2200" i="1" spc="-5" dirty="0">
                <a:latin typeface="Perpetua"/>
                <a:cs typeface="Perpetua"/>
              </a:rPr>
              <a:t>information.</a:t>
            </a:r>
            <a:endParaRPr sz="2200">
              <a:latin typeface="Perpetua"/>
              <a:cs typeface="Perpetua"/>
            </a:endParaRPr>
          </a:p>
          <a:p>
            <a:pPr marL="260350" algn="ctr">
              <a:lnSpc>
                <a:spcPct val="100000"/>
              </a:lnSpc>
              <a:spcBef>
                <a:spcPts val="2110"/>
              </a:spcBef>
            </a:pPr>
            <a:r>
              <a:rPr sz="1800" dirty="0">
                <a:latin typeface="Perpetua"/>
                <a:cs typeface="Perpetua"/>
              </a:rPr>
              <a:t>Local club</a:t>
            </a:r>
            <a:r>
              <a:rPr sz="1800" spc="-3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table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9521" y="304915"/>
            <a:ext cx="1133100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16381"/>
            <a:ext cx="8531225" cy="4308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marR="5715" indent="-273050">
              <a:lnSpc>
                <a:spcPct val="100000"/>
              </a:lnSpc>
              <a:spcBef>
                <a:spcPts val="95"/>
              </a:spcBef>
              <a:buSzPct val="83928"/>
              <a:buFont typeface="Wingdings"/>
              <a:buChar char=""/>
              <a:tabLst>
                <a:tab pos="285750" algn="l"/>
              </a:tabLst>
            </a:pPr>
            <a:r>
              <a:rPr sz="2800" i="1" spc="-65" dirty="0">
                <a:latin typeface="Perpetua"/>
                <a:cs typeface="Perpetua"/>
              </a:rPr>
              <a:t>For </a:t>
            </a:r>
            <a:r>
              <a:rPr sz="2800" i="1" dirty="0">
                <a:latin typeface="Perpetua"/>
                <a:cs typeface="Perpetua"/>
              </a:rPr>
              <a:t>each </a:t>
            </a:r>
            <a:r>
              <a:rPr sz="2800" i="1" spc="-5" dirty="0">
                <a:latin typeface="Perpetua"/>
                <a:cs typeface="Perpetua"/>
              </a:rPr>
              <a:t>of the </a:t>
            </a:r>
            <a:r>
              <a:rPr sz="2800" i="1" spc="-15" dirty="0">
                <a:latin typeface="Perpetua"/>
                <a:cs typeface="Perpetua"/>
              </a:rPr>
              <a:t>following </a:t>
            </a:r>
            <a:r>
              <a:rPr sz="2800" i="1" spc="10" dirty="0">
                <a:latin typeface="Perpetua"/>
                <a:cs typeface="Perpetua"/>
              </a:rPr>
              <a:t>criteria, </a:t>
            </a:r>
            <a:r>
              <a:rPr sz="2800" i="1" spc="5" dirty="0">
                <a:latin typeface="Perpetua"/>
                <a:cs typeface="Perpetua"/>
              </a:rPr>
              <a:t>write </a:t>
            </a:r>
            <a:r>
              <a:rPr sz="2800" i="1" spc="-5" dirty="0">
                <a:latin typeface="Perpetua"/>
                <a:cs typeface="Perpetua"/>
              </a:rPr>
              <a:t>an SQL query </a:t>
            </a:r>
            <a:r>
              <a:rPr sz="2800" i="1" dirty="0">
                <a:latin typeface="Perpetua"/>
                <a:cs typeface="Perpetua"/>
              </a:rPr>
              <a:t>to </a:t>
            </a:r>
            <a:r>
              <a:rPr sz="2800" i="1" spc="-20" dirty="0">
                <a:latin typeface="Perpetua"/>
                <a:cs typeface="Perpetua"/>
              </a:rPr>
              <a:t>generate </a:t>
            </a:r>
            <a:r>
              <a:rPr sz="2800" i="1" spc="-5" dirty="0">
                <a:latin typeface="Perpetua"/>
                <a:cs typeface="Perpetua"/>
              </a:rPr>
              <a:t>the  </a:t>
            </a:r>
            <a:r>
              <a:rPr sz="2800" i="1" spc="-10" dirty="0">
                <a:latin typeface="Perpetua"/>
                <a:cs typeface="Perpetua"/>
              </a:rPr>
              <a:t>desired</a:t>
            </a:r>
            <a:r>
              <a:rPr sz="2800" i="1" spc="10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result.</a:t>
            </a:r>
            <a:endParaRPr sz="2800">
              <a:latin typeface="Perpetua"/>
              <a:cs typeface="Perpetua"/>
            </a:endParaRPr>
          </a:p>
          <a:p>
            <a:pPr marL="625475" lvl="1" indent="-293370">
              <a:lnSpc>
                <a:spcPct val="100000"/>
              </a:lnSpc>
              <a:spcBef>
                <a:spcPts val="430"/>
              </a:spcBef>
              <a:buAutoNum type="alphaLcPeriod"/>
              <a:tabLst>
                <a:tab pos="626110" algn="l"/>
              </a:tabLst>
            </a:pPr>
            <a:r>
              <a:rPr sz="2600" i="1" spc="-5" dirty="0">
                <a:latin typeface="Perpetua"/>
                <a:cs typeface="Perpetua"/>
              </a:rPr>
              <a:t>The first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last name of </a:t>
            </a:r>
            <a:r>
              <a:rPr sz="2600" i="1" dirty="0">
                <a:latin typeface="Perpetua"/>
                <a:cs typeface="Perpetua"/>
              </a:rPr>
              <a:t>all </a:t>
            </a:r>
            <a:r>
              <a:rPr sz="2600" i="1" spc="-5" dirty="0">
                <a:latin typeface="Perpetua"/>
                <a:cs typeface="Perpetua"/>
              </a:rPr>
              <a:t>female</a:t>
            </a:r>
            <a:r>
              <a:rPr sz="2600" i="1" spc="-3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members.</a:t>
            </a:r>
            <a:endParaRPr sz="2600">
              <a:latin typeface="Perpetua"/>
              <a:cs typeface="Perpetua"/>
            </a:endParaRPr>
          </a:p>
          <a:p>
            <a:pPr marL="590550" lvl="1" indent="-258445">
              <a:lnSpc>
                <a:spcPct val="100000"/>
              </a:lnSpc>
              <a:spcBef>
                <a:spcPts val="409"/>
              </a:spcBef>
              <a:buAutoNum type="alphaLcPeriod"/>
              <a:tabLst>
                <a:tab pos="591185" algn="l"/>
              </a:tabLst>
            </a:pPr>
            <a:r>
              <a:rPr sz="2600" i="1" spc="-5" dirty="0">
                <a:latin typeface="Perpetua"/>
                <a:cs typeface="Perpetua"/>
              </a:rPr>
              <a:t>The e-mail addresses of those members </a:t>
            </a:r>
            <a:r>
              <a:rPr sz="2600" i="1" spc="-15" dirty="0">
                <a:latin typeface="Perpetua"/>
                <a:cs typeface="Perpetua"/>
              </a:rPr>
              <a:t>who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dirty="0">
                <a:latin typeface="Perpetua"/>
                <a:cs typeface="Perpetua"/>
              </a:rPr>
              <a:t>paid </a:t>
            </a:r>
            <a:r>
              <a:rPr sz="2600" i="1" spc="-5" dirty="0">
                <a:latin typeface="Perpetua"/>
                <a:cs typeface="Perpetua"/>
              </a:rPr>
              <a:t>their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dues.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395"/>
              </a:spcBef>
              <a:buAutoNum type="alphaLcPeriod"/>
              <a:tabLst>
                <a:tab pos="584835" algn="l"/>
              </a:tabLst>
            </a:pPr>
            <a:r>
              <a:rPr sz="2600" i="1" spc="-5" dirty="0">
                <a:latin typeface="Perpetua"/>
                <a:cs typeface="Perpetua"/>
              </a:rPr>
              <a:t>The e-mail addresses of </a:t>
            </a:r>
            <a:r>
              <a:rPr sz="2600" i="1" dirty="0">
                <a:latin typeface="Perpetua"/>
                <a:cs typeface="Perpetua"/>
              </a:rPr>
              <a:t>those </a:t>
            </a:r>
            <a:r>
              <a:rPr sz="2600" i="1" spc="-5" dirty="0">
                <a:latin typeface="Perpetua"/>
                <a:cs typeface="Perpetua"/>
              </a:rPr>
              <a:t>members under 21 </a:t>
            </a:r>
            <a:r>
              <a:rPr sz="2600" i="1" spc="-15" dirty="0">
                <a:latin typeface="Perpetua"/>
                <a:cs typeface="Perpetua"/>
              </a:rPr>
              <a:t>who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dirty="0">
                <a:latin typeface="Perpetua"/>
                <a:cs typeface="Perpetua"/>
              </a:rPr>
              <a:t>paid their  </a:t>
            </a:r>
            <a:r>
              <a:rPr sz="2600" i="1" spc="-10" dirty="0">
                <a:latin typeface="Perpetua"/>
                <a:cs typeface="Perpetua"/>
              </a:rPr>
              <a:t>dues.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400"/>
              </a:spcBef>
              <a:buAutoNum type="alphaLcPeriod"/>
              <a:tabLst>
                <a:tab pos="622935" algn="l"/>
              </a:tabLst>
            </a:pP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first and </a:t>
            </a:r>
            <a:r>
              <a:rPr sz="2600" i="1" spc="-5" dirty="0">
                <a:latin typeface="Perpetua"/>
                <a:cs typeface="Perpetua"/>
              </a:rPr>
              <a:t>last name of </a:t>
            </a:r>
            <a:r>
              <a:rPr sz="2600" i="1" dirty="0">
                <a:latin typeface="Perpetua"/>
                <a:cs typeface="Perpetua"/>
              </a:rPr>
              <a:t>all </a:t>
            </a:r>
            <a:r>
              <a:rPr sz="2600" i="1" spc="-15" dirty="0">
                <a:latin typeface="Perpetua"/>
                <a:cs typeface="Perpetua"/>
              </a:rPr>
              <a:t>who are </a:t>
            </a:r>
            <a:r>
              <a:rPr sz="2600" i="1" spc="-5" dirty="0">
                <a:latin typeface="Perpetua"/>
                <a:cs typeface="Perpetua"/>
              </a:rPr>
              <a:t>either male </a:t>
            </a:r>
            <a:r>
              <a:rPr sz="2600" i="1" spc="-10" dirty="0">
                <a:latin typeface="Perpetua"/>
                <a:cs typeface="Perpetua"/>
              </a:rPr>
              <a:t>or </a:t>
            </a:r>
            <a:r>
              <a:rPr sz="2600" i="1" spc="-35" dirty="0">
                <a:latin typeface="Perpetua"/>
                <a:cs typeface="Perpetua"/>
              </a:rPr>
              <a:t>have </a:t>
            </a:r>
            <a:r>
              <a:rPr sz="2600" i="1" dirty="0">
                <a:latin typeface="Perpetua"/>
                <a:cs typeface="Perpetua"/>
              </a:rPr>
              <a:t>an </a:t>
            </a:r>
            <a:r>
              <a:rPr sz="2600" i="1" spc="-10" dirty="0">
                <a:latin typeface="Perpetua"/>
                <a:cs typeface="Perpetua"/>
              </a:rPr>
              <a:t>unknown  </a:t>
            </a:r>
            <a:r>
              <a:rPr sz="2600" i="1" spc="-30" dirty="0">
                <a:latin typeface="Perpetua"/>
                <a:cs typeface="Perpetua"/>
              </a:rPr>
              <a:t>gender.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405"/>
              </a:spcBef>
              <a:buFont typeface="Perpetua"/>
              <a:buAutoNum type="alphaLcPeriod"/>
              <a:tabLst>
                <a:tab pos="619760" algn="l"/>
                <a:tab pos="1152525" algn="l"/>
                <a:tab pos="1967864" algn="l"/>
                <a:tab pos="2847340" algn="l"/>
                <a:tab pos="3176905" algn="l"/>
                <a:tab pos="3596004" algn="l"/>
                <a:tab pos="4999990" algn="l"/>
                <a:tab pos="6011545" algn="l"/>
                <a:tab pos="6563995" algn="l"/>
                <a:tab pos="7164070" algn="l"/>
                <a:tab pos="7563484" algn="l"/>
              </a:tabLst>
            </a:pPr>
            <a:r>
              <a:rPr dirty="0"/>
              <a:t>	</a:t>
            </a:r>
            <a:r>
              <a:rPr sz="2600" i="1" spc="-5" dirty="0">
                <a:latin typeface="Perpetua"/>
                <a:cs typeface="Perpetua"/>
              </a:rPr>
              <a:t>Th</a:t>
            </a:r>
            <a:r>
              <a:rPr sz="2600" i="1" dirty="0">
                <a:latin typeface="Perpetua"/>
                <a:cs typeface="Perpetua"/>
              </a:rPr>
              <a:t>e	e-</a:t>
            </a:r>
            <a:r>
              <a:rPr sz="2600" i="1" spc="-5" dirty="0">
                <a:latin typeface="Perpetua"/>
                <a:cs typeface="Perpetua"/>
              </a:rPr>
              <a:t>mai</a:t>
            </a:r>
            <a:r>
              <a:rPr sz="2600" i="1" dirty="0">
                <a:latin typeface="Perpetua"/>
                <a:cs typeface="Perpetua"/>
              </a:rPr>
              <a:t>l	ad</a:t>
            </a:r>
            <a:r>
              <a:rPr sz="2600" i="1" spc="-15" dirty="0">
                <a:latin typeface="Perpetua"/>
                <a:cs typeface="Perpetua"/>
              </a:rPr>
              <a:t>d</a:t>
            </a:r>
            <a:r>
              <a:rPr sz="2600" i="1" spc="-25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ess	</a:t>
            </a:r>
            <a:r>
              <a:rPr sz="2600" i="1" spc="-5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f	all	due</a:t>
            </a:r>
            <a:r>
              <a:rPr sz="2600" i="1" spc="-15" dirty="0">
                <a:latin typeface="Perpetua"/>
                <a:cs typeface="Perpetua"/>
              </a:rPr>
              <a:t>s</a:t>
            </a:r>
            <a:r>
              <a:rPr sz="2600" i="1" dirty="0">
                <a:latin typeface="Perpetua"/>
                <a:cs typeface="Perpetua"/>
              </a:rPr>
              <a:t>-p</a:t>
            </a:r>
            <a:r>
              <a:rPr sz="2600" i="1" spc="-75" dirty="0">
                <a:latin typeface="Perpetua"/>
                <a:cs typeface="Perpetua"/>
              </a:rPr>
              <a:t>a</a:t>
            </a:r>
            <a:r>
              <a:rPr sz="2600" i="1" spc="-5" dirty="0">
                <a:latin typeface="Perpetua"/>
                <a:cs typeface="Perpetua"/>
              </a:rPr>
              <a:t>yi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dirty="0">
                <a:latin typeface="Perpetua"/>
                <a:cs typeface="Perpetua"/>
              </a:rPr>
              <a:t>g	</a:t>
            </a:r>
            <a:r>
              <a:rPr sz="2600" i="1" spc="-5" dirty="0">
                <a:latin typeface="Perpetua"/>
                <a:cs typeface="Perpetua"/>
              </a:rPr>
              <a:t>me</a:t>
            </a:r>
            <a:r>
              <a:rPr sz="2600" i="1" spc="-15" dirty="0">
                <a:latin typeface="Perpetua"/>
                <a:cs typeface="Perpetua"/>
              </a:rPr>
              <a:t>m</a:t>
            </a:r>
            <a:r>
              <a:rPr sz="2600" i="1" spc="-5" dirty="0">
                <a:latin typeface="Perpetua"/>
                <a:cs typeface="Perpetua"/>
              </a:rPr>
              <a:t>be</a:t>
            </a:r>
            <a:r>
              <a:rPr sz="2600" i="1" dirty="0">
                <a:latin typeface="Perpetua"/>
                <a:cs typeface="Perpetua"/>
              </a:rPr>
              <a:t>rs	</a:t>
            </a:r>
            <a:r>
              <a:rPr sz="2600" i="1" spc="-45" dirty="0">
                <a:latin typeface="Perpetua"/>
                <a:cs typeface="Perpetua"/>
              </a:rPr>
              <a:t>w</a:t>
            </a:r>
            <a:r>
              <a:rPr sz="2600" i="1" dirty="0">
                <a:latin typeface="Perpetua"/>
                <a:cs typeface="Perpetua"/>
              </a:rPr>
              <a:t>ho	h</a:t>
            </a:r>
            <a:r>
              <a:rPr sz="2600" i="1" spc="-80" dirty="0">
                <a:latin typeface="Perpetua"/>
                <a:cs typeface="Perpetua"/>
              </a:rPr>
              <a:t>a</a:t>
            </a:r>
            <a:r>
              <a:rPr sz="2600" i="1" spc="-45" dirty="0">
                <a:latin typeface="Perpetua"/>
                <a:cs typeface="Perpetua"/>
              </a:rPr>
              <a:t>v</a:t>
            </a:r>
            <a:r>
              <a:rPr sz="2600" i="1" dirty="0">
                <a:latin typeface="Perpetua"/>
                <a:cs typeface="Perpetua"/>
              </a:rPr>
              <a:t>e	</a:t>
            </a:r>
            <a:r>
              <a:rPr sz="2600" i="1" spc="-5" dirty="0">
                <a:latin typeface="Perpetua"/>
                <a:cs typeface="Perpetua"/>
              </a:rPr>
              <a:t>a</a:t>
            </a:r>
            <a:r>
              <a:rPr sz="2600" i="1" dirty="0">
                <a:latin typeface="Perpetua"/>
                <a:cs typeface="Perpetua"/>
              </a:rPr>
              <a:t>n	u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spc="-5" dirty="0">
                <a:latin typeface="Perpetua"/>
                <a:cs typeface="Perpetua"/>
              </a:rPr>
              <a:t>k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spc="-40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wn  </a:t>
            </a:r>
            <a:r>
              <a:rPr sz="2600" i="1" spc="-30" dirty="0">
                <a:latin typeface="Perpetua"/>
                <a:cs typeface="Perpetua"/>
              </a:rPr>
              <a:t>gender.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07574"/>
            <a:ext cx="5188585" cy="124904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pc="-10" dirty="0"/>
              <a:t>What </a:t>
            </a:r>
            <a:r>
              <a:rPr spc="-5" dirty="0"/>
              <a:t>has been</a:t>
            </a:r>
            <a:r>
              <a:rPr spc="-20" dirty="0"/>
              <a:t> </a:t>
            </a:r>
            <a:r>
              <a:rPr dirty="0"/>
              <a:t>described?</a:t>
            </a:r>
          </a:p>
          <a:p>
            <a:pPr marL="88900">
              <a:lnSpc>
                <a:spcPct val="100000"/>
              </a:lnSpc>
              <a:spcBef>
                <a:spcPts val="680"/>
              </a:spcBef>
            </a:pPr>
            <a:r>
              <a:rPr sz="2600" i="0" spc="-25" dirty="0">
                <a:latin typeface="Perpetua"/>
                <a:cs typeface="Perpetua"/>
              </a:rPr>
              <a:t>How </a:t>
            </a:r>
            <a:r>
              <a:rPr sz="2600" i="0" spc="-5" dirty="0">
                <a:latin typeface="Perpetua"/>
                <a:cs typeface="Perpetua"/>
              </a:rPr>
              <a:t>to </a:t>
            </a:r>
            <a:r>
              <a:rPr sz="2600" i="0" spc="-15" dirty="0">
                <a:latin typeface="Perpetua"/>
                <a:cs typeface="Perpetua"/>
              </a:rPr>
              <a:t>apply </a:t>
            </a:r>
            <a:r>
              <a:rPr sz="2600" i="0" dirty="0">
                <a:latin typeface="Perpetua"/>
                <a:cs typeface="Perpetua"/>
              </a:rPr>
              <a:t>simple </a:t>
            </a:r>
            <a:r>
              <a:rPr sz="2600" i="0" spc="-5" dirty="0">
                <a:latin typeface="Perpetua"/>
                <a:cs typeface="Perpetua"/>
              </a:rPr>
              <a:t>propositional </a:t>
            </a:r>
            <a:r>
              <a:rPr sz="2600" i="0" spc="5" dirty="0">
                <a:latin typeface="Perpetua"/>
                <a:cs typeface="Perpetua"/>
              </a:rPr>
              <a:t>logic</a:t>
            </a:r>
            <a:r>
              <a:rPr sz="2600" i="0" spc="25" dirty="0">
                <a:latin typeface="Perpetua"/>
                <a:cs typeface="Perpetua"/>
              </a:rPr>
              <a:t> </a:t>
            </a:r>
            <a:r>
              <a:rPr sz="2600" i="0" spc="-5" dirty="0">
                <a:latin typeface="Perpetua"/>
                <a:cs typeface="Perpetua"/>
              </a:rPr>
              <a:t>to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2484" y="2353182"/>
            <a:ext cx="3115945" cy="2212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latin typeface="Perpetua"/>
                <a:cs typeface="Perpetua"/>
              </a:rPr>
              <a:t>Query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engines.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latin typeface="Perpetua"/>
                <a:cs typeface="Perpetua"/>
              </a:rPr>
              <a:t>Design </a:t>
            </a:r>
            <a:r>
              <a:rPr sz="2600" spc="5" dirty="0">
                <a:latin typeface="Perpetua"/>
                <a:cs typeface="Perpetua"/>
              </a:rPr>
              <a:t>digital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circuits.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latin typeface="Perpetua"/>
                <a:cs typeface="Perpetua"/>
              </a:rPr>
              <a:t>Query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databases.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8828" y="5653227"/>
            <a:ext cx="3816985" cy="986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5" dirty="0">
                <a:latin typeface="Perpetua"/>
                <a:cs typeface="Perpetua"/>
              </a:rPr>
              <a:t>Credits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  <a:hlinkClick r:id="rId2"/>
              </a:rPr>
              <a:t>http://www.wordstream.com/articles/internet-search-engines-history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  <a:hlinkClick r:id="rId3"/>
              </a:rPr>
              <a:t>http://www.facstaff.bucknell.edu/mastascu/elessonshtml/Logic/Logic1.html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dirty="0">
                <a:latin typeface="Perpetua"/>
                <a:cs typeface="Perpetua"/>
              </a:rPr>
              <a:t>Discrete Structures ,CMSC </a:t>
            </a:r>
            <a:r>
              <a:rPr sz="1050" i="1" spc="-5" dirty="0">
                <a:latin typeface="Perpetua"/>
                <a:cs typeface="Perpetua"/>
              </a:rPr>
              <a:t>2123;</a:t>
            </a:r>
            <a:r>
              <a:rPr sz="1050" i="1" spc="-100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cs2.uco.edu/~trt/cs2123/L002.pdf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  <a:hlinkClick r:id="rId4"/>
              </a:rPr>
              <a:t>http://databases.about.com/od/access/a/Microsoft-Access-2013-Fundamentals.html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Google</a:t>
            </a:r>
            <a:r>
              <a:rPr sz="1050" i="1" spc="-10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images</a:t>
            </a:r>
            <a:endParaRPr sz="105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24400" y="1981200"/>
            <a:ext cx="3797807" cy="3124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1000" y="228600"/>
            <a:ext cx="533400" cy="5726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686AE8-BF01-4AB8-8FB7-4D97128C4225}"/>
</file>

<file path=customXml/itemProps2.xml><?xml version="1.0" encoding="utf-8"?>
<ds:datastoreItem xmlns:ds="http://schemas.openxmlformats.org/officeDocument/2006/customXml" ds:itemID="{ECA0F980-95D9-46B0-BD93-E5CA87A77AC5}"/>
</file>

<file path=customXml/itemProps3.xml><?xml version="1.0" encoding="utf-8"?>
<ds:datastoreItem xmlns:ds="http://schemas.openxmlformats.org/officeDocument/2006/customXml" ds:itemID="{8B9A0C45-15B2-4AF7-B39D-66E65C2E5E8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3161</Words>
  <Application>Microsoft Office PowerPoint</Application>
  <PresentationFormat>On-screen Show (4:3)</PresentationFormat>
  <Paragraphs>352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Slide 1</vt:lpstr>
      <vt:lpstr>Objectives</vt:lpstr>
      <vt:lpstr>1. Search Engine</vt:lpstr>
      <vt:lpstr>Top 10 Internet search engines</vt:lpstr>
      <vt:lpstr>Querying</vt:lpstr>
      <vt:lpstr>Search Query</vt:lpstr>
      <vt:lpstr>Conjunction in Search Queries</vt:lpstr>
      <vt:lpstr>Conjunction in Search Queries contd---</vt:lpstr>
      <vt:lpstr>Disjunction in Search Queries</vt:lpstr>
      <vt:lpstr>Negation in Search Queries</vt:lpstr>
      <vt:lpstr>Note…</vt:lpstr>
      <vt:lpstr>2. Digital Logic</vt:lpstr>
      <vt:lpstr>Think Binary!</vt:lpstr>
      <vt:lpstr>Operations on Logic Signals</vt:lpstr>
      <vt:lpstr>Electrical circuits that implement AND and OR</vt:lpstr>
      <vt:lpstr>Logical gates</vt:lpstr>
      <vt:lpstr>Truth Table</vt:lpstr>
      <vt:lpstr>Schematic notation for Boolean logic gates</vt:lpstr>
      <vt:lpstr>Control two pumps</vt:lpstr>
      <vt:lpstr>More logic gates…</vt:lpstr>
      <vt:lpstr>Slide 21</vt:lpstr>
      <vt:lpstr>Compound Boolean Proposition</vt:lpstr>
      <vt:lpstr>Try it yourself</vt:lpstr>
      <vt:lpstr>Solution</vt:lpstr>
      <vt:lpstr>Solution</vt:lpstr>
      <vt:lpstr>Note…</vt:lpstr>
      <vt:lpstr>Try it yourself</vt:lpstr>
      <vt:lpstr>Try it yourself</vt:lpstr>
      <vt:lpstr>Simple gates using combinations</vt:lpstr>
      <vt:lpstr>SIMPLIFY THE FOLLOWING CIRCUIT</vt:lpstr>
      <vt:lpstr>Answer</vt:lpstr>
      <vt:lpstr>Truth Table for the following Logic</vt:lpstr>
      <vt:lpstr>Truth Table for the following Logic</vt:lpstr>
      <vt:lpstr>3. Database Queries</vt:lpstr>
      <vt:lpstr>A list of large databases</vt:lpstr>
      <vt:lpstr>Eg. A professional baker</vt:lpstr>
      <vt:lpstr>Eg. A political lobbyist</vt:lpstr>
      <vt:lpstr>Slide 38</vt:lpstr>
      <vt:lpstr>Querying the database</vt:lpstr>
      <vt:lpstr>Structured Query Language</vt:lpstr>
      <vt:lpstr>To select the names of donors who have  contributed at least $500</vt:lpstr>
      <vt:lpstr>A compound logical predicate</vt:lpstr>
      <vt:lpstr>Try it yourself</vt:lpstr>
      <vt:lpstr>Solution</vt:lpstr>
      <vt:lpstr>Slide 45</vt:lpstr>
      <vt:lpstr>Slide 46</vt:lpstr>
      <vt:lpstr>What has been described? How to apply simple propositional logic to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1</cp:revision>
  <dcterms:created xsi:type="dcterms:W3CDTF">2020-09-07T07:07:01Z</dcterms:created>
  <dcterms:modified xsi:type="dcterms:W3CDTF">2021-10-03T05:54:32Z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