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357886"/>
            <a:ext cx="85293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22301"/>
            <a:ext cx="8529319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434" y="1433525"/>
            <a:ext cx="8533130" cy="4786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1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http://www.eecs.qmul.ac.uk/~pc/research/education/puzzles/read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r>
              <a:rPr sz="4400" dirty="0">
                <a:latin typeface="Perpetua"/>
                <a:cs typeface="Perpetua"/>
              </a:rPr>
              <a:t>3.2</a:t>
            </a: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spc="10" dirty="0">
                <a:latin typeface="Perpetua"/>
                <a:cs typeface="Perpetua"/>
              </a:rPr>
              <a:t>Searching</a:t>
            </a:r>
            <a:r>
              <a:rPr sz="4400" spc="-545" dirty="0">
                <a:latin typeface="Perpetua"/>
                <a:cs typeface="Perpetua"/>
              </a:rPr>
              <a:t> </a:t>
            </a:r>
            <a:r>
              <a:rPr sz="4400" spc="-50" dirty="0">
                <a:latin typeface="Perpetua"/>
                <a:cs typeface="Perpetua"/>
              </a:rPr>
              <a:t>Techniques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195781"/>
            <a:ext cx="227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Perpetua"/>
                <a:cs typeface="Perpetua"/>
              </a:rPr>
              <a:t>Object</a:t>
            </a:r>
            <a:r>
              <a:rPr b="1" spc="-70" dirty="0">
                <a:latin typeface="Perpetua"/>
                <a:cs typeface="Perpetua"/>
              </a:rPr>
              <a:t>i</a:t>
            </a:r>
            <a:r>
              <a:rPr b="1" spc="-85" dirty="0">
                <a:latin typeface="Perpetua"/>
                <a:cs typeface="Perpetua"/>
              </a:rPr>
              <a:t>v</a:t>
            </a:r>
            <a:r>
              <a:rPr b="1" spc="-10" dirty="0">
                <a:latin typeface="Perpetua"/>
                <a:cs typeface="Perpetua"/>
              </a:rPr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831975"/>
            <a:ext cx="7844790" cy="45199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7020" marR="6350" indent="-274955">
              <a:lnSpc>
                <a:spcPct val="80000"/>
              </a:lnSpc>
              <a:spcBef>
                <a:spcPts val="72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2193925" algn="l"/>
              </a:tabLst>
            </a:pPr>
            <a:r>
              <a:rPr sz="2600" spc="-170" dirty="0">
                <a:latin typeface="Perpetua"/>
                <a:cs typeface="Perpetua"/>
              </a:rPr>
              <a:t>To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understand	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searching is </a:t>
            </a:r>
            <a:r>
              <a:rPr sz="2600" spc="5" dirty="0">
                <a:latin typeface="Perpetua"/>
                <a:cs typeface="Perpetua"/>
              </a:rPr>
              <a:t>performed </a:t>
            </a:r>
            <a:r>
              <a:rPr sz="2600" dirty="0">
                <a:latin typeface="Perpetua"/>
                <a:cs typeface="Perpetua"/>
              </a:rPr>
              <a:t>using the </a:t>
            </a:r>
            <a:r>
              <a:rPr sz="2600" spc="-5" dirty="0">
                <a:latin typeface="Perpetua"/>
                <a:cs typeface="Perpetua"/>
              </a:rPr>
              <a:t>intuitive  linear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observe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limitations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linear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7020" marR="5080" indent="-274955">
              <a:lnSpc>
                <a:spcPts val="25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736600" algn="l"/>
                <a:tab pos="2221230" algn="l"/>
                <a:tab pos="2884170" algn="l"/>
                <a:tab pos="3885565" algn="l"/>
                <a:tab pos="4415790" algn="l"/>
                <a:tab pos="5845810" algn="l"/>
                <a:tab pos="6865620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de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h</a:t>
            </a:r>
            <a:r>
              <a:rPr sz="2600" spc="-8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	ha</a:t>
            </a:r>
            <a:r>
              <a:rPr sz="2600" spc="-20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ving	the	p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tion	ena</a:t>
            </a:r>
            <a:r>
              <a:rPr sz="2600" spc="-4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le</a:t>
            </a:r>
            <a:r>
              <a:rPr sz="2600" dirty="0">
                <a:latin typeface="Perpetua"/>
                <a:cs typeface="Perpetua"/>
              </a:rPr>
              <a:t>s	ef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icient  </a:t>
            </a:r>
            <a:r>
              <a:rPr sz="2600" spc="-20" dirty="0">
                <a:latin typeface="Perpetua"/>
                <a:cs typeface="Perpetua"/>
              </a:rPr>
              <a:t>searching.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Binary search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7020" marR="6350" indent="-274955">
              <a:lnSpc>
                <a:spcPts val="25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  <a:tab pos="709295" algn="l"/>
                <a:tab pos="2265680" algn="l"/>
                <a:tab pos="3144520" algn="l"/>
                <a:tab pos="5995035" algn="l"/>
                <a:tab pos="7082155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o</a:t>
            </a:r>
            <a:r>
              <a:rPr sz="2600" spc="-15" dirty="0">
                <a:latin typeface="Perpetua"/>
                <a:cs typeface="Perpetua"/>
              </a:rPr>
              <a:t>bs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105" dirty="0">
                <a:latin typeface="Perpetua"/>
                <a:cs typeface="Perpetua"/>
              </a:rPr>
              <a:t>r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 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	use 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</a:t>
            </a:r>
            <a:r>
              <a:rPr sz="2600" spc="-20" dirty="0">
                <a:latin typeface="Perpetua"/>
                <a:cs typeface="Perpetua"/>
              </a:rPr>
              <a:t>d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ta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sition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	the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00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	sear</a:t>
            </a:r>
            <a:r>
              <a:rPr sz="2600" spc="2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  </a:t>
            </a:r>
            <a:r>
              <a:rPr sz="2600" spc="-5" dirty="0">
                <a:latin typeface="Perpetua"/>
                <a:cs typeface="Perpetua"/>
              </a:rPr>
              <a:t>techniques.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228600"/>
            <a:ext cx="1426768" cy="1047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89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10" dirty="0"/>
              <a:t>Pack </a:t>
            </a:r>
            <a:r>
              <a:rPr spc="-5" dirty="0"/>
              <a:t>of</a:t>
            </a:r>
            <a:r>
              <a:rPr spc="-110" dirty="0"/>
              <a:t> </a:t>
            </a:r>
            <a:r>
              <a:rPr dirty="0"/>
              <a:t>cards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661400" cy="4976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3525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60755" algn="l"/>
                <a:tab pos="1209040" algn="l"/>
                <a:tab pos="2248535" algn="l"/>
                <a:tab pos="4315460" algn="l"/>
                <a:tab pos="6503034" algn="l"/>
                <a:tab pos="7094220" algn="l"/>
                <a:tab pos="8281670" algn="l"/>
              </a:tabLst>
            </a:pPr>
            <a:r>
              <a:rPr sz="2600" spc="-280" dirty="0">
                <a:latin typeface="Perpetua"/>
                <a:cs typeface="Perpetua"/>
              </a:rPr>
              <a:t>T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45" dirty="0">
                <a:latin typeface="Perpetua"/>
                <a:cs typeface="Perpetua"/>
              </a:rPr>
              <a:t>k</a:t>
            </a:r>
            <a:r>
              <a:rPr sz="2600" dirty="0">
                <a:latin typeface="Perpetua"/>
                <a:cs typeface="Perpetua"/>
              </a:rPr>
              <a:t>e	a	p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 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rd</a:t>
            </a:r>
            <a:r>
              <a:rPr sz="2600" spc="-5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. 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Shu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fle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	tho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ou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h</a:t>
            </a:r>
            <a:r>
              <a:rPr sz="2600" spc="-50" dirty="0">
                <a:latin typeface="Perpetua"/>
                <a:cs typeface="Perpetua"/>
              </a:rPr>
              <a:t>l</a:t>
            </a:r>
            <a:r>
              <a:rPr sz="2600" spc="-280" dirty="0">
                <a:latin typeface="Perpetua"/>
                <a:cs typeface="Perpetua"/>
              </a:rPr>
              <a:t>y</a:t>
            </a:r>
            <a:r>
              <a:rPr sz="2600" dirty="0">
                <a:latin typeface="Perpetua"/>
                <a:cs typeface="Perpetua"/>
              </a:rPr>
              <a:t>. 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8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	fi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the 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spc="-8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r	</a:t>
            </a:r>
            <a:r>
              <a:rPr sz="2600" spc="-10" dirty="0">
                <a:latin typeface="Perpetua"/>
                <a:cs typeface="Perpetua"/>
              </a:rPr>
              <a:t>of  Spades.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did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do</a:t>
            </a:r>
            <a:r>
              <a:rPr sz="2600" i="1" spc="-5" dirty="0">
                <a:latin typeface="Perpetua"/>
                <a:cs typeface="Perpetua"/>
              </a:rPr>
              <a:t> it?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Put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card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shuffle the </a:t>
            </a:r>
            <a:r>
              <a:rPr sz="2600" spc="10" dirty="0">
                <a:latin typeface="Perpetua"/>
                <a:cs typeface="Perpetua"/>
              </a:rPr>
              <a:t>pack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again.</a:t>
            </a:r>
            <a:endParaRPr sz="2600">
              <a:latin typeface="Perpetua"/>
              <a:cs typeface="Perpetua"/>
            </a:endParaRPr>
          </a:p>
          <a:p>
            <a:pPr marL="361315" indent="-34925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find the Nine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Hearts.</a:t>
            </a:r>
            <a:endParaRPr sz="2600">
              <a:latin typeface="Perpetua"/>
              <a:cs typeface="Perpetua"/>
            </a:endParaRPr>
          </a:p>
          <a:p>
            <a:pPr marL="304165" marR="2081530" lvl="1" indent="-304165" algn="r">
              <a:lnSpc>
                <a:spcPct val="100000"/>
              </a:lnSpc>
              <a:spcBef>
                <a:spcPts val="409"/>
              </a:spcBef>
              <a:buSzPct val="80769"/>
              <a:buFont typeface="Wingdings"/>
              <a:buChar char=""/>
              <a:tabLst>
                <a:tab pos="304165" algn="l"/>
              </a:tabLst>
            </a:pPr>
            <a:r>
              <a:rPr sz="2600" i="1" dirty="0">
                <a:latin typeface="Perpetua"/>
                <a:cs typeface="Perpetua"/>
              </a:rPr>
              <a:t>Did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look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card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same </a:t>
            </a:r>
            <a:r>
              <a:rPr sz="2600" i="1" spc="-45" dirty="0">
                <a:latin typeface="Perpetua"/>
                <a:cs typeface="Perpetua"/>
              </a:rPr>
              <a:t>way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first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time?</a:t>
            </a:r>
            <a:endParaRPr sz="2600">
              <a:latin typeface="Perpetua"/>
              <a:cs typeface="Perpetua"/>
            </a:endParaRPr>
          </a:p>
          <a:p>
            <a:pPr marL="348615" marR="2170430" indent="-348615" algn="r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48615" algn="l"/>
                <a:tab pos="349250" algn="l"/>
              </a:tabLst>
            </a:pPr>
            <a:r>
              <a:rPr sz="2600" spc="-5" dirty="0">
                <a:latin typeface="Perpetua"/>
                <a:cs typeface="Perpetua"/>
              </a:rPr>
              <a:t>Suppose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card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0" dirty="0">
                <a:latin typeface="Perpetua"/>
                <a:cs typeface="Perpetua"/>
              </a:rPr>
              <a:t>were </a:t>
            </a:r>
            <a:r>
              <a:rPr sz="2600" spc="-5" dirty="0">
                <a:latin typeface="Perpetua"/>
                <a:cs typeface="Perpetua"/>
              </a:rPr>
              <a:t>looking for </a:t>
            </a:r>
            <a:r>
              <a:rPr sz="2600" spc="-10" dirty="0">
                <a:latin typeface="Perpetua"/>
                <a:cs typeface="Perpetua"/>
              </a:rPr>
              <a:t>was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missing.</a:t>
            </a:r>
            <a:endParaRPr sz="2600">
              <a:latin typeface="Perpetua"/>
              <a:cs typeface="Perpetua"/>
            </a:endParaRPr>
          </a:p>
          <a:p>
            <a:pPr marL="228600" marR="2080895" lvl="1" indent="-228600" algn="r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22860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5" dirty="0">
                <a:latin typeface="Perpetua"/>
                <a:cs typeface="Perpetua"/>
              </a:rPr>
              <a:t>discovered 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spc="-15" dirty="0">
                <a:latin typeface="Perpetua"/>
                <a:cs typeface="Perpetua"/>
              </a:rPr>
              <a:t>fact </a:t>
            </a:r>
            <a:r>
              <a:rPr sz="2600" i="1" spc="-10" dirty="0">
                <a:latin typeface="Perpetua"/>
                <a:cs typeface="Perpetua"/>
              </a:rPr>
              <a:t>when</a:t>
            </a:r>
            <a:r>
              <a:rPr sz="2600" i="1" spc="7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searching?</a:t>
            </a:r>
            <a:endParaRPr sz="2600">
              <a:latin typeface="Perpetua"/>
              <a:cs typeface="Perpetua"/>
            </a:endParaRPr>
          </a:p>
          <a:p>
            <a:pPr marL="561340" marR="133985" lvl="1" indent="-228600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At </a:t>
            </a:r>
            <a:r>
              <a:rPr sz="2600" i="1" spc="-20" dirty="0">
                <a:latin typeface="Perpetua"/>
                <a:cs typeface="Perpetua"/>
              </a:rPr>
              <a:t>what </a:t>
            </a:r>
            <a:r>
              <a:rPr sz="2600" i="1" spc="-5" dirty="0">
                <a:latin typeface="Perpetua"/>
                <a:cs typeface="Perpetua"/>
              </a:rPr>
              <a:t>point in the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40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known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10" dirty="0">
                <a:latin typeface="Perpetua"/>
                <a:cs typeface="Perpetua"/>
              </a:rPr>
              <a:t>certain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the card 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5" dirty="0">
                <a:latin typeface="Perpetua"/>
                <a:cs typeface="Perpetua"/>
              </a:rPr>
              <a:t>not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there?</a:t>
            </a:r>
            <a:endParaRPr sz="2600">
              <a:latin typeface="Perpetua"/>
              <a:cs typeface="Perpetua"/>
            </a:endParaRPr>
          </a:p>
          <a:p>
            <a:pPr marL="4063365" lvl="2" indent="-240665">
              <a:lnSpc>
                <a:spcPct val="100000"/>
              </a:lnSpc>
              <a:spcBef>
                <a:spcPts val="1490"/>
              </a:spcBef>
              <a:buSzPct val="95833"/>
              <a:buFont typeface="Wingdings"/>
              <a:buChar char=""/>
              <a:tabLst>
                <a:tab pos="4064000" algn="l"/>
              </a:tabLst>
            </a:pPr>
            <a:r>
              <a:rPr sz="2400" i="1" dirty="0">
                <a:latin typeface="Perpetua"/>
                <a:cs typeface="Perpetua"/>
              </a:rPr>
              <a:t>Did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use a </a:t>
            </a:r>
            <a:r>
              <a:rPr sz="2400" i="1" spc="-10" dirty="0">
                <a:latin typeface="Perpetua"/>
                <a:cs typeface="Perpetua"/>
              </a:rPr>
              <a:t>methodical </a:t>
            </a:r>
            <a:r>
              <a:rPr sz="2400" i="1" spc="-50" dirty="0">
                <a:latin typeface="Perpetua"/>
                <a:cs typeface="Perpetua"/>
              </a:rPr>
              <a:t>way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10" dirty="0">
                <a:latin typeface="Perpetua"/>
                <a:cs typeface="Perpetua"/>
              </a:rPr>
              <a:t>find </a:t>
            </a:r>
            <a:r>
              <a:rPr sz="2400" i="1" spc="-5" dirty="0">
                <a:latin typeface="Perpetua"/>
                <a:cs typeface="Perpetua"/>
              </a:rPr>
              <a:t>the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card?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62366" y="347689"/>
            <a:ext cx="2168490" cy="1072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1792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Sear</a:t>
            </a:r>
            <a:r>
              <a:rPr spc="80" dirty="0"/>
              <a:t>c</a:t>
            </a:r>
            <a:r>
              <a:rPr spc="-5" dirty="0"/>
              <a:t>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71474"/>
            <a:ext cx="8530590" cy="56076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 algn="just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5" dirty="0">
                <a:latin typeface="Perpetua"/>
                <a:cs typeface="Perpetua"/>
              </a:rPr>
              <a:t>algorithm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method for </a:t>
            </a:r>
            <a:r>
              <a:rPr sz="2600" dirty="0">
                <a:latin typeface="Perpetua"/>
                <a:cs typeface="Perpetua"/>
              </a:rPr>
              <a:t>examining a group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dirty="0">
                <a:latin typeface="Perpetua"/>
                <a:cs typeface="Perpetua"/>
              </a:rPr>
              <a:t>items in  order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find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dirty="0">
                <a:latin typeface="Perpetua"/>
                <a:cs typeface="Perpetua"/>
              </a:rPr>
              <a:t>item with some </a:t>
            </a:r>
            <a:r>
              <a:rPr sz="2600" spc="5" dirty="0">
                <a:latin typeface="Perpetua"/>
                <a:cs typeface="Perpetua"/>
              </a:rPr>
              <a:t>particular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property.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Most people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card in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shuffled </a:t>
            </a:r>
            <a:r>
              <a:rPr sz="2600" i="1" spc="-10" dirty="0">
                <a:latin typeface="Perpetua"/>
                <a:cs typeface="Perpetua"/>
              </a:rPr>
              <a:t>pack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5" dirty="0">
                <a:latin typeface="Perpetua"/>
                <a:cs typeface="Perpetua"/>
              </a:rPr>
              <a:t>starting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dirty="0">
                <a:latin typeface="Perpetua"/>
                <a:cs typeface="Perpetua"/>
              </a:rPr>
              <a:t>end 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pack,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0" dirty="0">
                <a:latin typeface="Perpetua"/>
                <a:cs typeface="Perpetua"/>
              </a:rPr>
              <a:t>checking </a:t>
            </a:r>
            <a:r>
              <a:rPr sz="2600" i="1" dirty="0">
                <a:latin typeface="Perpetua"/>
                <a:cs typeface="Perpetua"/>
              </a:rPr>
              <a:t>the cards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one until </a:t>
            </a:r>
            <a:r>
              <a:rPr sz="2600" i="1" dirty="0">
                <a:latin typeface="Perpetua"/>
                <a:cs typeface="Perpetua"/>
              </a:rPr>
              <a:t>they </a:t>
            </a:r>
            <a:r>
              <a:rPr sz="2600" i="1" spc="-5" dirty="0">
                <a:latin typeface="Perpetua"/>
                <a:cs typeface="Perpetua"/>
              </a:rPr>
              <a:t>came across </a:t>
            </a:r>
            <a:r>
              <a:rPr sz="2600" i="1" dirty="0">
                <a:latin typeface="Perpetua"/>
                <a:cs typeface="Perpetua"/>
              </a:rPr>
              <a:t>the card  </a:t>
            </a:r>
            <a:r>
              <a:rPr sz="2600" i="1" spc="-5" dirty="0">
                <a:latin typeface="Perpetua"/>
                <a:cs typeface="Perpetua"/>
              </a:rPr>
              <a:t>they </a:t>
            </a:r>
            <a:r>
              <a:rPr sz="2600" i="1" spc="-15" dirty="0">
                <a:latin typeface="Perpetua"/>
                <a:cs typeface="Perpetua"/>
              </a:rPr>
              <a:t>were </a:t>
            </a:r>
            <a:r>
              <a:rPr sz="2600" i="1" spc="-5" dirty="0">
                <a:latin typeface="Perpetua"/>
                <a:cs typeface="Perpetua"/>
              </a:rPr>
              <a:t>looking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5" dirty="0">
                <a:latin typeface="Perpetua"/>
                <a:cs typeface="Perpetua"/>
              </a:rPr>
              <a:t>for.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ts val="2810"/>
              </a:lnSpc>
              <a:spcBef>
                <a:spcPts val="59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Suppose </a:t>
            </a:r>
            <a:r>
              <a:rPr sz="2600" i="1" spc="-15" dirty="0">
                <a:latin typeface="Perpetua"/>
                <a:cs typeface="Perpetua"/>
              </a:rPr>
              <a:t>you were </a:t>
            </a:r>
            <a:r>
              <a:rPr sz="2600" i="1" spc="-10" dirty="0">
                <a:latin typeface="Perpetua"/>
                <a:cs typeface="Perpetua"/>
              </a:rPr>
              <a:t>given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stack </a:t>
            </a:r>
            <a:r>
              <a:rPr sz="2600" i="1" spc="-5" dirty="0">
                <a:latin typeface="Perpetua"/>
                <a:cs typeface="Perpetua"/>
              </a:rPr>
              <a:t>of 500 </a:t>
            </a:r>
            <a:r>
              <a:rPr sz="2600" i="1" spc="-30" dirty="0">
                <a:latin typeface="Perpetua"/>
                <a:cs typeface="Perpetua"/>
              </a:rPr>
              <a:t>award </a:t>
            </a:r>
            <a:r>
              <a:rPr sz="2600" i="1" dirty="0">
                <a:latin typeface="Perpetua"/>
                <a:cs typeface="Perpetua"/>
              </a:rPr>
              <a:t>certificates and </a:t>
            </a:r>
            <a:r>
              <a:rPr sz="2600" i="1" spc="-5" dirty="0">
                <a:latin typeface="Perpetua"/>
                <a:cs typeface="Perpetua"/>
              </a:rPr>
              <a:t>told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one of  the </a:t>
            </a:r>
            <a:r>
              <a:rPr sz="2600" i="1" spc="-20" dirty="0">
                <a:latin typeface="Perpetua"/>
                <a:cs typeface="Perpetua"/>
              </a:rPr>
              <a:t>awards </a:t>
            </a:r>
            <a:r>
              <a:rPr sz="2600" i="1" spc="-5" dirty="0">
                <a:latin typeface="Perpetua"/>
                <a:cs typeface="Perpetua"/>
              </a:rPr>
              <a:t>might be </a:t>
            </a:r>
            <a:r>
              <a:rPr sz="2600" i="1" spc="-20" dirty="0">
                <a:latin typeface="Perpetua"/>
                <a:cs typeface="Perpetua"/>
              </a:rPr>
              <a:t>awarded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you.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5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75" dirty="0">
                <a:latin typeface="Perpetua"/>
                <a:cs typeface="Perpetua"/>
              </a:rPr>
              <a:t>You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dirty="0">
                <a:latin typeface="Perpetua"/>
                <a:cs typeface="Perpetua"/>
              </a:rPr>
              <a:t>proceed as </a:t>
            </a:r>
            <a:r>
              <a:rPr sz="2600" i="1" spc="-15" dirty="0">
                <a:latin typeface="Perpetua"/>
                <a:cs typeface="Perpetua"/>
              </a:rPr>
              <a:t>follows </a:t>
            </a:r>
            <a:r>
              <a:rPr sz="2600" i="1" spc="-5" dirty="0">
                <a:latin typeface="Perpetua"/>
                <a:cs typeface="Perpetua"/>
              </a:rPr>
              <a:t>looking </a:t>
            </a:r>
            <a:r>
              <a:rPr sz="2600" i="1" spc="-15" dirty="0">
                <a:latin typeface="Perpetua"/>
                <a:cs typeface="Perpetua"/>
              </a:rPr>
              <a:t>for your</a:t>
            </a:r>
            <a:r>
              <a:rPr sz="2600" i="1" spc="6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certificate:</a:t>
            </a:r>
            <a:endParaRPr sz="2600">
              <a:latin typeface="Perpetua"/>
              <a:cs typeface="Perpetua"/>
            </a:endParaRPr>
          </a:p>
          <a:p>
            <a:pPr marL="561340" marR="5715" lvl="1" indent="-228600">
              <a:lnSpc>
                <a:spcPts val="2810"/>
              </a:lnSpc>
              <a:spcBef>
                <a:spcPts val="43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Step 1 </a:t>
            </a:r>
            <a:r>
              <a:rPr sz="2600" spc="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name 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top </a:t>
            </a:r>
            <a:r>
              <a:rPr sz="2600" dirty="0">
                <a:latin typeface="Perpetua"/>
                <a:cs typeface="Perpetua"/>
              </a:rPr>
              <a:t>certificate, if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name  then </a:t>
            </a:r>
            <a:r>
              <a:rPr sz="2600" spc="-5" dirty="0">
                <a:latin typeface="Perpetua"/>
                <a:cs typeface="Perpetua"/>
              </a:rPr>
              <a:t>proceed to Step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2.</a:t>
            </a:r>
            <a:endParaRPr sz="2600">
              <a:latin typeface="Perpetua"/>
              <a:cs typeface="Perpetua"/>
            </a:endParaRPr>
          </a:p>
          <a:p>
            <a:pPr marL="561340" marR="6350" lvl="1" indent="-228600">
              <a:lnSpc>
                <a:spcPts val="281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Step 2 </a:t>
            </a:r>
            <a:r>
              <a:rPr sz="2600" spc="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2nd </a:t>
            </a:r>
            <a:r>
              <a:rPr sz="2600" dirty="0">
                <a:latin typeface="Perpetua"/>
                <a:cs typeface="Perpetua"/>
              </a:rPr>
              <a:t>certificate, if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name  then </a:t>
            </a:r>
            <a:r>
              <a:rPr sz="2600" spc="-5" dirty="0">
                <a:latin typeface="Perpetua"/>
                <a:cs typeface="Perpetua"/>
              </a:rPr>
              <a:t>proceed to Step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5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…</a:t>
            </a:r>
            <a:endParaRPr sz="2600">
              <a:latin typeface="Perpetua"/>
              <a:cs typeface="Perpetua"/>
            </a:endParaRPr>
          </a:p>
          <a:p>
            <a:pPr marL="2538730" lvl="2" indent="-240665">
              <a:lnSpc>
                <a:spcPct val="100000"/>
              </a:lnSpc>
              <a:spcBef>
                <a:spcPts val="1245"/>
              </a:spcBef>
              <a:buSzPct val="95833"/>
              <a:buFont typeface="Wingdings"/>
              <a:buChar char=""/>
              <a:tabLst>
                <a:tab pos="2539365" algn="l"/>
              </a:tabLst>
            </a:pPr>
            <a:r>
              <a:rPr sz="2400" i="1" spc="-5" dirty="0">
                <a:latin typeface="Perpetua"/>
                <a:cs typeface="Perpetua"/>
              </a:rPr>
              <a:t>Searching </a:t>
            </a:r>
            <a:r>
              <a:rPr sz="2400" i="1" spc="-15" dirty="0">
                <a:latin typeface="Perpetua"/>
                <a:cs typeface="Perpetua"/>
              </a:rPr>
              <a:t>intuitively: </a:t>
            </a:r>
            <a:r>
              <a:rPr sz="2400" i="1" spc="10" dirty="0">
                <a:latin typeface="Perpetua"/>
                <a:cs typeface="Perpetua"/>
              </a:rPr>
              <a:t>Start </a:t>
            </a:r>
            <a:r>
              <a:rPr sz="2400" i="1" spc="-15" dirty="0">
                <a:latin typeface="Perpetua"/>
                <a:cs typeface="Perpetua"/>
              </a:rPr>
              <a:t>at </a:t>
            </a:r>
            <a:r>
              <a:rPr sz="2400" i="1" spc="-5" dirty="0">
                <a:latin typeface="Perpetua"/>
                <a:cs typeface="Perpetua"/>
              </a:rPr>
              <a:t>one </a:t>
            </a:r>
            <a:r>
              <a:rPr sz="2400" i="1" dirty="0">
                <a:latin typeface="Perpetua"/>
                <a:cs typeface="Perpetua"/>
              </a:rPr>
              <a:t>end </a:t>
            </a:r>
            <a:r>
              <a:rPr sz="2400" i="1" spc="-5" dirty="0">
                <a:latin typeface="Perpetua"/>
                <a:cs typeface="Perpetua"/>
              </a:rPr>
              <a:t>and search until</a:t>
            </a:r>
            <a:r>
              <a:rPr sz="2400" i="1" spc="-20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…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24625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Linear</a:t>
            </a:r>
            <a:r>
              <a:rPr spc="-55" dirty="0"/>
              <a:t> </a:t>
            </a:r>
            <a:r>
              <a:rPr spc="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3394"/>
            <a:ext cx="8543290" cy="4739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 algn="just">
              <a:lnSpc>
                <a:spcPts val="311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most </a:t>
            </a:r>
            <a:r>
              <a:rPr sz="2600" spc="-10" dirty="0">
                <a:latin typeface="Perpetua"/>
                <a:cs typeface="Perpetua"/>
              </a:rPr>
              <a:t>intuitive </a:t>
            </a:r>
            <a:r>
              <a:rPr sz="2600" spc="-5" dirty="0">
                <a:latin typeface="Perpetua"/>
                <a:cs typeface="Perpetua"/>
              </a:rPr>
              <a:t>of all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algorithms is </a:t>
            </a:r>
            <a:r>
              <a:rPr sz="2600" i="1" spc="-5" dirty="0">
                <a:latin typeface="Perpetua"/>
                <a:cs typeface="Perpetua"/>
              </a:rPr>
              <a:t>linear</a:t>
            </a:r>
            <a:r>
              <a:rPr sz="2600" i="1" spc="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search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18415" indent="-274320" algn="just">
              <a:lnSpc>
                <a:spcPts val="2500"/>
              </a:lnSpc>
              <a:spcBef>
                <a:spcPts val="58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linear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spc="-5" dirty="0">
                <a:latin typeface="Perpetua"/>
                <a:cs typeface="Perpetua"/>
              </a:rPr>
              <a:t>requires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group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items be arranged </a:t>
            </a:r>
            <a:r>
              <a:rPr sz="2600" spc="-5" dirty="0">
                <a:latin typeface="Perpetua"/>
                <a:cs typeface="Perpetua"/>
              </a:rPr>
              <a:t>one after  another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last.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62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algorithm consists </a:t>
            </a:r>
            <a:r>
              <a:rPr sz="2600" spc="-5" dirty="0">
                <a:latin typeface="Perpetua"/>
                <a:cs typeface="Perpetua"/>
              </a:rPr>
              <a:t>of examining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item, then the </a:t>
            </a:r>
            <a:r>
              <a:rPr sz="2600" spc="-5" dirty="0">
                <a:latin typeface="Perpetua"/>
                <a:cs typeface="Perpetua"/>
              </a:rPr>
              <a:t>second,  </a:t>
            </a:r>
            <a:r>
              <a:rPr sz="2600" dirty="0">
                <a:latin typeface="Perpetua"/>
                <a:cs typeface="Perpetua"/>
              </a:rPr>
              <a:t>the third, the </a:t>
            </a:r>
            <a:r>
              <a:rPr sz="2600" spc="10" dirty="0">
                <a:latin typeface="Perpetua"/>
                <a:cs typeface="Perpetua"/>
              </a:rPr>
              <a:t>fourth,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5" dirty="0">
                <a:latin typeface="Perpetua"/>
                <a:cs typeface="Perpetua"/>
              </a:rPr>
              <a:t>on, </a:t>
            </a:r>
            <a:r>
              <a:rPr sz="2600" dirty="0">
                <a:latin typeface="Perpetua"/>
                <a:cs typeface="Perpetua"/>
              </a:rPr>
              <a:t>until the </a:t>
            </a:r>
            <a:r>
              <a:rPr sz="2600" spc="-5" dirty="0">
                <a:latin typeface="Perpetua"/>
                <a:cs typeface="Perpetua"/>
              </a:rPr>
              <a:t>desired </a:t>
            </a:r>
            <a:r>
              <a:rPr sz="2600" dirty="0">
                <a:latin typeface="Perpetua"/>
                <a:cs typeface="Perpetua"/>
              </a:rPr>
              <a:t>item has </a:t>
            </a:r>
            <a:r>
              <a:rPr sz="2600" spc="-5" dirty="0">
                <a:latin typeface="Perpetua"/>
                <a:cs typeface="Perpetua"/>
              </a:rPr>
              <a:t>been  found.</a:t>
            </a:r>
            <a:endParaRPr sz="2600">
              <a:latin typeface="Perpetua"/>
              <a:cs typeface="Perpetua"/>
            </a:endParaRPr>
          </a:p>
          <a:p>
            <a:pPr marL="286385" marR="15875" indent="-274320" algn="just">
              <a:lnSpc>
                <a:spcPct val="8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spc="-5" dirty="0">
                <a:latin typeface="Perpetua"/>
                <a:cs typeface="Perpetua"/>
              </a:rPr>
              <a:t>lining up all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things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searching </a:t>
            </a:r>
            <a:r>
              <a:rPr sz="2600" spc="-5" dirty="0">
                <a:latin typeface="Perpetua"/>
                <a:cs typeface="Perpetua"/>
              </a:rPr>
              <a:t>through and  </a:t>
            </a:r>
            <a:r>
              <a:rPr sz="2600" spc="10" dirty="0">
                <a:latin typeface="Perpetua"/>
                <a:cs typeface="Perpetua"/>
              </a:rPr>
              <a:t>checking </a:t>
            </a:r>
            <a:r>
              <a:rPr sz="2600" dirty="0">
                <a:latin typeface="Perpetua"/>
                <a:cs typeface="Perpetua"/>
              </a:rPr>
              <a:t>them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a time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dirty="0">
                <a:latin typeface="Perpetua"/>
                <a:cs typeface="Perpetua"/>
              </a:rPr>
              <a:t>end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other.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287020" indent="-274320">
              <a:lnSpc>
                <a:spcPts val="304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find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thing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looking for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can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stop</a:t>
            </a:r>
            <a:endParaRPr sz="2600">
              <a:latin typeface="Perpetua"/>
              <a:cs typeface="Perpetua"/>
            </a:endParaRPr>
          </a:p>
          <a:p>
            <a:pPr marL="2756535">
              <a:lnSpc>
                <a:spcPts val="2780"/>
              </a:lnSpc>
            </a:pPr>
            <a:r>
              <a:rPr sz="2400" dirty="0">
                <a:latin typeface="Perpetua"/>
                <a:cs typeface="Perpetua"/>
              </a:rPr>
              <a:t>noting its position so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can </a:t>
            </a:r>
            <a:r>
              <a:rPr sz="2400" spc="-5" dirty="0">
                <a:latin typeface="Perpetua"/>
                <a:cs typeface="Perpetua"/>
              </a:rPr>
              <a:t>go </a:t>
            </a:r>
            <a:r>
              <a:rPr sz="2400" dirty="0">
                <a:latin typeface="Perpetua"/>
                <a:cs typeface="Perpetua"/>
              </a:rPr>
              <a:t>straight </a:t>
            </a:r>
            <a:r>
              <a:rPr sz="2400" spc="10" dirty="0">
                <a:latin typeface="Perpetua"/>
                <a:cs typeface="Perpetua"/>
              </a:rPr>
              <a:t>back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302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get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end without finding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endParaRPr sz="2600">
              <a:latin typeface="Perpetua"/>
              <a:cs typeface="Perpetua"/>
            </a:endParaRPr>
          </a:p>
          <a:p>
            <a:pPr marL="2756535">
              <a:lnSpc>
                <a:spcPts val="2800"/>
              </a:lnSpc>
            </a:pPr>
            <a:r>
              <a:rPr sz="2400" dirty="0">
                <a:latin typeface="Perpetua"/>
                <a:cs typeface="Perpetua"/>
              </a:rPr>
              <a:t>then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20" dirty="0">
                <a:latin typeface="Perpetua"/>
                <a:cs typeface="Perpetua"/>
              </a:rPr>
              <a:t>know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5" dirty="0">
                <a:latin typeface="Perpetua"/>
                <a:cs typeface="Perpetua"/>
              </a:rPr>
              <a:t>sure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it is not </a:t>
            </a:r>
            <a:r>
              <a:rPr sz="2400" spc="-5" dirty="0">
                <a:latin typeface="Perpetua"/>
                <a:cs typeface="Perpetua"/>
              </a:rPr>
              <a:t>there </a:t>
            </a:r>
            <a:r>
              <a:rPr sz="2400" spc="-15" dirty="0">
                <a:latin typeface="Perpetua"/>
                <a:cs typeface="Perpetua"/>
              </a:rPr>
              <a:t>at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all.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828" y="6240271"/>
            <a:ext cx="3981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latin typeface="Perpetua"/>
                <a:cs typeface="Perpetua"/>
              </a:rPr>
              <a:t>A simple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20" dirty="0">
                <a:latin typeface="Perpetua"/>
                <a:cs typeface="Perpetua"/>
              </a:rPr>
              <a:t>natural </a:t>
            </a:r>
            <a:r>
              <a:rPr sz="2400" i="1" spc="-45" dirty="0">
                <a:latin typeface="Perpetua"/>
                <a:cs typeface="Perpetua"/>
              </a:rPr>
              <a:t>way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search…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937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Linear </a:t>
            </a:r>
            <a:r>
              <a:rPr spc="10" dirty="0"/>
              <a:t>search</a:t>
            </a:r>
            <a:r>
              <a:rPr spc="-40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0590" cy="4472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Linear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is so </a:t>
            </a:r>
            <a:r>
              <a:rPr sz="2600" spc="-10" dirty="0">
                <a:latin typeface="Perpetua"/>
                <a:cs typeface="Perpetua"/>
              </a:rPr>
              <a:t>commonly </a:t>
            </a:r>
            <a:r>
              <a:rPr sz="2600" dirty="0">
                <a:latin typeface="Perpetua"/>
                <a:cs typeface="Perpetua"/>
              </a:rPr>
              <a:t>used </a:t>
            </a:r>
            <a:r>
              <a:rPr sz="2600" spc="-5" dirty="0">
                <a:latin typeface="Perpetua"/>
                <a:cs typeface="Perpetua"/>
              </a:rPr>
              <a:t>because </a:t>
            </a:r>
            <a:r>
              <a:rPr sz="2600" dirty="0">
                <a:latin typeface="Perpetua"/>
                <a:cs typeface="Perpetua"/>
              </a:rPr>
              <a:t>it is simple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0" dirty="0">
                <a:latin typeface="Perpetua"/>
                <a:cs typeface="Perpetua"/>
              </a:rPr>
              <a:t>relatively  </a:t>
            </a:r>
            <a:r>
              <a:rPr sz="2600" spc="5" dirty="0">
                <a:latin typeface="Perpetua"/>
                <a:cs typeface="Perpetua"/>
              </a:rPr>
              <a:t>quick </a:t>
            </a:r>
            <a:r>
              <a:rPr sz="2600" spc="-15" dirty="0">
                <a:latin typeface="Perpetua"/>
                <a:cs typeface="Perpetua"/>
              </a:rPr>
              <a:t>provided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amount of things to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small.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natural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when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 things being searched through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spc="-15" dirty="0">
                <a:latin typeface="Perpetua"/>
                <a:cs typeface="Perpetua"/>
              </a:rPr>
              <a:t>random </a:t>
            </a:r>
            <a:r>
              <a:rPr sz="2600" i="1" spc="-25" dirty="0">
                <a:latin typeface="Perpetua"/>
                <a:cs typeface="Perpetua"/>
              </a:rPr>
              <a:t>order,</a:t>
            </a:r>
            <a:r>
              <a:rPr sz="2600" i="1" spc="-2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and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dirty="0">
                <a:latin typeface="Perpetua"/>
                <a:cs typeface="Perpetua"/>
              </a:rPr>
              <a:t>expect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things </a:t>
            </a:r>
            <a:r>
              <a:rPr sz="2600" i="1" spc="-10" dirty="0">
                <a:latin typeface="Perpetua"/>
                <a:cs typeface="Perpetua"/>
              </a:rPr>
              <a:t>very</a:t>
            </a:r>
            <a:r>
              <a:rPr sz="2600" i="1" spc="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often.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3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Does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fact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it is so common mean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that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it </a:t>
            </a:r>
            <a:r>
              <a:rPr sz="2600" i="1" spc="-5" dirty="0">
                <a:latin typeface="Perpetua"/>
                <a:cs typeface="Perpetua"/>
              </a:rPr>
              <a:t>is the </a:t>
            </a:r>
            <a:r>
              <a:rPr sz="2600" i="1" spc="-15" dirty="0">
                <a:latin typeface="Perpetua"/>
                <a:cs typeface="Perpetua"/>
              </a:rPr>
              <a:t>only </a:t>
            </a:r>
            <a:r>
              <a:rPr sz="2600" i="1" spc="-45" dirty="0">
                <a:latin typeface="Perpetua"/>
                <a:cs typeface="Perpetua"/>
              </a:rPr>
              <a:t>way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15" dirty="0">
                <a:latin typeface="Perpetua"/>
                <a:cs typeface="Perpetua"/>
              </a:rPr>
              <a:t>for things,</a:t>
            </a:r>
            <a:r>
              <a:rPr sz="2600" i="1" spc="-18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or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it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30" dirty="0">
                <a:latin typeface="Perpetua"/>
                <a:cs typeface="Perpetua"/>
              </a:rPr>
              <a:t>always </a:t>
            </a:r>
            <a:r>
              <a:rPr sz="2600" i="1" spc="-5" dirty="0">
                <a:latin typeface="Perpetua"/>
                <a:cs typeface="Perpetua"/>
              </a:rPr>
              <a:t>the best search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algorithm?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77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Simple–Yes,</a:t>
            </a:r>
            <a:r>
              <a:rPr spc="-204" dirty="0"/>
              <a:t> </a:t>
            </a:r>
            <a:r>
              <a:rPr i="1" spc="-5" dirty="0">
                <a:latin typeface="Perpetua"/>
                <a:cs typeface="Perpetua"/>
              </a:rPr>
              <a:t>Efficient</a:t>
            </a:r>
            <a:r>
              <a:rPr spc="-5" dirty="0"/>
              <a:t>?...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0590" cy="3872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715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Computers </a:t>
            </a:r>
            <a:r>
              <a:rPr sz="2600" i="1" spc="-10" dirty="0">
                <a:latin typeface="Perpetua"/>
                <a:cs typeface="Perpetua"/>
              </a:rPr>
              <a:t>store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lot of information,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they </a:t>
            </a:r>
            <a:r>
              <a:rPr sz="2600" i="1" dirty="0">
                <a:latin typeface="Perpetua"/>
                <a:cs typeface="Perpetua"/>
              </a:rPr>
              <a:t>need </a:t>
            </a:r>
            <a:r>
              <a:rPr sz="2600" i="1" spc="-5" dirty="0">
                <a:latin typeface="Perpetua"/>
                <a:cs typeface="Perpetua"/>
              </a:rPr>
              <a:t>to be </a:t>
            </a:r>
            <a:r>
              <a:rPr sz="2600" i="1" spc="-10" dirty="0">
                <a:latin typeface="Perpetua"/>
                <a:cs typeface="Perpetua"/>
              </a:rPr>
              <a:t>able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sift </a:t>
            </a:r>
            <a:r>
              <a:rPr sz="2600" i="1" spc="-5" dirty="0">
                <a:latin typeface="Perpetua"/>
                <a:cs typeface="Perpetua"/>
              </a:rPr>
              <a:t>through  it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40" dirty="0">
                <a:latin typeface="Perpetua"/>
                <a:cs typeface="Perpetua"/>
              </a:rPr>
              <a:t>quickly.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One of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biggest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10" dirty="0">
                <a:latin typeface="Perpetua"/>
                <a:cs typeface="Perpetua"/>
              </a:rPr>
              <a:t>problems </a:t>
            </a:r>
            <a:r>
              <a:rPr sz="2600" i="1" spc="-5" dirty="0">
                <a:latin typeface="Perpetua"/>
                <a:cs typeface="Perpetua"/>
              </a:rPr>
              <a:t>in the </a:t>
            </a:r>
            <a:r>
              <a:rPr sz="2600" i="1" spc="-20" dirty="0">
                <a:latin typeface="Perpetua"/>
                <a:cs typeface="Perpetua"/>
              </a:rPr>
              <a:t>world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faced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5" dirty="0">
                <a:latin typeface="Perpetua"/>
                <a:cs typeface="Perpetua"/>
              </a:rPr>
              <a:t>Internet </a:t>
            </a:r>
            <a:r>
              <a:rPr sz="2600" i="1" dirty="0">
                <a:latin typeface="Perpetua"/>
                <a:cs typeface="Perpetua"/>
              </a:rPr>
              <a:t>search  </a:t>
            </a:r>
            <a:r>
              <a:rPr sz="2600" i="1" spc="-10" dirty="0">
                <a:latin typeface="Perpetua"/>
                <a:cs typeface="Perpetua"/>
              </a:rPr>
              <a:t>engines, which </a:t>
            </a:r>
            <a:r>
              <a:rPr sz="2600" i="1" spc="-5" dirty="0">
                <a:latin typeface="Perpetua"/>
                <a:cs typeface="Perpetua"/>
              </a:rPr>
              <a:t>must </a:t>
            </a:r>
            <a:r>
              <a:rPr sz="2600" i="1" dirty="0">
                <a:latin typeface="Perpetua"/>
                <a:cs typeface="Perpetua"/>
              </a:rPr>
              <a:t>search </a:t>
            </a:r>
            <a:r>
              <a:rPr sz="2600" i="1" spc="-5" dirty="0">
                <a:latin typeface="Perpetua"/>
                <a:cs typeface="Perpetua"/>
              </a:rPr>
              <a:t>billions of web </a:t>
            </a:r>
            <a:r>
              <a:rPr sz="2600" i="1" spc="-20" dirty="0">
                <a:latin typeface="Perpetua"/>
                <a:cs typeface="Perpetua"/>
              </a:rPr>
              <a:t>pages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fraction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8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second.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Computers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process information </a:t>
            </a:r>
            <a:r>
              <a:rPr sz="2600" i="1" spc="-10" dirty="0">
                <a:latin typeface="Perpetua"/>
                <a:cs typeface="Perpetua"/>
              </a:rPr>
              <a:t>very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40" dirty="0">
                <a:latin typeface="Perpetua"/>
                <a:cs typeface="Perpetua"/>
              </a:rPr>
              <a:t>quickly.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7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might </a:t>
            </a:r>
            <a:r>
              <a:rPr sz="2600" i="1" dirty="0">
                <a:latin typeface="Perpetua"/>
                <a:cs typeface="Perpetua"/>
              </a:rPr>
              <a:t>think </a:t>
            </a:r>
            <a:r>
              <a:rPr sz="2600" i="1" spc="-5" dirty="0">
                <a:latin typeface="Perpetua"/>
                <a:cs typeface="Perpetua"/>
              </a:rPr>
              <a:t>that to find something </a:t>
            </a:r>
            <a:r>
              <a:rPr sz="2600" i="1" dirty="0">
                <a:latin typeface="Perpetua"/>
                <a:cs typeface="Perpetua"/>
              </a:rPr>
              <a:t>computers </a:t>
            </a:r>
            <a:r>
              <a:rPr sz="2600" i="1" spc="-5" dirty="0">
                <a:latin typeface="Perpetua"/>
                <a:cs typeface="Perpetua"/>
              </a:rPr>
              <a:t>should </a:t>
            </a:r>
            <a:r>
              <a:rPr sz="2600" i="1" spc="-10" dirty="0">
                <a:latin typeface="Perpetua"/>
                <a:cs typeface="Perpetua"/>
              </a:rPr>
              <a:t>just </a:t>
            </a:r>
            <a:r>
              <a:rPr sz="2600" i="1" spc="10" dirty="0">
                <a:latin typeface="Perpetua"/>
                <a:cs typeface="Perpetua"/>
              </a:rPr>
              <a:t>start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the  beginning of </a:t>
            </a:r>
            <a:r>
              <a:rPr sz="2600" i="1" dirty="0">
                <a:latin typeface="Perpetua"/>
                <a:cs typeface="Perpetua"/>
              </a:rPr>
              <a:t>their </a:t>
            </a:r>
            <a:r>
              <a:rPr sz="2600" i="1" spc="-25" dirty="0">
                <a:latin typeface="Perpetua"/>
                <a:cs typeface="Perpetua"/>
              </a:rPr>
              <a:t>storage </a:t>
            </a:r>
            <a:r>
              <a:rPr sz="2600" i="1" spc="-5" dirty="0">
                <a:latin typeface="Perpetua"/>
                <a:cs typeface="Perpetua"/>
              </a:rPr>
              <a:t>and keep looking </a:t>
            </a:r>
            <a:r>
              <a:rPr sz="2600" i="1" dirty="0">
                <a:latin typeface="Perpetua"/>
                <a:cs typeface="Perpetua"/>
              </a:rPr>
              <a:t>until the </a:t>
            </a:r>
            <a:r>
              <a:rPr sz="2600" i="1" spc="-5" dirty="0">
                <a:latin typeface="Perpetua"/>
                <a:cs typeface="Perpetua"/>
              </a:rPr>
              <a:t>desired information is  </a:t>
            </a:r>
            <a:r>
              <a:rPr sz="2600" i="1" spc="-10" dirty="0">
                <a:latin typeface="Perpetua"/>
                <a:cs typeface="Perpetua"/>
              </a:rPr>
              <a:t>found.</a:t>
            </a:r>
            <a:endParaRPr sz="26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But </a:t>
            </a:r>
            <a:r>
              <a:rPr sz="2600" i="1" spc="-5" dirty="0">
                <a:latin typeface="Perpetua"/>
                <a:cs typeface="Perpetua"/>
              </a:rPr>
              <a:t>this method is </a:t>
            </a:r>
            <a:r>
              <a:rPr sz="2600" i="1" spc="-10" dirty="0">
                <a:latin typeface="Perpetua"/>
                <a:cs typeface="Perpetua"/>
              </a:rPr>
              <a:t>very slow—even </a:t>
            </a:r>
            <a:r>
              <a:rPr sz="2600" i="1" spc="-15" dirty="0">
                <a:latin typeface="Perpetua"/>
                <a:cs typeface="Perpetua"/>
              </a:rPr>
              <a:t>for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computers.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409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Simple–Yes, </a:t>
            </a:r>
            <a:r>
              <a:rPr i="1" spc="-5" dirty="0">
                <a:latin typeface="Perpetua"/>
                <a:cs typeface="Perpetua"/>
              </a:rPr>
              <a:t>Efficient</a:t>
            </a:r>
            <a:r>
              <a:rPr spc="-5" dirty="0"/>
              <a:t>?</a:t>
            </a:r>
            <a:r>
              <a:rPr spc="-15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22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825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60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example, suppose a </a:t>
            </a:r>
            <a:r>
              <a:rPr sz="2600" i="1" spc="-5" dirty="0">
                <a:latin typeface="Perpetua"/>
                <a:cs typeface="Perpetua"/>
              </a:rPr>
              <a:t>supermarket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10" dirty="0">
                <a:latin typeface="Perpetua"/>
                <a:cs typeface="Perpetua"/>
              </a:rPr>
              <a:t>10,000 different </a:t>
            </a:r>
            <a:r>
              <a:rPr sz="2600" i="1" spc="-5" dirty="0">
                <a:latin typeface="Perpetua"/>
                <a:cs typeface="Perpetua"/>
              </a:rPr>
              <a:t>products </a:t>
            </a:r>
            <a:r>
              <a:rPr sz="2600" i="1" dirty="0">
                <a:latin typeface="Perpetua"/>
                <a:cs typeface="Perpetua"/>
              </a:rPr>
              <a:t>on </a:t>
            </a:r>
            <a:r>
              <a:rPr sz="2600" i="1" spc="-5" dirty="0">
                <a:latin typeface="Perpetua"/>
                <a:cs typeface="Perpetua"/>
              </a:rPr>
              <a:t>its  </a:t>
            </a:r>
            <a:r>
              <a:rPr sz="2600" i="1" spc="-15" dirty="0">
                <a:latin typeface="Perpetua"/>
                <a:cs typeface="Perpetua"/>
              </a:rPr>
              <a:t>shelves.</a:t>
            </a:r>
            <a:endParaRPr sz="2600">
              <a:latin typeface="Perpetua"/>
              <a:cs typeface="Perpetua"/>
            </a:endParaRPr>
          </a:p>
          <a:p>
            <a:pPr marL="561340" marR="6350" lvl="1" indent="-228600" algn="just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When a </a:t>
            </a:r>
            <a:r>
              <a:rPr sz="2600" spc="-5" dirty="0">
                <a:latin typeface="Perpetua"/>
                <a:cs typeface="Perpetua"/>
              </a:rPr>
              <a:t>bar code is scanned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a checkout, the </a:t>
            </a:r>
            <a:r>
              <a:rPr sz="2600" spc="-5" dirty="0">
                <a:latin typeface="Perpetua"/>
                <a:cs typeface="Perpetua"/>
              </a:rPr>
              <a:t>computer must  look through up to 10,000 </a:t>
            </a:r>
            <a:r>
              <a:rPr sz="2600" dirty="0">
                <a:latin typeface="Perpetua"/>
                <a:cs typeface="Perpetua"/>
              </a:rPr>
              <a:t>numbers </a:t>
            </a:r>
            <a:r>
              <a:rPr sz="2600" spc="-5" dirty="0">
                <a:latin typeface="Perpetua"/>
                <a:cs typeface="Perpetua"/>
              </a:rPr>
              <a:t>to find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product </a:t>
            </a:r>
            <a:r>
              <a:rPr sz="2600" spc="-5" dirty="0">
                <a:latin typeface="Perpetua"/>
                <a:cs typeface="Perpetua"/>
              </a:rPr>
              <a:t>name and  price.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spc="-10" dirty="0">
                <a:latin typeface="Perpetua"/>
                <a:cs typeface="Perpetua"/>
              </a:rPr>
              <a:t>Even </a:t>
            </a:r>
            <a:r>
              <a:rPr sz="2600" dirty="0">
                <a:latin typeface="Perpetua"/>
                <a:cs typeface="Perpetua"/>
              </a:rPr>
              <a:t>if it </a:t>
            </a:r>
            <a:r>
              <a:rPr sz="2600" spc="-5" dirty="0">
                <a:latin typeface="Perpetua"/>
                <a:cs typeface="Perpetua"/>
              </a:rPr>
              <a:t>takes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one thousandth 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second to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spc="10" dirty="0">
                <a:latin typeface="Perpetua"/>
                <a:cs typeface="Perpetua"/>
              </a:rPr>
              <a:t>each  </a:t>
            </a:r>
            <a:r>
              <a:rPr sz="2600" spc="-15" dirty="0">
                <a:latin typeface="Perpetua"/>
                <a:cs typeface="Perpetua"/>
              </a:rPr>
              <a:t>code, </a:t>
            </a:r>
            <a:r>
              <a:rPr sz="2600" dirty="0">
                <a:latin typeface="Perpetua"/>
                <a:cs typeface="Perpetua"/>
              </a:rPr>
              <a:t>ten </a:t>
            </a:r>
            <a:r>
              <a:rPr sz="2600" spc="-5" dirty="0">
                <a:latin typeface="Perpetua"/>
                <a:cs typeface="Perpetua"/>
              </a:rPr>
              <a:t>seconds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 needed to go through </a:t>
            </a:r>
            <a:r>
              <a:rPr sz="2600" dirty="0">
                <a:latin typeface="Perpetua"/>
                <a:cs typeface="Perpetua"/>
              </a:rPr>
              <a:t>the whole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list.</a:t>
            </a:r>
            <a:endParaRPr sz="2600">
              <a:latin typeface="Perpetua"/>
              <a:cs typeface="Perpetua"/>
            </a:endParaRPr>
          </a:p>
          <a:p>
            <a:pPr marL="1109980" marR="6350" lvl="2" indent="-228600" algn="just">
              <a:lnSpc>
                <a:spcPct val="100000"/>
              </a:lnSpc>
              <a:spcBef>
                <a:spcPts val="400"/>
              </a:spcBef>
              <a:buSzPct val="78846"/>
              <a:buFont typeface="Wingdings"/>
              <a:buChar char=""/>
              <a:tabLst>
                <a:tab pos="1110615" algn="l"/>
              </a:tabLst>
            </a:pPr>
            <a:r>
              <a:rPr sz="2600" i="1" spc="-10" dirty="0">
                <a:latin typeface="Perpetua"/>
                <a:cs typeface="Perpetua"/>
              </a:rPr>
              <a:t>Imagine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long </a:t>
            </a:r>
            <a:r>
              <a:rPr sz="2600" i="1" spc="5" dirty="0">
                <a:latin typeface="Perpetua"/>
                <a:cs typeface="Perpetua"/>
              </a:rPr>
              <a:t>it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dirty="0">
                <a:latin typeface="Perpetua"/>
                <a:cs typeface="Perpetua"/>
              </a:rPr>
              <a:t>take </a:t>
            </a:r>
            <a:r>
              <a:rPr sz="2600" i="1" spc="-5" dirty="0">
                <a:latin typeface="Perpetua"/>
                <a:cs typeface="Perpetua"/>
              </a:rPr>
              <a:t>to check out the </a:t>
            </a:r>
            <a:r>
              <a:rPr sz="2600" i="1" spc="5" dirty="0">
                <a:latin typeface="Perpetua"/>
                <a:cs typeface="Perpetua"/>
              </a:rPr>
              <a:t>groceries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a  </a:t>
            </a:r>
            <a:r>
              <a:rPr sz="2600" i="1" spc="-15" dirty="0">
                <a:latin typeface="Perpetua"/>
                <a:cs typeface="Perpetua"/>
              </a:rPr>
              <a:t>family!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969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/>
              <a:t>Search</a:t>
            </a:r>
            <a:r>
              <a:rPr spc="-75" dirty="0"/>
              <a:t> </a:t>
            </a:r>
            <a:r>
              <a:rPr spc="-50" dirty="0"/>
              <a:t>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4864"/>
            <a:ext cx="8541385" cy="436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8415" indent="-274320">
              <a:lnSpc>
                <a:spcPct val="1501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asked </a:t>
            </a:r>
            <a:r>
              <a:rPr sz="2600" spc="-5" dirty="0">
                <a:latin typeface="Perpetua"/>
                <a:cs typeface="Perpetua"/>
              </a:rPr>
              <a:t>to look </a:t>
            </a:r>
            <a:r>
              <a:rPr sz="2600" spc="-20" dirty="0">
                <a:latin typeface="Perpetua"/>
                <a:cs typeface="Perpetua"/>
              </a:rPr>
              <a:t>up, </a:t>
            </a:r>
            <a:r>
              <a:rPr sz="2600" spc="10" dirty="0">
                <a:latin typeface="Perpetua"/>
                <a:cs typeface="Perpetua"/>
              </a:rPr>
              <a:t>such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25" dirty="0">
                <a:latin typeface="Perpetua"/>
                <a:cs typeface="Perpetua"/>
              </a:rPr>
              <a:t>word,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bar  code number or an </a:t>
            </a:r>
            <a:r>
              <a:rPr sz="2600" spc="-35" dirty="0">
                <a:latin typeface="Perpetua"/>
                <a:cs typeface="Perpetua"/>
              </a:rPr>
              <a:t>author’s </a:t>
            </a:r>
            <a:r>
              <a:rPr sz="2600" spc="-15" dirty="0">
                <a:latin typeface="Perpetua"/>
                <a:cs typeface="Perpetua"/>
              </a:rPr>
              <a:t>name,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called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dirty="0">
                <a:latin typeface="Perpetua"/>
                <a:cs typeface="Perpetua"/>
              </a:rPr>
              <a:t>search</a:t>
            </a:r>
            <a:r>
              <a:rPr sz="2600" i="1" spc="-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key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847725" marR="15240" lvl="1" indent="-515620">
              <a:lnSpc>
                <a:spcPct val="150100"/>
              </a:lnSpc>
              <a:spcBef>
                <a:spcPts val="395"/>
              </a:spcBef>
              <a:buSzPct val="84615"/>
              <a:buFont typeface="Wingdings"/>
              <a:buChar char=""/>
              <a:tabLst>
                <a:tab pos="847725" algn="l"/>
                <a:tab pos="848360" algn="l"/>
              </a:tabLst>
            </a:pPr>
            <a:r>
              <a:rPr sz="2600" i="1" spc="-5" dirty="0">
                <a:latin typeface="Perpetua"/>
                <a:cs typeface="Perpetua"/>
              </a:rPr>
              <a:t>The key </a:t>
            </a:r>
            <a:r>
              <a:rPr sz="2600" i="1" dirty="0">
                <a:latin typeface="Perpetua"/>
                <a:cs typeface="Perpetua"/>
              </a:rPr>
              <a:t>could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letter someone is </a:t>
            </a:r>
            <a:r>
              <a:rPr sz="2600" i="1" dirty="0">
                <a:latin typeface="Perpetua"/>
                <a:cs typeface="Perpetua"/>
              </a:rPr>
              <a:t>thinking </a:t>
            </a:r>
            <a:r>
              <a:rPr sz="2600" i="1" spc="-20" dirty="0">
                <a:latin typeface="Perpetua"/>
                <a:cs typeface="Perpetua"/>
              </a:rPr>
              <a:t>of, </a:t>
            </a:r>
            <a:r>
              <a:rPr sz="2600" i="1" dirty="0">
                <a:latin typeface="Perpetua"/>
                <a:cs typeface="Perpetua"/>
              </a:rPr>
              <a:t>a number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list, </a:t>
            </a:r>
            <a:r>
              <a:rPr sz="2600" i="1" dirty="0">
                <a:latin typeface="Perpetua"/>
                <a:cs typeface="Perpetua"/>
              </a:rPr>
              <a:t>a  </a:t>
            </a:r>
            <a:r>
              <a:rPr sz="2600" i="1" spc="-5" dirty="0">
                <a:latin typeface="Perpetua"/>
                <a:cs typeface="Perpetua"/>
              </a:rPr>
              <a:t>film </a:t>
            </a:r>
            <a:r>
              <a:rPr sz="2600" i="1" spc="-40" dirty="0">
                <a:latin typeface="Perpetua"/>
                <a:cs typeface="Perpetua"/>
              </a:rPr>
              <a:t>star’s </a:t>
            </a:r>
            <a:r>
              <a:rPr sz="2600" i="1" spc="-10" dirty="0">
                <a:latin typeface="Perpetua"/>
                <a:cs typeface="Perpetua"/>
              </a:rPr>
              <a:t>web </a:t>
            </a:r>
            <a:r>
              <a:rPr sz="2600" i="1" spc="-20" dirty="0">
                <a:latin typeface="Perpetua"/>
                <a:cs typeface="Perpetua"/>
              </a:rPr>
              <a:t>page,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record in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15" dirty="0">
                <a:latin typeface="Perpetua"/>
                <a:cs typeface="Perpetua"/>
              </a:rPr>
              <a:t>employee</a:t>
            </a:r>
            <a:r>
              <a:rPr sz="2600" i="1" spc="-254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database.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Wingdings"/>
              <a:buChar char=""/>
            </a:pPr>
            <a:endParaRPr sz="30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50000"/>
              </a:lnSpc>
              <a:spcBef>
                <a:spcPts val="223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181735" algn="l"/>
                <a:tab pos="2599055" algn="l"/>
                <a:tab pos="3032125" algn="l"/>
                <a:tab pos="3967479" algn="l"/>
                <a:tab pos="4504690" algn="l"/>
                <a:tab pos="5121910" algn="l"/>
                <a:tab pos="5926455" algn="l"/>
                <a:tab pos="6234430" algn="l"/>
                <a:tab pos="7266305" algn="l"/>
              </a:tabLst>
            </a:pPr>
            <a:r>
              <a:rPr sz="2600" dirty="0">
                <a:latin typeface="Perpetua"/>
                <a:cs typeface="Perpetua"/>
              </a:rPr>
              <a:t>Gi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en	som</a:t>
            </a:r>
            <a:r>
              <a:rPr sz="2600" spc="-2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thing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sear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5" dirty="0">
                <a:latin typeface="Perpetua"/>
                <a:cs typeface="Perpetua"/>
              </a:rPr>
              <a:t>fo</a:t>
            </a:r>
            <a:r>
              <a:rPr sz="2600" dirty="0">
                <a:latin typeface="Perpetua"/>
                <a:cs typeface="Perpetua"/>
              </a:rPr>
              <a:t>r	(</a:t>
            </a:r>
            <a:r>
              <a:rPr sz="2600" i="1" dirty="0">
                <a:latin typeface="Perpetua"/>
                <a:cs typeface="Perpetua"/>
              </a:rPr>
              <a:t>the	‘ke</a:t>
            </a:r>
            <a:r>
              <a:rPr sz="2600" i="1" spc="-10" dirty="0">
                <a:latin typeface="Perpetua"/>
                <a:cs typeface="Perpetua"/>
              </a:rPr>
              <a:t>y’</a:t>
            </a:r>
            <a:r>
              <a:rPr sz="2600" dirty="0">
                <a:latin typeface="Perpetua"/>
                <a:cs typeface="Perpetua"/>
              </a:rPr>
              <a:t>)	a	‘sear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ith</a:t>
            </a:r>
            <a:r>
              <a:rPr sz="2600" spc="5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’  </a:t>
            </a:r>
            <a:r>
              <a:rPr sz="2600" spc="-5" dirty="0">
                <a:latin typeface="Perpetua"/>
                <a:cs typeface="Perpetua"/>
              </a:rPr>
              <a:t>guarantees to </a:t>
            </a:r>
            <a:r>
              <a:rPr sz="2600" dirty="0">
                <a:latin typeface="Perpetua"/>
                <a:cs typeface="Perpetua"/>
              </a:rPr>
              <a:t>find it… </a:t>
            </a:r>
            <a:r>
              <a:rPr sz="2600" i="1" spc="-5" dirty="0">
                <a:latin typeface="Perpetua"/>
                <a:cs typeface="Perpetua"/>
              </a:rPr>
              <a:t>if it is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there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600" y="381000"/>
            <a:ext cx="1524000" cy="140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4812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latin typeface="Perpetua"/>
                <a:cs typeface="Perpetua"/>
              </a:rPr>
              <a:t>Is </a:t>
            </a:r>
            <a:r>
              <a:rPr i="1" spc="-10" dirty="0">
                <a:latin typeface="Perpetua"/>
                <a:cs typeface="Perpetua"/>
              </a:rPr>
              <a:t>there </a:t>
            </a:r>
            <a:r>
              <a:rPr i="1" spc="-5" dirty="0">
                <a:latin typeface="Perpetua"/>
                <a:cs typeface="Perpetua"/>
              </a:rPr>
              <a:t>a </a:t>
            </a:r>
            <a:r>
              <a:rPr i="1" spc="-10" dirty="0">
                <a:latin typeface="Perpetua"/>
                <a:cs typeface="Perpetua"/>
              </a:rPr>
              <a:t>worst </a:t>
            </a:r>
            <a:r>
              <a:rPr i="1" spc="-5" dirty="0">
                <a:latin typeface="Perpetua"/>
                <a:cs typeface="Perpetua"/>
              </a:rPr>
              <a:t>case</a:t>
            </a:r>
            <a:r>
              <a:rPr i="1" spc="-10" dirty="0">
                <a:latin typeface="Perpetua"/>
                <a:cs typeface="Perpetua"/>
              </a:rPr>
              <a:t> </a:t>
            </a:r>
            <a:r>
              <a:rPr i="1" spc="5" dirty="0">
                <a:latin typeface="Perpetua"/>
                <a:cs typeface="Perpetua"/>
              </a:rPr>
              <a:t>scenario</a:t>
            </a:r>
            <a:r>
              <a:rPr spc="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1225" cy="27095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Things </a:t>
            </a:r>
            <a:r>
              <a:rPr sz="2600" dirty="0">
                <a:latin typeface="Perpetua"/>
                <a:cs typeface="Perpetua"/>
              </a:rPr>
              <a:t>certainly </a:t>
            </a:r>
            <a:r>
              <a:rPr sz="2600" spc="-5" dirty="0">
                <a:latin typeface="Perpetua"/>
                <a:cs typeface="Perpetua"/>
              </a:rPr>
              <a:t>do not </a:t>
            </a:r>
            <a:r>
              <a:rPr sz="2600" spc="-30" dirty="0">
                <a:latin typeface="Perpetua"/>
                <a:cs typeface="Perpetua"/>
              </a:rPr>
              <a:t>always </a:t>
            </a:r>
            <a:r>
              <a:rPr sz="2600" dirty="0">
                <a:latin typeface="Perpetua"/>
                <a:cs typeface="Perpetua"/>
              </a:rPr>
              <a:t>seem </a:t>
            </a:r>
            <a:r>
              <a:rPr sz="2600" spc="-5" dirty="0">
                <a:latin typeface="Perpetua"/>
                <a:cs typeface="Perpetua"/>
              </a:rPr>
              <a:t>to go as </a:t>
            </a:r>
            <a:r>
              <a:rPr sz="2600" spc="-25" dirty="0">
                <a:latin typeface="Perpetua"/>
                <a:cs typeface="Perpetua"/>
              </a:rPr>
              <a:t>well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0" dirty="0">
                <a:latin typeface="Perpetua"/>
                <a:cs typeface="Perpetua"/>
              </a:rPr>
              <a:t>they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should.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often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searched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something in one </a:t>
            </a:r>
            <a:r>
              <a:rPr sz="2600" i="1" dirty="0">
                <a:latin typeface="Perpetua"/>
                <a:cs typeface="Perpetua"/>
              </a:rPr>
              <a:t>place after </a:t>
            </a:r>
            <a:r>
              <a:rPr sz="2600" i="1" spc="-15" dirty="0">
                <a:latin typeface="Perpetua"/>
                <a:cs typeface="Perpetua"/>
              </a:rPr>
              <a:t>another, only </a:t>
            </a:r>
            <a:r>
              <a:rPr sz="2600" i="1" spc="-5" dirty="0">
                <a:latin typeface="Perpetua"/>
                <a:cs typeface="Perpetua"/>
              </a:rPr>
              <a:t>to 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the thing </a:t>
            </a:r>
            <a:r>
              <a:rPr sz="2600" i="1" spc="-15" dirty="0">
                <a:latin typeface="Perpetua"/>
                <a:cs typeface="Perpetua"/>
              </a:rPr>
              <a:t>you were </a:t>
            </a:r>
            <a:r>
              <a:rPr sz="2600" i="1" spc="-5" dirty="0">
                <a:latin typeface="Perpetua"/>
                <a:cs typeface="Perpetua"/>
              </a:rPr>
              <a:t>looking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in the </a:t>
            </a:r>
            <a:r>
              <a:rPr sz="2600" i="1" spc="-10" dirty="0">
                <a:latin typeface="Perpetua"/>
                <a:cs typeface="Perpetua"/>
              </a:rPr>
              <a:t>very </a:t>
            </a:r>
            <a:r>
              <a:rPr sz="2600" i="1" spc="-5" dirty="0">
                <a:latin typeface="Perpetua"/>
                <a:cs typeface="Perpetua"/>
              </a:rPr>
              <a:t>last place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could </a:t>
            </a:r>
            <a:r>
              <a:rPr sz="2600" i="1" spc="-10" dirty="0">
                <a:latin typeface="Perpetua"/>
                <a:cs typeface="Perpetua"/>
              </a:rPr>
              <a:t>possibly  </a:t>
            </a:r>
            <a:r>
              <a:rPr sz="2600" i="1" spc="-30" dirty="0">
                <a:latin typeface="Perpetua"/>
                <a:cs typeface="Perpetua"/>
              </a:rPr>
              <a:t>have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looked?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its </a:t>
            </a:r>
            <a:r>
              <a:rPr sz="2600" spc="-10" dirty="0">
                <a:latin typeface="Perpetua"/>
                <a:cs typeface="Perpetua"/>
              </a:rPr>
              <a:t>worst </a:t>
            </a:r>
            <a:r>
              <a:rPr sz="2600" spc="-5" dirty="0">
                <a:latin typeface="Perpetua"/>
                <a:cs typeface="Perpetua"/>
              </a:rPr>
              <a:t>case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check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everything.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80" dirty="0">
                <a:latin typeface="Perpetua"/>
                <a:cs typeface="Perpetua"/>
              </a:rPr>
              <a:t>Eg. </a:t>
            </a:r>
            <a:r>
              <a:rPr sz="2600" dirty="0">
                <a:latin typeface="Perpetua"/>
                <a:cs typeface="Perpetua"/>
              </a:rPr>
              <a:t>Find the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spc="-25" dirty="0">
                <a:latin typeface="Perpetua"/>
                <a:cs typeface="Perpetua"/>
              </a:rPr>
              <a:t>key </a:t>
            </a:r>
            <a:r>
              <a:rPr sz="2600" spc="-5" dirty="0">
                <a:latin typeface="Perpetua"/>
                <a:cs typeface="Perpetua"/>
              </a:rPr>
              <a:t>‘3’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3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{6,4,1,9,7,3,2,8}.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3400" y="4191000"/>
            <a:ext cx="3550473" cy="2339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224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An</a:t>
            </a:r>
            <a:r>
              <a:rPr spc="-7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4440555" cy="81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Eg:</a:t>
            </a:r>
            <a:r>
              <a:rPr sz="2600" spc="-2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-25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‘25’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spc="-5" dirty="0">
                <a:latin typeface="Perpetua"/>
                <a:cs typeface="Perpetua"/>
              </a:rPr>
              <a:t>{3,15,2,8,7,1,14,38,10,-2,61,5}.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2590800"/>
            <a:ext cx="6876288" cy="2992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774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Linear </a:t>
            </a:r>
            <a:r>
              <a:rPr spc="10" dirty="0"/>
              <a:t>search </a:t>
            </a:r>
            <a:r>
              <a:rPr spc="-10" dirty="0"/>
              <a:t>through </a:t>
            </a:r>
            <a:r>
              <a:rPr spc="-5" dirty="0"/>
              <a:t>a </a:t>
            </a:r>
            <a:r>
              <a:rPr spc="-10" dirty="0"/>
              <a:t>pile </a:t>
            </a:r>
            <a:r>
              <a:rPr dirty="0"/>
              <a:t>of</a:t>
            </a:r>
            <a:r>
              <a:rPr spc="5" dirty="0"/>
              <a:t> </a:t>
            </a:r>
            <a:r>
              <a:rPr spc="-5" dirty="0"/>
              <a:t>books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8255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8925" algn="l"/>
                <a:tab pos="732155" algn="l"/>
                <a:tab pos="1184910" algn="l"/>
                <a:tab pos="1908810" algn="l"/>
                <a:tab pos="3102610" algn="l"/>
                <a:tab pos="3652520" algn="l"/>
                <a:tab pos="4181475" algn="l"/>
                <a:tab pos="4728845" algn="l"/>
                <a:tab pos="5449570" algn="l"/>
                <a:tab pos="5745480" algn="l"/>
                <a:tab pos="6077585" algn="l"/>
                <a:tab pos="6477000" algn="l"/>
                <a:tab pos="7077709" algn="l"/>
                <a:tab pos="7702550" algn="l"/>
                <a:tab pos="8317230" algn="l"/>
              </a:tabLst>
            </a:pPr>
            <a:r>
              <a:rPr sz="2600" spc="-180" dirty="0"/>
              <a:t>W</a:t>
            </a:r>
            <a:r>
              <a:rPr sz="2600" dirty="0"/>
              <a:t>e	a</a:t>
            </a:r>
            <a:r>
              <a:rPr sz="2600" spc="-40" dirty="0"/>
              <a:t>r</a:t>
            </a:r>
            <a:r>
              <a:rPr sz="2600" dirty="0"/>
              <a:t>e	doi</a:t>
            </a:r>
            <a:r>
              <a:rPr sz="2600" spc="-15" dirty="0"/>
              <a:t>n</a:t>
            </a:r>
            <a:r>
              <a:rPr sz="2600" dirty="0"/>
              <a:t>g	so</a:t>
            </a:r>
            <a:r>
              <a:rPr sz="2600" spc="-15" dirty="0"/>
              <a:t>m</a:t>
            </a:r>
            <a:r>
              <a:rPr sz="2600" dirty="0"/>
              <a:t>et</a:t>
            </a:r>
            <a:r>
              <a:rPr sz="2600" spc="-15" dirty="0"/>
              <a:t>h</a:t>
            </a:r>
            <a:r>
              <a:rPr sz="2600" spc="5" dirty="0"/>
              <a:t>i</a:t>
            </a:r>
            <a:r>
              <a:rPr sz="2600" dirty="0"/>
              <a:t>ng	</a:t>
            </a:r>
            <a:r>
              <a:rPr sz="2600" spc="-40" dirty="0"/>
              <a:t>o</a:t>
            </a:r>
            <a:r>
              <a:rPr sz="2600" spc="-45" dirty="0"/>
              <a:t>v</a:t>
            </a:r>
            <a:r>
              <a:rPr sz="2600" dirty="0"/>
              <a:t>er	and	</a:t>
            </a:r>
            <a:r>
              <a:rPr sz="2600" spc="-40" dirty="0"/>
              <a:t>o</a:t>
            </a:r>
            <a:r>
              <a:rPr sz="2600" spc="-60" dirty="0"/>
              <a:t>v</a:t>
            </a:r>
            <a:r>
              <a:rPr sz="2600" dirty="0"/>
              <a:t>er	</a:t>
            </a:r>
            <a:r>
              <a:rPr sz="2600" spc="-60" dirty="0"/>
              <a:t>a</a:t>
            </a:r>
            <a:r>
              <a:rPr sz="2600" spc="-55" dirty="0"/>
              <a:t>g</a:t>
            </a:r>
            <a:r>
              <a:rPr sz="2600" dirty="0"/>
              <a:t>ain	–	</a:t>
            </a:r>
            <a:r>
              <a:rPr sz="2600" spc="-5" dirty="0"/>
              <a:t>s</a:t>
            </a:r>
            <a:r>
              <a:rPr sz="2600" dirty="0"/>
              <a:t>o	</a:t>
            </a:r>
            <a:r>
              <a:rPr sz="2600" spc="-25" dirty="0"/>
              <a:t>w</a:t>
            </a:r>
            <a:r>
              <a:rPr sz="2600" dirty="0"/>
              <a:t>e	h</a:t>
            </a:r>
            <a:r>
              <a:rPr sz="2600" spc="-80" dirty="0"/>
              <a:t>a</a:t>
            </a:r>
            <a:r>
              <a:rPr sz="2600" spc="-45" dirty="0"/>
              <a:t>v</a:t>
            </a:r>
            <a:r>
              <a:rPr sz="2600" dirty="0"/>
              <a:t>e	so</a:t>
            </a:r>
            <a:r>
              <a:rPr sz="2600" spc="-15" dirty="0"/>
              <a:t>m</a:t>
            </a:r>
            <a:r>
              <a:rPr sz="2600" dirty="0"/>
              <a:t>e	</a:t>
            </a:r>
            <a:r>
              <a:rPr sz="2600" spc="-40" dirty="0"/>
              <a:t>f</a:t>
            </a:r>
            <a:r>
              <a:rPr sz="2600" spc="-5" dirty="0"/>
              <a:t>o</a:t>
            </a:r>
            <a:r>
              <a:rPr sz="2600" spc="50" dirty="0"/>
              <a:t>r</a:t>
            </a:r>
            <a:r>
              <a:rPr sz="2600" dirty="0"/>
              <a:t>m	</a:t>
            </a:r>
            <a:r>
              <a:rPr sz="2600" spc="-5" dirty="0"/>
              <a:t>of </a:t>
            </a:r>
            <a:r>
              <a:rPr sz="2600" i="1" spc="-5" dirty="0"/>
              <a:t> repetition.</a:t>
            </a:r>
            <a:endParaRPr sz="2600"/>
          </a:p>
          <a:p>
            <a:pPr marL="288290" marR="635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8925" algn="l"/>
              </a:tabLst>
            </a:pPr>
            <a:r>
              <a:rPr sz="2600" spc="-90" dirty="0"/>
              <a:t>We </a:t>
            </a:r>
            <a:r>
              <a:rPr sz="2600" spc="-15" dirty="0"/>
              <a:t>probably </a:t>
            </a:r>
            <a:r>
              <a:rPr sz="2600" spc="-10" dirty="0"/>
              <a:t>do </a:t>
            </a:r>
            <a:r>
              <a:rPr sz="2600" spc="-5" dirty="0"/>
              <a:t>not </a:t>
            </a:r>
            <a:r>
              <a:rPr sz="2600" spc="-15" dirty="0"/>
              <a:t>know </a:t>
            </a:r>
            <a:r>
              <a:rPr sz="2600" spc="-10" dirty="0"/>
              <a:t>how </a:t>
            </a:r>
            <a:r>
              <a:rPr sz="2600" spc="-20" dirty="0"/>
              <a:t>many </a:t>
            </a:r>
            <a:r>
              <a:rPr sz="2600" spc="-5" dirty="0"/>
              <a:t>books </a:t>
            </a:r>
            <a:r>
              <a:rPr sz="2600" spc="-10" dirty="0"/>
              <a:t>there </a:t>
            </a:r>
            <a:r>
              <a:rPr sz="2600" spc="-15" dirty="0"/>
              <a:t>are </a:t>
            </a:r>
            <a:r>
              <a:rPr sz="2600" spc="-5" dirty="0"/>
              <a:t>to search through </a:t>
            </a:r>
            <a:r>
              <a:rPr sz="2600" dirty="0"/>
              <a:t>so it </a:t>
            </a:r>
            <a:r>
              <a:rPr sz="2600" spc="-5" dirty="0"/>
              <a:t>is  </a:t>
            </a:r>
            <a:r>
              <a:rPr sz="2600" i="1" spc="-5" dirty="0"/>
              <a:t>not </a:t>
            </a:r>
            <a:r>
              <a:rPr sz="2600" i="1" dirty="0"/>
              <a:t>a </a:t>
            </a:r>
            <a:r>
              <a:rPr sz="2600" i="1" spc="-5" dirty="0"/>
              <a:t>counter controlled</a:t>
            </a:r>
            <a:r>
              <a:rPr sz="2600" i="1" spc="10" dirty="0"/>
              <a:t> </a:t>
            </a:r>
            <a:r>
              <a:rPr sz="2600" i="1" spc="-30" dirty="0"/>
              <a:t>loop.</a:t>
            </a:r>
            <a:endParaRPr sz="2600"/>
          </a:p>
          <a:p>
            <a:pPr marL="288290" marR="825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98450" algn="l"/>
              </a:tabLst>
            </a:pPr>
            <a:r>
              <a:rPr sz="2600" spc="-95" dirty="0"/>
              <a:t>We </a:t>
            </a:r>
            <a:r>
              <a:rPr sz="2600" spc="-5" dirty="0"/>
              <a:t>stop if </a:t>
            </a:r>
            <a:r>
              <a:rPr sz="2600" spc="-10" dirty="0"/>
              <a:t>we </a:t>
            </a:r>
            <a:r>
              <a:rPr sz="2600" spc="-30" dirty="0"/>
              <a:t>have </a:t>
            </a:r>
            <a:r>
              <a:rPr sz="2600" spc="-10" dirty="0"/>
              <a:t>found </a:t>
            </a:r>
            <a:r>
              <a:rPr sz="2600" dirty="0"/>
              <a:t>the thing </a:t>
            </a:r>
            <a:r>
              <a:rPr sz="2600" spc="-10" dirty="0"/>
              <a:t>we are </a:t>
            </a:r>
            <a:r>
              <a:rPr sz="2600" spc="-5" dirty="0"/>
              <a:t>looking </a:t>
            </a:r>
            <a:r>
              <a:rPr sz="2600" spc="-15" dirty="0"/>
              <a:t>for </a:t>
            </a:r>
            <a:r>
              <a:rPr sz="2600" spc="5" dirty="0"/>
              <a:t>or </a:t>
            </a:r>
            <a:r>
              <a:rPr sz="2600" spc="-10" dirty="0"/>
              <a:t>we </a:t>
            </a:r>
            <a:r>
              <a:rPr sz="2600" spc="-35" dirty="0"/>
              <a:t>have </a:t>
            </a:r>
            <a:r>
              <a:rPr sz="2600" spc="10" dirty="0"/>
              <a:t>run </a:t>
            </a:r>
            <a:r>
              <a:rPr sz="2600" spc="-5" dirty="0"/>
              <a:t>out of  </a:t>
            </a:r>
            <a:r>
              <a:rPr sz="2600" i="1" spc="-5" dirty="0"/>
              <a:t>books to</a:t>
            </a:r>
            <a:r>
              <a:rPr sz="2600" i="1" spc="5" dirty="0"/>
              <a:t> </a:t>
            </a:r>
            <a:r>
              <a:rPr sz="2600" i="1" spc="-10" dirty="0"/>
              <a:t>check.</a:t>
            </a:r>
            <a:endParaRPr sz="2600"/>
          </a:p>
          <a:p>
            <a:pPr marL="288290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8925" algn="l"/>
              </a:tabLst>
            </a:pPr>
            <a:r>
              <a:rPr sz="2600" spc="-5" dirty="0"/>
              <a:t>In other </a:t>
            </a:r>
            <a:r>
              <a:rPr sz="2600" spc="-15" dirty="0"/>
              <a:t>words </a:t>
            </a:r>
            <a:r>
              <a:rPr sz="2600" spc="-10" dirty="0"/>
              <a:t>we </a:t>
            </a:r>
            <a:r>
              <a:rPr sz="2600" spc="-5" dirty="0"/>
              <a:t>keep </a:t>
            </a:r>
            <a:r>
              <a:rPr sz="2600" spc="-10" dirty="0"/>
              <a:t>going while </a:t>
            </a:r>
            <a:r>
              <a:rPr sz="2600" dirty="0"/>
              <a:t>the current </a:t>
            </a:r>
            <a:r>
              <a:rPr sz="2600" spc="-5" dirty="0"/>
              <a:t>book </a:t>
            </a:r>
            <a:r>
              <a:rPr sz="2600" spc="5" dirty="0"/>
              <a:t>is </a:t>
            </a:r>
            <a:r>
              <a:rPr sz="2600" spc="-5" dirty="0"/>
              <a:t>not the </a:t>
            </a:r>
            <a:r>
              <a:rPr sz="2600" dirty="0"/>
              <a:t>one </a:t>
            </a:r>
            <a:r>
              <a:rPr sz="2600" spc="-10" dirty="0"/>
              <a:t>we </a:t>
            </a:r>
            <a:r>
              <a:rPr sz="2600" spc="-15" dirty="0"/>
              <a:t>are </a:t>
            </a:r>
            <a:r>
              <a:rPr sz="2600" spc="555" dirty="0"/>
              <a:t> </a:t>
            </a:r>
            <a:r>
              <a:rPr sz="2600" i="1" dirty="0"/>
              <a:t>after and </a:t>
            </a:r>
            <a:r>
              <a:rPr sz="2600" i="1" spc="-10" dirty="0"/>
              <a:t>while there are </a:t>
            </a:r>
            <a:r>
              <a:rPr sz="2600" i="1" spc="-5" dirty="0"/>
              <a:t>still books to look</a:t>
            </a:r>
            <a:r>
              <a:rPr sz="2600" i="1" spc="-15" dirty="0"/>
              <a:t> </a:t>
            </a:r>
            <a:r>
              <a:rPr sz="2600" i="1" spc="-10" dirty="0"/>
              <a:t>at.</a:t>
            </a:r>
            <a:endParaRPr sz="2600"/>
          </a:p>
          <a:p>
            <a:pPr marL="5284470" lvl="1" indent="-240665">
              <a:lnSpc>
                <a:spcPct val="100000"/>
              </a:lnSpc>
              <a:spcBef>
                <a:spcPts val="2075"/>
              </a:spcBef>
              <a:buSzPct val="95833"/>
              <a:buFont typeface="Wingdings"/>
              <a:buChar char=""/>
              <a:tabLst>
                <a:tab pos="528510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repeated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task?</a:t>
            </a:r>
            <a:endParaRPr sz="2400">
              <a:latin typeface="Perpetua"/>
              <a:cs typeface="Perpetua"/>
            </a:endParaRPr>
          </a:p>
          <a:p>
            <a:pPr marL="5284470" lvl="1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528510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the loop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test?</a:t>
            </a:r>
            <a:endParaRPr sz="2400">
              <a:latin typeface="Perpetua"/>
              <a:cs typeface="Perpetua"/>
            </a:endParaRPr>
          </a:p>
          <a:p>
            <a:pPr marL="5284470" lvl="1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5285105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complete</a:t>
            </a:r>
            <a:r>
              <a:rPr sz="2400" i="1" spc="-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5029200"/>
            <a:ext cx="3886200" cy="14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77121" y="3049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2527"/>
            <a:ext cx="82334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general set </a:t>
            </a:r>
            <a:r>
              <a:rPr dirty="0"/>
              <a:t>of instructions </a:t>
            </a:r>
            <a:r>
              <a:rPr spc="-5" dirty="0"/>
              <a:t>for </a:t>
            </a:r>
            <a:r>
              <a:rPr spc="-10" dirty="0"/>
              <a:t>linear</a:t>
            </a:r>
            <a:r>
              <a:rPr spc="55" dirty="0"/>
              <a:t> </a:t>
            </a:r>
            <a:r>
              <a:rPr spc="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74089"/>
            <a:ext cx="8066405" cy="444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1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find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5" dirty="0">
                <a:latin typeface="Perpetua"/>
                <a:cs typeface="Perpetua"/>
              </a:rPr>
              <a:t>series </a:t>
            </a:r>
            <a:r>
              <a:rPr sz="2600" i="1" spc="-5" dirty="0">
                <a:latin typeface="Perpetua"/>
                <a:cs typeface="Perpetua"/>
              </a:rPr>
              <a:t>of things </a:t>
            </a:r>
            <a:r>
              <a:rPr sz="2600" b="1" dirty="0">
                <a:latin typeface="Perpetua"/>
                <a:cs typeface="Perpetua"/>
              </a:rPr>
              <a:t>do </a:t>
            </a:r>
            <a:r>
              <a:rPr sz="2600" b="1" spc="-5" dirty="0">
                <a:latin typeface="Perpetua"/>
                <a:cs typeface="Perpetua"/>
              </a:rPr>
              <a:t>the</a:t>
            </a:r>
            <a:r>
              <a:rPr sz="2600" b="1" spc="15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following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Times New Roman"/>
              <a:cs typeface="Times New Roman"/>
            </a:endParaRPr>
          </a:p>
          <a:p>
            <a:pPr marL="595630" indent="-309880">
              <a:lnSpc>
                <a:spcPts val="3010"/>
              </a:lnSpc>
              <a:buAutoNum type="arabicPeriod"/>
              <a:tabLst>
                <a:tab pos="596265" algn="l"/>
              </a:tabLst>
            </a:pPr>
            <a:r>
              <a:rPr sz="2600" dirty="0">
                <a:latin typeface="Perpetua"/>
                <a:cs typeface="Perpetua"/>
              </a:rPr>
              <a:t>Note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not found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thing</a:t>
            </a:r>
            <a:r>
              <a:rPr sz="2600" i="1" spc="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yet.</a:t>
            </a:r>
            <a:endParaRPr sz="2600">
              <a:latin typeface="Perpetua"/>
              <a:cs typeface="Perpetua"/>
            </a:endParaRPr>
          </a:p>
          <a:p>
            <a:pPr marL="595630" indent="-309880">
              <a:lnSpc>
                <a:spcPts val="2900"/>
              </a:lnSpc>
              <a:buAutoNum type="arabicPeriod"/>
              <a:tabLst>
                <a:tab pos="596265" algn="l"/>
              </a:tabLst>
            </a:pPr>
            <a:r>
              <a:rPr sz="2600" dirty="0">
                <a:latin typeface="Perpetua"/>
                <a:cs typeface="Perpetua"/>
              </a:rPr>
              <a:t>Set the current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dirty="0">
                <a:latin typeface="Perpetua"/>
                <a:cs typeface="Perpetua"/>
              </a:rPr>
              <a:t>to be the </a:t>
            </a:r>
            <a:r>
              <a:rPr sz="2600" spc="5" dirty="0">
                <a:latin typeface="Perpetua"/>
                <a:cs typeface="Perpetua"/>
              </a:rPr>
              <a:t>first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thing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96265" indent="-310515">
              <a:lnSpc>
                <a:spcPts val="2695"/>
              </a:lnSpc>
              <a:buFont typeface="Perpetua"/>
              <a:buAutoNum type="arabicPeriod"/>
              <a:tabLst>
                <a:tab pos="596900" algn="l"/>
              </a:tabLst>
            </a:pPr>
            <a:r>
              <a:rPr sz="2600" b="1" spc="-15" dirty="0">
                <a:latin typeface="Perpetua"/>
                <a:cs typeface="Perpetua"/>
              </a:rPr>
              <a:t>while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b="1" dirty="0">
                <a:latin typeface="Perpetua"/>
                <a:cs typeface="Perpetua"/>
              </a:rPr>
              <a:t>not </a:t>
            </a:r>
            <a:r>
              <a:rPr sz="2600" spc="-5" dirty="0">
                <a:latin typeface="Perpetua"/>
                <a:cs typeface="Perpetua"/>
              </a:rPr>
              <a:t>found the </a:t>
            </a:r>
            <a:r>
              <a:rPr sz="2600" i="1" dirty="0">
                <a:latin typeface="Perpetua"/>
                <a:cs typeface="Perpetua"/>
              </a:rPr>
              <a:t>thing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searching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and</a:t>
            </a:r>
            <a:endParaRPr sz="2600">
              <a:latin typeface="Perpetua"/>
              <a:cs typeface="Perpetua"/>
            </a:endParaRPr>
          </a:p>
          <a:p>
            <a:pPr marL="802005">
              <a:lnSpc>
                <a:spcPts val="2695"/>
              </a:lnSpc>
            </a:pP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b="1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end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i="1" spc="5" dirty="0">
                <a:latin typeface="Perpetua"/>
                <a:cs typeface="Perpetua"/>
              </a:rPr>
              <a:t>series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dirty="0">
                <a:latin typeface="Perpetua"/>
                <a:cs typeface="Perpetua"/>
              </a:rPr>
              <a:t> things</a:t>
            </a:r>
            <a:endParaRPr sz="2600">
              <a:latin typeface="Perpetua"/>
              <a:cs typeface="Perpetua"/>
            </a:endParaRPr>
          </a:p>
          <a:p>
            <a:pPr marL="510540">
              <a:lnSpc>
                <a:spcPts val="2900"/>
              </a:lnSpc>
            </a:pPr>
            <a:r>
              <a:rPr sz="2600" b="1" dirty="0">
                <a:latin typeface="Perpetua"/>
                <a:cs typeface="Perpetua"/>
              </a:rPr>
              <a:t>do </a:t>
            </a:r>
            <a:r>
              <a:rPr sz="2600" b="1" spc="-5" dirty="0">
                <a:latin typeface="Perpetua"/>
                <a:cs typeface="Perpetua"/>
              </a:rPr>
              <a:t>the following</a:t>
            </a:r>
            <a:r>
              <a:rPr sz="2600" b="1" spc="1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repeatedly</a:t>
            </a:r>
            <a:endParaRPr sz="2600">
              <a:latin typeface="Perpetua"/>
              <a:cs typeface="Perpetua"/>
            </a:endParaRPr>
          </a:p>
          <a:p>
            <a:pPr marL="802005">
              <a:lnSpc>
                <a:spcPts val="2900"/>
              </a:lnSpc>
            </a:pPr>
            <a:r>
              <a:rPr sz="2600" b="1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current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searching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ts val="2895"/>
              </a:lnSpc>
            </a:pPr>
            <a:r>
              <a:rPr sz="2600" b="1" spc="-5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1225550">
              <a:lnSpc>
                <a:spcPts val="2900"/>
              </a:lnSpc>
            </a:pP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found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looking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60" dirty="0">
                <a:latin typeface="Perpetua"/>
                <a:cs typeface="Perpetua"/>
              </a:rPr>
              <a:t>for.</a:t>
            </a:r>
            <a:endParaRPr sz="2600">
              <a:latin typeface="Perpetua"/>
              <a:cs typeface="Perpetua"/>
            </a:endParaRPr>
          </a:p>
          <a:p>
            <a:pPr marL="802005">
              <a:lnSpc>
                <a:spcPts val="2900"/>
              </a:lnSpc>
            </a:pPr>
            <a:r>
              <a:rPr sz="2600" b="1" spc="-5" dirty="0">
                <a:latin typeface="Perpetua"/>
                <a:cs typeface="Perpetua"/>
              </a:rPr>
              <a:t>else</a:t>
            </a:r>
            <a:endParaRPr sz="2600">
              <a:latin typeface="Perpetua"/>
              <a:cs typeface="Perpetua"/>
            </a:endParaRPr>
          </a:p>
          <a:p>
            <a:pPr marL="1225550">
              <a:lnSpc>
                <a:spcPts val="3005"/>
              </a:lnSpc>
            </a:pP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the current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next </a:t>
            </a:r>
            <a:r>
              <a:rPr sz="2600" i="1" spc="-5" dirty="0">
                <a:latin typeface="Perpetua"/>
                <a:cs typeface="Perpetua"/>
              </a:rPr>
              <a:t>thing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sequence.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6600" y="762000"/>
            <a:ext cx="1749552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3435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Eg.The </a:t>
            </a:r>
            <a:r>
              <a:rPr spc="-5" dirty="0"/>
              <a:t>I </a:t>
            </a:r>
            <a:r>
              <a:rPr spc="-30" dirty="0"/>
              <a:t>Spy</a:t>
            </a:r>
            <a:r>
              <a:rPr spc="-25" dirty="0"/>
              <a:t> </a:t>
            </a:r>
            <a:r>
              <a:rPr spc="-5" dirty="0"/>
              <a:t>game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29320" cy="50749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53135" algn="l"/>
                <a:tab pos="1902460" algn="l"/>
                <a:tab pos="2759075" algn="l"/>
                <a:tab pos="3135630" algn="l"/>
                <a:tab pos="3394710" algn="l"/>
                <a:tab pos="4159885" algn="l"/>
                <a:tab pos="4720590" algn="l"/>
                <a:tab pos="5353050" algn="l"/>
                <a:tab pos="5868670" algn="l"/>
                <a:tab pos="6647815" algn="l"/>
                <a:tab pos="7616825" algn="l"/>
                <a:tab pos="8032750" algn="l"/>
              </a:tabLst>
            </a:pP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e	p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son	thi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ks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a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ord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te</a:t>
            </a:r>
            <a:r>
              <a:rPr sz="2600" spc="-10" dirty="0">
                <a:latin typeface="Perpetua"/>
                <a:cs typeface="Perpetua"/>
              </a:rPr>
              <a:t>l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s	the	o</a:t>
            </a:r>
            <a:r>
              <a:rPr sz="2600" spc="-15" dirty="0">
                <a:latin typeface="Perpetua"/>
                <a:cs typeface="Perpetua"/>
              </a:rPr>
              <a:t>th</a:t>
            </a:r>
            <a:r>
              <a:rPr sz="2600" dirty="0">
                <a:latin typeface="Perpetua"/>
                <a:cs typeface="Perpetua"/>
              </a:rPr>
              <a:t>er	pl</a:t>
            </a:r>
            <a:r>
              <a:rPr sz="2600" spc="-110" dirty="0">
                <a:latin typeface="Perpetua"/>
                <a:cs typeface="Perpetua"/>
              </a:rPr>
              <a:t>a</a:t>
            </a:r>
            <a:r>
              <a:rPr sz="2600" spc="-45" dirty="0">
                <a:latin typeface="Perpetua"/>
                <a:cs typeface="Perpetua"/>
              </a:rPr>
              <a:t>y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	its	fi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  </a:t>
            </a:r>
            <a:r>
              <a:rPr sz="2600" spc="-10" dirty="0">
                <a:latin typeface="Perpetua"/>
                <a:cs typeface="Perpetua"/>
              </a:rPr>
              <a:t>letter: </a:t>
            </a:r>
            <a:r>
              <a:rPr sz="2600" dirty="0">
                <a:latin typeface="Perpetua"/>
                <a:cs typeface="Perpetua"/>
              </a:rPr>
              <a:t>“I </a:t>
            </a:r>
            <a:r>
              <a:rPr sz="2600" spc="-20" dirty="0">
                <a:latin typeface="Perpetua"/>
                <a:cs typeface="Perpetua"/>
              </a:rPr>
              <a:t>spy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spc="-5" dirty="0">
                <a:latin typeface="Perpetua"/>
                <a:cs typeface="Perpetua"/>
              </a:rPr>
              <a:t>little </a:t>
            </a:r>
            <a:r>
              <a:rPr sz="2600" spc="-30" dirty="0">
                <a:latin typeface="Perpetua"/>
                <a:cs typeface="Perpetua"/>
              </a:rPr>
              <a:t>eye </a:t>
            </a:r>
            <a:r>
              <a:rPr sz="2600" dirty="0">
                <a:latin typeface="Perpetua"/>
                <a:cs typeface="Perpetua"/>
              </a:rPr>
              <a:t>something </a:t>
            </a:r>
            <a:r>
              <a:rPr sz="2600" spc="5" dirty="0">
                <a:latin typeface="Perpetua"/>
                <a:cs typeface="Perpetua"/>
              </a:rPr>
              <a:t>beginning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4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T”.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players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things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dirty="0">
                <a:latin typeface="Perpetua"/>
                <a:cs typeface="Perpetua"/>
              </a:rPr>
              <a:t>can see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20" dirty="0">
                <a:latin typeface="Perpetua"/>
                <a:cs typeface="Perpetua"/>
              </a:rPr>
              <a:t>start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5" dirty="0">
                <a:latin typeface="Perpetua"/>
                <a:cs typeface="Perpetua"/>
              </a:rPr>
              <a:t>letter  </a:t>
            </a:r>
            <a:r>
              <a:rPr sz="2600" spc="-55" dirty="0">
                <a:latin typeface="Perpetua"/>
                <a:cs typeface="Perpetua"/>
              </a:rPr>
              <a:t>T: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“</a:t>
            </a:r>
            <a:r>
              <a:rPr sz="2600" i="1" spc="-55" dirty="0">
                <a:latin typeface="Perpetua"/>
                <a:cs typeface="Perpetua"/>
              </a:rPr>
              <a:t>Toe</a:t>
            </a:r>
            <a:r>
              <a:rPr sz="2600" spc="-55" dirty="0">
                <a:latin typeface="Perpetua"/>
                <a:cs typeface="Perpetua"/>
              </a:rPr>
              <a:t>”,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70" dirty="0">
                <a:latin typeface="Perpetua"/>
                <a:cs typeface="Perpetua"/>
              </a:rPr>
              <a:t>“</a:t>
            </a:r>
            <a:r>
              <a:rPr sz="2600" i="1" spc="-70" dirty="0">
                <a:latin typeface="Perpetua"/>
                <a:cs typeface="Perpetua"/>
              </a:rPr>
              <a:t>Toy</a:t>
            </a:r>
            <a:r>
              <a:rPr sz="2600" spc="-70" dirty="0">
                <a:latin typeface="Perpetua"/>
                <a:cs typeface="Perpetua"/>
              </a:rPr>
              <a:t>”,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“</a:t>
            </a:r>
            <a:r>
              <a:rPr sz="2600" i="1" spc="-25" dirty="0">
                <a:latin typeface="Perpetua"/>
                <a:cs typeface="Perpetua"/>
              </a:rPr>
              <a:t>Television</a:t>
            </a:r>
            <a:r>
              <a:rPr sz="2600" spc="-25" dirty="0">
                <a:latin typeface="Perpetua"/>
                <a:cs typeface="Perpetua"/>
              </a:rPr>
              <a:t>”,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...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When a </a:t>
            </a:r>
            <a:r>
              <a:rPr sz="2600" i="1" spc="-5" dirty="0">
                <a:latin typeface="Perpetua"/>
                <a:cs typeface="Perpetua"/>
              </a:rPr>
              <a:t>person names the thing the </a:t>
            </a:r>
            <a:r>
              <a:rPr sz="2600" i="1" dirty="0">
                <a:latin typeface="Perpetua"/>
                <a:cs typeface="Perpetua"/>
              </a:rPr>
              <a:t>first person had thought </a:t>
            </a:r>
            <a:r>
              <a:rPr sz="2600" i="1" spc="-5" dirty="0">
                <a:latin typeface="Perpetua"/>
                <a:cs typeface="Perpetua"/>
              </a:rPr>
              <a:t>of the search </a:t>
            </a:r>
            <a:r>
              <a:rPr sz="2600" i="1" spc="5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(and the </a:t>
            </a:r>
            <a:r>
              <a:rPr sz="2600" i="1" spc="-10" dirty="0">
                <a:latin typeface="Perpetua"/>
                <a:cs typeface="Perpetua"/>
              </a:rPr>
              <a:t>game)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stops.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3450">
              <a:latin typeface="Times New Roman"/>
              <a:cs typeface="Times New Roman"/>
            </a:endParaRPr>
          </a:p>
          <a:p>
            <a:pPr marL="286385" marR="5715" indent="-274320">
              <a:lnSpc>
                <a:spcPts val="281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Otherwise the </a:t>
            </a:r>
            <a:r>
              <a:rPr sz="2600" i="1" spc="-15" dirty="0">
                <a:latin typeface="Perpetua"/>
                <a:cs typeface="Perpetua"/>
              </a:rPr>
              <a:t>game </a:t>
            </a:r>
            <a:r>
              <a:rPr sz="2600" i="1" spc="-5" dirty="0">
                <a:latin typeface="Perpetua"/>
                <a:cs typeface="Perpetua"/>
              </a:rPr>
              <a:t>continues </a:t>
            </a:r>
            <a:r>
              <a:rPr sz="2600" i="1" dirty="0">
                <a:latin typeface="Perpetua"/>
                <a:cs typeface="Perpetua"/>
              </a:rPr>
              <a:t>until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players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5" dirty="0">
                <a:latin typeface="Perpetua"/>
                <a:cs typeface="Perpetua"/>
              </a:rPr>
              <a:t>tried </a:t>
            </a:r>
            <a:r>
              <a:rPr sz="2600" i="1" spc="-10" dirty="0">
                <a:latin typeface="Perpetua"/>
                <a:cs typeface="Perpetua"/>
              </a:rPr>
              <a:t>every </a:t>
            </a:r>
            <a:r>
              <a:rPr sz="2600" i="1" spc="-5" dirty="0">
                <a:latin typeface="Perpetua"/>
                <a:cs typeface="Perpetua"/>
              </a:rPr>
              <a:t>possibility  they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think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45" dirty="0">
                <a:latin typeface="Perpetua"/>
                <a:cs typeface="Perpetua"/>
              </a:rPr>
              <a:t>of.</a:t>
            </a:r>
            <a:endParaRPr sz="2600">
              <a:latin typeface="Perpetua"/>
              <a:cs typeface="Perpetua"/>
            </a:endParaRPr>
          </a:p>
          <a:p>
            <a:pPr marL="3225165" lvl="1" indent="-240665">
              <a:lnSpc>
                <a:spcPct val="100000"/>
              </a:lnSpc>
              <a:spcBef>
                <a:spcPts val="2020"/>
              </a:spcBef>
              <a:buSzPct val="95833"/>
              <a:buFont typeface="Wingdings"/>
              <a:buChar char=""/>
              <a:tabLst>
                <a:tab pos="3225800" algn="l"/>
              </a:tabLst>
            </a:pP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think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linear </a:t>
            </a:r>
            <a:r>
              <a:rPr sz="2400" i="1" dirty="0">
                <a:latin typeface="Perpetua"/>
                <a:cs typeface="Perpetua"/>
              </a:rPr>
              <a:t>search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performed </a:t>
            </a:r>
            <a:r>
              <a:rPr sz="2400" i="1" spc="-10" dirty="0">
                <a:latin typeface="Perpetua"/>
                <a:cs typeface="Perpetua"/>
              </a:rPr>
              <a:t>here</a:t>
            </a:r>
            <a:r>
              <a:rPr sz="2400" i="1" spc="-7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152400"/>
            <a:ext cx="1376172" cy="133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9800" y="152400"/>
            <a:ext cx="29718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6817359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Eg.The </a:t>
            </a:r>
            <a:r>
              <a:rPr spc="-5" dirty="0"/>
              <a:t>Diving-bell and the </a:t>
            </a:r>
            <a:r>
              <a:rPr spc="-50" dirty="0"/>
              <a:t>Butterfly,  </a:t>
            </a:r>
            <a:r>
              <a:rPr spc="-20" dirty="0"/>
              <a:t>(Bauby</a:t>
            </a:r>
            <a:r>
              <a:rPr dirty="0"/>
              <a:t> </a:t>
            </a:r>
            <a:r>
              <a:rPr spc="-5" dirty="0"/>
              <a:t>1998)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831975"/>
            <a:ext cx="8563610" cy="46843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marR="38735" indent="-274320" algn="just">
              <a:lnSpc>
                <a:spcPct val="80000"/>
              </a:lnSpc>
              <a:spcBef>
                <a:spcPts val="72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is the </a:t>
            </a:r>
            <a:r>
              <a:rPr sz="2600" i="1" spc="-20" dirty="0">
                <a:latin typeface="Perpetua"/>
                <a:cs typeface="Perpetua"/>
              </a:rPr>
              <a:t>autobiography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10" dirty="0">
                <a:latin typeface="Perpetua"/>
                <a:cs typeface="Perpetua"/>
              </a:rPr>
              <a:t>Jean-Dominique </a:t>
            </a:r>
            <a:r>
              <a:rPr sz="2600" i="1" spc="-45" dirty="0">
                <a:latin typeface="Perpetua"/>
                <a:cs typeface="Perpetua"/>
              </a:rPr>
              <a:t>Bauby, </a:t>
            </a:r>
            <a:r>
              <a:rPr sz="2600" i="1" dirty="0">
                <a:latin typeface="Perpetua"/>
                <a:cs typeface="Perpetua"/>
              </a:rPr>
              <a:t>the former </a:t>
            </a:r>
            <a:r>
              <a:rPr sz="2600" i="1" spc="-5" dirty="0">
                <a:latin typeface="Perpetua"/>
                <a:cs typeface="Perpetua"/>
              </a:rPr>
              <a:t>editor-in-chief  of the </a:t>
            </a:r>
            <a:r>
              <a:rPr sz="2600" i="1" spc="-10" dirty="0">
                <a:latin typeface="Perpetua"/>
                <a:cs typeface="Perpetua"/>
              </a:rPr>
              <a:t>French </a:t>
            </a:r>
            <a:r>
              <a:rPr sz="2600" i="1" spc="-15" dirty="0">
                <a:latin typeface="Perpetua"/>
                <a:cs typeface="Perpetua"/>
              </a:rPr>
              <a:t>magazine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Elle.</a:t>
            </a:r>
            <a:endParaRPr sz="2600">
              <a:latin typeface="Perpetua"/>
              <a:cs typeface="Perpetua"/>
            </a:endParaRPr>
          </a:p>
          <a:p>
            <a:pPr marL="286385" marR="37465" indent="-274320" algn="just">
              <a:lnSpc>
                <a:spcPts val="2500"/>
              </a:lnSpc>
              <a:spcBef>
                <a:spcPts val="57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He </a:t>
            </a:r>
            <a:r>
              <a:rPr sz="2600" i="1" spc="-10" dirty="0">
                <a:latin typeface="Perpetua"/>
                <a:cs typeface="Perpetua"/>
              </a:rPr>
              <a:t>suffered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massive </a:t>
            </a:r>
            <a:r>
              <a:rPr sz="2600" i="1" spc="-5" dirty="0">
                <a:latin typeface="Perpetua"/>
                <a:cs typeface="Perpetua"/>
              </a:rPr>
              <a:t>stroke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5" dirty="0">
                <a:latin typeface="Perpetua"/>
                <a:cs typeface="Perpetua"/>
              </a:rPr>
              <a:t>left </a:t>
            </a:r>
            <a:r>
              <a:rPr sz="2600" i="1" spc="-15" dirty="0">
                <a:latin typeface="Perpetua"/>
                <a:cs typeface="Perpetua"/>
              </a:rPr>
              <a:t>totally </a:t>
            </a:r>
            <a:r>
              <a:rPr sz="2600" i="1" spc="-20" dirty="0">
                <a:latin typeface="Perpetua"/>
                <a:cs typeface="Perpetua"/>
              </a:rPr>
              <a:t>paralyzed, </a:t>
            </a:r>
            <a:r>
              <a:rPr sz="2600" i="1" spc="-10" dirty="0">
                <a:latin typeface="Perpetua"/>
                <a:cs typeface="Perpetua"/>
              </a:rPr>
              <a:t>unable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spc="-5" dirty="0">
                <a:latin typeface="Perpetua"/>
                <a:cs typeface="Perpetua"/>
              </a:rPr>
              <a:t>or  </a:t>
            </a:r>
            <a:r>
              <a:rPr sz="2600" i="1" dirty="0">
                <a:latin typeface="Perpetua"/>
                <a:cs typeface="Perpetua"/>
              </a:rPr>
              <a:t>speak, </a:t>
            </a:r>
            <a:r>
              <a:rPr sz="2600" i="1" spc="-5" dirty="0">
                <a:latin typeface="Perpetua"/>
                <a:cs typeface="Perpetua"/>
              </a:rPr>
              <a:t>other than being </a:t>
            </a:r>
            <a:r>
              <a:rPr sz="2600" i="1" spc="-10" dirty="0">
                <a:latin typeface="Perpetua"/>
                <a:cs typeface="Perpetua"/>
              </a:rPr>
              <a:t>able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single</a:t>
            </a:r>
            <a:r>
              <a:rPr sz="2600" i="1" spc="-2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eyelid.</a:t>
            </a:r>
            <a:endParaRPr sz="2600">
              <a:latin typeface="Perpetua"/>
              <a:cs typeface="Perpetua"/>
            </a:endParaRPr>
          </a:p>
          <a:p>
            <a:pPr marL="286385" marR="37465" indent="-274320" algn="just">
              <a:lnSpc>
                <a:spcPts val="25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Rather than </a:t>
            </a:r>
            <a:r>
              <a:rPr sz="2600" i="1" spc="-10" dirty="0">
                <a:latin typeface="Perpetua"/>
                <a:cs typeface="Perpetua"/>
              </a:rPr>
              <a:t>give </a:t>
            </a: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his </a:t>
            </a:r>
            <a:r>
              <a:rPr sz="2600" i="1" spc="-20" dirty="0">
                <a:latin typeface="Perpetua"/>
                <a:cs typeface="Perpetua"/>
              </a:rPr>
              <a:t>disability, </a:t>
            </a:r>
            <a:r>
              <a:rPr sz="2600" i="1" spc="-5" dirty="0">
                <a:latin typeface="Perpetua"/>
                <a:cs typeface="Perpetua"/>
              </a:rPr>
              <a:t>he instead decided to </a:t>
            </a: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dirty="0">
                <a:latin typeface="Perpetua"/>
                <a:cs typeface="Perpetua"/>
              </a:rPr>
              <a:t>his  </a:t>
            </a:r>
            <a:r>
              <a:rPr sz="2600" i="1" spc="-30" dirty="0">
                <a:latin typeface="Perpetua"/>
                <a:cs typeface="Perpetua"/>
              </a:rPr>
              <a:t>autobiography.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62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In the book he </a:t>
            </a:r>
            <a:r>
              <a:rPr sz="2600" i="1" dirty="0">
                <a:latin typeface="Perpetua"/>
                <a:cs typeface="Perpetua"/>
              </a:rPr>
              <a:t>describes </a:t>
            </a:r>
            <a:r>
              <a:rPr sz="2600" i="1" spc="-25" dirty="0">
                <a:latin typeface="Perpetua"/>
                <a:cs typeface="Perpetua"/>
              </a:rPr>
              <a:t>what </a:t>
            </a:r>
            <a:r>
              <a:rPr sz="2600" i="1" spc="-15" dirty="0">
                <a:latin typeface="Perpetua"/>
                <a:cs typeface="Perpetua"/>
              </a:rPr>
              <a:t>life </a:t>
            </a:r>
            <a:r>
              <a:rPr sz="2600" i="1" spc="-5" dirty="0">
                <a:latin typeface="Perpetua"/>
                <a:cs typeface="Perpetua"/>
              </a:rPr>
              <a:t>is like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someone </a:t>
            </a:r>
            <a:r>
              <a:rPr sz="2600" i="1" spc="-15" dirty="0">
                <a:latin typeface="Perpetua"/>
                <a:cs typeface="Perpetua"/>
              </a:rPr>
              <a:t>who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totally </a:t>
            </a:r>
            <a:r>
              <a:rPr sz="2600" i="1" spc="-25" dirty="0">
                <a:latin typeface="Perpetua"/>
                <a:cs typeface="Perpetua"/>
              </a:rPr>
              <a:t>paralyzed,  </a:t>
            </a:r>
            <a:r>
              <a:rPr sz="2600" i="1" spc="-5" dirty="0">
                <a:latin typeface="Perpetua"/>
                <a:cs typeface="Perpetua"/>
              </a:rPr>
              <a:t>including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5" dirty="0">
                <a:latin typeface="Perpetua"/>
                <a:cs typeface="Perpetua"/>
              </a:rPr>
              <a:t>he communicated </a:t>
            </a:r>
            <a:r>
              <a:rPr sz="2600" i="1" dirty="0">
                <a:latin typeface="Perpetua"/>
                <a:cs typeface="Perpetua"/>
              </a:rPr>
              <a:t>with </a:t>
            </a:r>
            <a:r>
              <a:rPr sz="2600" i="1" spc="-5" dirty="0">
                <a:latin typeface="Perpetua"/>
                <a:cs typeface="Perpetua"/>
              </a:rPr>
              <a:t>people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so </a:t>
            </a:r>
            <a:r>
              <a:rPr sz="2600" i="1" spc="-20" dirty="0">
                <a:latin typeface="Perpetua"/>
                <a:cs typeface="Perpetua"/>
              </a:rPr>
              <a:t>managed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dirty="0">
                <a:latin typeface="Perpetua"/>
                <a:cs typeface="Perpetua"/>
              </a:rPr>
              <a:t>the  </a:t>
            </a:r>
            <a:r>
              <a:rPr sz="2600" i="1" spc="-5" dirty="0">
                <a:latin typeface="Perpetua"/>
                <a:cs typeface="Perpetua"/>
              </a:rPr>
              <a:t>book.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ts val="3085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He </a:t>
            </a:r>
            <a:r>
              <a:rPr sz="2600" i="1" spc="-5" dirty="0">
                <a:latin typeface="Perpetua"/>
                <a:cs typeface="Perpetua"/>
              </a:rPr>
              <a:t>dictated it 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25" dirty="0">
                <a:latin typeface="Perpetua"/>
                <a:cs typeface="Perpetua"/>
              </a:rPr>
              <a:t>secretary, </a:t>
            </a:r>
            <a:r>
              <a:rPr sz="2600" i="1" spc="-10" dirty="0">
                <a:latin typeface="Perpetua"/>
                <a:cs typeface="Perpetua"/>
              </a:rPr>
              <a:t>just </a:t>
            </a:r>
            <a:r>
              <a:rPr sz="2600" i="1" spc="-5" dirty="0">
                <a:latin typeface="Perpetua"/>
                <a:cs typeface="Perpetua"/>
              </a:rPr>
              <a:t>using</a:t>
            </a:r>
            <a:r>
              <a:rPr sz="2600" i="1" spc="-22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blinks.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ts val="3095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 secretary read through the </a:t>
            </a:r>
            <a:r>
              <a:rPr sz="2600" i="1" dirty="0">
                <a:latin typeface="Perpetua"/>
                <a:cs typeface="Perpetua"/>
              </a:rPr>
              <a:t>alphabet a </a:t>
            </a:r>
            <a:r>
              <a:rPr sz="2600" i="1" spc="-5" dirty="0">
                <a:latin typeface="Perpetua"/>
                <a:cs typeface="Perpetua"/>
              </a:rPr>
              <a:t>letter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3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39370" indent="-274320" algn="just">
              <a:lnSpc>
                <a:spcPts val="2500"/>
              </a:lnSpc>
              <a:spcBef>
                <a:spcPts val="58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When </a:t>
            </a:r>
            <a:r>
              <a:rPr sz="2600" i="1" spc="-5" dirty="0">
                <a:latin typeface="Perpetua"/>
                <a:cs typeface="Perpetua"/>
              </a:rPr>
              <a:t>she </a:t>
            </a:r>
            <a:r>
              <a:rPr sz="2600" i="1" spc="-10" dirty="0">
                <a:latin typeface="Perpetua"/>
                <a:cs typeface="Perpetua"/>
              </a:rPr>
              <a:t>read </a:t>
            </a:r>
            <a:r>
              <a:rPr sz="2600" i="1" spc="-5" dirty="0">
                <a:latin typeface="Perpetua"/>
                <a:cs typeface="Perpetua"/>
              </a:rPr>
              <a:t>out the letter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came </a:t>
            </a:r>
            <a:r>
              <a:rPr sz="2600" i="1" dirty="0">
                <a:latin typeface="Perpetua"/>
                <a:cs typeface="Perpetua"/>
              </a:rPr>
              <a:t>next </a:t>
            </a:r>
            <a:r>
              <a:rPr sz="2600" i="1" spc="-5" dirty="0">
                <a:latin typeface="Perpetua"/>
                <a:cs typeface="Perpetua"/>
              </a:rPr>
              <a:t>in the </a:t>
            </a:r>
            <a:r>
              <a:rPr sz="2600" i="1" spc="-10" dirty="0">
                <a:latin typeface="Perpetua"/>
                <a:cs typeface="Perpetua"/>
              </a:rPr>
              <a:t>word </a:t>
            </a:r>
            <a:r>
              <a:rPr sz="2600" i="1" spc="-20" dirty="0">
                <a:latin typeface="Perpetua"/>
                <a:cs typeface="Perpetua"/>
              </a:rPr>
              <a:t>Bauby </a:t>
            </a:r>
            <a:r>
              <a:rPr sz="2600" i="1" spc="-15" dirty="0">
                <a:latin typeface="Perpetua"/>
                <a:cs typeface="Perpetua"/>
              </a:rPr>
              <a:t>wanted, </a:t>
            </a:r>
            <a:r>
              <a:rPr sz="2600" i="1" spc="5" dirty="0">
                <a:latin typeface="Perpetua"/>
                <a:cs typeface="Perpetua"/>
              </a:rPr>
              <a:t>he 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15" dirty="0">
                <a:latin typeface="Perpetua"/>
                <a:cs typeface="Perpetua"/>
              </a:rPr>
              <a:t>blink,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she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spc="-5" dirty="0">
                <a:latin typeface="Perpetua"/>
                <a:cs typeface="Perpetua"/>
              </a:rPr>
              <a:t>it</a:t>
            </a:r>
            <a:r>
              <a:rPr sz="2600" i="1" spc="-24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down.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5857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Diving-bell </a:t>
            </a:r>
            <a:r>
              <a:rPr dirty="0"/>
              <a:t>and </a:t>
            </a:r>
            <a:r>
              <a:rPr spc="-5" dirty="0"/>
              <a:t>the </a:t>
            </a:r>
            <a:r>
              <a:rPr spc="-10" dirty="0"/>
              <a:t>Butterfly</a:t>
            </a:r>
            <a:r>
              <a:rPr spc="-30" dirty="0"/>
              <a:t> </a:t>
            </a:r>
            <a:r>
              <a:rPr i="1" spc="-5" dirty="0">
                <a:latin typeface="Perpetua"/>
                <a:cs typeface="Perpetua"/>
              </a:rPr>
              <a:t>contd-</a:t>
            </a:r>
            <a:r>
              <a:rPr spc="-5" dirty="0"/>
              <a:t>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1225" cy="35521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She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5" dirty="0">
                <a:latin typeface="Perpetua"/>
                <a:cs typeface="Perpetua"/>
              </a:rPr>
              <a:t>then </a:t>
            </a:r>
            <a:r>
              <a:rPr sz="2600" i="1" spc="10" dirty="0">
                <a:latin typeface="Perpetua"/>
                <a:cs typeface="Perpetua"/>
              </a:rPr>
              <a:t>start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the beginning </a:t>
            </a:r>
            <a:r>
              <a:rPr sz="2600" i="1" spc="-20" dirty="0">
                <a:latin typeface="Perpetua"/>
                <a:cs typeface="Perpetua"/>
              </a:rPr>
              <a:t>again </a:t>
            </a:r>
            <a:r>
              <a:rPr sz="2600" i="1" spc="-5" dirty="0">
                <a:latin typeface="Perpetua"/>
                <a:cs typeface="Perpetua"/>
              </a:rPr>
              <a:t>looking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next</a:t>
            </a:r>
            <a:r>
              <a:rPr sz="2600" i="1" spc="95" dirty="0">
                <a:latin typeface="Perpetua"/>
                <a:cs typeface="Perpetua"/>
              </a:rPr>
              <a:t> </a:t>
            </a:r>
            <a:r>
              <a:rPr sz="2600" i="1" spc="-25" dirty="0">
                <a:latin typeface="Perpetua"/>
                <a:cs typeface="Perpetua"/>
              </a:rPr>
              <a:t>letter.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Letter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20" dirty="0">
                <a:latin typeface="Perpetua"/>
                <a:cs typeface="Perpetua"/>
              </a:rPr>
              <a:t>letter,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whole </a:t>
            </a:r>
            <a:r>
              <a:rPr sz="2600" i="1" spc="-5" dirty="0">
                <a:latin typeface="Perpetua"/>
                <a:cs typeface="Perpetua"/>
              </a:rPr>
              <a:t>book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5" dirty="0">
                <a:latin typeface="Perpetua"/>
                <a:cs typeface="Perpetua"/>
              </a:rPr>
              <a:t>written </a:t>
            </a:r>
            <a:r>
              <a:rPr sz="2600" i="1" spc="-5" dirty="0">
                <a:latin typeface="Perpetua"/>
                <a:cs typeface="Perpetua"/>
              </a:rPr>
              <a:t>in this</a:t>
            </a:r>
            <a:r>
              <a:rPr sz="2600" i="1" spc="-180" dirty="0">
                <a:latin typeface="Perpetua"/>
                <a:cs typeface="Perpetua"/>
              </a:rPr>
              <a:t> </a:t>
            </a:r>
            <a:r>
              <a:rPr sz="2600" i="1" spc="-85" dirty="0"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15" dirty="0">
                <a:latin typeface="Perpetua"/>
                <a:cs typeface="Perpetua"/>
              </a:rPr>
              <a:t>improved </a:t>
            </a:r>
            <a:r>
              <a:rPr sz="2600" i="1" spc="-10" dirty="0">
                <a:latin typeface="Perpetua"/>
                <a:cs typeface="Perpetua"/>
              </a:rPr>
              <a:t>slightly </a:t>
            </a:r>
            <a:r>
              <a:rPr sz="2600" i="1" spc="5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that the </a:t>
            </a:r>
            <a:r>
              <a:rPr sz="2600" i="1" dirty="0">
                <a:latin typeface="Perpetua"/>
                <a:cs typeface="Perpetua"/>
              </a:rPr>
              <a:t>letters </a:t>
            </a:r>
            <a:r>
              <a:rPr sz="2600" i="1" spc="-15" dirty="0">
                <a:latin typeface="Perpetua"/>
                <a:cs typeface="Perpetua"/>
              </a:rPr>
              <a:t>were </a:t>
            </a:r>
            <a:r>
              <a:rPr sz="2600" i="1" spc="-10" dirty="0">
                <a:latin typeface="Perpetua"/>
                <a:cs typeface="Perpetua"/>
              </a:rPr>
              <a:t>ordered </a:t>
            </a:r>
            <a:r>
              <a:rPr sz="2600" i="1" spc="-65" dirty="0">
                <a:latin typeface="Perpetua"/>
                <a:cs typeface="Perpetua"/>
              </a:rPr>
              <a:t>by  </a:t>
            </a:r>
            <a:r>
              <a:rPr sz="2600" i="1" spc="-5" dirty="0">
                <a:latin typeface="Perpetua"/>
                <a:cs typeface="Perpetua"/>
              </a:rPr>
              <a:t>frequency </a:t>
            </a: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10" dirty="0">
                <a:latin typeface="Perpetua"/>
                <a:cs typeface="Perpetua"/>
              </a:rPr>
              <a:t>French </a:t>
            </a:r>
            <a:r>
              <a:rPr sz="2600" i="1" spc="-15" dirty="0">
                <a:latin typeface="Perpetua"/>
                <a:cs typeface="Perpetua"/>
              </a:rPr>
              <a:t>(Bauby's native language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10" dirty="0">
                <a:latin typeface="Perpetua"/>
                <a:cs typeface="Perpetua"/>
              </a:rPr>
              <a:t>which </a:t>
            </a:r>
            <a:r>
              <a:rPr sz="2600" i="1" spc="-5" dirty="0">
                <a:latin typeface="Perpetua"/>
                <a:cs typeface="Perpetua"/>
              </a:rPr>
              <a:t>the book </a:t>
            </a:r>
            <a:r>
              <a:rPr sz="2600" i="1" spc="-30" dirty="0">
                <a:latin typeface="Perpetua"/>
                <a:cs typeface="Perpetua"/>
              </a:rPr>
              <a:t>was  </a:t>
            </a:r>
            <a:r>
              <a:rPr sz="2600" i="1" dirty="0">
                <a:latin typeface="Perpetua"/>
                <a:cs typeface="Perpetua"/>
              </a:rPr>
              <a:t>written).</a:t>
            </a:r>
            <a:endParaRPr sz="2600">
              <a:latin typeface="Perpetua"/>
              <a:cs typeface="Perpetua"/>
            </a:endParaRPr>
          </a:p>
          <a:p>
            <a:pPr marL="561340" marR="7620" lvl="1" indent="-228600" algn="just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E </a:t>
            </a:r>
            <a:r>
              <a:rPr sz="2600" i="1" spc="-5" dirty="0">
                <a:latin typeface="Perpetua"/>
                <a:cs typeface="Perpetua"/>
              </a:rPr>
              <a:t>is the most common letter </a:t>
            </a:r>
            <a:r>
              <a:rPr sz="2600" i="1" spc="-10" dirty="0">
                <a:latin typeface="Perpetua"/>
                <a:cs typeface="Perpetua"/>
              </a:rPr>
              <a:t>so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spc="-25" dirty="0">
                <a:latin typeface="Perpetua"/>
                <a:cs typeface="Perpetua"/>
              </a:rPr>
              <a:t>was </a:t>
            </a:r>
            <a:r>
              <a:rPr sz="2600" i="1" spc="-5" dirty="0">
                <a:latin typeface="Perpetua"/>
                <a:cs typeface="Perpetua"/>
              </a:rPr>
              <a:t>first </a:t>
            </a:r>
            <a:r>
              <a:rPr sz="2600" i="1" spc="-10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the list, </a:t>
            </a:r>
            <a:r>
              <a:rPr sz="2600" i="1" dirty="0">
                <a:latin typeface="Perpetua"/>
                <a:cs typeface="Perpetua"/>
              </a:rPr>
              <a:t>then </a:t>
            </a:r>
            <a:r>
              <a:rPr sz="2600" i="1" spc="-25" dirty="0">
                <a:latin typeface="Perpetua"/>
                <a:cs typeface="Perpetua"/>
              </a:rPr>
              <a:t>S, </a:t>
            </a:r>
            <a:r>
              <a:rPr sz="2600" i="1" dirty="0">
                <a:latin typeface="Perpetua"/>
                <a:cs typeface="Perpetua"/>
              </a:rPr>
              <a:t>A, R and </a:t>
            </a:r>
            <a:r>
              <a:rPr sz="2600" i="1" spc="-5" dirty="0">
                <a:latin typeface="Perpetua"/>
                <a:cs typeface="Perpetua"/>
              </a:rPr>
              <a:t>so</a:t>
            </a:r>
            <a:r>
              <a:rPr sz="2600" i="1" spc="-26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on  finishing </a:t>
            </a:r>
            <a:r>
              <a:rPr sz="2600" i="1" spc="-60" dirty="0">
                <a:latin typeface="Perpetua"/>
                <a:cs typeface="Perpetua"/>
              </a:rPr>
              <a:t>withW,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least </a:t>
            </a:r>
            <a:r>
              <a:rPr sz="2600" i="1" spc="-10" dirty="0">
                <a:latin typeface="Perpetua"/>
                <a:cs typeface="Perpetua"/>
              </a:rPr>
              <a:t>commonly </a:t>
            </a:r>
            <a:r>
              <a:rPr sz="2600" i="1" spc="-5" dirty="0">
                <a:latin typeface="Perpetua"/>
                <a:cs typeface="Perpetua"/>
              </a:rPr>
              <a:t>used</a:t>
            </a:r>
            <a:r>
              <a:rPr sz="2600" i="1" spc="-190" dirty="0">
                <a:latin typeface="Perpetua"/>
                <a:cs typeface="Perpetua"/>
              </a:rPr>
              <a:t> </a:t>
            </a:r>
            <a:r>
              <a:rPr sz="2600" i="1" spc="-25" dirty="0">
                <a:latin typeface="Perpetua"/>
                <a:cs typeface="Perpetua"/>
              </a:rPr>
              <a:t>letter.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All </a:t>
            </a:r>
            <a:r>
              <a:rPr sz="2600" i="1" spc="-15" dirty="0">
                <a:latin typeface="Perpetua"/>
                <a:cs typeface="Perpetua"/>
              </a:rPr>
              <a:t>Bauby's </a:t>
            </a:r>
            <a:r>
              <a:rPr sz="2600" i="1" spc="-10" dirty="0">
                <a:latin typeface="Perpetua"/>
                <a:cs typeface="Perpetua"/>
              </a:rPr>
              <a:t>communication </a:t>
            </a:r>
            <a:r>
              <a:rPr sz="2600" i="1" spc="-5" dirty="0">
                <a:latin typeface="Perpetua"/>
                <a:cs typeface="Perpetua"/>
              </a:rPr>
              <a:t>to the outside </a:t>
            </a:r>
            <a:r>
              <a:rPr sz="2600" i="1" spc="-15" dirty="0">
                <a:latin typeface="Perpetua"/>
                <a:cs typeface="Perpetua"/>
              </a:rPr>
              <a:t>world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dirty="0">
                <a:latin typeface="Perpetua"/>
                <a:cs typeface="Perpetua"/>
              </a:rPr>
              <a:t>done </a:t>
            </a:r>
            <a:r>
              <a:rPr sz="2600" i="1" spc="-5" dirty="0">
                <a:latin typeface="Perpetua"/>
                <a:cs typeface="Perpetua"/>
              </a:rPr>
              <a:t>in this</a:t>
            </a:r>
            <a:r>
              <a:rPr sz="2600" i="1" spc="114" dirty="0">
                <a:latin typeface="Perpetua"/>
                <a:cs typeface="Perpetua"/>
              </a:rPr>
              <a:t> </a:t>
            </a:r>
            <a:r>
              <a:rPr sz="2600" i="1" spc="-85" dirty="0"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69068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47470" algn="l"/>
              </a:tabLst>
            </a:pPr>
            <a:r>
              <a:rPr spc="-265" dirty="0"/>
              <a:t>To </a:t>
            </a:r>
            <a:r>
              <a:rPr dirty="0"/>
              <a:t>find </a:t>
            </a:r>
            <a:r>
              <a:rPr spc="-5" dirty="0"/>
              <a:t>a </a:t>
            </a:r>
            <a:r>
              <a:rPr spc="-10" dirty="0"/>
              <a:t>letter </a:t>
            </a:r>
            <a:r>
              <a:rPr spc="-5" dirty="0"/>
              <a:t>being thought of – the  </a:t>
            </a:r>
            <a:r>
              <a:rPr spc="-20" dirty="0"/>
              <a:t>Bauby	</a:t>
            </a:r>
            <a:r>
              <a:rPr spc="-65" dirty="0"/>
              <a:t>way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7462"/>
            <a:ext cx="8207375" cy="51657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300" i="1" spc="-5" dirty="0">
                <a:latin typeface="Perpetua"/>
                <a:cs typeface="Perpetua"/>
              </a:rPr>
              <a:t>Assume </a:t>
            </a:r>
            <a:r>
              <a:rPr sz="2300" i="1" spc="5" dirty="0">
                <a:latin typeface="Perpetua"/>
                <a:cs typeface="Perpetua"/>
              </a:rPr>
              <a:t>normal </a:t>
            </a:r>
            <a:r>
              <a:rPr sz="2300" i="1" dirty="0">
                <a:latin typeface="Perpetua"/>
                <a:cs typeface="Perpetua"/>
              </a:rPr>
              <a:t>alphabetic</a:t>
            </a:r>
            <a:r>
              <a:rPr sz="2300" i="1" spc="-25" dirty="0">
                <a:latin typeface="Perpetua"/>
                <a:cs typeface="Perpetua"/>
              </a:rPr>
              <a:t> order.</a:t>
            </a:r>
            <a:endParaRPr sz="2300">
              <a:latin typeface="Perpetua"/>
              <a:cs typeface="Perpetua"/>
            </a:endParaRPr>
          </a:p>
          <a:p>
            <a:pPr marL="570865" lvl="1" indent="-23876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71500" algn="l"/>
              </a:tabLst>
            </a:pPr>
            <a:r>
              <a:rPr sz="2300" spc="-70" dirty="0">
                <a:latin typeface="Perpetua"/>
                <a:cs typeface="Perpetua"/>
              </a:rPr>
              <a:t>Take </a:t>
            </a:r>
            <a:r>
              <a:rPr sz="2300" dirty="0">
                <a:latin typeface="Perpetua"/>
                <a:cs typeface="Perpetua"/>
              </a:rPr>
              <a:t>a </a:t>
            </a:r>
            <a:r>
              <a:rPr sz="2300" spc="-10" dirty="0">
                <a:latin typeface="Perpetua"/>
                <a:cs typeface="Perpetua"/>
              </a:rPr>
              <a:t>blank </a:t>
            </a:r>
            <a:r>
              <a:rPr sz="2300" dirty="0">
                <a:latin typeface="Perpetua"/>
                <a:cs typeface="Perpetua"/>
              </a:rPr>
              <a:t>piece of</a:t>
            </a:r>
            <a:r>
              <a:rPr sz="2300" spc="50" dirty="0">
                <a:latin typeface="Perpetua"/>
                <a:cs typeface="Perpetua"/>
              </a:rPr>
              <a:t> </a:t>
            </a:r>
            <a:r>
              <a:rPr sz="2300" spc="-35" dirty="0">
                <a:latin typeface="Perpetua"/>
                <a:cs typeface="Perpetua"/>
              </a:rPr>
              <a:t>paper.</a:t>
            </a:r>
            <a:endParaRPr sz="2300">
              <a:latin typeface="Perpetua"/>
              <a:cs typeface="Perpetua"/>
            </a:endParaRPr>
          </a:p>
          <a:p>
            <a:pPr marL="605790" lvl="1" indent="-27368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606425" algn="l"/>
              </a:tabLst>
            </a:pPr>
            <a:r>
              <a:rPr sz="2300" spc="-30" dirty="0">
                <a:latin typeface="Perpetua"/>
                <a:cs typeface="Perpetua"/>
              </a:rPr>
              <a:t>Say </a:t>
            </a:r>
            <a:r>
              <a:rPr sz="2300" dirty="0">
                <a:latin typeface="Perpetua"/>
                <a:cs typeface="Perpetua"/>
              </a:rPr>
              <a:t>the </a:t>
            </a:r>
            <a:r>
              <a:rPr sz="2300" spc="-5" dirty="0">
                <a:latin typeface="Perpetua"/>
                <a:cs typeface="Perpetua"/>
              </a:rPr>
              <a:t>letter</a:t>
            </a:r>
            <a:r>
              <a:rPr sz="2300" spc="-135" dirty="0">
                <a:latin typeface="Perpetua"/>
                <a:cs typeface="Perpetua"/>
              </a:rPr>
              <a:t> </a:t>
            </a:r>
            <a:r>
              <a:rPr sz="2300" spc="-5" dirty="0">
                <a:latin typeface="Perpetua"/>
                <a:cs typeface="Perpetua"/>
              </a:rPr>
              <a:t>A.</a:t>
            </a:r>
            <a:endParaRPr sz="2300">
              <a:latin typeface="Perpetua"/>
              <a:cs typeface="Perpetua"/>
            </a:endParaRPr>
          </a:p>
          <a:p>
            <a:pPr marL="605790" lvl="1" indent="-273685">
              <a:lnSpc>
                <a:spcPct val="100000"/>
              </a:lnSpc>
              <a:spcBef>
                <a:spcPts val="409"/>
              </a:spcBef>
              <a:buFont typeface="Perpetua"/>
              <a:buAutoNum type="arabicPeriod"/>
              <a:tabLst>
                <a:tab pos="606425" algn="l"/>
              </a:tabLst>
            </a:pPr>
            <a:r>
              <a:rPr sz="2300" b="1" spc="-15" dirty="0">
                <a:latin typeface="Perpetua"/>
                <a:cs typeface="Perpetua"/>
              </a:rPr>
              <a:t>while</a:t>
            </a:r>
            <a:endParaRPr sz="23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395"/>
              </a:spcBef>
            </a:pPr>
            <a:r>
              <a:rPr sz="2300" spc="-15" dirty="0">
                <a:latin typeface="Perpetua"/>
                <a:cs typeface="Perpetua"/>
              </a:rPr>
              <a:t>you </a:t>
            </a:r>
            <a:r>
              <a:rPr sz="2300" spc="-35" dirty="0">
                <a:latin typeface="Perpetua"/>
                <a:cs typeface="Perpetua"/>
              </a:rPr>
              <a:t>have </a:t>
            </a:r>
            <a:r>
              <a:rPr sz="2300" b="1" dirty="0">
                <a:latin typeface="Perpetua"/>
                <a:cs typeface="Perpetua"/>
              </a:rPr>
              <a:t>not </a:t>
            </a:r>
            <a:r>
              <a:rPr sz="2300" spc="5" dirty="0">
                <a:latin typeface="Perpetua"/>
                <a:cs typeface="Perpetua"/>
              </a:rPr>
              <a:t>written </a:t>
            </a:r>
            <a:r>
              <a:rPr sz="2300" dirty="0">
                <a:latin typeface="Perpetua"/>
                <a:cs typeface="Perpetua"/>
              </a:rPr>
              <a:t>a </a:t>
            </a:r>
            <a:r>
              <a:rPr sz="2300" spc="-5" dirty="0">
                <a:latin typeface="Perpetua"/>
                <a:cs typeface="Perpetua"/>
              </a:rPr>
              <a:t>letter</a:t>
            </a:r>
            <a:r>
              <a:rPr sz="2300" spc="-20" dirty="0">
                <a:latin typeface="Perpetua"/>
                <a:cs typeface="Perpetua"/>
              </a:rPr>
              <a:t> down</a:t>
            </a:r>
            <a:endParaRPr sz="23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300" b="1" dirty="0">
                <a:latin typeface="Perpetua"/>
                <a:cs typeface="Perpetua"/>
              </a:rPr>
              <a:t>and</a:t>
            </a:r>
            <a:endParaRPr sz="2300">
              <a:latin typeface="Perpetua"/>
              <a:cs typeface="Perpetua"/>
            </a:endParaRPr>
          </a:p>
          <a:p>
            <a:pPr marL="854075">
              <a:lnSpc>
                <a:spcPct val="100000"/>
              </a:lnSpc>
              <a:spcBef>
                <a:spcPts val="405"/>
              </a:spcBef>
            </a:pPr>
            <a:r>
              <a:rPr sz="2300" spc="-15" dirty="0">
                <a:latin typeface="Perpetua"/>
                <a:cs typeface="Perpetua"/>
              </a:rPr>
              <a:t>you are </a:t>
            </a:r>
            <a:r>
              <a:rPr sz="2300" b="1" spc="-5" dirty="0">
                <a:latin typeface="Perpetua"/>
                <a:cs typeface="Perpetua"/>
              </a:rPr>
              <a:t>not </a:t>
            </a:r>
            <a:r>
              <a:rPr sz="2300" spc="-15" dirty="0">
                <a:latin typeface="Perpetua"/>
                <a:cs typeface="Perpetua"/>
              </a:rPr>
              <a:t>at </a:t>
            </a:r>
            <a:r>
              <a:rPr sz="2300" dirty="0">
                <a:latin typeface="Perpetua"/>
                <a:cs typeface="Perpetua"/>
              </a:rPr>
              <a:t>the end of the</a:t>
            </a:r>
            <a:r>
              <a:rPr sz="2300" spc="15" dirty="0">
                <a:latin typeface="Perpetua"/>
                <a:cs typeface="Perpetua"/>
              </a:rPr>
              <a:t> </a:t>
            </a:r>
            <a:r>
              <a:rPr sz="2300" spc="-5" dirty="0">
                <a:latin typeface="Perpetua"/>
                <a:cs typeface="Perpetua"/>
              </a:rPr>
              <a:t>alphabet</a:t>
            </a:r>
            <a:endParaRPr sz="2300">
              <a:latin typeface="Perpetua"/>
              <a:cs typeface="Perpetua"/>
            </a:endParaRPr>
          </a:p>
          <a:p>
            <a:pPr marL="927100" marR="4197350" indent="-365760">
              <a:lnSpc>
                <a:spcPts val="3160"/>
              </a:lnSpc>
              <a:spcBef>
                <a:spcPts val="170"/>
              </a:spcBef>
            </a:pPr>
            <a:r>
              <a:rPr sz="2300" b="1" dirty="0">
                <a:latin typeface="Perpetua"/>
                <a:cs typeface="Perpetua"/>
              </a:rPr>
              <a:t>do </a:t>
            </a:r>
            <a:r>
              <a:rPr sz="2300" b="1" spc="-5" dirty="0">
                <a:latin typeface="Perpetua"/>
                <a:cs typeface="Perpetua"/>
              </a:rPr>
              <a:t>the </a:t>
            </a:r>
            <a:r>
              <a:rPr sz="2300" b="1" spc="-10" dirty="0">
                <a:latin typeface="Perpetua"/>
                <a:cs typeface="Perpetua"/>
              </a:rPr>
              <a:t>following repeatedly  </a:t>
            </a:r>
            <a:r>
              <a:rPr sz="2300" b="1" spc="-5" dirty="0">
                <a:latin typeface="Perpetua"/>
                <a:cs typeface="Perpetua"/>
              </a:rPr>
              <a:t>if </a:t>
            </a:r>
            <a:r>
              <a:rPr sz="2300" dirty="0">
                <a:latin typeface="Perpetua"/>
                <a:cs typeface="Perpetua"/>
              </a:rPr>
              <a:t>the </a:t>
            </a:r>
            <a:r>
              <a:rPr sz="2300" spc="5" dirty="0">
                <a:latin typeface="Perpetua"/>
                <a:cs typeface="Perpetua"/>
              </a:rPr>
              <a:t>person</a:t>
            </a:r>
            <a:r>
              <a:rPr sz="2300" spc="-30" dirty="0">
                <a:latin typeface="Perpetua"/>
                <a:cs typeface="Perpetua"/>
              </a:rPr>
              <a:t> </a:t>
            </a:r>
            <a:r>
              <a:rPr sz="2300" spc="-15" dirty="0">
                <a:latin typeface="Perpetua"/>
                <a:cs typeface="Perpetua"/>
              </a:rPr>
              <a:t>blinked</a:t>
            </a:r>
            <a:endParaRPr sz="23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235"/>
              </a:spcBef>
            </a:pPr>
            <a:r>
              <a:rPr sz="2300" b="1" spc="-5" dirty="0">
                <a:latin typeface="Perpetua"/>
                <a:cs typeface="Perpetua"/>
              </a:rPr>
              <a:t>then </a:t>
            </a:r>
            <a:r>
              <a:rPr sz="2300" spc="5" dirty="0">
                <a:latin typeface="Perpetua"/>
                <a:cs typeface="Perpetua"/>
              </a:rPr>
              <a:t>write </a:t>
            </a:r>
            <a:r>
              <a:rPr sz="2300" spc="-20" dirty="0">
                <a:latin typeface="Perpetua"/>
                <a:cs typeface="Perpetua"/>
              </a:rPr>
              <a:t>down </a:t>
            </a:r>
            <a:r>
              <a:rPr sz="2300" dirty="0">
                <a:latin typeface="Perpetua"/>
                <a:cs typeface="Perpetua"/>
              </a:rPr>
              <a:t>the </a:t>
            </a:r>
            <a:r>
              <a:rPr sz="2300" spc="-5" dirty="0">
                <a:latin typeface="Perpetua"/>
                <a:cs typeface="Perpetua"/>
              </a:rPr>
              <a:t>last letter </a:t>
            </a:r>
            <a:r>
              <a:rPr sz="2300" spc="-15" dirty="0">
                <a:latin typeface="Perpetua"/>
                <a:cs typeface="Perpetua"/>
              </a:rPr>
              <a:t>you</a:t>
            </a:r>
            <a:r>
              <a:rPr sz="2300" spc="-45" dirty="0">
                <a:latin typeface="Perpetua"/>
                <a:cs typeface="Perpetua"/>
              </a:rPr>
              <a:t> </a:t>
            </a:r>
            <a:r>
              <a:rPr sz="2300" dirty="0">
                <a:latin typeface="Perpetua"/>
                <a:cs typeface="Perpetua"/>
              </a:rPr>
              <a:t>said.</a:t>
            </a:r>
            <a:endParaRPr sz="23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380"/>
              </a:spcBef>
              <a:tabLst>
                <a:tab pos="2437765" algn="l"/>
              </a:tabLst>
            </a:pPr>
            <a:r>
              <a:rPr sz="2300" b="1" spc="-5" dirty="0">
                <a:latin typeface="Perpetua"/>
                <a:cs typeface="Perpetua"/>
              </a:rPr>
              <a:t>else	</a:t>
            </a:r>
            <a:r>
              <a:rPr sz="2400" spc="-30" dirty="0">
                <a:latin typeface="Perpetua"/>
                <a:cs typeface="Perpetua"/>
              </a:rPr>
              <a:t>say </a:t>
            </a:r>
            <a:r>
              <a:rPr sz="2400" dirty="0">
                <a:latin typeface="Perpetua"/>
                <a:cs typeface="Perpetua"/>
              </a:rPr>
              <a:t>the next </a:t>
            </a:r>
            <a:r>
              <a:rPr sz="2400" spc="-5" dirty="0">
                <a:latin typeface="Perpetua"/>
                <a:cs typeface="Perpetua"/>
              </a:rPr>
              <a:t>letter </a:t>
            </a:r>
            <a:r>
              <a:rPr sz="2400" dirty="0">
                <a:latin typeface="Perpetua"/>
                <a:cs typeface="Perpetua"/>
              </a:rPr>
              <a:t>of the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alphabet.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Times New Roman"/>
              <a:cs typeface="Times New Roman"/>
            </a:endParaRPr>
          </a:p>
          <a:p>
            <a:pPr marL="3529965" lvl="2" indent="-24066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3530600" algn="l"/>
              </a:tabLst>
            </a:pP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think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linear </a:t>
            </a:r>
            <a:r>
              <a:rPr sz="2400" i="1" dirty="0">
                <a:latin typeface="Perpetua"/>
                <a:cs typeface="Perpetua"/>
              </a:rPr>
              <a:t>search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performed </a:t>
            </a:r>
            <a:r>
              <a:rPr sz="2400" i="1" spc="-10" dirty="0">
                <a:latin typeface="Perpetua"/>
                <a:cs typeface="Perpetua"/>
              </a:rPr>
              <a:t>here</a:t>
            </a:r>
            <a:r>
              <a:rPr sz="2400" i="1" spc="-1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1200" y="1600200"/>
            <a:ext cx="1981200" cy="2415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5456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Eg.The </a:t>
            </a:r>
            <a:r>
              <a:rPr dirty="0"/>
              <a:t>game </a:t>
            </a:r>
            <a:r>
              <a:rPr spc="-5" dirty="0"/>
              <a:t>of 20</a:t>
            </a:r>
            <a:r>
              <a:rPr spc="20" dirty="0"/>
              <a:t> </a:t>
            </a:r>
            <a:r>
              <a:rPr spc="-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109446"/>
            <a:ext cx="8529955" cy="537019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3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10" dirty="0">
                <a:latin typeface="Perpetua"/>
                <a:cs typeface="Perpetua"/>
              </a:rPr>
              <a:t>person </a:t>
            </a:r>
            <a:r>
              <a:rPr sz="2600" dirty="0">
                <a:latin typeface="Perpetua"/>
                <a:cs typeface="Perpetua"/>
              </a:rPr>
              <a:t>thinking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famous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person.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2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other </a:t>
            </a:r>
            <a:r>
              <a:rPr sz="2600" spc="-25" dirty="0">
                <a:latin typeface="Perpetua"/>
                <a:cs typeface="Perpetua"/>
              </a:rPr>
              <a:t>player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who it is just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asking </a:t>
            </a:r>
            <a:r>
              <a:rPr sz="2600" i="1" spc="-75" dirty="0">
                <a:latin typeface="Perpetua"/>
                <a:cs typeface="Perpetua"/>
              </a:rPr>
              <a:t>Yes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No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Perpetua"/>
                <a:cs typeface="Perpetua"/>
              </a:rPr>
              <a:t>questions.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2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0" dirty="0">
                <a:latin typeface="Perpetua"/>
                <a:cs typeface="Perpetua"/>
              </a:rPr>
              <a:t>You </a:t>
            </a:r>
            <a:r>
              <a:rPr sz="2600" spc="5" dirty="0">
                <a:latin typeface="Perpetua"/>
                <a:cs typeface="Perpetua"/>
              </a:rPr>
              <a:t>try </a:t>
            </a:r>
            <a:r>
              <a:rPr sz="2600" spc="-5" dirty="0">
                <a:latin typeface="Perpetua"/>
                <a:cs typeface="Perpetua"/>
              </a:rPr>
              <a:t>to do </a:t>
            </a:r>
            <a:r>
              <a:rPr sz="2600" dirty="0">
                <a:latin typeface="Perpetua"/>
                <a:cs typeface="Perpetua"/>
              </a:rPr>
              <a:t>it in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5" dirty="0">
                <a:latin typeface="Perpetua"/>
                <a:cs typeface="Perpetua"/>
              </a:rPr>
              <a:t>few </a:t>
            </a:r>
            <a:r>
              <a:rPr sz="2600" dirty="0">
                <a:latin typeface="Perpetua"/>
                <a:cs typeface="Perpetua"/>
              </a:rPr>
              <a:t>questions </a:t>
            </a:r>
            <a:r>
              <a:rPr sz="2600" spc="-5" dirty="0">
                <a:latin typeface="Perpetua"/>
                <a:cs typeface="Perpetua"/>
              </a:rPr>
              <a:t>as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possible.</a:t>
            </a:r>
            <a:endParaRPr sz="2600">
              <a:latin typeface="Perpetua"/>
              <a:cs typeface="Perpetua"/>
            </a:endParaRPr>
          </a:p>
          <a:p>
            <a:pPr marL="361315" indent="-349250">
              <a:lnSpc>
                <a:spcPct val="100000"/>
              </a:lnSpc>
              <a:spcBef>
                <a:spcPts val="1225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take more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5" dirty="0">
                <a:latin typeface="Perpetua"/>
                <a:cs typeface="Perpetua"/>
              </a:rPr>
              <a:t>20 questions </a:t>
            </a:r>
            <a:r>
              <a:rPr sz="2600" spc="-15" dirty="0">
                <a:latin typeface="Perpetua"/>
                <a:cs typeface="Perpetua"/>
              </a:rPr>
              <a:t>you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lose.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2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dirty="0">
                <a:latin typeface="Perpetua"/>
                <a:cs typeface="Perpetua"/>
              </a:rPr>
              <a:t>this a search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problem?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2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This is </a:t>
            </a:r>
            <a:r>
              <a:rPr sz="2600" i="1" spc="-10" dirty="0">
                <a:latin typeface="Perpetua"/>
                <a:cs typeface="Perpetua"/>
              </a:rPr>
              <a:t>just </a:t>
            </a:r>
            <a:r>
              <a:rPr sz="2600" i="1" dirty="0">
                <a:latin typeface="Perpetua"/>
                <a:cs typeface="Perpetua"/>
              </a:rPr>
              <a:t>a search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problem</a:t>
            </a:r>
            <a:endParaRPr sz="2600">
              <a:latin typeface="Perpetua"/>
              <a:cs typeface="Perpetua"/>
            </a:endParaRPr>
          </a:p>
          <a:p>
            <a:pPr marL="835660" marR="6350" lvl="2" indent="-228600">
              <a:lnSpc>
                <a:spcPct val="120000"/>
              </a:lnSpc>
              <a:spcBef>
                <a:spcPts val="405"/>
              </a:spcBef>
              <a:buSzPct val="80769"/>
              <a:buFont typeface="Wingdings"/>
              <a:buChar char=""/>
              <a:tabLst>
                <a:tab pos="836294" algn="l"/>
              </a:tabLst>
            </a:pP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15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searching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name of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person out of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millions of </a:t>
            </a:r>
            <a:r>
              <a:rPr sz="2600" i="1" spc="-15" dirty="0">
                <a:latin typeface="Perpetua"/>
                <a:cs typeface="Perpetua"/>
              </a:rPr>
              <a:t>famous  </a:t>
            </a:r>
            <a:r>
              <a:rPr sz="2600" i="1" dirty="0">
                <a:latin typeface="Perpetua"/>
                <a:cs typeface="Perpetua"/>
              </a:rPr>
              <a:t>people </a:t>
            </a:r>
            <a:r>
              <a:rPr sz="2600" i="1" spc="-10" dirty="0">
                <a:latin typeface="Perpetua"/>
                <a:cs typeface="Perpetua"/>
              </a:rPr>
              <a:t>there are </a:t>
            </a:r>
            <a:r>
              <a:rPr sz="2600" i="1" spc="-5" dirty="0">
                <a:latin typeface="Perpetua"/>
                <a:cs typeface="Perpetua"/>
              </a:rPr>
              <a:t>in the</a:t>
            </a:r>
            <a:r>
              <a:rPr sz="2600" i="1" spc="-15" dirty="0">
                <a:latin typeface="Perpetua"/>
                <a:cs typeface="Perpetua"/>
              </a:rPr>
              <a:t> world.</a:t>
            </a:r>
            <a:endParaRPr sz="2600">
              <a:latin typeface="Perpetua"/>
              <a:cs typeface="Perpetua"/>
            </a:endParaRPr>
          </a:p>
          <a:p>
            <a:pPr marL="5282565" lvl="3" indent="-240665">
              <a:lnSpc>
                <a:spcPct val="100000"/>
              </a:lnSpc>
              <a:spcBef>
                <a:spcPts val="1689"/>
              </a:spcBef>
              <a:buSzPct val="95833"/>
              <a:buFont typeface="Wingdings"/>
              <a:buChar char=""/>
              <a:tabLst>
                <a:tab pos="528320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25" dirty="0">
                <a:latin typeface="Perpetua"/>
                <a:cs typeface="Perpetua"/>
              </a:rPr>
              <a:t>play </a:t>
            </a:r>
            <a:r>
              <a:rPr sz="2400" i="1" spc="-5" dirty="0">
                <a:latin typeface="Perpetua"/>
                <a:cs typeface="Perpetua"/>
              </a:rPr>
              <a:t>it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linear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40" dirty="0">
                <a:latin typeface="Perpetua"/>
                <a:cs typeface="Perpetua"/>
              </a:rPr>
              <a:t>way?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2743200"/>
            <a:ext cx="2663952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0286"/>
            <a:ext cx="7517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game of 20 Questions the linear</a:t>
            </a:r>
            <a:r>
              <a:rPr spc="5" dirty="0"/>
              <a:t> </a:t>
            </a:r>
            <a:r>
              <a:rPr spc="-65" dirty="0"/>
              <a:t>way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29320" cy="4664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ask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questions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X</a:t>
            </a:r>
            <a:r>
              <a:rPr sz="2600" dirty="0">
                <a:latin typeface="Perpetua"/>
                <a:cs typeface="Perpetua"/>
              </a:rPr>
              <a:t>?"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I-  </a:t>
            </a:r>
            <a:r>
              <a:rPr sz="2600" spc="-80" dirty="0">
                <a:latin typeface="Perpetua"/>
                <a:cs typeface="Perpetua"/>
              </a:rPr>
              <a:t>spy.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5" dirty="0">
                <a:latin typeface="Perpetua"/>
                <a:cs typeface="Perpetua"/>
              </a:rPr>
              <a:t>example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typical game might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go:</a:t>
            </a:r>
            <a:endParaRPr sz="2600">
              <a:latin typeface="Perpetua"/>
              <a:cs typeface="Perpetua"/>
            </a:endParaRPr>
          </a:p>
          <a:p>
            <a:pPr marL="636270" lvl="1" indent="-30416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635635" algn="l"/>
                <a:tab pos="636905" algn="l"/>
              </a:tabLst>
            </a:pPr>
            <a:r>
              <a:rPr sz="2600" i="1" spc="-5" dirty="0">
                <a:latin typeface="Perpetua"/>
                <a:cs typeface="Perpetua"/>
              </a:rPr>
              <a:t>"Is it Nelson</a:t>
            </a:r>
            <a:r>
              <a:rPr sz="2600" i="1" dirty="0">
                <a:latin typeface="Perpetua"/>
                <a:cs typeface="Perpetua"/>
              </a:rPr>
              <a:t> Mandella?"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i="1" spc="-5" dirty="0">
                <a:latin typeface="Perpetua"/>
                <a:cs typeface="Perpetua"/>
              </a:rPr>
              <a:t>"No"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"Is </a:t>
            </a:r>
            <a:r>
              <a:rPr sz="2600" i="1" spc="-5" dirty="0">
                <a:latin typeface="Perpetua"/>
                <a:cs typeface="Perpetua"/>
              </a:rPr>
              <a:t>it Arundhati</a:t>
            </a:r>
            <a:r>
              <a:rPr sz="2600" i="1" spc="-13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Roy?"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i="1" spc="-5" dirty="0">
                <a:latin typeface="Perpetua"/>
                <a:cs typeface="Perpetua"/>
              </a:rPr>
              <a:t>"No"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"Is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spc="-10" dirty="0">
                <a:latin typeface="Perpetua"/>
                <a:cs typeface="Perpetua"/>
              </a:rPr>
              <a:t>Freddy</a:t>
            </a:r>
            <a:r>
              <a:rPr sz="2600" i="1" spc="-4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Mercury?"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i="1" spc="-5" dirty="0">
                <a:latin typeface="Perpetua"/>
                <a:cs typeface="Perpetua"/>
              </a:rPr>
              <a:t>"No“</a:t>
            </a:r>
            <a:endParaRPr sz="2600">
              <a:latin typeface="Perpetua"/>
              <a:cs typeface="Perpetua"/>
            </a:endParaRPr>
          </a:p>
          <a:p>
            <a:pPr marL="4368165" lvl="2" indent="-240665">
              <a:lnSpc>
                <a:spcPct val="100000"/>
              </a:lnSpc>
              <a:spcBef>
                <a:spcPts val="2550"/>
              </a:spcBef>
              <a:buSzPct val="95833"/>
              <a:buFont typeface="Wingdings"/>
              <a:buChar char=""/>
              <a:tabLst>
                <a:tab pos="4368800" algn="l"/>
              </a:tabLst>
            </a:pPr>
            <a:r>
              <a:rPr sz="2400" i="1" dirty="0">
                <a:latin typeface="Perpetua"/>
                <a:cs typeface="Perpetua"/>
              </a:rPr>
              <a:t>Is </a:t>
            </a: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spc="-5" dirty="0">
                <a:latin typeface="Perpetua"/>
                <a:cs typeface="Perpetua"/>
              </a:rPr>
              <a:t>chances of winning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game?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810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Asking </a:t>
            </a:r>
            <a:r>
              <a:rPr spc="-5" dirty="0"/>
              <a:t>the </a:t>
            </a:r>
            <a:r>
              <a:rPr dirty="0"/>
              <a:t>good</a:t>
            </a:r>
            <a:r>
              <a:rPr spc="-30" dirty="0"/>
              <a:t> </a:t>
            </a:r>
            <a:r>
              <a:rPr spc="-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132445" cy="45535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Suppose </a:t>
            </a:r>
            <a:r>
              <a:rPr sz="2600" dirty="0">
                <a:latin typeface="Perpetua"/>
                <a:cs typeface="Perpetua"/>
              </a:rPr>
              <a:t>I </a:t>
            </a:r>
            <a:r>
              <a:rPr sz="2600" spc="-25" dirty="0">
                <a:latin typeface="Perpetua"/>
                <a:cs typeface="Perpetua"/>
              </a:rPr>
              <a:t>played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20 </a:t>
            </a:r>
            <a:r>
              <a:rPr sz="2600" dirty="0">
                <a:latin typeface="Perpetua"/>
                <a:cs typeface="Perpetua"/>
              </a:rPr>
              <a:t>questions with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you.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dirty="0">
                <a:latin typeface="Perpetua"/>
                <a:cs typeface="Perpetua"/>
              </a:rPr>
              <a:t>I ask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first?</a:t>
            </a:r>
            <a:endParaRPr sz="2600">
              <a:latin typeface="Perpetua"/>
              <a:cs typeface="Perpetua"/>
            </a:endParaRPr>
          </a:p>
          <a:p>
            <a:pPr marL="532130">
              <a:lnSpc>
                <a:spcPct val="100000"/>
              </a:lnSpc>
              <a:spcBef>
                <a:spcPts val="395"/>
              </a:spcBef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common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question is: "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person</a:t>
            </a:r>
            <a:r>
              <a:rPr sz="2600" i="1" spc="-1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male</a:t>
            </a:r>
            <a:r>
              <a:rPr sz="2600" spc="-5" dirty="0">
                <a:latin typeface="Perpetua"/>
                <a:cs typeface="Perpetua"/>
              </a:rPr>
              <a:t>?".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Other </a:t>
            </a:r>
            <a:r>
              <a:rPr sz="2600" dirty="0">
                <a:latin typeface="Perpetua"/>
                <a:cs typeface="Perpetua"/>
              </a:rPr>
              <a:t>questions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 </a:t>
            </a:r>
            <a:r>
              <a:rPr sz="2600" spc="-5" dirty="0">
                <a:latin typeface="Perpetua"/>
                <a:cs typeface="Perpetua"/>
              </a:rPr>
              <a:t>might ask </a:t>
            </a:r>
            <a:r>
              <a:rPr sz="2600" spc="-10" dirty="0">
                <a:latin typeface="Perpetua"/>
                <a:cs typeface="Perpetua"/>
              </a:rPr>
              <a:t>early </a:t>
            </a:r>
            <a:r>
              <a:rPr sz="2600" spc="-5" dirty="0">
                <a:latin typeface="Perpetua"/>
                <a:cs typeface="Perpetua"/>
              </a:rPr>
              <a:t>on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are: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" </a:t>
            </a:r>
            <a:r>
              <a:rPr sz="2600" i="1" spc="-5" dirty="0">
                <a:latin typeface="Perpetua"/>
                <a:cs typeface="Perpetua"/>
              </a:rPr>
              <a:t>Is the </a:t>
            </a:r>
            <a:r>
              <a:rPr sz="2600" i="1" dirty="0">
                <a:latin typeface="Perpetua"/>
                <a:cs typeface="Perpetua"/>
              </a:rPr>
              <a:t>person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alive</a:t>
            </a:r>
            <a:r>
              <a:rPr sz="2600" spc="-10" dirty="0">
                <a:latin typeface="Perpetua"/>
                <a:cs typeface="Perpetua"/>
              </a:rPr>
              <a:t>?”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" </a:t>
            </a:r>
            <a:r>
              <a:rPr sz="2600" i="1" spc="-5" dirty="0">
                <a:latin typeface="Perpetua"/>
                <a:cs typeface="Perpetua"/>
              </a:rPr>
              <a:t>Is the </a:t>
            </a:r>
            <a:r>
              <a:rPr sz="2600" i="1" dirty="0">
                <a:latin typeface="Perpetua"/>
                <a:cs typeface="Perpetua"/>
              </a:rPr>
              <a:t>person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fictional</a:t>
            </a:r>
            <a:r>
              <a:rPr sz="2600" spc="-5" dirty="0">
                <a:latin typeface="Perpetua"/>
                <a:cs typeface="Perpetua"/>
              </a:rPr>
              <a:t>?".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650">
              <a:latin typeface="Times New Roman"/>
              <a:cs typeface="Times New Roman"/>
            </a:endParaRPr>
          </a:p>
          <a:p>
            <a:pPr marL="1187450" lvl="2" indent="-260985">
              <a:lnSpc>
                <a:spcPct val="100000"/>
              </a:lnSpc>
              <a:buSzPct val="96153"/>
              <a:buFont typeface="Wingdings"/>
              <a:buChar char=""/>
              <a:tabLst>
                <a:tab pos="1188085" algn="l"/>
              </a:tabLst>
            </a:pPr>
            <a:r>
              <a:rPr sz="2600" i="1" spc="-5" dirty="0">
                <a:latin typeface="Perpetua"/>
                <a:cs typeface="Perpetua"/>
              </a:rPr>
              <a:t>These questions in </a:t>
            </a:r>
            <a:r>
              <a:rPr sz="2600" i="1" spc="5" dirty="0">
                <a:latin typeface="Perpetua"/>
                <a:cs typeface="Perpetua"/>
              </a:rPr>
              <a:t>particular </a:t>
            </a:r>
            <a:r>
              <a:rPr sz="2600" i="1" spc="-5" dirty="0">
                <a:latin typeface="Perpetua"/>
                <a:cs typeface="Perpetua"/>
              </a:rPr>
              <a:t>better than </a:t>
            </a:r>
            <a:r>
              <a:rPr sz="2600" i="1" dirty="0">
                <a:latin typeface="Perpetua"/>
                <a:cs typeface="Perpetua"/>
              </a:rPr>
              <a:t>giving a </a:t>
            </a:r>
            <a:r>
              <a:rPr sz="2600" i="1" spc="5" dirty="0">
                <a:latin typeface="Perpetua"/>
                <a:cs typeface="Perpetua"/>
              </a:rPr>
              <a:t>series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4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names.</a:t>
            </a:r>
            <a:endParaRPr sz="2600">
              <a:latin typeface="Perpetua"/>
              <a:cs typeface="Perpetua"/>
            </a:endParaRPr>
          </a:p>
          <a:p>
            <a:pPr marL="1188085" lvl="2" indent="-261620">
              <a:lnSpc>
                <a:spcPct val="100000"/>
              </a:lnSpc>
              <a:buSzPct val="96153"/>
              <a:buFont typeface="Wingdings"/>
              <a:buChar char=""/>
              <a:tabLst>
                <a:tab pos="1188720" algn="l"/>
              </a:tabLst>
            </a:pPr>
            <a:r>
              <a:rPr sz="2600" i="1" spc="-60" dirty="0">
                <a:latin typeface="Perpetua"/>
                <a:cs typeface="Perpetua"/>
              </a:rPr>
              <a:t>Now, </a:t>
            </a:r>
            <a:r>
              <a:rPr sz="2600" i="1" spc="-20" dirty="0">
                <a:latin typeface="Perpetua"/>
                <a:cs typeface="Perpetua"/>
              </a:rPr>
              <a:t>what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the chances of </a:t>
            </a:r>
            <a:r>
              <a:rPr sz="2600" i="1" dirty="0">
                <a:latin typeface="Perpetua"/>
                <a:cs typeface="Perpetua"/>
              </a:rPr>
              <a:t>winning on </a:t>
            </a:r>
            <a:r>
              <a:rPr sz="2600" i="1" spc="-10" dirty="0">
                <a:latin typeface="Perpetua"/>
                <a:cs typeface="Perpetua"/>
              </a:rPr>
              <a:t>that</a:t>
            </a:r>
            <a:r>
              <a:rPr sz="2600" i="1" spc="-185" dirty="0">
                <a:latin typeface="Perpetua"/>
                <a:cs typeface="Perpetua"/>
              </a:rPr>
              <a:t> </a:t>
            </a:r>
            <a:r>
              <a:rPr sz="2600" i="1" spc="10" dirty="0">
                <a:latin typeface="Perpetua"/>
                <a:cs typeface="Perpetua"/>
              </a:rPr>
              <a:t>turn?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228600"/>
            <a:ext cx="2606040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latin typeface="Perpetua"/>
                <a:cs typeface="Perpetua"/>
              </a:rPr>
              <a:t>Can </a:t>
            </a:r>
            <a:r>
              <a:rPr i="1" spc="-20" dirty="0">
                <a:latin typeface="Perpetua"/>
                <a:cs typeface="Perpetua"/>
              </a:rPr>
              <a:t>we really </a:t>
            </a:r>
            <a:r>
              <a:rPr i="1" spc="-30" dirty="0">
                <a:latin typeface="Perpetua"/>
                <a:cs typeface="Perpetua"/>
              </a:rPr>
              <a:t>manage </a:t>
            </a:r>
            <a:r>
              <a:rPr i="1" dirty="0">
                <a:latin typeface="Perpetua"/>
                <a:cs typeface="Perpetua"/>
              </a:rPr>
              <a:t>to </a:t>
            </a:r>
            <a:r>
              <a:rPr i="1" spc="-30" dirty="0">
                <a:latin typeface="Perpetua"/>
                <a:cs typeface="Perpetua"/>
              </a:rPr>
              <a:t>get </a:t>
            </a:r>
            <a:r>
              <a:rPr i="1" spc="-5" dirty="0">
                <a:latin typeface="Perpetua"/>
                <a:cs typeface="Perpetua"/>
              </a:rPr>
              <a:t>the </a:t>
            </a:r>
            <a:r>
              <a:rPr i="1" spc="-25" dirty="0">
                <a:latin typeface="Perpetua"/>
                <a:cs typeface="Perpetua"/>
              </a:rPr>
              <a:t>answer </a:t>
            </a:r>
            <a:r>
              <a:rPr i="1" spc="-5" dirty="0">
                <a:latin typeface="Perpetua"/>
                <a:cs typeface="Perpetua"/>
              </a:rPr>
              <a:t>in less than  20</a:t>
            </a:r>
            <a:r>
              <a:rPr i="1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questions</a:t>
            </a:r>
            <a:r>
              <a:rPr spc="-5" dirty="0"/>
              <a:t>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288925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8925" algn="l"/>
              </a:tabLst>
            </a:pPr>
            <a:r>
              <a:rPr sz="2600" spc="-5" dirty="0"/>
              <a:t>Ask the ideal question</a:t>
            </a:r>
            <a:r>
              <a:rPr sz="2600" i="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63245" lvl="1" indent="-228600">
              <a:lnSpc>
                <a:spcPct val="100000"/>
              </a:lnSpc>
              <a:spcBef>
                <a:spcPts val="1960"/>
              </a:spcBef>
              <a:buSzPct val="80769"/>
              <a:buFont typeface="Wingdings"/>
              <a:buChar char=""/>
              <a:tabLst>
                <a:tab pos="563245" algn="l"/>
              </a:tabLst>
            </a:pP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ideal</a:t>
            </a:r>
            <a:r>
              <a:rPr sz="2600" i="1" spc="16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question</a:t>
            </a:r>
            <a:r>
              <a:rPr sz="2600" i="1" spc="1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is</a:t>
            </a:r>
            <a:r>
              <a:rPr sz="2600" i="1" spc="16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one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that</a:t>
            </a:r>
            <a:r>
              <a:rPr sz="2600" i="1" spc="150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rules</a:t>
            </a:r>
            <a:r>
              <a:rPr sz="2600" i="1" spc="1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out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half</a:t>
            </a:r>
            <a:r>
              <a:rPr sz="2600" i="1" spc="16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all</a:t>
            </a:r>
            <a:r>
              <a:rPr sz="2600" i="1" spc="14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people</a:t>
            </a:r>
            <a:r>
              <a:rPr sz="2600" i="1" spc="1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if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answer</a:t>
            </a:r>
            <a:r>
              <a:rPr sz="2600" i="1" spc="16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is</a:t>
            </a:r>
            <a:endParaRPr sz="2600">
              <a:latin typeface="Perpetua"/>
              <a:cs typeface="Perpetua"/>
            </a:endParaRPr>
          </a:p>
          <a:p>
            <a:pPr marL="563245">
              <a:lnSpc>
                <a:spcPct val="100000"/>
              </a:lnSpc>
              <a:spcBef>
                <a:spcPts val="1560"/>
              </a:spcBef>
            </a:pPr>
            <a:r>
              <a:rPr sz="2600" b="1" spc="-15" dirty="0">
                <a:latin typeface="Perpetua"/>
                <a:cs typeface="Perpetua"/>
              </a:rPr>
              <a:t>yes, </a:t>
            </a:r>
            <a:r>
              <a:rPr sz="2600" dirty="0"/>
              <a:t>and </a:t>
            </a:r>
            <a:r>
              <a:rPr sz="2600" spc="-5" dirty="0"/>
              <a:t>the other half if the </a:t>
            </a:r>
            <a:r>
              <a:rPr sz="2600" spc="-15" dirty="0"/>
              <a:t>answer </a:t>
            </a:r>
            <a:r>
              <a:rPr sz="2600" spc="-5" dirty="0"/>
              <a:t>is</a:t>
            </a:r>
            <a:r>
              <a:rPr sz="2600" spc="-245" dirty="0"/>
              <a:t> </a:t>
            </a:r>
            <a:r>
              <a:rPr sz="2600" b="1" spc="10" dirty="0">
                <a:latin typeface="Perpetua"/>
                <a:cs typeface="Perpetua"/>
              </a:rPr>
              <a:t>no.</a:t>
            </a:r>
            <a:endParaRPr sz="2600">
              <a:latin typeface="Perpetua"/>
              <a:cs typeface="Perpetua"/>
            </a:endParaRPr>
          </a:p>
          <a:p>
            <a:pPr marL="563245" marR="5080" lvl="1" indent="-228600">
              <a:lnSpc>
                <a:spcPct val="15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98805" algn="l"/>
              </a:tabLst>
            </a:pP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means it </a:t>
            </a:r>
            <a:r>
              <a:rPr sz="2600" i="1" dirty="0">
                <a:latin typeface="Perpetua"/>
                <a:cs typeface="Perpetua"/>
              </a:rPr>
              <a:t>does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0" dirty="0">
                <a:latin typeface="Perpetua"/>
                <a:cs typeface="Perpetua"/>
              </a:rPr>
              <a:t>matter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25" dirty="0">
                <a:latin typeface="Perpetua"/>
                <a:cs typeface="Perpetua"/>
              </a:rPr>
              <a:t>what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answer </a:t>
            </a:r>
            <a:r>
              <a:rPr sz="2600" i="1" spc="-30" dirty="0">
                <a:latin typeface="Perpetua"/>
                <a:cs typeface="Perpetua"/>
              </a:rPr>
              <a:t>is,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10" dirty="0">
                <a:latin typeface="Perpetua"/>
                <a:cs typeface="Perpetua"/>
              </a:rPr>
              <a:t>are equally  </a:t>
            </a:r>
            <a:r>
              <a:rPr sz="2600" i="1" dirty="0">
                <a:latin typeface="Perpetua"/>
                <a:cs typeface="Perpetua"/>
              </a:rPr>
              <a:t>close </a:t>
            </a:r>
            <a:r>
              <a:rPr sz="2600" i="1" spc="-5" dirty="0">
                <a:latin typeface="Perpetua"/>
                <a:cs typeface="Perpetua"/>
              </a:rPr>
              <a:t>to the </a:t>
            </a:r>
            <a:r>
              <a:rPr sz="2600" i="1" dirty="0">
                <a:latin typeface="Perpetua"/>
                <a:cs typeface="Perpetua"/>
              </a:rPr>
              <a:t>person's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identity.</a:t>
            </a:r>
            <a:endParaRPr sz="2600">
              <a:latin typeface="Perpetua"/>
              <a:cs typeface="Perpetua"/>
            </a:endParaRPr>
          </a:p>
          <a:p>
            <a:pPr marL="563245" marR="5715" lvl="1" indent="-228600">
              <a:lnSpc>
                <a:spcPct val="150000"/>
              </a:lnSpc>
              <a:spcBef>
                <a:spcPts val="414"/>
              </a:spcBef>
              <a:buSzPct val="80769"/>
              <a:buFont typeface="Wingdings"/>
              <a:buChar char=""/>
              <a:tabLst>
                <a:tab pos="563245" algn="l"/>
              </a:tabLst>
            </a:pP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more </a:t>
            </a:r>
            <a:r>
              <a:rPr sz="2600" i="1" spc="-5" dirty="0">
                <a:latin typeface="Perpetua"/>
                <a:cs typeface="Perpetua"/>
              </a:rPr>
              <a:t>questions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divide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remaining </a:t>
            </a:r>
            <a:r>
              <a:rPr sz="2600" i="1" spc="-5" dirty="0">
                <a:latin typeface="Perpetua"/>
                <a:cs typeface="Perpetua"/>
              </a:rPr>
              <a:t>possibilities in </a:t>
            </a:r>
            <a:r>
              <a:rPr sz="2600" i="1" dirty="0">
                <a:latin typeface="Perpetua"/>
                <a:cs typeface="Perpetua"/>
              </a:rPr>
              <a:t>half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5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come </a:t>
            </a:r>
            <a:r>
              <a:rPr sz="2600" i="1" spc="-5" dirty="0">
                <a:latin typeface="Perpetua"/>
                <a:cs typeface="Perpetua"/>
              </a:rPr>
              <a:t>up with, the </a:t>
            </a:r>
            <a:r>
              <a:rPr sz="2600" i="1" spc="-10" dirty="0">
                <a:latin typeface="Perpetua"/>
                <a:cs typeface="Perpetua"/>
              </a:rPr>
              <a:t>quicker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will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to the</a:t>
            </a:r>
            <a:r>
              <a:rPr sz="2600" i="1" spc="-195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answer.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05486"/>
            <a:ext cx="65633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It is all about halving the</a:t>
            </a:r>
            <a:r>
              <a:rPr spc="-30" dirty="0"/>
              <a:t> </a:t>
            </a:r>
            <a:r>
              <a:rPr spc="-5" dirty="0"/>
              <a:t>population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7482" rIns="0" bIns="0" rtlCol="0">
            <a:spAutoFit/>
          </a:bodyPr>
          <a:lstStyle/>
          <a:p>
            <a:pPr marL="288290" marR="6350" indent="-274320">
              <a:lnSpc>
                <a:spcPct val="140000"/>
              </a:lnSpc>
              <a:spcBef>
                <a:spcPts val="95"/>
              </a:spcBef>
              <a:buSzPct val="84482"/>
              <a:buFont typeface="Wingdings"/>
              <a:buChar char=""/>
              <a:tabLst>
                <a:tab pos="288925" algn="l"/>
              </a:tabLst>
            </a:pPr>
            <a:r>
              <a:rPr spc="-5" dirty="0"/>
              <a:t>Halving </a:t>
            </a:r>
            <a:r>
              <a:rPr dirty="0"/>
              <a:t>the </a:t>
            </a:r>
            <a:r>
              <a:rPr spc="-5" dirty="0"/>
              <a:t>population </a:t>
            </a:r>
            <a:r>
              <a:rPr spc="-10" dirty="0"/>
              <a:t>repeatedly </a:t>
            </a:r>
            <a:r>
              <a:rPr spc="-15" dirty="0"/>
              <a:t>very quickly </a:t>
            </a:r>
            <a:r>
              <a:rPr dirty="0"/>
              <a:t>takes </a:t>
            </a:r>
            <a:r>
              <a:rPr spc="-20" dirty="0"/>
              <a:t>you </a:t>
            </a:r>
            <a:r>
              <a:rPr dirty="0"/>
              <a:t>to a single  </a:t>
            </a:r>
            <a:r>
              <a:rPr i="1" dirty="0"/>
              <a:t>person.</a:t>
            </a:r>
          </a:p>
          <a:p>
            <a:pPr marL="288290" marR="5080" indent="-274320">
              <a:lnSpc>
                <a:spcPct val="140000"/>
              </a:lnSpc>
              <a:spcBef>
                <a:spcPts val="600"/>
              </a:spcBef>
              <a:buSzPct val="84482"/>
              <a:buFont typeface="Wingdings"/>
              <a:buChar char=""/>
              <a:tabLst>
                <a:tab pos="288925" algn="l"/>
              </a:tabLst>
            </a:pPr>
            <a:r>
              <a:rPr spc="-5" dirty="0"/>
              <a:t>The </a:t>
            </a:r>
            <a:r>
              <a:rPr dirty="0"/>
              <a:t>skill </a:t>
            </a:r>
            <a:r>
              <a:rPr spc="-5" dirty="0"/>
              <a:t>of </a:t>
            </a:r>
            <a:r>
              <a:rPr dirty="0"/>
              <a:t>the </a:t>
            </a:r>
            <a:r>
              <a:rPr spc="-15" dirty="0"/>
              <a:t>game </a:t>
            </a:r>
            <a:r>
              <a:rPr spc="-5" dirty="0"/>
              <a:t>is of </a:t>
            </a:r>
            <a:r>
              <a:rPr dirty="0"/>
              <a:t>course to come up with </a:t>
            </a:r>
            <a:r>
              <a:rPr spc="-10" dirty="0"/>
              <a:t>good </a:t>
            </a:r>
            <a:r>
              <a:rPr dirty="0"/>
              <a:t>questions </a:t>
            </a:r>
            <a:r>
              <a:rPr spc="-10" dirty="0"/>
              <a:t>that  </a:t>
            </a:r>
            <a:r>
              <a:rPr i="1" dirty="0"/>
              <a:t>do </a:t>
            </a:r>
            <a:r>
              <a:rPr i="1" spc="-5" dirty="0"/>
              <a:t>keep </a:t>
            </a:r>
            <a:r>
              <a:rPr i="1" dirty="0"/>
              <a:t>splitting the </a:t>
            </a:r>
            <a:r>
              <a:rPr i="1" spc="-5" dirty="0"/>
              <a:t>field in</a:t>
            </a:r>
            <a:r>
              <a:rPr i="1" spc="-15" dirty="0"/>
              <a:t> </a:t>
            </a:r>
            <a:r>
              <a:rPr i="1" spc="-30" dirty="0"/>
              <a:t>half.</a:t>
            </a:r>
          </a:p>
          <a:p>
            <a:pPr marL="288290" marR="5080" indent="-274320">
              <a:lnSpc>
                <a:spcPct val="140000"/>
              </a:lnSpc>
              <a:spcBef>
                <a:spcPts val="605"/>
              </a:spcBef>
              <a:buSzPct val="84482"/>
              <a:buFont typeface="Wingdings"/>
              <a:buChar char=""/>
              <a:tabLst>
                <a:tab pos="288925" algn="l"/>
              </a:tabLst>
            </a:pPr>
            <a:r>
              <a:rPr dirty="0"/>
              <a:t>If a question does not split the </a:t>
            </a:r>
            <a:r>
              <a:rPr spc="-5" dirty="0"/>
              <a:t>field in </a:t>
            </a:r>
            <a:r>
              <a:rPr dirty="0"/>
              <a:t>half </a:t>
            </a:r>
            <a:r>
              <a:rPr spc="-15" dirty="0"/>
              <a:t>every </a:t>
            </a:r>
            <a:r>
              <a:rPr dirty="0"/>
              <a:t>time </a:t>
            </a:r>
            <a:r>
              <a:rPr spc="-5" dirty="0"/>
              <a:t>it </a:t>
            </a:r>
            <a:r>
              <a:rPr dirty="0"/>
              <a:t>could take  </a:t>
            </a:r>
            <a:r>
              <a:rPr i="1" spc="-10" dirty="0"/>
              <a:t>more questions, </a:t>
            </a:r>
            <a:r>
              <a:rPr i="1" dirty="0"/>
              <a:t>and </a:t>
            </a:r>
            <a:r>
              <a:rPr i="1" spc="-20" dirty="0"/>
              <a:t>you </a:t>
            </a:r>
            <a:r>
              <a:rPr i="1" dirty="0"/>
              <a:t>no </a:t>
            </a:r>
            <a:r>
              <a:rPr i="1" spc="-15" dirty="0"/>
              <a:t>longer </a:t>
            </a:r>
            <a:r>
              <a:rPr i="1" spc="-40" dirty="0"/>
              <a:t>have </a:t>
            </a:r>
            <a:r>
              <a:rPr i="1" spc="-5" dirty="0"/>
              <a:t>that</a:t>
            </a:r>
            <a:r>
              <a:rPr i="1" spc="-229" dirty="0"/>
              <a:t> </a:t>
            </a:r>
            <a:r>
              <a:rPr i="1" spc="-5" dirty="0"/>
              <a:t>guarantee.</a:t>
            </a:r>
          </a:p>
        </p:txBody>
      </p:sp>
      <p:sp>
        <p:nvSpPr>
          <p:cNvPr id="4" name="object 4"/>
          <p:cNvSpPr/>
          <p:nvPr/>
        </p:nvSpPr>
        <p:spPr>
          <a:xfrm>
            <a:off x="3790121" y="933160"/>
            <a:ext cx="5087730" cy="1050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29400" y="228600"/>
            <a:ext cx="2209800" cy="174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670052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Finding a </a:t>
            </a:r>
            <a:r>
              <a:rPr dirty="0"/>
              <a:t>number </a:t>
            </a:r>
            <a:r>
              <a:rPr spc="-5" dirty="0"/>
              <a:t>in a residential  telephone</a:t>
            </a:r>
            <a:r>
              <a:rPr spc="15" dirty="0"/>
              <a:t> </a:t>
            </a:r>
            <a:r>
              <a:rPr spc="-5" dirty="0"/>
              <a:t>directory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602689"/>
            <a:ext cx="8530590" cy="4608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6385" marR="5080" indent="-274320" algn="just">
              <a:lnSpc>
                <a:spcPts val="25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Assume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spc="-5" dirty="0">
                <a:latin typeface="Perpetua"/>
                <a:cs typeface="Perpetua"/>
              </a:rPr>
              <a:t>to find </a:t>
            </a:r>
            <a:r>
              <a:rPr sz="2600" dirty="0">
                <a:latin typeface="Perpetua"/>
                <a:cs typeface="Perpetua"/>
              </a:rPr>
              <a:t>a friend's </a:t>
            </a:r>
            <a:r>
              <a:rPr sz="2600" spc="-5" dirty="0">
                <a:latin typeface="Perpetua"/>
                <a:cs typeface="Perpetua"/>
              </a:rPr>
              <a:t>telephone number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residential  telephone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directory.</a:t>
            </a:r>
            <a:endParaRPr sz="2600">
              <a:latin typeface="Perpetua"/>
              <a:cs typeface="Perpetua"/>
            </a:endParaRPr>
          </a:p>
          <a:p>
            <a:pPr marL="561340" lvl="1" indent="-229235" algn="just">
              <a:lnSpc>
                <a:spcPts val="2900"/>
              </a:lnSpc>
              <a:buSzPct val="84615"/>
              <a:buFont typeface="Arial"/>
              <a:buChar char="•"/>
              <a:tabLst>
                <a:tab pos="561975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5" dirty="0">
                <a:latin typeface="Perpetua"/>
                <a:cs typeface="Perpetua"/>
              </a:rPr>
              <a:t>it? </a:t>
            </a:r>
            <a:r>
              <a:rPr sz="2600" i="1" dirty="0">
                <a:latin typeface="Perpetua"/>
                <a:cs typeface="Perpetua"/>
              </a:rPr>
              <a:t>Did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use linear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search?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ts val="2500"/>
              </a:lnSpc>
              <a:spcBef>
                <a:spcPts val="59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Did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10" dirty="0">
                <a:latin typeface="Perpetua"/>
                <a:cs typeface="Perpetua"/>
              </a:rPr>
              <a:t>start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the first </a:t>
            </a:r>
            <a:r>
              <a:rPr sz="2600" i="1" spc="-25" dirty="0">
                <a:latin typeface="Perpetua"/>
                <a:cs typeface="Perpetua"/>
              </a:rPr>
              <a:t>page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0" dirty="0">
                <a:latin typeface="Perpetua"/>
                <a:cs typeface="Perpetua"/>
              </a:rPr>
              <a:t>checking every </a:t>
            </a:r>
            <a:r>
              <a:rPr sz="2600" i="1" spc="-5" dirty="0">
                <a:latin typeface="Perpetua"/>
                <a:cs typeface="Perpetua"/>
              </a:rPr>
              <a:t>entry </a:t>
            </a:r>
            <a:r>
              <a:rPr sz="2600" i="1" dirty="0">
                <a:latin typeface="Perpetua"/>
                <a:cs typeface="Perpetua"/>
              </a:rPr>
              <a:t>until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10" dirty="0">
                <a:latin typeface="Perpetua"/>
                <a:cs typeface="Perpetua"/>
              </a:rPr>
              <a:t>found </a:t>
            </a:r>
            <a:r>
              <a:rPr sz="2600" i="1" spc="-15" dirty="0">
                <a:latin typeface="Perpetua"/>
                <a:cs typeface="Perpetua"/>
              </a:rPr>
              <a:t>your </a:t>
            </a:r>
            <a:r>
              <a:rPr sz="2600" i="1" spc="5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friend's?</a:t>
            </a:r>
            <a:endParaRPr sz="2600">
              <a:latin typeface="Perpetua"/>
              <a:cs typeface="Perpetua"/>
            </a:endParaRPr>
          </a:p>
          <a:p>
            <a:pPr marL="561340" marR="5715" lvl="1" indent="-229235" algn="just">
              <a:lnSpc>
                <a:spcPts val="25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spc="-5" dirty="0">
                <a:latin typeface="Perpetua"/>
                <a:cs typeface="Perpetua"/>
              </a:rPr>
              <a:t>If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did,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spc="-15" dirty="0">
                <a:latin typeface="Perpetua"/>
                <a:cs typeface="Perpetua"/>
              </a:rPr>
              <a:t>probably </a:t>
            </a:r>
            <a:r>
              <a:rPr sz="2600" i="1" spc="-5" dirty="0">
                <a:latin typeface="Perpetua"/>
                <a:cs typeface="Perpetua"/>
              </a:rPr>
              <a:t>took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very </a:t>
            </a:r>
            <a:r>
              <a:rPr sz="2600" i="1" spc="-5" dirty="0">
                <a:latin typeface="Perpetua"/>
                <a:cs typeface="Perpetua"/>
              </a:rPr>
              <a:t>long time </a:t>
            </a:r>
            <a:r>
              <a:rPr sz="2600" i="1" dirty="0">
                <a:latin typeface="Perpetua"/>
                <a:cs typeface="Perpetua"/>
              </a:rPr>
              <a:t>(unless </a:t>
            </a:r>
            <a:r>
              <a:rPr sz="2600" i="1" spc="-5" dirty="0">
                <a:latin typeface="Perpetua"/>
                <a:cs typeface="Perpetua"/>
              </a:rPr>
              <a:t>their </a:t>
            </a:r>
            <a:r>
              <a:rPr sz="2600" i="1" dirty="0">
                <a:latin typeface="Perpetua"/>
                <a:cs typeface="Perpetua"/>
              </a:rPr>
              <a:t>name  happens </a:t>
            </a:r>
            <a:r>
              <a:rPr sz="2600" i="1" spc="-5" dirty="0">
                <a:latin typeface="Perpetua"/>
                <a:cs typeface="Perpetua"/>
              </a:rPr>
              <a:t>to be something like Aahann, Aammir or </a:t>
            </a:r>
            <a:r>
              <a:rPr sz="2600" i="1" spc="-10" dirty="0">
                <a:latin typeface="Perpetua"/>
                <a:cs typeface="Perpetua"/>
              </a:rPr>
              <a:t>Aaronovitch </a:t>
            </a:r>
            <a:r>
              <a:rPr sz="2600" i="1" dirty="0">
                <a:latin typeface="Perpetua"/>
                <a:cs typeface="Perpetua"/>
              </a:rPr>
              <a:t>– and </a:t>
            </a:r>
            <a:r>
              <a:rPr sz="2600" i="1" spc="-5" dirty="0">
                <a:latin typeface="Perpetua"/>
                <a:cs typeface="Perpetua"/>
              </a:rPr>
              <a:t>it is  </a:t>
            </a:r>
            <a:r>
              <a:rPr sz="2600" i="1" spc="-10" dirty="0">
                <a:latin typeface="Perpetua"/>
                <a:cs typeface="Perpetua"/>
              </a:rPr>
              <a:t>very </a:t>
            </a:r>
            <a:r>
              <a:rPr sz="2600" i="1" spc="-5" dirty="0">
                <a:latin typeface="Perpetua"/>
                <a:cs typeface="Perpetua"/>
              </a:rPr>
              <a:t>bad </a:t>
            </a:r>
            <a:r>
              <a:rPr sz="2600" i="1" dirty="0">
                <a:latin typeface="Perpetua"/>
                <a:cs typeface="Perpetua"/>
              </a:rPr>
              <a:t>news </a:t>
            </a:r>
            <a:r>
              <a:rPr sz="2600" i="1" spc="-5" dirty="0">
                <a:latin typeface="Perpetua"/>
                <a:cs typeface="Perpetua"/>
              </a:rPr>
              <a:t>if their name is </a:t>
            </a:r>
            <a:r>
              <a:rPr sz="2600" i="1" dirty="0">
                <a:latin typeface="Perpetua"/>
                <a:cs typeface="Perpetua"/>
              </a:rPr>
              <a:t>Zwiebel, </a:t>
            </a:r>
            <a:r>
              <a:rPr sz="2600" i="1" spc="-10" dirty="0">
                <a:latin typeface="Perpetua"/>
                <a:cs typeface="Perpetua"/>
              </a:rPr>
              <a:t>Zygovistinos 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spc="-24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Zykun).</a:t>
            </a:r>
            <a:endParaRPr sz="2600">
              <a:latin typeface="Perpetua"/>
              <a:cs typeface="Perpetua"/>
            </a:endParaRPr>
          </a:p>
          <a:p>
            <a:pPr marL="286385" marR="6985" indent="-274320" algn="just">
              <a:lnSpc>
                <a:spcPts val="2500"/>
              </a:lnSpc>
              <a:spcBef>
                <a:spcPts val="59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i="1" spc="-10" dirty="0">
                <a:latin typeface="Perpetua"/>
                <a:cs typeface="Perpetua"/>
              </a:rPr>
              <a:t>Steinbeck</a:t>
            </a:r>
            <a:r>
              <a:rPr sz="2600" spc="-10" dirty="0">
                <a:latin typeface="Perpetua"/>
                <a:cs typeface="Perpetua"/>
              </a:rPr>
              <a:t>,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0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spc="-10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15" dirty="0">
                <a:latin typeface="Perpetua"/>
                <a:cs typeface="Perpetua"/>
              </a:rPr>
              <a:t>page,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open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directory </a:t>
            </a:r>
            <a:r>
              <a:rPr sz="2600" spc="-10" dirty="0">
                <a:latin typeface="Perpetua"/>
                <a:cs typeface="Perpetua"/>
              </a:rPr>
              <a:t>somewhere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-8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middle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61340" marR="5080" lvl="1" indent="-229235" algn="just">
              <a:lnSpc>
                <a:spcPct val="80000"/>
              </a:lnSpc>
              <a:spcBef>
                <a:spcPts val="414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spc="-10" dirty="0">
                <a:latin typeface="Perpetua"/>
                <a:cs typeface="Perpetua"/>
              </a:rPr>
              <a:t>There </a:t>
            </a:r>
            <a:r>
              <a:rPr sz="2600" i="1" spc="-5" dirty="0">
                <a:latin typeface="Perpetua"/>
                <a:cs typeface="Perpetua"/>
              </a:rPr>
              <a:t>is little point </a:t>
            </a:r>
            <a:r>
              <a:rPr sz="2600" i="1" spc="5" dirty="0">
                <a:latin typeface="Perpetua"/>
                <a:cs typeface="Perpetua"/>
              </a:rPr>
              <a:t>starting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spc="-5" dirty="0">
                <a:latin typeface="Perpetua"/>
                <a:cs typeface="Perpetua"/>
              </a:rPr>
              <a:t>the beginning, </a:t>
            </a:r>
            <a:r>
              <a:rPr sz="2600" i="1" dirty="0">
                <a:latin typeface="Perpetua"/>
                <a:cs typeface="Perpetua"/>
              </a:rPr>
              <a:t>after all, as a </a:t>
            </a:r>
            <a:r>
              <a:rPr sz="2600" i="1" spc="-5" dirty="0">
                <a:latin typeface="Perpetua"/>
                <a:cs typeface="Perpetua"/>
              </a:rPr>
              <a:t>name </a:t>
            </a:r>
            <a:r>
              <a:rPr sz="2600" i="1" dirty="0">
                <a:latin typeface="Perpetua"/>
                <a:cs typeface="Perpetua"/>
              </a:rPr>
              <a:t>starting  with S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more likely </a:t>
            </a:r>
            <a:r>
              <a:rPr sz="2600" i="1" spc="-5" dirty="0">
                <a:latin typeface="Perpetua"/>
                <a:cs typeface="Perpetua"/>
              </a:rPr>
              <a:t>to be </a:t>
            </a:r>
            <a:r>
              <a:rPr sz="2600" i="1" dirty="0">
                <a:latin typeface="Perpetua"/>
                <a:cs typeface="Perpetua"/>
              </a:rPr>
              <a:t>near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end.</a:t>
            </a:r>
            <a:endParaRPr sz="2600">
              <a:latin typeface="Perpetua"/>
              <a:cs typeface="Perpetua"/>
            </a:endParaRPr>
          </a:p>
          <a:p>
            <a:pPr marL="361315" indent="-349250" algn="just">
              <a:lnSpc>
                <a:spcPts val="3100"/>
              </a:lnSpc>
              <a:buSzPct val="84615"/>
              <a:buFont typeface="Wingdings"/>
              <a:buChar char=""/>
              <a:tabLst>
                <a:tab pos="361950" algn="l"/>
              </a:tabLst>
            </a:pPr>
            <a:r>
              <a:rPr sz="2600" spc="-60" dirty="0">
                <a:latin typeface="Perpetua"/>
                <a:cs typeface="Perpetua"/>
              </a:rPr>
              <a:t>However, </a:t>
            </a:r>
            <a:r>
              <a:rPr sz="2600" dirty="0">
                <a:latin typeface="Perpetua"/>
                <a:cs typeface="Perpetua"/>
              </a:rPr>
              <a:t>it is </a:t>
            </a:r>
            <a:r>
              <a:rPr sz="2600" spc="-10" dirty="0">
                <a:latin typeface="Perpetua"/>
                <a:cs typeface="Perpetua"/>
              </a:rPr>
              <a:t>possible 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i="1" spc="-20" dirty="0">
                <a:latin typeface="Perpetua"/>
                <a:cs typeface="Perpetua"/>
              </a:rPr>
              <a:t>over </a:t>
            </a:r>
            <a:r>
              <a:rPr sz="2600" i="1" spc="-5" dirty="0">
                <a:latin typeface="Perpetua"/>
                <a:cs typeface="Perpetua"/>
              </a:rPr>
              <a:t>shot the </a:t>
            </a:r>
            <a:r>
              <a:rPr sz="2600" i="1" spc="-20" dirty="0">
                <a:latin typeface="Perpetua"/>
                <a:cs typeface="Perpetua"/>
              </a:rPr>
              <a:t>page </a:t>
            </a:r>
            <a:r>
              <a:rPr sz="2600" spc="-15" dirty="0">
                <a:latin typeface="Perpetua"/>
                <a:cs typeface="Perpetua"/>
              </a:rPr>
              <a:t>you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wanted.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10" dirty="0"/>
              <a:t>search </a:t>
            </a:r>
            <a:r>
              <a:rPr dirty="0"/>
              <a:t>for</a:t>
            </a:r>
            <a:r>
              <a:rPr spc="-240" dirty="0"/>
              <a:t> </a:t>
            </a:r>
            <a:r>
              <a:rPr spc="-10" dirty="0"/>
              <a:t>“</a:t>
            </a:r>
            <a:r>
              <a:rPr i="1" spc="-10" dirty="0">
                <a:latin typeface="Perpetua"/>
                <a:cs typeface="Perpetua"/>
              </a:rPr>
              <a:t>Steinbeck”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79446"/>
            <a:ext cx="8604885" cy="5360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000"/>
              <a:buFont typeface="Wingdings"/>
              <a:buChar char=""/>
              <a:tabLst>
                <a:tab pos="287020" algn="l"/>
              </a:tabLst>
            </a:pPr>
            <a:r>
              <a:rPr sz="2500" i="1" spc="-5" dirty="0">
                <a:latin typeface="Perpetua"/>
                <a:cs typeface="Perpetua"/>
              </a:rPr>
              <a:t>Let us suppose I </a:t>
            </a:r>
            <a:r>
              <a:rPr sz="2500" i="1" spc="-10" dirty="0">
                <a:latin typeface="Perpetua"/>
                <a:cs typeface="Perpetua"/>
              </a:rPr>
              <a:t>opened </a:t>
            </a:r>
            <a:r>
              <a:rPr sz="2500" i="1" spc="-5" dirty="0">
                <a:latin typeface="Perpetua"/>
                <a:cs typeface="Perpetua"/>
              </a:rPr>
              <a:t>the book </a:t>
            </a:r>
            <a:r>
              <a:rPr sz="2500" i="1" spc="-20" dirty="0">
                <a:latin typeface="Perpetua"/>
                <a:cs typeface="Perpetua"/>
              </a:rPr>
              <a:t>at</a:t>
            </a:r>
            <a:r>
              <a:rPr sz="2500" i="1" spc="55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McDonald.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It </a:t>
            </a:r>
            <a:r>
              <a:rPr sz="2500" dirty="0">
                <a:latin typeface="Perpetua"/>
                <a:cs typeface="Perpetua"/>
              </a:rPr>
              <a:t>is </a:t>
            </a:r>
            <a:r>
              <a:rPr sz="2500" spc="-10" dirty="0">
                <a:latin typeface="Perpetua"/>
                <a:cs typeface="Perpetua"/>
              </a:rPr>
              <a:t>before </a:t>
            </a:r>
            <a:r>
              <a:rPr sz="2500" dirty="0">
                <a:latin typeface="Perpetua"/>
                <a:cs typeface="Perpetua"/>
              </a:rPr>
              <a:t>Steinbeck, </a:t>
            </a:r>
            <a:r>
              <a:rPr sz="2500" i="1" spc="-5" dirty="0">
                <a:latin typeface="Perpetua"/>
                <a:cs typeface="Perpetua"/>
              </a:rPr>
              <a:t>so I </a:t>
            </a:r>
            <a:r>
              <a:rPr sz="2500" i="1" spc="-10" dirty="0">
                <a:latin typeface="Perpetua"/>
                <a:cs typeface="Perpetua"/>
              </a:rPr>
              <a:t>ignore </a:t>
            </a:r>
            <a:r>
              <a:rPr sz="2500" i="1" spc="-5" dirty="0">
                <a:latin typeface="Perpetua"/>
                <a:cs typeface="Perpetua"/>
              </a:rPr>
              <a:t>all </a:t>
            </a:r>
            <a:r>
              <a:rPr sz="2500" i="1" spc="-20" dirty="0">
                <a:latin typeface="Perpetua"/>
                <a:cs typeface="Perpetua"/>
              </a:rPr>
              <a:t>pages before </a:t>
            </a:r>
            <a:r>
              <a:rPr sz="2500" i="1" spc="-10" dirty="0">
                <a:latin typeface="Perpetua"/>
                <a:cs typeface="Perpetua"/>
              </a:rPr>
              <a:t>that</a:t>
            </a:r>
            <a:r>
              <a:rPr sz="2500" i="1" spc="5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point</a:t>
            </a:r>
            <a:r>
              <a:rPr sz="2500" spc="-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I </a:t>
            </a:r>
            <a:r>
              <a:rPr sz="2500" spc="-35" dirty="0">
                <a:latin typeface="Perpetua"/>
                <a:cs typeface="Perpetua"/>
              </a:rPr>
              <a:t>move </a:t>
            </a:r>
            <a:r>
              <a:rPr sz="2500" spc="-5" dirty="0">
                <a:latin typeface="Perpetua"/>
                <a:cs typeface="Perpetua"/>
              </a:rPr>
              <a:t>to a page half </a:t>
            </a:r>
            <a:r>
              <a:rPr sz="2500" spc="-40" dirty="0">
                <a:latin typeface="Perpetua"/>
                <a:cs typeface="Perpetua"/>
              </a:rPr>
              <a:t>way </a:t>
            </a:r>
            <a:r>
              <a:rPr sz="2500" spc="-20" dirty="0">
                <a:latin typeface="Perpetua"/>
                <a:cs typeface="Perpetua"/>
              </a:rPr>
              <a:t>between </a:t>
            </a:r>
            <a:r>
              <a:rPr sz="2500" i="1" spc="-5" dirty="0">
                <a:latin typeface="Perpetua"/>
                <a:cs typeface="Perpetua"/>
              </a:rPr>
              <a:t>McDonald </a:t>
            </a:r>
            <a:r>
              <a:rPr sz="2500" spc="-5" dirty="0">
                <a:latin typeface="Perpetua"/>
                <a:cs typeface="Perpetua"/>
              </a:rPr>
              <a:t>and the </a:t>
            </a:r>
            <a:r>
              <a:rPr sz="2500" spc="-10" dirty="0">
                <a:latin typeface="Perpetua"/>
                <a:cs typeface="Perpetua"/>
              </a:rPr>
              <a:t>end </a:t>
            </a:r>
            <a:r>
              <a:rPr sz="2500" spc="-5" dirty="0">
                <a:latin typeface="Perpetua"/>
                <a:cs typeface="Perpetua"/>
              </a:rPr>
              <a:t>of the</a:t>
            </a:r>
            <a:r>
              <a:rPr sz="2500" spc="229" dirty="0">
                <a:latin typeface="Perpetua"/>
                <a:cs typeface="Perpetua"/>
              </a:rPr>
              <a:t> </a:t>
            </a:r>
            <a:r>
              <a:rPr sz="2500" spc="-10" dirty="0">
                <a:latin typeface="Perpetua"/>
                <a:cs typeface="Perpetua"/>
              </a:rPr>
              <a:t>book.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This time the </a:t>
            </a:r>
            <a:r>
              <a:rPr sz="2500" spc="5" dirty="0">
                <a:latin typeface="Perpetua"/>
                <a:cs typeface="Perpetua"/>
              </a:rPr>
              <a:t>first </a:t>
            </a:r>
            <a:r>
              <a:rPr sz="2500" spc="-5" dirty="0">
                <a:latin typeface="Perpetua"/>
                <a:cs typeface="Perpetua"/>
              </a:rPr>
              <a:t>name on </a:t>
            </a: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spc="-5" dirty="0">
                <a:latin typeface="Perpetua"/>
                <a:cs typeface="Perpetua"/>
              </a:rPr>
              <a:t>page is </a:t>
            </a:r>
            <a:r>
              <a:rPr sz="2500" i="1" spc="-60" dirty="0">
                <a:latin typeface="Perpetua"/>
                <a:cs typeface="Perpetua"/>
              </a:rPr>
              <a:t>Tambe</a:t>
            </a:r>
            <a:r>
              <a:rPr sz="2500" spc="-60" dirty="0">
                <a:latin typeface="Perpetua"/>
                <a:cs typeface="Perpetua"/>
              </a:rPr>
              <a:t>, </a:t>
            </a:r>
            <a:r>
              <a:rPr sz="2500" i="1" spc="-5" dirty="0">
                <a:latin typeface="Perpetua"/>
                <a:cs typeface="Perpetua"/>
              </a:rPr>
              <a:t>so I</a:t>
            </a:r>
            <a:r>
              <a:rPr sz="2500" i="1" spc="100" dirty="0">
                <a:latin typeface="Perpetua"/>
                <a:cs typeface="Perpetua"/>
              </a:rPr>
              <a:t> </a:t>
            </a:r>
            <a:r>
              <a:rPr sz="2500" i="1" spc="-15" dirty="0">
                <a:latin typeface="Perpetua"/>
                <a:cs typeface="Perpetua"/>
              </a:rPr>
              <a:t>overshot</a:t>
            </a:r>
            <a:r>
              <a:rPr sz="2500" spc="-1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650">
              <a:latin typeface="Times New Roman"/>
              <a:cs typeface="Times New Roman"/>
            </a:endParaRPr>
          </a:p>
          <a:p>
            <a:pPr marL="286385" marR="13335" indent="-274320">
              <a:lnSpc>
                <a:spcPct val="100000"/>
              </a:lnSpc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I </a:t>
            </a:r>
            <a:r>
              <a:rPr sz="2500" spc="-25" dirty="0">
                <a:latin typeface="Perpetua"/>
                <a:cs typeface="Perpetua"/>
              </a:rPr>
              <a:t>now </a:t>
            </a:r>
            <a:r>
              <a:rPr sz="2500" spc="-5" dirty="0">
                <a:latin typeface="Perpetua"/>
                <a:cs typeface="Perpetua"/>
              </a:rPr>
              <a:t>go </a:t>
            </a:r>
            <a:r>
              <a:rPr sz="2500" dirty="0">
                <a:latin typeface="Perpetua"/>
                <a:cs typeface="Perpetua"/>
              </a:rPr>
              <a:t>half </a:t>
            </a:r>
            <a:r>
              <a:rPr sz="2500" spc="-40" dirty="0">
                <a:latin typeface="Perpetua"/>
                <a:cs typeface="Perpetua"/>
              </a:rPr>
              <a:t>way </a:t>
            </a:r>
            <a:r>
              <a:rPr sz="2500" spc="-20" dirty="0">
                <a:latin typeface="Perpetua"/>
                <a:cs typeface="Perpetua"/>
              </a:rPr>
              <a:t>between </a:t>
            </a:r>
            <a:r>
              <a:rPr sz="2500" i="1" spc="-5" dirty="0">
                <a:latin typeface="Perpetua"/>
                <a:cs typeface="Perpetua"/>
              </a:rPr>
              <a:t>McDonald </a:t>
            </a:r>
            <a:r>
              <a:rPr sz="2500" spc="-5" dirty="0">
                <a:latin typeface="Perpetua"/>
                <a:cs typeface="Perpetua"/>
              </a:rPr>
              <a:t>(</a:t>
            </a:r>
            <a:r>
              <a:rPr sz="2500" i="1" spc="-5" dirty="0">
                <a:latin typeface="Perpetua"/>
                <a:cs typeface="Perpetua"/>
              </a:rPr>
              <a:t>assuming I remembered to keep </a:t>
            </a:r>
            <a:r>
              <a:rPr sz="2500" i="1" spc="-70" dirty="0">
                <a:latin typeface="Perpetua"/>
                <a:cs typeface="Perpetua"/>
              </a:rPr>
              <a:t>my  </a:t>
            </a:r>
            <a:r>
              <a:rPr sz="2500" i="1" spc="-10" dirty="0">
                <a:latin typeface="Perpetua"/>
                <a:cs typeface="Perpetua"/>
              </a:rPr>
              <a:t>finger </a:t>
            </a:r>
            <a:r>
              <a:rPr sz="2500" i="1" spc="-5" dirty="0">
                <a:latin typeface="Perpetua"/>
                <a:cs typeface="Perpetua"/>
              </a:rPr>
              <a:t>in </a:t>
            </a:r>
            <a:r>
              <a:rPr sz="2500" i="1" spc="-10" dirty="0">
                <a:latin typeface="Perpetua"/>
                <a:cs typeface="Perpetua"/>
              </a:rPr>
              <a:t>that </a:t>
            </a:r>
            <a:r>
              <a:rPr sz="2500" i="1" spc="-5" dirty="0">
                <a:latin typeface="Perpetua"/>
                <a:cs typeface="Perpetua"/>
              </a:rPr>
              <a:t>place</a:t>
            </a:r>
            <a:r>
              <a:rPr sz="2500" spc="-5" dirty="0">
                <a:latin typeface="Perpetua"/>
                <a:cs typeface="Perpetua"/>
              </a:rPr>
              <a:t>) and </a:t>
            </a:r>
            <a:r>
              <a:rPr sz="2500" i="1" spc="-65" dirty="0">
                <a:latin typeface="Perpetua"/>
                <a:cs typeface="Perpetua"/>
              </a:rPr>
              <a:t>Tambe </a:t>
            </a:r>
            <a:r>
              <a:rPr sz="2500" spc="-5" dirty="0">
                <a:latin typeface="Perpetua"/>
                <a:cs typeface="Perpetua"/>
              </a:rPr>
              <a:t>finding</a:t>
            </a:r>
            <a:r>
              <a:rPr sz="2500" spc="150" dirty="0">
                <a:latin typeface="Perpetua"/>
                <a:cs typeface="Perpetua"/>
              </a:rPr>
              <a:t> </a:t>
            </a:r>
            <a:r>
              <a:rPr sz="2500" i="1" spc="-25" dirty="0">
                <a:latin typeface="Perpetua"/>
                <a:cs typeface="Perpetua"/>
              </a:rPr>
              <a:t>Poulter</a:t>
            </a:r>
            <a:endParaRPr sz="2500">
              <a:latin typeface="Perpetua"/>
              <a:cs typeface="Perpetua"/>
            </a:endParaRPr>
          </a:p>
          <a:p>
            <a:pPr marL="2827655">
              <a:lnSpc>
                <a:spcPct val="100000"/>
              </a:lnSpc>
              <a:spcBef>
                <a:spcPts val="600"/>
              </a:spcBef>
            </a:pPr>
            <a:r>
              <a:rPr sz="2500" i="1" spc="-5" dirty="0">
                <a:latin typeface="Perpetua"/>
                <a:cs typeface="Perpetua"/>
              </a:rPr>
              <a:t>I </a:t>
            </a:r>
            <a:r>
              <a:rPr sz="2500" i="1" spc="-15" dirty="0">
                <a:latin typeface="Perpetua"/>
                <a:cs typeface="Perpetua"/>
              </a:rPr>
              <a:t>overshot </a:t>
            </a:r>
            <a:r>
              <a:rPr sz="2500" i="1" spc="-5" dirty="0">
                <a:latin typeface="Perpetua"/>
                <a:cs typeface="Perpetua"/>
              </a:rPr>
              <a:t>in the other direction this</a:t>
            </a:r>
            <a:r>
              <a:rPr sz="2500" i="1" spc="35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time.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I go forwards again to a point </a:t>
            </a:r>
            <a:r>
              <a:rPr sz="2500" spc="-20" dirty="0">
                <a:latin typeface="Perpetua"/>
                <a:cs typeface="Perpetua"/>
              </a:rPr>
              <a:t>halfway between </a:t>
            </a:r>
            <a:r>
              <a:rPr sz="2500" i="1" spc="-20" dirty="0">
                <a:latin typeface="Perpetua"/>
                <a:cs typeface="Perpetua"/>
              </a:rPr>
              <a:t>Poulter </a:t>
            </a:r>
            <a:r>
              <a:rPr sz="2500" spc="-5" dirty="0">
                <a:latin typeface="Perpetua"/>
                <a:cs typeface="Perpetua"/>
              </a:rPr>
              <a:t>and </a:t>
            </a:r>
            <a:r>
              <a:rPr sz="2500" i="1" spc="-70" dirty="0">
                <a:latin typeface="Perpetua"/>
                <a:cs typeface="Perpetua"/>
              </a:rPr>
              <a:t>Tambe </a:t>
            </a:r>
            <a:r>
              <a:rPr sz="2500" dirty="0">
                <a:latin typeface="Perpetua"/>
                <a:cs typeface="Perpetua"/>
              </a:rPr>
              <a:t>and</a:t>
            </a:r>
            <a:r>
              <a:rPr sz="2500" spc="390" dirty="0">
                <a:latin typeface="Perpetua"/>
                <a:cs typeface="Perpetua"/>
              </a:rPr>
              <a:t> </a:t>
            </a:r>
            <a:r>
              <a:rPr sz="2500" dirty="0">
                <a:latin typeface="Perpetua"/>
                <a:cs typeface="Perpetua"/>
              </a:rPr>
              <a:t>find</a:t>
            </a:r>
            <a:endParaRPr sz="25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500" i="1" spc="-5" dirty="0">
                <a:latin typeface="Perpetua"/>
                <a:cs typeface="Perpetua"/>
              </a:rPr>
              <a:t>Shah</a:t>
            </a:r>
            <a:r>
              <a:rPr sz="2500" spc="-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Not </a:t>
            </a:r>
            <a:r>
              <a:rPr sz="2500" spc="-10" dirty="0">
                <a:latin typeface="Perpetua"/>
                <a:cs typeface="Perpetua"/>
              </a:rPr>
              <a:t>far </a:t>
            </a:r>
            <a:r>
              <a:rPr sz="2500" spc="-5" dirty="0">
                <a:latin typeface="Perpetua"/>
                <a:cs typeface="Perpetua"/>
              </a:rPr>
              <a:t>enough, so I split </a:t>
            </a:r>
            <a:r>
              <a:rPr sz="2500" spc="-20" dirty="0">
                <a:latin typeface="Perpetua"/>
                <a:cs typeface="Perpetua"/>
              </a:rPr>
              <a:t>between </a:t>
            </a:r>
            <a:r>
              <a:rPr sz="2500" i="1" spc="-5" dirty="0">
                <a:latin typeface="Perpetua"/>
                <a:cs typeface="Perpetua"/>
              </a:rPr>
              <a:t>Shah </a:t>
            </a:r>
            <a:r>
              <a:rPr sz="2500" spc="-5" dirty="0">
                <a:latin typeface="Perpetua"/>
                <a:cs typeface="Perpetua"/>
              </a:rPr>
              <a:t>and </a:t>
            </a:r>
            <a:r>
              <a:rPr sz="2500" i="1" spc="-70" dirty="0">
                <a:latin typeface="Perpetua"/>
                <a:cs typeface="Perpetua"/>
              </a:rPr>
              <a:t>Tambe </a:t>
            </a:r>
            <a:r>
              <a:rPr sz="2500" spc="-5" dirty="0">
                <a:latin typeface="Perpetua"/>
                <a:cs typeface="Perpetua"/>
              </a:rPr>
              <a:t>and find</a:t>
            </a:r>
            <a:r>
              <a:rPr sz="2500" spc="15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Smith</a:t>
            </a:r>
            <a:r>
              <a:rPr sz="2500" spc="-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 marL="5499735">
              <a:lnSpc>
                <a:spcPct val="100000"/>
              </a:lnSpc>
              <a:spcBef>
                <a:spcPts val="605"/>
              </a:spcBef>
            </a:pPr>
            <a:r>
              <a:rPr sz="2500" i="1" spc="-10" dirty="0">
                <a:latin typeface="Perpetua"/>
                <a:cs typeface="Perpetua"/>
              </a:rPr>
              <a:t>Smith </a:t>
            </a:r>
            <a:r>
              <a:rPr sz="2500" i="1" dirty="0">
                <a:latin typeface="Perpetua"/>
                <a:cs typeface="Perpetua"/>
              </a:rPr>
              <a:t>not </a:t>
            </a:r>
            <a:r>
              <a:rPr sz="2500" i="1" spc="-20" dirty="0">
                <a:latin typeface="Perpetua"/>
                <a:cs typeface="Perpetua"/>
              </a:rPr>
              <a:t>far</a:t>
            </a:r>
            <a:r>
              <a:rPr sz="2500" i="1" spc="-5" dirty="0">
                <a:latin typeface="Perpetua"/>
                <a:cs typeface="Perpetua"/>
              </a:rPr>
              <a:t> enough….</a:t>
            </a:r>
            <a:endParaRPr sz="25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5721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10" dirty="0"/>
              <a:t>search </a:t>
            </a:r>
            <a:r>
              <a:rPr dirty="0"/>
              <a:t>for </a:t>
            </a:r>
            <a:r>
              <a:rPr spc="-10" dirty="0"/>
              <a:t>“</a:t>
            </a:r>
            <a:r>
              <a:rPr i="1" spc="-10" dirty="0">
                <a:latin typeface="Perpetua"/>
                <a:cs typeface="Perpetua"/>
              </a:rPr>
              <a:t>Steinbeck”</a:t>
            </a:r>
            <a:r>
              <a:rPr i="1" spc="-615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78382"/>
            <a:ext cx="852995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 split </a:t>
            </a:r>
            <a:r>
              <a:rPr sz="2600" spc="-15" dirty="0">
                <a:latin typeface="Perpetua"/>
                <a:cs typeface="Perpetua"/>
              </a:rPr>
              <a:t>between </a:t>
            </a:r>
            <a:r>
              <a:rPr sz="2600" i="1" spc="-5" dirty="0">
                <a:latin typeface="Perpetua"/>
                <a:cs typeface="Perpetua"/>
              </a:rPr>
              <a:t>Smith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i="1" spc="-65" dirty="0">
                <a:latin typeface="Perpetua"/>
                <a:cs typeface="Perpetua"/>
              </a:rPr>
              <a:t>Tambe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find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Stanton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16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dirty="0">
                <a:latin typeface="Perpetua"/>
                <a:cs typeface="Perpetua"/>
              </a:rPr>
              <a:t>I am </a:t>
            </a:r>
            <a:r>
              <a:rPr sz="2600" b="1" i="1" spc="-10" dirty="0">
                <a:latin typeface="Perpetua"/>
                <a:cs typeface="Perpetua"/>
              </a:rPr>
              <a:t>now </a:t>
            </a:r>
            <a:r>
              <a:rPr sz="2600" b="1" i="1" dirty="0">
                <a:latin typeface="Perpetua"/>
                <a:cs typeface="Perpetua"/>
              </a:rPr>
              <a:t>on the </a:t>
            </a:r>
            <a:r>
              <a:rPr sz="2600" b="1" i="1" spc="-10" dirty="0">
                <a:latin typeface="Perpetua"/>
                <a:cs typeface="Perpetua"/>
              </a:rPr>
              <a:t>correct</a:t>
            </a:r>
            <a:r>
              <a:rPr sz="2600" b="1" i="1" spc="-55" dirty="0">
                <a:latin typeface="Perpetua"/>
                <a:cs typeface="Perpetua"/>
              </a:rPr>
              <a:t> </a:t>
            </a:r>
            <a:r>
              <a:rPr sz="2600" b="1" i="1" spc="-30" dirty="0">
                <a:latin typeface="Perpetua"/>
                <a:cs typeface="Perpetua"/>
              </a:rPr>
              <a:t>page.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95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narrowed </a:t>
            </a:r>
            <a:r>
              <a:rPr sz="2600" i="1" spc="-10" dirty="0">
                <a:latin typeface="Perpetua"/>
                <a:cs typeface="Perpetua"/>
              </a:rPr>
              <a:t>down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whole </a:t>
            </a:r>
            <a:r>
              <a:rPr sz="2600" i="1" spc="-5" dirty="0">
                <a:latin typeface="Perpetua"/>
                <a:cs typeface="Perpetua"/>
              </a:rPr>
              <a:t>telephone directory 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single</a:t>
            </a:r>
            <a:r>
              <a:rPr sz="2600" i="1" spc="4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page.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96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few </a:t>
            </a:r>
            <a:r>
              <a:rPr sz="2600" i="1" spc="-10" dirty="0">
                <a:latin typeface="Perpetua"/>
                <a:cs typeface="Perpetua"/>
              </a:rPr>
              <a:t>more </a:t>
            </a:r>
            <a:r>
              <a:rPr sz="2600" i="1" dirty="0">
                <a:latin typeface="Perpetua"/>
                <a:cs typeface="Perpetua"/>
              </a:rPr>
              <a:t>and I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spc="-10" dirty="0">
                <a:latin typeface="Perpetua"/>
                <a:cs typeface="Perpetua"/>
              </a:rPr>
              <a:t>down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single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40" dirty="0">
                <a:latin typeface="Perpetua"/>
                <a:cs typeface="Perpetua"/>
              </a:rPr>
              <a:t>entry.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Wingdings"/>
              <a:buChar char=""/>
            </a:pPr>
            <a:endParaRPr sz="30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50000"/>
              </a:lnSpc>
              <a:spcBef>
                <a:spcPts val="243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With </a:t>
            </a:r>
            <a:r>
              <a:rPr sz="2600" i="1" spc="-5" dirty="0">
                <a:latin typeface="Perpetua"/>
                <a:cs typeface="Perpetua"/>
              </a:rPr>
              <a:t>Linear Search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15" dirty="0">
                <a:latin typeface="Perpetua"/>
                <a:cs typeface="Perpetua"/>
              </a:rPr>
              <a:t>only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made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-25" dirty="0">
                <a:latin typeface="Perpetua"/>
                <a:cs typeface="Perpetua"/>
              </a:rPr>
              <a:t>far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5" dirty="0">
                <a:latin typeface="Perpetua"/>
                <a:cs typeface="Perpetua"/>
              </a:rPr>
              <a:t>Aarrons </a:t>
            </a:r>
            <a:r>
              <a:rPr sz="2600" i="1" spc="-5" dirty="0">
                <a:latin typeface="Perpetua"/>
                <a:cs typeface="Perpetua"/>
              </a:rPr>
              <a:t>in the </a:t>
            </a:r>
            <a:r>
              <a:rPr sz="2600" i="1" dirty="0">
                <a:latin typeface="Perpetua"/>
                <a:cs typeface="Perpetua"/>
              </a:rPr>
              <a:t>same  </a:t>
            </a:r>
            <a:r>
              <a:rPr sz="2600" i="1" spc="-5" dirty="0">
                <a:latin typeface="Perpetua"/>
                <a:cs typeface="Perpetua"/>
              </a:rPr>
              <a:t>time!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5127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Repeatedly </a:t>
            </a:r>
            <a:r>
              <a:rPr spc="15" dirty="0"/>
              <a:t>perform</a:t>
            </a:r>
            <a:r>
              <a:rPr spc="10" dirty="0"/>
              <a:t> </a:t>
            </a:r>
            <a:r>
              <a:rPr spc="-5" dirty="0"/>
              <a:t>halving</a:t>
            </a:r>
          </a:p>
        </p:txBody>
      </p:sp>
      <p:sp>
        <p:nvSpPr>
          <p:cNvPr id="3" name="object 3"/>
          <p:cNvSpPr/>
          <p:nvPr/>
        </p:nvSpPr>
        <p:spPr>
          <a:xfrm>
            <a:off x="3279542" y="914400"/>
            <a:ext cx="2880148" cy="1601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74294" y="2840938"/>
            <a:ext cx="2762648" cy="1320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62598" y="2251329"/>
            <a:ext cx="1285875" cy="640080"/>
          </a:xfrm>
          <a:custGeom>
            <a:avLst/>
            <a:gdLst/>
            <a:ahLst/>
            <a:cxnLst/>
            <a:rect l="l" t="t" r="r" b="b"/>
            <a:pathLst>
              <a:path w="1285875" h="640080">
                <a:moveTo>
                  <a:pt x="1179734" y="596682"/>
                </a:moveTo>
                <a:lnTo>
                  <a:pt x="1117980" y="601853"/>
                </a:lnTo>
                <a:lnTo>
                  <a:pt x="1100581" y="622426"/>
                </a:lnTo>
                <a:lnTo>
                  <a:pt x="1102707" y="629664"/>
                </a:lnTo>
                <a:lnTo>
                  <a:pt x="1107297" y="635365"/>
                </a:lnTo>
                <a:lnTo>
                  <a:pt x="1113672" y="638946"/>
                </a:lnTo>
                <a:lnTo>
                  <a:pt x="1121155" y="639826"/>
                </a:lnTo>
                <a:lnTo>
                  <a:pt x="1274961" y="626999"/>
                </a:lnTo>
                <a:lnTo>
                  <a:pt x="1243329" y="626999"/>
                </a:lnTo>
                <a:lnTo>
                  <a:pt x="1179734" y="596682"/>
                </a:lnTo>
                <a:close/>
              </a:path>
              <a:path w="1285875" h="640080">
                <a:moveTo>
                  <a:pt x="1217341" y="593533"/>
                </a:moveTo>
                <a:lnTo>
                  <a:pt x="1179734" y="596682"/>
                </a:lnTo>
                <a:lnTo>
                  <a:pt x="1243329" y="626999"/>
                </a:lnTo>
                <a:lnTo>
                  <a:pt x="1246413" y="620522"/>
                </a:lnTo>
                <a:lnTo>
                  <a:pt x="1235709" y="620522"/>
                </a:lnTo>
                <a:lnTo>
                  <a:pt x="1217341" y="593533"/>
                </a:lnTo>
                <a:close/>
              </a:path>
              <a:path w="1285875" h="640080">
                <a:moveTo>
                  <a:pt x="1180560" y="481742"/>
                </a:moveTo>
                <a:lnTo>
                  <a:pt x="1173245" y="481746"/>
                </a:lnTo>
                <a:lnTo>
                  <a:pt x="1166241" y="484632"/>
                </a:lnTo>
                <a:lnTo>
                  <a:pt x="1160984" y="490065"/>
                </a:lnTo>
                <a:lnTo>
                  <a:pt x="1158287" y="496855"/>
                </a:lnTo>
                <a:lnTo>
                  <a:pt x="1158329" y="504170"/>
                </a:lnTo>
                <a:lnTo>
                  <a:pt x="1161287" y="511175"/>
                </a:lnTo>
                <a:lnTo>
                  <a:pt x="1196036" y="562229"/>
                </a:lnTo>
                <a:lnTo>
                  <a:pt x="1259712" y="592582"/>
                </a:lnTo>
                <a:lnTo>
                  <a:pt x="1243329" y="626999"/>
                </a:lnTo>
                <a:lnTo>
                  <a:pt x="1274961" y="626999"/>
                </a:lnTo>
                <a:lnTo>
                  <a:pt x="1285621" y="626110"/>
                </a:lnTo>
                <a:lnTo>
                  <a:pt x="1192783" y="489712"/>
                </a:lnTo>
                <a:lnTo>
                  <a:pt x="1187350" y="484453"/>
                </a:lnTo>
                <a:lnTo>
                  <a:pt x="1180560" y="481742"/>
                </a:lnTo>
                <a:close/>
              </a:path>
              <a:path w="1285875" h="640080">
                <a:moveTo>
                  <a:pt x="1249933" y="590804"/>
                </a:moveTo>
                <a:lnTo>
                  <a:pt x="1217341" y="593533"/>
                </a:lnTo>
                <a:lnTo>
                  <a:pt x="1235709" y="620522"/>
                </a:lnTo>
                <a:lnTo>
                  <a:pt x="1249933" y="590804"/>
                </a:lnTo>
                <a:close/>
              </a:path>
              <a:path w="1285875" h="640080">
                <a:moveTo>
                  <a:pt x="1255982" y="590804"/>
                </a:moveTo>
                <a:lnTo>
                  <a:pt x="1249933" y="590804"/>
                </a:lnTo>
                <a:lnTo>
                  <a:pt x="1235709" y="620522"/>
                </a:lnTo>
                <a:lnTo>
                  <a:pt x="1246413" y="620522"/>
                </a:lnTo>
                <a:lnTo>
                  <a:pt x="1259712" y="592582"/>
                </a:lnTo>
                <a:lnTo>
                  <a:pt x="1255982" y="590804"/>
                </a:lnTo>
                <a:close/>
              </a:path>
              <a:path w="1285875" h="640080">
                <a:moveTo>
                  <a:pt x="16510" y="0"/>
                </a:moveTo>
                <a:lnTo>
                  <a:pt x="0" y="34290"/>
                </a:lnTo>
                <a:lnTo>
                  <a:pt x="1179734" y="596682"/>
                </a:lnTo>
                <a:lnTo>
                  <a:pt x="1217341" y="593533"/>
                </a:lnTo>
                <a:lnTo>
                  <a:pt x="1196036" y="562229"/>
                </a:lnTo>
                <a:lnTo>
                  <a:pt x="16510" y="0"/>
                </a:lnTo>
                <a:close/>
              </a:path>
              <a:path w="1285875" h="640080">
                <a:moveTo>
                  <a:pt x="1196036" y="562229"/>
                </a:moveTo>
                <a:lnTo>
                  <a:pt x="1217341" y="593533"/>
                </a:lnTo>
                <a:lnTo>
                  <a:pt x="1249933" y="590804"/>
                </a:lnTo>
                <a:lnTo>
                  <a:pt x="1255982" y="590804"/>
                </a:lnTo>
                <a:lnTo>
                  <a:pt x="1196036" y="562229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47679" y="2606039"/>
            <a:ext cx="3041597" cy="1606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95423" y="2251582"/>
            <a:ext cx="1158875" cy="633095"/>
          </a:xfrm>
          <a:custGeom>
            <a:avLst/>
            <a:gdLst/>
            <a:ahLst/>
            <a:cxnLst/>
            <a:rect l="l" t="t" r="r" b="b"/>
            <a:pathLst>
              <a:path w="1158875" h="633094">
                <a:moveTo>
                  <a:pt x="106213" y="476896"/>
                </a:moveTo>
                <a:lnTo>
                  <a:pt x="98917" y="477170"/>
                </a:lnTo>
                <a:lnTo>
                  <a:pt x="92263" y="480159"/>
                </a:lnTo>
                <a:lnTo>
                  <a:pt x="87121" y="485647"/>
                </a:lnTo>
                <a:lnTo>
                  <a:pt x="0" y="625855"/>
                </a:lnTo>
                <a:lnTo>
                  <a:pt x="164845" y="632587"/>
                </a:lnTo>
                <a:lnTo>
                  <a:pt x="172335" y="631372"/>
                </a:lnTo>
                <a:lnTo>
                  <a:pt x="178561" y="627538"/>
                </a:lnTo>
                <a:lnTo>
                  <a:pt x="180451" y="624966"/>
                </a:lnTo>
                <a:lnTo>
                  <a:pt x="42418" y="624966"/>
                </a:lnTo>
                <a:lnTo>
                  <a:pt x="24510" y="591312"/>
                </a:lnTo>
                <a:lnTo>
                  <a:pt x="86780" y="558324"/>
                </a:lnTo>
                <a:lnTo>
                  <a:pt x="119379" y="505713"/>
                </a:lnTo>
                <a:lnTo>
                  <a:pt x="122052" y="498643"/>
                </a:lnTo>
                <a:lnTo>
                  <a:pt x="121808" y="491347"/>
                </a:lnTo>
                <a:lnTo>
                  <a:pt x="118826" y="484693"/>
                </a:lnTo>
                <a:lnTo>
                  <a:pt x="113283" y="479551"/>
                </a:lnTo>
                <a:lnTo>
                  <a:pt x="106213" y="476896"/>
                </a:lnTo>
                <a:close/>
              </a:path>
              <a:path w="1158875" h="633094">
                <a:moveTo>
                  <a:pt x="86780" y="558324"/>
                </a:moveTo>
                <a:lnTo>
                  <a:pt x="24510" y="591312"/>
                </a:lnTo>
                <a:lnTo>
                  <a:pt x="42418" y="624966"/>
                </a:lnTo>
                <a:lnTo>
                  <a:pt x="55126" y="618236"/>
                </a:lnTo>
                <a:lnTo>
                  <a:pt x="49656" y="618236"/>
                </a:lnTo>
                <a:lnTo>
                  <a:pt x="34289" y="589152"/>
                </a:lnTo>
                <a:lnTo>
                  <a:pt x="67677" y="589152"/>
                </a:lnTo>
                <a:lnTo>
                  <a:pt x="86780" y="558324"/>
                </a:lnTo>
                <a:close/>
              </a:path>
              <a:path w="1158875" h="633094">
                <a:moveTo>
                  <a:pt x="104675" y="591992"/>
                </a:moveTo>
                <a:lnTo>
                  <a:pt x="42418" y="624966"/>
                </a:lnTo>
                <a:lnTo>
                  <a:pt x="180451" y="624966"/>
                </a:lnTo>
                <a:lnTo>
                  <a:pt x="182883" y="621657"/>
                </a:lnTo>
                <a:lnTo>
                  <a:pt x="184657" y="614299"/>
                </a:lnTo>
                <a:lnTo>
                  <a:pt x="183499" y="606827"/>
                </a:lnTo>
                <a:lnTo>
                  <a:pt x="179673" y="600630"/>
                </a:lnTo>
                <a:lnTo>
                  <a:pt x="173799" y="596314"/>
                </a:lnTo>
                <a:lnTo>
                  <a:pt x="166496" y="594487"/>
                </a:lnTo>
                <a:lnTo>
                  <a:pt x="104675" y="591992"/>
                </a:lnTo>
                <a:close/>
              </a:path>
              <a:path w="1158875" h="633094">
                <a:moveTo>
                  <a:pt x="34289" y="589152"/>
                </a:moveTo>
                <a:lnTo>
                  <a:pt x="49656" y="618236"/>
                </a:lnTo>
                <a:lnTo>
                  <a:pt x="66863" y="590467"/>
                </a:lnTo>
                <a:lnTo>
                  <a:pt x="34289" y="589152"/>
                </a:lnTo>
                <a:close/>
              </a:path>
              <a:path w="1158875" h="633094">
                <a:moveTo>
                  <a:pt x="66863" y="590467"/>
                </a:moveTo>
                <a:lnTo>
                  <a:pt x="49656" y="618236"/>
                </a:lnTo>
                <a:lnTo>
                  <a:pt x="55126" y="618236"/>
                </a:lnTo>
                <a:lnTo>
                  <a:pt x="104675" y="591992"/>
                </a:lnTo>
                <a:lnTo>
                  <a:pt x="66863" y="590467"/>
                </a:lnTo>
                <a:close/>
              </a:path>
              <a:path w="1158875" h="633094">
                <a:moveTo>
                  <a:pt x="1140714" y="0"/>
                </a:moveTo>
                <a:lnTo>
                  <a:pt x="86780" y="558324"/>
                </a:lnTo>
                <a:lnTo>
                  <a:pt x="66863" y="590467"/>
                </a:lnTo>
                <a:lnTo>
                  <a:pt x="104675" y="591992"/>
                </a:lnTo>
                <a:lnTo>
                  <a:pt x="1158621" y="33781"/>
                </a:lnTo>
                <a:lnTo>
                  <a:pt x="1140714" y="0"/>
                </a:lnTo>
                <a:close/>
              </a:path>
              <a:path w="1158875" h="633094">
                <a:moveTo>
                  <a:pt x="67677" y="589152"/>
                </a:moveTo>
                <a:lnTo>
                  <a:pt x="34289" y="589152"/>
                </a:lnTo>
                <a:lnTo>
                  <a:pt x="66863" y="590467"/>
                </a:lnTo>
                <a:lnTo>
                  <a:pt x="67677" y="589152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858" y="4283583"/>
            <a:ext cx="1033780" cy="826769"/>
          </a:xfrm>
          <a:custGeom>
            <a:avLst/>
            <a:gdLst/>
            <a:ahLst/>
            <a:cxnLst/>
            <a:rect l="l" t="t" r="r" b="b"/>
            <a:pathLst>
              <a:path w="1033780" h="826770">
                <a:moveTo>
                  <a:pt x="77142" y="660884"/>
                </a:moveTo>
                <a:lnTo>
                  <a:pt x="70024" y="662495"/>
                </a:lnTo>
                <a:lnTo>
                  <a:pt x="64025" y="666678"/>
                </a:lnTo>
                <a:lnTo>
                  <a:pt x="59943" y="673100"/>
                </a:lnTo>
                <a:lnTo>
                  <a:pt x="0" y="826770"/>
                </a:lnTo>
                <a:lnTo>
                  <a:pt x="59709" y="818134"/>
                </a:lnTo>
                <a:lnTo>
                  <a:pt x="41529" y="818134"/>
                </a:lnTo>
                <a:lnTo>
                  <a:pt x="17780" y="788289"/>
                </a:lnTo>
                <a:lnTo>
                  <a:pt x="72931" y="744474"/>
                </a:lnTo>
                <a:lnTo>
                  <a:pt x="95377" y="686816"/>
                </a:lnTo>
                <a:lnTo>
                  <a:pt x="96672" y="679376"/>
                </a:lnTo>
                <a:lnTo>
                  <a:pt x="95075" y="672258"/>
                </a:lnTo>
                <a:lnTo>
                  <a:pt x="90930" y="666259"/>
                </a:lnTo>
                <a:lnTo>
                  <a:pt x="84582" y="662178"/>
                </a:lnTo>
                <a:lnTo>
                  <a:pt x="77142" y="660884"/>
                </a:lnTo>
                <a:close/>
              </a:path>
              <a:path w="1033780" h="826770">
                <a:moveTo>
                  <a:pt x="72931" y="744474"/>
                </a:moveTo>
                <a:lnTo>
                  <a:pt x="17780" y="788289"/>
                </a:lnTo>
                <a:lnTo>
                  <a:pt x="41529" y="818134"/>
                </a:lnTo>
                <a:lnTo>
                  <a:pt x="51598" y="810133"/>
                </a:lnTo>
                <a:lnTo>
                  <a:pt x="47371" y="810133"/>
                </a:lnTo>
                <a:lnTo>
                  <a:pt x="26924" y="784352"/>
                </a:lnTo>
                <a:lnTo>
                  <a:pt x="59211" y="779717"/>
                </a:lnTo>
                <a:lnTo>
                  <a:pt x="72931" y="744474"/>
                </a:lnTo>
                <a:close/>
              </a:path>
              <a:path w="1033780" h="826770">
                <a:moveTo>
                  <a:pt x="157861" y="765556"/>
                </a:moveTo>
                <a:lnTo>
                  <a:pt x="96640" y="774344"/>
                </a:lnTo>
                <a:lnTo>
                  <a:pt x="41529" y="818134"/>
                </a:lnTo>
                <a:lnTo>
                  <a:pt x="59709" y="818134"/>
                </a:lnTo>
                <a:lnTo>
                  <a:pt x="163322" y="803148"/>
                </a:lnTo>
                <a:lnTo>
                  <a:pt x="179451" y="781685"/>
                </a:lnTo>
                <a:lnTo>
                  <a:pt x="176899" y="774557"/>
                </a:lnTo>
                <a:lnTo>
                  <a:pt x="171989" y="769143"/>
                </a:lnTo>
                <a:lnTo>
                  <a:pt x="165413" y="765968"/>
                </a:lnTo>
                <a:lnTo>
                  <a:pt x="157861" y="765556"/>
                </a:lnTo>
                <a:close/>
              </a:path>
              <a:path w="1033780" h="826770">
                <a:moveTo>
                  <a:pt x="59211" y="779717"/>
                </a:moveTo>
                <a:lnTo>
                  <a:pt x="26924" y="784352"/>
                </a:lnTo>
                <a:lnTo>
                  <a:pt x="47371" y="810133"/>
                </a:lnTo>
                <a:lnTo>
                  <a:pt x="59211" y="779717"/>
                </a:lnTo>
                <a:close/>
              </a:path>
              <a:path w="1033780" h="826770">
                <a:moveTo>
                  <a:pt x="96640" y="774344"/>
                </a:moveTo>
                <a:lnTo>
                  <a:pt x="59211" y="779717"/>
                </a:lnTo>
                <a:lnTo>
                  <a:pt x="47371" y="810133"/>
                </a:lnTo>
                <a:lnTo>
                  <a:pt x="51598" y="810133"/>
                </a:lnTo>
                <a:lnTo>
                  <a:pt x="96640" y="774344"/>
                </a:lnTo>
                <a:close/>
              </a:path>
              <a:path w="1033780" h="826770">
                <a:moveTo>
                  <a:pt x="1010031" y="0"/>
                </a:moveTo>
                <a:lnTo>
                  <a:pt x="72931" y="744474"/>
                </a:lnTo>
                <a:lnTo>
                  <a:pt x="59211" y="779717"/>
                </a:lnTo>
                <a:lnTo>
                  <a:pt x="96640" y="774344"/>
                </a:lnTo>
                <a:lnTo>
                  <a:pt x="1033780" y="29718"/>
                </a:lnTo>
                <a:lnTo>
                  <a:pt x="101003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819" y="4353052"/>
            <a:ext cx="716915" cy="824865"/>
          </a:xfrm>
          <a:custGeom>
            <a:avLst/>
            <a:gdLst/>
            <a:ahLst/>
            <a:cxnLst/>
            <a:rect l="l" t="t" r="r" b="b"/>
            <a:pathLst>
              <a:path w="716914" h="824864">
                <a:moveTo>
                  <a:pt x="565610" y="733954"/>
                </a:moveTo>
                <a:lnTo>
                  <a:pt x="558545" y="735853"/>
                </a:lnTo>
                <a:lnTo>
                  <a:pt x="552719" y="740253"/>
                </a:lnTo>
                <a:lnTo>
                  <a:pt x="548893" y="746760"/>
                </a:lnTo>
                <a:lnTo>
                  <a:pt x="547901" y="754300"/>
                </a:lnTo>
                <a:lnTo>
                  <a:pt x="549814" y="761365"/>
                </a:lnTo>
                <a:lnTo>
                  <a:pt x="554251" y="767191"/>
                </a:lnTo>
                <a:lnTo>
                  <a:pt x="560831" y="771017"/>
                </a:lnTo>
                <a:lnTo>
                  <a:pt x="716914" y="824357"/>
                </a:lnTo>
                <a:lnTo>
                  <a:pt x="713896" y="808228"/>
                </a:lnTo>
                <a:lnTo>
                  <a:pt x="677798" y="808228"/>
                </a:lnTo>
                <a:lnTo>
                  <a:pt x="631711" y="754963"/>
                </a:lnTo>
                <a:lnTo>
                  <a:pt x="573151" y="734949"/>
                </a:lnTo>
                <a:lnTo>
                  <a:pt x="565610" y="733954"/>
                </a:lnTo>
                <a:close/>
              </a:path>
              <a:path w="716914" h="824864">
                <a:moveTo>
                  <a:pt x="631711" y="754963"/>
                </a:moveTo>
                <a:lnTo>
                  <a:pt x="677798" y="808228"/>
                </a:lnTo>
                <a:lnTo>
                  <a:pt x="688095" y="799338"/>
                </a:lnTo>
                <a:lnTo>
                  <a:pt x="673480" y="799338"/>
                </a:lnTo>
                <a:lnTo>
                  <a:pt x="667451" y="767179"/>
                </a:lnTo>
                <a:lnTo>
                  <a:pt x="631711" y="754963"/>
                </a:lnTo>
                <a:close/>
              </a:path>
              <a:path w="716914" h="824864">
                <a:moveTo>
                  <a:pt x="664336" y="646938"/>
                </a:moveTo>
                <a:lnTo>
                  <a:pt x="657294" y="649823"/>
                </a:lnTo>
                <a:lnTo>
                  <a:pt x="652097" y="654970"/>
                </a:lnTo>
                <a:lnTo>
                  <a:pt x="649210" y="661689"/>
                </a:lnTo>
                <a:lnTo>
                  <a:pt x="649096" y="669290"/>
                </a:lnTo>
                <a:lnTo>
                  <a:pt x="660483" y="730016"/>
                </a:lnTo>
                <a:lnTo>
                  <a:pt x="706627" y="783336"/>
                </a:lnTo>
                <a:lnTo>
                  <a:pt x="677798" y="808228"/>
                </a:lnTo>
                <a:lnTo>
                  <a:pt x="713896" y="808228"/>
                </a:lnTo>
                <a:lnTo>
                  <a:pt x="686561" y="662178"/>
                </a:lnTo>
                <a:lnTo>
                  <a:pt x="683678" y="655189"/>
                </a:lnTo>
                <a:lnTo>
                  <a:pt x="678545" y="649986"/>
                </a:lnTo>
                <a:lnTo>
                  <a:pt x="671863" y="647068"/>
                </a:lnTo>
                <a:lnTo>
                  <a:pt x="664336" y="646938"/>
                </a:lnTo>
                <a:close/>
              </a:path>
              <a:path w="716914" h="824864">
                <a:moveTo>
                  <a:pt x="667451" y="767179"/>
                </a:moveTo>
                <a:lnTo>
                  <a:pt x="673480" y="799338"/>
                </a:lnTo>
                <a:lnTo>
                  <a:pt x="698372" y="777748"/>
                </a:lnTo>
                <a:lnTo>
                  <a:pt x="667451" y="767179"/>
                </a:lnTo>
                <a:close/>
              </a:path>
              <a:path w="716914" h="824864">
                <a:moveTo>
                  <a:pt x="660483" y="730016"/>
                </a:moveTo>
                <a:lnTo>
                  <a:pt x="667451" y="767179"/>
                </a:lnTo>
                <a:lnTo>
                  <a:pt x="698372" y="777748"/>
                </a:lnTo>
                <a:lnTo>
                  <a:pt x="673480" y="799338"/>
                </a:lnTo>
                <a:lnTo>
                  <a:pt x="688095" y="799338"/>
                </a:lnTo>
                <a:lnTo>
                  <a:pt x="706627" y="783336"/>
                </a:lnTo>
                <a:lnTo>
                  <a:pt x="660483" y="730016"/>
                </a:lnTo>
                <a:close/>
              </a:path>
              <a:path w="716914" h="824864">
                <a:moveTo>
                  <a:pt x="28701" y="0"/>
                </a:moveTo>
                <a:lnTo>
                  <a:pt x="0" y="24892"/>
                </a:lnTo>
                <a:lnTo>
                  <a:pt x="631711" y="754963"/>
                </a:lnTo>
                <a:lnTo>
                  <a:pt x="667451" y="767179"/>
                </a:lnTo>
                <a:lnTo>
                  <a:pt x="660483" y="730016"/>
                </a:lnTo>
                <a:lnTo>
                  <a:pt x="28701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04282" y="4217923"/>
            <a:ext cx="717550" cy="891540"/>
          </a:xfrm>
          <a:custGeom>
            <a:avLst/>
            <a:gdLst/>
            <a:ahLst/>
            <a:cxnLst/>
            <a:rect l="l" t="t" r="r" b="b"/>
            <a:pathLst>
              <a:path w="717550" h="891539">
                <a:moveTo>
                  <a:pt x="45592" y="712215"/>
                </a:moveTo>
                <a:lnTo>
                  <a:pt x="0" y="891539"/>
                </a:lnTo>
                <a:lnTo>
                  <a:pt x="45679" y="873887"/>
                </a:lnTo>
                <a:lnTo>
                  <a:pt x="38480" y="873887"/>
                </a:lnTo>
                <a:lnTo>
                  <a:pt x="8635" y="850138"/>
                </a:lnTo>
                <a:lnTo>
                  <a:pt x="52623" y="795058"/>
                </a:lnTo>
                <a:lnTo>
                  <a:pt x="61594" y="733806"/>
                </a:lnTo>
                <a:lnTo>
                  <a:pt x="61202" y="726253"/>
                </a:lnTo>
                <a:lnTo>
                  <a:pt x="58070" y="719677"/>
                </a:lnTo>
                <a:lnTo>
                  <a:pt x="52701" y="714767"/>
                </a:lnTo>
                <a:lnTo>
                  <a:pt x="45592" y="712215"/>
                </a:lnTo>
                <a:close/>
              </a:path>
              <a:path w="717550" h="891539">
                <a:moveTo>
                  <a:pt x="52623" y="795058"/>
                </a:moveTo>
                <a:lnTo>
                  <a:pt x="8635" y="850138"/>
                </a:lnTo>
                <a:lnTo>
                  <a:pt x="38480" y="873887"/>
                </a:lnTo>
                <a:lnTo>
                  <a:pt x="45784" y="864743"/>
                </a:lnTo>
                <a:lnTo>
                  <a:pt x="42417" y="864743"/>
                </a:lnTo>
                <a:lnTo>
                  <a:pt x="16637" y="844169"/>
                </a:lnTo>
                <a:lnTo>
                  <a:pt x="47155" y="832394"/>
                </a:lnTo>
                <a:lnTo>
                  <a:pt x="52623" y="795058"/>
                </a:lnTo>
                <a:close/>
              </a:path>
              <a:path w="717550" h="891539">
                <a:moveTo>
                  <a:pt x="147520" y="795250"/>
                </a:moveTo>
                <a:lnTo>
                  <a:pt x="140080" y="796544"/>
                </a:lnTo>
                <a:lnTo>
                  <a:pt x="82520" y="818750"/>
                </a:lnTo>
                <a:lnTo>
                  <a:pt x="38480" y="873887"/>
                </a:lnTo>
                <a:lnTo>
                  <a:pt x="45679" y="873887"/>
                </a:lnTo>
                <a:lnTo>
                  <a:pt x="153796" y="832103"/>
                </a:lnTo>
                <a:lnTo>
                  <a:pt x="160218" y="828022"/>
                </a:lnTo>
                <a:lnTo>
                  <a:pt x="164401" y="822023"/>
                </a:lnTo>
                <a:lnTo>
                  <a:pt x="166012" y="814905"/>
                </a:lnTo>
                <a:lnTo>
                  <a:pt x="164718" y="807465"/>
                </a:lnTo>
                <a:lnTo>
                  <a:pt x="160637" y="801044"/>
                </a:lnTo>
                <a:lnTo>
                  <a:pt x="154638" y="796861"/>
                </a:lnTo>
                <a:lnTo>
                  <a:pt x="147520" y="795250"/>
                </a:lnTo>
                <a:close/>
              </a:path>
              <a:path w="717550" h="891539">
                <a:moveTo>
                  <a:pt x="47155" y="832394"/>
                </a:moveTo>
                <a:lnTo>
                  <a:pt x="16637" y="844169"/>
                </a:lnTo>
                <a:lnTo>
                  <a:pt x="42417" y="864743"/>
                </a:lnTo>
                <a:lnTo>
                  <a:pt x="47155" y="832394"/>
                </a:lnTo>
                <a:close/>
              </a:path>
              <a:path w="717550" h="891539">
                <a:moveTo>
                  <a:pt x="82520" y="818750"/>
                </a:moveTo>
                <a:lnTo>
                  <a:pt x="47155" y="832394"/>
                </a:lnTo>
                <a:lnTo>
                  <a:pt x="42417" y="864743"/>
                </a:lnTo>
                <a:lnTo>
                  <a:pt x="45784" y="864743"/>
                </a:lnTo>
                <a:lnTo>
                  <a:pt x="82520" y="818750"/>
                </a:lnTo>
                <a:close/>
              </a:path>
              <a:path w="717550" h="891539">
                <a:moveTo>
                  <a:pt x="687577" y="0"/>
                </a:moveTo>
                <a:lnTo>
                  <a:pt x="52623" y="795058"/>
                </a:lnTo>
                <a:lnTo>
                  <a:pt x="47155" y="832394"/>
                </a:lnTo>
                <a:lnTo>
                  <a:pt x="82520" y="818750"/>
                </a:lnTo>
                <a:lnTo>
                  <a:pt x="717422" y="23875"/>
                </a:lnTo>
                <a:lnTo>
                  <a:pt x="687577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71639" y="4216780"/>
            <a:ext cx="844550" cy="892810"/>
          </a:xfrm>
          <a:custGeom>
            <a:avLst/>
            <a:gdLst/>
            <a:ahLst/>
            <a:cxnLst/>
            <a:rect l="l" t="t" r="r" b="b"/>
            <a:pathLst>
              <a:path w="844550" h="892810">
                <a:moveTo>
                  <a:pt x="689082" y="808861"/>
                </a:moveTo>
                <a:lnTo>
                  <a:pt x="682116" y="811069"/>
                </a:lnTo>
                <a:lnTo>
                  <a:pt x="676485" y="815730"/>
                </a:lnTo>
                <a:lnTo>
                  <a:pt x="672972" y="822452"/>
                </a:lnTo>
                <a:lnTo>
                  <a:pt x="672280" y="829964"/>
                </a:lnTo>
                <a:lnTo>
                  <a:pt x="674481" y="836930"/>
                </a:lnTo>
                <a:lnTo>
                  <a:pt x="679134" y="842561"/>
                </a:lnTo>
                <a:lnTo>
                  <a:pt x="685800" y="846074"/>
                </a:lnTo>
                <a:lnTo>
                  <a:pt x="844168" y="892683"/>
                </a:lnTo>
                <a:lnTo>
                  <a:pt x="840792" y="878205"/>
                </a:lnTo>
                <a:lnTo>
                  <a:pt x="804290" y="878205"/>
                </a:lnTo>
                <a:lnTo>
                  <a:pt x="755890" y="826930"/>
                </a:lnTo>
                <a:lnTo>
                  <a:pt x="696594" y="809498"/>
                </a:lnTo>
                <a:lnTo>
                  <a:pt x="689082" y="808861"/>
                </a:lnTo>
                <a:close/>
              </a:path>
              <a:path w="844550" h="892810">
                <a:moveTo>
                  <a:pt x="755890" y="826930"/>
                </a:moveTo>
                <a:lnTo>
                  <a:pt x="804290" y="878205"/>
                </a:lnTo>
                <a:lnTo>
                  <a:pt x="813564" y="869442"/>
                </a:lnTo>
                <a:lnTo>
                  <a:pt x="799591" y="869442"/>
                </a:lnTo>
                <a:lnTo>
                  <a:pt x="792188" y="837602"/>
                </a:lnTo>
                <a:lnTo>
                  <a:pt x="755890" y="826930"/>
                </a:lnTo>
                <a:close/>
              </a:path>
              <a:path w="844550" h="892810">
                <a:moveTo>
                  <a:pt x="791434" y="717508"/>
                </a:moveTo>
                <a:lnTo>
                  <a:pt x="783843" y="717677"/>
                </a:lnTo>
                <a:lnTo>
                  <a:pt x="776995" y="720838"/>
                </a:lnTo>
                <a:lnTo>
                  <a:pt x="772017" y="726201"/>
                </a:lnTo>
                <a:lnTo>
                  <a:pt x="769395" y="733018"/>
                </a:lnTo>
                <a:lnTo>
                  <a:pt x="769619" y="740537"/>
                </a:lnTo>
                <a:lnTo>
                  <a:pt x="783640" y="800836"/>
                </a:lnTo>
                <a:lnTo>
                  <a:pt x="831976" y="852043"/>
                </a:lnTo>
                <a:lnTo>
                  <a:pt x="804290" y="878205"/>
                </a:lnTo>
                <a:lnTo>
                  <a:pt x="840792" y="878205"/>
                </a:lnTo>
                <a:lnTo>
                  <a:pt x="806703" y="732028"/>
                </a:lnTo>
                <a:lnTo>
                  <a:pt x="803614" y="725124"/>
                </a:lnTo>
                <a:lnTo>
                  <a:pt x="798274" y="720137"/>
                </a:lnTo>
                <a:lnTo>
                  <a:pt x="791434" y="717508"/>
                </a:lnTo>
                <a:close/>
              </a:path>
              <a:path w="844550" h="892810">
                <a:moveTo>
                  <a:pt x="792188" y="837602"/>
                </a:moveTo>
                <a:lnTo>
                  <a:pt x="799591" y="869442"/>
                </a:lnTo>
                <a:lnTo>
                  <a:pt x="823594" y="846836"/>
                </a:lnTo>
                <a:lnTo>
                  <a:pt x="792188" y="837602"/>
                </a:lnTo>
                <a:close/>
              </a:path>
              <a:path w="844550" h="892810">
                <a:moveTo>
                  <a:pt x="783640" y="800836"/>
                </a:moveTo>
                <a:lnTo>
                  <a:pt x="792188" y="837602"/>
                </a:lnTo>
                <a:lnTo>
                  <a:pt x="823594" y="846836"/>
                </a:lnTo>
                <a:lnTo>
                  <a:pt x="799591" y="869442"/>
                </a:lnTo>
                <a:lnTo>
                  <a:pt x="813564" y="869442"/>
                </a:lnTo>
                <a:lnTo>
                  <a:pt x="831976" y="852043"/>
                </a:lnTo>
                <a:lnTo>
                  <a:pt x="783640" y="800836"/>
                </a:lnTo>
                <a:close/>
              </a:path>
              <a:path w="844550" h="892810">
                <a:moveTo>
                  <a:pt x="27685" y="0"/>
                </a:moveTo>
                <a:lnTo>
                  <a:pt x="0" y="26162"/>
                </a:lnTo>
                <a:lnTo>
                  <a:pt x="755890" y="826930"/>
                </a:lnTo>
                <a:lnTo>
                  <a:pt x="792188" y="837602"/>
                </a:lnTo>
                <a:lnTo>
                  <a:pt x="783640" y="800836"/>
                </a:lnTo>
                <a:lnTo>
                  <a:pt x="27685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67655" y="5420867"/>
            <a:ext cx="170688" cy="1798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7655" y="5922264"/>
            <a:ext cx="170688" cy="1798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08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Organized</a:t>
            </a:r>
            <a:r>
              <a:rPr spc="-75" dirty="0"/>
              <a:t> </a:t>
            </a:r>
            <a:r>
              <a:rPr spc="10" dirty="0"/>
              <a:t>entries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29955" cy="3898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71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80" dirty="0">
                <a:latin typeface="Perpetua"/>
                <a:cs typeface="Perpetua"/>
              </a:rPr>
              <a:t>Today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seems </a:t>
            </a:r>
            <a:r>
              <a:rPr sz="2600" i="1" spc="-10" dirty="0">
                <a:latin typeface="Perpetua"/>
                <a:cs typeface="Perpetua"/>
              </a:rPr>
              <a:t>inconceivable that </a:t>
            </a:r>
            <a:r>
              <a:rPr sz="2600" i="1" dirty="0">
                <a:latin typeface="Perpetua"/>
                <a:cs typeface="Perpetua"/>
              </a:rPr>
              <a:t>a dictionary </a:t>
            </a:r>
            <a:r>
              <a:rPr sz="2600" i="1" spc="-5" dirty="0">
                <a:latin typeface="Perpetua"/>
                <a:cs typeface="Perpetua"/>
              </a:rPr>
              <a:t>or telephone directory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5" dirty="0">
                <a:latin typeface="Perpetua"/>
                <a:cs typeface="Perpetua"/>
              </a:rPr>
              <a:t>be  in </a:t>
            </a:r>
            <a:r>
              <a:rPr sz="2600" i="1" spc="-10" dirty="0">
                <a:latin typeface="Perpetua"/>
                <a:cs typeface="Perpetua"/>
              </a:rPr>
              <a:t>anything but </a:t>
            </a:r>
            <a:r>
              <a:rPr sz="2600" i="1" spc="-5" dirty="0">
                <a:latin typeface="Perpetua"/>
                <a:cs typeface="Perpetua"/>
              </a:rPr>
              <a:t>alphabetical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order.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30" dirty="0">
                <a:latin typeface="Perpetua"/>
                <a:cs typeface="Perpetua"/>
              </a:rPr>
              <a:t>However, </a:t>
            </a:r>
            <a:r>
              <a:rPr sz="2600" i="1" spc="-5" dirty="0">
                <a:latin typeface="Perpetua"/>
                <a:cs typeface="Perpetua"/>
              </a:rPr>
              <a:t>one of the first </a:t>
            </a:r>
            <a:r>
              <a:rPr sz="2600" i="1" spc="-15" dirty="0">
                <a:latin typeface="Perpetua"/>
                <a:cs typeface="Perpetua"/>
              </a:rPr>
              <a:t>ever </a:t>
            </a:r>
            <a:r>
              <a:rPr sz="2600" i="1" dirty="0">
                <a:latin typeface="Perpetua"/>
                <a:cs typeface="Perpetua"/>
              </a:rPr>
              <a:t>dictionaries (in the 16th </a:t>
            </a:r>
            <a:r>
              <a:rPr sz="2600" i="1" spc="-5" dirty="0">
                <a:latin typeface="Perpetua"/>
                <a:cs typeface="Perpetua"/>
              </a:rPr>
              <a:t>century), </a:t>
            </a:r>
            <a:r>
              <a:rPr sz="2600" b="1" i="1" spc="-30" dirty="0">
                <a:latin typeface="Perpetua"/>
                <a:cs typeface="Perpetua"/>
              </a:rPr>
              <a:t>John  </a:t>
            </a:r>
            <a:r>
              <a:rPr sz="2600" b="1" i="1" spc="-10" dirty="0">
                <a:latin typeface="Perpetua"/>
                <a:cs typeface="Perpetua"/>
              </a:rPr>
              <a:t>Withals</a:t>
            </a:r>
            <a:r>
              <a:rPr sz="2600" i="1" spc="-10" dirty="0">
                <a:latin typeface="Perpetua"/>
                <a:cs typeface="Perpetua"/>
              </a:rPr>
              <a:t>' </a:t>
            </a:r>
            <a:r>
              <a:rPr sz="2600" b="1" i="1" dirty="0">
                <a:latin typeface="Perpetua"/>
                <a:cs typeface="Perpetua"/>
              </a:rPr>
              <a:t>Shorte </a:t>
            </a:r>
            <a:r>
              <a:rPr sz="2600" b="1" i="1" spc="-5" dirty="0">
                <a:latin typeface="Perpetua"/>
                <a:cs typeface="Perpetua"/>
              </a:rPr>
              <a:t>Dictionarie </a:t>
            </a:r>
            <a:r>
              <a:rPr sz="2600" b="1" i="1" spc="-25" dirty="0">
                <a:latin typeface="Perpetua"/>
                <a:cs typeface="Perpetua"/>
              </a:rPr>
              <a:t>for </a:t>
            </a:r>
            <a:r>
              <a:rPr sz="2600" b="1" i="1" spc="-75" dirty="0">
                <a:latin typeface="Perpetua"/>
                <a:cs typeface="Perpetua"/>
              </a:rPr>
              <a:t>Yonge </a:t>
            </a:r>
            <a:r>
              <a:rPr sz="2600" b="1" i="1" spc="-25" dirty="0">
                <a:latin typeface="Perpetua"/>
                <a:cs typeface="Perpetua"/>
              </a:rPr>
              <a:t>Begynners</a:t>
            </a:r>
            <a:r>
              <a:rPr sz="2600" i="1" spc="-25" dirty="0">
                <a:latin typeface="Perpetua"/>
                <a:cs typeface="Perpetua"/>
              </a:rPr>
              <a:t>,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10" dirty="0">
                <a:latin typeface="Perpetua"/>
                <a:cs typeface="Perpetua"/>
              </a:rPr>
              <a:t>actually  ordered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subject </a:t>
            </a:r>
            <a:r>
              <a:rPr sz="2600" i="1" spc="-15" dirty="0">
                <a:latin typeface="Perpetua"/>
                <a:cs typeface="Perpetua"/>
              </a:rPr>
              <a:t>(Winchester,</a:t>
            </a:r>
            <a:r>
              <a:rPr sz="2600" i="1" spc="-2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1999).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6385" marR="6985" indent="-274320" algn="just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So the </a:t>
            </a:r>
            <a:r>
              <a:rPr sz="2600" i="1" spc="-10" dirty="0">
                <a:latin typeface="Perpetua"/>
                <a:cs typeface="Perpetua"/>
              </a:rPr>
              <a:t>realization that </a:t>
            </a:r>
            <a:r>
              <a:rPr sz="2600" i="1" spc="-5" dirty="0">
                <a:latin typeface="Perpetua"/>
                <a:cs typeface="Perpetua"/>
              </a:rPr>
              <a:t>alphabetical order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5" dirty="0">
                <a:latin typeface="Perpetua"/>
                <a:cs typeface="Perpetua"/>
              </a:rPr>
              <a:t>be the most useful </a:t>
            </a:r>
            <a:r>
              <a:rPr sz="2600" i="1" spc="57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organization was </a:t>
            </a:r>
            <a:r>
              <a:rPr sz="2600" i="1" spc="-15" dirty="0">
                <a:latin typeface="Perpetua"/>
                <a:cs typeface="Perpetua"/>
              </a:rPr>
              <a:t>clearly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0" dirty="0">
                <a:latin typeface="Perpetua"/>
                <a:cs typeface="Perpetua"/>
              </a:rPr>
              <a:t>immediately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obvious.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91400" y="304800"/>
            <a:ext cx="1304544" cy="1591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Steps – </a:t>
            </a:r>
            <a:r>
              <a:rPr spc="5" dirty="0"/>
              <a:t>Searching </a:t>
            </a:r>
            <a:r>
              <a:rPr spc="-5" dirty="0"/>
              <a:t>residential </a:t>
            </a:r>
            <a:r>
              <a:rPr spc="-10" dirty="0"/>
              <a:t>telephone  </a:t>
            </a:r>
            <a:r>
              <a:rPr spc="-5" dirty="0"/>
              <a:t>directory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359369"/>
            <a:ext cx="8454390" cy="47263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i="1" spc="-80" dirty="0">
                <a:latin typeface="Perpetua"/>
                <a:cs typeface="Perpetua"/>
              </a:rPr>
              <a:t>You </a:t>
            </a:r>
            <a:r>
              <a:rPr sz="2500" i="1" spc="-15" dirty="0">
                <a:latin typeface="Perpetua"/>
                <a:cs typeface="Perpetua"/>
              </a:rPr>
              <a:t>pick </a:t>
            </a:r>
            <a:r>
              <a:rPr sz="2500" i="1" spc="-5" dirty="0">
                <a:latin typeface="Perpetua"/>
                <a:cs typeface="Perpetua"/>
              </a:rPr>
              <a:t>a</a:t>
            </a:r>
            <a:r>
              <a:rPr sz="2500" i="1" spc="90" dirty="0">
                <a:latin typeface="Perpetua"/>
                <a:cs typeface="Perpetua"/>
              </a:rPr>
              <a:t> </a:t>
            </a:r>
            <a:r>
              <a:rPr sz="2500" i="1" spc="-20" dirty="0">
                <a:latin typeface="Perpetua"/>
                <a:cs typeface="Perpetua"/>
              </a:rPr>
              <a:t>page.</a:t>
            </a:r>
            <a:endParaRPr sz="2500">
              <a:latin typeface="Perpetua"/>
              <a:cs typeface="Perpetua"/>
            </a:endParaRPr>
          </a:p>
          <a:p>
            <a:pPr marL="286385" marR="7620" indent="-274320">
              <a:lnSpc>
                <a:spcPct val="100000"/>
              </a:lnSpc>
              <a:spcBef>
                <a:spcPts val="605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i="1" spc="-80" dirty="0">
                <a:latin typeface="Perpetua"/>
                <a:cs typeface="Perpetua"/>
              </a:rPr>
              <a:t>You </a:t>
            </a:r>
            <a:r>
              <a:rPr sz="2500" i="1" spc="-10" dirty="0">
                <a:latin typeface="Perpetua"/>
                <a:cs typeface="Perpetua"/>
              </a:rPr>
              <a:t>would </a:t>
            </a:r>
            <a:r>
              <a:rPr sz="2500" i="1" spc="-15" dirty="0">
                <a:latin typeface="Perpetua"/>
                <a:cs typeface="Perpetua"/>
              </a:rPr>
              <a:t>check </a:t>
            </a:r>
            <a:r>
              <a:rPr sz="2500" i="1" spc="-25" dirty="0">
                <a:latin typeface="Perpetua"/>
                <a:cs typeface="Perpetua"/>
              </a:rPr>
              <a:t>what </a:t>
            </a:r>
            <a:r>
              <a:rPr sz="2500" i="1" spc="-10" dirty="0">
                <a:latin typeface="Perpetua"/>
                <a:cs typeface="Perpetua"/>
              </a:rPr>
              <a:t>the names </a:t>
            </a:r>
            <a:r>
              <a:rPr sz="2500" i="1" spc="5" dirty="0">
                <a:latin typeface="Perpetua"/>
                <a:cs typeface="Perpetua"/>
              </a:rPr>
              <a:t>started </a:t>
            </a:r>
            <a:r>
              <a:rPr sz="2500" i="1" dirty="0">
                <a:latin typeface="Perpetua"/>
                <a:cs typeface="Perpetua"/>
              </a:rPr>
              <a:t>with </a:t>
            </a:r>
            <a:r>
              <a:rPr sz="2500" i="1" spc="-5" dirty="0">
                <a:latin typeface="Perpetua"/>
                <a:cs typeface="Perpetua"/>
              </a:rPr>
              <a:t>on the </a:t>
            </a:r>
            <a:r>
              <a:rPr sz="2500" i="1" spc="-30" dirty="0">
                <a:latin typeface="Perpetua"/>
                <a:cs typeface="Perpetua"/>
              </a:rPr>
              <a:t>page </a:t>
            </a:r>
            <a:r>
              <a:rPr sz="2500" i="1" spc="-20" dirty="0">
                <a:latin typeface="Perpetua"/>
                <a:cs typeface="Perpetua"/>
              </a:rPr>
              <a:t>you </a:t>
            </a:r>
            <a:r>
              <a:rPr sz="2500" i="1" spc="-5" dirty="0">
                <a:latin typeface="Perpetua"/>
                <a:cs typeface="Perpetua"/>
              </a:rPr>
              <a:t>had </a:t>
            </a:r>
            <a:r>
              <a:rPr sz="2500" i="1" spc="-10" dirty="0">
                <a:latin typeface="Perpetua"/>
                <a:cs typeface="Perpetua"/>
              </a:rPr>
              <a:t>opened </a:t>
            </a:r>
            <a:r>
              <a:rPr sz="2500" i="1" dirty="0">
                <a:latin typeface="Perpetua"/>
                <a:cs typeface="Perpetua"/>
              </a:rPr>
              <a:t>the  </a:t>
            </a:r>
            <a:r>
              <a:rPr sz="2500" i="1" spc="-10" dirty="0">
                <a:latin typeface="Perpetua"/>
                <a:cs typeface="Perpetua"/>
              </a:rPr>
              <a:t>directory</a:t>
            </a:r>
            <a:r>
              <a:rPr sz="2500" i="1" spc="5" dirty="0">
                <a:latin typeface="Perpetua"/>
                <a:cs typeface="Perpetua"/>
              </a:rPr>
              <a:t> </a:t>
            </a:r>
            <a:r>
              <a:rPr sz="2500" i="1" spc="-15" dirty="0">
                <a:latin typeface="Perpetua"/>
                <a:cs typeface="Perpetua"/>
              </a:rPr>
              <a:t>at.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i="1" spc="-5" dirty="0">
                <a:latin typeface="Perpetua"/>
                <a:cs typeface="Perpetua"/>
              </a:rPr>
              <a:t>If </a:t>
            </a:r>
            <a:r>
              <a:rPr sz="2500" i="1" spc="-15" dirty="0">
                <a:latin typeface="Perpetua"/>
                <a:cs typeface="Perpetua"/>
              </a:rPr>
              <a:t>you are </a:t>
            </a:r>
            <a:r>
              <a:rPr sz="2500" i="1" spc="-20" dirty="0">
                <a:latin typeface="Perpetua"/>
                <a:cs typeface="Perpetua"/>
              </a:rPr>
              <a:t>at </a:t>
            </a:r>
            <a:r>
              <a:rPr sz="2500" i="1" spc="-5" dirty="0">
                <a:latin typeface="Perpetua"/>
                <a:cs typeface="Perpetua"/>
              </a:rPr>
              <a:t>a </a:t>
            </a:r>
            <a:r>
              <a:rPr sz="2500" b="1" i="1" spc="-40" dirty="0">
                <a:latin typeface="Perpetua"/>
                <a:cs typeface="Perpetua"/>
              </a:rPr>
              <a:t>page </a:t>
            </a:r>
            <a:r>
              <a:rPr sz="2500" b="1" i="1" spc="-20" dirty="0">
                <a:latin typeface="Perpetua"/>
                <a:cs typeface="Perpetua"/>
              </a:rPr>
              <a:t>before </a:t>
            </a:r>
            <a:r>
              <a:rPr sz="2500" b="1" i="1" spc="-5" dirty="0">
                <a:latin typeface="Perpetua"/>
                <a:cs typeface="Perpetua"/>
              </a:rPr>
              <a:t>the name </a:t>
            </a:r>
            <a:r>
              <a:rPr sz="2500" i="1" spc="-20" dirty="0">
                <a:latin typeface="Perpetua"/>
                <a:cs typeface="Perpetua"/>
              </a:rPr>
              <a:t>you</a:t>
            </a:r>
            <a:r>
              <a:rPr sz="2500" i="1" spc="120" dirty="0">
                <a:latin typeface="Perpetua"/>
                <a:cs typeface="Perpetua"/>
              </a:rPr>
              <a:t> </a:t>
            </a:r>
            <a:r>
              <a:rPr sz="2500" i="1" spc="-10" dirty="0">
                <a:latin typeface="Perpetua"/>
                <a:cs typeface="Perpetua"/>
              </a:rPr>
              <a:t>want,then</a:t>
            </a:r>
            <a:endParaRPr sz="25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000"/>
              <a:buFont typeface="Wingdings"/>
              <a:buChar char=""/>
              <a:tabLst>
                <a:tab pos="561340" algn="l"/>
              </a:tabLst>
            </a:pPr>
            <a:r>
              <a:rPr sz="2500" i="1" spc="-15" dirty="0">
                <a:latin typeface="Perpetua"/>
                <a:cs typeface="Perpetua"/>
              </a:rPr>
              <a:t>you </a:t>
            </a:r>
            <a:r>
              <a:rPr sz="2500" i="1" spc="-5" dirty="0">
                <a:latin typeface="Perpetua"/>
                <a:cs typeface="Perpetua"/>
              </a:rPr>
              <a:t>can </a:t>
            </a:r>
            <a:r>
              <a:rPr sz="2500" i="1" spc="5" dirty="0">
                <a:latin typeface="Perpetua"/>
                <a:cs typeface="Perpetua"/>
              </a:rPr>
              <a:t>rule </a:t>
            </a:r>
            <a:r>
              <a:rPr sz="2500" i="1" spc="-10" dirty="0">
                <a:latin typeface="Perpetua"/>
                <a:cs typeface="Perpetua"/>
              </a:rPr>
              <a:t>out </a:t>
            </a:r>
            <a:r>
              <a:rPr sz="2500" i="1" spc="-5" dirty="0">
                <a:latin typeface="Perpetua"/>
                <a:cs typeface="Perpetua"/>
              </a:rPr>
              <a:t>the first half of the </a:t>
            </a:r>
            <a:r>
              <a:rPr sz="2500" i="1" spc="-10" dirty="0">
                <a:latin typeface="Perpetua"/>
                <a:cs typeface="Perpetua"/>
              </a:rPr>
              <a:t>directory </a:t>
            </a:r>
            <a:r>
              <a:rPr sz="2500" i="1" spc="-5" dirty="0">
                <a:latin typeface="Perpetua"/>
                <a:cs typeface="Perpetua"/>
              </a:rPr>
              <a:t>and </a:t>
            </a:r>
            <a:r>
              <a:rPr sz="2500" i="1" spc="-15" dirty="0">
                <a:latin typeface="Perpetua"/>
                <a:cs typeface="Perpetua"/>
              </a:rPr>
              <a:t>concentrate </a:t>
            </a:r>
            <a:r>
              <a:rPr sz="2500" i="1" spc="-5" dirty="0">
                <a:latin typeface="Perpetua"/>
                <a:cs typeface="Perpetua"/>
              </a:rPr>
              <a:t>on the second  </a:t>
            </a:r>
            <a:r>
              <a:rPr sz="2500" i="1" spc="-30" dirty="0">
                <a:latin typeface="Perpetua"/>
                <a:cs typeface="Perpetua"/>
              </a:rPr>
              <a:t>half.</a:t>
            </a:r>
            <a:endParaRPr sz="25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409"/>
              </a:spcBef>
              <a:buSzPct val="84000"/>
              <a:buFont typeface="Wingdings"/>
              <a:buChar char=""/>
              <a:tabLst>
                <a:tab pos="836294" algn="l"/>
              </a:tabLst>
            </a:pPr>
            <a:r>
              <a:rPr sz="2500" i="1" spc="-10" dirty="0">
                <a:latin typeface="Perpetua"/>
                <a:cs typeface="Perpetua"/>
              </a:rPr>
              <a:t>This </a:t>
            </a:r>
            <a:r>
              <a:rPr sz="2500" i="1" spc="-5" dirty="0">
                <a:latin typeface="Perpetua"/>
                <a:cs typeface="Perpetua"/>
              </a:rPr>
              <a:t>is </a:t>
            </a:r>
            <a:r>
              <a:rPr sz="2500" i="1" spc="-10" dirty="0">
                <a:latin typeface="Perpetua"/>
                <a:cs typeface="Perpetua"/>
              </a:rPr>
              <a:t>possible </a:t>
            </a:r>
            <a:r>
              <a:rPr sz="2500" i="1" spc="-5" dirty="0">
                <a:latin typeface="Perpetua"/>
                <a:cs typeface="Perpetua"/>
              </a:rPr>
              <a:t>because the telephone </a:t>
            </a:r>
            <a:r>
              <a:rPr sz="2500" i="1" spc="-10" dirty="0">
                <a:latin typeface="Perpetua"/>
                <a:cs typeface="Perpetua"/>
              </a:rPr>
              <a:t>directory </a:t>
            </a:r>
            <a:r>
              <a:rPr sz="2500" i="1" spc="-5" dirty="0">
                <a:latin typeface="Perpetua"/>
                <a:cs typeface="Perpetua"/>
              </a:rPr>
              <a:t>is</a:t>
            </a:r>
            <a:r>
              <a:rPr sz="2500" i="1" spc="85" dirty="0">
                <a:latin typeface="Perpetua"/>
                <a:cs typeface="Perpetua"/>
              </a:rPr>
              <a:t> </a:t>
            </a:r>
            <a:r>
              <a:rPr sz="2500" i="1" spc="5" dirty="0">
                <a:latin typeface="Perpetua"/>
                <a:cs typeface="Perpetua"/>
              </a:rPr>
              <a:t>sorted.</a:t>
            </a:r>
            <a:endParaRPr sz="2500">
              <a:latin typeface="Perpetua"/>
              <a:cs typeface="Perpetua"/>
            </a:endParaRPr>
          </a:p>
          <a:p>
            <a:pPr marL="835660" marR="6985" lvl="2" indent="-228600">
              <a:lnSpc>
                <a:spcPct val="100000"/>
              </a:lnSpc>
              <a:spcBef>
                <a:spcPts val="400"/>
              </a:spcBef>
              <a:buSzPct val="84000"/>
              <a:buFont typeface="Wingdings"/>
              <a:buChar char=""/>
              <a:tabLst>
                <a:tab pos="836294" algn="l"/>
              </a:tabLst>
            </a:pPr>
            <a:r>
              <a:rPr sz="2500" i="1" spc="-5" dirty="0">
                <a:latin typeface="Perpetua"/>
                <a:cs typeface="Perpetua"/>
              </a:rPr>
              <a:t>If it </a:t>
            </a:r>
            <a:r>
              <a:rPr sz="2500" i="1" spc="-15" dirty="0">
                <a:latin typeface="Perpetua"/>
                <a:cs typeface="Perpetua"/>
              </a:rPr>
              <a:t>were </a:t>
            </a:r>
            <a:r>
              <a:rPr sz="2500" i="1" spc="-5" dirty="0">
                <a:latin typeface="Perpetua"/>
                <a:cs typeface="Perpetua"/>
              </a:rPr>
              <a:t>in a </a:t>
            </a:r>
            <a:r>
              <a:rPr sz="2500" i="1" spc="-15" dirty="0">
                <a:latin typeface="Perpetua"/>
                <a:cs typeface="Perpetua"/>
              </a:rPr>
              <a:t>random </a:t>
            </a:r>
            <a:r>
              <a:rPr sz="2500" i="1" spc="-25" dirty="0">
                <a:latin typeface="Perpetua"/>
                <a:cs typeface="Perpetua"/>
              </a:rPr>
              <a:t>order, </a:t>
            </a:r>
            <a:r>
              <a:rPr sz="2500" i="1" spc="-20" dirty="0">
                <a:latin typeface="Perpetua"/>
                <a:cs typeface="Perpetua"/>
              </a:rPr>
              <a:t>you </a:t>
            </a:r>
            <a:r>
              <a:rPr sz="2500" i="1" spc="-10" dirty="0">
                <a:latin typeface="Perpetua"/>
                <a:cs typeface="Perpetua"/>
              </a:rPr>
              <a:t>would </a:t>
            </a:r>
            <a:r>
              <a:rPr sz="2500" i="1" spc="-5" dirty="0">
                <a:latin typeface="Perpetua"/>
                <a:cs typeface="Perpetua"/>
              </a:rPr>
              <a:t>be no </a:t>
            </a:r>
            <a:r>
              <a:rPr sz="2500" i="1" spc="-10" dirty="0">
                <a:latin typeface="Perpetua"/>
                <a:cs typeface="Perpetua"/>
              </a:rPr>
              <a:t>nearer </a:t>
            </a:r>
            <a:r>
              <a:rPr sz="2500" i="1" spc="-5" dirty="0">
                <a:latin typeface="Perpetua"/>
                <a:cs typeface="Perpetua"/>
              </a:rPr>
              <a:t>finding the </a:t>
            </a:r>
            <a:r>
              <a:rPr sz="2500" i="1" spc="5" dirty="0">
                <a:latin typeface="Perpetua"/>
                <a:cs typeface="Perpetua"/>
              </a:rPr>
              <a:t>right  </a:t>
            </a:r>
            <a:r>
              <a:rPr sz="2500" i="1" spc="-40" dirty="0">
                <a:latin typeface="Perpetua"/>
                <a:cs typeface="Perpetua"/>
              </a:rPr>
              <a:t>entry.</a:t>
            </a:r>
            <a:endParaRPr sz="25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500" i="1" spc="-5" dirty="0">
                <a:latin typeface="Perpetua"/>
                <a:cs typeface="Perpetua"/>
              </a:rPr>
              <a:t>If </a:t>
            </a:r>
            <a:r>
              <a:rPr sz="2500" i="1" spc="-15" dirty="0">
                <a:latin typeface="Perpetua"/>
                <a:cs typeface="Perpetua"/>
              </a:rPr>
              <a:t>you </a:t>
            </a:r>
            <a:r>
              <a:rPr sz="2500" i="1" spc="-35" dirty="0">
                <a:latin typeface="Perpetua"/>
                <a:cs typeface="Perpetua"/>
              </a:rPr>
              <a:t>have </a:t>
            </a:r>
            <a:r>
              <a:rPr sz="2500" b="1" i="1" spc="-25" dirty="0">
                <a:latin typeface="Perpetua"/>
                <a:cs typeface="Perpetua"/>
              </a:rPr>
              <a:t>overshot</a:t>
            </a:r>
            <a:r>
              <a:rPr sz="2500" i="1" spc="-25" dirty="0">
                <a:latin typeface="Perpetua"/>
                <a:cs typeface="Perpetua"/>
              </a:rPr>
              <a:t>,</a:t>
            </a:r>
            <a:r>
              <a:rPr sz="2500" i="1" spc="-22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then</a:t>
            </a:r>
            <a:endParaRPr sz="25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000"/>
              <a:buFont typeface="Wingdings"/>
              <a:buChar char=""/>
              <a:tabLst>
                <a:tab pos="561340" algn="l"/>
              </a:tabLst>
            </a:pPr>
            <a:r>
              <a:rPr sz="2500" i="1" spc="-15" dirty="0">
                <a:latin typeface="Perpetua"/>
                <a:cs typeface="Perpetua"/>
              </a:rPr>
              <a:t>you </a:t>
            </a:r>
            <a:r>
              <a:rPr sz="2500" i="1" spc="-5" dirty="0">
                <a:latin typeface="Perpetua"/>
                <a:cs typeface="Perpetua"/>
              </a:rPr>
              <a:t>can </a:t>
            </a:r>
            <a:r>
              <a:rPr sz="2500" i="1" spc="5" dirty="0">
                <a:latin typeface="Perpetua"/>
                <a:cs typeface="Perpetua"/>
              </a:rPr>
              <a:t>rule </a:t>
            </a:r>
            <a:r>
              <a:rPr sz="2500" i="1" spc="-5" dirty="0">
                <a:latin typeface="Perpetua"/>
                <a:cs typeface="Perpetua"/>
              </a:rPr>
              <a:t>out the second half and </a:t>
            </a:r>
            <a:r>
              <a:rPr sz="2500" i="1" spc="-10" dirty="0">
                <a:latin typeface="Perpetua"/>
                <a:cs typeface="Perpetua"/>
              </a:rPr>
              <a:t>concentrate </a:t>
            </a:r>
            <a:r>
              <a:rPr sz="2500" i="1" spc="-5" dirty="0">
                <a:latin typeface="Perpetua"/>
                <a:cs typeface="Perpetua"/>
              </a:rPr>
              <a:t>on the first</a:t>
            </a:r>
            <a:r>
              <a:rPr sz="2500" i="1" spc="40" dirty="0">
                <a:latin typeface="Perpetua"/>
                <a:cs typeface="Perpetua"/>
              </a:rPr>
              <a:t> </a:t>
            </a:r>
            <a:r>
              <a:rPr sz="2500" i="1" spc="-30" dirty="0">
                <a:latin typeface="Perpetua"/>
                <a:cs typeface="Perpetua"/>
              </a:rPr>
              <a:t>half.</a:t>
            </a:r>
            <a:endParaRPr sz="25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80791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Steps – </a:t>
            </a:r>
            <a:r>
              <a:rPr sz="3600" spc="5" dirty="0"/>
              <a:t>Searching </a:t>
            </a:r>
            <a:r>
              <a:rPr sz="3600" spc="-5" dirty="0"/>
              <a:t>residential telephone</a:t>
            </a:r>
            <a:r>
              <a:rPr sz="3600" spc="-10" dirty="0"/>
              <a:t> </a:t>
            </a:r>
            <a:r>
              <a:rPr sz="3600" spc="-5" dirty="0"/>
              <a:t>directory</a:t>
            </a:r>
            <a:endParaRPr sz="3600"/>
          </a:p>
          <a:p>
            <a:pPr marL="12700">
              <a:lnSpc>
                <a:spcPct val="100000"/>
              </a:lnSpc>
            </a:pPr>
            <a:r>
              <a:rPr sz="3600" i="1" dirty="0">
                <a:latin typeface="Perpetua"/>
                <a:cs typeface="Perpetua"/>
              </a:rPr>
              <a:t>contd</a:t>
            </a:r>
            <a:r>
              <a:rPr sz="3600" dirty="0"/>
              <a:t>---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82877"/>
            <a:ext cx="8530590" cy="2306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And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continue in the same</a:t>
            </a:r>
            <a:r>
              <a:rPr sz="2600" i="1" spc="45" dirty="0">
                <a:latin typeface="Perpetua"/>
                <a:cs typeface="Perpetua"/>
              </a:rPr>
              <a:t> </a:t>
            </a:r>
            <a:r>
              <a:rPr sz="2600" i="1" spc="-80" dirty="0">
                <a:latin typeface="Perpetua"/>
                <a:cs typeface="Perpetua"/>
              </a:rPr>
              <a:t>way,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5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15" dirty="0">
                <a:latin typeface="Perpetua"/>
                <a:cs typeface="Perpetua"/>
              </a:rPr>
              <a:t>go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25" dirty="0">
                <a:latin typeface="Perpetua"/>
                <a:cs typeface="Perpetua"/>
              </a:rPr>
              <a:t>page </a:t>
            </a:r>
            <a:r>
              <a:rPr sz="2600" i="1" spc="-10" dirty="0">
                <a:latin typeface="Perpetua"/>
                <a:cs typeface="Perpetua"/>
              </a:rPr>
              <a:t>roughly </a:t>
            </a:r>
            <a:r>
              <a:rPr sz="2600" i="1" dirty="0">
                <a:latin typeface="Perpetua"/>
                <a:cs typeface="Perpetua"/>
              </a:rPr>
              <a:t>half </a:t>
            </a:r>
            <a:r>
              <a:rPr sz="2600" i="1" spc="-45" dirty="0">
                <a:latin typeface="Perpetua"/>
                <a:cs typeface="Perpetua"/>
              </a:rPr>
              <a:t>way </a:t>
            </a:r>
            <a:r>
              <a:rPr sz="2600" i="1" spc="-5" dirty="0">
                <a:latin typeface="Perpetua"/>
                <a:cs typeface="Perpetua"/>
              </a:rPr>
              <a:t>through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15" dirty="0">
                <a:latin typeface="Perpetua"/>
                <a:cs typeface="Perpetua"/>
              </a:rPr>
              <a:t>part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 discarded </a:t>
            </a:r>
            <a:r>
              <a:rPr sz="2600" i="1" spc="-10" dirty="0">
                <a:latin typeface="Perpetua"/>
                <a:cs typeface="Perpetua"/>
              </a:rPr>
              <a:t>and  </a:t>
            </a:r>
            <a:r>
              <a:rPr sz="2600" i="1" dirty="0">
                <a:latin typeface="Perpetua"/>
                <a:cs typeface="Perpetua"/>
              </a:rPr>
              <a:t>discard </a:t>
            </a:r>
            <a:r>
              <a:rPr sz="2600" i="1" spc="-5" dirty="0">
                <a:latin typeface="Perpetua"/>
                <a:cs typeface="Perpetua"/>
              </a:rPr>
              <a:t>another</a:t>
            </a:r>
            <a:r>
              <a:rPr sz="2600" i="1" spc="-30" dirty="0">
                <a:latin typeface="Perpetua"/>
                <a:cs typeface="Perpetua"/>
              </a:rPr>
              <a:t> half.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95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keep doing this until </a:t>
            </a:r>
            <a:r>
              <a:rPr sz="2600" i="1" spc="-15" dirty="0">
                <a:latin typeface="Perpetua"/>
                <a:cs typeface="Perpetua"/>
              </a:rPr>
              <a:t>you get </a:t>
            </a:r>
            <a:r>
              <a:rPr sz="2600" i="1" spc="-5" dirty="0">
                <a:latin typeface="Perpetua"/>
                <a:cs typeface="Perpetua"/>
              </a:rPr>
              <a:t>to the </a:t>
            </a:r>
            <a:r>
              <a:rPr sz="2600" i="1" dirty="0">
                <a:latin typeface="Perpetua"/>
                <a:cs typeface="Perpetua"/>
              </a:rPr>
              <a:t>single </a:t>
            </a:r>
            <a:r>
              <a:rPr sz="2600" i="1" spc="-5" dirty="0">
                <a:latin typeface="Perpetua"/>
                <a:cs typeface="Perpetua"/>
              </a:rPr>
              <a:t>entry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15" dirty="0">
                <a:latin typeface="Perpetua"/>
                <a:cs typeface="Perpetua"/>
              </a:rPr>
              <a:t>your </a:t>
            </a:r>
            <a:r>
              <a:rPr sz="2600" i="1" dirty="0">
                <a:latin typeface="Perpetua"/>
                <a:cs typeface="Perpetua"/>
              </a:rPr>
              <a:t>friend's</a:t>
            </a:r>
            <a:r>
              <a:rPr sz="2600" i="1" spc="1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name.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6428" y="5051297"/>
            <a:ext cx="303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15" dirty="0">
                <a:latin typeface="Perpetua"/>
                <a:cs typeface="Perpetua"/>
              </a:rPr>
              <a:t>How </a:t>
            </a:r>
            <a:r>
              <a:rPr sz="2400" i="1" spc="-20" dirty="0">
                <a:latin typeface="Perpetua"/>
                <a:cs typeface="Perpetua"/>
              </a:rPr>
              <a:t>many </a:t>
            </a:r>
            <a:r>
              <a:rPr sz="2400" i="1" spc="5" dirty="0">
                <a:latin typeface="Perpetua"/>
                <a:cs typeface="Perpetua"/>
              </a:rPr>
              <a:t>entries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-3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search?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0758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Remember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06460" cy="410082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7020" algn="l"/>
                <a:tab pos="6379845" algn="l"/>
                <a:tab pos="7440295" algn="l"/>
              </a:tabLst>
            </a:pPr>
            <a:r>
              <a:rPr sz="2600" i="1" spc="5" dirty="0">
                <a:latin typeface="Perpetua"/>
                <a:cs typeface="Perpetua"/>
              </a:rPr>
              <a:t>Entries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elements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25" dirty="0">
                <a:latin typeface="Perpetua"/>
                <a:cs typeface="Perpetua"/>
              </a:rPr>
              <a:t>organized </a:t>
            </a:r>
            <a:r>
              <a:rPr sz="2600" i="1" dirty="0">
                <a:latin typeface="Perpetua"/>
                <a:cs typeface="Perpetua"/>
              </a:rPr>
              <a:t>-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30" dirty="0">
                <a:latin typeface="Perpetua"/>
                <a:cs typeface="Perpetua"/>
              </a:rPr>
              <a:t>have</a:t>
            </a:r>
            <a:r>
              <a:rPr sz="2600" i="1" spc="8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25" dirty="0">
                <a:latin typeface="Perpetua"/>
                <a:cs typeface="Perpetua"/>
              </a:rPr>
              <a:t>organized	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10" dirty="0">
                <a:latin typeface="Perpetua"/>
                <a:cs typeface="Perpetua"/>
              </a:rPr>
              <a:t>sorted	</a:t>
            </a:r>
            <a:r>
              <a:rPr sz="2600" i="1" spc="-5" dirty="0">
                <a:latin typeface="Perpetua"/>
                <a:cs typeface="Perpetua"/>
              </a:rPr>
              <a:t>list.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75" dirty="0">
                <a:latin typeface="Perpetua"/>
                <a:cs typeface="Perpetua"/>
              </a:rPr>
              <a:t>You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the middle entry or</a:t>
            </a:r>
            <a:r>
              <a:rPr sz="2600" i="1" spc="6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If </a:t>
            </a:r>
            <a:r>
              <a:rPr sz="2600" i="1" spc="-5" dirty="0">
                <a:latin typeface="Perpetua"/>
                <a:cs typeface="Perpetua"/>
              </a:rPr>
              <a:t>the middle </a:t>
            </a:r>
            <a:r>
              <a:rPr sz="2600" i="1" dirty="0">
                <a:latin typeface="Perpetua"/>
                <a:cs typeface="Perpetua"/>
              </a:rPr>
              <a:t>element </a:t>
            </a:r>
            <a:r>
              <a:rPr sz="2600" i="1" spc="-5" dirty="0">
                <a:latin typeface="Perpetua"/>
                <a:cs typeface="Perpetua"/>
              </a:rPr>
              <a:t>equals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 searched </a:t>
            </a:r>
            <a:r>
              <a:rPr sz="2600" i="1" spc="-15" dirty="0">
                <a:latin typeface="Perpetua"/>
                <a:cs typeface="Perpetua"/>
              </a:rPr>
              <a:t>value, </a:t>
            </a:r>
            <a:r>
              <a:rPr sz="2600" i="1" spc="-5" dirty="0">
                <a:latin typeface="Perpetua"/>
                <a:cs typeface="Perpetua"/>
              </a:rPr>
              <a:t>then</a:t>
            </a:r>
            <a:r>
              <a:rPr sz="2600" i="1" spc="-25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Otherwise, </a:t>
            </a:r>
            <a:r>
              <a:rPr sz="2600" i="1" spc="-10" dirty="0">
                <a:latin typeface="Perpetua"/>
                <a:cs typeface="Perpetua"/>
              </a:rPr>
              <a:t>two </a:t>
            </a:r>
            <a:r>
              <a:rPr sz="2600" i="1" spc="-5" dirty="0">
                <a:latin typeface="Perpetua"/>
                <a:cs typeface="Perpetua"/>
              </a:rPr>
              <a:t>cases </a:t>
            </a:r>
            <a:r>
              <a:rPr sz="2600" i="1" spc="-10" dirty="0">
                <a:latin typeface="Perpetua"/>
                <a:cs typeface="Perpetua"/>
              </a:rPr>
              <a:t>are</a:t>
            </a:r>
            <a:r>
              <a:rPr sz="2600" i="1" spc="-27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possible: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b="1" i="1" spc="-5" dirty="0">
                <a:latin typeface="Perpetua"/>
                <a:cs typeface="Perpetua"/>
              </a:rPr>
              <a:t>Searched </a:t>
            </a:r>
            <a:r>
              <a:rPr sz="2600" b="1" i="1" spc="-20" dirty="0">
                <a:latin typeface="Perpetua"/>
                <a:cs typeface="Perpetua"/>
              </a:rPr>
              <a:t>value </a:t>
            </a:r>
            <a:r>
              <a:rPr sz="2600" b="1" i="1" dirty="0">
                <a:latin typeface="Perpetua"/>
                <a:cs typeface="Perpetua"/>
              </a:rPr>
              <a:t>is less, than the </a:t>
            </a:r>
            <a:r>
              <a:rPr sz="2600" b="1" i="1" spc="-5" dirty="0">
                <a:latin typeface="Perpetua"/>
                <a:cs typeface="Perpetua"/>
              </a:rPr>
              <a:t>middle</a:t>
            </a:r>
            <a:r>
              <a:rPr sz="2600" b="1" i="1" spc="-305" dirty="0">
                <a:latin typeface="Perpetua"/>
                <a:cs typeface="Perpetua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element</a:t>
            </a:r>
            <a:r>
              <a:rPr sz="2600" i="1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835660" marR="770890" lvl="2" indent="-228600">
              <a:lnSpc>
                <a:spcPct val="100000"/>
              </a:lnSpc>
              <a:spcBef>
                <a:spcPts val="405"/>
              </a:spcBef>
              <a:buSzPct val="84615"/>
              <a:buFont typeface="Wingdings"/>
              <a:buChar char=""/>
              <a:tabLst>
                <a:tab pos="911225" algn="l"/>
              </a:tabLst>
            </a:pP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this case, </a:t>
            </a:r>
            <a:r>
              <a:rPr sz="2600" i="1" spc="-15" dirty="0">
                <a:latin typeface="Perpetua"/>
                <a:cs typeface="Perpetua"/>
              </a:rPr>
              <a:t>go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 step </a:t>
            </a:r>
            <a:r>
              <a:rPr sz="2600" i="1" dirty="0">
                <a:latin typeface="Perpetua"/>
                <a:cs typeface="Perpetua"/>
              </a:rPr>
              <a:t>1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15" dirty="0">
                <a:latin typeface="Perpetua"/>
                <a:cs typeface="Perpetua"/>
              </a:rPr>
              <a:t>part </a:t>
            </a:r>
            <a:r>
              <a:rPr sz="2600" i="1" spc="-5" dirty="0">
                <a:latin typeface="Perpetua"/>
                <a:cs typeface="Perpetua"/>
              </a:rPr>
              <a:t>of the list,</a:t>
            </a:r>
            <a:r>
              <a:rPr sz="2600" i="1" spc="-48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before </a:t>
            </a:r>
            <a:r>
              <a:rPr sz="2600" i="1" spc="-5" dirty="0">
                <a:latin typeface="Perpetua"/>
                <a:cs typeface="Perpetua"/>
              </a:rPr>
              <a:t>middle  </a:t>
            </a:r>
            <a:r>
              <a:rPr sz="2600" i="1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b="1" i="1" spc="-5" dirty="0">
                <a:latin typeface="Perpetua"/>
                <a:cs typeface="Perpetua"/>
              </a:rPr>
              <a:t>Searched </a:t>
            </a:r>
            <a:r>
              <a:rPr sz="2600" b="1" i="1" spc="-20" dirty="0">
                <a:latin typeface="Perpetua"/>
                <a:cs typeface="Perpetua"/>
              </a:rPr>
              <a:t>value </a:t>
            </a:r>
            <a:r>
              <a:rPr sz="2600" b="1" i="1" dirty="0">
                <a:latin typeface="Perpetua"/>
                <a:cs typeface="Perpetua"/>
              </a:rPr>
              <a:t>is </a:t>
            </a:r>
            <a:r>
              <a:rPr sz="2600" b="1" i="1" spc="-40" dirty="0">
                <a:latin typeface="Perpetua"/>
                <a:cs typeface="Perpetua"/>
              </a:rPr>
              <a:t>greater, </a:t>
            </a:r>
            <a:r>
              <a:rPr sz="2600" b="1" i="1" dirty="0">
                <a:latin typeface="Perpetua"/>
                <a:cs typeface="Perpetua"/>
              </a:rPr>
              <a:t>than the </a:t>
            </a:r>
            <a:r>
              <a:rPr sz="2600" b="1" i="1" spc="-5" dirty="0">
                <a:latin typeface="Perpetua"/>
                <a:cs typeface="Perpetua"/>
              </a:rPr>
              <a:t>middle</a:t>
            </a:r>
            <a:r>
              <a:rPr sz="2600" b="1" i="1" spc="-270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395"/>
              </a:spcBef>
              <a:buSzPct val="84615"/>
              <a:buFont typeface="Wingdings"/>
              <a:buChar char=""/>
              <a:tabLst>
                <a:tab pos="836294" algn="l"/>
              </a:tabLst>
            </a:pP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this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case,</a:t>
            </a:r>
            <a:r>
              <a:rPr sz="2600" i="1" spc="-27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go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step </a:t>
            </a:r>
            <a:r>
              <a:rPr sz="2600" i="1" dirty="0">
                <a:latin typeface="Perpetua"/>
                <a:cs typeface="Perpetua"/>
              </a:rPr>
              <a:t>1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" dirty="0">
                <a:latin typeface="Perpetua"/>
                <a:cs typeface="Perpetua"/>
              </a:rPr>
              <a:t> part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 the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list,</a:t>
            </a:r>
            <a:r>
              <a:rPr sz="2600" i="1" spc="-254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after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middle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34641" y="257824"/>
            <a:ext cx="906049" cy="1139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5" dirty="0"/>
              <a:t>Searching </a:t>
            </a:r>
            <a:r>
              <a:rPr spc="-5" dirty="0"/>
              <a:t>an alphabetized </a:t>
            </a:r>
            <a:r>
              <a:rPr spc="15" dirty="0"/>
              <a:t>stack </a:t>
            </a:r>
            <a:r>
              <a:rPr spc="-5" dirty="0"/>
              <a:t>of </a:t>
            </a:r>
            <a:r>
              <a:rPr spc="-45" dirty="0"/>
              <a:t>award  </a:t>
            </a:r>
            <a:r>
              <a:rPr spc="5" dirty="0"/>
              <a:t>certificates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78661"/>
            <a:ext cx="8455660" cy="436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4000"/>
              <a:buFont typeface="Wingdings"/>
              <a:buChar char=""/>
              <a:tabLst>
                <a:tab pos="287020" algn="l"/>
                <a:tab pos="2986405" algn="l"/>
              </a:tabLst>
            </a:pPr>
            <a:r>
              <a:rPr sz="2500" i="1" spc="-5" dirty="0">
                <a:latin typeface="Perpetua"/>
                <a:cs typeface="Perpetua"/>
              </a:rPr>
              <a:t>At each step of</a:t>
            </a:r>
            <a:r>
              <a:rPr sz="2500" i="1" spc="5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the</a:t>
            </a:r>
            <a:r>
              <a:rPr sz="2500" i="1" spc="1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search	examine the middle item of the remaining</a:t>
            </a:r>
            <a:r>
              <a:rPr sz="2500" i="1" spc="40" dirty="0">
                <a:latin typeface="Perpetua"/>
                <a:cs typeface="Perpetua"/>
              </a:rPr>
              <a:t> </a:t>
            </a:r>
            <a:r>
              <a:rPr sz="2500" i="1" spc="-20" dirty="0">
                <a:latin typeface="Perpetua"/>
                <a:cs typeface="Perpetua"/>
              </a:rPr>
              <a:t>group.</a:t>
            </a:r>
            <a:endParaRPr sz="2500">
              <a:latin typeface="Perpetua"/>
              <a:cs typeface="Perpetua"/>
            </a:endParaRPr>
          </a:p>
          <a:p>
            <a:pPr marL="286385" marR="6350" indent="-274320">
              <a:lnSpc>
                <a:spcPts val="2400"/>
              </a:lnSpc>
              <a:spcBef>
                <a:spcPts val="585"/>
              </a:spcBef>
              <a:buSzPct val="84000"/>
              <a:buFont typeface="Wingdings"/>
              <a:buChar char=""/>
              <a:tabLst>
                <a:tab pos="287020" algn="l"/>
              </a:tabLst>
            </a:pPr>
            <a:r>
              <a:rPr sz="2500" i="1" spc="-5" dirty="0">
                <a:latin typeface="Perpetua"/>
                <a:cs typeface="Perpetua"/>
              </a:rPr>
              <a:t>By </a:t>
            </a:r>
            <a:r>
              <a:rPr sz="2500" i="1" dirty="0">
                <a:latin typeface="Perpetua"/>
                <a:cs typeface="Perpetua"/>
              </a:rPr>
              <a:t>comparing </a:t>
            </a:r>
            <a:r>
              <a:rPr sz="2500" i="1" spc="-5" dirty="0">
                <a:latin typeface="Perpetua"/>
                <a:cs typeface="Perpetua"/>
              </a:rPr>
              <a:t>the middle item to the </a:t>
            </a:r>
            <a:r>
              <a:rPr sz="2500" i="1" dirty="0">
                <a:latin typeface="Perpetua"/>
                <a:cs typeface="Perpetua"/>
              </a:rPr>
              <a:t>sought </a:t>
            </a:r>
            <a:r>
              <a:rPr sz="2500" i="1" spc="-10" dirty="0">
                <a:latin typeface="Perpetua"/>
                <a:cs typeface="Perpetua"/>
              </a:rPr>
              <a:t>item, </a:t>
            </a:r>
            <a:r>
              <a:rPr sz="2500" i="1" spc="-5" dirty="0">
                <a:latin typeface="Perpetua"/>
                <a:cs typeface="Perpetua"/>
              </a:rPr>
              <a:t>half of the </a:t>
            </a:r>
            <a:r>
              <a:rPr sz="2500" i="1" dirty="0">
                <a:latin typeface="Perpetua"/>
                <a:cs typeface="Perpetua"/>
              </a:rPr>
              <a:t>group </a:t>
            </a:r>
            <a:r>
              <a:rPr sz="2500" i="1" spc="-5" dirty="0">
                <a:latin typeface="Perpetua"/>
                <a:cs typeface="Perpetua"/>
              </a:rPr>
              <a:t>can </a:t>
            </a:r>
            <a:r>
              <a:rPr sz="2500" i="1" spc="-20" dirty="0">
                <a:latin typeface="Perpetua"/>
                <a:cs typeface="Perpetua"/>
              </a:rPr>
              <a:t>be  </a:t>
            </a:r>
            <a:r>
              <a:rPr sz="2500" i="1" spc="-5" dirty="0">
                <a:latin typeface="Perpetua"/>
                <a:cs typeface="Perpetua"/>
              </a:rPr>
              <a:t>eliminated </a:t>
            </a:r>
            <a:r>
              <a:rPr sz="2500" i="1" spc="-10" dirty="0">
                <a:latin typeface="Perpetua"/>
                <a:cs typeface="Perpetua"/>
              </a:rPr>
              <a:t>from </a:t>
            </a:r>
            <a:r>
              <a:rPr sz="2500" i="1" spc="5" dirty="0">
                <a:latin typeface="Perpetua"/>
                <a:cs typeface="Perpetua"/>
              </a:rPr>
              <a:t>further </a:t>
            </a:r>
            <a:r>
              <a:rPr sz="2500" i="1" spc="-10" dirty="0">
                <a:latin typeface="Perpetua"/>
                <a:cs typeface="Perpetua"/>
              </a:rPr>
              <a:t>consideration </a:t>
            </a:r>
            <a:r>
              <a:rPr sz="2500" i="1" spc="-5" dirty="0">
                <a:latin typeface="Perpetua"/>
                <a:cs typeface="Perpetua"/>
              </a:rPr>
              <a:t>in this</a:t>
            </a:r>
            <a:r>
              <a:rPr sz="2500" i="1" spc="30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search.</a:t>
            </a:r>
            <a:endParaRPr sz="25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2450">
              <a:latin typeface="Times New Roman"/>
              <a:cs typeface="Times New Roman"/>
            </a:endParaRPr>
          </a:p>
          <a:p>
            <a:pPr marL="561340" lvl="1" indent="-228600">
              <a:lnSpc>
                <a:spcPts val="2595"/>
              </a:lnSpc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Consider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your</a:t>
            </a:r>
            <a:r>
              <a:rPr sz="2400" spc="2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name</a:t>
            </a:r>
            <a:r>
              <a:rPr sz="2400" spc="2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i="1" spc="-30" dirty="0">
                <a:latin typeface="Perpetua"/>
                <a:cs typeface="Perpetua"/>
              </a:rPr>
              <a:t>Jones,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Susan</a:t>
            </a:r>
            <a:r>
              <a:rPr sz="2400" i="1" spc="2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name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22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middle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561340">
              <a:lnSpc>
                <a:spcPts val="2595"/>
              </a:lnSpc>
            </a:pPr>
            <a:r>
              <a:rPr sz="2400" i="1" spc="-5" dirty="0">
                <a:latin typeface="Perpetua"/>
                <a:cs typeface="Perpetua"/>
              </a:rPr>
              <a:t>Smith,</a:t>
            </a:r>
            <a:r>
              <a:rPr sz="2400" i="1" spc="-25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John</a:t>
            </a:r>
            <a:r>
              <a:rPr sz="2400" spc="-2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561340" marR="5080" lvl="1" indent="-228600" algn="just">
              <a:lnSpc>
                <a:spcPct val="80100"/>
              </a:lnSpc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Since the </a:t>
            </a:r>
            <a:r>
              <a:rPr sz="2400" spc="5" dirty="0">
                <a:latin typeface="Perpetua"/>
                <a:cs typeface="Perpetua"/>
              </a:rPr>
              <a:t>stack </a:t>
            </a:r>
            <a:r>
              <a:rPr sz="2400" dirty="0">
                <a:latin typeface="Perpetua"/>
                <a:cs typeface="Perpetua"/>
              </a:rPr>
              <a:t>has been </a:t>
            </a:r>
            <a:r>
              <a:rPr sz="2400" spc="-5" dirty="0">
                <a:latin typeface="Perpetua"/>
                <a:cs typeface="Perpetua"/>
              </a:rPr>
              <a:t>alphabetized and </a:t>
            </a:r>
            <a:r>
              <a:rPr sz="2400" dirty="0">
                <a:latin typeface="Perpetua"/>
                <a:cs typeface="Perpetua"/>
              </a:rPr>
              <a:t>since </a:t>
            </a:r>
            <a:r>
              <a:rPr sz="2400" i="1" spc="-15" dirty="0">
                <a:latin typeface="Perpetua"/>
                <a:cs typeface="Perpetua"/>
              </a:rPr>
              <a:t>Jones </a:t>
            </a:r>
            <a:r>
              <a:rPr sz="2400" spc="-5" dirty="0">
                <a:latin typeface="Perpetua"/>
                <a:cs typeface="Perpetua"/>
              </a:rPr>
              <a:t>precedes </a:t>
            </a:r>
            <a:r>
              <a:rPr sz="2400" i="1" dirty="0">
                <a:latin typeface="Perpetua"/>
                <a:cs typeface="Perpetua"/>
              </a:rPr>
              <a:t>Smith  </a:t>
            </a:r>
            <a:r>
              <a:rPr sz="2400" spc="-20" dirty="0">
                <a:latin typeface="Perpetua"/>
                <a:cs typeface="Perpetua"/>
              </a:rPr>
              <a:t>alphabetically, </a:t>
            </a:r>
            <a:r>
              <a:rPr sz="2400" spc="-10" dirty="0">
                <a:latin typeface="Perpetua"/>
                <a:cs typeface="Perpetua"/>
              </a:rPr>
              <a:t>there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no </a:t>
            </a:r>
            <a:r>
              <a:rPr sz="2400" dirty="0">
                <a:latin typeface="Perpetua"/>
                <a:cs typeface="Perpetua"/>
              </a:rPr>
              <a:t>need </a:t>
            </a:r>
            <a:r>
              <a:rPr sz="2400" spc="-5" dirty="0">
                <a:latin typeface="Perpetua"/>
                <a:cs typeface="Perpetua"/>
              </a:rPr>
              <a:t>to consider </a:t>
            </a:r>
            <a:r>
              <a:rPr sz="2400" dirty="0">
                <a:latin typeface="Perpetua"/>
                <a:cs typeface="Perpetua"/>
              </a:rPr>
              <a:t>the half of the </a:t>
            </a:r>
            <a:r>
              <a:rPr sz="2400" spc="-10" dirty="0">
                <a:latin typeface="Perpetua"/>
                <a:cs typeface="Perpetua"/>
              </a:rPr>
              <a:t>data from  </a:t>
            </a:r>
            <a:r>
              <a:rPr sz="2400" dirty="0">
                <a:latin typeface="Perpetua"/>
                <a:cs typeface="Perpetua"/>
              </a:rPr>
              <a:t>Smith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end.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561340" marR="6985" lvl="1" indent="-228600" algn="just">
              <a:lnSpc>
                <a:spcPct val="800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spc="-30" dirty="0">
                <a:latin typeface="Perpetua"/>
                <a:cs typeface="Perpetua"/>
              </a:rPr>
              <a:t>Similarly, </a:t>
            </a:r>
            <a:r>
              <a:rPr sz="2400" dirty="0">
                <a:latin typeface="Perpetua"/>
                <a:cs typeface="Perpetua"/>
              </a:rPr>
              <a:t>if the </a:t>
            </a:r>
            <a:r>
              <a:rPr sz="2400" spc="-5" dirty="0">
                <a:latin typeface="Perpetua"/>
                <a:cs typeface="Perpetua"/>
              </a:rPr>
              <a:t>middle </a:t>
            </a:r>
            <a:r>
              <a:rPr sz="2400" dirty="0">
                <a:latin typeface="Perpetua"/>
                <a:cs typeface="Perpetua"/>
              </a:rPr>
              <a:t>name </a:t>
            </a:r>
            <a:r>
              <a:rPr sz="2400" spc="-15" dirty="0">
                <a:latin typeface="Perpetua"/>
                <a:cs typeface="Perpetua"/>
              </a:rPr>
              <a:t>was </a:t>
            </a:r>
            <a:r>
              <a:rPr sz="2400" i="1" spc="-5" dirty="0">
                <a:latin typeface="Perpetua"/>
                <a:cs typeface="Perpetua"/>
              </a:rPr>
              <a:t>Gomez</a:t>
            </a:r>
            <a:r>
              <a:rPr sz="2400" spc="-5" dirty="0">
                <a:latin typeface="Perpetua"/>
                <a:cs typeface="Perpetua"/>
              </a:rPr>
              <a:t>, </a:t>
            </a:r>
            <a:r>
              <a:rPr sz="2400" i="1" spc="-5" dirty="0">
                <a:latin typeface="Perpetua"/>
                <a:cs typeface="Perpetua"/>
              </a:rPr>
              <a:t>Marc</a:t>
            </a:r>
            <a:r>
              <a:rPr sz="2400" spc="-5" dirty="0">
                <a:latin typeface="Perpetua"/>
                <a:cs typeface="Perpetua"/>
              </a:rPr>
              <a:t>, </a:t>
            </a:r>
            <a:r>
              <a:rPr sz="2400" dirty="0">
                <a:latin typeface="Perpetua"/>
                <a:cs typeface="Perpetua"/>
              </a:rPr>
              <a:t>then the </a:t>
            </a:r>
            <a:r>
              <a:rPr sz="2400" spc="10" dirty="0">
                <a:latin typeface="Perpetua"/>
                <a:cs typeface="Perpetua"/>
              </a:rPr>
              <a:t>first </a:t>
            </a:r>
            <a:r>
              <a:rPr sz="2400" dirty="0">
                <a:latin typeface="Perpetua"/>
                <a:cs typeface="Perpetua"/>
              </a:rPr>
              <a:t>half of the  </a:t>
            </a:r>
            <a:r>
              <a:rPr sz="2400" spc="-5" dirty="0">
                <a:latin typeface="Perpetua"/>
                <a:cs typeface="Perpetua"/>
              </a:rPr>
              <a:t>data (through </a:t>
            </a:r>
            <a:r>
              <a:rPr sz="2400" i="1" dirty="0">
                <a:latin typeface="Perpetua"/>
                <a:cs typeface="Perpetua"/>
              </a:rPr>
              <a:t>Gomez</a:t>
            </a:r>
            <a:r>
              <a:rPr sz="2400" dirty="0">
                <a:latin typeface="Perpetua"/>
                <a:cs typeface="Perpetua"/>
              </a:rPr>
              <a:t>) can be </a:t>
            </a:r>
            <a:r>
              <a:rPr sz="2400" spc="-5" dirty="0">
                <a:latin typeface="Perpetua"/>
                <a:cs typeface="Perpetua"/>
              </a:rPr>
              <a:t>eliminated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spc="10" dirty="0">
                <a:latin typeface="Perpetua"/>
                <a:cs typeface="Perpetua"/>
              </a:rPr>
              <a:t>further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consideration.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982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180" y="1821916"/>
            <a:ext cx="7942580" cy="31838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600" b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Step</a:t>
            </a:r>
            <a:r>
              <a:rPr sz="2600" b="1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20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middle </a:t>
            </a:r>
            <a:r>
              <a:rPr sz="2600" i="1" dirty="0">
                <a:latin typeface="Perpetua"/>
                <a:cs typeface="Perpetua"/>
              </a:rPr>
              <a:t>certificate </a:t>
            </a:r>
            <a:r>
              <a:rPr sz="2600" i="1" spc="-5" dirty="0">
                <a:latin typeface="Perpetua"/>
                <a:cs typeface="Perpetua"/>
              </a:rPr>
              <a:t>in the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stack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30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middle </a:t>
            </a:r>
            <a:r>
              <a:rPr sz="2600" spc="5" dirty="0">
                <a:latin typeface="Perpetua"/>
                <a:cs typeface="Perpetua"/>
              </a:rPr>
              <a:t>certificate </a:t>
            </a:r>
            <a:r>
              <a:rPr sz="2600" spc="-5" dirty="0">
                <a:latin typeface="Perpetua"/>
                <a:cs typeface="Perpetua"/>
              </a:rPr>
              <a:t>alphabetically </a:t>
            </a:r>
            <a:r>
              <a:rPr sz="2600" i="1" spc="-5" dirty="0">
                <a:latin typeface="Perpetua"/>
                <a:cs typeface="Perpetua"/>
              </a:rPr>
              <a:t>precedes </a:t>
            </a:r>
            <a:r>
              <a:rPr sz="2600" spc="-10" dirty="0">
                <a:latin typeface="Perpetua"/>
                <a:cs typeface="Perpetua"/>
              </a:rPr>
              <a:t>your </a:t>
            </a:r>
            <a:r>
              <a:rPr sz="2600" spc="-15" dirty="0">
                <a:latin typeface="Perpetua"/>
                <a:cs typeface="Perpetua"/>
              </a:rPr>
              <a:t>name,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789940" lvl="1" indent="-229235">
              <a:lnSpc>
                <a:spcPct val="100000"/>
              </a:lnSpc>
              <a:spcBef>
                <a:spcPts val="1019"/>
              </a:spcBef>
              <a:buSzPct val="78846"/>
              <a:buFont typeface="Arial"/>
              <a:buChar char="•"/>
              <a:tabLst>
                <a:tab pos="789940" algn="l"/>
                <a:tab pos="790575" algn="l"/>
              </a:tabLst>
            </a:pP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aside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top </a:t>
            </a:r>
            <a:r>
              <a:rPr sz="2600" dirty="0">
                <a:latin typeface="Perpetua"/>
                <a:cs typeface="Perpetua"/>
              </a:rPr>
              <a:t>half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stack.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middle </a:t>
            </a:r>
            <a:r>
              <a:rPr sz="2600" spc="5" dirty="0">
                <a:latin typeface="Perpetua"/>
                <a:cs typeface="Perpetua"/>
              </a:rPr>
              <a:t>certificate </a:t>
            </a:r>
            <a:r>
              <a:rPr sz="2600" spc="-10" dirty="0">
                <a:latin typeface="Perpetua"/>
                <a:cs typeface="Perpetua"/>
              </a:rPr>
              <a:t>alphabetically </a:t>
            </a:r>
            <a:r>
              <a:rPr sz="2600" i="1" spc="-15" dirty="0">
                <a:latin typeface="Perpetua"/>
                <a:cs typeface="Perpetua"/>
              </a:rPr>
              <a:t>follows </a:t>
            </a:r>
            <a:r>
              <a:rPr sz="2600" spc="-15" dirty="0">
                <a:latin typeface="Perpetua"/>
                <a:cs typeface="Perpetua"/>
              </a:rPr>
              <a:t>your name,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789940" lvl="1" indent="-229235">
              <a:lnSpc>
                <a:spcPct val="100000"/>
              </a:lnSpc>
              <a:spcBef>
                <a:spcPts val="1035"/>
              </a:spcBef>
              <a:buSzPct val="78846"/>
              <a:buFont typeface="Arial"/>
              <a:buChar char="•"/>
              <a:tabLst>
                <a:tab pos="789940" algn="l"/>
                <a:tab pos="790575" algn="l"/>
              </a:tabLst>
            </a:pP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aside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bottom </a:t>
            </a:r>
            <a:r>
              <a:rPr sz="2600" dirty="0">
                <a:latin typeface="Perpetua"/>
                <a:cs typeface="Perpetua"/>
              </a:rPr>
              <a:t>half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stack.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228600"/>
            <a:ext cx="2237231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456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Steps</a:t>
            </a:r>
            <a:r>
              <a:rPr spc="-6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380" y="1363591"/>
            <a:ext cx="8209280" cy="471233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600" b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Step</a:t>
            </a:r>
            <a:r>
              <a:rPr sz="2600" b="1" u="heavy" spc="-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2600" b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2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middle </a:t>
            </a:r>
            <a:r>
              <a:rPr sz="2600" i="1" dirty="0">
                <a:latin typeface="Perpetua"/>
                <a:cs typeface="Perpetua"/>
              </a:rPr>
              <a:t>certificate </a:t>
            </a:r>
            <a:r>
              <a:rPr sz="2600" i="1" spc="-5" dirty="0">
                <a:latin typeface="Perpetua"/>
                <a:cs typeface="Perpetua"/>
              </a:rPr>
              <a:t>in the remaining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stack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35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middle </a:t>
            </a:r>
            <a:r>
              <a:rPr sz="2600" spc="5" dirty="0">
                <a:latin typeface="Perpetua"/>
                <a:cs typeface="Perpetua"/>
              </a:rPr>
              <a:t>certificate </a:t>
            </a:r>
            <a:r>
              <a:rPr sz="2600" spc="-5" dirty="0">
                <a:latin typeface="Perpetua"/>
                <a:cs typeface="Perpetua"/>
              </a:rPr>
              <a:t>alphabetically </a:t>
            </a:r>
            <a:r>
              <a:rPr sz="2600" i="1" spc="-5" dirty="0">
                <a:latin typeface="Perpetua"/>
                <a:cs typeface="Perpetua"/>
              </a:rPr>
              <a:t>precedes </a:t>
            </a:r>
            <a:r>
              <a:rPr sz="2600" spc="-15" dirty="0">
                <a:latin typeface="Perpetua"/>
                <a:cs typeface="Perpetua"/>
              </a:rPr>
              <a:t>your name,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789940" lvl="1" indent="-229235">
              <a:lnSpc>
                <a:spcPct val="100000"/>
              </a:lnSpc>
              <a:spcBef>
                <a:spcPts val="1019"/>
              </a:spcBef>
              <a:buSzPct val="78846"/>
              <a:buFont typeface="Arial"/>
              <a:buChar char="•"/>
              <a:tabLst>
                <a:tab pos="789940" algn="l"/>
                <a:tab pos="790575" algn="l"/>
              </a:tabLst>
            </a:pP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aside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top </a:t>
            </a:r>
            <a:r>
              <a:rPr sz="2600" dirty="0">
                <a:latin typeface="Perpetua"/>
                <a:cs typeface="Perpetua"/>
              </a:rPr>
              <a:t>half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remaining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stack.</a:t>
            </a:r>
            <a:endParaRPr sz="2600">
              <a:latin typeface="Perpetua"/>
              <a:cs typeface="Perpetua"/>
            </a:endParaRPr>
          </a:p>
          <a:p>
            <a:pPr marL="515620" indent="-229235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515620" algn="l"/>
                <a:tab pos="51625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middle </a:t>
            </a:r>
            <a:r>
              <a:rPr sz="2600" spc="5" dirty="0">
                <a:latin typeface="Perpetua"/>
                <a:cs typeface="Perpetua"/>
              </a:rPr>
              <a:t>certificate </a:t>
            </a:r>
            <a:r>
              <a:rPr sz="2600" spc="-5" dirty="0">
                <a:latin typeface="Perpetua"/>
                <a:cs typeface="Perpetua"/>
              </a:rPr>
              <a:t>alphabetically </a:t>
            </a:r>
            <a:r>
              <a:rPr sz="2600" i="1" spc="-15" dirty="0">
                <a:latin typeface="Perpetua"/>
                <a:cs typeface="Perpetua"/>
              </a:rPr>
              <a:t>follows </a:t>
            </a:r>
            <a:r>
              <a:rPr sz="2600" spc="-10" dirty="0">
                <a:latin typeface="Perpetua"/>
                <a:cs typeface="Perpetua"/>
              </a:rPr>
              <a:t>your </a:t>
            </a:r>
            <a:r>
              <a:rPr sz="2600" spc="-15" dirty="0">
                <a:latin typeface="Perpetua"/>
                <a:cs typeface="Perpetua"/>
              </a:rPr>
              <a:t>name,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789940" lvl="1" indent="-229235">
              <a:lnSpc>
                <a:spcPct val="100000"/>
              </a:lnSpc>
              <a:spcBef>
                <a:spcPts val="1035"/>
              </a:spcBef>
              <a:buSzPct val="78846"/>
              <a:buFont typeface="Arial"/>
              <a:buChar char="•"/>
              <a:tabLst>
                <a:tab pos="789940" algn="l"/>
                <a:tab pos="790575" algn="l"/>
              </a:tabLst>
            </a:pP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aside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bottom </a:t>
            </a:r>
            <a:r>
              <a:rPr sz="2600" dirty="0">
                <a:latin typeface="Perpetua"/>
                <a:cs typeface="Perpetua"/>
              </a:rPr>
              <a:t>half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remaining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stack.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20000"/>
              </a:lnSpc>
              <a:buSzPct val="80769"/>
              <a:buFont typeface="Wingdings"/>
              <a:buChar char=""/>
              <a:tabLst>
                <a:tab pos="241300" algn="l"/>
              </a:tabLst>
            </a:pPr>
            <a:r>
              <a:rPr sz="2600" i="1" spc="-5" dirty="0">
                <a:latin typeface="Perpetua"/>
                <a:cs typeface="Perpetua"/>
              </a:rPr>
              <a:t>Repeat Step </a:t>
            </a:r>
            <a:r>
              <a:rPr sz="2600" i="1" dirty="0">
                <a:latin typeface="Perpetua"/>
                <a:cs typeface="Perpetua"/>
              </a:rPr>
              <a:t>2 </a:t>
            </a:r>
            <a:r>
              <a:rPr sz="2600" i="1" spc="-5" dirty="0">
                <a:latin typeface="Perpetua"/>
                <a:cs typeface="Perpetua"/>
              </a:rPr>
              <a:t>until </a:t>
            </a:r>
            <a:r>
              <a:rPr sz="2600" i="1" dirty="0">
                <a:latin typeface="Perpetua"/>
                <a:cs typeface="Perpetua"/>
              </a:rPr>
              <a:t>either </a:t>
            </a:r>
            <a:r>
              <a:rPr sz="2600" i="1" spc="-20" dirty="0">
                <a:latin typeface="Perpetua"/>
                <a:cs typeface="Perpetua"/>
              </a:rPr>
              <a:t>your </a:t>
            </a:r>
            <a:r>
              <a:rPr sz="2600" i="1" dirty="0">
                <a:latin typeface="Perpetua"/>
                <a:cs typeface="Perpetua"/>
              </a:rPr>
              <a:t>certificate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found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spc="-10" dirty="0">
                <a:latin typeface="Perpetua"/>
                <a:cs typeface="Perpetua"/>
              </a:rPr>
              <a:t>the remaining stack 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15" dirty="0">
                <a:latin typeface="Perpetua"/>
                <a:cs typeface="Perpetua"/>
              </a:rPr>
              <a:t>only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dirty="0">
                <a:latin typeface="Perpetua"/>
                <a:cs typeface="Perpetua"/>
              </a:rPr>
              <a:t>certificate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is not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yours.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0" y="304800"/>
            <a:ext cx="1828800" cy="1805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2478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Binary</a:t>
            </a:r>
            <a:r>
              <a:rPr spc="-90" dirty="0"/>
              <a:t> </a:t>
            </a:r>
            <a:r>
              <a:rPr spc="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41578"/>
            <a:ext cx="8529320" cy="52368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6385" marR="6350" indent="-274320">
              <a:lnSpc>
                <a:spcPts val="3020"/>
              </a:lnSpc>
              <a:spcBef>
                <a:spcPts val="480"/>
              </a:spcBef>
              <a:buSzPct val="83928"/>
              <a:buFont typeface="Wingdings"/>
              <a:buChar char=""/>
              <a:tabLst>
                <a:tab pos="287020" algn="l"/>
                <a:tab pos="686435" algn="l"/>
                <a:tab pos="1769745" algn="l"/>
                <a:tab pos="2753360" algn="l"/>
                <a:tab pos="3108325" algn="l"/>
                <a:tab pos="3893185" algn="l"/>
                <a:tab pos="4394835" algn="l"/>
                <a:tab pos="4961890" algn="l"/>
                <a:tab pos="5389880" algn="l"/>
                <a:tab pos="6185535" algn="l"/>
                <a:tab pos="6632575" algn="l"/>
                <a:tab pos="6985634" algn="l"/>
                <a:tab pos="7932420" algn="l"/>
              </a:tabLst>
            </a:pPr>
            <a:r>
              <a:rPr sz="2800" i="1" dirty="0">
                <a:latin typeface="Perpetua"/>
                <a:cs typeface="Perpetua"/>
              </a:rPr>
              <a:t>I</a:t>
            </a:r>
            <a:r>
              <a:rPr sz="2800" i="1" spc="-5" dirty="0">
                <a:latin typeface="Perpetua"/>
                <a:cs typeface="Perpetua"/>
              </a:rPr>
              <a:t>t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i</a:t>
            </a:r>
            <a:r>
              <a:rPr sz="2800" i="1" spc="-70" dirty="0">
                <a:latin typeface="Perpetua"/>
                <a:cs typeface="Perpetua"/>
              </a:rPr>
              <a:t>nv</a:t>
            </a:r>
            <a:r>
              <a:rPr sz="2800" i="1" spc="-10" dirty="0">
                <a:latin typeface="Perpetua"/>
                <a:cs typeface="Perpetua"/>
              </a:rPr>
              <a:t>ol</a:t>
            </a:r>
            <a:r>
              <a:rPr sz="2800" i="1" spc="-70" dirty="0">
                <a:latin typeface="Perpetua"/>
                <a:cs typeface="Perpetua"/>
              </a:rPr>
              <a:t>v</a:t>
            </a:r>
            <a:r>
              <a:rPr sz="2800" i="1" spc="-5" dirty="0">
                <a:latin typeface="Perpetua"/>
                <a:cs typeface="Perpetua"/>
              </a:rPr>
              <a:t>es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5" dirty="0">
                <a:latin typeface="Perpetua"/>
                <a:cs typeface="Perpetua"/>
              </a:rPr>
              <a:t>h</a:t>
            </a:r>
            <a:r>
              <a:rPr sz="2800" i="1" spc="-95" dirty="0">
                <a:latin typeface="Perpetua"/>
                <a:cs typeface="Perpetua"/>
              </a:rPr>
              <a:t>a</a:t>
            </a:r>
            <a:r>
              <a:rPr sz="2800" i="1" spc="-10" dirty="0">
                <a:latin typeface="Perpetua"/>
                <a:cs typeface="Perpetua"/>
              </a:rPr>
              <a:t>vin</a:t>
            </a:r>
            <a:r>
              <a:rPr sz="2800" i="1" spc="-5" dirty="0">
                <a:latin typeface="Perpetua"/>
                <a:cs typeface="Perpetua"/>
              </a:rPr>
              <a:t>g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5" dirty="0">
                <a:latin typeface="Perpetua"/>
                <a:cs typeface="Perpetua"/>
              </a:rPr>
              <a:t>a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l</a:t>
            </a:r>
            <a:r>
              <a:rPr sz="2800" i="1" spc="5" dirty="0">
                <a:latin typeface="Perpetua"/>
                <a:cs typeface="Perpetua"/>
              </a:rPr>
              <a:t>i</a:t>
            </a:r>
            <a:r>
              <a:rPr sz="2800" i="1" spc="-5" dirty="0">
                <a:latin typeface="Perpetua"/>
                <a:cs typeface="Perpetua"/>
              </a:rPr>
              <a:t>ned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u</a:t>
            </a:r>
            <a:r>
              <a:rPr sz="2800" i="1" spc="-5" dirty="0">
                <a:latin typeface="Perpetua"/>
                <a:cs typeface="Perpetua"/>
              </a:rPr>
              <a:t>p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5" dirty="0">
                <a:latin typeface="Perpetua"/>
                <a:cs typeface="Perpetua"/>
              </a:rPr>
              <a:t>l</a:t>
            </a:r>
            <a:r>
              <a:rPr sz="2800" i="1" spc="-10" dirty="0">
                <a:latin typeface="Perpetua"/>
                <a:cs typeface="Perpetua"/>
              </a:rPr>
              <a:t>is</a:t>
            </a:r>
            <a:r>
              <a:rPr sz="2800" i="1" spc="-5" dirty="0">
                <a:latin typeface="Perpetua"/>
                <a:cs typeface="Perpetua"/>
              </a:rPr>
              <a:t>t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o</a:t>
            </a:r>
            <a:r>
              <a:rPr sz="2800" i="1" spc="-5" dirty="0">
                <a:latin typeface="Perpetua"/>
                <a:cs typeface="Perpetua"/>
              </a:rPr>
              <a:t>f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ite</a:t>
            </a:r>
            <a:r>
              <a:rPr sz="2800" i="1" spc="5" dirty="0">
                <a:latin typeface="Perpetua"/>
                <a:cs typeface="Perpetua"/>
              </a:rPr>
              <a:t>m</a:t>
            </a:r>
            <a:r>
              <a:rPr sz="2800" i="1" spc="-5" dirty="0">
                <a:latin typeface="Perpetua"/>
                <a:cs typeface="Perpetua"/>
              </a:rPr>
              <a:t>s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5" dirty="0">
                <a:latin typeface="Perpetua"/>
                <a:cs typeface="Perpetua"/>
              </a:rPr>
              <a:t>in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5" dirty="0">
                <a:latin typeface="Perpetua"/>
                <a:cs typeface="Perpetua"/>
              </a:rPr>
              <a:t>a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k</a:t>
            </a:r>
            <a:r>
              <a:rPr sz="2800" i="1" spc="-5" dirty="0">
                <a:latin typeface="Perpetua"/>
                <a:cs typeface="Perpetua"/>
              </a:rPr>
              <a:t>n</a:t>
            </a:r>
            <a:r>
              <a:rPr sz="2800" i="1" spc="-55" dirty="0">
                <a:latin typeface="Perpetua"/>
                <a:cs typeface="Perpetua"/>
              </a:rPr>
              <a:t>o</a:t>
            </a:r>
            <a:r>
              <a:rPr sz="2800" i="1" spc="-5" dirty="0">
                <a:latin typeface="Perpetua"/>
                <a:cs typeface="Perpetua"/>
              </a:rPr>
              <a:t>wn</a:t>
            </a:r>
            <a:r>
              <a:rPr sz="2800" i="1" dirty="0">
                <a:latin typeface="Perpetua"/>
                <a:cs typeface="Perpetua"/>
              </a:rPr>
              <a:t>	</a:t>
            </a:r>
            <a:r>
              <a:rPr sz="2800" i="1" spc="-10" dirty="0">
                <a:latin typeface="Perpetua"/>
                <a:cs typeface="Perpetua"/>
              </a:rPr>
              <a:t>ord</a:t>
            </a:r>
            <a:r>
              <a:rPr sz="2800" i="1" spc="5" dirty="0">
                <a:latin typeface="Perpetua"/>
                <a:cs typeface="Perpetua"/>
              </a:rPr>
              <a:t>e</a:t>
            </a:r>
            <a:r>
              <a:rPr sz="2800" i="1" spc="-5" dirty="0">
                <a:latin typeface="Perpetua"/>
                <a:cs typeface="Perpetua"/>
              </a:rPr>
              <a:t>r  </a:t>
            </a:r>
            <a:r>
              <a:rPr sz="2800" i="1" dirty="0">
                <a:latin typeface="Perpetua"/>
                <a:cs typeface="Perpetua"/>
              </a:rPr>
              <a:t>(numerical </a:t>
            </a:r>
            <a:r>
              <a:rPr sz="2800" i="1" spc="-5" dirty="0">
                <a:latin typeface="Perpetua"/>
                <a:cs typeface="Perpetua"/>
              </a:rPr>
              <a:t>or alphabetical</a:t>
            </a:r>
            <a:r>
              <a:rPr sz="2800" i="1" spc="5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order).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25"/>
              </a:spcBef>
              <a:buSzPct val="83928"/>
              <a:buFont typeface="Wingdings"/>
              <a:buChar char=""/>
              <a:tabLst>
                <a:tab pos="287020" algn="l"/>
              </a:tabLst>
            </a:pPr>
            <a:r>
              <a:rPr sz="2800" i="1" spc="-10" dirty="0">
                <a:latin typeface="Perpetua"/>
                <a:cs typeface="Perpetua"/>
              </a:rPr>
              <a:t>This </a:t>
            </a:r>
            <a:r>
              <a:rPr sz="2800" i="1" spc="-15" dirty="0">
                <a:latin typeface="Perpetua"/>
                <a:cs typeface="Perpetua"/>
              </a:rPr>
              <a:t>allows </a:t>
            </a:r>
            <a:r>
              <a:rPr sz="2800" i="1" spc="-5" dirty="0">
                <a:latin typeface="Perpetua"/>
                <a:cs typeface="Perpetua"/>
              </a:rPr>
              <a:t>us </a:t>
            </a:r>
            <a:r>
              <a:rPr sz="2800" i="1" dirty="0">
                <a:latin typeface="Perpetua"/>
                <a:cs typeface="Perpetua"/>
              </a:rPr>
              <a:t>to </a:t>
            </a:r>
            <a:r>
              <a:rPr sz="2800" i="1" spc="-5" dirty="0">
                <a:latin typeface="Perpetua"/>
                <a:cs typeface="Perpetua"/>
              </a:rPr>
              <a:t>do </a:t>
            </a:r>
            <a:r>
              <a:rPr sz="2800" i="1" spc="-15" dirty="0">
                <a:latin typeface="Perpetua"/>
                <a:cs typeface="Perpetua"/>
              </a:rPr>
              <a:t>checks </a:t>
            </a:r>
            <a:r>
              <a:rPr sz="2800" i="1" spc="-10" dirty="0">
                <a:latin typeface="Perpetua"/>
                <a:cs typeface="Perpetua"/>
              </a:rPr>
              <a:t>that </a:t>
            </a:r>
            <a:r>
              <a:rPr sz="2800" i="1" spc="5" dirty="0">
                <a:latin typeface="Perpetua"/>
                <a:cs typeface="Perpetua"/>
              </a:rPr>
              <a:t>rule </a:t>
            </a:r>
            <a:r>
              <a:rPr sz="2800" i="1" spc="-5" dirty="0">
                <a:latin typeface="Perpetua"/>
                <a:cs typeface="Perpetua"/>
              </a:rPr>
              <a:t>out half of the list </a:t>
            </a:r>
            <a:r>
              <a:rPr sz="2800" i="1" spc="-20" dirty="0">
                <a:latin typeface="Perpetua"/>
                <a:cs typeface="Perpetua"/>
              </a:rPr>
              <a:t>at </a:t>
            </a:r>
            <a:r>
              <a:rPr sz="2800" i="1" spc="-15" dirty="0">
                <a:latin typeface="Perpetua"/>
                <a:cs typeface="Perpetua"/>
              </a:rPr>
              <a:t>every</a:t>
            </a:r>
            <a:r>
              <a:rPr sz="2800" i="1" spc="135" dirty="0">
                <a:latin typeface="Perpetua"/>
                <a:cs typeface="Perpetua"/>
              </a:rPr>
              <a:t> </a:t>
            </a:r>
            <a:r>
              <a:rPr sz="2800" i="1" spc="-35" dirty="0">
                <a:latin typeface="Perpetua"/>
                <a:cs typeface="Perpetua"/>
              </a:rPr>
              <a:t>step.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160" dirty="0">
                <a:latin typeface="Perpetua"/>
                <a:cs typeface="Perpetua"/>
              </a:rPr>
              <a:t>We </a:t>
            </a:r>
            <a:r>
              <a:rPr sz="2800" spc="20" dirty="0">
                <a:latin typeface="Perpetua"/>
                <a:cs typeface="Perpetua"/>
              </a:rPr>
              <a:t>check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middle</a:t>
            </a:r>
            <a:r>
              <a:rPr sz="2800" i="1" spc="-35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entry</a:t>
            </a:r>
            <a:r>
              <a:rPr sz="2800" spc="-5" dirty="0">
                <a:latin typeface="Perpetua"/>
                <a:cs typeface="Perpetua"/>
              </a:rPr>
              <a:t>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6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dirty="0">
                <a:latin typeface="Perpetua"/>
                <a:cs typeface="Perpetua"/>
              </a:rPr>
              <a:t>If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35" dirty="0">
                <a:latin typeface="Perpetua"/>
                <a:cs typeface="Perpetua"/>
              </a:rPr>
              <a:t>key </a:t>
            </a:r>
            <a:r>
              <a:rPr sz="2800" spc="-5" dirty="0">
                <a:latin typeface="Perpetua"/>
                <a:cs typeface="Perpetua"/>
              </a:rPr>
              <a:t>is before the middle </a:t>
            </a:r>
            <a:r>
              <a:rPr sz="2800" dirty="0">
                <a:latin typeface="Perpetua"/>
                <a:cs typeface="Perpetua"/>
              </a:rPr>
              <a:t>entry </a:t>
            </a:r>
            <a:r>
              <a:rPr sz="2800" spc="-5" dirty="0">
                <a:latin typeface="Perpetua"/>
                <a:cs typeface="Perpetua"/>
              </a:rPr>
              <a:t>in the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order</a:t>
            </a:r>
            <a:endParaRPr sz="2800">
              <a:latin typeface="Perpetua"/>
              <a:cs typeface="Perpetua"/>
            </a:endParaRPr>
          </a:p>
          <a:p>
            <a:pPr marL="561340" marR="5080" lvl="1" indent="-228600">
              <a:lnSpc>
                <a:spcPts val="3020"/>
              </a:lnSpc>
              <a:spcBef>
                <a:spcPts val="45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5" dirty="0">
                <a:latin typeface="Perpetua"/>
                <a:cs typeface="Perpetua"/>
              </a:rPr>
              <a:t>then the </a:t>
            </a:r>
            <a:r>
              <a:rPr sz="2800" spc="-40" dirty="0">
                <a:latin typeface="Perpetua"/>
                <a:cs typeface="Perpetua"/>
              </a:rPr>
              <a:t>key </a:t>
            </a:r>
            <a:r>
              <a:rPr sz="2800" spc="-10" dirty="0">
                <a:latin typeface="Perpetua"/>
                <a:cs typeface="Perpetua"/>
              </a:rPr>
              <a:t>must </a:t>
            </a:r>
            <a:r>
              <a:rPr sz="2800" spc="-5" dirty="0">
                <a:latin typeface="Perpetua"/>
                <a:cs typeface="Perpetua"/>
              </a:rPr>
              <a:t>be </a:t>
            </a:r>
            <a:r>
              <a:rPr sz="2800" spc="-15" dirty="0">
                <a:latin typeface="Perpetua"/>
                <a:cs typeface="Perpetua"/>
              </a:rPr>
              <a:t>in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10" dirty="0">
                <a:latin typeface="Perpetua"/>
                <a:cs typeface="Perpetua"/>
              </a:rPr>
              <a:t>half </a:t>
            </a:r>
            <a:r>
              <a:rPr sz="2800" spc="-5" dirty="0">
                <a:latin typeface="Perpetua"/>
                <a:cs typeface="Perpetua"/>
              </a:rPr>
              <a:t>of the list (because </a:t>
            </a:r>
            <a:r>
              <a:rPr sz="2800" spc="-20" dirty="0">
                <a:latin typeface="Perpetua"/>
                <a:cs typeface="Perpetua"/>
              </a:rPr>
              <a:t>they 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in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order).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2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dirty="0">
                <a:latin typeface="Perpetua"/>
                <a:cs typeface="Perpetua"/>
              </a:rPr>
              <a:t>If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35" dirty="0">
                <a:latin typeface="Perpetua"/>
                <a:cs typeface="Perpetua"/>
              </a:rPr>
              <a:t>key </a:t>
            </a:r>
            <a:r>
              <a:rPr sz="2800" dirty="0">
                <a:latin typeface="Perpetua"/>
                <a:cs typeface="Perpetua"/>
              </a:rPr>
              <a:t>comes </a:t>
            </a:r>
            <a:r>
              <a:rPr sz="2800" spc="-5" dirty="0">
                <a:latin typeface="Perpetua"/>
                <a:cs typeface="Perpetua"/>
              </a:rPr>
              <a:t>after the middle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entry</a:t>
            </a:r>
            <a:endParaRPr sz="2800">
              <a:latin typeface="Perpetua"/>
              <a:cs typeface="Perpetua"/>
            </a:endParaRPr>
          </a:p>
          <a:p>
            <a:pPr marL="640715" lvl="1" indent="-308610">
              <a:lnSpc>
                <a:spcPct val="100000"/>
              </a:lnSpc>
              <a:spcBef>
                <a:spcPts val="65"/>
              </a:spcBef>
              <a:buSzPct val="83928"/>
              <a:buFont typeface="Arial"/>
              <a:buChar char="•"/>
              <a:tabLst>
                <a:tab pos="640715" algn="l"/>
                <a:tab pos="641350" algn="l"/>
              </a:tabLst>
            </a:pPr>
            <a:r>
              <a:rPr sz="2800" spc="-5" dirty="0">
                <a:latin typeface="Perpetua"/>
                <a:cs typeface="Perpetua"/>
              </a:rPr>
              <a:t>then it </a:t>
            </a:r>
            <a:r>
              <a:rPr sz="2800" spc="-10" dirty="0">
                <a:latin typeface="Perpetua"/>
                <a:cs typeface="Perpetua"/>
              </a:rPr>
              <a:t>must </a:t>
            </a:r>
            <a:r>
              <a:rPr sz="2800" spc="-5" dirty="0">
                <a:latin typeface="Perpetua"/>
                <a:cs typeface="Perpetua"/>
              </a:rPr>
              <a:t>be in the second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half.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ts val="3190"/>
              </a:lnSpc>
              <a:spcBef>
                <a:spcPts val="260"/>
              </a:spcBef>
              <a:buSzPct val="83928"/>
              <a:buFont typeface="Wingdings"/>
              <a:buChar char=""/>
              <a:tabLst>
                <a:tab pos="287020" algn="l"/>
              </a:tabLst>
            </a:pPr>
            <a:r>
              <a:rPr sz="2800" i="1" spc="-100" dirty="0">
                <a:latin typeface="Perpetua"/>
                <a:cs typeface="Perpetua"/>
              </a:rPr>
              <a:t>We </a:t>
            </a:r>
            <a:r>
              <a:rPr sz="2800" i="1" spc="5" dirty="0">
                <a:latin typeface="Perpetua"/>
                <a:cs typeface="Perpetua"/>
              </a:rPr>
              <a:t>rule </a:t>
            </a:r>
            <a:r>
              <a:rPr sz="2800" i="1" spc="-5" dirty="0">
                <a:latin typeface="Perpetua"/>
                <a:cs typeface="Perpetua"/>
              </a:rPr>
              <a:t>out half the list and </a:t>
            </a:r>
            <a:r>
              <a:rPr sz="2800" i="1" dirty="0">
                <a:latin typeface="Perpetua"/>
                <a:cs typeface="Perpetua"/>
              </a:rPr>
              <a:t>do </a:t>
            </a:r>
            <a:r>
              <a:rPr sz="2800" i="1" spc="-5" dirty="0">
                <a:latin typeface="Perpetua"/>
                <a:cs typeface="Perpetua"/>
              </a:rPr>
              <a:t>the same </a:t>
            </a:r>
            <a:r>
              <a:rPr sz="2800" i="1" spc="-25" dirty="0">
                <a:latin typeface="Perpetua"/>
                <a:cs typeface="Perpetua"/>
              </a:rPr>
              <a:t>again </a:t>
            </a:r>
            <a:r>
              <a:rPr sz="2800" i="1" spc="-5" dirty="0">
                <a:latin typeface="Perpetua"/>
                <a:cs typeface="Perpetua"/>
              </a:rPr>
              <a:t>on the </a:t>
            </a:r>
            <a:r>
              <a:rPr sz="2800" i="1" spc="15" dirty="0">
                <a:latin typeface="Perpetua"/>
                <a:cs typeface="Perpetua"/>
              </a:rPr>
              <a:t>part </a:t>
            </a:r>
            <a:r>
              <a:rPr sz="2800" i="1" spc="-10" dirty="0">
                <a:latin typeface="Perpetua"/>
                <a:cs typeface="Perpetua"/>
              </a:rPr>
              <a:t>that</a:t>
            </a:r>
            <a:r>
              <a:rPr sz="2800" i="1" spc="29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remains</a:t>
            </a:r>
            <a:endParaRPr sz="2800">
              <a:latin typeface="Perpetua"/>
              <a:cs typeface="Perpetua"/>
            </a:endParaRPr>
          </a:p>
          <a:p>
            <a:pPr marL="286385">
              <a:lnSpc>
                <a:spcPts val="3190"/>
              </a:lnSpc>
            </a:pPr>
            <a:r>
              <a:rPr sz="2800" i="1" spc="-5" dirty="0">
                <a:latin typeface="Perpetua"/>
                <a:cs typeface="Perpetua"/>
              </a:rPr>
              <a:t>– </a:t>
            </a:r>
            <a:r>
              <a:rPr sz="2800" i="1" spc="-15" dirty="0">
                <a:latin typeface="Perpetua"/>
                <a:cs typeface="Perpetua"/>
              </a:rPr>
              <a:t>repeatedly </a:t>
            </a:r>
            <a:r>
              <a:rPr sz="2800" i="1" spc="-5" dirty="0">
                <a:latin typeface="Perpetua"/>
                <a:cs typeface="Perpetua"/>
              </a:rPr>
              <a:t>until </a:t>
            </a:r>
            <a:r>
              <a:rPr sz="2800" i="1" spc="-10" dirty="0">
                <a:latin typeface="Perpetua"/>
                <a:cs typeface="Perpetua"/>
              </a:rPr>
              <a:t>there </a:t>
            </a:r>
            <a:r>
              <a:rPr sz="2800" i="1" spc="-5" dirty="0">
                <a:latin typeface="Perpetua"/>
                <a:cs typeface="Perpetua"/>
              </a:rPr>
              <a:t>is </a:t>
            </a:r>
            <a:r>
              <a:rPr sz="2800" i="1" spc="-20" dirty="0">
                <a:latin typeface="Perpetua"/>
                <a:cs typeface="Perpetua"/>
              </a:rPr>
              <a:t>only </a:t>
            </a:r>
            <a:r>
              <a:rPr sz="2800" i="1" spc="-5" dirty="0">
                <a:latin typeface="Perpetua"/>
                <a:cs typeface="Perpetua"/>
              </a:rPr>
              <a:t>one thing</a:t>
            </a:r>
            <a:r>
              <a:rPr sz="2800" i="1" spc="1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left.</a:t>
            </a:r>
            <a:endParaRPr sz="2800">
              <a:latin typeface="Perpetua"/>
              <a:cs typeface="Perpetua"/>
            </a:endParaRPr>
          </a:p>
          <a:p>
            <a:pPr marL="365760" indent="-353695">
              <a:lnSpc>
                <a:spcPct val="100000"/>
              </a:lnSpc>
              <a:spcBef>
                <a:spcPts val="270"/>
              </a:spcBef>
              <a:buSzPct val="83928"/>
              <a:buFont typeface="Wingdings"/>
              <a:buChar char=""/>
              <a:tabLst>
                <a:tab pos="366395" algn="l"/>
              </a:tabLst>
            </a:pPr>
            <a:r>
              <a:rPr sz="2800" i="1" dirty="0">
                <a:latin typeface="Perpetua"/>
                <a:cs typeface="Perpetua"/>
              </a:rPr>
              <a:t>It </a:t>
            </a:r>
            <a:r>
              <a:rPr sz="2800" i="1" spc="-5" dirty="0">
                <a:latin typeface="Perpetua"/>
                <a:cs typeface="Perpetua"/>
              </a:rPr>
              <a:t>is either the </a:t>
            </a:r>
            <a:r>
              <a:rPr sz="2800" i="1" spc="-55" dirty="0">
                <a:latin typeface="Perpetua"/>
                <a:cs typeface="Perpetua"/>
              </a:rPr>
              <a:t>key, </a:t>
            </a:r>
            <a:r>
              <a:rPr sz="2800" i="1" spc="-5" dirty="0">
                <a:latin typeface="Perpetua"/>
                <a:cs typeface="Perpetua"/>
              </a:rPr>
              <a:t>or the key is not</a:t>
            </a:r>
            <a:r>
              <a:rPr sz="2800" i="1" spc="-254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there.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6028" y="6240271"/>
            <a:ext cx="2884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better </a:t>
            </a:r>
            <a:r>
              <a:rPr sz="2400" i="1" dirty="0">
                <a:latin typeface="Perpetua"/>
                <a:cs typeface="Perpetua"/>
              </a:rPr>
              <a:t>search </a:t>
            </a:r>
            <a:r>
              <a:rPr sz="2400" i="1" spc="-10" dirty="0">
                <a:latin typeface="Perpetua"/>
                <a:cs typeface="Perpetua"/>
              </a:rPr>
              <a:t>strategy</a:t>
            </a:r>
            <a:r>
              <a:rPr sz="2400" i="1" spc="-10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…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42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General</a:t>
            </a:r>
            <a:r>
              <a:rPr spc="-25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3" name="object 3"/>
          <p:cNvSpPr/>
          <p:nvPr/>
        </p:nvSpPr>
        <p:spPr>
          <a:xfrm>
            <a:off x="2819590" y="1619656"/>
            <a:ext cx="2429065" cy="5807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5299" y="2424112"/>
            <a:ext cx="6757202" cy="6923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00800" y="152400"/>
            <a:ext cx="1937003" cy="236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9740" y="3796665"/>
            <a:ext cx="4186554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Perpetua"/>
                <a:cs typeface="Perpetua"/>
              </a:rPr>
              <a:t>Eg: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dirty="0">
                <a:latin typeface="Perpetua"/>
                <a:cs typeface="Perpetua"/>
              </a:rPr>
              <a:t>for 6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in{9,7,6,4,3,2,1}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49972" y="3444949"/>
            <a:ext cx="3176631" cy="25701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459679"/>
            <a:ext cx="474599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dirty="0">
                <a:latin typeface="Perpetua"/>
                <a:cs typeface="Perpetua"/>
              </a:rPr>
              <a:t>Find </a:t>
            </a:r>
            <a:r>
              <a:rPr sz="2600" spc="-5" dirty="0">
                <a:latin typeface="Perpetua"/>
                <a:cs typeface="Perpetua"/>
              </a:rPr>
              <a:t>102 </a:t>
            </a:r>
            <a:r>
              <a:rPr sz="2600" dirty="0">
                <a:latin typeface="Perpetua"/>
                <a:cs typeface="Perpetua"/>
              </a:rPr>
              <a:t>, </a:t>
            </a:r>
            <a:r>
              <a:rPr sz="2600" spc="-5" dirty="0">
                <a:latin typeface="Perpetua"/>
                <a:cs typeface="Perpetua"/>
              </a:rPr>
              <a:t>103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in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{-1,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5,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6,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18,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19,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25,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46,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78,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102,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114}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600" y="4648200"/>
            <a:ext cx="1066800" cy="9342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81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Binary </a:t>
            </a:r>
            <a:r>
              <a:rPr spc="10" dirty="0"/>
              <a:t>search</a:t>
            </a:r>
            <a:r>
              <a:rPr spc="-90" dirty="0"/>
              <a:t> </a:t>
            </a:r>
            <a:r>
              <a:rPr spc="5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5029200" y="228600"/>
            <a:ext cx="1624583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723" y="3960876"/>
            <a:ext cx="7853172" cy="21941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8105" y="3602997"/>
            <a:ext cx="1743301" cy="289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905" y="2325901"/>
            <a:ext cx="7871598" cy="12369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6012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Binary </a:t>
            </a:r>
            <a:r>
              <a:rPr spc="10" dirty="0"/>
              <a:t>search </a:t>
            </a:r>
            <a:r>
              <a:rPr spc="5" dirty="0"/>
              <a:t>algorithm</a:t>
            </a:r>
            <a:r>
              <a:rPr spc="-100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296670"/>
            <a:ext cx="17335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1. </a:t>
            </a:r>
            <a:r>
              <a:rPr sz="1800" b="1" spc="-5" dirty="0">
                <a:latin typeface="Perpetua"/>
                <a:cs typeface="Perpetua"/>
              </a:rPr>
              <a:t>List </a:t>
            </a:r>
            <a:r>
              <a:rPr sz="1800" b="1" dirty="0">
                <a:latin typeface="Perpetua"/>
                <a:cs typeface="Perpetua"/>
              </a:rPr>
              <a:t>of</a:t>
            </a:r>
            <a:r>
              <a:rPr sz="1800" b="1" spc="-150" dirty="0">
                <a:latin typeface="Perpetua"/>
                <a:cs typeface="Perpetua"/>
              </a:rPr>
              <a:t> </a:t>
            </a:r>
            <a:r>
              <a:rPr sz="1800" b="1" spc="-10" dirty="0">
                <a:latin typeface="Perpetua"/>
                <a:cs typeface="Perpetua"/>
              </a:rPr>
              <a:t>elements  </a:t>
            </a:r>
            <a:r>
              <a:rPr sz="1800" b="1" dirty="0">
                <a:latin typeface="Perpetua"/>
                <a:cs typeface="Perpetua"/>
              </a:rPr>
              <a:t>with </a:t>
            </a:r>
            <a:r>
              <a:rPr sz="1800" b="1" spc="-25" dirty="0">
                <a:latin typeface="Perpetua"/>
                <a:cs typeface="Perpetua"/>
              </a:rPr>
              <a:t>lower </a:t>
            </a:r>
            <a:r>
              <a:rPr sz="1800" b="1" dirty="0">
                <a:latin typeface="Perpetua"/>
                <a:cs typeface="Perpetua"/>
              </a:rPr>
              <a:t>and  </a:t>
            </a:r>
            <a:r>
              <a:rPr sz="1800" b="1" spc="-5" dirty="0">
                <a:latin typeface="Perpetua"/>
                <a:cs typeface="Perpetua"/>
              </a:rPr>
              <a:t>upper</a:t>
            </a:r>
            <a:r>
              <a:rPr sz="1800" b="1" spc="370" dirty="0">
                <a:latin typeface="Perpetua"/>
                <a:cs typeface="Perpetua"/>
              </a:rPr>
              <a:t> </a:t>
            </a:r>
            <a:r>
              <a:rPr sz="1800" b="1" spc="-10" dirty="0">
                <a:latin typeface="Perpetua"/>
                <a:cs typeface="Perpetua"/>
              </a:rPr>
              <a:t>markers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35363" y="1402080"/>
            <a:ext cx="5068053" cy="1325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5336794"/>
            <a:ext cx="1589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Perpetua"/>
                <a:cs typeface="Perpetua"/>
              </a:rPr>
              <a:t>3.Test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condition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56143" y="5266290"/>
            <a:ext cx="1431512" cy="3547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98106" y="5349977"/>
            <a:ext cx="448427" cy="2823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9318" y="3356784"/>
            <a:ext cx="4898916" cy="15807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2140" y="3497707"/>
            <a:ext cx="19202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2. </a:t>
            </a:r>
            <a:r>
              <a:rPr sz="1800" b="1" spc="-40" dirty="0">
                <a:latin typeface="Perpetua"/>
                <a:cs typeface="Perpetua"/>
              </a:rPr>
              <a:t>Lower, </a:t>
            </a:r>
            <a:r>
              <a:rPr sz="1800" b="1" spc="-5" dirty="0">
                <a:latin typeface="Perpetua"/>
                <a:cs typeface="Perpetua"/>
              </a:rPr>
              <a:t>upper</a:t>
            </a:r>
            <a:r>
              <a:rPr sz="1800" b="1" spc="-235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and  </a:t>
            </a:r>
            <a:r>
              <a:rPr sz="1800" b="1" spc="-5" dirty="0">
                <a:latin typeface="Perpetua"/>
                <a:cs typeface="Perpetua"/>
              </a:rPr>
              <a:t>middle</a:t>
            </a:r>
            <a:r>
              <a:rPr sz="1800" b="1" spc="-35" dirty="0">
                <a:latin typeface="Perpetua"/>
                <a:cs typeface="Perpetua"/>
              </a:rPr>
              <a:t> </a:t>
            </a:r>
            <a:r>
              <a:rPr sz="1800" b="1" spc="-10" dirty="0">
                <a:latin typeface="Perpetua"/>
                <a:cs typeface="Perpetua"/>
              </a:rPr>
              <a:t>markers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0117" y="3277361"/>
            <a:ext cx="3350260" cy="547370"/>
          </a:xfrm>
          <a:custGeom>
            <a:avLst/>
            <a:gdLst/>
            <a:ahLst/>
            <a:cxnLst/>
            <a:rect l="l" t="t" r="r" b="b"/>
            <a:pathLst>
              <a:path w="3350259" h="547370">
                <a:moveTo>
                  <a:pt x="0" y="273558"/>
                </a:moveTo>
                <a:lnTo>
                  <a:pt x="15288" y="236427"/>
                </a:lnTo>
                <a:lnTo>
                  <a:pt x="59824" y="200818"/>
                </a:lnTo>
                <a:lnTo>
                  <a:pt x="104777" y="178085"/>
                </a:lnTo>
                <a:lnTo>
                  <a:pt x="161252" y="156269"/>
                </a:lnTo>
                <a:lnTo>
                  <a:pt x="228656" y="135466"/>
                </a:lnTo>
                <a:lnTo>
                  <a:pt x="266272" y="125475"/>
                </a:lnTo>
                <a:lnTo>
                  <a:pt x="306399" y="115774"/>
                </a:lnTo>
                <a:lnTo>
                  <a:pt x="348963" y="106374"/>
                </a:lnTo>
                <a:lnTo>
                  <a:pt x="393890" y="97288"/>
                </a:lnTo>
                <a:lnTo>
                  <a:pt x="441106" y="88527"/>
                </a:lnTo>
                <a:lnTo>
                  <a:pt x="490537" y="80105"/>
                </a:lnTo>
                <a:lnTo>
                  <a:pt x="542110" y="72032"/>
                </a:lnTo>
                <a:lnTo>
                  <a:pt x="595750" y="64321"/>
                </a:lnTo>
                <a:lnTo>
                  <a:pt x="651383" y="56984"/>
                </a:lnTo>
                <a:lnTo>
                  <a:pt x="708937" y="50033"/>
                </a:lnTo>
                <a:lnTo>
                  <a:pt x="768336" y="43480"/>
                </a:lnTo>
                <a:lnTo>
                  <a:pt x="829507" y="37337"/>
                </a:lnTo>
                <a:lnTo>
                  <a:pt x="892376" y="31617"/>
                </a:lnTo>
                <a:lnTo>
                  <a:pt x="956870" y="26330"/>
                </a:lnTo>
                <a:lnTo>
                  <a:pt x="1022913" y="21490"/>
                </a:lnTo>
                <a:lnTo>
                  <a:pt x="1090433" y="17108"/>
                </a:lnTo>
                <a:lnTo>
                  <a:pt x="1159355" y="13197"/>
                </a:lnTo>
                <a:lnTo>
                  <a:pt x="1229606" y="9768"/>
                </a:lnTo>
                <a:lnTo>
                  <a:pt x="1301112" y="6833"/>
                </a:lnTo>
                <a:lnTo>
                  <a:pt x="1373799" y="4405"/>
                </a:lnTo>
                <a:lnTo>
                  <a:pt x="1447592" y="2496"/>
                </a:lnTo>
                <a:lnTo>
                  <a:pt x="1522419" y="1117"/>
                </a:lnTo>
                <a:lnTo>
                  <a:pt x="1598205" y="281"/>
                </a:lnTo>
                <a:lnTo>
                  <a:pt x="1674876" y="0"/>
                </a:lnTo>
                <a:lnTo>
                  <a:pt x="1751546" y="281"/>
                </a:lnTo>
                <a:lnTo>
                  <a:pt x="1827332" y="1117"/>
                </a:lnTo>
                <a:lnTo>
                  <a:pt x="1902159" y="2496"/>
                </a:lnTo>
                <a:lnTo>
                  <a:pt x="1975952" y="4405"/>
                </a:lnTo>
                <a:lnTo>
                  <a:pt x="2048639" y="6833"/>
                </a:lnTo>
                <a:lnTo>
                  <a:pt x="2120145" y="9768"/>
                </a:lnTo>
                <a:lnTo>
                  <a:pt x="2190396" y="13197"/>
                </a:lnTo>
                <a:lnTo>
                  <a:pt x="2259318" y="17108"/>
                </a:lnTo>
                <a:lnTo>
                  <a:pt x="2326838" y="21490"/>
                </a:lnTo>
                <a:lnTo>
                  <a:pt x="2392881" y="26330"/>
                </a:lnTo>
                <a:lnTo>
                  <a:pt x="2457375" y="31617"/>
                </a:lnTo>
                <a:lnTo>
                  <a:pt x="2520244" y="37337"/>
                </a:lnTo>
                <a:lnTo>
                  <a:pt x="2581415" y="43480"/>
                </a:lnTo>
                <a:lnTo>
                  <a:pt x="2640814" y="50033"/>
                </a:lnTo>
                <a:lnTo>
                  <a:pt x="2698368" y="56984"/>
                </a:lnTo>
                <a:lnTo>
                  <a:pt x="2754001" y="64321"/>
                </a:lnTo>
                <a:lnTo>
                  <a:pt x="2807641" y="72032"/>
                </a:lnTo>
                <a:lnTo>
                  <a:pt x="2859214" y="80105"/>
                </a:lnTo>
                <a:lnTo>
                  <a:pt x="2908645" y="88527"/>
                </a:lnTo>
                <a:lnTo>
                  <a:pt x="2955861" y="97288"/>
                </a:lnTo>
                <a:lnTo>
                  <a:pt x="3000788" y="106374"/>
                </a:lnTo>
                <a:lnTo>
                  <a:pt x="3043352" y="115774"/>
                </a:lnTo>
                <a:lnTo>
                  <a:pt x="3083479" y="125475"/>
                </a:lnTo>
                <a:lnTo>
                  <a:pt x="3121095" y="135466"/>
                </a:lnTo>
                <a:lnTo>
                  <a:pt x="3188499" y="156269"/>
                </a:lnTo>
                <a:lnTo>
                  <a:pt x="3244974" y="178085"/>
                </a:lnTo>
                <a:lnTo>
                  <a:pt x="3289927" y="200818"/>
                </a:lnTo>
                <a:lnTo>
                  <a:pt x="3322769" y="224372"/>
                </a:lnTo>
                <a:lnTo>
                  <a:pt x="3348028" y="261032"/>
                </a:lnTo>
                <a:lnTo>
                  <a:pt x="3349752" y="273558"/>
                </a:lnTo>
                <a:lnTo>
                  <a:pt x="3348028" y="286083"/>
                </a:lnTo>
                <a:lnTo>
                  <a:pt x="3322769" y="322743"/>
                </a:lnTo>
                <a:lnTo>
                  <a:pt x="3289927" y="346297"/>
                </a:lnTo>
                <a:lnTo>
                  <a:pt x="3244974" y="369030"/>
                </a:lnTo>
                <a:lnTo>
                  <a:pt x="3188499" y="390846"/>
                </a:lnTo>
                <a:lnTo>
                  <a:pt x="3121095" y="411649"/>
                </a:lnTo>
                <a:lnTo>
                  <a:pt x="3083479" y="421640"/>
                </a:lnTo>
                <a:lnTo>
                  <a:pt x="3043352" y="431341"/>
                </a:lnTo>
                <a:lnTo>
                  <a:pt x="3000788" y="440741"/>
                </a:lnTo>
                <a:lnTo>
                  <a:pt x="2955861" y="449827"/>
                </a:lnTo>
                <a:lnTo>
                  <a:pt x="2908645" y="458588"/>
                </a:lnTo>
                <a:lnTo>
                  <a:pt x="2859214" y="467010"/>
                </a:lnTo>
                <a:lnTo>
                  <a:pt x="2807641" y="475083"/>
                </a:lnTo>
                <a:lnTo>
                  <a:pt x="2754001" y="482794"/>
                </a:lnTo>
                <a:lnTo>
                  <a:pt x="2698368" y="490131"/>
                </a:lnTo>
                <a:lnTo>
                  <a:pt x="2640814" y="497082"/>
                </a:lnTo>
                <a:lnTo>
                  <a:pt x="2581415" y="503635"/>
                </a:lnTo>
                <a:lnTo>
                  <a:pt x="2520244" y="509778"/>
                </a:lnTo>
                <a:lnTo>
                  <a:pt x="2457375" y="515498"/>
                </a:lnTo>
                <a:lnTo>
                  <a:pt x="2392881" y="520785"/>
                </a:lnTo>
                <a:lnTo>
                  <a:pt x="2326838" y="525625"/>
                </a:lnTo>
                <a:lnTo>
                  <a:pt x="2259318" y="530007"/>
                </a:lnTo>
                <a:lnTo>
                  <a:pt x="2190396" y="533918"/>
                </a:lnTo>
                <a:lnTo>
                  <a:pt x="2120145" y="537347"/>
                </a:lnTo>
                <a:lnTo>
                  <a:pt x="2048639" y="540282"/>
                </a:lnTo>
                <a:lnTo>
                  <a:pt x="1975952" y="542710"/>
                </a:lnTo>
                <a:lnTo>
                  <a:pt x="1902159" y="544619"/>
                </a:lnTo>
                <a:lnTo>
                  <a:pt x="1827332" y="545998"/>
                </a:lnTo>
                <a:lnTo>
                  <a:pt x="1751546" y="546834"/>
                </a:lnTo>
                <a:lnTo>
                  <a:pt x="1674876" y="547115"/>
                </a:lnTo>
                <a:lnTo>
                  <a:pt x="1598205" y="546834"/>
                </a:lnTo>
                <a:lnTo>
                  <a:pt x="1522419" y="545998"/>
                </a:lnTo>
                <a:lnTo>
                  <a:pt x="1447592" y="544619"/>
                </a:lnTo>
                <a:lnTo>
                  <a:pt x="1373799" y="542710"/>
                </a:lnTo>
                <a:lnTo>
                  <a:pt x="1301112" y="540282"/>
                </a:lnTo>
                <a:lnTo>
                  <a:pt x="1229606" y="537347"/>
                </a:lnTo>
                <a:lnTo>
                  <a:pt x="1159355" y="533918"/>
                </a:lnTo>
                <a:lnTo>
                  <a:pt x="1090433" y="530007"/>
                </a:lnTo>
                <a:lnTo>
                  <a:pt x="1022913" y="525625"/>
                </a:lnTo>
                <a:lnTo>
                  <a:pt x="956870" y="520785"/>
                </a:lnTo>
                <a:lnTo>
                  <a:pt x="892376" y="515498"/>
                </a:lnTo>
                <a:lnTo>
                  <a:pt x="829507" y="509777"/>
                </a:lnTo>
                <a:lnTo>
                  <a:pt x="768336" y="503635"/>
                </a:lnTo>
                <a:lnTo>
                  <a:pt x="708937" y="497082"/>
                </a:lnTo>
                <a:lnTo>
                  <a:pt x="651383" y="490131"/>
                </a:lnTo>
                <a:lnTo>
                  <a:pt x="595750" y="482794"/>
                </a:lnTo>
                <a:lnTo>
                  <a:pt x="542110" y="475083"/>
                </a:lnTo>
                <a:lnTo>
                  <a:pt x="490537" y="467010"/>
                </a:lnTo>
                <a:lnTo>
                  <a:pt x="441106" y="458588"/>
                </a:lnTo>
                <a:lnTo>
                  <a:pt x="393890" y="449827"/>
                </a:lnTo>
                <a:lnTo>
                  <a:pt x="348963" y="440741"/>
                </a:lnTo>
                <a:lnTo>
                  <a:pt x="306399" y="431341"/>
                </a:lnTo>
                <a:lnTo>
                  <a:pt x="266272" y="421640"/>
                </a:lnTo>
                <a:lnTo>
                  <a:pt x="228656" y="411649"/>
                </a:lnTo>
                <a:lnTo>
                  <a:pt x="161252" y="390846"/>
                </a:lnTo>
                <a:lnTo>
                  <a:pt x="104777" y="369030"/>
                </a:lnTo>
                <a:lnTo>
                  <a:pt x="59824" y="346297"/>
                </a:lnTo>
                <a:lnTo>
                  <a:pt x="26982" y="322743"/>
                </a:lnTo>
                <a:lnTo>
                  <a:pt x="1723" y="286083"/>
                </a:lnTo>
                <a:lnTo>
                  <a:pt x="0" y="273558"/>
                </a:lnTo>
                <a:close/>
              </a:path>
            </a:pathLst>
          </a:custGeom>
          <a:ln w="381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57886"/>
            <a:ext cx="6012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>
                <a:latin typeface="Perpetua"/>
                <a:cs typeface="Perpetua"/>
              </a:rPr>
              <a:t>Binary </a:t>
            </a:r>
            <a:r>
              <a:rPr sz="4000" spc="10" dirty="0">
                <a:latin typeface="Perpetua"/>
                <a:cs typeface="Perpetua"/>
              </a:rPr>
              <a:t>search </a:t>
            </a:r>
            <a:r>
              <a:rPr sz="4000" spc="5" dirty="0">
                <a:latin typeface="Perpetua"/>
                <a:cs typeface="Perpetua"/>
              </a:rPr>
              <a:t>algorithm</a:t>
            </a:r>
            <a:r>
              <a:rPr sz="4000" spc="-10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spc="-5" dirty="0">
                <a:latin typeface="Perpetua"/>
                <a:cs typeface="Perpetua"/>
              </a:rPr>
              <a:t>----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391792"/>
            <a:ext cx="1589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Perpetua"/>
                <a:cs typeface="Perpetua"/>
              </a:rPr>
              <a:t>3.Test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condition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30917" y="1357448"/>
            <a:ext cx="1325705" cy="377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5022" y="1458615"/>
            <a:ext cx="396091" cy="2320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9220" y="2448838"/>
            <a:ext cx="6498819" cy="15532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17641" y="2926842"/>
            <a:ext cx="1508760" cy="640080"/>
          </a:xfrm>
          <a:custGeom>
            <a:avLst/>
            <a:gdLst/>
            <a:ahLst/>
            <a:cxnLst/>
            <a:rect l="l" t="t" r="r" b="b"/>
            <a:pathLst>
              <a:path w="1508759" h="640079">
                <a:moveTo>
                  <a:pt x="0" y="320040"/>
                </a:moveTo>
                <a:lnTo>
                  <a:pt x="10923" y="265455"/>
                </a:lnTo>
                <a:lnTo>
                  <a:pt x="42487" y="213868"/>
                </a:lnTo>
                <a:lnTo>
                  <a:pt x="92880" y="166046"/>
                </a:lnTo>
                <a:lnTo>
                  <a:pt x="124572" y="143787"/>
                </a:lnTo>
                <a:lnTo>
                  <a:pt x="160293" y="122756"/>
                </a:lnTo>
                <a:lnTo>
                  <a:pt x="199815" y="103051"/>
                </a:lnTo>
                <a:lnTo>
                  <a:pt x="242914" y="84767"/>
                </a:lnTo>
                <a:lnTo>
                  <a:pt x="289362" y="68000"/>
                </a:lnTo>
                <a:lnTo>
                  <a:pt x="338934" y="52846"/>
                </a:lnTo>
                <a:lnTo>
                  <a:pt x="391403" y="39402"/>
                </a:lnTo>
                <a:lnTo>
                  <a:pt x="446542" y="27762"/>
                </a:lnTo>
                <a:lnTo>
                  <a:pt x="504126" y="18024"/>
                </a:lnTo>
                <a:lnTo>
                  <a:pt x="563928" y="10282"/>
                </a:lnTo>
                <a:lnTo>
                  <a:pt x="625722" y="4633"/>
                </a:lnTo>
                <a:lnTo>
                  <a:pt x="689281" y="1174"/>
                </a:lnTo>
                <a:lnTo>
                  <a:pt x="754380" y="0"/>
                </a:lnTo>
                <a:lnTo>
                  <a:pt x="819478" y="1174"/>
                </a:lnTo>
                <a:lnTo>
                  <a:pt x="883037" y="4633"/>
                </a:lnTo>
                <a:lnTo>
                  <a:pt x="944831" y="10282"/>
                </a:lnTo>
                <a:lnTo>
                  <a:pt x="1004633" y="18024"/>
                </a:lnTo>
                <a:lnTo>
                  <a:pt x="1062217" y="27762"/>
                </a:lnTo>
                <a:lnTo>
                  <a:pt x="1117356" y="39402"/>
                </a:lnTo>
                <a:lnTo>
                  <a:pt x="1169825" y="52846"/>
                </a:lnTo>
                <a:lnTo>
                  <a:pt x="1219397" y="68000"/>
                </a:lnTo>
                <a:lnTo>
                  <a:pt x="1265845" y="84767"/>
                </a:lnTo>
                <a:lnTo>
                  <a:pt x="1308944" y="103051"/>
                </a:lnTo>
                <a:lnTo>
                  <a:pt x="1348466" y="122756"/>
                </a:lnTo>
                <a:lnTo>
                  <a:pt x="1384187" y="143787"/>
                </a:lnTo>
                <a:lnTo>
                  <a:pt x="1415879" y="166046"/>
                </a:lnTo>
                <a:lnTo>
                  <a:pt x="1466272" y="213868"/>
                </a:lnTo>
                <a:lnTo>
                  <a:pt x="1497836" y="265455"/>
                </a:lnTo>
                <a:lnTo>
                  <a:pt x="1508760" y="320040"/>
                </a:lnTo>
                <a:lnTo>
                  <a:pt x="1505991" y="347658"/>
                </a:lnTo>
                <a:lnTo>
                  <a:pt x="1484521" y="400840"/>
                </a:lnTo>
                <a:lnTo>
                  <a:pt x="1443316" y="450640"/>
                </a:lnTo>
                <a:lnTo>
                  <a:pt x="1384187" y="496292"/>
                </a:lnTo>
                <a:lnTo>
                  <a:pt x="1348466" y="517323"/>
                </a:lnTo>
                <a:lnTo>
                  <a:pt x="1308944" y="537028"/>
                </a:lnTo>
                <a:lnTo>
                  <a:pt x="1265845" y="555312"/>
                </a:lnTo>
                <a:lnTo>
                  <a:pt x="1219397" y="572079"/>
                </a:lnTo>
                <a:lnTo>
                  <a:pt x="1169825" y="587233"/>
                </a:lnTo>
                <a:lnTo>
                  <a:pt x="1117356" y="600677"/>
                </a:lnTo>
                <a:lnTo>
                  <a:pt x="1062217" y="612317"/>
                </a:lnTo>
                <a:lnTo>
                  <a:pt x="1004633" y="622055"/>
                </a:lnTo>
                <a:lnTo>
                  <a:pt x="944831" y="629797"/>
                </a:lnTo>
                <a:lnTo>
                  <a:pt x="883037" y="635446"/>
                </a:lnTo>
                <a:lnTo>
                  <a:pt x="819478" y="638905"/>
                </a:lnTo>
                <a:lnTo>
                  <a:pt x="754380" y="640080"/>
                </a:lnTo>
                <a:lnTo>
                  <a:pt x="689281" y="638905"/>
                </a:lnTo>
                <a:lnTo>
                  <a:pt x="625722" y="635446"/>
                </a:lnTo>
                <a:lnTo>
                  <a:pt x="563928" y="629797"/>
                </a:lnTo>
                <a:lnTo>
                  <a:pt x="504126" y="622055"/>
                </a:lnTo>
                <a:lnTo>
                  <a:pt x="446542" y="612317"/>
                </a:lnTo>
                <a:lnTo>
                  <a:pt x="391403" y="600677"/>
                </a:lnTo>
                <a:lnTo>
                  <a:pt x="338934" y="587233"/>
                </a:lnTo>
                <a:lnTo>
                  <a:pt x="289362" y="572079"/>
                </a:lnTo>
                <a:lnTo>
                  <a:pt x="242914" y="555312"/>
                </a:lnTo>
                <a:lnTo>
                  <a:pt x="199815" y="537028"/>
                </a:lnTo>
                <a:lnTo>
                  <a:pt x="160293" y="517323"/>
                </a:lnTo>
                <a:lnTo>
                  <a:pt x="124572" y="496292"/>
                </a:lnTo>
                <a:lnTo>
                  <a:pt x="92880" y="474033"/>
                </a:lnTo>
                <a:lnTo>
                  <a:pt x="42487" y="426211"/>
                </a:lnTo>
                <a:lnTo>
                  <a:pt x="10923" y="374624"/>
                </a:lnTo>
                <a:lnTo>
                  <a:pt x="0" y="320040"/>
                </a:lnTo>
                <a:close/>
              </a:path>
            </a:pathLst>
          </a:custGeom>
          <a:ln w="381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6060" y="4507684"/>
            <a:ext cx="7321789" cy="14240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54017" y="4787646"/>
            <a:ext cx="1564005" cy="612775"/>
          </a:xfrm>
          <a:custGeom>
            <a:avLst/>
            <a:gdLst/>
            <a:ahLst/>
            <a:cxnLst/>
            <a:rect l="l" t="t" r="r" b="b"/>
            <a:pathLst>
              <a:path w="1564004" h="612775">
                <a:moveTo>
                  <a:pt x="0" y="306323"/>
                </a:moveTo>
                <a:lnTo>
                  <a:pt x="11321" y="254090"/>
                </a:lnTo>
                <a:lnTo>
                  <a:pt x="44036" y="204720"/>
                </a:lnTo>
                <a:lnTo>
                  <a:pt x="96265" y="158949"/>
                </a:lnTo>
                <a:lnTo>
                  <a:pt x="129112" y="137643"/>
                </a:lnTo>
                <a:lnTo>
                  <a:pt x="166133" y="117514"/>
                </a:lnTo>
                <a:lnTo>
                  <a:pt x="207095" y="98652"/>
                </a:lnTo>
                <a:lnTo>
                  <a:pt x="251763" y="81150"/>
                </a:lnTo>
                <a:lnTo>
                  <a:pt x="299901" y="65099"/>
                </a:lnTo>
                <a:lnTo>
                  <a:pt x="351276" y="50593"/>
                </a:lnTo>
                <a:lnTo>
                  <a:pt x="405653" y="37722"/>
                </a:lnTo>
                <a:lnTo>
                  <a:pt x="462797" y="26579"/>
                </a:lnTo>
                <a:lnTo>
                  <a:pt x="522473" y="17256"/>
                </a:lnTo>
                <a:lnTo>
                  <a:pt x="584448" y="9844"/>
                </a:lnTo>
                <a:lnTo>
                  <a:pt x="648485" y="4436"/>
                </a:lnTo>
                <a:lnTo>
                  <a:pt x="714351" y="1124"/>
                </a:lnTo>
                <a:lnTo>
                  <a:pt x="781812" y="0"/>
                </a:lnTo>
                <a:lnTo>
                  <a:pt x="849272" y="1124"/>
                </a:lnTo>
                <a:lnTo>
                  <a:pt x="915138" y="4436"/>
                </a:lnTo>
                <a:lnTo>
                  <a:pt x="979175" y="9844"/>
                </a:lnTo>
                <a:lnTo>
                  <a:pt x="1041150" y="17256"/>
                </a:lnTo>
                <a:lnTo>
                  <a:pt x="1100826" y="26579"/>
                </a:lnTo>
                <a:lnTo>
                  <a:pt x="1157970" y="37722"/>
                </a:lnTo>
                <a:lnTo>
                  <a:pt x="1212347" y="50593"/>
                </a:lnTo>
                <a:lnTo>
                  <a:pt x="1263722" y="65099"/>
                </a:lnTo>
                <a:lnTo>
                  <a:pt x="1311860" y="81150"/>
                </a:lnTo>
                <a:lnTo>
                  <a:pt x="1356528" y="98652"/>
                </a:lnTo>
                <a:lnTo>
                  <a:pt x="1397490" y="117514"/>
                </a:lnTo>
                <a:lnTo>
                  <a:pt x="1434511" y="137643"/>
                </a:lnTo>
                <a:lnTo>
                  <a:pt x="1467358" y="158949"/>
                </a:lnTo>
                <a:lnTo>
                  <a:pt x="1519587" y="204720"/>
                </a:lnTo>
                <a:lnTo>
                  <a:pt x="1552302" y="254090"/>
                </a:lnTo>
                <a:lnTo>
                  <a:pt x="1563624" y="306323"/>
                </a:lnTo>
                <a:lnTo>
                  <a:pt x="1560754" y="332752"/>
                </a:lnTo>
                <a:lnTo>
                  <a:pt x="1538501" y="383646"/>
                </a:lnTo>
                <a:lnTo>
                  <a:pt x="1495795" y="431309"/>
                </a:lnTo>
                <a:lnTo>
                  <a:pt x="1434511" y="475004"/>
                </a:lnTo>
                <a:lnTo>
                  <a:pt x="1397490" y="495133"/>
                </a:lnTo>
                <a:lnTo>
                  <a:pt x="1356528" y="513995"/>
                </a:lnTo>
                <a:lnTo>
                  <a:pt x="1311860" y="531497"/>
                </a:lnTo>
                <a:lnTo>
                  <a:pt x="1263722" y="547548"/>
                </a:lnTo>
                <a:lnTo>
                  <a:pt x="1212347" y="562054"/>
                </a:lnTo>
                <a:lnTo>
                  <a:pt x="1157970" y="574925"/>
                </a:lnTo>
                <a:lnTo>
                  <a:pt x="1100826" y="586068"/>
                </a:lnTo>
                <a:lnTo>
                  <a:pt x="1041150" y="595391"/>
                </a:lnTo>
                <a:lnTo>
                  <a:pt x="979175" y="602803"/>
                </a:lnTo>
                <a:lnTo>
                  <a:pt x="915138" y="608211"/>
                </a:lnTo>
                <a:lnTo>
                  <a:pt x="849272" y="611523"/>
                </a:lnTo>
                <a:lnTo>
                  <a:pt x="781812" y="612647"/>
                </a:lnTo>
                <a:lnTo>
                  <a:pt x="714351" y="611523"/>
                </a:lnTo>
                <a:lnTo>
                  <a:pt x="648485" y="608211"/>
                </a:lnTo>
                <a:lnTo>
                  <a:pt x="584448" y="602803"/>
                </a:lnTo>
                <a:lnTo>
                  <a:pt x="522473" y="595391"/>
                </a:lnTo>
                <a:lnTo>
                  <a:pt x="462797" y="586068"/>
                </a:lnTo>
                <a:lnTo>
                  <a:pt x="405653" y="574925"/>
                </a:lnTo>
                <a:lnTo>
                  <a:pt x="351276" y="562054"/>
                </a:lnTo>
                <a:lnTo>
                  <a:pt x="299901" y="547548"/>
                </a:lnTo>
                <a:lnTo>
                  <a:pt x="251763" y="531497"/>
                </a:lnTo>
                <a:lnTo>
                  <a:pt x="207095" y="513995"/>
                </a:lnTo>
                <a:lnTo>
                  <a:pt x="166133" y="495133"/>
                </a:lnTo>
                <a:lnTo>
                  <a:pt x="129112" y="475004"/>
                </a:lnTo>
                <a:lnTo>
                  <a:pt x="96265" y="453698"/>
                </a:lnTo>
                <a:lnTo>
                  <a:pt x="44036" y="407927"/>
                </a:lnTo>
                <a:lnTo>
                  <a:pt x="11321" y="358557"/>
                </a:lnTo>
                <a:lnTo>
                  <a:pt x="0" y="306323"/>
                </a:lnTo>
                <a:close/>
              </a:path>
            </a:pathLst>
          </a:custGeom>
          <a:ln w="38100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854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Binary </a:t>
            </a:r>
            <a:r>
              <a:rPr spc="10" dirty="0"/>
              <a:t>search </a:t>
            </a:r>
            <a:r>
              <a:rPr spc="5" dirty="0"/>
              <a:t>algorithm</a:t>
            </a:r>
            <a:r>
              <a:rPr spc="-9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2059051"/>
            <a:ext cx="1427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4. </a:t>
            </a:r>
            <a:r>
              <a:rPr sz="1800" b="1" spc="-5" dirty="0">
                <a:latin typeface="Perpetua"/>
                <a:cs typeface="Perpetua"/>
              </a:rPr>
              <a:t>Repeat</a:t>
            </a:r>
            <a:r>
              <a:rPr sz="1800" b="1" spc="-16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until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9879" y="2094345"/>
            <a:ext cx="4287389" cy="517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1674" y="3846945"/>
            <a:ext cx="3374835" cy="517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3811904"/>
            <a:ext cx="154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5. Setting</a:t>
            </a:r>
            <a:r>
              <a:rPr sz="1800" b="1" spc="-17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found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3913" y="2239107"/>
            <a:ext cx="6211372" cy="339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563626"/>
            <a:ext cx="76682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Eg: </a:t>
            </a:r>
            <a:r>
              <a:rPr sz="3600" spc="10" dirty="0"/>
              <a:t>Search </a:t>
            </a:r>
            <a:r>
              <a:rPr sz="3600" dirty="0"/>
              <a:t>for #  </a:t>
            </a:r>
            <a:r>
              <a:rPr sz="3600" spc="-5" dirty="0"/>
              <a:t>in{2,4,5,7,8,9,12,14,17,19,22,25,27,28,33}</a:t>
            </a:r>
            <a:endParaRPr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0"/>
            <a:ext cx="6924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latin typeface="Perpetua"/>
                <a:cs typeface="Perpetua"/>
              </a:rPr>
              <a:t>Searching the telephone</a:t>
            </a:r>
            <a:r>
              <a:rPr i="1" spc="50" dirty="0">
                <a:latin typeface="Perpetua"/>
                <a:cs typeface="Perpetua"/>
              </a:rPr>
              <a:t> </a:t>
            </a:r>
            <a:r>
              <a:rPr i="1" spc="-10" dirty="0">
                <a:latin typeface="Perpetua"/>
                <a:cs typeface="Perpetua"/>
              </a:rPr>
              <a:t>directory-revisited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905002"/>
            <a:ext cx="8379459" cy="521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8255" indent="-274320" algn="just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15" dirty="0">
                <a:latin typeface="Perpetua"/>
                <a:cs typeface="Perpetua"/>
              </a:rPr>
              <a:t>probably </a:t>
            </a:r>
            <a:r>
              <a:rPr sz="2400" i="1" spc="-5" dirty="0">
                <a:latin typeface="Perpetua"/>
                <a:cs typeface="Perpetua"/>
              </a:rPr>
              <a:t>occurred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15" dirty="0">
                <a:latin typeface="Perpetua"/>
                <a:cs typeface="Perpetua"/>
              </a:rPr>
              <a:t>when you </a:t>
            </a:r>
            <a:r>
              <a:rPr sz="2400" i="1" spc="-10" dirty="0">
                <a:latin typeface="Perpetua"/>
                <a:cs typeface="Perpetua"/>
              </a:rPr>
              <a:t>actually </a:t>
            </a:r>
            <a:r>
              <a:rPr sz="2400" i="1" dirty="0">
                <a:latin typeface="Perpetua"/>
                <a:cs typeface="Perpetua"/>
              </a:rPr>
              <a:t>search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name in</a:t>
            </a:r>
            <a:r>
              <a:rPr sz="2400" i="1" spc="3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  </a:t>
            </a:r>
            <a:r>
              <a:rPr sz="2400" i="1" spc="-5" dirty="0">
                <a:latin typeface="Perpetua"/>
                <a:cs typeface="Perpetua"/>
              </a:rPr>
              <a:t>telephone </a:t>
            </a:r>
            <a:r>
              <a:rPr sz="2400" i="1" spc="-25" dirty="0">
                <a:latin typeface="Perpetua"/>
                <a:cs typeface="Perpetua"/>
              </a:rPr>
              <a:t>directory, </a:t>
            </a:r>
            <a:r>
              <a:rPr sz="2400" i="1" dirty="0">
                <a:latin typeface="Perpetua"/>
                <a:cs typeface="Perpetua"/>
              </a:rPr>
              <a:t>(or a </a:t>
            </a:r>
            <a:r>
              <a:rPr sz="2400" i="1" spc="-10" dirty="0">
                <a:latin typeface="Perpetua"/>
                <a:cs typeface="Perpetua"/>
              </a:rPr>
              <a:t>word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dictionary)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spc="-15" dirty="0">
                <a:latin typeface="Perpetua"/>
                <a:cs typeface="Perpetua"/>
              </a:rPr>
              <a:t>probably </a:t>
            </a:r>
            <a:r>
              <a:rPr sz="2400" i="1" spc="-5" dirty="0">
                <a:latin typeface="Perpetua"/>
                <a:cs typeface="Perpetua"/>
              </a:rPr>
              <a:t>do it </a:t>
            </a:r>
            <a:r>
              <a:rPr sz="2400" i="1" spc="-10" dirty="0">
                <a:latin typeface="Perpetua"/>
                <a:cs typeface="Perpetua"/>
              </a:rPr>
              <a:t>slightly  </a:t>
            </a:r>
            <a:r>
              <a:rPr sz="2400" i="1" spc="-25" dirty="0">
                <a:latin typeface="Perpetua"/>
                <a:cs typeface="Perpetua"/>
              </a:rPr>
              <a:t>differently.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3550">
              <a:latin typeface="Times New Roman"/>
              <a:cs typeface="Times New Roman"/>
            </a:endParaRPr>
          </a:p>
          <a:p>
            <a:pPr marL="286385" marR="5715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2400" i="1" dirty="0">
                <a:latin typeface="Perpetua"/>
                <a:cs typeface="Perpetua"/>
              </a:rPr>
              <a:t>If </a:t>
            </a:r>
            <a:r>
              <a:rPr sz="2400" i="1" spc="-5" dirty="0">
                <a:latin typeface="Perpetua"/>
                <a:cs typeface="Perpetua"/>
              </a:rPr>
              <a:t>looking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10" dirty="0">
                <a:latin typeface="Perpetua"/>
                <a:cs typeface="Perpetua"/>
              </a:rPr>
              <a:t>Steinbeck,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5" dirty="0">
                <a:latin typeface="Perpetua"/>
                <a:cs typeface="Perpetua"/>
              </a:rPr>
              <a:t>open </a:t>
            </a:r>
            <a:r>
              <a:rPr sz="2400" i="1" spc="-10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middle as </a:t>
            </a:r>
            <a:r>
              <a:rPr sz="2400" i="1" spc="-10" dirty="0">
                <a:latin typeface="Perpetua"/>
                <a:cs typeface="Perpetua"/>
              </a:rPr>
              <a:t>that would </a:t>
            </a:r>
            <a:r>
              <a:rPr sz="2400" i="1" dirty="0">
                <a:latin typeface="Perpetua"/>
                <a:cs typeface="Perpetua"/>
              </a:rPr>
              <a:t>almost  certainly take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to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middle letter </a:t>
            </a:r>
            <a:r>
              <a:rPr sz="2400" i="1" dirty="0">
                <a:latin typeface="Perpetua"/>
                <a:cs typeface="Perpetua"/>
              </a:rPr>
              <a:t>– M – </a:t>
            </a:r>
            <a:r>
              <a:rPr sz="2400" i="1" spc="-5" dirty="0">
                <a:latin typeface="Perpetua"/>
                <a:cs typeface="Perpetua"/>
              </a:rPr>
              <a:t>as it </a:t>
            </a:r>
            <a:r>
              <a:rPr sz="2400" i="1" dirty="0">
                <a:latin typeface="Perpetua"/>
                <a:cs typeface="Perpetua"/>
              </a:rPr>
              <a:t>did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 example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above.</a:t>
            </a:r>
            <a:endParaRPr sz="24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2400" i="1" dirty="0">
                <a:latin typeface="Perpetua"/>
                <a:cs typeface="Perpetua"/>
              </a:rPr>
              <a:t>S </a:t>
            </a:r>
            <a:r>
              <a:rPr sz="2400" i="1" spc="-5" dirty="0">
                <a:latin typeface="Perpetua"/>
                <a:cs typeface="Perpetua"/>
              </a:rPr>
              <a:t>is nearer </a:t>
            </a:r>
            <a:r>
              <a:rPr sz="2400" i="1" dirty="0">
                <a:latin typeface="Perpetua"/>
                <a:cs typeface="Perpetua"/>
              </a:rPr>
              <a:t>the end of the </a:t>
            </a:r>
            <a:r>
              <a:rPr sz="2400" i="1" spc="-5" dirty="0">
                <a:latin typeface="Perpetua"/>
                <a:cs typeface="Perpetua"/>
              </a:rPr>
              <a:t>alphabet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might open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directory two-thirds of 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45" dirty="0">
                <a:latin typeface="Perpetua"/>
                <a:cs typeface="Perpetua"/>
              </a:rPr>
              <a:t>way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through.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70" dirty="0">
                <a:latin typeface="Perpetua"/>
                <a:cs typeface="Perpetua"/>
              </a:rPr>
              <a:t>You</a:t>
            </a:r>
            <a:r>
              <a:rPr sz="2400" i="1" spc="9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would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do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this</a:t>
            </a:r>
            <a:r>
              <a:rPr sz="2400" i="1" spc="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on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each</a:t>
            </a:r>
            <a:r>
              <a:rPr sz="2400" i="1" spc="9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step:</a:t>
            </a:r>
            <a:r>
              <a:rPr sz="2400" i="1" spc="-1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using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your</a:t>
            </a:r>
            <a:r>
              <a:rPr sz="2400" i="1" spc="9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knowledge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8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positions</a:t>
            </a:r>
            <a:r>
              <a:rPr sz="2400" i="1" spc="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r>
              <a:rPr sz="2400" i="1" spc="9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letters</a:t>
            </a:r>
            <a:r>
              <a:rPr sz="2400" i="1" spc="10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alphabet,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make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better </a:t>
            </a:r>
            <a:r>
              <a:rPr sz="2400" i="1" dirty="0">
                <a:latin typeface="Perpetua"/>
                <a:cs typeface="Perpetua"/>
              </a:rPr>
              <a:t>guess </a:t>
            </a:r>
            <a:r>
              <a:rPr sz="2400" i="1" spc="-5" dirty="0">
                <a:latin typeface="Perpetua"/>
                <a:cs typeface="Perpetua"/>
              </a:rPr>
              <a:t>than </a:t>
            </a:r>
            <a:r>
              <a:rPr sz="2400" i="1" spc="-25" dirty="0">
                <a:latin typeface="Perpetua"/>
                <a:cs typeface="Perpetua"/>
              </a:rPr>
              <a:t>halfway </a:t>
            </a:r>
            <a:r>
              <a:rPr sz="2400" i="1" dirty="0">
                <a:latin typeface="Perpetua"/>
                <a:cs typeface="Perpetua"/>
              </a:rPr>
              <a:t>each</a:t>
            </a:r>
            <a:r>
              <a:rPr sz="2400" i="1" spc="-229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time.</a:t>
            </a:r>
            <a:endParaRPr sz="24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99500"/>
              </a:lnSpc>
              <a:spcBef>
                <a:spcPts val="615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5" dirty="0">
                <a:latin typeface="Perpetua"/>
                <a:cs typeface="Perpetua"/>
              </a:rPr>
              <a:t>This is </a:t>
            </a:r>
            <a:r>
              <a:rPr sz="2400" b="1" i="1" dirty="0">
                <a:latin typeface="Perpetua"/>
                <a:cs typeface="Perpetua"/>
              </a:rPr>
              <a:t>an </a:t>
            </a:r>
            <a:r>
              <a:rPr sz="2400" b="1" i="1" spc="-10" dirty="0">
                <a:latin typeface="Perpetua"/>
                <a:cs typeface="Perpetua"/>
              </a:rPr>
              <a:t>optimization </a:t>
            </a:r>
            <a:r>
              <a:rPr sz="2400" b="1" i="1" spc="-5" dirty="0">
                <a:latin typeface="Perpetua"/>
                <a:cs typeface="Perpetua"/>
              </a:rPr>
              <a:t>of </a:t>
            </a:r>
            <a:r>
              <a:rPr sz="2400" b="1" i="1" spc="-10" dirty="0">
                <a:latin typeface="Perpetua"/>
                <a:cs typeface="Perpetua"/>
              </a:rPr>
              <a:t>binary search </a:t>
            </a:r>
            <a:r>
              <a:rPr sz="2400" i="1" spc="-20" dirty="0">
                <a:latin typeface="Perpetua"/>
                <a:cs typeface="Perpetua"/>
              </a:rPr>
              <a:t>where you </a:t>
            </a:r>
            <a:r>
              <a:rPr sz="2400" i="1" spc="-10" dirty="0">
                <a:latin typeface="Perpetua"/>
                <a:cs typeface="Perpetua"/>
              </a:rPr>
              <a:t>are </a:t>
            </a:r>
            <a:r>
              <a:rPr sz="2400" i="1" spc="-5" dirty="0">
                <a:latin typeface="Perpetua"/>
                <a:cs typeface="Perpetua"/>
              </a:rPr>
              <a:t>using </a:t>
            </a:r>
            <a:r>
              <a:rPr sz="2400" i="1" spc="-15" dirty="0">
                <a:latin typeface="Perpetua"/>
                <a:cs typeface="Perpetua"/>
              </a:rPr>
              <a:t>even </a:t>
            </a:r>
            <a:r>
              <a:rPr sz="2400" i="1" spc="-10" dirty="0">
                <a:latin typeface="Perpetua"/>
                <a:cs typeface="Perpetua"/>
              </a:rPr>
              <a:t>more  knowledge </a:t>
            </a:r>
            <a:r>
              <a:rPr sz="2400" i="1" dirty="0">
                <a:latin typeface="Perpetua"/>
                <a:cs typeface="Perpetua"/>
              </a:rPr>
              <a:t>(the </a:t>
            </a:r>
            <a:r>
              <a:rPr sz="2400" i="1" spc="-5" dirty="0">
                <a:latin typeface="Perpetua"/>
                <a:cs typeface="Perpetua"/>
              </a:rPr>
              <a:t>positions of letters 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alphabet</a:t>
            </a:r>
            <a:r>
              <a:rPr sz="2600" i="1" spc="-5" dirty="0">
                <a:latin typeface="Perpetua"/>
                <a:cs typeface="Perpetua"/>
              </a:rPr>
              <a:t>) about the </a:t>
            </a:r>
            <a:r>
              <a:rPr sz="2600" i="1" dirty="0">
                <a:latin typeface="Perpetua"/>
                <a:cs typeface="Perpetua"/>
              </a:rPr>
              <a:t>thing </a:t>
            </a:r>
            <a:r>
              <a:rPr sz="2600" i="1" spc="-5" dirty="0">
                <a:latin typeface="Perpetua"/>
                <a:cs typeface="Perpetua"/>
              </a:rPr>
              <a:t>being </a:t>
            </a:r>
            <a:r>
              <a:rPr sz="2600" i="1" spc="10" dirty="0">
                <a:latin typeface="Perpetua"/>
                <a:cs typeface="Perpetua"/>
              </a:rPr>
              <a:t>sorted 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speed </a:t>
            </a:r>
            <a:r>
              <a:rPr sz="2600" i="1" spc="-5" dirty="0">
                <a:latin typeface="Perpetua"/>
                <a:cs typeface="Perpetua"/>
              </a:rPr>
              <a:t>things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further.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2527"/>
            <a:ext cx="6279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latin typeface="Perpetua"/>
                <a:cs typeface="Perpetua"/>
              </a:rPr>
              <a:t>Diving-bell and the</a:t>
            </a:r>
            <a:r>
              <a:rPr i="1" spc="35" dirty="0">
                <a:latin typeface="Perpetua"/>
                <a:cs typeface="Perpetua"/>
              </a:rPr>
              <a:t> </a:t>
            </a:r>
            <a:r>
              <a:rPr i="1" spc="-10" dirty="0">
                <a:latin typeface="Perpetua"/>
                <a:cs typeface="Perpetua"/>
              </a:rPr>
              <a:t>Butterfly-revisited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76630"/>
            <a:ext cx="8074025" cy="5239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Jean-Dominique </a:t>
            </a:r>
            <a:r>
              <a:rPr sz="2600" i="1" spc="-15" dirty="0">
                <a:latin typeface="Perpetua"/>
                <a:cs typeface="Perpetua"/>
              </a:rPr>
              <a:t>Bauby </a:t>
            </a:r>
            <a:r>
              <a:rPr sz="2600" i="1" dirty="0">
                <a:latin typeface="Perpetua"/>
                <a:cs typeface="Perpetua"/>
              </a:rPr>
              <a:t>could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made </a:t>
            </a:r>
            <a:r>
              <a:rPr sz="2600" i="1" dirty="0">
                <a:latin typeface="Perpetua"/>
                <a:cs typeface="Perpetua"/>
              </a:rPr>
              <a:t>his task </a:t>
            </a:r>
            <a:r>
              <a:rPr sz="2600" i="1" spc="-5" dirty="0">
                <a:latin typeface="Perpetua"/>
                <a:cs typeface="Perpetua"/>
              </a:rPr>
              <a:t>much </a:t>
            </a:r>
            <a:r>
              <a:rPr sz="2600" i="1" dirty="0">
                <a:latin typeface="Perpetua"/>
                <a:cs typeface="Perpetua"/>
              </a:rPr>
              <a:t>easier </a:t>
            </a:r>
            <a:r>
              <a:rPr sz="2600" i="1" spc="-5" dirty="0">
                <a:latin typeface="Perpetua"/>
                <a:cs typeface="Perpetua"/>
              </a:rPr>
              <a:t>if he </a:t>
            </a:r>
            <a:r>
              <a:rPr sz="2600" i="1" dirty="0">
                <a:latin typeface="Perpetua"/>
                <a:cs typeface="Perpetua"/>
              </a:rPr>
              <a:t>had  </a:t>
            </a:r>
            <a:r>
              <a:rPr sz="2600" i="1" spc="-10" dirty="0">
                <a:latin typeface="Perpetua"/>
                <a:cs typeface="Perpetua"/>
              </a:rPr>
              <a:t>known </a:t>
            </a:r>
            <a:r>
              <a:rPr sz="2600" i="1" spc="-5" dirty="0">
                <a:latin typeface="Perpetua"/>
                <a:cs typeface="Perpetua"/>
              </a:rPr>
              <a:t>of such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search.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They could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5" dirty="0">
                <a:latin typeface="Perpetua"/>
                <a:cs typeface="Perpetua"/>
              </a:rPr>
              <a:t>started </a:t>
            </a:r>
            <a:r>
              <a:rPr sz="2600" i="1" dirty="0">
                <a:latin typeface="Perpetua"/>
                <a:cs typeface="Perpetua"/>
              </a:rPr>
              <a:t>with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M.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Instead of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blink </a:t>
            </a:r>
            <a:r>
              <a:rPr sz="2600" i="1" spc="-5" dirty="0">
                <a:latin typeface="Perpetua"/>
                <a:cs typeface="Perpetua"/>
              </a:rPr>
              <a:t>meaning </a:t>
            </a:r>
            <a:r>
              <a:rPr sz="2600" i="1" spc="-50" dirty="0">
                <a:latin typeface="Perpetua"/>
                <a:cs typeface="Perpetua"/>
              </a:rPr>
              <a:t>"</a:t>
            </a:r>
            <a:r>
              <a:rPr sz="2600" b="1" i="1" spc="-50" dirty="0">
                <a:latin typeface="Perpetua"/>
                <a:cs typeface="Perpetua"/>
              </a:rPr>
              <a:t>Yes</a:t>
            </a:r>
            <a:r>
              <a:rPr sz="2600" i="1" spc="-50" dirty="0">
                <a:latin typeface="Perpetua"/>
                <a:cs typeface="Perpetua"/>
              </a:rPr>
              <a:t>",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could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meant </a:t>
            </a:r>
            <a:r>
              <a:rPr sz="2600" i="1" spc="-10" dirty="0">
                <a:latin typeface="Perpetua"/>
                <a:cs typeface="Perpetua"/>
              </a:rPr>
              <a:t>"</a:t>
            </a:r>
            <a:r>
              <a:rPr sz="2600" b="1" i="1" spc="-10" dirty="0">
                <a:latin typeface="Perpetua"/>
                <a:cs typeface="Perpetua"/>
              </a:rPr>
              <a:t>later in </a:t>
            </a:r>
            <a:r>
              <a:rPr sz="2600" b="1" i="1" spc="-5" dirty="0">
                <a:latin typeface="Perpetua"/>
                <a:cs typeface="Perpetua"/>
              </a:rPr>
              <a:t>the  </a:t>
            </a:r>
            <a:r>
              <a:rPr sz="2600" b="1" i="1" spc="-10" dirty="0">
                <a:latin typeface="Perpetua"/>
                <a:cs typeface="Perpetua"/>
              </a:rPr>
              <a:t>alphabet”</a:t>
            </a:r>
            <a:r>
              <a:rPr sz="2600" i="1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no </a:t>
            </a:r>
            <a:r>
              <a:rPr sz="2600" i="1" spc="-10" dirty="0">
                <a:latin typeface="Perpetua"/>
                <a:cs typeface="Perpetua"/>
              </a:rPr>
              <a:t>blink </a:t>
            </a:r>
            <a:r>
              <a:rPr sz="2600" i="1" spc="-5" dirty="0">
                <a:latin typeface="Perpetua"/>
                <a:cs typeface="Perpetua"/>
              </a:rPr>
              <a:t>could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meant </a:t>
            </a:r>
            <a:r>
              <a:rPr sz="2600" i="1" spc="-10" dirty="0">
                <a:latin typeface="Perpetua"/>
                <a:cs typeface="Perpetua"/>
              </a:rPr>
              <a:t>"</a:t>
            </a:r>
            <a:r>
              <a:rPr sz="2600" b="1" i="1" spc="-10" dirty="0">
                <a:latin typeface="Perpetua"/>
                <a:cs typeface="Perpetua"/>
              </a:rPr>
              <a:t>earlier </a:t>
            </a:r>
            <a:r>
              <a:rPr sz="2600" b="1" i="1" dirty="0">
                <a:latin typeface="Perpetua"/>
                <a:cs typeface="Perpetua"/>
              </a:rPr>
              <a:t>in the</a:t>
            </a:r>
            <a:r>
              <a:rPr sz="2600" b="1" i="1" spc="10" dirty="0">
                <a:latin typeface="Perpetua"/>
                <a:cs typeface="Perpetua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alphabet</a:t>
            </a:r>
            <a:r>
              <a:rPr sz="2600" i="1" spc="-10" dirty="0">
                <a:latin typeface="Perpetua"/>
                <a:cs typeface="Perpetua"/>
              </a:rPr>
              <a:t>".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double blink would </a:t>
            </a:r>
            <a:r>
              <a:rPr sz="2600" i="1" spc="-5" dirty="0">
                <a:latin typeface="Perpetua"/>
                <a:cs typeface="Perpetua"/>
              </a:rPr>
              <a:t>mean "</a:t>
            </a:r>
            <a:r>
              <a:rPr sz="2600" b="1" i="1" spc="-5" dirty="0">
                <a:latin typeface="Perpetua"/>
                <a:cs typeface="Perpetua"/>
              </a:rPr>
              <a:t>that </a:t>
            </a:r>
            <a:r>
              <a:rPr sz="2600" b="1" i="1" dirty="0">
                <a:latin typeface="Perpetua"/>
                <a:cs typeface="Perpetua"/>
              </a:rPr>
              <a:t>is the</a:t>
            </a:r>
            <a:r>
              <a:rPr sz="2600" b="1" i="1" spc="-10" dirty="0">
                <a:latin typeface="Perpetua"/>
                <a:cs typeface="Perpetua"/>
              </a:rPr>
              <a:t> </a:t>
            </a:r>
            <a:r>
              <a:rPr sz="2600" b="1" i="1" spc="-5" dirty="0">
                <a:latin typeface="Perpetua"/>
                <a:cs typeface="Perpetua"/>
              </a:rPr>
              <a:t>letter</a:t>
            </a:r>
            <a:r>
              <a:rPr sz="2600" i="1" spc="-5" dirty="0">
                <a:latin typeface="Perpetua"/>
                <a:cs typeface="Perpetua"/>
              </a:rPr>
              <a:t>".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time the </a:t>
            </a:r>
            <a:r>
              <a:rPr sz="2600" i="1" dirty="0">
                <a:latin typeface="Perpetua"/>
                <a:cs typeface="Perpetua"/>
              </a:rPr>
              <a:t>next </a:t>
            </a:r>
            <a:r>
              <a:rPr sz="2600" i="1" spc="-5" dirty="0">
                <a:latin typeface="Perpetua"/>
                <a:cs typeface="Perpetua"/>
              </a:rPr>
              <a:t>letter </a:t>
            </a:r>
            <a:r>
              <a:rPr sz="2600" i="1" spc="-10" dirty="0">
                <a:latin typeface="Perpetua"/>
                <a:cs typeface="Perpetua"/>
              </a:rPr>
              <a:t>read </a:t>
            </a:r>
            <a:r>
              <a:rPr sz="2600" i="1" spc="-5" dirty="0">
                <a:latin typeface="Perpetua"/>
                <a:cs typeface="Perpetua"/>
              </a:rPr>
              <a:t>out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dirty="0">
                <a:latin typeface="Perpetua"/>
                <a:cs typeface="Perpetua"/>
              </a:rPr>
              <a:t>be </a:t>
            </a:r>
            <a:r>
              <a:rPr sz="2600" i="1" spc="-10" dirty="0">
                <a:latin typeface="Perpetua"/>
                <a:cs typeface="Perpetua"/>
              </a:rPr>
              <a:t>roughly </a:t>
            </a:r>
            <a:r>
              <a:rPr sz="2600" i="1" spc="-5" dirty="0">
                <a:latin typeface="Perpetua"/>
                <a:cs typeface="Perpetua"/>
              </a:rPr>
              <a:t>half </a:t>
            </a:r>
            <a:r>
              <a:rPr sz="2600" i="1" spc="-50" dirty="0">
                <a:latin typeface="Perpetua"/>
                <a:cs typeface="Perpetua"/>
              </a:rPr>
              <a:t>way </a:t>
            </a:r>
            <a:r>
              <a:rPr sz="2600" i="1" spc="-5" dirty="0">
                <a:latin typeface="Perpetua"/>
                <a:cs typeface="Perpetua"/>
              </a:rPr>
              <a:t>through the  </a:t>
            </a:r>
            <a:r>
              <a:rPr sz="2600" i="1" spc="-15" dirty="0">
                <a:latin typeface="Perpetua"/>
                <a:cs typeface="Perpetua"/>
              </a:rPr>
              <a:t>interval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remaining.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spc="-10" dirty="0">
                <a:latin typeface="Perpetua"/>
                <a:cs typeface="Perpetua"/>
              </a:rPr>
              <a:t>would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dirty="0">
                <a:latin typeface="Perpetua"/>
                <a:cs typeface="Perpetua"/>
              </a:rPr>
              <a:t>taken </a:t>
            </a:r>
            <a:r>
              <a:rPr sz="2600" i="1" spc="-5" dirty="0">
                <a:latin typeface="Perpetua"/>
                <a:cs typeface="Perpetua"/>
              </a:rPr>
              <a:t>the secretary </a:t>
            </a:r>
            <a:r>
              <a:rPr sz="2600" i="1" spc="-15" dirty="0">
                <a:latin typeface="Perpetua"/>
                <a:cs typeface="Perpetua"/>
              </a:rPr>
              <a:t>longer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5" dirty="0">
                <a:latin typeface="Perpetua"/>
                <a:cs typeface="Perpetua"/>
              </a:rPr>
              <a:t>learn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45" dirty="0">
                <a:latin typeface="Perpetua"/>
                <a:cs typeface="Perpetua"/>
              </a:rPr>
              <a:t>do, </a:t>
            </a:r>
            <a:r>
              <a:rPr sz="2600" i="1" spc="-10" dirty="0">
                <a:latin typeface="Perpetua"/>
                <a:cs typeface="Perpetua"/>
              </a:rPr>
              <a:t>perhaps, but </a:t>
            </a:r>
            <a:r>
              <a:rPr sz="2600" i="1" spc="-5" dirty="0">
                <a:latin typeface="Perpetua"/>
                <a:cs typeface="Perpetua"/>
              </a:rPr>
              <a:t>it  would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meant </a:t>
            </a:r>
            <a:r>
              <a:rPr sz="2600" i="1" spc="-10" dirty="0">
                <a:latin typeface="Perpetua"/>
                <a:cs typeface="Perpetua"/>
              </a:rPr>
              <a:t>every </a:t>
            </a:r>
            <a:r>
              <a:rPr sz="2600" i="1" spc="-5" dirty="0">
                <a:latin typeface="Perpetua"/>
                <a:cs typeface="Perpetua"/>
              </a:rPr>
              <a:t>letter of the </a:t>
            </a:r>
            <a:r>
              <a:rPr sz="2600" i="1" dirty="0">
                <a:latin typeface="Perpetua"/>
                <a:cs typeface="Perpetua"/>
              </a:rPr>
              <a:t>alphabet </a:t>
            </a:r>
            <a:r>
              <a:rPr sz="2600" i="1" spc="-5" dirty="0">
                <a:latin typeface="Perpetua"/>
                <a:cs typeface="Perpetua"/>
              </a:rPr>
              <a:t>could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been identified  </a:t>
            </a: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15" dirty="0">
                <a:latin typeface="Perpetua"/>
                <a:cs typeface="Perpetua"/>
              </a:rPr>
              <a:t>only </a:t>
            </a:r>
            <a:r>
              <a:rPr sz="2600" b="1" i="1" dirty="0">
                <a:latin typeface="Perpetua"/>
                <a:cs typeface="Perpetua"/>
              </a:rPr>
              <a:t>5</a:t>
            </a:r>
            <a:r>
              <a:rPr sz="2600" b="1" i="1" spc="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blinks.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9667"/>
            <a:ext cx="7368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245860" algn="l"/>
              </a:tabLst>
            </a:pPr>
            <a:r>
              <a:rPr sz="3600" spc="-114" dirty="0"/>
              <a:t>Eg. </a:t>
            </a:r>
            <a:r>
              <a:rPr sz="3600" dirty="0"/>
              <a:t>Divide the </a:t>
            </a:r>
            <a:r>
              <a:rPr sz="3600" spc="-5" dirty="0"/>
              <a:t>population</a:t>
            </a:r>
            <a:r>
              <a:rPr sz="3600" spc="15" dirty="0"/>
              <a:t> </a:t>
            </a:r>
            <a:r>
              <a:rPr sz="3600" spc="-5" dirty="0"/>
              <a:t>and</a:t>
            </a:r>
            <a:r>
              <a:rPr sz="3600" spc="5" dirty="0"/>
              <a:t> </a:t>
            </a:r>
            <a:r>
              <a:rPr sz="3600" spc="10" dirty="0"/>
              <a:t>search	</a:t>
            </a:r>
            <a:r>
              <a:rPr sz="3600" dirty="0"/>
              <a:t>for</a:t>
            </a:r>
            <a:r>
              <a:rPr sz="3600" spc="-95" dirty="0"/>
              <a:t> </a:t>
            </a:r>
            <a:r>
              <a:rPr sz="3600" dirty="0"/>
              <a:t>the  </a:t>
            </a:r>
            <a:r>
              <a:rPr sz="3600" spc="5" dirty="0"/>
              <a:t>letters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80999" y="1219067"/>
            <a:ext cx="8144448" cy="5486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3695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Data</a:t>
            </a:r>
            <a:r>
              <a:rPr spc="-30" dirty="0"/>
              <a:t> </a:t>
            </a:r>
            <a:r>
              <a:rPr spc="-5" dirty="0"/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8245"/>
            <a:ext cx="8532495" cy="547624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4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Decompositio</a:t>
            </a:r>
            <a:r>
              <a:rPr sz="2600" spc="-5" dirty="0">
                <a:latin typeface="Perpetua"/>
                <a:cs typeface="Perpetua"/>
              </a:rPr>
              <a:t>n </a:t>
            </a:r>
            <a:r>
              <a:rPr sz="2600" dirty="0">
                <a:latin typeface="Perpetua"/>
                <a:cs typeface="Perpetua"/>
              </a:rPr>
              <a:t>is used in </a:t>
            </a:r>
            <a:r>
              <a:rPr sz="2600" spc="-10" dirty="0">
                <a:latin typeface="Perpetua"/>
                <a:cs typeface="Perpetua"/>
              </a:rPr>
              <a:t>software </a:t>
            </a:r>
            <a:r>
              <a:rPr sz="2600" spc="-5" dirty="0">
                <a:latin typeface="Perpetua"/>
                <a:cs typeface="Perpetua"/>
              </a:rPr>
              <a:t>design, multitasking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etc.</a:t>
            </a:r>
            <a:endParaRPr sz="2600">
              <a:latin typeface="Perpetua"/>
              <a:cs typeface="Perpetua"/>
            </a:endParaRPr>
          </a:p>
          <a:p>
            <a:pPr marL="286385" marR="8890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dirty="0">
                <a:latin typeface="Perpetua"/>
                <a:cs typeface="Perpetua"/>
              </a:rPr>
              <a:t>dividing a program into </a:t>
            </a:r>
            <a:r>
              <a:rPr sz="2600" spc="-5" dirty="0">
                <a:latin typeface="Perpetua"/>
                <a:cs typeface="Perpetua"/>
              </a:rPr>
              <a:t>separate </a:t>
            </a:r>
            <a:r>
              <a:rPr sz="2600" spc="5" dirty="0">
                <a:latin typeface="Perpetua"/>
                <a:cs typeface="Perpetua"/>
              </a:rPr>
              <a:t>instructions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groups </a:t>
            </a:r>
            <a:r>
              <a:rPr sz="2600" spc="-10" dirty="0">
                <a:latin typeface="Perpetua"/>
                <a:cs typeface="Perpetua"/>
              </a:rPr>
              <a:t>of  </a:t>
            </a:r>
            <a:r>
              <a:rPr sz="2600" spc="-5" dirty="0">
                <a:latin typeface="Perpetua"/>
                <a:cs typeface="Perpetua"/>
              </a:rPr>
              <a:t>instructions.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ts val="281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003300" algn="l"/>
                <a:tab pos="2661920" algn="l"/>
                <a:tab pos="3021330" algn="l"/>
                <a:tab pos="4114165" algn="l"/>
                <a:tab pos="4682490" algn="l"/>
                <a:tab pos="5099050" algn="l"/>
                <a:tab pos="5653405" algn="l"/>
                <a:tab pos="6771005" algn="l"/>
                <a:tab pos="7186930" algn="l"/>
                <a:tab pos="8095615" algn="l"/>
              </a:tabLst>
            </a:pPr>
            <a:r>
              <a:rPr sz="2600" i="1" dirty="0">
                <a:latin typeface="Perpetua"/>
                <a:cs typeface="Perpetua"/>
              </a:rPr>
              <a:t>D</a:t>
            </a:r>
            <a:r>
              <a:rPr sz="2600" i="1" spc="-30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ta	</a:t>
            </a:r>
            <a:r>
              <a:rPr sz="2600" i="1" spc="-15" dirty="0">
                <a:latin typeface="Perpetua"/>
                <a:cs typeface="Perpetua"/>
              </a:rPr>
              <a:t>d</a:t>
            </a:r>
            <a:r>
              <a:rPr sz="2600" i="1" dirty="0">
                <a:latin typeface="Perpetua"/>
                <a:cs typeface="Perpetua"/>
              </a:rPr>
              <a:t>ec</a:t>
            </a:r>
            <a:r>
              <a:rPr sz="2600" i="1" spc="-10" dirty="0">
                <a:latin typeface="Perpetua"/>
                <a:cs typeface="Perpetua"/>
              </a:rPr>
              <a:t>o</a:t>
            </a:r>
            <a:r>
              <a:rPr sz="2600" i="1" spc="-5" dirty="0">
                <a:latin typeface="Perpetua"/>
                <a:cs typeface="Perpetua"/>
              </a:rPr>
              <a:t>mpo</a:t>
            </a:r>
            <a:r>
              <a:rPr sz="2600" i="1" spc="-10" dirty="0">
                <a:latin typeface="Perpetua"/>
                <a:cs typeface="Perpetua"/>
              </a:rPr>
              <a:t>s</a:t>
            </a:r>
            <a:r>
              <a:rPr sz="2600" i="1" spc="-5" dirty="0">
                <a:latin typeface="Perpetua"/>
                <a:cs typeface="Perpetua"/>
              </a:rPr>
              <a:t>itio</a:t>
            </a:r>
            <a:r>
              <a:rPr sz="2600" i="1" dirty="0">
                <a:latin typeface="Perpetua"/>
                <a:cs typeface="Perpetua"/>
              </a:rPr>
              <a:t>n	</a:t>
            </a:r>
            <a:r>
              <a:rPr sz="2600" dirty="0">
                <a:latin typeface="Perpetua"/>
                <a:cs typeface="Perpetua"/>
              </a:rPr>
              <a:t>is	</a:t>
            </a:r>
            <a:r>
              <a:rPr sz="2600" spc="-5" dirty="0">
                <a:latin typeface="Perpetua"/>
                <a:cs typeface="Perpetua"/>
              </a:rPr>
              <a:t>anothe</a:t>
            </a:r>
            <a:r>
              <a:rPr sz="2600" dirty="0">
                <a:latin typeface="Perpetua"/>
                <a:cs typeface="Perpetua"/>
              </a:rPr>
              <a:t>r	use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the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5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pt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d</a:t>
            </a:r>
            <a:r>
              <a:rPr sz="2600" spc="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vide	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spc="-30" dirty="0">
                <a:latin typeface="Perpetua"/>
                <a:cs typeface="Perpetua"/>
              </a:rPr>
              <a:t>conquer.</a:t>
            </a:r>
            <a:endParaRPr sz="2600">
              <a:latin typeface="Perpetua"/>
              <a:cs typeface="Perpetua"/>
            </a:endParaRPr>
          </a:p>
          <a:p>
            <a:pPr marL="286385" marR="9525" indent="-274320">
              <a:lnSpc>
                <a:spcPts val="281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28369" algn="l"/>
                <a:tab pos="1560830" algn="l"/>
                <a:tab pos="2486660" algn="l"/>
                <a:tab pos="3932554" algn="l"/>
                <a:tab pos="4498340" algn="l"/>
                <a:tab pos="5158105" algn="l"/>
                <a:tab pos="7092315" algn="l"/>
                <a:tab pos="7516495" algn="l"/>
              </a:tabLst>
            </a:pPr>
            <a:r>
              <a:rPr sz="2600" dirty="0">
                <a:latin typeface="Perpetua"/>
                <a:cs typeface="Perpetua"/>
              </a:rPr>
              <a:t>The	t</a:t>
            </a:r>
            <a:r>
              <a:rPr sz="2600" spc="-100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	s</a:t>
            </a:r>
            <a:r>
              <a:rPr sz="2600" spc="-15" dirty="0">
                <a:latin typeface="Perpetua"/>
                <a:cs typeface="Perpetua"/>
              </a:rPr>
              <a:t>e</a:t>
            </a:r>
            <a:r>
              <a:rPr sz="2600" spc="-5" dirty="0">
                <a:latin typeface="Perpetua"/>
                <a:cs typeface="Perpetua"/>
              </a:rPr>
              <a:t>ar</a:t>
            </a:r>
            <a:r>
              <a:rPr sz="2600" spc="4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lg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hms	use	d</a:t>
            </a:r>
            <a:r>
              <a:rPr sz="2600" spc="-4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ta	de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om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5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ition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perf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8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m  </a:t>
            </a:r>
            <a:r>
              <a:rPr sz="2600" spc="-20" dirty="0">
                <a:latin typeface="Perpetua"/>
                <a:cs typeface="Perpetua"/>
              </a:rPr>
              <a:t>searching.</a:t>
            </a:r>
            <a:endParaRPr sz="2600">
              <a:latin typeface="Perpetua"/>
              <a:cs typeface="Perpetua"/>
            </a:endParaRPr>
          </a:p>
          <a:p>
            <a:pPr marL="561340" marR="5715" lvl="1" indent="-228600" algn="just">
              <a:lnSpc>
                <a:spcPts val="2810"/>
              </a:lnSpc>
              <a:spcBef>
                <a:spcPts val="39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They </a:t>
            </a:r>
            <a:r>
              <a:rPr sz="2600" i="1" dirty="0">
                <a:latin typeface="Perpetua"/>
                <a:cs typeface="Perpetua"/>
              </a:rPr>
              <a:t>divide the </a:t>
            </a:r>
            <a:r>
              <a:rPr sz="2600" i="1" spc="-10" dirty="0">
                <a:latin typeface="Perpetua"/>
                <a:cs typeface="Perpetua"/>
              </a:rPr>
              <a:t>data </a:t>
            </a:r>
            <a:r>
              <a:rPr sz="2600" i="1" spc="-5" dirty="0">
                <a:latin typeface="Perpetua"/>
                <a:cs typeface="Perpetua"/>
              </a:rPr>
              <a:t>into individual </a:t>
            </a:r>
            <a:r>
              <a:rPr sz="2600" i="1" spc="10" dirty="0">
                <a:latin typeface="Perpetua"/>
                <a:cs typeface="Perpetua"/>
              </a:rPr>
              <a:t>parts </a:t>
            </a:r>
            <a:r>
              <a:rPr sz="2600" i="1" spc="-5" dirty="0">
                <a:latin typeface="Perpetua"/>
                <a:cs typeface="Perpetua"/>
              </a:rPr>
              <a:t>to be searched, </a:t>
            </a:r>
            <a:r>
              <a:rPr sz="2600" i="1" spc="-10" dirty="0">
                <a:latin typeface="Perpetua"/>
                <a:cs typeface="Perpetua"/>
              </a:rPr>
              <a:t>but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0" dirty="0">
                <a:latin typeface="Perpetua"/>
                <a:cs typeface="Perpetua"/>
              </a:rPr>
              <a:t>way </a:t>
            </a:r>
            <a:r>
              <a:rPr sz="2600" i="1" spc="-10" dirty="0">
                <a:latin typeface="Perpetua"/>
                <a:cs typeface="Perpetua"/>
              </a:rPr>
              <a:t>that  </a:t>
            </a:r>
            <a:r>
              <a:rPr sz="2600" i="1" dirty="0">
                <a:latin typeface="Perpetua"/>
                <a:cs typeface="Perpetua"/>
              </a:rPr>
              <a:t>this division </a:t>
            </a:r>
            <a:r>
              <a:rPr sz="2600" i="1" spc="-5" dirty="0">
                <a:latin typeface="Perpetua"/>
                <a:cs typeface="Perpetua"/>
              </a:rPr>
              <a:t>occurs is quite</a:t>
            </a:r>
            <a:r>
              <a:rPr sz="2600" i="1" spc="2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different.</a:t>
            </a:r>
            <a:endParaRPr sz="2600">
              <a:latin typeface="Perpetua"/>
              <a:cs typeface="Perpetua"/>
            </a:endParaRPr>
          </a:p>
          <a:p>
            <a:pPr marL="561340" marR="6350" lvl="1" indent="-228600" algn="just">
              <a:lnSpc>
                <a:spcPts val="281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Linear </a:t>
            </a:r>
            <a:r>
              <a:rPr sz="2600" i="1" spc="-5" dirty="0">
                <a:latin typeface="Perpetua"/>
                <a:cs typeface="Perpetua"/>
              </a:rPr>
              <a:t>search </a:t>
            </a:r>
            <a:r>
              <a:rPr sz="2600" i="1" spc="-20" dirty="0">
                <a:latin typeface="Perpetua"/>
                <a:cs typeface="Perpetua"/>
              </a:rPr>
              <a:t>removes </a:t>
            </a:r>
            <a:r>
              <a:rPr sz="2600" i="1" spc="-5" dirty="0">
                <a:latin typeface="Perpetua"/>
                <a:cs typeface="Perpetua"/>
              </a:rPr>
              <a:t>one item from the remaining </a:t>
            </a:r>
            <a:r>
              <a:rPr sz="2600" i="1" dirty="0">
                <a:latin typeface="Perpetua"/>
                <a:cs typeface="Perpetua"/>
              </a:rPr>
              <a:t>group </a:t>
            </a:r>
            <a:r>
              <a:rPr sz="2600" i="1" spc="-5" dirty="0">
                <a:latin typeface="Perpetua"/>
                <a:cs typeface="Perpetua"/>
              </a:rPr>
              <a:t>of items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each  step </a:t>
            </a:r>
            <a:r>
              <a:rPr sz="2600" i="1" spc="-5" dirty="0">
                <a:latin typeface="Perpetua"/>
                <a:cs typeface="Perpetua"/>
              </a:rPr>
              <a:t>of the algorithm, </a:t>
            </a:r>
            <a:r>
              <a:rPr sz="2600" i="1" spc="-15" dirty="0">
                <a:latin typeface="Perpetua"/>
                <a:cs typeface="Perpetua"/>
              </a:rPr>
              <a:t>whereas </a:t>
            </a:r>
            <a:r>
              <a:rPr sz="2600" i="1" spc="-5" dirty="0">
                <a:latin typeface="Perpetua"/>
                <a:cs typeface="Perpetua"/>
              </a:rPr>
              <a:t>binary search </a:t>
            </a:r>
            <a:r>
              <a:rPr sz="2600" i="1" spc="-15" dirty="0">
                <a:latin typeface="Perpetua"/>
                <a:cs typeface="Perpetua"/>
              </a:rPr>
              <a:t>removes </a:t>
            </a:r>
            <a:r>
              <a:rPr sz="2600" i="1" spc="-10" dirty="0">
                <a:latin typeface="Perpetua"/>
                <a:cs typeface="Perpetua"/>
              </a:rPr>
              <a:t>roughly </a:t>
            </a:r>
            <a:r>
              <a:rPr sz="2600" i="1" dirty="0">
                <a:latin typeface="Perpetua"/>
                <a:cs typeface="Perpetua"/>
              </a:rPr>
              <a:t>half </a:t>
            </a:r>
            <a:r>
              <a:rPr sz="2600" i="1" spc="-5" dirty="0">
                <a:latin typeface="Perpetua"/>
                <a:cs typeface="Perpetua"/>
              </a:rPr>
              <a:t>of the  </a:t>
            </a:r>
            <a:r>
              <a:rPr sz="2600" i="1" dirty="0">
                <a:latin typeface="Perpetua"/>
                <a:cs typeface="Perpetua"/>
              </a:rPr>
              <a:t>group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dirty="0">
                <a:latin typeface="Perpetua"/>
                <a:cs typeface="Perpetua"/>
              </a:rPr>
              <a:t>each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step.</a:t>
            </a:r>
            <a:endParaRPr sz="2600">
              <a:latin typeface="Perpetua"/>
              <a:cs typeface="Perpetua"/>
            </a:endParaRPr>
          </a:p>
          <a:p>
            <a:pPr marL="561340" marR="9525" lvl="1" indent="-228600" algn="just">
              <a:lnSpc>
                <a:spcPts val="2810"/>
              </a:lnSpc>
              <a:spcBef>
                <a:spcPts val="40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dirty="0">
                <a:latin typeface="Perpetua"/>
                <a:cs typeface="Perpetua"/>
              </a:rPr>
              <a:t>distinction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0" dirty="0">
                <a:latin typeface="Perpetua"/>
                <a:cs typeface="Perpetua"/>
              </a:rPr>
              <a:t>way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divide </a:t>
            </a:r>
            <a:r>
              <a:rPr sz="2600" i="1" spc="-10" dirty="0">
                <a:latin typeface="Perpetua"/>
                <a:cs typeface="Perpetua"/>
              </a:rPr>
              <a:t>and </a:t>
            </a:r>
            <a:r>
              <a:rPr sz="2600" i="1" dirty="0">
                <a:latin typeface="Perpetua"/>
                <a:cs typeface="Perpetua"/>
              </a:rPr>
              <a:t>conquer is </a:t>
            </a:r>
            <a:r>
              <a:rPr sz="2600" i="1" spc="-5" dirty="0">
                <a:latin typeface="Perpetua"/>
                <a:cs typeface="Perpetua"/>
              </a:rPr>
              <a:t>applied leads to the  significantly </a:t>
            </a:r>
            <a:r>
              <a:rPr sz="2600" i="1" spc="-15" dirty="0">
                <a:latin typeface="Perpetua"/>
                <a:cs typeface="Perpetua"/>
              </a:rPr>
              <a:t>improved </a:t>
            </a:r>
            <a:r>
              <a:rPr sz="2600" i="1" dirty="0">
                <a:latin typeface="Perpetua"/>
                <a:cs typeface="Perpetua"/>
              </a:rPr>
              <a:t>performance </a:t>
            </a:r>
            <a:r>
              <a:rPr sz="2600" i="1" spc="-5" dirty="0">
                <a:latin typeface="Perpetua"/>
                <a:cs typeface="Perpetua"/>
              </a:rPr>
              <a:t>of binary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search.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28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Perpetua"/>
                <a:cs typeface="Perpetua"/>
              </a:rPr>
              <a:t>Find a </a:t>
            </a:r>
            <a:r>
              <a:rPr b="1" spc="-10" dirty="0">
                <a:latin typeface="Perpetua"/>
                <a:cs typeface="Perpetua"/>
              </a:rPr>
              <a:t>CD </a:t>
            </a:r>
            <a:r>
              <a:rPr b="1" spc="-30" dirty="0">
                <a:latin typeface="Perpetua"/>
                <a:cs typeface="Perpetua"/>
              </a:rPr>
              <a:t>when</a:t>
            </a:r>
            <a:r>
              <a:rPr b="1" spc="-60" dirty="0">
                <a:latin typeface="Perpetua"/>
                <a:cs typeface="Perpetua"/>
              </a:rPr>
              <a:t> </a:t>
            </a:r>
            <a:r>
              <a:rPr b="1" spc="15" dirty="0">
                <a:latin typeface="Perpetua"/>
                <a:cs typeface="Perpetua"/>
              </a:rPr>
              <a:t>sorted</a:t>
            </a:r>
          </a:p>
        </p:txBody>
      </p:sp>
      <p:sp>
        <p:nvSpPr>
          <p:cNvPr id="3" name="object 3"/>
          <p:cNvSpPr/>
          <p:nvPr/>
        </p:nvSpPr>
        <p:spPr>
          <a:xfrm>
            <a:off x="1066800" y="1642872"/>
            <a:ext cx="6629400" cy="4224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461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Perpetua"/>
                <a:cs typeface="Perpetua"/>
              </a:rPr>
              <a:t>Use name </a:t>
            </a:r>
            <a:r>
              <a:rPr b="1" dirty="0">
                <a:latin typeface="Perpetua"/>
                <a:cs typeface="Perpetua"/>
              </a:rPr>
              <a:t>to </a:t>
            </a:r>
            <a:r>
              <a:rPr b="1" spc="-10" dirty="0">
                <a:latin typeface="Perpetua"/>
                <a:cs typeface="Perpetua"/>
              </a:rPr>
              <a:t>find</a:t>
            </a:r>
            <a:r>
              <a:rPr b="1" spc="-55" dirty="0">
                <a:latin typeface="Perpetua"/>
                <a:cs typeface="Perpetua"/>
              </a:rPr>
              <a:t> </a:t>
            </a:r>
            <a:r>
              <a:rPr b="1" spc="-15" dirty="0">
                <a:latin typeface="Perpetua"/>
                <a:cs typeface="Perpetua"/>
              </a:rPr>
              <a:t>number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0" y="1600200"/>
            <a:ext cx="30480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560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Perpetua"/>
                <a:cs typeface="Perpetua"/>
              </a:rPr>
              <a:t>Using </a:t>
            </a:r>
            <a:r>
              <a:rPr b="1" spc="-10" dirty="0">
                <a:latin typeface="Perpetua"/>
                <a:cs typeface="Perpetua"/>
              </a:rPr>
              <a:t>the call </a:t>
            </a:r>
            <a:r>
              <a:rPr b="1" spc="-20" dirty="0">
                <a:latin typeface="Perpetua"/>
                <a:cs typeface="Perpetua"/>
              </a:rPr>
              <a:t>number </a:t>
            </a:r>
            <a:r>
              <a:rPr b="1" spc="-5" dirty="0">
                <a:latin typeface="Perpetua"/>
                <a:cs typeface="Perpetua"/>
              </a:rPr>
              <a:t>to find</a:t>
            </a:r>
            <a:r>
              <a:rPr b="1" spc="50" dirty="0">
                <a:latin typeface="Perpetua"/>
                <a:cs typeface="Perpetua"/>
              </a:rPr>
              <a:t> </a:t>
            </a:r>
            <a:r>
              <a:rPr b="1" spc="-10" dirty="0">
                <a:latin typeface="Perpetua"/>
                <a:cs typeface="Perpetua"/>
              </a:rPr>
              <a:t>book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447800"/>
            <a:ext cx="8097011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48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79127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Perpetua"/>
                <a:cs typeface="Perpetua"/>
              </a:rPr>
              <a:t>Example: Find </a:t>
            </a:r>
            <a:r>
              <a:rPr sz="3600" b="1" spc="-5" dirty="0">
                <a:latin typeface="Perpetua"/>
                <a:cs typeface="Perpetua"/>
              </a:rPr>
              <a:t>the </a:t>
            </a:r>
            <a:r>
              <a:rPr sz="3600" b="1" dirty="0">
                <a:latin typeface="Perpetua"/>
                <a:cs typeface="Perpetua"/>
              </a:rPr>
              <a:t>best </a:t>
            </a:r>
            <a:r>
              <a:rPr sz="3600" b="1" spc="10" dirty="0">
                <a:latin typeface="Perpetua"/>
                <a:cs typeface="Perpetua"/>
              </a:rPr>
              <a:t>fruit </a:t>
            </a:r>
            <a:r>
              <a:rPr sz="3600" b="1" dirty="0">
                <a:latin typeface="Perpetua"/>
                <a:cs typeface="Perpetua"/>
              </a:rPr>
              <a:t>from </a:t>
            </a:r>
            <a:r>
              <a:rPr sz="3600" b="1" spc="-5" dirty="0">
                <a:latin typeface="Perpetua"/>
                <a:cs typeface="Perpetua"/>
              </a:rPr>
              <a:t>the</a:t>
            </a:r>
            <a:r>
              <a:rPr sz="3600" b="1" spc="-240" dirty="0">
                <a:latin typeface="Perpetua"/>
                <a:cs typeface="Perpetua"/>
              </a:rPr>
              <a:t> </a:t>
            </a:r>
            <a:r>
              <a:rPr sz="3600" b="1" dirty="0">
                <a:latin typeface="Perpetua"/>
                <a:cs typeface="Perpetua"/>
              </a:rPr>
              <a:t>bin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600" y="1447800"/>
            <a:ext cx="4762500" cy="476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20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5" dirty="0">
                <a:latin typeface="Perpetua"/>
                <a:cs typeface="Perpetua"/>
              </a:rPr>
              <a:t>Binary</a:t>
            </a:r>
            <a:r>
              <a:rPr b="1" spc="-55" dirty="0">
                <a:latin typeface="Perpetua"/>
                <a:cs typeface="Perpetua"/>
              </a:rPr>
              <a:t> </a:t>
            </a:r>
            <a:r>
              <a:rPr b="1" spc="-10" dirty="0">
                <a:latin typeface="Perpetua"/>
                <a:cs typeface="Perpetua"/>
              </a:rPr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91158"/>
            <a:ext cx="4756785" cy="44945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72135">
              <a:lnSpc>
                <a:spcPct val="102800"/>
              </a:lnSpc>
              <a:spcBef>
                <a:spcPts val="20"/>
              </a:spcBef>
            </a:pPr>
            <a:r>
              <a:rPr sz="2200" b="1" spc="-15" dirty="0">
                <a:latin typeface="Perpetua"/>
                <a:cs typeface="Perpetua"/>
              </a:rPr>
              <a:t>given: </a:t>
            </a:r>
            <a:r>
              <a:rPr sz="2200" b="1" spc="-5" dirty="0">
                <a:latin typeface="Perpetua"/>
                <a:cs typeface="Perpetua"/>
              </a:rPr>
              <a:t>a </a:t>
            </a:r>
            <a:r>
              <a:rPr sz="2200" b="1" spc="5" dirty="0">
                <a:latin typeface="Perpetua"/>
                <a:cs typeface="Perpetua"/>
              </a:rPr>
              <a:t>sorted </a:t>
            </a:r>
            <a:r>
              <a:rPr sz="2200" b="1" spc="-10" dirty="0">
                <a:latin typeface="Perpetua"/>
                <a:cs typeface="Perpetua"/>
              </a:rPr>
              <a:t>list </a:t>
            </a:r>
            <a:r>
              <a:rPr sz="2200" b="1" spc="-5" dirty="0">
                <a:latin typeface="Perpetua"/>
                <a:cs typeface="Perpetua"/>
              </a:rPr>
              <a:t>of </a:t>
            </a:r>
            <a:r>
              <a:rPr sz="2200" b="1" spc="-10" dirty="0">
                <a:latin typeface="Perpetua"/>
                <a:cs typeface="Perpetua"/>
              </a:rPr>
              <a:t>data </a:t>
            </a:r>
            <a:r>
              <a:rPr sz="2200" b="1" spc="-5" dirty="0">
                <a:latin typeface="Perpetua"/>
                <a:cs typeface="Perpetua"/>
              </a:rPr>
              <a:t>to search  </a:t>
            </a:r>
            <a:r>
              <a:rPr sz="2200" b="1" spc="-15" dirty="0">
                <a:latin typeface="Perpetua"/>
                <a:cs typeface="Perpetua"/>
              </a:rPr>
              <a:t>given: </a:t>
            </a:r>
            <a:r>
              <a:rPr sz="2200" b="1" spc="-5" dirty="0">
                <a:latin typeface="Perpetua"/>
                <a:cs typeface="Perpetua"/>
              </a:rPr>
              <a:t>a </a:t>
            </a:r>
            <a:r>
              <a:rPr sz="2200" b="1" spc="-10" dirty="0">
                <a:latin typeface="Perpetua"/>
                <a:cs typeface="Perpetua"/>
              </a:rPr>
              <a:t>value </a:t>
            </a:r>
            <a:r>
              <a:rPr sz="2200" b="1" spc="-5" dirty="0">
                <a:latin typeface="Perpetua"/>
                <a:cs typeface="Perpetua"/>
              </a:rPr>
              <a:t>to</a:t>
            </a:r>
            <a:r>
              <a:rPr sz="2200" b="1" spc="-30" dirty="0">
                <a:latin typeface="Perpetua"/>
                <a:cs typeface="Perpetua"/>
              </a:rPr>
              <a:t> </a:t>
            </a:r>
            <a:r>
              <a:rPr sz="2200" b="1" spc="-5" dirty="0">
                <a:latin typeface="Perpetua"/>
                <a:cs typeface="Perpetua"/>
              </a:rPr>
              <a:t>find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Perpetua"/>
                <a:cs typeface="Perpetua"/>
              </a:rPr>
              <a:t>set </a:t>
            </a:r>
            <a:r>
              <a:rPr sz="2200" spc="-15" dirty="0">
                <a:latin typeface="Perpetua"/>
                <a:cs typeface="Perpetua"/>
              </a:rPr>
              <a:t>foundAnswer </a:t>
            </a:r>
            <a:r>
              <a:rPr sz="2200" spc="-5" dirty="0">
                <a:latin typeface="Perpetua"/>
                <a:cs typeface="Perpetua"/>
              </a:rPr>
              <a:t>to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no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Perpetua"/>
                <a:cs typeface="Perpetua"/>
              </a:rPr>
              <a:t>set left to 0, </a:t>
            </a:r>
            <a:r>
              <a:rPr sz="2200" spc="5" dirty="0">
                <a:latin typeface="Perpetua"/>
                <a:cs typeface="Perpetua"/>
              </a:rPr>
              <a:t>right </a:t>
            </a:r>
            <a:r>
              <a:rPr sz="2200" spc="-5" dirty="0">
                <a:latin typeface="Perpetua"/>
                <a:cs typeface="Perpetua"/>
              </a:rPr>
              <a:t>to</a:t>
            </a:r>
            <a:r>
              <a:rPr sz="2200" spc="-7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listSize-1</a:t>
            </a:r>
            <a:endParaRPr sz="2200">
              <a:latin typeface="Perpetua"/>
              <a:cs typeface="Perpetua"/>
            </a:endParaRPr>
          </a:p>
          <a:p>
            <a:pPr marL="286385" marR="5080" indent="-274320">
              <a:lnSpc>
                <a:spcPts val="2710"/>
              </a:lnSpc>
              <a:spcBef>
                <a:spcPts val="105"/>
              </a:spcBef>
            </a:pPr>
            <a:r>
              <a:rPr sz="2200" spc="-5" dirty="0">
                <a:latin typeface="Perpetua"/>
                <a:cs typeface="Perpetua"/>
              </a:rPr>
              <a:t>while </a:t>
            </a:r>
            <a:r>
              <a:rPr sz="2200" spc="-15" dirty="0">
                <a:latin typeface="Perpetua"/>
                <a:cs typeface="Perpetua"/>
              </a:rPr>
              <a:t>(foundAnswer </a:t>
            </a:r>
            <a:r>
              <a:rPr sz="2200" spc="-5" dirty="0">
                <a:latin typeface="Perpetua"/>
                <a:cs typeface="Perpetua"/>
              </a:rPr>
              <a:t>is no) and (left &lt;= </a:t>
            </a:r>
            <a:r>
              <a:rPr sz="2200" dirty="0">
                <a:latin typeface="Perpetua"/>
                <a:cs typeface="Perpetua"/>
              </a:rPr>
              <a:t>right):  </a:t>
            </a:r>
            <a:r>
              <a:rPr sz="2200" spc="-5" dirty="0">
                <a:latin typeface="Perpetua"/>
                <a:cs typeface="Perpetua"/>
              </a:rPr>
              <a:t>set mid to (left + </a:t>
            </a:r>
            <a:r>
              <a:rPr sz="2200" dirty="0">
                <a:latin typeface="Perpetua"/>
                <a:cs typeface="Perpetua"/>
              </a:rPr>
              <a:t>((right </a:t>
            </a:r>
            <a:r>
              <a:rPr sz="2200" spc="-5" dirty="0">
                <a:latin typeface="Perpetua"/>
                <a:cs typeface="Perpetua"/>
              </a:rPr>
              <a:t>– </a:t>
            </a:r>
            <a:r>
              <a:rPr sz="2200" spc="-10" dirty="0">
                <a:latin typeface="Perpetua"/>
                <a:cs typeface="Perpetua"/>
              </a:rPr>
              <a:t>left) </a:t>
            </a:r>
            <a:r>
              <a:rPr sz="2200" spc="-5" dirty="0">
                <a:latin typeface="Perpetua"/>
                <a:cs typeface="Perpetua"/>
              </a:rPr>
              <a:t>/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2))</a:t>
            </a:r>
            <a:endParaRPr sz="2200">
              <a:latin typeface="Perpetua"/>
              <a:cs typeface="Perpetua"/>
            </a:endParaRPr>
          </a:p>
          <a:p>
            <a:pPr marL="927100" marR="1110615" indent="-640715">
              <a:lnSpc>
                <a:spcPts val="2710"/>
              </a:lnSpc>
              <a:spcBef>
                <a:spcPts val="5"/>
              </a:spcBef>
            </a:pPr>
            <a:r>
              <a:rPr sz="2200" spc="-5" dirty="0">
                <a:latin typeface="Perpetua"/>
                <a:cs typeface="Perpetua"/>
              </a:rPr>
              <a:t>if (item </a:t>
            </a:r>
            <a:r>
              <a:rPr sz="2200" spc="-15" dirty="0">
                <a:latin typeface="Perpetua"/>
                <a:cs typeface="Perpetua"/>
              </a:rPr>
              <a:t>at </a:t>
            </a:r>
            <a:r>
              <a:rPr sz="2200" spc="-5" dirty="0">
                <a:latin typeface="Perpetua"/>
                <a:cs typeface="Perpetua"/>
              </a:rPr>
              <a:t>mid) &lt; </a:t>
            </a:r>
            <a:r>
              <a:rPr sz="2200" spc="-15" dirty="0">
                <a:latin typeface="Perpetua"/>
                <a:cs typeface="Perpetua"/>
              </a:rPr>
              <a:t>(value </a:t>
            </a:r>
            <a:r>
              <a:rPr sz="2200" spc="-5" dirty="0">
                <a:latin typeface="Perpetua"/>
                <a:cs typeface="Perpetua"/>
              </a:rPr>
              <a:t>to find):  left = mid +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1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610"/>
              </a:lnSpc>
            </a:pPr>
            <a:r>
              <a:rPr sz="2200" spc="-5" dirty="0">
                <a:latin typeface="Perpetua"/>
                <a:cs typeface="Perpetua"/>
              </a:rPr>
              <a:t>otherwise if (item </a:t>
            </a:r>
            <a:r>
              <a:rPr sz="2200" spc="-15" dirty="0">
                <a:latin typeface="Perpetua"/>
                <a:cs typeface="Perpetua"/>
              </a:rPr>
              <a:t>at </a:t>
            </a:r>
            <a:r>
              <a:rPr sz="2200" spc="-5" dirty="0">
                <a:latin typeface="Perpetua"/>
                <a:cs typeface="Perpetua"/>
              </a:rPr>
              <a:t>mid) &gt; </a:t>
            </a:r>
            <a:r>
              <a:rPr sz="2200" spc="-15" dirty="0">
                <a:latin typeface="Perpetua"/>
                <a:cs typeface="Perpetua"/>
              </a:rPr>
              <a:t>(value </a:t>
            </a:r>
            <a:r>
              <a:rPr sz="2200" spc="-5" dirty="0">
                <a:latin typeface="Perpetua"/>
                <a:cs typeface="Perpetua"/>
              </a:rPr>
              <a:t>to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find):</a:t>
            </a:r>
            <a:endParaRPr sz="2200">
              <a:latin typeface="Perpetua"/>
              <a:cs typeface="Perpetua"/>
            </a:endParaRPr>
          </a:p>
          <a:p>
            <a:pPr marL="286385" marR="2234565" indent="640080">
              <a:lnSpc>
                <a:spcPct val="102699"/>
              </a:lnSpc>
              <a:spcBef>
                <a:spcPts val="5"/>
              </a:spcBef>
            </a:pPr>
            <a:r>
              <a:rPr sz="2200" spc="5" dirty="0">
                <a:latin typeface="Perpetua"/>
                <a:cs typeface="Perpetua"/>
              </a:rPr>
              <a:t>right </a:t>
            </a:r>
            <a:r>
              <a:rPr sz="2200" spc="-5" dirty="0">
                <a:latin typeface="Perpetua"/>
                <a:cs typeface="Perpetua"/>
              </a:rPr>
              <a:t>= </a:t>
            </a:r>
            <a:r>
              <a:rPr sz="2200" spc="-10" dirty="0">
                <a:latin typeface="Perpetua"/>
                <a:cs typeface="Perpetua"/>
              </a:rPr>
              <a:t>mid </a:t>
            </a:r>
            <a:r>
              <a:rPr sz="2200" spc="-5" dirty="0">
                <a:latin typeface="Perpetua"/>
                <a:cs typeface="Perpetua"/>
              </a:rPr>
              <a:t>– 1  </a:t>
            </a:r>
            <a:r>
              <a:rPr sz="2200" spc="-10" dirty="0">
                <a:latin typeface="Perpetua"/>
                <a:cs typeface="Perpetua"/>
              </a:rPr>
              <a:t>otherwise:</a:t>
            </a:r>
            <a:endParaRPr sz="22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Perpetua"/>
                <a:cs typeface="Perpetua"/>
              </a:rPr>
              <a:t>set </a:t>
            </a:r>
            <a:r>
              <a:rPr sz="2200" spc="-15" dirty="0">
                <a:latin typeface="Perpetua"/>
                <a:cs typeface="Perpetua"/>
              </a:rPr>
              <a:t>foundAnswer </a:t>
            </a:r>
            <a:r>
              <a:rPr sz="2200" spc="-5" dirty="0">
                <a:latin typeface="Perpetua"/>
                <a:cs typeface="Perpetua"/>
              </a:rPr>
              <a:t>to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yes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Perpetua"/>
                <a:cs typeface="Perpetua"/>
              </a:rPr>
              <a:t>output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mid</a:t>
            </a:r>
            <a:endParaRPr sz="22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150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has been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480769"/>
            <a:ext cx="8056245" cy="50755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7020" marR="217170" indent="-274955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searching is </a:t>
            </a:r>
            <a:r>
              <a:rPr sz="2600" spc="5" dirty="0">
                <a:latin typeface="Perpetua"/>
                <a:cs typeface="Perpetua"/>
              </a:rPr>
              <a:t>performed </a:t>
            </a:r>
            <a:r>
              <a:rPr sz="2600" dirty="0">
                <a:latin typeface="Perpetua"/>
                <a:cs typeface="Perpetua"/>
              </a:rPr>
              <a:t>using the </a:t>
            </a:r>
            <a:r>
              <a:rPr sz="2600" spc="-10" dirty="0">
                <a:latin typeface="Perpetua"/>
                <a:cs typeface="Perpetua"/>
              </a:rPr>
              <a:t>intuitive </a:t>
            </a:r>
            <a:r>
              <a:rPr sz="2600" spc="-5" dirty="0">
                <a:latin typeface="Perpetua"/>
                <a:cs typeface="Perpetua"/>
              </a:rPr>
              <a:t>linear </a:t>
            </a:r>
            <a:r>
              <a:rPr sz="2600" spc="5" dirty="0">
                <a:latin typeface="Perpetua"/>
                <a:cs typeface="Perpetua"/>
              </a:rPr>
              <a:t>search 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limitations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linear </a:t>
            </a:r>
            <a:r>
              <a:rPr sz="2600" spc="5" dirty="0">
                <a:latin typeface="Perpetua"/>
                <a:cs typeface="Perpetua"/>
              </a:rPr>
              <a:t>search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halving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population </a:t>
            </a:r>
            <a:r>
              <a:rPr sz="2600" spc="-10" dirty="0">
                <a:latin typeface="Perpetua"/>
                <a:cs typeface="Perpetua"/>
              </a:rPr>
              <a:t>enables </a:t>
            </a:r>
            <a:r>
              <a:rPr sz="2600" dirty="0">
                <a:latin typeface="Perpetua"/>
                <a:cs typeface="Perpetua"/>
              </a:rPr>
              <a:t>efficient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searching.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Binary search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Use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decomposition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5" dirty="0">
                <a:latin typeface="Perpetua"/>
                <a:cs typeface="Perpetua"/>
              </a:rPr>
              <a:t>search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techniques.</a:t>
            </a:r>
            <a:endParaRPr sz="2600">
              <a:latin typeface="Perpetua"/>
              <a:cs typeface="Perpetua"/>
            </a:endParaRPr>
          </a:p>
          <a:p>
            <a:pPr marL="4813935">
              <a:lnSpc>
                <a:spcPct val="100000"/>
              </a:lnSpc>
              <a:spcBef>
                <a:spcPts val="250"/>
              </a:spcBef>
            </a:pPr>
            <a:r>
              <a:rPr sz="1050" b="1" i="1" dirty="0">
                <a:latin typeface="Perpetua"/>
                <a:cs typeface="Perpetua"/>
              </a:rPr>
              <a:t>Credits</a:t>
            </a:r>
            <a:endParaRPr sz="1050">
              <a:latin typeface="Perpetua"/>
              <a:cs typeface="Perpetua"/>
            </a:endParaRPr>
          </a:p>
          <a:p>
            <a:pPr marL="4813935" marR="5080" lvl="1">
              <a:lnSpc>
                <a:spcPct val="100000"/>
              </a:lnSpc>
              <a:spcBef>
                <a:spcPts val="5"/>
              </a:spcBef>
              <a:buSzPct val="90476"/>
              <a:buFont typeface="Arial"/>
              <a:buChar char="•"/>
              <a:tabLst>
                <a:tab pos="4862195" algn="l"/>
              </a:tabLst>
            </a:pPr>
            <a:r>
              <a:rPr sz="1050" i="1" dirty="0">
                <a:latin typeface="Perpetua"/>
                <a:cs typeface="Perpetua"/>
              </a:rPr>
              <a:t>Computing without computers, Paul </a:t>
            </a:r>
            <a:r>
              <a:rPr sz="1050" i="1" spc="-5" dirty="0">
                <a:latin typeface="Perpetua"/>
                <a:cs typeface="Perpetua"/>
              </a:rPr>
              <a:t>Curzon; </a:t>
            </a:r>
            <a:r>
              <a:rPr sz="1050" i="1" spc="-5" dirty="0">
                <a:latin typeface="Perpetua"/>
                <a:cs typeface="Perpetua"/>
                <a:hlinkClick r:id="rId2"/>
              </a:rPr>
              <a:t> http://www.eecs.qmul.ac.uk/~pc/research/education/puzzles/reading/</a:t>
            </a:r>
            <a:endParaRPr sz="1050">
              <a:latin typeface="Perpetua"/>
              <a:cs typeface="Perpetua"/>
            </a:endParaRPr>
          </a:p>
          <a:p>
            <a:pPr marL="4861560" lvl="1" indent="-48260">
              <a:lnSpc>
                <a:spcPct val="100000"/>
              </a:lnSpc>
              <a:buSzPct val="90476"/>
              <a:buFont typeface="Arial"/>
              <a:buChar char="•"/>
              <a:tabLst>
                <a:tab pos="4862195" algn="l"/>
              </a:tabLst>
            </a:pPr>
            <a:r>
              <a:rPr sz="1050" i="1" spc="-5" dirty="0">
                <a:latin typeface="Perpetua"/>
                <a:cs typeface="Perpetua"/>
              </a:rPr>
              <a:t>2002 </a:t>
            </a:r>
            <a:r>
              <a:rPr sz="1050" i="1" dirty="0">
                <a:latin typeface="Perpetua"/>
                <a:cs typeface="Perpetua"/>
              </a:rPr>
              <a:t>Computer </a:t>
            </a:r>
            <a:r>
              <a:rPr sz="1050" i="1" spc="-5" dirty="0">
                <a:latin typeface="Perpetua"/>
                <a:cs typeface="Perpetua"/>
              </a:rPr>
              <a:t>Science </a:t>
            </a:r>
            <a:r>
              <a:rPr sz="1050" i="1" dirty="0">
                <a:latin typeface="Perpetua"/>
                <a:cs typeface="Perpetua"/>
              </a:rPr>
              <a:t>Unplugged</a:t>
            </a:r>
            <a:r>
              <a:rPr sz="1050" i="1" spc="-10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(www.unplugged.canterbury.ac.nz)</a:t>
            </a:r>
            <a:endParaRPr sz="1050">
              <a:latin typeface="Perpetua"/>
              <a:cs typeface="Perpetua"/>
            </a:endParaRPr>
          </a:p>
          <a:p>
            <a:pPr marL="4861560" lvl="1" indent="-48260">
              <a:lnSpc>
                <a:spcPct val="100000"/>
              </a:lnSpc>
              <a:buSzPct val="90476"/>
              <a:buFont typeface="Arial"/>
              <a:buChar char="•"/>
              <a:tabLst>
                <a:tab pos="4862195" algn="l"/>
              </a:tabLst>
            </a:pPr>
            <a:r>
              <a:rPr sz="1050" i="1" spc="-5" dirty="0">
                <a:latin typeface="Perpetua"/>
                <a:cs typeface="Perpetua"/>
              </a:rPr>
              <a:t>How </a:t>
            </a:r>
            <a:r>
              <a:rPr sz="1050" i="1" dirty="0">
                <a:latin typeface="Perpetua"/>
                <a:cs typeface="Perpetua"/>
              </a:rPr>
              <a:t>to </a:t>
            </a:r>
            <a:r>
              <a:rPr sz="1050" i="1" spc="-5" dirty="0">
                <a:latin typeface="Perpetua"/>
                <a:cs typeface="Perpetua"/>
              </a:rPr>
              <a:t>solve it by </a:t>
            </a:r>
            <a:r>
              <a:rPr sz="1050" i="1" dirty="0">
                <a:latin typeface="Perpetua"/>
                <a:cs typeface="Perpetua"/>
              </a:rPr>
              <a:t>computer, RG</a:t>
            </a:r>
            <a:r>
              <a:rPr sz="1050" i="1" spc="-1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Dromey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9828" y="6529831"/>
            <a:ext cx="6864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690" indent="-47625">
              <a:lnSpc>
                <a:spcPct val="100000"/>
              </a:lnSpc>
              <a:spcBef>
                <a:spcPts val="105"/>
              </a:spcBef>
              <a:buSzPct val="90476"/>
              <a:buFont typeface="Arial"/>
              <a:buChar char="•"/>
              <a:tabLst>
                <a:tab pos="60325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4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228600"/>
            <a:ext cx="533400" cy="574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A53B86-0D9A-4E79-A780-B0979DF19896}"/>
</file>

<file path=customXml/itemProps2.xml><?xml version="1.0" encoding="utf-8"?>
<ds:datastoreItem xmlns:ds="http://schemas.openxmlformats.org/officeDocument/2006/customXml" ds:itemID="{2CE19A66-7622-4E8B-A502-8346F726428C}"/>
</file>

<file path=customXml/itemProps3.xml><?xml version="1.0" encoding="utf-8"?>
<ds:datastoreItem xmlns:ds="http://schemas.openxmlformats.org/officeDocument/2006/customXml" ds:itemID="{B31580D1-7689-4439-9068-B8BCC3948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2835</Words>
  <Application>Microsoft Office PowerPoint</Application>
  <PresentationFormat>On-screen Show (4:3)</PresentationFormat>
  <Paragraphs>341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Slide 1</vt:lpstr>
      <vt:lpstr>Objectives</vt:lpstr>
      <vt:lpstr>Eg. Pack of cards</vt:lpstr>
      <vt:lpstr>Searching</vt:lpstr>
      <vt:lpstr>Linear search</vt:lpstr>
      <vt:lpstr>Linear search contd---</vt:lpstr>
      <vt:lpstr>Simple–Yes, Efficient?...</vt:lpstr>
      <vt:lpstr>Simple–Yes, Efficient? contd---</vt:lpstr>
      <vt:lpstr>Search key</vt:lpstr>
      <vt:lpstr>Is there a worst case scenario?</vt:lpstr>
      <vt:lpstr>An example</vt:lpstr>
      <vt:lpstr>Linear search through a pile of books</vt:lpstr>
      <vt:lpstr>A general set of instructions for linear search</vt:lpstr>
      <vt:lpstr>Eg.The I Spy game</vt:lpstr>
      <vt:lpstr>Eg.The Diving-bell and the Butterfly,  (Bauby 1998)</vt:lpstr>
      <vt:lpstr>The Diving-bell and the Butterfly contd---</vt:lpstr>
      <vt:lpstr>To find a letter being thought of – the  Bauby way</vt:lpstr>
      <vt:lpstr>Eg.The game of 20 Questions</vt:lpstr>
      <vt:lpstr>The game of 20 Questions the linear way</vt:lpstr>
      <vt:lpstr>Asking the good questions</vt:lpstr>
      <vt:lpstr>Can we really manage to get the answer in less than  20 questions?</vt:lpstr>
      <vt:lpstr>It is all about halving the population</vt:lpstr>
      <vt:lpstr>Eg. Finding a number in a residential  telephone directory</vt:lpstr>
      <vt:lpstr>A search for “Steinbeck”</vt:lpstr>
      <vt:lpstr>A search for “Steinbeck” contd----</vt:lpstr>
      <vt:lpstr>Repeatedly perform halving</vt:lpstr>
      <vt:lpstr>Organized entries</vt:lpstr>
      <vt:lpstr>Steps – Searching residential telephone  directory</vt:lpstr>
      <vt:lpstr>Steps – Searching residential telephone directory contd---</vt:lpstr>
      <vt:lpstr>Remember</vt:lpstr>
      <vt:lpstr>Eg. Searching an alphabetized stack of award  certificates</vt:lpstr>
      <vt:lpstr>Steps</vt:lpstr>
      <vt:lpstr>Steps contd---</vt:lpstr>
      <vt:lpstr>Binary search</vt:lpstr>
      <vt:lpstr>General strategy</vt:lpstr>
      <vt:lpstr>Binary search algorithm</vt:lpstr>
      <vt:lpstr>Binary search algorithm contd----</vt:lpstr>
      <vt:lpstr>Slide 38</vt:lpstr>
      <vt:lpstr>Binary search algorithm contd---</vt:lpstr>
      <vt:lpstr>Eg: Search for #  in{2,4,5,7,8,9,12,14,17,19,22,25,27,28,33}</vt:lpstr>
      <vt:lpstr>Searching the telephone directory-revisited</vt:lpstr>
      <vt:lpstr>Diving-bell and the Butterfly-revisited</vt:lpstr>
      <vt:lpstr>Eg. Divide the population and search for the  letters</vt:lpstr>
      <vt:lpstr>Data decomposition</vt:lpstr>
      <vt:lpstr>Find a CD when sorted</vt:lpstr>
      <vt:lpstr>Use name to find number</vt:lpstr>
      <vt:lpstr>Using the call number to find book</vt:lpstr>
      <vt:lpstr>Slide 48</vt:lpstr>
      <vt:lpstr>Example: Find the best fruit from the bin</vt:lpstr>
      <vt:lpstr>Binary Search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2020-09-07T06:24:40Z</dcterms:created>
  <dcterms:modified xsi:type="dcterms:W3CDTF">2021-10-03T06:05:11Z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