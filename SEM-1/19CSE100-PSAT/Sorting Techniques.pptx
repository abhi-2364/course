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jpeg" ContentType="image/jpeg"/>
  <Default Extension="xml" ContentType="application/xml"/>
  <Override PartName="/ppt/presentation.xml" ContentType="application/vnd.openxmlformats-officedocument.presentationml.presentation.main+xml"/>
  <Override PartName="/ppt/slides/slide63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64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23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67" y="-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12/27/2021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12/27/2021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12/27/2021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12/27/2021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12/27/2021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4640" y="1002233"/>
            <a:ext cx="7571740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45715" y="1081343"/>
            <a:ext cx="5527675" cy="3267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12/27/2021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image" Target="../media/image48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13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e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image" Target="../media/image134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powershow.com/view/158a13-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image" Target="../media/image13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7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jpeg"/><Relationship Id="rId2" Type="http://schemas.openxmlformats.org/officeDocument/2006/relationships/image" Target="../media/image13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9.jpeg"/><Relationship Id="rId4" Type="http://schemas.openxmlformats.org/officeDocument/2006/relationships/image" Target="../media/image137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image" Target="../media/image13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0.jpeg"/><Relationship Id="rId5" Type="http://schemas.openxmlformats.org/officeDocument/2006/relationships/image" Target="../media/image139.jpeg"/><Relationship Id="rId4" Type="http://schemas.openxmlformats.org/officeDocument/2006/relationships/image" Target="../media/image137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image" Target="../media/image13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1.png"/><Relationship Id="rId5" Type="http://schemas.openxmlformats.org/officeDocument/2006/relationships/image" Target="../media/image139.jpeg"/><Relationship Id="rId4" Type="http://schemas.openxmlformats.org/officeDocument/2006/relationships/image" Target="../media/image137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7" Type="http://schemas.openxmlformats.org/officeDocument/2006/relationships/image" Target="../media/image144.jpeg"/><Relationship Id="rId2" Type="http://schemas.openxmlformats.org/officeDocument/2006/relationships/image" Target="../media/image13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3.jpeg"/><Relationship Id="rId5" Type="http://schemas.openxmlformats.org/officeDocument/2006/relationships/image" Target="../media/image142.png"/><Relationship Id="rId4" Type="http://schemas.openxmlformats.org/officeDocument/2006/relationships/image" Target="../media/image137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e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jpe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ursehero.com/file/6355834/sorting/" TargetMode="External"/><Relationship Id="rId2" Type="http://schemas.openxmlformats.org/officeDocument/2006/relationships/hyperlink" Target="http://www.powershow.com/view/158a13-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9.jpeg"/><Relationship Id="rId4" Type="http://schemas.openxmlformats.org/officeDocument/2006/relationships/image" Target="../media/image14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531" y="70103"/>
            <a:ext cx="9012936" cy="66918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531" y="70103"/>
            <a:ext cx="9013190" cy="6692265"/>
          </a:xfrm>
          <a:custGeom>
            <a:avLst/>
            <a:gdLst/>
            <a:ahLst/>
            <a:cxnLst/>
            <a:rect l="l" t="t" r="r" b="b"/>
            <a:pathLst>
              <a:path w="9013190" h="6692265">
                <a:moveTo>
                  <a:pt x="0" y="329819"/>
                </a:moveTo>
                <a:lnTo>
                  <a:pt x="3576" y="281088"/>
                </a:lnTo>
                <a:lnTo>
                  <a:pt x="13965" y="234576"/>
                </a:lnTo>
                <a:lnTo>
                  <a:pt x="30656" y="190791"/>
                </a:lnTo>
                <a:lnTo>
                  <a:pt x="53139" y="150245"/>
                </a:lnTo>
                <a:lnTo>
                  <a:pt x="80905" y="113448"/>
                </a:lnTo>
                <a:lnTo>
                  <a:pt x="113441" y="80911"/>
                </a:lnTo>
                <a:lnTo>
                  <a:pt x="150240" y="53144"/>
                </a:lnTo>
                <a:lnTo>
                  <a:pt x="190789" y="30660"/>
                </a:lnTo>
                <a:lnTo>
                  <a:pt x="234580" y="13967"/>
                </a:lnTo>
                <a:lnTo>
                  <a:pt x="281102" y="3576"/>
                </a:lnTo>
                <a:lnTo>
                  <a:pt x="329844" y="0"/>
                </a:lnTo>
                <a:lnTo>
                  <a:pt x="8683117" y="0"/>
                </a:lnTo>
                <a:lnTo>
                  <a:pt x="8731847" y="3576"/>
                </a:lnTo>
                <a:lnTo>
                  <a:pt x="8778359" y="13967"/>
                </a:lnTo>
                <a:lnTo>
                  <a:pt x="8822144" y="30660"/>
                </a:lnTo>
                <a:lnTo>
                  <a:pt x="8862690" y="53144"/>
                </a:lnTo>
                <a:lnTo>
                  <a:pt x="8899487" y="80911"/>
                </a:lnTo>
                <a:lnTo>
                  <a:pt x="8932024" y="113448"/>
                </a:lnTo>
                <a:lnTo>
                  <a:pt x="8959791" y="150245"/>
                </a:lnTo>
                <a:lnTo>
                  <a:pt x="8982275" y="190791"/>
                </a:lnTo>
                <a:lnTo>
                  <a:pt x="8998968" y="234576"/>
                </a:lnTo>
                <a:lnTo>
                  <a:pt x="9009359" y="281088"/>
                </a:lnTo>
                <a:lnTo>
                  <a:pt x="9012936" y="329819"/>
                </a:lnTo>
                <a:lnTo>
                  <a:pt x="9012936" y="6362026"/>
                </a:lnTo>
                <a:lnTo>
                  <a:pt x="9009359" y="6410769"/>
                </a:lnTo>
                <a:lnTo>
                  <a:pt x="8998968" y="6457290"/>
                </a:lnTo>
                <a:lnTo>
                  <a:pt x="8982275" y="6501081"/>
                </a:lnTo>
                <a:lnTo>
                  <a:pt x="8959791" y="6541631"/>
                </a:lnTo>
                <a:lnTo>
                  <a:pt x="8932024" y="6578430"/>
                </a:lnTo>
                <a:lnTo>
                  <a:pt x="8899487" y="6610967"/>
                </a:lnTo>
                <a:lnTo>
                  <a:pt x="8862690" y="6638733"/>
                </a:lnTo>
                <a:lnTo>
                  <a:pt x="8822144" y="6661216"/>
                </a:lnTo>
                <a:lnTo>
                  <a:pt x="8778359" y="6677908"/>
                </a:lnTo>
                <a:lnTo>
                  <a:pt x="8731847" y="6688297"/>
                </a:lnTo>
                <a:lnTo>
                  <a:pt x="8683117" y="6691873"/>
                </a:lnTo>
                <a:lnTo>
                  <a:pt x="329844" y="6691873"/>
                </a:lnTo>
                <a:lnTo>
                  <a:pt x="281102" y="6688297"/>
                </a:lnTo>
                <a:lnTo>
                  <a:pt x="234580" y="6677908"/>
                </a:lnTo>
                <a:lnTo>
                  <a:pt x="190789" y="6661216"/>
                </a:lnTo>
                <a:lnTo>
                  <a:pt x="150240" y="6638733"/>
                </a:lnTo>
                <a:lnTo>
                  <a:pt x="113441" y="6610967"/>
                </a:lnTo>
                <a:lnTo>
                  <a:pt x="80905" y="6578430"/>
                </a:lnTo>
                <a:lnTo>
                  <a:pt x="53139" y="6541631"/>
                </a:lnTo>
                <a:lnTo>
                  <a:pt x="30656" y="6501081"/>
                </a:lnTo>
                <a:lnTo>
                  <a:pt x="13965" y="6457290"/>
                </a:lnTo>
                <a:lnTo>
                  <a:pt x="3576" y="6410769"/>
                </a:lnTo>
                <a:lnTo>
                  <a:pt x="0" y="6362026"/>
                </a:lnTo>
                <a:lnTo>
                  <a:pt x="0" y="329819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484" y="1395983"/>
            <a:ext cx="9022080" cy="121920"/>
          </a:xfrm>
          <a:custGeom>
            <a:avLst/>
            <a:gdLst/>
            <a:ahLst/>
            <a:cxnLst/>
            <a:rect l="l" t="t" r="r" b="b"/>
            <a:pathLst>
              <a:path w="9022080" h="121919">
                <a:moveTo>
                  <a:pt x="0" y="121920"/>
                </a:moveTo>
                <a:lnTo>
                  <a:pt x="9022080" y="121920"/>
                </a:lnTo>
                <a:lnTo>
                  <a:pt x="9022080" y="0"/>
                </a:lnTo>
                <a:lnTo>
                  <a:pt x="0" y="0"/>
                </a:lnTo>
                <a:lnTo>
                  <a:pt x="0" y="12192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84" y="2976372"/>
            <a:ext cx="9022080" cy="111760"/>
          </a:xfrm>
          <a:custGeom>
            <a:avLst/>
            <a:gdLst/>
            <a:ahLst/>
            <a:cxnLst/>
            <a:rect l="l" t="t" r="r" b="b"/>
            <a:pathLst>
              <a:path w="9022080" h="111760">
                <a:moveTo>
                  <a:pt x="0" y="111251"/>
                </a:moveTo>
                <a:lnTo>
                  <a:pt x="9022080" y="111251"/>
                </a:lnTo>
                <a:lnTo>
                  <a:pt x="9022080" y="0"/>
                </a:lnTo>
                <a:lnTo>
                  <a:pt x="0" y="0"/>
                </a:lnTo>
                <a:lnTo>
                  <a:pt x="0" y="111251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484" y="1517903"/>
            <a:ext cx="9022080" cy="1305486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900"/>
              </a:lnSpc>
            </a:pPr>
            <a:endParaRPr sz="4400">
              <a:latin typeface="Perpetua"/>
              <a:cs typeface="Perpetua"/>
            </a:endParaRPr>
          </a:p>
          <a:p>
            <a:pPr algn="ctr">
              <a:lnSpc>
                <a:spcPct val="100000"/>
              </a:lnSpc>
            </a:pPr>
            <a:r>
              <a:rPr sz="4400" spc="20" dirty="0">
                <a:latin typeface="Perpetua"/>
                <a:cs typeface="Perpetua"/>
              </a:rPr>
              <a:t>Sorting</a:t>
            </a:r>
            <a:r>
              <a:rPr sz="4400" spc="-550" dirty="0">
                <a:latin typeface="Perpetua"/>
                <a:cs typeface="Perpetua"/>
              </a:rPr>
              <a:t> </a:t>
            </a:r>
            <a:r>
              <a:rPr sz="4400" spc="-50" dirty="0">
                <a:latin typeface="Perpetua"/>
                <a:cs typeface="Perpetua"/>
              </a:rPr>
              <a:t>Techniques</a:t>
            </a:r>
            <a:endParaRPr sz="4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1424381"/>
            <a:ext cx="22777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0" dirty="0">
                <a:latin typeface="Perpetua"/>
                <a:cs typeface="Perpetua"/>
              </a:rPr>
              <a:t>Objectives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272411"/>
            <a:ext cx="7080884" cy="2312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dirty="0">
                <a:latin typeface="Perpetua"/>
                <a:cs typeface="Perpetua"/>
              </a:rPr>
              <a:t>Note the need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re-arrangement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collection of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data.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15" dirty="0">
                <a:latin typeface="Perpetua"/>
                <a:cs typeface="Perpetua"/>
              </a:rPr>
              <a:t>Learn </a:t>
            </a:r>
            <a:r>
              <a:rPr sz="2600" dirty="0">
                <a:latin typeface="Perpetua"/>
                <a:cs typeface="Perpetua"/>
              </a:rPr>
              <a:t>selection </a:t>
            </a:r>
            <a:r>
              <a:rPr sz="2600" spc="10" dirty="0">
                <a:latin typeface="Perpetua"/>
                <a:cs typeface="Perpetua"/>
              </a:rPr>
              <a:t>sorting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technique.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15" dirty="0">
                <a:latin typeface="Perpetua"/>
                <a:cs typeface="Perpetua"/>
              </a:rPr>
              <a:t>Learn </a:t>
            </a:r>
            <a:r>
              <a:rPr sz="2600" spc="-20" dirty="0">
                <a:latin typeface="Perpetua"/>
                <a:cs typeface="Perpetua"/>
              </a:rPr>
              <a:t>bubble </a:t>
            </a:r>
            <a:r>
              <a:rPr sz="2600" spc="15" dirty="0">
                <a:latin typeface="Perpetua"/>
                <a:cs typeface="Perpetua"/>
              </a:rPr>
              <a:t>sorting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technique.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62600" y="4791954"/>
            <a:ext cx="3124200" cy="17399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4800" y="228600"/>
            <a:ext cx="1426768" cy="1047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3722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5" dirty="0">
                <a:latin typeface="Perpetua"/>
                <a:cs typeface="Perpetua"/>
              </a:rPr>
              <a:t>Sorting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6540" y="1430477"/>
            <a:ext cx="8623935" cy="4820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7185" marR="46355" indent="-274320">
              <a:lnSpc>
                <a:spcPct val="100000"/>
              </a:lnSpc>
              <a:spcBef>
                <a:spcPts val="95"/>
              </a:spcBef>
              <a:buSzPct val="84615"/>
              <a:buFont typeface="Arial"/>
              <a:buChar char="•"/>
              <a:tabLst>
                <a:tab pos="337185" algn="l"/>
                <a:tab pos="337820" algn="l"/>
                <a:tab pos="1383030" algn="l"/>
                <a:tab pos="1733550" algn="l"/>
                <a:tab pos="2280920" algn="l"/>
                <a:tab pos="4315460" algn="l"/>
                <a:tab pos="4723130" algn="l"/>
                <a:tab pos="5013960" algn="l"/>
                <a:tab pos="6356985" algn="l"/>
                <a:tab pos="6764020" algn="l"/>
                <a:tab pos="7419340" algn="l"/>
                <a:tab pos="7816850" algn="l"/>
              </a:tabLst>
            </a:pPr>
            <a:r>
              <a:rPr sz="2600" dirty="0">
                <a:latin typeface="Perpetua"/>
                <a:cs typeface="Perpetua"/>
              </a:rPr>
              <a:t>S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spc="9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ting	is	the	</a:t>
            </a:r>
            <a:r>
              <a:rPr sz="2600" spc="-3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e-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40" dirty="0">
                <a:latin typeface="Perpetua"/>
                <a:cs typeface="Perpetua"/>
              </a:rPr>
              <a:t>r</a:t>
            </a:r>
            <a:r>
              <a:rPr sz="2600" spc="-5" dirty="0">
                <a:latin typeface="Perpetua"/>
                <a:cs typeface="Perpetua"/>
              </a:rPr>
              <a:t>ran</a:t>
            </a:r>
            <a:r>
              <a:rPr sz="2600" spc="-15" dirty="0">
                <a:latin typeface="Perpetua"/>
                <a:cs typeface="Perpetua"/>
              </a:rPr>
              <a:t>g</a:t>
            </a:r>
            <a:r>
              <a:rPr sz="2600" dirty="0">
                <a:latin typeface="Perpetua"/>
                <a:cs typeface="Perpetua"/>
              </a:rPr>
              <a:t>eme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t	</a:t>
            </a:r>
            <a:r>
              <a:rPr sz="2600" spc="-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a	c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spc="-5" dirty="0">
                <a:latin typeface="Perpetua"/>
                <a:cs typeface="Perpetua"/>
              </a:rPr>
              <a:t>lle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tion	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d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ta	in	</a:t>
            </a:r>
            <a:r>
              <a:rPr sz="2800" spc="-5" dirty="0">
                <a:latin typeface="Perpetua"/>
                <a:cs typeface="Perpetua"/>
              </a:rPr>
              <a:t>either  ascending or descending</a:t>
            </a:r>
            <a:r>
              <a:rPr sz="2800" spc="25" dirty="0">
                <a:latin typeface="Perpetua"/>
                <a:cs typeface="Perpetua"/>
              </a:rPr>
              <a:t> </a:t>
            </a:r>
            <a:r>
              <a:rPr sz="2800" spc="-45" dirty="0">
                <a:latin typeface="Perpetua"/>
                <a:cs typeface="Perpetua"/>
              </a:rPr>
              <a:t>order.</a:t>
            </a:r>
            <a:endParaRPr sz="2800">
              <a:latin typeface="Perpetua"/>
              <a:cs typeface="Perpetua"/>
            </a:endParaRPr>
          </a:p>
          <a:p>
            <a:pPr marL="337820" indent="-274320">
              <a:lnSpc>
                <a:spcPct val="100000"/>
              </a:lnSpc>
              <a:spcBef>
                <a:spcPts val="635"/>
              </a:spcBef>
              <a:buSzPct val="84615"/>
              <a:buFont typeface="Arial"/>
              <a:buChar char="•"/>
              <a:tabLst>
                <a:tab pos="337185" algn="l"/>
                <a:tab pos="337820" algn="l"/>
              </a:tabLst>
            </a:pP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5" dirty="0">
                <a:latin typeface="Perpetua"/>
                <a:cs typeface="Perpetua"/>
              </a:rPr>
              <a:t>common activity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10" dirty="0">
                <a:latin typeface="Perpetua"/>
                <a:cs typeface="Perpetua"/>
              </a:rPr>
              <a:t>data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management.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412115" indent="-349250">
              <a:lnSpc>
                <a:spcPct val="100000"/>
              </a:lnSpc>
              <a:buSzPct val="84615"/>
              <a:buFont typeface="Arial"/>
              <a:buChar char="•"/>
              <a:tabLst>
                <a:tab pos="412115" algn="l"/>
                <a:tab pos="412750" algn="l"/>
              </a:tabLst>
            </a:pPr>
            <a:r>
              <a:rPr sz="2600" i="1" spc="-5" dirty="0">
                <a:latin typeface="Perpetua"/>
                <a:cs typeface="Perpetua"/>
              </a:rPr>
              <a:t>Input: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sequence of </a:t>
            </a:r>
            <a:r>
              <a:rPr sz="2600" i="1" dirty="0">
                <a:latin typeface="Perpetua"/>
                <a:cs typeface="Perpetua"/>
              </a:rPr>
              <a:t>n</a:t>
            </a:r>
            <a:r>
              <a:rPr sz="2600" i="1" spc="-25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elements</a:t>
            </a:r>
            <a:endParaRPr sz="2600">
              <a:latin typeface="Perpetua"/>
              <a:cs typeface="Perpetua"/>
            </a:endParaRPr>
          </a:p>
          <a:p>
            <a:pPr marL="687070" lvl="1" indent="-304165">
              <a:lnSpc>
                <a:spcPct val="100000"/>
              </a:lnSpc>
              <a:buSzPct val="84615"/>
              <a:buFont typeface="Arial"/>
              <a:buChar char="•"/>
              <a:tabLst>
                <a:tab pos="686435" algn="l"/>
                <a:tab pos="687705" algn="l"/>
              </a:tabLst>
            </a:pPr>
            <a:r>
              <a:rPr sz="2600" dirty="0">
                <a:latin typeface="Perpetua"/>
                <a:cs typeface="Perpetua"/>
              </a:rPr>
              <a:t>a</a:t>
            </a:r>
            <a:r>
              <a:rPr sz="2550" baseline="-21241" dirty="0">
                <a:latin typeface="Perpetua"/>
                <a:cs typeface="Perpetua"/>
              </a:rPr>
              <a:t>1</a:t>
            </a:r>
            <a:r>
              <a:rPr sz="2600" dirty="0">
                <a:latin typeface="Perpetua"/>
                <a:cs typeface="Perpetua"/>
              </a:rPr>
              <a:t>,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550" baseline="-21241" dirty="0">
                <a:latin typeface="Perpetua"/>
                <a:cs typeface="Perpetua"/>
              </a:rPr>
              <a:t>2</a:t>
            </a:r>
            <a:r>
              <a:rPr sz="2600" dirty="0">
                <a:latin typeface="Perpetua"/>
                <a:cs typeface="Perpetua"/>
              </a:rPr>
              <a:t>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.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.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.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550" baseline="-21241" dirty="0">
                <a:latin typeface="Perpetua"/>
                <a:cs typeface="Perpetua"/>
              </a:rPr>
              <a:t>n</a:t>
            </a:r>
            <a:endParaRPr sz="2550" baseline="-21241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700">
              <a:latin typeface="Times New Roman"/>
              <a:cs typeface="Times New Roman"/>
            </a:endParaRPr>
          </a:p>
          <a:p>
            <a:pPr marL="3378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337185" algn="l"/>
                <a:tab pos="337820" algn="l"/>
              </a:tabLst>
            </a:pPr>
            <a:r>
              <a:rPr sz="2600" i="1" spc="-5" dirty="0">
                <a:latin typeface="Perpetua"/>
                <a:cs typeface="Perpetua"/>
              </a:rPr>
              <a:t>Output: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reordered list of </a:t>
            </a:r>
            <a:r>
              <a:rPr sz="2600" i="1" dirty="0">
                <a:latin typeface="Perpetua"/>
                <a:cs typeface="Perpetua"/>
              </a:rPr>
              <a:t>n</a:t>
            </a:r>
            <a:r>
              <a:rPr sz="2600" i="1" spc="-2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elements</a:t>
            </a:r>
            <a:endParaRPr sz="2600">
              <a:latin typeface="Perpetua"/>
              <a:cs typeface="Perpetua"/>
            </a:endParaRPr>
          </a:p>
          <a:p>
            <a:pPr marL="612140" lvl="1" indent="-228600">
              <a:lnSpc>
                <a:spcPct val="100000"/>
              </a:lnSpc>
              <a:buSzPct val="84615"/>
              <a:buFont typeface="Arial"/>
              <a:buChar char="•"/>
              <a:tabLst>
                <a:tab pos="611505" algn="l"/>
                <a:tab pos="612140" algn="l"/>
              </a:tabLst>
            </a:pPr>
            <a:r>
              <a:rPr sz="2600" dirty="0">
                <a:latin typeface="Perpetua"/>
                <a:cs typeface="Perpetua"/>
              </a:rPr>
              <a:t>a</a:t>
            </a:r>
            <a:r>
              <a:rPr sz="2550" baseline="-21241" dirty="0">
                <a:latin typeface="Perpetua"/>
                <a:cs typeface="Perpetua"/>
              </a:rPr>
              <a:t>1</a:t>
            </a:r>
            <a:r>
              <a:rPr sz="2600" dirty="0">
                <a:latin typeface="Perpetua"/>
                <a:cs typeface="Perpetua"/>
              </a:rPr>
              <a:t>’,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550" baseline="-21241" dirty="0">
                <a:latin typeface="Perpetua"/>
                <a:cs typeface="Perpetua"/>
              </a:rPr>
              <a:t>2</a:t>
            </a:r>
            <a:r>
              <a:rPr sz="2600" dirty="0">
                <a:latin typeface="Perpetua"/>
                <a:cs typeface="Perpetua"/>
              </a:rPr>
              <a:t>’,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.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.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.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550" baseline="-21241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’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input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sequence</a:t>
            </a:r>
            <a:endParaRPr sz="2600">
              <a:latin typeface="Perpetua"/>
              <a:cs typeface="Perpetua"/>
            </a:endParaRPr>
          </a:p>
          <a:p>
            <a:pPr marL="612140" lvl="1" indent="-228600">
              <a:lnSpc>
                <a:spcPct val="100000"/>
              </a:lnSpc>
              <a:buSzPct val="84615"/>
              <a:buFont typeface="Arial"/>
              <a:buChar char="•"/>
              <a:tabLst>
                <a:tab pos="611505" algn="l"/>
                <a:tab pos="612140" algn="l"/>
              </a:tabLst>
            </a:pPr>
            <a:r>
              <a:rPr sz="2600" spc="10" dirty="0">
                <a:latin typeface="Perpetua"/>
                <a:cs typeface="Perpetua"/>
              </a:rPr>
              <a:t>such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that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550" baseline="-21241" dirty="0">
                <a:latin typeface="Perpetua"/>
                <a:cs typeface="Perpetua"/>
              </a:rPr>
              <a:t>1</a:t>
            </a:r>
            <a:r>
              <a:rPr sz="2600" dirty="0">
                <a:latin typeface="Perpetua"/>
                <a:cs typeface="Perpetua"/>
              </a:rPr>
              <a:t>’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≤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550" baseline="-21241" dirty="0">
                <a:latin typeface="Perpetua"/>
                <a:cs typeface="Perpetua"/>
              </a:rPr>
              <a:t>2</a:t>
            </a:r>
            <a:r>
              <a:rPr sz="2600" dirty="0">
                <a:latin typeface="Perpetua"/>
                <a:cs typeface="Perpetua"/>
              </a:rPr>
              <a:t>’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≤ ·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·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·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≤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550" baseline="-21241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’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or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550" baseline="-21241" dirty="0">
                <a:latin typeface="Perpetua"/>
                <a:cs typeface="Perpetua"/>
              </a:rPr>
              <a:t>1</a:t>
            </a:r>
            <a:r>
              <a:rPr sz="2600" dirty="0">
                <a:latin typeface="Perpetua"/>
                <a:cs typeface="Perpetua"/>
              </a:rPr>
              <a:t>’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&gt;=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550" baseline="-21241" dirty="0">
                <a:latin typeface="Perpetua"/>
                <a:cs typeface="Perpetua"/>
              </a:rPr>
              <a:t>2</a:t>
            </a:r>
            <a:r>
              <a:rPr sz="2600" dirty="0">
                <a:latin typeface="Perpetua"/>
                <a:cs typeface="Perpetua"/>
              </a:rPr>
              <a:t>’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&gt;=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·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·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·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&gt;=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550" baseline="-21241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’</a:t>
            </a:r>
            <a:endParaRPr sz="2600">
              <a:latin typeface="Perpetua"/>
              <a:cs typeface="Perpetua"/>
            </a:endParaRPr>
          </a:p>
          <a:p>
            <a:pPr marL="3504565" lvl="2" indent="-240665">
              <a:lnSpc>
                <a:spcPct val="100000"/>
              </a:lnSpc>
              <a:spcBef>
                <a:spcPts val="1955"/>
              </a:spcBef>
              <a:buSzPct val="95833"/>
              <a:buFont typeface="Wingdings"/>
              <a:buChar char=""/>
              <a:tabLst>
                <a:tab pos="3505200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recollect </a:t>
            </a:r>
            <a:r>
              <a:rPr sz="2400" i="1" spc="-20" dirty="0">
                <a:latin typeface="Perpetua"/>
                <a:cs typeface="Perpetua"/>
              </a:rPr>
              <a:t>where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35" dirty="0">
                <a:latin typeface="Perpetua"/>
                <a:cs typeface="Perpetua"/>
              </a:rPr>
              <a:t>have </a:t>
            </a:r>
            <a:r>
              <a:rPr sz="2400" i="1" spc="-5" dirty="0">
                <a:latin typeface="Perpetua"/>
                <a:cs typeface="Perpetua"/>
              </a:rPr>
              <a:t>encountered</a:t>
            </a:r>
            <a:r>
              <a:rPr sz="2400" i="1" dirty="0">
                <a:latin typeface="Perpetua"/>
                <a:cs typeface="Perpetua"/>
              </a:rPr>
              <a:t> </a:t>
            </a:r>
            <a:r>
              <a:rPr sz="2400" i="1" spc="10" dirty="0">
                <a:latin typeface="Perpetua"/>
                <a:cs typeface="Perpetua"/>
              </a:rPr>
              <a:t>sorted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08375" y="6225032"/>
            <a:ext cx="1285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Perpetua"/>
                <a:cs typeface="Perpetua"/>
              </a:rPr>
              <a:t>items </a:t>
            </a:r>
            <a:r>
              <a:rPr sz="2400" i="1" dirty="0">
                <a:latin typeface="Perpetua"/>
                <a:cs typeface="Perpetua"/>
              </a:rPr>
              <a:t>/</a:t>
            </a:r>
            <a:r>
              <a:rPr sz="2400" i="1" spc="-9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lists?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57400" y="152400"/>
            <a:ext cx="1743455" cy="137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4397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5" dirty="0">
                <a:latin typeface="Perpetua"/>
                <a:cs typeface="Perpetua"/>
              </a:rPr>
              <a:t>Sorting</a:t>
            </a:r>
            <a:r>
              <a:rPr sz="4000" spc="-25" dirty="0">
                <a:latin typeface="Perpetua"/>
                <a:cs typeface="Perpetua"/>
              </a:rPr>
              <a:t> </a:t>
            </a:r>
            <a:r>
              <a:rPr sz="4000" dirty="0">
                <a:latin typeface="Perpetua"/>
                <a:cs typeface="Perpetua"/>
              </a:rPr>
              <a:t>techniques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73554" y="1590497"/>
            <a:ext cx="2016125" cy="3217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E6B0AB"/>
              </a:buClr>
              <a:buChar char="•"/>
              <a:tabLst>
                <a:tab pos="241300" algn="l"/>
              </a:tabLst>
            </a:pPr>
            <a:r>
              <a:rPr sz="2800" spc="-5" dirty="0">
                <a:latin typeface="Perpetua"/>
                <a:cs typeface="Perpetua"/>
              </a:rPr>
              <a:t>Selection</a:t>
            </a:r>
            <a:r>
              <a:rPr sz="2800" spc="-50" dirty="0">
                <a:latin typeface="Perpetua"/>
                <a:cs typeface="Perpetua"/>
              </a:rPr>
              <a:t> </a:t>
            </a:r>
            <a:r>
              <a:rPr sz="2800" spc="20" dirty="0">
                <a:latin typeface="Perpetua"/>
                <a:cs typeface="Perpetua"/>
              </a:rPr>
              <a:t>sort</a:t>
            </a:r>
            <a:endParaRPr sz="2800">
              <a:latin typeface="Perpetua"/>
              <a:cs typeface="Perpetua"/>
            </a:endParaRPr>
          </a:p>
          <a:p>
            <a:pPr marL="241300" indent="-228600">
              <a:lnSpc>
                <a:spcPct val="100000"/>
              </a:lnSpc>
              <a:spcBef>
                <a:spcPts val="2095"/>
              </a:spcBef>
              <a:buClr>
                <a:srgbClr val="E6B0AB"/>
              </a:buClr>
              <a:buChar char="•"/>
              <a:tabLst>
                <a:tab pos="241300" algn="l"/>
              </a:tabLst>
            </a:pPr>
            <a:r>
              <a:rPr sz="2800" spc="-20" dirty="0">
                <a:latin typeface="Perpetua"/>
                <a:cs typeface="Perpetua"/>
              </a:rPr>
              <a:t>Bubble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spc="20" dirty="0">
                <a:latin typeface="Perpetua"/>
                <a:cs typeface="Perpetua"/>
              </a:rPr>
              <a:t>sort</a:t>
            </a:r>
            <a:endParaRPr sz="2800">
              <a:latin typeface="Perpetua"/>
              <a:cs typeface="Perpetua"/>
            </a:endParaRPr>
          </a:p>
          <a:p>
            <a:pPr marL="241300" indent="-228600">
              <a:lnSpc>
                <a:spcPct val="100000"/>
              </a:lnSpc>
              <a:spcBef>
                <a:spcPts val="2075"/>
              </a:spcBef>
              <a:buClr>
                <a:srgbClr val="E6B0AB"/>
              </a:buClr>
              <a:buChar char="•"/>
              <a:tabLst>
                <a:tab pos="241300" algn="l"/>
              </a:tabLst>
            </a:pPr>
            <a:r>
              <a:rPr sz="2800" spc="5" dirty="0">
                <a:latin typeface="Perpetua"/>
                <a:cs typeface="Perpetua"/>
              </a:rPr>
              <a:t>Insertion</a:t>
            </a:r>
            <a:r>
              <a:rPr sz="2800" spc="-45" dirty="0">
                <a:latin typeface="Perpetua"/>
                <a:cs typeface="Perpetua"/>
              </a:rPr>
              <a:t> </a:t>
            </a:r>
            <a:r>
              <a:rPr sz="2800" spc="20" dirty="0">
                <a:latin typeface="Perpetua"/>
                <a:cs typeface="Perpetua"/>
              </a:rPr>
              <a:t>sort</a:t>
            </a:r>
            <a:endParaRPr sz="2800">
              <a:latin typeface="Perpetua"/>
              <a:cs typeface="Perpetua"/>
            </a:endParaRPr>
          </a:p>
          <a:p>
            <a:pPr marL="241300" indent="-228600">
              <a:lnSpc>
                <a:spcPct val="100000"/>
              </a:lnSpc>
              <a:spcBef>
                <a:spcPts val="2075"/>
              </a:spcBef>
              <a:buClr>
                <a:srgbClr val="E6B0AB"/>
              </a:buClr>
              <a:buChar char="•"/>
              <a:tabLst>
                <a:tab pos="241300" algn="l"/>
              </a:tabLst>
            </a:pPr>
            <a:r>
              <a:rPr sz="2800" spc="-5" dirty="0">
                <a:latin typeface="Perpetua"/>
                <a:cs typeface="Perpetua"/>
              </a:rPr>
              <a:t>Merge</a:t>
            </a:r>
            <a:r>
              <a:rPr sz="2800" spc="-25" dirty="0">
                <a:latin typeface="Perpetua"/>
                <a:cs typeface="Perpetua"/>
              </a:rPr>
              <a:t> </a:t>
            </a:r>
            <a:r>
              <a:rPr sz="2800" spc="20" dirty="0">
                <a:latin typeface="Perpetua"/>
                <a:cs typeface="Perpetua"/>
              </a:rPr>
              <a:t>sort</a:t>
            </a:r>
            <a:endParaRPr sz="2800">
              <a:latin typeface="Perpetua"/>
              <a:cs typeface="Perpetua"/>
            </a:endParaRPr>
          </a:p>
          <a:p>
            <a:pPr marL="241300" indent="-228600">
              <a:lnSpc>
                <a:spcPct val="100000"/>
              </a:lnSpc>
              <a:spcBef>
                <a:spcPts val="2095"/>
              </a:spcBef>
              <a:buClr>
                <a:srgbClr val="E6B0AB"/>
              </a:buClr>
              <a:buChar char="•"/>
              <a:tabLst>
                <a:tab pos="241300" algn="l"/>
              </a:tabLst>
            </a:pPr>
            <a:r>
              <a:rPr sz="2800" spc="5" dirty="0">
                <a:latin typeface="Perpetua"/>
                <a:cs typeface="Perpetua"/>
              </a:rPr>
              <a:t>Quick</a:t>
            </a:r>
            <a:r>
              <a:rPr sz="2800" spc="-20" dirty="0">
                <a:latin typeface="Perpetua"/>
                <a:cs typeface="Perpetua"/>
              </a:rPr>
              <a:t> </a:t>
            </a:r>
            <a:r>
              <a:rPr sz="2800" spc="15" dirty="0">
                <a:latin typeface="Perpetua"/>
                <a:cs typeface="Perpetua"/>
              </a:rPr>
              <a:t>sort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4724400"/>
            <a:ext cx="2095500" cy="167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77000" y="228600"/>
            <a:ext cx="2322576" cy="31013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25444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Perpetua"/>
                <a:cs typeface="Perpetua"/>
              </a:rPr>
              <a:t>Selection</a:t>
            </a:r>
            <a:r>
              <a:rPr sz="4000" spc="-35" dirty="0">
                <a:latin typeface="Perpetua"/>
                <a:cs typeface="Perpetua"/>
              </a:rPr>
              <a:t> </a:t>
            </a:r>
            <a:r>
              <a:rPr sz="4000" spc="30" dirty="0">
                <a:latin typeface="Perpetua"/>
                <a:cs typeface="Perpetua"/>
              </a:rPr>
              <a:t>sort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03497"/>
            <a:ext cx="8531225" cy="496887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Selection </a:t>
            </a:r>
            <a:r>
              <a:rPr sz="2600" spc="20" dirty="0">
                <a:latin typeface="Perpetua"/>
                <a:cs typeface="Perpetua"/>
              </a:rPr>
              <a:t>sort </a:t>
            </a:r>
            <a:r>
              <a:rPr sz="2600" spc="-5" dirty="0">
                <a:latin typeface="Perpetua"/>
                <a:cs typeface="Perpetua"/>
              </a:rPr>
              <a:t>(ascending </a:t>
            </a:r>
            <a:r>
              <a:rPr sz="2600" dirty="0">
                <a:latin typeface="Perpetua"/>
                <a:cs typeface="Perpetua"/>
              </a:rPr>
              <a:t>order)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involves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  <a:tab pos="7167245" algn="l"/>
              </a:tabLst>
            </a:pPr>
            <a:r>
              <a:rPr sz="2600" i="1" spc="-5" dirty="0">
                <a:latin typeface="Perpetua"/>
                <a:cs typeface="Perpetua"/>
              </a:rPr>
              <a:t>scanning </a:t>
            </a:r>
            <a:r>
              <a:rPr sz="2600" spc="-5" dirty="0">
                <a:latin typeface="Perpetua"/>
                <a:cs typeface="Perpetua"/>
              </a:rPr>
              <a:t>through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list to find </a:t>
            </a:r>
            <a:r>
              <a:rPr sz="2600" dirty="0">
                <a:latin typeface="Perpetua"/>
                <a:cs typeface="Perpetua"/>
              </a:rPr>
              <a:t>(or select)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smallest	</a:t>
            </a:r>
            <a:r>
              <a:rPr sz="2600" spc="-5" dirty="0">
                <a:latin typeface="Perpetua"/>
                <a:cs typeface="Perpetua"/>
              </a:rPr>
              <a:t>element.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14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i="1" spc="-15" dirty="0">
                <a:latin typeface="Perpetua"/>
                <a:cs typeface="Perpetua"/>
              </a:rPr>
              <a:t>swapping </a:t>
            </a:r>
            <a:r>
              <a:rPr sz="2600" dirty="0">
                <a:latin typeface="Perpetua"/>
                <a:cs typeface="Perpetua"/>
              </a:rPr>
              <a:t>it with the </a:t>
            </a:r>
            <a:r>
              <a:rPr sz="2600" spc="10" dirty="0">
                <a:latin typeface="Perpetua"/>
                <a:cs typeface="Perpetua"/>
              </a:rPr>
              <a:t>first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element.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550">
              <a:latin typeface="Times New Roman"/>
              <a:cs typeface="Times New Roman"/>
            </a:endParaRPr>
          </a:p>
          <a:p>
            <a:pPr marL="286385" marR="76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rest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list </a:t>
            </a:r>
            <a:r>
              <a:rPr sz="2600" dirty="0">
                <a:latin typeface="Perpetua"/>
                <a:cs typeface="Perpetua"/>
              </a:rPr>
              <a:t>is then </a:t>
            </a:r>
            <a:r>
              <a:rPr sz="2600" spc="5" dirty="0">
                <a:latin typeface="Perpetua"/>
                <a:cs typeface="Perpetua"/>
              </a:rPr>
              <a:t>searched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next smallest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it is  </a:t>
            </a:r>
            <a:r>
              <a:rPr sz="2600" spc="-15" dirty="0">
                <a:latin typeface="Perpetua"/>
                <a:cs typeface="Perpetua"/>
              </a:rPr>
              <a:t>swapped </a:t>
            </a:r>
            <a:r>
              <a:rPr sz="2600" dirty="0">
                <a:latin typeface="Perpetua"/>
                <a:cs typeface="Perpetua"/>
              </a:rPr>
              <a:t>with the second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element.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  <a:tab pos="939165" algn="l"/>
                <a:tab pos="1958975" algn="l"/>
                <a:tab pos="2280285" algn="l"/>
                <a:tab pos="3449320" algn="l"/>
                <a:tab pos="4144645" algn="l"/>
                <a:tab pos="4661535" algn="l"/>
                <a:tab pos="5248275" algn="l"/>
                <a:tab pos="5626100" algn="l"/>
                <a:tab pos="6142990" algn="l"/>
                <a:tab pos="6640195" algn="l"/>
                <a:tab pos="7693025" algn="l"/>
                <a:tab pos="8081645" algn="l"/>
              </a:tabLst>
            </a:pPr>
            <a:r>
              <a:rPr sz="2600" dirty="0">
                <a:latin typeface="Perpetua"/>
                <a:cs typeface="Perpetua"/>
              </a:rPr>
              <a:t>This	p</a:t>
            </a:r>
            <a:r>
              <a:rPr sz="2600" spc="-3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15" dirty="0">
                <a:latin typeface="Perpetua"/>
                <a:cs typeface="Perpetua"/>
              </a:rPr>
              <a:t>s</a:t>
            </a:r>
            <a:r>
              <a:rPr sz="2600" dirty="0">
                <a:latin typeface="Perpetua"/>
                <a:cs typeface="Perpetua"/>
              </a:rPr>
              <a:t>s	is	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10" dirty="0">
                <a:latin typeface="Perpetua"/>
                <a:cs typeface="Perpetua"/>
              </a:rPr>
              <a:t>p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ted	u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til	the	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est	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the	</a:t>
            </a:r>
            <a:r>
              <a:rPr sz="2600" spc="-5" dirty="0">
                <a:latin typeface="Perpetua"/>
                <a:cs typeface="Perpetua"/>
              </a:rPr>
              <a:t>li</a:t>
            </a:r>
            <a:r>
              <a:rPr sz="2600" dirty="0">
                <a:latin typeface="Perpetua"/>
                <a:cs typeface="Perpetua"/>
              </a:rPr>
              <a:t>st	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10" dirty="0">
                <a:latin typeface="Perpetua"/>
                <a:cs typeface="Perpetua"/>
              </a:rPr>
              <a:t>d</a:t>
            </a:r>
            <a:r>
              <a:rPr sz="2600" dirty="0">
                <a:latin typeface="Perpetua"/>
                <a:cs typeface="Perpetua"/>
              </a:rPr>
              <a:t>u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es	</a:t>
            </a:r>
            <a:r>
              <a:rPr sz="2600" spc="-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</a:t>
            </a:r>
            <a:r>
              <a:rPr sz="2600" spc="-5" dirty="0">
                <a:latin typeface="Perpetua"/>
                <a:cs typeface="Perpetua"/>
              </a:rPr>
              <a:t>one  </a:t>
            </a:r>
            <a:r>
              <a:rPr sz="2600" dirty="0">
                <a:latin typeface="Perpetua"/>
                <a:cs typeface="Perpetua"/>
              </a:rPr>
              <a:t>element,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5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time the </a:t>
            </a:r>
            <a:r>
              <a:rPr sz="2600" spc="-5" dirty="0">
                <a:latin typeface="Perpetua"/>
                <a:cs typeface="Perpetua"/>
              </a:rPr>
              <a:t>list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spc="10" dirty="0">
                <a:latin typeface="Perpetua"/>
                <a:cs typeface="Perpetua"/>
              </a:rPr>
              <a:t>sorted.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list </a:t>
            </a:r>
            <a:r>
              <a:rPr sz="2600" dirty="0">
                <a:latin typeface="Perpetua"/>
                <a:cs typeface="Perpetua"/>
              </a:rPr>
              <a:t>is rearranged </a:t>
            </a: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smallest </a:t>
            </a:r>
            <a:r>
              <a:rPr sz="2600" spc="-5" dirty="0">
                <a:latin typeface="Perpetua"/>
                <a:cs typeface="Perpetua"/>
              </a:rPr>
              <a:t>to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largest.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0429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Perpetua"/>
                <a:cs typeface="Perpetua"/>
              </a:rPr>
              <a:t>General</a:t>
            </a:r>
            <a:r>
              <a:rPr sz="4000" spc="-25" dirty="0">
                <a:latin typeface="Perpetua"/>
                <a:cs typeface="Perpetua"/>
              </a:rPr>
              <a:t> </a:t>
            </a:r>
            <a:r>
              <a:rPr sz="4000" spc="-10" dirty="0">
                <a:latin typeface="Perpetua"/>
                <a:cs typeface="Perpetua"/>
              </a:rPr>
              <a:t>strategy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410665"/>
            <a:ext cx="8530590" cy="4218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685" marR="2294255" indent="-273685" algn="r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73685" algn="l"/>
                <a:tab pos="2743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list </a:t>
            </a:r>
            <a:r>
              <a:rPr sz="2400" dirty="0">
                <a:latin typeface="Perpetua"/>
                <a:cs typeface="Perpetua"/>
              </a:rPr>
              <a:t>is divided into </a:t>
            </a:r>
            <a:r>
              <a:rPr sz="2400" spc="-35" dirty="0">
                <a:latin typeface="Perpetua"/>
                <a:cs typeface="Perpetua"/>
              </a:rPr>
              <a:t>two </a:t>
            </a:r>
            <a:r>
              <a:rPr sz="2400" dirty="0">
                <a:latin typeface="Perpetua"/>
                <a:cs typeface="Perpetua"/>
              </a:rPr>
              <a:t>sub </a:t>
            </a:r>
            <a:r>
              <a:rPr sz="2400" spc="-5" dirty="0">
                <a:latin typeface="Perpetua"/>
                <a:cs typeface="Perpetua"/>
              </a:rPr>
              <a:t>lists: </a:t>
            </a:r>
            <a:r>
              <a:rPr sz="2400" i="1" spc="10" dirty="0">
                <a:latin typeface="Perpetua"/>
                <a:cs typeface="Perpetua"/>
              </a:rPr>
              <a:t>sorted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185" dirty="0">
                <a:latin typeface="Perpetua"/>
                <a:cs typeface="Perpetua"/>
              </a:rPr>
              <a:t> </a:t>
            </a:r>
            <a:r>
              <a:rPr sz="2400" i="1" spc="5" dirty="0">
                <a:latin typeface="Perpetua"/>
                <a:cs typeface="Perpetua"/>
              </a:rPr>
              <a:t>unsorted</a:t>
            </a:r>
            <a:endParaRPr sz="2400">
              <a:latin typeface="Perpetua"/>
              <a:cs typeface="Perpetua"/>
            </a:endParaRPr>
          </a:p>
          <a:p>
            <a:pPr marR="2317750" algn="r">
              <a:lnSpc>
                <a:spcPct val="100000"/>
              </a:lnSpc>
              <a:spcBef>
                <a:spcPts val="110"/>
              </a:spcBef>
            </a:pPr>
            <a:r>
              <a:rPr sz="2400" spc="5" dirty="0">
                <a:latin typeface="Perpetua"/>
                <a:cs typeface="Perpetua"/>
              </a:rPr>
              <a:t>which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divided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spc="-5" dirty="0">
                <a:latin typeface="Perpetua"/>
                <a:cs typeface="Perpetua"/>
              </a:rPr>
              <a:t>an </a:t>
            </a:r>
            <a:r>
              <a:rPr sz="2400" spc="5" dirty="0">
                <a:latin typeface="Perpetua"/>
                <a:cs typeface="Perpetua"/>
              </a:rPr>
              <a:t>imaginary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wall.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35" dirty="0">
                <a:latin typeface="Perpetua"/>
                <a:cs typeface="Perpetua"/>
              </a:rPr>
              <a:t>We </a:t>
            </a:r>
            <a:r>
              <a:rPr sz="2400" i="1" dirty="0">
                <a:latin typeface="Perpetua"/>
                <a:cs typeface="Perpetua"/>
              </a:rPr>
              <a:t>select </a:t>
            </a:r>
            <a:r>
              <a:rPr sz="2400" dirty="0">
                <a:latin typeface="Perpetua"/>
                <a:cs typeface="Perpetua"/>
              </a:rPr>
              <a:t>(find) the </a:t>
            </a:r>
            <a:r>
              <a:rPr sz="2400" spc="-5" dirty="0">
                <a:latin typeface="Perpetua"/>
                <a:cs typeface="Perpetua"/>
              </a:rPr>
              <a:t>smallest </a:t>
            </a:r>
            <a:r>
              <a:rPr sz="2400" dirty="0">
                <a:latin typeface="Perpetua"/>
                <a:cs typeface="Perpetua"/>
              </a:rPr>
              <a:t>element </a:t>
            </a:r>
            <a:r>
              <a:rPr sz="2400" spc="-5" dirty="0">
                <a:latin typeface="Perpetua"/>
                <a:cs typeface="Perpetua"/>
              </a:rPr>
              <a:t>from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10" dirty="0">
                <a:latin typeface="Perpetua"/>
                <a:cs typeface="Perpetua"/>
              </a:rPr>
              <a:t>unsorted </a:t>
            </a:r>
            <a:r>
              <a:rPr sz="2400" dirty="0">
                <a:latin typeface="Perpetua"/>
                <a:cs typeface="Perpetua"/>
              </a:rPr>
              <a:t>sub</a:t>
            </a:r>
            <a:r>
              <a:rPr sz="2400" spc="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list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1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35" dirty="0">
                <a:latin typeface="Perpetua"/>
                <a:cs typeface="Perpetua"/>
              </a:rPr>
              <a:t>We </a:t>
            </a:r>
            <a:r>
              <a:rPr sz="2400" i="1" spc="-30" dirty="0">
                <a:latin typeface="Perpetua"/>
                <a:cs typeface="Perpetua"/>
              </a:rPr>
              <a:t>swap </a:t>
            </a:r>
            <a:r>
              <a:rPr sz="2400" dirty="0">
                <a:latin typeface="Perpetua"/>
                <a:cs typeface="Perpetua"/>
              </a:rPr>
              <a:t>it with the element </a:t>
            </a:r>
            <a:r>
              <a:rPr sz="2400" spc="-15" dirty="0">
                <a:latin typeface="Perpetua"/>
                <a:cs typeface="Perpetua"/>
              </a:rPr>
              <a:t>at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5" dirty="0">
                <a:latin typeface="Perpetua"/>
                <a:cs typeface="Perpetua"/>
              </a:rPr>
              <a:t>beginning </a:t>
            </a:r>
            <a:r>
              <a:rPr sz="2400" dirty="0">
                <a:latin typeface="Perpetua"/>
                <a:cs typeface="Perpetua"/>
              </a:rPr>
              <a:t>of the </a:t>
            </a:r>
            <a:r>
              <a:rPr sz="2400" spc="10" dirty="0">
                <a:latin typeface="Perpetua"/>
                <a:cs typeface="Perpetua"/>
              </a:rPr>
              <a:t>unsorted</a:t>
            </a:r>
            <a:r>
              <a:rPr sz="2400" spc="-33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data.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After </a:t>
            </a:r>
            <a:r>
              <a:rPr sz="2400" spc="10" dirty="0">
                <a:latin typeface="Perpetua"/>
                <a:cs typeface="Perpetua"/>
              </a:rPr>
              <a:t>each </a:t>
            </a:r>
            <a:r>
              <a:rPr sz="2400" dirty="0">
                <a:latin typeface="Perpetua"/>
                <a:cs typeface="Perpetua"/>
              </a:rPr>
              <a:t>selection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15" dirty="0">
                <a:latin typeface="Perpetua"/>
                <a:cs typeface="Perpetua"/>
              </a:rPr>
              <a:t> swapping,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1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5" dirty="0">
                <a:latin typeface="Perpetua"/>
                <a:cs typeface="Perpetua"/>
              </a:rPr>
              <a:t>imaginary </a:t>
            </a:r>
            <a:r>
              <a:rPr sz="2400" spc="-10" dirty="0">
                <a:latin typeface="Perpetua"/>
                <a:cs typeface="Perpetua"/>
              </a:rPr>
              <a:t>wall </a:t>
            </a:r>
            <a:r>
              <a:rPr sz="2400" spc="-15" dirty="0">
                <a:latin typeface="Perpetua"/>
                <a:cs typeface="Perpetua"/>
              </a:rPr>
              <a:t>between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35" dirty="0">
                <a:latin typeface="Perpetua"/>
                <a:cs typeface="Perpetua"/>
              </a:rPr>
              <a:t>two </a:t>
            </a:r>
            <a:r>
              <a:rPr sz="2400" dirty="0">
                <a:latin typeface="Perpetua"/>
                <a:cs typeface="Perpetua"/>
              </a:rPr>
              <a:t>sub </a:t>
            </a:r>
            <a:r>
              <a:rPr sz="2400" spc="-5" dirty="0">
                <a:latin typeface="Perpetua"/>
                <a:cs typeface="Perpetua"/>
              </a:rPr>
              <a:t>lists </a:t>
            </a:r>
            <a:r>
              <a:rPr sz="2400" spc="-35" dirty="0">
                <a:latin typeface="Perpetua"/>
                <a:cs typeface="Perpetua"/>
              </a:rPr>
              <a:t>move </a:t>
            </a:r>
            <a:r>
              <a:rPr sz="2400" dirty="0">
                <a:latin typeface="Perpetua"/>
                <a:cs typeface="Perpetua"/>
              </a:rPr>
              <a:t>one element </a:t>
            </a:r>
            <a:r>
              <a:rPr sz="2400" spc="-5" dirty="0">
                <a:latin typeface="Perpetua"/>
                <a:cs typeface="Perpetua"/>
              </a:rPr>
              <a:t>ahead.</a:t>
            </a:r>
            <a:endParaRPr sz="2400">
              <a:latin typeface="Perpetua"/>
              <a:cs typeface="Perpetua"/>
            </a:endParaRPr>
          </a:p>
          <a:p>
            <a:pPr marL="561340" marR="5080" lvl="1" indent="-228600">
              <a:lnSpc>
                <a:spcPts val="2590"/>
              </a:lnSpc>
              <a:spcBef>
                <a:spcPts val="44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Increasing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number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10" dirty="0">
                <a:latin typeface="Perpetua"/>
                <a:cs typeface="Perpetua"/>
              </a:rPr>
              <a:t>sorted </a:t>
            </a:r>
            <a:r>
              <a:rPr sz="2400" dirty="0">
                <a:latin typeface="Perpetua"/>
                <a:cs typeface="Perpetua"/>
              </a:rPr>
              <a:t>elements </a:t>
            </a:r>
            <a:r>
              <a:rPr sz="2400" spc="-5" dirty="0">
                <a:latin typeface="Perpetua"/>
                <a:cs typeface="Perpetua"/>
              </a:rPr>
              <a:t>and decreasing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number </a:t>
            </a:r>
            <a:r>
              <a:rPr sz="2400" dirty="0">
                <a:latin typeface="Perpetua"/>
                <a:cs typeface="Perpetua"/>
              </a:rPr>
              <a:t>of  </a:t>
            </a:r>
            <a:r>
              <a:rPr sz="2400" spc="10" dirty="0">
                <a:latin typeface="Perpetua"/>
                <a:cs typeface="Perpetua"/>
              </a:rPr>
              <a:t>unsorted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ones.</a:t>
            </a:r>
            <a:endParaRPr sz="2400">
              <a:latin typeface="Perpetua"/>
              <a:cs typeface="Perpetua"/>
            </a:endParaRPr>
          </a:p>
          <a:p>
            <a:pPr marL="286385" marR="5080" indent="-274320">
              <a:lnSpc>
                <a:spcPts val="2590"/>
              </a:lnSpc>
              <a:spcBef>
                <a:spcPts val="61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10" dirty="0">
                <a:latin typeface="Perpetua"/>
                <a:cs typeface="Perpetua"/>
              </a:rPr>
              <a:t>Each </a:t>
            </a:r>
            <a:r>
              <a:rPr sz="2400" dirty="0">
                <a:latin typeface="Perpetua"/>
                <a:cs typeface="Perpetua"/>
              </a:rPr>
              <a:t>time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35" dirty="0">
                <a:latin typeface="Perpetua"/>
                <a:cs typeface="Perpetua"/>
              </a:rPr>
              <a:t>move </a:t>
            </a:r>
            <a:r>
              <a:rPr sz="2400" dirty="0">
                <a:latin typeface="Perpetua"/>
                <a:cs typeface="Perpetua"/>
              </a:rPr>
              <a:t>one element </a:t>
            </a:r>
            <a:r>
              <a:rPr sz="2400" spc="-10" dirty="0">
                <a:latin typeface="Perpetua"/>
                <a:cs typeface="Perpetua"/>
              </a:rPr>
              <a:t>from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10" dirty="0">
                <a:latin typeface="Perpetua"/>
                <a:cs typeface="Perpetua"/>
              </a:rPr>
              <a:t>unsorted </a:t>
            </a:r>
            <a:r>
              <a:rPr sz="2400" dirty="0">
                <a:latin typeface="Perpetua"/>
                <a:cs typeface="Perpetua"/>
              </a:rPr>
              <a:t>sub </a:t>
            </a:r>
            <a:r>
              <a:rPr sz="2400" spc="-5" dirty="0">
                <a:latin typeface="Perpetua"/>
                <a:cs typeface="Perpetua"/>
              </a:rPr>
              <a:t>list to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10" dirty="0">
                <a:latin typeface="Perpetua"/>
                <a:cs typeface="Perpetua"/>
              </a:rPr>
              <a:t>sorted  </a:t>
            </a:r>
            <a:r>
              <a:rPr sz="2400" dirty="0">
                <a:latin typeface="Perpetua"/>
                <a:cs typeface="Perpetua"/>
              </a:rPr>
              <a:t>sub </a:t>
            </a:r>
            <a:r>
              <a:rPr sz="2400" spc="-5" dirty="0">
                <a:latin typeface="Perpetua"/>
                <a:cs typeface="Perpetua"/>
              </a:rPr>
              <a:t>list,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30" dirty="0">
                <a:latin typeface="Perpetua"/>
                <a:cs typeface="Perpetua"/>
              </a:rPr>
              <a:t>say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dirty="0">
                <a:latin typeface="Perpetua"/>
                <a:cs typeface="Perpetua"/>
              </a:rPr>
              <a:t>completed a </a:t>
            </a:r>
            <a:r>
              <a:rPr sz="2400" i="1" spc="-5" dirty="0">
                <a:latin typeface="Perpetua"/>
                <a:cs typeface="Perpetua"/>
              </a:rPr>
              <a:t>pass</a:t>
            </a:r>
            <a:r>
              <a:rPr sz="2400" spc="-5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7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A </a:t>
            </a:r>
            <a:r>
              <a:rPr sz="2400" spc="-5" dirty="0">
                <a:latin typeface="Perpetua"/>
                <a:cs typeface="Perpetua"/>
              </a:rPr>
              <a:t>list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i="1" dirty="0">
                <a:latin typeface="Perpetua"/>
                <a:cs typeface="Perpetua"/>
              </a:rPr>
              <a:t>n </a:t>
            </a:r>
            <a:r>
              <a:rPr sz="2400" dirty="0">
                <a:latin typeface="Perpetua"/>
                <a:cs typeface="Perpetua"/>
              </a:rPr>
              <a:t>elements </a:t>
            </a:r>
            <a:r>
              <a:rPr sz="2400" spc="-5" dirty="0">
                <a:latin typeface="Perpetua"/>
                <a:cs typeface="Perpetua"/>
              </a:rPr>
              <a:t>requires </a:t>
            </a:r>
            <a:r>
              <a:rPr sz="2400" i="1" spc="-5" dirty="0">
                <a:latin typeface="Perpetua"/>
                <a:cs typeface="Perpetua"/>
              </a:rPr>
              <a:t>n-1 </a:t>
            </a:r>
            <a:r>
              <a:rPr sz="2400" dirty="0">
                <a:latin typeface="Perpetua"/>
                <a:cs typeface="Perpetua"/>
              </a:rPr>
              <a:t>passes </a:t>
            </a:r>
            <a:r>
              <a:rPr sz="2400" spc="-5" dirty="0">
                <a:latin typeface="Perpetua"/>
                <a:cs typeface="Perpetua"/>
              </a:rPr>
              <a:t>to completely </a:t>
            </a:r>
            <a:r>
              <a:rPr sz="2400" dirty="0">
                <a:latin typeface="Perpetua"/>
                <a:cs typeface="Perpetua"/>
              </a:rPr>
              <a:t>rearrange the</a:t>
            </a:r>
            <a:r>
              <a:rPr sz="2400" spc="-1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data.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39000" y="304800"/>
            <a:ext cx="1562100" cy="190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5142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Perpetua"/>
                <a:cs typeface="Perpetua"/>
              </a:rPr>
              <a:t>General </a:t>
            </a:r>
            <a:r>
              <a:rPr sz="4000" spc="-10" dirty="0">
                <a:latin typeface="Perpetua"/>
                <a:cs typeface="Perpetua"/>
              </a:rPr>
              <a:t>strategy</a:t>
            </a:r>
            <a:r>
              <a:rPr sz="4000" spc="-30" dirty="0">
                <a:latin typeface="Perpetua"/>
                <a:cs typeface="Perpetua"/>
              </a:rPr>
              <a:t> </a:t>
            </a:r>
            <a:r>
              <a:rPr sz="4000" i="1" spc="-5" dirty="0">
                <a:latin typeface="Perpetua"/>
                <a:cs typeface="Perpetua"/>
              </a:rPr>
              <a:t>contd</a:t>
            </a:r>
            <a:r>
              <a:rPr sz="4000" spc="-5" dirty="0">
                <a:latin typeface="Perpetua"/>
                <a:cs typeface="Perpetua"/>
              </a:rPr>
              <a:t>---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380" y="1383476"/>
            <a:ext cx="8211184" cy="176403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00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spc="-10" dirty="0">
                <a:latin typeface="Perpetua"/>
                <a:cs typeface="Perpetua"/>
              </a:rPr>
              <a:t>Repeatedly </a:t>
            </a:r>
            <a:r>
              <a:rPr sz="2600" i="1" spc="-5" dirty="0">
                <a:latin typeface="Perpetua"/>
                <a:cs typeface="Perpetua"/>
              </a:rPr>
              <a:t>scan </a:t>
            </a:r>
            <a:r>
              <a:rPr sz="2600" spc="-5" dirty="0">
                <a:latin typeface="Perpetua"/>
                <a:cs typeface="Perpetua"/>
              </a:rPr>
              <a:t>through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list of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elements.</a:t>
            </a:r>
            <a:endParaRPr sz="2600">
              <a:latin typeface="Perpetua"/>
              <a:cs typeface="Perpetua"/>
            </a:endParaRP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  <a:tab pos="3513454" algn="l"/>
              </a:tabLst>
            </a:pPr>
            <a:r>
              <a:rPr sz="2600" i="1" dirty="0">
                <a:latin typeface="Perpetua"/>
                <a:cs typeface="Perpetua"/>
              </a:rPr>
              <a:t>Select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smallest element	(</a:t>
            </a:r>
            <a:r>
              <a:rPr sz="2600" i="1" dirty="0">
                <a:latin typeface="Perpetua"/>
                <a:cs typeface="Perpetua"/>
              </a:rPr>
              <a:t>S </a:t>
            </a:r>
            <a:r>
              <a:rPr sz="2600" i="1" spc="-5" dirty="0">
                <a:latin typeface="Perpetua"/>
                <a:cs typeface="Perpetua"/>
              </a:rPr>
              <a:t>in </a:t>
            </a:r>
            <a:r>
              <a:rPr sz="2600" i="1" spc="-10" dirty="0">
                <a:latin typeface="Perpetua"/>
                <a:cs typeface="Perpetua"/>
              </a:rPr>
              <a:t>figure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below</a:t>
            </a:r>
            <a:r>
              <a:rPr sz="2600" spc="-10" dirty="0">
                <a:latin typeface="Perpetua"/>
                <a:cs typeface="Perpetua"/>
              </a:rPr>
              <a:t>).</a:t>
            </a:r>
            <a:endParaRPr sz="2600">
              <a:latin typeface="Perpetua"/>
              <a:cs typeface="Perpetua"/>
            </a:endParaRPr>
          </a:p>
          <a:p>
            <a:pPr marL="241300" marR="5080" indent="-228600">
              <a:lnSpc>
                <a:spcPct val="10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i="1" spc="-20" dirty="0">
                <a:latin typeface="Perpetua"/>
                <a:cs typeface="Perpetua"/>
              </a:rPr>
              <a:t>Swap </a:t>
            </a:r>
            <a:r>
              <a:rPr sz="2600" dirty="0">
                <a:latin typeface="Perpetua"/>
                <a:cs typeface="Perpetua"/>
              </a:rPr>
              <a:t>the smallest </a:t>
            </a:r>
            <a:r>
              <a:rPr sz="2600" spc="-5" dirty="0">
                <a:latin typeface="Perpetua"/>
                <a:cs typeface="Perpetua"/>
              </a:rPr>
              <a:t>element </a:t>
            </a:r>
            <a:r>
              <a:rPr sz="2600" dirty="0">
                <a:latin typeface="Perpetua"/>
                <a:cs typeface="Perpetua"/>
              </a:rPr>
              <a:t>with the </a:t>
            </a:r>
            <a:r>
              <a:rPr sz="2600" spc="5" dirty="0">
                <a:latin typeface="Perpetua"/>
                <a:cs typeface="Perpetua"/>
              </a:rPr>
              <a:t>first </a:t>
            </a:r>
            <a:r>
              <a:rPr sz="2600" dirty="0">
                <a:latin typeface="Perpetua"/>
                <a:cs typeface="Perpetua"/>
              </a:rPr>
              <a:t>element ( </a:t>
            </a:r>
            <a:r>
              <a:rPr sz="2600" i="1" dirty="0">
                <a:latin typeface="Perpetua"/>
                <a:cs typeface="Perpetua"/>
              </a:rPr>
              <a:t>F </a:t>
            </a:r>
            <a:r>
              <a:rPr sz="2600" i="1" spc="-5" dirty="0">
                <a:latin typeface="Perpetua"/>
                <a:cs typeface="Perpetua"/>
              </a:rPr>
              <a:t>in </a:t>
            </a:r>
            <a:r>
              <a:rPr sz="2600" i="1" spc="-10" dirty="0">
                <a:latin typeface="Perpetua"/>
                <a:cs typeface="Perpetua"/>
              </a:rPr>
              <a:t>figure </a:t>
            </a:r>
            <a:r>
              <a:rPr sz="2600" i="1" spc="-15" dirty="0">
                <a:latin typeface="Perpetua"/>
                <a:cs typeface="Perpetua"/>
              </a:rPr>
              <a:t>below </a:t>
            </a:r>
            <a:r>
              <a:rPr sz="2600" dirty="0">
                <a:latin typeface="Perpetua"/>
                <a:cs typeface="Perpetua"/>
              </a:rPr>
              <a:t>)  in the </a:t>
            </a:r>
            <a:r>
              <a:rPr sz="2600" spc="-5" dirty="0">
                <a:latin typeface="Perpetua"/>
                <a:cs typeface="Perpetua"/>
              </a:rPr>
              <a:t>remaining list of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elements.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15761" y="3582161"/>
            <a:ext cx="425450" cy="393700"/>
          </a:xfrm>
          <a:custGeom>
            <a:avLst/>
            <a:gdLst/>
            <a:ahLst/>
            <a:cxnLst/>
            <a:rect l="l" t="t" r="r" b="b"/>
            <a:pathLst>
              <a:path w="425450" h="393700">
                <a:moveTo>
                  <a:pt x="0" y="196595"/>
                </a:moveTo>
                <a:lnTo>
                  <a:pt x="5611" y="151515"/>
                </a:lnTo>
                <a:lnTo>
                  <a:pt x="21598" y="110134"/>
                </a:lnTo>
                <a:lnTo>
                  <a:pt x="46686" y="73631"/>
                </a:lnTo>
                <a:lnTo>
                  <a:pt x="79603" y="43187"/>
                </a:lnTo>
                <a:lnTo>
                  <a:pt x="119076" y="19980"/>
                </a:lnTo>
                <a:lnTo>
                  <a:pt x="163832" y="5191"/>
                </a:lnTo>
                <a:lnTo>
                  <a:pt x="212598" y="0"/>
                </a:lnTo>
                <a:lnTo>
                  <a:pt x="261363" y="5191"/>
                </a:lnTo>
                <a:lnTo>
                  <a:pt x="306119" y="19980"/>
                </a:lnTo>
                <a:lnTo>
                  <a:pt x="345592" y="43187"/>
                </a:lnTo>
                <a:lnTo>
                  <a:pt x="378509" y="73631"/>
                </a:lnTo>
                <a:lnTo>
                  <a:pt x="403597" y="110134"/>
                </a:lnTo>
                <a:lnTo>
                  <a:pt x="419584" y="151515"/>
                </a:lnTo>
                <a:lnTo>
                  <a:pt x="425196" y="196595"/>
                </a:lnTo>
                <a:lnTo>
                  <a:pt x="419584" y="241676"/>
                </a:lnTo>
                <a:lnTo>
                  <a:pt x="403597" y="283057"/>
                </a:lnTo>
                <a:lnTo>
                  <a:pt x="378509" y="319560"/>
                </a:lnTo>
                <a:lnTo>
                  <a:pt x="345592" y="350004"/>
                </a:lnTo>
                <a:lnTo>
                  <a:pt x="306119" y="373211"/>
                </a:lnTo>
                <a:lnTo>
                  <a:pt x="261363" y="388000"/>
                </a:lnTo>
                <a:lnTo>
                  <a:pt x="212598" y="393192"/>
                </a:lnTo>
                <a:lnTo>
                  <a:pt x="163832" y="388000"/>
                </a:lnTo>
                <a:lnTo>
                  <a:pt x="119076" y="373211"/>
                </a:lnTo>
                <a:lnTo>
                  <a:pt x="79603" y="350004"/>
                </a:lnTo>
                <a:lnTo>
                  <a:pt x="46686" y="319560"/>
                </a:lnTo>
                <a:lnTo>
                  <a:pt x="21598" y="283057"/>
                </a:lnTo>
                <a:lnTo>
                  <a:pt x="5611" y="241676"/>
                </a:lnTo>
                <a:lnTo>
                  <a:pt x="0" y="196595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72561" y="3582161"/>
            <a:ext cx="425450" cy="393700"/>
          </a:xfrm>
          <a:custGeom>
            <a:avLst/>
            <a:gdLst/>
            <a:ahLst/>
            <a:cxnLst/>
            <a:rect l="l" t="t" r="r" b="b"/>
            <a:pathLst>
              <a:path w="425450" h="393700">
                <a:moveTo>
                  <a:pt x="0" y="196595"/>
                </a:moveTo>
                <a:lnTo>
                  <a:pt x="5611" y="151515"/>
                </a:lnTo>
                <a:lnTo>
                  <a:pt x="21598" y="110134"/>
                </a:lnTo>
                <a:lnTo>
                  <a:pt x="46686" y="73631"/>
                </a:lnTo>
                <a:lnTo>
                  <a:pt x="79603" y="43187"/>
                </a:lnTo>
                <a:lnTo>
                  <a:pt x="119076" y="19980"/>
                </a:lnTo>
                <a:lnTo>
                  <a:pt x="163832" y="5191"/>
                </a:lnTo>
                <a:lnTo>
                  <a:pt x="212598" y="0"/>
                </a:lnTo>
                <a:lnTo>
                  <a:pt x="261363" y="5191"/>
                </a:lnTo>
                <a:lnTo>
                  <a:pt x="306119" y="19980"/>
                </a:lnTo>
                <a:lnTo>
                  <a:pt x="345592" y="43187"/>
                </a:lnTo>
                <a:lnTo>
                  <a:pt x="378509" y="73631"/>
                </a:lnTo>
                <a:lnTo>
                  <a:pt x="403597" y="110134"/>
                </a:lnTo>
                <a:lnTo>
                  <a:pt x="419584" y="151515"/>
                </a:lnTo>
                <a:lnTo>
                  <a:pt x="425196" y="196595"/>
                </a:lnTo>
                <a:lnTo>
                  <a:pt x="419584" y="241676"/>
                </a:lnTo>
                <a:lnTo>
                  <a:pt x="403597" y="283057"/>
                </a:lnTo>
                <a:lnTo>
                  <a:pt x="378509" y="319560"/>
                </a:lnTo>
                <a:lnTo>
                  <a:pt x="345592" y="350004"/>
                </a:lnTo>
                <a:lnTo>
                  <a:pt x="306119" y="373211"/>
                </a:lnTo>
                <a:lnTo>
                  <a:pt x="261363" y="388000"/>
                </a:lnTo>
                <a:lnTo>
                  <a:pt x="212598" y="393192"/>
                </a:lnTo>
                <a:lnTo>
                  <a:pt x="163832" y="388000"/>
                </a:lnTo>
                <a:lnTo>
                  <a:pt x="119076" y="373211"/>
                </a:lnTo>
                <a:lnTo>
                  <a:pt x="79603" y="350004"/>
                </a:lnTo>
                <a:lnTo>
                  <a:pt x="46686" y="319560"/>
                </a:lnTo>
                <a:lnTo>
                  <a:pt x="21598" y="283057"/>
                </a:lnTo>
                <a:lnTo>
                  <a:pt x="5611" y="241676"/>
                </a:lnTo>
                <a:lnTo>
                  <a:pt x="0" y="196595"/>
                </a:lnTo>
                <a:close/>
              </a:path>
            </a:pathLst>
          </a:custGeom>
          <a:ln w="38100">
            <a:solidFill>
              <a:srgbClr val="6F49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44161" y="4191761"/>
            <a:ext cx="425450" cy="393700"/>
          </a:xfrm>
          <a:custGeom>
            <a:avLst/>
            <a:gdLst/>
            <a:ahLst/>
            <a:cxnLst/>
            <a:rect l="l" t="t" r="r" b="b"/>
            <a:pathLst>
              <a:path w="425450" h="393700">
                <a:moveTo>
                  <a:pt x="0" y="196595"/>
                </a:moveTo>
                <a:lnTo>
                  <a:pt x="5611" y="151515"/>
                </a:lnTo>
                <a:lnTo>
                  <a:pt x="21598" y="110134"/>
                </a:lnTo>
                <a:lnTo>
                  <a:pt x="46686" y="73631"/>
                </a:lnTo>
                <a:lnTo>
                  <a:pt x="79603" y="43187"/>
                </a:lnTo>
                <a:lnTo>
                  <a:pt x="119076" y="19980"/>
                </a:lnTo>
                <a:lnTo>
                  <a:pt x="163832" y="5191"/>
                </a:lnTo>
                <a:lnTo>
                  <a:pt x="212598" y="0"/>
                </a:lnTo>
                <a:lnTo>
                  <a:pt x="261363" y="5191"/>
                </a:lnTo>
                <a:lnTo>
                  <a:pt x="306119" y="19980"/>
                </a:lnTo>
                <a:lnTo>
                  <a:pt x="345592" y="43187"/>
                </a:lnTo>
                <a:lnTo>
                  <a:pt x="378509" y="73631"/>
                </a:lnTo>
                <a:lnTo>
                  <a:pt x="403597" y="110134"/>
                </a:lnTo>
                <a:lnTo>
                  <a:pt x="419584" y="151515"/>
                </a:lnTo>
                <a:lnTo>
                  <a:pt x="425196" y="196595"/>
                </a:lnTo>
                <a:lnTo>
                  <a:pt x="419584" y="241676"/>
                </a:lnTo>
                <a:lnTo>
                  <a:pt x="403597" y="283057"/>
                </a:lnTo>
                <a:lnTo>
                  <a:pt x="378509" y="319560"/>
                </a:lnTo>
                <a:lnTo>
                  <a:pt x="345592" y="350004"/>
                </a:lnTo>
                <a:lnTo>
                  <a:pt x="306119" y="373211"/>
                </a:lnTo>
                <a:lnTo>
                  <a:pt x="261363" y="388000"/>
                </a:lnTo>
                <a:lnTo>
                  <a:pt x="212598" y="393192"/>
                </a:lnTo>
                <a:lnTo>
                  <a:pt x="163832" y="388000"/>
                </a:lnTo>
                <a:lnTo>
                  <a:pt x="119076" y="373211"/>
                </a:lnTo>
                <a:lnTo>
                  <a:pt x="79603" y="350004"/>
                </a:lnTo>
                <a:lnTo>
                  <a:pt x="46686" y="319560"/>
                </a:lnTo>
                <a:lnTo>
                  <a:pt x="21598" y="283057"/>
                </a:lnTo>
                <a:lnTo>
                  <a:pt x="5611" y="241676"/>
                </a:lnTo>
                <a:lnTo>
                  <a:pt x="0" y="196595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29761" y="4191761"/>
            <a:ext cx="425450" cy="393700"/>
          </a:xfrm>
          <a:custGeom>
            <a:avLst/>
            <a:gdLst/>
            <a:ahLst/>
            <a:cxnLst/>
            <a:rect l="l" t="t" r="r" b="b"/>
            <a:pathLst>
              <a:path w="425450" h="393700">
                <a:moveTo>
                  <a:pt x="0" y="196595"/>
                </a:moveTo>
                <a:lnTo>
                  <a:pt x="5611" y="151515"/>
                </a:lnTo>
                <a:lnTo>
                  <a:pt x="21598" y="110134"/>
                </a:lnTo>
                <a:lnTo>
                  <a:pt x="46686" y="73631"/>
                </a:lnTo>
                <a:lnTo>
                  <a:pt x="79603" y="43187"/>
                </a:lnTo>
                <a:lnTo>
                  <a:pt x="119076" y="19980"/>
                </a:lnTo>
                <a:lnTo>
                  <a:pt x="163832" y="5191"/>
                </a:lnTo>
                <a:lnTo>
                  <a:pt x="212598" y="0"/>
                </a:lnTo>
                <a:lnTo>
                  <a:pt x="261363" y="5191"/>
                </a:lnTo>
                <a:lnTo>
                  <a:pt x="306119" y="19980"/>
                </a:lnTo>
                <a:lnTo>
                  <a:pt x="345592" y="43187"/>
                </a:lnTo>
                <a:lnTo>
                  <a:pt x="378509" y="73631"/>
                </a:lnTo>
                <a:lnTo>
                  <a:pt x="403597" y="110134"/>
                </a:lnTo>
                <a:lnTo>
                  <a:pt x="419584" y="151515"/>
                </a:lnTo>
                <a:lnTo>
                  <a:pt x="425196" y="196595"/>
                </a:lnTo>
                <a:lnTo>
                  <a:pt x="419584" y="241676"/>
                </a:lnTo>
                <a:lnTo>
                  <a:pt x="403597" y="283057"/>
                </a:lnTo>
                <a:lnTo>
                  <a:pt x="378509" y="319560"/>
                </a:lnTo>
                <a:lnTo>
                  <a:pt x="345592" y="350004"/>
                </a:lnTo>
                <a:lnTo>
                  <a:pt x="306119" y="373211"/>
                </a:lnTo>
                <a:lnTo>
                  <a:pt x="261363" y="388000"/>
                </a:lnTo>
                <a:lnTo>
                  <a:pt x="212598" y="393192"/>
                </a:lnTo>
                <a:lnTo>
                  <a:pt x="163832" y="388000"/>
                </a:lnTo>
                <a:lnTo>
                  <a:pt x="119076" y="373211"/>
                </a:lnTo>
                <a:lnTo>
                  <a:pt x="79603" y="350004"/>
                </a:lnTo>
                <a:lnTo>
                  <a:pt x="46686" y="319560"/>
                </a:lnTo>
                <a:lnTo>
                  <a:pt x="21598" y="283057"/>
                </a:lnTo>
                <a:lnTo>
                  <a:pt x="5611" y="241676"/>
                </a:lnTo>
                <a:lnTo>
                  <a:pt x="0" y="196595"/>
                </a:lnTo>
                <a:close/>
              </a:path>
            </a:pathLst>
          </a:custGeom>
          <a:ln w="38100">
            <a:solidFill>
              <a:srgbClr val="6F49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14365" y="4725161"/>
            <a:ext cx="425450" cy="393700"/>
          </a:xfrm>
          <a:custGeom>
            <a:avLst/>
            <a:gdLst/>
            <a:ahLst/>
            <a:cxnLst/>
            <a:rect l="l" t="t" r="r" b="b"/>
            <a:pathLst>
              <a:path w="425450" h="393700">
                <a:moveTo>
                  <a:pt x="0" y="196595"/>
                </a:moveTo>
                <a:lnTo>
                  <a:pt x="5611" y="151515"/>
                </a:lnTo>
                <a:lnTo>
                  <a:pt x="21598" y="110134"/>
                </a:lnTo>
                <a:lnTo>
                  <a:pt x="46686" y="73631"/>
                </a:lnTo>
                <a:lnTo>
                  <a:pt x="79603" y="43187"/>
                </a:lnTo>
                <a:lnTo>
                  <a:pt x="119076" y="19980"/>
                </a:lnTo>
                <a:lnTo>
                  <a:pt x="163832" y="5191"/>
                </a:lnTo>
                <a:lnTo>
                  <a:pt x="212598" y="0"/>
                </a:lnTo>
                <a:lnTo>
                  <a:pt x="261363" y="5191"/>
                </a:lnTo>
                <a:lnTo>
                  <a:pt x="306119" y="19980"/>
                </a:lnTo>
                <a:lnTo>
                  <a:pt x="345592" y="43187"/>
                </a:lnTo>
                <a:lnTo>
                  <a:pt x="378509" y="73631"/>
                </a:lnTo>
                <a:lnTo>
                  <a:pt x="403597" y="110134"/>
                </a:lnTo>
                <a:lnTo>
                  <a:pt x="419584" y="151515"/>
                </a:lnTo>
                <a:lnTo>
                  <a:pt x="425196" y="196595"/>
                </a:lnTo>
                <a:lnTo>
                  <a:pt x="419584" y="241676"/>
                </a:lnTo>
                <a:lnTo>
                  <a:pt x="403597" y="283057"/>
                </a:lnTo>
                <a:lnTo>
                  <a:pt x="378509" y="319560"/>
                </a:lnTo>
                <a:lnTo>
                  <a:pt x="345592" y="350004"/>
                </a:lnTo>
                <a:lnTo>
                  <a:pt x="306119" y="373211"/>
                </a:lnTo>
                <a:lnTo>
                  <a:pt x="261363" y="388000"/>
                </a:lnTo>
                <a:lnTo>
                  <a:pt x="212598" y="393192"/>
                </a:lnTo>
                <a:lnTo>
                  <a:pt x="163832" y="388000"/>
                </a:lnTo>
                <a:lnTo>
                  <a:pt x="119076" y="373211"/>
                </a:lnTo>
                <a:lnTo>
                  <a:pt x="79603" y="350004"/>
                </a:lnTo>
                <a:lnTo>
                  <a:pt x="46686" y="319560"/>
                </a:lnTo>
                <a:lnTo>
                  <a:pt x="21598" y="283057"/>
                </a:lnTo>
                <a:lnTo>
                  <a:pt x="5611" y="241676"/>
                </a:lnTo>
                <a:lnTo>
                  <a:pt x="0" y="196595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86961" y="4725161"/>
            <a:ext cx="425450" cy="393700"/>
          </a:xfrm>
          <a:custGeom>
            <a:avLst/>
            <a:gdLst/>
            <a:ahLst/>
            <a:cxnLst/>
            <a:rect l="l" t="t" r="r" b="b"/>
            <a:pathLst>
              <a:path w="425450" h="393700">
                <a:moveTo>
                  <a:pt x="0" y="196595"/>
                </a:moveTo>
                <a:lnTo>
                  <a:pt x="5611" y="151515"/>
                </a:lnTo>
                <a:lnTo>
                  <a:pt x="21598" y="110134"/>
                </a:lnTo>
                <a:lnTo>
                  <a:pt x="46686" y="73631"/>
                </a:lnTo>
                <a:lnTo>
                  <a:pt x="79603" y="43187"/>
                </a:lnTo>
                <a:lnTo>
                  <a:pt x="119076" y="19980"/>
                </a:lnTo>
                <a:lnTo>
                  <a:pt x="163832" y="5191"/>
                </a:lnTo>
                <a:lnTo>
                  <a:pt x="212598" y="0"/>
                </a:lnTo>
                <a:lnTo>
                  <a:pt x="261363" y="5191"/>
                </a:lnTo>
                <a:lnTo>
                  <a:pt x="306119" y="19980"/>
                </a:lnTo>
                <a:lnTo>
                  <a:pt x="345592" y="43187"/>
                </a:lnTo>
                <a:lnTo>
                  <a:pt x="378509" y="73631"/>
                </a:lnTo>
                <a:lnTo>
                  <a:pt x="403597" y="110134"/>
                </a:lnTo>
                <a:lnTo>
                  <a:pt x="419584" y="151515"/>
                </a:lnTo>
                <a:lnTo>
                  <a:pt x="425196" y="196595"/>
                </a:lnTo>
                <a:lnTo>
                  <a:pt x="419584" y="241676"/>
                </a:lnTo>
                <a:lnTo>
                  <a:pt x="403597" y="283057"/>
                </a:lnTo>
                <a:lnTo>
                  <a:pt x="378509" y="319560"/>
                </a:lnTo>
                <a:lnTo>
                  <a:pt x="345592" y="350004"/>
                </a:lnTo>
                <a:lnTo>
                  <a:pt x="306119" y="373211"/>
                </a:lnTo>
                <a:lnTo>
                  <a:pt x="261363" y="388000"/>
                </a:lnTo>
                <a:lnTo>
                  <a:pt x="212598" y="393192"/>
                </a:lnTo>
                <a:lnTo>
                  <a:pt x="163832" y="388000"/>
                </a:lnTo>
                <a:lnTo>
                  <a:pt x="119076" y="373211"/>
                </a:lnTo>
                <a:lnTo>
                  <a:pt x="79603" y="350004"/>
                </a:lnTo>
                <a:lnTo>
                  <a:pt x="46686" y="319560"/>
                </a:lnTo>
                <a:lnTo>
                  <a:pt x="21598" y="283057"/>
                </a:lnTo>
                <a:lnTo>
                  <a:pt x="5611" y="241676"/>
                </a:lnTo>
                <a:lnTo>
                  <a:pt x="0" y="196595"/>
                </a:lnTo>
                <a:close/>
              </a:path>
            </a:pathLst>
          </a:custGeom>
          <a:ln w="38100">
            <a:solidFill>
              <a:srgbClr val="6F49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61103" y="5937503"/>
            <a:ext cx="164592" cy="1645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61103" y="6242303"/>
            <a:ext cx="164592" cy="1645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72561" y="3505961"/>
            <a:ext cx="1270" cy="609600"/>
          </a:xfrm>
          <a:custGeom>
            <a:avLst/>
            <a:gdLst/>
            <a:ahLst/>
            <a:cxnLst/>
            <a:rect l="l" t="t" r="r" b="b"/>
            <a:pathLst>
              <a:path w="1269" h="609600">
                <a:moveTo>
                  <a:pt x="762" y="0"/>
                </a:moveTo>
                <a:lnTo>
                  <a:pt x="0" y="6096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958210" y="3567684"/>
          <a:ext cx="3153409" cy="23050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3390"/>
                <a:gridCol w="453390"/>
                <a:gridCol w="447675"/>
                <a:gridCol w="446405"/>
                <a:gridCol w="450850"/>
                <a:gridCol w="449580"/>
                <a:gridCol w="452119"/>
              </a:tblGrid>
              <a:tr h="4236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7960" algn="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S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0678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95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23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4B39B"/>
                    </a:solidFill>
                  </a:tcPr>
                </a:tc>
                <a:tc>
                  <a:txBody>
                    <a:bodyPr/>
                    <a:lstStyle/>
                    <a:p>
                      <a:pPr marR="171450" algn="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S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97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23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4B3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4B39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S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0678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9525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236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4B3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4B3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4B3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-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778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539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3203575" y="6327140"/>
            <a:ext cx="2611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Perpetua"/>
                <a:cs typeface="Perpetua"/>
              </a:rPr>
              <a:t>Figure: Select </a:t>
            </a:r>
            <a:r>
              <a:rPr sz="1800" dirty="0">
                <a:latin typeface="Perpetua"/>
                <a:cs typeface="Perpetua"/>
              </a:rPr>
              <a:t>and </a:t>
            </a:r>
            <a:r>
              <a:rPr sz="1800" spc="-15" dirty="0">
                <a:latin typeface="Perpetua"/>
                <a:cs typeface="Perpetua"/>
              </a:rPr>
              <a:t>swap</a:t>
            </a:r>
            <a:r>
              <a:rPr sz="1800" spc="-19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process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81800" y="381000"/>
            <a:ext cx="1600200" cy="1950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2301"/>
            <a:ext cx="8167370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Perpetua"/>
                <a:cs typeface="Perpetua"/>
              </a:rPr>
              <a:t>Eg: </a:t>
            </a:r>
            <a:r>
              <a:rPr sz="4000" spc="35" dirty="0">
                <a:latin typeface="Perpetua"/>
                <a:cs typeface="Perpetua"/>
              </a:rPr>
              <a:t>Sort </a:t>
            </a:r>
            <a:r>
              <a:rPr sz="4000" spc="-5" dirty="0">
                <a:latin typeface="Perpetua"/>
                <a:cs typeface="Perpetua"/>
              </a:rPr>
              <a:t>a list of 6 </a:t>
            </a:r>
            <a:r>
              <a:rPr sz="4000" dirty="0">
                <a:latin typeface="Perpetua"/>
                <a:cs typeface="Perpetua"/>
              </a:rPr>
              <a:t>elements </a:t>
            </a:r>
            <a:r>
              <a:rPr sz="4000" spc="-10" dirty="0">
                <a:latin typeface="Perpetua"/>
                <a:cs typeface="Perpetua"/>
              </a:rPr>
              <a:t>from </a:t>
            </a:r>
            <a:r>
              <a:rPr sz="4000" spc="-5" dirty="0">
                <a:latin typeface="Perpetua"/>
                <a:cs typeface="Perpetua"/>
              </a:rPr>
              <a:t>smallest</a:t>
            </a:r>
            <a:r>
              <a:rPr sz="4000" spc="-180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to  largest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99970" y="5174090"/>
            <a:ext cx="4980940" cy="177165"/>
          </a:xfrm>
          <a:custGeom>
            <a:avLst/>
            <a:gdLst/>
            <a:ahLst/>
            <a:cxnLst/>
            <a:rect l="l" t="t" r="r" b="b"/>
            <a:pathLst>
              <a:path w="4980940" h="177164">
                <a:moveTo>
                  <a:pt x="4980635" y="0"/>
                </a:moveTo>
                <a:lnTo>
                  <a:pt x="217390" y="0"/>
                </a:lnTo>
                <a:lnTo>
                  <a:pt x="0" y="176711"/>
                </a:lnTo>
                <a:lnTo>
                  <a:pt x="4763179" y="176712"/>
                </a:lnTo>
                <a:lnTo>
                  <a:pt x="4980635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04903" y="5189652"/>
            <a:ext cx="207645" cy="166370"/>
          </a:xfrm>
          <a:custGeom>
            <a:avLst/>
            <a:gdLst/>
            <a:ahLst/>
            <a:cxnLst/>
            <a:rect l="l" t="t" r="r" b="b"/>
            <a:pathLst>
              <a:path w="207644" h="166370">
                <a:moveTo>
                  <a:pt x="0" y="166337"/>
                </a:moveTo>
                <a:lnTo>
                  <a:pt x="207523" y="0"/>
                </a:lnTo>
              </a:path>
            </a:pathLst>
          </a:custGeom>
          <a:ln w="10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30631" y="5179277"/>
            <a:ext cx="445134" cy="0"/>
          </a:xfrm>
          <a:custGeom>
            <a:avLst/>
            <a:gdLst/>
            <a:ahLst/>
            <a:cxnLst/>
            <a:rect l="l" t="t" r="r" b="b"/>
            <a:pathLst>
              <a:path w="445134">
                <a:moveTo>
                  <a:pt x="0" y="0"/>
                </a:moveTo>
                <a:lnTo>
                  <a:pt x="444581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40331" y="5179277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5">
                <a:moveTo>
                  <a:pt x="0" y="0"/>
                </a:moveTo>
                <a:lnTo>
                  <a:pt x="474246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39835" y="5179277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5">
                <a:moveTo>
                  <a:pt x="0" y="0"/>
                </a:moveTo>
                <a:lnTo>
                  <a:pt x="474246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49272" y="5179277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5">
                <a:moveTo>
                  <a:pt x="0" y="0"/>
                </a:moveTo>
                <a:lnTo>
                  <a:pt x="474180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58642" y="5179277"/>
            <a:ext cx="474980" cy="0"/>
          </a:xfrm>
          <a:custGeom>
            <a:avLst/>
            <a:gdLst/>
            <a:ahLst/>
            <a:cxnLst/>
            <a:rect l="l" t="t" r="r" b="b"/>
            <a:pathLst>
              <a:path w="474979">
                <a:moveTo>
                  <a:pt x="0" y="0"/>
                </a:moveTo>
                <a:lnTo>
                  <a:pt x="474574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58410" y="5179277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5">
                <a:moveTo>
                  <a:pt x="0" y="0"/>
                </a:moveTo>
                <a:lnTo>
                  <a:pt x="484178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22293" y="5179277"/>
            <a:ext cx="20320" cy="0"/>
          </a:xfrm>
          <a:custGeom>
            <a:avLst/>
            <a:gdLst/>
            <a:ahLst/>
            <a:cxnLst/>
            <a:rect l="l" t="t" r="r" b="b"/>
            <a:pathLst>
              <a:path w="20319">
                <a:moveTo>
                  <a:pt x="0" y="0"/>
                </a:moveTo>
                <a:lnTo>
                  <a:pt x="19732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04903" y="4690293"/>
            <a:ext cx="207645" cy="166370"/>
          </a:xfrm>
          <a:custGeom>
            <a:avLst/>
            <a:gdLst/>
            <a:ahLst/>
            <a:cxnLst/>
            <a:rect l="l" t="t" r="r" b="b"/>
            <a:pathLst>
              <a:path w="207644" h="166370">
                <a:moveTo>
                  <a:pt x="0" y="166337"/>
                </a:moveTo>
                <a:lnTo>
                  <a:pt x="207523" y="0"/>
                </a:lnTo>
              </a:path>
            </a:pathLst>
          </a:custGeom>
          <a:ln w="10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30631" y="4679919"/>
            <a:ext cx="445134" cy="0"/>
          </a:xfrm>
          <a:custGeom>
            <a:avLst/>
            <a:gdLst/>
            <a:ahLst/>
            <a:cxnLst/>
            <a:rect l="l" t="t" r="r" b="b"/>
            <a:pathLst>
              <a:path w="445134">
                <a:moveTo>
                  <a:pt x="0" y="0"/>
                </a:moveTo>
                <a:lnTo>
                  <a:pt x="444581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39835" y="4679919"/>
            <a:ext cx="1275080" cy="0"/>
          </a:xfrm>
          <a:custGeom>
            <a:avLst/>
            <a:gdLst/>
            <a:ahLst/>
            <a:cxnLst/>
            <a:rect l="l" t="t" r="r" b="b"/>
            <a:pathLst>
              <a:path w="1275079">
                <a:moveTo>
                  <a:pt x="0" y="0"/>
                </a:moveTo>
                <a:lnTo>
                  <a:pt x="1274741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49272" y="4679919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5">
                <a:moveTo>
                  <a:pt x="0" y="0"/>
                </a:moveTo>
                <a:lnTo>
                  <a:pt x="474180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58642" y="4679919"/>
            <a:ext cx="474980" cy="0"/>
          </a:xfrm>
          <a:custGeom>
            <a:avLst/>
            <a:gdLst/>
            <a:ahLst/>
            <a:cxnLst/>
            <a:rect l="l" t="t" r="r" b="b"/>
            <a:pathLst>
              <a:path w="474979">
                <a:moveTo>
                  <a:pt x="0" y="0"/>
                </a:moveTo>
                <a:lnTo>
                  <a:pt x="474574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658410" y="4679919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5">
                <a:moveTo>
                  <a:pt x="0" y="0"/>
                </a:moveTo>
                <a:lnTo>
                  <a:pt x="484178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22293" y="4679919"/>
            <a:ext cx="20320" cy="0"/>
          </a:xfrm>
          <a:custGeom>
            <a:avLst/>
            <a:gdLst/>
            <a:ahLst/>
            <a:cxnLst/>
            <a:rect l="l" t="t" r="r" b="b"/>
            <a:pathLst>
              <a:path w="20319">
                <a:moveTo>
                  <a:pt x="0" y="0"/>
                </a:moveTo>
                <a:lnTo>
                  <a:pt x="19732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104903" y="4201655"/>
            <a:ext cx="207645" cy="166370"/>
          </a:xfrm>
          <a:custGeom>
            <a:avLst/>
            <a:gdLst/>
            <a:ahLst/>
            <a:cxnLst/>
            <a:rect l="l" t="t" r="r" b="b"/>
            <a:pathLst>
              <a:path w="207644" h="166370">
                <a:moveTo>
                  <a:pt x="0" y="166268"/>
                </a:moveTo>
                <a:lnTo>
                  <a:pt x="207523" y="0"/>
                </a:lnTo>
              </a:path>
            </a:pathLst>
          </a:custGeom>
          <a:ln w="10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39835" y="4191281"/>
            <a:ext cx="2035810" cy="0"/>
          </a:xfrm>
          <a:custGeom>
            <a:avLst/>
            <a:gdLst/>
            <a:ahLst/>
            <a:cxnLst/>
            <a:rect l="l" t="t" r="r" b="b"/>
            <a:pathLst>
              <a:path w="2035809">
                <a:moveTo>
                  <a:pt x="0" y="0"/>
                </a:moveTo>
                <a:lnTo>
                  <a:pt x="2035377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49272" y="4191281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5">
                <a:moveTo>
                  <a:pt x="0" y="0"/>
                </a:moveTo>
                <a:lnTo>
                  <a:pt x="474180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658410" y="4191281"/>
            <a:ext cx="1275080" cy="0"/>
          </a:xfrm>
          <a:custGeom>
            <a:avLst/>
            <a:gdLst/>
            <a:ahLst/>
            <a:cxnLst/>
            <a:rect l="l" t="t" r="r" b="b"/>
            <a:pathLst>
              <a:path w="1275079">
                <a:moveTo>
                  <a:pt x="0" y="0"/>
                </a:moveTo>
                <a:lnTo>
                  <a:pt x="1274807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22293" y="4191281"/>
            <a:ext cx="20320" cy="0"/>
          </a:xfrm>
          <a:custGeom>
            <a:avLst/>
            <a:gdLst/>
            <a:ahLst/>
            <a:cxnLst/>
            <a:rect l="l" t="t" r="r" b="b"/>
            <a:pathLst>
              <a:path w="20319">
                <a:moveTo>
                  <a:pt x="0" y="0"/>
                </a:moveTo>
                <a:lnTo>
                  <a:pt x="19732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104903" y="3702573"/>
            <a:ext cx="207645" cy="167005"/>
          </a:xfrm>
          <a:custGeom>
            <a:avLst/>
            <a:gdLst/>
            <a:ahLst/>
            <a:cxnLst/>
            <a:rect l="l" t="t" r="r" b="b"/>
            <a:pathLst>
              <a:path w="207644" h="167004">
                <a:moveTo>
                  <a:pt x="0" y="166406"/>
                </a:moveTo>
                <a:lnTo>
                  <a:pt x="207523" y="0"/>
                </a:lnTo>
              </a:path>
            </a:pathLst>
          </a:custGeom>
          <a:ln w="10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39835" y="3692199"/>
            <a:ext cx="2035810" cy="0"/>
          </a:xfrm>
          <a:custGeom>
            <a:avLst/>
            <a:gdLst/>
            <a:ahLst/>
            <a:cxnLst/>
            <a:rect l="l" t="t" r="r" b="b"/>
            <a:pathLst>
              <a:path w="2035809">
                <a:moveTo>
                  <a:pt x="0" y="0"/>
                </a:moveTo>
                <a:lnTo>
                  <a:pt x="2035377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49272" y="3692199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5">
                <a:moveTo>
                  <a:pt x="0" y="0"/>
                </a:moveTo>
                <a:lnTo>
                  <a:pt x="474180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58410" y="3692199"/>
            <a:ext cx="1275080" cy="0"/>
          </a:xfrm>
          <a:custGeom>
            <a:avLst/>
            <a:gdLst/>
            <a:ahLst/>
            <a:cxnLst/>
            <a:rect l="l" t="t" r="r" b="b"/>
            <a:pathLst>
              <a:path w="1275079">
                <a:moveTo>
                  <a:pt x="0" y="0"/>
                </a:moveTo>
                <a:lnTo>
                  <a:pt x="1274807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22293" y="3692199"/>
            <a:ext cx="20320" cy="0"/>
          </a:xfrm>
          <a:custGeom>
            <a:avLst/>
            <a:gdLst/>
            <a:ahLst/>
            <a:cxnLst/>
            <a:rect l="l" t="t" r="r" b="b"/>
            <a:pathLst>
              <a:path w="20319">
                <a:moveTo>
                  <a:pt x="0" y="0"/>
                </a:moveTo>
                <a:lnTo>
                  <a:pt x="19732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04903" y="3213590"/>
            <a:ext cx="207645" cy="167005"/>
          </a:xfrm>
          <a:custGeom>
            <a:avLst/>
            <a:gdLst/>
            <a:ahLst/>
            <a:cxnLst/>
            <a:rect l="l" t="t" r="r" b="b"/>
            <a:pathLst>
              <a:path w="207644" h="167004">
                <a:moveTo>
                  <a:pt x="0" y="166683"/>
                </a:moveTo>
                <a:lnTo>
                  <a:pt x="207523" y="0"/>
                </a:lnTo>
              </a:path>
            </a:pathLst>
          </a:custGeom>
          <a:ln w="10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039835" y="3203215"/>
            <a:ext cx="2035810" cy="0"/>
          </a:xfrm>
          <a:custGeom>
            <a:avLst/>
            <a:gdLst/>
            <a:ahLst/>
            <a:cxnLst/>
            <a:rect l="l" t="t" r="r" b="b"/>
            <a:pathLst>
              <a:path w="2035809">
                <a:moveTo>
                  <a:pt x="0" y="0"/>
                </a:moveTo>
                <a:lnTo>
                  <a:pt x="2035377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49272" y="3203215"/>
            <a:ext cx="474345" cy="0"/>
          </a:xfrm>
          <a:custGeom>
            <a:avLst/>
            <a:gdLst/>
            <a:ahLst/>
            <a:cxnLst/>
            <a:rect l="l" t="t" r="r" b="b"/>
            <a:pathLst>
              <a:path w="474345">
                <a:moveTo>
                  <a:pt x="0" y="0"/>
                </a:moveTo>
                <a:lnTo>
                  <a:pt x="474180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658410" y="3203215"/>
            <a:ext cx="1275080" cy="0"/>
          </a:xfrm>
          <a:custGeom>
            <a:avLst/>
            <a:gdLst/>
            <a:ahLst/>
            <a:cxnLst/>
            <a:rect l="l" t="t" r="r" b="b"/>
            <a:pathLst>
              <a:path w="1275079">
                <a:moveTo>
                  <a:pt x="0" y="0"/>
                </a:moveTo>
                <a:lnTo>
                  <a:pt x="1274807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322293" y="3203215"/>
            <a:ext cx="20320" cy="0"/>
          </a:xfrm>
          <a:custGeom>
            <a:avLst/>
            <a:gdLst/>
            <a:ahLst/>
            <a:cxnLst/>
            <a:rect l="l" t="t" r="r" b="b"/>
            <a:pathLst>
              <a:path w="20319">
                <a:moveTo>
                  <a:pt x="0" y="0"/>
                </a:moveTo>
                <a:lnTo>
                  <a:pt x="19732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104903" y="2714647"/>
            <a:ext cx="207645" cy="166370"/>
          </a:xfrm>
          <a:custGeom>
            <a:avLst/>
            <a:gdLst/>
            <a:ahLst/>
            <a:cxnLst/>
            <a:rect l="l" t="t" r="r" b="b"/>
            <a:pathLst>
              <a:path w="207644" h="166369">
                <a:moveTo>
                  <a:pt x="0" y="166268"/>
                </a:moveTo>
                <a:lnTo>
                  <a:pt x="207523" y="0"/>
                </a:lnTo>
              </a:path>
            </a:pathLst>
          </a:custGeom>
          <a:ln w="10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039835" y="2704272"/>
            <a:ext cx="2035810" cy="0"/>
          </a:xfrm>
          <a:custGeom>
            <a:avLst/>
            <a:gdLst/>
            <a:ahLst/>
            <a:cxnLst/>
            <a:rect l="l" t="t" r="r" b="b"/>
            <a:pathLst>
              <a:path w="2035809">
                <a:moveTo>
                  <a:pt x="0" y="0"/>
                </a:moveTo>
                <a:lnTo>
                  <a:pt x="2035377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322293" y="2704272"/>
            <a:ext cx="2401570" cy="0"/>
          </a:xfrm>
          <a:custGeom>
            <a:avLst/>
            <a:gdLst/>
            <a:ahLst/>
            <a:cxnLst/>
            <a:rect l="l" t="t" r="r" b="b"/>
            <a:pathLst>
              <a:path w="2401570">
                <a:moveTo>
                  <a:pt x="0" y="0"/>
                </a:moveTo>
                <a:lnTo>
                  <a:pt x="2401158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104903" y="2225939"/>
            <a:ext cx="207645" cy="167005"/>
          </a:xfrm>
          <a:custGeom>
            <a:avLst/>
            <a:gdLst/>
            <a:ahLst/>
            <a:cxnLst/>
            <a:rect l="l" t="t" r="r" b="b"/>
            <a:pathLst>
              <a:path w="207644" h="167005">
                <a:moveTo>
                  <a:pt x="0" y="166406"/>
                </a:moveTo>
                <a:lnTo>
                  <a:pt x="207523" y="0"/>
                </a:lnTo>
              </a:path>
            </a:pathLst>
          </a:custGeom>
          <a:ln w="10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322293" y="2215565"/>
            <a:ext cx="4752975" cy="0"/>
          </a:xfrm>
          <a:custGeom>
            <a:avLst/>
            <a:gdLst/>
            <a:ahLst/>
            <a:cxnLst/>
            <a:rect l="l" t="t" r="r" b="b"/>
            <a:pathLst>
              <a:path w="4752975">
                <a:moveTo>
                  <a:pt x="0" y="0"/>
                </a:moveTo>
                <a:lnTo>
                  <a:pt x="4752919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104903" y="1726581"/>
            <a:ext cx="207645" cy="167005"/>
          </a:xfrm>
          <a:custGeom>
            <a:avLst/>
            <a:gdLst/>
            <a:ahLst/>
            <a:cxnLst/>
            <a:rect l="l" t="t" r="r" b="b"/>
            <a:pathLst>
              <a:path w="207644" h="167005">
                <a:moveTo>
                  <a:pt x="0" y="166406"/>
                </a:moveTo>
                <a:lnTo>
                  <a:pt x="207523" y="0"/>
                </a:lnTo>
              </a:path>
            </a:pathLst>
          </a:custGeom>
          <a:ln w="10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322293" y="1716207"/>
            <a:ext cx="4752975" cy="0"/>
          </a:xfrm>
          <a:custGeom>
            <a:avLst/>
            <a:gdLst/>
            <a:ahLst/>
            <a:cxnLst/>
            <a:rect l="l" t="t" r="r" b="b"/>
            <a:pathLst>
              <a:path w="4752975">
                <a:moveTo>
                  <a:pt x="0" y="0"/>
                </a:moveTo>
                <a:lnTo>
                  <a:pt x="4752919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104903" y="5179277"/>
            <a:ext cx="4980940" cy="177165"/>
          </a:xfrm>
          <a:custGeom>
            <a:avLst/>
            <a:gdLst/>
            <a:ahLst/>
            <a:cxnLst/>
            <a:rect l="l" t="t" r="r" b="b"/>
            <a:pathLst>
              <a:path w="4980940" h="177164">
                <a:moveTo>
                  <a:pt x="4980570" y="0"/>
                </a:moveTo>
                <a:lnTo>
                  <a:pt x="4763114" y="176712"/>
                </a:lnTo>
                <a:lnTo>
                  <a:pt x="0" y="176711"/>
                </a:lnTo>
                <a:lnTo>
                  <a:pt x="217390" y="0"/>
                </a:lnTo>
                <a:lnTo>
                  <a:pt x="4980570" y="0"/>
                </a:lnTo>
                <a:close/>
              </a:path>
            </a:pathLst>
          </a:custGeom>
          <a:ln w="10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104903" y="1716207"/>
            <a:ext cx="217804" cy="3639820"/>
          </a:xfrm>
          <a:custGeom>
            <a:avLst/>
            <a:gdLst/>
            <a:ahLst/>
            <a:cxnLst/>
            <a:rect l="l" t="t" r="r" b="b"/>
            <a:pathLst>
              <a:path w="217805" h="3639820">
                <a:moveTo>
                  <a:pt x="0" y="3639782"/>
                </a:moveTo>
                <a:lnTo>
                  <a:pt x="0" y="176781"/>
                </a:lnTo>
                <a:lnTo>
                  <a:pt x="217390" y="0"/>
                </a:lnTo>
                <a:lnTo>
                  <a:pt x="217390" y="3463070"/>
                </a:lnTo>
                <a:lnTo>
                  <a:pt x="0" y="3639782"/>
                </a:lnTo>
                <a:close/>
              </a:path>
            </a:pathLst>
          </a:custGeom>
          <a:ln w="98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322293" y="1716276"/>
            <a:ext cx="4763770" cy="3463290"/>
          </a:xfrm>
          <a:custGeom>
            <a:avLst/>
            <a:gdLst/>
            <a:ahLst/>
            <a:cxnLst/>
            <a:rect l="l" t="t" r="r" b="b"/>
            <a:pathLst>
              <a:path w="4763770" h="3463290">
                <a:moveTo>
                  <a:pt x="0" y="3463001"/>
                </a:moveTo>
                <a:lnTo>
                  <a:pt x="4763245" y="3463001"/>
                </a:lnTo>
                <a:lnTo>
                  <a:pt x="4763245" y="0"/>
                </a:lnTo>
                <a:lnTo>
                  <a:pt x="0" y="0"/>
                </a:lnTo>
                <a:lnTo>
                  <a:pt x="0" y="3463001"/>
                </a:lnTo>
                <a:close/>
              </a:path>
            </a:pathLst>
          </a:custGeom>
          <a:ln w="101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658410" y="2953951"/>
            <a:ext cx="217804" cy="2402205"/>
          </a:xfrm>
          <a:custGeom>
            <a:avLst/>
            <a:gdLst/>
            <a:ahLst/>
            <a:cxnLst/>
            <a:rect l="l" t="t" r="r" b="b"/>
            <a:pathLst>
              <a:path w="217805" h="2402204">
                <a:moveTo>
                  <a:pt x="217390" y="0"/>
                </a:moveTo>
                <a:lnTo>
                  <a:pt x="0" y="176642"/>
                </a:lnTo>
                <a:lnTo>
                  <a:pt x="0" y="2402037"/>
                </a:lnTo>
                <a:lnTo>
                  <a:pt x="217390" y="2225325"/>
                </a:lnTo>
                <a:lnTo>
                  <a:pt x="217390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658410" y="2953951"/>
            <a:ext cx="217804" cy="2402205"/>
          </a:xfrm>
          <a:custGeom>
            <a:avLst/>
            <a:gdLst/>
            <a:ahLst/>
            <a:cxnLst/>
            <a:rect l="l" t="t" r="r" b="b"/>
            <a:pathLst>
              <a:path w="217805" h="2402204">
                <a:moveTo>
                  <a:pt x="0" y="2402037"/>
                </a:moveTo>
                <a:lnTo>
                  <a:pt x="0" y="176642"/>
                </a:lnTo>
                <a:lnTo>
                  <a:pt x="217390" y="0"/>
                </a:lnTo>
                <a:lnTo>
                  <a:pt x="217390" y="2225325"/>
                </a:lnTo>
                <a:lnTo>
                  <a:pt x="0" y="2402037"/>
                </a:lnTo>
                <a:close/>
              </a:path>
            </a:pathLst>
          </a:custGeom>
          <a:ln w="9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342026" y="3130594"/>
            <a:ext cx="316865" cy="2225675"/>
          </a:xfrm>
          <a:custGeom>
            <a:avLst/>
            <a:gdLst/>
            <a:ahLst/>
            <a:cxnLst/>
            <a:rect l="l" t="t" r="r" b="b"/>
            <a:pathLst>
              <a:path w="316864" h="2225675">
                <a:moveTo>
                  <a:pt x="0" y="2225394"/>
                </a:moveTo>
                <a:lnTo>
                  <a:pt x="316383" y="2225394"/>
                </a:lnTo>
                <a:lnTo>
                  <a:pt x="316383" y="0"/>
                </a:lnTo>
                <a:lnTo>
                  <a:pt x="0" y="0"/>
                </a:lnTo>
                <a:lnTo>
                  <a:pt x="0" y="222539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342026" y="3130594"/>
            <a:ext cx="316865" cy="2225675"/>
          </a:xfrm>
          <a:custGeom>
            <a:avLst/>
            <a:gdLst/>
            <a:ahLst/>
            <a:cxnLst/>
            <a:rect l="l" t="t" r="r" b="b"/>
            <a:pathLst>
              <a:path w="316864" h="2225675">
                <a:moveTo>
                  <a:pt x="0" y="2225394"/>
                </a:moveTo>
                <a:lnTo>
                  <a:pt x="316383" y="2225394"/>
                </a:lnTo>
                <a:lnTo>
                  <a:pt x="316383" y="0"/>
                </a:lnTo>
                <a:lnTo>
                  <a:pt x="0" y="0"/>
                </a:lnTo>
                <a:lnTo>
                  <a:pt x="0" y="2225394"/>
                </a:lnTo>
                <a:close/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342026" y="2953951"/>
            <a:ext cx="534035" cy="177165"/>
          </a:xfrm>
          <a:custGeom>
            <a:avLst/>
            <a:gdLst/>
            <a:ahLst/>
            <a:cxnLst/>
            <a:rect l="l" t="t" r="r" b="b"/>
            <a:pathLst>
              <a:path w="534035" h="177164">
                <a:moveTo>
                  <a:pt x="533773" y="0"/>
                </a:moveTo>
                <a:lnTo>
                  <a:pt x="217390" y="0"/>
                </a:lnTo>
                <a:lnTo>
                  <a:pt x="0" y="176642"/>
                </a:lnTo>
                <a:lnTo>
                  <a:pt x="316383" y="176642"/>
                </a:lnTo>
                <a:lnTo>
                  <a:pt x="533773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342026" y="2953951"/>
            <a:ext cx="534035" cy="177165"/>
          </a:xfrm>
          <a:custGeom>
            <a:avLst/>
            <a:gdLst/>
            <a:ahLst/>
            <a:cxnLst/>
            <a:rect l="l" t="t" r="r" b="b"/>
            <a:pathLst>
              <a:path w="534035" h="177164">
                <a:moveTo>
                  <a:pt x="316383" y="176642"/>
                </a:moveTo>
                <a:lnTo>
                  <a:pt x="533773" y="0"/>
                </a:lnTo>
                <a:lnTo>
                  <a:pt x="217390" y="0"/>
                </a:lnTo>
                <a:lnTo>
                  <a:pt x="0" y="176642"/>
                </a:lnTo>
                <a:lnTo>
                  <a:pt x="316383" y="176642"/>
                </a:lnTo>
                <a:close/>
              </a:path>
            </a:pathLst>
          </a:custGeom>
          <a:ln w="103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58576" y="4139408"/>
            <a:ext cx="217804" cy="1216660"/>
          </a:xfrm>
          <a:custGeom>
            <a:avLst/>
            <a:gdLst/>
            <a:ahLst/>
            <a:cxnLst/>
            <a:rect l="l" t="t" r="r" b="b"/>
            <a:pathLst>
              <a:path w="217804" h="1216660">
                <a:moveTo>
                  <a:pt x="217455" y="0"/>
                </a:moveTo>
                <a:lnTo>
                  <a:pt x="0" y="176642"/>
                </a:lnTo>
                <a:lnTo>
                  <a:pt x="0" y="1216580"/>
                </a:lnTo>
                <a:lnTo>
                  <a:pt x="217455" y="1039868"/>
                </a:lnTo>
                <a:lnTo>
                  <a:pt x="217455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458576" y="4139408"/>
            <a:ext cx="217804" cy="1216660"/>
          </a:xfrm>
          <a:custGeom>
            <a:avLst/>
            <a:gdLst/>
            <a:ahLst/>
            <a:cxnLst/>
            <a:rect l="l" t="t" r="r" b="b"/>
            <a:pathLst>
              <a:path w="217804" h="1216660">
                <a:moveTo>
                  <a:pt x="0" y="1216580"/>
                </a:moveTo>
                <a:lnTo>
                  <a:pt x="0" y="176642"/>
                </a:lnTo>
                <a:lnTo>
                  <a:pt x="217455" y="0"/>
                </a:lnTo>
                <a:lnTo>
                  <a:pt x="217455" y="1039868"/>
                </a:lnTo>
                <a:lnTo>
                  <a:pt x="0" y="1216580"/>
                </a:lnTo>
                <a:close/>
              </a:path>
            </a:pathLst>
          </a:custGeom>
          <a:ln w="98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142588" y="4316121"/>
            <a:ext cx="316230" cy="1040130"/>
          </a:xfrm>
          <a:custGeom>
            <a:avLst/>
            <a:gdLst/>
            <a:ahLst/>
            <a:cxnLst/>
            <a:rect l="l" t="t" r="r" b="b"/>
            <a:pathLst>
              <a:path w="316229" h="1040129">
                <a:moveTo>
                  <a:pt x="0" y="1039868"/>
                </a:moveTo>
                <a:lnTo>
                  <a:pt x="316054" y="1039868"/>
                </a:lnTo>
                <a:lnTo>
                  <a:pt x="316054" y="0"/>
                </a:lnTo>
                <a:lnTo>
                  <a:pt x="0" y="0"/>
                </a:lnTo>
                <a:lnTo>
                  <a:pt x="0" y="103986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142588" y="4316121"/>
            <a:ext cx="316230" cy="1040130"/>
          </a:xfrm>
          <a:custGeom>
            <a:avLst/>
            <a:gdLst/>
            <a:ahLst/>
            <a:cxnLst/>
            <a:rect l="l" t="t" r="r" b="b"/>
            <a:pathLst>
              <a:path w="316229" h="1040129">
                <a:moveTo>
                  <a:pt x="0" y="1039868"/>
                </a:moveTo>
                <a:lnTo>
                  <a:pt x="316054" y="1039868"/>
                </a:lnTo>
                <a:lnTo>
                  <a:pt x="316054" y="0"/>
                </a:lnTo>
                <a:lnTo>
                  <a:pt x="0" y="0"/>
                </a:lnTo>
                <a:lnTo>
                  <a:pt x="0" y="1039868"/>
                </a:lnTo>
                <a:close/>
              </a:path>
            </a:pathLst>
          </a:custGeom>
          <a:ln w="99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142588" y="4139408"/>
            <a:ext cx="534035" cy="177165"/>
          </a:xfrm>
          <a:custGeom>
            <a:avLst/>
            <a:gdLst/>
            <a:ahLst/>
            <a:cxnLst/>
            <a:rect l="l" t="t" r="r" b="b"/>
            <a:pathLst>
              <a:path w="534035" h="177164">
                <a:moveTo>
                  <a:pt x="533444" y="0"/>
                </a:moveTo>
                <a:lnTo>
                  <a:pt x="207457" y="0"/>
                </a:lnTo>
                <a:lnTo>
                  <a:pt x="0" y="176642"/>
                </a:lnTo>
                <a:lnTo>
                  <a:pt x="315988" y="176642"/>
                </a:lnTo>
                <a:lnTo>
                  <a:pt x="533444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142588" y="4139408"/>
            <a:ext cx="534035" cy="177165"/>
          </a:xfrm>
          <a:custGeom>
            <a:avLst/>
            <a:gdLst/>
            <a:ahLst/>
            <a:cxnLst/>
            <a:rect l="l" t="t" r="r" b="b"/>
            <a:pathLst>
              <a:path w="534035" h="177164">
                <a:moveTo>
                  <a:pt x="315988" y="176642"/>
                </a:moveTo>
                <a:lnTo>
                  <a:pt x="533444" y="0"/>
                </a:lnTo>
                <a:lnTo>
                  <a:pt x="207457" y="0"/>
                </a:lnTo>
                <a:lnTo>
                  <a:pt x="0" y="176642"/>
                </a:lnTo>
                <a:lnTo>
                  <a:pt x="315988" y="176642"/>
                </a:lnTo>
                <a:close/>
              </a:path>
            </a:pathLst>
          </a:custGeom>
          <a:ln w="103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249206" y="2610487"/>
            <a:ext cx="217804" cy="2745740"/>
          </a:xfrm>
          <a:custGeom>
            <a:avLst/>
            <a:gdLst/>
            <a:ahLst/>
            <a:cxnLst/>
            <a:rect l="l" t="t" r="r" b="b"/>
            <a:pathLst>
              <a:path w="217804" h="2745740">
                <a:moveTo>
                  <a:pt x="217455" y="0"/>
                </a:moveTo>
                <a:lnTo>
                  <a:pt x="0" y="177057"/>
                </a:lnTo>
                <a:lnTo>
                  <a:pt x="0" y="2745502"/>
                </a:lnTo>
                <a:lnTo>
                  <a:pt x="217456" y="2568790"/>
                </a:lnTo>
                <a:lnTo>
                  <a:pt x="217455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249206" y="2610487"/>
            <a:ext cx="217804" cy="2745740"/>
          </a:xfrm>
          <a:custGeom>
            <a:avLst/>
            <a:gdLst/>
            <a:ahLst/>
            <a:cxnLst/>
            <a:rect l="l" t="t" r="r" b="b"/>
            <a:pathLst>
              <a:path w="217804" h="2745740">
                <a:moveTo>
                  <a:pt x="0" y="2745502"/>
                </a:moveTo>
                <a:lnTo>
                  <a:pt x="0" y="177057"/>
                </a:lnTo>
                <a:lnTo>
                  <a:pt x="217455" y="0"/>
                </a:lnTo>
                <a:lnTo>
                  <a:pt x="217456" y="2568790"/>
                </a:lnTo>
                <a:lnTo>
                  <a:pt x="0" y="2745502"/>
                </a:lnTo>
                <a:close/>
              </a:path>
            </a:pathLst>
          </a:custGeom>
          <a:ln w="98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933217" y="2787683"/>
            <a:ext cx="316230" cy="2568575"/>
          </a:xfrm>
          <a:custGeom>
            <a:avLst/>
            <a:gdLst/>
            <a:ahLst/>
            <a:cxnLst/>
            <a:rect l="l" t="t" r="r" b="b"/>
            <a:pathLst>
              <a:path w="316229" h="2568575">
                <a:moveTo>
                  <a:pt x="0" y="2568306"/>
                </a:moveTo>
                <a:lnTo>
                  <a:pt x="316054" y="2568306"/>
                </a:lnTo>
                <a:lnTo>
                  <a:pt x="316054" y="0"/>
                </a:lnTo>
                <a:lnTo>
                  <a:pt x="0" y="0"/>
                </a:lnTo>
                <a:lnTo>
                  <a:pt x="0" y="256830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933217" y="2787683"/>
            <a:ext cx="316230" cy="2568575"/>
          </a:xfrm>
          <a:custGeom>
            <a:avLst/>
            <a:gdLst/>
            <a:ahLst/>
            <a:cxnLst/>
            <a:rect l="l" t="t" r="r" b="b"/>
            <a:pathLst>
              <a:path w="316229" h="2568575">
                <a:moveTo>
                  <a:pt x="0" y="2568306"/>
                </a:moveTo>
                <a:lnTo>
                  <a:pt x="316054" y="2568306"/>
                </a:lnTo>
                <a:lnTo>
                  <a:pt x="316054" y="0"/>
                </a:lnTo>
                <a:lnTo>
                  <a:pt x="0" y="0"/>
                </a:lnTo>
                <a:lnTo>
                  <a:pt x="0" y="2568306"/>
                </a:lnTo>
                <a:close/>
              </a:path>
            </a:pathLst>
          </a:custGeom>
          <a:ln w="9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933217" y="2610487"/>
            <a:ext cx="534035" cy="177165"/>
          </a:xfrm>
          <a:custGeom>
            <a:avLst/>
            <a:gdLst/>
            <a:ahLst/>
            <a:cxnLst/>
            <a:rect l="l" t="t" r="r" b="b"/>
            <a:pathLst>
              <a:path w="534035" h="177164">
                <a:moveTo>
                  <a:pt x="533444" y="0"/>
                </a:moveTo>
                <a:lnTo>
                  <a:pt x="217324" y="0"/>
                </a:lnTo>
                <a:lnTo>
                  <a:pt x="0" y="177057"/>
                </a:lnTo>
                <a:lnTo>
                  <a:pt x="315988" y="177057"/>
                </a:lnTo>
                <a:lnTo>
                  <a:pt x="533444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933217" y="2610487"/>
            <a:ext cx="534035" cy="177165"/>
          </a:xfrm>
          <a:custGeom>
            <a:avLst/>
            <a:gdLst/>
            <a:ahLst/>
            <a:cxnLst/>
            <a:rect l="l" t="t" r="r" b="b"/>
            <a:pathLst>
              <a:path w="534035" h="177164">
                <a:moveTo>
                  <a:pt x="315988" y="177057"/>
                </a:moveTo>
                <a:lnTo>
                  <a:pt x="533444" y="0"/>
                </a:lnTo>
                <a:lnTo>
                  <a:pt x="217324" y="0"/>
                </a:lnTo>
                <a:lnTo>
                  <a:pt x="0" y="177057"/>
                </a:lnTo>
                <a:lnTo>
                  <a:pt x="315988" y="177057"/>
                </a:lnTo>
                <a:close/>
              </a:path>
            </a:pathLst>
          </a:custGeom>
          <a:ln w="103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039835" y="2163416"/>
            <a:ext cx="217804" cy="3192780"/>
          </a:xfrm>
          <a:custGeom>
            <a:avLst/>
            <a:gdLst/>
            <a:ahLst/>
            <a:cxnLst/>
            <a:rect l="l" t="t" r="r" b="b"/>
            <a:pathLst>
              <a:path w="217804" h="3192779">
                <a:moveTo>
                  <a:pt x="217455" y="0"/>
                </a:moveTo>
                <a:lnTo>
                  <a:pt x="0" y="176642"/>
                </a:lnTo>
                <a:lnTo>
                  <a:pt x="0" y="3192572"/>
                </a:lnTo>
                <a:lnTo>
                  <a:pt x="217456" y="3015861"/>
                </a:lnTo>
                <a:lnTo>
                  <a:pt x="217455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039835" y="2163416"/>
            <a:ext cx="217804" cy="3192780"/>
          </a:xfrm>
          <a:custGeom>
            <a:avLst/>
            <a:gdLst/>
            <a:ahLst/>
            <a:cxnLst/>
            <a:rect l="l" t="t" r="r" b="b"/>
            <a:pathLst>
              <a:path w="217804" h="3192779">
                <a:moveTo>
                  <a:pt x="0" y="3192573"/>
                </a:moveTo>
                <a:lnTo>
                  <a:pt x="0" y="176642"/>
                </a:lnTo>
                <a:lnTo>
                  <a:pt x="217455" y="0"/>
                </a:lnTo>
                <a:lnTo>
                  <a:pt x="217456" y="3015861"/>
                </a:lnTo>
                <a:lnTo>
                  <a:pt x="0" y="3192573"/>
                </a:lnTo>
                <a:close/>
              </a:path>
            </a:pathLst>
          </a:custGeom>
          <a:ln w="98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723451" y="2340197"/>
            <a:ext cx="316865" cy="3016250"/>
          </a:xfrm>
          <a:custGeom>
            <a:avLst/>
            <a:gdLst/>
            <a:ahLst/>
            <a:cxnLst/>
            <a:rect l="l" t="t" r="r" b="b"/>
            <a:pathLst>
              <a:path w="316864" h="3016250">
                <a:moveTo>
                  <a:pt x="0" y="3015791"/>
                </a:moveTo>
                <a:lnTo>
                  <a:pt x="316383" y="3015791"/>
                </a:lnTo>
                <a:lnTo>
                  <a:pt x="316383" y="0"/>
                </a:lnTo>
                <a:lnTo>
                  <a:pt x="0" y="0"/>
                </a:lnTo>
                <a:lnTo>
                  <a:pt x="0" y="30157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723452" y="2340197"/>
            <a:ext cx="316865" cy="3016250"/>
          </a:xfrm>
          <a:custGeom>
            <a:avLst/>
            <a:gdLst/>
            <a:ahLst/>
            <a:cxnLst/>
            <a:rect l="l" t="t" r="r" b="b"/>
            <a:pathLst>
              <a:path w="316864" h="3016250">
                <a:moveTo>
                  <a:pt x="0" y="3015791"/>
                </a:moveTo>
                <a:lnTo>
                  <a:pt x="316383" y="3015791"/>
                </a:lnTo>
                <a:lnTo>
                  <a:pt x="316383" y="0"/>
                </a:lnTo>
                <a:lnTo>
                  <a:pt x="0" y="0"/>
                </a:lnTo>
                <a:lnTo>
                  <a:pt x="0" y="3015791"/>
                </a:lnTo>
                <a:close/>
              </a:path>
            </a:pathLst>
          </a:custGeom>
          <a:ln w="9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723451" y="2163416"/>
            <a:ext cx="534035" cy="177165"/>
          </a:xfrm>
          <a:custGeom>
            <a:avLst/>
            <a:gdLst/>
            <a:ahLst/>
            <a:cxnLst/>
            <a:rect l="l" t="t" r="r" b="b"/>
            <a:pathLst>
              <a:path w="534035" h="177164">
                <a:moveTo>
                  <a:pt x="533839" y="0"/>
                </a:moveTo>
                <a:lnTo>
                  <a:pt x="217324" y="0"/>
                </a:lnTo>
                <a:lnTo>
                  <a:pt x="0" y="176642"/>
                </a:lnTo>
                <a:lnTo>
                  <a:pt x="316383" y="176642"/>
                </a:lnTo>
                <a:lnTo>
                  <a:pt x="533839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723452" y="2163416"/>
            <a:ext cx="534035" cy="177165"/>
          </a:xfrm>
          <a:custGeom>
            <a:avLst/>
            <a:gdLst/>
            <a:ahLst/>
            <a:cxnLst/>
            <a:rect l="l" t="t" r="r" b="b"/>
            <a:pathLst>
              <a:path w="534035" h="177164">
                <a:moveTo>
                  <a:pt x="316383" y="176642"/>
                </a:moveTo>
                <a:lnTo>
                  <a:pt x="533839" y="0"/>
                </a:lnTo>
                <a:lnTo>
                  <a:pt x="217324" y="0"/>
                </a:lnTo>
                <a:lnTo>
                  <a:pt x="0" y="176642"/>
                </a:lnTo>
                <a:lnTo>
                  <a:pt x="316383" y="176642"/>
                </a:lnTo>
                <a:close/>
              </a:path>
            </a:pathLst>
          </a:custGeom>
          <a:ln w="103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840331" y="4732137"/>
            <a:ext cx="207645" cy="624205"/>
          </a:xfrm>
          <a:custGeom>
            <a:avLst/>
            <a:gdLst/>
            <a:ahLst/>
            <a:cxnLst/>
            <a:rect l="l" t="t" r="r" b="b"/>
            <a:pathLst>
              <a:path w="207645" h="624204">
                <a:moveTo>
                  <a:pt x="207589" y="0"/>
                </a:moveTo>
                <a:lnTo>
                  <a:pt x="0" y="176711"/>
                </a:lnTo>
                <a:lnTo>
                  <a:pt x="0" y="623851"/>
                </a:lnTo>
                <a:lnTo>
                  <a:pt x="207589" y="447140"/>
                </a:lnTo>
                <a:lnTo>
                  <a:pt x="207589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840331" y="4732137"/>
            <a:ext cx="207645" cy="624205"/>
          </a:xfrm>
          <a:custGeom>
            <a:avLst/>
            <a:gdLst/>
            <a:ahLst/>
            <a:cxnLst/>
            <a:rect l="l" t="t" r="r" b="b"/>
            <a:pathLst>
              <a:path w="207645" h="624204">
                <a:moveTo>
                  <a:pt x="0" y="623852"/>
                </a:moveTo>
                <a:lnTo>
                  <a:pt x="0" y="176711"/>
                </a:lnTo>
                <a:lnTo>
                  <a:pt x="207589" y="0"/>
                </a:lnTo>
                <a:lnTo>
                  <a:pt x="207589" y="447140"/>
                </a:lnTo>
                <a:lnTo>
                  <a:pt x="0" y="623852"/>
                </a:lnTo>
                <a:close/>
              </a:path>
            </a:pathLst>
          </a:custGeom>
          <a:ln w="99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514081" y="4908849"/>
            <a:ext cx="326390" cy="447675"/>
          </a:xfrm>
          <a:custGeom>
            <a:avLst/>
            <a:gdLst/>
            <a:ahLst/>
            <a:cxnLst/>
            <a:rect l="l" t="t" r="r" b="b"/>
            <a:pathLst>
              <a:path w="326389" h="447675">
                <a:moveTo>
                  <a:pt x="0" y="447140"/>
                </a:moveTo>
                <a:lnTo>
                  <a:pt x="326249" y="447140"/>
                </a:lnTo>
                <a:lnTo>
                  <a:pt x="326249" y="0"/>
                </a:lnTo>
                <a:lnTo>
                  <a:pt x="0" y="0"/>
                </a:lnTo>
                <a:lnTo>
                  <a:pt x="0" y="44714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514081" y="4908849"/>
            <a:ext cx="326390" cy="447675"/>
          </a:xfrm>
          <a:custGeom>
            <a:avLst/>
            <a:gdLst/>
            <a:ahLst/>
            <a:cxnLst/>
            <a:rect l="l" t="t" r="r" b="b"/>
            <a:pathLst>
              <a:path w="326389" h="447675">
                <a:moveTo>
                  <a:pt x="0" y="447140"/>
                </a:moveTo>
                <a:lnTo>
                  <a:pt x="326249" y="447140"/>
                </a:lnTo>
                <a:lnTo>
                  <a:pt x="326249" y="0"/>
                </a:lnTo>
                <a:lnTo>
                  <a:pt x="0" y="0"/>
                </a:lnTo>
                <a:lnTo>
                  <a:pt x="0" y="447140"/>
                </a:lnTo>
                <a:close/>
              </a:path>
            </a:pathLst>
          </a:custGeom>
          <a:ln w="100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514081" y="4732137"/>
            <a:ext cx="534035" cy="177165"/>
          </a:xfrm>
          <a:custGeom>
            <a:avLst/>
            <a:gdLst/>
            <a:ahLst/>
            <a:cxnLst/>
            <a:rect l="l" t="t" r="r" b="b"/>
            <a:pathLst>
              <a:path w="534035" h="177164">
                <a:moveTo>
                  <a:pt x="533839" y="0"/>
                </a:moveTo>
                <a:lnTo>
                  <a:pt x="217455" y="0"/>
                </a:lnTo>
                <a:lnTo>
                  <a:pt x="0" y="176711"/>
                </a:lnTo>
                <a:lnTo>
                  <a:pt x="326249" y="176711"/>
                </a:lnTo>
                <a:lnTo>
                  <a:pt x="533839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514081" y="4732137"/>
            <a:ext cx="534035" cy="177165"/>
          </a:xfrm>
          <a:custGeom>
            <a:avLst/>
            <a:gdLst/>
            <a:ahLst/>
            <a:cxnLst/>
            <a:rect l="l" t="t" r="r" b="b"/>
            <a:pathLst>
              <a:path w="534035" h="177164">
                <a:moveTo>
                  <a:pt x="326249" y="176711"/>
                </a:moveTo>
                <a:lnTo>
                  <a:pt x="533839" y="0"/>
                </a:lnTo>
                <a:lnTo>
                  <a:pt x="217455" y="0"/>
                </a:lnTo>
                <a:lnTo>
                  <a:pt x="0" y="176711"/>
                </a:lnTo>
                <a:lnTo>
                  <a:pt x="326249" y="176711"/>
                </a:lnTo>
                <a:close/>
              </a:path>
            </a:pathLst>
          </a:custGeom>
          <a:ln w="103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630697" y="4440960"/>
            <a:ext cx="217804" cy="915035"/>
          </a:xfrm>
          <a:custGeom>
            <a:avLst/>
            <a:gdLst/>
            <a:ahLst/>
            <a:cxnLst/>
            <a:rect l="l" t="t" r="r" b="b"/>
            <a:pathLst>
              <a:path w="217804" h="915035">
                <a:moveTo>
                  <a:pt x="217324" y="0"/>
                </a:moveTo>
                <a:lnTo>
                  <a:pt x="0" y="166337"/>
                </a:lnTo>
                <a:lnTo>
                  <a:pt x="0" y="915029"/>
                </a:lnTo>
                <a:lnTo>
                  <a:pt x="217324" y="738317"/>
                </a:lnTo>
                <a:lnTo>
                  <a:pt x="217324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630697" y="4440960"/>
            <a:ext cx="217804" cy="915035"/>
          </a:xfrm>
          <a:custGeom>
            <a:avLst/>
            <a:gdLst/>
            <a:ahLst/>
            <a:cxnLst/>
            <a:rect l="l" t="t" r="r" b="b"/>
            <a:pathLst>
              <a:path w="217804" h="915035">
                <a:moveTo>
                  <a:pt x="0" y="915029"/>
                </a:moveTo>
                <a:lnTo>
                  <a:pt x="0" y="166337"/>
                </a:lnTo>
                <a:lnTo>
                  <a:pt x="217324" y="0"/>
                </a:lnTo>
                <a:lnTo>
                  <a:pt x="217324" y="738317"/>
                </a:lnTo>
                <a:lnTo>
                  <a:pt x="0" y="915029"/>
                </a:lnTo>
                <a:close/>
              </a:path>
            </a:pathLst>
          </a:custGeom>
          <a:ln w="98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314577" y="4607297"/>
            <a:ext cx="316230" cy="749300"/>
          </a:xfrm>
          <a:custGeom>
            <a:avLst/>
            <a:gdLst/>
            <a:ahLst/>
            <a:cxnLst/>
            <a:rect l="l" t="t" r="r" b="b"/>
            <a:pathLst>
              <a:path w="316229" h="749300">
                <a:moveTo>
                  <a:pt x="0" y="748691"/>
                </a:moveTo>
                <a:lnTo>
                  <a:pt x="316054" y="748691"/>
                </a:lnTo>
                <a:lnTo>
                  <a:pt x="316054" y="0"/>
                </a:lnTo>
                <a:lnTo>
                  <a:pt x="0" y="0"/>
                </a:lnTo>
                <a:lnTo>
                  <a:pt x="0" y="7486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314577" y="4607297"/>
            <a:ext cx="316230" cy="749300"/>
          </a:xfrm>
          <a:custGeom>
            <a:avLst/>
            <a:gdLst/>
            <a:ahLst/>
            <a:cxnLst/>
            <a:rect l="l" t="t" r="r" b="b"/>
            <a:pathLst>
              <a:path w="316229" h="749300">
                <a:moveTo>
                  <a:pt x="0" y="748691"/>
                </a:moveTo>
                <a:lnTo>
                  <a:pt x="316054" y="748691"/>
                </a:lnTo>
                <a:lnTo>
                  <a:pt x="316054" y="0"/>
                </a:lnTo>
                <a:lnTo>
                  <a:pt x="0" y="0"/>
                </a:lnTo>
                <a:lnTo>
                  <a:pt x="0" y="748691"/>
                </a:lnTo>
                <a:close/>
              </a:path>
            </a:pathLst>
          </a:custGeom>
          <a:ln w="9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314577" y="4440960"/>
            <a:ext cx="534035" cy="166370"/>
          </a:xfrm>
          <a:custGeom>
            <a:avLst/>
            <a:gdLst/>
            <a:ahLst/>
            <a:cxnLst/>
            <a:rect l="l" t="t" r="r" b="b"/>
            <a:pathLst>
              <a:path w="534034" h="166370">
                <a:moveTo>
                  <a:pt x="533444" y="0"/>
                </a:moveTo>
                <a:lnTo>
                  <a:pt x="217455" y="0"/>
                </a:lnTo>
                <a:lnTo>
                  <a:pt x="0" y="166337"/>
                </a:lnTo>
                <a:lnTo>
                  <a:pt x="316120" y="166337"/>
                </a:lnTo>
                <a:lnTo>
                  <a:pt x="533444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314577" y="4440960"/>
            <a:ext cx="534035" cy="166370"/>
          </a:xfrm>
          <a:custGeom>
            <a:avLst/>
            <a:gdLst/>
            <a:ahLst/>
            <a:cxnLst/>
            <a:rect l="l" t="t" r="r" b="b"/>
            <a:pathLst>
              <a:path w="534034" h="166370">
                <a:moveTo>
                  <a:pt x="316120" y="166337"/>
                </a:moveTo>
                <a:lnTo>
                  <a:pt x="533444" y="0"/>
                </a:lnTo>
                <a:lnTo>
                  <a:pt x="217455" y="0"/>
                </a:lnTo>
                <a:lnTo>
                  <a:pt x="0" y="166337"/>
                </a:lnTo>
                <a:lnTo>
                  <a:pt x="316120" y="166337"/>
                </a:lnTo>
                <a:close/>
              </a:path>
            </a:pathLst>
          </a:custGeom>
          <a:ln w="103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104903" y="1903639"/>
            <a:ext cx="0" cy="3452495"/>
          </a:xfrm>
          <a:custGeom>
            <a:avLst/>
            <a:gdLst/>
            <a:ahLst/>
            <a:cxnLst/>
            <a:rect l="l" t="t" r="r" b="b"/>
            <a:pathLst>
              <a:path h="3452495">
                <a:moveTo>
                  <a:pt x="0" y="3452350"/>
                </a:moveTo>
                <a:lnTo>
                  <a:pt x="0" y="0"/>
                </a:lnTo>
              </a:path>
            </a:pathLst>
          </a:custGeom>
          <a:ln w="9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065438" y="5355989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39465" y="0"/>
                </a:moveTo>
                <a:lnTo>
                  <a:pt x="0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065438" y="4856631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39465" y="0"/>
                </a:moveTo>
                <a:lnTo>
                  <a:pt x="0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065438" y="4367924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39465" y="0"/>
                </a:moveTo>
                <a:lnTo>
                  <a:pt x="0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065438" y="3868980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39465" y="0"/>
                </a:moveTo>
                <a:lnTo>
                  <a:pt x="0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065437" y="3380273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39465" y="0"/>
                </a:moveTo>
                <a:lnTo>
                  <a:pt x="0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065437" y="2880915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39465" y="0"/>
                </a:moveTo>
                <a:lnTo>
                  <a:pt x="0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065437" y="2392346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39465" y="0"/>
                </a:moveTo>
                <a:lnTo>
                  <a:pt x="0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065437" y="1892988"/>
            <a:ext cx="40005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39465" y="0"/>
                </a:moveTo>
                <a:lnTo>
                  <a:pt x="0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1771215" y="1708763"/>
            <a:ext cx="262890" cy="3787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b="1" spc="-45" dirty="0">
                <a:latin typeface="Times New Roman"/>
                <a:cs typeface="Times New Roman"/>
              </a:rPr>
              <a:t>70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1950" b="1" spc="-45" dirty="0">
                <a:latin typeface="Times New Roman"/>
                <a:cs typeface="Times New Roman"/>
              </a:rPr>
              <a:t>60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950" b="1" spc="-45" dirty="0">
                <a:latin typeface="Times New Roman"/>
                <a:cs typeface="Times New Roman"/>
              </a:rPr>
              <a:t>50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1950" b="1" spc="-45" dirty="0">
                <a:latin typeface="Times New Roman"/>
                <a:cs typeface="Times New Roman"/>
              </a:rPr>
              <a:t>40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950" b="1" spc="-45" dirty="0">
                <a:latin typeface="Times New Roman"/>
                <a:cs typeface="Times New Roman"/>
              </a:rPr>
              <a:t>30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1950" b="1" spc="-45" dirty="0">
                <a:latin typeface="Times New Roman"/>
                <a:cs typeface="Times New Roman"/>
              </a:rPr>
              <a:t>20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950" b="1" spc="-45" dirty="0">
                <a:latin typeface="Times New Roman"/>
                <a:cs typeface="Times New Roman"/>
              </a:rPr>
              <a:t>10</a:t>
            </a:r>
            <a:endParaRPr sz="1950">
              <a:latin typeface="Times New Roman"/>
              <a:cs typeface="Times New Roman"/>
            </a:endParaRPr>
          </a:p>
          <a:p>
            <a:pPr marL="130810">
              <a:lnSpc>
                <a:spcPct val="100000"/>
              </a:lnSpc>
              <a:spcBef>
                <a:spcPts val="1590"/>
              </a:spcBef>
            </a:pPr>
            <a:r>
              <a:rPr sz="1950" b="1" spc="-45" dirty="0">
                <a:latin typeface="Times New Roman"/>
                <a:cs typeface="Times New Roman"/>
              </a:rPr>
              <a:t>0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2104903" y="5355989"/>
            <a:ext cx="4753610" cy="0"/>
          </a:xfrm>
          <a:custGeom>
            <a:avLst/>
            <a:gdLst/>
            <a:ahLst/>
            <a:cxnLst/>
            <a:rect l="l" t="t" r="r" b="b"/>
            <a:pathLst>
              <a:path w="4753609">
                <a:moveTo>
                  <a:pt x="0" y="0"/>
                </a:moveTo>
                <a:lnTo>
                  <a:pt x="4752984" y="0"/>
                </a:lnTo>
              </a:path>
            </a:pathLst>
          </a:custGeom>
          <a:ln w="10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104903" y="5355989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497"/>
                </a:lnTo>
              </a:path>
            </a:pathLst>
          </a:custGeom>
          <a:ln w="9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895533" y="5355989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497"/>
                </a:lnTo>
              </a:path>
            </a:pathLst>
          </a:custGeom>
          <a:ln w="9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3696029" y="5355989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497"/>
                </a:lnTo>
              </a:path>
            </a:pathLst>
          </a:custGeom>
          <a:ln w="9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486395" y="5355989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497"/>
                </a:lnTo>
              </a:path>
            </a:pathLst>
          </a:custGeom>
          <a:ln w="9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277024" y="5355989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497"/>
                </a:lnTo>
              </a:path>
            </a:pathLst>
          </a:custGeom>
          <a:ln w="9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077520" y="5355989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497"/>
                </a:lnTo>
              </a:path>
            </a:pathLst>
          </a:custGeom>
          <a:ln w="9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868017" y="5355989"/>
            <a:ext cx="0" cy="41910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497"/>
                </a:lnTo>
              </a:path>
            </a:pathLst>
          </a:custGeom>
          <a:ln w="98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2344126" y="5421098"/>
            <a:ext cx="302895" cy="3251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b="1" spc="-35" dirty="0">
                <a:latin typeface="Times New Roman"/>
                <a:cs typeface="Times New Roman"/>
              </a:rPr>
              <a:t>[1]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144622" y="5421098"/>
            <a:ext cx="302895" cy="3251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b="1" spc="-35" dirty="0">
                <a:latin typeface="Times New Roman"/>
                <a:cs typeface="Times New Roman"/>
              </a:rPr>
              <a:t>[2]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935251" y="5421098"/>
            <a:ext cx="302895" cy="3251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b="1" spc="-35" dirty="0">
                <a:latin typeface="Times New Roman"/>
                <a:cs typeface="Times New Roman"/>
              </a:rPr>
              <a:t>[3]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725880" y="5421098"/>
            <a:ext cx="302895" cy="3251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b="1" spc="-35" dirty="0">
                <a:latin typeface="Times New Roman"/>
                <a:cs typeface="Times New Roman"/>
              </a:rPr>
              <a:t>[4]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516247" y="5421098"/>
            <a:ext cx="302895" cy="3251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b="1" spc="-35" dirty="0">
                <a:latin typeface="Times New Roman"/>
                <a:cs typeface="Times New Roman"/>
              </a:rPr>
              <a:t>[5]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316743" y="5421098"/>
            <a:ext cx="302895" cy="3251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50" b="1" spc="-35" dirty="0">
                <a:latin typeface="Times New Roman"/>
                <a:cs typeface="Times New Roman"/>
              </a:rPr>
              <a:t>[6]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2478151" y="4955285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A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191636" y="4942458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B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984497" y="4955285"/>
            <a:ext cx="16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C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4777232" y="4955285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D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5649214" y="4942458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6442075" y="4955285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22423" y="4997461"/>
            <a:ext cx="4807585" cy="161290"/>
          </a:xfrm>
          <a:custGeom>
            <a:avLst/>
            <a:gdLst/>
            <a:ahLst/>
            <a:cxnLst/>
            <a:rect l="l" t="t" r="r" b="b"/>
            <a:pathLst>
              <a:path w="4807584" h="161289">
                <a:moveTo>
                  <a:pt x="4807560" y="0"/>
                </a:moveTo>
                <a:lnTo>
                  <a:pt x="209007" y="0"/>
                </a:lnTo>
                <a:lnTo>
                  <a:pt x="0" y="161221"/>
                </a:lnTo>
                <a:lnTo>
                  <a:pt x="4598489" y="161221"/>
                </a:lnTo>
                <a:lnTo>
                  <a:pt x="480756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27166" y="5011658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756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87873" y="5002193"/>
            <a:ext cx="437515" cy="0"/>
          </a:xfrm>
          <a:custGeom>
            <a:avLst/>
            <a:gdLst/>
            <a:ahLst/>
            <a:cxnLst/>
            <a:rect l="l" t="t" r="r" b="b"/>
            <a:pathLst>
              <a:path w="437515">
                <a:moveTo>
                  <a:pt x="0" y="0"/>
                </a:moveTo>
                <a:lnTo>
                  <a:pt x="437303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28046" y="5002193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5959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58416" y="5002193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98336" y="5002193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28706" y="5002193"/>
            <a:ext cx="466090" cy="0"/>
          </a:xfrm>
          <a:custGeom>
            <a:avLst/>
            <a:gdLst/>
            <a:ahLst/>
            <a:cxnLst/>
            <a:rect l="l" t="t" r="r" b="b"/>
            <a:pathLst>
              <a:path w="466089">
                <a:moveTo>
                  <a:pt x="0" y="0"/>
                </a:moveTo>
                <a:lnTo>
                  <a:pt x="46576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68816" y="5002193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602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36174" y="5002193"/>
            <a:ext cx="28575" cy="0"/>
          </a:xfrm>
          <a:custGeom>
            <a:avLst/>
            <a:gdLst/>
            <a:ahLst/>
            <a:cxnLst/>
            <a:rect l="l" t="t" r="r" b="b"/>
            <a:pathLst>
              <a:path w="28575">
                <a:moveTo>
                  <a:pt x="0" y="0"/>
                </a:moveTo>
                <a:lnTo>
                  <a:pt x="28457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27166" y="4565855"/>
            <a:ext cx="200025" cy="142875"/>
          </a:xfrm>
          <a:custGeom>
            <a:avLst/>
            <a:gdLst/>
            <a:ahLst/>
            <a:cxnLst/>
            <a:rect l="l" t="t" r="r" b="b"/>
            <a:pathLst>
              <a:path w="200025" h="142875">
                <a:moveTo>
                  <a:pt x="0" y="142291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87873" y="4556075"/>
            <a:ext cx="437515" cy="0"/>
          </a:xfrm>
          <a:custGeom>
            <a:avLst/>
            <a:gdLst/>
            <a:ahLst/>
            <a:cxnLst/>
            <a:rect l="l" t="t" r="r" b="b"/>
            <a:pathLst>
              <a:path w="437515">
                <a:moveTo>
                  <a:pt x="0" y="0"/>
                </a:moveTo>
                <a:lnTo>
                  <a:pt x="437303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58416" y="4556075"/>
            <a:ext cx="1226185" cy="0"/>
          </a:xfrm>
          <a:custGeom>
            <a:avLst/>
            <a:gdLst/>
            <a:ahLst/>
            <a:cxnLst/>
            <a:rect l="l" t="t" r="r" b="b"/>
            <a:pathLst>
              <a:path w="1226185">
                <a:moveTo>
                  <a:pt x="0" y="0"/>
                </a:moveTo>
                <a:lnTo>
                  <a:pt x="1225589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98336" y="4556075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28706" y="4556075"/>
            <a:ext cx="466090" cy="0"/>
          </a:xfrm>
          <a:custGeom>
            <a:avLst/>
            <a:gdLst/>
            <a:ahLst/>
            <a:cxnLst/>
            <a:rect l="l" t="t" r="r" b="b"/>
            <a:pathLst>
              <a:path w="466089">
                <a:moveTo>
                  <a:pt x="0" y="0"/>
                </a:moveTo>
                <a:lnTo>
                  <a:pt x="46576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68816" y="4556075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602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36174" y="4556075"/>
            <a:ext cx="28575" cy="0"/>
          </a:xfrm>
          <a:custGeom>
            <a:avLst/>
            <a:gdLst/>
            <a:ahLst/>
            <a:cxnLst/>
            <a:rect l="l" t="t" r="r" b="b"/>
            <a:pathLst>
              <a:path w="28575">
                <a:moveTo>
                  <a:pt x="0" y="0"/>
                </a:moveTo>
                <a:lnTo>
                  <a:pt x="28457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7166" y="4110322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692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58416" y="4100857"/>
            <a:ext cx="1967230" cy="0"/>
          </a:xfrm>
          <a:custGeom>
            <a:avLst/>
            <a:gdLst/>
            <a:ahLst/>
            <a:cxnLst/>
            <a:rect l="l" t="t" r="r" b="b"/>
            <a:pathLst>
              <a:path w="1967229">
                <a:moveTo>
                  <a:pt x="0" y="0"/>
                </a:moveTo>
                <a:lnTo>
                  <a:pt x="196676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98336" y="4100857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68816" y="4100857"/>
            <a:ext cx="1226185" cy="0"/>
          </a:xfrm>
          <a:custGeom>
            <a:avLst/>
            <a:gdLst/>
            <a:ahLst/>
            <a:cxnLst/>
            <a:rect l="l" t="t" r="r" b="b"/>
            <a:pathLst>
              <a:path w="1226185">
                <a:moveTo>
                  <a:pt x="0" y="0"/>
                </a:moveTo>
                <a:lnTo>
                  <a:pt x="122565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136174" y="4100857"/>
            <a:ext cx="28575" cy="0"/>
          </a:xfrm>
          <a:custGeom>
            <a:avLst/>
            <a:gdLst/>
            <a:ahLst/>
            <a:cxnLst/>
            <a:rect l="l" t="t" r="r" b="b"/>
            <a:pathLst>
              <a:path w="28575">
                <a:moveTo>
                  <a:pt x="0" y="0"/>
                </a:moveTo>
                <a:lnTo>
                  <a:pt x="28457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7166" y="3654991"/>
            <a:ext cx="200025" cy="152400"/>
          </a:xfrm>
          <a:custGeom>
            <a:avLst/>
            <a:gdLst/>
            <a:ahLst/>
            <a:cxnLst/>
            <a:rect l="l" t="t" r="r" b="b"/>
            <a:pathLst>
              <a:path w="200025" h="152400">
                <a:moveTo>
                  <a:pt x="0" y="151819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758416" y="3645526"/>
            <a:ext cx="1967230" cy="0"/>
          </a:xfrm>
          <a:custGeom>
            <a:avLst/>
            <a:gdLst/>
            <a:ahLst/>
            <a:cxnLst/>
            <a:rect l="l" t="t" r="r" b="b"/>
            <a:pathLst>
              <a:path w="1967229">
                <a:moveTo>
                  <a:pt x="0" y="0"/>
                </a:moveTo>
                <a:lnTo>
                  <a:pt x="196676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98336" y="3645526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68816" y="3645526"/>
            <a:ext cx="1226185" cy="0"/>
          </a:xfrm>
          <a:custGeom>
            <a:avLst/>
            <a:gdLst/>
            <a:ahLst/>
            <a:cxnLst/>
            <a:rect l="l" t="t" r="r" b="b"/>
            <a:pathLst>
              <a:path w="1226185">
                <a:moveTo>
                  <a:pt x="0" y="0"/>
                </a:moveTo>
                <a:lnTo>
                  <a:pt x="122565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136174" y="3645526"/>
            <a:ext cx="28575" cy="0"/>
          </a:xfrm>
          <a:custGeom>
            <a:avLst/>
            <a:gdLst/>
            <a:ahLst/>
            <a:cxnLst/>
            <a:rect l="l" t="t" r="r" b="b"/>
            <a:pathLst>
              <a:path w="28575">
                <a:moveTo>
                  <a:pt x="0" y="0"/>
                </a:moveTo>
                <a:lnTo>
                  <a:pt x="28457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27166" y="3208872"/>
            <a:ext cx="200025" cy="152400"/>
          </a:xfrm>
          <a:custGeom>
            <a:avLst/>
            <a:gdLst/>
            <a:ahLst/>
            <a:cxnLst/>
            <a:rect l="l" t="t" r="r" b="b"/>
            <a:pathLst>
              <a:path w="200025" h="152400">
                <a:moveTo>
                  <a:pt x="0" y="152071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758416" y="3199407"/>
            <a:ext cx="1967230" cy="0"/>
          </a:xfrm>
          <a:custGeom>
            <a:avLst/>
            <a:gdLst/>
            <a:ahLst/>
            <a:cxnLst/>
            <a:rect l="l" t="t" r="r" b="b"/>
            <a:pathLst>
              <a:path w="1967229">
                <a:moveTo>
                  <a:pt x="0" y="0"/>
                </a:moveTo>
                <a:lnTo>
                  <a:pt x="196676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98336" y="3199407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468816" y="3199407"/>
            <a:ext cx="1226185" cy="0"/>
          </a:xfrm>
          <a:custGeom>
            <a:avLst/>
            <a:gdLst/>
            <a:ahLst/>
            <a:cxnLst/>
            <a:rect l="l" t="t" r="r" b="b"/>
            <a:pathLst>
              <a:path w="1226185">
                <a:moveTo>
                  <a:pt x="0" y="0"/>
                </a:moveTo>
                <a:lnTo>
                  <a:pt x="122565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136174" y="3199407"/>
            <a:ext cx="28575" cy="0"/>
          </a:xfrm>
          <a:custGeom>
            <a:avLst/>
            <a:gdLst/>
            <a:ahLst/>
            <a:cxnLst/>
            <a:rect l="l" t="t" r="r" b="b"/>
            <a:pathLst>
              <a:path w="28575">
                <a:moveTo>
                  <a:pt x="0" y="0"/>
                </a:moveTo>
                <a:lnTo>
                  <a:pt x="28457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27166" y="2753667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692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758416" y="2744202"/>
            <a:ext cx="1967230" cy="0"/>
          </a:xfrm>
          <a:custGeom>
            <a:avLst/>
            <a:gdLst/>
            <a:ahLst/>
            <a:cxnLst/>
            <a:rect l="l" t="t" r="r" b="b"/>
            <a:pathLst>
              <a:path w="1967229">
                <a:moveTo>
                  <a:pt x="0" y="0"/>
                </a:moveTo>
                <a:lnTo>
                  <a:pt x="196676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136174" y="2744202"/>
            <a:ext cx="2318385" cy="0"/>
          </a:xfrm>
          <a:custGeom>
            <a:avLst/>
            <a:gdLst/>
            <a:ahLst/>
            <a:cxnLst/>
            <a:rect l="l" t="t" r="r" b="b"/>
            <a:pathLst>
              <a:path w="2318385">
                <a:moveTo>
                  <a:pt x="0" y="0"/>
                </a:moveTo>
                <a:lnTo>
                  <a:pt x="231805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27166" y="2307801"/>
            <a:ext cx="200025" cy="142875"/>
          </a:xfrm>
          <a:custGeom>
            <a:avLst/>
            <a:gdLst/>
            <a:ahLst/>
            <a:cxnLst/>
            <a:rect l="l" t="t" r="r" b="b"/>
            <a:pathLst>
              <a:path w="200025" h="142875">
                <a:moveTo>
                  <a:pt x="0" y="142354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136174" y="2298336"/>
            <a:ext cx="4589145" cy="0"/>
          </a:xfrm>
          <a:custGeom>
            <a:avLst/>
            <a:gdLst/>
            <a:ahLst/>
            <a:cxnLst/>
            <a:rect l="l" t="t" r="r" b="b"/>
            <a:pathLst>
              <a:path w="4589145">
                <a:moveTo>
                  <a:pt x="0" y="0"/>
                </a:moveTo>
                <a:lnTo>
                  <a:pt x="4589003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27166" y="1852217"/>
            <a:ext cx="200025" cy="152400"/>
          </a:xfrm>
          <a:custGeom>
            <a:avLst/>
            <a:gdLst/>
            <a:ahLst/>
            <a:cxnLst/>
            <a:rect l="l" t="t" r="r" b="b"/>
            <a:pathLst>
              <a:path w="200025" h="152400">
                <a:moveTo>
                  <a:pt x="0" y="151819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136174" y="1842752"/>
            <a:ext cx="4589145" cy="0"/>
          </a:xfrm>
          <a:custGeom>
            <a:avLst/>
            <a:gdLst/>
            <a:ahLst/>
            <a:cxnLst/>
            <a:rect l="l" t="t" r="r" b="b"/>
            <a:pathLst>
              <a:path w="4589145">
                <a:moveTo>
                  <a:pt x="0" y="0"/>
                </a:moveTo>
                <a:lnTo>
                  <a:pt x="4589003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27166" y="5002193"/>
            <a:ext cx="4807585" cy="161290"/>
          </a:xfrm>
          <a:custGeom>
            <a:avLst/>
            <a:gdLst/>
            <a:ahLst/>
            <a:cxnLst/>
            <a:rect l="l" t="t" r="r" b="b"/>
            <a:pathLst>
              <a:path w="4807584" h="161289">
                <a:moveTo>
                  <a:pt x="4807497" y="0"/>
                </a:moveTo>
                <a:lnTo>
                  <a:pt x="4598426" y="161221"/>
                </a:lnTo>
                <a:lnTo>
                  <a:pt x="0" y="161221"/>
                </a:lnTo>
                <a:lnTo>
                  <a:pt x="209007" y="0"/>
                </a:lnTo>
                <a:lnTo>
                  <a:pt x="4807497" y="0"/>
                </a:lnTo>
                <a:close/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27166" y="1842752"/>
            <a:ext cx="209550" cy="3321050"/>
          </a:xfrm>
          <a:custGeom>
            <a:avLst/>
            <a:gdLst/>
            <a:ahLst/>
            <a:cxnLst/>
            <a:rect l="l" t="t" r="r" b="b"/>
            <a:pathLst>
              <a:path w="209550" h="3321050">
                <a:moveTo>
                  <a:pt x="0" y="3320662"/>
                </a:moveTo>
                <a:lnTo>
                  <a:pt x="0" y="161284"/>
                </a:lnTo>
                <a:lnTo>
                  <a:pt x="209007" y="0"/>
                </a:lnTo>
                <a:lnTo>
                  <a:pt x="209007" y="3159441"/>
                </a:lnTo>
                <a:lnTo>
                  <a:pt x="0" y="3320662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136174" y="1842765"/>
            <a:ext cx="4598670" cy="3159760"/>
          </a:xfrm>
          <a:custGeom>
            <a:avLst/>
            <a:gdLst/>
            <a:ahLst/>
            <a:cxnLst/>
            <a:rect l="l" t="t" r="r" b="b"/>
            <a:pathLst>
              <a:path w="4598670" h="3159760">
                <a:moveTo>
                  <a:pt x="0" y="3159428"/>
                </a:moveTo>
                <a:lnTo>
                  <a:pt x="4598552" y="3159428"/>
                </a:lnTo>
                <a:lnTo>
                  <a:pt x="4598552" y="0"/>
                </a:lnTo>
                <a:lnTo>
                  <a:pt x="0" y="0"/>
                </a:lnTo>
                <a:lnTo>
                  <a:pt x="0" y="3159428"/>
                </a:lnTo>
                <a:close/>
              </a:path>
            </a:pathLst>
          </a:custGeom>
          <a:ln w="94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468816" y="2971994"/>
            <a:ext cx="209550" cy="2192020"/>
          </a:xfrm>
          <a:custGeom>
            <a:avLst/>
            <a:gdLst/>
            <a:ahLst/>
            <a:cxnLst/>
            <a:rect l="l" t="t" r="r" b="b"/>
            <a:pathLst>
              <a:path w="209550" h="2192020">
                <a:moveTo>
                  <a:pt x="209007" y="0"/>
                </a:moveTo>
                <a:lnTo>
                  <a:pt x="0" y="161158"/>
                </a:lnTo>
                <a:lnTo>
                  <a:pt x="0" y="2191420"/>
                </a:lnTo>
                <a:lnTo>
                  <a:pt x="209007" y="2030199"/>
                </a:lnTo>
                <a:lnTo>
                  <a:pt x="209007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468816" y="2971994"/>
            <a:ext cx="209550" cy="2192020"/>
          </a:xfrm>
          <a:custGeom>
            <a:avLst/>
            <a:gdLst/>
            <a:ahLst/>
            <a:cxnLst/>
            <a:rect l="l" t="t" r="r" b="b"/>
            <a:pathLst>
              <a:path w="209550" h="2192020">
                <a:moveTo>
                  <a:pt x="0" y="2191420"/>
                </a:moveTo>
                <a:lnTo>
                  <a:pt x="0" y="161158"/>
                </a:lnTo>
                <a:lnTo>
                  <a:pt x="209007" y="0"/>
                </a:lnTo>
                <a:lnTo>
                  <a:pt x="209007" y="2030199"/>
                </a:lnTo>
                <a:lnTo>
                  <a:pt x="0" y="2191420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164632" y="3133101"/>
            <a:ext cx="304800" cy="2030730"/>
          </a:xfrm>
          <a:custGeom>
            <a:avLst/>
            <a:gdLst/>
            <a:ahLst/>
            <a:cxnLst/>
            <a:rect l="l" t="t" r="r" b="b"/>
            <a:pathLst>
              <a:path w="304800" h="2030729">
                <a:moveTo>
                  <a:pt x="0" y="2030313"/>
                </a:moveTo>
                <a:lnTo>
                  <a:pt x="304183" y="2030313"/>
                </a:lnTo>
                <a:lnTo>
                  <a:pt x="304183" y="0"/>
                </a:lnTo>
                <a:lnTo>
                  <a:pt x="0" y="0"/>
                </a:lnTo>
                <a:lnTo>
                  <a:pt x="0" y="203031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164632" y="3133101"/>
            <a:ext cx="304800" cy="2030730"/>
          </a:xfrm>
          <a:custGeom>
            <a:avLst/>
            <a:gdLst/>
            <a:ahLst/>
            <a:cxnLst/>
            <a:rect l="l" t="t" r="r" b="b"/>
            <a:pathLst>
              <a:path w="304800" h="2030729">
                <a:moveTo>
                  <a:pt x="0" y="2030313"/>
                </a:moveTo>
                <a:lnTo>
                  <a:pt x="304183" y="2030313"/>
                </a:lnTo>
                <a:lnTo>
                  <a:pt x="304183" y="0"/>
                </a:lnTo>
                <a:lnTo>
                  <a:pt x="0" y="0"/>
                </a:lnTo>
                <a:lnTo>
                  <a:pt x="0" y="2030313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164632" y="2971994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513191" y="0"/>
                </a:moveTo>
                <a:lnTo>
                  <a:pt x="209007" y="0"/>
                </a:lnTo>
                <a:lnTo>
                  <a:pt x="0" y="161158"/>
                </a:lnTo>
                <a:lnTo>
                  <a:pt x="304183" y="161158"/>
                </a:lnTo>
                <a:lnTo>
                  <a:pt x="513191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164632" y="2971994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304183" y="161158"/>
                </a:moveTo>
                <a:lnTo>
                  <a:pt x="513191" y="0"/>
                </a:lnTo>
                <a:lnTo>
                  <a:pt x="209007" y="0"/>
                </a:lnTo>
                <a:lnTo>
                  <a:pt x="0" y="161158"/>
                </a:lnTo>
                <a:lnTo>
                  <a:pt x="304183" y="161158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228643" y="4053532"/>
            <a:ext cx="209550" cy="1109980"/>
          </a:xfrm>
          <a:custGeom>
            <a:avLst/>
            <a:gdLst/>
            <a:ahLst/>
            <a:cxnLst/>
            <a:rect l="l" t="t" r="r" b="b"/>
            <a:pathLst>
              <a:path w="209550" h="1109979">
                <a:moveTo>
                  <a:pt x="209071" y="0"/>
                </a:moveTo>
                <a:lnTo>
                  <a:pt x="0" y="161158"/>
                </a:lnTo>
                <a:lnTo>
                  <a:pt x="0" y="1109882"/>
                </a:lnTo>
                <a:lnTo>
                  <a:pt x="209071" y="948661"/>
                </a:lnTo>
                <a:lnTo>
                  <a:pt x="209071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228643" y="4053532"/>
            <a:ext cx="209550" cy="1109980"/>
          </a:xfrm>
          <a:custGeom>
            <a:avLst/>
            <a:gdLst/>
            <a:ahLst/>
            <a:cxnLst/>
            <a:rect l="l" t="t" r="r" b="b"/>
            <a:pathLst>
              <a:path w="209550" h="1109979">
                <a:moveTo>
                  <a:pt x="0" y="1109882"/>
                </a:moveTo>
                <a:lnTo>
                  <a:pt x="0" y="161158"/>
                </a:lnTo>
                <a:lnTo>
                  <a:pt x="209071" y="0"/>
                </a:lnTo>
                <a:lnTo>
                  <a:pt x="209071" y="948661"/>
                </a:lnTo>
                <a:lnTo>
                  <a:pt x="0" y="1109882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24839" y="4214703"/>
            <a:ext cx="304165" cy="949325"/>
          </a:xfrm>
          <a:custGeom>
            <a:avLst/>
            <a:gdLst/>
            <a:ahLst/>
            <a:cxnLst/>
            <a:rect l="l" t="t" r="r" b="b"/>
            <a:pathLst>
              <a:path w="304164" h="949325">
                <a:moveTo>
                  <a:pt x="0" y="948712"/>
                </a:moveTo>
                <a:lnTo>
                  <a:pt x="303867" y="948711"/>
                </a:lnTo>
                <a:lnTo>
                  <a:pt x="303867" y="0"/>
                </a:lnTo>
                <a:lnTo>
                  <a:pt x="0" y="0"/>
                </a:lnTo>
                <a:lnTo>
                  <a:pt x="0" y="94871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924839" y="4214703"/>
            <a:ext cx="304165" cy="949325"/>
          </a:xfrm>
          <a:custGeom>
            <a:avLst/>
            <a:gdLst/>
            <a:ahLst/>
            <a:cxnLst/>
            <a:rect l="l" t="t" r="r" b="b"/>
            <a:pathLst>
              <a:path w="304164" h="949325">
                <a:moveTo>
                  <a:pt x="0" y="948712"/>
                </a:moveTo>
                <a:lnTo>
                  <a:pt x="303867" y="948711"/>
                </a:lnTo>
                <a:lnTo>
                  <a:pt x="303867" y="0"/>
                </a:lnTo>
                <a:lnTo>
                  <a:pt x="0" y="0"/>
                </a:lnTo>
                <a:lnTo>
                  <a:pt x="0" y="948712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924839" y="4053532"/>
            <a:ext cx="513080" cy="161290"/>
          </a:xfrm>
          <a:custGeom>
            <a:avLst/>
            <a:gdLst/>
            <a:ahLst/>
            <a:cxnLst/>
            <a:rect l="l" t="t" r="r" b="b"/>
            <a:pathLst>
              <a:path w="513079" h="161289">
                <a:moveTo>
                  <a:pt x="512875" y="0"/>
                </a:moveTo>
                <a:lnTo>
                  <a:pt x="208944" y="0"/>
                </a:lnTo>
                <a:lnTo>
                  <a:pt x="0" y="161158"/>
                </a:lnTo>
                <a:lnTo>
                  <a:pt x="303804" y="161158"/>
                </a:lnTo>
                <a:lnTo>
                  <a:pt x="512875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924839" y="4053532"/>
            <a:ext cx="513080" cy="161290"/>
          </a:xfrm>
          <a:custGeom>
            <a:avLst/>
            <a:gdLst/>
            <a:ahLst/>
            <a:cxnLst/>
            <a:rect l="l" t="t" r="r" b="b"/>
            <a:pathLst>
              <a:path w="513079" h="161289">
                <a:moveTo>
                  <a:pt x="303804" y="161158"/>
                </a:moveTo>
                <a:lnTo>
                  <a:pt x="512875" y="0"/>
                </a:lnTo>
                <a:lnTo>
                  <a:pt x="208944" y="0"/>
                </a:lnTo>
                <a:lnTo>
                  <a:pt x="0" y="161158"/>
                </a:lnTo>
                <a:lnTo>
                  <a:pt x="303804" y="161158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998273" y="2658638"/>
            <a:ext cx="209550" cy="2505075"/>
          </a:xfrm>
          <a:custGeom>
            <a:avLst/>
            <a:gdLst/>
            <a:ahLst/>
            <a:cxnLst/>
            <a:rect l="l" t="t" r="r" b="b"/>
            <a:pathLst>
              <a:path w="209550" h="2505075">
                <a:moveTo>
                  <a:pt x="209071" y="0"/>
                </a:moveTo>
                <a:lnTo>
                  <a:pt x="0" y="151819"/>
                </a:lnTo>
                <a:lnTo>
                  <a:pt x="0" y="2504776"/>
                </a:lnTo>
                <a:lnTo>
                  <a:pt x="209071" y="2343555"/>
                </a:lnTo>
                <a:lnTo>
                  <a:pt x="209071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998273" y="2658638"/>
            <a:ext cx="209550" cy="2505075"/>
          </a:xfrm>
          <a:custGeom>
            <a:avLst/>
            <a:gdLst/>
            <a:ahLst/>
            <a:cxnLst/>
            <a:rect l="l" t="t" r="r" b="b"/>
            <a:pathLst>
              <a:path w="209550" h="2505075">
                <a:moveTo>
                  <a:pt x="0" y="2504776"/>
                </a:moveTo>
                <a:lnTo>
                  <a:pt x="0" y="151819"/>
                </a:lnTo>
                <a:lnTo>
                  <a:pt x="209071" y="0"/>
                </a:lnTo>
                <a:lnTo>
                  <a:pt x="209071" y="2343555"/>
                </a:lnTo>
                <a:lnTo>
                  <a:pt x="0" y="2504776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694468" y="2810407"/>
            <a:ext cx="304165" cy="2353310"/>
          </a:xfrm>
          <a:custGeom>
            <a:avLst/>
            <a:gdLst/>
            <a:ahLst/>
            <a:cxnLst/>
            <a:rect l="l" t="t" r="r" b="b"/>
            <a:pathLst>
              <a:path w="304164" h="2353310">
                <a:moveTo>
                  <a:pt x="0" y="2353007"/>
                </a:moveTo>
                <a:lnTo>
                  <a:pt x="303867" y="2353007"/>
                </a:lnTo>
                <a:lnTo>
                  <a:pt x="303867" y="0"/>
                </a:lnTo>
                <a:lnTo>
                  <a:pt x="0" y="0"/>
                </a:lnTo>
                <a:lnTo>
                  <a:pt x="0" y="23530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694468" y="2810407"/>
            <a:ext cx="304165" cy="2353310"/>
          </a:xfrm>
          <a:custGeom>
            <a:avLst/>
            <a:gdLst/>
            <a:ahLst/>
            <a:cxnLst/>
            <a:rect l="l" t="t" r="r" b="b"/>
            <a:pathLst>
              <a:path w="304164" h="2353310">
                <a:moveTo>
                  <a:pt x="0" y="2353007"/>
                </a:moveTo>
                <a:lnTo>
                  <a:pt x="303867" y="2353007"/>
                </a:lnTo>
                <a:lnTo>
                  <a:pt x="303867" y="0"/>
                </a:lnTo>
                <a:lnTo>
                  <a:pt x="0" y="0"/>
                </a:lnTo>
                <a:lnTo>
                  <a:pt x="0" y="2353007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694468" y="2658638"/>
            <a:ext cx="513080" cy="152400"/>
          </a:xfrm>
          <a:custGeom>
            <a:avLst/>
            <a:gdLst/>
            <a:ahLst/>
            <a:cxnLst/>
            <a:rect l="l" t="t" r="r" b="b"/>
            <a:pathLst>
              <a:path w="513079" h="152400">
                <a:moveTo>
                  <a:pt x="512875" y="0"/>
                </a:moveTo>
                <a:lnTo>
                  <a:pt x="208944" y="0"/>
                </a:lnTo>
                <a:lnTo>
                  <a:pt x="0" y="151819"/>
                </a:lnTo>
                <a:lnTo>
                  <a:pt x="303804" y="151819"/>
                </a:lnTo>
                <a:lnTo>
                  <a:pt x="512875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694468" y="2658638"/>
            <a:ext cx="513080" cy="152400"/>
          </a:xfrm>
          <a:custGeom>
            <a:avLst/>
            <a:gdLst/>
            <a:ahLst/>
            <a:cxnLst/>
            <a:rect l="l" t="t" r="r" b="b"/>
            <a:pathLst>
              <a:path w="513079" h="152400">
                <a:moveTo>
                  <a:pt x="303804" y="151819"/>
                </a:moveTo>
                <a:lnTo>
                  <a:pt x="512875" y="0"/>
                </a:lnTo>
                <a:lnTo>
                  <a:pt x="208944" y="0"/>
                </a:lnTo>
                <a:lnTo>
                  <a:pt x="0" y="151819"/>
                </a:lnTo>
                <a:lnTo>
                  <a:pt x="303804" y="151819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758416" y="2250758"/>
            <a:ext cx="209550" cy="2912745"/>
          </a:xfrm>
          <a:custGeom>
            <a:avLst/>
            <a:gdLst/>
            <a:ahLst/>
            <a:cxnLst/>
            <a:rect l="l" t="t" r="r" b="b"/>
            <a:pathLst>
              <a:path w="209550" h="2912745">
                <a:moveTo>
                  <a:pt x="209071" y="0"/>
                </a:moveTo>
                <a:lnTo>
                  <a:pt x="0" y="161536"/>
                </a:lnTo>
                <a:lnTo>
                  <a:pt x="0" y="2912656"/>
                </a:lnTo>
                <a:lnTo>
                  <a:pt x="209071" y="2751435"/>
                </a:lnTo>
                <a:lnTo>
                  <a:pt x="209071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758416" y="2250758"/>
            <a:ext cx="209550" cy="2912745"/>
          </a:xfrm>
          <a:custGeom>
            <a:avLst/>
            <a:gdLst/>
            <a:ahLst/>
            <a:cxnLst/>
            <a:rect l="l" t="t" r="r" b="b"/>
            <a:pathLst>
              <a:path w="209550" h="2912745">
                <a:moveTo>
                  <a:pt x="0" y="2912656"/>
                </a:moveTo>
                <a:lnTo>
                  <a:pt x="0" y="161536"/>
                </a:lnTo>
                <a:lnTo>
                  <a:pt x="209071" y="0"/>
                </a:lnTo>
                <a:lnTo>
                  <a:pt x="209071" y="2751435"/>
                </a:lnTo>
                <a:lnTo>
                  <a:pt x="0" y="2912656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454233" y="2412244"/>
            <a:ext cx="304800" cy="2751455"/>
          </a:xfrm>
          <a:custGeom>
            <a:avLst/>
            <a:gdLst/>
            <a:ahLst/>
            <a:cxnLst/>
            <a:rect l="l" t="t" r="r" b="b"/>
            <a:pathLst>
              <a:path w="304800" h="2751454">
                <a:moveTo>
                  <a:pt x="0" y="2751170"/>
                </a:moveTo>
                <a:lnTo>
                  <a:pt x="304183" y="2751170"/>
                </a:lnTo>
                <a:lnTo>
                  <a:pt x="304183" y="0"/>
                </a:lnTo>
                <a:lnTo>
                  <a:pt x="0" y="0"/>
                </a:lnTo>
                <a:lnTo>
                  <a:pt x="0" y="275117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454233" y="2412244"/>
            <a:ext cx="304800" cy="2751455"/>
          </a:xfrm>
          <a:custGeom>
            <a:avLst/>
            <a:gdLst/>
            <a:ahLst/>
            <a:cxnLst/>
            <a:rect l="l" t="t" r="r" b="b"/>
            <a:pathLst>
              <a:path w="304800" h="2751454">
                <a:moveTo>
                  <a:pt x="0" y="2751170"/>
                </a:moveTo>
                <a:lnTo>
                  <a:pt x="304183" y="2751170"/>
                </a:lnTo>
                <a:lnTo>
                  <a:pt x="304183" y="0"/>
                </a:lnTo>
                <a:lnTo>
                  <a:pt x="0" y="0"/>
                </a:lnTo>
                <a:lnTo>
                  <a:pt x="0" y="2751170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454233" y="2250758"/>
            <a:ext cx="513715" cy="161925"/>
          </a:xfrm>
          <a:custGeom>
            <a:avLst/>
            <a:gdLst/>
            <a:ahLst/>
            <a:cxnLst/>
            <a:rect l="l" t="t" r="r" b="b"/>
            <a:pathLst>
              <a:path w="513714" h="161925">
                <a:moveTo>
                  <a:pt x="513255" y="0"/>
                </a:moveTo>
                <a:lnTo>
                  <a:pt x="208944" y="0"/>
                </a:lnTo>
                <a:lnTo>
                  <a:pt x="0" y="161536"/>
                </a:lnTo>
                <a:lnTo>
                  <a:pt x="304183" y="161536"/>
                </a:lnTo>
                <a:lnTo>
                  <a:pt x="513255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454233" y="2250758"/>
            <a:ext cx="513715" cy="161925"/>
          </a:xfrm>
          <a:custGeom>
            <a:avLst/>
            <a:gdLst/>
            <a:ahLst/>
            <a:cxnLst/>
            <a:rect l="l" t="t" r="r" b="b"/>
            <a:pathLst>
              <a:path w="513714" h="161925">
                <a:moveTo>
                  <a:pt x="304183" y="161536"/>
                </a:moveTo>
                <a:lnTo>
                  <a:pt x="513255" y="0"/>
                </a:lnTo>
                <a:lnTo>
                  <a:pt x="208944" y="0"/>
                </a:lnTo>
                <a:lnTo>
                  <a:pt x="0" y="161536"/>
                </a:lnTo>
                <a:lnTo>
                  <a:pt x="304183" y="161536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528046" y="4594250"/>
            <a:ext cx="209550" cy="569595"/>
          </a:xfrm>
          <a:custGeom>
            <a:avLst/>
            <a:gdLst/>
            <a:ahLst/>
            <a:cxnLst/>
            <a:rect l="l" t="t" r="r" b="b"/>
            <a:pathLst>
              <a:path w="209550" h="569595">
                <a:moveTo>
                  <a:pt x="209071" y="0"/>
                </a:moveTo>
                <a:lnTo>
                  <a:pt x="0" y="161221"/>
                </a:lnTo>
                <a:lnTo>
                  <a:pt x="0" y="569164"/>
                </a:lnTo>
                <a:lnTo>
                  <a:pt x="209071" y="407942"/>
                </a:lnTo>
                <a:lnTo>
                  <a:pt x="209071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528046" y="4594250"/>
            <a:ext cx="209550" cy="569595"/>
          </a:xfrm>
          <a:custGeom>
            <a:avLst/>
            <a:gdLst/>
            <a:ahLst/>
            <a:cxnLst/>
            <a:rect l="l" t="t" r="r" b="b"/>
            <a:pathLst>
              <a:path w="209550" h="569595">
                <a:moveTo>
                  <a:pt x="0" y="569164"/>
                </a:moveTo>
                <a:lnTo>
                  <a:pt x="0" y="161221"/>
                </a:lnTo>
                <a:lnTo>
                  <a:pt x="209071" y="0"/>
                </a:lnTo>
                <a:lnTo>
                  <a:pt x="209071" y="407942"/>
                </a:lnTo>
                <a:lnTo>
                  <a:pt x="0" y="569164"/>
                </a:lnTo>
                <a:close/>
              </a:path>
            </a:pathLst>
          </a:custGeom>
          <a:ln w="9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223862" y="4755471"/>
            <a:ext cx="304800" cy="408305"/>
          </a:xfrm>
          <a:custGeom>
            <a:avLst/>
            <a:gdLst/>
            <a:ahLst/>
            <a:cxnLst/>
            <a:rect l="l" t="t" r="r" b="b"/>
            <a:pathLst>
              <a:path w="304800" h="408304">
                <a:moveTo>
                  <a:pt x="0" y="407943"/>
                </a:moveTo>
                <a:lnTo>
                  <a:pt x="304183" y="407942"/>
                </a:lnTo>
                <a:lnTo>
                  <a:pt x="304183" y="0"/>
                </a:lnTo>
                <a:lnTo>
                  <a:pt x="0" y="0"/>
                </a:lnTo>
                <a:lnTo>
                  <a:pt x="0" y="40794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223862" y="4755471"/>
            <a:ext cx="304800" cy="408305"/>
          </a:xfrm>
          <a:custGeom>
            <a:avLst/>
            <a:gdLst/>
            <a:ahLst/>
            <a:cxnLst/>
            <a:rect l="l" t="t" r="r" b="b"/>
            <a:pathLst>
              <a:path w="304800" h="408304">
                <a:moveTo>
                  <a:pt x="0" y="407943"/>
                </a:moveTo>
                <a:lnTo>
                  <a:pt x="304183" y="407942"/>
                </a:lnTo>
                <a:lnTo>
                  <a:pt x="304183" y="0"/>
                </a:lnTo>
                <a:lnTo>
                  <a:pt x="0" y="0"/>
                </a:lnTo>
                <a:lnTo>
                  <a:pt x="0" y="407943"/>
                </a:lnTo>
                <a:close/>
              </a:path>
            </a:pathLst>
          </a:custGeom>
          <a:ln w="94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223862" y="4594250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513255" y="0"/>
                </a:moveTo>
                <a:lnTo>
                  <a:pt x="209071" y="0"/>
                </a:lnTo>
                <a:lnTo>
                  <a:pt x="0" y="161221"/>
                </a:lnTo>
                <a:lnTo>
                  <a:pt x="304183" y="161221"/>
                </a:lnTo>
                <a:lnTo>
                  <a:pt x="513255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223862" y="4594250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304183" y="161221"/>
                </a:moveTo>
                <a:lnTo>
                  <a:pt x="513255" y="0"/>
                </a:lnTo>
                <a:lnTo>
                  <a:pt x="209071" y="0"/>
                </a:lnTo>
                <a:lnTo>
                  <a:pt x="0" y="161221"/>
                </a:lnTo>
                <a:lnTo>
                  <a:pt x="304183" y="161221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287937" y="4328649"/>
            <a:ext cx="209550" cy="835025"/>
          </a:xfrm>
          <a:custGeom>
            <a:avLst/>
            <a:gdLst/>
            <a:ahLst/>
            <a:cxnLst/>
            <a:rect l="l" t="t" r="r" b="b"/>
            <a:pathLst>
              <a:path w="209550" h="835025">
                <a:moveTo>
                  <a:pt x="208944" y="0"/>
                </a:moveTo>
                <a:lnTo>
                  <a:pt x="0" y="161170"/>
                </a:lnTo>
                <a:lnTo>
                  <a:pt x="0" y="834765"/>
                </a:lnTo>
                <a:lnTo>
                  <a:pt x="208944" y="673544"/>
                </a:lnTo>
                <a:lnTo>
                  <a:pt x="208944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287937" y="4328649"/>
            <a:ext cx="209550" cy="835025"/>
          </a:xfrm>
          <a:custGeom>
            <a:avLst/>
            <a:gdLst/>
            <a:ahLst/>
            <a:cxnLst/>
            <a:rect l="l" t="t" r="r" b="b"/>
            <a:pathLst>
              <a:path w="209550" h="835025">
                <a:moveTo>
                  <a:pt x="0" y="834765"/>
                </a:moveTo>
                <a:lnTo>
                  <a:pt x="0" y="161170"/>
                </a:lnTo>
                <a:lnTo>
                  <a:pt x="208944" y="0"/>
                </a:lnTo>
                <a:lnTo>
                  <a:pt x="208944" y="673544"/>
                </a:lnTo>
                <a:lnTo>
                  <a:pt x="0" y="834765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984006" y="4489819"/>
            <a:ext cx="304165" cy="673735"/>
          </a:xfrm>
          <a:custGeom>
            <a:avLst/>
            <a:gdLst/>
            <a:ahLst/>
            <a:cxnLst/>
            <a:rect l="l" t="t" r="r" b="b"/>
            <a:pathLst>
              <a:path w="304164" h="673735">
                <a:moveTo>
                  <a:pt x="0" y="673594"/>
                </a:moveTo>
                <a:lnTo>
                  <a:pt x="303867" y="673594"/>
                </a:lnTo>
                <a:lnTo>
                  <a:pt x="303867" y="0"/>
                </a:lnTo>
                <a:lnTo>
                  <a:pt x="0" y="0"/>
                </a:lnTo>
                <a:lnTo>
                  <a:pt x="0" y="67359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984006" y="4489819"/>
            <a:ext cx="304165" cy="673735"/>
          </a:xfrm>
          <a:custGeom>
            <a:avLst/>
            <a:gdLst/>
            <a:ahLst/>
            <a:cxnLst/>
            <a:rect l="l" t="t" r="r" b="b"/>
            <a:pathLst>
              <a:path w="304164" h="673735">
                <a:moveTo>
                  <a:pt x="0" y="673594"/>
                </a:moveTo>
                <a:lnTo>
                  <a:pt x="303867" y="673594"/>
                </a:lnTo>
                <a:lnTo>
                  <a:pt x="303867" y="0"/>
                </a:lnTo>
                <a:lnTo>
                  <a:pt x="0" y="0"/>
                </a:lnTo>
                <a:lnTo>
                  <a:pt x="0" y="673594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984006" y="4328649"/>
            <a:ext cx="513080" cy="161290"/>
          </a:xfrm>
          <a:custGeom>
            <a:avLst/>
            <a:gdLst/>
            <a:ahLst/>
            <a:cxnLst/>
            <a:rect l="l" t="t" r="r" b="b"/>
            <a:pathLst>
              <a:path w="513079" h="161289">
                <a:moveTo>
                  <a:pt x="512875" y="0"/>
                </a:moveTo>
                <a:lnTo>
                  <a:pt x="209071" y="0"/>
                </a:lnTo>
                <a:lnTo>
                  <a:pt x="0" y="161170"/>
                </a:lnTo>
                <a:lnTo>
                  <a:pt x="303930" y="161170"/>
                </a:lnTo>
                <a:lnTo>
                  <a:pt x="512875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984006" y="4328649"/>
            <a:ext cx="513080" cy="161290"/>
          </a:xfrm>
          <a:custGeom>
            <a:avLst/>
            <a:gdLst/>
            <a:ahLst/>
            <a:cxnLst/>
            <a:rect l="l" t="t" r="r" b="b"/>
            <a:pathLst>
              <a:path w="513079" h="161289">
                <a:moveTo>
                  <a:pt x="303930" y="161170"/>
                </a:moveTo>
                <a:lnTo>
                  <a:pt x="512875" y="0"/>
                </a:lnTo>
                <a:lnTo>
                  <a:pt x="209071" y="0"/>
                </a:lnTo>
                <a:lnTo>
                  <a:pt x="0" y="161170"/>
                </a:lnTo>
                <a:lnTo>
                  <a:pt x="303930" y="161170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927166" y="2013754"/>
            <a:ext cx="0" cy="3150235"/>
          </a:xfrm>
          <a:custGeom>
            <a:avLst/>
            <a:gdLst/>
            <a:ahLst/>
            <a:cxnLst/>
            <a:rect l="l" t="t" r="r" b="b"/>
            <a:pathLst>
              <a:path h="3150235">
                <a:moveTo>
                  <a:pt x="0" y="3149660"/>
                </a:moveTo>
                <a:lnTo>
                  <a:pt x="0" y="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889222" y="51634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889222" y="470814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889222" y="42620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889222" y="380681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889222" y="336094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889222" y="290536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889222" y="245015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889222" y="200403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1605855" y="1834848"/>
            <a:ext cx="254000" cy="3458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70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800" b="1" spc="-5" dirty="0">
                <a:latin typeface="Times New Roman"/>
                <a:cs typeface="Times New Roman"/>
              </a:rPr>
              <a:t>60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800" b="1" spc="-5" dirty="0">
                <a:latin typeface="Times New Roman"/>
                <a:cs typeface="Times New Roman"/>
              </a:rPr>
              <a:t>50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40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800" b="1" spc="-5" dirty="0">
                <a:latin typeface="Times New Roman"/>
                <a:cs typeface="Times New Roman"/>
              </a:rPr>
              <a:t>30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20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800" b="1" spc="-5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  <a:p>
            <a:pPr marL="126364">
              <a:lnSpc>
                <a:spcPct val="100000"/>
              </a:lnSpc>
              <a:spcBef>
                <a:spcPts val="1430"/>
              </a:spcBef>
            </a:pPr>
            <a:r>
              <a:rPr sz="1800" b="1" spc="-5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1927166" y="5163414"/>
            <a:ext cx="4589145" cy="0"/>
          </a:xfrm>
          <a:custGeom>
            <a:avLst/>
            <a:gdLst/>
            <a:ahLst/>
            <a:cxnLst/>
            <a:rect l="l" t="t" r="r" b="b"/>
            <a:pathLst>
              <a:path w="4589145">
                <a:moveTo>
                  <a:pt x="0" y="0"/>
                </a:moveTo>
                <a:lnTo>
                  <a:pt x="458894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927166" y="5163415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696796" y="5163415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3456939" y="5163415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226316" y="5163415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995946" y="5163415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756089" y="516341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525593" y="516341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2166161" y="5221702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[1]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926305" y="5221702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[2]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695934" y="5221702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[3]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456078" y="5221702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[4]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225454" y="5221702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[5]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985598" y="5221702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[6]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5481500" y="1141602"/>
            <a:ext cx="468630" cy="3355340"/>
          </a:xfrm>
          <a:custGeom>
            <a:avLst/>
            <a:gdLst/>
            <a:ahLst/>
            <a:cxnLst/>
            <a:rect l="l" t="t" r="r" b="b"/>
            <a:pathLst>
              <a:path w="468629" h="3355340">
                <a:moveTo>
                  <a:pt x="18770" y="3177339"/>
                </a:moveTo>
                <a:lnTo>
                  <a:pt x="11376" y="3178937"/>
                </a:lnTo>
                <a:lnTo>
                  <a:pt x="5187" y="3183276"/>
                </a:lnTo>
                <a:lnTo>
                  <a:pt x="1295" y="3189462"/>
                </a:lnTo>
                <a:lnTo>
                  <a:pt x="0" y="3196671"/>
                </a:lnTo>
                <a:lnTo>
                  <a:pt x="1597" y="3204083"/>
                </a:lnTo>
                <a:lnTo>
                  <a:pt x="68145" y="3355086"/>
                </a:lnTo>
                <a:lnTo>
                  <a:pt x="94592" y="3319653"/>
                </a:lnTo>
                <a:lnTo>
                  <a:pt x="91386" y="3319653"/>
                </a:lnTo>
                <a:lnTo>
                  <a:pt x="53413" y="3315335"/>
                </a:lnTo>
                <a:lnTo>
                  <a:pt x="61391" y="3245144"/>
                </a:lnTo>
                <a:lnTo>
                  <a:pt x="36522" y="3188716"/>
                </a:lnTo>
                <a:lnTo>
                  <a:pt x="32129" y="3182526"/>
                </a:lnTo>
                <a:lnTo>
                  <a:pt x="25949" y="3178635"/>
                </a:lnTo>
                <a:lnTo>
                  <a:pt x="18770" y="3177339"/>
                </a:lnTo>
                <a:close/>
              </a:path>
              <a:path w="468629" h="3355340">
                <a:moveTo>
                  <a:pt x="61391" y="3245144"/>
                </a:moveTo>
                <a:lnTo>
                  <a:pt x="53413" y="3315335"/>
                </a:lnTo>
                <a:lnTo>
                  <a:pt x="91386" y="3319653"/>
                </a:lnTo>
                <a:lnTo>
                  <a:pt x="92511" y="3309747"/>
                </a:lnTo>
                <a:lnTo>
                  <a:pt x="89862" y="3309747"/>
                </a:lnTo>
                <a:lnTo>
                  <a:pt x="57096" y="3306064"/>
                </a:lnTo>
                <a:lnTo>
                  <a:pt x="76686" y="3279849"/>
                </a:lnTo>
                <a:lnTo>
                  <a:pt x="61391" y="3245144"/>
                </a:lnTo>
                <a:close/>
              </a:path>
              <a:path w="468629" h="3355340">
                <a:moveTo>
                  <a:pt x="148822" y="3192589"/>
                </a:moveTo>
                <a:lnTo>
                  <a:pt x="141940" y="3194994"/>
                </a:lnTo>
                <a:lnTo>
                  <a:pt x="136344" y="3200019"/>
                </a:lnTo>
                <a:lnTo>
                  <a:pt x="99355" y="3249515"/>
                </a:lnTo>
                <a:lnTo>
                  <a:pt x="91386" y="3319653"/>
                </a:lnTo>
                <a:lnTo>
                  <a:pt x="94592" y="3319653"/>
                </a:lnTo>
                <a:lnTo>
                  <a:pt x="166824" y="3222879"/>
                </a:lnTo>
                <a:lnTo>
                  <a:pt x="170086" y="3215997"/>
                </a:lnTo>
                <a:lnTo>
                  <a:pt x="170443" y="3208686"/>
                </a:lnTo>
                <a:lnTo>
                  <a:pt x="168038" y="3201804"/>
                </a:lnTo>
                <a:lnTo>
                  <a:pt x="163014" y="3196209"/>
                </a:lnTo>
                <a:lnTo>
                  <a:pt x="156132" y="3192946"/>
                </a:lnTo>
                <a:lnTo>
                  <a:pt x="148822" y="3192589"/>
                </a:lnTo>
                <a:close/>
              </a:path>
              <a:path w="468629" h="3355340">
                <a:moveTo>
                  <a:pt x="76686" y="3279849"/>
                </a:moveTo>
                <a:lnTo>
                  <a:pt x="57096" y="3306064"/>
                </a:lnTo>
                <a:lnTo>
                  <a:pt x="89862" y="3309747"/>
                </a:lnTo>
                <a:lnTo>
                  <a:pt x="76686" y="3279849"/>
                </a:lnTo>
                <a:close/>
              </a:path>
              <a:path w="468629" h="3355340">
                <a:moveTo>
                  <a:pt x="99355" y="3249515"/>
                </a:moveTo>
                <a:lnTo>
                  <a:pt x="76686" y="3279849"/>
                </a:lnTo>
                <a:lnTo>
                  <a:pt x="89862" y="3309747"/>
                </a:lnTo>
                <a:lnTo>
                  <a:pt x="92511" y="3309747"/>
                </a:lnTo>
                <a:lnTo>
                  <a:pt x="99355" y="3249515"/>
                </a:lnTo>
                <a:close/>
              </a:path>
              <a:path w="468629" h="3355340">
                <a:moveTo>
                  <a:pt x="430222" y="0"/>
                </a:moveTo>
                <a:lnTo>
                  <a:pt x="61391" y="3245144"/>
                </a:lnTo>
                <a:lnTo>
                  <a:pt x="76686" y="3279849"/>
                </a:lnTo>
                <a:lnTo>
                  <a:pt x="99355" y="3249515"/>
                </a:lnTo>
                <a:lnTo>
                  <a:pt x="468068" y="4318"/>
                </a:lnTo>
                <a:lnTo>
                  <a:pt x="430222" y="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2288794" y="4738242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A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2974975" y="47266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B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736975" y="4738242"/>
            <a:ext cx="16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C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4498975" y="4738242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D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5337428" y="47266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6099428" y="4738242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10" name="object 110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676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spc="20" dirty="0">
                <a:latin typeface="Perpetua"/>
                <a:cs typeface="Perpetua"/>
              </a:rPr>
              <a:t>Start </a:t>
            </a:r>
            <a:r>
              <a:rPr sz="4000" i="1" spc="-45" dirty="0">
                <a:latin typeface="Perpetua"/>
                <a:cs typeface="Perpetua"/>
              </a:rPr>
              <a:t>by </a:t>
            </a:r>
            <a:r>
              <a:rPr sz="4000" i="1" spc="-5" dirty="0">
                <a:latin typeface="Perpetua"/>
                <a:cs typeface="Perpetua"/>
              </a:rPr>
              <a:t>finding the </a:t>
            </a:r>
            <a:r>
              <a:rPr sz="4000" i="1" u="heavy" spc="-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smallest</a:t>
            </a:r>
            <a:r>
              <a:rPr sz="4000" i="1" dirty="0">
                <a:latin typeface="Perpetua"/>
                <a:cs typeface="Perpetua"/>
              </a:rPr>
              <a:t> </a:t>
            </a:r>
            <a:r>
              <a:rPr sz="4000" i="1" spc="-55" dirty="0">
                <a:latin typeface="Perpetua"/>
                <a:cs typeface="Perpetua"/>
              </a:rPr>
              <a:t>entry.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48684" y="1516380"/>
            <a:ext cx="1657985" cy="2456180"/>
          </a:xfrm>
          <a:custGeom>
            <a:avLst/>
            <a:gdLst/>
            <a:ahLst/>
            <a:cxnLst/>
            <a:rect l="l" t="t" r="r" b="b"/>
            <a:pathLst>
              <a:path w="1657985" h="2456179">
                <a:moveTo>
                  <a:pt x="1556783" y="2305611"/>
                </a:moveTo>
                <a:lnTo>
                  <a:pt x="1506981" y="2306701"/>
                </a:lnTo>
                <a:lnTo>
                  <a:pt x="1585721" y="2455926"/>
                </a:lnTo>
                <a:lnTo>
                  <a:pt x="1633292" y="2355342"/>
                </a:lnTo>
                <a:lnTo>
                  <a:pt x="1584070" y="2355342"/>
                </a:lnTo>
                <a:lnTo>
                  <a:pt x="1574214" y="2353806"/>
                </a:lnTo>
                <a:lnTo>
                  <a:pt x="1565989" y="2348769"/>
                </a:lnTo>
                <a:lnTo>
                  <a:pt x="1560264" y="2341018"/>
                </a:lnTo>
                <a:lnTo>
                  <a:pt x="1557908" y="2331339"/>
                </a:lnTo>
                <a:lnTo>
                  <a:pt x="1556783" y="2305611"/>
                </a:lnTo>
                <a:close/>
              </a:path>
              <a:path w="1657985" h="2456179">
                <a:moveTo>
                  <a:pt x="1607011" y="2304511"/>
                </a:moveTo>
                <a:lnTo>
                  <a:pt x="1556783" y="2305611"/>
                </a:lnTo>
                <a:lnTo>
                  <a:pt x="1557908" y="2331339"/>
                </a:lnTo>
                <a:lnTo>
                  <a:pt x="1560264" y="2341018"/>
                </a:lnTo>
                <a:lnTo>
                  <a:pt x="1565989" y="2348769"/>
                </a:lnTo>
                <a:lnTo>
                  <a:pt x="1574214" y="2353806"/>
                </a:lnTo>
                <a:lnTo>
                  <a:pt x="1584070" y="2355342"/>
                </a:lnTo>
                <a:lnTo>
                  <a:pt x="1593750" y="2352932"/>
                </a:lnTo>
                <a:lnTo>
                  <a:pt x="1601501" y="2347214"/>
                </a:lnTo>
                <a:lnTo>
                  <a:pt x="1606538" y="2339018"/>
                </a:lnTo>
                <a:lnTo>
                  <a:pt x="1608074" y="2329180"/>
                </a:lnTo>
                <a:lnTo>
                  <a:pt x="1607011" y="2304511"/>
                </a:lnTo>
                <a:close/>
              </a:path>
              <a:path w="1657985" h="2456179">
                <a:moveTo>
                  <a:pt x="1657857" y="2303399"/>
                </a:moveTo>
                <a:lnTo>
                  <a:pt x="1607011" y="2304511"/>
                </a:lnTo>
                <a:lnTo>
                  <a:pt x="1608074" y="2329180"/>
                </a:lnTo>
                <a:lnTo>
                  <a:pt x="1606538" y="2339018"/>
                </a:lnTo>
                <a:lnTo>
                  <a:pt x="1601501" y="2347214"/>
                </a:lnTo>
                <a:lnTo>
                  <a:pt x="1593750" y="2352932"/>
                </a:lnTo>
                <a:lnTo>
                  <a:pt x="1584070" y="2355342"/>
                </a:lnTo>
                <a:lnTo>
                  <a:pt x="1633292" y="2355342"/>
                </a:lnTo>
                <a:lnTo>
                  <a:pt x="1657857" y="2303399"/>
                </a:lnTo>
                <a:close/>
              </a:path>
              <a:path w="1657985" h="2456179">
                <a:moveTo>
                  <a:pt x="25653" y="0"/>
                </a:moveTo>
                <a:lnTo>
                  <a:pt x="15787" y="1795"/>
                </a:lnTo>
                <a:lnTo>
                  <a:pt x="7683" y="7032"/>
                </a:lnTo>
                <a:lnTo>
                  <a:pt x="2151" y="14912"/>
                </a:lnTo>
                <a:lnTo>
                  <a:pt x="0" y="24637"/>
                </a:lnTo>
                <a:lnTo>
                  <a:pt x="1795" y="34504"/>
                </a:lnTo>
                <a:lnTo>
                  <a:pt x="7032" y="42608"/>
                </a:lnTo>
                <a:lnTo>
                  <a:pt x="14912" y="48140"/>
                </a:lnTo>
                <a:lnTo>
                  <a:pt x="24637" y="50292"/>
                </a:lnTo>
                <a:lnTo>
                  <a:pt x="65024" y="51054"/>
                </a:lnTo>
                <a:lnTo>
                  <a:pt x="103886" y="53340"/>
                </a:lnTo>
                <a:lnTo>
                  <a:pt x="142748" y="57277"/>
                </a:lnTo>
                <a:lnTo>
                  <a:pt x="181228" y="62611"/>
                </a:lnTo>
                <a:lnTo>
                  <a:pt x="257937" y="77850"/>
                </a:lnTo>
                <a:lnTo>
                  <a:pt x="332993" y="98679"/>
                </a:lnTo>
                <a:lnTo>
                  <a:pt x="406653" y="125349"/>
                </a:lnTo>
                <a:lnTo>
                  <a:pt x="479043" y="157353"/>
                </a:lnTo>
                <a:lnTo>
                  <a:pt x="550037" y="194818"/>
                </a:lnTo>
                <a:lnTo>
                  <a:pt x="619505" y="237490"/>
                </a:lnTo>
                <a:lnTo>
                  <a:pt x="687196" y="285369"/>
                </a:lnTo>
                <a:lnTo>
                  <a:pt x="753363" y="338200"/>
                </a:lnTo>
                <a:lnTo>
                  <a:pt x="817626" y="395732"/>
                </a:lnTo>
                <a:lnTo>
                  <a:pt x="879982" y="458089"/>
                </a:lnTo>
                <a:lnTo>
                  <a:pt x="940180" y="524891"/>
                </a:lnTo>
                <a:lnTo>
                  <a:pt x="998346" y="596138"/>
                </a:lnTo>
                <a:lnTo>
                  <a:pt x="1054227" y="671576"/>
                </a:lnTo>
                <a:lnTo>
                  <a:pt x="1107820" y="751078"/>
                </a:lnTo>
                <a:lnTo>
                  <a:pt x="1158875" y="834644"/>
                </a:lnTo>
                <a:lnTo>
                  <a:pt x="1207389" y="921893"/>
                </a:lnTo>
                <a:lnTo>
                  <a:pt x="1253236" y="1012825"/>
                </a:lnTo>
                <a:lnTo>
                  <a:pt x="1296289" y="1107313"/>
                </a:lnTo>
                <a:lnTo>
                  <a:pt x="1336548" y="1205103"/>
                </a:lnTo>
                <a:lnTo>
                  <a:pt x="1373886" y="1305941"/>
                </a:lnTo>
                <a:lnTo>
                  <a:pt x="1407921" y="1409954"/>
                </a:lnTo>
                <a:lnTo>
                  <a:pt x="1439037" y="1516761"/>
                </a:lnTo>
                <a:lnTo>
                  <a:pt x="1466723" y="1626235"/>
                </a:lnTo>
                <a:lnTo>
                  <a:pt x="1490979" y="1738376"/>
                </a:lnTo>
                <a:lnTo>
                  <a:pt x="1511807" y="1852930"/>
                </a:lnTo>
                <a:lnTo>
                  <a:pt x="1529079" y="1969770"/>
                </a:lnTo>
                <a:lnTo>
                  <a:pt x="1542795" y="2088515"/>
                </a:lnTo>
                <a:lnTo>
                  <a:pt x="1552575" y="2209419"/>
                </a:lnTo>
                <a:lnTo>
                  <a:pt x="1556783" y="2305611"/>
                </a:lnTo>
                <a:lnTo>
                  <a:pt x="1607011" y="2304511"/>
                </a:lnTo>
                <a:lnTo>
                  <a:pt x="1602739" y="2205355"/>
                </a:lnTo>
                <a:lnTo>
                  <a:pt x="1592706" y="2082800"/>
                </a:lnTo>
                <a:lnTo>
                  <a:pt x="1578864" y="1962404"/>
                </a:lnTo>
                <a:lnTo>
                  <a:pt x="1561338" y="1843913"/>
                </a:lnTo>
                <a:lnTo>
                  <a:pt x="1540128" y="1727708"/>
                </a:lnTo>
                <a:lnTo>
                  <a:pt x="1515364" y="1613916"/>
                </a:lnTo>
                <a:lnTo>
                  <a:pt x="1487296" y="1502664"/>
                </a:lnTo>
                <a:lnTo>
                  <a:pt x="1455674" y="1394206"/>
                </a:lnTo>
                <a:lnTo>
                  <a:pt x="1421002" y="1288542"/>
                </a:lnTo>
                <a:lnTo>
                  <a:pt x="1383029" y="1185926"/>
                </a:lnTo>
                <a:lnTo>
                  <a:pt x="1342136" y="1086358"/>
                </a:lnTo>
                <a:lnTo>
                  <a:pt x="1298193" y="990219"/>
                </a:lnTo>
                <a:lnTo>
                  <a:pt x="1251330" y="897509"/>
                </a:lnTo>
                <a:lnTo>
                  <a:pt x="1201801" y="808355"/>
                </a:lnTo>
                <a:lnTo>
                  <a:pt x="1149477" y="723011"/>
                </a:lnTo>
                <a:lnTo>
                  <a:pt x="1094613" y="641604"/>
                </a:lnTo>
                <a:lnTo>
                  <a:pt x="1037336" y="564261"/>
                </a:lnTo>
                <a:lnTo>
                  <a:pt x="977518" y="491236"/>
                </a:lnTo>
                <a:lnTo>
                  <a:pt x="915542" y="422402"/>
                </a:lnTo>
                <a:lnTo>
                  <a:pt x="851153" y="358267"/>
                </a:lnTo>
                <a:lnTo>
                  <a:pt x="784732" y="298831"/>
                </a:lnTo>
                <a:lnTo>
                  <a:pt x="716152" y="244221"/>
                </a:lnTo>
                <a:lnTo>
                  <a:pt x="645794" y="194691"/>
                </a:lnTo>
                <a:lnTo>
                  <a:pt x="573531" y="150368"/>
                </a:lnTo>
                <a:lnTo>
                  <a:pt x="499363" y="111379"/>
                </a:lnTo>
                <a:lnTo>
                  <a:pt x="423671" y="77978"/>
                </a:lnTo>
                <a:lnTo>
                  <a:pt x="346328" y="50292"/>
                </a:lnTo>
                <a:lnTo>
                  <a:pt x="267715" y="28448"/>
                </a:lnTo>
                <a:lnTo>
                  <a:pt x="188213" y="12827"/>
                </a:lnTo>
                <a:lnTo>
                  <a:pt x="147700" y="7112"/>
                </a:lnTo>
                <a:lnTo>
                  <a:pt x="106933" y="3175"/>
                </a:lnTo>
                <a:lnTo>
                  <a:pt x="65912" y="762"/>
                </a:lnTo>
                <a:lnTo>
                  <a:pt x="25653" y="0"/>
                </a:lnTo>
                <a:close/>
              </a:path>
            </a:pathLst>
          </a:custGeom>
          <a:solidFill>
            <a:srgbClr val="9B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60537" y="5459554"/>
            <a:ext cx="4807585" cy="161290"/>
          </a:xfrm>
          <a:custGeom>
            <a:avLst/>
            <a:gdLst/>
            <a:ahLst/>
            <a:cxnLst/>
            <a:rect l="l" t="t" r="r" b="b"/>
            <a:pathLst>
              <a:path w="4807584" h="161289">
                <a:moveTo>
                  <a:pt x="4807560" y="0"/>
                </a:moveTo>
                <a:lnTo>
                  <a:pt x="209007" y="0"/>
                </a:lnTo>
                <a:lnTo>
                  <a:pt x="0" y="161221"/>
                </a:lnTo>
                <a:lnTo>
                  <a:pt x="4598489" y="161221"/>
                </a:lnTo>
                <a:lnTo>
                  <a:pt x="480756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65280" y="5473751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756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35473" y="5464287"/>
            <a:ext cx="427990" cy="0"/>
          </a:xfrm>
          <a:custGeom>
            <a:avLst/>
            <a:gdLst/>
            <a:ahLst/>
            <a:cxnLst/>
            <a:rect l="l" t="t" r="r" b="b"/>
            <a:pathLst>
              <a:path w="427990">
                <a:moveTo>
                  <a:pt x="0" y="0"/>
                </a:moveTo>
                <a:lnTo>
                  <a:pt x="427817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66160" y="5464287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96531" y="5464287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36450" y="5464287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66821" y="5464287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627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97444" y="5464287"/>
            <a:ext cx="466090" cy="0"/>
          </a:xfrm>
          <a:custGeom>
            <a:avLst/>
            <a:gdLst/>
            <a:ahLst/>
            <a:cxnLst/>
            <a:rect l="l" t="t" r="r" b="b"/>
            <a:pathLst>
              <a:path w="466089">
                <a:moveTo>
                  <a:pt x="0" y="0"/>
                </a:moveTo>
                <a:lnTo>
                  <a:pt x="46550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74288" y="5464287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897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65280" y="5018483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756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35473" y="5008703"/>
            <a:ext cx="427990" cy="0"/>
          </a:xfrm>
          <a:custGeom>
            <a:avLst/>
            <a:gdLst/>
            <a:ahLst/>
            <a:cxnLst/>
            <a:rect l="l" t="t" r="r" b="b"/>
            <a:pathLst>
              <a:path w="427990">
                <a:moveTo>
                  <a:pt x="0" y="0"/>
                </a:moveTo>
                <a:lnTo>
                  <a:pt x="427817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96531" y="5008703"/>
            <a:ext cx="1235075" cy="0"/>
          </a:xfrm>
          <a:custGeom>
            <a:avLst/>
            <a:gdLst/>
            <a:ahLst/>
            <a:cxnLst/>
            <a:rect l="l" t="t" r="r" b="b"/>
            <a:pathLst>
              <a:path w="1235075">
                <a:moveTo>
                  <a:pt x="0" y="0"/>
                </a:moveTo>
                <a:lnTo>
                  <a:pt x="123507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36450" y="5008703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66821" y="5008703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627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297444" y="5008703"/>
            <a:ext cx="466090" cy="0"/>
          </a:xfrm>
          <a:custGeom>
            <a:avLst/>
            <a:gdLst/>
            <a:ahLst/>
            <a:cxnLst/>
            <a:rect l="l" t="t" r="r" b="b"/>
            <a:pathLst>
              <a:path w="466089">
                <a:moveTo>
                  <a:pt x="0" y="0"/>
                </a:moveTo>
                <a:lnTo>
                  <a:pt x="46550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74288" y="5008703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897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65280" y="4562950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692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596531" y="4553485"/>
            <a:ext cx="1967230" cy="0"/>
          </a:xfrm>
          <a:custGeom>
            <a:avLst/>
            <a:gdLst/>
            <a:ahLst/>
            <a:cxnLst/>
            <a:rect l="l" t="t" r="r" b="b"/>
            <a:pathLst>
              <a:path w="1967229">
                <a:moveTo>
                  <a:pt x="0" y="0"/>
                </a:moveTo>
                <a:lnTo>
                  <a:pt x="196676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36450" y="4553485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97444" y="4553485"/>
            <a:ext cx="1226185" cy="0"/>
          </a:xfrm>
          <a:custGeom>
            <a:avLst/>
            <a:gdLst/>
            <a:ahLst/>
            <a:cxnLst/>
            <a:rect l="l" t="t" r="r" b="b"/>
            <a:pathLst>
              <a:path w="1226185">
                <a:moveTo>
                  <a:pt x="0" y="0"/>
                </a:moveTo>
                <a:lnTo>
                  <a:pt x="122565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74288" y="4553485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897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65280" y="4117084"/>
            <a:ext cx="200025" cy="142875"/>
          </a:xfrm>
          <a:custGeom>
            <a:avLst/>
            <a:gdLst/>
            <a:ahLst/>
            <a:cxnLst/>
            <a:rect l="l" t="t" r="r" b="b"/>
            <a:pathLst>
              <a:path w="200025" h="142875">
                <a:moveTo>
                  <a:pt x="0" y="142354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96531" y="4107619"/>
            <a:ext cx="1967230" cy="0"/>
          </a:xfrm>
          <a:custGeom>
            <a:avLst/>
            <a:gdLst/>
            <a:ahLst/>
            <a:cxnLst/>
            <a:rect l="l" t="t" r="r" b="b"/>
            <a:pathLst>
              <a:path w="1967229">
                <a:moveTo>
                  <a:pt x="0" y="0"/>
                </a:moveTo>
                <a:lnTo>
                  <a:pt x="196676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36450" y="4107619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297444" y="4107619"/>
            <a:ext cx="1226185" cy="0"/>
          </a:xfrm>
          <a:custGeom>
            <a:avLst/>
            <a:gdLst/>
            <a:ahLst/>
            <a:cxnLst/>
            <a:rect l="l" t="t" r="r" b="b"/>
            <a:pathLst>
              <a:path w="1226185">
                <a:moveTo>
                  <a:pt x="0" y="0"/>
                </a:moveTo>
                <a:lnTo>
                  <a:pt x="122565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74288" y="4107619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897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65280" y="3661500"/>
            <a:ext cx="200025" cy="142875"/>
          </a:xfrm>
          <a:custGeom>
            <a:avLst/>
            <a:gdLst/>
            <a:ahLst/>
            <a:cxnLst/>
            <a:rect l="l" t="t" r="r" b="b"/>
            <a:pathLst>
              <a:path w="200025" h="142875">
                <a:moveTo>
                  <a:pt x="0" y="142606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596531" y="3652035"/>
            <a:ext cx="1967230" cy="0"/>
          </a:xfrm>
          <a:custGeom>
            <a:avLst/>
            <a:gdLst/>
            <a:ahLst/>
            <a:cxnLst/>
            <a:rect l="l" t="t" r="r" b="b"/>
            <a:pathLst>
              <a:path w="1967229">
                <a:moveTo>
                  <a:pt x="0" y="0"/>
                </a:moveTo>
                <a:lnTo>
                  <a:pt x="196676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836450" y="3652035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297444" y="3652035"/>
            <a:ext cx="1226185" cy="0"/>
          </a:xfrm>
          <a:custGeom>
            <a:avLst/>
            <a:gdLst/>
            <a:ahLst/>
            <a:cxnLst/>
            <a:rect l="l" t="t" r="r" b="b"/>
            <a:pathLst>
              <a:path w="1226185">
                <a:moveTo>
                  <a:pt x="0" y="0"/>
                </a:moveTo>
                <a:lnTo>
                  <a:pt x="122565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74288" y="3652035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897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65280" y="3206295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692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596531" y="3196830"/>
            <a:ext cx="1967230" cy="0"/>
          </a:xfrm>
          <a:custGeom>
            <a:avLst/>
            <a:gdLst/>
            <a:ahLst/>
            <a:cxnLst/>
            <a:rect l="l" t="t" r="r" b="b"/>
            <a:pathLst>
              <a:path w="1967229">
                <a:moveTo>
                  <a:pt x="0" y="0"/>
                </a:moveTo>
                <a:lnTo>
                  <a:pt x="196676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74288" y="3196830"/>
            <a:ext cx="2318385" cy="0"/>
          </a:xfrm>
          <a:custGeom>
            <a:avLst/>
            <a:gdLst/>
            <a:ahLst/>
            <a:cxnLst/>
            <a:rect l="l" t="t" r="r" b="b"/>
            <a:pathLst>
              <a:path w="2318385">
                <a:moveTo>
                  <a:pt x="0" y="0"/>
                </a:moveTo>
                <a:lnTo>
                  <a:pt x="231805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65280" y="2750964"/>
            <a:ext cx="200025" cy="152400"/>
          </a:xfrm>
          <a:custGeom>
            <a:avLst/>
            <a:gdLst/>
            <a:ahLst/>
            <a:cxnLst/>
            <a:rect l="l" t="t" r="r" b="b"/>
            <a:pathLst>
              <a:path w="200025" h="152400">
                <a:moveTo>
                  <a:pt x="0" y="151819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74288" y="2741499"/>
            <a:ext cx="4589145" cy="0"/>
          </a:xfrm>
          <a:custGeom>
            <a:avLst/>
            <a:gdLst/>
            <a:ahLst/>
            <a:cxnLst/>
            <a:rect l="l" t="t" r="r" b="b"/>
            <a:pathLst>
              <a:path w="4589145">
                <a:moveTo>
                  <a:pt x="0" y="0"/>
                </a:moveTo>
                <a:lnTo>
                  <a:pt x="4589003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65280" y="2295380"/>
            <a:ext cx="200025" cy="152400"/>
          </a:xfrm>
          <a:custGeom>
            <a:avLst/>
            <a:gdLst/>
            <a:ahLst/>
            <a:cxnLst/>
            <a:rect l="l" t="t" r="r" b="b"/>
            <a:pathLst>
              <a:path w="200025" h="152400">
                <a:moveTo>
                  <a:pt x="0" y="151819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74288" y="2285915"/>
            <a:ext cx="4589145" cy="0"/>
          </a:xfrm>
          <a:custGeom>
            <a:avLst/>
            <a:gdLst/>
            <a:ahLst/>
            <a:cxnLst/>
            <a:rect l="l" t="t" r="r" b="b"/>
            <a:pathLst>
              <a:path w="4589145">
                <a:moveTo>
                  <a:pt x="0" y="0"/>
                </a:moveTo>
                <a:lnTo>
                  <a:pt x="4589003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765280" y="5464287"/>
            <a:ext cx="4807585" cy="161290"/>
          </a:xfrm>
          <a:custGeom>
            <a:avLst/>
            <a:gdLst/>
            <a:ahLst/>
            <a:cxnLst/>
            <a:rect l="l" t="t" r="r" b="b"/>
            <a:pathLst>
              <a:path w="4807584" h="161289">
                <a:moveTo>
                  <a:pt x="4807497" y="0"/>
                </a:moveTo>
                <a:lnTo>
                  <a:pt x="4598426" y="161221"/>
                </a:lnTo>
                <a:lnTo>
                  <a:pt x="0" y="161221"/>
                </a:lnTo>
                <a:lnTo>
                  <a:pt x="209007" y="0"/>
                </a:lnTo>
                <a:lnTo>
                  <a:pt x="4807497" y="0"/>
                </a:lnTo>
                <a:close/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65280" y="2285915"/>
            <a:ext cx="209550" cy="3340100"/>
          </a:xfrm>
          <a:custGeom>
            <a:avLst/>
            <a:gdLst/>
            <a:ahLst/>
            <a:cxnLst/>
            <a:rect l="l" t="t" r="r" b="b"/>
            <a:pathLst>
              <a:path w="209550" h="3340100">
                <a:moveTo>
                  <a:pt x="0" y="3339592"/>
                </a:moveTo>
                <a:lnTo>
                  <a:pt x="0" y="161284"/>
                </a:lnTo>
                <a:lnTo>
                  <a:pt x="209007" y="0"/>
                </a:lnTo>
                <a:lnTo>
                  <a:pt x="209007" y="3178371"/>
                </a:lnTo>
                <a:lnTo>
                  <a:pt x="0" y="3339592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74288" y="2285928"/>
            <a:ext cx="4598670" cy="3178810"/>
          </a:xfrm>
          <a:custGeom>
            <a:avLst/>
            <a:gdLst/>
            <a:ahLst/>
            <a:cxnLst/>
            <a:rect l="l" t="t" r="r" b="b"/>
            <a:pathLst>
              <a:path w="4598670" h="3178810">
                <a:moveTo>
                  <a:pt x="0" y="3178358"/>
                </a:moveTo>
                <a:lnTo>
                  <a:pt x="4598552" y="3178358"/>
                </a:lnTo>
                <a:lnTo>
                  <a:pt x="4598552" y="0"/>
                </a:lnTo>
                <a:lnTo>
                  <a:pt x="0" y="0"/>
                </a:lnTo>
                <a:lnTo>
                  <a:pt x="0" y="3178358"/>
                </a:lnTo>
                <a:close/>
              </a:path>
            </a:pathLst>
          </a:custGeom>
          <a:ln w="94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297444" y="3424622"/>
            <a:ext cx="209550" cy="2200910"/>
          </a:xfrm>
          <a:custGeom>
            <a:avLst/>
            <a:gdLst/>
            <a:ahLst/>
            <a:cxnLst/>
            <a:rect l="l" t="t" r="r" b="b"/>
            <a:pathLst>
              <a:path w="209550" h="2200910">
                <a:moveTo>
                  <a:pt x="209007" y="0"/>
                </a:moveTo>
                <a:lnTo>
                  <a:pt x="0" y="161157"/>
                </a:lnTo>
                <a:lnTo>
                  <a:pt x="0" y="2200885"/>
                </a:lnTo>
                <a:lnTo>
                  <a:pt x="209007" y="2039664"/>
                </a:lnTo>
                <a:lnTo>
                  <a:pt x="209007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297444" y="3424622"/>
            <a:ext cx="209550" cy="2200910"/>
          </a:xfrm>
          <a:custGeom>
            <a:avLst/>
            <a:gdLst/>
            <a:ahLst/>
            <a:cxnLst/>
            <a:rect l="l" t="t" r="r" b="b"/>
            <a:pathLst>
              <a:path w="209550" h="2200910">
                <a:moveTo>
                  <a:pt x="0" y="2200885"/>
                </a:moveTo>
                <a:lnTo>
                  <a:pt x="0" y="161157"/>
                </a:lnTo>
                <a:lnTo>
                  <a:pt x="209007" y="0"/>
                </a:lnTo>
                <a:lnTo>
                  <a:pt x="209007" y="2039664"/>
                </a:lnTo>
                <a:lnTo>
                  <a:pt x="0" y="2200885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93260" y="3585729"/>
            <a:ext cx="304800" cy="2040255"/>
          </a:xfrm>
          <a:custGeom>
            <a:avLst/>
            <a:gdLst/>
            <a:ahLst/>
            <a:cxnLst/>
            <a:rect l="l" t="t" r="r" b="b"/>
            <a:pathLst>
              <a:path w="304800" h="2040254">
                <a:moveTo>
                  <a:pt x="0" y="2039778"/>
                </a:moveTo>
                <a:lnTo>
                  <a:pt x="304183" y="2039778"/>
                </a:lnTo>
                <a:lnTo>
                  <a:pt x="304183" y="0"/>
                </a:lnTo>
                <a:lnTo>
                  <a:pt x="0" y="0"/>
                </a:lnTo>
                <a:lnTo>
                  <a:pt x="0" y="20397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93260" y="3585729"/>
            <a:ext cx="304800" cy="2040255"/>
          </a:xfrm>
          <a:custGeom>
            <a:avLst/>
            <a:gdLst/>
            <a:ahLst/>
            <a:cxnLst/>
            <a:rect l="l" t="t" r="r" b="b"/>
            <a:pathLst>
              <a:path w="304800" h="2040254">
                <a:moveTo>
                  <a:pt x="0" y="2039778"/>
                </a:moveTo>
                <a:lnTo>
                  <a:pt x="304183" y="2039778"/>
                </a:lnTo>
                <a:lnTo>
                  <a:pt x="304183" y="0"/>
                </a:lnTo>
                <a:lnTo>
                  <a:pt x="0" y="0"/>
                </a:lnTo>
                <a:lnTo>
                  <a:pt x="0" y="2039778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93260" y="3424622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513191" y="0"/>
                </a:moveTo>
                <a:lnTo>
                  <a:pt x="209007" y="0"/>
                </a:lnTo>
                <a:lnTo>
                  <a:pt x="0" y="161157"/>
                </a:lnTo>
                <a:lnTo>
                  <a:pt x="304183" y="161157"/>
                </a:lnTo>
                <a:lnTo>
                  <a:pt x="513191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93260" y="3424622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304183" y="161157"/>
                </a:moveTo>
                <a:lnTo>
                  <a:pt x="513191" y="0"/>
                </a:lnTo>
                <a:lnTo>
                  <a:pt x="209007" y="0"/>
                </a:lnTo>
                <a:lnTo>
                  <a:pt x="0" y="161157"/>
                </a:lnTo>
                <a:lnTo>
                  <a:pt x="304183" y="161157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066757" y="4515625"/>
            <a:ext cx="209550" cy="1109980"/>
          </a:xfrm>
          <a:custGeom>
            <a:avLst/>
            <a:gdLst/>
            <a:ahLst/>
            <a:cxnLst/>
            <a:rect l="l" t="t" r="r" b="b"/>
            <a:pathLst>
              <a:path w="209550" h="1109979">
                <a:moveTo>
                  <a:pt x="209071" y="0"/>
                </a:moveTo>
                <a:lnTo>
                  <a:pt x="0" y="151692"/>
                </a:lnTo>
                <a:lnTo>
                  <a:pt x="0" y="1109882"/>
                </a:lnTo>
                <a:lnTo>
                  <a:pt x="209071" y="948661"/>
                </a:lnTo>
                <a:lnTo>
                  <a:pt x="209071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066757" y="4515625"/>
            <a:ext cx="209550" cy="1109980"/>
          </a:xfrm>
          <a:custGeom>
            <a:avLst/>
            <a:gdLst/>
            <a:ahLst/>
            <a:cxnLst/>
            <a:rect l="l" t="t" r="r" b="b"/>
            <a:pathLst>
              <a:path w="209550" h="1109979">
                <a:moveTo>
                  <a:pt x="0" y="1109882"/>
                </a:moveTo>
                <a:lnTo>
                  <a:pt x="0" y="151692"/>
                </a:lnTo>
                <a:lnTo>
                  <a:pt x="209071" y="0"/>
                </a:lnTo>
                <a:lnTo>
                  <a:pt x="209071" y="948661"/>
                </a:lnTo>
                <a:lnTo>
                  <a:pt x="0" y="1109882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762953" y="4667331"/>
            <a:ext cx="304165" cy="958215"/>
          </a:xfrm>
          <a:custGeom>
            <a:avLst/>
            <a:gdLst/>
            <a:ahLst/>
            <a:cxnLst/>
            <a:rect l="l" t="t" r="r" b="b"/>
            <a:pathLst>
              <a:path w="304164" h="958214">
                <a:moveTo>
                  <a:pt x="0" y="958177"/>
                </a:moveTo>
                <a:lnTo>
                  <a:pt x="303867" y="958177"/>
                </a:lnTo>
                <a:lnTo>
                  <a:pt x="303867" y="0"/>
                </a:lnTo>
                <a:lnTo>
                  <a:pt x="0" y="0"/>
                </a:lnTo>
                <a:lnTo>
                  <a:pt x="0" y="95817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762953" y="4667331"/>
            <a:ext cx="304165" cy="958215"/>
          </a:xfrm>
          <a:custGeom>
            <a:avLst/>
            <a:gdLst/>
            <a:ahLst/>
            <a:cxnLst/>
            <a:rect l="l" t="t" r="r" b="b"/>
            <a:pathLst>
              <a:path w="304164" h="958214">
                <a:moveTo>
                  <a:pt x="0" y="958177"/>
                </a:moveTo>
                <a:lnTo>
                  <a:pt x="303867" y="958177"/>
                </a:lnTo>
                <a:lnTo>
                  <a:pt x="303867" y="0"/>
                </a:lnTo>
                <a:lnTo>
                  <a:pt x="0" y="0"/>
                </a:lnTo>
                <a:lnTo>
                  <a:pt x="0" y="958177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762953" y="4515625"/>
            <a:ext cx="513080" cy="151765"/>
          </a:xfrm>
          <a:custGeom>
            <a:avLst/>
            <a:gdLst/>
            <a:ahLst/>
            <a:cxnLst/>
            <a:rect l="l" t="t" r="r" b="b"/>
            <a:pathLst>
              <a:path w="513079" h="151764">
                <a:moveTo>
                  <a:pt x="512875" y="0"/>
                </a:moveTo>
                <a:lnTo>
                  <a:pt x="208944" y="0"/>
                </a:lnTo>
                <a:lnTo>
                  <a:pt x="0" y="151692"/>
                </a:lnTo>
                <a:lnTo>
                  <a:pt x="303804" y="151692"/>
                </a:lnTo>
                <a:lnTo>
                  <a:pt x="512875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762953" y="4515625"/>
            <a:ext cx="513080" cy="151765"/>
          </a:xfrm>
          <a:custGeom>
            <a:avLst/>
            <a:gdLst/>
            <a:ahLst/>
            <a:cxnLst/>
            <a:rect l="l" t="t" r="r" b="b"/>
            <a:pathLst>
              <a:path w="513079" h="151764">
                <a:moveTo>
                  <a:pt x="303804" y="151692"/>
                </a:moveTo>
                <a:lnTo>
                  <a:pt x="512875" y="0"/>
                </a:lnTo>
                <a:lnTo>
                  <a:pt x="208944" y="0"/>
                </a:lnTo>
                <a:lnTo>
                  <a:pt x="0" y="151692"/>
                </a:lnTo>
                <a:lnTo>
                  <a:pt x="303804" y="151692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836387" y="3101801"/>
            <a:ext cx="209550" cy="2524125"/>
          </a:xfrm>
          <a:custGeom>
            <a:avLst/>
            <a:gdLst/>
            <a:ahLst/>
            <a:cxnLst/>
            <a:rect l="l" t="t" r="r" b="b"/>
            <a:pathLst>
              <a:path w="209550" h="2524125">
                <a:moveTo>
                  <a:pt x="209071" y="0"/>
                </a:moveTo>
                <a:lnTo>
                  <a:pt x="0" y="161284"/>
                </a:lnTo>
                <a:lnTo>
                  <a:pt x="0" y="2523706"/>
                </a:lnTo>
                <a:lnTo>
                  <a:pt x="209071" y="2362485"/>
                </a:lnTo>
                <a:lnTo>
                  <a:pt x="209071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836387" y="3101801"/>
            <a:ext cx="209550" cy="2524125"/>
          </a:xfrm>
          <a:custGeom>
            <a:avLst/>
            <a:gdLst/>
            <a:ahLst/>
            <a:cxnLst/>
            <a:rect l="l" t="t" r="r" b="b"/>
            <a:pathLst>
              <a:path w="209550" h="2524125">
                <a:moveTo>
                  <a:pt x="0" y="2523706"/>
                </a:moveTo>
                <a:lnTo>
                  <a:pt x="0" y="161284"/>
                </a:lnTo>
                <a:lnTo>
                  <a:pt x="209071" y="0"/>
                </a:lnTo>
                <a:lnTo>
                  <a:pt x="209071" y="2362485"/>
                </a:lnTo>
                <a:lnTo>
                  <a:pt x="0" y="2523706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523096" y="3263035"/>
            <a:ext cx="313690" cy="2362835"/>
          </a:xfrm>
          <a:custGeom>
            <a:avLst/>
            <a:gdLst/>
            <a:ahLst/>
            <a:cxnLst/>
            <a:rect l="l" t="t" r="r" b="b"/>
            <a:pathLst>
              <a:path w="313689" h="2362835">
                <a:moveTo>
                  <a:pt x="0" y="2362472"/>
                </a:moveTo>
                <a:lnTo>
                  <a:pt x="313353" y="2362472"/>
                </a:lnTo>
                <a:lnTo>
                  <a:pt x="313353" y="0"/>
                </a:lnTo>
                <a:lnTo>
                  <a:pt x="0" y="0"/>
                </a:lnTo>
                <a:lnTo>
                  <a:pt x="0" y="23624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523096" y="3263035"/>
            <a:ext cx="313690" cy="2362835"/>
          </a:xfrm>
          <a:custGeom>
            <a:avLst/>
            <a:gdLst/>
            <a:ahLst/>
            <a:cxnLst/>
            <a:rect l="l" t="t" r="r" b="b"/>
            <a:pathLst>
              <a:path w="313689" h="2362835">
                <a:moveTo>
                  <a:pt x="0" y="2362472"/>
                </a:moveTo>
                <a:lnTo>
                  <a:pt x="313353" y="2362472"/>
                </a:lnTo>
                <a:lnTo>
                  <a:pt x="313353" y="0"/>
                </a:lnTo>
                <a:lnTo>
                  <a:pt x="0" y="0"/>
                </a:lnTo>
                <a:lnTo>
                  <a:pt x="0" y="2362472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523096" y="3101801"/>
            <a:ext cx="522605" cy="161290"/>
          </a:xfrm>
          <a:custGeom>
            <a:avLst/>
            <a:gdLst/>
            <a:ahLst/>
            <a:cxnLst/>
            <a:rect l="l" t="t" r="r" b="b"/>
            <a:pathLst>
              <a:path w="522604" h="161289">
                <a:moveTo>
                  <a:pt x="522361" y="0"/>
                </a:moveTo>
                <a:lnTo>
                  <a:pt x="218430" y="0"/>
                </a:lnTo>
                <a:lnTo>
                  <a:pt x="0" y="161284"/>
                </a:lnTo>
                <a:lnTo>
                  <a:pt x="313290" y="161284"/>
                </a:lnTo>
                <a:lnTo>
                  <a:pt x="522361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523096" y="3101801"/>
            <a:ext cx="522605" cy="161290"/>
          </a:xfrm>
          <a:custGeom>
            <a:avLst/>
            <a:gdLst/>
            <a:ahLst/>
            <a:cxnLst/>
            <a:rect l="l" t="t" r="r" b="b"/>
            <a:pathLst>
              <a:path w="522604" h="161289">
                <a:moveTo>
                  <a:pt x="313290" y="161284"/>
                </a:moveTo>
                <a:lnTo>
                  <a:pt x="522361" y="0"/>
                </a:lnTo>
                <a:lnTo>
                  <a:pt x="218430" y="0"/>
                </a:lnTo>
                <a:lnTo>
                  <a:pt x="0" y="161284"/>
                </a:lnTo>
                <a:lnTo>
                  <a:pt x="313290" y="161284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596531" y="2693921"/>
            <a:ext cx="219075" cy="2931795"/>
          </a:xfrm>
          <a:custGeom>
            <a:avLst/>
            <a:gdLst/>
            <a:ahLst/>
            <a:cxnLst/>
            <a:rect l="l" t="t" r="r" b="b"/>
            <a:pathLst>
              <a:path w="219075" h="2931795">
                <a:moveTo>
                  <a:pt x="218557" y="0"/>
                </a:moveTo>
                <a:lnTo>
                  <a:pt x="0" y="161157"/>
                </a:lnTo>
                <a:lnTo>
                  <a:pt x="0" y="2931586"/>
                </a:lnTo>
                <a:lnTo>
                  <a:pt x="218557" y="2770365"/>
                </a:lnTo>
                <a:lnTo>
                  <a:pt x="218557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596531" y="2693921"/>
            <a:ext cx="219075" cy="2931795"/>
          </a:xfrm>
          <a:custGeom>
            <a:avLst/>
            <a:gdLst/>
            <a:ahLst/>
            <a:cxnLst/>
            <a:rect l="l" t="t" r="r" b="b"/>
            <a:pathLst>
              <a:path w="219075" h="2931795">
                <a:moveTo>
                  <a:pt x="0" y="2931586"/>
                </a:moveTo>
                <a:lnTo>
                  <a:pt x="0" y="161157"/>
                </a:lnTo>
                <a:lnTo>
                  <a:pt x="218557" y="0"/>
                </a:lnTo>
                <a:lnTo>
                  <a:pt x="218557" y="2770365"/>
                </a:lnTo>
                <a:lnTo>
                  <a:pt x="0" y="2931586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292346" y="2855155"/>
            <a:ext cx="304800" cy="2770505"/>
          </a:xfrm>
          <a:custGeom>
            <a:avLst/>
            <a:gdLst/>
            <a:ahLst/>
            <a:cxnLst/>
            <a:rect l="l" t="t" r="r" b="b"/>
            <a:pathLst>
              <a:path w="304800" h="2770504">
                <a:moveTo>
                  <a:pt x="0" y="2770352"/>
                </a:moveTo>
                <a:lnTo>
                  <a:pt x="304183" y="2770352"/>
                </a:lnTo>
                <a:lnTo>
                  <a:pt x="304183" y="0"/>
                </a:lnTo>
                <a:lnTo>
                  <a:pt x="0" y="0"/>
                </a:lnTo>
                <a:lnTo>
                  <a:pt x="0" y="277035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292346" y="2855155"/>
            <a:ext cx="304800" cy="2770505"/>
          </a:xfrm>
          <a:custGeom>
            <a:avLst/>
            <a:gdLst/>
            <a:ahLst/>
            <a:cxnLst/>
            <a:rect l="l" t="t" r="r" b="b"/>
            <a:pathLst>
              <a:path w="304800" h="2770504">
                <a:moveTo>
                  <a:pt x="0" y="2770352"/>
                </a:moveTo>
                <a:lnTo>
                  <a:pt x="304183" y="2770352"/>
                </a:lnTo>
                <a:lnTo>
                  <a:pt x="304183" y="0"/>
                </a:lnTo>
                <a:lnTo>
                  <a:pt x="0" y="0"/>
                </a:lnTo>
                <a:lnTo>
                  <a:pt x="0" y="2770352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292346" y="2693921"/>
            <a:ext cx="523240" cy="161290"/>
          </a:xfrm>
          <a:custGeom>
            <a:avLst/>
            <a:gdLst/>
            <a:ahLst/>
            <a:cxnLst/>
            <a:rect l="l" t="t" r="r" b="b"/>
            <a:pathLst>
              <a:path w="523239" h="161289">
                <a:moveTo>
                  <a:pt x="522741" y="0"/>
                </a:moveTo>
                <a:lnTo>
                  <a:pt x="208944" y="0"/>
                </a:lnTo>
                <a:lnTo>
                  <a:pt x="0" y="161157"/>
                </a:lnTo>
                <a:lnTo>
                  <a:pt x="304183" y="161157"/>
                </a:lnTo>
                <a:lnTo>
                  <a:pt x="522741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292346" y="2693921"/>
            <a:ext cx="523240" cy="161290"/>
          </a:xfrm>
          <a:custGeom>
            <a:avLst/>
            <a:gdLst/>
            <a:ahLst/>
            <a:cxnLst/>
            <a:rect l="l" t="t" r="r" b="b"/>
            <a:pathLst>
              <a:path w="523239" h="161289">
                <a:moveTo>
                  <a:pt x="304183" y="161157"/>
                </a:moveTo>
                <a:lnTo>
                  <a:pt x="522741" y="0"/>
                </a:lnTo>
                <a:lnTo>
                  <a:pt x="208944" y="0"/>
                </a:lnTo>
                <a:lnTo>
                  <a:pt x="0" y="161157"/>
                </a:lnTo>
                <a:lnTo>
                  <a:pt x="304183" y="161157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366160" y="5056344"/>
            <a:ext cx="209550" cy="569595"/>
          </a:xfrm>
          <a:custGeom>
            <a:avLst/>
            <a:gdLst/>
            <a:ahLst/>
            <a:cxnLst/>
            <a:rect l="l" t="t" r="r" b="b"/>
            <a:pathLst>
              <a:path w="209550" h="569595">
                <a:moveTo>
                  <a:pt x="209071" y="0"/>
                </a:moveTo>
                <a:lnTo>
                  <a:pt x="0" y="161221"/>
                </a:lnTo>
                <a:lnTo>
                  <a:pt x="0" y="569164"/>
                </a:lnTo>
                <a:lnTo>
                  <a:pt x="209071" y="407942"/>
                </a:lnTo>
                <a:lnTo>
                  <a:pt x="209071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366160" y="5056344"/>
            <a:ext cx="209550" cy="569595"/>
          </a:xfrm>
          <a:custGeom>
            <a:avLst/>
            <a:gdLst/>
            <a:ahLst/>
            <a:cxnLst/>
            <a:rect l="l" t="t" r="r" b="b"/>
            <a:pathLst>
              <a:path w="209550" h="569595">
                <a:moveTo>
                  <a:pt x="0" y="569164"/>
                </a:moveTo>
                <a:lnTo>
                  <a:pt x="0" y="161221"/>
                </a:lnTo>
                <a:lnTo>
                  <a:pt x="209071" y="0"/>
                </a:lnTo>
                <a:lnTo>
                  <a:pt x="209071" y="407942"/>
                </a:lnTo>
                <a:lnTo>
                  <a:pt x="0" y="569164"/>
                </a:lnTo>
                <a:close/>
              </a:path>
            </a:pathLst>
          </a:custGeom>
          <a:ln w="9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061976" y="5217565"/>
            <a:ext cx="304800" cy="408305"/>
          </a:xfrm>
          <a:custGeom>
            <a:avLst/>
            <a:gdLst/>
            <a:ahLst/>
            <a:cxnLst/>
            <a:rect l="l" t="t" r="r" b="b"/>
            <a:pathLst>
              <a:path w="304800" h="408304">
                <a:moveTo>
                  <a:pt x="0" y="407942"/>
                </a:moveTo>
                <a:lnTo>
                  <a:pt x="304183" y="407942"/>
                </a:lnTo>
                <a:lnTo>
                  <a:pt x="304183" y="0"/>
                </a:lnTo>
                <a:lnTo>
                  <a:pt x="0" y="0"/>
                </a:lnTo>
                <a:lnTo>
                  <a:pt x="0" y="40794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061976" y="5217565"/>
            <a:ext cx="304800" cy="408305"/>
          </a:xfrm>
          <a:custGeom>
            <a:avLst/>
            <a:gdLst/>
            <a:ahLst/>
            <a:cxnLst/>
            <a:rect l="l" t="t" r="r" b="b"/>
            <a:pathLst>
              <a:path w="304800" h="408304">
                <a:moveTo>
                  <a:pt x="0" y="407942"/>
                </a:moveTo>
                <a:lnTo>
                  <a:pt x="304183" y="407942"/>
                </a:lnTo>
                <a:lnTo>
                  <a:pt x="304183" y="0"/>
                </a:lnTo>
                <a:lnTo>
                  <a:pt x="0" y="0"/>
                </a:lnTo>
                <a:lnTo>
                  <a:pt x="0" y="407942"/>
                </a:lnTo>
                <a:close/>
              </a:path>
            </a:pathLst>
          </a:custGeom>
          <a:ln w="94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061976" y="5056344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513255" y="0"/>
                </a:moveTo>
                <a:lnTo>
                  <a:pt x="209071" y="0"/>
                </a:lnTo>
                <a:lnTo>
                  <a:pt x="0" y="161221"/>
                </a:lnTo>
                <a:lnTo>
                  <a:pt x="304183" y="161221"/>
                </a:lnTo>
                <a:lnTo>
                  <a:pt x="513255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061976" y="5056344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304183" y="161221"/>
                </a:moveTo>
                <a:lnTo>
                  <a:pt x="513255" y="0"/>
                </a:lnTo>
                <a:lnTo>
                  <a:pt x="209071" y="0"/>
                </a:lnTo>
                <a:lnTo>
                  <a:pt x="0" y="161221"/>
                </a:lnTo>
                <a:lnTo>
                  <a:pt x="304183" y="161221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135537" y="4781277"/>
            <a:ext cx="209550" cy="844550"/>
          </a:xfrm>
          <a:custGeom>
            <a:avLst/>
            <a:gdLst/>
            <a:ahLst/>
            <a:cxnLst/>
            <a:rect l="l" t="t" r="r" b="b"/>
            <a:pathLst>
              <a:path w="209550" h="844550">
                <a:moveTo>
                  <a:pt x="208944" y="0"/>
                </a:moveTo>
                <a:lnTo>
                  <a:pt x="0" y="161170"/>
                </a:lnTo>
                <a:lnTo>
                  <a:pt x="0" y="844230"/>
                </a:lnTo>
                <a:lnTo>
                  <a:pt x="208944" y="683009"/>
                </a:lnTo>
                <a:lnTo>
                  <a:pt x="208944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135537" y="4781277"/>
            <a:ext cx="209550" cy="844550"/>
          </a:xfrm>
          <a:custGeom>
            <a:avLst/>
            <a:gdLst/>
            <a:ahLst/>
            <a:cxnLst/>
            <a:rect l="l" t="t" r="r" b="b"/>
            <a:pathLst>
              <a:path w="209550" h="844550">
                <a:moveTo>
                  <a:pt x="0" y="844230"/>
                </a:moveTo>
                <a:lnTo>
                  <a:pt x="0" y="161170"/>
                </a:lnTo>
                <a:lnTo>
                  <a:pt x="208944" y="0"/>
                </a:lnTo>
                <a:lnTo>
                  <a:pt x="208944" y="683009"/>
                </a:lnTo>
                <a:lnTo>
                  <a:pt x="0" y="844230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831606" y="4942448"/>
            <a:ext cx="304165" cy="683260"/>
          </a:xfrm>
          <a:custGeom>
            <a:avLst/>
            <a:gdLst/>
            <a:ahLst/>
            <a:cxnLst/>
            <a:rect l="l" t="t" r="r" b="b"/>
            <a:pathLst>
              <a:path w="304164" h="683260">
                <a:moveTo>
                  <a:pt x="0" y="683060"/>
                </a:moveTo>
                <a:lnTo>
                  <a:pt x="303867" y="683060"/>
                </a:lnTo>
                <a:lnTo>
                  <a:pt x="303867" y="0"/>
                </a:lnTo>
                <a:lnTo>
                  <a:pt x="0" y="0"/>
                </a:lnTo>
                <a:lnTo>
                  <a:pt x="0" y="68306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831606" y="4942448"/>
            <a:ext cx="304165" cy="683260"/>
          </a:xfrm>
          <a:custGeom>
            <a:avLst/>
            <a:gdLst/>
            <a:ahLst/>
            <a:cxnLst/>
            <a:rect l="l" t="t" r="r" b="b"/>
            <a:pathLst>
              <a:path w="304164" h="683260">
                <a:moveTo>
                  <a:pt x="0" y="683060"/>
                </a:moveTo>
                <a:lnTo>
                  <a:pt x="303867" y="683060"/>
                </a:lnTo>
                <a:lnTo>
                  <a:pt x="303867" y="0"/>
                </a:lnTo>
                <a:lnTo>
                  <a:pt x="0" y="0"/>
                </a:lnTo>
                <a:lnTo>
                  <a:pt x="0" y="683060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831606" y="4781277"/>
            <a:ext cx="513080" cy="161290"/>
          </a:xfrm>
          <a:custGeom>
            <a:avLst/>
            <a:gdLst/>
            <a:ahLst/>
            <a:cxnLst/>
            <a:rect l="l" t="t" r="r" b="b"/>
            <a:pathLst>
              <a:path w="513079" h="161289">
                <a:moveTo>
                  <a:pt x="512875" y="0"/>
                </a:moveTo>
                <a:lnTo>
                  <a:pt x="209071" y="0"/>
                </a:lnTo>
                <a:lnTo>
                  <a:pt x="0" y="161170"/>
                </a:lnTo>
                <a:lnTo>
                  <a:pt x="303930" y="161170"/>
                </a:lnTo>
                <a:lnTo>
                  <a:pt x="512875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831606" y="4781277"/>
            <a:ext cx="513080" cy="161290"/>
          </a:xfrm>
          <a:custGeom>
            <a:avLst/>
            <a:gdLst/>
            <a:ahLst/>
            <a:cxnLst/>
            <a:rect l="l" t="t" r="r" b="b"/>
            <a:pathLst>
              <a:path w="513079" h="161289">
                <a:moveTo>
                  <a:pt x="303930" y="161170"/>
                </a:moveTo>
                <a:lnTo>
                  <a:pt x="512875" y="0"/>
                </a:lnTo>
                <a:lnTo>
                  <a:pt x="209071" y="0"/>
                </a:lnTo>
                <a:lnTo>
                  <a:pt x="0" y="161170"/>
                </a:lnTo>
                <a:lnTo>
                  <a:pt x="303930" y="161170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765280" y="2456664"/>
            <a:ext cx="0" cy="3169285"/>
          </a:xfrm>
          <a:custGeom>
            <a:avLst/>
            <a:gdLst/>
            <a:ahLst/>
            <a:cxnLst/>
            <a:rect l="l" t="t" r="r" b="b"/>
            <a:pathLst>
              <a:path h="3169285">
                <a:moveTo>
                  <a:pt x="0" y="3168843"/>
                </a:moveTo>
                <a:lnTo>
                  <a:pt x="0" y="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727336" y="562550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727336" y="5170239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727336" y="471464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727336" y="425943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727336" y="3804107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727336" y="335798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727336" y="290278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727336" y="244720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1443969" y="2278011"/>
            <a:ext cx="254000" cy="34772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70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60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800" b="1" spc="-5" dirty="0">
                <a:latin typeface="Times New Roman"/>
                <a:cs typeface="Times New Roman"/>
              </a:rPr>
              <a:t>50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800" b="1" spc="-5" dirty="0">
                <a:latin typeface="Times New Roman"/>
                <a:cs typeface="Times New Roman"/>
              </a:rPr>
              <a:t>40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30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20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  <a:p>
            <a:pPr marL="126364">
              <a:lnSpc>
                <a:spcPct val="100000"/>
              </a:lnSpc>
              <a:spcBef>
                <a:spcPts val="1430"/>
              </a:spcBef>
            </a:pPr>
            <a:r>
              <a:rPr sz="1800" b="1" spc="-5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1765280" y="5625508"/>
            <a:ext cx="4589145" cy="0"/>
          </a:xfrm>
          <a:custGeom>
            <a:avLst/>
            <a:gdLst/>
            <a:ahLst/>
            <a:cxnLst/>
            <a:rect l="l" t="t" r="r" b="b"/>
            <a:pathLst>
              <a:path w="4589145">
                <a:moveTo>
                  <a:pt x="0" y="0"/>
                </a:moveTo>
                <a:lnTo>
                  <a:pt x="458894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765280" y="5625508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525424" y="5625508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3295053" y="5625508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064430" y="5625508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834059" y="5625508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594203" y="5625508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363706" y="5625508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1994789" y="5683795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[1]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764419" y="5683795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[2]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534048" y="5683795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[3]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294192" y="5683795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[4]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063442" y="5683795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[5]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833198" y="5683795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[6]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2366136" y="1499616"/>
            <a:ext cx="1669414" cy="860425"/>
          </a:xfrm>
          <a:custGeom>
            <a:avLst/>
            <a:gdLst/>
            <a:ahLst/>
            <a:cxnLst/>
            <a:rect l="l" t="t" r="r" b="b"/>
            <a:pathLst>
              <a:path w="1669414" h="860425">
                <a:moveTo>
                  <a:pt x="0" y="698754"/>
                </a:moveTo>
                <a:lnTo>
                  <a:pt x="48640" y="860298"/>
                </a:lnTo>
                <a:lnTo>
                  <a:pt x="121641" y="761265"/>
                </a:lnTo>
                <a:lnTo>
                  <a:pt x="74039" y="761265"/>
                </a:lnTo>
                <a:lnTo>
                  <a:pt x="64007" y="760857"/>
                </a:lnTo>
                <a:lnTo>
                  <a:pt x="54989" y="756594"/>
                </a:lnTo>
                <a:lnTo>
                  <a:pt x="48529" y="749427"/>
                </a:lnTo>
                <a:lnTo>
                  <a:pt x="45237" y="740354"/>
                </a:lnTo>
                <a:lnTo>
                  <a:pt x="45719" y="730376"/>
                </a:lnTo>
                <a:lnTo>
                  <a:pt x="51320" y="707650"/>
                </a:lnTo>
                <a:lnTo>
                  <a:pt x="0" y="698754"/>
                </a:lnTo>
                <a:close/>
              </a:path>
              <a:path w="1669414" h="860425">
                <a:moveTo>
                  <a:pt x="51320" y="707650"/>
                </a:moveTo>
                <a:lnTo>
                  <a:pt x="45719" y="730376"/>
                </a:lnTo>
                <a:lnTo>
                  <a:pt x="45237" y="740354"/>
                </a:lnTo>
                <a:lnTo>
                  <a:pt x="48529" y="749427"/>
                </a:lnTo>
                <a:lnTo>
                  <a:pt x="54989" y="756594"/>
                </a:lnTo>
                <a:lnTo>
                  <a:pt x="64007" y="760857"/>
                </a:lnTo>
                <a:lnTo>
                  <a:pt x="74039" y="761265"/>
                </a:lnTo>
                <a:lnTo>
                  <a:pt x="83105" y="757936"/>
                </a:lnTo>
                <a:lnTo>
                  <a:pt x="90243" y="751462"/>
                </a:lnTo>
                <a:lnTo>
                  <a:pt x="94487" y="742442"/>
                </a:lnTo>
                <a:lnTo>
                  <a:pt x="100941" y="716252"/>
                </a:lnTo>
                <a:lnTo>
                  <a:pt x="51320" y="707650"/>
                </a:lnTo>
                <a:close/>
              </a:path>
              <a:path w="1669414" h="860425">
                <a:moveTo>
                  <a:pt x="100941" y="716252"/>
                </a:moveTo>
                <a:lnTo>
                  <a:pt x="94487" y="742442"/>
                </a:lnTo>
                <a:lnTo>
                  <a:pt x="90243" y="751462"/>
                </a:lnTo>
                <a:lnTo>
                  <a:pt x="83105" y="757936"/>
                </a:lnTo>
                <a:lnTo>
                  <a:pt x="74039" y="761265"/>
                </a:lnTo>
                <a:lnTo>
                  <a:pt x="121641" y="761265"/>
                </a:lnTo>
                <a:lnTo>
                  <a:pt x="148717" y="724535"/>
                </a:lnTo>
                <a:lnTo>
                  <a:pt x="100941" y="716252"/>
                </a:lnTo>
                <a:close/>
              </a:path>
              <a:path w="1669414" h="860425">
                <a:moveTo>
                  <a:pt x="1643888" y="0"/>
                </a:moveTo>
                <a:lnTo>
                  <a:pt x="1561211" y="1143"/>
                </a:lnTo>
                <a:lnTo>
                  <a:pt x="1479423" y="4445"/>
                </a:lnTo>
                <a:lnTo>
                  <a:pt x="1398777" y="9779"/>
                </a:lnTo>
                <a:lnTo>
                  <a:pt x="1319529" y="17272"/>
                </a:lnTo>
                <a:lnTo>
                  <a:pt x="1241678" y="26797"/>
                </a:lnTo>
                <a:lnTo>
                  <a:pt x="1165225" y="38100"/>
                </a:lnTo>
                <a:lnTo>
                  <a:pt x="1090422" y="51435"/>
                </a:lnTo>
                <a:lnTo>
                  <a:pt x="1017270" y="66548"/>
                </a:lnTo>
                <a:lnTo>
                  <a:pt x="945896" y="83438"/>
                </a:lnTo>
                <a:lnTo>
                  <a:pt x="876426" y="102108"/>
                </a:lnTo>
                <a:lnTo>
                  <a:pt x="808736" y="122428"/>
                </a:lnTo>
                <a:lnTo>
                  <a:pt x="743204" y="144525"/>
                </a:lnTo>
                <a:lnTo>
                  <a:pt x="679957" y="168148"/>
                </a:lnTo>
                <a:lnTo>
                  <a:pt x="618744" y="193167"/>
                </a:lnTo>
                <a:lnTo>
                  <a:pt x="560069" y="219963"/>
                </a:lnTo>
                <a:lnTo>
                  <a:pt x="503681" y="248031"/>
                </a:lnTo>
                <a:lnTo>
                  <a:pt x="450088" y="277495"/>
                </a:lnTo>
                <a:lnTo>
                  <a:pt x="398906" y="308483"/>
                </a:lnTo>
                <a:lnTo>
                  <a:pt x="350646" y="340613"/>
                </a:lnTo>
                <a:lnTo>
                  <a:pt x="305181" y="374142"/>
                </a:lnTo>
                <a:lnTo>
                  <a:pt x="262763" y="408813"/>
                </a:lnTo>
                <a:lnTo>
                  <a:pt x="223138" y="444881"/>
                </a:lnTo>
                <a:lnTo>
                  <a:pt x="186817" y="481964"/>
                </a:lnTo>
                <a:lnTo>
                  <a:pt x="153924" y="520319"/>
                </a:lnTo>
                <a:lnTo>
                  <a:pt x="124332" y="559688"/>
                </a:lnTo>
                <a:lnTo>
                  <a:pt x="98298" y="600075"/>
                </a:lnTo>
                <a:lnTo>
                  <a:pt x="75818" y="641604"/>
                </a:lnTo>
                <a:lnTo>
                  <a:pt x="58038" y="681989"/>
                </a:lnTo>
                <a:lnTo>
                  <a:pt x="57404" y="683260"/>
                </a:lnTo>
                <a:lnTo>
                  <a:pt x="56642" y="686054"/>
                </a:lnTo>
                <a:lnTo>
                  <a:pt x="51320" y="707650"/>
                </a:lnTo>
                <a:lnTo>
                  <a:pt x="100941" y="716252"/>
                </a:lnTo>
                <a:lnTo>
                  <a:pt x="104408" y="702183"/>
                </a:lnTo>
                <a:lnTo>
                  <a:pt x="104012" y="702183"/>
                </a:lnTo>
                <a:lnTo>
                  <a:pt x="105410" y="698119"/>
                </a:lnTo>
                <a:lnTo>
                  <a:pt x="105802" y="698119"/>
                </a:lnTo>
                <a:lnTo>
                  <a:pt x="121793" y="661797"/>
                </a:lnTo>
                <a:lnTo>
                  <a:pt x="142494" y="624078"/>
                </a:lnTo>
                <a:lnTo>
                  <a:pt x="166496" y="586994"/>
                </a:lnTo>
                <a:lnTo>
                  <a:pt x="194056" y="550545"/>
                </a:lnTo>
                <a:lnTo>
                  <a:pt x="224917" y="514858"/>
                </a:lnTo>
                <a:lnTo>
                  <a:pt x="259080" y="480060"/>
                </a:lnTo>
                <a:lnTo>
                  <a:pt x="296544" y="446150"/>
                </a:lnTo>
                <a:lnTo>
                  <a:pt x="336931" y="413131"/>
                </a:lnTo>
                <a:lnTo>
                  <a:pt x="380492" y="381126"/>
                </a:lnTo>
                <a:lnTo>
                  <a:pt x="426846" y="350266"/>
                </a:lnTo>
                <a:lnTo>
                  <a:pt x="476123" y="320675"/>
                </a:lnTo>
                <a:lnTo>
                  <a:pt x="527938" y="292100"/>
                </a:lnTo>
                <a:lnTo>
                  <a:pt x="582549" y="264922"/>
                </a:lnTo>
                <a:lnTo>
                  <a:pt x="639571" y="239013"/>
                </a:lnTo>
                <a:lnTo>
                  <a:pt x="699007" y="214630"/>
                </a:lnTo>
                <a:lnTo>
                  <a:pt x="760730" y="191643"/>
                </a:lnTo>
                <a:lnTo>
                  <a:pt x="824738" y="170180"/>
                </a:lnTo>
                <a:lnTo>
                  <a:pt x="890777" y="150241"/>
                </a:lnTo>
                <a:lnTo>
                  <a:pt x="958850" y="131953"/>
                </a:lnTo>
                <a:lnTo>
                  <a:pt x="1028826" y="115570"/>
                </a:lnTo>
                <a:lnTo>
                  <a:pt x="1100582" y="100584"/>
                </a:lnTo>
                <a:lnTo>
                  <a:pt x="1173988" y="87630"/>
                </a:lnTo>
                <a:lnTo>
                  <a:pt x="1249045" y="76454"/>
                </a:lnTo>
                <a:lnTo>
                  <a:pt x="1325626" y="67310"/>
                </a:lnTo>
                <a:lnTo>
                  <a:pt x="1403603" y="59944"/>
                </a:lnTo>
                <a:lnTo>
                  <a:pt x="1482725" y="54610"/>
                </a:lnTo>
                <a:lnTo>
                  <a:pt x="1563115" y="51435"/>
                </a:lnTo>
                <a:lnTo>
                  <a:pt x="1644650" y="50292"/>
                </a:lnTo>
                <a:lnTo>
                  <a:pt x="1654377" y="48160"/>
                </a:lnTo>
                <a:lnTo>
                  <a:pt x="1662271" y="42671"/>
                </a:lnTo>
                <a:lnTo>
                  <a:pt x="1667545" y="34611"/>
                </a:lnTo>
                <a:lnTo>
                  <a:pt x="1669414" y="24764"/>
                </a:lnTo>
                <a:lnTo>
                  <a:pt x="1667283" y="15019"/>
                </a:lnTo>
                <a:lnTo>
                  <a:pt x="1661794" y="7096"/>
                </a:lnTo>
                <a:lnTo>
                  <a:pt x="1653734" y="1815"/>
                </a:lnTo>
                <a:lnTo>
                  <a:pt x="1643888" y="0"/>
                </a:lnTo>
                <a:close/>
              </a:path>
              <a:path w="1669414" h="860425">
                <a:moveTo>
                  <a:pt x="105410" y="698119"/>
                </a:moveTo>
                <a:lnTo>
                  <a:pt x="104012" y="702183"/>
                </a:lnTo>
                <a:lnTo>
                  <a:pt x="104911" y="700142"/>
                </a:lnTo>
                <a:lnTo>
                  <a:pt x="105410" y="698119"/>
                </a:lnTo>
                <a:close/>
              </a:path>
              <a:path w="1669414" h="860425">
                <a:moveTo>
                  <a:pt x="104911" y="700142"/>
                </a:moveTo>
                <a:lnTo>
                  <a:pt x="104012" y="702183"/>
                </a:lnTo>
                <a:lnTo>
                  <a:pt x="104408" y="702183"/>
                </a:lnTo>
                <a:lnTo>
                  <a:pt x="104911" y="700142"/>
                </a:lnTo>
                <a:close/>
              </a:path>
              <a:path w="1669414" h="860425">
                <a:moveTo>
                  <a:pt x="105802" y="698119"/>
                </a:moveTo>
                <a:lnTo>
                  <a:pt x="105410" y="698119"/>
                </a:lnTo>
                <a:lnTo>
                  <a:pt x="104911" y="700142"/>
                </a:lnTo>
                <a:lnTo>
                  <a:pt x="105802" y="698119"/>
                </a:lnTo>
                <a:close/>
              </a:path>
            </a:pathLst>
          </a:custGeom>
          <a:solidFill>
            <a:srgbClr val="9B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2136394" y="5195138"/>
            <a:ext cx="1619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A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2822575" y="51838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B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3584575" y="5195138"/>
            <a:ext cx="166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C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4346575" y="5195138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D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185028" y="51838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5947028" y="5195138"/>
            <a:ext cx="130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70916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spc="-30" dirty="0">
                <a:latin typeface="Perpetua"/>
                <a:cs typeface="Perpetua"/>
              </a:rPr>
              <a:t>Swap </a:t>
            </a:r>
            <a:r>
              <a:rPr sz="4000" i="1" spc="-5" dirty="0">
                <a:latin typeface="Perpetua"/>
                <a:cs typeface="Perpetua"/>
              </a:rPr>
              <a:t>the smallest </a:t>
            </a:r>
            <a:r>
              <a:rPr sz="4000" i="1" dirty="0">
                <a:latin typeface="Perpetua"/>
                <a:cs typeface="Perpetua"/>
              </a:rPr>
              <a:t>entry </a:t>
            </a:r>
            <a:r>
              <a:rPr sz="4000" i="1" spc="-5" dirty="0">
                <a:latin typeface="Perpetua"/>
                <a:cs typeface="Perpetua"/>
              </a:rPr>
              <a:t>with the </a:t>
            </a:r>
            <a:r>
              <a:rPr sz="4000" i="1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first</a:t>
            </a:r>
            <a:r>
              <a:rPr sz="4000" i="1" u="heavy" spc="30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</a:t>
            </a:r>
            <a:r>
              <a:rPr sz="4000" i="1" u="heavy" spc="-5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entry</a:t>
            </a:r>
            <a:r>
              <a:rPr sz="4000" i="1" spc="-55" dirty="0">
                <a:latin typeface="Perpetua"/>
                <a:cs typeface="Perpetua"/>
              </a:rPr>
              <a:t>.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36737" y="4863670"/>
            <a:ext cx="4807585" cy="161290"/>
          </a:xfrm>
          <a:custGeom>
            <a:avLst/>
            <a:gdLst/>
            <a:ahLst/>
            <a:cxnLst/>
            <a:rect l="l" t="t" r="r" b="b"/>
            <a:pathLst>
              <a:path w="4807584" h="161289">
                <a:moveTo>
                  <a:pt x="4807560" y="0"/>
                </a:moveTo>
                <a:lnTo>
                  <a:pt x="209007" y="0"/>
                </a:lnTo>
                <a:lnTo>
                  <a:pt x="0" y="161221"/>
                </a:lnTo>
                <a:lnTo>
                  <a:pt x="4598489" y="161221"/>
                </a:lnTo>
                <a:lnTo>
                  <a:pt x="480756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41480" y="4877868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756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11673" y="4868403"/>
            <a:ext cx="427990" cy="0"/>
          </a:xfrm>
          <a:custGeom>
            <a:avLst/>
            <a:gdLst/>
            <a:ahLst/>
            <a:cxnLst/>
            <a:rect l="l" t="t" r="r" b="b"/>
            <a:pathLst>
              <a:path w="427990">
                <a:moveTo>
                  <a:pt x="0" y="0"/>
                </a:moveTo>
                <a:lnTo>
                  <a:pt x="427817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42360" y="4868403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72731" y="4868403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12650" y="4868403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43021" y="4868403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627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73644" y="4868403"/>
            <a:ext cx="466090" cy="0"/>
          </a:xfrm>
          <a:custGeom>
            <a:avLst/>
            <a:gdLst/>
            <a:ahLst/>
            <a:cxnLst/>
            <a:rect l="l" t="t" r="r" b="b"/>
            <a:pathLst>
              <a:path w="466089">
                <a:moveTo>
                  <a:pt x="0" y="0"/>
                </a:moveTo>
                <a:lnTo>
                  <a:pt x="46550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41480" y="4422599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756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11673" y="4412819"/>
            <a:ext cx="427990" cy="0"/>
          </a:xfrm>
          <a:custGeom>
            <a:avLst/>
            <a:gdLst/>
            <a:ahLst/>
            <a:cxnLst/>
            <a:rect l="l" t="t" r="r" b="b"/>
            <a:pathLst>
              <a:path w="427990">
                <a:moveTo>
                  <a:pt x="0" y="0"/>
                </a:moveTo>
                <a:lnTo>
                  <a:pt x="427817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42360" y="4412819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72731" y="4412819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12650" y="4412819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43021" y="4412819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627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50488" y="4412819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0" y="0"/>
                </a:moveTo>
                <a:lnTo>
                  <a:pt x="788664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41480" y="3967066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692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42360" y="3957601"/>
            <a:ext cx="1197610" cy="0"/>
          </a:xfrm>
          <a:custGeom>
            <a:avLst/>
            <a:gdLst/>
            <a:ahLst/>
            <a:cxnLst/>
            <a:rect l="l" t="t" r="r" b="b"/>
            <a:pathLst>
              <a:path w="1197609">
                <a:moveTo>
                  <a:pt x="0" y="0"/>
                </a:moveTo>
                <a:lnTo>
                  <a:pt x="119713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672731" y="3957601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12650" y="3957601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50488" y="3957601"/>
            <a:ext cx="1549400" cy="0"/>
          </a:xfrm>
          <a:custGeom>
            <a:avLst/>
            <a:gdLst/>
            <a:ahLst/>
            <a:cxnLst/>
            <a:rect l="l" t="t" r="r" b="b"/>
            <a:pathLst>
              <a:path w="1549400">
                <a:moveTo>
                  <a:pt x="0" y="0"/>
                </a:moveTo>
                <a:lnTo>
                  <a:pt x="154880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41480" y="3521200"/>
            <a:ext cx="200025" cy="142875"/>
          </a:xfrm>
          <a:custGeom>
            <a:avLst/>
            <a:gdLst/>
            <a:ahLst/>
            <a:cxnLst/>
            <a:rect l="l" t="t" r="r" b="b"/>
            <a:pathLst>
              <a:path w="200025" h="142875">
                <a:moveTo>
                  <a:pt x="0" y="142354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42360" y="3511735"/>
            <a:ext cx="1197610" cy="0"/>
          </a:xfrm>
          <a:custGeom>
            <a:avLst/>
            <a:gdLst/>
            <a:ahLst/>
            <a:cxnLst/>
            <a:rect l="l" t="t" r="r" b="b"/>
            <a:pathLst>
              <a:path w="1197609">
                <a:moveTo>
                  <a:pt x="0" y="0"/>
                </a:moveTo>
                <a:lnTo>
                  <a:pt x="119713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72731" y="3511735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12650" y="3511735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050488" y="3511735"/>
            <a:ext cx="1549400" cy="0"/>
          </a:xfrm>
          <a:custGeom>
            <a:avLst/>
            <a:gdLst/>
            <a:ahLst/>
            <a:cxnLst/>
            <a:rect l="l" t="t" r="r" b="b"/>
            <a:pathLst>
              <a:path w="1549400">
                <a:moveTo>
                  <a:pt x="0" y="0"/>
                </a:moveTo>
                <a:lnTo>
                  <a:pt x="154880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41480" y="3065616"/>
            <a:ext cx="200025" cy="142875"/>
          </a:xfrm>
          <a:custGeom>
            <a:avLst/>
            <a:gdLst/>
            <a:ahLst/>
            <a:cxnLst/>
            <a:rect l="l" t="t" r="r" b="b"/>
            <a:pathLst>
              <a:path w="200025" h="142875">
                <a:moveTo>
                  <a:pt x="0" y="142606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42360" y="3056151"/>
            <a:ext cx="1197610" cy="0"/>
          </a:xfrm>
          <a:custGeom>
            <a:avLst/>
            <a:gdLst/>
            <a:ahLst/>
            <a:cxnLst/>
            <a:rect l="l" t="t" r="r" b="b"/>
            <a:pathLst>
              <a:path w="1197609">
                <a:moveTo>
                  <a:pt x="0" y="0"/>
                </a:moveTo>
                <a:lnTo>
                  <a:pt x="119713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672731" y="3056151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12650" y="3056151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050488" y="3056151"/>
            <a:ext cx="1549400" cy="0"/>
          </a:xfrm>
          <a:custGeom>
            <a:avLst/>
            <a:gdLst/>
            <a:ahLst/>
            <a:cxnLst/>
            <a:rect l="l" t="t" r="r" b="b"/>
            <a:pathLst>
              <a:path w="1549400">
                <a:moveTo>
                  <a:pt x="0" y="0"/>
                </a:moveTo>
                <a:lnTo>
                  <a:pt x="154880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41480" y="2610411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692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672731" y="2600946"/>
            <a:ext cx="1967230" cy="0"/>
          </a:xfrm>
          <a:custGeom>
            <a:avLst/>
            <a:gdLst/>
            <a:ahLst/>
            <a:cxnLst/>
            <a:rect l="l" t="t" r="r" b="b"/>
            <a:pathLst>
              <a:path w="1967229">
                <a:moveTo>
                  <a:pt x="0" y="0"/>
                </a:moveTo>
                <a:lnTo>
                  <a:pt x="196676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050488" y="2600946"/>
            <a:ext cx="2318385" cy="0"/>
          </a:xfrm>
          <a:custGeom>
            <a:avLst/>
            <a:gdLst/>
            <a:ahLst/>
            <a:cxnLst/>
            <a:rect l="l" t="t" r="r" b="b"/>
            <a:pathLst>
              <a:path w="2318385">
                <a:moveTo>
                  <a:pt x="0" y="0"/>
                </a:moveTo>
                <a:lnTo>
                  <a:pt x="231805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41480" y="2155080"/>
            <a:ext cx="200025" cy="152400"/>
          </a:xfrm>
          <a:custGeom>
            <a:avLst/>
            <a:gdLst/>
            <a:ahLst/>
            <a:cxnLst/>
            <a:rect l="l" t="t" r="r" b="b"/>
            <a:pathLst>
              <a:path w="200025" h="152400">
                <a:moveTo>
                  <a:pt x="0" y="151819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050488" y="2145615"/>
            <a:ext cx="4589145" cy="0"/>
          </a:xfrm>
          <a:custGeom>
            <a:avLst/>
            <a:gdLst/>
            <a:ahLst/>
            <a:cxnLst/>
            <a:rect l="l" t="t" r="r" b="b"/>
            <a:pathLst>
              <a:path w="4589145">
                <a:moveTo>
                  <a:pt x="0" y="0"/>
                </a:moveTo>
                <a:lnTo>
                  <a:pt x="4589003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41480" y="1699496"/>
            <a:ext cx="200025" cy="152400"/>
          </a:xfrm>
          <a:custGeom>
            <a:avLst/>
            <a:gdLst/>
            <a:ahLst/>
            <a:cxnLst/>
            <a:rect l="l" t="t" r="r" b="b"/>
            <a:pathLst>
              <a:path w="200025" h="152400">
                <a:moveTo>
                  <a:pt x="0" y="151819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050488" y="1690031"/>
            <a:ext cx="4589145" cy="0"/>
          </a:xfrm>
          <a:custGeom>
            <a:avLst/>
            <a:gdLst/>
            <a:ahLst/>
            <a:cxnLst/>
            <a:rect l="l" t="t" r="r" b="b"/>
            <a:pathLst>
              <a:path w="4589145">
                <a:moveTo>
                  <a:pt x="0" y="0"/>
                </a:moveTo>
                <a:lnTo>
                  <a:pt x="4589003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41480" y="4868403"/>
            <a:ext cx="4807585" cy="161290"/>
          </a:xfrm>
          <a:custGeom>
            <a:avLst/>
            <a:gdLst/>
            <a:ahLst/>
            <a:cxnLst/>
            <a:rect l="l" t="t" r="r" b="b"/>
            <a:pathLst>
              <a:path w="4807584" h="161289">
                <a:moveTo>
                  <a:pt x="4807497" y="0"/>
                </a:moveTo>
                <a:lnTo>
                  <a:pt x="4598426" y="161221"/>
                </a:lnTo>
                <a:lnTo>
                  <a:pt x="0" y="161221"/>
                </a:lnTo>
                <a:lnTo>
                  <a:pt x="209007" y="0"/>
                </a:lnTo>
                <a:lnTo>
                  <a:pt x="4807497" y="0"/>
                </a:lnTo>
                <a:close/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41480" y="1690031"/>
            <a:ext cx="209550" cy="3340100"/>
          </a:xfrm>
          <a:custGeom>
            <a:avLst/>
            <a:gdLst/>
            <a:ahLst/>
            <a:cxnLst/>
            <a:rect l="l" t="t" r="r" b="b"/>
            <a:pathLst>
              <a:path w="209550" h="3340100">
                <a:moveTo>
                  <a:pt x="0" y="3339592"/>
                </a:moveTo>
                <a:lnTo>
                  <a:pt x="0" y="161284"/>
                </a:lnTo>
                <a:lnTo>
                  <a:pt x="209007" y="0"/>
                </a:lnTo>
                <a:lnTo>
                  <a:pt x="209007" y="3178371"/>
                </a:lnTo>
                <a:lnTo>
                  <a:pt x="0" y="3339592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050488" y="1690044"/>
            <a:ext cx="4598670" cy="3178810"/>
          </a:xfrm>
          <a:custGeom>
            <a:avLst/>
            <a:gdLst/>
            <a:ahLst/>
            <a:cxnLst/>
            <a:rect l="l" t="t" r="r" b="b"/>
            <a:pathLst>
              <a:path w="4598670" h="3178810">
                <a:moveTo>
                  <a:pt x="0" y="3178358"/>
                </a:moveTo>
                <a:lnTo>
                  <a:pt x="4598552" y="3178358"/>
                </a:lnTo>
                <a:lnTo>
                  <a:pt x="4598552" y="0"/>
                </a:lnTo>
                <a:lnTo>
                  <a:pt x="0" y="0"/>
                </a:lnTo>
                <a:lnTo>
                  <a:pt x="0" y="3178358"/>
                </a:lnTo>
                <a:close/>
              </a:path>
            </a:pathLst>
          </a:custGeom>
          <a:ln w="94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73644" y="4460459"/>
            <a:ext cx="209550" cy="569595"/>
          </a:xfrm>
          <a:custGeom>
            <a:avLst/>
            <a:gdLst/>
            <a:ahLst/>
            <a:cxnLst/>
            <a:rect l="l" t="t" r="r" b="b"/>
            <a:pathLst>
              <a:path w="209550" h="569595">
                <a:moveTo>
                  <a:pt x="209007" y="0"/>
                </a:moveTo>
                <a:lnTo>
                  <a:pt x="0" y="161221"/>
                </a:lnTo>
                <a:lnTo>
                  <a:pt x="0" y="569164"/>
                </a:lnTo>
                <a:lnTo>
                  <a:pt x="209007" y="407942"/>
                </a:lnTo>
                <a:lnTo>
                  <a:pt x="209007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373644" y="4460459"/>
            <a:ext cx="209550" cy="569595"/>
          </a:xfrm>
          <a:custGeom>
            <a:avLst/>
            <a:gdLst/>
            <a:ahLst/>
            <a:cxnLst/>
            <a:rect l="l" t="t" r="r" b="b"/>
            <a:pathLst>
              <a:path w="209550" h="569595">
                <a:moveTo>
                  <a:pt x="0" y="569164"/>
                </a:moveTo>
                <a:lnTo>
                  <a:pt x="0" y="161221"/>
                </a:lnTo>
                <a:lnTo>
                  <a:pt x="209007" y="0"/>
                </a:lnTo>
                <a:lnTo>
                  <a:pt x="209007" y="407942"/>
                </a:lnTo>
                <a:lnTo>
                  <a:pt x="0" y="569164"/>
                </a:lnTo>
                <a:close/>
              </a:path>
            </a:pathLst>
          </a:custGeom>
          <a:ln w="9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069460" y="4621681"/>
            <a:ext cx="304800" cy="408305"/>
          </a:xfrm>
          <a:custGeom>
            <a:avLst/>
            <a:gdLst/>
            <a:ahLst/>
            <a:cxnLst/>
            <a:rect l="l" t="t" r="r" b="b"/>
            <a:pathLst>
              <a:path w="304800" h="408304">
                <a:moveTo>
                  <a:pt x="0" y="407942"/>
                </a:moveTo>
                <a:lnTo>
                  <a:pt x="304183" y="407942"/>
                </a:lnTo>
                <a:lnTo>
                  <a:pt x="304183" y="0"/>
                </a:lnTo>
                <a:lnTo>
                  <a:pt x="0" y="0"/>
                </a:lnTo>
                <a:lnTo>
                  <a:pt x="0" y="40794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069460" y="4621681"/>
            <a:ext cx="304800" cy="408305"/>
          </a:xfrm>
          <a:custGeom>
            <a:avLst/>
            <a:gdLst/>
            <a:ahLst/>
            <a:cxnLst/>
            <a:rect l="l" t="t" r="r" b="b"/>
            <a:pathLst>
              <a:path w="304800" h="408304">
                <a:moveTo>
                  <a:pt x="0" y="407942"/>
                </a:moveTo>
                <a:lnTo>
                  <a:pt x="304183" y="407942"/>
                </a:lnTo>
                <a:lnTo>
                  <a:pt x="304183" y="0"/>
                </a:lnTo>
                <a:lnTo>
                  <a:pt x="0" y="0"/>
                </a:lnTo>
                <a:lnTo>
                  <a:pt x="0" y="407942"/>
                </a:lnTo>
                <a:close/>
              </a:path>
            </a:pathLst>
          </a:custGeom>
          <a:ln w="94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069460" y="4460459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513191" y="0"/>
                </a:moveTo>
                <a:lnTo>
                  <a:pt x="209007" y="0"/>
                </a:lnTo>
                <a:lnTo>
                  <a:pt x="0" y="161221"/>
                </a:lnTo>
                <a:lnTo>
                  <a:pt x="304183" y="161221"/>
                </a:lnTo>
                <a:lnTo>
                  <a:pt x="513191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069460" y="4460459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304183" y="161221"/>
                </a:moveTo>
                <a:lnTo>
                  <a:pt x="513191" y="0"/>
                </a:lnTo>
                <a:lnTo>
                  <a:pt x="209007" y="0"/>
                </a:lnTo>
                <a:lnTo>
                  <a:pt x="0" y="161221"/>
                </a:lnTo>
                <a:lnTo>
                  <a:pt x="304183" y="161221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142957" y="3919741"/>
            <a:ext cx="209550" cy="1109980"/>
          </a:xfrm>
          <a:custGeom>
            <a:avLst/>
            <a:gdLst/>
            <a:ahLst/>
            <a:cxnLst/>
            <a:rect l="l" t="t" r="r" b="b"/>
            <a:pathLst>
              <a:path w="209550" h="1109979">
                <a:moveTo>
                  <a:pt x="209071" y="0"/>
                </a:moveTo>
                <a:lnTo>
                  <a:pt x="0" y="151692"/>
                </a:lnTo>
                <a:lnTo>
                  <a:pt x="0" y="1109882"/>
                </a:lnTo>
                <a:lnTo>
                  <a:pt x="209071" y="948661"/>
                </a:lnTo>
                <a:lnTo>
                  <a:pt x="209071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142957" y="3919741"/>
            <a:ext cx="209550" cy="1109980"/>
          </a:xfrm>
          <a:custGeom>
            <a:avLst/>
            <a:gdLst/>
            <a:ahLst/>
            <a:cxnLst/>
            <a:rect l="l" t="t" r="r" b="b"/>
            <a:pathLst>
              <a:path w="209550" h="1109979">
                <a:moveTo>
                  <a:pt x="0" y="1109882"/>
                </a:moveTo>
                <a:lnTo>
                  <a:pt x="0" y="151692"/>
                </a:lnTo>
                <a:lnTo>
                  <a:pt x="209071" y="0"/>
                </a:lnTo>
                <a:lnTo>
                  <a:pt x="209071" y="948661"/>
                </a:lnTo>
                <a:lnTo>
                  <a:pt x="0" y="1109882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839153" y="4071447"/>
            <a:ext cx="304165" cy="958215"/>
          </a:xfrm>
          <a:custGeom>
            <a:avLst/>
            <a:gdLst/>
            <a:ahLst/>
            <a:cxnLst/>
            <a:rect l="l" t="t" r="r" b="b"/>
            <a:pathLst>
              <a:path w="304164" h="958214">
                <a:moveTo>
                  <a:pt x="0" y="958177"/>
                </a:moveTo>
                <a:lnTo>
                  <a:pt x="303867" y="958177"/>
                </a:lnTo>
                <a:lnTo>
                  <a:pt x="303867" y="0"/>
                </a:lnTo>
                <a:lnTo>
                  <a:pt x="0" y="0"/>
                </a:lnTo>
                <a:lnTo>
                  <a:pt x="0" y="95817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839153" y="4071447"/>
            <a:ext cx="304165" cy="958215"/>
          </a:xfrm>
          <a:custGeom>
            <a:avLst/>
            <a:gdLst/>
            <a:ahLst/>
            <a:cxnLst/>
            <a:rect l="l" t="t" r="r" b="b"/>
            <a:pathLst>
              <a:path w="304164" h="958214">
                <a:moveTo>
                  <a:pt x="0" y="958177"/>
                </a:moveTo>
                <a:lnTo>
                  <a:pt x="303867" y="958177"/>
                </a:lnTo>
                <a:lnTo>
                  <a:pt x="303867" y="0"/>
                </a:lnTo>
                <a:lnTo>
                  <a:pt x="0" y="0"/>
                </a:lnTo>
                <a:lnTo>
                  <a:pt x="0" y="958177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839153" y="3919741"/>
            <a:ext cx="513080" cy="151765"/>
          </a:xfrm>
          <a:custGeom>
            <a:avLst/>
            <a:gdLst/>
            <a:ahLst/>
            <a:cxnLst/>
            <a:rect l="l" t="t" r="r" b="b"/>
            <a:pathLst>
              <a:path w="513079" h="151764">
                <a:moveTo>
                  <a:pt x="512875" y="0"/>
                </a:moveTo>
                <a:lnTo>
                  <a:pt x="208944" y="0"/>
                </a:lnTo>
                <a:lnTo>
                  <a:pt x="0" y="151692"/>
                </a:lnTo>
                <a:lnTo>
                  <a:pt x="303804" y="151692"/>
                </a:lnTo>
                <a:lnTo>
                  <a:pt x="512875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839153" y="3919741"/>
            <a:ext cx="513080" cy="151765"/>
          </a:xfrm>
          <a:custGeom>
            <a:avLst/>
            <a:gdLst/>
            <a:ahLst/>
            <a:cxnLst/>
            <a:rect l="l" t="t" r="r" b="b"/>
            <a:pathLst>
              <a:path w="513079" h="151764">
                <a:moveTo>
                  <a:pt x="303804" y="151692"/>
                </a:moveTo>
                <a:lnTo>
                  <a:pt x="512875" y="0"/>
                </a:lnTo>
                <a:lnTo>
                  <a:pt x="208944" y="0"/>
                </a:lnTo>
                <a:lnTo>
                  <a:pt x="0" y="151692"/>
                </a:lnTo>
                <a:lnTo>
                  <a:pt x="303804" y="151692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912587" y="2505917"/>
            <a:ext cx="209550" cy="2524125"/>
          </a:xfrm>
          <a:custGeom>
            <a:avLst/>
            <a:gdLst/>
            <a:ahLst/>
            <a:cxnLst/>
            <a:rect l="l" t="t" r="r" b="b"/>
            <a:pathLst>
              <a:path w="209550" h="2524125">
                <a:moveTo>
                  <a:pt x="209071" y="0"/>
                </a:moveTo>
                <a:lnTo>
                  <a:pt x="0" y="161284"/>
                </a:lnTo>
                <a:lnTo>
                  <a:pt x="0" y="2523706"/>
                </a:lnTo>
                <a:lnTo>
                  <a:pt x="209071" y="2362485"/>
                </a:lnTo>
                <a:lnTo>
                  <a:pt x="209071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912587" y="2505917"/>
            <a:ext cx="209550" cy="2524125"/>
          </a:xfrm>
          <a:custGeom>
            <a:avLst/>
            <a:gdLst/>
            <a:ahLst/>
            <a:cxnLst/>
            <a:rect l="l" t="t" r="r" b="b"/>
            <a:pathLst>
              <a:path w="209550" h="2524125">
                <a:moveTo>
                  <a:pt x="0" y="2523706"/>
                </a:moveTo>
                <a:lnTo>
                  <a:pt x="0" y="161284"/>
                </a:lnTo>
                <a:lnTo>
                  <a:pt x="209071" y="0"/>
                </a:lnTo>
                <a:lnTo>
                  <a:pt x="209071" y="2362485"/>
                </a:lnTo>
                <a:lnTo>
                  <a:pt x="0" y="2523706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599296" y="2667151"/>
            <a:ext cx="313690" cy="2362835"/>
          </a:xfrm>
          <a:custGeom>
            <a:avLst/>
            <a:gdLst/>
            <a:ahLst/>
            <a:cxnLst/>
            <a:rect l="l" t="t" r="r" b="b"/>
            <a:pathLst>
              <a:path w="313689" h="2362835">
                <a:moveTo>
                  <a:pt x="0" y="2362472"/>
                </a:moveTo>
                <a:lnTo>
                  <a:pt x="313353" y="2362472"/>
                </a:lnTo>
                <a:lnTo>
                  <a:pt x="313353" y="0"/>
                </a:lnTo>
                <a:lnTo>
                  <a:pt x="0" y="0"/>
                </a:lnTo>
                <a:lnTo>
                  <a:pt x="0" y="23624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599296" y="2667151"/>
            <a:ext cx="313690" cy="2362835"/>
          </a:xfrm>
          <a:custGeom>
            <a:avLst/>
            <a:gdLst/>
            <a:ahLst/>
            <a:cxnLst/>
            <a:rect l="l" t="t" r="r" b="b"/>
            <a:pathLst>
              <a:path w="313689" h="2362835">
                <a:moveTo>
                  <a:pt x="0" y="2362472"/>
                </a:moveTo>
                <a:lnTo>
                  <a:pt x="313353" y="2362472"/>
                </a:lnTo>
                <a:lnTo>
                  <a:pt x="313353" y="0"/>
                </a:lnTo>
                <a:lnTo>
                  <a:pt x="0" y="0"/>
                </a:lnTo>
                <a:lnTo>
                  <a:pt x="0" y="2362472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599296" y="2505917"/>
            <a:ext cx="522605" cy="161290"/>
          </a:xfrm>
          <a:custGeom>
            <a:avLst/>
            <a:gdLst/>
            <a:ahLst/>
            <a:cxnLst/>
            <a:rect l="l" t="t" r="r" b="b"/>
            <a:pathLst>
              <a:path w="522604" h="161289">
                <a:moveTo>
                  <a:pt x="522361" y="0"/>
                </a:moveTo>
                <a:lnTo>
                  <a:pt x="218430" y="0"/>
                </a:lnTo>
                <a:lnTo>
                  <a:pt x="0" y="161284"/>
                </a:lnTo>
                <a:lnTo>
                  <a:pt x="313290" y="161284"/>
                </a:lnTo>
                <a:lnTo>
                  <a:pt x="522361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599296" y="2505917"/>
            <a:ext cx="522605" cy="161290"/>
          </a:xfrm>
          <a:custGeom>
            <a:avLst/>
            <a:gdLst/>
            <a:ahLst/>
            <a:cxnLst/>
            <a:rect l="l" t="t" r="r" b="b"/>
            <a:pathLst>
              <a:path w="522604" h="161289">
                <a:moveTo>
                  <a:pt x="313290" y="161284"/>
                </a:moveTo>
                <a:lnTo>
                  <a:pt x="522361" y="0"/>
                </a:lnTo>
                <a:lnTo>
                  <a:pt x="218430" y="0"/>
                </a:lnTo>
                <a:lnTo>
                  <a:pt x="0" y="161284"/>
                </a:lnTo>
                <a:lnTo>
                  <a:pt x="313290" y="161284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672731" y="2098037"/>
            <a:ext cx="219075" cy="2931795"/>
          </a:xfrm>
          <a:custGeom>
            <a:avLst/>
            <a:gdLst/>
            <a:ahLst/>
            <a:cxnLst/>
            <a:rect l="l" t="t" r="r" b="b"/>
            <a:pathLst>
              <a:path w="219075" h="2931795">
                <a:moveTo>
                  <a:pt x="218557" y="0"/>
                </a:moveTo>
                <a:lnTo>
                  <a:pt x="0" y="161157"/>
                </a:lnTo>
                <a:lnTo>
                  <a:pt x="0" y="2931586"/>
                </a:lnTo>
                <a:lnTo>
                  <a:pt x="218557" y="2770365"/>
                </a:lnTo>
                <a:lnTo>
                  <a:pt x="218557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672731" y="2098037"/>
            <a:ext cx="219075" cy="2931795"/>
          </a:xfrm>
          <a:custGeom>
            <a:avLst/>
            <a:gdLst/>
            <a:ahLst/>
            <a:cxnLst/>
            <a:rect l="l" t="t" r="r" b="b"/>
            <a:pathLst>
              <a:path w="219075" h="2931795">
                <a:moveTo>
                  <a:pt x="0" y="2931586"/>
                </a:moveTo>
                <a:lnTo>
                  <a:pt x="0" y="161157"/>
                </a:lnTo>
                <a:lnTo>
                  <a:pt x="218557" y="0"/>
                </a:lnTo>
                <a:lnTo>
                  <a:pt x="218557" y="2770365"/>
                </a:lnTo>
                <a:lnTo>
                  <a:pt x="0" y="2931586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368546" y="2259271"/>
            <a:ext cx="304800" cy="2770505"/>
          </a:xfrm>
          <a:custGeom>
            <a:avLst/>
            <a:gdLst/>
            <a:ahLst/>
            <a:cxnLst/>
            <a:rect l="l" t="t" r="r" b="b"/>
            <a:pathLst>
              <a:path w="304800" h="2770504">
                <a:moveTo>
                  <a:pt x="0" y="2770352"/>
                </a:moveTo>
                <a:lnTo>
                  <a:pt x="304183" y="2770352"/>
                </a:lnTo>
                <a:lnTo>
                  <a:pt x="304183" y="0"/>
                </a:lnTo>
                <a:lnTo>
                  <a:pt x="0" y="0"/>
                </a:lnTo>
                <a:lnTo>
                  <a:pt x="0" y="277035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368546" y="2259271"/>
            <a:ext cx="304800" cy="2770505"/>
          </a:xfrm>
          <a:custGeom>
            <a:avLst/>
            <a:gdLst/>
            <a:ahLst/>
            <a:cxnLst/>
            <a:rect l="l" t="t" r="r" b="b"/>
            <a:pathLst>
              <a:path w="304800" h="2770504">
                <a:moveTo>
                  <a:pt x="0" y="2770352"/>
                </a:moveTo>
                <a:lnTo>
                  <a:pt x="304183" y="2770352"/>
                </a:lnTo>
                <a:lnTo>
                  <a:pt x="304183" y="0"/>
                </a:lnTo>
                <a:lnTo>
                  <a:pt x="0" y="0"/>
                </a:lnTo>
                <a:lnTo>
                  <a:pt x="0" y="2770352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368546" y="2098037"/>
            <a:ext cx="523240" cy="161290"/>
          </a:xfrm>
          <a:custGeom>
            <a:avLst/>
            <a:gdLst/>
            <a:ahLst/>
            <a:cxnLst/>
            <a:rect l="l" t="t" r="r" b="b"/>
            <a:pathLst>
              <a:path w="523239" h="161289">
                <a:moveTo>
                  <a:pt x="522741" y="0"/>
                </a:moveTo>
                <a:lnTo>
                  <a:pt x="208944" y="0"/>
                </a:lnTo>
                <a:lnTo>
                  <a:pt x="0" y="161157"/>
                </a:lnTo>
                <a:lnTo>
                  <a:pt x="304183" y="161157"/>
                </a:lnTo>
                <a:lnTo>
                  <a:pt x="522741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368546" y="2098037"/>
            <a:ext cx="523240" cy="161290"/>
          </a:xfrm>
          <a:custGeom>
            <a:avLst/>
            <a:gdLst/>
            <a:ahLst/>
            <a:cxnLst/>
            <a:rect l="l" t="t" r="r" b="b"/>
            <a:pathLst>
              <a:path w="523239" h="161289">
                <a:moveTo>
                  <a:pt x="304183" y="161157"/>
                </a:moveTo>
                <a:lnTo>
                  <a:pt x="522741" y="0"/>
                </a:lnTo>
                <a:lnTo>
                  <a:pt x="208944" y="0"/>
                </a:lnTo>
                <a:lnTo>
                  <a:pt x="0" y="161157"/>
                </a:lnTo>
                <a:lnTo>
                  <a:pt x="304183" y="161157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442360" y="2828738"/>
            <a:ext cx="209550" cy="2200910"/>
          </a:xfrm>
          <a:custGeom>
            <a:avLst/>
            <a:gdLst/>
            <a:ahLst/>
            <a:cxnLst/>
            <a:rect l="l" t="t" r="r" b="b"/>
            <a:pathLst>
              <a:path w="209550" h="2200910">
                <a:moveTo>
                  <a:pt x="209071" y="0"/>
                </a:moveTo>
                <a:lnTo>
                  <a:pt x="0" y="161157"/>
                </a:lnTo>
                <a:lnTo>
                  <a:pt x="0" y="2200885"/>
                </a:lnTo>
                <a:lnTo>
                  <a:pt x="209071" y="2039664"/>
                </a:lnTo>
                <a:lnTo>
                  <a:pt x="209071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442360" y="2828738"/>
            <a:ext cx="209550" cy="2200910"/>
          </a:xfrm>
          <a:custGeom>
            <a:avLst/>
            <a:gdLst/>
            <a:ahLst/>
            <a:cxnLst/>
            <a:rect l="l" t="t" r="r" b="b"/>
            <a:pathLst>
              <a:path w="209550" h="2200910">
                <a:moveTo>
                  <a:pt x="0" y="2200885"/>
                </a:moveTo>
                <a:lnTo>
                  <a:pt x="0" y="161157"/>
                </a:lnTo>
                <a:lnTo>
                  <a:pt x="209071" y="0"/>
                </a:lnTo>
                <a:lnTo>
                  <a:pt x="209071" y="2039664"/>
                </a:lnTo>
                <a:lnTo>
                  <a:pt x="0" y="2200885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138176" y="2989845"/>
            <a:ext cx="304800" cy="2040255"/>
          </a:xfrm>
          <a:custGeom>
            <a:avLst/>
            <a:gdLst/>
            <a:ahLst/>
            <a:cxnLst/>
            <a:rect l="l" t="t" r="r" b="b"/>
            <a:pathLst>
              <a:path w="304800" h="2040254">
                <a:moveTo>
                  <a:pt x="0" y="2039778"/>
                </a:moveTo>
                <a:lnTo>
                  <a:pt x="304183" y="2039778"/>
                </a:lnTo>
                <a:lnTo>
                  <a:pt x="304183" y="0"/>
                </a:lnTo>
                <a:lnTo>
                  <a:pt x="0" y="0"/>
                </a:lnTo>
                <a:lnTo>
                  <a:pt x="0" y="20397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138176" y="2989845"/>
            <a:ext cx="304800" cy="2040255"/>
          </a:xfrm>
          <a:custGeom>
            <a:avLst/>
            <a:gdLst/>
            <a:ahLst/>
            <a:cxnLst/>
            <a:rect l="l" t="t" r="r" b="b"/>
            <a:pathLst>
              <a:path w="304800" h="2040254">
                <a:moveTo>
                  <a:pt x="0" y="2039778"/>
                </a:moveTo>
                <a:lnTo>
                  <a:pt x="304183" y="2039778"/>
                </a:lnTo>
                <a:lnTo>
                  <a:pt x="304183" y="0"/>
                </a:lnTo>
                <a:lnTo>
                  <a:pt x="0" y="0"/>
                </a:lnTo>
                <a:lnTo>
                  <a:pt x="0" y="2039778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138176" y="2828738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513255" y="0"/>
                </a:moveTo>
                <a:lnTo>
                  <a:pt x="209071" y="0"/>
                </a:lnTo>
                <a:lnTo>
                  <a:pt x="0" y="161157"/>
                </a:lnTo>
                <a:lnTo>
                  <a:pt x="304183" y="161157"/>
                </a:lnTo>
                <a:lnTo>
                  <a:pt x="513255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138176" y="2828738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304183" y="161157"/>
                </a:moveTo>
                <a:lnTo>
                  <a:pt x="513255" y="0"/>
                </a:lnTo>
                <a:lnTo>
                  <a:pt x="209071" y="0"/>
                </a:lnTo>
                <a:lnTo>
                  <a:pt x="0" y="161157"/>
                </a:lnTo>
                <a:lnTo>
                  <a:pt x="304183" y="161157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211737" y="4185393"/>
            <a:ext cx="209550" cy="844550"/>
          </a:xfrm>
          <a:custGeom>
            <a:avLst/>
            <a:gdLst/>
            <a:ahLst/>
            <a:cxnLst/>
            <a:rect l="l" t="t" r="r" b="b"/>
            <a:pathLst>
              <a:path w="209550" h="844550">
                <a:moveTo>
                  <a:pt x="208944" y="0"/>
                </a:moveTo>
                <a:lnTo>
                  <a:pt x="0" y="161170"/>
                </a:lnTo>
                <a:lnTo>
                  <a:pt x="0" y="844230"/>
                </a:lnTo>
                <a:lnTo>
                  <a:pt x="208944" y="683009"/>
                </a:lnTo>
                <a:lnTo>
                  <a:pt x="208944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211737" y="4185393"/>
            <a:ext cx="209550" cy="844550"/>
          </a:xfrm>
          <a:custGeom>
            <a:avLst/>
            <a:gdLst/>
            <a:ahLst/>
            <a:cxnLst/>
            <a:rect l="l" t="t" r="r" b="b"/>
            <a:pathLst>
              <a:path w="209550" h="844550">
                <a:moveTo>
                  <a:pt x="0" y="844230"/>
                </a:moveTo>
                <a:lnTo>
                  <a:pt x="0" y="161170"/>
                </a:lnTo>
                <a:lnTo>
                  <a:pt x="208944" y="0"/>
                </a:lnTo>
                <a:lnTo>
                  <a:pt x="208944" y="683009"/>
                </a:lnTo>
                <a:lnTo>
                  <a:pt x="0" y="844230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907806" y="4346564"/>
            <a:ext cx="304165" cy="683260"/>
          </a:xfrm>
          <a:custGeom>
            <a:avLst/>
            <a:gdLst/>
            <a:ahLst/>
            <a:cxnLst/>
            <a:rect l="l" t="t" r="r" b="b"/>
            <a:pathLst>
              <a:path w="304164" h="683260">
                <a:moveTo>
                  <a:pt x="0" y="683060"/>
                </a:moveTo>
                <a:lnTo>
                  <a:pt x="303867" y="683060"/>
                </a:lnTo>
                <a:lnTo>
                  <a:pt x="303867" y="0"/>
                </a:lnTo>
                <a:lnTo>
                  <a:pt x="0" y="0"/>
                </a:lnTo>
                <a:lnTo>
                  <a:pt x="0" y="68306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907806" y="4346564"/>
            <a:ext cx="304165" cy="683260"/>
          </a:xfrm>
          <a:custGeom>
            <a:avLst/>
            <a:gdLst/>
            <a:ahLst/>
            <a:cxnLst/>
            <a:rect l="l" t="t" r="r" b="b"/>
            <a:pathLst>
              <a:path w="304164" h="683260">
                <a:moveTo>
                  <a:pt x="0" y="683060"/>
                </a:moveTo>
                <a:lnTo>
                  <a:pt x="303867" y="683060"/>
                </a:lnTo>
                <a:lnTo>
                  <a:pt x="303867" y="0"/>
                </a:lnTo>
                <a:lnTo>
                  <a:pt x="0" y="0"/>
                </a:lnTo>
                <a:lnTo>
                  <a:pt x="0" y="683060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907806" y="4185393"/>
            <a:ext cx="513080" cy="161290"/>
          </a:xfrm>
          <a:custGeom>
            <a:avLst/>
            <a:gdLst/>
            <a:ahLst/>
            <a:cxnLst/>
            <a:rect l="l" t="t" r="r" b="b"/>
            <a:pathLst>
              <a:path w="513079" h="161289">
                <a:moveTo>
                  <a:pt x="512875" y="0"/>
                </a:moveTo>
                <a:lnTo>
                  <a:pt x="209071" y="0"/>
                </a:lnTo>
                <a:lnTo>
                  <a:pt x="0" y="161170"/>
                </a:lnTo>
                <a:lnTo>
                  <a:pt x="303930" y="161170"/>
                </a:lnTo>
                <a:lnTo>
                  <a:pt x="512875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907806" y="4185393"/>
            <a:ext cx="513080" cy="161290"/>
          </a:xfrm>
          <a:custGeom>
            <a:avLst/>
            <a:gdLst/>
            <a:ahLst/>
            <a:cxnLst/>
            <a:rect l="l" t="t" r="r" b="b"/>
            <a:pathLst>
              <a:path w="513079" h="161289">
                <a:moveTo>
                  <a:pt x="303930" y="161170"/>
                </a:moveTo>
                <a:lnTo>
                  <a:pt x="512875" y="0"/>
                </a:lnTo>
                <a:lnTo>
                  <a:pt x="209071" y="0"/>
                </a:lnTo>
                <a:lnTo>
                  <a:pt x="0" y="161170"/>
                </a:lnTo>
                <a:lnTo>
                  <a:pt x="303930" y="161170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841480" y="1860780"/>
            <a:ext cx="0" cy="3169285"/>
          </a:xfrm>
          <a:custGeom>
            <a:avLst/>
            <a:gdLst/>
            <a:ahLst/>
            <a:cxnLst/>
            <a:rect l="l" t="t" r="r" b="b"/>
            <a:pathLst>
              <a:path h="3169285">
                <a:moveTo>
                  <a:pt x="0" y="3168843"/>
                </a:moveTo>
                <a:lnTo>
                  <a:pt x="0" y="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803536" y="502962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803536" y="457435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803536" y="4118759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803536" y="366355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803536" y="320822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803536" y="276210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803536" y="2306899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803536" y="18513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1520169" y="1682127"/>
            <a:ext cx="254000" cy="34772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70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60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800" b="1" spc="-5" dirty="0">
                <a:latin typeface="Times New Roman"/>
                <a:cs typeface="Times New Roman"/>
              </a:rPr>
              <a:t>50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800" b="1" spc="-5" dirty="0">
                <a:latin typeface="Times New Roman"/>
                <a:cs typeface="Times New Roman"/>
              </a:rPr>
              <a:t>40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30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20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  <a:p>
            <a:pPr marL="126364">
              <a:lnSpc>
                <a:spcPct val="100000"/>
              </a:lnSpc>
              <a:spcBef>
                <a:spcPts val="1430"/>
              </a:spcBef>
            </a:pPr>
            <a:r>
              <a:rPr sz="1800" b="1" spc="-5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1841480" y="5029624"/>
            <a:ext cx="4589145" cy="0"/>
          </a:xfrm>
          <a:custGeom>
            <a:avLst/>
            <a:gdLst/>
            <a:ahLst/>
            <a:cxnLst/>
            <a:rect l="l" t="t" r="r" b="b"/>
            <a:pathLst>
              <a:path w="4589145">
                <a:moveTo>
                  <a:pt x="0" y="0"/>
                </a:moveTo>
                <a:lnTo>
                  <a:pt x="458894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841480" y="502962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601624" y="502962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371253" y="502962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140630" y="502962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910259" y="502962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670403" y="502962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439906" y="502962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2070989" y="5087911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[1]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840619" y="5087911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[2]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3610248" y="5087911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[3]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4370392" y="5087911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[4]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139642" y="5087911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[5]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909398" y="5087911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[6]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212594" y="4585842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2898775" y="45742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B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3660775" y="4585842"/>
            <a:ext cx="16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C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4422775" y="4585842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D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261228" y="4574285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A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023228" y="4574285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07340" y="152527"/>
            <a:ext cx="76327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7222"/>
              <a:buFont typeface="Wingdings"/>
              <a:buChar char=""/>
              <a:tabLst>
                <a:tab pos="372745" algn="l"/>
                <a:tab pos="1012190" algn="l"/>
              </a:tabLst>
            </a:pPr>
            <a:r>
              <a:rPr sz="3600" i="1" spc="-130" dirty="0">
                <a:latin typeface="Perpetua"/>
                <a:cs typeface="Perpetua"/>
              </a:rPr>
              <a:t>We	</a:t>
            </a:r>
            <a:r>
              <a:rPr sz="3600" i="1" spc="-50" dirty="0">
                <a:latin typeface="Perpetua"/>
                <a:cs typeface="Perpetua"/>
              </a:rPr>
              <a:t>have </a:t>
            </a:r>
            <a:r>
              <a:rPr sz="3600" i="1" spc="-25" dirty="0">
                <a:latin typeface="Perpetua"/>
                <a:cs typeface="Perpetua"/>
              </a:rPr>
              <a:t>swapped </a:t>
            </a:r>
            <a:r>
              <a:rPr sz="3600" i="1" dirty="0">
                <a:latin typeface="Perpetua"/>
                <a:cs typeface="Perpetua"/>
              </a:rPr>
              <a:t>the smallest entry with the </a:t>
            </a:r>
            <a:r>
              <a:rPr sz="3600" i="1" spc="-5" dirty="0">
                <a:latin typeface="Perpetua"/>
                <a:cs typeface="Perpetua"/>
              </a:rPr>
              <a:t>first  </a:t>
            </a:r>
            <a:r>
              <a:rPr sz="3600" i="1" spc="-50" dirty="0">
                <a:latin typeface="Perpetua"/>
                <a:cs typeface="Perpetua"/>
              </a:rPr>
              <a:t>entry.</a:t>
            </a:r>
            <a:endParaRPr sz="3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36737" y="5439742"/>
            <a:ext cx="4807585" cy="161290"/>
          </a:xfrm>
          <a:custGeom>
            <a:avLst/>
            <a:gdLst/>
            <a:ahLst/>
            <a:cxnLst/>
            <a:rect l="l" t="t" r="r" b="b"/>
            <a:pathLst>
              <a:path w="4807584" h="161289">
                <a:moveTo>
                  <a:pt x="4807560" y="0"/>
                </a:moveTo>
                <a:lnTo>
                  <a:pt x="209007" y="0"/>
                </a:lnTo>
                <a:lnTo>
                  <a:pt x="0" y="161221"/>
                </a:lnTo>
                <a:lnTo>
                  <a:pt x="4598489" y="161221"/>
                </a:lnTo>
                <a:lnTo>
                  <a:pt x="480756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41480" y="5453939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756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11673" y="5444475"/>
            <a:ext cx="427990" cy="0"/>
          </a:xfrm>
          <a:custGeom>
            <a:avLst/>
            <a:gdLst/>
            <a:ahLst/>
            <a:cxnLst/>
            <a:rect l="l" t="t" r="r" b="b"/>
            <a:pathLst>
              <a:path w="427990">
                <a:moveTo>
                  <a:pt x="0" y="0"/>
                </a:moveTo>
                <a:lnTo>
                  <a:pt x="427817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42360" y="5444475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72731" y="5444475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12650" y="5444475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43021" y="5444475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627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73644" y="5444475"/>
            <a:ext cx="466090" cy="0"/>
          </a:xfrm>
          <a:custGeom>
            <a:avLst/>
            <a:gdLst/>
            <a:ahLst/>
            <a:cxnLst/>
            <a:rect l="l" t="t" r="r" b="b"/>
            <a:pathLst>
              <a:path w="466089">
                <a:moveTo>
                  <a:pt x="0" y="0"/>
                </a:moveTo>
                <a:lnTo>
                  <a:pt x="46550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41480" y="4998672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756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11673" y="4988891"/>
            <a:ext cx="427990" cy="0"/>
          </a:xfrm>
          <a:custGeom>
            <a:avLst/>
            <a:gdLst/>
            <a:ahLst/>
            <a:cxnLst/>
            <a:rect l="l" t="t" r="r" b="b"/>
            <a:pathLst>
              <a:path w="427990">
                <a:moveTo>
                  <a:pt x="0" y="0"/>
                </a:moveTo>
                <a:lnTo>
                  <a:pt x="427817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42360" y="4988891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72731" y="4988891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12650" y="4988891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143021" y="4988891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627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50488" y="4988891"/>
            <a:ext cx="788670" cy="0"/>
          </a:xfrm>
          <a:custGeom>
            <a:avLst/>
            <a:gdLst/>
            <a:ahLst/>
            <a:cxnLst/>
            <a:rect l="l" t="t" r="r" b="b"/>
            <a:pathLst>
              <a:path w="788669">
                <a:moveTo>
                  <a:pt x="0" y="0"/>
                </a:moveTo>
                <a:lnTo>
                  <a:pt x="788664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41480" y="4543138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692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42360" y="4533673"/>
            <a:ext cx="1197610" cy="0"/>
          </a:xfrm>
          <a:custGeom>
            <a:avLst/>
            <a:gdLst/>
            <a:ahLst/>
            <a:cxnLst/>
            <a:rect l="l" t="t" r="r" b="b"/>
            <a:pathLst>
              <a:path w="1197609">
                <a:moveTo>
                  <a:pt x="0" y="0"/>
                </a:moveTo>
                <a:lnTo>
                  <a:pt x="119713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672731" y="4533673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12650" y="4533673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50488" y="4533673"/>
            <a:ext cx="1549400" cy="0"/>
          </a:xfrm>
          <a:custGeom>
            <a:avLst/>
            <a:gdLst/>
            <a:ahLst/>
            <a:cxnLst/>
            <a:rect l="l" t="t" r="r" b="b"/>
            <a:pathLst>
              <a:path w="1549400">
                <a:moveTo>
                  <a:pt x="0" y="0"/>
                </a:moveTo>
                <a:lnTo>
                  <a:pt x="154880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41480" y="4097272"/>
            <a:ext cx="200025" cy="142875"/>
          </a:xfrm>
          <a:custGeom>
            <a:avLst/>
            <a:gdLst/>
            <a:ahLst/>
            <a:cxnLst/>
            <a:rect l="l" t="t" r="r" b="b"/>
            <a:pathLst>
              <a:path w="200025" h="142875">
                <a:moveTo>
                  <a:pt x="0" y="142354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42360" y="4087807"/>
            <a:ext cx="1197610" cy="0"/>
          </a:xfrm>
          <a:custGeom>
            <a:avLst/>
            <a:gdLst/>
            <a:ahLst/>
            <a:cxnLst/>
            <a:rect l="l" t="t" r="r" b="b"/>
            <a:pathLst>
              <a:path w="1197609">
                <a:moveTo>
                  <a:pt x="0" y="0"/>
                </a:moveTo>
                <a:lnTo>
                  <a:pt x="119713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72731" y="4087807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12650" y="4087807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050488" y="4087807"/>
            <a:ext cx="1549400" cy="0"/>
          </a:xfrm>
          <a:custGeom>
            <a:avLst/>
            <a:gdLst/>
            <a:ahLst/>
            <a:cxnLst/>
            <a:rect l="l" t="t" r="r" b="b"/>
            <a:pathLst>
              <a:path w="1549400">
                <a:moveTo>
                  <a:pt x="0" y="0"/>
                </a:moveTo>
                <a:lnTo>
                  <a:pt x="154880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41480" y="3641688"/>
            <a:ext cx="200025" cy="142875"/>
          </a:xfrm>
          <a:custGeom>
            <a:avLst/>
            <a:gdLst/>
            <a:ahLst/>
            <a:cxnLst/>
            <a:rect l="l" t="t" r="r" b="b"/>
            <a:pathLst>
              <a:path w="200025" h="142875">
                <a:moveTo>
                  <a:pt x="0" y="142606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42360" y="3632223"/>
            <a:ext cx="1197610" cy="0"/>
          </a:xfrm>
          <a:custGeom>
            <a:avLst/>
            <a:gdLst/>
            <a:ahLst/>
            <a:cxnLst/>
            <a:rect l="l" t="t" r="r" b="b"/>
            <a:pathLst>
              <a:path w="1197609">
                <a:moveTo>
                  <a:pt x="0" y="0"/>
                </a:moveTo>
                <a:lnTo>
                  <a:pt x="119713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672731" y="3632223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44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12650" y="3632223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89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050488" y="3632223"/>
            <a:ext cx="1549400" cy="0"/>
          </a:xfrm>
          <a:custGeom>
            <a:avLst/>
            <a:gdLst/>
            <a:ahLst/>
            <a:cxnLst/>
            <a:rect l="l" t="t" r="r" b="b"/>
            <a:pathLst>
              <a:path w="1549400">
                <a:moveTo>
                  <a:pt x="0" y="0"/>
                </a:moveTo>
                <a:lnTo>
                  <a:pt x="154880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41480" y="3186483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692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672731" y="3177018"/>
            <a:ext cx="1967230" cy="0"/>
          </a:xfrm>
          <a:custGeom>
            <a:avLst/>
            <a:gdLst/>
            <a:ahLst/>
            <a:cxnLst/>
            <a:rect l="l" t="t" r="r" b="b"/>
            <a:pathLst>
              <a:path w="1967229">
                <a:moveTo>
                  <a:pt x="0" y="0"/>
                </a:moveTo>
                <a:lnTo>
                  <a:pt x="196676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050488" y="3177018"/>
            <a:ext cx="2318385" cy="0"/>
          </a:xfrm>
          <a:custGeom>
            <a:avLst/>
            <a:gdLst/>
            <a:ahLst/>
            <a:cxnLst/>
            <a:rect l="l" t="t" r="r" b="b"/>
            <a:pathLst>
              <a:path w="2318385">
                <a:moveTo>
                  <a:pt x="0" y="0"/>
                </a:moveTo>
                <a:lnTo>
                  <a:pt x="231805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41480" y="2731152"/>
            <a:ext cx="200025" cy="152400"/>
          </a:xfrm>
          <a:custGeom>
            <a:avLst/>
            <a:gdLst/>
            <a:ahLst/>
            <a:cxnLst/>
            <a:rect l="l" t="t" r="r" b="b"/>
            <a:pathLst>
              <a:path w="200025" h="152400">
                <a:moveTo>
                  <a:pt x="0" y="151819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050488" y="2721687"/>
            <a:ext cx="4589145" cy="0"/>
          </a:xfrm>
          <a:custGeom>
            <a:avLst/>
            <a:gdLst/>
            <a:ahLst/>
            <a:cxnLst/>
            <a:rect l="l" t="t" r="r" b="b"/>
            <a:pathLst>
              <a:path w="4589145">
                <a:moveTo>
                  <a:pt x="0" y="0"/>
                </a:moveTo>
                <a:lnTo>
                  <a:pt x="4589003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41480" y="2275568"/>
            <a:ext cx="200025" cy="152400"/>
          </a:xfrm>
          <a:custGeom>
            <a:avLst/>
            <a:gdLst/>
            <a:ahLst/>
            <a:cxnLst/>
            <a:rect l="l" t="t" r="r" b="b"/>
            <a:pathLst>
              <a:path w="200025" h="152400">
                <a:moveTo>
                  <a:pt x="0" y="151819"/>
                </a:moveTo>
                <a:lnTo>
                  <a:pt x="199521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050488" y="2266103"/>
            <a:ext cx="4589145" cy="0"/>
          </a:xfrm>
          <a:custGeom>
            <a:avLst/>
            <a:gdLst/>
            <a:ahLst/>
            <a:cxnLst/>
            <a:rect l="l" t="t" r="r" b="b"/>
            <a:pathLst>
              <a:path w="4589145">
                <a:moveTo>
                  <a:pt x="0" y="0"/>
                </a:moveTo>
                <a:lnTo>
                  <a:pt x="4589003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41480" y="5444475"/>
            <a:ext cx="4807585" cy="161290"/>
          </a:xfrm>
          <a:custGeom>
            <a:avLst/>
            <a:gdLst/>
            <a:ahLst/>
            <a:cxnLst/>
            <a:rect l="l" t="t" r="r" b="b"/>
            <a:pathLst>
              <a:path w="4807584" h="161289">
                <a:moveTo>
                  <a:pt x="4807497" y="0"/>
                </a:moveTo>
                <a:lnTo>
                  <a:pt x="4598426" y="161221"/>
                </a:lnTo>
                <a:lnTo>
                  <a:pt x="0" y="161221"/>
                </a:lnTo>
                <a:lnTo>
                  <a:pt x="209007" y="0"/>
                </a:lnTo>
                <a:lnTo>
                  <a:pt x="4807497" y="0"/>
                </a:lnTo>
                <a:close/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41480" y="2266103"/>
            <a:ext cx="209550" cy="3340100"/>
          </a:xfrm>
          <a:custGeom>
            <a:avLst/>
            <a:gdLst/>
            <a:ahLst/>
            <a:cxnLst/>
            <a:rect l="l" t="t" r="r" b="b"/>
            <a:pathLst>
              <a:path w="209550" h="3340100">
                <a:moveTo>
                  <a:pt x="0" y="3339592"/>
                </a:moveTo>
                <a:lnTo>
                  <a:pt x="0" y="161284"/>
                </a:lnTo>
                <a:lnTo>
                  <a:pt x="209007" y="0"/>
                </a:lnTo>
                <a:lnTo>
                  <a:pt x="209007" y="3178371"/>
                </a:lnTo>
                <a:lnTo>
                  <a:pt x="0" y="3339592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050488" y="2266116"/>
            <a:ext cx="4598670" cy="3178810"/>
          </a:xfrm>
          <a:custGeom>
            <a:avLst/>
            <a:gdLst/>
            <a:ahLst/>
            <a:cxnLst/>
            <a:rect l="l" t="t" r="r" b="b"/>
            <a:pathLst>
              <a:path w="4598670" h="3178810">
                <a:moveTo>
                  <a:pt x="0" y="3178358"/>
                </a:moveTo>
                <a:lnTo>
                  <a:pt x="4598552" y="3178358"/>
                </a:lnTo>
                <a:lnTo>
                  <a:pt x="4598552" y="0"/>
                </a:lnTo>
                <a:lnTo>
                  <a:pt x="0" y="0"/>
                </a:lnTo>
                <a:lnTo>
                  <a:pt x="0" y="3178358"/>
                </a:lnTo>
                <a:close/>
              </a:path>
            </a:pathLst>
          </a:custGeom>
          <a:ln w="94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73644" y="5036532"/>
            <a:ext cx="209550" cy="569595"/>
          </a:xfrm>
          <a:custGeom>
            <a:avLst/>
            <a:gdLst/>
            <a:ahLst/>
            <a:cxnLst/>
            <a:rect l="l" t="t" r="r" b="b"/>
            <a:pathLst>
              <a:path w="209550" h="569595">
                <a:moveTo>
                  <a:pt x="209007" y="0"/>
                </a:moveTo>
                <a:lnTo>
                  <a:pt x="0" y="161221"/>
                </a:lnTo>
                <a:lnTo>
                  <a:pt x="0" y="569164"/>
                </a:lnTo>
                <a:lnTo>
                  <a:pt x="209007" y="407942"/>
                </a:lnTo>
                <a:lnTo>
                  <a:pt x="209007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373644" y="5036532"/>
            <a:ext cx="209550" cy="569595"/>
          </a:xfrm>
          <a:custGeom>
            <a:avLst/>
            <a:gdLst/>
            <a:ahLst/>
            <a:cxnLst/>
            <a:rect l="l" t="t" r="r" b="b"/>
            <a:pathLst>
              <a:path w="209550" h="569595">
                <a:moveTo>
                  <a:pt x="0" y="569164"/>
                </a:moveTo>
                <a:lnTo>
                  <a:pt x="0" y="161221"/>
                </a:lnTo>
                <a:lnTo>
                  <a:pt x="209007" y="0"/>
                </a:lnTo>
                <a:lnTo>
                  <a:pt x="209007" y="407942"/>
                </a:lnTo>
                <a:lnTo>
                  <a:pt x="0" y="569164"/>
                </a:lnTo>
                <a:close/>
              </a:path>
            </a:pathLst>
          </a:custGeom>
          <a:ln w="9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069460" y="5197753"/>
            <a:ext cx="304800" cy="408305"/>
          </a:xfrm>
          <a:custGeom>
            <a:avLst/>
            <a:gdLst/>
            <a:ahLst/>
            <a:cxnLst/>
            <a:rect l="l" t="t" r="r" b="b"/>
            <a:pathLst>
              <a:path w="304800" h="408304">
                <a:moveTo>
                  <a:pt x="0" y="407942"/>
                </a:moveTo>
                <a:lnTo>
                  <a:pt x="304183" y="407942"/>
                </a:lnTo>
                <a:lnTo>
                  <a:pt x="304183" y="0"/>
                </a:lnTo>
                <a:lnTo>
                  <a:pt x="0" y="0"/>
                </a:lnTo>
                <a:lnTo>
                  <a:pt x="0" y="40794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069460" y="5197753"/>
            <a:ext cx="304800" cy="408305"/>
          </a:xfrm>
          <a:custGeom>
            <a:avLst/>
            <a:gdLst/>
            <a:ahLst/>
            <a:cxnLst/>
            <a:rect l="l" t="t" r="r" b="b"/>
            <a:pathLst>
              <a:path w="304800" h="408304">
                <a:moveTo>
                  <a:pt x="0" y="407942"/>
                </a:moveTo>
                <a:lnTo>
                  <a:pt x="304183" y="407942"/>
                </a:lnTo>
                <a:lnTo>
                  <a:pt x="304183" y="0"/>
                </a:lnTo>
                <a:lnTo>
                  <a:pt x="0" y="0"/>
                </a:lnTo>
                <a:lnTo>
                  <a:pt x="0" y="407942"/>
                </a:lnTo>
                <a:close/>
              </a:path>
            </a:pathLst>
          </a:custGeom>
          <a:ln w="94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069460" y="5036532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513191" y="0"/>
                </a:moveTo>
                <a:lnTo>
                  <a:pt x="209007" y="0"/>
                </a:lnTo>
                <a:lnTo>
                  <a:pt x="0" y="161221"/>
                </a:lnTo>
                <a:lnTo>
                  <a:pt x="304183" y="161221"/>
                </a:lnTo>
                <a:lnTo>
                  <a:pt x="513191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069460" y="5036532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304183" y="161221"/>
                </a:moveTo>
                <a:lnTo>
                  <a:pt x="513191" y="0"/>
                </a:lnTo>
                <a:lnTo>
                  <a:pt x="209007" y="0"/>
                </a:lnTo>
                <a:lnTo>
                  <a:pt x="0" y="161221"/>
                </a:lnTo>
                <a:lnTo>
                  <a:pt x="304183" y="161221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142957" y="4495813"/>
            <a:ext cx="209550" cy="1109980"/>
          </a:xfrm>
          <a:custGeom>
            <a:avLst/>
            <a:gdLst/>
            <a:ahLst/>
            <a:cxnLst/>
            <a:rect l="l" t="t" r="r" b="b"/>
            <a:pathLst>
              <a:path w="209550" h="1109979">
                <a:moveTo>
                  <a:pt x="209071" y="0"/>
                </a:moveTo>
                <a:lnTo>
                  <a:pt x="0" y="151692"/>
                </a:lnTo>
                <a:lnTo>
                  <a:pt x="0" y="1109882"/>
                </a:lnTo>
                <a:lnTo>
                  <a:pt x="209071" y="948661"/>
                </a:lnTo>
                <a:lnTo>
                  <a:pt x="209071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142957" y="4495813"/>
            <a:ext cx="209550" cy="1109980"/>
          </a:xfrm>
          <a:custGeom>
            <a:avLst/>
            <a:gdLst/>
            <a:ahLst/>
            <a:cxnLst/>
            <a:rect l="l" t="t" r="r" b="b"/>
            <a:pathLst>
              <a:path w="209550" h="1109979">
                <a:moveTo>
                  <a:pt x="0" y="1109882"/>
                </a:moveTo>
                <a:lnTo>
                  <a:pt x="0" y="151692"/>
                </a:lnTo>
                <a:lnTo>
                  <a:pt x="209071" y="0"/>
                </a:lnTo>
                <a:lnTo>
                  <a:pt x="209071" y="948661"/>
                </a:lnTo>
                <a:lnTo>
                  <a:pt x="0" y="1109882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839153" y="4647519"/>
            <a:ext cx="304165" cy="958215"/>
          </a:xfrm>
          <a:custGeom>
            <a:avLst/>
            <a:gdLst/>
            <a:ahLst/>
            <a:cxnLst/>
            <a:rect l="l" t="t" r="r" b="b"/>
            <a:pathLst>
              <a:path w="304164" h="958214">
                <a:moveTo>
                  <a:pt x="0" y="958177"/>
                </a:moveTo>
                <a:lnTo>
                  <a:pt x="303867" y="958177"/>
                </a:lnTo>
                <a:lnTo>
                  <a:pt x="303867" y="0"/>
                </a:lnTo>
                <a:lnTo>
                  <a:pt x="0" y="0"/>
                </a:lnTo>
                <a:lnTo>
                  <a:pt x="0" y="95817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839153" y="4647519"/>
            <a:ext cx="304165" cy="958215"/>
          </a:xfrm>
          <a:custGeom>
            <a:avLst/>
            <a:gdLst/>
            <a:ahLst/>
            <a:cxnLst/>
            <a:rect l="l" t="t" r="r" b="b"/>
            <a:pathLst>
              <a:path w="304164" h="958214">
                <a:moveTo>
                  <a:pt x="0" y="958177"/>
                </a:moveTo>
                <a:lnTo>
                  <a:pt x="303867" y="958177"/>
                </a:lnTo>
                <a:lnTo>
                  <a:pt x="303867" y="0"/>
                </a:lnTo>
                <a:lnTo>
                  <a:pt x="0" y="0"/>
                </a:lnTo>
                <a:lnTo>
                  <a:pt x="0" y="958177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839153" y="4495813"/>
            <a:ext cx="513080" cy="151765"/>
          </a:xfrm>
          <a:custGeom>
            <a:avLst/>
            <a:gdLst/>
            <a:ahLst/>
            <a:cxnLst/>
            <a:rect l="l" t="t" r="r" b="b"/>
            <a:pathLst>
              <a:path w="513079" h="151764">
                <a:moveTo>
                  <a:pt x="512875" y="0"/>
                </a:moveTo>
                <a:lnTo>
                  <a:pt x="208944" y="0"/>
                </a:lnTo>
                <a:lnTo>
                  <a:pt x="0" y="151692"/>
                </a:lnTo>
                <a:lnTo>
                  <a:pt x="303804" y="151692"/>
                </a:lnTo>
                <a:lnTo>
                  <a:pt x="512875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839153" y="4495813"/>
            <a:ext cx="513080" cy="151765"/>
          </a:xfrm>
          <a:custGeom>
            <a:avLst/>
            <a:gdLst/>
            <a:ahLst/>
            <a:cxnLst/>
            <a:rect l="l" t="t" r="r" b="b"/>
            <a:pathLst>
              <a:path w="513079" h="151764">
                <a:moveTo>
                  <a:pt x="303804" y="151692"/>
                </a:moveTo>
                <a:lnTo>
                  <a:pt x="512875" y="0"/>
                </a:lnTo>
                <a:lnTo>
                  <a:pt x="208944" y="0"/>
                </a:lnTo>
                <a:lnTo>
                  <a:pt x="0" y="151692"/>
                </a:lnTo>
                <a:lnTo>
                  <a:pt x="303804" y="151692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912587" y="3081989"/>
            <a:ext cx="209550" cy="2524125"/>
          </a:xfrm>
          <a:custGeom>
            <a:avLst/>
            <a:gdLst/>
            <a:ahLst/>
            <a:cxnLst/>
            <a:rect l="l" t="t" r="r" b="b"/>
            <a:pathLst>
              <a:path w="209550" h="2524125">
                <a:moveTo>
                  <a:pt x="209071" y="0"/>
                </a:moveTo>
                <a:lnTo>
                  <a:pt x="0" y="161284"/>
                </a:lnTo>
                <a:lnTo>
                  <a:pt x="0" y="2523706"/>
                </a:lnTo>
                <a:lnTo>
                  <a:pt x="209071" y="2362485"/>
                </a:lnTo>
                <a:lnTo>
                  <a:pt x="209071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912587" y="3081989"/>
            <a:ext cx="209550" cy="2524125"/>
          </a:xfrm>
          <a:custGeom>
            <a:avLst/>
            <a:gdLst/>
            <a:ahLst/>
            <a:cxnLst/>
            <a:rect l="l" t="t" r="r" b="b"/>
            <a:pathLst>
              <a:path w="209550" h="2524125">
                <a:moveTo>
                  <a:pt x="0" y="2523706"/>
                </a:moveTo>
                <a:lnTo>
                  <a:pt x="0" y="161284"/>
                </a:lnTo>
                <a:lnTo>
                  <a:pt x="209071" y="0"/>
                </a:lnTo>
                <a:lnTo>
                  <a:pt x="209071" y="2362485"/>
                </a:lnTo>
                <a:lnTo>
                  <a:pt x="0" y="2523706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599296" y="3243223"/>
            <a:ext cx="313690" cy="2362835"/>
          </a:xfrm>
          <a:custGeom>
            <a:avLst/>
            <a:gdLst/>
            <a:ahLst/>
            <a:cxnLst/>
            <a:rect l="l" t="t" r="r" b="b"/>
            <a:pathLst>
              <a:path w="313689" h="2362835">
                <a:moveTo>
                  <a:pt x="0" y="2362472"/>
                </a:moveTo>
                <a:lnTo>
                  <a:pt x="313353" y="2362472"/>
                </a:lnTo>
                <a:lnTo>
                  <a:pt x="313353" y="0"/>
                </a:lnTo>
                <a:lnTo>
                  <a:pt x="0" y="0"/>
                </a:lnTo>
                <a:lnTo>
                  <a:pt x="0" y="236247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599296" y="3243223"/>
            <a:ext cx="313690" cy="2362835"/>
          </a:xfrm>
          <a:custGeom>
            <a:avLst/>
            <a:gdLst/>
            <a:ahLst/>
            <a:cxnLst/>
            <a:rect l="l" t="t" r="r" b="b"/>
            <a:pathLst>
              <a:path w="313689" h="2362835">
                <a:moveTo>
                  <a:pt x="0" y="2362472"/>
                </a:moveTo>
                <a:lnTo>
                  <a:pt x="313353" y="2362472"/>
                </a:lnTo>
                <a:lnTo>
                  <a:pt x="313353" y="0"/>
                </a:lnTo>
                <a:lnTo>
                  <a:pt x="0" y="0"/>
                </a:lnTo>
                <a:lnTo>
                  <a:pt x="0" y="2362472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599296" y="3081989"/>
            <a:ext cx="522605" cy="161290"/>
          </a:xfrm>
          <a:custGeom>
            <a:avLst/>
            <a:gdLst/>
            <a:ahLst/>
            <a:cxnLst/>
            <a:rect l="l" t="t" r="r" b="b"/>
            <a:pathLst>
              <a:path w="522604" h="161289">
                <a:moveTo>
                  <a:pt x="522361" y="0"/>
                </a:moveTo>
                <a:lnTo>
                  <a:pt x="218430" y="0"/>
                </a:lnTo>
                <a:lnTo>
                  <a:pt x="0" y="161284"/>
                </a:lnTo>
                <a:lnTo>
                  <a:pt x="313290" y="161284"/>
                </a:lnTo>
                <a:lnTo>
                  <a:pt x="522361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599296" y="3081989"/>
            <a:ext cx="522605" cy="161290"/>
          </a:xfrm>
          <a:custGeom>
            <a:avLst/>
            <a:gdLst/>
            <a:ahLst/>
            <a:cxnLst/>
            <a:rect l="l" t="t" r="r" b="b"/>
            <a:pathLst>
              <a:path w="522604" h="161289">
                <a:moveTo>
                  <a:pt x="313290" y="161284"/>
                </a:moveTo>
                <a:lnTo>
                  <a:pt x="522361" y="0"/>
                </a:lnTo>
                <a:lnTo>
                  <a:pt x="218430" y="0"/>
                </a:lnTo>
                <a:lnTo>
                  <a:pt x="0" y="161284"/>
                </a:lnTo>
                <a:lnTo>
                  <a:pt x="313290" y="161284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672731" y="2674109"/>
            <a:ext cx="219075" cy="2931795"/>
          </a:xfrm>
          <a:custGeom>
            <a:avLst/>
            <a:gdLst/>
            <a:ahLst/>
            <a:cxnLst/>
            <a:rect l="l" t="t" r="r" b="b"/>
            <a:pathLst>
              <a:path w="219075" h="2931795">
                <a:moveTo>
                  <a:pt x="218557" y="0"/>
                </a:moveTo>
                <a:lnTo>
                  <a:pt x="0" y="161157"/>
                </a:lnTo>
                <a:lnTo>
                  <a:pt x="0" y="2931586"/>
                </a:lnTo>
                <a:lnTo>
                  <a:pt x="218557" y="2770365"/>
                </a:lnTo>
                <a:lnTo>
                  <a:pt x="218557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672731" y="2674109"/>
            <a:ext cx="219075" cy="2931795"/>
          </a:xfrm>
          <a:custGeom>
            <a:avLst/>
            <a:gdLst/>
            <a:ahLst/>
            <a:cxnLst/>
            <a:rect l="l" t="t" r="r" b="b"/>
            <a:pathLst>
              <a:path w="219075" h="2931795">
                <a:moveTo>
                  <a:pt x="0" y="2931586"/>
                </a:moveTo>
                <a:lnTo>
                  <a:pt x="0" y="161157"/>
                </a:lnTo>
                <a:lnTo>
                  <a:pt x="218557" y="0"/>
                </a:lnTo>
                <a:lnTo>
                  <a:pt x="218557" y="2770365"/>
                </a:lnTo>
                <a:lnTo>
                  <a:pt x="0" y="2931586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368546" y="2835343"/>
            <a:ext cx="304800" cy="2770505"/>
          </a:xfrm>
          <a:custGeom>
            <a:avLst/>
            <a:gdLst/>
            <a:ahLst/>
            <a:cxnLst/>
            <a:rect l="l" t="t" r="r" b="b"/>
            <a:pathLst>
              <a:path w="304800" h="2770504">
                <a:moveTo>
                  <a:pt x="0" y="2770352"/>
                </a:moveTo>
                <a:lnTo>
                  <a:pt x="304183" y="2770352"/>
                </a:lnTo>
                <a:lnTo>
                  <a:pt x="304183" y="0"/>
                </a:lnTo>
                <a:lnTo>
                  <a:pt x="0" y="0"/>
                </a:lnTo>
                <a:lnTo>
                  <a:pt x="0" y="277035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368546" y="2835343"/>
            <a:ext cx="304800" cy="2770505"/>
          </a:xfrm>
          <a:custGeom>
            <a:avLst/>
            <a:gdLst/>
            <a:ahLst/>
            <a:cxnLst/>
            <a:rect l="l" t="t" r="r" b="b"/>
            <a:pathLst>
              <a:path w="304800" h="2770504">
                <a:moveTo>
                  <a:pt x="0" y="2770352"/>
                </a:moveTo>
                <a:lnTo>
                  <a:pt x="304183" y="2770352"/>
                </a:lnTo>
                <a:lnTo>
                  <a:pt x="304183" y="0"/>
                </a:lnTo>
                <a:lnTo>
                  <a:pt x="0" y="0"/>
                </a:lnTo>
                <a:lnTo>
                  <a:pt x="0" y="2770352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368546" y="2674109"/>
            <a:ext cx="523240" cy="161290"/>
          </a:xfrm>
          <a:custGeom>
            <a:avLst/>
            <a:gdLst/>
            <a:ahLst/>
            <a:cxnLst/>
            <a:rect l="l" t="t" r="r" b="b"/>
            <a:pathLst>
              <a:path w="523239" h="161289">
                <a:moveTo>
                  <a:pt x="522741" y="0"/>
                </a:moveTo>
                <a:lnTo>
                  <a:pt x="208944" y="0"/>
                </a:lnTo>
                <a:lnTo>
                  <a:pt x="0" y="161157"/>
                </a:lnTo>
                <a:lnTo>
                  <a:pt x="304183" y="161157"/>
                </a:lnTo>
                <a:lnTo>
                  <a:pt x="522741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368546" y="2674109"/>
            <a:ext cx="523240" cy="161290"/>
          </a:xfrm>
          <a:custGeom>
            <a:avLst/>
            <a:gdLst/>
            <a:ahLst/>
            <a:cxnLst/>
            <a:rect l="l" t="t" r="r" b="b"/>
            <a:pathLst>
              <a:path w="523239" h="161289">
                <a:moveTo>
                  <a:pt x="304183" y="161157"/>
                </a:moveTo>
                <a:lnTo>
                  <a:pt x="522741" y="0"/>
                </a:lnTo>
                <a:lnTo>
                  <a:pt x="208944" y="0"/>
                </a:lnTo>
                <a:lnTo>
                  <a:pt x="0" y="161157"/>
                </a:lnTo>
                <a:lnTo>
                  <a:pt x="304183" y="161157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442360" y="3404810"/>
            <a:ext cx="209550" cy="2200910"/>
          </a:xfrm>
          <a:custGeom>
            <a:avLst/>
            <a:gdLst/>
            <a:ahLst/>
            <a:cxnLst/>
            <a:rect l="l" t="t" r="r" b="b"/>
            <a:pathLst>
              <a:path w="209550" h="2200910">
                <a:moveTo>
                  <a:pt x="209071" y="0"/>
                </a:moveTo>
                <a:lnTo>
                  <a:pt x="0" y="161157"/>
                </a:lnTo>
                <a:lnTo>
                  <a:pt x="0" y="2200885"/>
                </a:lnTo>
                <a:lnTo>
                  <a:pt x="209071" y="2039664"/>
                </a:lnTo>
                <a:lnTo>
                  <a:pt x="209071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442360" y="3404810"/>
            <a:ext cx="209550" cy="2200910"/>
          </a:xfrm>
          <a:custGeom>
            <a:avLst/>
            <a:gdLst/>
            <a:ahLst/>
            <a:cxnLst/>
            <a:rect l="l" t="t" r="r" b="b"/>
            <a:pathLst>
              <a:path w="209550" h="2200910">
                <a:moveTo>
                  <a:pt x="0" y="2200885"/>
                </a:moveTo>
                <a:lnTo>
                  <a:pt x="0" y="161157"/>
                </a:lnTo>
                <a:lnTo>
                  <a:pt x="209071" y="0"/>
                </a:lnTo>
                <a:lnTo>
                  <a:pt x="209071" y="2039664"/>
                </a:lnTo>
                <a:lnTo>
                  <a:pt x="0" y="2200885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138176" y="3565917"/>
            <a:ext cx="304800" cy="2040255"/>
          </a:xfrm>
          <a:custGeom>
            <a:avLst/>
            <a:gdLst/>
            <a:ahLst/>
            <a:cxnLst/>
            <a:rect l="l" t="t" r="r" b="b"/>
            <a:pathLst>
              <a:path w="304800" h="2040254">
                <a:moveTo>
                  <a:pt x="0" y="2039778"/>
                </a:moveTo>
                <a:lnTo>
                  <a:pt x="304183" y="2039778"/>
                </a:lnTo>
                <a:lnTo>
                  <a:pt x="304183" y="0"/>
                </a:lnTo>
                <a:lnTo>
                  <a:pt x="0" y="0"/>
                </a:lnTo>
                <a:lnTo>
                  <a:pt x="0" y="20397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138176" y="3565917"/>
            <a:ext cx="304800" cy="2040255"/>
          </a:xfrm>
          <a:custGeom>
            <a:avLst/>
            <a:gdLst/>
            <a:ahLst/>
            <a:cxnLst/>
            <a:rect l="l" t="t" r="r" b="b"/>
            <a:pathLst>
              <a:path w="304800" h="2040254">
                <a:moveTo>
                  <a:pt x="0" y="2039778"/>
                </a:moveTo>
                <a:lnTo>
                  <a:pt x="304183" y="2039778"/>
                </a:lnTo>
                <a:lnTo>
                  <a:pt x="304183" y="0"/>
                </a:lnTo>
                <a:lnTo>
                  <a:pt x="0" y="0"/>
                </a:lnTo>
                <a:lnTo>
                  <a:pt x="0" y="2039778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138176" y="3404810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513255" y="0"/>
                </a:moveTo>
                <a:lnTo>
                  <a:pt x="209071" y="0"/>
                </a:lnTo>
                <a:lnTo>
                  <a:pt x="0" y="161157"/>
                </a:lnTo>
                <a:lnTo>
                  <a:pt x="304183" y="161157"/>
                </a:lnTo>
                <a:lnTo>
                  <a:pt x="513255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138176" y="3404810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304183" y="161157"/>
                </a:moveTo>
                <a:lnTo>
                  <a:pt x="513255" y="0"/>
                </a:lnTo>
                <a:lnTo>
                  <a:pt x="209071" y="0"/>
                </a:lnTo>
                <a:lnTo>
                  <a:pt x="0" y="161157"/>
                </a:lnTo>
                <a:lnTo>
                  <a:pt x="304183" y="161157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211737" y="4761465"/>
            <a:ext cx="209550" cy="844550"/>
          </a:xfrm>
          <a:custGeom>
            <a:avLst/>
            <a:gdLst/>
            <a:ahLst/>
            <a:cxnLst/>
            <a:rect l="l" t="t" r="r" b="b"/>
            <a:pathLst>
              <a:path w="209550" h="844550">
                <a:moveTo>
                  <a:pt x="208944" y="0"/>
                </a:moveTo>
                <a:lnTo>
                  <a:pt x="0" y="161170"/>
                </a:lnTo>
                <a:lnTo>
                  <a:pt x="0" y="844230"/>
                </a:lnTo>
                <a:lnTo>
                  <a:pt x="208944" y="683009"/>
                </a:lnTo>
                <a:lnTo>
                  <a:pt x="208944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6211737" y="4761465"/>
            <a:ext cx="209550" cy="844550"/>
          </a:xfrm>
          <a:custGeom>
            <a:avLst/>
            <a:gdLst/>
            <a:ahLst/>
            <a:cxnLst/>
            <a:rect l="l" t="t" r="r" b="b"/>
            <a:pathLst>
              <a:path w="209550" h="844550">
                <a:moveTo>
                  <a:pt x="0" y="844230"/>
                </a:moveTo>
                <a:lnTo>
                  <a:pt x="0" y="161170"/>
                </a:lnTo>
                <a:lnTo>
                  <a:pt x="208944" y="0"/>
                </a:lnTo>
                <a:lnTo>
                  <a:pt x="208944" y="683009"/>
                </a:lnTo>
                <a:lnTo>
                  <a:pt x="0" y="844230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907806" y="4922635"/>
            <a:ext cx="304165" cy="683260"/>
          </a:xfrm>
          <a:custGeom>
            <a:avLst/>
            <a:gdLst/>
            <a:ahLst/>
            <a:cxnLst/>
            <a:rect l="l" t="t" r="r" b="b"/>
            <a:pathLst>
              <a:path w="304164" h="683260">
                <a:moveTo>
                  <a:pt x="0" y="683060"/>
                </a:moveTo>
                <a:lnTo>
                  <a:pt x="303867" y="683060"/>
                </a:lnTo>
                <a:lnTo>
                  <a:pt x="303867" y="0"/>
                </a:lnTo>
                <a:lnTo>
                  <a:pt x="0" y="0"/>
                </a:lnTo>
                <a:lnTo>
                  <a:pt x="0" y="68306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907806" y="4922635"/>
            <a:ext cx="304165" cy="683260"/>
          </a:xfrm>
          <a:custGeom>
            <a:avLst/>
            <a:gdLst/>
            <a:ahLst/>
            <a:cxnLst/>
            <a:rect l="l" t="t" r="r" b="b"/>
            <a:pathLst>
              <a:path w="304164" h="683260">
                <a:moveTo>
                  <a:pt x="0" y="683060"/>
                </a:moveTo>
                <a:lnTo>
                  <a:pt x="303867" y="683060"/>
                </a:lnTo>
                <a:lnTo>
                  <a:pt x="303867" y="0"/>
                </a:lnTo>
                <a:lnTo>
                  <a:pt x="0" y="0"/>
                </a:lnTo>
                <a:lnTo>
                  <a:pt x="0" y="683060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907806" y="4761465"/>
            <a:ext cx="513080" cy="161290"/>
          </a:xfrm>
          <a:custGeom>
            <a:avLst/>
            <a:gdLst/>
            <a:ahLst/>
            <a:cxnLst/>
            <a:rect l="l" t="t" r="r" b="b"/>
            <a:pathLst>
              <a:path w="513079" h="161289">
                <a:moveTo>
                  <a:pt x="512875" y="0"/>
                </a:moveTo>
                <a:lnTo>
                  <a:pt x="209071" y="0"/>
                </a:lnTo>
                <a:lnTo>
                  <a:pt x="0" y="161170"/>
                </a:lnTo>
                <a:lnTo>
                  <a:pt x="303930" y="161170"/>
                </a:lnTo>
                <a:lnTo>
                  <a:pt x="512875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907806" y="4761465"/>
            <a:ext cx="513080" cy="161290"/>
          </a:xfrm>
          <a:custGeom>
            <a:avLst/>
            <a:gdLst/>
            <a:ahLst/>
            <a:cxnLst/>
            <a:rect l="l" t="t" r="r" b="b"/>
            <a:pathLst>
              <a:path w="513079" h="161289">
                <a:moveTo>
                  <a:pt x="303930" y="161170"/>
                </a:moveTo>
                <a:lnTo>
                  <a:pt x="512875" y="0"/>
                </a:lnTo>
                <a:lnTo>
                  <a:pt x="209071" y="0"/>
                </a:lnTo>
                <a:lnTo>
                  <a:pt x="0" y="161170"/>
                </a:lnTo>
                <a:lnTo>
                  <a:pt x="303930" y="161170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841480" y="2436853"/>
            <a:ext cx="0" cy="3169285"/>
          </a:xfrm>
          <a:custGeom>
            <a:avLst/>
            <a:gdLst/>
            <a:ahLst/>
            <a:cxnLst/>
            <a:rect l="l" t="t" r="r" b="b"/>
            <a:pathLst>
              <a:path h="3169285">
                <a:moveTo>
                  <a:pt x="0" y="3168843"/>
                </a:moveTo>
                <a:lnTo>
                  <a:pt x="0" y="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803536" y="560569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803536" y="5150427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803536" y="469483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803536" y="423962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803536" y="378429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803536" y="333817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803536" y="288297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803536" y="2427387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43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841480" y="5605696"/>
            <a:ext cx="4589145" cy="0"/>
          </a:xfrm>
          <a:custGeom>
            <a:avLst/>
            <a:gdLst/>
            <a:ahLst/>
            <a:cxnLst/>
            <a:rect l="l" t="t" r="r" b="b"/>
            <a:pathLst>
              <a:path w="4589145">
                <a:moveTo>
                  <a:pt x="0" y="0"/>
                </a:moveTo>
                <a:lnTo>
                  <a:pt x="458894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841480" y="5605696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601624" y="5605696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371253" y="5605696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140630" y="5605696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910259" y="5605696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670403" y="5605696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439906" y="5605696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2840619" y="5663983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[2]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610248" y="5663983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[3]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4370392" y="5663983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[4]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139642" y="5663983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[5]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909398" y="5663983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[6]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1837789" y="5439742"/>
            <a:ext cx="927100" cy="161290"/>
          </a:xfrm>
          <a:custGeom>
            <a:avLst/>
            <a:gdLst/>
            <a:ahLst/>
            <a:cxnLst/>
            <a:rect l="l" t="t" r="r" b="b"/>
            <a:pathLst>
              <a:path w="927100" h="161289">
                <a:moveTo>
                  <a:pt x="926718" y="0"/>
                </a:moveTo>
                <a:lnTo>
                  <a:pt x="209236" y="0"/>
                </a:lnTo>
                <a:lnTo>
                  <a:pt x="0" y="161221"/>
                </a:lnTo>
                <a:lnTo>
                  <a:pt x="926718" y="161221"/>
                </a:lnTo>
                <a:lnTo>
                  <a:pt x="926718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842538" y="5453939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756"/>
                </a:moveTo>
                <a:lnTo>
                  <a:pt x="199740" y="0"/>
                </a:lnTo>
              </a:path>
            </a:pathLst>
          </a:custGeom>
          <a:ln w="9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2051774" y="5444475"/>
            <a:ext cx="713105" cy="0"/>
          </a:xfrm>
          <a:custGeom>
            <a:avLst/>
            <a:gdLst/>
            <a:ahLst/>
            <a:cxnLst/>
            <a:rect l="l" t="t" r="r" b="b"/>
            <a:pathLst>
              <a:path w="713105">
                <a:moveTo>
                  <a:pt x="0" y="0"/>
                </a:moveTo>
                <a:lnTo>
                  <a:pt x="712734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842538" y="4998672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756"/>
                </a:moveTo>
                <a:lnTo>
                  <a:pt x="199740" y="0"/>
                </a:lnTo>
              </a:path>
            </a:pathLst>
          </a:custGeom>
          <a:ln w="9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051774" y="4988891"/>
            <a:ext cx="713105" cy="0"/>
          </a:xfrm>
          <a:custGeom>
            <a:avLst/>
            <a:gdLst/>
            <a:ahLst/>
            <a:cxnLst/>
            <a:rect l="l" t="t" r="r" b="b"/>
            <a:pathLst>
              <a:path w="713105">
                <a:moveTo>
                  <a:pt x="0" y="0"/>
                </a:moveTo>
                <a:lnTo>
                  <a:pt x="712734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842538" y="4543138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692"/>
                </a:moveTo>
                <a:lnTo>
                  <a:pt x="199740" y="0"/>
                </a:lnTo>
              </a:path>
            </a:pathLst>
          </a:custGeom>
          <a:ln w="9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051774" y="4533673"/>
            <a:ext cx="713105" cy="0"/>
          </a:xfrm>
          <a:custGeom>
            <a:avLst/>
            <a:gdLst/>
            <a:ahLst/>
            <a:cxnLst/>
            <a:rect l="l" t="t" r="r" b="b"/>
            <a:pathLst>
              <a:path w="713105">
                <a:moveTo>
                  <a:pt x="0" y="0"/>
                </a:moveTo>
                <a:lnTo>
                  <a:pt x="712734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842538" y="4097272"/>
            <a:ext cx="200025" cy="142875"/>
          </a:xfrm>
          <a:custGeom>
            <a:avLst/>
            <a:gdLst/>
            <a:ahLst/>
            <a:cxnLst/>
            <a:rect l="l" t="t" r="r" b="b"/>
            <a:pathLst>
              <a:path w="200025" h="142875">
                <a:moveTo>
                  <a:pt x="0" y="142354"/>
                </a:moveTo>
                <a:lnTo>
                  <a:pt x="199740" y="0"/>
                </a:lnTo>
              </a:path>
            </a:pathLst>
          </a:custGeom>
          <a:ln w="94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2051774" y="4087807"/>
            <a:ext cx="713105" cy="0"/>
          </a:xfrm>
          <a:custGeom>
            <a:avLst/>
            <a:gdLst/>
            <a:ahLst/>
            <a:cxnLst/>
            <a:rect l="l" t="t" r="r" b="b"/>
            <a:pathLst>
              <a:path w="713105">
                <a:moveTo>
                  <a:pt x="0" y="0"/>
                </a:moveTo>
                <a:lnTo>
                  <a:pt x="712734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842538" y="3641688"/>
            <a:ext cx="200025" cy="142875"/>
          </a:xfrm>
          <a:custGeom>
            <a:avLst/>
            <a:gdLst/>
            <a:ahLst/>
            <a:cxnLst/>
            <a:rect l="l" t="t" r="r" b="b"/>
            <a:pathLst>
              <a:path w="200025" h="142875">
                <a:moveTo>
                  <a:pt x="0" y="142606"/>
                </a:moveTo>
                <a:lnTo>
                  <a:pt x="199740" y="0"/>
                </a:lnTo>
              </a:path>
            </a:pathLst>
          </a:custGeom>
          <a:ln w="94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2051774" y="3632223"/>
            <a:ext cx="713105" cy="0"/>
          </a:xfrm>
          <a:custGeom>
            <a:avLst/>
            <a:gdLst/>
            <a:ahLst/>
            <a:cxnLst/>
            <a:rect l="l" t="t" r="r" b="b"/>
            <a:pathLst>
              <a:path w="713105">
                <a:moveTo>
                  <a:pt x="0" y="0"/>
                </a:moveTo>
                <a:lnTo>
                  <a:pt x="712734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842538" y="3186483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692"/>
                </a:moveTo>
                <a:lnTo>
                  <a:pt x="199740" y="0"/>
                </a:lnTo>
              </a:path>
            </a:pathLst>
          </a:custGeom>
          <a:ln w="9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051774" y="3177018"/>
            <a:ext cx="713105" cy="0"/>
          </a:xfrm>
          <a:custGeom>
            <a:avLst/>
            <a:gdLst/>
            <a:ahLst/>
            <a:cxnLst/>
            <a:rect l="l" t="t" r="r" b="b"/>
            <a:pathLst>
              <a:path w="713105">
                <a:moveTo>
                  <a:pt x="0" y="0"/>
                </a:moveTo>
                <a:lnTo>
                  <a:pt x="712734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842538" y="2731152"/>
            <a:ext cx="200025" cy="152400"/>
          </a:xfrm>
          <a:custGeom>
            <a:avLst/>
            <a:gdLst/>
            <a:ahLst/>
            <a:cxnLst/>
            <a:rect l="l" t="t" r="r" b="b"/>
            <a:pathLst>
              <a:path w="200025" h="152400">
                <a:moveTo>
                  <a:pt x="0" y="151819"/>
                </a:moveTo>
                <a:lnTo>
                  <a:pt x="199740" y="0"/>
                </a:lnTo>
              </a:path>
            </a:pathLst>
          </a:custGeom>
          <a:ln w="9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051774" y="2721687"/>
            <a:ext cx="713105" cy="0"/>
          </a:xfrm>
          <a:custGeom>
            <a:avLst/>
            <a:gdLst/>
            <a:ahLst/>
            <a:cxnLst/>
            <a:rect l="l" t="t" r="r" b="b"/>
            <a:pathLst>
              <a:path w="713105">
                <a:moveTo>
                  <a:pt x="0" y="0"/>
                </a:moveTo>
                <a:lnTo>
                  <a:pt x="712734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842538" y="2275568"/>
            <a:ext cx="200025" cy="152400"/>
          </a:xfrm>
          <a:custGeom>
            <a:avLst/>
            <a:gdLst/>
            <a:ahLst/>
            <a:cxnLst/>
            <a:rect l="l" t="t" r="r" b="b"/>
            <a:pathLst>
              <a:path w="200025" h="152400">
                <a:moveTo>
                  <a:pt x="0" y="151819"/>
                </a:moveTo>
                <a:lnTo>
                  <a:pt x="199740" y="0"/>
                </a:lnTo>
              </a:path>
            </a:pathLst>
          </a:custGeom>
          <a:ln w="9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051774" y="2266103"/>
            <a:ext cx="713105" cy="0"/>
          </a:xfrm>
          <a:custGeom>
            <a:avLst/>
            <a:gdLst/>
            <a:ahLst/>
            <a:cxnLst/>
            <a:rect l="l" t="t" r="r" b="b"/>
            <a:pathLst>
              <a:path w="713105">
                <a:moveTo>
                  <a:pt x="0" y="0"/>
                </a:moveTo>
                <a:lnTo>
                  <a:pt x="712734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842538" y="5444475"/>
            <a:ext cx="922019" cy="161290"/>
          </a:xfrm>
          <a:custGeom>
            <a:avLst/>
            <a:gdLst/>
            <a:ahLst/>
            <a:cxnLst/>
            <a:rect l="l" t="t" r="r" b="b"/>
            <a:pathLst>
              <a:path w="922019" h="161289">
                <a:moveTo>
                  <a:pt x="921970" y="161221"/>
                </a:moveTo>
                <a:lnTo>
                  <a:pt x="0" y="161221"/>
                </a:lnTo>
                <a:lnTo>
                  <a:pt x="209236" y="0"/>
                </a:lnTo>
                <a:lnTo>
                  <a:pt x="92197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842538" y="2266103"/>
            <a:ext cx="209550" cy="3340100"/>
          </a:xfrm>
          <a:custGeom>
            <a:avLst/>
            <a:gdLst/>
            <a:ahLst/>
            <a:cxnLst/>
            <a:rect l="l" t="t" r="r" b="b"/>
            <a:pathLst>
              <a:path w="209550" h="3340100">
                <a:moveTo>
                  <a:pt x="0" y="3339592"/>
                </a:moveTo>
                <a:lnTo>
                  <a:pt x="0" y="161284"/>
                </a:lnTo>
                <a:lnTo>
                  <a:pt x="209236" y="0"/>
                </a:lnTo>
                <a:lnTo>
                  <a:pt x="209236" y="3178371"/>
                </a:lnTo>
                <a:lnTo>
                  <a:pt x="0" y="3339592"/>
                </a:lnTo>
                <a:close/>
              </a:path>
            </a:pathLst>
          </a:custGeom>
          <a:ln w="94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051774" y="5444475"/>
            <a:ext cx="713105" cy="0"/>
          </a:xfrm>
          <a:custGeom>
            <a:avLst/>
            <a:gdLst/>
            <a:ahLst/>
            <a:cxnLst/>
            <a:rect l="l" t="t" r="r" b="b"/>
            <a:pathLst>
              <a:path w="713105">
                <a:moveTo>
                  <a:pt x="0" y="0"/>
                </a:moveTo>
                <a:lnTo>
                  <a:pt x="712734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051774" y="2266116"/>
            <a:ext cx="713105" cy="3178810"/>
          </a:xfrm>
          <a:custGeom>
            <a:avLst/>
            <a:gdLst/>
            <a:ahLst/>
            <a:cxnLst/>
            <a:rect l="l" t="t" r="r" b="b"/>
            <a:pathLst>
              <a:path w="713105" h="3178810">
                <a:moveTo>
                  <a:pt x="712734" y="0"/>
                </a:moveTo>
                <a:lnTo>
                  <a:pt x="0" y="0"/>
                </a:lnTo>
                <a:lnTo>
                  <a:pt x="0" y="3178358"/>
                </a:lnTo>
              </a:path>
            </a:pathLst>
          </a:custGeom>
          <a:ln w="94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373093" y="5029591"/>
            <a:ext cx="208920" cy="5679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375284" y="5036532"/>
            <a:ext cx="209550" cy="569595"/>
          </a:xfrm>
          <a:custGeom>
            <a:avLst/>
            <a:gdLst/>
            <a:ahLst/>
            <a:cxnLst/>
            <a:rect l="l" t="t" r="r" b="b"/>
            <a:pathLst>
              <a:path w="209550" h="569595">
                <a:moveTo>
                  <a:pt x="0" y="569164"/>
                </a:moveTo>
                <a:lnTo>
                  <a:pt x="0" y="161221"/>
                </a:lnTo>
                <a:lnTo>
                  <a:pt x="209236" y="0"/>
                </a:lnTo>
                <a:lnTo>
                  <a:pt x="209236" y="407942"/>
                </a:lnTo>
                <a:lnTo>
                  <a:pt x="0" y="569164"/>
                </a:lnTo>
                <a:close/>
              </a:path>
            </a:pathLst>
          </a:custGeom>
          <a:ln w="94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2069210" y="5190496"/>
            <a:ext cx="303883" cy="406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2070767" y="5197753"/>
            <a:ext cx="304800" cy="408305"/>
          </a:xfrm>
          <a:custGeom>
            <a:avLst/>
            <a:gdLst/>
            <a:ahLst/>
            <a:cxnLst/>
            <a:rect l="l" t="t" r="r" b="b"/>
            <a:pathLst>
              <a:path w="304800" h="408304">
                <a:moveTo>
                  <a:pt x="0" y="407942"/>
                </a:moveTo>
                <a:lnTo>
                  <a:pt x="304516" y="407942"/>
                </a:lnTo>
                <a:lnTo>
                  <a:pt x="304516" y="0"/>
                </a:lnTo>
                <a:lnTo>
                  <a:pt x="0" y="0"/>
                </a:lnTo>
                <a:lnTo>
                  <a:pt x="0" y="407942"/>
                </a:lnTo>
                <a:close/>
              </a:path>
            </a:pathLst>
          </a:custGeom>
          <a:ln w="9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2069210" y="5029591"/>
            <a:ext cx="512803" cy="1609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070767" y="5036532"/>
            <a:ext cx="514350" cy="161290"/>
          </a:xfrm>
          <a:custGeom>
            <a:avLst/>
            <a:gdLst/>
            <a:ahLst/>
            <a:cxnLst/>
            <a:rect l="l" t="t" r="r" b="b"/>
            <a:pathLst>
              <a:path w="514350" h="161289">
                <a:moveTo>
                  <a:pt x="304516" y="161221"/>
                </a:moveTo>
                <a:lnTo>
                  <a:pt x="513753" y="0"/>
                </a:lnTo>
                <a:lnTo>
                  <a:pt x="209236" y="0"/>
                </a:lnTo>
                <a:lnTo>
                  <a:pt x="0" y="161221"/>
                </a:lnTo>
                <a:lnTo>
                  <a:pt x="304516" y="161221"/>
                </a:lnTo>
                <a:close/>
              </a:path>
            </a:pathLst>
          </a:custGeom>
          <a:ln w="94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842538" y="2436853"/>
            <a:ext cx="0" cy="3169285"/>
          </a:xfrm>
          <a:custGeom>
            <a:avLst/>
            <a:gdLst/>
            <a:ahLst/>
            <a:cxnLst/>
            <a:rect l="l" t="t" r="r" b="b"/>
            <a:pathLst>
              <a:path h="3169285">
                <a:moveTo>
                  <a:pt x="0" y="3168843"/>
                </a:moveTo>
                <a:lnTo>
                  <a:pt x="0" y="0"/>
                </a:lnTo>
              </a:path>
            </a:pathLst>
          </a:custGeom>
          <a:ln w="94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804552" y="560569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85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804552" y="5150427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85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804552" y="469483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85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804552" y="423962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85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804552" y="378429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85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804552" y="333817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85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804552" y="288297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85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804552" y="2427387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85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 txBox="1"/>
          <p:nvPr/>
        </p:nvSpPr>
        <p:spPr>
          <a:xfrm>
            <a:off x="1634846" y="5436507"/>
            <a:ext cx="1397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1520889" y="2258199"/>
            <a:ext cx="254000" cy="302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70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60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800" b="1" spc="-5" dirty="0">
                <a:latin typeface="Times New Roman"/>
                <a:cs typeface="Times New Roman"/>
              </a:rPr>
              <a:t>50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800" b="1" spc="-5" dirty="0">
                <a:latin typeface="Times New Roman"/>
                <a:cs typeface="Times New Roman"/>
              </a:rPr>
              <a:t>40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30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20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1842538" y="5605696"/>
            <a:ext cx="922019" cy="0"/>
          </a:xfrm>
          <a:custGeom>
            <a:avLst/>
            <a:gdLst/>
            <a:ahLst/>
            <a:cxnLst/>
            <a:rect l="l" t="t" r="r" b="b"/>
            <a:pathLst>
              <a:path w="922019">
                <a:moveTo>
                  <a:pt x="0" y="0"/>
                </a:moveTo>
                <a:lnTo>
                  <a:pt x="92197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842538" y="5605696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2603513" y="5605696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 txBox="1"/>
          <p:nvPr/>
        </p:nvSpPr>
        <p:spPr>
          <a:xfrm>
            <a:off x="2072312" y="5663983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[1]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1586483" y="1600200"/>
            <a:ext cx="1132331" cy="495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586483" y="1600200"/>
            <a:ext cx="1132840" cy="495300"/>
          </a:xfrm>
          <a:custGeom>
            <a:avLst/>
            <a:gdLst/>
            <a:ahLst/>
            <a:cxnLst/>
            <a:rect l="l" t="t" r="r" b="b"/>
            <a:pathLst>
              <a:path w="1132839" h="495300">
                <a:moveTo>
                  <a:pt x="0" y="495300"/>
                </a:moveTo>
                <a:lnTo>
                  <a:pt x="1132331" y="495300"/>
                </a:lnTo>
                <a:lnTo>
                  <a:pt x="1132331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 txBox="1"/>
          <p:nvPr/>
        </p:nvSpPr>
        <p:spPr>
          <a:xfrm>
            <a:off x="1597533" y="1666494"/>
            <a:ext cx="1110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Perpetua"/>
                <a:cs typeface="Perpetua"/>
              </a:rPr>
              <a:t>Sorted</a:t>
            </a:r>
            <a:r>
              <a:rPr sz="1800" b="1" spc="-70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45" name="object 145"/>
          <p:cNvSpPr/>
          <p:nvPr/>
        </p:nvSpPr>
        <p:spPr>
          <a:xfrm>
            <a:off x="2775204" y="1607819"/>
            <a:ext cx="3840479" cy="495300"/>
          </a:xfrm>
          <a:custGeom>
            <a:avLst/>
            <a:gdLst/>
            <a:ahLst/>
            <a:cxnLst/>
            <a:rect l="l" t="t" r="r" b="b"/>
            <a:pathLst>
              <a:path w="3840479" h="495300">
                <a:moveTo>
                  <a:pt x="0" y="495300"/>
                </a:moveTo>
                <a:lnTo>
                  <a:pt x="3840479" y="495300"/>
                </a:lnTo>
                <a:lnTo>
                  <a:pt x="3840479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FB00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2775204" y="1607819"/>
            <a:ext cx="3840479" cy="495300"/>
          </a:xfrm>
          <a:custGeom>
            <a:avLst/>
            <a:gdLst/>
            <a:ahLst/>
            <a:cxnLst/>
            <a:rect l="l" t="t" r="r" b="b"/>
            <a:pathLst>
              <a:path w="3840479" h="495300">
                <a:moveTo>
                  <a:pt x="0" y="495300"/>
                </a:moveTo>
                <a:lnTo>
                  <a:pt x="3840479" y="495300"/>
                </a:lnTo>
                <a:lnTo>
                  <a:pt x="3840479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 txBox="1"/>
          <p:nvPr/>
        </p:nvSpPr>
        <p:spPr>
          <a:xfrm>
            <a:off x="4003294" y="1674367"/>
            <a:ext cx="1384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Perpetua"/>
                <a:cs typeface="Perpetua"/>
              </a:rPr>
              <a:t>Unsorted</a:t>
            </a:r>
            <a:r>
              <a:rPr sz="1800" b="1" spc="-40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2743200" y="1600200"/>
            <a:ext cx="0" cy="4555490"/>
          </a:xfrm>
          <a:custGeom>
            <a:avLst/>
            <a:gdLst/>
            <a:ahLst/>
            <a:cxnLst/>
            <a:rect l="l" t="t" r="r" b="b"/>
            <a:pathLst>
              <a:path h="4555490">
                <a:moveTo>
                  <a:pt x="0" y="0"/>
                </a:moveTo>
                <a:lnTo>
                  <a:pt x="0" y="4555236"/>
                </a:lnTo>
              </a:path>
            </a:pathLst>
          </a:custGeom>
          <a:ln w="12192">
            <a:solidFill>
              <a:srgbClr val="9B2C1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 txBox="1"/>
          <p:nvPr/>
        </p:nvSpPr>
        <p:spPr>
          <a:xfrm>
            <a:off x="2212594" y="5119242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2898775" y="51076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B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3660775" y="5119242"/>
            <a:ext cx="16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C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4422775" y="5119242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D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5261228" y="5107685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A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6023228" y="5107685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307340" y="632586"/>
            <a:ext cx="5814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1480" indent="-399415">
              <a:lnSpc>
                <a:spcPct val="100000"/>
              </a:lnSpc>
              <a:spcBef>
                <a:spcPts val="95"/>
              </a:spcBef>
              <a:buSzPct val="97500"/>
              <a:buFont typeface="Wingdings"/>
              <a:buChar char=""/>
              <a:tabLst>
                <a:tab pos="412115" algn="l"/>
              </a:tabLst>
            </a:pPr>
            <a:r>
              <a:rPr sz="4000" i="1" spc="-30" dirty="0">
                <a:latin typeface="Perpetua"/>
                <a:cs typeface="Perpetua"/>
              </a:rPr>
              <a:t>Part </a:t>
            </a:r>
            <a:r>
              <a:rPr sz="4000" i="1" spc="-5" dirty="0">
                <a:latin typeface="Perpetua"/>
                <a:cs typeface="Perpetua"/>
              </a:rPr>
              <a:t>of </a:t>
            </a:r>
            <a:r>
              <a:rPr sz="4000" i="1" dirty="0">
                <a:latin typeface="Perpetua"/>
                <a:cs typeface="Perpetua"/>
              </a:rPr>
              <a:t>the </a:t>
            </a:r>
            <a:r>
              <a:rPr sz="4000" i="1" spc="-35" dirty="0">
                <a:latin typeface="Perpetua"/>
                <a:cs typeface="Perpetua"/>
              </a:rPr>
              <a:t>array </a:t>
            </a:r>
            <a:r>
              <a:rPr sz="4000" i="1" spc="-5" dirty="0">
                <a:latin typeface="Perpetua"/>
                <a:cs typeface="Perpetua"/>
              </a:rPr>
              <a:t>is </a:t>
            </a:r>
            <a:r>
              <a:rPr sz="4000" i="1" spc="-20" dirty="0">
                <a:latin typeface="Perpetua"/>
                <a:cs typeface="Perpetua"/>
              </a:rPr>
              <a:t>now</a:t>
            </a:r>
            <a:r>
              <a:rPr sz="4000" i="1" spc="65" dirty="0">
                <a:latin typeface="Perpetua"/>
                <a:cs typeface="Perpetua"/>
              </a:rPr>
              <a:t> </a:t>
            </a:r>
            <a:r>
              <a:rPr sz="4000" i="1" spc="10" dirty="0">
                <a:latin typeface="Perpetua"/>
                <a:cs typeface="Perpetua"/>
              </a:rPr>
              <a:t>sorted…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71885" y="5464126"/>
            <a:ext cx="4806950" cy="161290"/>
          </a:xfrm>
          <a:custGeom>
            <a:avLst/>
            <a:gdLst/>
            <a:ahLst/>
            <a:cxnLst/>
            <a:rect l="l" t="t" r="r" b="b"/>
            <a:pathLst>
              <a:path w="4806950" h="161289">
                <a:moveTo>
                  <a:pt x="4806640" y="0"/>
                </a:moveTo>
                <a:lnTo>
                  <a:pt x="208970" y="0"/>
                </a:lnTo>
                <a:lnTo>
                  <a:pt x="0" y="161221"/>
                </a:lnTo>
                <a:lnTo>
                  <a:pt x="4597733" y="161221"/>
                </a:lnTo>
                <a:lnTo>
                  <a:pt x="480664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76627" y="5478324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756"/>
                </a:moveTo>
                <a:lnTo>
                  <a:pt x="199486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25813" y="5468858"/>
            <a:ext cx="848360" cy="0"/>
          </a:xfrm>
          <a:custGeom>
            <a:avLst/>
            <a:gdLst/>
            <a:ahLst/>
            <a:cxnLst/>
            <a:rect l="l" t="t" r="r" b="b"/>
            <a:pathLst>
              <a:path w="848359">
                <a:moveTo>
                  <a:pt x="0" y="0"/>
                </a:moveTo>
                <a:lnTo>
                  <a:pt x="847907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5598" y="5468858"/>
            <a:ext cx="765810" cy="0"/>
          </a:xfrm>
          <a:custGeom>
            <a:avLst/>
            <a:gdLst/>
            <a:ahLst/>
            <a:cxnLst/>
            <a:rect l="l" t="t" r="r" b="b"/>
            <a:pathLst>
              <a:path w="765810">
                <a:moveTo>
                  <a:pt x="0" y="0"/>
                </a:moveTo>
                <a:lnTo>
                  <a:pt x="765449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76627" y="5023055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756"/>
                </a:moveTo>
                <a:lnTo>
                  <a:pt x="199486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75729" y="5013275"/>
            <a:ext cx="1198245" cy="0"/>
          </a:xfrm>
          <a:custGeom>
            <a:avLst/>
            <a:gdLst/>
            <a:ahLst/>
            <a:cxnLst/>
            <a:rect l="l" t="t" r="r" b="b"/>
            <a:pathLst>
              <a:path w="1198245">
                <a:moveTo>
                  <a:pt x="0" y="0"/>
                </a:moveTo>
                <a:lnTo>
                  <a:pt x="119799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6404" y="5013275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9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46561" y="5013275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86718" y="5013275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609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85598" y="5013275"/>
            <a:ext cx="797560" cy="0"/>
          </a:xfrm>
          <a:custGeom>
            <a:avLst/>
            <a:gdLst/>
            <a:ahLst/>
            <a:cxnLst/>
            <a:rect l="l" t="t" r="r" b="b"/>
            <a:pathLst>
              <a:path w="797560">
                <a:moveTo>
                  <a:pt x="0" y="0"/>
                </a:moveTo>
                <a:lnTo>
                  <a:pt x="797373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76627" y="4567522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692"/>
                </a:moveTo>
                <a:lnTo>
                  <a:pt x="199486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75729" y="4558057"/>
            <a:ext cx="1198245" cy="0"/>
          </a:xfrm>
          <a:custGeom>
            <a:avLst/>
            <a:gdLst/>
            <a:ahLst/>
            <a:cxnLst/>
            <a:rect l="l" t="t" r="r" b="b"/>
            <a:pathLst>
              <a:path w="1198245">
                <a:moveTo>
                  <a:pt x="0" y="0"/>
                </a:moveTo>
                <a:lnTo>
                  <a:pt x="119799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06404" y="4558057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9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46561" y="4558057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85598" y="4558057"/>
            <a:ext cx="1557655" cy="0"/>
          </a:xfrm>
          <a:custGeom>
            <a:avLst/>
            <a:gdLst/>
            <a:ahLst/>
            <a:cxnLst/>
            <a:rect l="l" t="t" r="r" b="b"/>
            <a:pathLst>
              <a:path w="1557654">
                <a:moveTo>
                  <a:pt x="0" y="0"/>
                </a:moveTo>
                <a:lnTo>
                  <a:pt x="155721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76627" y="4121656"/>
            <a:ext cx="200025" cy="142875"/>
          </a:xfrm>
          <a:custGeom>
            <a:avLst/>
            <a:gdLst/>
            <a:ahLst/>
            <a:cxnLst/>
            <a:rect l="l" t="t" r="r" b="b"/>
            <a:pathLst>
              <a:path w="200025" h="142875">
                <a:moveTo>
                  <a:pt x="0" y="142354"/>
                </a:moveTo>
                <a:lnTo>
                  <a:pt x="199486" y="0"/>
                </a:lnTo>
              </a:path>
            </a:pathLst>
          </a:custGeom>
          <a:ln w="94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675729" y="4112191"/>
            <a:ext cx="1198245" cy="0"/>
          </a:xfrm>
          <a:custGeom>
            <a:avLst/>
            <a:gdLst/>
            <a:ahLst/>
            <a:cxnLst/>
            <a:rect l="l" t="t" r="r" b="b"/>
            <a:pathLst>
              <a:path w="1198245">
                <a:moveTo>
                  <a:pt x="0" y="0"/>
                </a:moveTo>
                <a:lnTo>
                  <a:pt x="119799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06404" y="4112191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9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46561" y="4112191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85598" y="4112191"/>
            <a:ext cx="1557655" cy="0"/>
          </a:xfrm>
          <a:custGeom>
            <a:avLst/>
            <a:gdLst/>
            <a:ahLst/>
            <a:cxnLst/>
            <a:rect l="l" t="t" r="r" b="b"/>
            <a:pathLst>
              <a:path w="1557654">
                <a:moveTo>
                  <a:pt x="0" y="0"/>
                </a:moveTo>
                <a:lnTo>
                  <a:pt x="155721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76627" y="3666072"/>
            <a:ext cx="200025" cy="142875"/>
          </a:xfrm>
          <a:custGeom>
            <a:avLst/>
            <a:gdLst/>
            <a:ahLst/>
            <a:cxnLst/>
            <a:rect l="l" t="t" r="r" b="b"/>
            <a:pathLst>
              <a:path w="200025" h="142875">
                <a:moveTo>
                  <a:pt x="0" y="142606"/>
                </a:moveTo>
                <a:lnTo>
                  <a:pt x="199486" y="0"/>
                </a:lnTo>
              </a:path>
            </a:pathLst>
          </a:custGeom>
          <a:ln w="94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75729" y="3656607"/>
            <a:ext cx="1198245" cy="0"/>
          </a:xfrm>
          <a:custGeom>
            <a:avLst/>
            <a:gdLst/>
            <a:ahLst/>
            <a:cxnLst/>
            <a:rect l="l" t="t" r="r" b="b"/>
            <a:pathLst>
              <a:path w="1198245">
                <a:moveTo>
                  <a:pt x="0" y="0"/>
                </a:moveTo>
                <a:lnTo>
                  <a:pt x="1197991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06404" y="3656607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9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46561" y="3656607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8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85598" y="3656607"/>
            <a:ext cx="1557655" cy="0"/>
          </a:xfrm>
          <a:custGeom>
            <a:avLst/>
            <a:gdLst/>
            <a:ahLst/>
            <a:cxnLst/>
            <a:rect l="l" t="t" r="r" b="b"/>
            <a:pathLst>
              <a:path w="1557654">
                <a:moveTo>
                  <a:pt x="0" y="0"/>
                </a:moveTo>
                <a:lnTo>
                  <a:pt x="155721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076627" y="3210867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692"/>
                </a:moveTo>
                <a:lnTo>
                  <a:pt x="199486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906404" y="3201402"/>
            <a:ext cx="1967864" cy="0"/>
          </a:xfrm>
          <a:custGeom>
            <a:avLst/>
            <a:gdLst/>
            <a:ahLst/>
            <a:cxnLst/>
            <a:rect l="l" t="t" r="r" b="b"/>
            <a:pathLst>
              <a:path w="1967865">
                <a:moveTo>
                  <a:pt x="0" y="0"/>
                </a:moveTo>
                <a:lnTo>
                  <a:pt x="1967316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285598" y="3201402"/>
            <a:ext cx="2317115" cy="0"/>
          </a:xfrm>
          <a:custGeom>
            <a:avLst/>
            <a:gdLst/>
            <a:ahLst/>
            <a:cxnLst/>
            <a:rect l="l" t="t" r="r" b="b"/>
            <a:pathLst>
              <a:path w="2317115">
                <a:moveTo>
                  <a:pt x="0" y="0"/>
                </a:moveTo>
                <a:lnTo>
                  <a:pt x="231674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076627" y="2755536"/>
            <a:ext cx="200025" cy="152400"/>
          </a:xfrm>
          <a:custGeom>
            <a:avLst/>
            <a:gdLst/>
            <a:ahLst/>
            <a:cxnLst/>
            <a:rect l="l" t="t" r="r" b="b"/>
            <a:pathLst>
              <a:path w="200025" h="152400">
                <a:moveTo>
                  <a:pt x="0" y="151819"/>
                </a:moveTo>
                <a:lnTo>
                  <a:pt x="199486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285598" y="2746071"/>
            <a:ext cx="4588510" cy="0"/>
          </a:xfrm>
          <a:custGeom>
            <a:avLst/>
            <a:gdLst/>
            <a:ahLst/>
            <a:cxnLst/>
            <a:rect l="l" t="t" r="r" b="b"/>
            <a:pathLst>
              <a:path w="4588509">
                <a:moveTo>
                  <a:pt x="0" y="0"/>
                </a:moveTo>
                <a:lnTo>
                  <a:pt x="458812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076627" y="2299952"/>
            <a:ext cx="200025" cy="152400"/>
          </a:xfrm>
          <a:custGeom>
            <a:avLst/>
            <a:gdLst/>
            <a:ahLst/>
            <a:cxnLst/>
            <a:rect l="l" t="t" r="r" b="b"/>
            <a:pathLst>
              <a:path w="200025" h="152400">
                <a:moveTo>
                  <a:pt x="0" y="151819"/>
                </a:moveTo>
                <a:lnTo>
                  <a:pt x="199486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285598" y="2290487"/>
            <a:ext cx="4588510" cy="0"/>
          </a:xfrm>
          <a:custGeom>
            <a:avLst/>
            <a:gdLst/>
            <a:ahLst/>
            <a:cxnLst/>
            <a:rect l="l" t="t" r="r" b="b"/>
            <a:pathLst>
              <a:path w="4588509">
                <a:moveTo>
                  <a:pt x="0" y="0"/>
                </a:moveTo>
                <a:lnTo>
                  <a:pt x="458812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076627" y="5468858"/>
            <a:ext cx="4806950" cy="161290"/>
          </a:xfrm>
          <a:custGeom>
            <a:avLst/>
            <a:gdLst/>
            <a:ahLst/>
            <a:cxnLst/>
            <a:rect l="l" t="t" r="r" b="b"/>
            <a:pathLst>
              <a:path w="4806950" h="161289">
                <a:moveTo>
                  <a:pt x="4806577" y="0"/>
                </a:moveTo>
                <a:lnTo>
                  <a:pt x="4597669" y="161221"/>
                </a:lnTo>
                <a:lnTo>
                  <a:pt x="0" y="161221"/>
                </a:lnTo>
                <a:lnTo>
                  <a:pt x="208970" y="0"/>
                </a:lnTo>
                <a:lnTo>
                  <a:pt x="4806577" y="0"/>
                </a:lnTo>
                <a:close/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076627" y="2290487"/>
            <a:ext cx="209550" cy="3340100"/>
          </a:xfrm>
          <a:custGeom>
            <a:avLst/>
            <a:gdLst/>
            <a:ahLst/>
            <a:cxnLst/>
            <a:rect l="l" t="t" r="r" b="b"/>
            <a:pathLst>
              <a:path w="209550" h="3340100">
                <a:moveTo>
                  <a:pt x="0" y="3339592"/>
                </a:moveTo>
                <a:lnTo>
                  <a:pt x="0" y="161284"/>
                </a:lnTo>
                <a:lnTo>
                  <a:pt x="208970" y="0"/>
                </a:lnTo>
                <a:lnTo>
                  <a:pt x="208970" y="3178371"/>
                </a:lnTo>
                <a:lnTo>
                  <a:pt x="0" y="3339592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285598" y="2290499"/>
            <a:ext cx="4598035" cy="3178810"/>
          </a:xfrm>
          <a:custGeom>
            <a:avLst/>
            <a:gdLst/>
            <a:ahLst/>
            <a:cxnLst/>
            <a:rect l="l" t="t" r="r" b="b"/>
            <a:pathLst>
              <a:path w="4598034" h="3178810">
                <a:moveTo>
                  <a:pt x="0" y="3178359"/>
                </a:moveTo>
                <a:lnTo>
                  <a:pt x="4597606" y="3178358"/>
                </a:lnTo>
                <a:lnTo>
                  <a:pt x="4597606" y="0"/>
                </a:lnTo>
                <a:lnTo>
                  <a:pt x="0" y="0"/>
                </a:lnTo>
                <a:lnTo>
                  <a:pt x="0" y="3178359"/>
                </a:lnTo>
                <a:close/>
              </a:path>
            </a:pathLst>
          </a:custGeom>
          <a:ln w="94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606508" y="5053974"/>
            <a:ext cx="208654" cy="5679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608696" y="5060915"/>
            <a:ext cx="209550" cy="569595"/>
          </a:xfrm>
          <a:custGeom>
            <a:avLst/>
            <a:gdLst/>
            <a:ahLst/>
            <a:cxnLst/>
            <a:rect l="l" t="t" r="r" b="b"/>
            <a:pathLst>
              <a:path w="209550" h="569595">
                <a:moveTo>
                  <a:pt x="0" y="569164"/>
                </a:moveTo>
                <a:lnTo>
                  <a:pt x="0" y="161221"/>
                </a:lnTo>
                <a:lnTo>
                  <a:pt x="208970" y="0"/>
                </a:lnTo>
                <a:lnTo>
                  <a:pt x="208970" y="407942"/>
                </a:lnTo>
                <a:lnTo>
                  <a:pt x="0" y="569164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03011" y="5214880"/>
            <a:ext cx="303497" cy="406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304566" y="5222137"/>
            <a:ext cx="304165" cy="408305"/>
          </a:xfrm>
          <a:custGeom>
            <a:avLst/>
            <a:gdLst/>
            <a:ahLst/>
            <a:cxnLst/>
            <a:rect l="l" t="t" r="r" b="b"/>
            <a:pathLst>
              <a:path w="304164" h="408304">
                <a:moveTo>
                  <a:pt x="0" y="407943"/>
                </a:moveTo>
                <a:lnTo>
                  <a:pt x="304129" y="407942"/>
                </a:lnTo>
                <a:lnTo>
                  <a:pt x="304129" y="0"/>
                </a:lnTo>
                <a:lnTo>
                  <a:pt x="0" y="0"/>
                </a:lnTo>
                <a:lnTo>
                  <a:pt x="0" y="407943"/>
                </a:lnTo>
                <a:close/>
              </a:path>
            </a:pathLst>
          </a:custGeom>
          <a:ln w="9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303011" y="5053974"/>
            <a:ext cx="512151" cy="1609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04566" y="5060915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304129" y="161221"/>
                </a:moveTo>
                <a:lnTo>
                  <a:pt x="513100" y="0"/>
                </a:lnTo>
                <a:lnTo>
                  <a:pt x="208970" y="0"/>
                </a:lnTo>
                <a:lnTo>
                  <a:pt x="0" y="161221"/>
                </a:lnTo>
                <a:lnTo>
                  <a:pt x="304129" y="161221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374774" y="4514518"/>
            <a:ext cx="208654" cy="11073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377936" y="4520197"/>
            <a:ext cx="208915" cy="1109980"/>
          </a:xfrm>
          <a:custGeom>
            <a:avLst/>
            <a:gdLst/>
            <a:ahLst/>
            <a:cxnLst/>
            <a:rect l="l" t="t" r="r" b="b"/>
            <a:pathLst>
              <a:path w="208914" h="1109979">
                <a:moveTo>
                  <a:pt x="0" y="1109882"/>
                </a:moveTo>
                <a:lnTo>
                  <a:pt x="0" y="151692"/>
                </a:lnTo>
                <a:lnTo>
                  <a:pt x="208907" y="0"/>
                </a:lnTo>
                <a:lnTo>
                  <a:pt x="208907" y="948661"/>
                </a:lnTo>
                <a:lnTo>
                  <a:pt x="0" y="1109882"/>
                </a:lnTo>
                <a:close/>
              </a:path>
            </a:pathLst>
          </a:custGeom>
          <a:ln w="9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071277" y="4665908"/>
            <a:ext cx="303497" cy="95596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074059" y="4671902"/>
            <a:ext cx="304165" cy="958215"/>
          </a:xfrm>
          <a:custGeom>
            <a:avLst/>
            <a:gdLst/>
            <a:ahLst/>
            <a:cxnLst/>
            <a:rect l="l" t="t" r="r" b="b"/>
            <a:pathLst>
              <a:path w="304164" h="958214">
                <a:moveTo>
                  <a:pt x="0" y="958177"/>
                </a:moveTo>
                <a:lnTo>
                  <a:pt x="303813" y="958177"/>
                </a:lnTo>
                <a:lnTo>
                  <a:pt x="303813" y="0"/>
                </a:lnTo>
                <a:lnTo>
                  <a:pt x="0" y="0"/>
                </a:lnTo>
                <a:lnTo>
                  <a:pt x="0" y="958177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071277" y="4514518"/>
            <a:ext cx="512151" cy="1514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074059" y="4520197"/>
            <a:ext cx="513080" cy="151765"/>
          </a:xfrm>
          <a:custGeom>
            <a:avLst/>
            <a:gdLst/>
            <a:ahLst/>
            <a:cxnLst/>
            <a:rect l="l" t="t" r="r" b="b"/>
            <a:pathLst>
              <a:path w="513079" h="151764">
                <a:moveTo>
                  <a:pt x="303876" y="151692"/>
                </a:moveTo>
                <a:lnTo>
                  <a:pt x="512784" y="0"/>
                </a:lnTo>
                <a:lnTo>
                  <a:pt x="209033" y="0"/>
                </a:lnTo>
                <a:lnTo>
                  <a:pt x="0" y="151692"/>
                </a:lnTo>
                <a:lnTo>
                  <a:pt x="303876" y="151692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143002" y="3104228"/>
            <a:ext cx="208654" cy="25176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147428" y="3106373"/>
            <a:ext cx="208915" cy="2524125"/>
          </a:xfrm>
          <a:custGeom>
            <a:avLst/>
            <a:gdLst/>
            <a:ahLst/>
            <a:cxnLst/>
            <a:rect l="l" t="t" r="r" b="b"/>
            <a:pathLst>
              <a:path w="208914" h="2524125">
                <a:moveTo>
                  <a:pt x="0" y="2523706"/>
                </a:moveTo>
                <a:lnTo>
                  <a:pt x="0" y="161284"/>
                </a:lnTo>
                <a:lnTo>
                  <a:pt x="208907" y="0"/>
                </a:lnTo>
                <a:lnTo>
                  <a:pt x="208907" y="2362485"/>
                </a:lnTo>
                <a:lnTo>
                  <a:pt x="0" y="2523706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830020" y="3265083"/>
            <a:ext cx="312981" cy="23567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834067" y="3267607"/>
            <a:ext cx="313690" cy="2362835"/>
          </a:xfrm>
          <a:custGeom>
            <a:avLst/>
            <a:gdLst/>
            <a:ahLst/>
            <a:cxnLst/>
            <a:rect l="l" t="t" r="r" b="b"/>
            <a:pathLst>
              <a:path w="313689" h="2362835">
                <a:moveTo>
                  <a:pt x="0" y="2362472"/>
                </a:moveTo>
                <a:lnTo>
                  <a:pt x="313297" y="2362472"/>
                </a:lnTo>
                <a:lnTo>
                  <a:pt x="313297" y="0"/>
                </a:lnTo>
                <a:lnTo>
                  <a:pt x="0" y="0"/>
                </a:lnTo>
                <a:lnTo>
                  <a:pt x="0" y="2362472"/>
                </a:lnTo>
                <a:close/>
              </a:path>
            </a:pathLst>
          </a:custGeom>
          <a:ln w="9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830020" y="3104228"/>
            <a:ext cx="521636" cy="1609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834067" y="3106373"/>
            <a:ext cx="522605" cy="161290"/>
          </a:xfrm>
          <a:custGeom>
            <a:avLst/>
            <a:gdLst/>
            <a:ahLst/>
            <a:cxnLst/>
            <a:rect l="l" t="t" r="r" b="b"/>
            <a:pathLst>
              <a:path w="522604" h="161289">
                <a:moveTo>
                  <a:pt x="313361" y="161284"/>
                </a:moveTo>
                <a:lnTo>
                  <a:pt x="522268" y="0"/>
                </a:lnTo>
                <a:lnTo>
                  <a:pt x="218518" y="0"/>
                </a:lnTo>
                <a:lnTo>
                  <a:pt x="0" y="161284"/>
                </a:lnTo>
                <a:lnTo>
                  <a:pt x="313361" y="161284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901746" y="2697231"/>
            <a:ext cx="218138" cy="292464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907310" y="2698493"/>
            <a:ext cx="219075" cy="2931795"/>
          </a:xfrm>
          <a:custGeom>
            <a:avLst/>
            <a:gdLst/>
            <a:ahLst/>
            <a:cxnLst/>
            <a:rect l="l" t="t" r="r" b="b"/>
            <a:pathLst>
              <a:path w="219075" h="2931795">
                <a:moveTo>
                  <a:pt x="0" y="2931586"/>
                </a:moveTo>
                <a:lnTo>
                  <a:pt x="0" y="161158"/>
                </a:lnTo>
                <a:lnTo>
                  <a:pt x="218518" y="0"/>
                </a:lnTo>
                <a:lnTo>
                  <a:pt x="218518" y="2770365"/>
                </a:lnTo>
                <a:lnTo>
                  <a:pt x="0" y="2931586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598248" y="2858086"/>
            <a:ext cx="303497" cy="276379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603307" y="2859727"/>
            <a:ext cx="304165" cy="2770505"/>
          </a:xfrm>
          <a:custGeom>
            <a:avLst/>
            <a:gdLst/>
            <a:ahLst/>
            <a:cxnLst/>
            <a:rect l="l" t="t" r="r" b="b"/>
            <a:pathLst>
              <a:path w="304164" h="2770504">
                <a:moveTo>
                  <a:pt x="0" y="2770352"/>
                </a:moveTo>
                <a:lnTo>
                  <a:pt x="304129" y="2770352"/>
                </a:lnTo>
                <a:lnTo>
                  <a:pt x="304129" y="0"/>
                </a:lnTo>
                <a:lnTo>
                  <a:pt x="0" y="0"/>
                </a:lnTo>
                <a:lnTo>
                  <a:pt x="0" y="2770352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598248" y="2697231"/>
            <a:ext cx="521636" cy="1609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603307" y="2698493"/>
            <a:ext cx="522605" cy="161290"/>
          </a:xfrm>
          <a:custGeom>
            <a:avLst/>
            <a:gdLst/>
            <a:ahLst/>
            <a:cxnLst/>
            <a:rect l="l" t="t" r="r" b="b"/>
            <a:pathLst>
              <a:path w="522604" h="161289">
                <a:moveTo>
                  <a:pt x="304003" y="161158"/>
                </a:moveTo>
                <a:lnTo>
                  <a:pt x="522521" y="0"/>
                </a:lnTo>
                <a:lnTo>
                  <a:pt x="208907" y="0"/>
                </a:lnTo>
                <a:lnTo>
                  <a:pt x="0" y="161158"/>
                </a:lnTo>
                <a:lnTo>
                  <a:pt x="304003" y="161158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669974" y="3426039"/>
            <a:ext cx="208654" cy="219583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676929" y="3429194"/>
            <a:ext cx="208915" cy="2200910"/>
          </a:xfrm>
          <a:custGeom>
            <a:avLst/>
            <a:gdLst/>
            <a:ahLst/>
            <a:cxnLst/>
            <a:rect l="l" t="t" r="r" b="b"/>
            <a:pathLst>
              <a:path w="208914" h="2200910">
                <a:moveTo>
                  <a:pt x="0" y="2200885"/>
                </a:moveTo>
                <a:lnTo>
                  <a:pt x="0" y="161158"/>
                </a:lnTo>
                <a:lnTo>
                  <a:pt x="208907" y="0"/>
                </a:lnTo>
                <a:lnTo>
                  <a:pt x="208907" y="2039664"/>
                </a:lnTo>
                <a:lnTo>
                  <a:pt x="0" y="2200885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366476" y="3586894"/>
            <a:ext cx="303497" cy="203498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372799" y="3590301"/>
            <a:ext cx="304165" cy="2040255"/>
          </a:xfrm>
          <a:custGeom>
            <a:avLst/>
            <a:gdLst/>
            <a:ahLst/>
            <a:cxnLst/>
            <a:rect l="l" t="t" r="r" b="b"/>
            <a:pathLst>
              <a:path w="304164" h="2040254">
                <a:moveTo>
                  <a:pt x="0" y="2039778"/>
                </a:moveTo>
                <a:lnTo>
                  <a:pt x="304129" y="2039778"/>
                </a:lnTo>
                <a:lnTo>
                  <a:pt x="304129" y="0"/>
                </a:lnTo>
                <a:lnTo>
                  <a:pt x="0" y="0"/>
                </a:lnTo>
                <a:lnTo>
                  <a:pt x="0" y="2039778"/>
                </a:lnTo>
                <a:close/>
              </a:path>
            </a:pathLst>
          </a:custGeom>
          <a:ln w="9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66476" y="3426039"/>
            <a:ext cx="512151" cy="1609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72799" y="3429194"/>
            <a:ext cx="513080" cy="161290"/>
          </a:xfrm>
          <a:custGeom>
            <a:avLst/>
            <a:gdLst/>
            <a:ahLst/>
            <a:cxnLst/>
            <a:rect l="l" t="t" r="r" b="b"/>
            <a:pathLst>
              <a:path w="513079" h="161289">
                <a:moveTo>
                  <a:pt x="304129" y="161158"/>
                </a:moveTo>
                <a:lnTo>
                  <a:pt x="513037" y="0"/>
                </a:lnTo>
                <a:lnTo>
                  <a:pt x="208907" y="0"/>
                </a:lnTo>
                <a:lnTo>
                  <a:pt x="0" y="161158"/>
                </a:lnTo>
                <a:lnTo>
                  <a:pt x="304129" y="161158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438201" y="4779539"/>
            <a:ext cx="208654" cy="84233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446042" y="4785849"/>
            <a:ext cx="209550" cy="844550"/>
          </a:xfrm>
          <a:custGeom>
            <a:avLst/>
            <a:gdLst/>
            <a:ahLst/>
            <a:cxnLst/>
            <a:rect l="l" t="t" r="r" b="b"/>
            <a:pathLst>
              <a:path w="209550" h="844550">
                <a:moveTo>
                  <a:pt x="0" y="844230"/>
                </a:moveTo>
                <a:lnTo>
                  <a:pt x="0" y="161170"/>
                </a:lnTo>
                <a:lnTo>
                  <a:pt x="209033" y="0"/>
                </a:lnTo>
                <a:lnTo>
                  <a:pt x="209033" y="683009"/>
                </a:lnTo>
                <a:lnTo>
                  <a:pt x="0" y="844230"/>
                </a:lnTo>
                <a:close/>
              </a:path>
            </a:pathLst>
          </a:custGeom>
          <a:ln w="9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134704" y="4940394"/>
            <a:ext cx="303497" cy="68148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142291" y="4947019"/>
            <a:ext cx="304165" cy="683260"/>
          </a:xfrm>
          <a:custGeom>
            <a:avLst/>
            <a:gdLst/>
            <a:ahLst/>
            <a:cxnLst/>
            <a:rect l="l" t="t" r="r" b="b"/>
            <a:pathLst>
              <a:path w="304164" h="683260">
                <a:moveTo>
                  <a:pt x="0" y="683060"/>
                </a:moveTo>
                <a:lnTo>
                  <a:pt x="303813" y="683060"/>
                </a:lnTo>
                <a:lnTo>
                  <a:pt x="303813" y="0"/>
                </a:lnTo>
                <a:lnTo>
                  <a:pt x="0" y="0"/>
                </a:lnTo>
                <a:lnTo>
                  <a:pt x="0" y="683060"/>
                </a:lnTo>
                <a:close/>
              </a:path>
            </a:pathLst>
          </a:custGeom>
          <a:ln w="94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134704" y="4779539"/>
            <a:ext cx="512151" cy="16085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142291" y="4785849"/>
            <a:ext cx="513080" cy="161290"/>
          </a:xfrm>
          <a:custGeom>
            <a:avLst/>
            <a:gdLst/>
            <a:ahLst/>
            <a:cxnLst/>
            <a:rect l="l" t="t" r="r" b="b"/>
            <a:pathLst>
              <a:path w="513079" h="161289">
                <a:moveTo>
                  <a:pt x="303750" y="161170"/>
                </a:moveTo>
                <a:lnTo>
                  <a:pt x="512784" y="0"/>
                </a:lnTo>
                <a:lnTo>
                  <a:pt x="208907" y="0"/>
                </a:lnTo>
                <a:lnTo>
                  <a:pt x="0" y="161170"/>
                </a:lnTo>
                <a:lnTo>
                  <a:pt x="303750" y="161170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076627" y="2461236"/>
            <a:ext cx="0" cy="3169285"/>
          </a:xfrm>
          <a:custGeom>
            <a:avLst/>
            <a:gdLst/>
            <a:ahLst/>
            <a:cxnLst/>
            <a:rect l="l" t="t" r="r" b="b"/>
            <a:pathLst>
              <a:path h="3169285">
                <a:moveTo>
                  <a:pt x="0" y="3168843"/>
                </a:moveTo>
                <a:lnTo>
                  <a:pt x="0" y="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038690" y="5630079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038690" y="517481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038690" y="47192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038690" y="426401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038690" y="3808679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038690" y="336256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038690" y="290735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038690" y="245177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1869183" y="5460891"/>
            <a:ext cx="1397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755371" y="2282583"/>
            <a:ext cx="254000" cy="302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70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60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800" b="1" spc="-5" dirty="0">
                <a:latin typeface="Times New Roman"/>
                <a:cs typeface="Times New Roman"/>
              </a:rPr>
              <a:t>50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800" b="1" spc="-5" dirty="0">
                <a:latin typeface="Times New Roman"/>
                <a:cs typeface="Times New Roman"/>
              </a:rPr>
              <a:t>40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30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20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2076627" y="5630079"/>
            <a:ext cx="4588510" cy="0"/>
          </a:xfrm>
          <a:custGeom>
            <a:avLst/>
            <a:gdLst/>
            <a:ahLst/>
            <a:cxnLst/>
            <a:rect l="l" t="t" r="r" b="b"/>
            <a:pathLst>
              <a:path w="4588509">
                <a:moveTo>
                  <a:pt x="0" y="0"/>
                </a:moveTo>
                <a:lnTo>
                  <a:pt x="458818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076627" y="5630079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836635" y="5630079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606191" y="5630079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375304" y="5630079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144796" y="5630079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904805" y="5630079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674297" y="5630079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2306093" y="5688367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[1]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143754" y="5688367"/>
            <a:ext cx="29210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[6]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5675729" y="5462395"/>
            <a:ext cx="350520" cy="161925"/>
          </a:xfrm>
          <a:custGeom>
            <a:avLst/>
            <a:gdLst/>
            <a:ahLst/>
            <a:cxnLst/>
            <a:rect l="l" t="t" r="r" b="b"/>
            <a:pathLst>
              <a:path w="350520" h="161925">
                <a:moveTo>
                  <a:pt x="0" y="161601"/>
                </a:moveTo>
                <a:lnTo>
                  <a:pt x="350083" y="161601"/>
                </a:lnTo>
                <a:lnTo>
                  <a:pt x="350083" y="0"/>
                </a:lnTo>
                <a:lnTo>
                  <a:pt x="0" y="0"/>
                </a:lnTo>
                <a:lnTo>
                  <a:pt x="0" y="16160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906404" y="5462395"/>
            <a:ext cx="455930" cy="161925"/>
          </a:xfrm>
          <a:custGeom>
            <a:avLst/>
            <a:gdLst/>
            <a:ahLst/>
            <a:cxnLst/>
            <a:rect l="l" t="t" r="r" b="b"/>
            <a:pathLst>
              <a:path w="455929" h="161925">
                <a:moveTo>
                  <a:pt x="0" y="161601"/>
                </a:moveTo>
                <a:lnTo>
                  <a:pt x="455779" y="161601"/>
                </a:lnTo>
                <a:lnTo>
                  <a:pt x="455779" y="0"/>
                </a:lnTo>
                <a:lnTo>
                  <a:pt x="0" y="0"/>
                </a:lnTo>
                <a:lnTo>
                  <a:pt x="0" y="16160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146561" y="5462395"/>
            <a:ext cx="455930" cy="161925"/>
          </a:xfrm>
          <a:custGeom>
            <a:avLst/>
            <a:gdLst/>
            <a:ahLst/>
            <a:cxnLst/>
            <a:rect l="l" t="t" r="r" b="b"/>
            <a:pathLst>
              <a:path w="455929" h="161925">
                <a:moveTo>
                  <a:pt x="0" y="161601"/>
                </a:moveTo>
                <a:lnTo>
                  <a:pt x="455778" y="161601"/>
                </a:lnTo>
                <a:lnTo>
                  <a:pt x="455778" y="0"/>
                </a:lnTo>
                <a:lnTo>
                  <a:pt x="0" y="0"/>
                </a:lnTo>
                <a:lnTo>
                  <a:pt x="0" y="16160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386718" y="5462395"/>
            <a:ext cx="456565" cy="161925"/>
          </a:xfrm>
          <a:custGeom>
            <a:avLst/>
            <a:gdLst/>
            <a:ahLst/>
            <a:cxnLst/>
            <a:rect l="l" t="t" r="r" b="b"/>
            <a:pathLst>
              <a:path w="456564" h="161925">
                <a:moveTo>
                  <a:pt x="0" y="161601"/>
                </a:moveTo>
                <a:lnTo>
                  <a:pt x="456095" y="161601"/>
                </a:lnTo>
                <a:lnTo>
                  <a:pt x="456095" y="0"/>
                </a:lnTo>
                <a:lnTo>
                  <a:pt x="0" y="0"/>
                </a:lnTo>
                <a:lnTo>
                  <a:pt x="0" y="16160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051047" y="5462395"/>
            <a:ext cx="32384" cy="161925"/>
          </a:xfrm>
          <a:custGeom>
            <a:avLst/>
            <a:gdLst/>
            <a:ahLst/>
            <a:cxnLst/>
            <a:rect l="l" t="t" r="r" b="b"/>
            <a:pathLst>
              <a:path w="32385" h="161925">
                <a:moveTo>
                  <a:pt x="0" y="161601"/>
                </a:moveTo>
                <a:lnTo>
                  <a:pt x="31923" y="161601"/>
                </a:lnTo>
                <a:lnTo>
                  <a:pt x="31923" y="0"/>
                </a:lnTo>
                <a:lnTo>
                  <a:pt x="0" y="0"/>
                </a:lnTo>
                <a:lnTo>
                  <a:pt x="0" y="161601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675729" y="5467139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>
                <a:moveTo>
                  <a:pt x="0" y="0"/>
                </a:moveTo>
                <a:lnTo>
                  <a:pt x="350083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906404" y="5467139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9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4146561" y="5467139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8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386718" y="5467139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6095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051047" y="5467139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>
                <a:moveTo>
                  <a:pt x="0" y="0"/>
                </a:moveTo>
                <a:lnTo>
                  <a:pt x="31923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675729" y="5010481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>
                <a:moveTo>
                  <a:pt x="0" y="0"/>
                </a:moveTo>
                <a:lnTo>
                  <a:pt x="350083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906404" y="5010481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9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146561" y="5010481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8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386718" y="5010481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6095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051047" y="5010481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>
                <a:moveTo>
                  <a:pt x="0" y="0"/>
                </a:moveTo>
                <a:lnTo>
                  <a:pt x="31923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675729" y="4563627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>
                <a:moveTo>
                  <a:pt x="0" y="0"/>
                </a:moveTo>
                <a:lnTo>
                  <a:pt x="350083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906404" y="4563627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9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146561" y="4563627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8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051047" y="4563627"/>
            <a:ext cx="791845" cy="0"/>
          </a:xfrm>
          <a:custGeom>
            <a:avLst/>
            <a:gdLst/>
            <a:ahLst/>
            <a:cxnLst/>
            <a:rect l="l" t="t" r="r" b="b"/>
            <a:pathLst>
              <a:path w="791845">
                <a:moveTo>
                  <a:pt x="0" y="0"/>
                </a:moveTo>
                <a:lnTo>
                  <a:pt x="791766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675729" y="4107222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>
                <a:moveTo>
                  <a:pt x="0" y="0"/>
                </a:moveTo>
                <a:lnTo>
                  <a:pt x="350083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4906404" y="4107222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9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146561" y="4107222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8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3051047" y="4107222"/>
            <a:ext cx="791845" cy="0"/>
          </a:xfrm>
          <a:custGeom>
            <a:avLst/>
            <a:gdLst/>
            <a:ahLst/>
            <a:cxnLst/>
            <a:rect l="l" t="t" r="r" b="b"/>
            <a:pathLst>
              <a:path w="791845">
                <a:moveTo>
                  <a:pt x="0" y="0"/>
                </a:moveTo>
                <a:lnTo>
                  <a:pt x="791766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675729" y="3660052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>
                <a:moveTo>
                  <a:pt x="0" y="0"/>
                </a:moveTo>
                <a:lnTo>
                  <a:pt x="350083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906404" y="3660052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9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146561" y="3660052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8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3051047" y="3660052"/>
            <a:ext cx="791845" cy="0"/>
          </a:xfrm>
          <a:custGeom>
            <a:avLst/>
            <a:gdLst/>
            <a:ahLst/>
            <a:cxnLst/>
            <a:rect l="l" t="t" r="r" b="b"/>
            <a:pathLst>
              <a:path w="791845">
                <a:moveTo>
                  <a:pt x="0" y="0"/>
                </a:moveTo>
                <a:lnTo>
                  <a:pt x="791766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906404" y="3203774"/>
            <a:ext cx="1119505" cy="0"/>
          </a:xfrm>
          <a:custGeom>
            <a:avLst/>
            <a:gdLst/>
            <a:ahLst/>
            <a:cxnLst/>
            <a:rect l="l" t="t" r="r" b="b"/>
            <a:pathLst>
              <a:path w="1119504">
                <a:moveTo>
                  <a:pt x="0" y="0"/>
                </a:moveTo>
                <a:lnTo>
                  <a:pt x="1119408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3051047" y="3203774"/>
            <a:ext cx="1551305" cy="0"/>
          </a:xfrm>
          <a:custGeom>
            <a:avLst/>
            <a:gdLst/>
            <a:ahLst/>
            <a:cxnLst/>
            <a:rect l="l" t="t" r="r" b="b"/>
            <a:pathLst>
              <a:path w="1551304">
                <a:moveTo>
                  <a:pt x="0" y="0"/>
                </a:moveTo>
                <a:lnTo>
                  <a:pt x="1551293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3051047" y="2756856"/>
            <a:ext cx="2974975" cy="0"/>
          </a:xfrm>
          <a:custGeom>
            <a:avLst/>
            <a:gdLst/>
            <a:ahLst/>
            <a:cxnLst/>
            <a:rect l="l" t="t" r="r" b="b"/>
            <a:pathLst>
              <a:path w="2974975">
                <a:moveTo>
                  <a:pt x="0" y="0"/>
                </a:moveTo>
                <a:lnTo>
                  <a:pt x="2974765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3051047" y="2300199"/>
            <a:ext cx="2974975" cy="0"/>
          </a:xfrm>
          <a:custGeom>
            <a:avLst/>
            <a:gdLst/>
            <a:ahLst/>
            <a:cxnLst/>
            <a:rect l="l" t="t" r="r" b="b"/>
            <a:pathLst>
              <a:path w="2974975">
                <a:moveTo>
                  <a:pt x="0" y="0"/>
                </a:moveTo>
                <a:lnTo>
                  <a:pt x="2974765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3051047" y="5628740"/>
            <a:ext cx="2974975" cy="0"/>
          </a:xfrm>
          <a:custGeom>
            <a:avLst/>
            <a:gdLst/>
            <a:ahLst/>
            <a:cxnLst/>
            <a:rect l="l" t="t" r="r" b="b"/>
            <a:pathLst>
              <a:path w="2974975">
                <a:moveTo>
                  <a:pt x="2974765" y="0"/>
                </a:moveTo>
                <a:lnTo>
                  <a:pt x="0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5675729" y="5467139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>
                <a:moveTo>
                  <a:pt x="0" y="0"/>
                </a:moveTo>
                <a:lnTo>
                  <a:pt x="350083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4906404" y="5467139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9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4146561" y="5467139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8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3386718" y="5467139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6095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3051047" y="5467139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>
                <a:moveTo>
                  <a:pt x="0" y="0"/>
                </a:moveTo>
                <a:lnTo>
                  <a:pt x="31923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5675729" y="5467139"/>
            <a:ext cx="350520" cy="0"/>
          </a:xfrm>
          <a:custGeom>
            <a:avLst/>
            <a:gdLst/>
            <a:ahLst/>
            <a:cxnLst/>
            <a:rect l="l" t="t" r="r" b="b"/>
            <a:pathLst>
              <a:path w="350520">
                <a:moveTo>
                  <a:pt x="0" y="0"/>
                </a:moveTo>
                <a:lnTo>
                  <a:pt x="350083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4906404" y="5467139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9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4146561" y="5467139"/>
            <a:ext cx="455930" cy="0"/>
          </a:xfrm>
          <a:custGeom>
            <a:avLst/>
            <a:gdLst/>
            <a:ahLst/>
            <a:cxnLst/>
            <a:rect l="l" t="t" r="r" b="b"/>
            <a:pathLst>
              <a:path w="455929">
                <a:moveTo>
                  <a:pt x="0" y="0"/>
                </a:moveTo>
                <a:lnTo>
                  <a:pt x="455778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386718" y="5467139"/>
            <a:ext cx="456565" cy="0"/>
          </a:xfrm>
          <a:custGeom>
            <a:avLst/>
            <a:gdLst/>
            <a:ahLst/>
            <a:cxnLst/>
            <a:rect l="l" t="t" r="r" b="b"/>
            <a:pathLst>
              <a:path w="456564">
                <a:moveTo>
                  <a:pt x="0" y="0"/>
                </a:moveTo>
                <a:lnTo>
                  <a:pt x="456095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3051047" y="5467139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>
                <a:moveTo>
                  <a:pt x="0" y="0"/>
                </a:moveTo>
                <a:lnTo>
                  <a:pt x="31923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3051047" y="2300262"/>
            <a:ext cx="2974975" cy="0"/>
          </a:xfrm>
          <a:custGeom>
            <a:avLst/>
            <a:gdLst/>
            <a:ahLst/>
            <a:cxnLst/>
            <a:rect l="l" t="t" r="r" b="b"/>
            <a:pathLst>
              <a:path w="2974975">
                <a:moveTo>
                  <a:pt x="2974765" y="0"/>
                </a:moveTo>
                <a:lnTo>
                  <a:pt x="0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3386718" y="4516191"/>
            <a:ext cx="209550" cy="1113155"/>
          </a:xfrm>
          <a:custGeom>
            <a:avLst/>
            <a:gdLst/>
            <a:ahLst/>
            <a:cxnLst/>
            <a:rect l="l" t="t" r="r" b="b"/>
            <a:pathLst>
              <a:path w="209550" h="1113154">
                <a:moveTo>
                  <a:pt x="208925" y="0"/>
                </a:moveTo>
                <a:lnTo>
                  <a:pt x="0" y="161537"/>
                </a:lnTo>
                <a:lnTo>
                  <a:pt x="0" y="1112549"/>
                </a:lnTo>
                <a:lnTo>
                  <a:pt x="208925" y="950948"/>
                </a:lnTo>
                <a:lnTo>
                  <a:pt x="208925" y="0"/>
                </a:lnTo>
                <a:close/>
              </a:path>
            </a:pathLst>
          </a:custGeom>
          <a:solidFill>
            <a:srgbClr val="664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3386718" y="4516191"/>
            <a:ext cx="209550" cy="1113155"/>
          </a:xfrm>
          <a:custGeom>
            <a:avLst/>
            <a:gdLst/>
            <a:ahLst/>
            <a:cxnLst/>
            <a:rect l="l" t="t" r="r" b="b"/>
            <a:pathLst>
              <a:path w="209550" h="1113154">
                <a:moveTo>
                  <a:pt x="0" y="1112549"/>
                </a:moveTo>
                <a:lnTo>
                  <a:pt x="0" y="161537"/>
                </a:lnTo>
                <a:lnTo>
                  <a:pt x="208925" y="0"/>
                </a:lnTo>
                <a:lnTo>
                  <a:pt x="208925" y="950948"/>
                </a:lnTo>
                <a:lnTo>
                  <a:pt x="0" y="1112549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3082971" y="4677791"/>
            <a:ext cx="304165" cy="951230"/>
          </a:xfrm>
          <a:custGeom>
            <a:avLst/>
            <a:gdLst/>
            <a:ahLst/>
            <a:cxnLst/>
            <a:rect l="l" t="t" r="r" b="b"/>
            <a:pathLst>
              <a:path w="304164" h="951229">
                <a:moveTo>
                  <a:pt x="0" y="950948"/>
                </a:moveTo>
                <a:lnTo>
                  <a:pt x="303747" y="950948"/>
                </a:lnTo>
                <a:lnTo>
                  <a:pt x="303747" y="0"/>
                </a:lnTo>
                <a:lnTo>
                  <a:pt x="0" y="0"/>
                </a:lnTo>
                <a:lnTo>
                  <a:pt x="0" y="950948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082971" y="4677791"/>
            <a:ext cx="304165" cy="951230"/>
          </a:xfrm>
          <a:custGeom>
            <a:avLst/>
            <a:gdLst/>
            <a:ahLst/>
            <a:cxnLst/>
            <a:rect l="l" t="t" r="r" b="b"/>
            <a:pathLst>
              <a:path w="304164" h="951229">
                <a:moveTo>
                  <a:pt x="0" y="950948"/>
                </a:moveTo>
                <a:lnTo>
                  <a:pt x="303747" y="950948"/>
                </a:lnTo>
                <a:lnTo>
                  <a:pt x="303747" y="0"/>
                </a:lnTo>
                <a:lnTo>
                  <a:pt x="0" y="0"/>
                </a:lnTo>
                <a:lnTo>
                  <a:pt x="0" y="950948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3082971" y="4516191"/>
            <a:ext cx="513080" cy="161925"/>
          </a:xfrm>
          <a:custGeom>
            <a:avLst/>
            <a:gdLst/>
            <a:ahLst/>
            <a:cxnLst/>
            <a:rect l="l" t="t" r="r" b="b"/>
            <a:pathLst>
              <a:path w="513079" h="161925">
                <a:moveTo>
                  <a:pt x="512672" y="0"/>
                </a:moveTo>
                <a:lnTo>
                  <a:pt x="199442" y="0"/>
                </a:lnTo>
                <a:lnTo>
                  <a:pt x="0" y="161537"/>
                </a:lnTo>
                <a:lnTo>
                  <a:pt x="303747" y="161537"/>
                </a:lnTo>
                <a:lnTo>
                  <a:pt x="512672" y="0"/>
                </a:lnTo>
                <a:close/>
              </a:path>
            </a:pathLst>
          </a:custGeom>
          <a:solidFill>
            <a:srgbClr val="997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3082971" y="4516191"/>
            <a:ext cx="513080" cy="161925"/>
          </a:xfrm>
          <a:custGeom>
            <a:avLst/>
            <a:gdLst/>
            <a:ahLst/>
            <a:cxnLst/>
            <a:rect l="l" t="t" r="r" b="b"/>
            <a:pathLst>
              <a:path w="513079" h="161925">
                <a:moveTo>
                  <a:pt x="303747" y="161537"/>
                </a:moveTo>
                <a:lnTo>
                  <a:pt x="512672" y="0"/>
                </a:lnTo>
                <a:lnTo>
                  <a:pt x="199442" y="0"/>
                </a:lnTo>
                <a:lnTo>
                  <a:pt x="0" y="161537"/>
                </a:lnTo>
                <a:lnTo>
                  <a:pt x="303747" y="161537"/>
                </a:lnTo>
                <a:close/>
              </a:path>
            </a:pathLst>
          </a:custGeom>
          <a:ln w="94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4146561" y="3118008"/>
            <a:ext cx="209550" cy="2510790"/>
          </a:xfrm>
          <a:custGeom>
            <a:avLst/>
            <a:gdLst/>
            <a:ahLst/>
            <a:cxnLst/>
            <a:rect l="l" t="t" r="r" b="b"/>
            <a:pathLst>
              <a:path w="209550" h="2510790">
                <a:moveTo>
                  <a:pt x="208988" y="0"/>
                </a:moveTo>
                <a:lnTo>
                  <a:pt x="0" y="161917"/>
                </a:lnTo>
                <a:lnTo>
                  <a:pt x="0" y="2510731"/>
                </a:lnTo>
                <a:lnTo>
                  <a:pt x="208988" y="2349130"/>
                </a:lnTo>
                <a:lnTo>
                  <a:pt x="208988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4146561" y="3118008"/>
            <a:ext cx="209550" cy="2510790"/>
          </a:xfrm>
          <a:custGeom>
            <a:avLst/>
            <a:gdLst/>
            <a:ahLst/>
            <a:cxnLst/>
            <a:rect l="l" t="t" r="r" b="b"/>
            <a:pathLst>
              <a:path w="209550" h="2510790">
                <a:moveTo>
                  <a:pt x="0" y="2510731"/>
                </a:moveTo>
                <a:lnTo>
                  <a:pt x="0" y="161917"/>
                </a:lnTo>
                <a:lnTo>
                  <a:pt x="208988" y="0"/>
                </a:lnTo>
                <a:lnTo>
                  <a:pt x="208988" y="2349130"/>
                </a:lnTo>
                <a:lnTo>
                  <a:pt x="0" y="2510731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3842813" y="3280052"/>
            <a:ext cx="304165" cy="2348865"/>
          </a:xfrm>
          <a:custGeom>
            <a:avLst/>
            <a:gdLst/>
            <a:ahLst/>
            <a:cxnLst/>
            <a:rect l="l" t="t" r="r" b="b"/>
            <a:pathLst>
              <a:path w="304164" h="2348865">
                <a:moveTo>
                  <a:pt x="0" y="2348687"/>
                </a:moveTo>
                <a:lnTo>
                  <a:pt x="303747" y="2348687"/>
                </a:lnTo>
                <a:lnTo>
                  <a:pt x="303747" y="0"/>
                </a:lnTo>
                <a:lnTo>
                  <a:pt x="0" y="0"/>
                </a:lnTo>
                <a:lnTo>
                  <a:pt x="0" y="234868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3842813" y="3280052"/>
            <a:ext cx="304165" cy="2348865"/>
          </a:xfrm>
          <a:custGeom>
            <a:avLst/>
            <a:gdLst/>
            <a:ahLst/>
            <a:cxnLst/>
            <a:rect l="l" t="t" r="r" b="b"/>
            <a:pathLst>
              <a:path w="304164" h="2348865">
                <a:moveTo>
                  <a:pt x="0" y="2348687"/>
                </a:moveTo>
                <a:lnTo>
                  <a:pt x="303747" y="2348687"/>
                </a:lnTo>
                <a:lnTo>
                  <a:pt x="303747" y="0"/>
                </a:lnTo>
                <a:lnTo>
                  <a:pt x="0" y="0"/>
                </a:lnTo>
                <a:lnTo>
                  <a:pt x="0" y="2348687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3842813" y="3118008"/>
            <a:ext cx="513080" cy="161925"/>
          </a:xfrm>
          <a:custGeom>
            <a:avLst/>
            <a:gdLst/>
            <a:ahLst/>
            <a:cxnLst/>
            <a:rect l="l" t="t" r="r" b="b"/>
            <a:pathLst>
              <a:path w="513079" h="161925">
                <a:moveTo>
                  <a:pt x="512735" y="0"/>
                </a:moveTo>
                <a:lnTo>
                  <a:pt x="208925" y="0"/>
                </a:lnTo>
                <a:lnTo>
                  <a:pt x="0" y="161917"/>
                </a:lnTo>
                <a:lnTo>
                  <a:pt x="303747" y="161917"/>
                </a:lnTo>
                <a:lnTo>
                  <a:pt x="512735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3842813" y="3118008"/>
            <a:ext cx="513080" cy="161925"/>
          </a:xfrm>
          <a:custGeom>
            <a:avLst/>
            <a:gdLst/>
            <a:ahLst/>
            <a:cxnLst/>
            <a:rect l="l" t="t" r="r" b="b"/>
            <a:pathLst>
              <a:path w="513079" h="161925">
                <a:moveTo>
                  <a:pt x="303747" y="161917"/>
                </a:moveTo>
                <a:lnTo>
                  <a:pt x="512735" y="0"/>
                </a:lnTo>
                <a:lnTo>
                  <a:pt x="208925" y="0"/>
                </a:lnTo>
                <a:lnTo>
                  <a:pt x="0" y="161917"/>
                </a:lnTo>
                <a:lnTo>
                  <a:pt x="303747" y="161917"/>
                </a:lnTo>
                <a:close/>
              </a:path>
            </a:pathLst>
          </a:custGeom>
          <a:ln w="94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4906404" y="2709167"/>
            <a:ext cx="209550" cy="2919730"/>
          </a:xfrm>
          <a:custGeom>
            <a:avLst/>
            <a:gdLst/>
            <a:ahLst/>
            <a:cxnLst/>
            <a:rect l="l" t="t" r="r" b="b"/>
            <a:pathLst>
              <a:path w="209550" h="2919729">
                <a:moveTo>
                  <a:pt x="208988" y="0"/>
                </a:moveTo>
                <a:lnTo>
                  <a:pt x="0" y="161537"/>
                </a:lnTo>
                <a:lnTo>
                  <a:pt x="0" y="2919573"/>
                </a:lnTo>
                <a:lnTo>
                  <a:pt x="208988" y="2757972"/>
                </a:lnTo>
                <a:lnTo>
                  <a:pt x="208988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4906404" y="2709167"/>
            <a:ext cx="209550" cy="2919730"/>
          </a:xfrm>
          <a:custGeom>
            <a:avLst/>
            <a:gdLst/>
            <a:ahLst/>
            <a:cxnLst/>
            <a:rect l="l" t="t" r="r" b="b"/>
            <a:pathLst>
              <a:path w="209550" h="2919729">
                <a:moveTo>
                  <a:pt x="0" y="2919573"/>
                </a:moveTo>
                <a:lnTo>
                  <a:pt x="0" y="161537"/>
                </a:lnTo>
                <a:lnTo>
                  <a:pt x="208988" y="0"/>
                </a:lnTo>
                <a:lnTo>
                  <a:pt x="208988" y="2757972"/>
                </a:lnTo>
                <a:lnTo>
                  <a:pt x="0" y="2919573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4602340" y="2870831"/>
            <a:ext cx="304165" cy="2758440"/>
          </a:xfrm>
          <a:custGeom>
            <a:avLst/>
            <a:gdLst/>
            <a:ahLst/>
            <a:cxnLst/>
            <a:rect l="l" t="t" r="r" b="b"/>
            <a:pathLst>
              <a:path w="304164" h="2758440">
                <a:moveTo>
                  <a:pt x="0" y="2757908"/>
                </a:moveTo>
                <a:lnTo>
                  <a:pt x="304063" y="2757908"/>
                </a:lnTo>
                <a:lnTo>
                  <a:pt x="304063" y="0"/>
                </a:lnTo>
                <a:lnTo>
                  <a:pt x="0" y="0"/>
                </a:lnTo>
                <a:lnTo>
                  <a:pt x="0" y="275790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4602340" y="2870831"/>
            <a:ext cx="304165" cy="2758440"/>
          </a:xfrm>
          <a:custGeom>
            <a:avLst/>
            <a:gdLst/>
            <a:ahLst/>
            <a:cxnLst/>
            <a:rect l="l" t="t" r="r" b="b"/>
            <a:pathLst>
              <a:path w="304164" h="2758440">
                <a:moveTo>
                  <a:pt x="0" y="2757908"/>
                </a:moveTo>
                <a:lnTo>
                  <a:pt x="304063" y="2757908"/>
                </a:lnTo>
                <a:lnTo>
                  <a:pt x="304063" y="0"/>
                </a:lnTo>
                <a:lnTo>
                  <a:pt x="0" y="0"/>
                </a:lnTo>
                <a:lnTo>
                  <a:pt x="0" y="2757908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4602340" y="2709167"/>
            <a:ext cx="513080" cy="161925"/>
          </a:xfrm>
          <a:custGeom>
            <a:avLst/>
            <a:gdLst/>
            <a:ahLst/>
            <a:cxnLst/>
            <a:rect l="l" t="t" r="r" b="b"/>
            <a:pathLst>
              <a:path w="513079" h="161925">
                <a:moveTo>
                  <a:pt x="513051" y="0"/>
                </a:moveTo>
                <a:lnTo>
                  <a:pt x="208988" y="0"/>
                </a:lnTo>
                <a:lnTo>
                  <a:pt x="0" y="161537"/>
                </a:lnTo>
                <a:lnTo>
                  <a:pt x="304063" y="161537"/>
                </a:lnTo>
                <a:lnTo>
                  <a:pt x="513051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4602340" y="2709167"/>
            <a:ext cx="513080" cy="161925"/>
          </a:xfrm>
          <a:custGeom>
            <a:avLst/>
            <a:gdLst/>
            <a:ahLst/>
            <a:cxnLst/>
            <a:rect l="l" t="t" r="r" b="b"/>
            <a:pathLst>
              <a:path w="513079" h="161925">
                <a:moveTo>
                  <a:pt x="304063" y="161537"/>
                </a:moveTo>
                <a:lnTo>
                  <a:pt x="513051" y="0"/>
                </a:lnTo>
                <a:lnTo>
                  <a:pt x="208988" y="0"/>
                </a:lnTo>
                <a:lnTo>
                  <a:pt x="0" y="161537"/>
                </a:lnTo>
                <a:lnTo>
                  <a:pt x="304063" y="161537"/>
                </a:lnTo>
                <a:close/>
              </a:path>
            </a:pathLst>
          </a:custGeom>
          <a:ln w="94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5675729" y="3432102"/>
            <a:ext cx="200025" cy="2197100"/>
          </a:xfrm>
          <a:custGeom>
            <a:avLst/>
            <a:gdLst/>
            <a:ahLst/>
            <a:cxnLst/>
            <a:rect l="l" t="t" r="r" b="b"/>
            <a:pathLst>
              <a:path w="200025" h="2197100">
                <a:moveTo>
                  <a:pt x="199506" y="0"/>
                </a:moveTo>
                <a:lnTo>
                  <a:pt x="0" y="161537"/>
                </a:lnTo>
                <a:lnTo>
                  <a:pt x="0" y="2196637"/>
                </a:lnTo>
                <a:lnTo>
                  <a:pt x="199506" y="2035036"/>
                </a:lnTo>
                <a:lnTo>
                  <a:pt x="199506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5675729" y="3432102"/>
            <a:ext cx="200025" cy="2197100"/>
          </a:xfrm>
          <a:custGeom>
            <a:avLst/>
            <a:gdLst/>
            <a:ahLst/>
            <a:cxnLst/>
            <a:rect l="l" t="t" r="r" b="b"/>
            <a:pathLst>
              <a:path w="200025" h="2197100">
                <a:moveTo>
                  <a:pt x="0" y="2196637"/>
                </a:moveTo>
                <a:lnTo>
                  <a:pt x="0" y="161537"/>
                </a:lnTo>
                <a:lnTo>
                  <a:pt x="199506" y="0"/>
                </a:lnTo>
                <a:lnTo>
                  <a:pt x="199506" y="2035036"/>
                </a:lnTo>
                <a:lnTo>
                  <a:pt x="0" y="2196637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5362183" y="3593640"/>
            <a:ext cx="313690" cy="2035175"/>
          </a:xfrm>
          <a:custGeom>
            <a:avLst/>
            <a:gdLst/>
            <a:ahLst/>
            <a:cxnLst/>
            <a:rect l="l" t="t" r="r" b="b"/>
            <a:pathLst>
              <a:path w="313689" h="2035175">
                <a:moveTo>
                  <a:pt x="0" y="2035099"/>
                </a:moveTo>
                <a:lnTo>
                  <a:pt x="313545" y="2035099"/>
                </a:lnTo>
                <a:lnTo>
                  <a:pt x="313545" y="0"/>
                </a:lnTo>
                <a:lnTo>
                  <a:pt x="0" y="0"/>
                </a:lnTo>
                <a:lnTo>
                  <a:pt x="0" y="20350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5362183" y="3593640"/>
            <a:ext cx="313690" cy="2035175"/>
          </a:xfrm>
          <a:custGeom>
            <a:avLst/>
            <a:gdLst/>
            <a:ahLst/>
            <a:cxnLst/>
            <a:rect l="l" t="t" r="r" b="b"/>
            <a:pathLst>
              <a:path w="313689" h="2035175">
                <a:moveTo>
                  <a:pt x="0" y="2035099"/>
                </a:moveTo>
                <a:lnTo>
                  <a:pt x="313545" y="2035099"/>
                </a:lnTo>
                <a:lnTo>
                  <a:pt x="313545" y="0"/>
                </a:lnTo>
                <a:lnTo>
                  <a:pt x="0" y="0"/>
                </a:lnTo>
                <a:lnTo>
                  <a:pt x="0" y="2035099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5362183" y="3432102"/>
            <a:ext cx="513080" cy="161925"/>
          </a:xfrm>
          <a:custGeom>
            <a:avLst/>
            <a:gdLst/>
            <a:ahLst/>
            <a:cxnLst/>
            <a:rect l="l" t="t" r="r" b="b"/>
            <a:pathLst>
              <a:path w="513079" h="161925">
                <a:moveTo>
                  <a:pt x="513051" y="0"/>
                </a:moveTo>
                <a:lnTo>
                  <a:pt x="208988" y="0"/>
                </a:lnTo>
                <a:lnTo>
                  <a:pt x="0" y="161537"/>
                </a:lnTo>
                <a:lnTo>
                  <a:pt x="313545" y="161537"/>
                </a:lnTo>
                <a:lnTo>
                  <a:pt x="513051" y="0"/>
                </a:lnTo>
                <a:close/>
              </a:path>
            </a:pathLst>
          </a:custGeom>
          <a:solidFill>
            <a:srgbClr val="BE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5362183" y="3432102"/>
            <a:ext cx="513080" cy="161925"/>
          </a:xfrm>
          <a:custGeom>
            <a:avLst/>
            <a:gdLst/>
            <a:ahLst/>
            <a:cxnLst/>
            <a:rect l="l" t="t" r="r" b="b"/>
            <a:pathLst>
              <a:path w="513079" h="161925">
                <a:moveTo>
                  <a:pt x="313545" y="161537"/>
                </a:moveTo>
                <a:lnTo>
                  <a:pt x="513051" y="0"/>
                </a:lnTo>
                <a:lnTo>
                  <a:pt x="208988" y="0"/>
                </a:lnTo>
                <a:lnTo>
                  <a:pt x="0" y="161537"/>
                </a:lnTo>
                <a:lnTo>
                  <a:pt x="313545" y="161537"/>
                </a:lnTo>
                <a:close/>
              </a:path>
            </a:pathLst>
          </a:custGeom>
          <a:ln w="94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3051047" y="5628740"/>
            <a:ext cx="2974975" cy="0"/>
          </a:xfrm>
          <a:custGeom>
            <a:avLst/>
            <a:gdLst/>
            <a:ahLst/>
            <a:cxnLst/>
            <a:rect l="l" t="t" r="r" b="b"/>
            <a:pathLst>
              <a:path w="2974975">
                <a:moveTo>
                  <a:pt x="0" y="0"/>
                </a:moveTo>
                <a:lnTo>
                  <a:pt x="2974765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3614924" y="5628740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949"/>
                </a:lnTo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4374514" y="5628740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949"/>
                </a:lnTo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5134357" y="5628740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949"/>
                </a:lnTo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5903682" y="5628740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949"/>
                </a:lnTo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 txBox="1"/>
          <p:nvPr/>
        </p:nvSpPr>
        <p:spPr>
          <a:xfrm>
            <a:off x="3075522" y="5687830"/>
            <a:ext cx="30099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345" dirty="0">
                <a:latin typeface="Times New Roman"/>
                <a:cs typeface="Times New Roman"/>
              </a:rPr>
              <a:t>[[22]]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3844337" y="5687830"/>
            <a:ext cx="29273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600" dirty="0">
                <a:latin typeface="Times New Roman"/>
                <a:cs typeface="Times New Roman"/>
              </a:rPr>
              <a:t>[</a:t>
            </a:r>
            <a:r>
              <a:rPr sz="1800" b="1" spc="-15" dirty="0">
                <a:latin typeface="Times New Roman"/>
                <a:cs typeface="Times New Roman"/>
              </a:rPr>
              <a:t>[</a:t>
            </a:r>
            <a:r>
              <a:rPr sz="1800" b="1" spc="-900" dirty="0">
                <a:latin typeface="Times New Roman"/>
                <a:cs typeface="Times New Roman"/>
              </a:rPr>
              <a:t>3</a:t>
            </a:r>
            <a:r>
              <a:rPr sz="1800" b="1" spc="-15" dirty="0">
                <a:latin typeface="Times New Roman"/>
                <a:cs typeface="Times New Roman"/>
              </a:rPr>
              <a:t>3</a:t>
            </a:r>
            <a:r>
              <a:rPr sz="1800" b="1" spc="-600" dirty="0">
                <a:latin typeface="Times New Roman"/>
                <a:cs typeface="Times New Roman"/>
              </a:rPr>
              <a:t>]</a:t>
            </a:r>
            <a:r>
              <a:rPr sz="1800" b="1" spc="-5" dirty="0">
                <a:latin typeface="Times New Roman"/>
                <a:cs typeface="Times New Roman"/>
              </a:rPr>
              <a:t>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4604180" y="5687830"/>
            <a:ext cx="29273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600" dirty="0">
                <a:latin typeface="Times New Roman"/>
                <a:cs typeface="Times New Roman"/>
              </a:rPr>
              <a:t>[</a:t>
            </a:r>
            <a:r>
              <a:rPr sz="1800" b="1" spc="-15" dirty="0">
                <a:latin typeface="Times New Roman"/>
                <a:cs typeface="Times New Roman"/>
              </a:rPr>
              <a:t>[</a:t>
            </a:r>
            <a:r>
              <a:rPr sz="1800" b="1" spc="-900" dirty="0">
                <a:latin typeface="Times New Roman"/>
                <a:cs typeface="Times New Roman"/>
              </a:rPr>
              <a:t>4</a:t>
            </a:r>
            <a:r>
              <a:rPr sz="1800" b="1" spc="-15" dirty="0">
                <a:latin typeface="Times New Roman"/>
                <a:cs typeface="Times New Roman"/>
              </a:rPr>
              <a:t>4</a:t>
            </a:r>
            <a:r>
              <a:rPr sz="1800" b="1" spc="-600" dirty="0">
                <a:latin typeface="Times New Roman"/>
                <a:cs typeface="Times New Roman"/>
              </a:rPr>
              <a:t>]</a:t>
            </a:r>
            <a:r>
              <a:rPr sz="1800" b="1" spc="-5" dirty="0">
                <a:latin typeface="Times New Roman"/>
                <a:cs typeface="Times New Roman"/>
              </a:rPr>
              <a:t>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5363770" y="5687830"/>
            <a:ext cx="30226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525" dirty="0">
                <a:latin typeface="Times New Roman"/>
                <a:cs typeface="Times New Roman"/>
              </a:rPr>
              <a:t>[</a:t>
            </a:r>
            <a:r>
              <a:rPr sz="1800" b="1" spc="-90" dirty="0">
                <a:latin typeface="Times New Roman"/>
                <a:cs typeface="Times New Roman"/>
              </a:rPr>
              <a:t>[</a:t>
            </a:r>
            <a:r>
              <a:rPr sz="1800" b="1" spc="-825" dirty="0">
                <a:latin typeface="Times New Roman"/>
                <a:cs typeface="Times New Roman"/>
              </a:rPr>
              <a:t>5</a:t>
            </a:r>
            <a:r>
              <a:rPr sz="1800" b="1" spc="-90" dirty="0">
                <a:latin typeface="Times New Roman"/>
                <a:cs typeface="Times New Roman"/>
              </a:rPr>
              <a:t>5</a:t>
            </a:r>
            <a:r>
              <a:rPr sz="1800" b="1" spc="-525" dirty="0">
                <a:latin typeface="Times New Roman"/>
                <a:cs typeface="Times New Roman"/>
              </a:rPr>
              <a:t>]</a:t>
            </a:r>
            <a:r>
              <a:rPr sz="1800" b="1" spc="-5" dirty="0">
                <a:latin typeface="Times New Roman"/>
                <a:cs typeface="Times New Roman"/>
              </a:rPr>
              <a:t>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0" name="object 170"/>
          <p:cNvSpPr/>
          <p:nvPr/>
        </p:nvSpPr>
        <p:spPr>
          <a:xfrm>
            <a:off x="1821179" y="1624583"/>
            <a:ext cx="1133856" cy="49530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1821179" y="1624583"/>
            <a:ext cx="1134110" cy="495300"/>
          </a:xfrm>
          <a:custGeom>
            <a:avLst/>
            <a:gdLst/>
            <a:ahLst/>
            <a:cxnLst/>
            <a:rect l="l" t="t" r="r" b="b"/>
            <a:pathLst>
              <a:path w="1134110" h="495300">
                <a:moveTo>
                  <a:pt x="0" y="495300"/>
                </a:moveTo>
                <a:lnTo>
                  <a:pt x="1133856" y="495300"/>
                </a:lnTo>
                <a:lnTo>
                  <a:pt x="1133856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 txBox="1"/>
          <p:nvPr/>
        </p:nvSpPr>
        <p:spPr>
          <a:xfrm>
            <a:off x="1832610" y="1690242"/>
            <a:ext cx="1110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Perpetua"/>
                <a:cs typeface="Perpetua"/>
              </a:rPr>
              <a:t>Sorted</a:t>
            </a:r>
            <a:r>
              <a:rPr sz="1800" b="1" spc="-70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3009900" y="1632204"/>
            <a:ext cx="3840479" cy="495300"/>
          </a:xfrm>
          <a:custGeom>
            <a:avLst/>
            <a:gdLst/>
            <a:ahLst/>
            <a:cxnLst/>
            <a:rect l="l" t="t" r="r" b="b"/>
            <a:pathLst>
              <a:path w="3840479" h="495300">
                <a:moveTo>
                  <a:pt x="0" y="495300"/>
                </a:moveTo>
                <a:lnTo>
                  <a:pt x="3840479" y="495300"/>
                </a:lnTo>
                <a:lnTo>
                  <a:pt x="3840479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FB00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3009900" y="1632204"/>
            <a:ext cx="3840479" cy="495300"/>
          </a:xfrm>
          <a:custGeom>
            <a:avLst/>
            <a:gdLst/>
            <a:ahLst/>
            <a:cxnLst/>
            <a:rect l="l" t="t" r="r" b="b"/>
            <a:pathLst>
              <a:path w="3840479" h="495300">
                <a:moveTo>
                  <a:pt x="0" y="495300"/>
                </a:moveTo>
                <a:lnTo>
                  <a:pt x="3840479" y="495300"/>
                </a:lnTo>
                <a:lnTo>
                  <a:pt x="3840479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 txBox="1"/>
          <p:nvPr/>
        </p:nvSpPr>
        <p:spPr>
          <a:xfrm>
            <a:off x="4238371" y="1698116"/>
            <a:ext cx="1384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Perpetua"/>
                <a:cs typeface="Perpetua"/>
              </a:rPr>
              <a:t>Unsorted</a:t>
            </a:r>
            <a:r>
              <a:rPr sz="1800" b="1" spc="-40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2977895" y="1600200"/>
            <a:ext cx="0" cy="4555490"/>
          </a:xfrm>
          <a:custGeom>
            <a:avLst/>
            <a:gdLst/>
            <a:ahLst/>
            <a:cxnLst/>
            <a:rect l="l" t="t" r="r" b="b"/>
            <a:pathLst>
              <a:path h="4555490">
                <a:moveTo>
                  <a:pt x="0" y="0"/>
                </a:moveTo>
                <a:lnTo>
                  <a:pt x="0" y="4555236"/>
                </a:lnTo>
              </a:path>
            </a:pathLst>
          </a:custGeom>
          <a:ln w="12192">
            <a:solidFill>
              <a:srgbClr val="9B2C1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6554396" y="1294002"/>
            <a:ext cx="468630" cy="3355340"/>
          </a:xfrm>
          <a:custGeom>
            <a:avLst/>
            <a:gdLst/>
            <a:ahLst/>
            <a:cxnLst/>
            <a:rect l="l" t="t" r="r" b="b"/>
            <a:pathLst>
              <a:path w="468629" h="3355340">
                <a:moveTo>
                  <a:pt x="18770" y="3177339"/>
                </a:moveTo>
                <a:lnTo>
                  <a:pt x="11376" y="3178937"/>
                </a:lnTo>
                <a:lnTo>
                  <a:pt x="5187" y="3183276"/>
                </a:lnTo>
                <a:lnTo>
                  <a:pt x="1295" y="3189462"/>
                </a:lnTo>
                <a:lnTo>
                  <a:pt x="0" y="3196671"/>
                </a:lnTo>
                <a:lnTo>
                  <a:pt x="1597" y="3204083"/>
                </a:lnTo>
                <a:lnTo>
                  <a:pt x="68145" y="3355086"/>
                </a:lnTo>
                <a:lnTo>
                  <a:pt x="94592" y="3319653"/>
                </a:lnTo>
                <a:lnTo>
                  <a:pt x="91386" y="3319653"/>
                </a:lnTo>
                <a:lnTo>
                  <a:pt x="53413" y="3315335"/>
                </a:lnTo>
                <a:lnTo>
                  <a:pt x="61391" y="3245144"/>
                </a:lnTo>
                <a:lnTo>
                  <a:pt x="36522" y="3188716"/>
                </a:lnTo>
                <a:lnTo>
                  <a:pt x="32129" y="3182526"/>
                </a:lnTo>
                <a:lnTo>
                  <a:pt x="25949" y="3178635"/>
                </a:lnTo>
                <a:lnTo>
                  <a:pt x="18770" y="3177339"/>
                </a:lnTo>
                <a:close/>
              </a:path>
              <a:path w="468629" h="3355340">
                <a:moveTo>
                  <a:pt x="61391" y="3245144"/>
                </a:moveTo>
                <a:lnTo>
                  <a:pt x="53413" y="3315335"/>
                </a:lnTo>
                <a:lnTo>
                  <a:pt x="91386" y="3319653"/>
                </a:lnTo>
                <a:lnTo>
                  <a:pt x="92511" y="3309747"/>
                </a:lnTo>
                <a:lnTo>
                  <a:pt x="89862" y="3309747"/>
                </a:lnTo>
                <a:lnTo>
                  <a:pt x="57096" y="3306064"/>
                </a:lnTo>
                <a:lnTo>
                  <a:pt x="76686" y="3279849"/>
                </a:lnTo>
                <a:lnTo>
                  <a:pt x="61391" y="3245144"/>
                </a:lnTo>
                <a:close/>
              </a:path>
              <a:path w="468629" h="3355340">
                <a:moveTo>
                  <a:pt x="148822" y="3192589"/>
                </a:moveTo>
                <a:lnTo>
                  <a:pt x="141940" y="3194994"/>
                </a:lnTo>
                <a:lnTo>
                  <a:pt x="136344" y="3200019"/>
                </a:lnTo>
                <a:lnTo>
                  <a:pt x="99355" y="3249515"/>
                </a:lnTo>
                <a:lnTo>
                  <a:pt x="91386" y="3319653"/>
                </a:lnTo>
                <a:lnTo>
                  <a:pt x="94592" y="3319653"/>
                </a:lnTo>
                <a:lnTo>
                  <a:pt x="166824" y="3222879"/>
                </a:lnTo>
                <a:lnTo>
                  <a:pt x="170086" y="3215997"/>
                </a:lnTo>
                <a:lnTo>
                  <a:pt x="170443" y="3208686"/>
                </a:lnTo>
                <a:lnTo>
                  <a:pt x="168038" y="3201804"/>
                </a:lnTo>
                <a:lnTo>
                  <a:pt x="163014" y="3196209"/>
                </a:lnTo>
                <a:lnTo>
                  <a:pt x="156132" y="3192946"/>
                </a:lnTo>
                <a:lnTo>
                  <a:pt x="148822" y="3192589"/>
                </a:lnTo>
                <a:close/>
              </a:path>
              <a:path w="468629" h="3355340">
                <a:moveTo>
                  <a:pt x="76686" y="3279849"/>
                </a:moveTo>
                <a:lnTo>
                  <a:pt x="57096" y="3306064"/>
                </a:lnTo>
                <a:lnTo>
                  <a:pt x="89862" y="3309747"/>
                </a:lnTo>
                <a:lnTo>
                  <a:pt x="76686" y="3279849"/>
                </a:lnTo>
                <a:close/>
              </a:path>
              <a:path w="468629" h="3355340">
                <a:moveTo>
                  <a:pt x="99355" y="3249515"/>
                </a:moveTo>
                <a:lnTo>
                  <a:pt x="76686" y="3279849"/>
                </a:lnTo>
                <a:lnTo>
                  <a:pt x="89862" y="3309747"/>
                </a:lnTo>
                <a:lnTo>
                  <a:pt x="92511" y="3309747"/>
                </a:lnTo>
                <a:lnTo>
                  <a:pt x="99355" y="3249515"/>
                </a:lnTo>
                <a:close/>
              </a:path>
              <a:path w="468629" h="3355340">
                <a:moveTo>
                  <a:pt x="430222" y="0"/>
                </a:moveTo>
                <a:lnTo>
                  <a:pt x="61391" y="3245144"/>
                </a:lnTo>
                <a:lnTo>
                  <a:pt x="76686" y="3279849"/>
                </a:lnTo>
                <a:lnTo>
                  <a:pt x="99355" y="3249515"/>
                </a:lnTo>
                <a:lnTo>
                  <a:pt x="468068" y="4318"/>
                </a:lnTo>
                <a:lnTo>
                  <a:pt x="430222" y="0"/>
                </a:lnTo>
                <a:close/>
              </a:path>
            </a:pathLst>
          </a:custGeom>
          <a:solidFill>
            <a:srgbClr val="AE34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 txBox="1"/>
          <p:nvPr/>
        </p:nvSpPr>
        <p:spPr>
          <a:xfrm>
            <a:off x="2441194" y="5195138"/>
            <a:ext cx="142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3127375" y="51838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B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3889375" y="5195138"/>
            <a:ext cx="166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C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4651628" y="5195138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D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5489828" y="5183885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A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6251828" y="5183885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84" name="object 184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79603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spc="-95" dirty="0">
                <a:latin typeface="Perpetua"/>
                <a:cs typeface="Perpetua"/>
              </a:rPr>
              <a:t>Now, </a:t>
            </a:r>
            <a:r>
              <a:rPr sz="4000" i="1" spc="-5" dirty="0">
                <a:latin typeface="Perpetua"/>
                <a:cs typeface="Perpetua"/>
              </a:rPr>
              <a:t>find the smallest entry </a:t>
            </a:r>
            <a:r>
              <a:rPr sz="4000" i="1" u="heavy" spc="-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in the </a:t>
            </a:r>
            <a:r>
              <a:rPr sz="4000" i="1" u="heavy" spc="10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unsorted</a:t>
            </a:r>
            <a:r>
              <a:rPr sz="4000" i="1" u="heavy" spc="-27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</a:t>
            </a:r>
            <a:r>
              <a:rPr sz="4000" i="1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side</a:t>
            </a:r>
            <a:r>
              <a:rPr sz="4000" i="1" dirty="0">
                <a:latin typeface="Perpetua"/>
                <a:cs typeface="Perpetua"/>
              </a:rPr>
              <a:t>.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7833" y="2038350"/>
            <a:ext cx="5105765" cy="3686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92580" y="1371600"/>
            <a:ext cx="1133856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92580" y="1371600"/>
            <a:ext cx="1134110" cy="495300"/>
          </a:xfrm>
          <a:custGeom>
            <a:avLst/>
            <a:gdLst/>
            <a:ahLst/>
            <a:cxnLst/>
            <a:rect l="l" t="t" r="r" b="b"/>
            <a:pathLst>
              <a:path w="1134110" h="495300">
                <a:moveTo>
                  <a:pt x="0" y="495300"/>
                </a:moveTo>
                <a:lnTo>
                  <a:pt x="1133856" y="495300"/>
                </a:lnTo>
                <a:lnTo>
                  <a:pt x="1133856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81300" y="1379219"/>
            <a:ext cx="3924300" cy="495300"/>
          </a:xfrm>
          <a:custGeom>
            <a:avLst/>
            <a:gdLst/>
            <a:ahLst/>
            <a:cxnLst/>
            <a:rect l="l" t="t" r="r" b="b"/>
            <a:pathLst>
              <a:path w="3924300" h="495300">
                <a:moveTo>
                  <a:pt x="0" y="495300"/>
                </a:moveTo>
                <a:lnTo>
                  <a:pt x="3924300" y="495300"/>
                </a:lnTo>
                <a:lnTo>
                  <a:pt x="39243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FB00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81300" y="1379219"/>
            <a:ext cx="3924300" cy="495300"/>
          </a:xfrm>
          <a:custGeom>
            <a:avLst/>
            <a:gdLst/>
            <a:ahLst/>
            <a:cxnLst/>
            <a:rect l="l" t="t" r="r" b="b"/>
            <a:pathLst>
              <a:path w="3924300" h="495300">
                <a:moveTo>
                  <a:pt x="0" y="495300"/>
                </a:moveTo>
                <a:lnTo>
                  <a:pt x="3924300" y="495300"/>
                </a:lnTo>
                <a:lnTo>
                  <a:pt x="39243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04010" y="1445767"/>
            <a:ext cx="38309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59355" algn="l"/>
              </a:tabLst>
            </a:pPr>
            <a:r>
              <a:rPr sz="2700" b="1" spc="7" baseline="1543" dirty="0">
                <a:latin typeface="Perpetua"/>
                <a:cs typeface="Perpetua"/>
              </a:rPr>
              <a:t>Sorted</a:t>
            </a:r>
            <a:r>
              <a:rPr sz="2700" b="1" spc="-7" baseline="1543" dirty="0">
                <a:latin typeface="Perpetua"/>
                <a:cs typeface="Perpetua"/>
              </a:rPr>
              <a:t> side	</a:t>
            </a:r>
            <a:r>
              <a:rPr sz="1800" b="1" dirty="0">
                <a:latin typeface="Perpetua"/>
                <a:cs typeface="Perpetua"/>
              </a:rPr>
              <a:t>Unsorted</a:t>
            </a:r>
            <a:r>
              <a:rPr sz="1800" b="1" spc="-40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3200" y="1371600"/>
            <a:ext cx="0" cy="4555490"/>
          </a:xfrm>
          <a:custGeom>
            <a:avLst/>
            <a:gdLst/>
            <a:ahLst/>
            <a:cxnLst/>
            <a:rect l="l" t="t" r="r" b="b"/>
            <a:pathLst>
              <a:path h="4555490">
                <a:moveTo>
                  <a:pt x="0" y="0"/>
                </a:moveTo>
                <a:lnTo>
                  <a:pt x="0" y="4555236"/>
                </a:lnTo>
              </a:path>
            </a:pathLst>
          </a:custGeom>
          <a:ln w="12192">
            <a:solidFill>
              <a:srgbClr val="9B2C1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88794" y="4966842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74975" y="4955285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36975" y="4966842"/>
            <a:ext cx="16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C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98975" y="4966842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D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37428" y="4955285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A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99428" y="49552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B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79533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i="1" spc="-25" dirty="0">
                <a:latin typeface="Perpetua"/>
                <a:cs typeface="Perpetua"/>
              </a:rPr>
              <a:t>Swap </a:t>
            </a:r>
            <a:r>
              <a:rPr sz="3600" i="1" dirty="0">
                <a:latin typeface="Perpetua"/>
                <a:cs typeface="Perpetua"/>
              </a:rPr>
              <a:t>this smallest </a:t>
            </a:r>
            <a:r>
              <a:rPr sz="3600" i="1" spc="-5" dirty="0">
                <a:latin typeface="Perpetua"/>
                <a:cs typeface="Perpetua"/>
              </a:rPr>
              <a:t>entry </a:t>
            </a:r>
            <a:r>
              <a:rPr sz="3600" i="1" dirty="0">
                <a:latin typeface="Perpetua"/>
                <a:cs typeface="Perpetua"/>
              </a:rPr>
              <a:t>with the </a:t>
            </a:r>
            <a:r>
              <a:rPr sz="3600" i="1" spc="-5" dirty="0">
                <a:latin typeface="Perpetua"/>
                <a:cs typeface="Perpetua"/>
              </a:rPr>
              <a:t>front </a:t>
            </a:r>
            <a:r>
              <a:rPr sz="3600" i="1" dirty="0">
                <a:latin typeface="Perpetua"/>
                <a:cs typeface="Perpetua"/>
              </a:rPr>
              <a:t>of the </a:t>
            </a:r>
            <a:r>
              <a:rPr sz="3600" i="1" spc="10" dirty="0">
                <a:latin typeface="Perpetua"/>
                <a:cs typeface="Perpetua"/>
              </a:rPr>
              <a:t>unsorted  </a:t>
            </a:r>
            <a:r>
              <a:rPr sz="3600" i="1" dirty="0">
                <a:latin typeface="Perpetua"/>
                <a:cs typeface="Perpetua"/>
              </a:rPr>
              <a:t>side.</a:t>
            </a:r>
            <a:endParaRPr sz="3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4508" y="2000268"/>
            <a:ext cx="5105765" cy="36869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68779" y="1219200"/>
            <a:ext cx="1994916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68779" y="1219200"/>
            <a:ext cx="1995170" cy="495300"/>
          </a:xfrm>
          <a:custGeom>
            <a:avLst/>
            <a:gdLst/>
            <a:ahLst/>
            <a:cxnLst/>
            <a:rect l="l" t="t" r="r" b="b"/>
            <a:pathLst>
              <a:path w="1995170" h="495300">
                <a:moveTo>
                  <a:pt x="0" y="495300"/>
                </a:moveTo>
                <a:lnTo>
                  <a:pt x="1994916" y="495300"/>
                </a:lnTo>
                <a:lnTo>
                  <a:pt x="1994916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74876" y="1285494"/>
            <a:ext cx="2007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958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Perpetua"/>
                <a:cs typeface="Perpetua"/>
              </a:rPr>
              <a:t>Sorted</a:t>
            </a:r>
            <a:r>
              <a:rPr sz="1800" b="1" spc="-20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20084" y="1226819"/>
            <a:ext cx="3054350" cy="495300"/>
          </a:xfrm>
          <a:custGeom>
            <a:avLst/>
            <a:gdLst/>
            <a:ahLst/>
            <a:cxnLst/>
            <a:rect l="l" t="t" r="r" b="b"/>
            <a:pathLst>
              <a:path w="3054350" h="495300">
                <a:moveTo>
                  <a:pt x="0" y="495300"/>
                </a:moveTo>
                <a:lnTo>
                  <a:pt x="3054095" y="495300"/>
                </a:lnTo>
                <a:lnTo>
                  <a:pt x="3054095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FB00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20084" y="1226819"/>
            <a:ext cx="3054350" cy="495300"/>
          </a:xfrm>
          <a:custGeom>
            <a:avLst/>
            <a:gdLst/>
            <a:ahLst/>
            <a:cxnLst/>
            <a:rect l="l" t="t" r="r" b="b"/>
            <a:pathLst>
              <a:path w="3054350" h="495300">
                <a:moveTo>
                  <a:pt x="0" y="495300"/>
                </a:moveTo>
                <a:lnTo>
                  <a:pt x="3054095" y="495300"/>
                </a:lnTo>
                <a:lnTo>
                  <a:pt x="3054095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54728" y="1293367"/>
            <a:ext cx="1384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Perpetua"/>
                <a:cs typeface="Perpetua"/>
              </a:rPr>
              <a:t>Unsorted</a:t>
            </a:r>
            <a:r>
              <a:rPr sz="1800" b="1" spc="-40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88079" y="1219200"/>
            <a:ext cx="0" cy="4555490"/>
          </a:xfrm>
          <a:custGeom>
            <a:avLst/>
            <a:gdLst/>
            <a:ahLst/>
            <a:cxnLst/>
            <a:rect l="l" t="t" r="r" b="b"/>
            <a:pathLst>
              <a:path h="4555490">
                <a:moveTo>
                  <a:pt x="0" y="0"/>
                </a:moveTo>
                <a:lnTo>
                  <a:pt x="0" y="4555236"/>
                </a:lnTo>
              </a:path>
            </a:pathLst>
          </a:custGeom>
          <a:ln w="12192">
            <a:solidFill>
              <a:srgbClr val="9B2C1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64994" y="4966842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1175" y="4955285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13175" y="4966842"/>
            <a:ext cx="16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C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75175" y="4966842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D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13628" y="4955285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A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75628" y="49552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B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7409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spc="-130" dirty="0">
                <a:latin typeface="Perpetua"/>
                <a:cs typeface="Perpetua"/>
              </a:rPr>
              <a:t>We </a:t>
            </a:r>
            <a:r>
              <a:rPr sz="3600" i="1" spc="-50" dirty="0">
                <a:latin typeface="Perpetua"/>
                <a:cs typeface="Perpetua"/>
              </a:rPr>
              <a:t>have </a:t>
            </a:r>
            <a:r>
              <a:rPr sz="3600" i="1" spc="-10" dirty="0">
                <a:latin typeface="Perpetua"/>
                <a:cs typeface="Perpetua"/>
              </a:rPr>
              <a:t>increased </a:t>
            </a:r>
            <a:r>
              <a:rPr sz="3600" i="1" dirty="0">
                <a:latin typeface="Perpetua"/>
                <a:cs typeface="Perpetua"/>
              </a:rPr>
              <a:t>the </a:t>
            </a:r>
            <a:r>
              <a:rPr sz="3600" i="1" spc="-15" dirty="0">
                <a:latin typeface="Perpetua"/>
                <a:cs typeface="Perpetua"/>
              </a:rPr>
              <a:t>size </a:t>
            </a:r>
            <a:r>
              <a:rPr sz="3600" i="1" spc="-5" dirty="0">
                <a:latin typeface="Perpetua"/>
                <a:cs typeface="Perpetua"/>
              </a:rPr>
              <a:t>of </a:t>
            </a:r>
            <a:r>
              <a:rPr sz="3600" i="1" dirty="0">
                <a:latin typeface="Perpetua"/>
                <a:cs typeface="Perpetua"/>
              </a:rPr>
              <a:t>the </a:t>
            </a:r>
            <a:r>
              <a:rPr sz="3600" i="1" spc="15" dirty="0">
                <a:latin typeface="Perpetua"/>
                <a:cs typeface="Perpetua"/>
              </a:rPr>
              <a:t>sorted </a:t>
            </a:r>
            <a:r>
              <a:rPr sz="3600" i="1" dirty="0">
                <a:latin typeface="Perpetua"/>
                <a:cs typeface="Perpetua"/>
              </a:rPr>
              <a:t>side </a:t>
            </a:r>
            <a:r>
              <a:rPr sz="3600" i="1" spc="-45" dirty="0">
                <a:latin typeface="Perpetua"/>
                <a:cs typeface="Perpetua"/>
              </a:rPr>
              <a:t>by</a:t>
            </a:r>
            <a:r>
              <a:rPr sz="3600" i="1" spc="120" dirty="0">
                <a:latin typeface="Perpetua"/>
                <a:cs typeface="Perpetua"/>
              </a:rPr>
              <a:t> </a:t>
            </a:r>
            <a:r>
              <a:rPr sz="3600" i="1" spc="-5" dirty="0">
                <a:latin typeface="Perpetua"/>
                <a:cs typeface="Perpetua"/>
              </a:rPr>
              <a:t>one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7340" y="701166"/>
            <a:ext cx="855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latin typeface="Perpetua"/>
                <a:cs typeface="Perpetua"/>
              </a:rPr>
              <a:t>entr</a:t>
            </a:r>
            <a:r>
              <a:rPr sz="3600" i="1" spc="-285" dirty="0">
                <a:latin typeface="Perpetua"/>
                <a:cs typeface="Perpetua"/>
              </a:rPr>
              <a:t>y</a:t>
            </a:r>
            <a:r>
              <a:rPr sz="3600" i="1" dirty="0">
                <a:latin typeface="Perpetua"/>
                <a:cs typeface="Perpetua"/>
              </a:rPr>
              <a:t>.</a:t>
            </a:r>
            <a:endParaRPr sz="3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3108" y="2305068"/>
            <a:ext cx="5105765" cy="36869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73579" y="1524000"/>
            <a:ext cx="1994916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3579" y="1524000"/>
            <a:ext cx="1995170" cy="495300"/>
          </a:xfrm>
          <a:custGeom>
            <a:avLst/>
            <a:gdLst/>
            <a:ahLst/>
            <a:cxnLst/>
            <a:rect l="l" t="t" r="r" b="b"/>
            <a:pathLst>
              <a:path w="1995170" h="495300">
                <a:moveTo>
                  <a:pt x="0" y="495300"/>
                </a:moveTo>
                <a:lnTo>
                  <a:pt x="1994916" y="495300"/>
                </a:lnTo>
                <a:lnTo>
                  <a:pt x="1994916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79676" y="1590294"/>
            <a:ext cx="2007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958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Perpetua"/>
                <a:cs typeface="Perpetua"/>
              </a:rPr>
              <a:t>Sorted</a:t>
            </a:r>
            <a:r>
              <a:rPr sz="1800" b="1" spc="-20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24884" y="1531619"/>
            <a:ext cx="3054350" cy="495300"/>
          </a:xfrm>
          <a:custGeom>
            <a:avLst/>
            <a:gdLst/>
            <a:ahLst/>
            <a:cxnLst/>
            <a:rect l="l" t="t" r="r" b="b"/>
            <a:pathLst>
              <a:path w="3054350" h="495300">
                <a:moveTo>
                  <a:pt x="0" y="495300"/>
                </a:moveTo>
                <a:lnTo>
                  <a:pt x="3054095" y="495300"/>
                </a:lnTo>
                <a:lnTo>
                  <a:pt x="3054095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FB00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24884" y="1531619"/>
            <a:ext cx="3054350" cy="495300"/>
          </a:xfrm>
          <a:custGeom>
            <a:avLst/>
            <a:gdLst/>
            <a:ahLst/>
            <a:cxnLst/>
            <a:rect l="l" t="t" r="r" b="b"/>
            <a:pathLst>
              <a:path w="3054350" h="495300">
                <a:moveTo>
                  <a:pt x="0" y="495300"/>
                </a:moveTo>
                <a:lnTo>
                  <a:pt x="3054095" y="495300"/>
                </a:lnTo>
                <a:lnTo>
                  <a:pt x="3054095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859528" y="1598167"/>
            <a:ext cx="1384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Perpetua"/>
                <a:cs typeface="Perpetua"/>
              </a:rPr>
              <a:t>Unsorted</a:t>
            </a:r>
            <a:r>
              <a:rPr sz="1800" b="1" spc="-40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3644" y="2862072"/>
            <a:ext cx="2525268" cy="14371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96000" y="2868167"/>
            <a:ext cx="1397507" cy="11460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81828" y="2793492"/>
            <a:ext cx="2476500" cy="1420495"/>
          </a:xfrm>
          <a:custGeom>
            <a:avLst/>
            <a:gdLst/>
            <a:ahLst/>
            <a:cxnLst/>
            <a:rect l="l" t="t" r="r" b="b"/>
            <a:pathLst>
              <a:path w="2476500" h="1420495">
                <a:moveTo>
                  <a:pt x="2476500" y="710057"/>
                </a:moveTo>
                <a:lnTo>
                  <a:pt x="0" y="710057"/>
                </a:lnTo>
                <a:lnTo>
                  <a:pt x="1238250" y="1420368"/>
                </a:lnTo>
                <a:lnTo>
                  <a:pt x="2476500" y="710057"/>
                </a:lnTo>
                <a:close/>
              </a:path>
              <a:path w="2476500" h="1420495">
                <a:moveTo>
                  <a:pt x="1857375" y="0"/>
                </a:moveTo>
                <a:lnTo>
                  <a:pt x="619125" y="0"/>
                </a:lnTo>
                <a:lnTo>
                  <a:pt x="619125" y="710057"/>
                </a:lnTo>
                <a:lnTo>
                  <a:pt x="1857375" y="710057"/>
                </a:lnTo>
                <a:lnTo>
                  <a:pt x="1857375" y="0"/>
                </a:lnTo>
                <a:close/>
              </a:path>
            </a:pathLst>
          </a:custGeom>
          <a:solidFill>
            <a:srgbClr val="E9E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81828" y="2793492"/>
            <a:ext cx="2476500" cy="1420495"/>
          </a:xfrm>
          <a:custGeom>
            <a:avLst/>
            <a:gdLst/>
            <a:ahLst/>
            <a:cxnLst/>
            <a:rect l="l" t="t" r="r" b="b"/>
            <a:pathLst>
              <a:path w="2476500" h="1420495">
                <a:moveTo>
                  <a:pt x="619125" y="0"/>
                </a:moveTo>
                <a:lnTo>
                  <a:pt x="619125" y="710057"/>
                </a:lnTo>
                <a:lnTo>
                  <a:pt x="0" y="710057"/>
                </a:lnTo>
                <a:lnTo>
                  <a:pt x="1238250" y="1420368"/>
                </a:lnTo>
                <a:lnTo>
                  <a:pt x="2476500" y="710057"/>
                </a:lnTo>
                <a:lnTo>
                  <a:pt x="1857375" y="710057"/>
                </a:lnTo>
                <a:lnTo>
                  <a:pt x="1857375" y="0"/>
                </a:lnTo>
                <a:lnTo>
                  <a:pt x="619125" y="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62547" y="2849372"/>
            <a:ext cx="111506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BB3700"/>
                </a:solidFill>
                <a:latin typeface="Arial"/>
                <a:cs typeface="Arial"/>
              </a:rPr>
              <a:t>Smallest  </a:t>
            </a:r>
            <a:r>
              <a:rPr sz="2000" b="1" dirty="0">
                <a:solidFill>
                  <a:srgbClr val="BB3700"/>
                </a:solidFill>
                <a:latin typeface="Arial"/>
                <a:cs typeface="Arial"/>
              </a:rPr>
              <a:t>from  unsort</a:t>
            </a:r>
            <a:r>
              <a:rPr sz="2000" b="1" spc="5" dirty="0">
                <a:solidFill>
                  <a:srgbClr val="BB3700"/>
                </a:solidFill>
                <a:latin typeface="Arial"/>
                <a:cs typeface="Arial"/>
              </a:rPr>
              <a:t>e</a:t>
            </a:r>
            <a:r>
              <a:rPr sz="2000" b="1" dirty="0">
                <a:solidFill>
                  <a:srgbClr val="BB3700"/>
                </a:solidFill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92879" y="1524000"/>
            <a:ext cx="0" cy="4555490"/>
          </a:xfrm>
          <a:custGeom>
            <a:avLst/>
            <a:gdLst/>
            <a:ahLst/>
            <a:cxnLst/>
            <a:rect l="l" t="t" r="r" b="b"/>
            <a:pathLst>
              <a:path h="4555490">
                <a:moveTo>
                  <a:pt x="0" y="0"/>
                </a:moveTo>
                <a:lnTo>
                  <a:pt x="0" y="4555236"/>
                </a:lnTo>
              </a:path>
            </a:pathLst>
          </a:custGeom>
          <a:ln w="12192">
            <a:solidFill>
              <a:srgbClr val="9B2C1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93594" y="5271338"/>
            <a:ext cx="142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79775" y="5260085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41775" y="5271338"/>
            <a:ext cx="166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C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04028" y="5271338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D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42228" y="5260085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A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04228" y="5260085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B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7340" y="632586"/>
            <a:ext cx="4390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1480" indent="-399415">
              <a:lnSpc>
                <a:spcPct val="100000"/>
              </a:lnSpc>
              <a:spcBef>
                <a:spcPts val="95"/>
              </a:spcBef>
              <a:buSzPct val="97500"/>
              <a:buFont typeface="Wingdings"/>
              <a:buChar char=""/>
              <a:tabLst>
                <a:tab pos="412115" algn="l"/>
              </a:tabLst>
            </a:pPr>
            <a:r>
              <a:rPr sz="4000" i="1" spc="-5" dirty="0">
                <a:latin typeface="Perpetua"/>
                <a:cs typeface="Perpetua"/>
              </a:rPr>
              <a:t>The process</a:t>
            </a:r>
            <a:r>
              <a:rPr sz="4000" i="1" spc="-10" dirty="0">
                <a:latin typeface="Perpetua"/>
                <a:cs typeface="Perpetua"/>
              </a:rPr>
              <a:t> </a:t>
            </a:r>
            <a:r>
              <a:rPr sz="4000" i="1" spc="-5" dirty="0">
                <a:latin typeface="Perpetua"/>
                <a:cs typeface="Perpetua"/>
              </a:rPr>
              <a:t>continues…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0700" y="2276502"/>
            <a:ext cx="5105400" cy="36868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44979" y="1600200"/>
            <a:ext cx="1994916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44979" y="1600200"/>
            <a:ext cx="1995170" cy="495300"/>
          </a:xfrm>
          <a:custGeom>
            <a:avLst/>
            <a:gdLst/>
            <a:ahLst/>
            <a:cxnLst/>
            <a:rect l="l" t="t" r="r" b="b"/>
            <a:pathLst>
              <a:path w="1995170" h="495300">
                <a:moveTo>
                  <a:pt x="0" y="495300"/>
                </a:moveTo>
                <a:lnTo>
                  <a:pt x="1994916" y="495300"/>
                </a:lnTo>
                <a:lnTo>
                  <a:pt x="1994916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51076" y="1666494"/>
            <a:ext cx="2007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958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Perpetua"/>
                <a:cs typeface="Perpetua"/>
              </a:rPr>
              <a:t>Sorted</a:t>
            </a:r>
            <a:r>
              <a:rPr sz="1800" b="1" spc="-20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96284" y="1607819"/>
            <a:ext cx="3054350" cy="495300"/>
          </a:xfrm>
          <a:custGeom>
            <a:avLst/>
            <a:gdLst/>
            <a:ahLst/>
            <a:cxnLst/>
            <a:rect l="l" t="t" r="r" b="b"/>
            <a:pathLst>
              <a:path w="3054350" h="495300">
                <a:moveTo>
                  <a:pt x="0" y="495300"/>
                </a:moveTo>
                <a:lnTo>
                  <a:pt x="3054095" y="495300"/>
                </a:lnTo>
                <a:lnTo>
                  <a:pt x="3054095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FB00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96284" y="1607819"/>
            <a:ext cx="3054350" cy="495300"/>
          </a:xfrm>
          <a:custGeom>
            <a:avLst/>
            <a:gdLst/>
            <a:ahLst/>
            <a:cxnLst/>
            <a:rect l="l" t="t" r="r" b="b"/>
            <a:pathLst>
              <a:path w="3054350" h="495300">
                <a:moveTo>
                  <a:pt x="0" y="495300"/>
                </a:moveTo>
                <a:lnTo>
                  <a:pt x="3054095" y="495300"/>
                </a:lnTo>
                <a:lnTo>
                  <a:pt x="3054095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30928" y="1674367"/>
            <a:ext cx="1384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Perpetua"/>
                <a:cs typeface="Perpetua"/>
              </a:rPr>
              <a:t>Unsorted</a:t>
            </a:r>
            <a:r>
              <a:rPr sz="1800" b="1" spc="-40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64279" y="1600200"/>
            <a:ext cx="0" cy="4555490"/>
          </a:xfrm>
          <a:custGeom>
            <a:avLst/>
            <a:gdLst/>
            <a:ahLst/>
            <a:cxnLst/>
            <a:rect l="l" t="t" r="r" b="b"/>
            <a:pathLst>
              <a:path h="4555490">
                <a:moveTo>
                  <a:pt x="0" y="0"/>
                </a:moveTo>
                <a:lnTo>
                  <a:pt x="0" y="4555236"/>
                </a:lnTo>
              </a:path>
            </a:pathLst>
          </a:custGeom>
          <a:ln w="12192">
            <a:solidFill>
              <a:srgbClr val="9B2C1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60320" y="2814827"/>
            <a:ext cx="2209800" cy="15483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05100" y="2770632"/>
            <a:ext cx="1551431" cy="15468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86025" y="2739517"/>
            <a:ext cx="2206625" cy="1545590"/>
          </a:xfrm>
          <a:custGeom>
            <a:avLst/>
            <a:gdLst/>
            <a:ahLst/>
            <a:cxnLst/>
            <a:rect l="l" t="t" r="r" b="b"/>
            <a:pathLst>
              <a:path w="2206625" h="1545589">
                <a:moveTo>
                  <a:pt x="1332738" y="0"/>
                </a:moveTo>
                <a:lnTo>
                  <a:pt x="229488" y="562102"/>
                </a:lnTo>
                <a:lnTo>
                  <a:pt x="551688" y="1194308"/>
                </a:lnTo>
                <a:lnTo>
                  <a:pt x="0" y="1475359"/>
                </a:lnTo>
                <a:lnTo>
                  <a:pt x="1425448" y="1545590"/>
                </a:lnTo>
                <a:lnTo>
                  <a:pt x="2022813" y="632206"/>
                </a:lnTo>
                <a:lnTo>
                  <a:pt x="1654937" y="632206"/>
                </a:lnTo>
                <a:lnTo>
                  <a:pt x="1332738" y="0"/>
                </a:lnTo>
                <a:close/>
              </a:path>
              <a:path w="2206625" h="1545589">
                <a:moveTo>
                  <a:pt x="2206625" y="351155"/>
                </a:moveTo>
                <a:lnTo>
                  <a:pt x="1654937" y="632206"/>
                </a:lnTo>
                <a:lnTo>
                  <a:pt x="2022813" y="632206"/>
                </a:lnTo>
                <a:lnTo>
                  <a:pt x="2206625" y="351155"/>
                </a:lnTo>
                <a:close/>
              </a:path>
            </a:pathLst>
          </a:custGeom>
          <a:solidFill>
            <a:srgbClr val="E9E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58747" y="2893724"/>
            <a:ext cx="1082190" cy="107337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41194" y="5271338"/>
            <a:ext cx="142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27375" y="5260085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89375" y="5271338"/>
            <a:ext cx="142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B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51628" y="5271338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D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89828" y="5260085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A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51828" y="5260085"/>
            <a:ext cx="16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C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7340" y="632586"/>
            <a:ext cx="4390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1480" indent="-399415">
              <a:lnSpc>
                <a:spcPct val="100000"/>
              </a:lnSpc>
              <a:spcBef>
                <a:spcPts val="95"/>
              </a:spcBef>
              <a:buSzPct val="97500"/>
              <a:buFont typeface="Wingdings"/>
              <a:buChar char=""/>
              <a:tabLst>
                <a:tab pos="412115" algn="l"/>
              </a:tabLst>
            </a:pPr>
            <a:r>
              <a:rPr sz="4000" i="1" spc="-5" dirty="0">
                <a:latin typeface="Perpetua"/>
                <a:cs typeface="Perpetua"/>
              </a:rPr>
              <a:t>The process</a:t>
            </a:r>
            <a:r>
              <a:rPr sz="4000" i="1" spc="-10" dirty="0">
                <a:latin typeface="Perpetua"/>
                <a:cs typeface="Perpetua"/>
              </a:rPr>
              <a:t> </a:t>
            </a:r>
            <a:r>
              <a:rPr sz="4000" i="1" spc="-5" dirty="0">
                <a:latin typeface="Perpetua"/>
                <a:cs typeface="Perpetua"/>
              </a:rPr>
              <a:t>continues…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00256" y="2352661"/>
            <a:ext cx="5105767" cy="36858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5979" y="1676400"/>
            <a:ext cx="2593847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25979" y="1676400"/>
            <a:ext cx="2593975" cy="495300"/>
          </a:xfrm>
          <a:custGeom>
            <a:avLst/>
            <a:gdLst/>
            <a:ahLst/>
            <a:cxnLst/>
            <a:rect l="l" t="t" r="r" b="b"/>
            <a:pathLst>
              <a:path w="2593975" h="495300">
                <a:moveTo>
                  <a:pt x="0" y="495300"/>
                </a:moveTo>
                <a:lnTo>
                  <a:pt x="2593847" y="495300"/>
                </a:lnTo>
                <a:lnTo>
                  <a:pt x="2593847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32076" y="1742694"/>
            <a:ext cx="2606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803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Perpetua"/>
                <a:cs typeface="Perpetua"/>
              </a:rPr>
              <a:t>Sorted</a:t>
            </a:r>
            <a:r>
              <a:rPr sz="1800" b="1" spc="-15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74691" y="1684020"/>
            <a:ext cx="2304415" cy="495300"/>
          </a:xfrm>
          <a:custGeom>
            <a:avLst/>
            <a:gdLst/>
            <a:ahLst/>
            <a:cxnLst/>
            <a:rect l="l" t="t" r="r" b="b"/>
            <a:pathLst>
              <a:path w="2304415" h="495300">
                <a:moveTo>
                  <a:pt x="0" y="495300"/>
                </a:moveTo>
                <a:lnTo>
                  <a:pt x="2304288" y="495300"/>
                </a:lnTo>
                <a:lnTo>
                  <a:pt x="2304288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FB00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74691" y="1684020"/>
            <a:ext cx="2304415" cy="495300"/>
          </a:xfrm>
          <a:custGeom>
            <a:avLst/>
            <a:gdLst/>
            <a:ahLst/>
            <a:cxnLst/>
            <a:rect l="l" t="t" r="r" b="b"/>
            <a:pathLst>
              <a:path w="2304415" h="495300">
                <a:moveTo>
                  <a:pt x="0" y="495300"/>
                </a:moveTo>
                <a:lnTo>
                  <a:pt x="2304288" y="495300"/>
                </a:lnTo>
                <a:lnTo>
                  <a:pt x="2304288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35702" y="1750567"/>
            <a:ext cx="1384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Perpetua"/>
                <a:cs typeface="Perpetua"/>
              </a:rPr>
              <a:t>Unsorted</a:t>
            </a:r>
            <a:r>
              <a:rPr sz="1800" b="1" spc="-40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44211" y="1693164"/>
            <a:ext cx="0" cy="4555490"/>
          </a:xfrm>
          <a:custGeom>
            <a:avLst/>
            <a:gdLst/>
            <a:ahLst/>
            <a:cxnLst/>
            <a:rect l="l" t="t" r="r" b="b"/>
            <a:pathLst>
              <a:path h="4555490">
                <a:moveTo>
                  <a:pt x="0" y="0"/>
                </a:moveTo>
                <a:lnTo>
                  <a:pt x="0" y="4555236"/>
                </a:lnTo>
              </a:path>
            </a:pathLst>
          </a:custGeom>
          <a:ln w="12192">
            <a:solidFill>
              <a:srgbClr val="9B2C1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69794" y="5271338"/>
            <a:ext cx="142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5975" y="5260085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7975" y="5271338"/>
            <a:ext cx="142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B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80228" y="5271338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D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18428" y="5260085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A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80428" y="5260085"/>
            <a:ext cx="16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C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7340" y="632586"/>
            <a:ext cx="4390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1480" indent="-399415">
              <a:lnSpc>
                <a:spcPct val="100000"/>
              </a:lnSpc>
              <a:spcBef>
                <a:spcPts val="95"/>
              </a:spcBef>
              <a:buSzPct val="97500"/>
              <a:buFont typeface="Wingdings"/>
              <a:buChar char=""/>
              <a:tabLst>
                <a:tab pos="412115" algn="l"/>
              </a:tabLst>
            </a:pPr>
            <a:r>
              <a:rPr sz="4000" i="1" spc="-5" dirty="0">
                <a:latin typeface="Perpetua"/>
                <a:cs typeface="Perpetua"/>
              </a:rPr>
              <a:t>The process</a:t>
            </a:r>
            <a:r>
              <a:rPr sz="4000" i="1" spc="-10" dirty="0">
                <a:latin typeface="Perpetua"/>
                <a:cs typeface="Perpetua"/>
              </a:rPr>
              <a:t> </a:t>
            </a:r>
            <a:r>
              <a:rPr sz="4000" i="1" spc="-5" dirty="0">
                <a:latin typeface="Perpetua"/>
                <a:cs typeface="Perpetua"/>
              </a:rPr>
              <a:t>continues…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6425" y="126166"/>
            <a:ext cx="8451850" cy="164211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SzPct val="81250"/>
              <a:buFont typeface="Wingdings"/>
              <a:buChar char=""/>
              <a:tabLst>
                <a:tab pos="287020" algn="l"/>
              </a:tabLst>
            </a:pPr>
            <a:r>
              <a:rPr sz="3200" i="1" spc="-5" dirty="0">
                <a:latin typeface="Perpetua"/>
                <a:cs typeface="Perpetua"/>
              </a:rPr>
              <a:t>The </a:t>
            </a:r>
            <a:r>
              <a:rPr sz="3200" i="1" dirty="0">
                <a:latin typeface="Perpetua"/>
                <a:cs typeface="Perpetua"/>
              </a:rPr>
              <a:t>process keeps adding </a:t>
            </a:r>
            <a:r>
              <a:rPr sz="3200" i="1" spc="-5" dirty="0">
                <a:latin typeface="Perpetua"/>
                <a:cs typeface="Perpetua"/>
              </a:rPr>
              <a:t>one </a:t>
            </a:r>
            <a:r>
              <a:rPr sz="3200" i="1" spc="-10" dirty="0">
                <a:latin typeface="Perpetua"/>
                <a:cs typeface="Perpetua"/>
              </a:rPr>
              <a:t>more </a:t>
            </a:r>
            <a:r>
              <a:rPr sz="3200" i="1" dirty="0">
                <a:latin typeface="Perpetua"/>
                <a:cs typeface="Perpetua"/>
              </a:rPr>
              <a:t>entry </a:t>
            </a:r>
            <a:r>
              <a:rPr sz="3200" i="1" spc="-5" dirty="0">
                <a:latin typeface="Perpetua"/>
                <a:cs typeface="Perpetua"/>
              </a:rPr>
              <a:t>to the </a:t>
            </a:r>
            <a:r>
              <a:rPr sz="3200" i="1" spc="15" dirty="0">
                <a:latin typeface="Perpetua"/>
                <a:cs typeface="Perpetua"/>
              </a:rPr>
              <a:t>sorted</a:t>
            </a:r>
            <a:r>
              <a:rPr sz="3200" i="1" spc="55" dirty="0">
                <a:latin typeface="Perpetua"/>
                <a:cs typeface="Perpetua"/>
              </a:rPr>
              <a:t> </a:t>
            </a:r>
            <a:r>
              <a:rPr sz="3200" i="1" dirty="0">
                <a:latin typeface="Perpetua"/>
                <a:cs typeface="Perpetua"/>
              </a:rPr>
              <a:t>side.</a:t>
            </a:r>
            <a:endParaRPr sz="3200">
              <a:latin typeface="Perpetua"/>
              <a:cs typeface="Perpetua"/>
            </a:endParaRPr>
          </a:p>
          <a:p>
            <a:pPr marL="287020" marR="5080" indent="-274320">
              <a:lnSpc>
                <a:spcPct val="100000"/>
              </a:lnSpc>
              <a:spcBef>
                <a:spcPts val="600"/>
              </a:spcBef>
              <a:buSzPct val="81250"/>
              <a:buFont typeface="Wingdings"/>
              <a:buChar char=""/>
              <a:tabLst>
                <a:tab pos="287020" algn="l"/>
              </a:tabLst>
            </a:pPr>
            <a:r>
              <a:rPr sz="3200" i="1" spc="-5" dirty="0">
                <a:latin typeface="Perpetua"/>
                <a:cs typeface="Perpetua"/>
              </a:rPr>
              <a:t>The </a:t>
            </a:r>
            <a:r>
              <a:rPr sz="3200" i="1" spc="15" dirty="0">
                <a:latin typeface="Perpetua"/>
                <a:cs typeface="Perpetua"/>
              </a:rPr>
              <a:t>sorted </a:t>
            </a:r>
            <a:r>
              <a:rPr sz="3200" i="1" dirty="0">
                <a:latin typeface="Perpetua"/>
                <a:cs typeface="Perpetua"/>
              </a:rPr>
              <a:t>side has </a:t>
            </a:r>
            <a:r>
              <a:rPr sz="3200" i="1" spc="-5" dirty="0">
                <a:latin typeface="Perpetua"/>
                <a:cs typeface="Perpetua"/>
              </a:rPr>
              <a:t>the </a:t>
            </a:r>
            <a:r>
              <a:rPr sz="3200" i="1" dirty="0">
                <a:latin typeface="Perpetua"/>
                <a:cs typeface="Perpetua"/>
              </a:rPr>
              <a:t>smallest entries, </a:t>
            </a:r>
            <a:r>
              <a:rPr sz="3200" i="1" spc="-10" dirty="0">
                <a:latin typeface="Perpetua"/>
                <a:cs typeface="Perpetua"/>
              </a:rPr>
              <a:t>arranged </a:t>
            </a:r>
            <a:r>
              <a:rPr sz="3200" i="1" spc="-5" dirty="0">
                <a:latin typeface="Perpetua"/>
                <a:cs typeface="Perpetua"/>
              </a:rPr>
              <a:t>from </a:t>
            </a:r>
            <a:r>
              <a:rPr sz="3200" i="1" dirty="0">
                <a:latin typeface="Perpetua"/>
                <a:cs typeface="Perpetua"/>
              </a:rPr>
              <a:t>small</a:t>
            </a:r>
            <a:r>
              <a:rPr sz="3200" i="1" spc="-240" dirty="0">
                <a:latin typeface="Perpetua"/>
                <a:cs typeface="Perpetua"/>
              </a:rPr>
              <a:t> </a:t>
            </a:r>
            <a:r>
              <a:rPr sz="3200" i="1" spc="-5" dirty="0">
                <a:latin typeface="Perpetua"/>
                <a:cs typeface="Perpetua"/>
              </a:rPr>
              <a:t>to  </a:t>
            </a:r>
            <a:r>
              <a:rPr sz="3200" i="1" spc="-25" dirty="0">
                <a:latin typeface="Perpetua"/>
                <a:cs typeface="Perpetua"/>
              </a:rPr>
              <a:t>large.</a:t>
            </a:r>
            <a:endParaRPr sz="32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82610" y="2867012"/>
            <a:ext cx="5178334" cy="36762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43200" y="2157983"/>
            <a:ext cx="3810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43200" y="2157983"/>
            <a:ext cx="3810000" cy="495300"/>
          </a:xfrm>
          <a:custGeom>
            <a:avLst/>
            <a:gdLst/>
            <a:ahLst/>
            <a:cxnLst/>
            <a:rect l="l" t="t" r="r" b="b"/>
            <a:pathLst>
              <a:path w="3810000" h="495300">
                <a:moveTo>
                  <a:pt x="0" y="495300"/>
                </a:moveTo>
                <a:lnTo>
                  <a:pt x="3810000" y="495300"/>
                </a:lnTo>
                <a:lnTo>
                  <a:pt x="3810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93590" y="2223338"/>
            <a:ext cx="1110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Perpetua"/>
                <a:cs typeface="Perpetua"/>
              </a:rPr>
              <a:t>Sorted</a:t>
            </a:r>
            <a:r>
              <a:rPr sz="1800" b="1" spc="-75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0580" y="1662683"/>
            <a:ext cx="2183892" cy="16489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4672" y="2104644"/>
            <a:ext cx="1691639" cy="8412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2000" y="1600200"/>
            <a:ext cx="2164080" cy="1621790"/>
          </a:xfrm>
          <a:custGeom>
            <a:avLst/>
            <a:gdLst/>
            <a:ahLst/>
            <a:cxnLst/>
            <a:rect l="l" t="t" r="r" b="b"/>
            <a:pathLst>
              <a:path w="2164080" h="1621789">
                <a:moveTo>
                  <a:pt x="1081658" y="0"/>
                </a:moveTo>
                <a:lnTo>
                  <a:pt x="1081658" y="405384"/>
                </a:lnTo>
                <a:lnTo>
                  <a:pt x="0" y="405384"/>
                </a:lnTo>
                <a:lnTo>
                  <a:pt x="0" y="1216152"/>
                </a:lnTo>
                <a:lnTo>
                  <a:pt x="1081658" y="1216152"/>
                </a:lnTo>
                <a:lnTo>
                  <a:pt x="1081658" y="1621536"/>
                </a:lnTo>
                <a:lnTo>
                  <a:pt x="2164080" y="810767"/>
                </a:lnTo>
                <a:lnTo>
                  <a:pt x="1081658" y="0"/>
                </a:lnTo>
                <a:close/>
              </a:path>
            </a:pathLst>
          </a:custGeom>
          <a:solidFill>
            <a:srgbClr val="E9E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2000" y="1600200"/>
            <a:ext cx="2164080" cy="1621790"/>
          </a:xfrm>
          <a:custGeom>
            <a:avLst/>
            <a:gdLst/>
            <a:ahLst/>
            <a:cxnLst/>
            <a:rect l="l" t="t" r="r" b="b"/>
            <a:pathLst>
              <a:path w="2164080" h="1621789">
                <a:moveTo>
                  <a:pt x="0" y="405384"/>
                </a:moveTo>
                <a:lnTo>
                  <a:pt x="1081658" y="405384"/>
                </a:lnTo>
                <a:lnTo>
                  <a:pt x="1081658" y="0"/>
                </a:lnTo>
                <a:lnTo>
                  <a:pt x="2164080" y="810767"/>
                </a:lnTo>
                <a:lnTo>
                  <a:pt x="1081658" y="1621536"/>
                </a:lnTo>
                <a:lnTo>
                  <a:pt x="1081658" y="1216152"/>
                </a:lnTo>
                <a:lnTo>
                  <a:pt x="0" y="1216152"/>
                </a:lnTo>
                <a:lnTo>
                  <a:pt x="0" y="405384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69086" y="2086101"/>
            <a:ext cx="140970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5260" marR="5080" indent="-16319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BB3700"/>
                </a:solidFill>
                <a:latin typeface="Arial"/>
                <a:cs typeface="Arial"/>
              </a:rPr>
              <a:t>Sorted</a:t>
            </a:r>
            <a:r>
              <a:rPr sz="2000" b="1" spc="-95" dirty="0">
                <a:solidFill>
                  <a:srgbClr val="BB37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BB3700"/>
                </a:solidFill>
                <a:latin typeface="Arial"/>
                <a:cs typeface="Arial"/>
              </a:rPr>
              <a:t>side  is</a:t>
            </a:r>
            <a:r>
              <a:rPr sz="2000" b="1" spc="-50" dirty="0">
                <a:solidFill>
                  <a:srgbClr val="BB37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BB3700"/>
                </a:solidFill>
                <a:latin typeface="Arial"/>
                <a:cs typeface="Arial"/>
              </a:rPr>
              <a:t>bigger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29400" y="2133600"/>
            <a:ext cx="1001394" cy="495300"/>
          </a:xfrm>
          <a:prstGeom prst="rect">
            <a:avLst/>
          </a:prstGeom>
          <a:solidFill>
            <a:srgbClr val="FB0028"/>
          </a:solidFill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41275" algn="ctr">
              <a:lnSpc>
                <a:spcPts val="1700"/>
              </a:lnSpc>
            </a:pPr>
            <a:r>
              <a:rPr sz="1800" b="1" dirty="0">
                <a:latin typeface="Perpetua"/>
                <a:cs typeface="Perpetua"/>
              </a:rPr>
              <a:t>Unsorted</a:t>
            </a:r>
            <a:endParaRPr sz="1800">
              <a:latin typeface="Perpetua"/>
              <a:cs typeface="Perpetua"/>
            </a:endParaRPr>
          </a:p>
          <a:p>
            <a:pPr marL="1270" algn="ctr">
              <a:lnSpc>
                <a:spcPct val="100000"/>
              </a:lnSpc>
            </a:pP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51175" y="5805322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36975" y="5793740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98975" y="5805322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B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61228" y="5805322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A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99428" y="5793740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D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61809" y="5793740"/>
            <a:ext cx="16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C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86728" y="2057400"/>
            <a:ext cx="0" cy="4555490"/>
          </a:xfrm>
          <a:custGeom>
            <a:avLst/>
            <a:gdLst/>
            <a:ahLst/>
            <a:cxnLst/>
            <a:rect l="l" t="t" r="r" b="b"/>
            <a:pathLst>
              <a:path h="4555490">
                <a:moveTo>
                  <a:pt x="0" y="0"/>
                </a:moveTo>
                <a:lnTo>
                  <a:pt x="0" y="4555236"/>
                </a:lnTo>
              </a:path>
            </a:pathLst>
          </a:custGeom>
          <a:ln w="12192">
            <a:solidFill>
              <a:srgbClr val="9B2C1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5979" y="1752600"/>
            <a:ext cx="397002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25979" y="1752600"/>
            <a:ext cx="3970020" cy="495300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1800" b="1" spc="5" dirty="0">
                <a:latin typeface="Perpetua"/>
                <a:cs typeface="Perpetua"/>
              </a:rPr>
              <a:t>Sorted</a:t>
            </a:r>
            <a:r>
              <a:rPr sz="1800" b="1" spc="-15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30111" y="1760220"/>
            <a:ext cx="932815" cy="495300"/>
          </a:xfrm>
          <a:prstGeom prst="rect">
            <a:avLst/>
          </a:prstGeom>
          <a:solidFill>
            <a:srgbClr val="FB0028"/>
          </a:solidFill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26670" algn="ctr">
              <a:lnSpc>
                <a:spcPts val="1705"/>
              </a:lnSpc>
            </a:pPr>
            <a:r>
              <a:rPr sz="1800" b="1" spc="-5" dirty="0">
                <a:latin typeface="Perpetua"/>
                <a:cs typeface="Perpetua"/>
              </a:rPr>
              <a:t>Unso</a:t>
            </a:r>
            <a:r>
              <a:rPr sz="1800" b="1" spc="55" dirty="0">
                <a:latin typeface="Perpetua"/>
                <a:cs typeface="Perpetua"/>
              </a:rPr>
              <a:t>r</a:t>
            </a:r>
            <a:r>
              <a:rPr sz="1800" b="1" spc="-5" dirty="0">
                <a:latin typeface="Perpetua"/>
                <a:cs typeface="Perpetua"/>
              </a:rPr>
              <a:t>ted</a:t>
            </a:r>
            <a:endParaRPr sz="1800">
              <a:latin typeface="Perpetua"/>
              <a:cs typeface="Perpetua"/>
            </a:endParaRPr>
          </a:p>
          <a:p>
            <a:pPr marL="1905" algn="ctr">
              <a:lnSpc>
                <a:spcPct val="100000"/>
              </a:lnSpc>
            </a:pPr>
            <a:r>
              <a:rPr sz="1800" b="1" dirty="0">
                <a:latin typeface="Perpetua"/>
                <a:cs typeface="Perpetua"/>
              </a:rPr>
              <a:t>side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00250" y="2409812"/>
            <a:ext cx="5105400" cy="36762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69794" y="5347512"/>
            <a:ext cx="142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55975" y="5336285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17975" y="5347512"/>
            <a:ext cx="142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B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80228" y="5347512"/>
            <a:ext cx="1619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A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18428" y="5336285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D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0428" y="5336285"/>
            <a:ext cx="16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C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72200" y="1600200"/>
            <a:ext cx="0" cy="4555490"/>
          </a:xfrm>
          <a:custGeom>
            <a:avLst/>
            <a:gdLst/>
            <a:ahLst/>
            <a:cxnLst/>
            <a:rect l="l" t="t" r="r" b="b"/>
            <a:pathLst>
              <a:path h="4555490">
                <a:moveTo>
                  <a:pt x="0" y="0"/>
                </a:moveTo>
                <a:lnTo>
                  <a:pt x="0" y="4555236"/>
                </a:lnTo>
              </a:path>
            </a:pathLst>
          </a:custGeom>
          <a:ln w="12192">
            <a:solidFill>
              <a:srgbClr val="9B2C1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07340" y="280543"/>
            <a:ext cx="805497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"/>
              <a:tabLst>
                <a:tab pos="333375" algn="l"/>
              </a:tabLst>
            </a:pPr>
            <a:r>
              <a:rPr sz="3200" i="1" spc="-114" dirty="0">
                <a:latin typeface="Perpetua"/>
                <a:cs typeface="Perpetua"/>
              </a:rPr>
              <a:t>We </a:t>
            </a:r>
            <a:r>
              <a:rPr sz="3200" i="1" dirty="0">
                <a:latin typeface="Perpetua"/>
                <a:cs typeface="Perpetua"/>
              </a:rPr>
              <a:t>can stop </a:t>
            </a:r>
            <a:r>
              <a:rPr sz="3200" i="1" spc="-15" dirty="0">
                <a:latin typeface="Perpetua"/>
                <a:cs typeface="Perpetua"/>
              </a:rPr>
              <a:t>when </a:t>
            </a:r>
            <a:r>
              <a:rPr sz="3200" i="1" dirty="0">
                <a:latin typeface="Perpetua"/>
                <a:cs typeface="Perpetua"/>
              </a:rPr>
              <a:t>the </a:t>
            </a:r>
            <a:r>
              <a:rPr sz="3200" i="1" spc="10" dirty="0">
                <a:latin typeface="Perpetua"/>
                <a:cs typeface="Perpetua"/>
              </a:rPr>
              <a:t>unsorted </a:t>
            </a:r>
            <a:r>
              <a:rPr sz="3200" i="1" dirty="0">
                <a:latin typeface="Perpetua"/>
                <a:cs typeface="Perpetua"/>
              </a:rPr>
              <a:t>side has </a:t>
            </a:r>
            <a:r>
              <a:rPr sz="3200" i="1" spc="-5" dirty="0">
                <a:latin typeface="Perpetua"/>
                <a:cs typeface="Perpetua"/>
              </a:rPr>
              <a:t>just one </a:t>
            </a:r>
            <a:r>
              <a:rPr sz="3200" i="1" spc="-40" dirty="0">
                <a:latin typeface="Perpetua"/>
                <a:cs typeface="Perpetua"/>
              </a:rPr>
              <a:t>entry,</a:t>
            </a:r>
            <a:r>
              <a:rPr sz="3200" i="1" spc="-180" dirty="0">
                <a:latin typeface="Perpetua"/>
                <a:cs typeface="Perpetua"/>
              </a:rPr>
              <a:t> </a:t>
            </a:r>
            <a:r>
              <a:rPr sz="3200" i="1" dirty="0">
                <a:latin typeface="Perpetua"/>
                <a:cs typeface="Perpetua"/>
              </a:rPr>
              <a:t>since  </a:t>
            </a:r>
            <a:r>
              <a:rPr sz="3200" i="1" spc="-10" dirty="0">
                <a:latin typeface="Perpetua"/>
                <a:cs typeface="Perpetua"/>
              </a:rPr>
              <a:t>that </a:t>
            </a:r>
            <a:r>
              <a:rPr sz="3200" i="1" dirty="0">
                <a:latin typeface="Perpetua"/>
                <a:cs typeface="Perpetua"/>
              </a:rPr>
              <a:t>entry </a:t>
            </a:r>
            <a:r>
              <a:rPr sz="3200" i="1" spc="-5" dirty="0">
                <a:latin typeface="Perpetua"/>
                <a:cs typeface="Perpetua"/>
              </a:rPr>
              <a:t>must </a:t>
            </a:r>
            <a:r>
              <a:rPr sz="3200" i="1" dirty="0">
                <a:latin typeface="Perpetua"/>
                <a:cs typeface="Perpetua"/>
              </a:rPr>
              <a:t>be the </a:t>
            </a:r>
            <a:r>
              <a:rPr sz="3200" i="1" spc="-25" dirty="0">
                <a:latin typeface="Perpetua"/>
                <a:cs typeface="Perpetua"/>
              </a:rPr>
              <a:t>largest</a:t>
            </a:r>
            <a:r>
              <a:rPr sz="3200" i="1" spc="40" dirty="0">
                <a:latin typeface="Perpetua"/>
                <a:cs typeface="Perpetua"/>
              </a:rPr>
              <a:t> </a:t>
            </a:r>
            <a:r>
              <a:rPr sz="3200" i="1" spc="-45" dirty="0">
                <a:latin typeface="Perpetua"/>
                <a:cs typeface="Perpetua"/>
              </a:rPr>
              <a:t>entry.</a:t>
            </a:r>
            <a:endParaRPr sz="32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7085" y="4635070"/>
            <a:ext cx="4806950" cy="161290"/>
          </a:xfrm>
          <a:custGeom>
            <a:avLst/>
            <a:gdLst/>
            <a:ahLst/>
            <a:cxnLst/>
            <a:rect l="l" t="t" r="r" b="b"/>
            <a:pathLst>
              <a:path w="4806950" h="161289">
                <a:moveTo>
                  <a:pt x="4806640" y="0"/>
                </a:moveTo>
                <a:lnTo>
                  <a:pt x="208970" y="0"/>
                </a:lnTo>
                <a:lnTo>
                  <a:pt x="0" y="161221"/>
                </a:lnTo>
                <a:lnTo>
                  <a:pt x="4597733" y="161221"/>
                </a:lnTo>
                <a:lnTo>
                  <a:pt x="480664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71827" y="4649268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756"/>
                </a:moveTo>
                <a:lnTo>
                  <a:pt x="199486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80798" y="4639803"/>
            <a:ext cx="4588510" cy="0"/>
          </a:xfrm>
          <a:custGeom>
            <a:avLst/>
            <a:gdLst/>
            <a:ahLst/>
            <a:cxnLst/>
            <a:rect l="l" t="t" r="r" b="b"/>
            <a:pathLst>
              <a:path w="4588509">
                <a:moveTo>
                  <a:pt x="0" y="0"/>
                </a:moveTo>
                <a:lnTo>
                  <a:pt x="458812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71827" y="4193999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756"/>
                </a:moveTo>
                <a:lnTo>
                  <a:pt x="199486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80798" y="4184219"/>
            <a:ext cx="4588510" cy="0"/>
          </a:xfrm>
          <a:custGeom>
            <a:avLst/>
            <a:gdLst/>
            <a:ahLst/>
            <a:cxnLst/>
            <a:rect l="l" t="t" r="r" b="b"/>
            <a:pathLst>
              <a:path w="4588509">
                <a:moveTo>
                  <a:pt x="0" y="0"/>
                </a:moveTo>
                <a:lnTo>
                  <a:pt x="458812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71827" y="3738466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692"/>
                </a:moveTo>
                <a:lnTo>
                  <a:pt x="199486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80798" y="3729001"/>
            <a:ext cx="4588510" cy="0"/>
          </a:xfrm>
          <a:custGeom>
            <a:avLst/>
            <a:gdLst/>
            <a:ahLst/>
            <a:cxnLst/>
            <a:rect l="l" t="t" r="r" b="b"/>
            <a:pathLst>
              <a:path w="4588509">
                <a:moveTo>
                  <a:pt x="0" y="0"/>
                </a:moveTo>
                <a:lnTo>
                  <a:pt x="458812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71827" y="3292600"/>
            <a:ext cx="200025" cy="142875"/>
          </a:xfrm>
          <a:custGeom>
            <a:avLst/>
            <a:gdLst/>
            <a:ahLst/>
            <a:cxnLst/>
            <a:rect l="l" t="t" r="r" b="b"/>
            <a:pathLst>
              <a:path w="200025" h="142875">
                <a:moveTo>
                  <a:pt x="0" y="142354"/>
                </a:moveTo>
                <a:lnTo>
                  <a:pt x="199486" y="0"/>
                </a:lnTo>
              </a:path>
            </a:pathLst>
          </a:custGeom>
          <a:ln w="94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80798" y="3283135"/>
            <a:ext cx="4588510" cy="0"/>
          </a:xfrm>
          <a:custGeom>
            <a:avLst/>
            <a:gdLst/>
            <a:ahLst/>
            <a:cxnLst/>
            <a:rect l="l" t="t" r="r" b="b"/>
            <a:pathLst>
              <a:path w="4588509">
                <a:moveTo>
                  <a:pt x="0" y="0"/>
                </a:moveTo>
                <a:lnTo>
                  <a:pt x="458812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71827" y="2837016"/>
            <a:ext cx="200025" cy="142875"/>
          </a:xfrm>
          <a:custGeom>
            <a:avLst/>
            <a:gdLst/>
            <a:ahLst/>
            <a:cxnLst/>
            <a:rect l="l" t="t" r="r" b="b"/>
            <a:pathLst>
              <a:path w="200025" h="142875">
                <a:moveTo>
                  <a:pt x="0" y="142606"/>
                </a:moveTo>
                <a:lnTo>
                  <a:pt x="199486" y="0"/>
                </a:lnTo>
              </a:path>
            </a:pathLst>
          </a:custGeom>
          <a:ln w="94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80798" y="2827551"/>
            <a:ext cx="4588510" cy="0"/>
          </a:xfrm>
          <a:custGeom>
            <a:avLst/>
            <a:gdLst/>
            <a:ahLst/>
            <a:cxnLst/>
            <a:rect l="l" t="t" r="r" b="b"/>
            <a:pathLst>
              <a:path w="4588509">
                <a:moveTo>
                  <a:pt x="0" y="0"/>
                </a:moveTo>
                <a:lnTo>
                  <a:pt x="458812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71827" y="2381811"/>
            <a:ext cx="200025" cy="151765"/>
          </a:xfrm>
          <a:custGeom>
            <a:avLst/>
            <a:gdLst/>
            <a:ahLst/>
            <a:cxnLst/>
            <a:rect l="l" t="t" r="r" b="b"/>
            <a:pathLst>
              <a:path w="200025" h="151764">
                <a:moveTo>
                  <a:pt x="0" y="151692"/>
                </a:moveTo>
                <a:lnTo>
                  <a:pt x="199486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80798" y="2372346"/>
            <a:ext cx="4588510" cy="0"/>
          </a:xfrm>
          <a:custGeom>
            <a:avLst/>
            <a:gdLst/>
            <a:ahLst/>
            <a:cxnLst/>
            <a:rect l="l" t="t" r="r" b="b"/>
            <a:pathLst>
              <a:path w="4588509">
                <a:moveTo>
                  <a:pt x="0" y="0"/>
                </a:moveTo>
                <a:lnTo>
                  <a:pt x="458812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71827" y="1926480"/>
            <a:ext cx="200025" cy="152400"/>
          </a:xfrm>
          <a:custGeom>
            <a:avLst/>
            <a:gdLst/>
            <a:ahLst/>
            <a:cxnLst/>
            <a:rect l="l" t="t" r="r" b="b"/>
            <a:pathLst>
              <a:path w="200025" h="152400">
                <a:moveTo>
                  <a:pt x="0" y="151819"/>
                </a:moveTo>
                <a:lnTo>
                  <a:pt x="199486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80798" y="1917015"/>
            <a:ext cx="4588510" cy="0"/>
          </a:xfrm>
          <a:custGeom>
            <a:avLst/>
            <a:gdLst/>
            <a:ahLst/>
            <a:cxnLst/>
            <a:rect l="l" t="t" r="r" b="b"/>
            <a:pathLst>
              <a:path w="4588509">
                <a:moveTo>
                  <a:pt x="0" y="0"/>
                </a:moveTo>
                <a:lnTo>
                  <a:pt x="458812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71827" y="1470896"/>
            <a:ext cx="200025" cy="152400"/>
          </a:xfrm>
          <a:custGeom>
            <a:avLst/>
            <a:gdLst/>
            <a:ahLst/>
            <a:cxnLst/>
            <a:rect l="l" t="t" r="r" b="b"/>
            <a:pathLst>
              <a:path w="200025" h="152400">
                <a:moveTo>
                  <a:pt x="0" y="151819"/>
                </a:moveTo>
                <a:lnTo>
                  <a:pt x="199486" y="0"/>
                </a:lnTo>
              </a:path>
            </a:pathLst>
          </a:custGeom>
          <a:ln w="94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80798" y="1461431"/>
            <a:ext cx="4588510" cy="0"/>
          </a:xfrm>
          <a:custGeom>
            <a:avLst/>
            <a:gdLst/>
            <a:ahLst/>
            <a:cxnLst/>
            <a:rect l="l" t="t" r="r" b="b"/>
            <a:pathLst>
              <a:path w="4588509">
                <a:moveTo>
                  <a:pt x="0" y="0"/>
                </a:moveTo>
                <a:lnTo>
                  <a:pt x="4588122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771827" y="4639803"/>
            <a:ext cx="4806950" cy="161290"/>
          </a:xfrm>
          <a:custGeom>
            <a:avLst/>
            <a:gdLst/>
            <a:ahLst/>
            <a:cxnLst/>
            <a:rect l="l" t="t" r="r" b="b"/>
            <a:pathLst>
              <a:path w="4806950" h="161289">
                <a:moveTo>
                  <a:pt x="4806577" y="0"/>
                </a:moveTo>
                <a:lnTo>
                  <a:pt x="4597669" y="161221"/>
                </a:lnTo>
                <a:lnTo>
                  <a:pt x="0" y="161221"/>
                </a:lnTo>
                <a:lnTo>
                  <a:pt x="208970" y="0"/>
                </a:lnTo>
                <a:lnTo>
                  <a:pt x="4806577" y="0"/>
                </a:lnTo>
                <a:close/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771827" y="1461431"/>
            <a:ext cx="209550" cy="3340100"/>
          </a:xfrm>
          <a:custGeom>
            <a:avLst/>
            <a:gdLst/>
            <a:ahLst/>
            <a:cxnLst/>
            <a:rect l="l" t="t" r="r" b="b"/>
            <a:pathLst>
              <a:path w="209550" h="3340100">
                <a:moveTo>
                  <a:pt x="0" y="3339592"/>
                </a:moveTo>
                <a:lnTo>
                  <a:pt x="0" y="161284"/>
                </a:lnTo>
                <a:lnTo>
                  <a:pt x="208970" y="0"/>
                </a:lnTo>
                <a:lnTo>
                  <a:pt x="208970" y="3178371"/>
                </a:lnTo>
                <a:lnTo>
                  <a:pt x="0" y="3339592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80798" y="1461444"/>
            <a:ext cx="4598035" cy="3178810"/>
          </a:xfrm>
          <a:custGeom>
            <a:avLst/>
            <a:gdLst/>
            <a:ahLst/>
            <a:cxnLst/>
            <a:rect l="l" t="t" r="r" b="b"/>
            <a:pathLst>
              <a:path w="4598034" h="3178810">
                <a:moveTo>
                  <a:pt x="0" y="3178358"/>
                </a:moveTo>
                <a:lnTo>
                  <a:pt x="4597606" y="3178358"/>
                </a:lnTo>
                <a:lnTo>
                  <a:pt x="4597606" y="0"/>
                </a:lnTo>
                <a:lnTo>
                  <a:pt x="0" y="0"/>
                </a:lnTo>
                <a:lnTo>
                  <a:pt x="0" y="3178358"/>
                </a:lnTo>
                <a:close/>
              </a:path>
            </a:pathLst>
          </a:custGeom>
          <a:ln w="94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01708" y="4224919"/>
            <a:ext cx="208654" cy="5679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03896" y="4231859"/>
            <a:ext cx="209550" cy="569595"/>
          </a:xfrm>
          <a:custGeom>
            <a:avLst/>
            <a:gdLst/>
            <a:ahLst/>
            <a:cxnLst/>
            <a:rect l="l" t="t" r="r" b="b"/>
            <a:pathLst>
              <a:path w="209550" h="569595">
                <a:moveTo>
                  <a:pt x="0" y="569164"/>
                </a:moveTo>
                <a:lnTo>
                  <a:pt x="0" y="161221"/>
                </a:lnTo>
                <a:lnTo>
                  <a:pt x="208970" y="0"/>
                </a:lnTo>
                <a:lnTo>
                  <a:pt x="208970" y="407942"/>
                </a:lnTo>
                <a:lnTo>
                  <a:pt x="0" y="569164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98211" y="4385824"/>
            <a:ext cx="303497" cy="406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99766" y="4393081"/>
            <a:ext cx="304165" cy="408305"/>
          </a:xfrm>
          <a:custGeom>
            <a:avLst/>
            <a:gdLst/>
            <a:ahLst/>
            <a:cxnLst/>
            <a:rect l="l" t="t" r="r" b="b"/>
            <a:pathLst>
              <a:path w="304164" h="408304">
                <a:moveTo>
                  <a:pt x="0" y="407942"/>
                </a:moveTo>
                <a:lnTo>
                  <a:pt x="304129" y="407943"/>
                </a:lnTo>
                <a:lnTo>
                  <a:pt x="304129" y="0"/>
                </a:lnTo>
                <a:lnTo>
                  <a:pt x="0" y="0"/>
                </a:lnTo>
                <a:lnTo>
                  <a:pt x="0" y="407942"/>
                </a:lnTo>
                <a:close/>
              </a:path>
            </a:pathLst>
          </a:custGeom>
          <a:ln w="9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98211" y="4224919"/>
            <a:ext cx="512151" cy="1609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99766" y="4231859"/>
            <a:ext cx="513715" cy="161290"/>
          </a:xfrm>
          <a:custGeom>
            <a:avLst/>
            <a:gdLst/>
            <a:ahLst/>
            <a:cxnLst/>
            <a:rect l="l" t="t" r="r" b="b"/>
            <a:pathLst>
              <a:path w="513714" h="161289">
                <a:moveTo>
                  <a:pt x="304129" y="161221"/>
                </a:moveTo>
                <a:lnTo>
                  <a:pt x="513100" y="0"/>
                </a:lnTo>
                <a:lnTo>
                  <a:pt x="208970" y="0"/>
                </a:lnTo>
                <a:lnTo>
                  <a:pt x="0" y="161221"/>
                </a:lnTo>
                <a:lnTo>
                  <a:pt x="304129" y="161221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069974" y="3950483"/>
            <a:ext cx="208654" cy="84233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73136" y="3956793"/>
            <a:ext cx="208915" cy="844550"/>
          </a:xfrm>
          <a:custGeom>
            <a:avLst/>
            <a:gdLst/>
            <a:ahLst/>
            <a:cxnLst/>
            <a:rect l="l" t="t" r="r" b="b"/>
            <a:pathLst>
              <a:path w="208914" h="844550">
                <a:moveTo>
                  <a:pt x="0" y="844230"/>
                </a:moveTo>
                <a:lnTo>
                  <a:pt x="0" y="161170"/>
                </a:lnTo>
                <a:lnTo>
                  <a:pt x="208907" y="0"/>
                </a:lnTo>
                <a:lnTo>
                  <a:pt x="208907" y="683009"/>
                </a:lnTo>
                <a:lnTo>
                  <a:pt x="0" y="844230"/>
                </a:lnTo>
                <a:close/>
              </a:path>
            </a:pathLst>
          </a:custGeom>
          <a:ln w="9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766477" y="4111338"/>
            <a:ext cx="303497" cy="68148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769259" y="4117964"/>
            <a:ext cx="304165" cy="683260"/>
          </a:xfrm>
          <a:custGeom>
            <a:avLst/>
            <a:gdLst/>
            <a:ahLst/>
            <a:cxnLst/>
            <a:rect l="l" t="t" r="r" b="b"/>
            <a:pathLst>
              <a:path w="304164" h="683260">
                <a:moveTo>
                  <a:pt x="0" y="683060"/>
                </a:moveTo>
                <a:lnTo>
                  <a:pt x="303813" y="683060"/>
                </a:lnTo>
                <a:lnTo>
                  <a:pt x="303813" y="0"/>
                </a:lnTo>
                <a:lnTo>
                  <a:pt x="0" y="0"/>
                </a:lnTo>
                <a:lnTo>
                  <a:pt x="0" y="683060"/>
                </a:lnTo>
                <a:close/>
              </a:path>
            </a:pathLst>
          </a:custGeom>
          <a:ln w="94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766477" y="3950483"/>
            <a:ext cx="512151" cy="1608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769259" y="3956793"/>
            <a:ext cx="513080" cy="161290"/>
          </a:xfrm>
          <a:custGeom>
            <a:avLst/>
            <a:gdLst/>
            <a:ahLst/>
            <a:cxnLst/>
            <a:rect l="l" t="t" r="r" b="b"/>
            <a:pathLst>
              <a:path w="513079" h="161289">
                <a:moveTo>
                  <a:pt x="303876" y="161170"/>
                </a:moveTo>
                <a:lnTo>
                  <a:pt x="512784" y="0"/>
                </a:lnTo>
                <a:lnTo>
                  <a:pt x="209033" y="0"/>
                </a:lnTo>
                <a:lnTo>
                  <a:pt x="0" y="161170"/>
                </a:lnTo>
                <a:lnTo>
                  <a:pt x="303876" y="161170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838202" y="3685462"/>
            <a:ext cx="208654" cy="110735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842628" y="3691141"/>
            <a:ext cx="208915" cy="1109980"/>
          </a:xfrm>
          <a:custGeom>
            <a:avLst/>
            <a:gdLst/>
            <a:ahLst/>
            <a:cxnLst/>
            <a:rect l="l" t="t" r="r" b="b"/>
            <a:pathLst>
              <a:path w="208914" h="1109979">
                <a:moveTo>
                  <a:pt x="0" y="1109882"/>
                </a:moveTo>
                <a:lnTo>
                  <a:pt x="0" y="151692"/>
                </a:lnTo>
                <a:lnTo>
                  <a:pt x="208907" y="0"/>
                </a:lnTo>
                <a:lnTo>
                  <a:pt x="208907" y="948661"/>
                </a:lnTo>
                <a:lnTo>
                  <a:pt x="0" y="1109882"/>
                </a:lnTo>
                <a:close/>
              </a:path>
            </a:pathLst>
          </a:custGeom>
          <a:ln w="9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25220" y="3836852"/>
            <a:ext cx="312981" cy="95596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29267" y="3842847"/>
            <a:ext cx="313690" cy="958215"/>
          </a:xfrm>
          <a:custGeom>
            <a:avLst/>
            <a:gdLst/>
            <a:ahLst/>
            <a:cxnLst/>
            <a:rect l="l" t="t" r="r" b="b"/>
            <a:pathLst>
              <a:path w="313689" h="958214">
                <a:moveTo>
                  <a:pt x="0" y="958177"/>
                </a:moveTo>
                <a:lnTo>
                  <a:pt x="313297" y="958177"/>
                </a:lnTo>
                <a:lnTo>
                  <a:pt x="313297" y="0"/>
                </a:lnTo>
                <a:lnTo>
                  <a:pt x="0" y="0"/>
                </a:lnTo>
                <a:lnTo>
                  <a:pt x="0" y="958177"/>
                </a:lnTo>
                <a:close/>
              </a:path>
            </a:pathLst>
          </a:custGeom>
          <a:ln w="94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525220" y="3685462"/>
            <a:ext cx="521636" cy="15144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29267" y="3691141"/>
            <a:ext cx="522605" cy="151765"/>
          </a:xfrm>
          <a:custGeom>
            <a:avLst/>
            <a:gdLst/>
            <a:ahLst/>
            <a:cxnLst/>
            <a:rect l="l" t="t" r="r" b="b"/>
            <a:pathLst>
              <a:path w="522604" h="151764">
                <a:moveTo>
                  <a:pt x="313361" y="151692"/>
                </a:moveTo>
                <a:lnTo>
                  <a:pt x="522268" y="0"/>
                </a:lnTo>
                <a:lnTo>
                  <a:pt x="218518" y="0"/>
                </a:lnTo>
                <a:lnTo>
                  <a:pt x="0" y="151692"/>
                </a:lnTo>
                <a:lnTo>
                  <a:pt x="313361" y="151692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596946" y="2596983"/>
            <a:ext cx="218138" cy="219583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602510" y="2600138"/>
            <a:ext cx="219075" cy="2200910"/>
          </a:xfrm>
          <a:custGeom>
            <a:avLst/>
            <a:gdLst/>
            <a:ahLst/>
            <a:cxnLst/>
            <a:rect l="l" t="t" r="r" b="b"/>
            <a:pathLst>
              <a:path w="219075" h="2200910">
                <a:moveTo>
                  <a:pt x="0" y="2200885"/>
                </a:moveTo>
                <a:lnTo>
                  <a:pt x="0" y="161157"/>
                </a:lnTo>
                <a:lnTo>
                  <a:pt x="218518" y="0"/>
                </a:lnTo>
                <a:lnTo>
                  <a:pt x="218518" y="2039664"/>
                </a:lnTo>
                <a:lnTo>
                  <a:pt x="0" y="2200885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293448" y="2757838"/>
            <a:ext cx="303497" cy="203498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298507" y="2761246"/>
            <a:ext cx="304165" cy="2040255"/>
          </a:xfrm>
          <a:custGeom>
            <a:avLst/>
            <a:gdLst/>
            <a:ahLst/>
            <a:cxnLst/>
            <a:rect l="l" t="t" r="r" b="b"/>
            <a:pathLst>
              <a:path w="304164" h="2040254">
                <a:moveTo>
                  <a:pt x="0" y="2039778"/>
                </a:moveTo>
                <a:lnTo>
                  <a:pt x="304129" y="2039778"/>
                </a:lnTo>
                <a:lnTo>
                  <a:pt x="304129" y="0"/>
                </a:lnTo>
                <a:lnTo>
                  <a:pt x="0" y="0"/>
                </a:lnTo>
                <a:lnTo>
                  <a:pt x="0" y="2039778"/>
                </a:lnTo>
                <a:close/>
              </a:path>
            </a:pathLst>
          </a:custGeom>
          <a:ln w="9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293448" y="2596983"/>
            <a:ext cx="521636" cy="1609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98507" y="2600138"/>
            <a:ext cx="522605" cy="161290"/>
          </a:xfrm>
          <a:custGeom>
            <a:avLst/>
            <a:gdLst/>
            <a:ahLst/>
            <a:cxnLst/>
            <a:rect l="l" t="t" r="r" b="b"/>
            <a:pathLst>
              <a:path w="522604" h="161289">
                <a:moveTo>
                  <a:pt x="304003" y="161157"/>
                </a:moveTo>
                <a:lnTo>
                  <a:pt x="522521" y="0"/>
                </a:lnTo>
                <a:lnTo>
                  <a:pt x="208907" y="0"/>
                </a:lnTo>
                <a:lnTo>
                  <a:pt x="0" y="161157"/>
                </a:lnTo>
                <a:lnTo>
                  <a:pt x="304003" y="161157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365174" y="2275172"/>
            <a:ext cx="208654" cy="251764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372129" y="2277317"/>
            <a:ext cx="208915" cy="2524125"/>
          </a:xfrm>
          <a:custGeom>
            <a:avLst/>
            <a:gdLst/>
            <a:ahLst/>
            <a:cxnLst/>
            <a:rect l="l" t="t" r="r" b="b"/>
            <a:pathLst>
              <a:path w="208914" h="2524125">
                <a:moveTo>
                  <a:pt x="0" y="2523706"/>
                </a:moveTo>
                <a:lnTo>
                  <a:pt x="0" y="161284"/>
                </a:lnTo>
                <a:lnTo>
                  <a:pt x="208907" y="0"/>
                </a:lnTo>
                <a:lnTo>
                  <a:pt x="208907" y="2362485"/>
                </a:lnTo>
                <a:lnTo>
                  <a:pt x="0" y="2523706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061676" y="2436027"/>
            <a:ext cx="303497" cy="235679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067999" y="2438551"/>
            <a:ext cx="304165" cy="2362835"/>
          </a:xfrm>
          <a:custGeom>
            <a:avLst/>
            <a:gdLst/>
            <a:ahLst/>
            <a:cxnLst/>
            <a:rect l="l" t="t" r="r" b="b"/>
            <a:pathLst>
              <a:path w="304164" h="2362835">
                <a:moveTo>
                  <a:pt x="0" y="2362472"/>
                </a:moveTo>
                <a:lnTo>
                  <a:pt x="304129" y="2362472"/>
                </a:lnTo>
                <a:lnTo>
                  <a:pt x="304129" y="0"/>
                </a:lnTo>
                <a:lnTo>
                  <a:pt x="0" y="0"/>
                </a:lnTo>
                <a:lnTo>
                  <a:pt x="0" y="2362472"/>
                </a:lnTo>
                <a:close/>
              </a:path>
            </a:pathLst>
          </a:custGeom>
          <a:ln w="94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061676" y="2275172"/>
            <a:ext cx="512151" cy="1609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067999" y="2277317"/>
            <a:ext cx="513080" cy="161290"/>
          </a:xfrm>
          <a:custGeom>
            <a:avLst/>
            <a:gdLst/>
            <a:ahLst/>
            <a:cxnLst/>
            <a:rect l="l" t="t" r="r" b="b"/>
            <a:pathLst>
              <a:path w="513079" h="161289">
                <a:moveTo>
                  <a:pt x="304129" y="161284"/>
                </a:moveTo>
                <a:lnTo>
                  <a:pt x="513037" y="0"/>
                </a:lnTo>
                <a:lnTo>
                  <a:pt x="208907" y="0"/>
                </a:lnTo>
                <a:lnTo>
                  <a:pt x="0" y="161284"/>
                </a:lnTo>
                <a:lnTo>
                  <a:pt x="304129" y="161284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133401" y="1868176"/>
            <a:ext cx="208654" cy="292464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141242" y="1869438"/>
            <a:ext cx="209550" cy="2931795"/>
          </a:xfrm>
          <a:custGeom>
            <a:avLst/>
            <a:gdLst/>
            <a:ahLst/>
            <a:cxnLst/>
            <a:rect l="l" t="t" r="r" b="b"/>
            <a:pathLst>
              <a:path w="209550" h="2931795">
                <a:moveTo>
                  <a:pt x="0" y="2931586"/>
                </a:moveTo>
                <a:lnTo>
                  <a:pt x="0" y="161157"/>
                </a:lnTo>
                <a:lnTo>
                  <a:pt x="209033" y="0"/>
                </a:lnTo>
                <a:lnTo>
                  <a:pt x="209033" y="2770365"/>
                </a:lnTo>
                <a:lnTo>
                  <a:pt x="0" y="2931586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829904" y="2029031"/>
            <a:ext cx="303497" cy="276379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837491" y="2030671"/>
            <a:ext cx="304165" cy="2770505"/>
          </a:xfrm>
          <a:custGeom>
            <a:avLst/>
            <a:gdLst/>
            <a:ahLst/>
            <a:cxnLst/>
            <a:rect l="l" t="t" r="r" b="b"/>
            <a:pathLst>
              <a:path w="304164" h="2770504">
                <a:moveTo>
                  <a:pt x="0" y="2770352"/>
                </a:moveTo>
                <a:lnTo>
                  <a:pt x="303813" y="2770352"/>
                </a:lnTo>
                <a:lnTo>
                  <a:pt x="303813" y="0"/>
                </a:lnTo>
                <a:lnTo>
                  <a:pt x="0" y="0"/>
                </a:lnTo>
                <a:lnTo>
                  <a:pt x="0" y="2770352"/>
                </a:lnTo>
                <a:close/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829904" y="1868176"/>
            <a:ext cx="512151" cy="1609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837491" y="1869438"/>
            <a:ext cx="513080" cy="161290"/>
          </a:xfrm>
          <a:custGeom>
            <a:avLst/>
            <a:gdLst/>
            <a:ahLst/>
            <a:cxnLst/>
            <a:rect l="l" t="t" r="r" b="b"/>
            <a:pathLst>
              <a:path w="513079" h="161289">
                <a:moveTo>
                  <a:pt x="303750" y="161157"/>
                </a:moveTo>
                <a:lnTo>
                  <a:pt x="512784" y="0"/>
                </a:lnTo>
                <a:lnTo>
                  <a:pt x="208907" y="0"/>
                </a:lnTo>
                <a:lnTo>
                  <a:pt x="0" y="161157"/>
                </a:lnTo>
                <a:lnTo>
                  <a:pt x="303750" y="161157"/>
                </a:lnTo>
                <a:close/>
              </a:path>
            </a:pathLst>
          </a:custGeom>
          <a:ln w="94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71827" y="1632180"/>
            <a:ext cx="0" cy="3169285"/>
          </a:xfrm>
          <a:custGeom>
            <a:avLst/>
            <a:gdLst/>
            <a:ahLst/>
            <a:cxnLst/>
            <a:rect l="l" t="t" r="r" b="b"/>
            <a:pathLst>
              <a:path h="3169285">
                <a:moveTo>
                  <a:pt x="0" y="3168843"/>
                </a:moveTo>
                <a:lnTo>
                  <a:pt x="0" y="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733890" y="480102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733890" y="434575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733890" y="3890159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733890" y="343495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733890" y="297962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733890" y="253350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733890" y="2078299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733890" y="16227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7937" y="0"/>
                </a:moveTo>
                <a:lnTo>
                  <a:pt x="0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1450571" y="1453527"/>
            <a:ext cx="254000" cy="34772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spc="-5" dirty="0">
                <a:latin typeface="Times New Roman"/>
                <a:cs typeface="Times New Roman"/>
              </a:rPr>
              <a:t>70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60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800" b="1" spc="-5" dirty="0">
                <a:latin typeface="Times New Roman"/>
                <a:cs typeface="Times New Roman"/>
              </a:rPr>
              <a:t>50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800" b="1" spc="-5" dirty="0">
                <a:latin typeface="Times New Roman"/>
                <a:cs typeface="Times New Roman"/>
              </a:rPr>
              <a:t>40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30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20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800" b="1" spc="-5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  <a:p>
            <a:pPr marL="126364">
              <a:lnSpc>
                <a:spcPct val="100000"/>
              </a:lnSpc>
              <a:spcBef>
                <a:spcPts val="1430"/>
              </a:spcBef>
            </a:pPr>
            <a:r>
              <a:rPr sz="1800" b="1" spc="-5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771827" y="4801024"/>
            <a:ext cx="4588510" cy="0"/>
          </a:xfrm>
          <a:custGeom>
            <a:avLst/>
            <a:gdLst/>
            <a:ahLst/>
            <a:cxnLst/>
            <a:rect l="l" t="t" r="r" b="b"/>
            <a:pathLst>
              <a:path w="4588510">
                <a:moveTo>
                  <a:pt x="0" y="0"/>
                </a:moveTo>
                <a:lnTo>
                  <a:pt x="4588185" y="0"/>
                </a:lnTo>
              </a:path>
            </a:pathLst>
          </a:custGeom>
          <a:ln w="94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771827" y="480102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531835" y="480102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301391" y="480102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070504" y="480102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839997" y="480102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600005" y="480102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369497" y="4801024"/>
            <a:ext cx="0" cy="38100"/>
          </a:xfrm>
          <a:custGeom>
            <a:avLst/>
            <a:gdLst/>
            <a:ahLst/>
            <a:cxnLst/>
            <a:rect l="l" t="t" r="r" b="b"/>
            <a:pathLst>
              <a:path h="38100">
                <a:moveTo>
                  <a:pt x="0" y="0"/>
                </a:moveTo>
                <a:lnTo>
                  <a:pt x="0" y="37860"/>
                </a:lnTo>
              </a:path>
            </a:pathLst>
          </a:custGeom>
          <a:ln w="9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2001293" y="4859311"/>
            <a:ext cx="4129404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81685" algn="l"/>
                <a:tab pos="1551305" algn="l"/>
                <a:tab pos="2311400" algn="l"/>
                <a:tab pos="3080385" algn="l"/>
                <a:tab pos="3850004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[1]	[2]	[3]	[4]	[5]	[6]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060194" y="4433442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822575" y="4421200"/>
            <a:ext cx="130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F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584575" y="4433442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B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346575" y="4433442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A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108828" y="4421200"/>
            <a:ext cx="166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C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870828" y="4421200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D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64540" y="5546242"/>
            <a:ext cx="7080884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i="1" spc="-100" dirty="0">
                <a:latin typeface="Perpetua"/>
                <a:cs typeface="Perpetua"/>
              </a:rPr>
              <a:t>We </a:t>
            </a:r>
            <a:r>
              <a:rPr sz="2800" i="1" spc="-15" dirty="0">
                <a:latin typeface="Perpetua"/>
                <a:cs typeface="Perpetua"/>
              </a:rPr>
              <a:t>repeatedly </a:t>
            </a:r>
            <a:r>
              <a:rPr sz="2800" b="1" i="1" spc="-5" dirty="0">
                <a:latin typeface="Perpetua"/>
                <a:cs typeface="Perpetua"/>
              </a:rPr>
              <a:t>selected </a:t>
            </a:r>
            <a:r>
              <a:rPr sz="2800" i="1" spc="-5" dirty="0">
                <a:latin typeface="Perpetua"/>
                <a:cs typeface="Perpetua"/>
              </a:rPr>
              <a:t>the smallest </a:t>
            </a:r>
            <a:r>
              <a:rPr sz="2800" i="1" spc="-35" dirty="0">
                <a:latin typeface="Perpetua"/>
                <a:cs typeface="Perpetua"/>
              </a:rPr>
              <a:t>entry, </a:t>
            </a:r>
            <a:r>
              <a:rPr sz="2800" i="1" spc="-5" dirty="0">
                <a:latin typeface="Perpetua"/>
                <a:cs typeface="Perpetua"/>
              </a:rPr>
              <a:t>and </a:t>
            </a:r>
            <a:r>
              <a:rPr sz="2800" b="1" i="1" spc="-25" dirty="0">
                <a:latin typeface="Perpetua"/>
                <a:cs typeface="Perpetua"/>
              </a:rPr>
              <a:t>moved </a:t>
            </a:r>
            <a:r>
              <a:rPr sz="2800" i="1" spc="-5" dirty="0">
                <a:latin typeface="Perpetua"/>
                <a:cs typeface="Perpetua"/>
              </a:rPr>
              <a:t>this  entry to </a:t>
            </a:r>
            <a:r>
              <a:rPr sz="2800" i="1" dirty="0">
                <a:latin typeface="Perpetua"/>
                <a:cs typeface="Perpetua"/>
              </a:rPr>
              <a:t>the </a:t>
            </a:r>
            <a:r>
              <a:rPr sz="2800" i="1" spc="-10" dirty="0">
                <a:latin typeface="Perpetua"/>
                <a:cs typeface="Perpetua"/>
              </a:rPr>
              <a:t>front </a:t>
            </a:r>
            <a:r>
              <a:rPr sz="2800" i="1" spc="-5" dirty="0">
                <a:latin typeface="Perpetua"/>
                <a:cs typeface="Perpetua"/>
              </a:rPr>
              <a:t>of the </a:t>
            </a:r>
            <a:r>
              <a:rPr sz="2800" i="1" spc="5" dirty="0">
                <a:latin typeface="Perpetua"/>
                <a:cs typeface="Perpetua"/>
              </a:rPr>
              <a:t>unsorted</a:t>
            </a:r>
            <a:r>
              <a:rPr sz="2800" i="1" spc="25" dirty="0">
                <a:latin typeface="Perpetua"/>
                <a:cs typeface="Perpetua"/>
              </a:rPr>
              <a:t> </a:t>
            </a:r>
            <a:r>
              <a:rPr sz="2800" i="1" dirty="0">
                <a:latin typeface="Perpetua"/>
                <a:cs typeface="Perpetua"/>
              </a:rPr>
              <a:t>side.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07340" y="632586"/>
            <a:ext cx="4368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1480" indent="-399415">
              <a:lnSpc>
                <a:spcPct val="100000"/>
              </a:lnSpc>
              <a:spcBef>
                <a:spcPts val="95"/>
              </a:spcBef>
              <a:buSzPct val="97500"/>
              <a:buFont typeface="Wingdings"/>
              <a:buChar char=""/>
              <a:tabLst>
                <a:tab pos="412115" algn="l"/>
              </a:tabLst>
            </a:pPr>
            <a:r>
              <a:rPr sz="4000" i="1" spc="-5" dirty="0">
                <a:latin typeface="Perpetua"/>
                <a:cs typeface="Perpetua"/>
              </a:rPr>
              <a:t>The list is </a:t>
            </a:r>
            <a:r>
              <a:rPr sz="4000" i="1" spc="-20" dirty="0">
                <a:latin typeface="Perpetua"/>
                <a:cs typeface="Perpetua"/>
              </a:rPr>
              <a:t>now</a:t>
            </a:r>
            <a:r>
              <a:rPr sz="4000" i="1" spc="-55" dirty="0">
                <a:latin typeface="Perpetua"/>
                <a:cs typeface="Perpetua"/>
              </a:rPr>
              <a:t> </a:t>
            </a:r>
            <a:r>
              <a:rPr sz="4000" i="1" spc="10" dirty="0">
                <a:latin typeface="Perpetua"/>
                <a:cs typeface="Perpetua"/>
              </a:rPr>
              <a:t>sorted…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90727" y="1365503"/>
          <a:ext cx="3152136" cy="4236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49579"/>
                <a:gridCol w="450850"/>
                <a:gridCol w="452119"/>
                <a:gridCol w="448944"/>
                <a:gridCol w="448944"/>
                <a:gridCol w="451485"/>
              </a:tblGrid>
              <a:tr h="4236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8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4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6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9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2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3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1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3222498" y="1383030"/>
            <a:ext cx="425450" cy="394970"/>
          </a:xfrm>
          <a:custGeom>
            <a:avLst/>
            <a:gdLst/>
            <a:ahLst/>
            <a:cxnLst/>
            <a:rect l="l" t="t" r="r" b="b"/>
            <a:pathLst>
              <a:path w="425450" h="394969">
                <a:moveTo>
                  <a:pt x="0" y="197358"/>
                </a:moveTo>
                <a:lnTo>
                  <a:pt x="5611" y="152115"/>
                </a:lnTo>
                <a:lnTo>
                  <a:pt x="21598" y="110578"/>
                </a:lnTo>
                <a:lnTo>
                  <a:pt x="46686" y="73933"/>
                </a:lnTo>
                <a:lnTo>
                  <a:pt x="79603" y="43367"/>
                </a:lnTo>
                <a:lnTo>
                  <a:pt x="119076" y="20065"/>
                </a:lnTo>
                <a:lnTo>
                  <a:pt x="163832" y="5214"/>
                </a:lnTo>
                <a:lnTo>
                  <a:pt x="212598" y="0"/>
                </a:lnTo>
                <a:lnTo>
                  <a:pt x="261363" y="5214"/>
                </a:lnTo>
                <a:lnTo>
                  <a:pt x="306119" y="20065"/>
                </a:lnTo>
                <a:lnTo>
                  <a:pt x="345592" y="43367"/>
                </a:lnTo>
                <a:lnTo>
                  <a:pt x="378509" y="73933"/>
                </a:lnTo>
                <a:lnTo>
                  <a:pt x="403597" y="110578"/>
                </a:lnTo>
                <a:lnTo>
                  <a:pt x="419584" y="152115"/>
                </a:lnTo>
                <a:lnTo>
                  <a:pt x="425196" y="197358"/>
                </a:lnTo>
                <a:lnTo>
                  <a:pt x="419584" y="242600"/>
                </a:lnTo>
                <a:lnTo>
                  <a:pt x="403597" y="284137"/>
                </a:lnTo>
                <a:lnTo>
                  <a:pt x="378509" y="320782"/>
                </a:lnTo>
                <a:lnTo>
                  <a:pt x="345592" y="351348"/>
                </a:lnTo>
                <a:lnTo>
                  <a:pt x="306119" y="374650"/>
                </a:lnTo>
                <a:lnTo>
                  <a:pt x="261363" y="389501"/>
                </a:lnTo>
                <a:lnTo>
                  <a:pt x="212598" y="394716"/>
                </a:lnTo>
                <a:lnTo>
                  <a:pt x="163832" y="389501"/>
                </a:lnTo>
                <a:lnTo>
                  <a:pt x="119076" y="374650"/>
                </a:lnTo>
                <a:lnTo>
                  <a:pt x="79603" y="351348"/>
                </a:lnTo>
                <a:lnTo>
                  <a:pt x="46686" y="320782"/>
                </a:lnTo>
                <a:lnTo>
                  <a:pt x="21598" y="284137"/>
                </a:lnTo>
                <a:lnTo>
                  <a:pt x="5611" y="242600"/>
                </a:lnTo>
                <a:lnTo>
                  <a:pt x="0" y="197358"/>
                </a:lnTo>
                <a:close/>
              </a:path>
            </a:pathLst>
          </a:custGeom>
          <a:ln w="381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0727" y="2017776"/>
          <a:ext cx="3152136" cy="4236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49579"/>
                <a:gridCol w="450850"/>
                <a:gridCol w="452119"/>
                <a:gridCol w="448944"/>
                <a:gridCol w="448944"/>
                <a:gridCol w="451485"/>
              </a:tblGrid>
              <a:tr h="4236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1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4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6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9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2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3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8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311145" y="2045970"/>
            <a:ext cx="425450" cy="393700"/>
          </a:xfrm>
          <a:custGeom>
            <a:avLst/>
            <a:gdLst/>
            <a:ahLst/>
            <a:cxnLst/>
            <a:rect l="l" t="t" r="r" b="b"/>
            <a:pathLst>
              <a:path w="425450" h="393700">
                <a:moveTo>
                  <a:pt x="0" y="196595"/>
                </a:moveTo>
                <a:lnTo>
                  <a:pt x="5611" y="151515"/>
                </a:lnTo>
                <a:lnTo>
                  <a:pt x="21598" y="110134"/>
                </a:lnTo>
                <a:lnTo>
                  <a:pt x="46686" y="73631"/>
                </a:lnTo>
                <a:lnTo>
                  <a:pt x="79603" y="43187"/>
                </a:lnTo>
                <a:lnTo>
                  <a:pt x="119076" y="19980"/>
                </a:lnTo>
                <a:lnTo>
                  <a:pt x="163832" y="5191"/>
                </a:lnTo>
                <a:lnTo>
                  <a:pt x="212598" y="0"/>
                </a:lnTo>
                <a:lnTo>
                  <a:pt x="261363" y="5191"/>
                </a:lnTo>
                <a:lnTo>
                  <a:pt x="306119" y="19980"/>
                </a:lnTo>
                <a:lnTo>
                  <a:pt x="345592" y="43187"/>
                </a:lnTo>
                <a:lnTo>
                  <a:pt x="378509" y="73631"/>
                </a:lnTo>
                <a:lnTo>
                  <a:pt x="403597" y="110134"/>
                </a:lnTo>
                <a:lnTo>
                  <a:pt x="419584" y="151515"/>
                </a:lnTo>
                <a:lnTo>
                  <a:pt x="425196" y="196595"/>
                </a:lnTo>
                <a:lnTo>
                  <a:pt x="419584" y="241676"/>
                </a:lnTo>
                <a:lnTo>
                  <a:pt x="403597" y="283057"/>
                </a:lnTo>
                <a:lnTo>
                  <a:pt x="378509" y="319560"/>
                </a:lnTo>
                <a:lnTo>
                  <a:pt x="345592" y="350004"/>
                </a:lnTo>
                <a:lnTo>
                  <a:pt x="306119" y="373211"/>
                </a:lnTo>
                <a:lnTo>
                  <a:pt x="261363" y="388000"/>
                </a:lnTo>
                <a:lnTo>
                  <a:pt x="212598" y="393191"/>
                </a:lnTo>
                <a:lnTo>
                  <a:pt x="163832" y="388000"/>
                </a:lnTo>
                <a:lnTo>
                  <a:pt x="119076" y="373211"/>
                </a:lnTo>
                <a:lnTo>
                  <a:pt x="79603" y="350004"/>
                </a:lnTo>
                <a:lnTo>
                  <a:pt x="46686" y="319560"/>
                </a:lnTo>
                <a:lnTo>
                  <a:pt x="21598" y="283057"/>
                </a:lnTo>
                <a:lnTo>
                  <a:pt x="5611" y="241676"/>
                </a:lnTo>
                <a:lnTo>
                  <a:pt x="0" y="196595"/>
                </a:lnTo>
                <a:close/>
              </a:path>
            </a:pathLst>
          </a:custGeom>
          <a:ln w="381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90727" y="2680716"/>
          <a:ext cx="3152136" cy="4236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49579"/>
                <a:gridCol w="450850"/>
                <a:gridCol w="452119"/>
                <a:gridCol w="448944"/>
                <a:gridCol w="448944"/>
                <a:gridCol w="451485"/>
              </a:tblGrid>
              <a:tr h="4236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1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1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2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6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9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4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3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8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766822" y="2701289"/>
            <a:ext cx="425450" cy="393700"/>
          </a:xfrm>
          <a:custGeom>
            <a:avLst/>
            <a:gdLst/>
            <a:ahLst/>
            <a:cxnLst/>
            <a:rect l="l" t="t" r="r" b="b"/>
            <a:pathLst>
              <a:path w="425450" h="393700">
                <a:moveTo>
                  <a:pt x="0" y="196596"/>
                </a:moveTo>
                <a:lnTo>
                  <a:pt x="5611" y="151515"/>
                </a:lnTo>
                <a:lnTo>
                  <a:pt x="21598" y="110134"/>
                </a:lnTo>
                <a:lnTo>
                  <a:pt x="46686" y="73631"/>
                </a:lnTo>
                <a:lnTo>
                  <a:pt x="79603" y="43187"/>
                </a:lnTo>
                <a:lnTo>
                  <a:pt x="119076" y="19980"/>
                </a:lnTo>
                <a:lnTo>
                  <a:pt x="163832" y="5191"/>
                </a:lnTo>
                <a:lnTo>
                  <a:pt x="212597" y="0"/>
                </a:lnTo>
                <a:lnTo>
                  <a:pt x="261363" y="5191"/>
                </a:lnTo>
                <a:lnTo>
                  <a:pt x="306119" y="19980"/>
                </a:lnTo>
                <a:lnTo>
                  <a:pt x="345592" y="43187"/>
                </a:lnTo>
                <a:lnTo>
                  <a:pt x="378509" y="73631"/>
                </a:lnTo>
                <a:lnTo>
                  <a:pt x="403597" y="110134"/>
                </a:lnTo>
                <a:lnTo>
                  <a:pt x="419584" y="151515"/>
                </a:lnTo>
                <a:lnTo>
                  <a:pt x="425195" y="196596"/>
                </a:lnTo>
                <a:lnTo>
                  <a:pt x="419584" y="241676"/>
                </a:lnTo>
                <a:lnTo>
                  <a:pt x="403597" y="283057"/>
                </a:lnTo>
                <a:lnTo>
                  <a:pt x="378509" y="319560"/>
                </a:lnTo>
                <a:lnTo>
                  <a:pt x="345592" y="350004"/>
                </a:lnTo>
                <a:lnTo>
                  <a:pt x="306119" y="373211"/>
                </a:lnTo>
                <a:lnTo>
                  <a:pt x="261363" y="388000"/>
                </a:lnTo>
                <a:lnTo>
                  <a:pt x="212597" y="393192"/>
                </a:lnTo>
                <a:lnTo>
                  <a:pt x="163832" y="388000"/>
                </a:lnTo>
                <a:lnTo>
                  <a:pt x="119076" y="373211"/>
                </a:lnTo>
                <a:lnTo>
                  <a:pt x="79603" y="350004"/>
                </a:lnTo>
                <a:lnTo>
                  <a:pt x="46686" y="319560"/>
                </a:lnTo>
                <a:lnTo>
                  <a:pt x="21598" y="283057"/>
                </a:lnTo>
                <a:lnTo>
                  <a:pt x="5611" y="241676"/>
                </a:lnTo>
                <a:lnTo>
                  <a:pt x="0" y="196596"/>
                </a:lnTo>
                <a:close/>
              </a:path>
            </a:pathLst>
          </a:custGeom>
          <a:ln w="381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90727" y="3352800"/>
          <a:ext cx="3152136" cy="425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49579"/>
                <a:gridCol w="450850"/>
                <a:gridCol w="452119"/>
                <a:gridCol w="448944"/>
                <a:gridCol w="448944"/>
                <a:gridCol w="451485"/>
              </a:tblGrid>
              <a:tr h="4251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1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2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3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9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4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6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8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2314194" y="3373373"/>
            <a:ext cx="425450" cy="393700"/>
          </a:xfrm>
          <a:custGeom>
            <a:avLst/>
            <a:gdLst/>
            <a:ahLst/>
            <a:cxnLst/>
            <a:rect l="l" t="t" r="r" b="b"/>
            <a:pathLst>
              <a:path w="425450" h="393700">
                <a:moveTo>
                  <a:pt x="0" y="196596"/>
                </a:moveTo>
                <a:lnTo>
                  <a:pt x="5611" y="151515"/>
                </a:lnTo>
                <a:lnTo>
                  <a:pt x="21598" y="110134"/>
                </a:lnTo>
                <a:lnTo>
                  <a:pt x="46686" y="73631"/>
                </a:lnTo>
                <a:lnTo>
                  <a:pt x="79603" y="43187"/>
                </a:lnTo>
                <a:lnTo>
                  <a:pt x="119076" y="19980"/>
                </a:lnTo>
                <a:lnTo>
                  <a:pt x="163832" y="5191"/>
                </a:lnTo>
                <a:lnTo>
                  <a:pt x="212598" y="0"/>
                </a:lnTo>
                <a:lnTo>
                  <a:pt x="261363" y="5191"/>
                </a:lnTo>
                <a:lnTo>
                  <a:pt x="306119" y="19980"/>
                </a:lnTo>
                <a:lnTo>
                  <a:pt x="345592" y="43187"/>
                </a:lnTo>
                <a:lnTo>
                  <a:pt x="378509" y="73631"/>
                </a:lnTo>
                <a:lnTo>
                  <a:pt x="403597" y="110134"/>
                </a:lnTo>
                <a:lnTo>
                  <a:pt x="419584" y="151515"/>
                </a:lnTo>
                <a:lnTo>
                  <a:pt x="425195" y="196596"/>
                </a:lnTo>
                <a:lnTo>
                  <a:pt x="419584" y="241676"/>
                </a:lnTo>
                <a:lnTo>
                  <a:pt x="403597" y="283057"/>
                </a:lnTo>
                <a:lnTo>
                  <a:pt x="378509" y="319560"/>
                </a:lnTo>
                <a:lnTo>
                  <a:pt x="345592" y="350004"/>
                </a:lnTo>
                <a:lnTo>
                  <a:pt x="306119" y="373211"/>
                </a:lnTo>
                <a:lnTo>
                  <a:pt x="261363" y="388000"/>
                </a:lnTo>
                <a:lnTo>
                  <a:pt x="212598" y="393192"/>
                </a:lnTo>
                <a:lnTo>
                  <a:pt x="163832" y="388000"/>
                </a:lnTo>
                <a:lnTo>
                  <a:pt x="119076" y="373211"/>
                </a:lnTo>
                <a:lnTo>
                  <a:pt x="79603" y="350004"/>
                </a:lnTo>
                <a:lnTo>
                  <a:pt x="46686" y="319560"/>
                </a:lnTo>
                <a:lnTo>
                  <a:pt x="21598" y="283057"/>
                </a:lnTo>
                <a:lnTo>
                  <a:pt x="5611" y="241676"/>
                </a:lnTo>
                <a:lnTo>
                  <a:pt x="0" y="196596"/>
                </a:lnTo>
                <a:close/>
              </a:path>
            </a:pathLst>
          </a:custGeom>
          <a:ln w="381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841747" y="2017776"/>
          <a:ext cx="3152773" cy="4236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49579"/>
                <a:gridCol w="450850"/>
                <a:gridCol w="452119"/>
                <a:gridCol w="450850"/>
                <a:gridCol w="447675"/>
                <a:gridCol w="451485"/>
              </a:tblGrid>
              <a:tr h="423672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1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2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3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4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6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9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8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7116318" y="1387602"/>
            <a:ext cx="425450" cy="394970"/>
          </a:xfrm>
          <a:custGeom>
            <a:avLst/>
            <a:gdLst/>
            <a:ahLst/>
            <a:cxnLst/>
            <a:rect l="l" t="t" r="r" b="b"/>
            <a:pathLst>
              <a:path w="425450" h="394969">
                <a:moveTo>
                  <a:pt x="0" y="197358"/>
                </a:moveTo>
                <a:lnTo>
                  <a:pt x="5611" y="152115"/>
                </a:lnTo>
                <a:lnTo>
                  <a:pt x="21598" y="110578"/>
                </a:lnTo>
                <a:lnTo>
                  <a:pt x="46686" y="73933"/>
                </a:lnTo>
                <a:lnTo>
                  <a:pt x="79603" y="43367"/>
                </a:lnTo>
                <a:lnTo>
                  <a:pt x="119076" y="20065"/>
                </a:lnTo>
                <a:lnTo>
                  <a:pt x="163832" y="5214"/>
                </a:lnTo>
                <a:lnTo>
                  <a:pt x="212598" y="0"/>
                </a:lnTo>
                <a:lnTo>
                  <a:pt x="261363" y="5214"/>
                </a:lnTo>
                <a:lnTo>
                  <a:pt x="306119" y="20065"/>
                </a:lnTo>
                <a:lnTo>
                  <a:pt x="345592" y="43367"/>
                </a:lnTo>
                <a:lnTo>
                  <a:pt x="378509" y="73933"/>
                </a:lnTo>
                <a:lnTo>
                  <a:pt x="403597" y="110578"/>
                </a:lnTo>
                <a:lnTo>
                  <a:pt x="419584" y="152115"/>
                </a:lnTo>
                <a:lnTo>
                  <a:pt x="425196" y="197358"/>
                </a:lnTo>
                <a:lnTo>
                  <a:pt x="419584" y="242600"/>
                </a:lnTo>
                <a:lnTo>
                  <a:pt x="403597" y="284137"/>
                </a:lnTo>
                <a:lnTo>
                  <a:pt x="378509" y="320782"/>
                </a:lnTo>
                <a:lnTo>
                  <a:pt x="345592" y="351348"/>
                </a:lnTo>
                <a:lnTo>
                  <a:pt x="306119" y="374650"/>
                </a:lnTo>
                <a:lnTo>
                  <a:pt x="261363" y="389501"/>
                </a:lnTo>
                <a:lnTo>
                  <a:pt x="212598" y="394715"/>
                </a:lnTo>
                <a:lnTo>
                  <a:pt x="163832" y="389501"/>
                </a:lnTo>
                <a:lnTo>
                  <a:pt x="119076" y="374650"/>
                </a:lnTo>
                <a:lnTo>
                  <a:pt x="79603" y="351348"/>
                </a:lnTo>
                <a:lnTo>
                  <a:pt x="46686" y="320782"/>
                </a:lnTo>
                <a:lnTo>
                  <a:pt x="21598" y="284137"/>
                </a:lnTo>
                <a:lnTo>
                  <a:pt x="5611" y="242600"/>
                </a:lnTo>
                <a:lnTo>
                  <a:pt x="0" y="197358"/>
                </a:lnTo>
                <a:close/>
              </a:path>
            </a:pathLst>
          </a:custGeom>
          <a:ln w="381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84185" y="2056638"/>
            <a:ext cx="425450" cy="393700"/>
          </a:xfrm>
          <a:custGeom>
            <a:avLst/>
            <a:gdLst/>
            <a:ahLst/>
            <a:cxnLst/>
            <a:rect l="l" t="t" r="r" b="b"/>
            <a:pathLst>
              <a:path w="425450" h="393700">
                <a:moveTo>
                  <a:pt x="0" y="196596"/>
                </a:moveTo>
                <a:lnTo>
                  <a:pt x="5611" y="151515"/>
                </a:lnTo>
                <a:lnTo>
                  <a:pt x="21598" y="110134"/>
                </a:lnTo>
                <a:lnTo>
                  <a:pt x="46686" y="73631"/>
                </a:lnTo>
                <a:lnTo>
                  <a:pt x="79603" y="43187"/>
                </a:lnTo>
                <a:lnTo>
                  <a:pt x="119076" y="19980"/>
                </a:lnTo>
                <a:lnTo>
                  <a:pt x="163832" y="5191"/>
                </a:lnTo>
                <a:lnTo>
                  <a:pt x="212598" y="0"/>
                </a:lnTo>
                <a:lnTo>
                  <a:pt x="261363" y="5191"/>
                </a:lnTo>
                <a:lnTo>
                  <a:pt x="306119" y="19980"/>
                </a:lnTo>
                <a:lnTo>
                  <a:pt x="345592" y="43187"/>
                </a:lnTo>
                <a:lnTo>
                  <a:pt x="378509" y="73631"/>
                </a:lnTo>
                <a:lnTo>
                  <a:pt x="403597" y="110134"/>
                </a:lnTo>
                <a:lnTo>
                  <a:pt x="419584" y="151515"/>
                </a:lnTo>
                <a:lnTo>
                  <a:pt x="425196" y="196596"/>
                </a:lnTo>
                <a:lnTo>
                  <a:pt x="419584" y="241676"/>
                </a:lnTo>
                <a:lnTo>
                  <a:pt x="403597" y="283057"/>
                </a:lnTo>
                <a:lnTo>
                  <a:pt x="378509" y="319560"/>
                </a:lnTo>
                <a:lnTo>
                  <a:pt x="345592" y="350004"/>
                </a:lnTo>
                <a:lnTo>
                  <a:pt x="306119" y="373211"/>
                </a:lnTo>
                <a:lnTo>
                  <a:pt x="261363" y="388000"/>
                </a:lnTo>
                <a:lnTo>
                  <a:pt x="212598" y="393191"/>
                </a:lnTo>
                <a:lnTo>
                  <a:pt x="163832" y="388000"/>
                </a:lnTo>
                <a:lnTo>
                  <a:pt x="119076" y="373211"/>
                </a:lnTo>
                <a:lnTo>
                  <a:pt x="79603" y="350004"/>
                </a:lnTo>
                <a:lnTo>
                  <a:pt x="46686" y="319560"/>
                </a:lnTo>
                <a:lnTo>
                  <a:pt x="21598" y="283057"/>
                </a:lnTo>
                <a:lnTo>
                  <a:pt x="5611" y="241676"/>
                </a:lnTo>
                <a:lnTo>
                  <a:pt x="0" y="196596"/>
                </a:lnTo>
                <a:close/>
              </a:path>
            </a:pathLst>
          </a:custGeom>
          <a:ln w="381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841747" y="1365503"/>
          <a:ext cx="3152773" cy="4236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49579"/>
                <a:gridCol w="450850"/>
                <a:gridCol w="452119"/>
                <a:gridCol w="450850"/>
                <a:gridCol w="447675"/>
                <a:gridCol w="451485"/>
              </a:tblGrid>
              <a:tr h="42367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1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2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3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4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9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6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8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841747" y="2680716"/>
          <a:ext cx="3152773" cy="4236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49579"/>
                <a:gridCol w="450850"/>
                <a:gridCol w="452119"/>
                <a:gridCol w="450850"/>
                <a:gridCol w="447675"/>
                <a:gridCol w="451485"/>
              </a:tblGrid>
              <a:tr h="423671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1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12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2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3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4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6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8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9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7570469" y="2707385"/>
            <a:ext cx="425450" cy="393700"/>
          </a:xfrm>
          <a:custGeom>
            <a:avLst/>
            <a:gdLst/>
            <a:ahLst/>
            <a:cxnLst/>
            <a:rect l="l" t="t" r="r" b="b"/>
            <a:pathLst>
              <a:path w="425450" h="393700">
                <a:moveTo>
                  <a:pt x="0" y="196596"/>
                </a:moveTo>
                <a:lnTo>
                  <a:pt x="5611" y="151515"/>
                </a:lnTo>
                <a:lnTo>
                  <a:pt x="21598" y="110134"/>
                </a:lnTo>
                <a:lnTo>
                  <a:pt x="46686" y="73631"/>
                </a:lnTo>
                <a:lnTo>
                  <a:pt x="79603" y="43187"/>
                </a:lnTo>
                <a:lnTo>
                  <a:pt x="119076" y="19980"/>
                </a:lnTo>
                <a:lnTo>
                  <a:pt x="163832" y="5191"/>
                </a:lnTo>
                <a:lnTo>
                  <a:pt x="212598" y="0"/>
                </a:lnTo>
                <a:lnTo>
                  <a:pt x="261363" y="5191"/>
                </a:lnTo>
                <a:lnTo>
                  <a:pt x="306119" y="19980"/>
                </a:lnTo>
                <a:lnTo>
                  <a:pt x="345592" y="43187"/>
                </a:lnTo>
                <a:lnTo>
                  <a:pt x="378509" y="73631"/>
                </a:lnTo>
                <a:lnTo>
                  <a:pt x="403597" y="110134"/>
                </a:lnTo>
                <a:lnTo>
                  <a:pt x="419584" y="151515"/>
                </a:lnTo>
                <a:lnTo>
                  <a:pt x="425196" y="196596"/>
                </a:lnTo>
                <a:lnTo>
                  <a:pt x="419584" y="241676"/>
                </a:lnTo>
                <a:lnTo>
                  <a:pt x="403597" y="283057"/>
                </a:lnTo>
                <a:lnTo>
                  <a:pt x="378509" y="319560"/>
                </a:lnTo>
                <a:lnTo>
                  <a:pt x="345592" y="350004"/>
                </a:lnTo>
                <a:lnTo>
                  <a:pt x="306119" y="373211"/>
                </a:lnTo>
                <a:lnTo>
                  <a:pt x="261363" y="388000"/>
                </a:lnTo>
                <a:lnTo>
                  <a:pt x="212598" y="393191"/>
                </a:lnTo>
                <a:lnTo>
                  <a:pt x="163832" y="388000"/>
                </a:lnTo>
                <a:lnTo>
                  <a:pt x="119076" y="373211"/>
                </a:lnTo>
                <a:lnTo>
                  <a:pt x="79603" y="350004"/>
                </a:lnTo>
                <a:lnTo>
                  <a:pt x="46686" y="319560"/>
                </a:lnTo>
                <a:lnTo>
                  <a:pt x="21598" y="283057"/>
                </a:lnTo>
                <a:lnTo>
                  <a:pt x="5611" y="241676"/>
                </a:lnTo>
                <a:lnTo>
                  <a:pt x="0" y="196596"/>
                </a:lnTo>
                <a:close/>
              </a:path>
            </a:pathLst>
          </a:custGeom>
          <a:ln w="381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841747" y="3352800"/>
          <a:ext cx="3152773" cy="4251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49579"/>
                <a:gridCol w="450850"/>
                <a:gridCol w="452119"/>
                <a:gridCol w="450850"/>
                <a:gridCol w="447675"/>
                <a:gridCol w="451485"/>
              </a:tblGrid>
              <a:tr h="425196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1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2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3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4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6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8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dirty="0">
                          <a:solidFill>
                            <a:srgbClr val="9B2C1F"/>
                          </a:solidFill>
                          <a:latin typeface="Perpetua"/>
                          <a:cs typeface="Perpetua"/>
                        </a:rPr>
                        <a:t>9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72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383540" y="357886"/>
            <a:ext cx="6813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35" dirty="0">
                <a:latin typeface="Perpetua"/>
                <a:cs typeface="Perpetua"/>
              </a:rPr>
              <a:t>Eg:The </a:t>
            </a:r>
            <a:r>
              <a:rPr sz="4000" dirty="0">
                <a:latin typeface="Perpetua"/>
                <a:cs typeface="Perpetua"/>
              </a:rPr>
              <a:t>scan, </a:t>
            </a:r>
            <a:r>
              <a:rPr sz="4000" spc="-5" dirty="0">
                <a:latin typeface="Perpetua"/>
                <a:cs typeface="Perpetua"/>
              </a:rPr>
              <a:t>select </a:t>
            </a:r>
            <a:r>
              <a:rPr sz="4000" dirty="0">
                <a:latin typeface="Perpetua"/>
                <a:cs typeface="Perpetua"/>
              </a:rPr>
              <a:t>and </a:t>
            </a:r>
            <a:r>
              <a:rPr sz="4000" spc="-35" dirty="0">
                <a:latin typeface="Perpetua"/>
                <a:cs typeface="Perpetua"/>
              </a:rPr>
              <a:t>swap</a:t>
            </a:r>
            <a:r>
              <a:rPr sz="4000" spc="-200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process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4724400"/>
            <a:ext cx="977900" cy="457200"/>
          </a:xfrm>
          <a:custGeom>
            <a:avLst/>
            <a:gdLst/>
            <a:ahLst/>
            <a:cxnLst/>
            <a:rect l="l" t="t" r="r" b="b"/>
            <a:pathLst>
              <a:path w="977900" h="457200">
                <a:moveTo>
                  <a:pt x="0" y="457200"/>
                </a:moveTo>
                <a:lnTo>
                  <a:pt x="977900" y="457200"/>
                </a:lnTo>
                <a:lnTo>
                  <a:pt x="9779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E9E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16100" y="4724400"/>
            <a:ext cx="977900" cy="457200"/>
          </a:xfrm>
          <a:custGeom>
            <a:avLst/>
            <a:gdLst/>
            <a:ahLst/>
            <a:cxnLst/>
            <a:rect l="l" t="t" r="r" b="b"/>
            <a:pathLst>
              <a:path w="977900" h="457200">
                <a:moveTo>
                  <a:pt x="0" y="457200"/>
                </a:moveTo>
                <a:lnTo>
                  <a:pt x="977900" y="457200"/>
                </a:lnTo>
                <a:lnTo>
                  <a:pt x="9779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E9E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94000" y="4724400"/>
            <a:ext cx="939800" cy="457200"/>
          </a:xfrm>
          <a:custGeom>
            <a:avLst/>
            <a:gdLst/>
            <a:ahLst/>
            <a:cxnLst/>
            <a:rect l="l" t="t" r="r" b="b"/>
            <a:pathLst>
              <a:path w="939800" h="457200">
                <a:moveTo>
                  <a:pt x="0" y="457200"/>
                </a:moveTo>
                <a:lnTo>
                  <a:pt x="939800" y="457200"/>
                </a:lnTo>
                <a:lnTo>
                  <a:pt x="9398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E9E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33800" y="4724400"/>
            <a:ext cx="1016000" cy="457200"/>
          </a:xfrm>
          <a:custGeom>
            <a:avLst/>
            <a:gdLst/>
            <a:ahLst/>
            <a:cxnLst/>
            <a:rect l="l" t="t" r="r" b="b"/>
            <a:pathLst>
              <a:path w="1016000" h="457200">
                <a:moveTo>
                  <a:pt x="0" y="457200"/>
                </a:moveTo>
                <a:lnTo>
                  <a:pt x="1016000" y="457200"/>
                </a:lnTo>
                <a:lnTo>
                  <a:pt x="1016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E9E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16100" y="4718050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94000" y="4718050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3800" y="4718050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49800" y="4718050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27700" y="4718050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29555" y="4724400"/>
            <a:ext cx="1890395" cy="0"/>
          </a:xfrm>
          <a:custGeom>
            <a:avLst/>
            <a:gdLst/>
            <a:ahLst/>
            <a:cxnLst/>
            <a:rect l="l" t="t" r="r" b="b"/>
            <a:pathLst>
              <a:path w="1890395">
                <a:moveTo>
                  <a:pt x="0" y="0"/>
                </a:moveTo>
                <a:lnTo>
                  <a:pt x="189026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23912" y="4724400"/>
            <a:ext cx="3947795" cy="0"/>
          </a:xfrm>
          <a:custGeom>
            <a:avLst/>
            <a:gdLst/>
            <a:ahLst/>
            <a:cxnLst/>
            <a:rect l="l" t="t" r="r" b="b"/>
            <a:pathLst>
              <a:path w="3947795">
                <a:moveTo>
                  <a:pt x="0" y="0"/>
                </a:moveTo>
                <a:lnTo>
                  <a:pt x="394773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29555" y="5181600"/>
            <a:ext cx="1890395" cy="0"/>
          </a:xfrm>
          <a:custGeom>
            <a:avLst/>
            <a:gdLst/>
            <a:ahLst/>
            <a:cxnLst/>
            <a:rect l="l" t="t" r="r" b="b"/>
            <a:pathLst>
              <a:path w="1890395">
                <a:moveTo>
                  <a:pt x="0" y="0"/>
                </a:moveTo>
                <a:lnTo>
                  <a:pt x="189026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23912" y="5181600"/>
            <a:ext cx="3947795" cy="0"/>
          </a:xfrm>
          <a:custGeom>
            <a:avLst/>
            <a:gdLst/>
            <a:ahLst/>
            <a:cxnLst/>
            <a:rect l="l" t="t" r="r" b="b"/>
            <a:pathLst>
              <a:path w="3947795">
                <a:moveTo>
                  <a:pt x="0" y="0"/>
                </a:moveTo>
                <a:lnTo>
                  <a:pt x="394773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38200" y="4718050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9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05600" y="4718050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9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809244" y="914400"/>
          <a:ext cx="58674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900"/>
                <a:gridCol w="977900"/>
                <a:gridCol w="939800"/>
                <a:gridCol w="1016000"/>
                <a:gridCol w="977900"/>
                <a:gridCol w="977900"/>
              </a:tblGrid>
              <a:tr h="152400">
                <a:tc gridSpan="6">
                  <a:txBody>
                    <a:bodyPr/>
                    <a:lstStyle/>
                    <a:p>
                      <a:pPr marL="215265" algn="ctr">
                        <a:lnSpc>
                          <a:spcPts val="1100"/>
                        </a:lnSpc>
                      </a:pPr>
                      <a:r>
                        <a:rPr sz="2000" spc="5" dirty="0">
                          <a:latin typeface="Perpetua"/>
                          <a:cs typeface="Perpetua"/>
                        </a:rPr>
                        <a:t>Unsorted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72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23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78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45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56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823912" y="1828800"/>
          <a:ext cx="58674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/>
                <a:gridCol w="965200"/>
                <a:gridCol w="939800"/>
                <a:gridCol w="1016000"/>
                <a:gridCol w="977900"/>
                <a:gridCol w="977900"/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823912" y="2743200"/>
          <a:ext cx="5867399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900"/>
                <a:gridCol w="1002030"/>
                <a:gridCol w="915669"/>
                <a:gridCol w="1016000"/>
                <a:gridCol w="977900"/>
                <a:gridCol w="977900"/>
              </a:tblGrid>
              <a:tr h="152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823912" y="3657600"/>
          <a:ext cx="58674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900"/>
                <a:gridCol w="977900"/>
                <a:gridCol w="939800"/>
                <a:gridCol w="1016000"/>
                <a:gridCol w="977900"/>
                <a:gridCol w="977900"/>
              </a:tblGrid>
              <a:tr h="1524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6922769" y="1244853"/>
            <a:ext cx="1215390" cy="1063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Original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List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1600" spc="-5" dirty="0">
                <a:latin typeface="Times New Roman"/>
                <a:cs typeface="Times New Roman"/>
              </a:rPr>
              <a:t>After pass 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38009" y="2999054"/>
            <a:ext cx="106997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After pass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50">
              <a:latin typeface="Times New Roman"/>
              <a:cs typeface="Times New Roman"/>
            </a:endParaRPr>
          </a:p>
          <a:p>
            <a:pPr marL="7366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After pass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98969" y="4783073"/>
            <a:ext cx="1009015" cy="1106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After pass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After pass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800600" y="4572000"/>
            <a:ext cx="0" cy="7620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823912" y="5486400"/>
          <a:ext cx="58674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900"/>
                <a:gridCol w="977900"/>
                <a:gridCol w="939800"/>
                <a:gridCol w="1016000"/>
                <a:gridCol w="965200"/>
                <a:gridCol w="990600"/>
              </a:tblGrid>
              <a:tr h="15240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9E4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6" name="object 26"/>
          <p:cNvSpPr txBox="1"/>
          <p:nvPr/>
        </p:nvSpPr>
        <p:spPr>
          <a:xfrm>
            <a:off x="78739" y="134823"/>
            <a:ext cx="3007995" cy="955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6900" indent="-280035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597535" algn="l"/>
              </a:tabLst>
            </a:pPr>
            <a:r>
              <a:rPr sz="2800" i="1" spc="-25" dirty="0">
                <a:latin typeface="Perpetua"/>
                <a:cs typeface="Perpetua"/>
              </a:rPr>
              <a:t>Perform </a:t>
            </a:r>
            <a:r>
              <a:rPr sz="2800" i="1" spc="-5" dirty="0">
                <a:latin typeface="Perpetua"/>
                <a:cs typeface="Perpetua"/>
              </a:rPr>
              <a:t>selection</a:t>
            </a:r>
            <a:r>
              <a:rPr sz="2800" i="1" spc="15" dirty="0">
                <a:latin typeface="Perpetua"/>
                <a:cs typeface="Perpetua"/>
              </a:rPr>
              <a:t> sort</a:t>
            </a:r>
            <a:endParaRPr sz="2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10" dirty="0">
                <a:latin typeface="Perpetua"/>
                <a:cs typeface="Perpetua"/>
              </a:rPr>
              <a:t>Sorted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05721" y="3049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4724400"/>
            <a:ext cx="977900" cy="457200"/>
          </a:xfrm>
          <a:custGeom>
            <a:avLst/>
            <a:gdLst/>
            <a:ahLst/>
            <a:cxnLst/>
            <a:rect l="l" t="t" r="r" b="b"/>
            <a:pathLst>
              <a:path w="977900" h="457200">
                <a:moveTo>
                  <a:pt x="0" y="457200"/>
                </a:moveTo>
                <a:lnTo>
                  <a:pt x="977900" y="457200"/>
                </a:lnTo>
                <a:lnTo>
                  <a:pt x="9779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16100" y="4724400"/>
            <a:ext cx="977900" cy="457200"/>
          </a:xfrm>
          <a:custGeom>
            <a:avLst/>
            <a:gdLst/>
            <a:ahLst/>
            <a:cxnLst/>
            <a:rect l="l" t="t" r="r" b="b"/>
            <a:pathLst>
              <a:path w="977900" h="457200">
                <a:moveTo>
                  <a:pt x="0" y="457200"/>
                </a:moveTo>
                <a:lnTo>
                  <a:pt x="977900" y="457200"/>
                </a:lnTo>
                <a:lnTo>
                  <a:pt x="9779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94000" y="4724400"/>
            <a:ext cx="939800" cy="457200"/>
          </a:xfrm>
          <a:custGeom>
            <a:avLst/>
            <a:gdLst/>
            <a:ahLst/>
            <a:cxnLst/>
            <a:rect l="l" t="t" r="r" b="b"/>
            <a:pathLst>
              <a:path w="939800" h="457200">
                <a:moveTo>
                  <a:pt x="0" y="457200"/>
                </a:moveTo>
                <a:lnTo>
                  <a:pt x="939800" y="457200"/>
                </a:lnTo>
                <a:lnTo>
                  <a:pt x="9398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33800" y="4724400"/>
            <a:ext cx="1016000" cy="457200"/>
          </a:xfrm>
          <a:custGeom>
            <a:avLst/>
            <a:gdLst/>
            <a:ahLst/>
            <a:cxnLst/>
            <a:rect l="l" t="t" r="r" b="b"/>
            <a:pathLst>
              <a:path w="1016000" h="457200">
                <a:moveTo>
                  <a:pt x="0" y="457200"/>
                </a:moveTo>
                <a:lnTo>
                  <a:pt x="1016000" y="457200"/>
                </a:lnTo>
                <a:lnTo>
                  <a:pt x="1016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16100" y="4718050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94000" y="4718050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33800" y="4718050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49800" y="4718050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27700" y="4718050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29555" y="4724400"/>
            <a:ext cx="1890395" cy="0"/>
          </a:xfrm>
          <a:custGeom>
            <a:avLst/>
            <a:gdLst/>
            <a:ahLst/>
            <a:cxnLst/>
            <a:rect l="l" t="t" r="r" b="b"/>
            <a:pathLst>
              <a:path w="1890395">
                <a:moveTo>
                  <a:pt x="0" y="0"/>
                </a:moveTo>
                <a:lnTo>
                  <a:pt x="189026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23912" y="4724400"/>
            <a:ext cx="3947795" cy="0"/>
          </a:xfrm>
          <a:custGeom>
            <a:avLst/>
            <a:gdLst/>
            <a:ahLst/>
            <a:cxnLst/>
            <a:rect l="l" t="t" r="r" b="b"/>
            <a:pathLst>
              <a:path w="3947795">
                <a:moveTo>
                  <a:pt x="0" y="0"/>
                </a:moveTo>
                <a:lnTo>
                  <a:pt x="394773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29555" y="5181600"/>
            <a:ext cx="1890395" cy="0"/>
          </a:xfrm>
          <a:custGeom>
            <a:avLst/>
            <a:gdLst/>
            <a:ahLst/>
            <a:cxnLst/>
            <a:rect l="l" t="t" r="r" b="b"/>
            <a:pathLst>
              <a:path w="1890395">
                <a:moveTo>
                  <a:pt x="0" y="0"/>
                </a:moveTo>
                <a:lnTo>
                  <a:pt x="189026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23912" y="5181600"/>
            <a:ext cx="3947795" cy="0"/>
          </a:xfrm>
          <a:custGeom>
            <a:avLst/>
            <a:gdLst/>
            <a:ahLst/>
            <a:cxnLst/>
            <a:rect l="l" t="t" r="r" b="b"/>
            <a:pathLst>
              <a:path w="3947795">
                <a:moveTo>
                  <a:pt x="0" y="0"/>
                </a:moveTo>
                <a:lnTo>
                  <a:pt x="394773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38200" y="4718050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9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05600" y="4718050"/>
            <a:ext cx="0" cy="469900"/>
          </a:xfrm>
          <a:custGeom>
            <a:avLst/>
            <a:gdLst/>
            <a:ahLst/>
            <a:cxnLst/>
            <a:rect l="l" t="t" r="r" b="b"/>
            <a:pathLst>
              <a:path h="469900">
                <a:moveTo>
                  <a:pt x="0" y="0"/>
                </a:moveTo>
                <a:lnTo>
                  <a:pt x="0" y="4699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809244" y="914400"/>
          <a:ext cx="58674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900"/>
                <a:gridCol w="977900"/>
                <a:gridCol w="939800"/>
                <a:gridCol w="1016000"/>
                <a:gridCol w="977900"/>
                <a:gridCol w="977900"/>
              </a:tblGrid>
              <a:tr h="152400">
                <a:tc gridSpan="6">
                  <a:txBody>
                    <a:bodyPr/>
                    <a:lstStyle/>
                    <a:p>
                      <a:pPr marL="215265" algn="ctr">
                        <a:lnSpc>
                          <a:spcPts val="1100"/>
                        </a:lnSpc>
                      </a:pPr>
                      <a:r>
                        <a:rPr sz="2000" spc="5" dirty="0">
                          <a:latin typeface="Perpetua"/>
                          <a:cs typeface="Perpetua"/>
                        </a:rPr>
                        <a:t>Unsorted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72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23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78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45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56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823912" y="1828800"/>
          <a:ext cx="58674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/>
                <a:gridCol w="965200"/>
                <a:gridCol w="939800"/>
                <a:gridCol w="1016000"/>
                <a:gridCol w="977900"/>
                <a:gridCol w="977900"/>
              </a:tblGrid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823912" y="2743200"/>
          <a:ext cx="5867399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900"/>
                <a:gridCol w="1002030"/>
                <a:gridCol w="915669"/>
                <a:gridCol w="1016000"/>
                <a:gridCol w="977900"/>
                <a:gridCol w="977900"/>
              </a:tblGrid>
              <a:tr h="152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823912" y="3657600"/>
          <a:ext cx="58674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900"/>
                <a:gridCol w="977900"/>
                <a:gridCol w="939800"/>
                <a:gridCol w="1016000"/>
                <a:gridCol w="977900"/>
                <a:gridCol w="977900"/>
              </a:tblGrid>
              <a:tr h="1524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6922769" y="1244853"/>
            <a:ext cx="1215390" cy="1063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Original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List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1600" spc="-5" dirty="0">
                <a:latin typeface="Times New Roman"/>
                <a:cs typeface="Times New Roman"/>
              </a:rPr>
              <a:t>After pass 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38009" y="2999054"/>
            <a:ext cx="106997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After pass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50">
              <a:latin typeface="Times New Roman"/>
              <a:cs typeface="Times New Roman"/>
            </a:endParaRPr>
          </a:p>
          <a:p>
            <a:pPr marL="7366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After pass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98969" y="4783073"/>
            <a:ext cx="1009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After pass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739" y="758697"/>
            <a:ext cx="6381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Perpetua"/>
                <a:cs typeface="Perpetua"/>
              </a:rPr>
              <a:t>So</a:t>
            </a:r>
            <a:r>
              <a:rPr sz="2000" spc="60" dirty="0">
                <a:latin typeface="Perpetua"/>
                <a:cs typeface="Perpetua"/>
              </a:rPr>
              <a:t>r</a:t>
            </a:r>
            <a:r>
              <a:rPr sz="2000" dirty="0">
                <a:latin typeface="Perpetua"/>
                <a:cs typeface="Perpetua"/>
              </a:rPr>
              <a:t>ted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00600" y="4572000"/>
            <a:ext cx="0" cy="7620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 w="57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823912" y="5486400"/>
          <a:ext cx="58674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900"/>
                <a:gridCol w="977900"/>
                <a:gridCol w="939800"/>
                <a:gridCol w="1016000"/>
                <a:gridCol w="965200"/>
                <a:gridCol w="990600"/>
              </a:tblGrid>
              <a:tr h="15240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6998969" y="5643293"/>
            <a:ext cx="100901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600" spc="-5" dirty="0">
                <a:latin typeface="Times New Roman"/>
                <a:cs typeface="Times New Roman"/>
              </a:rPr>
              <a:t>After pass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383540" y="114046"/>
            <a:ext cx="1555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FF0000"/>
                </a:solidFill>
                <a:latin typeface="Perpetua"/>
                <a:cs typeface="Perpetua"/>
              </a:rPr>
              <a:t>Solution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09243" y="914400"/>
          <a:ext cx="5868670" cy="533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900"/>
                <a:gridCol w="977900"/>
                <a:gridCol w="939800"/>
                <a:gridCol w="1016000"/>
                <a:gridCol w="80010"/>
                <a:gridCol w="898525"/>
                <a:gridCol w="978535"/>
              </a:tblGrid>
              <a:tr h="152400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72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23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78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45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56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72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78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45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23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56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72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23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45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78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32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56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72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23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78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45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56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72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23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32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45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78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56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23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32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45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56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78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998969" y="5643293"/>
            <a:ext cx="100901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sz="1600" spc="-5" dirty="0">
                <a:latin typeface="Times New Roman"/>
                <a:cs typeface="Times New Roman"/>
              </a:rPr>
              <a:t>After pass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2769" y="1244853"/>
            <a:ext cx="1215390" cy="1063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Original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List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1600" spc="-5" dirty="0">
                <a:latin typeface="Times New Roman"/>
                <a:cs typeface="Times New Roman"/>
              </a:rPr>
              <a:t>After pass 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38009" y="2999054"/>
            <a:ext cx="106997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After pass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50">
              <a:latin typeface="Times New Roman"/>
              <a:cs typeface="Times New Roman"/>
            </a:endParaRPr>
          </a:p>
          <a:p>
            <a:pPr marL="7366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After pass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8969" y="4783073"/>
            <a:ext cx="1009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After pass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3540" y="403605"/>
            <a:ext cx="822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/>
              <a:t>Sorted</a:t>
            </a:r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3889375" y="403605"/>
            <a:ext cx="1143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Unsorted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62102"/>
            <a:ext cx="76053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0" indent="-280035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i="1" spc="-25" dirty="0">
                <a:latin typeface="Perpetua"/>
                <a:cs typeface="Perpetua"/>
              </a:rPr>
              <a:t>Perform </a:t>
            </a:r>
            <a:r>
              <a:rPr sz="2800" i="1" spc="-5" dirty="0">
                <a:latin typeface="Perpetua"/>
                <a:cs typeface="Perpetua"/>
              </a:rPr>
              <a:t>selection </a:t>
            </a:r>
            <a:r>
              <a:rPr sz="2800" i="1" spc="15" dirty="0">
                <a:latin typeface="Perpetua"/>
                <a:cs typeface="Perpetua"/>
              </a:rPr>
              <a:t>sort </a:t>
            </a:r>
            <a:r>
              <a:rPr sz="2800" i="1" spc="-5" dirty="0">
                <a:latin typeface="Perpetua"/>
                <a:cs typeface="Perpetua"/>
              </a:rPr>
              <a:t>: </a:t>
            </a:r>
            <a:r>
              <a:rPr sz="2800" i="1" spc="-20" dirty="0">
                <a:latin typeface="Perpetua"/>
                <a:cs typeface="Perpetua"/>
              </a:rPr>
              <a:t>show </a:t>
            </a:r>
            <a:r>
              <a:rPr sz="2800" i="1" spc="-5" dirty="0">
                <a:latin typeface="Perpetua"/>
                <a:cs typeface="Perpetua"/>
              </a:rPr>
              <a:t>the scan, selection and </a:t>
            </a:r>
            <a:r>
              <a:rPr sz="2800" i="1" spc="-40" dirty="0">
                <a:latin typeface="Perpetua"/>
                <a:cs typeface="Perpetua"/>
              </a:rPr>
              <a:t>swap</a:t>
            </a:r>
            <a:r>
              <a:rPr sz="2800" i="1" spc="-415" dirty="0">
                <a:latin typeface="Perpetua"/>
                <a:cs typeface="Perpetua"/>
              </a:rPr>
              <a:t> </a:t>
            </a:r>
            <a:r>
              <a:rPr sz="2800" i="1" spc="-15" dirty="0">
                <a:latin typeface="Perpetua"/>
                <a:cs typeface="Perpetua"/>
              </a:rPr>
              <a:t>process.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95600" y="1219200"/>
            <a:ext cx="966215" cy="2819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72400" y="990600"/>
            <a:ext cx="1152144" cy="1010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7340" y="4236796"/>
            <a:ext cx="6982459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2575" indent="-270510">
              <a:lnSpc>
                <a:spcPct val="100000"/>
              </a:lnSpc>
              <a:spcBef>
                <a:spcPts val="100"/>
              </a:spcBef>
              <a:buSzPct val="96296"/>
              <a:buFont typeface="Wingdings"/>
              <a:buChar char=""/>
              <a:tabLst>
                <a:tab pos="283210" algn="l"/>
              </a:tabLst>
            </a:pPr>
            <a:r>
              <a:rPr sz="2700" i="1" spc="-20" dirty="0">
                <a:latin typeface="Perpetua"/>
                <a:cs typeface="Perpetua"/>
              </a:rPr>
              <a:t>Perform </a:t>
            </a:r>
            <a:r>
              <a:rPr sz="2700" i="1" spc="15" dirty="0">
                <a:latin typeface="Perpetua"/>
                <a:cs typeface="Perpetua"/>
              </a:rPr>
              <a:t>sort </a:t>
            </a:r>
            <a:r>
              <a:rPr sz="2700" i="1" spc="-40" dirty="0">
                <a:latin typeface="Perpetua"/>
                <a:cs typeface="Perpetua"/>
              </a:rPr>
              <a:t>by </a:t>
            </a:r>
            <a:r>
              <a:rPr sz="2700" i="1" spc="-5" dirty="0">
                <a:latin typeface="Perpetua"/>
                <a:cs typeface="Perpetua"/>
              </a:rPr>
              <a:t>selecting </a:t>
            </a:r>
            <a:r>
              <a:rPr sz="2700" i="1" dirty="0">
                <a:latin typeface="Perpetua"/>
                <a:cs typeface="Perpetua"/>
              </a:rPr>
              <a:t>the </a:t>
            </a:r>
            <a:r>
              <a:rPr sz="2700" i="1" spc="-25" dirty="0">
                <a:latin typeface="Perpetua"/>
                <a:cs typeface="Perpetua"/>
              </a:rPr>
              <a:t>largest </a:t>
            </a:r>
            <a:r>
              <a:rPr sz="2700" i="1" spc="-5" dirty="0">
                <a:latin typeface="Perpetua"/>
                <a:cs typeface="Perpetua"/>
              </a:rPr>
              <a:t>element </a:t>
            </a:r>
            <a:r>
              <a:rPr sz="2700" i="1" dirty="0">
                <a:latin typeface="Perpetua"/>
                <a:cs typeface="Perpetua"/>
              </a:rPr>
              <a:t>and </a:t>
            </a:r>
            <a:r>
              <a:rPr sz="2700" i="1" spc="-15" dirty="0">
                <a:latin typeface="Perpetua"/>
                <a:cs typeface="Perpetua"/>
              </a:rPr>
              <a:t>swapping</a:t>
            </a:r>
            <a:r>
              <a:rPr sz="2700" i="1" spc="165" dirty="0">
                <a:latin typeface="Perpetua"/>
                <a:cs typeface="Perpetua"/>
              </a:rPr>
              <a:t> </a:t>
            </a:r>
            <a:r>
              <a:rPr sz="2700" i="1" spc="-5" dirty="0">
                <a:latin typeface="Perpetua"/>
                <a:cs typeface="Perpetua"/>
              </a:rPr>
              <a:t>it.</a:t>
            </a:r>
            <a:endParaRPr sz="2700">
              <a:latin typeface="Perpetua"/>
              <a:cs typeface="Perpetu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98931" y="5334000"/>
          <a:ext cx="7315200" cy="4983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498347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65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-1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58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3734561" y="534542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70"/>
                </a:lnTo>
                <a:lnTo>
                  <a:pt x="439233" y="317580"/>
                </a:lnTo>
                <a:lnTo>
                  <a:pt x="418154" y="356411"/>
                </a:lnTo>
                <a:lnTo>
                  <a:pt x="390239" y="390244"/>
                </a:lnTo>
                <a:lnTo>
                  <a:pt x="356406" y="418158"/>
                </a:lnTo>
                <a:lnTo>
                  <a:pt x="317575" y="439235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5"/>
                </a:lnTo>
                <a:lnTo>
                  <a:pt x="100793" y="418158"/>
                </a:lnTo>
                <a:lnTo>
                  <a:pt x="66960" y="390244"/>
                </a:lnTo>
                <a:lnTo>
                  <a:pt x="39045" y="356411"/>
                </a:lnTo>
                <a:lnTo>
                  <a:pt x="17966" y="317580"/>
                </a:lnTo>
                <a:lnTo>
                  <a:pt x="4644" y="274670"/>
                </a:lnTo>
                <a:lnTo>
                  <a:pt x="0" y="228600"/>
                </a:lnTo>
                <a:close/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63161" y="5105780"/>
            <a:ext cx="3657600" cy="231140"/>
          </a:xfrm>
          <a:custGeom>
            <a:avLst/>
            <a:gdLst/>
            <a:ahLst/>
            <a:cxnLst/>
            <a:rect l="l" t="t" r="r" b="b"/>
            <a:pathLst>
              <a:path w="3657600" h="231139">
                <a:moveTo>
                  <a:pt x="3542460" y="175361"/>
                </a:moveTo>
                <a:lnTo>
                  <a:pt x="3516121" y="218186"/>
                </a:lnTo>
                <a:lnTo>
                  <a:pt x="3657599" y="230632"/>
                </a:lnTo>
                <a:lnTo>
                  <a:pt x="3626918" y="181229"/>
                </a:lnTo>
                <a:lnTo>
                  <a:pt x="3555491" y="181229"/>
                </a:lnTo>
                <a:lnTo>
                  <a:pt x="3542460" y="175361"/>
                </a:lnTo>
                <a:close/>
              </a:path>
              <a:path w="3657600" h="231139">
                <a:moveTo>
                  <a:pt x="18414" y="131572"/>
                </a:moveTo>
                <a:lnTo>
                  <a:pt x="0" y="228981"/>
                </a:lnTo>
                <a:lnTo>
                  <a:pt x="99187" y="229489"/>
                </a:lnTo>
                <a:lnTo>
                  <a:pt x="73205" y="197993"/>
                </a:lnTo>
                <a:lnTo>
                  <a:pt x="55499" y="197993"/>
                </a:lnTo>
                <a:lnTo>
                  <a:pt x="42417" y="179197"/>
                </a:lnTo>
                <a:lnTo>
                  <a:pt x="52128" y="172441"/>
                </a:lnTo>
                <a:lnTo>
                  <a:pt x="18414" y="131572"/>
                </a:lnTo>
                <a:close/>
              </a:path>
              <a:path w="3657600" h="231139">
                <a:moveTo>
                  <a:pt x="52128" y="172441"/>
                </a:moveTo>
                <a:lnTo>
                  <a:pt x="42417" y="179197"/>
                </a:lnTo>
                <a:lnTo>
                  <a:pt x="55499" y="197993"/>
                </a:lnTo>
                <a:lnTo>
                  <a:pt x="66698" y="190104"/>
                </a:lnTo>
                <a:lnTo>
                  <a:pt x="52128" y="172441"/>
                </a:lnTo>
                <a:close/>
              </a:path>
              <a:path w="3657600" h="231139">
                <a:moveTo>
                  <a:pt x="66698" y="190104"/>
                </a:moveTo>
                <a:lnTo>
                  <a:pt x="55499" y="197993"/>
                </a:lnTo>
                <a:lnTo>
                  <a:pt x="73205" y="197993"/>
                </a:lnTo>
                <a:lnTo>
                  <a:pt x="66698" y="190104"/>
                </a:lnTo>
                <a:close/>
              </a:path>
              <a:path w="3657600" h="231139">
                <a:moveTo>
                  <a:pt x="1828673" y="0"/>
                </a:moveTo>
                <a:lnTo>
                  <a:pt x="1657350" y="1270"/>
                </a:lnTo>
                <a:lnTo>
                  <a:pt x="1487297" y="4826"/>
                </a:lnTo>
                <a:lnTo>
                  <a:pt x="1319911" y="10795"/>
                </a:lnTo>
                <a:lnTo>
                  <a:pt x="1156589" y="18669"/>
                </a:lnTo>
                <a:lnTo>
                  <a:pt x="922020" y="34163"/>
                </a:lnTo>
                <a:lnTo>
                  <a:pt x="704088" y="53340"/>
                </a:lnTo>
                <a:lnTo>
                  <a:pt x="570102" y="68072"/>
                </a:lnTo>
                <a:lnTo>
                  <a:pt x="506984" y="75946"/>
                </a:lnTo>
                <a:lnTo>
                  <a:pt x="446913" y="84074"/>
                </a:lnTo>
                <a:lnTo>
                  <a:pt x="389636" y="92456"/>
                </a:lnTo>
                <a:lnTo>
                  <a:pt x="335534" y="101092"/>
                </a:lnTo>
                <a:lnTo>
                  <a:pt x="284861" y="109982"/>
                </a:lnTo>
                <a:lnTo>
                  <a:pt x="237616" y="119126"/>
                </a:lnTo>
                <a:lnTo>
                  <a:pt x="194055" y="128524"/>
                </a:lnTo>
                <a:lnTo>
                  <a:pt x="154177" y="138049"/>
                </a:lnTo>
                <a:lnTo>
                  <a:pt x="86487" y="157734"/>
                </a:lnTo>
                <a:lnTo>
                  <a:pt x="52128" y="172441"/>
                </a:lnTo>
                <a:lnTo>
                  <a:pt x="66698" y="190104"/>
                </a:lnTo>
                <a:lnTo>
                  <a:pt x="68120" y="189103"/>
                </a:lnTo>
                <a:lnTo>
                  <a:pt x="67437" y="189103"/>
                </a:lnTo>
                <a:lnTo>
                  <a:pt x="70103" y="187706"/>
                </a:lnTo>
                <a:lnTo>
                  <a:pt x="71233" y="187706"/>
                </a:lnTo>
                <a:lnTo>
                  <a:pt x="94361" y="179197"/>
                </a:lnTo>
                <a:lnTo>
                  <a:pt x="125095" y="169672"/>
                </a:lnTo>
                <a:lnTo>
                  <a:pt x="199389" y="150749"/>
                </a:lnTo>
                <a:lnTo>
                  <a:pt x="242442" y="141478"/>
                </a:lnTo>
                <a:lnTo>
                  <a:pt x="289178" y="132461"/>
                </a:lnTo>
                <a:lnTo>
                  <a:pt x="339598" y="123571"/>
                </a:lnTo>
                <a:lnTo>
                  <a:pt x="393191" y="115062"/>
                </a:lnTo>
                <a:lnTo>
                  <a:pt x="450214" y="106680"/>
                </a:lnTo>
                <a:lnTo>
                  <a:pt x="510032" y="98552"/>
                </a:lnTo>
                <a:lnTo>
                  <a:pt x="638428" y="83312"/>
                </a:lnTo>
                <a:lnTo>
                  <a:pt x="776859" y="69342"/>
                </a:lnTo>
                <a:lnTo>
                  <a:pt x="923925" y="56896"/>
                </a:lnTo>
                <a:lnTo>
                  <a:pt x="1078357" y="46228"/>
                </a:lnTo>
                <a:lnTo>
                  <a:pt x="1157986" y="41529"/>
                </a:lnTo>
                <a:lnTo>
                  <a:pt x="1321053" y="33655"/>
                </a:lnTo>
                <a:lnTo>
                  <a:pt x="1488059" y="27686"/>
                </a:lnTo>
                <a:lnTo>
                  <a:pt x="1657730" y="24130"/>
                </a:lnTo>
                <a:lnTo>
                  <a:pt x="2567706" y="22860"/>
                </a:lnTo>
                <a:lnTo>
                  <a:pt x="2337562" y="10922"/>
                </a:lnTo>
                <a:lnTo>
                  <a:pt x="2170176" y="4953"/>
                </a:lnTo>
                <a:lnTo>
                  <a:pt x="2000123" y="1270"/>
                </a:lnTo>
                <a:lnTo>
                  <a:pt x="1828673" y="0"/>
                </a:lnTo>
                <a:close/>
              </a:path>
              <a:path w="3657600" h="231139">
                <a:moveTo>
                  <a:pt x="70103" y="187706"/>
                </a:moveTo>
                <a:lnTo>
                  <a:pt x="67437" y="189103"/>
                </a:lnTo>
                <a:lnTo>
                  <a:pt x="68868" y="188576"/>
                </a:lnTo>
                <a:lnTo>
                  <a:pt x="70103" y="187706"/>
                </a:lnTo>
                <a:close/>
              </a:path>
              <a:path w="3657600" h="231139">
                <a:moveTo>
                  <a:pt x="68868" y="188576"/>
                </a:moveTo>
                <a:lnTo>
                  <a:pt x="67437" y="189103"/>
                </a:lnTo>
                <a:lnTo>
                  <a:pt x="68120" y="189103"/>
                </a:lnTo>
                <a:lnTo>
                  <a:pt x="68868" y="188576"/>
                </a:lnTo>
                <a:close/>
              </a:path>
              <a:path w="3657600" h="231139">
                <a:moveTo>
                  <a:pt x="71233" y="187706"/>
                </a:moveTo>
                <a:lnTo>
                  <a:pt x="70103" y="187706"/>
                </a:lnTo>
                <a:lnTo>
                  <a:pt x="68868" y="188576"/>
                </a:lnTo>
                <a:lnTo>
                  <a:pt x="71233" y="187706"/>
                </a:lnTo>
                <a:close/>
              </a:path>
              <a:path w="3657600" h="231139">
                <a:moveTo>
                  <a:pt x="3554579" y="155655"/>
                </a:moveTo>
                <a:lnTo>
                  <a:pt x="3542460" y="175361"/>
                </a:lnTo>
                <a:lnTo>
                  <a:pt x="3555491" y="181229"/>
                </a:lnTo>
                <a:lnTo>
                  <a:pt x="3564890" y="160274"/>
                </a:lnTo>
                <a:lnTo>
                  <a:pt x="3554579" y="155655"/>
                </a:lnTo>
                <a:close/>
              </a:path>
              <a:path w="3657600" h="231139">
                <a:moveTo>
                  <a:pt x="3582669" y="109982"/>
                </a:moveTo>
                <a:lnTo>
                  <a:pt x="3554579" y="155655"/>
                </a:lnTo>
                <a:lnTo>
                  <a:pt x="3564890" y="160274"/>
                </a:lnTo>
                <a:lnTo>
                  <a:pt x="3555491" y="181229"/>
                </a:lnTo>
                <a:lnTo>
                  <a:pt x="3626918" y="181229"/>
                </a:lnTo>
                <a:lnTo>
                  <a:pt x="3582669" y="109982"/>
                </a:lnTo>
                <a:close/>
              </a:path>
              <a:path w="3657600" h="231139">
                <a:moveTo>
                  <a:pt x="3531547" y="170447"/>
                </a:moveTo>
                <a:lnTo>
                  <a:pt x="3542460" y="175361"/>
                </a:lnTo>
                <a:lnTo>
                  <a:pt x="3545256" y="170815"/>
                </a:lnTo>
                <a:lnTo>
                  <a:pt x="3532886" y="170815"/>
                </a:lnTo>
                <a:lnTo>
                  <a:pt x="3531547" y="170447"/>
                </a:lnTo>
                <a:close/>
              </a:path>
              <a:path w="3657600" h="231139">
                <a:moveTo>
                  <a:pt x="3531235" y="170307"/>
                </a:moveTo>
                <a:lnTo>
                  <a:pt x="3531547" y="170447"/>
                </a:lnTo>
                <a:lnTo>
                  <a:pt x="3532886" y="170815"/>
                </a:lnTo>
                <a:lnTo>
                  <a:pt x="3531235" y="170307"/>
                </a:lnTo>
                <a:close/>
              </a:path>
              <a:path w="3657600" h="231139">
                <a:moveTo>
                  <a:pt x="3545568" y="170307"/>
                </a:moveTo>
                <a:lnTo>
                  <a:pt x="3531235" y="170307"/>
                </a:lnTo>
                <a:lnTo>
                  <a:pt x="3532886" y="170815"/>
                </a:lnTo>
                <a:lnTo>
                  <a:pt x="3545256" y="170815"/>
                </a:lnTo>
                <a:lnTo>
                  <a:pt x="3545568" y="170307"/>
                </a:lnTo>
                <a:close/>
              </a:path>
              <a:path w="3657600" h="231139">
                <a:moveTo>
                  <a:pt x="2567706" y="22860"/>
                </a:moveTo>
                <a:lnTo>
                  <a:pt x="1828927" y="22860"/>
                </a:lnTo>
                <a:lnTo>
                  <a:pt x="1999996" y="24130"/>
                </a:lnTo>
                <a:lnTo>
                  <a:pt x="2169667" y="27813"/>
                </a:lnTo>
                <a:lnTo>
                  <a:pt x="2336800" y="33655"/>
                </a:lnTo>
                <a:lnTo>
                  <a:pt x="2499741" y="41656"/>
                </a:lnTo>
                <a:lnTo>
                  <a:pt x="2657347" y="51562"/>
                </a:lnTo>
                <a:lnTo>
                  <a:pt x="2880867" y="69723"/>
                </a:lnTo>
                <a:lnTo>
                  <a:pt x="3019297" y="83693"/>
                </a:lnTo>
                <a:lnTo>
                  <a:pt x="3147694" y="99187"/>
                </a:lnTo>
                <a:lnTo>
                  <a:pt x="3207512" y="107315"/>
                </a:lnTo>
                <a:lnTo>
                  <a:pt x="3264535" y="115697"/>
                </a:lnTo>
                <a:lnTo>
                  <a:pt x="3318256" y="124460"/>
                </a:lnTo>
                <a:lnTo>
                  <a:pt x="3368674" y="133350"/>
                </a:lnTo>
                <a:lnTo>
                  <a:pt x="3415411" y="142494"/>
                </a:lnTo>
                <a:lnTo>
                  <a:pt x="3458464" y="151765"/>
                </a:lnTo>
                <a:lnTo>
                  <a:pt x="3497707" y="161163"/>
                </a:lnTo>
                <a:lnTo>
                  <a:pt x="3531547" y="170447"/>
                </a:lnTo>
                <a:lnTo>
                  <a:pt x="3531235" y="170307"/>
                </a:lnTo>
                <a:lnTo>
                  <a:pt x="3545568" y="170307"/>
                </a:lnTo>
                <a:lnTo>
                  <a:pt x="3554579" y="155655"/>
                </a:lnTo>
                <a:lnTo>
                  <a:pt x="3540506" y="149352"/>
                </a:lnTo>
                <a:lnTo>
                  <a:pt x="3539997" y="149098"/>
                </a:lnTo>
                <a:lnTo>
                  <a:pt x="3539490" y="148971"/>
                </a:lnTo>
                <a:lnTo>
                  <a:pt x="3538855" y="148844"/>
                </a:lnTo>
                <a:lnTo>
                  <a:pt x="3503167" y="139065"/>
                </a:lnTo>
                <a:lnTo>
                  <a:pt x="3463290" y="129413"/>
                </a:lnTo>
                <a:lnTo>
                  <a:pt x="3419729" y="120015"/>
                </a:lnTo>
                <a:lnTo>
                  <a:pt x="3372612" y="110871"/>
                </a:lnTo>
                <a:lnTo>
                  <a:pt x="3321812" y="101854"/>
                </a:lnTo>
                <a:lnTo>
                  <a:pt x="3267837" y="93091"/>
                </a:lnTo>
                <a:lnTo>
                  <a:pt x="3150489" y="76454"/>
                </a:lnTo>
                <a:lnTo>
                  <a:pt x="3087369" y="68580"/>
                </a:lnTo>
                <a:lnTo>
                  <a:pt x="2953512" y="53721"/>
                </a:lnTo>
                <a:lnTo>
                  <a:pt x="2810256" y="40513"/>
                </a:lnTo>
                <a:lnTo>
                  <a:pt x="2658871" y="28829"/>
                </a:lnTo>
                <a:lnTo>
                  <a:pt x="2567706" y="22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662686"/>
            <a:ext cx="1555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FF0000"/>
                </a:solidFill>
                <a:latin typeface="Perpetua"/>
                <a:cs typeface="Perpetua"/>
              </a:rPr>
              <a:t>Solution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90600" y="1524000"/>
            <a:ext cx="7086600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4456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Perpetua"/>
                <a:cs typeface="Perpetua"/>
              </a:rPr>
              <a:t>Selection </a:t>
            </a:r>
            <a:r>
              <a:rPr sz="4000" spc="30" dirty="0">
                <a:latin typeface="Perpetua"/>
                <a:cs typeface="Perpetua"/>
              </a:rPr>
              <a:t>sort</a:t>
            </a:r>
            <a:r>
              <a:rPr sz="4000" spc="-40" dirty="0">
                <a:latin typeface="Perpetua"/>
                <a:cs typeface="Perpetua"/>
              </a:rPr>
              <a:t> </a:t>
            </a:r>
            <a:r>
              <a:rPr sz="4000" spc="5" dirty="0">
                <a:latin typeface="Perpetua"/>
                <a:cs typeface="Perpetua"/>
              </a:rPr>
              <a:t>algorithm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527026"/>
            <a:ext cx="4406265" cy="2017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121410" indent="-274320">
              <a:lnSpc>
                <a:spcPct val="115399"/>
              </a:lnSpc>
              <a:spcBef>
                <a:spcPts val="105"/>
              </a:spcBef>
              <a:tabLst>
                <a:tab pos="2047875" algn="l"/>
              </a:tabLst>
            </a:pPr>
            <a:r>
              <a:rPr sz="2800" spc="-5" dirty="0">
                <a:latin typeface="Perpetua"/>
                <a:cs typeface="Perpetua"/>
              </a:rPr>
              <a:t>n </a:t>
            </a:r>
            <a:r>
              <a:rPr sz="2800" spc="-5" dirty="0">
                <a:latin typeface="Times New Roman"/>
                <a:cs typeface="Times New Roman"/>
              </a:rPr>
              <a:t>← </a:t>
            </a:r>
            <a:r>
              <a:rPr sz="2800" spc="-5" dirty="0">
                <a:latin typeface="Perpetua"/>
                <a:cs typeface="Perpetua"/>
              </a:rPr>
              <a:t>length of the list A  </a:t>
            </a:r>
            <a:r>
              <a:rPr sz="2800" spc="-10" dirty="0">
                <a:latin typeface="Perpetua"/>
                <a:cs typeface="Perpetua"/>
              </a:rPr>
              <a:t>Repeat</a:t>
            </a:r>
            <a:r>
              <a:rPr sz="280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from	</a:t>
            </a:r>
            <a:r>
              <a:rPr sz="2800" spc="-5" dirty="0">
                <a:latin typeface="Perpetua"/>
                <a:cs typeface="Perpetua"/>
              </a:rPr>
              <a:t>j = 1 to</a:t>
            </a:r>
            <a:r>
              <a:rPr sz="2800" spc="-9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n</a:t>
            </a:r>
            <a:endParaRPr sz="2800">
              <a:latin typeface="Perpetua"/>
              <a:cs typeface="Perpetua"/>
            </a:endParaRPr>
          </a:p>
          <a:p>
            <a:pPr marL="1006475">
              <a:lnSpc>
                <a:spcPct val="100000"/>
              </a:lnSpc>
              <a:spcBef>
                <a:spcPts val="680"/>
              </a:spcBef>
            </a:pPr>
            <a:r>
              <a:rPr sz="2800" spc="-5" dirty="0">
                <a:latin typeface="Perpetua"/>
                <a:cs typeface="Perpetua"/>
              </a:rPr>
              <a:t>let </a:t>
            </a:r>
            <a:r>
              <a:rPr sz="2800" i="1" spc="-5" dirty="0">
                <a:latin typeface="Perpetua"/>
                <a:cs typeface="Perpetua"/>
              </a:rPr>
              <a:t>smallest </a:t>
            </a:r>
            <a:r>
              <a:rPr sz="2800" spc="-5" dirty="0">
                <a:latin typeface="Times New Roman"/>
                <a:cs typeface="Times New Roman"/>
              </a:rPr>
              <a:t>←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Perpetua"/>
                <a:cs typeface="Perpetua"/>
              </a:rPr>
              <a:t>j</a:t>
            </a:r>
            <a:endParaRPr sz="28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520"/>
              </a:spcBef>
              <a:tabLst>
                <a:tab pos="2689225" algn="l"/>
              </a:tabLst>
            </a:pPr>
            <a:r>
              <a:rPr sz="2800" spc="-10" dirty="0">
                <a:latin typeface="Perpetua"/>
                <a:cs typeface="Perpetua"/>
              </a:rPr>
              <a:t>Repeat</a:t>
            </a:r>
            <a:r>
              <a:rPr sz="280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from	</a:t>
            </a:r>
            <a:r>
              <a:rPr sz="2800" spc="-5" dirty="0">
                <a:latin typeface="Perpetua"/>
                <a:cs typeface="Perpetua"/>
              </a:rPr>
              <a:t>i = j + 1 to</a:t>
            </a:r>
            <a:r>
              <a:rPr sz="2800" spc="-10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n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4394" y="3508399"/>
            <a:ext cx="4448175" cy="1555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7700" marR="350520">
              <a:lnSpc>
                <a:spcPct val="120400"/>
              </a:lnSpc>
              <a:spcBef>
                <a:spcPts val="95"/>
              </a:spcBef>
              <a:tabLst>
                <a:tab pos="979169" algn="l"/>
                <a:tab pos="2364740" algn="l"/>
              </a:tabLst>
            </a:pPr>
            <a:r>
              <a:rPr sz="2800" spc="-5" dirty="0">
                <a:latin typeface="Perpetua"/>
                <a:cs typeface="Perpetua"/>
              </a:rPr>
              <a:t>if	list</a:t>
            </a:r>
            <a:r>
              <a:rPr sz="2800" spc="-21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A[i]</a:t>
            </a:r>
            <a:r>
              <a:rPr sz="2800" spc="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&lt;	list</a:t>
            </a:r>
            <a:r>
              <a:rPr sz="2800" spc="-28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A[</a:t>
            </a:r>
            <a:r>
              <a:rPr sz="2800" i="1" spc="-5" dirty="0">
                <a:latin typeface="Perpetua"/>
                <a:cs typeface="Perpetua"/>
              </a:rPr>
              <a:t>smallest</a:t>
            </a:r>
            <a:r>
              <a:rPr sz="2800" spc="-5" dirty="0">
                <a:latin typeface="Perpetua"/>
                <a:cs typeface="Perpetua"/>
              </a:rPr>
              <a:t>]  then smallest </a:t>
            </a:r>
            <a:r>
              <a:rPr sz="2800" spc="-5" dirty="0">
                <a:latin typeface="Times New Roman"/>
                <a:cs typeface="Times New Roman"/>
              </a:rPr>
              <a:t>←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Perpetua"/>
                <a:cs typeface="Perpetua"/>
              </a:rPr>
              <a:t>i</a:t>
            </a:r>
            <a:endParaRPr sz="2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800" spc="5" dirty="0">
                <a:latin typeface="Perpetua"/>
                <a:cs typeface="Perpetua"/>
              </a:rPr>
              <a:t>exchange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list</a:t>
            </a:r>
            <a:r>
              <a:rPr sz="2800" spc="-235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A[j]</a:t>
            </a:r>
            <a:r>
              <a:rPr sz="2800" dirty="0">
                <a:latin typeface="Perpetua"/>
                <a:cs typeface="Perpetua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↔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Perpetua"/>
                <a:cs typeface="Perpetua"/>
              </a:rPr>
              <a:t>list</a:t>
            </a:r>
            <a:r>
              <a:rPr sz="2800" spc="-21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A[</a:t>
            </a:r>
            <a:r>
              <a:rPr sz="2800" i="1" spc="-5" dirty="0">
                <a:latin typeface="Perpetua"/>
                <a:cs typeface="Perpetua"/>
              </a:rPr>
              <a:t>smallest</a:t>
            </a:r>
            <a:r>
              <a:rPr sz="2800" spc="-5" dirty="0">
                <a:latin typeface="Perpetua"/>
                <a:cs typeface="Perpetua"/>
              </a:rPr>
              <a:t>]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7209" y="1825879"/>
            <a:ext cx="142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Perpetua"/>
                <a:cs typeface="Perpetua"/>
              </a:rPr>
              <a:t>n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66079" y="1520393"/>
            <a:ext cx="1080135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9B2C1F"/>
                </a:solidFill>
                <a:latin typeface="Perpetua"/>
                <a:cs typeface="Perpetua"/>
              </a:rPr>
              <a:t>j</a:t>
            </a:r>
            <a:endParaRPr sz="20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93395" algn="l"/>
                <a:tab pos="950594" algn="l"/>
              </a:tabLst>
            </a:pPr>
            <a:r>
              <a:rPr sz="2000" dirty="0">
                <a:latin typeface="Perpetua"/>
                <a:cs typeface="Perpetua"/>
              </a:rPr>
              <a:t>1	2	3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49290" y="1659635"/>
            <a:ext cx="2520950" cy="114300"/>
          </a:xfrm>
          <a:custGeom>
            <a:avLst/>
            <a:gdLst/>
            <a:ahLst/>
            <a:cxnLst/>
            <a:rect l="l" t="t" r="r" b="b"/>
            <a:pathLst>
              <a:path w="2520950" h="114300">
                <a:moveTo>
                  <a:pt x="2406395" y="0"/>
                </a:moveTo>
                <a:lnTo>
                  <a:pt x="2406395" y="114300"/>
                </a:lnTo>
                <a:lnTo>
                  <a:pt x="2482595" y="76200"/>
                </a:lnTo>
                <a:lnTo>
                  <a:pt x="2425445" y="76200"/>
                </a:lnTo>
                <a:lnTo>
                  <a:pt x="2425445" y="38100"/>
                </a:lnTo>
                <a:lnTo>
                  <a:pt x="2482595" y="38100"/>
                </a:lnTo>
                <a:lnTo>
                  <a:pt x="2406395" y="0"/>
                </a:lnTo>
                <a:close/>
              </a:path>
              <a:path w="2520950" h="114300">
                <a:moveTo>
                  <a:pt x="240639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406395" y="76200"/>
                </a:lnTo>
                <a:lnTo>
                  <a:pt x="2406395" y="38100"/>
                </a:lnTo>
                <a:close/>
              </a:path>
              <a:path w="2520950" h="114300">
                <a:moveTo>
                  <a:pt x="2482595" y="38100"/>
                </a:moveTo>
                <a:lnTo>
                  <a:pt x="2425445" y="38100"/>
                </a:lnTo>
                <a:lnTo>
                  <a:pt x="2425445" y="76200"/>
                </a:lnTo>
                <a:lnTo>
                  <a:pt x="2482595" y="76200"/>
                </a:lnTo>
                <a:lnTo>
                  <a:pt x="2520695" y="57150"/>
                </a:lnTo>
                <a:lnTo>
                  <a:pt x="2482595" y="38100"/>
                </a:lnTo>
                <a:close/>
              </a:path>
            </a:pathLst>
          </a:custGeom>
          <a:solidFill>
            <a:srgbClr val="9B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320284" y="2109216"/>
          <a:ext cx="3156582" cy="4236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49579"/>
                <a:gridCol w="449580"/>
                <a:gridCol w="452755"/>
                <a:gridCol w="451484"/>
                <a:gridCol w="450214"/>
                <a:gridCol w="452755"/>
              </a:tblGrid>
              <a:tr h="423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947028" y="2816174"/>
            <a:ext cx="7442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FC0"/>
                </a:solidFill>
                <a:latin typeface="Perpetua"/>
                <a:cs typeface="Perpetua"/>
              </a:rPr>
              <a:t>i =</a:t>
            </a:r>
            <a:r>
              <a:rPr sz="2000" b="1" spc="-85" dirty="0">
                <a:solidFill>
                  <a:srgbClr val="006FC0"/>
                </a:solidFill>
                <a:latin typeface="Perpetua"/>
                <a:cs typeface="Perpetua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Perpetua"/>
                <a:cs typeface="Perpetua"/>
              </a:rPr>
              <a:t>j+1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68161" y="2686811"/>
            <a:ext cx="2520950" cy="114300"/>
          </a:xfrm>
          <a:custGeom>
            <a:avLst/>
            <a:gdLst/>
            <a:ahLst/>
            <a:cxnLst/>
            <a:rect l="l" t="t" r="r" b="b"/>
            <a:pathLst>
              <a:path w="2520950" h="114300">
                <a:moveTo>
                  <a:pt x="2406395" y="0"/>
                </a:moveTo>
                <a:lnTo>
                  <a:pt x="2406395" y="114300"/>
                </a:lnTo>
                <a:lnTo>
                  <a:pt x="2482595" y="76200"/>
                </a:lnTo>
                <a:lnTo>
                  <a:pt x="2425445" y="76200"/>
                </a:lnTo>
                <a:lnTo>
                  <a:pt x="2425445" y="38100"/>
                </a:lnTo>
                <a:lnTo>
                  <a:pt x="2482595" y="38100"/>
                </a:lnTo>
                <a:lnTo>
                  <a:pt x="2406395" y="0"/>
                </a:lnTo>
                <a:close/>
              </a:path>
              <a:path w="2520950" h="114300">
                <a:moveTo>
                  <a:pt x="240639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406395" y="76200"/>
                </a:lnTo>
                <a:lnTo>
                  <a:pt x="2406395" y="38100"/>
                </a:lnTo>
                <a:close/>
              </a:path>
              <a:path w="2520950" h="114300">
                <a:moveTo>
                  <a:pt x="2482595" y="38100"/>
                </a:moveTo>
                <a:lnTo>
                  <a:pt x="2425445" y="38100"/>
                </a:lnTo>
                <a:lnTo>
                  <a:pt x="2425445" y="76200"/>
                </a:lnTo>
                <a:lnTo>
                  <a:pt x="2482595" y="76200"/>
                </a:lnTo>
                <a:lnTo>
                  <a:pt x="2520695" y="57150"/>
                </a:lnTo>
                <a:lnTo>
                  <a:pt x="2482595" y="3810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57800" y="152400"/>
            <a:ext cx="999744" cy="121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1882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Perpetua"/>
                <a:cs typeface="Perpetua"/>
              </a:rPr>
              <a:t>Bubble</a:t>
            </a:r>
            <a:r>
              <a:rPr sz="4000" spc="-85" dirty="0">
                <a:latin typeface="Perpetua"/>
                <a:cs typeface="Perpetua"/>
              </a:rPr>
              <a:t> </a:t>
            </a:r>
            <a:r>
              <a:rPr sz="4000" spc="35" dirty="0">
                <a:latin typeface="Perpetua"/>
                <a:cs typeface="Perpetua"/>
              </a:rPr>
              <a:t>Sort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383476"/>
            <a:ext cx="8117205" cy="466026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Idea: </a:t>
            </a:r>
            <a:r>
              <a:rPr sz="2600" spc="-15" dirty="0">
                <a:latin typeface="Perpetua"/>
                <a:cs typeface="Perpetua"/>
              </a:rPr>
              <a:t>Bubble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-130" dirty="0">
                <a:latin typeface="Perpetua"/>
                <a:cs typeface="Perpetua"/>
              </a:rPr>
              <a:t> </a:t>
            </a:r>
            <a:r>
              <a:rPr sz="2600" spc="-50" dirty="0">
                <a:latin typeface="Perpetua"/>
                <a:cs typeface="Perpetua"/>
              </a:rPr>
              <a:t>water.</a:t>
            </a:r>
            <a:endParaRPr sz="2600">
              <a:latin typeface="Perpetua"/>
              <a:cs typeface="Perpetua"/>
            </a:endParaRPr>
          </a:p>
          <a:p>
            <a:pPr marL="561340" lvl="1" indent="-229235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600" spc="-15" dirty="0">
                <a:latin typeface="Perpetua"/>
                <a:cs typeface="Perpetua"/>
              </a:rPr>
              <a:t>Bubble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10" dirty="0">
                <a:latin typeface="Perpetua"/>
                <a:cs typeface="Perpetua"/>
              </a:rPr>
              <a:t>water </a:t>
            </a:r>
            <a:r>
              <a:rPr sz="2600" spc="-30" dirty="0">
                <a:latin typeface="Perpetua"/>
                <a:cs typeface="Perpetua"/>
              </a:rPr>
              <a:t>moves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upward.</a:t>
            </a:r>
            <a:endParaRPr sz="2600">
              <a:latin typeface="Perpetua"/>
              <a:cs typeface="Perpetua"/>
            </a:endParaRPr>
          </a:p>
          <a:p>
            <a:pPr marL="561340" marR="5080" lvl="1" indent="-229235">
              <a:lnSpc>
                <a:spcPct val="10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600" dirty="0">
                <a:latin typeface="Perpetua"/>
                <a:cs typeface="Perpetua"/>
              </a:rPr>
              <a:t>When a </a:t>
            </a:r>
            <a:r>
              <a:rPr sz="2600" spc="-20" dirty="0">
                <a:latin typeface="Perpetua"/>
                <a:cs typeface="Perpetua"/>
              </a:rPr>
              <a:t>bubble </a:t>
            </a:r>
            <a:r>
              <a:rPr sz="2600" spc="-30" dirty="0">
                <a:latin typeface="Perpetua"/>
                <a:cs typeface="Perpetua"/>
              </a:rPr>
              <a:t>moves </a:t>
            </a:r>
            <a:r>
              <a:rPr sz="2600" spc="-10" dirty="0">
                <a:latin typeface="Perpetua"/>
                <a:cs typeface="Perpetua"/>
              </a:rPr>
              <a:t>upward,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water </a:t>
            </a: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spc="-30" dirty="0">
                <a:latin typeface="Perpetua"/>
                <a:cs typeface="Perpetua"/>
              </a:rPr>
              <a:t>above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35" dirty="0">
                <a:latin typeface="Perpetua"/>
                <a:cs typeface="Perpetua"/>
              </a:rPr>
              <a:t>move  </a:t>
            </a:r>
            <a:r>
              <a:rPr sz="2600" spc="-15" dirty="0">
                <a:latin typeface="Perpetua"/>
                <a:cs typeface="Perpetua"/>
              </a:rPr>
              <a:t>downward </a:t>
            </a:r>
            <a:r>
              <a:rPr sz="2600" dirty="0">
                <a:latin typeface="Perpetua"/>
                <a:cs typeface="Perpetua"/>
              </a:rPr>
              <a:t>to fill in the </a:t>
            </a:r>
            <a:r>
              <a:rPr sz="2600" spc="-5" dirty="0">
                <a:latin typeface="Perpetua"/>
                <a:cs typeface="Perpetua"/>
              </a:rPr>
              <a:t>space left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bubble.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4000" spc="-5" dirty="0">
                <a:latin typeface="Perpetua"/>
                <a:cs typeface="Perpetua"/>
              </a:rPr>
              <a:t>General</a:t>
            </a:r>
            <a:r>
              <a:rPr sz="4000" spc="10" dirty="0">
                <a:latin typeface="Perpetua"/>
                <a:cs typeface="Perpetua"/>
              </a:rPr>
              <a:t> </a:t>
            </a:r>
            <a:r>
              <a:rPr sz="4000" spc="-10" dirty="0">
                <a:latin typeface="Perpetua"/>
                <a:cs typeface="Perpetua"/>
              </a:rPr>
              <a:t>strategy</a:t>
            </a:r>
            <a:endParaRPr sz="4000">
              <a:latin typeface="Perpetua"/>
              <a:cs typeface="Perpetua"/>
            </a:endParaRPr>
          </a:p>
          <a:p>
            <a:pPr marL="408940" indent="-228600">
              <a:lnSpc>
                <a:spcPct val="100000"/>
              </a:lnSpc>
              <a:spcBef>
                <a:spcPts val="1735"/>
              </a:spcBef>
              <a:buSzPct val="84615"/>
              <a:buFont typeface="Arial"/>
              <a:buChar char="•"/>
              <a:tabLst>
                <a:tab pos="408305" algn="l"/>
                <a:tab pos="408940" algn="l"/>
              </a:tabLst>
            </a:pPr>
            <a:r>
              <a:rPr sz="2600" spc="-10" dirty="0">
                <a:latin typeface="Perpetua"/>
                <a:cs typeface="Perpetua"/>
              </a:rPr>
              <a:t>Repeatedly </a:t>
            </a:r>
            <a:r>
              <a:rPr sz="2600" i="1" spc="-5" dirty="0">
                <a:latin typeface="Perpetua"/>
                <a:cs typeface="Perpetua"/>
              </a:rPr>
              <a:t>scan </a:t>
            </a:r>
            <a:r>
              <a:rPr sz="2600" spc="-5" dirty="0">
                <a:latin typeface="Perpetua"/>
                <a:cs typeface="Perpetua"/>
              </a:rPr>
              <a:t>through </a:t>
            </a:r>
            <a:r>
              <a:rPr sz="2600" dirty="0">
                <a:latin typeface="Perpetua"/>
                <a:cs typeface="Perpetua"/>
              </a:rPr>
              <a:t>the list of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elements.</a:t>
            </a:r>
            <a:endParaRPr sz="2600">
              <a:latin typeface="Perpetua"/>
              <a:cs typeface="Perpetua"/>
            </a:endParaRPr>
          </a:p>
          <a:p>
            <a:pPr marL="408940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408305" algn="l"/>
                <a:tab pos="408940" algn="l"/>
              </a:tabLst>
            </a:pPr>
            <a:r>
              <a:rPr sz="2600" i="1" spc="-15" dirty="0">
                <a:latin typeface="Perpetua"/>
                <a:cs typeface="Perpetua"/>
              </a:rPr>
              <a:t>Swap </a:t>
            </a:r>
            <a:r>
              <a:rPr sz="2600" spc="-5" dirty="0">
                <a:latin typeface="Perpetua"/>
                <a:cs typeface="Perpetua"/>
              </a:rPr>
              <a:t>adjacent </a:t>
            </a:r>
            <a:r>
              <a:rPr sz="2600" dirty="0">
                <a:latin typeface="Perpetua"/>
                <a:cs typeface="Perpetua"/>
              </a:rPr>
              <a:t>elements </a:t>
            </a:r>
            <a:r>
              <a:rPr sz="2600" spc="-10" dirty="0">
                <a:latin typeface="Perpetua"/>
                <a:cs typeface="Perpetua"/>
              </a:rPr>
              <a:t>that are </a:t>
            </a:r>
            <a:r>
              <a:rPr sz="2600" spc="-5" dirty="0">
                <a:latin typeface="Perpetua"/>
                <a:cs typeface="Perpetua"/>
              </a:rPr>
              <a:t>out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order.</a:t>
            </a:r>
            <a:endParaRPr sz="2600">
              <a:latin typeface="Perpetua"/>
              <a:cs typeface="Perpetua"/>
            </a:endParaRPr>
          </a:p>
          <a:p>
            <a:pPr marL="683260" marR="760095" lvl="1" indent="-229235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683260" algn="l"/>
                <a:tab pos="683895" algn="l"/>
              </a:tabLst>
            </a:pPr>
            <a:r>
              <a:rPr sz="2600" spc="-5" dirty="0">
                <a:latin typeface="Perpetua"/>
                <a:cs typeface="Perpetua"/>
              </a:rPr>
              <a:t>looks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spc="10" dirty="0">
                <a:latin typeface="Perpetua"/>
                <a:cs typeface="Perpetua"/>
              </a:rPr>
              <a:t>pairs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5" dirty="0">
                <a:latin typeface="Perpetua"/>
                <a:cs typeface="Perpetua"/>
              </a:rPr>
              <a:t>entries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5" dirty="0">
                <a:latin typeface="Perpetua"/>
                <a:cs typeface="Perpetua"/>
              </a:rPr>
              <a:t>list, and </a:t>
            </a:r>
            <a:r>
              <a:rPr sz="2600" spc="-15" dirty="0">
                <a:latin typeface="Perpetua"/>
                <a:cs typeface="Perpetua"/>
              </a:rPr>
              <a:t>swaps </a:t>
            </a:r>
            <a:r>
              <a:rPr sz="2600" dirty="0">
                <a:latin typeface="Perpetua"/>
                <a:cs typeface="Perpetua"/>
              </a:rPr>
              <a:t>their</a:t>
            </a:r>
            <a:r>
              <a:rPr sz="2600" spc="-1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order  if</a:t>
            </a:r>
            <a:r>
              <a:rPr sz="2600" spc="-5" dirty="0">
                <a:latin typeface="Perpetua"/>
                <a:cs typeface="Perpetua"/>
              </a:rPr>
              <a:t> needed.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72200" y="381000"/>
            <a:ext cx="2307247" cy="76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58000" y="2971800"/>
            <a:ext cx="999744" cy="1219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57886"/>
            <a:ext cx="7165340" cy="1249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340"/>
              </a:lnSpc>
              <a:spcBef>
                <a:spcPts val="95"/>
              </a:spcBef>
            </a:pPr>
            <a:r>
              <a:rPr sz="4000" spc="-20" dirty="0">
                <a:latin typeface="Perpetua"/>
                <a:cs typeface="Perpetua"/>
              </a:rPr>
              <a:t>Bubble</a:t>
            </a:r>
            <a:r>
              <a:rPr sz="4000" spc="-5" dirty="0">
                <a:latin typeface="Perpetua"/>
                <a:cs typeface="Perpetua"/>
              </a:rPr>
              <a:t> </a:t>
            </a:r>
            <a:r>
              <a:rPr sz="4000" spc="35" dirty="0">
                <a:latin typeface="Perpetua"/>
                <a:cs typeface="Perpetua"/>
              </a:rPr>
              <a:t>Sort</a:t>
            </a:r>
            <a:endParaRPr sz="4000">
              <a:latin typeface="Perpetua"/>
              <a:cs typeface="Perpetua"/>
            </a:endParaRPr>
          </a:p>
          <a:p>
            <a:pPr marL="927100">
              <a:lnSpc>
                <a:spcPts val="5300"/>
              </a:lnSpc>
              <a:tabLst>
                <a:tab pos="1688464" algn="l"/>
                <a:tab pos="2450465" algn="l"/>
                <a:tab pos="3212465" algn="l"/>
                <a:tab pos="4278630" algn="l"/>
                <a:tab pos="5323205" algn="l"/>
                <a:tab pos="6085205" algn="l"/>
                <a:tab pos="6847205" algn="l"/>
              </a:tabLst>
            </a:pPr>
            <a:r>
              <a:rPr spc="-5" dirty="0"/>
              <a:t>9</a:t>
            </a:r>
            <a:r>
              <a:rPr dirty="0"/>
              <a:t>,	</a:t>
            </a:r>
            <a:r>
              <a:rPr spc="-5" dirty="0"/>
              <a:t>6</a:t>
            </a:r>
            <a:r>
              <a:rPr dirty="0"/>
              <a:t>,	</a:t>
            </a:r>
            <a:r>
              <a:rPr spc="-5" dirty="0"/>
              <a:t>2</a:t>
            </a:r>
            <a:r>
              <a:rPr dirty="0"/>
              <a:t>,	</a:t>
            </a:r>
            <a:r>
              <a:rPr spc="-5" dirty="0"/>
              <a:t>12</a:t>
            </a:r>
            <a:r>
              <a:rPr dirty="0"/>
              <a:t>,	</a:t>
            </a:r>
            <a:r>
              <a:rPr spc="-175" dirty="0"/>
              <a:t>1</a:t>
            </a:r>
            <a:r>
              <a:rPr spc="-5" dirty="0"/>
              <a:t>1</a:t>
            </a:r>
            <a:r>
              <a:rPr dirty="0"/>
              <a:t>,	</a:t>
            </a:r>
            <a:r>
              <a:rPr spc="-5" dirty="0"/>
              <a:t>9</a:t>
            </a:r>
            <a:r>
              <a:rPr dirty="0"/>
              <a:t>,	</a:t>
            </a:r>
            <a:r>
              <a:rPr spc="-5" dirty="0"/>
              <a:t>3</a:t>
            </a:r>
            <a:r>
              <a:rPr dirty="0"/>
              <a:t>,	7</a:t>
            </a:r>
          </a:p>
        </p:txBody>
      </p:sp>
      <p:sp>
        <p:nvSpPr>
          <p:cNvPr id="3" name="object 3"/>
          <p:cNvSpPr/>
          <p:nvPr/>
        </p:nvSpPr>
        <p:spPr>
          <a:xfrm>
            <a:off x="1143000" y="914400"/>
            <a:ext cx="1676400" cy="838200"/>
          </a:xfrm>
          <a:custGeom>
            <a:avLst/>
            <a:gdLst/>
            <a:ahLst/>
            <a:cxnLst/>
            <a:rect l="l" t="t" r="r" b="b"/>
            <a:pathLst>
              <a:path w="1676400" h="838200">
                <a:moveTo>
                  <a:pt x="0" y="419100"/>
                </a:moveTo>
                <a:lnTo>
                  <a:pt x="9088" y="357155"/>
                </a:lnTo>
                <a:lnTo>
                  <a:pt x="35489" y="298037"/>
                </a:lnTo>
                <a:lnTo>
                  <a:pt x="77906" y="242392"/>
                </a:lnTo>
                <a:lnTo>
                  <a:pt x="135041" y="190869"/>
                </a:lnTo>
                <a:lnTo>
                  <a:pt x="168723" y="166856"/>
                </a:lnTo>
                <a:lnTo>
                  <a:pt x="205599" y="144115"/>
                </a:lnTo>
                <a:lnTo>
                  <a:pt x="245506" y="122729"/>
                </a:lnTo>
                <a:lnTo>
                  <a:pt x="288283" y="102778"/>
                </a:lnTo>
                <a:lnTo>
                  <a:pt x="333766" y="84343"/>
                </a:lnTo>
                <a:lnTo>
                  <a:pt x="381795" y="67504"/>
                </a:lnTo>
                <a:lnTo>
                  <a:pt x="432207" y="52344"/>
                </a:lnTo>
                <a:lnTo>
                  <a:pt x="484840" y="38942"/>
                </a:lnTo>
                <a:lnTo>
                  <a:pt x="539532" y="27380"/>
                </a:lnTo>
                <a:lnTo>
                  <a:pt x="596120" y="17739"/>
                </a:lnTo>
                <a:lnTo>
                  <a:pt x="654443" y="10099"/>
                </a:lnTo>
                <a:lnTo>
                  <a:pt x="714339" y="4542"/>
                </a:lnTo>
                <a:lnTo>
                  <a:pt x="775645" y="1149"/>
                </a:lnTo>
                <a:lnTo>
                  <a:pt x="838200" y="0"/>
                </a:lnTo>
                <a:lnTo>
                  <a:pt x="900754" y="1149"/>
                </a:lnTo>
                <a:lnTo>
                  <a:pt x="962060" y="4542"/>
                </a:lnTo>
                <a:lnTo>
                  <a:pt x="1021956" y="10099"/>
                </a:lnTo>
                <a:lnTo>
                  <a:pt x="1080279" y="17739"/>
                </a:lnTo>
                <a:lnTo>
                  <a:pt x="1136867" y="27380"/>
                </a:lnTo>
                <a:lnTo>
                  <a:pt x="1191559" y="38942"/>
                </a:lnTo>
                <a:lnTo>
                  <a:pt x="1244192" y="52344"/>
                </a:lnTo>
                <a:lnTo>
                  <a:pt x="1294604" y="67504"/>
                </a:lnTo>
                <a:lnTo>
                  <a:pt x="1342633" y="84343"/>
                </a:lnTo>
                <a:lnTo>
                  <a:pt x="1388116" y="102778"/>
                </a:lnTo>
                <a:lnTo>
                  <a:pt x="1430893" y="122729"/>
                </a:lnTo>
                <a:lnTo>
                  <a:pt x="1470800" y="144115"/>
                </a:lnTo>
                <a:lnTo>
                  <a:pt x="1507676" y="166856"/>
                </a:lnTo>
                <a:lnTo>
                  <a:pt x="1541358" y="190869"/>
                </a:lnTo>
                <a:lnTo>
                  <a:pt x="1571684" y="216075"/>
                </a:lnTo>
                <a:lnTo>
                  <a:pt x="1621623" y="269740"/>
                </a:lnTo>
                <a:lnTo>
                  <a:pt x="1656194" y="327202"/>
                </a:lnTo>
                <a:lnTo>
                  <a:pt x="1674100" y="387814"/>
                </a:lnTo>
                <a:lnTo>
                  <a:pt x="1676400" y="419100"/>
                </a:lnTo>
                <a:lnTo>
                  <a:pt x="1674100" y="450385"/>
                </a:lnTo>
                <a:lnTo>
                  <a:pt x="1656194" y="510997"/>
                </a:lnTo>
                <a:lnTo>
                  <a:pt x="1621623" y="568459"/>
                </a:lnTo>
                <a:lnTo>
                  <a:pt x="1571684" y="622124"/>
                </a:lnTo>
                <a:lnTo>
                  <a:pt x="1541358" y="647330"/>
                </a:lnTo>
                <a:lnTo>
                  <a:pt x="1507676" y="671343"/>
                </a:lnTo>
                <a:lnTo>
                  <a:pt x="1470800" y="694084"/>
                </a:lnTo>
                <a:lnTo>
                  <a:pt x="1430893" y="715470"/>
                </a:lnTo>
                <a:lnTo>
                  <a:pt x="1388116" y="735421"/>
                </a:lnTo>
                <a:lnTo>
                  <a:pt x="1342633" y="753856"/>
                </a:lnTo>
                <a:lnTo>
                  <a:pt x="1294604" y="770695"/>
                </a:lnTo>
                <a:lnTo>
                  <a:pt x="1244192" y="785855"/>
                </a:lnTo>
                <a:lnTo>
                  <a:pt x="1191559" y="799257"/>
                </a:lnTo>
                <a:lnTo>
                  <a:pt x="1136867" y="810819"/>
                </a:lnTo>
                <a:lnTo>
                  <a:pt x="1080279" y="820460"/>
                </a:lnTo>
                <a:lnTo>
                  <a:pt x="1021956" y="828100"/>
                </a:lnTo>
                <a:lnTo>
                  <a:pt x="962060" y="833657"/>
                </a:lnTo>
                <a:lnTo>
                  <a:pt x="900754" y="837050"/>
                </a:lnTo>
                <a:lnTo>
                  <a:pt x="838200" y="838200"/>
                </a:lnTo>
                <a:lnTo>
                  <a:pt x="775645" y="837050"/>
                </a:lnTo>
                <a:lnTo>
                  <a:pt x="714339" y="833657"/>
                </a:lnTo>
                <a:lnTo>
                  <a:pt x="654443" y="828100"/>
                </a:lnTo>
                <a:lnTo>
                  <a:pt x="596120" y="820460"/>
                </a:lnTo>
                <a:lnTo>
                  <a:pt x="539532" y="810819"/>
                </a:lnTo>
                <a:lnTo>
                  <a:pt x="484840" y="799257"/>
                </a:lnTo>
                <a:lnTo>
                  <a:pt x="432207" y="785855"/>
                </a:lnTo>
                <a:lnTo>
                  <a:pt x="381795" y="770695"/>
                </a:lnTo>
                <a:lnTo>
                  <a:pt x="333766" y="753856"/>
                </a:lnTo>
                <a:lnTo>
                  <a:pt x="288283" y="735421"/>
                </a:lnTo>
                <a:lnTo>
                  <a:pt x="245506" y="715470"/>
                </a:lnTo>
                <a:lnTo>
                  <a:pt x="205599" y="694084"/>
                </a:lnTo>
                <a:lnTo>
                  <a:pt x="168723" y="671343"/>
                </a:lnTo>
                <a:lnTo>
                  <a:pt x="135041" y="647330"/>
                </a:lnTo>
                <a:lnTo>
                  <a:pt x="104715" y="622124"/>
                </a:lnTo>
                <a:lnTo>
                  <a:pt x="54776" y="568459"/>
                </a:lnTo>
                <a:lnTo>
                  <a:pt x="20205" y="510997"/>
                </a:lnTo>
                <a:lnTo>
                  <a:pt x="2299" y="450385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63294" y="1767796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352165" algn="l"/>
                <a:tab pos="4396740" algn="l"/>
                <a:tab pos="5158740" algn="l"/>
                <a:tab pos="5920740" algn="l"/>
              </a:tabLst>
            </a:pPr>
            <a:r>
              <a:rPr sz="4800" dirty="0">
                <a:latin typeface="Times New Roman"/>
                <a:cs typeface="Times New Roman"/>
              </a:rPr>
              <a:t>6,	9,	2,	12,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9,	3,	7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05000" y="1676400"/>
            <a:ext cx="1676400" cy="838200"/>
          </a:xfrm>
          <a:custGeom>
            <a:avLst/>
            <a:gdLst/>
            <a:ahLst/>
            <a:cxnLst/>
            <a:rect l="l" t="t" r="r" b="b"/>
            <a:pathLst>
              <a:path w="1676400" h="838200">
                <a:moveTo>
                  <a:pt x="0" y="419100"/>
                </a:moveTo>
                <a:lnTo>
                  <a:pt x="9088" y="357155"/>
                </a:lnTo>
                <a:lnTo>
                  <a:pt x="35489" y="298037"/>
                </a:lnTo>
                <a:lnTo>
                  <a:pt x="77906" y="242392"/>
                </a:lnTo>
                <a:lnTo>
                  <a:pt x="135041" y="190869"/>
                </a:lnTo>
                <a:lnTo>
                  <a:pt x="168723" y="166856"/>
                </a:lnTo>
                <a:lnTo>
                  <a:pt x="205599" y="144115"/>
                </a:lnTo>
                <a:lnTo>
                  <a:pt x="245506" y="122729"/>
                </a:lnTo>
                <a:lnTo>
                  <a:pt x="288283" y="102778"/>
                </a:lnTo>
                <a:lnTo>
                  <a:pt x="333766" y="84343"/>
                </a:lnTo>
                <a:lnTo>
                  <a:pt x="381795" y="67504"/>
                </a:lnTo>
                <a:lnTo>
                  <a:pt x="432207" y="52344"/>
                </a:lnTo>
                <a:lnTo>
                  <a:pt x="484840" y="38942"/>
                </a:lnTo>
                <a:lnTo>
                  <a:pt x="539532" y="27380"/>
                </a:lnTo>
                <a:lnTo>
                  <a:pt x="596120" y="17739"/>
                </a:lnTo>
                <a:lnTo>
                  <a:pt x="654443" y="10099"/>
                </a:lnTo>
                <a:lnTo>
                  <a:pt x="714339" y="4542"/>
                </a:lnTo>
                <a:lnTo>
                  <a:pt x="775645" y="1149"/>
                </a:lnTo>
                <a:lnTo>
                  <a:pt x="838200" y="0"/>
                </a:lnTo>
                <a:lnTo>
                  <a:pt x="900754" y="1149"/>
                </a:lnTo>
                <a:lnTo>
                  <a:pt x="962060" y="4542"/>
                </a:lnTo>
                <a:lnTo>
                  <a:pt x="1021956" y="10099"/>
                </a:lnTo>
                <a:lnTo>
                  <a:pt x="1080279" y="17739"/>
                </a:lnTo>
                <a:lnTo>
                  <a:pt x="1136867" y="27380"/>
                </a:lnTo>
                <a:lnTo>
                  <a:pt x="1191559" y="38942"/>
                </a:lnTo>
                <a:lnTo>
                  <a:pt x="1244192" y="52344"/>
                </a:lnTo>
                <a:lnTo>
                  <a:pt x="1294604" y="67504"/>
                </a:lnTo>
                <a:lnTo>
                  <a:pt x="1342633" y="84343"/>
                </a:lnTo>
                <a:lnTo>
                  <a:pt x="1388116" y="102778"/>
                </a:lnTo>
                <a:lnTo>
                  <a:pt x="1430893" y="122729"/>
                </a:lnTo>
                <a:lnTo>
                  <a:pt x="1470800" y="144115"/>
                </a:lnTo>
                <a:lnTo>
                  <a:pt x="1507676" y="166856"/>
                </a:lnTo>
                <a:lnTo>
                  <a:pt x="1541358" y="190869"/>
                </a:lnTo>
                <a:lnTo>
                  <a:pt x="1571684" y="216075"/>
                </a:lnTo>
                <a:lnTo>
                  <a:pt x="1621623" y="269740"/>
                </a:lnTo>
                <a:lnTo>
                  <a:pt x="1656194" y="327202"/>
                </a:lnTo>
                <a:lnTo>
                  <a:pt x="1674100" y="387814"/>
                </a:lnTo>
                <a:lnTo>
                  <a:pt x="1676400" y="419100"/>
                </a:lnTo>
                <a:lnTo>
                  <a:pt x="1674100" y="450385"/>
                </a:lnTo>
                <a:lnTo>
                  <a:pt x="1656194" y="510997"/>
                </a:lnTo>
                <a:lnTo>
                  <a:pt x="1621623" y="568459"/>
                </a:lnTo>
                <a:lnTo>
                  <a:pt x="1571684" y="622124"/>
                </a:lnTo>
                <a:lnTo>
                  <a:pt x="1541358" y="647330"/>
                </a:lnTo>
                <a:lnTo>
                  <a:pt x="1507676" y="671343"/>
                </a:lnTo>
                <a:lnTo>
                  <a:pt x="1470800" y="694084"/>
                </a:lnTo>
                <a:lnTo>
                  <a:pt x="1430893" y="715470"/>
                </a:lnTo>
                <a:lnTo>
                  <a:pt x="1388116" y="735421"/>
                </a:lnTo>
                <a:lnTo>
                  <a:pt x="1342633" y="753856"/>
                </a:lnTo>
                <a:lnTo>
                  <a:pt x="1294604" y="770695"/>
                </a:lnTo>
                <a:lnTo>
                  <a:pt x="1244192" y="785855"/>
                </a:lnTo>
                <a:lnTo>
                  <a:pt x="1191559" y="799257"/>
                </a:lnTo>
                <a:lnTo>
                  <a:pt x="1136867" y="810819"/>
                </a:lnTo>
                <a:lnTo>
                  <a:pt x="1080279" y="820460"/>
                </a:lnTo>
                <a:lnTo>
                  <a:pt x="1021956" y="828100"/>
                </a:lnTo>
                <a:lnTo>
                  <a:pt x="962060" y="833657"/>
                </a:lnTo>
                <a:lnTo>
                  <a:pt x="900754" y="837050"/>
                </a:lnTo>
                <a:lnTo>
                  <a:pt x="838200" y="838200"/>
                </a:lnTo>
                <a:lnTo>
                  <a:pt x="775645" y="837050"/>
                </a:lnTo>
                <a:lnTo>
                  <a:pt x="714339" y="833657"/>
                </a:lnTo>
                <a:lnTo>
                  <a:pt x="654443" y="828100"/>
                </a:lnTo>
                <a:lnTo>
                  <a:pt x="596120" y="820460"/>
                </a:lnTo>
                <a:lnTo>
                  <a:pt x="539532" y="810819"/>
                </a:lnTo>
                <a:lnTo>
                  <a:pt x="484840" y="799257"/>
                </a:lnTo>
                <a:lnTo>
                  <a:pt x="432207" y="785855"/>
                </a:lnTo>
                <a:lnTo>
                  <a:pt x="381795" y="770695"/>
                </a:lnTo>
                <a:lnTo>
                  <a:pt x="333766" y="753856"/>
                </a:lnTo>
                <a:lnTo>
                  <a:pt x="288283" y="735421"/>
                </a:lnTo>
                <a:lnTo>
                  <a:pt x="245506" y="715470"/>
                </a:lnTo>
                <a:lnTo>
                  <a:pt x="205599" y="694084"/>
                </a:lnTo>
                <a:lnTo>
                  <a:pt x="168723" y="671343"/>
                </a:lnTo>
                <a:lnTo>
                  <a:pt x="135041" y="647330"/>
                </a:lnTo>
                <a:lnTo>
                  <a:pt x="104715" y="622124"/>
                </a:lnTo>
                <a:lnTo>
                  <a:pt x="54776" y="568459"/>
                </a:lnTo>
                <a:lnTo>
                  <a:pt x="20205" y="510997"/>
                </a:lnTo>
                <a:lnTo>
                  <a:pt x="2299" y="450385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63294" y="2529524"/>
            <a:ext cx="6225540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40"/>
              </a:lnSpc>
              <a:tabLst>
                <a:tab pos="761365" algn="l"/>
                <a:tab pos="1523365" algn="l"/>
                <a:tab pos="2284730" algn="l"/>
                <a:tab pos="3351529" algn="l"/>
                <a:tab pos="4396105" algn="l"/>
                <a:tab pos="5158105" algn="l"/>
                <a:tab pos="5919470" algn="l"/>
              </a:tabLst>
            </a:pPr>
            <a:r>
              <a:rPr sz="4800" spc="-5" dirty="0">
                <a:latin typeface="Times New Roman"/>
                <a:cs typeface="Times New Roman"/>
              </a:rPr>
              <a:t>6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2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12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175" dirty="0">
                <a:latin typeface="Times New Roman"/>
                <a:cs typeface="Times New Roman"/>
              </a:rPr>
              <a:t>1</a:t>
            </a:r>
            <a:r>
              <a:rPr sz="4800" spc="-5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3</a:t>
            </a:r>
            <a:r>
              <a:rPr sz="4800" dirty="0">
                <a:latin typeface="Times New Roman"/>
                <a:cs typeface="Times New Roman"/>
              </a:rPr>
              <a:t>,	7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19400" y="2438400"/>
            <a:ext cx="1676400" cy="838200"/>
          </a:xfrm>
          <a:custGeom>
            <a:avLst/>
            <a:gdLst/>
            <a:ahLst/>
            <a:cxnLst/>
            <a:rect l="l" t="t" r="r" b="b"/>
            <a:pathLst>
              <a:path w="1676400" h="838200">
                <a:moveTo>
                  <a:pt x="0" y="419100"/>
                </a:moveTo>
                <a:lnTo>
                  <a:pt x="9088" y="357155"/>
                </a:lnTo>
                <a:lnTo>
                  <a:pt x="35489" y="298037"/>
                </a:lnTo>
                <a:lnTo>
                  <a:pt x="77906" y="242392"/>
                </a:lnTo>
                <a:lnTo>
                  <a:pt x="135041" y="190869"/>
                </a:lnTo>
                <a:lnTo>
                  <a:pt x="168723" y="166856"/>
                </a:lnTo>
                <a:lnTo>
                  <a:pt x="205599" y="144115"/>
                </a:lnTo>
                <a:lnTo>
                  <a:pt x="245506" y="122729"/>
                </a:lnTo>
                <a:lnTo>
                  <a:pt x="288283" y="102778"/>
                </a:lnTo>
                <a:lnTo>
                  <a:pt x="333766" y="84343"/>
                </a:lnTo>
                <a:lnTo>
                  <a:pt x="381795" y="67504"/>
                </a:lnTo>
                <a:lnTo>
                  <a:pt x="432207" y="52344"/>
                </a:lnTo>
                <a:lnTo>
                  <a:pt x="484840" y="38942"/>
                </a:lnTo>
                <a:lnTo>
                  <a:pt x="539532" y="27380"/>
                </a:lnTo>
                <a:lnTo>
                  <a:pt x="596120" y="17739"/>
                </a:lnTo>
                <a:lnTo>
                  <a:pt x="654443" y="10099"/>
                </a:lnTo>
                <a:lnTo>
                  <a:pt x="714339" y="4542"/>
                </a:lnTo>
                <a:lnTo>
                  <a:pt x="775645" y="1149"/>
                </a:lnTo>
                <a:lnTo>
                  <a:pt x="838200" y="0"/>
                </a:lnTo>
                <a:lnTo>
                  <a:pt x="900754" y="1149"/>
                </a:lnTo>
                <a:lnTo>
                  <a:pt x="962060" y="4542"/>
                </a:lnTo>
                <a:lnTo>
                  <a:pt x="1021956" y="10099"/>
                </a:lnTo>
                <a:lnTo>
                  <a:pt x="1080279" y="17739"/>
                </a:lnTo>
                <a:lnTo>
                  <a:pt x="1136867" y="27380"/>
                </a:lnTo>
                <a:lnTo>
                  <a:pt x="1191559" y="38942"/>
                </a:lnTo>
                <a:lnTo>
                  <a:pt x="1244192" y="52344"/>
                </a:lnTo>
                <a:lnTo>
                  <a:pt x="1294604" y="67504"/>
                </a:lnTo>
                <a:lnTo>
                  <a:pt x="1342633" y="84343"/>
                </a:lnTo>
                <a:lnTo>
                  <a:pt x="1388116" y="102778"/>
                </a:lnTo>
                <a:lnTo>
                  <a:pt x="1430893" y="122729"/>
                </a:lnTo>
                <a:lnTo>
                  <a:pt x="1470800" y="144115"/>
                </a:lnTo>
                <a:lnTo>
                  <a:pt x="1507676" y="166856"/>
                </a:lnTo>
                <a:lnTo>
                  <a:pt x="1541358" y="190869"/>
                </a:lnTo>
                <a:lnTo>
                  <a:pt x="1571684" y="216075"/>
                </a:lnTo>
                <a:lnTo>
                  <a:pt x="1621623" y="269740"/>
                </a:lnTo>
                <a:lnTo>
                  <a:pt x="1656194" y="327202"/>
                </a:lnTo>
                <a:lnTo>
                  <a:pt x="1674100" y="387814"/>
                </a:lnTo>
                <a:lnTo>
                  <a:pt x="1676400" y="419100"/>
                </a:lnTo>
                <a:lnTo>
                  <a:pt x="1674100" y="450385"/>
                </a:lnTo>
                <a:lnTo>
                  <a:pt x="1656194" y="510997"/>
                </a:lnTo>
                <a:lnTo>
                  <a:pt x="1621623" y="568459"/>
                </a:lnTo>
                <a:lnTo>
                  <a:pt x="1571684" y="622124"/>
                </a:lnTo>
                <a:lnTo>
                  <a:pt x="1541358" y="647330"/>
                </a:lnTo>
                <a:lnTo>
                  <a:pt x="1507676" y="671343"/>
                </a:lnTo>
                <a:lnTo>
                  <a:pt x="1470800" y="694084"/>
                </a:lnTo>
                <a:lnTo>
                  <a:pt x="1430893" y="715470"/>
                </a:lnTo>
                <a:lnTo>
                  <a:pt x="1388116" y="735421"/>
                </a:lnTo>
                <a:lnTo>
                  <a:pt x="1342633" y="753856"/>
                </a:lnTo>
                <a:lnTo>
                  <a:pt x="1294604" y="770695"/>
                </a:lnTo>
                <a:lnTo>
                  <a:pt x="1244192" y="785855"/>
                </a:lnTo>
                <a:lnTo>
                  <a:pt x="1191559" y="799257"/>
                </a:lnTo>
                <a:lnTo>
                  <a:pt x="1136867" y="810819"/>
                </a:lnTo>
                <a:lnTo>
                  <a:pt x="1080279" y="820460"/>
                </a:lnTo>
                <a:lnTo>
                  <a:pt x="1021956" y="828100"/>
                </a:lnTo>
                <a:lnTo>
                  <a:pt x="962060" y="833657"/>
                </a:lnTo>
                <a:lnTo>
                  <a:pt x="900754" y="837050"/>
                </a:lnTo>
                <a:lnTo>
                  <a:pt x="838200" y="838200"/>
                </a:lnTo>
                <a:lnTo>
                  <a:pt x="775645" y="837050"/>
                </a:lnTo>
                <a:lnTo>
                  <a:pt x="714339" y="833657"/>
                </a:lnTo>
                <a:lnTo>
                  <a:pt x="654443" y="828100"/>
                </a:lnTo>
                <a:lnTo>
                  <a:pt x="596120" y="820460"/>
                </a:lnTo>
                <a:lnTo>
                  <a:pt x="539532" y="810819"/>
                </a:lnTo>
                <a:lnTo>
                  <a:pt x="484840" y="799257"/>
                </a:lnTo>
                <a:lnTo>
                  <a:pt x="432207" y="785855"/>
                </a:lnTo>
                <a:lnTo>
                  <a:pt x="381795" y="770695"/>
                </a:lnTo>
                <a:lnTo>
                  <a:pt x="333766" y="753856"/>
                </a:lnTo>
                <a:lnTo>
                  <a:pt x="288283" y="735421"/>
                </a:lnTo>
                <a:lnTo>
                  <a:pt x="245506" y="715470"/>
                </a:lnTo>
                <a:lnTo>
                  <a:pt x="205599" y="694084"/>
                </a:lnTo>
                <a:lnTo>
                  <a:pt x="168723" y="671343"/>
                </a:lnTo>
                <a:lnTo>
                  <a:pt x="135041" y="647330"/>
                </a:lnTo>
                <a:lnTo>
                  <a:pt x="104715" y="622124"/>
                </a:lnTo>
                <a:lnTo>
                  <a:pt x="54776" y="568459"/>
                </a:lnTo>
                <a:lnTo>
                  <a:pt x="20205" y="510997"/>
                </a:lnTo>
                <a:lnTo>
                  <a:pt x="2299" y="450385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63294" y="3292050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352165" algn="l"/>
                <a:tab pos="4396740" algn="l"/>
                <a:tab pos="5158740" algn="l"/>
                <a:tab pos="5920740" algn="l"/>
              </a:tabLst>
            </a:pPr>
            <a:r>
              <a:rPr sz="4800" dirty="0">
                <a:latin typeface="Times New Roman"/>
                <a:cs typeface="Times New Roman"/>
              </a:rPr>
              <a:t>6,	2,	9,	12,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9,	3,	7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33800" y="3200400"/>
            <a:ext cx="1676400" cy="838200"/>
          </a:xfrm>
          <a:custGeom>
            <a:avLst/>
            <a:gdLst/>
            <a:ahLst/>
            <a:cxnLst/>
            <a:rect l="l" t="t" r="r" b="b"/>
            <a:pathLst>
              <a:path w="1676400" h="838200">
                <a:moveTo>
                  <a:pt x="0" y="419100"/>
                </a:moveTo>
                <a:lnTo>
                  <a:pt x="9088" y="357155"/>
                </a:lnTo>
                <a:lnTo>
                  <a:pt x="35489" y="298037"/>
                </a:lnTo>
                <a:lnTo>
                  <a:pt x="77906" y="242392"/>
                </a:lnTo>
                <a:lnTo>
                  <a:pt x="135041" y="190869"/>
                </a:lnTo>
                <a:lnTo>
                  <a:pt x="168723" y="166856"/>
                </a:lnTo>
                <a:lnTo>
                  <a:pt x="205599" y="144115"/>
                </a:lnTo>
                <a:lnTo>
                  <a:pt x="245506" y="122729"/>
                </a:lnTo>
                <a:lnTo>
                  <a:pt x="288283" y="102778"/>
                </a:lnTo>
                <a:lnTo>
                  <a:pt x="333766" y="84343"/>
                </a:lnTo>
                <a:lnTo>
                  <a:pt x="381795" y="67504"/>
                </a:lnTo>
                <a:lnTo>
                  <a:pt x="432207" y="52344"/>
                </a:lnTo>
                <a:lnTo>
                  <a:pt x="484840" y="38942"/>
                </a:lnTo>
                <a:lnTo>
                  <a:pt x="539532" y="27380"/>
                </a:lnTo>
                <a:lnTo>
                  <a:pt x="596120" y="17739"/>
                </a:lnTo>
                <a:lnTo>
                  <a:pt x="654443" y="10099"/>
                </a:lnTo>
                <a:lnTo>
                  <a:pt x="714339" y="4542"/>
                </a:lnTo>
                <a:lnTo>
                  <a:pt x="775645" y="1149"/>
                </a:lnTo>
                <a:lnTo>
                  <a:pt x="838200" y="0"/>
                </a:lnTo>
                <a:lnTo>
                  <a:pt x="900754" y="1149"/>
                </a:lnTo>
                <a:lnTo>
                  <a:pt x="962060" y="4542"/>
                </a:lnTo>
                <a:lnTo>
                  <a:pt x="1021956" y="10099"/>
                </a:lnTo>
                <a:lnTo>
                  <a:pt x="1080279" y="17739"/>
                </a:lnTo>
                <a:lnTo>
                  <a:pt x="1136867" y="27380"/>
                </a:lnTo>
                <a:lnTo>
                  <a:pt x="1191559" y="38942"/>
                </a:lnTo>
                <a:lnTo>
                  <a:pt x="1244192" y="52344"/>
                </a:lnTo>
                <a:lnTo>
                  <a:pt x="1294604" y="67504"/>
                </a:lnTo>
                <a:lnTo>
                  <a:pt x="1342633" y="84343"/>
                </a:lnTo>
                <a:lnTo>
                  <a:pt x="1388116" y="102778"/>
                </a:lnTo>
                <a:lnTo>
                  <a:pt x="1430893" y="122729"/>
                </a:lnTo>
                <a:lnTo>
                  <a:pt x="1470800" y="144115"/>
                </a:lnTo>
                <a:lnTo>
                  <a:pt x="1507676" y="166856"/>
                </a:lnTo>
                <a:lnTo>
                  <a:pt x="1541358" y="190869"/>
                </a:lnTo>
                <a:lnTo>
                  <a:pt x="1571684" y="216075"/>
                </a:lnTo>
                <a:lnTo>
                  <a:pt x="1621623" y="269740"/>
                </a:lnTo>
                <a:lnTo>
                  <a:pt x="1656194" y="327202"/>
                </a:lnTo>
                <a:lnTo>
                  <a:pt x="1674100" y="387814"/>
                </a:lnTo>
                <a:lnTo>
                  <a:pt x="1676400" y="419100"/>
                </a:lnTo>
                <a:lnTo>
                  <a:pt x="1674100" y="450385"/>
                </a:lnTo>
                <a:lnTo>
                  <a:pt x="1656194" y="510997"/>
                </a:lnTo>
                <a:lnTo>
                  <a:pt x="1621623" y="568459"/>
                </a:lnTo>
                <a:lnTo>
                  <a:pt x="1571684" y="622124"/>
                </a:lnTo>
                <a:lnTo>
                  <a:pt x="1541358" y="647330"/>
                </a:lnTo>
                <a:lnTo>
                  <a:pt x="1507676" y="671343"/>
                </a:lnTo>
                <a:lnTo>
                  <a:pt x="1470800" y="694084"/>
                </a:lnTo>
                <a:lnTo>
                  <a:pt x="1430893" y="715470"/>
                </a:lnTo>
                <a:lnTo>
                  <a:pt x="1388116" y="735421"/>
                </a:lnTo>
                <a:lnTo>
                  <a:pt x="1342633" y="753856"/>
                </a:lnTo>
                <a:lnTo>
                  <a:pt x="1294604" y="770695"/>
                </a:lnTo>
                <a:lnTo>
                  <a:pt x="1244192" y="785855"/>
                </a:lnTo>
                <a:lnTo>
                  <a:pt x="1191559" y="799257"/>
                </a:lnTo>
                <a:lnTo>
                  <a:pt x="1136867" y="810819"/>
                </a:lnTo>
                <a:lnTo>
                  <a:pt x="1080279" y="820460"/>
                </a:lnTo>
                <a:lnTo>
                  <a:pt x="1021956" y="828100"/>
                </a:lnTo>
                <a:lnTo>
                  <a:pt x="962060" y="833657"/>
                </a:lnTo>
                <a:lnTo>
                  <a:pt x="900754" y="837050"/>
                </a:lnTo>
                <a:lnTo>
                  <a:pt x="838200" y="838200"/>
                </a:lnTo>
                <a:lnTo>
                  <a:pt x="775645" y="837050"/>
                </a:lnTo>
                <a:lnTo>
                  <a:pt x="714339" y="833657"/>
                </a:lnTo>
                <a:lnTo>
                  <a:pt x="654443" y="828100"/>
                </a:lnTo>
                <a:lnTo>
                  <a:pt x="596120" y="820460"/>
                </a:lnTo>
                <a:lnTo>
                  <a:pt x="539532" y="810819"/>
                </a:lnTo>
                <a:lnTo>
                  <a:pt x="484840" y="799257"/>
                </a:lnTo>
                <a:lnTo>
                  <a:pt x="432207" y="785855"/>
                </a:lnTo>
                <a:lnTo>
                  <a:pt x="381795" y="770695"/>
                </a:lnTo>
                <a:lnTo>
                  <a:pt x="333766" y="753856"/>
                </a:lnTo>
                <a:lnTo>
                  <a:pt x="288283" y="735421"/>
                </a:lnTo>
                <a:lnTo>
                  <a:pt x="245506" y="715470"/>
                </a:lnTo>
                <a:lnTo>
                  <a:pt x="205599" y="694084"/>
                </a:lnTo>
                <a:lnTo>
                  <a:pt x="168723" y="671343"/>
                </a:lnTo>
                <a:lnTo>
                  <a:pt x="135041" y="647330"/>
                </a:lnTo>
                <a:lnTo>
                  <a:pt x="104715" y="622124"/>
                </a:lnTo>
                <a:lnTo>
                  <a:pt x="54776" y="568459"/>
                </a:lnTo>
                <a:lnTo>
                  <a:pt x="20205" y="510997"/>
                </a:lnTo>
                <a:lnTo>
                  <a:pt x="2299" y="450385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63294" y="4053778"/>
            <a:ext cx="6225540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40"/>
              </a:lnSpc>
              <a:tabLst>
                <a:tab pos="761365" algn="l"/>
                <a:tab pos="1523365" algn="l"/>
                <a:tab pos="2284730" algn="l"/>
                <a:tab pos="3329304" algn="l"/>
                <a:tab pos="4396105" algn="l"/>
                <a:tab pos="5158105" algn="l"/>
                <a:tab pos="5919470" algn="l"/>
              </a:tabLst>
            </a:pPr>
            <a:r>
              <a:rPr sz="4800" spc="-5" dirty="0">
                <a:latin typeface="Times New Roman"/>
                <a:cs typeface="Times New Roman"/>
              </a:rPr>
              <a:t>6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2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175" dirty="0">
                <a:latin typeface="Times New Roman"/>
                <a:cs typeface="Times New Roman"/>
              </a:rPr>
              <a:t>1</a:t>
            </a:r>
            <a:r>
              <a:rPr sz="4800" spc="-5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12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3</a:t>
            </a:r>
            <a:r>
              <a:rPr sz="4800" dirty="0">
                <a:latin typeface="Times New Roman"/>
                <a:cs typeface="Times New Roman"/>
              </a:rPr>
              <a:t>,	7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48200" y="3962400"/>
            <a:ext cx="1676400" cy="838200"/>
          </a:xfrm>
          <a:custGeom>
            <a:avLst/>
            <a:gdLst/>
            <a:ahLst/>
            <a:cxnLst/>
            <a:rect l="l" t="t" r="r" b="b"/>
            <a:pathLst>
              <a:path w="1676400" h="838200">
                <a:moveTo>
                  <a:pt x="0" y="419100"/>
                </a:moveTo>
                <a:lnTo>
                  <a:pt x="9088" y="357155"/>
                </a:lnTo>
                <a:lnTo>
                  <a:pt x="35489" y="298037"/>
                </a:lnTo>
                <a:lnTo>
                  <a:pt x="77906" y="242392"/>
                </a:lnTo>
                <a:lnTo>
                  <a:pt x="135041" y="190869"/>
                </a:lnTo>
                <a:lnTo>
                  <a:pt x="168723" y="166856"/>
                </a:lnTo>
                <a:lnTo>
                  <a:pt x="205599" y="144115"/>
                </a:lnTo>
                <a:lnTo>
                  <a:pt x="245506" y="122729"/>
                </a:lnTo>
                <a:lnTo>
                  <a:pt x="288283" y="102778"/>
                </a:lnTo>
                <a:lnTo>
                  <a:pt x="333766" y="84343"/>
                </a:lnTo>
                <a:lnTo>
                  <a:pt x="381795" y="67504"/>
                </a:lnTo>
                <a:lnTo>
                  <a:pt x="432207" y="52344"/>
                </a:lnTo>
                <a:lnTo>
                  <a:pt x="484840" y="38942"/>
                </a:lnTo>
                <a:lnTo>
                  <a:pt x="539532" y="27380"/>
                </a:lnTo>
                <a:lnTo>
                  <a:pt x="596120" y="17739"/>
                </a:lnTo>
                <a:lnTo>
                  <a:pt x="654443" y="10099"/>
                </a:lnTo>
                <a:lnTo>
                  <a:pt x="714339" y="4542"/>
                </a:lnTo>
                <a:lnTo>
                  <a:pt x="775645" y="1149"/>
                </a:lnTo>
                <a:lnTo>
                  <a:pt x="838200" y="0"/>
                </a:lnTo>
                <a:lnTo>
                  <a:pt x="900754" y="1149"/>
                </a:lnTo>
                <a:lnTo>
                  <a:pt x="962060" y="4542"/>
                </a:lnTo>
                <a:lnTo>
                  <a:pt x="1021956" y="10099"/>
                </a:lnTo>
                <a:lnTo>
                  <a:pt x="1080279" y="17739"/>
                </a:lnTo>
                <a:lnTo>
                  <a:pt x="1136867" y="27380"/>
                </a:lnTo>
                <a:lnTo>
                  <a:pt x="1191559" y="38942"/>
                </a:lnTo>
                <a:lnTo>
                  <a:pt x="1244192" y="52344"/>
                </a:lnTo>
                <a:lnTo>
                  <a:pt x="1294604" y="67504"/>
                </a:lnTo>
                <a:lnTo>
                  <a:pt x="1342633" y="84343"/>
                </a:lnTo>
                <a:lnTo>
                  <a:pt x="1388116" y="102778"/>
                </a:lnTo>
                <a:lnTo>
                  <a:pt x="1430893" y="122729"/>
                </a:lnTo>
                <a:lnTo>
                  <a:pt x="1470800" y="144115"/>
                </a:lnTo>
                <a:lnTo>
                  <a:pt x="1507676" y="166856"/>
                </a:lnTo>
                <a:lnTo>
                  <a:pt x="1541358" y="190869"/>
                </a:lnTo>
                <a:lnTo>
                  <a:pt x="1571684" y="216075"/>
                </a:lnTo>
                <a:lnTo>
                  <a:pt x="1621623" y="269740"/>
                </a:lnTo>
                <a:lnTo>
                  <a:pt x="1656194" y="327202"/>
                </a:lnTo>
                <a:lnTo>
                  <a:pt x="1674100" y="387814"/>
                </a:lnTo>
                <a:lnTo>
                  <a:pt x="1676400" y="419100"/>
                </a:lnTo>
                <a:lnTo>
                  <a:pt x="1674100" y="450385"/>
                </a:lnTo>
                <a:lnTo>
                  <a:pt x="1656194" y="510997"/>
                </a:lnTo>
                <a:lnTo>
                  <a:pt x="1621623" y="568459"/>
                </a:lnTo>
                <a:lnTo>
                  <a:pt x="1571684" y="622124"/>
                </a:lnTo>
                <a:lnTo>
                  <a:pt x="1541358" y="647330"/>
                </a:lnTo>
                <a:lnTo>
                  <a:pt x="1507676" y="671343"/>
                </a:lnTo>
                <a:lnTo>
                  <a:pt x="1470800" y="694084"/>
                </a:lnTo>
                <a:lnTo>
                  <a:pt x="1430893" y="715470"/>
                </a:lnTo>
                <a:lnTo>
                  <a:pt x="1388116" y="735421"/>
                </a:lnTo>
                <a:lnTo>
                  <a:pt x="1342633" y="753856"/>
                </a:lnTo>
                <a:lnTo>
                  <a:pt x="1294604" y="770695"/>
                </a:lnTo>
                <a:lnTo>
                  <a:pt x="1244192" y="785855"/>
                </a:lnTo>
                <a:lnTo>
                  <a:pt x="1191559" y="799257"/>
                </a:lnTo>
                <a:lnTo>
                  <a:pt x="1136867" y="810819"/>
                </a:lnTo>
                <a:lnTo>
                  <a:pt x="1080279" y="820460"/>
                </a:lnTo>
                <a:lnTo>
                  <a:pt x="1021956" y="828100"/>
                </a:lnTo>
                <a:lnTo>
                  <a:pt x="962060" y="833657"/>
                </a:lnTo>
                <a:lnTo>
                  <a:pt x="900754" y="837050"/>
                </a:lnTo>
                <a:lnTo>
                  <a:pt x="838200" y="838200"/>
                </a:lnTo>
                <a:lnTo>
                  <a:pt x="775645" y="837050"/>
                </a:lnTo>
                <a:lnTo>
                  <a:pt x="714339" y="833657"/>
                </a:lnTo>
                <a:lnTo>
                  <a:pt x="654443" y="828100"/>
                </a:lnTo>
                <a:lnTo>
                  <a:pt x="596120" y="820460"/>
                </a:lnTo>
                <a:lnTo>
                  <a:pt x="539532" y="810819"/>
                </a:lnTo>
                <a:lnTo>
                  <a:pt x="484840" y="799257"/>
                </a:lnTo>
                <a:lnTo>
                  <a:pt x="432207" y="785855"/>
                </a:lnTo>
                <a:lnTo>
                  <a:pt x="381795" y="770695"/>
                </a:lnTo>
                <a:lnTo>
                  <a:pt x="333766" y="753856"/>
                </a:lnTo>
                <a:lnTo>
                  <a:pt x="288283" y="735421"/>
                </a:lnTo>
                <a:lnTo>
                  <a:pt x="245506" y="715470"/>
                </a:lnTo>
                <a:lnTo>
                  <a:pt x="205599" y="694084"/>
                </a:lnTo>
                <a:lnTo>
                  <a:pt x="168723" y="671343"/>
                </a:lnTo>
                <a:lnTo>
                  <a:pt x="135041" y="647330"/>
                </a:lnTo>
                <a:lnTo>
                  <a:pt x="104715" y="622124"/>
                </a:lnTo>
                <a:lnTo>
                  <a:pt x="54776" y="568459"/>
                </a:lnTo>
                <a:lnTo>
                  <a:pt x="20205" y="510997"/>
                </a:lnTo>
                <a:lnTo>
                  <a:pt x="2299" y="450385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63294" y="4816431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329940" algn="l"/>
                <a:tab pos="4091940" algn="l"/>
                <a:tab pos="5158740" algn="l"/>
                <a:tab pos="5920740" algn="l"/>
              </a:tabLst>
            </a:pPr>
            <a:r>
              <a:rPr sz="4800" dirty="0">
                <a:latin typeface="Times New Roman"/>
                <a:cs typeface="Times New Roman"/>
              </a:rPr>
              <a:t>6,	2,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9,	12,	3,	7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10200" y="4724400"/>
            <a:ext cx="1676400" cy="838200"/>
          </a:xfrm>
          <a:custGeom>
            <a:avLst/>
            <a:gdLst/>
            <a:ahLst/>
            <a:cxnLst/>
            <a:rect l="l" t="t" r="r" b="b"/>
            <a:pathLst>
              <a:path w="1676400" h="838200">
                <a:moveTo>
                  <a:pt x="0" y="419100"/>
                </a:moveTo>
                <a:lnTo>
                  <a:pt x="9088" y="357155"/>
                </a:lnTo>
                <a:lnTo>
                  <a:pt x="35489" y="298037"/>
                </a:lnTo>
                <a:lnTo>
                  <a:pt x="77906" y="242392"/>
                </a:lnTo>
                <a:lnTo>
                  <a:pt x="135041" y="190869"/>
                </a:lnTo>
                <a:lnTo>
                  <a:pt x="168723" y="166856"/>
                </a:lnTo>
                <a:lnTo>
                  <a:pt x="205599" y="144115"/>
                </a:lnTo>
                <a:lnTo>
                  <a:pt x="245506" y="122729"/>
                </a:lnTo>
                <a:lnTo>
                  <a:pt x="288283" y="102778"/>
                </a:lnTo>
                <a:lnTo>
                  <a:pt x="333766" y="84343"/>
                </a:lnTo>
                <a:lnTo>
                  <a:pt x="381795" y="67504"/>
                </a:lnTo>
                <a:lnTo>
                  <a:pt x="432207" y="52344"/>
                </a:lnTo>
                <a:lnTo>
                  <a:pt x="484840" y="38942"/>
                </a:lnTo>
                <a:lnTo>
                  <a:pt x="539532" y="27380"/>
                </a:lnTo>
                <a:lnTo>
                  <a:pt x="596120" y="17739"/>
                </a:lnTo>
                <a:lnTo>
                  <a:pt x="654443" y="10099"/>
                </a:lnTo>
                <a:lnTo>
                  <a:pt x="714339" y="4542"/>
                </a:lnTo>
                <a:lnTo>
                  <a:pt x="775645" y="1149"/>
                </a:lnTo>
                <a:lnTo>
                  <a:pt x="838200" y="0"/>
                </a:lnTo>
                <a:lnTo>
                  <a:pt x="900754" y="1149"/>
                </a:lnTo>
                <a:lnTo>
                  <a:pt x="962060" y="4542"/>
                </a:lnTo>
                <a:lnTo>
                  <a:pt x="1021956" y="10099"/>
                </a:lnTo>
                <a:lnTo>
                  <a:pt x="1080279" y="17739"/>
                </a:lnTo>
                <a:lnTo>
                  <a:pt x="1136867" y="27380"/>
                </a:lnTo>
                <a:lnTo>
                  <a:pt x="1191559" y="38942"/>
                </a:lnTo>
                <a:lnTo>
                  <a:pt x="1244192" y="52344"/>
                </a:lnTo>
                <a:lnTo>
                  <a:pt x="1294604" y="67504"/>
                </a:lnTo>
                <a:lnTo>
                  <a:pt x="1342633" y="84343"/>
                </a:lnTo>
                <a:lnTo>
                  <a:pt x="1388116" y="102778"/>
                </a:lnTo>
                <a:lnTo>
                  <a:pt x="1430893" y="122729"/>
                </a:lnTo>
                <a:lnTo>
                  <a:pt x="1470800" y="144115"/>
                </a:lnTo>
                <a:lnTo>
                  <a:pt x="1507676" y="166856"/>
                </a:lnTo>
                <a:lnTo>
                  <a:pt x="1541358" y="190869"/>
                </a:lnTo>
                <a:lnTo>
                  <a:pt x="1571684" y="216075"/>
                </a:lnTo>
                <a:lnTo>
                  <a:pt x="1621623" y="269740"/>
                </a:lnTo>
                <a:lnTo>
                  <a:pt x="1656194" y="327202"/>
                </a:lnTo>
                <a:lnTo>
                  <a:pt x="1674100" y="387814"/>
                </a:lnTo>
                <a:lnTo>
                  <a:pt x="1676400" y="419100"/>
                </a:lnTo>
                <a:lnTo>
                  <a:pt x="1674100" y="450385"/>
                </a:lnTo>
                <a:lnTo>
                  <a:pt x="1656194" y="510997"/>
                </a:lnTo>
                <a:lnTo>
                  <a:pt x="1621623" y="568459"/>
                </a:lnTo>
                <a:lnTo>
                  <a:pt x="1571684" y="622124"/>
                </a:lnTo>
                <a:lnTo>
                  <a:pt x="1541358" y="647330"/>
                </a:lnTo>
                <a:lnTo>
                  <a:pt x="1507676" y="671343"/>
                </a:lnTo>
                <a:lnTo>
                  <a:pt x="1470800" y="694084"/>
                </a:lnTo>
                <a:lnTo>
                  <a:pt x="1430893" y="715470"/>
                </a:lnTo>
                <a:lnTo>
                  <a:pt x="1388116" y="735421"/>
                </a:lnTo>
                <a:lnTo>
                  <a:pt x="1342633" y="753856"/>
                </a:lnTo>
                <a:lnTo>
                  <a:pt x="1294604" y="770695"/>
                </a:lnTo>
                <a:lnTo>
                  <a:pt x="1244192" y="785855"/>
                </a:lnTo>
                <a:lnTo>
                  <a:pt x="1191559" y="799257"/>
                </a:lnTo>
                <a:lnTo>
                  <a:pt x="1136867" y="810819"/>
                </a:lnTo>
                <a:lnTo>
                  <a:pt x="1080279" y="820460"/>
                </a:lnTo>
                <a:lnTo>
                  <a:pt x="1021956" y="828100"/>
                </a:lnTo>
                <a:lnTo>
                  <a:pt x="962060" y="833657"/>
                </a:lnTo>
                <a:lnTo>
                  <a:pt x="900754" y="837050"/>
                </a:lnTo>
                <a:lnTo>
                  <a:pt x="838200" y="838200"/>
                </a:lnTo>
                <a:lnTo>
                  <a:pt x="775645" y="837050"/>
                </a:lnTo>
                <a:lnTo>
                  <a:pt x="714339" y="833657"/>
                </a:lnTo>
                <a:lnTo>
                  <a:pt x="654443" y="828100"/>
                </a:lnTo>
                <a:lnTo>
                  <a:pt x="596120" y="820460"/>
                </a:lnTo>
                <a:lnTo>
                  <a:pt x="539532" y="810819"/>
                </a:lnTo>
                <a:lnTo>
                  <a:pt x="484840" y="799257"/>
                </a:lnTo>
                <a:lnTo>
                  <a:pt x="432207" y="785855"/>
                </a:lnTo>
                <a:lnTo>
                  <a:pt x="381795" y="770695"/>
                </a:lnTo>
                <a:lnTo>
                  <a:pt x="333766" y="753856"/>
                </a:lnTo>
                <a:lnTo>
                  <a:pt x="288283" y="735421"/>
                </a:lnTo>
                <a:lnTo>
                  <a:pt x="245506" y="715470"/>
                </a:lnTo>
                <a:lnTo>
                  <a:pt x="205599" y="694084"/>
                </a:lnTo>
                <a:lnTo>
                  <a:pt x="168723" y="671343"/>
                </a:lnTo>
                <a:lnTo>
                  <a:pt x="135041" y="647330"/>
                </a:lnTo>
                <a:lnTo>
                  <a:pt x="104715" y="622124"/>
                </a:lnTo>
                <a:lnTo>
                  <a:pt x="54776" y="568459"/>
                </a:lnTo>
                <a:lnTo>
                  <a:pt x="20205" y="510997"/>
                </a:lnTo>
                <a:lnTo>
                  <a:pt x="2299" y="450385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63294" y="5502485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329940" algn="l"/>
                <a:tab pos="4091940" algn="l"/>
                <a:tab pos="4853940" algn="l"/>
                <a:tab pos="5920740" algn="l"/>
              </a:tabLst>
            </a:pPr>
            <a:r>
              <a:rPr sz="4800" dirty="0">
                <a:latin typeface="Times New Roman"/>
                <a:cs typeface="Times New Roman"/>
              </a:rPr>
              <a:t>6,	2,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9,	3,	12,	7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48400" y="5486400"/>
            <a:ext cx="1676400" cy="762000"/>
          </a:xfrm>
          <a:custGeom>
            <a:avLst/>
            <a:gdLst/>
            <a:ahLst/>
            <a:cxnLst/>
            <a:rect l="l" t="t" r="r" b="b"/>
            <a:pathLst>
              <a:path w="1676400" h="762000">
                <a:moveTo>
                  <a:pt x="0" y="381000"/>
                </a:moveTo>
                <a:lnTo>
                  <a:pt x="9963" y="322075"/>
                </a:lnTo>
                <a:lnTo>
                  <a:pt x="38859" y="265997"/>
                </a:lnTo>
                <a:lnTo>
                  <a:pt x="85197" y="213443"/>
                </a:lnTo>
                <a:lnTo>
                  <a:pt x="114441" y="188699"/>
                </a:lnTo>
                <a:lnTo>
                  <a:pt x="147486" y="165090"/>
                </a:lnTo>
                <a:lnTo>
                  <a:pt x="184146" y="142701"/>
                </a:lnTo>
                <a:lnTo>
                  <a:pt x="224235" y="121616"/>
                </a:lnTo>
                <a:lnTo>
                  <a:pt x="267566" y="101921"/>
                </a:lnTo>
                <a:lnTo>
                  <a:pt x="313952" y="83699"/>
                </a:lnTo>
                <a:lnTo>
                  <a:pt x="363209" y="67036"/>
                </a:lnTo>
                <a:lnTo>
                  <a:pt x="415148" y="52016"/>
                </a:lnTo>
                <a:lnTo>
                  <a:pt x="469585" y="38724"/>
                </a:lnTo>
                <a:lnTo>
                  <a:pt x="526332" y="27244"/>
                </a:lnTo>
                <a:lnTo>
                  <a:pt x="585202" y="17662"/>
                </a:lnTo>
                <a:lnTo>
                  <a:pt x="646011" y="10062"/>
                </a:lnTo>
                <a:lnTo>
                  <a:pt x="708571" y="4528"/>
                </a:lnTo>
                <a:lnTo>
                  <a:pt x="772696" y="1146"/>
                </a:lnTo>
                <a:lnTo>
                  <a:pt x="838200" y="0"/>
                </a:lnTo>
                <a:lnTo>
                  <a:pt x="903703" y="1146"/>
                </a:lnTo>
                <a:lnTo>
                  <a:pt x="967828" y="4528"/>
                </a:lnTo>
                <a:lnTo>
                  <a:pt x="1030388" y="10062"/>
                </a:lnTo>
                <a:lnTo>
                  <a:pt x="1091197" y="17662"/>
                </a:lnTo>
                <a:lnTo>
                  <a:pt x="1150067" y="27244"/>
                </a:lnTo>
                <a:lnTo>
                  <a:pt x="1206814" y="38724"/>
                </a:lnTo>
                <a:lnTo>
                  <a:pt x="1261251" y="52016"/>
                </a:lnTo>
                <a:lnTo>
                  <a:pt x="1313190" y="67036"/>
                </a:lnTo>
                <a:lnTo>
                  <a:pt x="1362447" y="83699"/>
                </a:lnTo>
                <a:lnTo>
                  <a:pt x="1408833" y="101921"/>
                </a:lnTo>
                <a:lnTo>
                  <a:pt x="1452164" y="121616"/>
                </a:lnTo>
                <a:lnTo>
                  <a:pt x="1492253" y="142701"/>
                </a:lnTo>
                <a:lnTo>
                  <a:pt x="1528913" y="165090"/>
                </a:lnTo>
                <a:lnTo>
                  <a:pt x="1561958" y="188699"/>
                </a:lnTo>
                <a:lnTo>
                  <a:pt x="1591202" y="213443"/>
                </a:lnTo>
                <a:lnTo>
                  <a:pt x="1637540" y="265997"/>
                </a:lnTo>
                <a:lnTo>
                  <a:pt x="1666436" y="322075"/>
                </a:lnTo>
                <a:lnTo>
                  <a:pt x="1676400" y="381000"/>
                </a:lnTo>
                <a:lnTo>
                  <a:pt x="1673878" y="410775"/>
                </a:lnTo>
                <a:lnTo>
                  <a:pt x="1654262" y="468361"/>
                </a:lnTo>
                <a:lnTo>
                  <a:pt x="1616458" y="522762"/>
                </a:lnTo>
                <a:lnTo>
                  <a:pt x="1561958" y="573300"/>
                </a:lnTo>
                <a:lnTo>
                  <a:pt x="1528913" y="596909"/>
                </a:lnTo>
                <a:lnTo>
                  <a:pt x="1492253" y="619298"/>
                </a:lnTo>
                <a:lnTo>
                  <a:pt x="1452164" y="640383"/>
                </a:lnTo>
                <a:lnTo>
                  <a:pt x="1408833" y="660078"/>
                </a:lnTo>
                <a:lnTo>
                  <a:pt x="1362447" y="678300"/>
                </a:lnTo>
                <a:lnTo>
                  <a:pt x="1313190" y="694963"/>
                </a:lnTo>
                <a:lnTo>
                  <a:pt x="1261251" y="709983"/>
                </a:lnTo>
                <a:lnTo>
                  <a:pt x="1206814" y="723275"/>
                </a:lnTo>
                <a:lnTo>
                  <a:pt x="1150067" y="734755"/>
                </a:lnTo>
                <a:lnTo>
                  <a:pt x="1091197" y="744337"/>
                </a:lnTo>
                <a:lnTo>
                  <a:pt x="1030388" y="751937"/>
                </a:lnTo>
                <a:lnTo>
                  <a:pt x="967828" y="757471"/>
                </a:lnTo>
                <a:lnTo>
                  <a:pt x="903703" y="760853"/>
                </a:lnTo>
                <a:lnTo>
                  <a:pt x="838200" y="762000"/>
                </a:lnTo>
                <a:lnTo>
                  <a:pt x="772696" y="760853"/>
                </a:lnTo>
                <a:lnTo>
                  <a:pt x="708571" y="757471"/>
                </a:lnTo>
                <a:lnTo>
                  <a:pt x="646011" y="751937"/>
                </a:lnTo>
                <a:lnTo>
                  <a:pt x="585202" y="744337"/>
                </a:lnTo>
                <a:lnTo>
                  <a:pt x="526332" y="734755"/>
                </a:lnTo>
                <a:lnTo>
                  <a:pt x="469585" y="723275"/>
                </a:lnTo>
                <a:lnTo>
                  <a:pt x="415148" y="709983"/>
                </a:lnTo>
                <a:lnTo>
                  <a:pt x="363209" y="694963"/>
                </a:lnTo>
                <a:lnTo>
                  <a:pt x="313952" y="678300"/>
                </a:lnTo>
                <a:lnTo>
                  <a:pt x="267566" y="660078"/>
                </a:lnTo>
                <a:lnTo>
                  <a:pt x="224235" y="640383"/>
                </a:lnTo>
                <a:lnTo>
                  <a:pt x="184146" y="619298"/>
                </a:lnTo>
                <a:lnTo>
                  <a:pt x="147486" y="596909"/>
                </a:lnTo>
                <a:lnTo>
                  <a:pt x="114441" y="573300"/>
                </a:lnTo>
                <a:lnTo>
                  <a:pt x="85197" y="548556"/>
                </a:lnTo>
                <a:lnTo>
                  <a:pt x="38859" y="496002"/>
                </a:lnTo>
                <a:lnTo>
                  <a:pt x="9963" y="439924"/>
                </a:lnTo>
                <a:lnTo>
                  <a:pt x="0" y="3810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63294" y="6126410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329940" algn="l"/>
                <a:tab pos="4091940" algn="l"/>
                <a:tab pos="4853940" algn="l"/>
                <a:tab pos="5615940" algn="l"/>
              </a:tabLst>
            </a:pPr>
            <a:r>
              <a:rPr sz="4800" dirty="0">
                <a:latin typeface="Times New Roman"/>
                <a:cs typeface="Times New Roman"/>
              </a:rPr>
              <a:t>6,	2,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9,	3,	7,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13103" y="6394702"/>
            <a:ext cx="6793992" cy="3581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87196" y="6384035"/>
            <a:ext cx="5181600" cy="4297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3000" y="6324600"/>
            <a:ext cx="6781800" cy="346075"/>
          </a:xfrm>
          <a:prstGeom prst="rect">
            <a:avLst/>
          </a:prstGeom>
          <a:solidFill>
            <a:srgbClr val="FBFF91"/>
          </a:solidFill>
          <a:ln w="914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12 is greater than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7 so they are</a:t>
            </a:r>
            <a:r>
              <a:rPr sz="1600" b="1" spc="14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exchanged.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13103" y="5785103"/>
            <a:ext cx="6793992" cy="3581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87196" y="5774435"/>
            <a:ext cx="5181600" cy="429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43000" y="5715000"/>
            <a:ext cx="6781800" cy="346075"/>
          </a:xfrm>
          <a:custGeom>
            <a:avLst/>
            <a:gdLst/>
            <a:ahLst/>
            <a:cxnLst/>
            <a:rect l="l" t="t" r="r" b="b"/>
            <a:pathLst>
              <a:path w="6781800" h="346075">
                <a:moveTo>
                  <a:pt x="0" y="345948"/>
                </a:moveTo>
                <a:lnTo>
                  <a:pt x="6781800" y="345948"/>
                </a:lnTo>
                <a:lnTo>
                  <a:pt x="6781800" y="0"/>
                </a:lnTo>
                <a:lnTo>
                  <a:pt x="0" y="0"/>
                </a:lnTo>
                <a:lnTo>
                  <a:pt x="0" y="345948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234744" y="5776291"/>
            <a:ext cx="4934585" cy="227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4"/>
              </a:lnSpc>
            </a:pPr>
            <a:r>
              <a:rPr sz="1600" b="1" spc="-5" dirty="0">
                <a:latin typeface="Arial"/>
                <a:cs typeface="Arial"/>
              </a:rPr>
              <a:t>The 12 is greater than the 3 so they are</a:t>
            </a:r>
            <a:r>
              <a:rPr sz="1600" b="1" spc="10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exchanged.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13103" y="4946903"/>
            <a:ext cx="6717792" cy="3581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87196" y="4936235"/>
            <a:ext cx="5522976" cy="4297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143000" y="4876800"/>
            <a:ext cx="6705600" cy="346075"/>
          </a:xfrm>
          <a:prstGeom prst="rect">
            <a:avLst/>
          </a:prstGeom>
          <a:solidFill>
            <a:srgbClr val="FBFF91"/>
          </a:solidFill>
          <a:ln w="914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twelve is greater than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9 so they are</a:t>
            </a:r>
            <a:r>
              <a:rPr sz="1600" b="1" spc="1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exchanged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13103" y="4337303"/>
            <a:ext cx="6717792" cy="3581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87196" y="4326635"/>
            <a:ext cx="5160264" cy="4297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43000" y="4267200"/>
            <a:ext cx="6705600" cy="346075"/>
          </a:xfrm>
          <a:custGeom>
            <a:avLst/>
            <a:gdLst/>
            <a:ahLst/>
            <a:cxnLst/>
            <a:rect l="l" t="t" r="r" b="b"/>
            <a:pathLst>
              <a:path w="6705600" h="346075">
                <a:moveTo>
                  <a:pt x="0" y="345948"/>
                </a:moveTo>
                <a:lnTo>
                  <a:pt x="6705600" y="345948"/>
                </a:lnTo>
                <a:lnTo>
                  <a:pt x="6705600" y="0"/>
                </a:lnTo>
                <a:lnTo>
                  <a:pt x="0" y="0"/>
                </a:lnTo>
                <a:lnTo>
                  <a:pt x="0" y="345948"/>
                </a:lnTo>
                <a:close/>
              </a:path>
            </a:pathLst>
          </a:custGeom>
          <a:solidFill>
            <a:srgbClr val="FBFF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143000" y="4267200"/>
            <a:ext cx="6705600" cy="34607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600" b="1" spc="-5" dirty="0">
                <a:latin typeface="Arial"/>
                <a:cs typeface="Arial"/>
              </a:rPr>
              <a:t>The 12 is larger than the </a:t>
            </a:r>
            <a:r>
              <a:rPr sz="1600" b="1" spc="-45" dirty="0">
                <a:latin typeface="Arial"/>
                <a:cs typeface="Arial"/>
              </a:rPr>
              <a:t>11 </a:t>
            </a:r>
            <a:r>
              <a:rPr sz="1600" b="1" spc="-5" dirty="0">
                <a:latin typeface="Arial"/>
                <a:cs typeface="Arial"/>
              </a:rPr>
              <a:t>so they are</a:t>
            </a:r>
            <a:r>
              <a:rPr sz="1600" b="1" spc="14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exchanged.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213103" y="3422903"/>
            <a:ext cx="6793992" cy="8473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87196" y="3412235"/>
            <a:ext cx="6618732" cy="91744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143000" y="3352800"/>
            <a:ext cx="6781800" cy="835660"/>
          </a:xfrm>
          <a:custGeom>
            <a:avLst/>
            <a:gdLst/>
            <a:ahLst/>
            <a:cxnLst/>
            <a:rect l="l" t="t" r="r" b="b"/>
            <a:pathLst>
              <a:path w="6781800" h="835660">
                <a:moveTo>
                  <a:pt x="0" y="835151"/>
                </a:moveTo>
                <a:lnTo>
                  <a:pt x="6781800" y="835151"/>
                </a:lnTo>
                <a:lnTo>
                  <a:pt x="6781800" y="0"/>
                </a:lnTo>
                <a:lnTo>
                  <a:pt x="0" y="0"/>
                </a:lnTo>
                <a:lnTo>
                  <a:pt x="0" y="835151"/>
                </a:lnTo>
                <a:close/>
              </a:path>
            </a:pathLst>
          </a:custGeom>
          <a:solidFill>
            <a:srgbClr val="FBFF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143000" y="3352800"/>
            <a:ext cx="6781800" cy="835660"/>
          </a:xfrm>
          <a:custGeom>
            <a:avLst/>
            <a:gdLst/>
            <a:ahLst/>
            <a:cxnLst/>
            <a:rect l="l" t="t" r="r" b="b"/>
            <a:pathLst>
              <a:path w="6781800" h="835660">
                <a:moveTo>
                  <a:pt x="0" y="835151"/>
                </a:moveTo>
                <a:lnTo>
                  <a:pt x="6781800" y="835151"/>
                </a:lnTo>
                <a:lnTo>
                  <a:pt x="6781800" y="0"/>
                </a:lnTo>
                <a:lnTo>
                  <a:pt x="0" y="0"/>
                </a:lnTo>
                <a:lnTo>
                  <a:pt x="0" y="835151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13103" y="2813304"/>
            <a:ext cx="6717792" cy="60350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187196" y="2802635"/>
            <a:ext cx="6400800" cy="67360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143000" y="2743200"/>
            <a:ext cx="6705600" cy="591820"/>
          </a:xfrm>
          <a:custGeom>
            <a:avLst/>
            <a:gdLst/>
            <a:ahLst/>
            <a:cxnLst/>
            <a:rect l="l" t="t" r="r" b="b"/>
            <a:pathLst>
              <a:path w="6705600" h="591820">
                <a:moveTo>
                  <a:pt x="0" y="591312"/>
                </a:moveTo>
                <a:lnTo>
                  <a:pt x="6705600" y="591312"/>
                </a:lnTo>
                <a:lnTo>
                  <a:pt x="6705600" y="0"/>
                </a:lnTo>
                <a:lnTo>
                  <a:pt x="0" y="0"/>
                </a:lnTo>
                <a:lnTo>
                  <a:pt x="0" y="591312"/>
                </a:lnTo>
                <a:close/>
              </a:path>
            </a:pathLst>
          </a:custGeom>
          <a:solidFill>
            <a:srgbClr val="FBFF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143000" y="2743200"/>
            <a:ext cx="6705600" cy="591820"/>
          </a:xfrm>
          <a:custGeom>
            <a:avLst/>
            <a:gdLst/>
            <a:ahLst/>
            <a:cxnLst/>
            <a:rect l="l" t="t" r="r" b="b"/>
            <a:pathLst>
              <a:path w="6705600" h="591820">
                <a:moveTo>
                  <a:pt x="0" y="591312"/>
                </a:moveTo>
                <a:lnTo>
                  <a:pt x="6705600" y="591312"/>
                </a:lnTo>
                <a:lnTo>
                  <a:pt x="6705600" y="0"/>
                </a:lnTo>
                <a:lnTo>
                  <a:pt x="0" y="0"/>
                </a:lnTo>
                <a:lnTo>
                  <a:pt x="0" y="591312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147572" y="2772282"/>
            <a:ext cx="6772909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Now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next pair of </a:t>
            </a:r>
            <a:r>
              <a:rPr sz="1600" b="1" spc="-10" dirty="0">
                <a:latin typeface="Arial"/>
                <a:cs typeface="Arial"/>
              </a:rPr>
              <a:t>numbers </a:t>
            </a:r>
            <a:r>
              <a:rPr sz="1600" b="1" spc="-5" dirty="0">
                <a:latin typeface="Arial"/>
                <a:cs typeface="Arial"/>
              </a:rPr>
              <a:t>are compared. </a:t>
            </a:r>
            <a:r>
              <a:rPr sz="1600" b="1" spc="-15" dirty="0">
                <a:latin typeface="Arial"/>
                <a:cs typeface="Arial"/>
              </a:rPr>
              <a:t>Again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9 is</a:t>
            </a:r>
            <a:r>
              <a:rPr sz="1600" b="1" spc="24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the</a:t>
            </a:r>
            <a:endParaRPr sz="1600">
              <a:latin typeface="Arial"/>
              <a:cs typeface="Arial"/>
            </a:endParaRPr>
          </a:p>
          <a:p>
            <a:pPr marL="86995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larger and so this pair is also</a:t>
            </a:r>
            <a:r>
              <a:rPr sz="1600" b="1" spc="7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exchanged.</a:t>
            </a:r>
            <a:endParaRPr sz="1600">
              <a:latin typeface="Arial"/>
              <a:cs typeface="Arial"/>
            </a:endParaRPr>
          </a:p>
          <a:p>
            <a:pPr marL="86995" marR="365125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Arial"/>
                <a:cs typeface="Arial"/>
              </a:rPr>
              <a:t>In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third comparison,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9 is </a:t>
            </a:r>
            <a:r>
              <a:rPr sz="1600" b="1" spc="-10" dirty="0">
                <a:latin typeface="Arial"/>
                <a:cs typeface="Arial"/>
              </a:rPr>
              <a:t>not </a:t>
            </a:r>
            <a:r>
              <a:rPr sz="1600" b="1" spc="-5" dirty="0">
                <a:latin typeface="Arial"/>
                <a:cs typeface="Arial"/>
              </a:rPr>
              <a:t>larger than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12 so no  exchange is made. </a:t>
            </a:r>
            <a:r>
              <a:rPr sz="1600" b="1" spc="-15" dirty="0">
                <a:latin typeface="Arial"/>
                <a:cs typeface="Arial"/>
              </a:rPr>
              <a:t>We </a:t>
            </a:r>
            <a:r>
              <a:rPr sz="1600" b="1" spc="-20" dirty="0">
                <a:latin typeface="Arial"/>
                <a:cs typeface="Arial"/>
              </a:rPr>
              <a:t>move </a:t>
            </a:r>
            <a:r>
              <a:rPr sz="1600" b="1" spc="-5" dirty="0">
                <a:latin typeface="Arial"/>
                <a:cs typeface="Arial"/>
              </a:rPr>
              <a:t>on to compare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next pair </a:t>
            </a:r>
            <a:r>
              <a:rPr sz="1600" b="1" dirty="0">
                <a:latin typeface="Arial"/>
                <a:cs typeface="Arial"/>
              </a:rPr>
              <a:t>without  </a:t>
            </a:r>
            <a:r>
              <a:rPr sz="1600" b="1" spc="-5" dirty="0">
                <a:latin typeface="Arial"/>
                <a:cs typeface="Arial"/>
              </a:rPr>
              <a:t>any change to </a:t>
            </a:r>
            <a:r>
              <a:rPr sz="1600" b="1" spc="-10" dirty="0">
                <a:latin typeface="Arial"/>
                <a:cs typeface="Arial"/>
              </a:rPr>
              <a:t>the</a:t>
            </a:r>
            <a:r>
              <a:rPr sz="1600" b="1" spc="4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list.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213103" y="1898904"/>
            <a:ext cx="6641592" cy="8473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187196" y="1888235"/>
            <a:ext cx="6524244" cy="91744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143000" y="1828800"/>
            <a:ext cx="6629400" cy="835660"/>
          </a:xfrm>
          <a:prstGeom prst="rect">
            <a:avLst/>
          </a:prstGeom>
          <a:solidFill>
            <a:srgbClr val="FBFF91"/>
          </a:solidFill>
          <a:ln w="9144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 marR="313055">
              <a:lnSpc>
                <a:spcPct val="100000"/>
              </a:lnSpc>
              <a:spcBef>
                <a:spcPts val="325"/>
              </a:spcBef>
            </a:pPr>
            <a:r>
              <a:rPr sz="1600" b="1" spc="-5" dirty="0">
                <a:latin typeface="Arial"/>
                <a:cs typeface="Arial"/>
              </a:rPr>
              <a:t>Bubblesort compares </a:t>
            </a:r>
            <a:r>
              <a:rPr sz="1600" b="1" spc="-10" dirty="0">
                <a:latin typeface="Arial"/>
                <a:cs typeface="Arial"/>
              </a:rPr>
              <a:t>the numbers </a:t>
            </a:r>
            <a:r>
              <a:rPr sz="1600" b="1" spc="-5" dirty="0">
                <a:latin typeface="Arial"/>
                <a:cs typeface="Arial"/>
              </a:rPr>
              <a:t>in pairs from left to right  exchanging </a:t>
            </a:r>
            <a:r>
              <a:rPr sz="1600" b="1" spc="5" dirty="0">
                <a:latin typeface="Arial"/>
                <a:cs typeface="Arial"/>
              </a:rPr>
              <a:t>when </a:t>
            </a:r>
            <a:r>
              <a:rPr sz="1600" b="1" spc="-20" dirty="0">
                <a:latin typeface="Arial"/>
                <a:cs typeface="Arial"/>
              </a:rPr>
              <a:t>necessary. </a:t>
            </a:r>
            <a:r>
              <a:rPr sz="1600" b="1" spc="-5" dirty="0">
                <a:latin typeface="Arial"/>
                <a:cs typeface="Arial"/>
              </a:rPr>
              <a:t>Here the first </a:t>
            </a:r>
            <a:r>
              <a:rPr sz="1600" b="1" spc="-10" dirty="0">
                <a:latin typeface="Arial"/>
                <a:cs typeface="Arial"/>
              </a:rPr>
              <a:t>number </a:t>
            </a:r>
            <a:r>
              <a:rPr sz="1600" b="1" spc="-5" dirty="0">
                <a:latin typeface="Arial"/>
                <a:cs typeface="Arial"/>
              </a:rPr>
              <a:t>is compared  to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second and as it is larger they are</a:t>
            </a:r>
            <a:r>
              <a:rPr sz="1600" b="1" spc="14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exchanged.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27304" y="5327903"/>
            <a:ext cx="7860792" cy="84734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01395" y="5317235"/>
            <a:ext cx="7862316" cy="91744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57200" y="5257800"/>
            <a:ext cx="7848600" cy="835660"/>
          </a:xfrm>
          <a:prstGeom prst="rect">
            <a:avLst/>
          </a:prstGeom>
          <a:solidFill>
            <a:srgbClr val="FBFF91"/>
          </a:solidFill>
          <a:ln w="914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1440" marR="194945">
              <a:lnSpc>
                <a:spcPct val="100000"/>
              </a:lnSpc>
              <a:spcBef>
                <a:spcPts val="330"/>
              </a:spcBef>
            </a:pP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end of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list has been reached so this is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end of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first pass. </a:t>
            </a:r>
            <a:r>
              <a:rPr sz="1600" b="1" spc="-10" dirty="0">
                <a:latin typeface="Arial"/>
                <a:cs typeface="Arial"/>
              </a:rPr>
              <a:t>The  </a:t>
            </a:r>
            <a:r>
              <a:rPr sz="1600" b="1" spc="-5" dirty="0">
                <a:latin typeface="Arial"/>
                <a:cs typeface="Arial"/>
              </a:rPr>
              <a:t>twelve at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end of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list must be largest </a:t>
            </a:r>
            <a:r>
              <a:rPr sz="1600" b="1" spc="-10" dirty="0">
                <a:latin typeface="Arial"/>
                <a:cs typeface="Arial"/>
              </a:rPr>
              <a:t>number </a:t>
            </a:r>
            <a:r>
              <a:rPr sz="1600" b="1" spc="-5" dirty="0">
                <a:latin typeface="Arial"/>
                <a:cs typeface="Arial"/>
              </a:rPr>
              <a:t>in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list and so is now in  the correct position. </a:t>
            </a:r>
            <a:r>
              <a:rPr sz="1600" b="1" spc="-15" dirty="0">
                <a:latin typeface="Arial"/>
                <a:cs typeface="Arial"/>
              </a:rPr>
              <a:t>We </a:t>
            </a:r>
            <a:r>
              <a:rPr sz="1600" b="1" spc="-5" dirty="0">
                <a:latin typeface="Arial"/>
                <a:cs typeface="Arial"/>
              </a:rPr>
              <a:t>now start a new pass from left to</a:t>
            </a:r>
            <a:r>
              <a:rPr sz="1600" b="1" spc="2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right.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0"/>
            <a:ext cx="3909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Perpetua"/>
                <a:cs typeface="Perpetua"/>
              </a:rPr>
              <a:t>Bubble </a:t>
            </a:r>
            <a:r>
              <a:rPr sz="4000" spc="35" dirty="0">
                <a:latin typeface="Perpetua"/>
                <a:cs typeface="Perpetua"/>
              </a:rPr>
              <a:t>Sort</a:t>
            </a:r>
            <a:r>
              <a:rPr sz="4000" spc="-50" dirty="0">
                <a:latin typeface="Perpetua"/>
                <a:cs typeface="Perpetua"/>
              </a:rPr>
              <a:t> </a:t>
            </a:r>
            <a:r>
              <a:rPr sz="4000" dirty="0">
                <a:latin typeface="Perpetua"/>
                <a:cs typeface="Perpetua"/>
              </a:rPr>
              <a:t>Example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5694" y="1996396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329940" algn="l"/>
                <a:tab pos="4091940" algn="l"/>
                <a:tab pos="4853940" algn="l"/>
                <a:tab pos="5615940" algn="l"/>
              </a:tabLst>
            </a:pPr>
            <a:r>
              <a:rPr sz="4800" dirty="0">
                <a:latin typeface="Times New Roman"/>
                <a:cs typeface="Times New Roman"/>
              </a:rPr>
              <a:t>6,	2,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9,	3,	7,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5694" y="1996396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329940" algn="l"/>
                <a:tab pos="4091940" algn="l"/>
                <a:tab pos="4853940" algn="l"/>
                <a:tab pos="5615940" algn="l"/>
              </a:tabLst>
            </a:pPr>
            <a:r>
              <a:rPr sz="4800" dirty="0">
                <a:latin typeface="Times New Roman"/>
                <a:cs typeface="Times New Roman"/>
              </a:rPr>
              <a:t>2,	6,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9,	3,	7,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5694" y="1996396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047365" algn="l"/>
                <a:tab pos="4091940" algn="l"/>
                <a:tab pos="4853940" algn="l"/>
                <a:tab pos="5615940" algn="l"/>
              </a:tabLst>
            </a:pPr>
            <a:r>
              <a:rPr sz="4800" dirty="0">
                <a:latin typeface="Times New Roman"/>
                <a:cs typeface="Times New Roman"/>
              </a:rPr>
              <a:t>2,	6,	9,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3,	7,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5694" y="1996396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047365" algn="l"/>
                <a:tab pos="3809365" algn="l"/>
                <a:tab pos="4853940" algn="l"/>
                <a:tab pos="5615940" algn="l"/>
              </a:tabLst>
            </a:pPr>
            <a:r>
              <a:rPr sz="4800" dirty="0">
                <a:latin typeface="Times New Roman"/>
                <a:cs typeface="Times New Roman"/>
              </a:rPr>
              <a:t>2,	6,	9,	9,	3,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7,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24000" y="1905000"/>
            <a:ext cx="6705600" cy="824865"/>
          </a:xfrm>
          <a:custGeom>
            <a:avLst/>
            <a:gdLst/>
            <a:ahLst/>
            <a:cxnLst/>
            <a:rect l="l" t="t" r="r" b="b"/>
            <a:pathLst>
              <a:path w="6705600" h="824864">
                <a:moveTo>
                  <a:pt x="0" y="824484"/>
                </a:moveTo>
                <a:lnTo>
                  <a:pt x="6705600" y="824484"/>
                </a:lnTo>
                <a:lnTo>
                  <a:pt x="6705600" y="0"/>
                </a:lnTo>
                <a:lnTo>
                  <a:pt x="0" y="0"/>
                </a:lnTo>
                <a:lnTo>
                  <a:pt x="0" y="8244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02994" y="1917319"/>
            <a:ext cx="6251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536065" algn="l"/>
                <a:tab pos="2298065" algn="l"/>
                <a:tab pos="3060065" algn="l"/>
                <a:tab pos="3822065" algn="l"/>
                <a:tab pos="4584065" algn="l"/>
                <a:tab pos="5628640" algn="l"/>
              </a:tabLst>
            </a:pPr>
            <a:r>
              <a:rPr sz="4800" dirty="0">
                <a:latin typeface="Times New Roman"/>
                <a:cs typeface="Times New Roman"/>
              </a:rPr>
              <a:t>2,	6,	9,	9,	3,	7,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95400" y="1905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09800" y="1905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71800" y="1905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10000" y="1905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72000" y="1905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34000" y="1905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13103" y="2965704"/>
            <a:ext cx="6793992" cy="847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87196" y="2955035"/>
            <a:ext cx="6827520" cy="9174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43000" y="2895600"/>
            <a:ext cx="6781800" cy="835660"/>
          </a:xfrm>
          <a:prstGeom prst="rect">
            <a:avLst/>
          </a:prstGeom>
          <a:solidFill>
            <a:srgbClr val="FBFF91"/>
          </a:solidFill>
          <a:ln w="9144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 marR="163195">
              <a:lnSpc>
                <a:spcPct val="100000"/>
              </a:lnSpc>
              <a:spcBef>
                <a:spcPts val="325"/>
              </a:spcBef>
            </a:pPr>
            <a:r>
              <a:rPr sz="1600" b="1" spc="-5" dirty="0">
                <a:latin typeface="Arial"/>
                <a:cs typeface="Arial"/>
              </a:rPr>
              <a:t>Notice that this time </a:t>
            </a:r>
            <a:r>
              <a:rPr sz="1600" b="1" spc="15" dirty="0">
                <a:latin typeface="Arial"/>
                <a:cs typeface="Arial"/>
              </a:rPr>
              <a:t>we </a:t>
            </a:r>
            <a:r>
              <a:rPr sz="1600" b="1" spc="-5" dirty="0">
                <a:latin typeface="Arial"/>
                <a:cs typeface="Arial"/>
              </a:rPr>
              <a:t>do </a:t>
            </a:r>
            <a:r>
              <a:rPr sz="1600" b="1" spc="-10" dirty="0">
                <a:latin typeface="Arial"/>
                <a:cs typeface="Arial"/>
              </a:rPr>
              <a:t>not </a:t>
            </a:r>
            <a:r>
              <a:rPr sz="1600" b="1" spc="-15" dirty="0">
                <a:latin typeface="Arial"/>
                <a:cs typeface="Arial"/>
              </a:rPr>
              <a:t>have </a:t>
            </a:r>
            <a:r>
              <a:rPr sz="1600" b="1" spc="-5" dirty="0">
                <a:latin typeface="Arial"/>
                <a:cs typeface="Arial"/>
              </a:rPr>
              <a:t>to compare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last </a:t>
            </a:r>
            <a:r>
              <a:rPr sz="1600" b="1" spc="5" dirty="0">
                <a:latin typeface="Arial"/>
                <a:cs typeface="Arial"/>
              </a:rPr>
              <a:t>two  </a:t>
            </a:r>
            <a:r>
              <a:rPr sz="1600" b="1" spc="-10" dirty="0">
                <a:latin typeface="Arial"/>
                <a:cs typeface="Arial"/>
              </a:rPr>
              <a:t>numbers </a:t>
            </a:r>
            <a:r>
              <a:rPr sz="1600" b="1" spc="-5" dirty="0">
                <a:latin typeface="Arial"/>
                <a:cs typeface="Arial"/>
              </a:rPr>
              <a:t>as </a:t>
            </a:r>
            <a:r>
              <a:rPr sz="1600" b="1" spc="15" dirty="0">
                <a:latin typeface="Arial"/>
                <a:cs typeface="Arial"/>
              </a:rPr>
              <a:t>we </a:t>
            </a:r>
            <a:r>
              <a:rPr sz="1600" b="1" spc="-5" dirty="0">
                <a:latin typeface="Arial"/>
                <a:cs typeface="Arial"/>
              </a:rPr>
              <a:t>know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12 is in position. This pass therefore only  requires 6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comparisons.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2082164" algn="l"/>
                <a:tab pos="2844165" algn="l"/>
                <a:tab pos="3606165" algn="l"/>
                <a:tab pos="4650740" algn="l"/>
                <a:tab pos="5412105" algn="l"/>
                <a:tab pos="6174105" algn="l"/>
                <a:tab pos="6936105" algn="l"/>
              </a:tabLst>
            </a:pPr>
            <a:r>
              <a:rPr sz="3600" spc="-7" baseline="60185" dirty="0">
                <a:solidFill>
                  <a:srgbClr val="696363"/>
                </a:solidFill>
              </a:rPr>
              <a:t>First</a:t>
            </a:r>
            <a:r>
              <a:rPr sz="3600" spc="7" baseline="60185" dirty="0">
                <a:solidFill>
                  <a:srgbClr val="696363"/>
                </a:solidFill>
              </a:rPr>
              <a:t> </a:t>
            </a:r>
            <a:r>
              <a:rPr sz="3600" spc="-7" baseline="60185" dirty="0">
                <a:solidFill>
                  <a:srgbClr val="696363"/>
                </a:solidFill>
              </a:rPr>
              <a:t>Pass</a:t>
            </a:r>
            <a:r>
              <a:rPr sz="3600" spc="517" baseline="60185" dirty="0">
                <a:solidFill>
                  <a:srgbClr val="696363"/>
                </a:solidFill>
              </a:rPr>
              <a:t> </a:t>
            </a:r>
            <a:r>
              <a:rPr sz="4800" spc="-5" dirty="0"/>
              <a:t>6,	2,	9,	</a:t>
            </a:r>
            <a:r>
              <a:rPr sz="4800" spc="-60" dirty="0"/>
              <a:t>11,	</a:t>
            </a:r>
            <a:r>
              <a:rPr sz="4800" spc="-5" dirty="0"/>
              <a:t>9,	3,	7,	12</a:t>
            </a:r>
            <a:endParaRPr sz="4800"/>
          </a:p>
        </p:txBody>
      </p:sp>
      <p:sp>
        <p:nvSpPr>
          <p:cNvPr id="19" name="object 19"/>
          <p:cNvSpPr txBox="1"/>
          <p:nvPr/>
        </p:nvSpPr>
        <p:spPr>
          <a:xfrm>
            <a:off x="143357" y="1737486"/>
            <a:ext cx="154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Second</a:t>
            </a:r>
            <a:r>
              <a:rPr sz="2400" spc="-4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0"/>
            <a:ext cx="3909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Perpetua"/>
                <a:cs typeface="Perpetua"/>
              </a:rPr>
              <a:t>Bubble </a:t>
            </a:r>
            <a:r>
              <a:rPr sz="4000" spc="35" dirty="0">
                <a:latin typeface="Perpetua"/>
                <a:cs typeface="Perpetua"/>
              </a:rPr>
              <a:t>Sort</a:t>
            </a:r>
            <a:r>
              <a:rPr sz="4000" spc="-50" dirty="0">
                <a:latin typeface="Perpetua"/>
                <a:cs typeface="Perpetua"/>
              </a:rPr>
              <a:t> </a:t>
            </a:r>
            <a:r>
              <a:rPr sz="4000" dirty="0">
                <a:latin typeface="Perpetua"/>
                <a:cs typeface="Perpetua"/>
              </a:rPr>
              <a:t>Example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5694" y="2834850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047365" algn="l"/>
                <a:tab pos="3809365" algn="l"/>
                <a:tab pos="4571365" algn="l"/>
                <a:tab pos="5615940" algn="l"/>
              </a:tabLst>
            </a:pPr>
            <a:r>
              <a:rPr sz="4800" dirty="0">
                <a:latin typeface="Times New Roman"/>
                <a:cs typeface="Times New Roman"/>
              </a:rPr>
              <a:t>2,	6,	9,	9,	3,	7,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5694" y="2834850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047365" algn="l"/>
                <a:tab pos="3809365" algn="l"/>
                <a:tab pos="4571365" algn="l"/>
                <a:tab pos="5615940" algn="l"/>
              </a:tabLst>
            </a:pPr>
            <a:r>
              <a:rPr sz="4800" dirty="0">
                <a:latin typeface="Times New Roman"/>
                <a:cs typeface="Times New Roman"/>
              </a:rPr>
              <a:t>2,	6,	9,	3,	9,	7,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2743200"/>
            <a:ext cx="6705600" cy="824865"/>
          </a:xfrm>
          <a:custGeom>
            <a:avLst/>
            <a:gdLst/>
            <a:ahLst/>
            <a:cxnLst/>
            <a:rect l="l" t="t" r="r" b="b"/>
            <a:pathLst>
              <a:path w="6705600" h="824864">
                <a:moveTo>
                  <a:pt x="0" y="824484"/>
                </a:moveTo>
                <a:lnTo>
                  <a:pt x="6705600" y="824484"/>
                </a:lnTo>
                <a:lnTo>
                  <a:pt x="6705600" y="0"/>
                </a:lnTo>
                <a:lnTo>
                  <a:pt x="0" y="0"/>
                </a:lnTo>
                <a:lnTo>
                  <a:pt x="0" y="8244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02994" y="2755772"/>
            <a:ext cx="482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Times New Roman"/>
                <a:cs typeface="Times New Roman"/>
              </a:rPr>
              <a:t>2,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95400" y="2743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09800" y="2743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71800" y="2743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57600" y="2743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19600" y="2743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345715" y="1081343"/>
          <a:ext cx="5528309" cy="2428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0"/>
                <a:gridCol w="762000"/>
                <a:gridCol w="903605"/>
                <a:gridCol w="762000"/>
                <a:gridCol w="761999"/>
                <a:gridCol w="902970"/>
                <a:gridCol w="794385"/>
              </a:tblGrid>
              <a:tr h="795237">
                <a:tc>
                  <a:txBody>
                    <a:bodyPr/>
                    <a:lstStyle/>
                    <a:p>
                      <a:pPr marL="31750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2,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5240"/>
                        </a:lnSpc>
                      </a:pPr>
                      <a:r>
                        <a:rPr sz="4800" spc="-17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4800" spc="-5" dirty="0">
                          <a:latin typeface="Times New Roman"/>
                          <a:cs typeface="Times New Roman"/>
                        </a:rPr>
                        <a:t>1,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3,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780" algn="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7,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87658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6,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3,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7,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4800" spc="-18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4800" dirty="0">
                          <a:latin typeface="Times New Roman"/>
                          <a:cs typeface="Times New Roman"/>
                        </a:rPr>
                        <a:t>1,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/>
                </a:tc>
              </a:tr>
              <a:tr h="756769">
                <a:tc>
                  <a:txBody>
                    <a:bodyPr/>
                    <a:lstStyle/>
                    <a:p>
                      <a:pPr marL="31750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6,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3,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7,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1430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spc="-18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4800" dirty="0">
                          <a:latin typeface="Times New Roman"/>
                          <a:cs typeface="Times New Roman"/>
                        </a:rPr>
                        <a:t>1,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602994" y="1917319"/>
            <a:ext cx="482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Times New Roman"/>
                <a:cs typeface="Times New Roman"/>
              </a:rPr>
              <a:t>2,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3357" y="1737486"/>
            <a:ext cx="154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Second</a:t>
            </a:r>
            <a:r>
              <a:rPr sz="2400" spc="-4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94640" y="670001"/>
            <a:ext cx="18040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96363"/>
                </a:solidFill>
              </a:rPr>
              <a:t>First Pass</a:t>
            </a:r>
            <a:r>
              <a:rPr sz="2400" spc="280" dirty="0">
                <a:solidFill>
                  <a:srgbClr val="696363"/>
                </a:solidFill>
              </a:rPr>
              <a:t> </a:t>
            </a:r>
            <a:r>
              <a:rPr sz="7200" spc="-7" baseline="-30092" dirty="0"/>
              <a:t>6,</a:t>
            </a:r>
            <a:endParaRPr sz="7200" baseline="-30092"/>
          </a:p>
        </p:txBody>
      </p:sp>
      <p:sp>
        <p:nvSpPr>
          <p:cNvPr id="16" name="object 16"/>
          <p:cNvSpPr txBox="1"/>
          <p:nvPr/>
        </p:nvSpPr>
        <p:spPr>
          <a:xfrm>
            <a:off x="253085" y="2499486"/>
            <a:ext cx="1320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96363"/>
                </a:solidFill>
                <a:latin typeface="Times New Roman"/>
                <a:cs typeface="Times New Roman"/>
              </a:rPr>
              <a:t>Third</a:t>
            </a:r>
            <a:r>
              <a:rPr sz="2400" spc="-8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89303" y="3803903"/>
            <a:ext cx="6793992" cy="603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63396" y="3793235"/>
            <a:ext cx="6499859" cy="673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219200" y="3733800"/>
            <a:ext cx="6781800" cy="591820"/>
          </a:xfrm>
          <a:prstGeom prst="rect">
            <a:avLst/>
          </a:prstGeom>
          <a:solidFill>
            <a:srgbClr val="FBFF91"/>
          </a:solidFill>
          <a:ln w="9144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 marR="489584">
              <a:lnSpc>
                <a:spcPct val="100000"/>
              </a:lnSpc>
              <a:spcBef>
                <a:spcPts val="325"/>
              </a:spcBef>
            </a:pPr>
            <a:r>
              <a:rPr sz="1600" b="1" spc="-5" dirty="0">
                <a:latin typeface="Arial"/>
                <a:cs typeface="Arial"/>
              </a:rPr>
              <a:t>This time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45" dirty="0">
                <a:latin typeface="Arial"/>
                <a:cs typeface="Arial"/>
              </a:rPr>
              <a:t>11 </a:t>
            </a:r>
            <a:r>
              <a:rPr sz="1600" b="1" spc="-5" dirty="0">
                <a:latin typeface="Arial"/>
                <a:cs typeface="Arial"/>
              </a:rPr>
              <a:t>and 12 are in position. This pass therefore only  requires 5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comparisons.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0"/>
            <a:ext cx="3909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Perpetua"/>
                <a:cs typeface="Perpetua"/>
              </a:rPr>
              <a:t>Bubble </a:t>
            </a:r>
            <a:r>
              <a:rPr sz="4000" spc="35" dirty="0">
                <a:latin typeface="Perpetua"/>
                <a:cs typeface="Perpetua"/>
              </a:rPr>
              <a:t>Sort</a:t>
            </a:r>
            <a:r>
              <a:rPr sz="4000" spc="-50" dirty="0">
                <a:latin typeface="Perpetua"/>
                <a:cs typeface="Perpetua"/>
              </a:rPr>
              <a:t> </a:t>
            </a:r>
            <a:r>
              <a:rPr sz="4000" dirty="0">
                <a:latin typeface="Perpetua"/>
                <a:cs typeface="Perpetua"/>
              </a:rPr>
              <a:t>Example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5694" y="3672778"/>
            <a:ext cx="6225540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40"/>
              </a:lnSpc>
              <a:tabLst>
                <a:tab pos="761365" algn="l"/>
                <a:tab pos="1523365" algn="l"/>
                <a:tab pos="2284730" algn="l"/>
                <a:tab pos="3046730" algn="l"/>
                <a:tab pos="3808729" algn="l"/>
                <a:tab pos="4570095" algn="l"/>
                <a:tab pos="5615305" algn="l"/>
              </a:tabLst>
            </a:pPr>
            <a:r>
              <a:rPr sz="4800" spc="-5" dirty="0">
                <a:latin typeface="Times New Roman"/>
                <a:cs typeface="Times New Roman"/>
              </a:rPr>
              <a:t>2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6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3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7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170" dirty="0">
                <a:latin typeface="Times New Roman"/>
                <a:cs typeface="Times New Roman"/>
              </a:rPr>
              <a:t>1</a:t>
            </a:r>
            <a:r>
              <a:rPr sz="4800" spc="-5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5694" y="3672778"/>
            <a:ext cx="6225540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40"/>
              </a:lnSpc>
              <a:tabLst>
                <a:tab pos="761365" algn="l"/>
                <a:tab pos="1523365" algn="l"/>
                <a:tab pos="2284730" algn="l"/>
                <a:tab pos="3046730" algn="l"/>
                <a:tab pos="3808729" algn="l"/>
                <a:tab pos="4570095" algn="l"/>
                <a:tab pos="5615305" algn="l"/>
              </a:tabLst>
            </a:pPr>
            <a:r>
              <a:rPr sz="4800" spc="-5" dirty="0">
                <a:latin typeface="Times New Roman"/>
                <a:cs typeface="Times New Roman"/>
              </a:rPr>
              <a:t>2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6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3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7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170" dirty="0">
                <a:latin typeface="Times New Roman"/>
                <a:cs typeface="Times New Roman"/>
              </a:rPr>
              <a:t>1</a:t>
            </a:r>
            <a:r>
              <a:rPr sz="4800" spc="-5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3581400"/>
            <a:ext cx="6705600" cy="824865"/>
          </a:xfrm>
          <a:custGeom>
            <a:avLst/>
            <a:gdLst/>
            <a:ahLst/>
            <a:cxnLst/>
            <a:rect l="l" t="t" r="r" b="b"/>
            <a:pathLst>
              <a:path w="6705600" h="824864">
                <a:moveTo>
                  <a:pt x="0" y="824483"/>
                </a:moveTo>
                <a:lnTo>
                  <a:pt x="6705600" y="824483"/>
                </a:lnTo>
                <a:lnTo>
                  <a:pt x="6705600" y="0"/>
                </a:lnTo>
                <a:lnTo>
                  <a:pt x="0" y="0"/>
                </a:lnTo>
                <a:lnTo>
                  <a:pt x="0" y="8244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02994" y="3593668"/>
            <a:ext cx="4826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>
                <a:latin typeface="Times New Roman"/>
                <a:cs typeface="Times New Roman"/>
              </a:rPr>
              <a:t>2,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95400" y="35814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09800" y="35814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71800" y="35814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57600" y="35814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602994" y="1917319"/>
            <a:ext cx="482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Times New Roman"/>
                <a:cs typeface="Times New Roman"/>
              </a:rPr>
              <a:t>2,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3357" y="1737486"/>
            <a:ext cx="154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Second</a:t>
            </a:r>
            <a:r>
              <a:rPr sz="2400" spc="-4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94640" y="670001"/>
            <a:ext cx="18040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96363"/>
                </a:solidFill>
              </a:rPr>
              <a:t>First Pass</a:t>
            </a:r>
            <a:r>
              <a:rPr sz="2400" spc="280" dirty="0">
                <a:solidFill>
                  <a:srgbClr val="696363"/>
                </a:solidFill>
              </a:rPr>
              <a:t> </a:t>
            </a:r>
            <a:r>
              <a:rPr sz="7200" spc="-7" baseline="-30092" dirty="0"/>
              <a:t>6,</a:t>
            </a:r>
            <a:endParaRPr sz="7200" baseline="-30092"/>
          </a:p>
        </p:txBody>
      </p:sp>
      <p:sp>
        <p:nvSpPr>
          <p:cNvPr id="14" name="object 14"/>
          <p:cNvSpPr txBox="1"/>
          <p:nvPr/>
        </p:nvSpPr>
        <p:spPr>
          <a:xfrm>
            <a:off x="253085" y="2499486"/>
            <a:ext cx="1320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96363"/>
                </a:solidFill>
                <a:latin typeface="Times New Roman"/>
                <a:cs typeface="Times New Roman"/>
              </a:rPr>
              <a:t>Third</a:t>
            </a:r>
            <a:r>
              <a:rPr sz="2400" spc="-8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65503" y="4642103"/>
            <a:ext cx="7022592" cy="358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39596" y="4631435"/>
            <a:ext cx="6912864" cy="4297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345715" y="1081343"/>
          <a:ext cx="5528308" cy="3266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0"/>
                <a:gridCol w="762000"/>
                <a:gridCol w="902969"/>
                <a:gridCol w="762000"/>
                <a:gridCol w="762000"/>
                <a:gridCol w="903604"/>
                <a:gridCol w="794385"/>
              </a:tblGrid>
              <a:tr h="795237">
                <a:tc>
                  <a:txBody>
                    <a:bodyPr/>
                    <a:lstStyle/>
                    <a:p>
                      <a:pPr marL="31750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2,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5240"/>
                        </a:lnSpc>
                      </a:pPr>
                      <a:r>
                        <a:rPr sz="4800" spc="-17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4800" spc="-5" dirty="0">
                          <a:latin typeface="Times New Roman"/>
                          <a:cs typeface="Times New Roman"/>
                        </a:rPr>
                        <a:t>1,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3370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3370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3,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4780" algn="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7,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87658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6,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3,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7,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4800" spc="-18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4800" dirty="0">
                          <a:latin typeface="Times New Roman"/>
                          <a:cs typeface="Times New Roman"/>
                        </a:rPr>
                        <a:t>1,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53340" marB="0"/>
                </a:tc>
              </a:tr>
              <a:tr h="83819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6,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3,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7,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18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4800" dirty="0">
                          <a:latin typeface="Times New Roman"/>
                          <a:cs typeface="Times New Roman"/>
                        </a:rPr>
                        <a:t>1,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</a:tr>
              <a:tr h="756843">
                <a:tc>
                  <a:txBody>
                    <a:bodyPr/>
                    <a:lstStyle/>
                    <a:p>
                      <a:pPr marL="31750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6,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3,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7,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spc="-17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4800" spc="-5" dirty="0">
                          <a:latin typeface="Times New Roman"/>
                          <a:cs typeface="Times New Roman"/>
                        </a:rPr>
                        <a:t>1,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1295400" y="4572000"/>
            <a:ext cx="7010400" cy="346075"/>
          </a:xfrm>
          <a:prstGeom prst="rect">
            <a:avLst/>
          </a:prstGeom>
          <a:solidFill>
            <a:srgbClr val="FBFF91"/>
          </a:solidFill>
          <a:ln w="914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sz="1600" b="1" spc="-5" dirty="0">
                <a:latin typeface="Arial"/>
                <a:cs typeface="Arial"/>
              </a:rPr>
              <a:t>Each pass requires </a:t>
            </a:r>
            <a:r>
              <a:rPr sz="1600" b="1" dirty="0">
                <a:latin typeface="Arial"/>
                <a:cs typeface="Arial"/>
              </a:rPr>
              <a:t>fewer </a:t>
            </a:r>
            <a:r>
              <a:rPr sz="1600" b="1" spc="-5" dirty="0">
                <a:latin typeface="Arial"/>
                <a:cs typeface="Arial"/>
              </a:rPr>
              <a:t>comparisons. This time only 4 are</a:t>
            </a:r>
            <a:r>
              <a:rPr sz="1600" b="1" spc="16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needed.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02994" y="2755772"/>
            <a:ext cx="482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Times New Roman"/>
                <a:cs typeface="Times New Roman"/>
              </a:rPr>
              <a:t>2,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6029" y="3261740"/>
            <a:ext cx="145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Fourth</a:t>
            </a:r>
            <a:r>
              <a:rPr sz="2400" spc="-6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0"/>
            <a:ext cx="3909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Perpetua"/>
                <a:cs typeface="Perpetua"/>
              </a:rPr>
              <a:t>Bubble </a:t>
            </a:r>
            <a:r>
              <a:rPr sz="4000" spc="35" dirty="0">
                <a:latin typeface="Perpetua"/>
                <a:cs typeface="Perpetua"/>
              </a:rPr>
              <a:t>Sort</a:t>
            </a:r>
            <a:r>
              <a:rPr sz="4000" spc="-50" dirty="0">
                <a:latin typeface="Perpetua"/>
                <a:cs typeface="Perpetua"/>
              </a:rPr>
              <a:t> </a:t>
            </a:r>
            <a:r>
              <a:rPr sz="4000" dirty="0">
                <a:latin typeface="Perpetua"/>
                <a:cs typeface="Perpetua"/>
              </a:rPr>
              <a:t>Example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5694" y="4511631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047365" algn="l"/>
                <a:tab pos="3809365" algn="l"/>
                <a:tab pos="4571365" algn="l"/>
                <a:tab pos="5615940" algn="l"/>
              </a:tabLst>
            </a:pPr>
            <a:r>
              <a:rPr sz="4800" dirty="0">
                <a:latin typeface="Times New Roman"/>
                <a:cs typeface="Times New Roman"/>
              </a:rPr>
              <a:t>2,	6,	3,	7,	9,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4419600"/>
            <a:ext cx="6705600" cy="824865"/>
          </a:xfrm>
          <a:custGeom>
            <a:avLst/>
            <a:gdLst/>
            <a:ahLst/>
            <a:cxnLst/>
            <a:rect l="l" t="t" r="r" b="b"/>
            <a:pathLst>
              <a:path w="6705600" h="824864">
                <a:moveTo>
                  <a:pt x="0" y="824484"/>
                </a:moveTo>
                <a:lnTo>
                  <a:pt x="6705600" y="824484"/>
                </a:lnTo>
                <a:lnTo>
                  <a:pt x="6705600" y="0"/>
                </a:lnTo>
                <a:lnTo>
                  <a:pt x="0" y="0"/>
                </a:lnTo>
                <a:lnTo>
                  <a:pt x="0" y="8244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95400" y="44196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33600" y="44196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71800" y="44196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02994" y="1917319"/>
            <a:ext cx="6251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536065" algn="l"/>
                <a:tab pos="2298065" algn="l"/>
                <a:tab pos="3060065" algn="l"/>
                <a:tab pos="3822065" algn="l"/>
                <a:tab pos="4584065" algn="l"/>
                <a:tab pos="5628640" algn="l"/>
              </a:tabLst>
            </a:pPr>
            <a:r>
              <a:rPr sz="4800" dirty="0">
                <a:latin typeface="Times New Roman"/>
                <a:cs typeface="Times New Roman"/>
              </a:rPr>
              <a:t>2,	6,	9,	9,	3,	7,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357" y="1737486"/>
            <a:ext cx="154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Second</a:t>
            </a:r>
            <a:r>
              <a:rPr sz="2400" spc="-4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2082164" algn="l"/>
                <a:tab pos="2844165" algn="l"/>
                <a:tab pos="3606165" algn="l"/>
                <a:tab pos="4650740" algn="l"/>
                <a:tab pos="5412105" algn="l"/>
                <a:tab pos="6174105" algn="l"/>
                <a:tab pos="6936105" algn="l"/>
              </a:tabLst>
            </a:pPr>
            <a:r>
              <a:rPr sz="3600" spc="-7" baseline="60185" dirty="0">
                <a:solidFill>
                  <a:srgbClr val="696363"/>
                </a:solidFill>
              </a:rPr>
              <a:t>First</a:t>
            </a:r>
            <a:r>
              <a:rPr sz="3600" spc="7" baseline="60185" dirty="0">
                <a:solidFill>
                  <a:srgbClr val="696363"/>
                </a:solidFill>
              </a:rPr>
              <a:t> </a:t>
            </a:r>
            <a:r>
              <a:rPr sz="3600" spc="-7" baseline="60185" dirty="0">
                <a:solidFill>
                  <a:srgbClr val="696363"/>
                </a:solidFill>
              </a:rPr>
              <a:t>Pass</a:t>
            </a:r>
            <a:r>
              <a:rPr sz="3600" spc="517" baseline="60185" dirty="0">
                <a:solidFill>
                  <a:srgbClr val="696363"/>
                </a:solidFill>
              </a:rPr>
              <a:t> </a:t>
            </a:r>
            <a:r>
              <a:rPr sz="4800" spc="-5" dirty="0"/>
              <a:t>6,	2,	9,	</a:t>
            </a:r>
            <a:r>
              <a:rPr sz="4800" spc="-60" dirty="0"/>
              <a:t>11,	</a:t>
            </a:r>
            <a:r>
              <a:rPr sz="4800" spc="-5" dirty="0"/>
              <a:t>9,	3,	7,	12</a:t>
            </a:r>
            <a:endParaRPr sz="4800"/>
          </a:p>
        </p:txBody>
      </p:sp>
      <p:sp>
        <p:nvSpPr>
          <p:cNvPr id="11" name="object 11"/>
          <p:cNvSpPr txBox="1"/>
          <p:nvPr/>
        </p:nvSpPr>
        <p:spPr>
          <a:xfrm>
            <a:off x="253085" y="2499486"/>
            <a:ext cx="1320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96363"/>
                </a:solidFill>
                <a:latin typeface="Times New Roman"/>
                <a:cs typeface="Times New Roman"/>
              </a:rPr>
              <a:t>Third</a:t>
            </a:r>
            <a:r>
              <a:rPr sz="2400" spc="-8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89303" y="5632703"/>
            <a:ext cx="7022592" cy="603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63396" y="5622035"/>
            <a:ext cx="6673596" cy="673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583944" y="2834850"/>
          <a:ext cx="6289675" cy="2351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0"/>
                <a:gridCol w="762000"/>
                <a:gridCol w="762000"/>
                <a:gridCol w="762000"/>
                <a:gridCol w="762000"/>
                <a:gridCol w="762000"/>
                <a:gridCol w="1044575"/>
                <a:gridCol w="793750"/>
              </a:tblGrid>
              <a:tr h="756506">
                <a:tc gridSpan="8">
                  <a:txBody>
                    <a:bodyPr/>
                    <a:lstStyle/>
                    <a:p>
                      <a:pPr marL="31750">
                        <a:lnSpc>
                          <a:spcPts val="5235"/>
                        </a:lnSpc>
                        <a:tabLst>
                          <a:tab pos="793115" algn="l"/>
                          <a:tab pos="1555115" algn="l"/>
                          <a:tab pos="2317115" algn="l"/>
                          <a:tab pos="3079115" algn="l"/>
                          <a:tab pos="3841115" algn="l"/>
                          <a:tab pos="4603115" algn="l"/>
                          <a:tab pos="5647690" algn="l"/>
                        </a:tabLst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2,	6,	9,	3,	7,	9,	</a:t>
                      </a:r>
                      <a:r>
                        <a:rPr sz="4800" spc="-60" dirty="0">
                          <a:latin typeface="Times New Roman"/>
                          <a:cs typeface="Times New Roman"/>
                        </a:rPr>
                        <a:t>11,	</a:t>
                      </a:r>
                      <a:r>
                        <a:rPr sz="4800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8385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2,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6,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3,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7,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60" dirty="0">
                          <a:latin typeface="Times New Roman"/>
                          <a:cs typeface="Times New Roman"/>
                        </a:rPr>
                        <a:t>11,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</a:tr>
              <a:tr h="756799">
                <a:tc>
                  <a:txBody>
                    <a:bodyPr/>
                    <a:lstStyle/>
                    <a:p>
                      <a:pPr marL="31750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2,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3,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6,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7,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spc="-60" dirty="0">
                          <a:latin typeface="Times New Roman"/>
                          <a:cs typeface="Times New Roman"/>
                        </a:rPr>
                        <a:t>11,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1219200" y="5562600"/>
            <a:ext cx="7010400" cy="591820"/>
          </a:xfrm>
          <a:prstGeom prst="rect">
            <a:avLst/>
          </a:prstGeom>
          <a:solidFill>
            <a:srgbClr val="FBFF91"/>
          </a:solidFill>
          <a:ln w="914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1440" marR="546100">
              <a:lnSpc>
                <a:spcPct val="100000"/>
              </a:lnSpc>
              <a:spcBef>
                <a:spcPts val="330"/>
              </a:spcBef>
            </a:pP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list is </a:t>
            </a:r>
            <a:r>
              <a:rPr sz="1600" b="1" spc="-10" dirty="0">
                <a:latin typeface="Arial"/>
                <a:cs typeface="Arial"/>
              </a:rPr>
              <a:t>now </a:t>
            </a:r>
            <a:r>
              <a:rPr sz="1600" b="1" spc="-5" dirty="0">
                <a:latin typeface="Arial"/>
                <a:cs typeface="Arial"/>
              </a:rPr>
              <a:t>sorted </a:t>
            </a:r>
            <a:r>
              <a:rPr sz="1600" b="1" spc="-10" dirty="0">
                <a:latin typeface="Arial"/>
                <a:cs typeface="Arial"/>
              </a:rPr>
              <a:t>but the </a:t>
            </a:r>
            <a:r>
              <a:rPr sz="1600" b="1" spc="-5" dirty="0">
                <a:latin typeface="Arial"/>
                <a:cs typeface="Arial"/>
              </a:rPr>
              <a:t>algorithm does </a:t>
            </a:r>
            <a:r>
              <a:rPr sz="1600" b="1" spc="-10" dirty="0">
                <a:latin typeface="Arial"/>
                <a:cs typeface="Arial"/>
              </a:rPr>
              <a:t>not </a:t>
            </a:r>
            <a:r>
              <a:rPr sz="1600" b="1" spc="-5" dirty="0">
                <a:latin typeface="Arial"/>
                <a:cs typeface="Arial"/>
              </a:rPr>
              <a:t>know this until it  completes a pass </a:t>
            </a:r>
            <a:r>
              <a:rPr sz="1600" b="1" spc="5" dirty="0">
                <a:latin typeface="Arial"/>
                <a:cs typeface="Arial"/>
              </a:rPr>
              <a:t>with </a:t>
            </a:r>
            <a:r>
              <a:rPr sz="1600" b="1" spc="-5" dirty="0">
                <a:latin typeface="Arial"/>
                <a:cs typeface="Arial"/>
              </a:rPr>
              <a:t>no</a:t>
            </a:r>
            <a:r>
              <a:rPr sz="1600" b="1" spc="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exchanges.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6029" y="3261740"/>
            <a:ext cx="145542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Fourth</a:t>
            </a:r>
            <a:r>
              <a:rPr sz="2400" spc="-6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 marL="121920">
              <a:lnSpc>
                <a:spcPct val="100000"/>
              </a:lnSpc>
            </a:pP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Fifth</a:t>
            </a:r>
            <a:r>
              <a:rPr sz="2400" spc="-3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96363"/>
                </a:solidFill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0"/>
            <a:ext cx="3909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Perpetua"/>
                <a:cs typeface="Perpetua"/>
              </a:rPr>
              <a:t>Bubble </a:t>
            </a:r>
            <a:r>
              <a:rPr sz="4000" spc="35" dirty="0">
                <a:latin typeface="Perpetua"/>
                <a:cs typeface="Perpetua"/>
              </a:rPr>
              <a:t>Sort</a:t>
            </a:r>
            <a:r>
              <a:rPr sz="4000" spc="-50" dirty="0">
                <a:latin typeface="Perpetua"/>
                <a:cs typeface="Perpetua"/>
              </a:rPr>
              <a:t> </a:t>
            </a:r>
            <a:r>
              <a:rPr sz="4000" dirty="0">
                <a:latin typeface="Perpetua"/>
                <a:cs typeface="Perpetua"/>
              </a:rPr>
              <a:t>Example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2994" y="5346598"/>
            <a:ext cx="62509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536065" algn="l"/>
                <a:tab pos="2297430" algn="l"/>
                <a:tab pos="3059430" algn="l"/>
                <a:tab pos="3821429" algn="l"/>
                <a:tab pos="4582795" algn="l"/>
                <a:tab pos="5628005" algn="l"/>
              </a:tabLst>
            </a:pPr>
            <a:r>
              <a:rPr sz="4800" spc="-5" dirty="0">
                <a:latin typeface="Times New Roman"/>
                <a:cs typeface="Times New Roman"/>
              </a:rPr>
              <a:t>2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3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6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7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170" dirty="0">
                <a:latin typeface="Times New Roman"/>
                <a:cs typeface="Times New Roman"/>
              </a:rPr>
              <a:t>1</a:t>
            </a:r>
            <a:r>
              <a:rPr sz="4800" spc="-5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5400" y="5334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1"/>
                </a:lnTo>
                <a:lnTo>
                  <a:pt x="1579066" y="515194"/>
                </a:lnTo>
                <a:lnTo>
                  <a:pt x="1542978" y="575033"/>
                </a:lnTo>
                <a:lnTo>
                  <a:pt x="1490951" y="630625"/>
                </a:lnTo>
                <a:lnTo>
                  <a:pt x="1459406" y="656595"/>
                </a:lnTo>
                <a:lnTo>
                  <a:pt x="1424411" y="681223"/>
                </a:lnTo>
                <a:lnTo>
                  <a:pt x="1386143" y="704416"/>
                </a:lnTo>
                <a:lnTo>
                  <a:pt x="1344780" y="726082"/>
                </a:lnTo>
                <a:lnTo>
                  <a:pt x="1300500" y="746126"/>
                </a:lnTo>
                <a:lnTo>
                  <a:pt x="1253482" y="764456"/>
                </a:lnTo>
                <a:lnTo>
                  <a:pt x="1203903" y="780979"/>
                </a:lnTo>
                <a:lnTo>
                  <a:pt x="1151941" y="795601"/>
                </a:lnTo>
                <a:lnTo>
                  <a:pt x="1097775" y="808229"/>
                </a:lnTo>
                <a:lnTo>
                  <a:pt x="1041582" y="818770"/>
                </a:lnTo>
                <a:lnTo>
                  <a:pt x="983539" y="827131"/>
                </a:lnTo>
                <a:lnTo>
                  <a:pt x="923826" y="833218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8"/>
                </a:lnTo>
                <a:lnTo>
                  <a:pt x="616660" y="827131"/>
                </a:lnTo>
                <a:lnTo>
                  <a:pt x="558617" y="818770"/>
                </a:lnTo>
                <a:lnTo>
                  <a:pt x="502424" y="808229"/>
                </a:lnTo>
                <a:lnTo>
                  <a:pt x="448258" y="795601"/>
                </a:lnTo>
                <a:lnTo>
                  <a:pt x="396296" y="780979"/>
                </a:lnTo>
                <a:lnTo>
                  <a:pt x="346717" y="764456"/>
                </a:lnTo>
                <a:lnTo>
                  <a:pt x="299699" y="746126"/>
                </a:lnTo>
                <a:lnTo>
                  <a:pt x="255419" y="726082"/>
                </a:lnTo>
                <a:lnTo>
                  <a:pt x="214056" y="704416"/>
                </a:lnTo>
                <a:lnTo>
                  <a:pt x="175788" y="681223"/>
                </a:lnTo>
                <a:lnTo>
                  <a:pt x="140793" y="656595"/>
                </a:lnTo>
                <a:lnTo>
                  <a:pt x="109248" y="630625"/>
                </a:lnTo>
                <a:lnTo>
                  <a:pt x="81331" y="603407"/>
                </a:lnTo>
                <a:lnTo>
                  <a:pt x="37096" y="545598"/>
                </a:lnTo>
                <a:lnTo>
                  <a:pt x="9511" y="483914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33600" y="5334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1"/>
                </a:lnTo>
                <a:lnTo>
                  <a:pt x="1579066" y="515194"/>
                </a:lnTo>
                <a:lnTo>
                  <a:pt x="1542978" y="575033"/>
                </a:lnTo>
                <a:lnTo>
                  <a:pt x="1490951" y="630625"/>
                </a:lnTo>
                <a:lnTo>
                  <a:pt x="1459406" y="656595"/>
                </a:lnTo>
                <a:lnTo>
                  <a:pt x="1424411" y="681223"/>
                </a:lnTo>
                <a:lnTo>
                  <a:pt x="1386143" y="704416"/>
                </a:lnTo>
                <a:lnTo>
                  <a:pt x="1344780" y="726082"/>
                </a:lnTo>
                <a:lnTo>
                  <a:pt x="1300500" y="746126"/>
                </a:lnTo>
                <a:lnTo>
                  <a:pt x="1253482" y="764456"/>
                </a:lnTo>
                <a:lnTo>
                  <a:pt x="1203903" y="780979"/>
                </a:lnTo>
                <a:lnTo>
                  <a:pt x="1151941" y="795601"/>
                </a:lnTo>
                <a:lnTo>
                  <a:pt x="1097775" y="808229"/>
                </a:lnTo>
                <a:lnTo>
                  <a:pt x="1041582" y="818770"/>
                </a:lnTo>
                <a:lnTo>
                  <a:pt x="983539" y="827131"/>
                </a:lnTo>
                <a:lnTo>
                  <a:pt x="923826" y="833218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8"/>
                </a:lnTo>
                <a:lnTo>
                  <a:pt x="616660" y="827131"/>
                </a:lnTo>
                <a:lnTo>
                  <a:pt x="558617" y="818770"/>
                </a:lnTo>
                <a:lnTo>
                  <a:pt x="502424" y="808229"/>
                </a:lnTo>
                <a:lnTo>
                  <a:pt x="448258" y="795601"/>
                </a:lnTo>
                <a:lnTo>
                  <a:pt x="396296" y="780979"/>
                </a:lnTo>
                <a:lnTo>
                  <a:pt x="346717" y="764456"/>
                </a:lnTo>
                <a:lnTo>
                  <a:pt x="299699" y="746126"/>
                </a:lnTo>
                <a:lnTo>
                  <a:pt x="255419" y="726082"/>
                </a:lnTo>
                <a:lnTo>
                  <a:pt x="214056" y="704416"/>
                </a:lnTo>
                <a:lnTo>
                  <a:pt x="175788" y="681223"/>
                </a:lnTo>
                <a:lnTo>
                  <a:pt x="140793" y="656595"/>
                </a:lnTo>
                <a:lnTo>
                  <a:pt x="109248" y="630625"/>
                </a:lnTo>
                <a:lnTo>
                  <a:pt x="81331" y="603407"/>
                </a:lnTo>
                <a:lnTo>
                  <a:pt x="37096" y="545598"/>
                </a:lnTo>
                <a:lnTo>
                  <a:pt x="9511" y="483914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02994" y="1917319"/>
            <a:ext cx="6251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536065" algn="l"/>
                <a:tab pos="2298065" algn="l"/>
                <a:tab pos="3060065" algn="l"/>
                <a:tab pos="3822065" algn="l"/>
                <a:tab pos="4584065" algn="l"/>
                <a:tab pos="5628640" algn="l"/>
              </a:tabLst>
            </a:pPr>
            <a:r>
              <a:rPr sz="4800" dirty="0">
                <a:latin typeface="Times New Roman"/>
                <a:cs typeface="Times New Roman"/>
              </a:rPr>
              <a:t>2,	6,	9,	9,	3,	7,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357" y="1737486"/>
            <a:ext cx="154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Second</a:t>
            </a:r>
            <a:r>
              <a:rPr sz="2400" spc="-4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2082164" algn="l"/>
                <a:tab pos="2844165" algn="l"/>
                <a:tab pos="3606165" algn="l"/>
                <a:tab pos="4650740" algn="l"/>
                <a:tab pos="5412105" algn="l"/>
                <a:tab pos="6174105" algn="l"/>
                <a:tab pos="6936105" algn="l"/>
              </a:tabLst>
            </a:pPr>
            <a:r>
              <a:rPr sz="3600" spc="-7" baseline="60185" dirty="0">
                <a:solidFill>
                  <a:srgbClr val="696363"/>
                </a:solidFill>
              </a:rPr>
              <a:t>First</a:t>
            </a:r>
            <a:r>
              <a:rPr sz="3600" spc="7" baseline="60185" dirty="0">
                <a:solidFill>
                  <a:srgbClr val="696363"/>
                </a:solidFill>
              </a:rPr>
              <a:t> </a:t>
            </a:r>
            <a:r>
              <a:rPr sz="3600" spc="-7" baseline="60185" dirty="0">
                <a:solidFill>
                  <a:srgbClr val="696363"/>
                </a:solidFill>
              </a:rPr>
              <a:t>Pass</a:t>
            </a:r>
            <a:r>
              <a:rPr sz="3600" spc="517" baseline="60185" dirty="0">
                <a:solidFill>
                  <a:srgbClr val="696363"/>
                </a:solidFill>
              </a:rPr>
              <a:t> </a:t>
            </a:r>
            <a:r>
              <a:rPr sz="4800" spc="-5" dirty="0"/>
              <a:t>6,	2,	9,	</a:t>
            </a:r>
            <a:r>
              <a:rPr sz="4800" spc="-60" dirty="0"/>
              <a:t>11,	</a:t>
            </a:r>
            <a:r>
              <a:rPr sz="4800" spc="-5" dirty="0"/>
              <a:t>9,	3,	7,	12</a:t>
            </a:r>
            <a:endParaRPr sz="4800"/>
          </a:p>
        </p:txBody>
      </p:sp>
      <p:sp>
        <p:nvSpPr>
          <p:cNvPr id="9" name="object 9"/>
          <p:cNvSpPr txBox="1"/>
          <p:nvPr/>
        </p:nvSpPr>
        <p:spPr>
          <a:xfrm>
            <a:off x="253085" y="2499486"/>
            <a:ext cx="1320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96363"/>
                </a:solidFill>
                <a:latin typeface="Times New Roman"/>
                <a:cs typeface="Times New Roman"/>
              </a:rPr>
              <a:t>Third</a:t>
            </a:r>
            <a:r>
              <a:rPr sz="2400" spc="-8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2994" y="2755772"/>
            <a:ext cx="6251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536065" algn="l"/>
                <a:tab pos="2298065" algn="l"/>
                <a:tab pos="3060065" algn="l"/>
                <a:tab pos="3822065" algn="l"/>
                <a:tab pos="4584065" algn="l"/>
                <a:tab pos="5628640" algn="l"/>
              </a:tabLst>
            </a:pPr>
            <a:r>
              <a:rPr sz="4800" dirty="0">
                <a:latin typeface="Times New Roman"/>
                <a:cs typeface="Times New Roman"/>
              </a:rPr>
              <a:t>2,	6,	9,	3,	7,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6029" y="3261740"/>
            <a:ext cx="145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Fourth</a:t>
            </a:r>
            <a:r>
              <a:rPr sz="2400" spc="-6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02994" y="3593668"/>
            <a:ext cx="62509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536065" algn="l"/>
                <a:tab pos="2297430" algn="l"/>
                <a:tab pos="3059430" algn="l"/>
                <a:tab pos="3821429" algn="l"/>
                <a:tab pos="4582795" algn="l"/>
                <a:tab pos="5628005" algn="l"/>
              </a:tabLst>
            </a:pPr>
            <a:r>
              <a:rPr sz="4800" spc="-5" dirty="0">
                <a:latin typeface="Times New Roman"/>
                <a:cs typeface="Times New Roman"/>
              </a:rPr>
              <a:t>2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6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3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7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170" dirty="0">
                <a:latin typeface="Times New Roman"/>
                <a:cs typeface="Times New Roman"/>
              </a:rPr>
              <a:t>1</a:t>
            </a:r>
            <a:r>
              <a:rPr sz="4800" spc="-5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5757" y="4175836"/>
            <a:ext cx="864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Fifth</a:t>
            </a:r>
            <a:r>
              <a:rPr sz="2400" spc="-70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696363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9849" y="4938521"/>
            <a:ext cx="1286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Sixth</a:t>
            </a:r>
            <a:r>
              <a:rPr sz="2400" spc="-65" dirty="0">
                <a:solidFill>
                  <a:srgbClr val="696363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96363"/>
                </a:solidFill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6885" y="4221758"/>
            <a:ext cx="6694805" cy="965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90"/>
              </a:lnSpc>
            </a:pPr>
            <a:r>
              <a:rPr sz="2400" dirty="0">
                <a:solidFill>
                  <a:srgbClr val="696363"/>
                </a:solidFill>
                <a:latin typeface="Times New Roman"/>
                <a:cs typeface="Times New Roman"/>
              </a:rPr>
              <a:t>ass</a:t>
            </a:r>
            <a:endParaRPr sz="2400">
              <a:latin typeface="Times New Roman"/>
              <a:cs typeface="Times New Roman"/>
            </a:endParaRPr>
          </a:p>
          <a:p>
            <a:pPr marL="468630">
              <a:lnSpc>
                <a:spcPts val="5330"/>
              </a:lnSpc>
              <a:tabLst>
                <a:tab pos="1230630" algn="l"/>
                <a:tab pos="1992630" algn="l"/>
                <a:tab pos="2754630" algn="l"/>
                <a:tab pos="3516629" algn="l"/>
                <a:tab pos="4278630" algn="l"/>
                <a:tab pos="5040630" algn="l"/>
                <a:tab pos="6084570" algn="l"/>
              </a:tabLst>
            </a:pPr>
            <a:r>
              <a:rPr sz="4800" dirty="0">
                <a:latin typeface="Times New Roman"/>
                <a:cs typeface="Times New Roman"/>
              </a:rPr>
              <a:t>2,	3,	6,	7,	9,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65503" y="4261103"/>
            <a:ext cx="7022592" cy="847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39596" y="4250435"/>
            <a:ext cx="6870192" cy="9174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95400" y="4191000"/>
            <a:ext cx="7010400" cy="835660"/>
          </a:xfrm>
          <a:custGeom>
            <a:avLst/>
            <a:gdLst/>
            <a:ahLst/>
            <a:cxnLst/>
            <a:rect l="l" t="t" r="r" b="b"/>
            <a:pathLst>
              <a:path w="7010400" h="835660">
                <a:moveTo>
                  <a:pt x="0" y="835151"/>
                </a:moveTo>
                <a:lnTo>
                  <a:pt x="7010400" y="835151"/>
                </a:lnTo>
                <a:lnTo>
                  <a:pt x="7010400" y="0"/>
                </a:lnTo>
                <a:lnTo>
                  <a:pt x="0" y="0"/>
                </a:lnTo>
                <a:lnTo>
                  <a:pt x="0" y="835151"/>
                </a:lnTo>
                <a:close/>
              </a:path>
            </a:pathLst>
          </a:custGeom>
          <a:solidFill>
            <a:srgbClr val="FBFF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295400" y="4191000"/>
            <a:ext cx="7010400" cy="835660"/>
          </a:xfrm>
          <a:custGeom>
            <a:avLst/>
            <a:gdLst/>
            <a:ahLst/>
            <a:cxnLst/>
            <a:rect l="l" t="t" r="r" b="b"/>
            <a:pathLst>
              <a:path w="7010400" h="835660">
                <a:moveTo>
                  <a:pt x="0" y="835151"/>
                </a:moveTo>
                <a:lnTo>
                  <a:pt x="7010400" y="835151"/>
                </a:lnTo>
                <a:lnTo>
                  <a:pt x="7010400" y="0"/>
                </a:lnTo>
                <a:lnTo>
                  <a:pt x="0" y="0"/>
                </a:lnTo>
                <a:lnTo>
                  <a:pt x="0" y="83515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374394" y="4220336"/>
            <a:ext cx="6588759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This pass no exchanges are made so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algorithm </a:t>
            </a:r>
            <a:r>
              <a:rPr sz="1600" b="1" dirty="0">
                <a:latin typeface="Arial"/>
                <a:cs typeface="Arial"/>
              </a:rPr>
              <a:t>knows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list is  sorted. It can therefore </a:t>
            </a:r>
            <a:r>
              <a:rPr sz="1600" b="1" spc="-15" dirty="0">
                <a:latin typeface="Arial"/>
                <a:cs typeface="Arial"/>
              </a:rPr>
              <a:t>save </a:t>
            </a:r>
            <a:r>
              <a:rPr sz="1600" b="1" spc="-5" dirty="0">
                <a:latin typeface="Arial"/>
                <a:cs typeface="Arial"/>
              </a:rPr>
              <a:t>time by </a:t>
            </a:r>
            <a:r>
              <a:rPr sz="1600" b="1" spc="-10" dirty="0">
                <a:latin typeface="Arial"/>
                <a:cs typeface="Arial"/>
              </a:rPr>
              <a:t>not </a:t>
            </a:r>
            <a:r>
              <a:rPr sz="1600" b="1" spc="-5" dirty="0">
                <a:latin typeface="Arial"/>
                <a:cs typeface="Arial"/>
              </a:rPr>
              <a:t>doing </a:t>
            </a:r>
            <a:r>
              <a:rPr sz="1600" b="1" spc="-10" dirty="0">
                <a:latin typeface="Arial"/>
                <a:cs typeface="Arial"/>
              </a:rPr>
              <a:t>the </a:t>
            </a:r>
            <a:r>
              <a:rPr sz="1600" b="1" spc="-5" dirty="0">
                <a:latin typeface="Arial"/>
                <a:cs typeface="Arial"/>
              </a:rPr>
              <a:t>final pass. With  other lists this check could </a:t>
            </a:r>
            <a:r>
              <a:rPr sz="1600" b="1" spc="-15" dirty="0">
                <a:latin typeface="Arial"/>
                <a:cs typeface="Arial"/>
              </a:rPr>
              <a:t>save </a:t>
            </a:r>
            <a:r>
              <a:rPr sz="1600" b="1" spc="-10" dirty="0">
                <a:latin typeface="Arial"/>
                <a:cs typeface="Arial"/>
              </a:rPr>
              <a:t>much more</a:t>
            </a:r>
            <a:r>
              <a:rPr sz="1600" b="1" spc="190" dirty="0">
                <a:latin typeface="Arial"/>
                <a:cs typeface="Arial"/>
              </a:rPr>
              <a:t> </a:t>
            </a:r>
            <a:r>
              <a:rPr sz="1600" b="1" spc="5" dirty="0">
                <a:latin typeface="Arial"/>
                <a:cs typeface="Arial"/>
              </a:rPr>
              <a:t>work.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0" y="1219200"/>
            <a:ext cx="1603375" cy="715010"/>
          </a:xfrm>
          <a:custGeom>
            <a:avLst/>
            <a:gdLst/>
            <a:ahLst/>
            <a:cxnLst/>
            <a:rect l="l" t="t" r="r" b="b"/>
            <a:pathLst>
              <a:path w="1603375" h="715010">
                <a:moveTo>
                  <a:pt x="0" y="357377"/>
                </a:moveTo>
                <a:lnTo>
                  <a:pt x="10491" y="299413"/>
                </a:lnTo>
                <a:lnTo>
                  <a:pt x="40867" y="244425"/>
                </a:lnTo>
                <a:lnTo>
                  <a:pt x="89476" y="193149"/>
                </a:lnTo>
                <a:lnTo>
                  <a:pt x="120102" y="169133"/>
                </a:lnTo>
                <a:lnTo>
                  <a:pt x="154667" y="146322"/>
                </a:lnTo>
                <a:lnTo>
                  <a:pt x="192966" y="124806"/>
                </a:lnTo>
                <a:lnTo>
                  <a:pt x="234791" y="104679"/>
                </a:lnTo>
                <a:lnTo>
                  <a:pt x="279936" y="86032"/>
                </a:lnTo>
                <a:lnTo>
                  <a:pt x="328196" y="68957"/>
                </a:lnTo>
                <a:lnTo>
                  <a:pt x="379363" y="53547"/>
                </a:lnTo>
                <a:lnTo>
                  <a:pt x="433232" y="39892"/>
                </a:lnTo>
                <a:lnTo>
                  <a:pt x="489596" y="28086"/>
                </a:lnTo>
                <a:lnTo>
                  <a:pt x="548249" y="18220"/>
                </a:lnTo>
                <a:lnTo>
                  <a:pt x="608985" y="10387"/>
                </a:lnTo>
                <a:lnTo>
                  <a:pt x="671597" y="4677"/>
                </a:lnTo>
                <a:lnTo>
                  <a:pt x="735878" y="1184"/>
                </a:lnTo>
                <a:lnTo>
                  <a:pt x="801624" y="0"/>
                </a:lnTo>
                <a:lnTo>
                  <a:pt x="867369" y="1184"/>
                </a:lnTo>
                <a:lnTo>
                  <a:pt x="931650" y="4677"/>
                </a:lnTo>
                <a:lnTo>
                  <a:pt x="994262" y="10387"/>
                </a:lnTo>
                <a:lnTo>
                  <a:pt x="1054998" y="18220"/>
                </a:lnTo>
                <a:lnTo>
                  <a:pt x="1113651" y="28086"/>
                </a:lnTo>
                <a:lnTo>
                  <a:pt x="1170015" y="39892"/>
                </a:lnTo>
                <a:lnTo>
                  <a:pt x="1223884" y="53547"/>
                </a:lnTo>
                <a:lnTo>
                  <a:pt x="1275051" y="68957"/>
                </a:lnTo>
                <a:lnTo>
                  <a:pt x="1323311" y="86032"/>
                </a:lnTo>
                <a:lnTo>
                  <a:pt x="1368456" y="104679"/>
                </a:lnTo>
                <a:lnTo>
                  <a:pt x="1410281" y="124806"/>
                </a:lnTo>
                <a:lnTo>
                  <a:pt x="1448580" y="146322"/>
                </a:lnTo>
                <a:lnTo>
                  <a:pt x="1483145" y="169133"/>
                </a:lnTo>
                <a:lnTo>
                  <a:pt x="1513771" y="193149"/>
                </a:lnTo>
                <a:lnTo>
                  <a:pt x="1562380" y="244425"/>
                </a:lnTo>
                <a:lnTo>
                  <a:pt x="1592756" y="299413"/>
                </a:lnTo>
                <a:lnTo>
                  <a:pt x="1603248" y="357377"/>
                </a:lnTo>
                <a:lnTo>
                  <a:pt x="1600590" y="386686"/>
                </a:lnTo>
                <a:lnTo>
                  <a:pt x="1579950" y="443254"/>
                </a:lnTo>
                <a:lnTo>
                  <a:pt x="1540252" y="496478"/>
                </a:lnTo>
                <a:lnTo>
                  <a:pt x="1483145" y="545622"/>
                </a:lnTo>
                <a:lnTo>
                  <a:pt x="1448580" y="568433"/>
                </a:lnTo>
                <a:lnTo>
                  <a:pt x="1410281" y="589949"/>
                </a:lnTo>
                <a:lnTo>
                  <a:pt x="1368456" y="610076"/>
                </a:lnTo>
                <a:lnTo>
                  <a:pt x="1323311" y="628723"/>
                </a:lnTo>
                <a:lnTo>
                  <a:pt x="1275051" y="645798"/>
                </a:lnTo>
                <a:lnTo>
                  <a:pt x="1223884" y="661208"/>
                </a:lnTo>
                <a:lnTo>
                  <a:pt x="1170015" y="674863"/>
                </a:lnTo>
                <a:lnTo>
                  <a:pt x="1113651" y="686669"/>
                </a:lnTo>
                <a:lnTo>
                  <a:pt x="1054998" y="696535"/>
                </a:lnTo>
                <a:lnTo>
                  <a:pt x="994262" y="704368"/>
                </a:lnTo>
                <a:lnTo>
                  <a:pt x="931650" y="710078"/>
                </a:lnTo>
                <a:lnTo>
                  <a:pt x="867369" y="713571"/>
                </a:lnTo>
                <a:lnTo>
                  <a:pt x="801624" y="714755"/>
                </a:lnTo>
                <a:lnTo>
                  <a:pt x="735878" y="713571"/>
                </a:lnTo>
                <a:lnTo>
                  <a:pt x="671597" y="710078"/>
                </a:lnTo>
                <a:lnTo>
                  <a:pt x="608985" y="704368"/>
                </a:lnTo>
                <a:lnTo>
                  <a:pt x="548249" y="696535"/>
                </a:lnTo>
                <a:lnTo>
                  <a:pt x="489596" y="686669"/>
                </a:lnTo>
                <a:lnTo>
                  <a:pt x="433232" y="674863"/>
                </a:lnTo>
                <a:lnTo>
                  <a:pt x="379363" y="661208"/>
                </a:lnTo>
                <a:lnTo>
                  <a:pt x="328196" y="645798"/>
                </a:lnTo>
                <a:lnTo>
                  <a:pt x="279936" y="628723"/>
                </a:lnTo>
                <a:lnTo>
                  <a:pt x="234791" y="610076"/>
                </a:lnTo>
                <a:lnTo>
                  <a:pt x="192966" y="589949"/>
                </a:lnTo>
                <a:lnTo>
                  <a:pt x="154667" y="568433"/>
                </a:lnTo>
                <a:lnTo>
                  <a:pt x="120102" y="545622"/>
                </a:lnTo>
                <a:lnTo>
                  <a:pt x="89476" y="521606"/>
                </a:lnTo>
                <a:lnTo>
                  <a:pt x="40867" y="470330"/>
                </a:lnTo>
                <a:lnTo>
                  <a:pt x="10491" y="415342"/>
                </a:lnTo>
                <a:lnTo>
                  <a:pt x="0" y="357377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36903" y="2058923"/>
            <a:ext cx="7327392" cy="84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0036" y="2011679"/>
            <a:ext cx="7435596" cy="10149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66800" y="1988820"/>
            <a:ext cx="7315200" cy="830580"/>
          </a:xfrm>
          <a:custGeom>
            <a:avLst/>
            <a:gdLst/>
            <a:ahLst/>
            <a:cxnLst/>
            <a:rect l="l" t="t" r="r" b="b"/>
            <a:pathLst>
              <a:path w="7315200" h="830580">
                <a:moveTo>
                  <a:pt x="0" y="830579"/>
                </a:moveTo>
                <a:lnTo>
                  <a:pt x="7315200" y="830579"/>
                </a:lnTo>
                <a:lnTo>
                  <a:pt x="7315200" y="0"/>
                </a:lnTo>
                <a:lnTo>
                  <a:pt x="0" y="0"/>
                </a:lnTo>
                <a:lnTo>
                  <a:pt x="0" y="83057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45844" y="1979167"/>
            <a:ext cx="70218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5" dirty="0">
                <a:latin typeface="Perpetua"/>
                <a:cs typeface="Perpetua"/>
              </a:rPr>
              <a:t>The first number is </a:t>
            </a:r>
            <a:r>
              <a:rPr sz="2400" i="1" spc="-10" dirty="0">
                <a:latin typeface="Perpetua"/>
                <a:cs typeface="Perpetua"/>
              </a:rPr>
              <a:t>compared </a:t>
            </a:r>
            <a:r>
              <a:rPr sz="2400" i="1" dirty="0">
                <a:latin typeface="Perpetua"/>
                <a:cs typeface="Perpetua"/>
              </a:rPr>
              <a:t>to the second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dirty="0">
                <a:latin typeface="Perpetua"/>
                <a:cs typeface="Perpetua"/>
              </a:rPr>
              <a:t>as </a:t>
            </a:r>
            <a:r>
              <a:rPr sz="2400" i="1" spc="-5" dirty="0">
                <a:latin typeface="Perpetua"/>
                <a:cs typeface="Perpetua"/>
              </a:rPr>
              <a:t>it is </a:t>
            </a:r>
            <a:r>
              <a:rPr sz="2400" i="1" spc="-25" dirty="0">
                <a:latin typeface="Perpetua"/>
                <a:cs typeface="Perpetua"/>
              </a:rPr>
              <a:t>larger </a:t>
            </a:r>
            <a:r>
              <a:rPr sz="2400" i="1" dirty="0">
                <a:latin typeface="Perpetua"/>
                <a:cs typeface="Perpetua"/>
              </a:rPr>
              <a:t>they </a:t>
            </a:r>
            <a:r>
              <a:rPr sz="2400" i="1" spc="-10" dirty="0">
                <a:latin typeface="Perpetua"/>
                <a:cs typeface="Perpetua"/>
              </a:rPr>
              <a:t>are  </a:t>
            </a:r>
            <a:r>
              <a:rPr sz="2400" i="1" spc="-5" dirty="0">
                <a:latin typeface="Perpetua"/>
                <a:cs typeface="Perpetua"/>
              </a:rPr>
              <a:t>exchanged.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68680" y="2595372"/>
            <a:ext cx="1097280" cy="13411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30679" y="2595372"/>
            <a:ext cx="1097280" cy="13411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32103" y="2755772"/>
            <a:ext cx="6251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700" algn="l"/>
                <a:tab pos="1536700" algn="l"/>
                <a:tab pos="2298700" algn="l"/>
                <a:tab pos="3365500" algn="l"/>
                <a:tab pos="4409440" algn="l"/>
                <a:tab pos="5171440" algn="l"/>
                <a:tab pos="5933440" algn="l"/>
              </a:tabLst>
            </a:pPr>
            <a:r>
              <a:rPr sz="4800" b="1" dirty="0">
                <a:latin typeface="Times New Roman"/>
                <a:cs typeface="Times New Roman"/>
              </a:rPr>
              <a:t>6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b="1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2,	12,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9,	3,	7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58695" y="2819400"/>
            <a:ext cx="1594485" cy="685800"/>
          </a:xfrm>
          <a:custGeom>
            <a:avLst/>
            <a:gdLst/>
            <a:ahLst/>
            <a:cxnLst/>
            <a:rect l="l" t="t" r="r" b="b"/>
            <a:pathLst>
              <a:path w="1594485" h="685800">
                <a:moveTo>
                  <a:pt x="0" y="342900"/>
                </a:moveTo>
                <a:lnTo>
                  <a:pt x="10432" y="287285"/>
                </a:lnTo>
                <a:lnTo>
                  <a:pt x="40635" y="234525"/>
                </a:lnTo>
                <a:lnTo>
                  <a:pt x="88968" y="185327"/>
                </a:lnTo>
                <a:lnTo>
                  <a:pt x="119420" y="162284"/>
                </a:lnTo>
                <a:lnTo>
                  <a:pt x="153789" y="140396"/>
                </a:lnTo>
                <a:lnTo>
                  <a:pt x="191870" y="119753"/>
                </a:lnTo>
                <a:lnTo>
                  <a:pt x="233457" y="100441"/>
                </a:lnTo>
                <a:lnTo>
                  <a:pt x="278346" y="82549"/>
                </a:lnTo>
                <a:lnTo>
                  <a:pt x="326331" y="66165"/>
                </a:lnTo>
                <a:lnTo>
                  <a:pt x="377206" y="51379"/>
                </a:lnTo>
                <a:lnTo>
                  <a:pt x="430768" y="38277"/>
                </a:lnTo>
                <a:lnTo>
                  <a:pt x="486810" y="26949"/>
                </a:lnTo>
                <a:lnTo>
                  <a:pt x="545128" y="17483"/>
                </a:lnTo>
                <a:lnTo>
                  <a:pt x="605516" y="9966"/>
                </a:lnTo>
                <a:lnTo>
                  <a:pt x="667770" y="4488"/>
                </a:lnTo>
                <a:lnTo>
                  <a:pt x="731683" y="1136"/>
                </a:lnTo>
                <a:lnTo>
                  <a:pt x="797052" y="0"/>
                </a:lnTo>
                <a:lnTo>
                  <a:pt x="862420" y="1136"/>
                </a:lnTo>
                <a:lnTo>
                  <a:pt x="926333" y="4488"/>
                </a:lnTo>
                <a:lnTo>
                  <a:pt x="988587" y="9966"/>
                </a:lnTo>
                <a:lnTo>
                  <a:pt x="1048975" y="17483"/>
                </a:lnTo>
                <a:lnTo>
                  <a:pt x="1107293" y="26949"/>
                </a:lnTo>
                <a:lnTo>
                  <a:pt x="1163335" y="38277"/>
                </a:lnTo>
                <a:lnTo>
                  <a:pt x="1216897" y="51379"/>
                </a:lnTo>
                <a:lnTo>
                  <a:pt x="1267772" y="66165"/>
                </a:lnTo>
                <a:lnTo>
                  <a:pt x="1315757" y="82549"/>
                </a:lnTo>
                <a:lnTo>
                  <a:pt x="1360646" y="100441"/>
                </a:lnTo>
                <a:lnTo>
                  <a:pt x="1402233" y="119753"/>
                </a:lnTo>
                <a:lnTo>
                  <a:pt x="1440314" y="140396"/>
                </a:lnTo>
                <a:lnTo>
                  <a:pt x="1474683" y="162284"/>
                </a:lnTo>
                <a:lnTo>
                  <a:pt x="1505135" y="185327"/>
                </a:lnTo>
                <a:lnTo>
                  <a:pt x="1553468" y="234525"/>
                </a:lnTo>
                <a:lnTo>
                  <a:pt x="1583671" y="287285"/>
                </a:lnTo>
                <a:lnTo>
                  <a:pt x="1594104" y="342900"/>
                </a:lnTo>
                <a:lnTo>
                  <a:pt x="1591461" y="371020"/>
                </a:lnTo>
                <a:lnTo>
                  <a:pt x="1570938" y="425295"/>
                </a:lnTo>
                <a:lnTo>
                  <a:pt x="1531465" y="476363"/>
                </a:lnTo>
                <a:lnTo>
                  <a:pt x="1474683" y="523515"/>
                </a:lnTo>
                <a:lnTo>
                  <a:pt x="1440314" y="545403"/>
                </a:lnTo>
                <a:lnTo>
                  <a:pt x="1402233" y="566046"/>
                </a:lnTo>
                <a:lnTo>
                  <a:pt x="1360646" y="585358"/>
                </a:lnTo>
                <a:lnTo>
                  <a:pt x="1315757" y="603250"/>
                </a:lnTo>
                <a:lnTo>
                  <a:pt x="1267772" y="619634"/>
                </a:lnTo>
                <a:lnTo>
                  <a:pt x="1216897" y="634420"/>
                </a:lnTo>
                <a:lnTo>
                  <a:pt x="1163335" y="647522"/>
                </a:lnTo>
                <a:lnTo>
                  <a:pt x="1107293" y="658850"/>
                </a:lnTo>
                <a:lnTo>
                  <a:pt x="1048975" y="668316"/>
                </a:lnTo>
                <a:lnTo>
                  <a:pt x="988587" y="675833"/>
                </a:lnTo>
                <a:lnTo>
                  <a:pt x="926333" y="681311"/>
                </a:lnTo>
                <a:lnTo>
                  <a:pt x="862420" y="684663"/>
                </a:lnTo>
                <a:lnTo>
                  <a:pt x="797052" y="685800"/>
                </a:lnTo>
                <a:lnTo>
                  <a:pt x="731683" y="684663"/>
                </a:lnTo>
                <a:lnTo>
                  <a:pt x="667770" y="681311"/>
                </a:lnTo>
                <a:lnTo>
                  <a:pt x="605516" y="675833"/>
                </a:lnTo>
                <a:lnTo>
                  <a:pt x="545128" y="668316"/>
                </a:lnTo>
                <a:lnTo>
                  <a:pt x="486810" y="658850"/>
                </a:lnTo>
                <a:lnTo>
                  <a:pt x="430768" y="647522"/>
                </a:lnTo>
                <a:lnTo>
                  <a:pt x="377206" y="634420"/>
                </a:lnTo>
                <a:lnTo>
                  <a:pt x="326331" y="619634"/>
                </a:lnTo>
                <a:lnTo>
                  <a:pt x="278346" y="603250"/>
                </a:lnTo>
                <a:lnTo>
                  <a:pt x="233457" y="585358"/>
                </a:lnTo>
                <a:lnTo>
                  <a:pt x="191870" y="566046"/>
                </a:lnTo>
                <a:lnTo>
                  <a:pt x="153789" y="545403"/>
                </a:lnTo>
                <a:lnTo>
                  <a:pt x="119420" y="523515"/>
                </a:lnTo>
                <a:lnTo>
                  <a:pt x="88968" y="500472"/>
                </a:lnTo>
                <a:lnTo>
                  <a:pt x="40635" y="451274"/>
                </a:lnTo>
                <a:lnTo>
                  <a:pt x="10432" y="398514"/>
                </a:lnTo>
                <a:lnTo>
                  <a:pt x="0" y="3429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20011" y="4195571"/>
            <a:ext cx="1097280" cy="13411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82011" y="4195571"/>
            <a:ext cx="1097280" cy="134111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86811" y="4195571"/>
            <a:ext cx="1249680" cy="134111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22044" y="4356354"/>
            <a:ext cx="6251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536065" algn="l"/>
                <a:tab pos="2298700" algn="l"/>
                <a:tab pos="3365500" algn="l"/>
                <a:tab pos="4409440" algn="l"/>
                <a:tab pos="5171440" algn="l"/>
                <a:tab pos="5933440" algn="l"/>
              </a:tabLst>
            </a:pPr>
            <a:r>
              <a:rPr sz="4800" dirty="0">
                <a:latin typeface="Times New Roman"/>
                <a:cs typeface="Times New Roman"/>
              </a:rPr>
              <a:t>6,	</a:t>
            </a:r>
            <a:r>
              <a:rPr sz="4800" b="1" dirty="0">
                <a:latin typeface="Times New Roman"/>
                <a:cs typeface="Times New Roman"/>
              </a:rPr>
              <a:t>2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b="1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12,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9,	3,	7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90800" y="4419600"/>
            <a:ext cx="1828800" cy="685800"/>
          </a:xfrm>
          <a:custGeom>
            <a:avLst/>
            <a:gdLst/>
            <a:ahLst/>
            <a:cxnLst/>
            <a:rect l="l" t="t" r="r" b="b"/>
            <a:pathLst>
              <a:path w="1828800" h="685800">
                <a:moveTo>
                  <a:pt x="0" y="342900"/>
                </a:moveTo>
                <a:lnTo>
                  <a:pt x="9915" y="292233"/>
                </a:lnTo>
                <a:lnTo>
                  <a:pt x="38719" y="243873"/>
                </a:lnTo>
                <a:lnTo>
                  <a:pt x="84995" y="198351"/>
                </a:lnTo>
                <a:lnTo>
                  <a:pt x="147329" y="156196"/>
                </a:lnTo>
                <a:lnTo>
                  <a:pt x="184076" y="136548"/>
                </a:lnTo>
                <a:lnTo>
                  <a:pt x="224306" y="117941"/>
                </a:lnTo>
                <a:lnTo>
                  <a:pt x="267843" y="100441"/>
                </a:lnTo>
                <a:lnTo>
                  <a:pt x="314509" y="84114"/>
                </a:lnTo>
                <a:lnTo>
                  <a:pt x="364129" y="69028"/>
                </a:lnTo>
                <a:lnTo>
                  <a:pt x="416524" y="55248"/>
                </a:lnTo>
                <a:lnTo>
                  <a:pt x="471519" y="42841"/>
                </a:lnTo>
                <a:lnTo>
                  <a:pt x="528936" y="31873"/>
                </a:lnTo>
                <a:lnTo>
                  <a:pt x="588599" y="22410"/>
                </a:lnTo>
                <a:lnTo>
                  <a:pt x="650330" y="14519"/>
                </a:lnTo>
                <a:lnTo>
                  <a:pt x="713952" y="8266"/>
                </a:lnTo>
                <a:lnTo>
                  <a:pt x="779289" y="3718"/>
                </a:lnTo>
                <a:lnTo>
                  <a:pt x="846164" y="940"/>
                </a:lnTo>
                <a:lnTo>
                  <a:pt x="914400" y="0"/>
                </a:lnTo>
                <a:lnTo>
                  <a:pt x="982635" y="940"/>
                </a:lnTo>
                <a:lnTo>
                  <a:pt x="1049510" y="3718"/>
                </a:lnTo>
                <a:lnTo>
                  <a:pt x="1114847" y="8266"/>
                </a:lnTo>
                <a:lnTo>
                  <a:pt x="1178469" y="14519"/>
                </a:lnTo>
                <a:lnTo>
                  <a:pt x="1240200" y="22410"/>
                </a:lnTo>
                <a:lnTo>
                  <a:pt x="1299863" y="31873"/>
                </a:lnTo>
                <a:lnTo>
                  <a:pt x="1357280" y="42841"/>
                </a:lnTo>
                <a:lnTo>
                  <a:pt x="1412275" y="55248"/>
                </a:lnTo>
                <a:lnTo>
                  <a:pt x="1464670" y="69028"/>
                </a:lnTo>
                <a:lnTo>
                  <a:pt x="1514290" y="84114"/>
                </a:lnTo>
                <a:lnTo>
                  <a:pt x="1560956" y="100441"/>
                </a:lnTo>
                <a:lnTo>
                  <a:pt x="1604493" y="117941"/>
                </a:lnTo>
                <a:lnTo>
                  <a:pt x="1644723" y="136548"/>
                </a:lnTo>
                <a:lnTo>
                  <a:pt x="1681470" y="156196"/>
                </a:lnTo>
                <a:lnTo>
                  <a:pt x="1714555" y="176819"/>
                </a:lnTo>
                <a:lnTo>
                  <a:pt x="1769037" y="220724"/>
                </a:lnTo>
                <a:lnTo>
                  <a:pt x="1806754" y="267732"/>
                </a:lnTo>
                <a:lnTo>
                  <a:pt x="1826291" y="317311"/>
                </a:lnTo>
                <a:lnTo>
                  <a:pt x="1828800" y="342900"/>
                </a:lnTo>
                <a:lnTo>
                  <a:pt x="1826291" y="368488"/>
                </a:lnTo>
                <a:lnTo>
                  <a:pt x="1806754" y="418067"/>
                </a:lnTo>
                <a:lnTo>
                  <a:pt x="1769037" y="465075"/>
                </a:lnTo>
                <a:lnTo>
                  <a:pt x="1714555" y="508980"/>
                </a:lnTo>
                <a:lnTo>
                  <a:pt x="1681470" y="529603"/>
                </a:lnTo>
                <a:lnTo>
                  <a:pt x="1644723" y="549251"/>
                </a:lnTo>
                <a:lnTo>
                  <a:pt x="1604493" y="567858"/>
                </a:lnTo>
                <a:lnTo>
                  <a:pt x="1560957" y="585358"/>
                </a:lnTo>
                <a:lnTo>
                  <a:pt x="1514290" y="601685"/>
                </a:lnTo>
                <a:lnTo>
                  <a:pt x="1464670" y="616771"/>
                </a:lnTo>
                <a:lnTo>
                  <a:pt x="1412275" y="630551"/>
                </a:lnTo>
                <a:lnTo>
                  <a:pt x="1357280" y="642958"/>
                </a:lnTo>
                <a:lnTo>
                  <a:pt x="1299863" y="653926"/>
                </a:lnTo>
                <a:lnTo>
                  <a:pt x="1240200" y="663389"/>
                </a:lnTo>
                <a:lnTo>
                  <a:pt x="1178469" y="671280"/>
                </a:lnTo>
                <a:lnTo>
                  <a:pt x="1114847" y="677533"/>
                </a:lnTo>
                <a:lnTo>
                  <a:pt x="1049510" y="682081"/>
                </a:lnTo>
                <a:lnTo>
                  <a:pt x="982635" y="684859"/>
                </a:lnTo>
                <a:lnTo>
                  <a:pt x="914400" y="685800"/>
                </a:lnTo>
                <a:lnTo>
                  <a:pt x="846164" y="684859"/>
                </a:lnTo>
                <a:lnTo>
                  <a:pt x="779289" y="682081"/>
                </a:lnTo>
                <a:lnTo>
                  <a:pt x="713952" y="677533"/>
                </a:lnTo>
                <a:lnTo>
                  <a:pt x="650330" y="671280"/>
                </a:lnTo>
                <a:lnTo>
                  <a:pt x="588599" y="663389"/>
                </a:lnTo>
                <a:lnTo>
                  <a:pt x="528936" y="653926"/>
                </a:lnTo>
                <a:lnTo>
                  <a:pt x="471519" y="642958"/>
                </a:lnTo>
                <a:lnTo>
                  <a:pt x="416524" y="630551"/>
                </a:lnTo>
                <a:lnTo>
                  <a:pt x="364129" y="616771"/>
                </a:lnTo>
                <a:lnTo>
                  <a:pt x="314509" y="601685"/>
                </a:lnTo>
                <a:lnTo>
                  <a:pt x="267842" y="585358"/>
                </a:lnTo>
                <a:lnTo>
                  <a:pt x="224306" y="567858"/>
                </a:lnTo>
                <a:lnTo>
                  <a:pt x="184076" y="549251"/>
                </a:lnTo>
                <a:lnTo>
                  <a:pt x="147329" y="529603"/>
                </a:lnTo>
                <a:lnTo>
                  <a:pt x="114244" y="508980"/>
                </a:lnTo>
                <a:lnTo>
                  <a:pt x="59762" y="465075"/>
                </a:lnTo>
                <a:lnTo>
                  <a:pt x="22045" y="418067"/>
                </a:lnTo>
                <a:lnTo>
                  <a:pt x="2508" y="368488"/>
                </a:lnTo>
                <a:lnTo>
                  <a:pt x="0" y="3429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36903" y="5251703"/>
            <a:ext cx="7403592" cy="13975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50036" y="5204459"/>
            <a:ext cx="7580375" cy="15636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66800" y="5181600"/>
            <a:ext cx="7391400" cy="13855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91440" marR="149860">
              <a:lnSpc>
                <a:spcPct val="100000"/>
              </a:lnSpc>
              <a:spcBef>
                <a:spcPts val="30"/>
              </a:spcBef>
              <a:buSzPct val="95833"/>
              <a:buFont typeface="Wingdings"/>
              <a:buChar char=""/>
              <a:tabLst>
                <a:tab pos="332105" algn="l"/>
              </a:tabLst>
            </a:pPr>
            <a:r>
              <a:rPr sz="2400" i="1" dirty="0">
                <a:latin typeface="Perpetua"/>
                <a:cs typeface="Perpetua"/>
              </a:rPr>
              <a:t>In </a:t>
            </a: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dirty="0">
                <a:latin typeface="Perpetua"/>
                <a:cs typeface="Perpetua"/>
              </a:rPr>
              <a:t>third comparison, the 9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dirty="0">
                <a:latin typeface="Perpetua"/>
                <a:cs typeface="Perpetua"/>
              </a:rPr>
              <a:t>not </a:t>
            </a:r>
            <a:r>
              <a:rPr sz="2400" i="1" spc="-25" dirty="0">
                <a:latin typeface="Perpetua"/>
                <a:cs typeface="Perpetua"/>
              </a:rPr>
              <a:t>larger </a:t>
            </a:r>
            <a:r>
              <a:rPr sz="2400" i="1" dirty="0">
                <a:latin typeface="Perpetua"/>
                <a:cs typeface="Perpetua"/>
              </a:rPr>
              <a:t>than the 12 so no</a:t>
            </a:r>
            <a:r>
              <a:rPr sz="2400" i="1" spc="-33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exchange  </a:t>
            </a:r>
            <a:r>
              <a:rPr sz="2400" i="1" spc="-5" dirty="0">
                <a:latin typeface="Perpetua"/>
                <a:cs typeface="Perpetua"/>
              </a:rPr>
              <a:t>is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made.</a:t>
            </a:r>
            <a:endParaRPr sz="2400" dirty="0">
              <a:latin typeface="Perpetua"/>
              <a:cs typeface="Perpetua"/>
            </a:endParaRPr>
          </a:p>
          <a:p>
            <a:pPr marL="338455" indent="-247650">
              <a:lnSpc>
                <a:spcPct val="100000"/>
              </a:lnSpc>
              <a:spcBef>
                <a:spcPts val="1445"/>
              </a:spcBef>
              <a:buSzPct val="95833"/>
              <a:buFont typeface="Wingdings"/>
              <a:buChar char=""/>
              <a:tabLst>
                <a:tab pos="339090" algn="l"/>
              </a:tabLst>
            </a:pPr>
            <a:r>
              <a:rPr sz="2400" i="1" spc="-85" dirty="0">
                <a:latin typeface="Perpetua"/>
                <a:cs typeface="Perpetua"/>
              </a:rPr>
              <a:t>We </a:t>
            </a:r>
            <a:r>
              <a:rPr sz="2400" i="1" spc="-25" dirty="0">
                <a:latin typeface="Perpetua"/>
                <a:cs typeface="Perpetua"/>
              </a:rPr>
              <a:t>move </a:t>
            </a:r>
            <a:r>
              <a:rPr sz="2400" i="1" spc="-5" dirty="0">
                <a:latin typeface="Perpetua"/>
                <a:cs typeface="Perpetua"/>
              </a:rPr>
              <a:t>on </a:t>
            </a:r>
            <a:r>
              <a:rPr sz="2400" i="1" dirty="0">
                <a:latin typeface="Perpetua"/>
                <a:cs typeface="Perpetua"/>
              </a:rPr>
              <a:t>to </a:t>
            </a:r>
            <a:r>
              <a:rPr sz="2400" i="1" spc="-10" dirty="0">
                <a:latin typeface="Perpetua"/>
                <a:cs typeface="Perpetua"/>
              </a:rPr>
              <a:t>compare </a:t>
            </a:r>
            <a:r>
              <a:rPr sz="2400" i="1" dirty="0">
                <a:latin typeface="Perpetua"/>
                <a:cs typeface="Perpetua"/>
              </a:rPr>
              <a:t>the next pair </a:t>
            </a:r>
            <a:r>
              <a:rPr sz="2400" i="1" spc="-5" dirty="0">
                <a:latin typeface="Perpetua"/>
                <a:cs typeface="Perpetua"/>
              </a:rPr>
              <a:t>without </a:t>
            </a:r>
            <a:r>
              <a:rPr sz="2400" i="1" spc="-20" dirty="0">
                <a:latin typeface="Perpetua"/>
                <a:cs typeface="Perpetua"/>
              </a:rPr>
              <a:t>any </a:t>
            </a:r>
            <a:r>
              <a:rPr sz="2400" i="1" spc="-10" dirty="0">
                <a:latin typeface="Perpetua"/>
                <a:cs typeface="Perpetua"/>
              </a:rPr>
              <a:t>change </a:t>
            </a:r>
            <a:r>
              <a:rPr sz="2400" i="1" dirty="0">
                <a:latin typeface="Perpetua"/>
                <a:cs typeface="Perpetua"/>
              </a:rPr>
              <a:t>to the</a:t>
            </a:r>
            <a:r>
              <a:rPr sz="2400" i="1" spc="6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list.</a:t>
            </a:r>
            <a:endParaRPr sz="2400" dirty="0">
              <a:latin typeface="Perpetua"/>
              <a:cs typeface="Perpetu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23772" y="3651503"/>
            <a:ext cx="7316724" cy="84277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36903" y="3604259"/>
            <a:ext cx="7449311" cy="10149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153667" y="3581400"/>
            <a:ext cx="7305040" cy="83058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90805" marR="193040">
              <a:lnSpc>
                <a:spcPct val="100000"/>
              </a:lnSpc>
              <a:spcBef>
                <a:spcPts val="30"/>
              </a:spcBef>
              <a:buSzPct val="95833"/>
              <a:buFont typeface="Wingdings"/>
              <a:buChar char=""/>
              <a:tabLst>
                <a:tab pos="331470" algn="l"/>
              </a:tabLst>
            </a:pPr>
            <a:r>
              <a:rPr sz="2400" i="1" spc="-15" dirty="0">
                <a:latin typeface="Perpetua"/>
                <a:cs typeface="Perpetua"/>
              </a:rPr>
              <a:t>Now </a:t>
            </a:r>
            <a:r>
              <a:rPr sz="2400" i="1" dirty="0">
                <a:latin typeface="Perpetua"/>
                <a:cs typeface="Perpetua"/>
              </a:rPr>
              <a:t>the next pair </a:t>
            </a:r>
            <a:r>
              <a:rPr sz="2400" i="1" spc="-5" dirty="0">
                <a:latin typeface="Perpetua"/>
                <a:cs typeface="Perpetua"/>
              </a:rPr>
              <a:t>of </a:t>
            </a:r>
            <a:r>
              <a:rPr sz="2400" i="1" dirty="0">
                <a:latin typeface="Perpetua"/>
                <a:cs typeface="Perpetua"/>
              </a:rPr>
              <a:t>numbers </a:t>
            </a:r>
            <a:r>
              <a:rPr sz="2400" i="1" spc="-10" dirty="0">
                <a:latin typeface="Perpetua"/>
                <a:cs typeface="Perpetua"/>
              </a:rPr>
              <a:t>are </a:t>
            </a:r>
            <a:r>
              <a:rPr sz="2400" i="1" spc="-5" dirty="0">
                <a:latin typeface="Perpetua"/>
                <a:cs typeface="Perpetua"/>
              </a:rPr>
              <a:t>compared. </a:t>
            </a:r>
            <a:r>
              <a:rPr sz="2400" i="1" spc="-15" dirty="0">
                <a:latin typeface="Perpetua"/>
                <a:cs typeface="Perpetua"/>
              </a:rPr>
              <a:t>Again </a:t>
            </a:r>
            <a:r>
              <a:rPr sz="2400" i="1" dirty="0">
                <a:latin typeface="Perpetua"/>
                <a:cs typeface="Perpetua"/>
              </a:rPr>
              <a:t>the 9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25" dirty="0">
                <a:latin typeface="Perpetua"/>
                <a:cs typeface="Perpetua"/>
              </a:rPr>
              <a:t>larger 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dirty="0">
                <a:latin typeface="Perpetua"/>
                <a:cs typeface="Perpetua"/>
              </a:rPr>
              <a:t>so </a:t>
            </a:r>
            <a:r>
              <a:rPr sz="2400" i="1" spc="-5" dirty="0">
                <a:latin typeface="Perpetua"/>
                <a:cs typeface="Perpetua"/>
              </a:rPr>
              <a:t>this </a:t>
            </a:r>
            <a:r>
              <a:rPr sz="2400" i="1" dirty="0">
                <a:latin typeface="Perpetua"/>
                <a:cs typeface="Perpetua"/>
              </a:rPr>
              <a:t>pair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dirty="0">
                <a:latin typeface="Perpetua"/>
                <a:cs typeface="Perpetua"/>
              </a:rPr>
              <a:t>also</a:t>
            </a:r>
            <a:r>
              <a:rPr sz="2400" i="1" spc="-2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exchanged.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84903" y="222504"/>
            <a:ext cx="4736592" cy="65836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43755" y="204215"/>
            <a:ext cx="4565904" cy="75742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114800" y="152400"/>
            <a:ext cx="4724400" cy="646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5"/>
              </a:spcBef>
            </a:pPr>
            <a:r>
              <a:rPr sz="1800" b="1" i="1" spc="-10" dirty="0">
                <a:latin typeface="Perpetua"/>
                <a:cs typeface="Perpetua"/>
              </a:rPr>
              <a:t>Bubble </a:t>
            </a:r>
            <a:r>
              <a:rPr sz="1800" b="1" i="1" dirty="0">
                <a:latin typeface="Perpetua"/>
                <a:cs typeface="Perpetua"/>
              </a:rPr>
              <a:t>sort </a:t>
            </a:r>
            <a:r>
              <a:rPr sz="1800" b="1" i="1" spc="-5" dirty="0">
                <a:latin typeface="Perpetua"/>
                <a:cs typeface="Perpetua"/>
              </a:rPr>
              <a:t>compares the </a:t>
            </a:r>
            <a:r>
              <a:rPr sz="1800" b="1" i="1" spc="-20" dirty="0">
                <a:latin typeface="Perpetua"/>
                <a:cs typeface="Perpetua"/>
              </a:rPr>
              <a:t>numbers </a:t>
            </a:r>
            <a:r>
              <a:rPr sz="1800" b="1" i="1" dirty="0">
                <a:latin typeface="Perpetua"/>
                <a:cs typeface="Perpetua"/>
              </a:rPr>
              <a:t>in </a:t>
            </a:r>
            <a:r>
              <a:rPr sz="1800" b="1" i="1" spc="-15" dirty="0">
                <a:latin typeface="Perpetua"/>
                <a:cs typeface="Perpetua"/>
              </a:rPr>
              <a:t>pairs</a:t>
            </a:r>
            <a:r>
              <a:rPr sz="1800" b="1" i="1" spc="-80" dirty="0">
                <a:latin typeface="Perpetua"/>
                <a:cs typeface="Perpetua"/>
              </a:rPr>
              <a:t> </a:t>
            </a:r>
            <a:r>
              <a:rPr sz="1800" b="1" i="1" spc="-10" dirty="0">
                <a:latin typeface="Perpetua"/>
                <a:cs typeface="Perpetua"/>
              </a:rPr>
              <a:t>from</a:t>
            </a:r>
            <a:endParaRPr sz="1800">
              <a:latin typeface="Perpetua"/>
              <a:cs typeface="Perpetua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b="1" i="1" dirty="0">
                <a:latin typeface="Perpetua"/>
                <a:cs typeface="Perpetua"/>
              </a:rPr>
              <a:t>left to right </a:t>
            </a:r>
            <a:r>
              <a:rPr sz="1800" b="1" i="1" spc="-5" dirty="0">
                <a:latin typeface="Perpetua"/>
                <a:cs typeface="Perpetua"/>
              </a:rPr>
              <a:t>exchanging </a:t>
            </a:r>
            <a:r>
              <a:rPr sz="1800" b="1" i="1" spc="-15" dirty="0">
                <a:latin typeface="Perpetua"/>
                <a:cs typeface="Perpetua"/>
              </a:rPr>
              <a:t>when</a:t>
            </a:r>
            <a:r>
              <a:rPr sz="1800" b="1" i="1" spc="-90" dirty="0">
                <a:latin typeface="Perpetua"/>
                <a:cs typeface="Perpetua"/>
              </a:rPr>
              <a:t> </a:t>
            </a:r>
            <a:r>
              <a:rPr sz="1800" b="1" i="1" spc="-15" dirty="0">
                <a:latin typeface="Perpetua"/>
                <a:cs typeface="Perpetua"/>
              </a:rPr>
              <a:t>necessary.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7340" y="632586"/>
            <a:ext cx="7383780" cy="1279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460"/>
              </a:lnSpc>
              <a:spcBef>
                <a:spcPts val="95"/>
              </a:spcBef>
            </a:pPr>
            <a:r>
              <a:rPr sz="4000" spc="-5" dirty="0">
                <a:latin typeface="Perpetua"/>
                <a:cs typeface="Perpetua"/>
              </a:rPr>
              <a:t>Eg: </a:t>
            </a:r>
            <a:r>
              <a:rPr sz="4000" spc="-20" dirty="0">
                <a:latin typeface="Perpetua"/>
                <a:cs typeface="Perpetua"/>
              </a:rPr>
              <a:t>Bubble</a:t>
            </a:r>
            <a:r>
              <a:rPr sz="4000" spc="-165" dirty="0">
                <a:latin typeface="Perpetua"/>
                <a:cs typeface="Perpetua"/>
              </a:rPr>
              <a:t> </a:t>
            </a:r>
            <a:r>
              <a:rPr sz="4000" spc="35" dirty="0">
                <a:latin typeface="Perpetua"/>
                <a:cs typeface="Perpetua"/>
              </a:rPr>
              <a:t>Sort</a:t>
            </a:r>
            <a:endParaRPr sz="4000">
              <a:latin typeface="Perpetua"/>
              <a:cs typeface="Perpetua"/>
            </a:endParaRPr>
          </a:p>
          <a:p>
            <a:pPr marL="1132840" algn="ctr">
              <a:lnSpc>
                <a:spcPts val="5420"/>
              </a:lnSpc>
              <a:tabLst>
                <a:tab pos="1894839" algn="l"/>
                <a:tab pos="2656205" algn="l"/>
                <a:tab pos="3418204" algn="l"/>
                <a:tab pos="4485005" algn="l"/>
                <a:tab pos="5529580" algn="l"/>
                <a:tab pos="6290945" algn="l"/>
                <a:tab pos="7052945" algn="l"/>
              </a:tabLst>
            </a:pP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6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2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12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175" dirty="0">
                <a:latin typeface="Times New Roman"/>
                <a:cs typeface="Times New Roman"/>
              </a:rPr>
              <a:t>1</a:t>
            </a:r>
            <a:r>
              <a:rPr sz="4800" spc="-5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3</a:t>
            </a:r>
            <a:r>
              <a:rPr sz="4800" dirty="0">
                <a:latin typeface="Times New Roman"/>
                <a:cs typeface="Times New Roman"/>
              </a:rPr>
              <a:t>,	7</a:t>
            </a:r>
            <a:endParaRPr sz="4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849833"/>
            <a:ext cx="61029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5335" algn="l"/>
                <a:tab pos="1538605" algn="l"/>
                <a:tab pos="2301240" algn="l"/>
                <a:tab pos="4258310" algn="l"/>
                <a:tab pos="5021580" algn="l"/>
                <a:tab pos="5784850" algn="l"/>
              </a:tabLst>
            </a:pPr>
            <a:r>
              <a:rPr dirty="0"/>
              <a:t>6,	2,	9,	12,</a:t>
            </a:r>
            <a:r>
              <a:rPr spc="-25" dirty="0"/>
              <a:t> </a:t>
            </a:r>
            <a:r>
              <a:rPr spc="-185" dirty="0"/>
              <a:t>1</a:t>
            </a:r>
            <a:r>
              <a:rPr spc="-5" dirty="0"/>
              <a:t>1</a:t>
            </a:r>
            <a:r>
              <a:rPr dirty="0"/>
              <a:t>,	9,	3,	7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0" y="914400"/>
            <a:ext cx="1751330" cy="762000"/>
          </a:xfrm>
          <a:custGeom>
            <a:avLst/>
            <a:gdLst/>
            <a:ahLst/>
            <a:cxnLst/>
            <a:rect l="l" t="t" r="r" b="b"/>
            <a:pathLst>
              <a:path w="1751329" h="762000">
                <a:moveTo>
                  <a:pt x="0" y="381000"/>
                </a:moveTo>
                <a:lnTo>
                  <a:pt x="9494" y="324694"/>
                </a:lnTo>
                <a:lnTo>
                  <a:pt x="37074" y="270955"/>
                </a:lnTo>
                <a:lnTo>
                  <a:pt x="81384" y="220372"/>
                </a:lnTo>
                <a:lnTo>
                  <a:pt x="141069" y="173533"/>
                </a:lnTo>
                <a:lnTo>
                  <a:pt x="176253" y="151702"/>
                </a:lnTo>
                <a:lnTo>
                  <a:pt x="214774" y="131028"/>
                </a:lnTo>
                <a:lnTo>
                  <a:pt x="256460" y="111585"/>
                </a:lnTo>
                <a:lnTo>
                  <a:pt x="301144" y="93446"/>
                </a:lnTo>
                <a:lnTo>
                  <a:pt x="348654" y="76685"/>
                </a:lnTo>
                <a:lnTo>
                  <a:pt x="398823" y="61376"/>
                </a:lnTo>
                <a:lnTo>
                  <a:pt x="451481" y="47592"/>
                </a:lnTo>
                <a:lnTo>
                  <a:pt x="506458" y="35408"/>
                </a:lnTo>
                <a:lnTo>
                  <a:pt x="563584" y="24895"/>
                </a:lnTo>
                <a:lnTo>
                  <a:pt x="622691" y="16129"/>
                </a:lnTo>
                <a:lnTo>
                  <a:pt x="683610" y="9183"/>
                </a:lnTo>
                <a:lnTo>
                  <a:pt x="746170" y="4130"/>
                </a:lnTo>
                <a:lnTo>
                  <a:pt x="810202" y="1044"/>
                </a:lnTo>
                <a:lnTo>
                  <a:pt x="875538" y="0"/>
                </a:lnTo>
                <a:lnTo>
                  <a:pt x="940873" y="1044"/>
                </a:lnTo>
                <a:lnTo>
                  <a:pt x="1004905" y="4130"/>
                </a:lnTo>
                <a:lnTo>
                  <a:pt x="1067465" y="9183"/>
                </a:lnTo>
                <a:lnTo>
                  <a:pt x="1128384" y="16129"/>
                </a:lnTo>
                <a:lnTo>
                  <a:pt x="1187491" y="24895"/>
                </a:lnTo>
                <a:lnTo>
                  <a:pt x="1244617" y="35408"/>
                </a:lnTo>
                <a:lnTo>
                  <a:pt x="1299594" y="47592"/>
                </a:lnTo>
                <a:lnTo>
                  <a:pt x="1352252" y="61376"/>
                </a:lnTo>
                <a:lnTo>
                  <a:pt x="1402421" y="76685"/>
                </a:lnTo>
                <a:lnTo>
                  <a:pt x="1449931" y="93446"/>
                </a:lnTo>
                <a:lnTo>
                  <a:pt x="1494615" y="111585"/>
                </a:lnTo>
                <a:lnTo>
                  <a:pt x="1536301" y="131028"/>
                </a:lnTo>
                <a:lnTo>
                  <a:pt x="1574822" y="151702"/>
                </a:lnTo>
                <a:lnTo>
                  <a:pt x="1610006" y="173533"/>
                </a:lnTo>
                <a:lnTo>
                  <a:pt x="1641686" y="196447"/>
                </a:lnTo>
                <a:lnTo>
                  <a:pt x="1693853" y="245232"/>
                </a:lnTo>
                <a:lnTo>
                  <a:pt x="1729967" y="297467"/>
                </a:lnTo>
                <a:lnTo>
                  <a:pt x="1748674" y="352563"/>
                </a:lnTo>
                <a:lnTo>
                  <a:pt x="1751076" y="381000"/>
                </a:lnTo>
                <a:lnTo>
                  <a:pt x="1748674" y="409436"/>
                </a:lnTo>
                <a:lnTo>
                  <a:pt x="1729967" y="464532"/>
                </a:lnTo>
                <a:lnTo>
                  <a:pt x="1693853" y="516767"/>
                </a:lnTo>
                <a:lnTo>
                  <a:pt x="1641686" y="565552"/>
                </a:lnTo>
                <a:lnTo>
                  <a:pt x="1610006" y="588466"/>
                </a:lnTo>
                <a:lnTo>
                  <a:pt x="1574822" y="610297"/>
                </a:lnTo>
                <a:lnTo>
                  <a:pt x="1536301" y="630971"/>
                </a:lnTo>
                <a:lnTo>
                  <a:pt x="1494615" y="650414"/>
                </a:lnTo>
                <a:lnTo>
                  <a:pt x="1449931" y="668553"/>
                </a:lnTo>
                <a:lnTo>
                  <a:pt x="1402421" y="685314"/>
                </a:lnTo>
                <a:lnTo>
                  <a:pt x="1352252" y="700623"/>
                </a:lnTo>
                <a:lnTo>
                  <a:pt x="1299594" y="714407"/>
                </a:lnTo>
                <a:lnTo>
                  <a:pt x="1244617" y="726591"/>
                </a:lnTo>
                <a:lnTo>
                  <a:pt x="1187491" y="737104"/>
                </a:lnTo>
                <a:lnTo>
                  <a:pt x="1128384" y="745870"/>
                </a:lnTo>
                <a:lnTo>
                  <a:pt x="1067465" y="752816"/>
                </a:lnTo>
                <a:lnTo>
                  <a:pt x="1004905" y="757869"/>
                </a:lnTo>
                <a:lnTo>
                  <a:pt x="940873" y="760955"/>
                </a:lnTo>
                <a:lnTo>
                  <a:pt x="875538" y="762000"/>
                </a:lnTo>
                <a:lnTo>
                  <a:pt x="810202" y="760955"/>
                </a:lnTo>
                <a:lnTo>
                  <a:pt x="746170" y="757869"/>
                </a:lnTo>
                <a:lnTo>
                  <a:pt x="683610" y="752816"/>
                </a:lnTo>
                <a:lnTo>
                  <a:pt x="622691" y="745870"/>
                </a:lnTo>
                <a:lnTo>
                  <a:pt x="563584" y="737104"/>
                </a:lnTo>
                <a:lnTo>
                  <a:pt x="506458" y="726591"/>
                </a:lnTo>
                <a:lnTo>
                  <a:pt x="451481" y="714407"/>
                </a:lnTo>
                <a:lnTo>
                  <a:pt x="398823" y="700623"/>
                </a:lnTo>
                <a:lnTo>
                  <a:pt x="348654" y="685314"/>
                </a:lnTo>
                <a:lnTo>
                  <a:pt x="301144" y="668553"/>
                </a:lnTo>
                <a:lnTo>
                  <a:pt x="256460" y="650414"/>
                </a:lnTo>
                <a:lnTo>
                  <a:pt x="214774" y="630971"/>
                </a:lnTo>
                <a:lnTo>
                  <a:pt x="176253" y="610297"/>
                </a:lnTo>
                <a:lnTo>
                  <a:pt x="141069" y="588466"/>
                </a:lnTo>
                <a:lnTo>
                  <a:pt x="109389" y="565552"/>
                </a:lnTo>
                <a:lnTo>
                  <a:pt x="57222" y="516767"/>
                </a:lnTo>
                <a:lnTo>
                  <a:pt x="21108" y="464532"/>
                </a:lnTo>
                <a:lnTo>
                  <a:pt x="2401" y="409436"/>
                </a:lnTo>
                <a:lnTo>
                  <a:pt x="0" y="3810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63011" y="2179320"/>
            <a:ext cx="1368552" cy="13411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43884" y="2179320"/>
            <a:ext cx="1402080" cy="13411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40739" y="2339797"/>
            <a:ext cx="60890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5335" algn="l"/>
                <a:tab pos="1538605" algn="l"/>
                <a:tab pos="2298700" algn="l"/>
                <a:tab pos="4246880" algn="l"/>
                <a:tab pos="5008880" algn="l"/>
                <a:tab pos="5770245" algn="l"/>
              </a:tabLst>
            </a:pPr>
            <a:r>
              <a:rPr sz="4800" dirty="0">
                <a:latin typeface="Times New Roman"/>
                <a:cs typeface="Times New Roman"/>
              </a:rPr>
              <a:t>6,	2,	9,	</a:t>
            </a:r>
            <a:r>
              <a:rPr sz="4800" b="1" spc="-265" dirty="0">
                <a:latin typeface="Times New Roman"/>
                <a:cs typeface="Times New Roman"/>
              </a:rPr>
              <a:t>1</a:t>
            </a:r>
            <a:r>
              <a:rPr sz="4800" b="1" spc="-5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,</a:t>
            </a:r>
            <a:r>
              <a:rPr sz="4800" spc="-5" dirty="0">
                <a:latin typeface="Times New Roman"/>
                <a:cs typeface="Times New Roman"/>
              </a:rPr>
              <a:t> </a:t>
            </a:r>
            <a:r>
              <a:rPr sz="4800" b="1" spc="-5" dirty="0">
                <a:latin typeface="Times New Roman"/>
                <a:cs typeface="Times New Roman"/>
              </a:rPr>
              <a:t>12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3</a:t>
            </a:r>
            <a:r>
              <a:rPr sz="4800" dirty="0">
                <a:latin typeface="Times New Roman"/>
                <a:cs typeface="Times New Roman"/>
              </a:rPr>
              <a:t>,	7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400" y="2438400"/>
            <a:ext cx="1751330" cy="685800"/>
          </a:xfrm>
          <a:custGeom>
            <a:avLst/>
            <a:gdLst/>
            <a:ahLst/>
            <a:cxnLst/>
            <a:rect l="l" t="t" r="r" b="b"/>
            <a:pathLst>
              <a:path w="1751329" h="685800">
                <a:moveTo>
                  <a:pt x="0" y="342900"/>
                </a:moveTo>
                <a:lnTo>
                  <a:pt x="9494" y="292233"/>
                </a:lnTo>
                <a:lnTo>
                  <a:pt x="37074" y="243873"/>
                </a:lnTo>
                <a:lnTo>
                  <a:pt x="81384" y="198351"/>
                </a:lnTo>
                <a:lnTo>
                  <a:pt x="141069" y="156196"/>
                </a:lnTo>
                <a:lnTo>
                  <a:pt x="176253" y="136548"/>
                </a:lnTo>
                <a:lnTo>
                  <a:pt x="214774" y="117941"/>
                </a:lnTo>
                <a:lnTo>
                  <a:pt x="256460" y="100441"/>
                </a:lnTo>
                <a:lnTo>
                  <a:pt x="301144" y="84114"/>
                </a:lnTo>
                <a:lnTo>
                  <a:pt x="348654" y="69028"/>
                </a:lnTo>
                <a:lnTo>
                  <a:pt x="398823" y="55248"/>
                </a:lnTo>
                <a:lnTo>
                  <a:pt x="451481" y="42841"/>
                </a:lnTo>
                <a:lnTo>
                  <a:pt x="506458" y="31873"/>
                </a:lnTo>
                <a:lnTo>
                  <a:pt x="563584" y="22410"/>
                </a:lnTo>
                <a:lnTo>
                  <a:pt x="622691" y="14519"/>
                </a:lnTo>
                <a:lnTo>
                  <a:pt x="683610" y="8266"/>
                </a:lnTo>
                <a:lnTo>
                  <a:pt x="746170" y="3718"/>
                </a:lnTo>
                <a:lnTo>
                  <a:pt x="810202" y="940"/>
                </a:lnTo>
                <a:lnTo>
                  <a:pt x="875538" y="0"/>
                </a:lnTo>
                <a:lnTo>
                  <a:pt x="940873" y="940"/>
                </a:lnTo>
                <a:lnTo>
                  <a:pt x="1004905" y="3718"/>
                </a:lnTo>
                <a:lnTo>
                  <a:pt x="1067465" y="8266"/>
                </a:lnTo>
                <a:lnTo>
                  <a:pt x="1128384" y="14519"/>
                </a:lnTo>
                <a:lnTo>
                  <a:pt x="1187491" y="22410"/>
                </a:lnTo>
                <a:lnTo>
                  <a:pt x="1244617" y="31873"/>
                </a:lnTo>
                <a:lnTo>
                  <a:pt x="1299594" y="42841"/>
                </a:lnTo>
                <a:lnTo>
                  <a:pt x="1352252" y="55248"/>
                </a:lnTo>
                <a:lnTo>
                  <a:pt x="1402421" y="69028"/>
                </a:lnTo>
                <a:lnTo>
                  <a:pt x="1449931" y="84114"/>
                </a:lnTo>
                <a:lnTo>
                  <a:pt x="1494615" y="100441"/>
                </a:lnTo>
                <a:lnTo>
                  <a:pt x="1536301" y="117941"/>
                </a:lnTo>
                <a:lnTo>
                  <a:pt x="1574822" y="136548"/>
                </a:lnTo>
                <a:lnTo>
                  <a:pt x="1610006" y="156196"/>
                </a:lnTo>
                <a:lnTo>
                  <a:pt x="1669691" y="198351"/>
                </a:lnTo>
                <a:lnTo>
                  <a:pt x="1714001" y="243873"/>
                </a:lnTo>
                <a:lnTo>
                  <a:pt x="1741581" y="292233"/>
                </a:lnTo>
                <a:lnTo>
                  <a:pt x="1751076" y="342900"/>
                </a:lnTo>
                <a:lnTo>
                  <a:pt x="1748674" y="368488"/>
                </a:lnTo>
                <a:lnTo>
                  <a:pt x="1729967" y="418067"/>
                </a:lnTo>
                <a:lnTo>
                  <a:pt x="1693853" y="465075"/>
                </a:lnTo>
                <a:lnTo>
                  <a:pt x="1641686" y="508980"/>
                </a:lnTo>
                <a:lnTo>
                  <a:pt x="1574822" y="549251"/>
                </a:lnTo>
                <a:lnTo>
                  <a:pt x="1536301" y="567858"/>
                </a:lnTo>
                <a:lnTo>
                  <a:pt x="1494615" y="585358"/>
                </a:lnTo>
                <a:lnTo>
                  <a:pt x="1449931" y="601685"/>
                </a:lnTo>
                <a:lnTo>
                  <a:pt x="1402421" y="616771"/>
                </a:lnTo>
                <a:lnTo>
                  <a:pt x="1352252" y="630551"/>
                </a:lnTo>
                <a:lnTo>
                  <a:pt x="1299594" y="642958"/>
                </a:lnTo>
                <a:lnTo>
                  <a:pt x="1244617" y="653926"/>
                </a:lnTo>
                <a:lnTo>
                  <a:pt x="1187491" y="663389"/>
                </a:lnTo>
                <a:lnTo>
                  <a:pt x="1128384" y="671280"/>
                </a:lnTo>
                <a:lnTo>
                  <a:pt x="1067465" y="677533"/>
                </a:lnTo>
                <a:lnTo>
                  <a:pt x="1004905" y="682081"/>
                </a:lnTo>
                <a:lnTo>
                  <a:pt x="940873" y="684859"/>
                </a:lnTo>
                <a:lnTo>
                  <a:pt x="875538" y="685800"/>
                </a:lnTo>
                <a:lnTo>
                  <a:pt x="810202" y="684859"/>
                </a:lnTo>
                <a:lnTo>
                  <a:pt x="746170" y="682081"/>
                </a:lnTo>
                <a:lnTo>
                  <a:pt x="683610" y="677533"/>
                </a:lnTo>
                <a:lnTo>
                  <a:pt x="622691" y="671280"/>
                </a:lnTo>
                <a:lnTo>
                  <a:pt x="563584" y="663389"/>
                </a:lnTo>
                <a:lnTo>
                  <a:pt x="506458" y="653926"/>
                </a:lnTo>
                <a:lnTo>
                  <a:pt x="451481" y="642958"/>
                </a:lnTo>
                <a:lnTo>
                  <a:pt x="398823" y="630551"/>
                </a:lnTo>
                <a:lnTo>
                  <a:pt x="348654" y="616771"/>
                </a:lnTo>
                <a:lnTo>
                  <a:pt x="301144" y="601685"/>
                </a:lnTo>
                <a:lnTo>
                  <a:pt x="256460" y="585358"/>
                </a:lnTo>
                <a:lnTo>
                  <a:pt x="214774" y="567858"/>
                </a:lnTo>
                <a:lnTo>
                  <a:pt x="176253" y="549251"/>
                </a:lnTo>
                <a:lnTo>
                  <a:pt x="141069" y="529603"/>
                </a:lnTo>
                <a:lnTo>
                  <a:pt x="81384" y="487448"/>
                </a:lnTo>
                <a:lnTo>
                  <a:pt x="37074" y="441926"/>
                </a:lnTo>
                <a:lnTo>
                  <a:pt x="9494" y="393566"/>
                </a:lnTo>
                <a:lnTo>
                  <a:pt x="0" y="3429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66971" y="3669791"/>
            <a:ext cx="1097279" cy="13411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28971" y="3669791"/>
            <a:ext cx="1402079" cy="13411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00150" y="3830192"/>
            <a:ext cx="6251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536065" algn="l"/>
                <a:tab pos="2298065" algn="l"/>
                <a:tab pos="3342640" algn="l"/>
                <a:tab pos="4104640" algn="l"/>
                <a:tab pos="5171440" algn="l"/>
                <a:tab pos="5933440" algn="l"/>
              </a:tabLst>
            </a:pPr>
            <a:r>
              <a:rPr sz="4800" dirty="0">
                <a:latin typeface="Times New Roman"/>
                <a:cs typeface="Times New Roman"/>
              </a:rPr>
              <a:t>6,	2,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</a:t>
            </a:r>
            <a:r>
              <a:rPr sz="4800" b="1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b="1" dirty="0">
                <a:latin typeface="Times New Roman"/>
                <a:cs typeface="Times New Roman"/>
              </a:rPr>
              <a:t>12</a:t>
            </a:r>
            <a:r>
              <a:rPr sz="4800" dirty="0">
                <a:latin typeface="Times New Roman"/>
                <a:cs typeface="Times New Roman"/>
              </a:rPr>
              <a:t>,	3,	7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29200" y="3886200"/>
            <a:ext cx="1751330" cy="762000"/>
          </a:xfrm>
          <a:custGeom>
            <a:avLst/>
            <a:gdLst/>
            <a:ahLst/>
            <a:cxnLst/>
            <a:rect l="l" t="t" r="r" b="b"/>
            <a:pathLst>
              <a:path w="1751329" h="762000">
                <a:moveTo>
                  <a:pt x="0" y="381000"/>
                </a:moveTo>
                <a:lnTo>
                  <a:pt x="9494" y="324694"/>
                </a:lnTo>
                <a:lnTo>
                  <a:pt x="37074" y="270955"/>
                </a:lnTo>
                <a:lnTo>
                  <a:pt x="81384" y="220372"/>
                </a:lnTo>
                <a:lnTo>
                  <a:pt x="141069" y="173533"/>
                </a:lnTo>
                <a:lnTo>
                  <a:pt x="176253" y="151702"/>
                </a:lnTo>
                <a:lnTo>
                  <a:pt x="214774" y="131028"/>
                </a:lnTo>
                <a:lnTo>
                  <a:pt x="256460" y="111585"/>
                </a:lnTo>
                <a:lnTo>
                  <a:pt x="301144" y="93446"/>
                </a:lnTo>
                <a:lnTo>
                  <a:pt x="348654" y="76685"/>
                </a:lnTo>
                <a:lnTo>
                  <a:pt x="398823" y="61376"/>
                </a:lnTo>
                <a:lnTo>
                  <a:pt x="451481" y="47592"/>
                </a:lnTo>
                <a:lnTo>
                  <a:pt x="506458" y="35408"/>
                </a:lnTo>
                <a:lnTo>
                  <a:pt x="563584" y="24895"/>
                </a:lnTo>
                <a:lnTo>
                  <a:pt x="622691" y="16129"/>
                </a:lnTo>
                <a:lnTo>
                  <a:pt x="683610" y="9183"/>
                </a:lnTo>
                <a:lnTo>
                  <a:pt x="746170" y="4130"/>
                </a:lnTo>
                <a:lnTo>
                  <a:pt x="810202" y="1044"/>
                </a:lnTo>
                <a:lnTo>
                  <a:pt x="875538" y="0"/>
                </a:lnTo>
                <a:lnTo>
                  <a:pt x="940873" y="1044"/>
                </a:lnTo>
                <a:lnTo>
                  <a:pt x="1004905" y="4130"/>
                </a:lnTo>
                <a:lnTo>
                  <a:pt x="1067465" y="9183"/>
                </a:lnTo>
                <a:lnTo>
                  <a:pt x="1128384" y="16129"/>
                </a:lnTo>
                <a:lnTo>
                  <a:pt x="1187491" y="24895"/>
                </a:lnTo>
                <a:lnTo>
                  <a:pt x="1244617" y="35408"/>
                </a:lnTo>
                <a:lnTo>
                  <a:pt x="1299594" y="47592"/>
                </a:lnTo>
                <a:lnTo>
                  <a:pt x="1352252" y="61376"/>
                </a:lnTo>
                <a:lnTo>
                  <a:pt x="1402421" y="76685"/>
                </a:lnTo>
                <a:lnTo>
                  <a:pt x="1449931" y="93446"/>
                </a:lnTo>
                <a:lnTo>
                  <a:pt x="1494615" y="111585"/>
                </a:lnTo>
                <a:lnTo>
                  <a:pt x="1536301" y="131028"/>
                </a:lnTo>
                <a:lnTo>
                  <a:pt x="1574822" y="151702"/>
                </a:lnTo>
                <a:lnTo>
                  <a:pt x="1610006" y="173533"/>
                </a:lnTo>
                <a:lnTo>
                  <a:pt x="1641686" y="196447"/>
                </a:lnTo>
                <a:lnTo>
                  <a:pt x="1693853" y="245232"/>
                </a:lnTo>
                <a:lnTo>
                  <a:pt x="1729967" y="297467"/>
                </a:lnTo>
                <a:lnTo>
                  <a:pt x="1748674" y="352563"/>
                </a:lnTo>
                <a:lnTo>
                  <a:pt x="1751076" y="381000"/>
                </a:lnTo>
                <a:lnTo>
                  <a:pt x="1748674" y="409436"/>
                </a:lnTo>
                <a:lnTo>
                  <a:pt x="1729967" y="464532"/>
                </a:lnTo>
                <a:lnTo>
                  <a:pt x="1693853" y="516767"/>
                </a:lnTo>
                <a:lnTo>
                  <a:pt x="1641686" y="565552"/>
                </a:lnTo>
                <a:lnTo>
                  <a:pt x="1610006" y="588466"/>
                </a:lnTo>
                <a:lnTo>
                  <a:pt x="1574822" y="610297"/>
                </a:lnTo>
                <a:lnTo>
                  <a:pt x="1536301" y="630971"/>
                </a:lnTo>
                <a:lnTo>
                  <a:pt x="1494615" y="650414"/>
                </a:lnTo>
                <a:lnTo>
                  <a:pt x="1449931" y="668553"/>
                </a:lnTo>
                <a:lnTo>
                  <a:pt x="1402421" y="685314"/>
                </a:lnTo>
                <a:lnTo>
                  <a:pt x="1352252" y="700623"/>
                </a:lnTo>
                <a:lnTo>
                  <a:pt x="1299594" y="714407"/>
                </a:lnTo>
                <a:lnTo>
                  <a:pt x="1244617" y="726591"/>
                </a:lnTo>
                <a:lnTo>
                  <a:pt x="1187491" y="737104"/>
                </a:lnTo>
                <a:lnTo>
                  <a:pt x="1128384" y="745870"/>
                </a:lnTo>
                <a:lnTo>
                  <a:pt x="1067465" y="752816"/>
                </a:lnTo>
                <a:lnTo>
                  <a:pt x="1004905" y="757869"/>
                </a:lnTo>
                <a:lnTo>
                  <a:pt x="940873" y="760955"/>
                </a:lnTo>
                <a:lnTo>
                  <a:pt x="875538" y="762000"/>
                </a:lnTo>
                <a:lnTo>
                  <a:pt x="810202" y="760955"/>
                </a:lnTo>
                <a:lnTo>
                  <a:pt x="746170" y="757869"/>
                </a:lnTo>
                <a:lnTo>
                  <a:pt x="683610" y="752816"/>
                </a:lnTo>
                <a:lnTo>
                  <a:pt x="622691" y="745870"/>
                </a:lnTo>
                <a:lnTo>
                  <a:pt x="563584" y="737104"/>
                </a:lnTo>
                <a:lnTo>
                  <a:pt x="506458" y="726591"/>
                </a:lnTo>
                <a:lnTo>
                  <a:pt x="451481" y="714407"/>
                </a:lnTo>
                <a:lnTo>
                  <a:pt x="398823" y="700623"/>
                </a:lnTo>
                <a:lnTo>
                  <a:pt x="348654" y="685314"/>
                </a:lnTo>
                <a:lnTo>
                  <a:pt x="301144" y="668553"/>
                </a:lnTo>
                <a:lnTo>
                  <a:pt x="256460" y="650414"/>
                </a:lnTo>
                <a:lnTo>
                  <a:pt x="214774" y="630971"/>
                </a:lnTo>
                <a:lnTo>
                  <a:pt x="176253" y="610297"/>
                </a:lnTo>
                <a:lnTo>
                  <a:pt x="141069" y="588466"/>
                </a:lnTo>
                <a:lnTo>
                  <a:pt x="109389" y="565552"/>
                </a:lnTo>
                <a:lnTo>
                  <a:pt x="57222" y="516767"/>
                </a:lnTo>
                <a:lnTo>
                  <a:pt x="21108" y="464532"/>
                </a:lnTo>
                <a:lnTo>
                  <a:pt x="2401" y="409436"/>
                </a:lnTo>
                <a:lnTo>
                  <a:pt x="0" y="3810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68952" y="5076444"/>
            <a:ext cx="1097279" cy="13411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30952" y="5076444"/>
            <a:ext cx="1402079" cy="13411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40739" y="5236870"/>
            <a:ext cx="62522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5335" algn="l"/>
                <a:tab pos="1538605" algn="l"/>
                <a:tab pos="2301240" algn="l"/>
                <a:tab pos="3347720" algn="l"/>
                <a:tab pos="4105275" algn="l"/>
                <a:tab pos="4867275" algn="l"/>
                <a:tab pos="5934075" algn="l"/>
              </a:tabLst>
            </a:pPr>
            <a:r>
              <a:rPr sz="4800" dirty="0">
                <a:latin typeface="Times New Roman"/>
                <a:cs typeface="Times New Roman"/>
              </a:rPr>
              <a:t>6,	2,	9,	</a:t>
            </a:r>
            <a:r>
              <a:rPr sz="4800" spc="-175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9,	</a:t>
            </a:r>
            <a:r>
              <a:rPr sz="4800" b="1" spc="-5" dirty="0">
                <a:latin typeface="Times New Roman"/>
                <a:cs typeface="Times New Roman"/>
              </a:rPr>
              <a:t>3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b="1" spc="-5" dirty="0">
                <a:latin typeface="Times New Roman"/>
                <a:cs typeface="Times New Roman"/>
              </a:rPr>
              <a:t>12</a:t>
            </a:r>
            <a:r>
              <a:rPr sz="4800" dirty="0">
                <a:latin typeface="Times New Roman"/>
                <a:cs typeface="Times New Roman"/>
              </a:rPr>
              <a:t>,	7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638800" y="5257800"/>
            <a:ext cx="1542415" cy="718185"/>
          </a:xfrm>
          <a:custGeom>
            <a:avLst/>
            <a:gdLst/>
            <a:ahLst/>
            <a:cxnLst/>
            <a:rect l="l" t="t" r="r" b="b"/>
            <a:pathLst>
              <a:path w="1542415" h="718185">
                <a:moveTo>
                  <a:pt x="0" y="358902"/>
                </a:moveTo>
                <a:lnTo>
                  <a:pt x="10094" y="300678"/>
                </a:lnTo>
                <a:lnTo>
                  <a:pt x="39319" y="245449"/>
                </a:lnTo>
                <a:lnTo>
                  <a:pt x="86085" y="193952"/>
                </a:lnTo>
                <a:lnTo>
                  <a:pt x="148803" y="146925"/>
                </a:lnTo>
                <a:lnTo>
                  <a:pt x="185648" y="125319"/>
                </a:lnTo>
                <a:lnTo>
                  <a:pt x="225885" y="105108"/>
                </a:lnTo>
                <a:lnTo>
                  <a:pt x="269316" y="86383"/>
                </a:lnTo>
                <a:lnTo>
                  <a:pt x="315742" y="69238"/>
                </a:lnTo>
                <a:lnTo>
                  <a:pt x="364964" y="53764"/>
                </a:lnTo>
                <a:lnTo>
                  <a:pt x="416785" y="40054"/>
                </a:lnTo>
                <a:lnTo>
                  <a:pt x="471005" y="28199"/>
                </a:lnTo>
                <a:lnTo>
                  <a:pt x="527425" y="18294"/>
                </a:lnTo>
                <a:lnTo>
                  <a:pt x="585848" y="10428"/>
                </a:lnTo>
                <a:lnTo>
                  <a:pt x="646075" y="4696"/>
                </a:lnTo>
                <a:lnTo>
                  <a:pt x="707906" y="1189"/>
                </a:lnTo>
                <a:lnTo>
                  <a:pt x="771144" y="0"/>
                </a:lnTo>
                <a:lnTo>
                  <a:pt x="834381" y="1189"/>
                </a:lnTo>
                <a:lnTo>
                  <a:pt x="896212" y="4696"/>
                </a:lnTo>
                <a:lnTo>
                  <a:pt x="956439" y="10428"/>
                </a:lnTo>
                <a:lnTo>
                  <a:pt x="1014862" y="18294"/>
                </a:lnTo>
                <a:lnTo>
                  <a:pt x="1071282" y="28199"/>
                </a:lnTo>
                <a:lnTo>
                  <a:pt x="1125502" y="40054"/>
                </a:lnTo>
                <a:lnTo>
                  <a:pt x="1177323" y="53764"/>
                </a:lnTo>
                <a:lnTo>
                  <a:pt x="1226545" y="69238"/>
                </a:lnTo>
                <a:lnTo>
                  <a:pt x="1272971" y="86383"/>
                </a:lnTo>
                <a:lnTo>
                  <a:pt x="1316402" y="105108"/>
                </a:lnTo>
                <a:lnTo>
                  <a:pt x="1356639" y="125319"/>
                </a:lnTo>
                <a:lnTo>
                  <a:pt x="1393484" y="146925"/>
                </a:lnTo>
                <a:lnTo>
                  <a:pt x="1426738" y="169834"/>
                </a:lnTo>
                <a:lnTo>
                  <a:pt x="1481679" y="219188"/>
                </a:lnTo>
                <a:lnTo>
                  <a:pt x="1519873" y="272643"/>
                </a:lnTo>
                <a:lnTo>
                  <a:pt x="1539731" y="329462"/>
                </a:lnTo>
                <a:lnTo>
                  <a:pt x="1542288" y="358902"/>
                </a:lnTo>
                <a:lnTo>
                  <a:pt x="1539731" y="388338"/>
                </a:lnTo>
                <a:lnTo>
                  <a:pt x="1519873" y="445152"/>
                </a:lnTo>
                <a:lnTo>
                  <a:pt x="1481679" y="498605"/>
                </a:lnTo>
                <a:lnTo>
                  <a:pt x="1426738" y="547958"/>
                </a:lnTo>
                <a:lnTo>
                  <a:pt x="1393484" y="570867"/>
                </a:lnTo>
                <a:lnTo>
                  <a:pt x="1356639" y="592473"/>
                </a:lnTo>
                <a:lnTo>
                  <a:pt x="1316402" y="612686"/>
                </a:lnTo>
                <a:lnTo>
                  <a:pt x="1272971" y="631411"/>
                </a:lnTo>
                <a:lnTo>
                  <a:pt x="1226545" y="648558"/>
                </a:lnTo>
                <a:lnTo>
                  <a:pt x="1177323" y="664033"/>
                </a:lnTo>
                <a:lnTo>
                  <a:pt x="1125502" y="677745"/>
                </a:lnTo>
                <a:lnTo>
                  <a:pt x="1071282" y="689600"/>
                </a:lnTo>
                <a:lnTo>
                  <a:pt x="1014862" y="699507"/>
                </a:lnTo>
                <a:lnTo>
                  <a:pt x="956439" y="707373"/>
                </a:lnTo>
                <a:lnTo>
                  <a:pt x="896212" y="713106"/>
                </a:lnTo>
                <a:lnTo>
                  <a:pt x="834381" y="716614"/>
                </a:lnTo>
                <a:lnTo>
                  <a:pt x="771144" y="717804"/>
                </a:lnTo>
                <a:lnTo>
                  <a:pt x="707906" y="716614"/>
                </a:lnTo>
                <a:lnTo>
                  <a:pt x="646075" y="713106"/>
                </a:lnTo>
                <a:lnTo>
                  <a:pt x="585848" y="707373"/>
                </a:lnTo>
                <a:lnTo>
                  <a:pt x="527425" y="699507"/>
                </a:lnTo>
                <a:lnTo>
                  <a:pt x="471005" y="689600"/>
                </a:lnTo>
                <a:lnTo>
                  <a:pt x="416785" y="677745"/>
                </a:lnTo>
                <a:lnTo>
                  <a:pt x="364964" y="664033"/>
                </a:lnTo>
                <a:lnTo>
                  <a:pt x="315742" y="648558"/>
                </a:lnTo>
                <a:lnTo>
                  <a:pt x="269316" y="631411"/>
                </a:lnTo>
                <a:lnTo>
                  <a:pt x="225885" y="612686"/>
                </a:lnTo>
                <a:lnTo>
                  <a:pt x="185648" y="592473"/>
                </a:lnTo>
                <a:lnTo>
                  <a:pt x="148803" y="570867"/>
                </a:lnTo>
                <a:lnTo>
                  <a:pt x="115549" y="547958"/>
                </a:lnTo>
                <a:lnTo>
                  <a:pt x="60608" y="498605"/>
                </a:lnTo>
                <a:lnTo>
                  <a:pt x="22414" y="445152"/>
                </a:lnTo>
                <a:lnTo>
                  <a:pt x="2556" y="388338"/>
                </a:lnTo>
                <a:lnTo>
                  <a:pt x="0" y="358902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1352" y="1901951"/>
            <a:ext cx="5647944" cy="4739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8200" y="1854707"/>
            <a:ext cx="5647944" cy="6492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41247" y="1831848"/>
            <a:ext cx="5636260" cy="46228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332105" indent="-241300">
              <a:lnSpc>
                <a:spcPct val="100000"/>
              </a:lnSpc>
              <a:spcBef>
                <a:spcPts val="25"/>
              </a:spcBef>
              <a:buSzPct val="95833"/>
              <a:buFont typeface="Wingdings"/>
              <a:buChar char=""/>
              <a:tabLst>
                <a:tab pos="332740" algn="l"/>
              </a:tabLst>
            </a:pP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dirty="0">
                <a:latin typeface="Perpetua"/>
                <a:cs typeface="Perpetua"/>
              </a:rPr>
              <a:t>12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spc="-25" dirty="0">
                <a:latin typeface="Perpetua"/>
                <a:cs typeface="Perpetua"/>
              </a:rPr>
              <a:t>larger </a:t>
            </a:r>
            <a:r>
              <a:rPr sz="2400" i="1" dirty="0">
                <a:latin typeface="Perpetua"/>
                <a:cs typeface="Perpetua"/>
              </a:rPr>
              <a:t>than the 11 so they </a:t>
            </a:r>
            <a:r>
              <a:rPr sz="2400" i="1" spc="-10" dirty="0">
                <a:latin typeface="Perpetua"/>
                <a:cs typeface="Perpetua"/>
              </a:rPr>
              <a:t>are</a:t>
            </a:r>
            <a:r>
              <a:rPr sz="2400" i="1" spc="-70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exchanged.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1352" y="3308603"/>
            <a:ext cx="5647944" cy="47396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8200" y="3261359"/>
            <a:ext cx="5622036" cy="64922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41247" y="3238500"/>
            <a:ext cx="5636260" cy="46228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332105" indent="-241300">
              <a:lnSpc>
                <a:spcPct val="100000"/>
              </a:lnSpc>
              <a:spcBef>
                <a:spcPts val="25"/>
              </a:spcBef>
              <a:buSzPct val="95833"/>
              <a:buFont typeface="Wingdings"/>
              <a:buChar char=""/>
              <a:tabLst>
                <a:tab pos="332740" algn="l"/>
              </a:tabLst>
            </a:pP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dirty="0">
                <a:latin typeface="Perpetua"/>
                <a:cs typeface="Perpetua"/>
              </a:rPr>
              <a:t>12 </a:t>
            </a:r>
            <a:r>
              <a:rPr sz="2400" i="1" spc="-5" dirty="0">
                <a:latin typeface="Perpetua"/>
                <a:cs typeface="Perpetua"/>
              </a:rPr>
              <a:t>is greater than </a:t>
            </a:r>
            <a:r>
              <a:rPr sz="2400" i="1" dirty="0">
                <a:latin typeface="Perpetua"/>
                <a:cs typeface="Perpetua"/>
              </a:rPr>
              <a:t>the 9 so they </a:t>
            </a:r>
            <a:r>
              <a:rPr sz="2400" i="1" spc="-15" dirty="0">
                <a:latin typeface="Perpetua"/>
                <a:cs typeface="Perpetua"/>
              </a:rPr>
              <a:t>are</a:t>
            </a:r>
            <a:r>
              <a:rPr sz="2400" i="1" spc="-7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exchanged.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2103" y="4797552"/>
            <a:ext cx="5650992" cy="47396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58951" y="4751832"/>
            <a:ext cx="5622036" cy="6477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62000" y="4727447"/>
            <a:ext cx="5638800" cy="46228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331470" indent="-240665">
              <a:lnSpc>
                <a:spcPct val="100000"/>
              </a:lnSpc>
              <a:spcBef>
                <a:spcPts val="35"/>
              </a:spcBef>
              <a:buSzPct val="95833"/>
              <a:buFont typeface="Wingdings"/>
              <a:buChar char=""/>
              <a:tabLst>
                <a:tab pos="332105" algn="l"/>
              </a:tabLst>
            </a:pP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dirty="0">
                <a:latin typeface="Perpetua"/>
                <a:cs typeface="Perpetua"/>
              </a:rPr>
              <a:t>12 </a:t>
            </a:r>
            <a:r>
              <a:rPr sz="2400" i="1" spc="-5" dirty="0">
                <a:latin typeface="Perpetua"/>
                <a:cs typeface="Perpetua"/>
              </a:rPr>
              <a:t>is greater </a:t>
            </a:r>
            <a:r>
              <a:rPr sz="2400" i="1" dirty="0">
                <a:latin typeface="Perpetua"/>
                <a:cs typeface="Perpetua"/>
              </a:rPr>
              <a:t>than the 3 so they </a:t>
            </a:r>
            <a:r>
              <a:rPr sz="2400" i="1" spc="-10" dirty="0">
                <a:latin typeface="Perpetua"/>
                <a:cs typeface="Perpetua"/>
              </a:rPr>
              <a:t>are</a:t>
            </a:r>
            <a:r>
              <a:rPr sz="2400" i="1" spc="-8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exchanged.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11352" y="6121908"/>
            <a:ext cx="5571744" cy="47396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8200" y="6076188"/>
            <a:ext cx="5622036" cy="6477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41247" y="6051803"/>
            <a:ext cx="5560060" cy="46228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332105" indent="-241300">
              <a:lnSpc>
                <a:spcPct val="100000"/>
              </a:lnSpc>
              <a:spcBef>
                <a:spcPts val="35"/>
              </a:spcBef>
              <a:buSzPct val="95833"/>
              <a:buFont typeface="Wingdings"/>
              <a:buChar char=""/>
              <a:tabLst>
                <a:tab pos="332740" algn="l"/>
              </a:tabLst>
            </a:pP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dirty="0">
                <a:latin typeface="Perpetua"/>
                <a:cs typeface="Perpetua"/>
              </a:rPr>
              <a:t>12 </a:t>
            </a:r>
            <a:r>
              <a:rPr sz="2400" i="1" spc="-5" dirty="0">
                <a:latin typeface="Perpetua"/>
                <a:cs typeface="Perpetua"/>
              </a:rPr>
              <a:t>is greater </a:t>
            </a:r>
            <a:r>
              <a:rPr sz="2400" i="1" dirty="0">
                <a:latin typeface="Perpetua"/>
                <a:cs typeface="Perpetua"/>
              </a:rPr>
              <a:t>than the 7 so they </a:t>
            </a:r>
            <a:r>
              <a:rPr sz="2400" i="1" spc="-15" dirty="0">
                <a:latin typeface="Perpetua"/>
                <a:cs typeface="Perpetua"/>
              </a:rPr>
              <a:t>are</a:t>
            </a:r>
            <a:r>
              <a:rPr sz="2400" i="1" spc="-8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exchanged.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9740" y="129286"/>
            <a:ext cx="36607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Perpetua"/>
                <a:cs typeface="Perpetua"/>
              </a:rPr>
              <a:t>Bubble </a:t>
            </a:r>
            <a:r>
              <a:rPr sz="4000" spc="35" dirty="0">
                <a:latin typeface="Perpetua"/>
                <a:cs typeface="Perpetua"/>
              </a:rPr>
              <a:t>Sort</a:t>
            </a:r>
            <a:r>
              <a:rPr sz="4000" spc="-60" dirty="0">
                <a:latin typeface="Perpetua"/>
                <a:cs typeface="Perpetua"/>
              </a:rPr>
              <a:t> </a:t>
            </a:r>
            <a:r>
              <a:rPr sz="4000" i="1" spc="-5" dirty="0">
                <a:latin typeface="Perpetua"/>
                <a:cs typeface="Perpetua"/>
              </a:rPr>
              <a:t>contd</a:t>
            </a:r>
            <a:r>
              <a:rPr sz="4000" spc="-5" dirty="0">
                <a:latin typeface="Perpetua"/>
                <a:cs typeface="Perpetua"/>
              </a:rPr>
              <a:t>---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5904" y="2432304"/>
            <a:ext cx="7860792" cy="37048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53795" y="2377439"/>
            <a:ext cx="8078724" cy="26837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5800" y="2362200"/>
            <a:ext cx="7848600" cy="3693160"/>
          </a:xfrm>
          <a:custGeom>
            <a:avLst/>
            <a:gdLst/>
            <a:ahLst/>
            <a:cxnLst/>
            <a:rect l="l" t="t" r="r" b="b"/>
            <a:pathLst>
              <a:path w="7848600" h="3693160">
                <a:moveTo>
                  <a:pt x="0" y="3692652"/>
                </a:moveTo>
                <a:lnTo>
                  <a:pt x="7848600" y="3692652"/>
                </a:lnTo>
                <a:lnTo>
                  <a:pt x="7848600" y="0"/>
                </a:lnTo>
                <a:lnTo>
                  <a:pt x="0" y="0"/>
                </a:lnTo>
                <a:lnTo>
                  <a:pt x="0" y="369265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4540" y="2348611"/>
            <a:ext cx="7626984" cy="3040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03530">
              <a:lnSpc>
                <a:spcPct val="100000"/>
              </a:lnSpc>
              <a:spcBef>
                <a:spcPts val="105"/>
              </a:spcBef>
              <a:buSzPct val="96153"/>
              <a:buFont typeface="Wingdings"/>
              <a:buChar char=""/>
              <a:tabLst>
                <a:tab pos="273685" algn="l"/>
              </a:tabLst>
            </a:pPr>
            <a:r>
              <a:rPr sz="2600" dirty="0">
                <a:latin typeface="Perpetua"/>
                <a:cs typeface="Perpetua"/>
              </a:rPr>
              <a:t>The end of the </a:t>
            </a:r>
            <a:r>
              <a:rPr sz="2600" spc="-5" dirty="0">
                <a:latin typeface="Perpetua"/>
                <a:cs typeface="Perpetua"/>
              </a:rPr>
              <a:t>list </a:t>
            </a:r>
            <a:r>
              <a:rPr sz="2600" dirty="0">
                <a:latin typeface="Perpetua"/>
                <a:cs typeface="Perpetua"/>
              </a:rPr>
              <a:t>has been reached so this is the </a:t>
            </a:r>
            <a:r>
              <a:rPr sz="2600" spc="-5" dirty="0">
                <a:latin typeface="Perpetua"/>
                <a:cs typeface="Perpetua"/>
              </a:rPr>
              <a:t>end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10" dirty="0">
                <a:latin typeface="Perpetua"/>
                <a:cs typeface="Perpetua"/>
              </a:rPr>
              <a:t>first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pass.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Wingdings"/>
              <a:buChar char=""/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"/>
            </a:pP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buSzPct val="96153"/>
              <a:buFont typeface="Wingdings"/>
              <a:buChar char=""/>
              <a:tabLst>
                <a:tab pos="273685" algn="l"/>
              </a:tabLst>
            </a:pPr>
            <a:r>
              <a:rPr sz="2600" dirty="0">
                <a:latin typeface="Perpetua"/>
                <a:cs typeface="Perpetua"/>
              </a:rPr>
              <a:t>The 12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 end of </a:t>
            </a:r>
            <a:r>
              <a:rPr sz="2600" spc="-5" dirty="0">
                <a:latin typeface="Perpetua"/>
                <a:cs typeface="Perpetua"/>
              </a:rPr>
              <a:t>the list must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largest number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5" dirty="0">
                <a:latin typeface="Perpetua"/>
                <a:cs typeface="Perpetua"/>
              </a:rPr>
              <a:t>list  and </a:t>
            </a:r>
            <a:r>
              <a:rPr sz="2600" dirty="0">
                <a:latin typeface="Perpetua"/>
                <a:cs typeface="Perpetua"/>
              </a:rPr>
              <a:t>so is </a:t>
            </a:r>
            <a:r>
              <a:rPr sz="2600" spc="-30" dirty="0">
                <a:latin typeface="Perpetua"/>
                <a:cs typeface="Perpetua"/>
              </a:rPr>
              <a:t>now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5" dirty="0">
                <a:latin typeface="Perpetua"/>
                <a:cs typeface="Perpetua"/>
              </a:rPr>
              <a:t>correct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position.</a:t>
            </a:r>
            <a:endParaRPr sz="2600">
              <a:latin typeface="Perpetua"/>
              <a:cs typeface="Perpetua"/>
            </a:endParaRPr>
          </a:p>
          <a:p>
            <a:pPr marL="368300" lvl="1" indent="-280035">
              <a:lnSpc>
                <a:spcPct val="100000"/>
              </a:lnSpc>
              <a:spcBef>
                <a:spcPts val="1650"/>
              </a:spcBef>
              <a:buSzPct val="96428"/>
              <a:buFont typeface="Wingdings"/>
              <a:buChar char=""/>
              <a:tabLst>
                <a:tab pos="368935" algn="l"/>
              </a:tabLst>
            </a:pPr>
            <a:r>
              <a:rPr sz="2800" b="1" i="1" spc="-185" dirty="0">
                <a:latin typeface="Perpetua"/>
                <a:cs typeface="Perpetua"/>
              </a:rPr>
              <a:t>We </a:t>
            </a:r>
            <a:r>
              <a:rPr sz="2800" b="1" i="1" spc="-25" dirty="0">
                <a:latin typeface="Perpetua"/>
                <a:cs typeface="Perpetua"/>
              </a:rPr>
              <a:t>now </a:t>
            </a:r>
            <a:r>
              <a:rPr sz="2800" b="1" i="1" dirty="0">
                <a:latin typeface="Perpetua"/>
                <a:cs typeface="Perpetua"/>
              </a:rPr>
              <a:t>start </a:t>
            </a:r>
            <a:r>
              <a:rPr sz="2800" b="1" i="1" spc="-5" dirty="0">
                <a:latin typeface="Perpetua"/>
                <a:cs typeface="Perpetua"/>
              </a:rPr>
              <a:t>a </a:t>
            </a:r>
            <a:r>
              <a:rPr sz="2800" b="1" i="1" spc="-20" dirty="0">
                <a:latin typeface="Perpetua"/>
                <a:cs typeface="Perpetua"/>
              </a:rPr>
              <a:t>new </a:t>
            </a:r>
            <a:r>
              <a:rPr sz="2800" b="1" i="1" spc="-10" dirty="0">
                <a:latin typeface="Perpetua"/>
                <a:cs typeface="Perpetua"/>
              </a:rPr>
              <a:t>pass </a:t>
            </a:r>
            <a:r>
              <a:rPr sz="2800" b="1" i="1" spc="-15" dirty="0">
                <a:latin typeface="Perpetua"/>
                <a:cs typeface="Perpetua"/>
              </a:rPr>
              <a:t>from </a:t>
            </a:r>
            <a:r>
              <a:rPr sz="2800" b="1" i="1" spc="-5" dirty="0">
                <a:latin typeface="Perpetua"/>
                <a:cs typeface="Perpetua"/>
              </a:rPr>
              <a:t>left to</a:t>
            </a:r>
            <a:r>
              <a:rPr sz="2800" b="1" i="1" spc="-190" dirty="0">
                <a:latin typeface="Perpetua"/>
                <a:cs typeface="Perpetua"/>
              </a:rPr>
              <a:t> </a:t>
            </a:r>
            <a:r>
              <a:rPr sz="2800" b="1" i="1" spc="-5" dirty="0">
                <a:latin typeface="Perpetua"/>
                <a:cs typeface="Perpetua"/>
              </a:rPr>
              <a:t>right.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30952" y="1223772"/>
            <a:ext cx="1097279" cy="13411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92952" y="1223772"/>
            <a:ext cx="1402079" cy="13411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7340" y="514087"/>
            <a:ext cx="6786245" cy="162687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4000" spc="-20" dirty="0">
                <a:latin typeface="Perpetua"/>
                <a:cs typeface="Perpetua"/>
              </a:rPr>
              <a:t>Bubble </a:t>
            </a:r>
            <a:r>
              <a:rPr sz="4000" spc="35" dirty="0">
                <a:latin typeface="Perpetua"/>
                <a:cs typeface="Perpetua"/>
              </a:rPr>
              <a:t>Sort</a:t>
            </a:r>
            <a:r>
              <a:rPr sz="4000" spc="5" dirty="0">
                <a:latin typeface="Perpetua"/>
                <a:cs typeface="Perpetua"/>
              </a:rPr>
              <a:t> </a:t>
            </a:r>
            <a:r>
              <a:rPr sz="4000" i="1" spc="-5" dirty="0">
                <a:latin typeface="Perpetua"/>
                <a:cs typeface="Perpetua"/>
              </a:rPr>
              <a:t>contd</a:t>
            </a:r>
            <a:r>
              <a:rPr sz="4000" spc="-5" dirty="0">
                <a:latin typeface="Perpetua"/>
                <a:cs typeface="Perpetua"/>
              </a:rPr>
              <a:t>---</a:t>
            </a:r>
            <a:endParaRPr sz="4000">
              <a:latin typeface="Perpetua"/>
              <a:cs typeface="Perpetua"/>
            </a:endParaRPr>
          </a:p>
          <a:p>
            <a:pPr marL="546100">
              <a:lnSpc>
                <a:spcPct val="100000"/>
              </a:lnSpc>
              <a:spcBef>
                <a:spcPts val="1120"/>
              </a:spcBef>
              <a:tabLst>
                <a:tab pos="1308735" algn="l"/>
                <a:tab pos="2072005" algn="l"/>
                <a:tab pos="2835275" algn="l"/>
                <a:tab pos="3881120" algn="l"/>
                <a:tab pos="4644390" algn="l"/>
                <a:tab pos="5400675" algn="l"/>
                <a:tab pos="6162675" algn="l"/>
              </a:tabLst>
            </a:pPr>
            <a:r>
              <a:rPr dirty="0"/>
              <a:t>6,	2,	9,	</a:t>
            </a:r>
            <a:r>
              <a:rPr spc="-180" dirty="0"/>
              <a:t>1</a:t>
            </a:r>
            <a:r>
              <a:rPr dirty="0"/>
              <a:t>1,	9,	3,	</a:t>
            </a:r>
            <a:r>
              <a:rPr b="1" dirty="0">
                <a:latin typeface="Times New Roman"/>
                <a:cs typeface="Times New Roman"/>
              </a:rPr>
              <a:t>7</a:t>
            </a:r>
            <a:r>
              <a:rPr dirty="0"/>
              <a:t>,	</a:t>
            </a:r>
            <a:r>
              <a:rPr b="1" dirty="0">
                <a:latin typeface="Times New Roman"/>
                <a:cs typeface="Times New Roman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2894" y="3215850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329940" algn="l"/>
                <a:tab pos="4091940" algn="l"/>
                <a:tab pos="4853940" algn="l"/>
                <a:tab pos="5615940" algn="l"/>
              </a:tabLst>
            </a:pPr>
            <a:r>
              <a:rPr sz="4800" dirty="0">
                <a:latin typeface="Times New Roman"/>
                <a:cs typeface="Times New Roman"/>
              </a:rPr>
              <a:t>6,	2,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9,	3,	7,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72894" y="3215850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329940" algn="l"/>
                <a:tab pos="4091940" algn="l"/>
                <a:tab pos="4853940" algn="l"/>
                <a:tab pos="5615940" algn="l"/>
              </a:tabLst>
            </a:pPr>
            <a:r>
              <a:rPr sz="4800" dirty="0">
                <a:latin typeface="Times New Roman"/>
                <a:cs typeface="Times New Roman"/>
              </a:rPr>
              <a:t>2,	6,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9,	3,	7,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72894" y="3215850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047365" algn="l"/>
                <a:tab pos="4091940" algn="l"/>
                <a:tab pos="4853940" algn="l"/>
                <a:tab pos="5615940" algn="l"/>
              </a:tabLst>
            </a:pPr>
            <a:r>
              <a:rPr sz="4800" dirty="0">
                <a:latin typeface="Times New Roman"/>
                <a:cs typeface="Times New Roman"/>
              </a:rPr>
              <a:t>2,	6,	9,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3,	7,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2894" y="3215850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047365" algn="l"/>
                <a:tab pos="3809365" algn="l"/>
                <a:tab pos="4853940" algn="l"/>
                <a:tab pos="5615940" algn="l"/>
              </a:tabLst>
            </a:pPr>
            <a:r>
              <a:rPr sz="4800" dirty="0">
                <a:latin typeface="Times New Roman"/>
                <a:cs typeface="Times New Roman"/>
              </a:rPr>
              <a:t>2,	6,	9,	9,	3,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7,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81200" y="3124200"/>
            <a:ext cx="6705600" cy="824865"/>
          </a:xfrm>
          <a:custGeom>
            <a:avLst/>
            <a:gdLst/>
            <a:ahLst/>
            <a:cxnLst/>
            <a:rect l="l" t="t" r="r" b="b"/>
            <a:pathLst>
              <a:path w="6705600" h="824864">
                <a:moveTo>
                  <a:pt x="0" y="824483"/>
                </a:moveTo>
                <a:lnTo>
                  <a:pt x="6705600" y="824483"/>
                </a:lnTo>
                <a:lnTo>
                  <a:pt x="6705600" y="0"/>
                </a:lnTo>
                <a:lnTo>
                  <a:pt x="0" y="0"/>
                </a:lnTo>
                <a:lnTo>
                  <a:pt x="0" y="8244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60194" y="3136773"/>
            <a:ext cx="6251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536065" algn="l"/>
                <a:tab pos="2298065" algn="l"/>
                <a:tab pos="3060065" algn="l"/>
                <a:tab pos="3822065" algn="l"/>
                <a:tab pos="4584065" algn="l"/>
                <a:tab pos="5628640" algn="l"/>
              </a:tabLst>
            </a:pPr>
            <a:r>
              <a:rPr sz="4800" dirty="0">
                <a:latin typeface="Times New Roman"/>
                <a:cs typeface="Times New Roman"/>
              </a:rPr>
              <a:t>2,	6,	9,	9,	3,	7,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52600" y="3124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67000" y="3124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9000" y="3124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67200" y="3124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29200" y="3124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91200" y="3124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51304" y="4337303"/>
            <a:ext cx="6565392" cy="1397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64435" y="4290059"/>
            <a:ext cx="6522719" cy="15636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981200" y="4267200"/>
            <a:ext cx="6553200" cy="13855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331470" indent="-240665">
              <a:lnSpc>
                <a:spcPct val="100000"/>
              </a:lnSpc>
              <a:spcBef>
                <a:spcPts val="30"/>
              </a:spcBef>
              <a:buSzPct val="95833"/>
              <a:buFont typeface="Wingdings"/>
              <a:buChar char=""/>
              <a:tabLst>
                <a:tab pos="332105" algn="l"/>
              </a:tabLst>
            </a:pPr>
            <a:r>
              <a:rPr sz="2400" i="1" dirty="0">
                <a:latin typeface="Perpetua"/>
                <a:cs typeface="Perpetua"/>
              </a:rPr>
              <a:t>Notice </a:t>
            </a:r>
            <a:r>
              <a:rPr sz="2400" i="1" spc="-10" dirty="0">
                <a:latin typeface="Perpetua"/>
                <a:cs typeface="Perpetua"/>
              </a:rPr>
              <a:t>that </a:t>
            </a:r>
            <a:r>
              <a:rPr sz="2400" i="1" dirty="0">
                <a:latin typeface="Perpetua"/>
                <a:cs typeface="Perpetua"/>
              </a:rPr>
              <a:t>this time </a:t>
            </a:r>
            <a:r>
              <a:rPr sz="2400" i="1" spc="-20" dirty="0">
                <a:latin typeface="Perpetua"/>
                <a:cs typeface="Perpetua"/>
              </a:rPr>
              <a:t>we </a:t>
            </a:r>
            <a:r>
              <a:rPr sz="2400" i="1" dirty="0">
                <a:latin typeface="Perpetua"/>
                <a:cs typeface="Perpetua"/>
              </a:rPr>
              <a:t>do </a:t>
            </a:r>
            <a:r>
              <a:rPr sz="2400" i="1" spc="-5" dirty="0">
                <a:latin typeface="Perpetua"/>
                <a:cs typeface="Perpetua"/>
              </a:rPr>
              <a:t>not </a:t>
            </a:r>
            <a:r>
              <a:rPr sz="2400" i="1" spc="-35" dirty="0">
                <a:latin typeface="Perpetua"/>
                <a:cs typeface="Perpetua"/>
              </a:rPr>
              <a:t>have </a:t>
            </a:r>
            <a:r>
              <a:rPr sz="2400" i="1" dirty="0">
                <a:latin typeface="Perpetua"/>
                <a:cs typeface="Perpetua"/>
              </a:rPr>
              <a:t>to </a:t>
            </a:r>
            <a:r>
              <a:rPr sz="2400" i="1" spc="-5" dirty="0">
                <a:latin typeface="Perpetua"/>
                <a:cs typeface="Perpetua"/>
              </a:rPr>
              <a:t>compare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last</a:t>
            </a:r>
            <a:r>
              <a:rPr sz="2400" i="1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two</a:t>
            </a:r>
            <a:endParaRPr sz="2400">
              <a:latin typeface="Perpetua"/>
              <a:cs typeface="Perpetua"/>
            </a:endParaRPr>
          </a:p>
          <a:p>
            <a:pPr marL="91440">
              <a:lnSpc>
                <a:spcPct val="100000"/>
              </a:lnSpc>
            </a:pPr>
            <a:r>
              <a:rPr sz="2400" i="1" spc="-5" dirty="0">
                <a:latin typeface="Perpetua"/>
                <a:cs typeface="Perpetua"/>
              </a:rPr>
              <a:t>numbers </a:t>
            </a:r>
            <a:r>
              <a:rPr sz="2400" i="1" dirty="0">
                <a:latin typeface="Perpetua"/>
                <a:cs typeface="Perpetua"/>
              </a:rPr>
              <a:t>as </a:t>
            </a:r>
            <a:r>
              <a:rPr sz="2400" i="1" spc="-15" dirty="0">
                <a:latin typeface="Perpetua"/>
                <a:cs typeface="Perpetua"/>
              </a:rPr>
              <a:t>we know </a:t>
            </a:r>
            <a:r>
              <a:rPr sz="2400" i="1" dirty="0">
                <a:latin typeface="Perpetua"/>
                <a:cs typeface="Perpetua"/>
              </a:rPr>
              <a:t>the 12 </a:t>
            </a:r>
            <a:r>
              <a:rPr sz="2400" i="1" spc="-5" dirty="0">
                <a:latin typeface="Perpetua"/>
                <a:cs typeface="Perpetua"/>
              </a:rPr>
              <a:t>is in </a:t>
            </a:r>
            <a:r>
              <a:rPr sz="2400" i="1" spc="-10" dirty="0">
                <a:latin typeface="Perpetua"/>
                <a:cs typeface="Perpetua"/>
              </a:rPr>
              <a:t>position.</a:t>
            </a:r>
            <a:endParaRPr sz="2400">
              <a:latin typeface="Perpetua"/>
              <a:cs typeface="Perpetua"/>
            </a:endParaRPr>
          </a:p>
          <a:p>
            <a:pPr marL="331470" indent="-240665">
              <a:lnSpc>
                <a:spcPct val="100000"/>
              </a:lnSpc>
              <a:spcBef>
                <a:spcPts val="1440"/>
              </a:spcBef>
              <a:buSzPct val="95833"/>
              <a:buFont typeface="Wingdings"/>
              <a:buChar char=""/>
              <a:tabLst>
                <a:tab pos="332105" algn="l"/>
              </a:tabLst>
            </a:pPr>
            <a:r>
              <a:rPr sz="2400" i="1" spc="-5" dirty="0">
                <a:latin typeface="Perpetua"/>
                <a:cs typeface="Perpetua"/>
              </a:rPr>
              <a:t>This </a:t>
            </a:r>
            <a:r>
              <a:rPr sz="2400" i="1" dirty="0">
                <a:latin typeface="Perpetua"/>
                <a:cs typeface="Perpetua"/>
              </a:rPr>
              <a:t>pass </a:t>
            </a:r>
            <a:r>
              <a:rPr sz="2400" i="1" spc="-15" dirty="0">
                <a:latin typeface="Perpetua"/>
                <a:cs typeface="Perpetua"/>
              </a:rPr>
              <a:t>therefore only </a:t>
            </a:r>
            <a:r>
              <a:rPr sz="2400" i="1" spc="-10" dirty="0">
                <a:latin typeface="Perpetua"/>
                <a:cs typeface="Perpetua"/>
              </a:rPr>
              <a:t>requires </a:t>
            </a:r>
            <a:r>
              <a:rPr sz="2400" i="1" dirty="0">
                <a:latin typeface="Perpetua"/>
                <a:cs typeface="Perpetua"/>
              </a:rPr>
              <a:t>6</a:t>
            </a:r>
            <a:r>
              <a:rPr sz="2400" i="1" spc="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comparisons.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2940" y="1764919"/>
            <a:ext cx="76739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409700" algn="l"/>
                <a:tab pos="2171700" algn="l"/>
                <a:tab pos="2933700" algn="l"/>
                <a:tab pos="3695700" algn="l"/>
                <a:tab pos="4739640" algn="l"/>
                <a:tab pos="5501640" algn="l"/>
                <a:tab pos="6263640" algn="l"/>
                <a:tab pos="7025640" algn="l"/>
              </a:tabLst>
            </a:pPr>
            <a:r>
              <a:rPr sz="3600" spc="-7" baseline="18518" dirty="0">
                <a:latin typeface="Times New Roman"/>
                <a:cs typeface="Times New Roman"/>
              </a:rPr>
              <a:t>First</a:t>
            </a:r>
            <a:r>
              <a:rPr sz="3600" spc="7" baseline="18518" dirty="0">
                <a:latin typeface="Times New Roman"/>
                <a:cs typeface="Times New Roman"/>
              </a:rPr>
              <a:t> </a:t>
            </a:r>
            <a:r>
              <a:rPr sz="3600" spc="-7" baseline="18518" dirty="0">
                <a:latin typeface="Times New Roman"/>
                <a:cs typeface="Times New Roman"/>
              </a:rPr>
              <a:t>Pass	</a:t>
            </a:r>
            <a:r>
              <a:rPr sz="4800" dirty="0">
                <a:latin typeface="Times New Roman"/>
                <a:cs typeface="Times New Roman"/>
              </a:rPr>
              <a:t>6,	2,	9,	</a:t>
            </a:r>
            <a:r>
              <a:rPr sz="4800" spc="-60" dirty="0">
                <a:latin typeface="Times New Roman"/>
                <a:cs typeface="Times New Roman"/>
              </a:rPr>
              <a:t>11,	</a:t>
            </a:r>
            <a:r>
              <a:rPr sz="4800" dirty="0">
                <a:latin typeface="Times New Roman"/>
                <a:cs typeface="Times New Roman"/>
              </a:rPr>
              <a:t>9,	3,	7,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0862" y="2956382"/>
            <a:ext cx="1541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Second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7047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Perpetua"/>
                <a:cs typeface="Perpetua"/>
              </a:rPr>
              <a:t>Bubble </a:t>
            </a:r>
            <a:r>
              <a:rPr sz="4000" spc="35" dirty="0">
                <a:latin typeface="Perpetua"/>
                <a:cs typeface="Perpetua"/>
              </a:rPr>
              <a:t>Sort </a:t>
            </a:r>
            <a:r>
              <a:rPr sz="4000" spc="-5" dirty="0">
                <a:latin typeface="Perpetua"/>
                <a:cs typeface="Perpetua"/>
              </a:rPr>
              <a:t>: Second</a:t>
            </a:r>
            <a:r>
              <a:rPr sz="4000" spc="-23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pass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662" y="2803982"/>
            <a:ext cx="15411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Second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4085" y="3566541"/>
            <a:ext cx="1322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Third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6694" y="3901378"/>
            <a:ext cx="6225540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40"/>
              </a:lnSpc>
              <a:tabLst>
                <a:tab pos="761365" algn="l"/>
                <a:tab pos="1523365" algn="l"/>
                <a:tab pos="2284730" algn="l"/>
                <a:tab pos="3046730" algn="l"/>
                <a:tab pos="3808729" algn="l"/>
                <a:tab pos="4570095" algn="l"/>
                <a:tab pos="5615305" algn="l"/>
              </a:tabLst>
            </a:pPr>
            <a:r>
              <a:rPr sz="4800" spc="-5" dirty="0">
                <a:latin typeface="Times New Roman"/>
                <a:cs typeface="Times New Roman"/>
              </a:rPr>
              <a:t>2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6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3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7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170" dirty="0">
                <a:latin typeface="Times New Roman"/>
                <a:cs typeface="Times New Roman"/>
              </a:rPr>
              <a:t>1</a:t>
            </a:r>
            <a:r>
              <a:rPr sz="4800" spc="-5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6694" y="3901378"/>
            <a:ext cx="6225540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40"/>
              </a:lnSpc>
              <a:tabLst>
                <a:tab pos="761365" algn="l"/>
                <a:tab pos="1523365" algn="l"/>
                <a:tab pos="2284730" algn="l"/>
                <a:tab pos="3046730" algn="l"/>
                <a:tab pos="3808729" algn="l"/>
                <a:tab pos="4570095" algn="l"/>
                <a:tab pos="5615305" algn="l"/>
              </a:tabLst>
            </a:pPr>
            <a:r>
              <a:rPr sz="4800" spc="-5" dirty="0">
                <a:latin typeface="Times New Roman"/>
                <a:cs typeface="Times New Roman"/>
              </a:rPr>
              <a:t>2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6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3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7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170" dirty="0">
                <a:latin typeface="Times New Roman"/>
                <a:cs typeface="Times New Roman"/>
              </a:rPr>
              <a:t>1</a:t>
            </a:r>
            <a:r>
              <a:rPr sz="4800" spc="-5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05000" y="3810000"/>
            <a:ext cx="6705600" cy="824865"/>
          </a:xfrm>
          <a:custGeom>
            <a:avLst/>
            <a:gdLst/>
            <a:ahLst/>
            <a:cxnLst/>
            <a:rect l="l" t="t" r="r" b="b"/>
            <a:pathLst>
              <a:path w="6705600" h="824864">
                <a:moveTo>
                  <a:pt x="0" y="824483"/>
                </a:moveTo>
                <a:lnTo>
                  <a:pt x="6705600" y="824483"/>
                </a:lnTo>
                <a:lnTo>
                  <a:pt x="6705600" y="0"/>
                </a:lnTo>
                <a:lnTo>
                  <a:pt x="0" y="0"/>
                </a:lnTo>
                <a:lnTo>
                  <a:pt x="0" y="8244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83994" y="3822268"/>
            <a:ext cx="62509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536065" algn="l"/>
                <a:tab pos="2297430" algn="l"/>
                <a:tab pos="3059430" algn="l"/>
                <a:tab pos="3821429" algn="l"/>
                <a:tab pos="4582795" algn="l"/>
                <a:tab pos="5628005" algn="l"/>
              </a:tabLst>
            </a:pPr>
            <a:r>
              <a:rPr sz="4800" spc="-5" dirty="0">
                <a:latin typeface="Times New Roman"/>
                <a:cs typeface="Times New Roman"/>
              </a:rPr>
              <a:t>2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6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3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7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9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170" dirty="0">
                <a:latin typeface="Times New Roman"/>
                <a:cs typeface="Times New Roman"/>
              </a:rPr>
              <a:t>1</a:t>
            </a:r>
            <a:r>
              <a:rPr sz="4800" spc="-5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,	</a:t>
            </a:r>
            <a:r>
              <a:rPr sz="4800" spc="-5" dirty="0">
                <a:latin typeface="Times New Roman"/>
                <a:cs typeface="Times New Roman"/>
              </a:rPr>
              <a:t>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76400" y="3810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90800" y="3810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52800" y="3810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38600" y="3810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00600" y="3810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83994" y="2984372"/>
            <a:ext cx="6251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536065" algn="l"/>
                <a:tab pos="2298065" algn="l"/>
                <a:tab pos="3060065" algn="l"/>
                <a:tab pos="3822065" algn="l"/>
                <a:tab pos="4584065" algn="l"/>
                <a:tab pos="5628640" algn="l"/>
              </a:tabLst>
            </a:pPr>
            <a:r>
              <a:rPr sz="4800" dirty="0">
                <a:latin typeface="Times New Roman"/>
                <a:cs typeface="Times New Roman"/>
              </a:rPr>
              <a:t>2,	6,	9,	9,	3,	7,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75640" y="2069719"/>
            <a:ext cx="75723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2082800" algn="l"/>
                <a:tab pos="2844800" algn="l"/>
                <a:tab pos="3606800" algn="l"/>
                <a:tab pos="4650740" algn="l"/>
                <a:tab pos="5412740" algn="l"/>
                <a:tab pos="6174740" algn="l"/>
                <a:tab pos="6936740" algn="l"/>
              </a:tabLst>
            </a:pPr>
            <a:r>
              <a:rPr sz="3600" spc="-7" baseline="60185" dirty="0"/>
              <a:t>First</a:t>
            </a:r>
            <a:r>
              <a:rPr sz="3600" spc="7" baseline="60185" dirty="0"/>
              <a:t> </a:t>
            </a:r>
            <a:r>
              <a:rPr sz="3600" spc="-7" baseline="60185" dirty="0"/>
              <a:t>Pass</a:t>
            </a:r>
            <a:r>
              <a:rPr sz="3600" spc="509" baseline="60185" dirty="0"/>
              <a:t> </a:t>
            </a:r>
            <a:r>
              <a:rPr sz="4800" dirty="0"/>
              <a:t>6,	2,	9,	</a:t>
            </a:r>
            <a:r>
              <a:rPr sz="4800" spc="-60" dirty="0"/>
              <a:t>11,	</a:t>
            </a:r>
            <a:r>
              <a:rPr sz="4800" dirty="0"/>
              <a:t>9,	3,	7,	12</a:t>
            </a:r>
            <a:endParaRPr sz="4800"/>
          </a:p>
        </p:txBody>
      </p:sp>
      <p:sp>
        <p:nvSpPr>
          <p:cNvPr id="15" name="object 15"/>
          <p:cNvSpPr/>
          <p:nvPr/>
        </p:nvSpPr>
        <p:spPr>
          <a:xfrm>
            <a:off x="3880103" y="4870703"/>
            <a:ext cx="4431792" cy="13975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93235" y="4823459"/>
            <a:ext cx="4617720" cy="15636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810000" y="4800600"/>
            <a:ext cx="4419600" cy="13855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332105" indent="-240665">
              <a:lnSpc>
                <a:spcPct val="100000"/>
              </a:lnSpc>
              <a:spcBef>
                <a:spcPts val="30"/>
              </a:spcBef>
              <a:buSzPct val="95833"/>
              <a:buFont typeface="Wingdings"/>
              <a:buChar char=""/>
              <a:tabLst>
                <a:tab pos="332740" algn="l"/>
              </a:tabLst>
            </a:pPr>
            <a:r>
              <a:rPr sz="2400" i="1" spc="-5" dirty="0">
                <a:latin typeface="Perpetua"/>
                <a:cs typeface="Perpetua"/>
              </a:rPr>
              <a:t>This </a:t>
            </a:r>
            <a:r>
              <a:rPr sz="2400" i="1" dirty="0">
                <a:latin typeface="Perpetua"/>
                <a:cs typeface="Perpetua"/>
              </a:rPr>
              <a:t>time </a:t>
            </a: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dirty="0">
                <a:latin typeface="Perpetua"/>
                <a:cs typeface="Perpetua"/>
              </a:rPr>
              <a:t>11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dirty="0">
                <a:latin typeface="Perpetua"/>
                <a:cs typeface="Perpetua"/>
              </a:rPr>
              <a:t>12 </a:t>
            </a:r>
            <a:r>
              <a:rPr sz="2400" i="1" spc="-10" dirty="0">
                <a:latin typeface="Perpetua"/>
                <a:cs typeface="Perpetua"/>
              </a:rPr>
              <a:t>are </a:t>
            </a:r>
            <a:r>
              <a:rPr sz="2400" i="1" spc="-5" dirty="0">
                <a:latin typeface="Perpetua"/>
                <a:cs typeface="Perpetua"/>
              </a:rPr>
              <a:t>in</a:t>
            </a:r>
            <a:r>
              <a:rPr sz="2400" i="1" spc="-6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position.</a:t>
            </a:r>
            <a:endParaRPr sz="2400">
              <a:latin typeface="Perpetua"/>
              <a:cs typeface="Perpetua"/>
            </a:endParaRPr>
          </a:p>
          <a:p>
            <a:pPr marL="92075" marR="745490">
              <a:lnSpc>
                <a:spcPct val="100000"/>
              </a:lnSpc>
              <a:spcBef>
                <a:spcPts val="1440"/>
              </a:spcBef>
              <a:buSzPct val="95833"/>
              <a:buFont typeface="Wingdings"/>
              <a:buChar char=""/>
              <a:tabLst>
                <a:tab pos="363855" algn="l"/>
              </a:tabLst>
            </a:pPr>
            <a:r>
              <a:rPr sz="2400" i="1" spc="-5" dirty="0">
                <a:latin typeface="Perpetua"/>
                <a:cs typeface="Perpetua"/>
              </a:rPr>
              <a:t>This pass </a:t>
            </a:r>
            <a:r>
              <a:rPr sz="2400" i="1" spc="-15" dirty="0">
                <a:latin typeface="Perpetua"/>
                <a:cs typeface="Perpetua"/>
              </a:rPr>
              <a:t>therefore only </a:t>
            </a:r>
            <a:r>
              <a:rPr sz="2400" i="1" spc="-10" dirty="0">
                <a:latin typeface="Perpetua"/>
                <a:cs typeface="Perpetua"/>
              </a:rPr>
              <a:t>requires </a:t>
            </a:r>
            <a:r>
              <a:rPr sz="2400" i="1" dirty="0">
                <a:latin typeface="Perpetua"/>
                <a:cs typeface="Perpetua"/>
              </a:rPr>
              <a:t>5  </a:t>
            </a:r>
            <a:r>
              <a:rPr sz="2400" i="1" spc="-5" dirty="0">
                <a:latin typeface="Perpetua"/>
                <a:cs typeface="Perpetua"/>
              </a:rPr>
              <a:t>comparisons.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7340" y="632586"/>
            <a:ext cx="43637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Perpetua"/>
                <a:cs typeface="Perpetua"/>
              </a:rPr>
              <a:t>Bubble </a:t>
            </a:r>
            <a:r>
              <a:rPr sz="4000" spc="35" dirty="0">
                <a:latin typeface="Perpetua"/>
                <a:cs typeface="Perpetua"/>
              </a:rPr>
              <a:t>Sort </a:t>
            </a:r>
            <a:r>
              <a:rPr sz="4000" spc="-5" dirty="0">
                <a:latin typeface="Perpetua"/>
                <a:cs typeface="Perpetua"/>
              </a:rPr>
              <a:t>:</a:t>
            </a:r>
            <a:r>
              <a:rPr sz="4000" spc="-74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Third </a:t>
            </a:r>
            <a:r>
              <a:rPr sz="4000" dirty="0">
                <a:latin typeface="Perpetua"/>
                <a:cs typeface="Perpetua"/>
              </a:rPr>
              <a:t>pass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49094" y="4283031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047365" algn="l"/>
                <a:tab pos="3809365" algn="l"/>
                <a:tab pos="4571365" algn="l"/>
                <a:tab pos="5615940" algn="l"/>
              </a:tabLst>
            </a:pPr>
            <a:r>
              <a:rPr sz="4800" dirty="0">
                <a:latin typeface="Times New Roman"/>
                <a:cs typeface="Times New Roman"/>
              </a:rPr>
              <a:t>2,	6,	9,	3,	7,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49094" y="4283031"/>
            <a:ext cx="6226175" cy="675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35"/>
              </a:lnSpc>
              <a:tabLst>
                <a:tab pos="761365" algn="l"/>
                <a:tab pos="1523365" algn="l"/>
                <a:tab pos="2285365" algn="l"/>
                <a:tab pos="3047365" algn="l"/>
                <a:tab pos="3809365" algn="l"/>
                <a:tab pos="4571365" algn="l"/>
                <a:tab pos="5615940" algn="l"/>
              </a:tabLst>
            </a:pPr>
            <a:r>
              <a:rPr sz="4800" dirty="0">
                <a:latin typeface="Times New Roman"/>
                <a:cs typeface="Times New Roman"/>
              </a:rPr>
              <a:t>2,	6,	3,	9,	7,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57400" y="4191000"/>
            <a:ext cx="6705600" cy="824865"/>
          </a:xfrm>
          <a:custGeom>
            <a:avLst/>
            <a:gdLst/>
            <a:ahLst/>
            <a:cxnLst/>
            <a:rect l="l" t="t" r="r" b="b"/>
            <a:pathLst>
              <a:path w="6705600" h="824864">
                <a:moveTo>
                  <a:pt x="0" y="824483"/>
                </a:moveTo>
                <a:lnTo>
                  <a:pt x="6705600" y="824483"/>
                </a:lnTo>
                <a:lnTo>
                  <a:pt x="6705600" y="0"/>
                </a:lnTo>
                <a:lnTo>
                  <a:pt x="0" y="0"/>
                </a:lnTo>
                <a:lnTo>
                  <a:pt x="0" y="8244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28800" y="4191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43200" y="4191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05200" y="4191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91000" y="41910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80103" y="5404103"/>
            <a:ext cx="4584192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06952" y="5356859"/>
            <a:ext cx="4343400" cy="1197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117344" y="2605724"/>
          <a:ext cx="6289675" cy="2352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0"/>
                <a:gridCol w="762000"/>
                <a:gridCol w="762000"/>
                <a:gridCol w="762000"/>
                <a:gridCol w="762000"/>
                <a:gridCol w="762000"/>
                <a:gridCol w="1044575"/>
                <a:gridCol w="793750"/>
              </a:tblGrid>
              <a:tr h="757073">
                <a:tc>
                  <a:txBody>
                    <a:bodyPr/>
                    <a:lstStyle/>
                    <a:p>
                      <a:pPr marL="31750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2,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6,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3,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7,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40"/>
                        </a:lnSpc>
                      </a:pPr>
                      <a:r>
                        <a:rPr sz="4800" spc="-60" dirty="0">
                          <a:latin typeface="Times New Roman"/>
                          <a:cs typeface="Times New Roman"/>
                        </a:rPr>
                        <a:t>11,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838484">
                <a:tc gridSpan="8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793115" algn="l"/>
                          <a:tab pos="1555115" algn="l"/>
                          <a:tab pos="2317115" algn="l"/>
                          <a:tab pos="3079115" algn="l"/>
                          <a:tab pos="3841115" algn="l"/>
                          <a:tab pos="4603115" algn="l"/>
                          <a:tab pos="5647690" algn="l"/>
                        </a:tabLst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2,	6,	9,	3,	7,	9,	</a:t>
                      </a:r>
                      <a:r>
                        <a:rPr sz="4800" spc="-60" dirty="0">
                          <a:latin typeface="Times New Roman"/>
                          <a:cs typeface="Times New Roman"/>
                        </a:rPr>
                        <a:t>11,	</a:t>
                      </a:r>
                      <a:r>
                        <a:rPr sz="4800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756832">
                <a:tc>
                  <a:txBody>
                    <a:bodyPr/>
                    <a:lstStyle/>
                    <a:p>
                      <a:pPr marL="31750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2,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6,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3,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7,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spc="-60" dirty="0">
                          <a:latin typeface="Times New Roman"/>
                          <a:cs typeface="Times New Roman"/>
                        </a:rPr>
                        <a:t>11,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810000" y="5334000"/>
            <a:ext cx="4572000" cy="101536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332105" indent="-240665">
              <a:lnSpc>
                <a:spcPct val="100000"/>
              </a:lnSpc>
              <a:spcBef>
                <a:spcPts val="30"/>
              </a:spcBef>
              <a:buSzPct val="95833"/>
              <a:buFont typeface="Wingdings"/>
              <a:buChar char=""/>
              <a:tabLst>
                <a:tab pos="332740" algn="l"/>
              </a:tabLst>
            </a:pPr>
            <a:r>
              <a:rPr sz="2400" i="1" dirty="0">
                <a:latin typeface="Perpetua"/>
                <a:cs typeface="Perpetua"/>
              </a:rPr>
              <a:t>Each pass </a:t>
            </a:r>
            <a:r>
              <a:rPr sz="2400" i="1" spc="-10" dirty="0">
                <a:latin typeface="Perpetua"/>
                <a:cs typeface="Perpetua"/>
              </a:rPr>
              <a:t>requires </a:t>
            </a:r>
            <a:r>
              <a:rPr sz="2400" i="1" spc="-15" dirty="0">
                <a:latin typeface="Perpetua"/>
                <a:cs typeface="Perpetua"/>
              </a:rPr>
              <a:t>fewer</a:t>
            </a:r>
            <a:r>
              <a:rPr sz="2400" i="1" spc="-3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comparisons.</a:t>
            </a:r>
            <a:endParaRPr sz="2400">
              <a:latin typeface="Perpetua"/>
              <a:cs typeface="Perpetua"/>
            </a:endParaRPr>
          </a:p>
          <a:p>
            <a:pPr marL="332105" indent="-240665">
              <a:lnSpc>
                <a:spcPct val="100000"/>
              </a:lnSpc>
              <a:spcBef>
                <a:spcPts val="1445"/>
              </a:spcBef>
              <a:buSzPct val="95833"/>
              <a:buFont typeface="Wingdings"/>
              <a:buChar char=""/>
              <a:tabLst>
                <a:tab pos="332740" algn="l"/>
              </a:tabLst>
            </a:pPr>
            <a:r>
              <a:rPr sz="2400" i="1" spc="-5" dirty="0">
                <a:latin typeface="Perpetua"/>
                <a:cs typeface="Perpetua"/>
              </a:rPr>
              <a:t>This </a:t>
            </a:r>
            <a:r>
              <a:rPr sz="2400" i="1" dirty="0">
                <a:latin typeface="Perpetua"/>
                <a:cs typeface="Perpetua"/>
              </a:rPr>
              <a:t>time </a:t>
            </a:r>
            <a:r>
              <a:rPr sz="2400" i="1" spc="-15" dirty="0">
                <a:latin typeface="Perpetua"/>
                <a:cs typeface="Perpetua"/>
              </a:rPr>
              <a:t>only </a:t>
            </a:r>
            <a:r>
              <a:rPr sz="2400" i="1" dirty="0">
                <a:latin typeface="Perpetua"/>
                <a:cs typeface="Perpetua"/>
              </a:rPr>
              <a:t>4 </a:t>
            </a:r>
            <a:r>
              <a:rPr sz="2400" i="1" spc="-10" dirty="0">
                <a:latin typeface="Perpetua"/>
                <a:cs typeface="Perpetua"/>
              </a:rPr>
              <a:t>are</a:t>
            </a:r>
            <a:r>
              <a:rPr sz="2400" i="1" spc="-1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needed.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8962" y="1612519"/>
            <a:ext cx="7787005" cy="2650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100"/>
              </a:spcBef>
              <a:tabLst>
                <a:tab pos="2272030" algn="l"/>
                <a:tab pos="3034030" algn="l"/>
                <a:tab pos="3796029" algn="l"/>
                <a:tab pos="4839970" algn="l"/>
                <a:tab pos="5601970" algn="l"/>
                <a:tab pos="6363970" algn="l"/>
                <a:tab pos="7125970" algn="l"/>
              </a:tabLst>
            </a:pPr>
            <a:r>
              <a:rPr sz="3600" baseline="60185" dirty="0">
                <a:latin typeface="Times New Roman"/>
                <a:cs typeface="Times New Roman"/>
              </a:rPr>
              <a:t>First</a:t>
            </a:r>
            <a:r>
              <a:rPr sz="3600" spc="-7" baseline="60185" dirty="0">
                <a:latin typeface="Times New Roman"/>
                <a:cs typeface="Times New Roman"/>
              </a:rPr>
              <a:t> </a:t>
            </a:r>
            <a:r>
              <a:rPr sz="3600" baseline="60185" dirty="0">
                <a:latin typeface="Times New Roman"/>
                <a:cs typeface="Times New Roman"/>
              </a:rPr>
              <a:t>Pass</a:t>
            </a:r>
            <a:r>
              <a:rPr sz="3600" spc="472" baseline="60185" dirty="0">
                <a:latin typeface="Times New Roman"/>
                <a:cs typeface="Times New Roman"/>
              </a:rPr>
              <a:t> </a:t>
            </a:r>
            <a:r>
              <a:rPr sz="4800" dirty="0">
                <a:latin typeface="Times New Roman"/>
                <a:cs typeface="Times New Roman"/>
              </a:rPr>
              <a:t>6,	2,	9,	</a:t>
            </a:r>
            <a:r>
              <a:rPr sz="4800" spc="-60" dirty="0">
                <a:latin typeface="Times New Roman"/>
                <a:cs typeface="Times New Roman"/>
              </a:rPr>
              <a:t>11,	</a:t>
            </a:r>
            <a:r>
              <a:rPr sz="4800" dirty="0">
                <a:latin typeface="Times New Roman"/>
                <a:cs typeface="Times New Roman"/>
              </a:rPr>
              <a:t>9,	3,	7,	12</a:t>
            </a:r>
            <a:endParaRPr sz="4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0"/>
              </a:spcBef>
            </a:pPr>
            <a:r>
              <a:rPr sz="2400" spc="-5" dirty="0">
                <a:latin typeface="Times New Roman"/>
                <a:cs typeface="Times New Roman"/>
              </a:rPr>
              <a:t>Second Pass</a:t>
            </a:r>
            <a:endParaRPr sz="2400">
              <a:latin typeface="Times New Roman"/>
              <a:cs typeface="Times New Roman"/>
            </a:endParaRPr>
          </a:p>
          <a:p>
            <a:pPr marL="93345" marR="6255385" indent="66675">
              <a:lnSpc>
                <a:spcPct val="2083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Third </a:t>
            </a:r>
            <a:r>
              <a:rPr sz="2400" spc="-5" dirty="0">
                <a:latin typeface="Times New Roman"/>
                <a:cs typeface="Times New Roman"/>
              </a:rPr>
              <a:t>Pass  Fourth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6380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Perpetua"/>
                <a:cs typeface="Perpetua"/>
              </a:rPr>
              <a:t>Bubble </a:t>
            </a:r>
            <a:r>
              <a:rPr sz="4000" spc="35" dirty="0">
                <a:latin typeface="Perpetua"/>
                <a:cs typeface="Perpetua"/>
              </a:rPr>
              <a:t>Sort </a:t>
            </a:r>
            <a:r>
              <a:rPr sz="4000" spc="-5" dirty="0">
                <a:latin typeface="Perpetua"/>
                <a:cs typeface="Perpetua"/>
              </a:rPr>
              <a:t>: </a:t>
            </a:r>
            <a:r>
              <a:rPr sz="4000" spc="5" dirty="0">
                <a:latin typeface="Perpetua"/>
                <a:cs typeface="Perpetua"/>
              </a:rPr>
              <a:t>Fourth</a:t>
            </a:r>
            <a:r>
              <a:rPr sz="4000" spc="-280" dirty="0">
                <a:latin typeface="Perpetua"/>
                <a:cs typeface="Perpetua"/>
              </a:rPr>
              <a:t> </a:t>
            </a:r>
            <a:r>
              <a:rPr sz="4000" spc="-10" dirty="0">
                <a:latin typeface="Perpetua"/>
                <a:cs typeface="Perpetua"/>
              </a:rPr>
              <a:t>pass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94103" y="5708903"/>
            <a:ext cx="7022592" cy="84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07236" y="5661659"/>
            <a:ext cx="7142988" cy="10149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24000" y="5638800"/>
            <a:ext cx="7010400" cy="83058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331470" indent="-240665">
              <a:lnSpc>
                <a:spcPct val="100000"/>
              </a:lnSpc>
              <a:spcBef>
                <a:spcPts val="30"/>
              </a:spcBef>
              <a:buSzPct val="95833"/>
              <a:buFont typeface="Wingdings"/>
              <a:buChar char=""/>
              <a:tabLst>
                <a:tab pos="332105" algn="l"/>
              </a:tabLst>
            </a:pPr>
            <a:r>
              <a:rPr sz="2400" i="1" spc="-5" dirty="0">
                <a:latin typeface="Perpetua"/>
                <a:cs typeface="Perpetua"/>
              </a:rPr>
              <a:t>The list is </a:t>
            </a:r>
            <a:r>
              <a:rPr sz="2400" i="1" spc="-20" dirty="0">
                <a:latin typeface="Perpetua"/>
                <a:cs typeface="Perpetua"/>
              </a:rPr>
              <a:t>now </a:t>
            </a:r>
            <a:r>
              <a:rPr sz="2400" i="1" spc="10" dirty="0">
                <a:latin typeface="Perpetua"/>
                <a:cs typeface="Perpetua"/>
              </a:rPr>
              <a:t>sorted </a:t>
            </a:r>
            <a:r>
              <a:rPr sz="2400" i="1" spc="-10" dirty="0">
                <a:latin typeface="Perpetua"/>
                <a:cs typeface="Perpetua"/>
              </a:rPr>
              <a:t>but </a:t>
            </a: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dirty="0">
                <a:latin typeface="Perpetua"/>
                <a:cs typeface="Perpetua"/>
              </a:rPr>
              <a:t>algorithm </a:t>
            </a:r>
            <a:r>
              <a:rPr sz="2400" i="1" spc="-5" dirty="0">
                <a:latin typeface="Perpetua"/>
                <a:cs typeface="Perpetua"/>
              </a:rPr>
              <a:t>does </a:t>
            </a:r>
            <a:r>
              <a:rPr sz="2400" i="1" dirty="0">
                <a:latin typeface="Perpetua"/>
                <a:cs typeface="Perpetua"/>
              </a:rPr>
              <a:t>not </a:t>
            </a:r>
            <a:r>
              <a:rPr sz="2400" i="1" spc="-15" dirty="0">
                <a:latin typeface="Perpetua"/>
                <a:cs typeface="Perpetua"/>
              </a:rPr>
              <a:t>know </a:t>
            </a:r>
            <a:r>
              <a:rPr sz="2400" i="1" spc="-5" dirty="0">
                <a:latin typeface="Perpetua"/>
                <a:cs typeface="Perpetua"/>
              </a:rPr>
              <a:t>this until it</a:t>
            </a:r>
            <a:endParaRPr sz="2400">
              <a:latin typeface="Perpetua"/>
              <a:cs typeface="Perpetua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400" i="1" dirty="0">
                <a:latin typeface="Perpetua"/>
                <a:cs typeface="Perpetua"/>
              </a:rPr>
              <a:t>completes a </a:t>
            </a:r>
            <a:r>
              <a:rPr sz="2400" i="1" spc="-5" dirty="0">
                <a:latin typeface="Perpetua"/>
                <a:cs typeface="Perpetua"/>
              </a:rPr>
              <a:t>pass </a:t>
            </a:r>
            <a:r>
              <a:rPr sz="2400" i="1" dirty="0">
                <a:latin typeface="Perpetua"/>
                <a:cs typeface="Perpetua"/>
              </a:rPr>
              <a:t>with </a:t>
            </a:r>
            <a:r>
              <a:rPr sz="2400" i="1" spc="-5" dirty="0">
                <a:latin typeface="Perpetua"/>
                <a:cs typeface="Perpetua"/>
              </a:rPr>
              <a:t>no</a:t>
            </a:r>
            <a:r>
              <a:rPr sz="2400" i="1" spc="-30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exchanges.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76400" y="4648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14600" y="4648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52800" y="4648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964944" y="2224724"/>
          <a:ext cx="6289675" cy="31905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0"/>
                <a:gridCol w="762000"/>
                <a:gridCol w="762000"/>
                <a:gridCol w="762000"/>
                <a:gridCol w="762000"/>
                <a:gridCol w="762000"/>
                <a:gridCol w="1044575"/>
                <a:gridCol w="793750"/>
              </a:tblGrid>
              <a:tr h="757073">
                <a:tc>
                  <a:txBody>
                    <a:bodyPr/>
                    <a:lstStyle/>
                    <a:p>
                      <a:pPr marL="31750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2,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6,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3,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7,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40"/>
                        </a:lnSpc>
                      </a:pPr>
                      <a:r>
                        <a:rPr sz="4800" spc="-60" dirty="0">
                          <a:latin typeface="Times New Roman"/>
                          <a:cs typeface="Times New Roman"/>
                        </a:rPr>
                        <a:t>11,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5240"/>
                        </a:lnSpc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838158">
                <a:tc gridSpan="8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793115" algn="l"/>
                          <a:tab pos="1555115" algn="l"/>
                          <a:tab pos="2317115" algn="l"/>
                          <a:tab pos="3079115" algn="l"/>
                          <a:tab pos="3841115" algn="l"/>
                          <a:tab pos="4603115" algn="l"/>
                          <a:tab pos="5647690" algn="l"/>
                        </a:tabLst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2,	6,	9,	3,	7,	9,	</a:t>
                      </a:r>
                      <a:r>
                        <a:rPr sz="4800" spc="-60" dirty="0">
                          <a:latin typeface="Times New Roman"/>
                          <a:cs typeface="Times New Roman"/>
                        </a:rPr>
                        <a:t>11,	</a:t>
                      </a:r>
                      <a:r>
                        <a:rPr sz="4800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8385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2,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6,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3,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7,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60" dirty="0">
                          <a:latin typeface="Times New Roman"/>
                          <a:cs typeface="Times New Roman"/>
                        </a:rPr>
                        <a:t>11,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4800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</a:tr>
              <a:tr h="756799">
                <a:tc>
                  <a:txBody>
                    <a:bodyPr/>
                    <a:lstStyle/>
                    <a:p>
                      <a:pPr marL="31750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2,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3,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6,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7,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9,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spc="-60" dirty="0">
                          <a:latin typeface="Times New Roman"/>
                          <a:cs typeface="Times New Roman"/>
                        </a:rPr>
                        <a:t>11,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5740"/>
                        </a:lnSpc>
                        <a:spcBef>
                          <a:spcPts val="120"/>
                        </a:spcBef>
                      </a:pPr>
                      <a:r>
                        <a:rPr sz="4800" dirty="0">
                          <a:latin typeface="Times New Roman"/>
                          <a:cs typeface="Times New Roman"/>
                        </a:rPr>
                        <a:t>12</a:t>
                      </a:r>
                      <a:endParaRPr sz="480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24662" y="1966086"/>
            <a:ext cx="1541145" cy="2830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Second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12192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Third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461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Fourth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Fifth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94640" y="417461"/>
            <a:ext cx="7952740" cy="157099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25"/>
              </a:spcBef>
            </a:pPr>
            <a:r>
              <a:rPr sz="4000" spc="-20" dirty="0">
                <a:latin typeface="Perpetua"/>
                <a:cs typeface="Perpetua"/>
              </a:rPr>
              <a:t>Bubble </a:t>
            </a:r>
            <a:r>
              <a:rPr sz="4000" spc="35" dirty="0">
                <a:latin typeface="Perpetua"/>
                <a:cs typeface="Perpetua"/>
              </a:rPr>
              <a:t>Sort </a:t>
            </a:r>
            <a:r>
              <a:rPr sz="4000" spc="-5" dirty="0">
                <a:latin typeface="Perpetua"/>
                <a:cs typeface="Perpetua"/>
              </a:rPr>
              <a:t>: </a:t>
            </a:r>
            <a:r>
              <a:rPr sz="4000" spc="-10" dirty="0">
                <a:latin typeface="Perpetua"/>
                <a:cs typeface="Perpetua"/>
              </a:rPr>
              <a:t>Fifth</a:t>
            </a:r>
            <a:r>
              <a:rPr sz="4000" spc="-210" dirty="0">
                <a:latin typeface="Perpetua"/>
                <a:cs typeface="Perpetua"/>
              </a:rPr>
              <a:t> </a:t>
            </a:r>
            <a:r>
              <a:rPr sz="4000" spc="-10" dirty="0">
                <a:latin typeface="Perpetua"/>
                <a:cs typeface="Perpetua"/>
              </a:rPr>
              <a:t>pass</a:t>
            </a:r>
            <a:endParaRPr sz="4000">
              <a:latin typeface="Perpetua"/>
              <a:cs typeface="Perpetua"/>
            </a:endParaRPr>
          </a:p>
          <a:p>
            <a:pPr marL="406400">
              <a:lnSpc>
                <a:spcPct val="100000"/>
              </a:lnSpc>
              <a:spcBef>
                <a:spcPts val="880"/>
              </a:spcBef>
              <a:tabLst>
                <a:tab pos="2463165" algn="l"/>
                <a:tab pos="3225165" algn="l"/>
                <a:tab pos="3987165" algn="l"/>
                <a:tab pos="5031740" algn="l"/>
                <a:tab pos="5793105" algn="l"/>
                <a:tab pos="6555105" algn="l"/>
                <a:tab pos="7317105" algn="l"/>
              </a:tabLst>
            </a:pPr>
            <a:r>
              <a:rPr sz="3600" spc="-7" baseline="60185" dirty="0"/>
              <a:t>First</a:t>
            </a:r>
            <a:r>
              <a:rPr sz="3600" spc="7" baseline="60185" dirty="0"/>
              <a:t> </a:t>
            </a:r>
            <a:r>
              <a:rPr sz="3600" spc="-7" baseline="60185" dirty="0"/>
              <a:t>Pass</a:t>
            </a:r>
            <a:r>
              <a:rPr sz="3600" spc="517" baseline="60185" dirty="0"/>
              <a:t> </a:t>
            </a:r>
            <a:r>
              <a:rPr sz="4800" spc="-5" dirty="0"/>
              <a:t>6,	2,	9,	</a:t>
            </a:r>
            <a:r>
              <a:rPr sz="4800" spc="-60" dirty="0"/>
              <a:t>11,	</a:t>
            </a:r>
            <a:r>
              <a:rPr sz="4800" spc="-5" dirty="0"/>
              <a:t>9,	3,	7,	12</a:t>
            </a:r>
            <a:endParaRPr sz="4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7800" y="3124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86000" y="3124200"/>
            <a:ext cx="1600200" cy="838200"/>
          </a:xfrm>
          <a:custGeom>
            <a:avLst/>
            <a:gdLst/>
            <a:ahLst/>
            <a:cxnLst/>
            <a:rect l="l" t="t" r="r" b="b"/>
            <a:pathLst>
              <a:path w="1600200" h="838200">
                <a:moveTo>
                  <a:pt x="0" y="419100"/>
                </a:moveTo>
                <a:lnTo>
                  <a:pt x="9511" y="354270"/>
                </a:lnTo>
                <a:lnTo>
                  <a:pt x="37096" y="292577"/>
                </a:lnTo>
                <a:lnTo>
                  <a:pt x="81331" y="234764"/>
                </a:lnTo>
                <a:lnTo>
                  <a:pt x="109248" y="207546"/>
                </a:lnTo>
                <a:lnTo>
                  <a:pt x="140793" y="181576"/>
                </a:lnTo>
                <a:lnTo>
                  <a:pt x="175788" y="156949"/>
                </a:lnTo>
                <a:lnTo>
                  <a:pt x="214056" y="133758"/>
                </a:lnTo>
                <a:lnTo>
                  <a:pt x="255419" y="112094"/>
                </a:lnTo>
                <a:lnTo>
                  <a:pt x="299699" y="92053"/>
                </a:lnTo>
                <a:lnTo>
                  <a:pt x="346717" y="73725"/>
                </a:lnTo>
                <a:lnTo>
                  <a:pt x="396296" y="57206"/>
                </a:lnTo>
                <a:lnTo>
                  <a:pt x="448258" y="42587"/>
                </a:lnTo>
                <a:lnTo>
                  <a:pt x="502424" y="29962"/>
                </a:lnTo>
                <a:lnTo>
                  <a:pt x="558617" y="19424"/>
                </a:lnTo>
                <a:lnTo>
                  <a:pt x="616660" y="11065"/>
                </a:lnTo>
                <a:lnTo>
                  <a:pt x="676373" y="4980"/>
                </a:lnTo>
                <a:lnTo>
                  <a:pt x="737579" y="1260"/>
                </a:lnTo>
                <a:lnTo>
                  <a:pt x="800100" y="0"/>
                </a:lnTo>
                <a:lnTo>
                  <a:pt x="862620" y="1260"/>
                </a:lnTo>
                <a:lnTo>
                  <a:pt x="923826" y="4980"/>
                </a:lnTo>
                <a:lnTo>
                  <a:pt x="983539" y="11065"/>
                </a:lnTo>
                <a:lnTo>
                  <a:pt x="1041582" y="19424"/>
                </a:lnTo>
                <a:lnTo>
                  <a:pt x="1097775" y="29962"/>
                </a:lnTo>
                <a:lnTo>
                  <a:pt x="1151941" y="42587"/>
                </a:lnTo>
                <a:lnTo>
                  <a:pt x="1203903" y="57206"/>
                </a:lnTo>
                <a:lnTo>
                  <a:pt x="1253482" y="73725"/>
                </a:lnTo>
                <a:lnTo>
                  <a:pt x="1300500" y="92053"/>
                </a:lnTo>
                <a:lnTo>
                  <a:pt x="1344780" y="112094"/>
                </a:lnTo>
                <a:lnTo>
                  <a:pt x="1386143" y="133758"/>
                </a:lnTo>
                <a:lnTo>
                  <a:pt x="1424411" y="156949"/>
                </a:lnTo>
                <a:lnTo>
                  <a:pt x="1459406" y="181576"/>
                </a:lnTo>
                <a:lnTo>
                  <a:pt x="1490951" y="207546"/>
                </a:lnTo>
                <a:lnTo>
                  <a:pt x="1518868" y="234764"/>
                </a:lnTo>
                <a:lnTo>
                  <a:pt x="1563103" y="292577"/>
                </a:lnTo>
                <a:lnTo>
                  <a:pt x="1590688" y="354270"/>
                </a:lnTo>
                <a:lnTo>
                  <a:pt x="1600200" y="419100"/>
                </a:lnTo>
                <a:lnTo>
                  <a:pt x="1597792" y="451859"/>
                </a:lnTo>
                <a:lnTo>
                  <a:pt x="1579066" y="515214"/>
                </a:lnTo>
                <a:lnTo>
                  <a:pt x="1542978" y="575060"/>
                </a:lnTo>
                <a:lnTo>
                  <a:pt x="1490951" y="630653"/>
                </a:lnTo>
                <a:lnTo>
                  <a:pt x="1459406" y="656623"/>
                </a:lnTo>
                <a:lnTo>
                  <a:pt x="1424411" y="681250"/>
                </a:lnTo>
                <a:lnTo>
                  <a:pt x="1386143" y="704441"/>
                </a:lnTo>
                <a:lnTo>
                  <a:pt x="1344780" y="726105"/>
                </a:lnTo>
                <a:lnTo>
                  <a:pt x="1300500" y="746146"/>
                </a:lnTo>
                <a:lnTo>
                  <a:pt x="1253482" y="764474"/>
                </a:lnTo>
                <a:lnTo>
                  <a:pt x="1203903" y="780993"/>
                </a:lnTo>
                <a:lnTo>
                  <a:pt x="1151941" y="795612"/>
                </a:lnTo>
                <a:lnTo>
                  <a:pt x="1097775" y="808237"/>
                </a:lnTo>
                <a:lnTo>
                  <a:pt x="1041582" y="818775"/>
                </a:lnTo>
                <a:lnTo>
                  <a:pt x="983539" y="827134"/>
                </a:lnTo>
                <a:lnTo>
                  <a:pt x="923826" y="833219"/>
                </a:lnTo>
                <a:lnTo>
                  <a:pt x="862620" y="836939"/>
                </a:lnTo>
                <a:lnTo>
                  <a:pt x="800100" y="838200"/>
                </a:lnTo>
                <a:lnTo>
                  <a:pt x="737579" y="836939"/>
                </a:lnTo>
                <a:lnTo>
                  <a:pt x="676373" y="833219"/>
                </a:lnTo>
                <a:lnTo>
                  <a:pt x="616660" y="827134"/>
                </a:lnTo>
                <a:lnTo>
                  <a:pt x="558617" y="818775"/>
                </a:lnTo>
                <a:lnTo>
                  <a:pt x="502424" y="808237"/>
                </a:lnTo>
                <a:lnTo>
                  <a:pt x="448258" y="795612"/>
                </a:lnTo>
                <a:lnTo>
                  <a:pt x="396296" y="780993"/>
                </a:lnTo>
                <a:lnTo>
                  <a:pt x="346717" y="764474"/>
                </a:lnTo>
                <a:lnTo>
                  <a:pt x="299699" y="746146"/>
                </a:lnTo>
                <a:lnTo>
                  <a:pt x="255419" y="726105"/>
                </a:lnTo>
                <a:lnTo>
                  <a:pt x="214056" y="704441"/>
                </a:lnTo>
                <a:lnTo>
                  <a:pt x="175788" y="681250"/>
                </a:lnTo>
                <a:lnTo>
                  <a:pt x="140793" y="656623"/>
                </a:lnTo>
                <a:lnTo>
                  <a:pt x="109248" y="630653"/>
                </a:lnTo>
                <a:lnTo>
                  <a:pt x="81331" y="603435"/>
                </a:lnTo>
                <a:lnTo>
                  <a:pt x="37096" y="545622"/>
                </a:lnTo>
                <a:lnTo>
                  <a:pt x="9511" y="483929"/>
                </a:lnTo>
                <a:lnTo>
                  <a:pt x="0" y="419100"/>
                </a:lnTo>
                <a:close/>
              </a:path>
            </a:pathLst>
          </a:custGeom>
          <a:ln w="914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7062" y="1661286"/>
            <a:ext cx="1236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Fifth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154" y="2592323"/>
            <a:ext cx="7355840" cy="13017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Times New Roman"/>
                <a:cs typeface="Times New Roman"/>
              </a:rPr>
              <a:t>Sixth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Pass</a:t>
            </a:r>
            <a:endParaRPr sz="2400">
              <a:latin typeface="Times New Roman"/>
              <a:cs typeface="Times New Roman"/>
            </a:endParaRPr>
          </a:p>
          <a:p>
            <a:pPr marL="1103630" algn="ctr">
              <a:lnSpc>
                <a:spcPct val="100000"/>
              </a:lnSpc>
              <a:spcBef>
                <a:spcPts val="935"/>
              </a:spcBef>
              <a:tabLst>
                <a:tab pos="1865630" algn="l"/>
                <a:tab pos="2627630" algn="l"/>
                <a:tab pos="3389629" algn="l"/>
                <a:tab pos="4151629" algn="l"/>
                <a:tab pos="4913630" algn="l"/>
                <a:tab pos="5675630" algn="l"/>
                <a:tab pos="6720205" algn="l"/>
              </a:tabLst>
            </a:pPr>
            <a:r>
              <a:rPr sz="4800" dirty="0">
                <a:latin typeface="Times New Roman"/>
                <a:cs typeface="Times New Roman"/>
              </a:rPr>
              <a:t>2,	3,	6,	7,	9,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36394" y="1612519"/>
            <a:ext cx="62515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065" algn="l"/>
                <a:tab pos="1536065" algn="l"/>
                <a:tab pos="2298065" algn="l"/>
                <a:tab pos="3060065" algn="l"/>
                <a:tab pos="3822065" algn="l"/>
                <a:tab pos="4584065" algn="l"/>
                <a:tab pos="5628640" algn="l"/>
              </a:tabLst>
            </a:pPr>
            <a:r>
              <a:rPr sz="4800" dirty="0">
                <a:latin typeface="Times New Roman"/>
                <a:cs typeface="Times New Roman"/>
              </a:rPr>
              <a:t>2,	3,	6,	7,	9,	9,	</a:t>
            </a:r>
            <a:r>
              <a:rPr sz="4800" spc="-180" dirty="0">
                <a:latin typeface="Times New Roman"/>
                <a:cs typeface="Times New Roman"/>
              </a:rPr>
              <a:t>1</a:t>
            </a:r>
            <a:r>
              <a:rPr sz="4800" dirty="0">
                <a:latin typeface="Times New Roman"/>
                <a:cs typeface="Times New Roman"/>
              </a:rPr>
              <a:t>1,	12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94103" y="4642103"/>
            <a:ext cx="7174992" cy="17663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7236" y="4594859"/>
            <a:ext cx="7368540" cy="19293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24000" y="4572000"/>
            <a:ext cx="7162800" cy="175450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91440" marR="403225">
              <a:lnSpc>
                <a:spcPct val="100000"/>
              </a:lnSpc>
              <a:spcBef>
                <a:spcPts val="30"/>
              </a:spcBef>
              <a:buSzPct val="95833"/>
              <a:buFont typeface="Wingdings"/>
              <a:buChar char=""/>
              <a:tabLst>
                <a:tab pos="332105" algn="l"/>
              </a:tabLst>
            </a:pPr>
            <a:r>
              <a:rPr sz="2400" i="1" spc="-5" dirty="0">
                <a:latin typeface="Perpetua"/>
                <a:cs typeface="Perpetua"/>
              </a:rPr>
              <a:t>This pass no </a:t>
            </a:r>
            <a:r>
              <a:rPr sz="2400" i="1" spc="-10" dirty="0">
                <a:latin typeface="Perpetua"/>
                <a:cs typeface="Perpetua"/>
              </a:rPr>
              <a:t>exchanges are </a:t>
            </a:r>
            <a:r>
              <a:rPr sz="2400" i="1" dirty="0">
                <a:latin typeface="Perpetua"/>
                <a:cs typeface="Perpetua"/>
              </a:rPr>
              <a:t>made so the algorithm </a:t>
            </a:r>
            <a:r>
              <a:rPr sz="2400" i="1" spc="-15" dirty="0">
                <a:latin typeface="Perpetua"/>
                <a:cs typeface="Perpetua"/>
              </a:rPr>
              <a:t>knows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list is  </a:t>
            </a:r>
            <a:r>
              <a:rPr sz="2400" i="1" spc="5" dirty="0">
                <a:latin typeface="Perpetua"/>
                <a:cs typeface="Perpetua"/>
              </a:rPr>
              <a:t>sorted.</a:t>
            </a:r>
            <a:endParaRPr sz="2400">
              <a:latin typeface="Perpetua"/>
              <a:cs typeface="Perpetua"/>
            </a:endParaRPr>
          </a:p>
          <a:p>
            <a:pPr marL="331470" indent="-240665">
              <a:lnSpc>
                <a:spcPct val="100000"/>
              </a:lnSpc>
              <a:spcBef>
                <a:spcPts val="1440"/>
              </a:spcBef>
              <a:buSzPct val="95833"/>
              <a:buFont typeface="Wingdings"/>
              <a:buChar char=""/>
              <a:tabLst>
                <a:tab pos="332105" algn="l"/>
              </a:tabLst>
            </a:pPr>
            <a:r>
              <a:rPr sz="2400" i="1" dirty="0">
                <a:latin typeface="Perpetua"/>
                <a:cs typeface="Perpetua"/>
              </a:rPr>
              <a:t>It </a:t>
            </a: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0" dirty="0">
                <a:latin typeface="Perpetua"/>
                <a:cs typeface="Perpetua"/>
              </a:rPr>
              <a:t>therefore </a:t>
            </a:r>
            <a:r>
              <a:rPr sz="2400" i="1" spc="-35" dirty="0">
                <a:latin typeface="Perpetua"/>
                <a:cs typeface="Perpetua"/>
              </a:rPr>
              <a:t>save </a:t>
            </a:r>
            <a:r>
              <a:rPr sz="2400" i="1" dirty="0">
                <a:latin typeface="Perpetua"/>
                <a:cs typeface="Perpetua"/>
              </a:rPr>
              <a:t>time </a:t>
            </a:r>
            <a:r>
              <a:rPr sz="2400" i="1" spc="-35" dirty="0">
                <a:latin typeface="Perpetua"/>
                <a:cs typeface="Perpetua"/>
              </a:rPr>
              <a:t>by </a:t>
            </a:r>
            <a:r>
              <a:rPr sz="2400" i="1" spc="-5" dirty="0">
                <a:latin typeface="Perpetua"/>
                <a:cs typeface="Perpetua"/>
              </a:rPr>
              <a:t>not doing the final </a:t>
            </a:r>
            <a:r>
              <a:rPr sz="2400" i="1" spc="-15" dirty="0">
                <a:latin typeface="Perpetua"/>
                <a:cs typeface="Perpetua"/>
              </a:rPr>
              <a:t>pass. </a:t>
            </a:r>
            <a:r>
              <a:rPr sz="2400" i="1" dirty="0">
                <a:latin typeface="Perpetua"/>
                <a:cs typeface="Perpetua"/>
              </a:rPr>
              <a:t>With </a:t>
            </a:r>
            <a:r>
              <a:rPr sz="2400" i="1" spc="-5" dirty="0">
                <a:latin typeface="Perpetua"/>
                <a:cs typeface="Perpetua"/>
              </a:rPr>
              <a:t>other</a:t>
            </a:r>
            <a:r>
              <a:rPr sz="2400" i="1" spc="-13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lists</a:t>
            </a:r>
            <a:endParaRPr sz="2400">
              <a:latin typeface="Perpetua"/>
              <a:cs typeface="Perpetua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400" i="1" dirty="0">
                <a:latin typeface="Perpetua"/>
                <a:cs typeface="Perpetua"/>
              </a:rPr>
              <a:t>this </a:t>
            </a:r>
            <a:r>
              <a:rPr sz="2400" i="1" spc="-15" dirty="0">
                <a:latin typeface="Perpetua"/>
                <a:cs typeface="Perpetua"/>
              </a:rPr>
              <a:t>check </a:t>
            </a:r>
            <a:r>
              <a:rPr sz="2400" i="1" spc="-5" dirty="0">
                <a:latin typeface="Perpetua"/>
                <a:cs typeface="Perpetua"/>
              </a:rPr>
              <a:t>could </a:t>
            </a:r>
            <a:r>
              <a:rPr sz="2400" i="1" spc="-35" dirty="0">
                <a:latin typeface="Perpetua"/>
                <a:cs typeface="Perpetua"/>
              </a:rPr>
              <a:t>save </a:t>
            </a:r>
            <a:r>
              <a:rPr sz="2400" i="1" spc="-5" dirty="0">
                <a:latin typeface="Perpetua"/>
                <a:cs typeface="Perpetua"/>
              </a:rPr>
              <a:t>much </a:t>
            </a:r>
            <a:r>
              <a:rPr sz="2400" i="1" spc="-10" dirty="0">
                <a:latin typeface="Perpetua"/>
                <a:cs typeface="Perpetua"/>
              </a:rPr>
              <a:t>more</a:t>
            </a:r>
            <a:r>
              <a:rPr sz="2400" i="1" spc="30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work.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3224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Perpetua"/>
                <a:cs typeface="Perpetua"/>
              </a:rPr>
              <a:t>Bubble </a:t>
            </a:r>
            <a:r>
              <a:rPr sz="4000" spc="35" dirty="0">
                <a:latin typeface="Perpetua"/>
                <a:cs typeface="Perpetua"/>
              </a:rPr>
              <a:t>Sort </a:t>
            </a:r>
            <a:r>
              <a:rPr sz="4000" spc="-5" dirty="0">
                <a:latin typeface="Perpetua"/>
                <a:cs typeface="Perpetua"/>
              </a:rPr>
              <a:t>: Sixth</a:t>
            </a:r>
            <a:r>
              <a:rPr sz="4000" spc="-254" dirty="0">
                <a:latin typeface="Perpetua"/>
                <a:cs typeface="Perpetua"/>
              </a:rPr>
              <a:t> </a:t>
            </a:r>
            <a:r>
              <a:rPr sz="4000" spc="-10" dirty="0">
                <a:latin typeface="Perpetua"/>
                <a:cs typeface="Perpetua"/>
              </a:rPr>
              <a:t>pass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0" y="1752600"/>
            <a:ext cx="1143000" cy="30245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705721" y="304915"/>
            <a:ext cx="1133100" cy="8483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63802" y="5523329"/>
            <a:ext cx="6738046" cy="5262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7340" y="836803"/>
            <a:ext cx="5418455" cy="1297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0" indent="-280035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292735" algn="l"/>
              </a:tabLst>
            </a:pPr>
            <a:r>
              <a:rPr sz="2800" i="1" spc="-25" dirty="0">
                <a:latin typeface="Perpetua"/>
                <a:cs typeface="Perpetua"/>
              </a:rPr>
              <a:t>Perform </a:t>
            </a:r>
            <a:r>
              <a:rPr sz="2800" i="1" spc="-20" dirty="0">
                <a:latin typeface="Perpetua"/>
                <a:cs typeface="Perpetua"/>
              </a:rPr>
              <a:t>bubble </a:t>
            </a:r>
            <a:r>
              <a:rPr sz="2800" i="1" spc="15" dirty="0">
                <a:latin typeface="Perpetua"/>
                <a:cs typeface="Perpetua"/>
              </a:rPr>
              <a:t>sort </a:t>
            </a:r>
            <a:r>
              <a:rPr sz="2800" i="1" spc="-5" dirty="0">
                <a:latin typeface="Perpetua"/>
                <a:cs typeface="Perpetua"/>
              </a:rPr>
              <a:t>: </a:t>
            </a:r>
            <a:r>
              <a:rPr sz="2800" i="1" spc="-20" dirty="0">
                <a:latin typeface="Perpetua"/>
                <a:cs typeface="Perpetua"/>
              </a:rPr>
              <a:t>show </a:t>
            </a:r>
            <a:r>
              <a:rPr sz="2800" i="1" spc="-5" dirty="0">
                <a:latin typeface="Perpetua"/>
                <a:cs typeface="Perpetua"/>
              </a:rPr>
              <a:t>the </a:t>
            </a:r>
            <a:r>
              <a:rPr sz="2800" i="1" spc="-10" dirty="0">
                <a:latin typeface="Perpetua"/>
                <a:cs typeface="Perpetua"/>
              </a:rPr>
              <a:t>scan </a:t>
            </a:r>
            <a:r>
              <a:rPr sz="2800" i="1" spc="-5" dirty="0">
                <a:latin typeface="Perpetua"/>
                <a:cs typeface="Perpetua"/>
              </a:rPr>
              <a:t>and</a:t>
            </a:r>
            <a:r>
              <a:rPr sz="2800" i="1" spc="-180" dirty="0">
                <a:latin typeface="Perpetua"/>
                <a:cs typeface="Perpetua"/>
              </a:rPr>
              <a:t> </a:t>
            </a:r>
            <a:r>
              <a:rPr sz="2800" i="1" spc="-60" dirty="0">
                <a:latin typeface="Perpetua"/>
                <a:cs typeface="Perpetua"/>
              </a:rPr>
              <a:t>swap.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5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2400" dirty="0">
                <a:latin typeface="Perpetua"/>
                <a:cs typeface="Perpetua"/>
              </a:rPr>
              <a:t>List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#1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5553862"/>
            <a:ext cx="8445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List</a:t>
            </a:r>
            <a:r>
              <a:rPr sz="2400" spc="-9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#2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586486"/>
            <a:ext cx="1555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FF0000"/>
                </a:solidFill>
                <a:latin typeface="Perpetua"/>
                <a:cs typeface="Perpetua"/>
              </a:rPr>
              <a:t>Solution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3400" y="1447800"/>
            <a:ext cx="914400" cy="4368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86486"/>
            <a:ext cx="1116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latin typeface="Perpetua"/>
                <a:cs typeface="Perpetua"/>
              </a:rPr>
              <a:t>Pass</a:t>
            </a:r>
            <a:r>
              <a:rPr sz="4000" spc="-8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1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1524000"/>
            <a:ext cx="838200" cy="40045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1600200"/>
            <a:ext cx="1088136" cy="38608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60775" y="6186932"/>
            <a:ext cx="518223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Perpetua"/>
                <a:cs typeface="Perpetua"/>
                <a:hlinkClick r:id="rId4"/>
              </a:rPr>
              <a:t>http://www.powershow.com/view/158a13- </a:t>
            </a:r>
            <a:r>
              <a:rPr sz="1050" spc="-5" dirty="0">
                <a:latin typeface="Perpetua"/>
                <a:cs typeface="Perpetua"/>
              </a:rPr>
              <a:t> ZjNmN/ICS103_Programming_in_C_Lecture_14_Searching_and_Sorting_powerpoint_ppt_presentation</a:t>
            </a:r>
            <a:endParaRPr sz="105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1600200"/>
            <a:ext cx="838200" cy="40045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95400" y="1676400"/>
            <a:ext cx="1088136" cy="38608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90800" y="1676400"/>
            <a:ext cx="1173479" cy="3810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586486"/>
            <a:ext cx="1116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latin typeface="Perpetua"/>
                <a:cs typeface="Perpetua"/>
              </a:rPr>
              <a:t>Pass</a:t>
            </a:r>
            <a:r>
              <a:rPr sz="4000" spc="-8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2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524000"/>
            <a:ext cx="838200" cy="3931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66800" y="1600200"/>
            <a:ext cx="1088136" cy="3886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09800" y="1600200"/>
            <a:ext cx="1173479" cy="3810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76600" y="1600200"/>
            <a:ext cx="1155700" cy="3886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3540" y="662686"/>
            <a:ext cx="1116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latin typeface="Perpetua"/>
                <a:cs typeface="Perpetua"/>
              </a:rPr>
              <a:t>Pass</a:t>
            </a:r>
            <a:r>
              <a:rPr sz="4000" spc="-8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3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1447800"/>
            <a:ext cx="838200" cy="40045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71600" y="1447800"/>
            <a:ext cx="1109472" cy="39365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14600" y="1447800"/>
            <a:ext cx="1197864" cy="3886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57600" y="1447800"/>
            <a:ext cx="1178052" cy="3962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24400" y="1447800"/>
            <a:ext cx="1143000" cy="39608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9740" y="586486"/>
            <a:ext cx="1116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latin typeface="Perpetua"/>
                <a:cs typeface="Perpetua"/>
              </a:rPr>
              <a:t>Pass</a:t>
            </a:r>
            <a:r>
              <a:rPr sz="4000" spc="-8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4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400" y="1524000"/>
            <a:ext cx="838200" cy="40045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47800" y="1600200"/>
            <a:ext cx="1088136" cy="38608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90800" y="1600200"/>
            <a:ext cx="1173479" cy="3810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33800" y="1600200"/>
            <a:ext cx="1143000" cy="38435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76800" y="1600200"/>
            <a:ext cx="2068068" cy="3810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36219" y="632586"/>
            <a:ext cx="1116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latin typeface="Perpetua"/>
                <a:cs typeface="Perpetua"/>
              </a:rPr>
              <a:t>Pass</a:t>
            </a:r>
            <a:r>
              <a:rPr sz="4000" spc="-8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5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524000"/>
            <a:ext cx="838200" cy="40045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95400" y="1600200"/>
            <a:ext cx="1088136" cy="38608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38400" y="1600200"/>
            <a:ext cx="1173479" cy="3810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57600" y="1600200"/>
            <a:ext cx="2264664" cy="3886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96000" y="1600200"/>
            <a:ext cx="1021079" cy="38862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62800" y="1600200"/>
            <a:ext cx="1043940" cy="38358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3540" y="662686"/>
            <a:ext cx="1116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latin typeface="Perpetua"/>
                <a:cs typeface="Perpetua"/>
              </a:rPr>
              <a:t>Pass</a:t>
            </a:r>
            <a:r>
              <a:rPr sz="4000" spc="-8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6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600200"/>
            <a:ext cx="8382000" cy="41674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62686"/>
            <a:ext cx="1116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latin typeface="Perpetua"/>
                <a:cs typeface="Perpetua"/>
              </a:rPr>
              <a:t>Pass</a:t>
            </a:r>
            <a:r>
              <a:rPr sz="4000" spc="-8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7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179323"/>
            <a:ext cx="1402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Perpetua"/>
                <a:cs typeface="Perpetua"/>
              </a:rPr>
              <a:t>Solution</a:t>
            </a:r>
            <a:endParaRPr sz="3600">
              <a:latin typeface="Perpetua"/>
              <a:cs typeface="Perpetu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37132" y="1219200"/>
          <a:ext cx="7315200" cy="4983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498348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65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-1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58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751838" y="1003935"/>
            <a:ext cx="609600" cy="219710"/>
          </a:xfrm>
          <a:custGeom>
            <a:avLst/>
            <a:gdLst/>
            <a:ahLst/>
            <a:cxnLst/>
            <a:rect l="l" t="t" r="r" b="b"/>
            <a:pathLst>
              <a:path w="609600" h="219709">
                <a:moveTo>
                  <a:pt x="0" y="217550"/>
                </a:moveTo>
                <a:lnTo>
                  <a:pt x="20905" y="146202"/>
                </a:lnTo>
                <a:lnTo>
                  <a:pt x="45155" y="112775"/>
                </a:lnTo>
                <a:lnTo>
                  <a:pt x="76931" y="82040"/>
                </a:lnTo>
                <a:lnTo>
                  <a:pt x="114979" y="54889"/>
                </a:lnTo>
                <a:lnTo>
                  <a:pt x="158044" y="32215"/>
                </a:lnTo>
                <a:lnTo>
                  <a:pt x="204872" y="14913"/>
                </a:lnTo>
                <a:lnTo>
                  <a:pt x="254209" y="3877"/>
                </a:lnTo>
                <a:lnTo>
                  <a:pt x="304800" y="0"/>
                </a:lnTo>
                <a:lnTo>
                  <a:pt x="355390" y="3908"/>
                </a:lnTo>
                <a:lnTo>
                  <a:pt x="404727" y="15034"/>
                </a:lnTo>
                <a:lnTo>
                  <a:pt x="451555" y="32474"/>
                </a:lnTo>
                <a:lnTo>
                  <a:pt x="494620" y="55326"/>
                </a:lnTo>
                <a:lnTo>
                  <a:pt x="532668" y="82689"/>
                </a:lnTo>
                <a:lnTo>
                  <a:pt x="564444" y="113660"/>
                </a:lnTo>
                <a:lnTo>
                  <a:pt x="588694" y="147337"/>
                </a:lnTo>
                <a:lnTo>
                  <a:pt x="604164" y="182818"/>
                </a:lnTo>
                <a:lnTo>
                  <a:pt x="609600" y="219201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49500" y="992505"/>
            <a:ext cx="625475" cy="241300"/>
          </a:xfrm>
          <a:custGeom>
            <a:avLst/>
            <a:gdLst/>
            <a:ahLst/>
            <a:cxnLst/>
            <a:rect l="l" t="t" r="r" b="b"/>
            <a:pathLst>
              <a:path w="625475" h="241300">
                <a:moveTo>
                  <a:pt x="316483" y="0"/>
                </a:moveTo>
                <a:lnTo>
                  <a:pt x="272288" y="2921"/>
                </a:lnTo>
                <a:lnTo>
                  <a:pt x="228854" y="11175"/>
                </a:lnTo>
                <a:lnTo>
                  <a:pt x="173736" y="29591"/>
                </a:lnTo>
                <a:lnTo>
                  <a:pt x="123189" y="55245"/>
                </a:lnTo>
                <a:lnTo>
                  <a:pt x="78993" y="86868"/>
                </a:lnTo>
                <a:lnTo>
                  <a:pt x="51054" y="113792"/>
                </a:lnTo>
                <a:lnTo>
                  <a:pt x="22225" y="153416"/>
                </a:lnTo>
                <a:lnTo>
                  <a:pt x="4699" y="196087"/>
                </a:lnTo>
                <a:lnTo>
                  <a:pt x="0" y="239903"/>
                </a:lnTo>
                <a:lnTo>
                  <a:pt x="22860" y="240919"/>
                </a:lnTo>
                <a:lnTo>
                  <a:pt x="23875" y="219329"/>
                </a:lnTo>
                <a:lnTo>
                  <a:pt x="25018" y="209931"/>
                </a:lnTo>
                <a:lnTo>
                  <a:pt x="37464" y="173228"/>
                </a:lnTo>
                <a:lnTo>
                  <a:pt x="60960" y="137287"/>
                </a:lnTo>
                <a:lnTo>
                  <a:pt x="94487" y="103759"/>
                </a:lnTo>
                <a:lnTo>
                  <a:pt x="135762" y="74295"/>
                </a:lnTo>
                <a:lnTo>
                  <a:pt x="183261" y="50419"/>
                </a:lnTo>
                <a:lnTo>
                  <a:pt x="235204" y="33147"/>
                </a:lnTo>
                <a:lnTo>
                  <a:pt x="275589" y="25527"/>
                </a:lnTo>
                <a:lnTo>
                  <a:pt x="316992" y="22860"/>
                </a:lnTo>
                <a:lnTo>
                  <a:pt x="441394" y="22860"/>
                </a:lnTo>
                <a:lnTo>
                  <a:pt x="431926" y="19304"/>
                </a:lnTo>
                <a:lnTo>
                  <a:pt x="375412" y="5080"/>
                </a:lnTo>
                <a:lnTo>
                  <a:pt x="331216" y="254"/>
                </a:lnTo>
                <a:lnTo>
                  <a:pt x="316483" y="0"/>
                </a:lnTo>
                <a:close/>
              </a:path>
              <a:path w="625475" h="241300">
                <a:moveTo>
                  <a:pt x="556433" y="120889"/>
                </a:moveTo>
                <a:lnTo>
                  <a:pt x="510158" y="142621"/>
                </a:lnTo>
                <a:lnTo>
                  <a:pt x="621538" y="230632"/>
                </a:lnTo>
                <a:lnTo>
                  <a:pt x="623990" y="132715"/>
                </a:lnTo>
                <a:lnTo>
                  <a:pt x="562991" y="132715"/>
                </a:lnTo>
                <a:lnTo>
                  <a:pt x="556433" y="120889"/>
                </a:lnTo>
                <a:close/>
              </a:path>
              <a:path w="625475" h="241300">
                <a:moveTo>
                  <a:pt x="556697" y="120765"/>
                </a:moveTo>
                <a:lnTo>
                  <a:pt x="556433" y="120889"/>
                </a:lnTo>
                <a:lnTo>
                  <a:pt x="562991" y="132715"/>
                </a:lnTo>
                <a:lnTo>
                  <a:pt x="582930" y="121539"/>
                </a:lnTo>
                <a:lnTo>
                  <a:pt x="557530" y="121539"/>
                </a:lnTo>
                <a:lnTo>
                  <a:pt x="556697" y="120765"/>
                </a:lnTo>
                <a:close/>
              </a:path>
              <a:path w="625475" h="241300">
                <a:moveTo>
                  <a:pt x="625094" y="88646"/>
                </a:moveTo>
                <a:lnTo>
                  <a:pt x="577169" y="111151"/>
                </a:lnTo>
                <a:lnTo>
                  <a:pt x="582930" y="121539"/>
                </a:lnTo>
                <a:lnTo>
                  <a:pt x="562991" y="132715"/>
                </a:lnTo>
                <a:lnTo>
                  <a:pt x="623990" y="132715"/>
                </a:lnTo>
                <a:lnTo>
                  <a:pt x="625094" y="88646"/>
                </a:lnTo>
                <a:close/>
              </a:path>
              <a:path w="625475" h="241300">
                <a:moveTo>
                  <a:pt x="556841" y="120698"/>
                </a:moveTo>
                <a:lnTo>
                  <a:pt x="556697" y="120765"/>
                </a:lnTo>
                <a:lnTo>
                  <a:pt x="557530" y="121539"/>
                </a:lnTo>
                <a:lnTo>
                  <a:pt x="556841" y="120698"/>
                </a:lnTo>
                <a:close/>
              </a:path>
              <a:path w="625475" h="241300">
                <a:moveTo>
                  <a:pt x="577169" y="111151"/>
                </a:moveTo>
                <a:lnTo>
                  <a:pt x="556841" y="120698"/>
                </a:lnTo>
                <a:lnTo>
                  <a:pt x="557530" y="121539"/>
                </a:lnTo>
                <a:lnTo>
                  <a:pt x="582930" y="121539"/>
                </a:lnTo>
                <a:lnTo>
                  <a:pt x="577169" y="111151"/>
                </a:lnTo>
                <a:close/>
              </a:path>
              <a:path w="625475" h="241300">
                <a:moveTo>
                  <a:pt x="556011" y="120128"/>
                </a:moveTo>
                <a:lnTo>
                  <a:pt x="556433" y="120889"/>
                </a:lnTo>
                <a:lnTo>
                  <a:pt x="556697" y="120765"/>
                </a:lnTo>
                <a:lnTo>
                  <a:pt x="556011" y="120128"/>
                </a:lnTo>
                <a:close/>
              </a:path>
              <a:path w="625475" h="241300">
                <a:moveTo>
                  <a:pt x="555244" y="118745"/>
                </a:moveTo>
                <a:lnTo>
                  <a:pt x="556025" y="120142"/>
                </a:lnTo>
                <a:lnTo>
                  <a:pt x="556697" y="120765"/>
                </a:lnTo>
                <a:lnTo>
                  <a:pt x="556841" y="120698"/>
                </a:lnTo>
                <a:lnTo>
                  <a:pt x="555244" y="118745"/>
                </a:lnTo>
                <a:close/>
              </a:path>
              <a:path w="625475" h="241300">
                <a:moveTo>
                  <a:pt x="561000" y="118745"/>
                </a:moveTo>
                <a:lnTo>
                  <a:pt x="555244" y="118745"/>
                </a:lnTo>
                <a:lnTo>
                  <a:pt x="556841" y="120698"/>
                </a:lnTo>
                <a:lnTo>
                  <a:pt x="561000" y="118745"/>
                </a:lnTo>
                <a:close/>
              </a:path>
              <a:path w="625475" h="241300">
                <a:moveTo>
                  <a:pt x="441394" y="22860"/>
                </a:moveTo>
                <a:lnTo>
                  <a:pt x="316992" y="22860"/>
                </a:lnTo>
                <a:lnTo>
                  <a:pt x="330835" y="23114"/>
                </a:lnTo>
                <a:lnTo>
                  <a:pt x="344550" y="24130"/>
                </a:lnTo>
                <a:lnTo>
                  <a:pt x="399033" y="33528"/>
                </a:lnTo>
                <a:lnTo>
                  <a:pt x="450976" y="50927"/>
                </a:lnTo>
                <a:lnTo>
                  <a:pt x="498475" y="75184"/>
                </a:lnTo>
                <a:lnTo>
                  <a:pt x="539750" y="105029"/>
                </a:lnTo>
                <a:lnTo>
                  <a:pt x="556011" y="120128"/>
                </a:lnTo>
                <a:lnTo>
                  <a:pt x="555244" y="118745"/>
                </a:lnTo>
                <a:lnTo>
                  <a:pt x="561000" y="118745"/>
                </a:lnTo>
                <a:lnTo>
                  <a:pt x="577169" y="111151"/>
                </a:lnTo>
                <a:lnTo>
                  <a:pt x="575182" y="107569"/>
                </a:lnTo>
                <a:lnTo>
                  <a:pt x="574675" y="106553"/>
                </a:lnTo>
                <a:lnTo>
                  <a:pt x="532638" y="70358"/>
                </a:lnTo>
                <a:lnTo>
                  <a:pt x="485013" y="41529"/>
                </a:lnTo>
                <a:lnTo>
                  <a:pt x="458977" y="29464"/>
                </a:lnTo>
                <a:lnTo>
                  <a:pt x="441394" y="22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68700" y="992505"/>
            <a:ext cx="625475" cy="241300"/>
          </a:xfrm>
          <a:custGeom>
            <a:avLst/>
            <a:gdLst/>
            <a:ahLst/>
            <a:cxnLst/>
            <a:rect l="l" t="t" r="r" b="b"/>
            <a:pathLst>
              <a:path w="625475" h="241300">
                <a:moveTo>
                  <a:pt x="316484" y="0"/>
                </a:moveTo>
                <a:lnTo>
                  <a:pt x="272288" y="2921"/>
                </a:lnTo>
                <a:lnTo>
                  <a:pt x="228853" y="11175"/>
                </a:lnTo>
                <a:lnTo>
                  <a:pt x="173736" y="29591"/>
                </a:lnTo>
                <a:lnTo>
                  <a:pt x="123189" y="55245"/>
                </a:lnTo>
                <a:lnTo>
                  <a:pt x="78994" y="86868"/>
                </a:lnTo>
                <a:lnTo>
                  <a:pt x="51053" y="113792"/>
                </a:lnTo>
                <a:lnTo>
                  <a:pt x="22225" y="153416"/>
                </a:lnTo>
                <a:lnTo>
                  <a:pt x="4699" y="196087"/>
                </a:lnTo>
                <a:lnTo>
                  <a:pt x="0" y="239903"/>
                </a:lnTo>
                <a:lnTo>
                  <a:pt x="22860" y="240919"/>
                </a:lnTo>
                <a:lnTo>
                  <a:pt x="23875" y="219329"/>
                </a:lnTo>
                <a:lnTo>
                  <a:pt x="25019" y="209931"/>
                </a:lnTo>
                <a:lnTo>
                  <a:pt x="37464" y="173228"/>
                </a:lnTo>
                <a:lnTo>
                  <a:pt x="60960" y="137287"/>
                </a:lnTo>
                <a:lnTo>
                  <a:pt x="94487" y="103759"/>
                </a:lnTo>
                <a:lnTo>
                  <a:pt x="135762" y="74295"/>
                </a:lnTo>
                <a:lnTo>
                  <a:pt x="183261" y="50419"/>
                </a:lnTo>
                <a:lnTo>
                  <a:pt x="235203" y="33147"/>
                </a:lnTo>
                <a:lnTo>
                  <a:pt x="275589" y="25527"/>
                </a:lnTo>
                <a:lnTo>
                  <a:pt x="316991" y="22860"/>
                </a:lnTo>
                <a:lnTo>
                  <a:pt x="441394" y="22860"/>
                </a:lnTo>
                <a:lnTo>
                  <a:pt x="431926" y="19304"/>
                </a:lnTo>
                <a:lnTo>
                  <a:pt x="375412" y="5080"/>
                </a:lnTo>
                <a:lnTo>
                  <a:pt x="331215" y="254"/>
                </a:lnTo>
                <a:lnTo>
                  <a:pt x="316484" y="0"/>
                </a:lnTo>
                <a:close/>
              </a:path>
              <a:path w="625475" h="241300">
                <a:moveTo>
                  <a:pt x="556433" y="120889"/>
                </a:moveTo>
                <a:lnTo>
                  <a:pt x="510159" y="142621"/>
                </a:lnTo>
                <a:lnTo>
                  <a:pt x="621538" y="230632"/>
                </a:lnTo>
                <a:lnTo>
                  <a:pt x="623990" y="132715"/>
                </a:lnTo>
                <a:lnTo>
                  <a:pt x="562990" y="132715"/>
                </a:lnTo>
                <a:lnTo>
                  <a:pt x="556433" y="120889"/>
                </a:lnTo>
                <a:close/>
              </a:path>
              <a:path w="625475" h="241300">
                <a:moveTo>
                  <a:pt x="556697" y="120765"/>
                </a:moveTo>
                <a:lnTo>
                  <a:pt x="556433" y="120889"/>
                </a:lnTo>
                <a:lnTo>
                  <a:pt x="562990" y="132715"/>
                </a:lnTo>
                <a:lnTo>
                  <a:pt x="582929" y="121539"/>
                </a:lnTo>
                <a:lnTo>
                  <a:pt x="557529" y="121539"/>
                </a:lnTo>
                <a:lnTo>
                  <a:pt x="556697" y="120765"/>
                </a:lnTo>
                <a:close/>
              </a:path>
              <a:path w="625475" h="241300">
                <a:moveTo>
                  <a:pt x="625094" y="88646"/>
                </a:moveTo>
                <a:lnTo>
                  <a:pt x="577169" y="111151"/>
                </a:lnTo>
                <a:lnTo>
                  <a:pt x="582929" y="121539"/>
                </a:lnTo>
                <a:lnTo>
                  <a:pt x="562990" y="132715"/>
                </a:lnTo>
                <a:lnTo>
                  <a:pt x="623990" y="132715"/>
                </a:lnTo>
                <a:lnTo>
                  <a:pt x="625094" y="88646"/>
                </a:lnTo>
                <a:close/>
              </a:path>
              <a:path w="625475" h="241300">
                <a:moveTo>
                  <a:pt x="556841" y="120698"/>
                </a:moveTo>
                <a:lnTo>
                  <a:pt x="556697" y="120765"/>
                </a:lnTo>
                <a:lnTo>
                  <a:pt x="557529" y="121539"/>
                </a:lnTo>
                <a:lnTo>
                  <a:pt x="556841" y="120698"/>
                </a:lnTo>
                <a:close/>
              </a:path>
              <a:path w="625475" h="241300">
                <a:moveTo>
                  <a:pt x="577169" y="111151"/>
                </a:moveTo>
                <a:lnTo>
                  <a:pt x="556841" y="120698"/>
                </a:lnTo>
                <a:lnTo>
                  <a:pt x="557529" y="121539"/>
                </a:lnTo>
                <a:lnTo>
                  <a:pt x="582929" y="121539"/>
                </a:lnTo>
                <a:lnTo>
                  <a:pt x="577169" y="111151"/>
                </a:lnTo>
                <a:close/>
              </a:path>
              <a:path w="625475" h="241300">
                <a:moveTo>
                  <a:pt x="556011" y="120128"/>
                </a:moveTo>
                <a:lnTo>
                  <a:pt x="556433" y="120889"/>
                </a:lnTo>
                <a:lnTo>
                  <a:pt x="556697" y="120765"/>
                </a:lnTo>
                <a:lnTo>
                  <a:pt x="556011" y="120128"/>
                </a:lnTo>
                <a:close/>
              </a:path>
              <a:path w="625475" h="241300">
                <a:moveTo>
                  <a:pt x="555244" y="118745"/>
                </a:moveTo>
                <a:lnTo>
                  <a:pt x="556025" y="120142"/>
                </a:lnTo>
                <a:lnTo>
                  <a:pt x="556697" y="120765"/>
                </a:lnTo>
                <a:lnTo>
                  <a:pt x="556841" y="120698"/>
                </a:lnTo>
                <a:lnTo>
                  <a:pt x="555244" y="118745"/>
                </a:lnTo>
                <a:close/>
              </a:path>
              <a:path w="625475" h="241300">
                <a:moveTo>
                  <a:pt x="561000" y="118745"/>
                </a:moveTo>
                <a:lnTo>
                  <a:pt x="555244" y="118745"/>
                </a:lnTo>
                <a:lnTo>
                  <a:pt x="556841" y="120698"/>
                </a:lnTo>
                <a:lnTo>
                  <a:pt x="561000" y="118745"/>
                </a:lnTo>
                <a:close/>
              </a:path>
              <a:path w="625475" h="241300">
                <a:moveTo>
                  <a:pt x="441394" y="22860"/>
                </a:moveTo>
                <a:lnTo>
                  <a:pt x="316991" y="22860"/>
                </a:lnTo>
                <a:lnTo>
                  <a:pt x="330835" y="23114"/>
                </a:lnTo>
                <a:lnTo>
                  <a:pt x="344550" y="24130"/>
                </a:lnTo>
                <a:lnTo>
                  <a:pt x="399034" y="33528"/>
                </a:lnTo>
                <a:lnTo>
                  <a:pt x="450976" y="50927"/>
                </a:lnTo>
                <a:lnTo>
                  <a:pt x="498475" y="75184"/>
                </a:lnTo>
                <a:lnTo>
                  <a:pt x="539750" y="105029"/>
                </a:lnTo>
                <a:lnTo>
                  <a:pt x="556011" y="120128"/>
                </a:lnTo>
                <a:lnTo>
                  <a:pt x="555244" y="118745"/>
                </a:lnTo>
                <a:lnTo>
                  <a:pt x="561000" y="118745"/>
                </a:lnTo>
                <a:lnTo>
                  <a:pt x="577169" y="111151"/>
                </a:lnTo>
                <a:lnTo>
                  <a:pt x="575183" y="107569"/>
                </a:lnTo>
                <a:lnTo>
                  <a:pt x="574675" y="106553"/>
                </a:lnTo>
                <a:lnTo>
                  <a:pt x="532638" y="70358"/>
                </a:lnTo>
                <a:lnTo>
                  <a:pt x="485013" y="41529"/>
                </a:lnTo>
                <a:lnTo>
                  <a:pt x="458977" y="29464"/>
                </a:lnTo>
                <a:lnTo>
                  <a:pt x="441394" y="22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99838" y="1003935"/>
            <a:ext cx="609600" cy="219710"/>
          </a:xfrm>
          <a:custGeom>
            <a:avLst/>
            <a:gdLst/>
            <a:ahLst/>
            <a:cxnLst/>
            <a:rect l="l" t="t" r="r" b="b"/>
            <a:pathLst>
              <a:path w="609600" h="219709">
                <a:moveTo>
                  <a:pt x="0" y="217550"/>
                </a:moveTo>
                <a:lnTo>
                  <a:pt x="20905" y="146202"/>
                </a:lnTo>
                <a:lnTo>
                  <a:pt x="45155" y="112775"/>
                </a:lnTo>
                <a:lnTo>
                  <a:pt x="76931" y="82040"/>
                </a:lnTo>
                <a:lnTo>
                  <a:pt x="114979" y="54889"/>
                </a:lnTo>
                <a:lnTo>
                  <a:pt x="158044" y="32215"/>
                </a:lnTo>
                <a:lnTo>
                  <a:pt x="204872" y="14913"/>
                </a:lnTo>
                <a:lnTo>
                  <a:pt x="254209" y="3877"/>
                </a:lnTo>
                <a:lnTo>
                  <a:pt x="304800" y="0"/>
                </a:lnTo>
                <a:lnTo>
                  <a:pt x="355390" y="3908"/>
                </a:lnTo>
                <a:lnTo>
                  <a:pt x="404727" y="15034"/>
                </a:lnTo>
                <a:lnTo>
                  <a:pt x="451555" y="32474"/>
                </a:lnTo>
                <a:lnTo>
                  <a:pt x="494620" y="55326"/>
                </a:lnTo>
                <a:lnTo>
                  <a:pt x="532668" y="82689"/>
                </a:lnTo>
                <a:lnTo>
                  <a:pt x="564444" y="113660"/>
                </a:lnTo>
                <a:lnTo>
                  <a:pt x="588694" y="147337"/>
                </a:lnTo>
                <a:lnTo>
                  <a:pt x="604164" y="182818"/>
                </a:lnTo>
                <a:lnTo>
                  <a:pt x="609600" y="219201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09438" y="1003935"/>
            <a:ext cx="609600" cy="219710"/>
          </a:xfrm>
          <a:custGeom>
            <a:avLst/>
            <a:gdLst/>
            <a:ahLst/>
            <a:cxnLst/>
            <a:rect l="l" t="t" r="r" b="b"/>
            <a:pathLst>
              <a:path w="609600" h="219709">
                <a:moveTo>
                  <a:pt x="0" y="217550"/>
                </a:moveTo>
                <a:lnTo>
                  <a:pt x="20905" y="146202"/>
                </a:lnTo>
                <a:lnTo>
                  <a:pt x="45155" y="112775"/>
                </a:lnTo>
                <a:lnTo>
                  <a:pt x="76931" y="82040"/>
                </a:lnTo>
                <a:lnTo>
                  <a:pt x="114979" y="54889"/>
                </a:lnTo>
                <a:lnTo>
                  <a:pt x="158044" y="32215"/>
                </a:lnTo>
                <a:lnTo>
                  <a:pt x="204872" y="14913"/>
                </a:lnTo>
                <a:lnTo>
                  <a:pt x="254209" y="3877"/>
                </a:lnTo>
                <a:lnTo>
                  <a:pt x="304800" y="0"/>
                </a:lnTo>
                <a:lnTo>
                  <a:pt x="355390" y="3908"/>
                </a:lnTo>
                <a:lnTo>
                  <a:pt x="404727" y="15034"/>
                </a:lnTo>
                <a:lnTo>
                  <a:pt x="451555" y="32474"/>
                </a:lnTo>
                <a:lnTo>
                  <a:pt x="494620" y="55326"/>
                </a:lnTo>
                <a:lnTo>
                  <a:pt x="532668" y="82689"/>
                </a:lnTo>
                <a:lnTo>
                  <a:pt x="564444" y="113660"/>
                </a:lnTo>
                <a:lnTo>
                  <a:pt x="588694" y="147337"/>
                </a:lnTo>
                <a:lnTo>
                  <a:pt x="604164" y="182818"/>
                </a:lnTo>
                <a:lnTo>
                  <a:pt x="609600" y="219201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19038" y="1003935"/>
            <a:ext cx="609600" cy="219710"/>
          </a:xfrm>
          <a:custGeom>
            <a:avLst/>
            <a:gdLst/>
            <a:ahLst/>
            <a:cxnLst/>
            <a:rect l="l" t="t" r="r" b="b"/>
            <a:pathLst>
              <a:path w="609600" h="219709">
                <a:moveTo>
                  <a:pt x="0" y="217550"/>
                </a:moveTo>
                <a:lnTo>
                  <a:pt x="20905" y="146202"/>
                </a:lnTo>
                <a:lnTo>
                  <a:pt x="45155" y="112775"/>
                </a:lnTo>
                <a:lnTo>
                  <a:pt x="76931" y="82040"/>
                </a:lnTo>
                <a:lnTo>
                  <a:pt x="114979" y="54889"/>
                </a:lnTo>
                <a:lnTo>
                  <a:pt x="158044" y="32215"/>
                </a:lnTo>
                <a:lnTo>
                  <a:pt x="204872" y="14913"/>
                </a:lnTo>
                <a:lnTo>
                  <a:pt x="254209" y="3877"/>
                </a:lnTo>
                <a:lnTo>
                  <a:pt x="304800" y="0"/>
                </a:lnTo>
                <a:lnTo>
                  <a:pt x="355390" y="3908"/>
                </a:lnTo>
                <a:lnTo>
                  <a:pt x="404727" y="15034"/>
                </a:lnTo>
                <a:lnTo>
                  <a:pt x="451555" y="32474"/>
                </a:lnTo>
                <a:lnTo>
                  <a:pt x="494620" y="55326"/>
                </a:lnTo>
                <a:lnTo>
                  <a:pt x="532668" y="82689"/>
                </a:lnTo>
                <a:lnTo>
                  <a:pt x="564444" y="113660"/>
                </a:lnTo>
                <a:lnTo>
                  <a:pt x="588694" y="147337"/>
                </a:lnTo>
                <a:lnTo>
                  <a:pt x="604164" y="182818"/>
                </a:lnTo>
                <a:lnTo>
                  <a:pt x="609600" y="219201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28638" y="1003935"/>
            <a:ext cx="609600" cy="219710"/>
          </a:xfrm>
          <a:custGeom>
            <a:avLst/>
            <a:gdLst/>
            <a:ahLst/>
            <a:cxnLst/>
            <a:rect l="l" t="t" r="r" b="b"/>
            <a:pathLst>
              <a:path w="609600" h="219709">
                <a:moveTo>
                  <a:pt x="0" y="217550"/>
                </a:moveTo>
                <a:lnTo>
                  <a:pt x="20905" y="146202"/>
                </a:lnTo>
                <a:lnTo>
                  <a:pt x="45155" y="112775"/>
                </a:lnTo>
                <a:lnTo>
                  <a:pt x="76931" y="82040"/>
                </a:lnTo>
                <a:lnTo>
                  <a:pt x="114979" y="54889"/>
                </a:lnTo>
                <a:lnTo>
                  <a:pt x="158044" y="32215"/>
                </a:lnTo>
                <a:lnTo>
                  <a:pt x="204872" y="14913"/>
                </a:lnTo>
                <a:lnTo>
                  <a:pt x="254209" y="3877"/>
                </a:lnTo>
                <a:lnTo>
                  <a:pt x="304800" y="0"/>
                </a:lnTo>
                <a:lnTo>
                  <a:pt x="355390" y="3908"/>
                </a:lnTo>
                <a:lnTo>
                  <a:pt x="404727" y="15034"/>
                </a:lnTo>
                <a:lnTo>
                  <a:pt x="451555" y="32474"/>
                </a:lnTo>
                <a:lnTo>
                  <a:pt x="494620" y="55326"/>
                </a:lnTo>
                <a:lnTo>
                  <a:pt x="532668" y="82689"/>
                </a:lnTo>
                <a:lnTo>
                  <a:pt x="564444" y="113660"/>
                </a:lnTo>
                <a:lnTo>
                  <a:pt x="588694" y="147337"/>
                </a:lnTo>
                <a:lnTo>
                  <a:pt x="604164" y="182818"/>
                </a:lnTo>
                <a:lnTo>
                  <a:pt x="609600" y="219201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38238" y="1003935"/>
            <a:ext cx="609600" cy="219710"/>
          </a:xfrm>
          <a:custGeom>
            <a:avLst/>
            <a:gdLst/>
            <a:ahLst/>
            <a:cxnLst/>
            <a:rect l="l" t="t" r="r" b="b"/>
            <a:pathLst>
              <a:path w="609600" h="219709">
                <a:moveTo>
                  <a:pt x="0" y="217550"/>
                </a:moveTo>
                <a:lnTo>
                  <a:pt x="20905" y="146202"/>
                </a:lnTo>
                <a:lnTo>
                  <a:pt x="45155" y="112775"/>
                </a:lnTo>
                <a:lnTo>
                  <a:pt x="76931" y="82040"/>
                </a:lnTo>
                <a:lnTo>
                  <a:pt x="114979" y="54889"/>
                </a:lnTo>
                <a:lnTo>
                  <a:pt x="158044" y="32215"/>
                </a:lnTo>
                <a:lnTo>
                  <a:pt x="204872" y="14913"/>
                </a:lnTo>
                <a:lnTo>
                  <a:pt x="254209" y="3877"/>
                </a:lnTo>
                <a:lnTo>
                  <a:pt x="304800" y="0"/>
                </a:lnTo>
                <a:lnTo>
                  <a:pt x="355390" y="3908"/>
                </a:lnTo>
                <a:lnTo>
                  <a:pt x="404727" y="15034"/>
                </a:lnTo>
                <a:lnTo>
                  <a:pt x="451555" y="32474"/>
                </a:lnTo>
                <a:lnTo>
                  <a:pt x="494620" y="55326"/>
                </a:lnTo>
                <a:lnTo>
                  <a:pt x="532668" y="82689"/>
                </a:lnTo>
                <a:lnTo>
                  <a:pt x="564444" y="113660"/>
                </a:lnTo>
                <a:lnTo>
                  <a:pt x="588694" y="147337"/>
                </a:lnTo>
                <a:lnTo>
                  <a:pt x="604164" y="182818"/>
                </a:lnTo>
                <a:lnTo>
                  <a:pt x="609600" y="219201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35900" y="992505"/>
            <a:ext cx="625475" cy="241300"/>
          </a:xfrm>
          <a:custGeom>
            <a:avLst/>
            <a:gdLst/>
            <a:ahLst/>
            <a:cxnLst/>
            <a:rect l="l" t="t" r="r" b="b"/>
            <a:pathLst>
              <a:path w="625475" h="241300">
                <a:moveTo>
                  <a:pt x="316483" y="0"/>
                </a:moveTo>
                <a:lnTo>
                  <a:pt x="272288" y="2921"/>
                </a:lnTo>
                <a:lnTo>
                  <a:pt x="228853" y="11175"/>
                </a:lnTo>
                <a:lnTo>
                  <a:pt x="173735" y="29591"/>
                </a:lnTo>
                <a:lnTo>
                  <a:pt x="123190" y="55245"/>
                </a:lnTo>
                <a:lnTo>
                  <a:pt x="78994" y="86868"/>
                </a:lnTo>
                <a:lnTo>
                  <a:pt x="51053" y="113792"/>
                </a:lnTo>
                <a:lnTo>
                  <a:pt x="22225" y="153416"/>
                </a:lnTo>
                <a:lnTo>
                  <a:pt x="4699" y="196087"/>
                </a:lnTo>
                <a:lnTo>
                  <a:pt x="0" y="239903"/>
                </a:lnTo>
                <a:lnTo>
                  <a:pt x="22859" y="240919"/>
                </a:lnTo>
                <a:lnTo>
                  <a:pt x="23875" y="219329"/>
                </a:lnTo>
                <a:lnTo>
                  <a:pt x="25019" y="209931"/>
                </a:lnTo>
                <a:lnTo>
                  <a:pt x="37465" y="173228"/>
                </a:lnTo>
                <a:lnTo>
                  <a:pt x="60959" y="137287"/>
                </a:lnTo>
                <a:lnTo>
                  <a:pt x="94488" y="103759"/>
                </a:lnTo>
                <a:lnTo>
                  <a:pt x="135763" y="74295"/>
                </a:lnTo>
                <a:lnTo>
                  <a:pt x="183260" y="50419"/>
                </a:lnTo>
                <a:lnTo>
                  <a:pt x="235203" y="33147"/>
                </a:lnTo>
                <a:lnTo>
                  <a:pt x="275590" y="25527"/>
                </a:lnTo>
                <a:lnTo>
                  <a:pt x="316992" y="22860"/>
                </a:lnTo>
                <a:lnTo>
                  <a:pt x="441394" y="22860"/>
                </a:lnTo>
                <a:lnTo>
                  <a:pt x="431926" y="19304"/>
                </a:lnTo>
                <a:lnTo>
                  <a:pt x="375411" y="5080"/>
                </a:lnTo>
                <a:lnTo>
                  <a:pt x="331216" y="254"/>
                </a:lnTo>
                <a:lnTo>
                  <a:pt x="316483" y="0"/>
                </a:lnTo>
                <a:close/>
              </a:path>
              <a:path w="625475" h="241300">
                <a:moveTo>
                  <a:pt x="556433" y="120889"/>
                </a:moveTo>
                <a:lnTo>
                  <a:pt x="510158" y="142621"/>
                </a:lnTo>
                <a:lnTo>
                  <a:pt x="621538" y="230632"/>
                </a:lnTo>
                <a:lnTo>
                  <a:pt x="623990" y="132715"/>
                </a:lnTo>
                <a:lnTo>
                  <a:pt x="562991" y="132715"/>
                </a:lnTo>
                <a:lnTo>
                  <a:pt x="556433" y="120889"/>
                </a:lnTo>
                <a:close/>
              </a:path>
              <a:path w="625475" h="241300">
                <a:moveTo>
                  <a:pt x="556697" y="120765"/>
                </a:moveTo>
                <a:lnTo>
                  <a:pt x="556433" y="120889"/>
                </a:lnTo>
                <a:lnTo>
                  <a:pt x="562991" y="132715"/>
                </a:lnTo>
                <a:lnTo>
                  <a:pt x="582929" y="121539"/>
                </a:lnTo>
                <a:lnTo>
                  <a:pt x="557529" y="121539"/>
                </a:lnTo>
                <a:lnTo>
                  <a:pt x="556697" y="120765"/>
                </a:lnTo>
                <a:close/>
              </a:path>
              <a:path w="625475" h="241300">
                <a:moveTo>
                  <a:pt x="625094" y="88646"/>
                </a:moveTo>
                <a:lnTo>
                  <a:pt x="577169" y="111151"/>
                </a:lnTo>
                <a:lnTo>
                  <a:pt x="582929" y="121539"/>
                </a:lnTo>
                <a:lnTo>
                  <a:pt x="562991" y="132715"/>
                </a:lnTo>
                <a:lnTo>
                  <a:pt x="623990" y="132715"/>
                </a:lnTo>
                <a:lnTo>
                  <a:pt x="625094" y="88646"/>
                </a:lnTo>
                <a:close/>
              </a:path>
              <a:path w="625475" h="241300">
                <a:moveTo>
                  <a:pt x="556841" y="120698"/>
                </a:moveTo>
                <a:lnTo>
                  <a:pt x="556697" y="120765"/>
                </a:lnTo>
                <a:lnTo>
                  <a:pt x="557529" y="121539"/>
                </a:lnTo>
                <a:lnTo>
                  <a:pt x="556841" y="120698"/>
                </a:lnTo>
                <a:close/>
              </a:path>
              <a:path w="625475" h="241300">
                <a:moveTo>
                  <a:pt x="577169" y="111151"/>
                </a:moveTo>
                <a:lnTo>
                  <a:pt x="556841" y="120698"/>
                </a:lnTo>
                <a:lnTo>
                  <a:pt x="557529" y="121539"/>
                </a:lnTo>
                <a:lnTo>
                  <a:pt x="582929" y="121539"/>
                </a:lnTo>
                <a:lnTo>
                  <a:pt x="577169" y="111151"/>
                </a:lnTo>
                <a:close/>
              </a:path>
              <a:path w="625475" h="241300">
                <a:moveTo>
                  <a:pt x="556011" y="120128"/>
                </a:moveTo>
                <a:lnTo>
                  <a:pt x="556433" y="120889"/>
                </a:lnTo>
                <a:lnTo>
                  <a:pt x="556697" y="120765"/>
                </a:lnTo>
                <a:lnTo>
                  <a:pt x="556011" y="120128"/>
                </a:lnTo>
                <a:close/>
              </a:path>
              <a:path w="625475" h="241300">
                <a:moveTo>
                  <a:pt x="555244" y="118745"/>
                </a:moveTo>
                <a:lnTo>
                  <a:pt x="556025" y="120142"/>
                </a:lnTo>
                <a:lnTo>
                  <a:pt x="556697" y="120765"/>
                </a:lnTo>
                <a:lnTo>
                  <a:pt x="556841" y="120698"/>
                </a:lnTo>
                <a:lnTo>
                  <a:pt x="555244" y="118745"/>
                </a:lnTo>
                <a:close/>
              </a:path>
              <a:path w="625475" h="241300">
                <a:moveTo>
                  <a:pt x="561000" y="118745"/>
                </a:moveTo>
                <a:lnTo>
                  <a:pt x="555244" y="118745"/>
                </a:lnTo>
                <a:lnTo>
                  <a:pt x="556841" y="120698"/>
                </a:lnTo>
                <a:lnTo>
                  <a:pt x="561000" y="118745"/>
                </a:lnTo>
                <a:close/>
              </a:path>
              <a:path w="625475" h="241300">
                <a:moveTo>
                  <a:pt x="441394" y="22860"/>
                </a:moveTo>
                <a:lnTo>
                  <a:pt x="316992" y="22860"/>
                </a:lnTo>
                <a:lnTo>
                  <a:pt x="330834" y="23114"/>
                </a:lnTo>
                <a:lnTo>
                  <a:pt x="344550" y="24130"/>
                </a:lnTo>
                <a:lnTo>
                  <a:pt x="399033" y="33528"/>
                </a:lnTo>
                <a:lnTo>
                  <a:pt x="450976" y="50927"/>
                </a:lnTo>
                <a:lnTo>
                  <a:pt x="498475" y="75184"/>
                </a:lnTo>
                <a:lnTo>
                  <a:pt x="539750" y="105029"/>
                </a:lnTo>
                <a:lnTo>
                  <a:pt x="556011" y="120128"/>
                </a:lnTo>
                <a:lnTo>
                  <a:pt x="555244" y="118745"/>
                </a:lnTo>
                <a:lnTo>
                  <a:pt x="561000" y="118745"/>
                </a:lnTo>
                <a:lnTo>
                  <a:pt x="577169" y="111151"/>
                </a:lnTo>
                <a:lnTo>
                  <a:pt x="575182" y="107569"/>
                </a:lnTo>
                <a:lnTo>
                  <a:pt x="574675" y="106553"/>
                </a:lnTo>
                <a:lnTo>
                  <a:pt x="532638" y="70358"/>
                </a:lnTo>
                <a:lnTo>
                  <a:pt x="485013" y="41529"/>
                </a:lnTo>
                <a:lnTo>
                  <a:pt x="458977" y="29464"/>
                </a:lnTo>
                <a:lnTo>
                  <a:pt x="441394" y="22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437132" y="2362200"/>
          <a:ext cx="7315200" cy="4983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4983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40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43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-1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58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42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65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1739900" y="2135504"/>
            <a:ext cx="625475" cy="241300"/>
          </a:xfrm>
          <a:custGeom>
            <a:avLst/>
            <a:gdLst/>
            <a:ahLst/>
            <a:cxnLst/>
            <a:rect l="l" t="t" r="r" b="b"/>
            <a:pathLst>
              <a:path w="625475" h="241300">
                <a:moveTo>
                  <a:pt x="316483" y="0"/>
                </a:moveTo>
                <a:lnTo>
                  <a:pt x="272288" y="2921"/>
                </a:lnTo>
                <a:lnTo>
                  <a:pt x="228854" y="11175"/>
                </a:lnTo>
                <a:lnTo>
                  <a:pt x="173736" y="29591"/>
                </a:lnTo>
                <a:lnTo>
                  <a:pt x="123189" y="55245"/>
                </a:lnTo>
                <a:lnTo>
                  <a:pt x="78993" y="86868"/>
                </a:lnTo>
                <a:lnTo>
                  <a:pt x="51054" y="113792"/>
                </a:lnTo>
                <a:lnTo>
                  <a:pt x="22225" y="153416"/>
                </a:lnTo>
                <a:lnTo>
                  <a:pt x="4699" y="196087"/>
                </a:lnTo>
                <a:lnTo>
                  <a:pt x="0" y="239903"/>
                </a:lnTo>
                <a:lnTo>
                  <a:pt x="22860" y="240919"/>
                </a:lnTo>
                <a:lnTo>
                  <a:pt x="23875" y="219329"/>
                </a:lnTo>
                <a:lnTo>
                  <a:pt x="25018" y="209931"/>
                </a:lnTo>
                <a:lnTo>
                  <a:pt x="37464" y="173228"/>
                </a:lnTo>
                <a:lnTo>
                  <a:pt x="60960" y="137287"/>
                </a:lnTo>
                <a:lnTo>
                  <a:pt x="94487" y="103759"/>
                </a:lnTo>
                <a:lnTo>
                  <a:pt x="135762" y="74295"/>
                </a:lnTo>
                <a:lnTo>
                  <a:pt x="183261" y="50419"/>
                </a:lnTo>
                <a:lnTo>
                  <a:pt x="235204" y="33147"/>
                </a:lnTo>
                <a:lnTo>
                  <a:pt x="275589" y="25527"/>
                </a:lnTo>
                <a:lnTo>
                  <a:pt x="316992" y="22860"/>
                </a:lnTo>
                <a:lnTo>
                  <a:pt x="441394" y="22860"/>
                </a:lnTo>
                <a:lnTo>
                  <a:pt x="431926" y="19304"/>
                </a:lnTo>
                <a:lnTo>
                  <a:pt x="375412" y="5080"/>
                </a:lnTo>
                <a:lnTo>
                  <a:pt x="331216" y="254"/>
                </a:lnTo>
                <a:lnTo>
                  <a:pt x="316483" y="0"/>
                </a:lnTo>
                <a:close/>
              </a:path>
              <a:path w="625475" h="241300">
                <a:moveTo>
                  <a:pt x="556433" y="120889"/>
                </a:moveTo>
                <a:lnTo>
                  <a:pt x="510158" y="142621"/>
                </a:lnTo>
                <a:lnTo>
                  <a:pt x="621538" y="230632"/>
                </a:lnTo>
                <a:lnTo>
                  <a:pt x="623990" y="132715"/>
                </a:lnTo>
                <a:lnTo>
                  <a:pt x="562991" y="132715"/>
                </a:lnTo>
                <a:lnTo>
                  <a:pt x="556433" y="120889"/>
                </a:lnTo>
                <a:close/>
              </a:path>
              <a:path w="625475" h="241300">
                <a:moveTo>
                  <a:pt x="556697" y="120765"/>
                </a:moveTo>
                <a:lnTo>
                  <a:pt x="556433" y="120889"/>
                </a:lnTo>
                <a:lnTo>
                  <a:pt x="562991" y="132715"/>
                </a:lnTo>
                <a:lnTo>
                  <a:pt x="582930" y="121539"/>
                </a:lnTo>
                <a:lnTo>
                  <a:pt x="557530" y="121539"/>
                </a:lnTo>
                <a:lnTo>
                  <a:pt x="556697" y="120765"/>
                </a:lnTo>
                <a:close/>
              </a:path>
              <a:path w="625475" h="241300">
                <a:moveTo>
                  <a:pt x="625094" y="88646"/>
                </a:moveTo>
                <a:lnTo>
                  <a:pt x="577169" y="111151"/>
                </a:lnTo>
                <a:lnTo>
                  <a:pt x="582930" y="121539"/>
                </a:lnTo>
                <a:lnTo>
                  <a:pt x="562991" y="132715"/>
                </a:lnTo>
                <a:lnTo>
                  <a:pt x="623990" y="132715"/>
                </a:lnTo>
                <a:lnTo>
                  <a:pt x="625094" y="88646"/>
                </a:lnTo>
                <a:close/>
              </a:path>
              <a:path w="625475" h="241300">
                <a:moveTo>
                  <a:pt x="556841" y="120698"/>
                </a:moveTo>
                <a:lnTo>
                  <a:pt x="556697" y="120765"/>
                </a:lnTo>
                <a:lnTo>
                  <a:pt x="557530" y="121539"/>
                </a:lnTo>
                <a:lnTo>
                  <a:pt x="556841" y="120698"/>
                </a:lnTo>
                <a:close/>
              </a:path>
              <a:path w="625475" h="241300">
                <a:moveTo>
                  <a:pt x="577169" y="111151"/>
                </a:moveTo>
                <a:lnTo>
                  <a:pt x="556841" y="120698"/>
                </a:lnTo>
                <a:lnTo>
                  <a:pt x="557530" y="121539"/>
                </a:lnTo>
                <a:lnTo>
                  <a:pt x="582930" y="121539"/>
                </a:lnTo>
                <a:lnTo>
                  <a:pt x="577169" y="111151"/>
                </a:lnTo>
                <a:close/>
              </a:path>
              <a:path w="625475" h="241300">
                <a:moveTo>
                  <a:pt x="556011" y="120128"/>
                </a:moveTo>
                <a:lnTo>
                  <a:pt x="556433" y="120889"/>
                </a:lnTo>
                <a:lnTo>
                  <a:pt x="556697" y="120765"/>
                </a:lnTo>
                <a:lnTo>
                  <a:pt x="556011" y="120128"/>
                </a:lnTo>
                <a:close/>
              </a:path>
              <a:path w="625475" h="241300">
                <a:moveTo>
                  <a:pt x="555244" y="118745"/>
                </a:moveTo>
                <a:lnTo>
                  <a:pt x="556025" y="120142"/>
                </a:lnTo>
                <a:lnTo>
                  <a:pt x="556697" y="120765"/>
                </a:lnTo>
                <a:lnTo>
                  <a:pt x="556841" y="120698"/>
                </a:lnTo>
                <a:lnTo>
                  <a:pt x="555244" y="118745"/>
                </a:lnTo>
                <a:close/>
              </a:path>
              <a:path w="625475" h="241300">
                <a:moveTo>
                  <a:pt x="561000" y="118745"/>
                </a:moveTo>
                <a:lnTo>
                  <a:pt x="555244" y="118745"/>
                </a:lnTo>
                <a:lnTo>
                  <a:pt x="556841" y="120698"/>
                </a:lnTo>
                <a:lnTo>
                  <a:pt x="561000" y="118745"/>
                </a:lnTo>
                <a:close/>
              </a:path>
              <a:path w="625475" h="241300">
                <a:moveTo>
                  <a:pt x="441394" y="22860"/>
                </a:moveTo>
                <a:lnTo>
                  <a:pt x="316992" y="22860"/>
                </a:lnTo>
                <a:lnTo>
                  <a:pt x="330835" y="23114"/>
                </a:lnTo>
                <a:lnTo>
                  <a:pt x="344550" y="24130"/>
                </a:lnTo>
                <a:lnTo>
                  <a:pt x="399033" y="33528"/>
                </a:lnTo>
                <a:lnTo>
                  <a:pt x="450976" y="50927"/>
                </a:lnTo>
                <a:lnTo>
                  <a:pt x="498475" y="75184"/>
                </a:lnTo>
                <a:lnTo>
                  <a:pt x="539750" y="105029"/>
                </a:lnTo>
                <a:lnTo>
                  <a:pt x="556011" y="120128"/>
                </a:lnTo>
                <a:lnTo>
                  <a:pt x="555244" y="118745"/>
                </a:lnTo>
                <a:lnTo>
                  <a:pt x="561000" y="118745"/>
                </a:lnTo>
                <a:lnTo>
                  <a:pt x="577169" y="111151"/>
                </a:lnTo>
                <a:lnTo>
                  <a:pt x="575182" y="107569"/>
                </a:lnTo>
                <a:lnTo>
                  <a:pt x="574675" y="106553"/>
                </a:lnTo>
                <a:lnTo>
                  <a:pt x="532638" y="70358"/>
                </a:lnTo>
                <a:lnTo>
                  <a:pt x="485013" y="41529"/>
                </a:lnTo>
                <a:lnTo>
                  <a:pt x="458977" y="29464"/>
                </a:lnTo>
                <a:lnTo>
                  <a:pt x="441394" y="22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59100" y="2135504"/>
            <a:ext cx="625475" cy="241300"/>
          </a:xfrm>
          <a:custGeom>
            <a:avLst/>
            <a:gdLst/>
            <a:ahLst/>
            <a:cxnLst/>
            <a:rect l="l" t="t" r="r" b="b"/>
            <a:pathLst>
              <a:path w="625475" h="241300">
                <a:moveTo>
                  <a:pt x="316484" y="0"/>
                </a:moveTo>
                <a:lnTo>
                  <a:pt x="272288" y="2921"/>
                </a:lnTo>
                <a:lnTo>
                  <a:pt x="228854" y="11175"/>
                </a:lnTo>
                <a:lnTo>
                  <a:pt x="173736" y="29591"/>
                </a:lnTo>
                <a:lnTo>
                  <a:pt x="123189" y="55245"/>
                </a:lnTo>
                <a:lnTo>
                  <a:pt x="78993" y="86868"/>
                </a:lnTo>
                <a:lnTo>
                  <a:pt x="51054" y="113792"/>
                </a:lnTo>
                <a:lnTo>
                  <a:pt x="22225" y="153416"/>
                </a:lnTo>
                <a:lnTo>
                  <a:pt x="4699" y="196087"/>
                </a:lnTo>
                <a:lnTo>
                  <a:pt x="0" y="239903"/>
                </a:lnTo>
                <a:lnTo>
                  <a:pt x="22860" y="240919"/>
                </a:lnTo>
                <a:lnTo>
                  <a:pt x="23875" y="219329"/>
                </a:lnTo>
                <a:lnTo>
                  <a:pt x="25018" y="209931"/>
                </a:lnTo>
                <a:lnTo>
                  <a:pt x="37464" y="173228"/>
                </a:lnTo>
                <a:lnTo>
                  <a:pt x="60960" y="137287"/>
                </a:lnTo>
                <a:lnTo>
                  <a:pt x="94487" y="103759"/>
                </a:lnTo>
                <a:lnTo>
                  <a:pt x="135762" y="74295"/>
                </a:lnTo>
                <a:lnTo>
                  <a:pt x="183261" y="50419"/>
                </a:lnTo>
                <a:lnTo>
                  <a:pt x="235204" y="33147"/>
                </a:lnTo>
                <a:lnTo>
                  <a:pt x="275589" y="25527"/>
                </a:lnTo>
                <a:lnTo>
                  <a:pt x="316991" y="22860"/>
                </a:lnTo>
                <a:lnTo>
                  <a:pt x="441394" y="22860"/>
                </a:lnTo>
                <a:lnTo>
                  <a:pt x="431926" y="19304"/>
                </a:lnTo>
                <a:lnTo>
                  <a:pt x="375412" y="5080"/>
                </a:lnTo>
                <a:lnTo>
                  <a:pt x="331215" y="254"/>
                </a:lnTo>
                <a:lnTo>
                  <a:pt x="316484" y="0"/>
                </a:lnTo>
                <a:close/>
              </a:path>
              <a:path w="625475" h="241300">
                <a:moveTo>
                  <a:pt x="556433" y="120889"/>
                </a:moveTo>
                <a:lnTo>
                  <a:pt x="510159" y="142621"/>
                </a:lnTo>
                <a:lnTo>
                  <a:pt x="621538" y="230632"/>
                </a:lnTo>
                <a:lnTo>
                  <a:pt x="623990" y="132715"/>
                </a:lnTo>
                <a:lnTo>
                  <a:pt x="562990" y="132715"/>
                </a:lnTo>
                <a:lnTo>
                  <a:pt x="556433" y="120889"/>
                </a:lnTo>
                <a:close/>
              </a:path>
              <a:path w="625475" h="241300">
                <a:moveTo>
                  <a:pt x="556697" y="120765"/>
                </a:moveTo>
                <a:lnTo>
                  <a:pt x="556433" y="120889"/>
                </a:lnTo>
                <a:lnTo>
                  <a:pt x="562990" y="132715"/>
                </a:lnTo>
                <a:lnTo>
                  <a:pt x="582929" y="121539"/>
                </a:lnTo>
                <a:lnTo>
                  <a:pt x="557529" y="121539"/>
                </a:lnTo>
                <a:lnTo>
                  <a:pt x="556697" y="120765"/>
                </a:lnTo>
                <a:close/>
              </a:path>
              <a:path w="625475" h="241300">
                <a:moveTo>
                  <a:pt x="625094" y="88646"/>
                </a:moveTo>
                <a:lnTo>
                  <a:pt x="577169" y="111151"/>
                </a:lnTo>
                <a:lnTo>
                  <a:pt x="582929" y="121539"/>
                </a:lnTo>
                <a:lnTo>
                  <a:pt x="562990" y="132715"/>
                </a:lnTo>
                <a:lnTo>
                  <a:pt x="623990" y="132715"/>
                </a:lnTo>
                <a:lnTo>
                  <a:pt x="625094" y="88646"/>
                </a:lnTo>
                <a:close/>
              </a:path>
              <a:path w="625475" h="241300">
                <a:moveTo>
                  <a:pt x="556841" y="120698"/>
                </a:moveTo>
                <a:lnTo>
                  <a:pt x="556697" y="120765"/>
                </a:lnTo>
                <a:lnTo>
                  <a:pt x="557529" y="121539"/>
                </a:lnTo>
                <a:lnTo>
                  <a:pt x="556841" y="120698"/>
                </a:lnTo>
                <a:close/>
              </a:path>
              <a:path w="625475" h="241300">
                <a:moveTo>
                  <a:pt x="577169" y="111151"/>
                </a:moveTo>
                <a:lnTo>
                  <a:pt x="556841" y="120698"/>
                </a:lnTo>
                <a:lnTo>
                  <a:pt x="557529" y="121539"/>
                </a:lnTo>
                <a:lnTo>
                  <a:pt x="582929" y="121539"/>
                </a:lnTo>
                <a:lnTo>
                  <a:pt x="577169" y="111151"/>
                </a:lnTo>
                <a:close/>
              </a:path>
              <a:path w="625475" h="241300">
                <a:moveTo>
                  <a:pt x="556011" y="120128"/>
                </a:moveTo>
                <a:lnTo>
                  <a:pt x="556433" y="120889"/>
                </a:lnTo>
                <a:lnTo>
                  <a:pt x="556697" y="120765"/>
                </a:lnTo>
                <a:lnTo>
                  <a:pt x="556011" y="120128"/>
                </a:lnTo>
                <a:close/>
              </a:path>
              <a:path w="625475" h="241300">
                <a:moveTo>
                  <a:pt x="555244" y="118745"/>
                </a:moveTo>
                <a:lnTo>
                  <a:pt x="556025" y="120142"/>
                </a:lnTo>
                <a:lnTo>
                  <a:pt x="556697" y="120765"/>
                </a:lnTo>
                <a:lnTo>
                  <a:pt x="556841" y="120698"/>
                </a:lnTo>
                <a:lnTo>
                  <a:pt x="555244" y="118745"/>
                </a:lnTo>
                <a:close/>
              </a:path>
              <a:path w="625475" h="241300">
                <a:moveTo>
                  <a:pt x="561000" y="118745"/>
                </a:moveTo>
                <a:lnTo>
                  <a:pt x="555244" y="118745"/>
                </a:lnTo>
                <a:lnTo>
                  <a:pt x="556841" y="120698"/>
                </a:lnTo>
                <a:lnTo>
                  <a:pt x="561000" y="118745"/>
                </a:lnTo>
                <a:close/>
              </a:path>
              <a:path w="625475" h="241300">
                <a:moveTo>
                  <a:pt x="441394" y="22860"/>
                </a:moveTo>
                <a:lnTo>
                  <a:pt x="316991" y="22860"/>
                </a:lnTo>
                <a:lnTo>
                  <a:pt x="330835" y="23114"/>
                </a:lnTo>
                <a:lnTo>
                  <a:pt x="344550" y="24130"/>
                </a:lnTo>
                <a:lnTo>
                  <a:pt x="399034" y="33528"/>
                </a:lnTo>
                <a:lnTo>
                  <a:pt x="450976" y="50927"/>
                </a:lnTo>
                <a:lnTo>
                  <a:pt x="498475" y="75184"/>
                </a:lnTo>
                <a:lnTo>
                  <a:pt x="539750" y="105029"/>
                </a:lnTo>
                <a:lnTo>
                  <a:pt x="556011" y="120128"/>
                </a:lnTo>
                <a:lnTo>
                  <a:pt x="555244" y="118745"/>
                </a:lnTo>
                <a:lnTo>
                  <a:pt x="561000" y="118745"/>
                </a:lnTo>
                <a:lnTo>
                  <a:pt x="577169" y="111151"/>
                </a:lnTo>
                <a:lnTo>
                  <a:pt x="575183" y="107569"/>
                </a:lnTo>
                <a:lnTo>
                  <a:pt x="574675" y="106553"/>
                </a:lnTo>
                <a:lnTo>
                  <a:pt x="532638" y="70358"/>
                </a:lnTo>
                <a:lnTo>
                  <a:pt x="485013" y="41529"/>
                </a:lnTo>
                <a:lnTo>
                  <a:pt x="458977" y="29464"/>
                </a:lnTo>
                <a:lnTo>
                  <a:pt x="441394" y="22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90238" y="2146935"/>
            <a:ext cx="609600" cy="219710"/>
          </a:xfrm>
          <a:custGeom>
            <a:avLst/>
            <a:gdLst/>
            <a:ahLst/>
            <a:cxnLst/>
            <a:rect l="l" t="t" r="r" b="b"/>
            <a:pathLst>
              <a:path w="609600" h="219710">
                <a:moveTo>
                  <a:pt x="0" y="217550"/>
                </a:moveTo>
                <a:lnTo>
                  <a:pt x="20905" y="146202"/>
                </a:lnTo>
                <a:lnTo>
                  <a:pt x="45155" y="112775"/>
                </a:lnTo>
                <a:lnTo>
                  <a:pt x="76931" y="82040"/>
                </a:lnTo>
                <a:lnTo>
                  <a:pt x="114979" y="54889"/>
                </a:lnTo>
                <a:lnTo>
                  <a:pt x="158044" y="32215"/>
                </a:lnTo>
                <a:lnTo>
                  <a:pt x="204872" y="14913"/>
                </a:lnTo>
                <a:lnTo>
                  <a:pt x="254209" y="3877"/>
                </a:lnTo>
                <a:lnTo>
                  <a:pt x="304800" y="0"/>
                </a:lnTo>
                <a:lnTo>
                  <a:pt x="355390" y="3908"/>
                </a:lnTo>
                <a:lnTo>
                  <a:pt x="404727" y="15034"/>
                </a:lnTo>
                <a:lnTo>
                  <a:pt x="451555" y="32474"/>
                </a:lnTo>
                <a:lnTo>
                  <a:pt x="494620" y="55326"/>
                </a:lnTo>
                <a:lnTo>
                  <a:pt x="532668" y="82689"/>
                </a:lnTo>
                <a:lnTo>
                  <a:pt x="564444" y="113660"/>
                </a:lnTo>
                <a:lnTo>
                  <a:pt x="588694" y="147337"/>
                </a:lnTo>
                <a:lnTo>
                  <a:pt x="604164" y="182818"/>
                </a:lnTo>
                <a:lnTo>
                  <a:pt x="609600" y="219201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87900" y="2135504"/>
            <a:ext cx="625475" cy="241300"/>
          </a:xfrm>
          <a:custGeom>
            <a:avLst/>
            <a:gdLst/>
            <a:ahLst/>
            <a:cxnLst/>
            <a:rect l="l" t="t" r="r" b="b"/>
            <a:pathLst>
              <a:path w="625475" h="241300">
                <a:moveTo>
                  <a:pt x="316484" y="0"/>
                </a:moveTo>
                <a:lnTo>
                  <a:pt x="272288" y="2921"/>
                </a:lnTo>
                <a:lnTo>
                  <a:pt x="228853" y="11175"/>
                </a:lnTo>
                <a:lnTo>
                  <a:pt x="173736" y="29591"/>
                </a:lnTo>
                <a:lnTo>
                  <a:pt x="123189" y="55245"/>
                </a:lnTo>
                <a:lnTo>
                  <a:pt x="78994" y="86868"/>
                </a:lnTo>
                <a:lnTo>
                  <a:pt x="51053" y="113792"/>
                </a:lnTo>
                <a:lnTo>
                  <a:pt x="22225" y="153416"/>
                </a:lnTo>
                <a:lnTo>
                  <a:pt x="4699" y="196087"/>
                </a:lnTo>
                <a:lnTo>
                  <a:pt x="0" y="239903"/>
                </a:lnTo>
                <a:lnTo>
                  <a:pt x="22860" y="240919"/>
                </a:lnTo>
                <a:lnTo>
                  <a:pt x="23875" y="219329"/>
                </a:lnTo>
                <a:lnTo>
                  <a:pt x="25019" y="209931"/>
                </a:lnTo>
                <a:lnTo>
                  <a:pt x="37464" y="173228"/>
                </a:lnTo>
                <a:lnTo>
                  <a:pt x="60960" y="137287"/>
                </a:lnTo>
                <a:lnTo>
                  <a:pt x="94487" y="103759"/>
                </a:lnTo>
                <a:lnTo>
                  <a:pt x="135762" y="74295"/>
                </a:lnTo>
                <a:lnTo>
                  <a:pt x="183261" y="50419"/>
                </a:lnTo>
                <a:lnTo>
                  <a:pt x="235203" y="33147"/>
                </a:lnTo>
                <a:lnTo>
                  <a:pt x="275589" y="25527"/>
                </a:lnTo>
                <a:lnTo>
                  <a:pt x="316991" y="22860"/>
                </a:lnTo>
                <a:lnTo>
                  <a:pt x="441394" y="22860"/>
                </a:lnTo>
                <a:lnTo>
                  <a:pt x="431926" y="19304"/>
                </a:lnTo>
                <a:lnTo>
                  <a:pt x="375412" y="5080"/>
                </a:lnTo>
                <a:lnTo>
                  <a:pt x="331215" y="254"/>
                </a:lnTo>
                <a:lnTo>
                  <a:pt x="316484" y="0"/>
                </a:lnTo>
                <a:close/>
              </a:path>
              <a:path w="625475" h="241300">
                <a:moveTo>
                  <a:pt x="556433" y="120889"/>
                </a:moveTo>
                <a:lnTo>
                  <a:pt x="510159" y="142621"/>
                </a:lnTo>
                <a:lnTo>
                  <a:pt x="621538" y="230632"/>
                </a:lnTo>
                <a:lnTo>
                  <a:pt x="623990" y="132715"/>
                </a:lnTo>
                <a:lnTo>
                  <a:pt x="562990" y="132715"/>
                </a:lnTo>
                <a:lnTo>
                  <a:pt x="556433" y="120889"/>
                </a:lnTo>
                <a:close/>
              </a:path>
              <a:path w="625475" h="241300">
                <a:moveTo>
                  <a:pt x="556697" y="120765"/>
                </a:moveTo>
                <a:lnTo>
                  <a:pt x="556433" y="120889"/>
                </a:lnTo>
                <a:lnTo>
                  <a:pt x="562990" y="132715"/>
                </a:lnTo>
                <a:lnTo>
                  <a:pt x="582929" y="121539"/>
                </a:lnTo>
                <a:lnTo>
                  <a:pt x="557529" y="121539"/>
                </a:lnTo>
                <a:lnTo>
                  <a:pt x="556697" y="120765"/>
                </a:lnTo>
                <a:close/>
              </a:path>
              <a:path w="625475" h="241300">
                <a:moveTo>
                  <a:pt x="625094" y="88646"/>
                </a:moveTo>
                <a:lnTo>
                  <a:pt x="577169" y="111151"/>
                </a:lnTo>
                <a:lnTo>
                  <a:pt x="582929" y="121539"/>
                </a:lnTo>
                <a:lnTo>
                  <a:pt x="562990" y="132715"/>
                </a:lnTo>
                <a:lnTo>
                  <a:pt x="623990" y="132715"/>
                </a:lnTo>
                <a:lnTo>
                  <a:pt x="625094" y="88646"/>
                </a:lnTo>
                <a:close/>
              </a:path>
              <a:path w="625475" h="241300">
                <a:moveTo>
                  <a:pt x="556841" y="120698"/>
                </a:moveTo>
                <a:lnTo>
                  <a:pt x="556697" y="120765"/>
                </a:lnTo>
                <a:lnTo>
                  <a:pt x="557529" y="121539"/>
                </a:lnTo>
                <a:lnTo>
                  <a:pt x="556841" y="120698"/>
                </a:lnTo>
                <a:close/>
              </a:path>
              <a:path w="625475" h="241300">
                <a:moveTo>
                  <a:pt x="577169" y="111151"/>
                </a:moveTo>
                <a:lnTo>
                  <a:pt x="556841" y="120698"/>
                </a:lnTo>
                <a:lnTo>
                  <a:pt x="557529" y="121539"/>
                </a:lnTo>
                <a:lnTo>
                  <a:pt x="582929" y="121539"/>
                </a:lnTo>
                <a:lnTo>
                  <a:pt x="577169" y="111151"/>
                </a:lnTo>
                <a:close/>
              </a:path>
              <a:path w="625475" h="241300">
                <a:moveTo>
                  <a:pt x="556011" y="120128"/>
                </a:moveTo>
                <a:lnTo>
                  <a:pt x="556433" y="120889"/>
                </a:lnTo>
                <a:lnTo>
                  <a:pt x="556697" y="120765"/>
                </a:lnTo>
                <a:lnTo>
                  <a:pt x="556011" y="120128"/>
                </a:lnTo>
                <a:close/>
              </a:path>
              <a:path w="625475" h="241300">
                <a:moveTo>
                  <a:pt x="555244" y="118745"/>
                </a:moveTo>
                <a:lnTo>
                  <a:pt x="556025" y="120142"/>
                </a:lnTo>
                <a:lnTo>
                  <a:pt x="556697" y="120765"/>
                </a:lnTo>
                <a:lnTo>
                  <a:pt x="556841" y="120698"/>
                </a:lnTo>
                <a:lnTo>
                  <a:pt x="555244" y="118745"/>
                </a:lnTo>
                <a:close/>
              </a:path>
              <a:path w="625475" h="241300">
                <a:moveTo>
                  <a:pt x="561000" y="118745"/>
                </a:moveTo>
                <a:lnTo>
                  <a:pt x="555244" y="118745"/>
                </a:lnTo>
                <a:lnTo>
                  <a:pt x="556841" y="120698"/>
                </a:lnTo>
                <a:lnTo>
                  <a:pt x="561000" y="118745"/>
                </a:lnTo>
                <a:close/>
              </a:path>
              <a:path w="625475" h="241300">
                <a:moveTo>
                  <a:pt x="441394" y="22860"/>
                </a:moveTo>
                <a:lnTo>
                  <a:pt x="316991" y="22860"/>
                </a:lnTo>
                <a:lnTo>
                  <a:pt x="330835" y="23114"/>
                </a:lnTo>
                <a:lnTo>
                  <a:pt x="344550" y="24130"/>
                </a:lnTo>
                <a:lnTo>
                  <a:pt x="399034" y="33528"/>
                </a:lnTo>
                <a:lnTo>
                  <a:pt x="450976" y="50927"/>
                </a:lnTo>
                <a:lnTo>
                  <a:pt x="498475" y="75184"/>
                </a:lnTo>
                <a:lnTo>
                  <a:pt x="539750" y="105029"/>
                </a:lnTo>
                <a:lnTo>
                  <a:pt x="556011" y="120128"/>
                </a:lnTo>
                <a:lnTo>
                  <a:pt x="555244" y="118745"/>
                </a:lnTo>
                <a:lnTo>
                  <a:pt x="561000" y="118745"/>
                </a:lnTo>
                <a:lnTo>
                  <a:pt x="577169" y="111151"/>
                </a:lnTo>
                <a:lnTo>
                  <a:pt x="575183" y="107569"/>
                </a:lnTo>
                <a:lnTo>
                  <a:pt x="574675" y="106553"/>
                </a:lnTo>
                <a:lnTo>
                  <a:pt x="532638" y="70358"/>
                </a:lnTo>
                <a:lnTo>
                  <a:pt x="485013" y="41529"/>
                </a:lnTo>
                <a:lnTo>
                  <a:pt x="458977" y="29464"/>
                </a:lnTo>
                <a:lnTo>
                  <a:pt x="441394" y="22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19038" y="2146935"/>
            <a:ext cx="609600" cy="219710"/>
          </a:xfrm>
          <a:custGeom>
            <a:avLst/>
            <a:gdLst/>
            <a:ahLst/>
            <a:cxnLst/>
            <a:rect l="l" t="t" r="r" b="b"/>
            <a:pathLst>
              <a:path w="609600" h="219710">
                <a:moveTo>
                  <a:pt x="0" y="217550"/>
                </a:moveTo>
                <a:lnTo>
                  <a:pt x="20905" y="146202"/>
                </a:lnTo>
                <a:lnTo>
                  <a:pt x="45155" y="112775"/>
                </a:lnTo>
                <a:lnTo>
                  <a:pt x="76931" y="82040"/>
                </a:lnTo>
                <a:lnTo>
                  <a:pt x="114979" y="54889"/>
                </a:lnTo>
                <a:lnTo>
                  <a:pt x="158044" y="32215"/>
                </a:lnTo>
                <a:lnTo>
                  <a:pt x="204872" y="14913"/>
                </a:lnTo>
                <a:lnTo>
                  <a:pt x="254209" y="3877"/>
                </a:lnTo>
                <a:lnTo>
                  <a:pt x="304800" y="0"/>
                </a:lnTo>
                <a:lnTo>
                  <a:pt x="355390" y="3908"/>
                </a:lnTo>
                <a:lnTo>
                  <a:pt x="404727" y="15034"/>
                </a:lnTo>
                <a:lnTo>
                  <a:pt x="451555" y="32474"/>
                </a:lnTo>
                <a:lnTo>
                  <a:pt x="494620" y="55326"/>
                </a:lnTo>
                <a:lnTo>
                  <a:pt x="532668" y="82689"/>
                </a:lnTo>
                <a:lnTo>
                  <a:pt x="564444" y="113660"/>
                </a:lnTo>
                <a:lnTo>
                  <a:pt x="588694" y="147337"/>
                </a:lnTo>
                <a:lnTo>
                  <a:pt x="604164" y="182818"/>
                </a:lnTo>
                <a:lnTo>
                  <a:pt x="609600" y="219201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628638" y="2146935"/>
            <a:ext cx="609600" cy="219710"/>
          </a:xfrm>
          <a:custGeom>
            <a:avLst/>
            <a:gdLst/>
            <a:ahLst/>
            <a:cxnLst/>
            <a:rect l="l" t="t" r="r" b="b"/>
            <a:pathLst>
              <a:path w="609600" h="219710">
                <a:moveTo>
                  <a:pt x="0" y="217550"/>
                </a:moveTo>
                <a:lnTo>
                  <a:pt x="20905" y="146202"/>
                </a:lnTo>
                <a:lnTo>
                  <a:pt x="45155" y="112775"/>
                </a:lnTo>
                <a:lnTo>
                  <a:pt x="76931" y="82040"/>
                </a:lnTo>
                <a:lnTo>
                  <a:pt x="114979" y="54889"/>
                </a:lnTo>
                <a:lnTo>
                  <a:pt x="158044" y="32215"/>
                </a:lnTo>
                <a:lnTo>
                  <a:pt x="204872" y="14913"/>
                </a:lnTo>
                <a:lnTo>
                  <a:pt x="254209" y="3877"/>
                </a:lnTo>
                <a:lnTo>
                  <a:pt x="304800" y="0"/>
                </a:lnTo>
                <a:lnTo>
                  <a:pt x="355390" y="3908"/>
                </a:lnTo>
                <a:lnTo>
                  <a:pt x="404727" y="15034"/>
                </a:lnTo>
                <a:lnTo>
                  <a:pt x="451555" y="32474"/>
                </a:lnTo>
                <a:lnTo>
                  <a:pt x="494620" y="55326"/>
                </a:lnTo>
                <a:lnTo>
                  <a:pt x="532668" y="82689"/>
                </a:lnTo>
                <a:lnTo>
                  <a:pt x="564444" y="113660"/>
                </a:lnTo>
                <a:lnTo>
                  <a:pt x="588694" y="147337"/>
                </a:lnTo>
                <a:lnTo>
                  <a:pt x="604164" y="182818"/>
                </a:lnTo>
                <a:lnTo>
                  <a:pt x="609600" y="219201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226300" y="2135504"/>
            <a:ext cx="625475" cy="241300"/>
          </a:xfrm>
          <a:custGeom>
            <a:avLst/>
            <a:gdLst/>
            <a:ahLst/>
            <a:cxnLst/>
            <a:rect l="l" t="t" r="r" b="b"/>
            <a:pathLst>
              <a:path w="625475" h="241300">
                <a:moveTo>
                  <a:pt x="316483" y="0"/>
                </a:moveTo>
                <a:lnTo>
                  <a:pt x="272288" y="2921"/>
                </a:lnTo>
                <a:lnTo>
                  <a:pt x="228853" y="11175"/>
                </a:lnTo>
                <a:lnTo>
                  <a:pt x="173735" y="29591"/>
                </a:lnTo>
                <a:lnTo>
                  <a:pt x="123190" y="55245"/>
                </a:lnTo>
                <a:lnTo>
                  <a:pt x="78994" y="86868"/>
                </a:lnTo>
                <a:lnTo>
                  <a:pt x="51053" y="113792"/>
                </a:lnTo>
                <a:lnTo>
                  <a:pt x="22225" y="153416"/>
                </a:lnTo>
                <a:lnTo>
                  <a:pt x="4699" y="196087"/>
                </a:lnTo>
                <a:lnTo>
                  <a:pt x="0" y="239903"/>
                </a:lnTo>
                <a:lnTo>
                  <a:pt x="22859" y="240919"/>
                </a:lnTo>
                <a:lnTo>
                  <a:pt x="23875" y="219329"/>
                </a:lnTo>
                <a:lnTo>
                  <a:pt x="25019" y="209931"/>
                </a:lnTo>
                <a:lnTo>
                  <a:pt x="37465" y="173228"/>
                </a:lnTo>
                <a:lnTo>
                  <a:pt x="60959" y="137287"/>
                </a:lnTo>
                <a:lnTo>
                  <a:pt x="94488" y="103759"/>
                </a:lnTo>
                <a:lnTo>
                  <a:pt x="135763" y="74295"/>
                </a:lnTo>
                <a:lnTo>
                  <a:pt x="183260" y="50419"/>
                </a:lnTo>
                <a:lnTo>
                  <a:pt x="235203" y="33147"/>
                </a:lnTo>
                <a:lnTo>
                  <a:pt x="275590" y="25527"/>
                </a:lnTo>
                <a:lnTo>
                  <a:pt x="316992" y="22860"/>
                </a:lnTo>
                <a:lnTo>
                  <a:pt x="441394" y="22860"/>
                </a:lnTo>
                <a:lnTo>
                  <a:pt x="431926" y="19304"/>
                </a:lnTo>
                <a:lnTo>
                  <a:pt x="375411" y="5080"/>
                </a:lnTo>
                <a:lnTo>
                  <a:pt x="331216" y="254"/>
                </a:lnTo>
                <a:lnTo>
                  <a:pt x="316483" y="0"/>
                </a:lnTo>
                <a:close/>
              </a:path>
              <a:path w="625475" h="241300">
                <a:moveTo>
                  <a:pt x="556433" y="120889"/>
                </a:moveTo>
                <a:lnTo>
                  <a:pt x="510158" y="142621"/>
                </a:lnTo>
                <a:lnTo>
                  <a:pt x="621538" y="230632"/>
                </a:lnTo>
                <a:lnTo>
                  <a:pt x="623990" y="132715"/>
                </a:lnTo>
                <a:lnTo>
                  <a:pt x="562991" y="132715"/>
                </a:lnTo>
                <a:lnTo>
                  <a:pt x="556433" y="120889"/>
                </a:lnTo>
                <a:close/>
              </a:path>
              <a:path w="625475" h="241300">
                <a:moveTo>
                  <a:pt x="556697" y="120765"/>
                </a:moveTo>
                <a:lnTo>
                  <a:pt x="556433" y="120889"/>
                </a:lnTo>
                <a:lnTo>
                  <a:pt x="562991" y="132715"/>
                </a:lnTo>
                <a:lnTo>
                  <a:pt x="582929" y="121539"/>
                </a:lnTo>
                <a:lnTo>
                  <a:pt x="557529" y="121539"/>
                </a:lnTo>
                <a:lnTo>
                  <a:pt x="556697" y="120765"/>
                </a:lnTo>
                <a:close/>
              </a:path>
              <a:path w="625475" h="241300">
                <a:moveTo>
                  <a:pt x="625094" y="88646"/>
                </a:moveTo>
                <a:lnTo>
                  <a:pt x="577169" y="111151"/>
                </a:lnTo>
                <a:lnTo>
                  <a:pt x="582929" y="121539"/>
                </a:lnTo>
                <a:lnTo>
                  <a:pt x="562991" y="132715"/>
                </a:lnTo>
                <a:lnTo>
                  <a:pt x="623990" y="132715"/>
                </a:lnTo>
                <a:lnTo>
                  <a:pt x="625094" y="88646"/>
                </a:lnTo>
                <a:close/>
              </a:path>
              <a:path w="625475" h="241300">
                <a:moveTo>
                  <a:pt x="556841" y="120698"/>
                </a:moveTo>
                <a:lnTo>
                  <a:pt x="556697" y="120765"/>
                </a:lnTo>
                <a:lnTo>
                  <a:pt x="557529" y="121539"/>
                </a:lnTo>
                <a:lnTo>
                  <a:pt x="556841" y="120698"/>
                </a:lnTo>
                <a:close/>
              </a:path>
              <a:path w="625475" h="241300">
                <a:moveTo>
                  <a:pt x="577169" y="111151"/>
                </a:moveTo>
                <a:lnTo>
                  <a:pt x="556841" y="120698"/>
                </a:lnTo>
                <a:lnTo>
                  <a:pt x="557529" y="121539"/>
                </a:lnTo>
                <a:lnTo>
                  <a:pt x="582929" y="121539"/>
                </a:lnTo>
                <a:lnTo>
                  <a:pt x="577169" y="111151"/>
                </a:lnTo>
                <a:close/>
              </a:path>
              <a:path w="625475" h="241300">
                <a:moveTo>
                  <a:pt x="556011" y="120128"/>
                </a:moveTo>
                <a:lnTo>
                  <a:pt x="556433" y="120889"/>
                </a:lnTo>
                <a:lnTo>
                  <a:pt x="556697" y="120765"/>
                </a:lnTo>
                <a:lnTo>
                  <a:pt x="556011" y="120128"/>
                </a:lnTo>
                <a:close/>
              </a:path>
              <a:path w="625475" h="241300">
                <a:moveTo>
                  <a:pt x="555244" y="118745"/>
                </a:moveTo>
                <a:lnTo>
                  <a:pt x="556025" y="120142"/>
                </a:lnTo>
                <a:lnTo>
                  <a:pt x="556697" y="120765"/>
                </a:lnTo>
                <a:lnTo>
                  <a:pt x="556841" y="120698"/>
                </a:lnTo>
                <a:lnTo>
                  <a:pt x="555244" y="118745"/>
                </a:lnTo>
                <a:close/>
              </a:path>
              <a:path w="625475" h="241300">
                <a:moveTo>
                  <a:pt x="561000" y="118745"/>
                </a:moveTo>
                <a:lnTo>
                  <a:pt x="555244" y="118745"/>
                </a:lnTo>
                <a:lnTo>
                  <a:pt x="556841" y="120698"/>
                </a:lnTo>
                <a:lnTo>
                  <a:pt x="561000" y="118745"/>
                </a:lnTo>
                <a:close/>
              </a:path>
              <a:path w="625475" h="241300">
                <a:moveTo>
                  <a:pt x="441394" y="22860"/>
                </a:moveTo>
                <a:lnTo>
                  <a:pt x="316992" y="22860"/>
                </a:lnTo>
                <a:lnTo>
                  <a:pt x="330834" y="23114"/>
                </a:lnTo>
                <a:lnTo>
                  <a:pt x="344550" y="24130"/>
                </a:lnTo>
                <a:lnTo>
                  <a:pt x="399033" y="33528"/>
                </a:lnTo>
                <a:lnTo>
                  <a:pt x="450976" y="50927"/>
                </a:lnTo>
                <a:lnTo>
                  <a:pt x="498475" y="75184"/>
                </a:lnTo>
                <a:lnTo>
                  <a:pt x="539750" y="105029"/>
                </a:lnTo>
                <a:lnTo>
                  <a:pt x="556011" y="120128"/>
                </a:lnTo>
                <a:lnTo>
                  <a:pt x="555244" y="118745"/>
                </a:lnTo>
                <a:lnTo>
                  <a:pt x="561000" y="118745"/>
                </a:lnTo>
                <a:lnTo>
                  <a:pt x="577169" y="111151"/>
                </a:lnTo>
                <a:lnTo>
                  <a:pt x="575182" y="107569"/>
                </a:lnTo>
                <a:lnTo>
                  <a:pt x="574675" y="106553"/>
                </a:lnTo>
                <a:lnTo>
                  <a:pt x="532638" y="70358"/>
                </a:lnTo>
                <a:lnTo>
                  <a:pt x="485013" y="41529"/>
                </a:lnTo>
                <a:lnTo>
                  <a:pt x="458977" y="29464"/>
                </a:lnTo>
                <a:lnTo>
                  <a:pt x="441394" y="22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437132" y="3429000"/>
          <a:ext cx="7315200" cy="4983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4983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40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-1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43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42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58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65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3580638" y="3213735"/>
            <a:ext cx="609600" cy="219710"/>
          </a:xfrm>
          <a:custGeom>
            <a:avLst/>
            <a:gdLst/>
            <a:ahLst/>
            <a:cxnLst/>
            <a:rect l="l" t="t" r="r" b="b"/>
            <a:pathLst>
              <a:path w="609600" h="219710">
                <a:moveTo>
                  <a:pt x="0" y="217550"/>
                </a:moveTo>
                <a:lnTo>
                  <a:pt x="20905" y="146202"/>
                </a:lnTo>
                <a:lnTo>
                  <a:pt x="45155" y="112775"/>
                </a:lnTo>
                <a:lnTo>
                  <a:pt x="76931" y="82040"/>
                </a:lnTo>
                <a:lnTo>
                  <a:pt x="114979" y="54889"/>
                </a:lnTo>
                <a:lnTo>
                  <a:pt x="158044" y="32215"/>
                </a:lnTo>
                <a:lnTo>
                  <a:pt x="204872" y="14913"/>
                </a:lnTo>
                <a:lnTo>
                  <a:pt x="254209" y="3877"/>
                </a:lnTo>
                <a:lnTo>
                  <a:pt x="304800" y="0"/>
                </a:lnTo>
                <a:lnTo>
                  <a:pt x="355390" y="3908"/>
                </a:lnTo>
                <a:lnTo>
                  <a:pt x="404727" y="15034"/>
                </a:lnTo>
                <a:lnTo>
                  <a:pt x="451555" y="32474"/>
                </a:lnTo>
                <a:lnTo>
                  <a:pt x="494620" y="55326"/>
                </a:lnTo>
                <a:lnTo>
                  <a:pt x="532668" y="82689"/>
                </a:lnTo>
                <a:lnTo>
                  <a:pt x="564444" y="113660"/>
                </a:lnTo>
                <a:lnTo>
                  <a:pt x="588694" y="147337"/>
                </a:lnTo>
                <a:lnTo>
                  <a:pt x="604164" y="182818"/>
                </a:lnTo>
                <a:lnTo>
                  <a:pt x="609600" y="219201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78300" y="3202304"/>
            <a:ext cx="625475" cy="241300"/>
          </a:xfrm>
          <a:custGeom>
            <a:avLst/>
            <a:gdLst/>
            <a:ahLst/>
            <a:cxnLst/>
            <a:rect l="l" t="t" r="r" b="b"/>
            <a:pathLst>
              <a:path w="625475" h="241300">
                <a:moveTo>
                  <a:pt x="316484" y="0"/>
                </a:moveTo>
                <a:lnTo>
                  <a:pt x="272288" y="2921"/>
                </a:lnTo>
                <a:lnTo>
                  <a:pt x="228853" y="11175"/>
                </a:lnTo>
                <a:lnTo>
                  <a:pt x="173736" y="29591"/>
                </a:lnTo>
                <a:lnTo>
                  <a:pt x="123189" y="55245"/>
                </a:lnTo>
                <a:lnTo>
                  <a:pt x="78994" y="86868"/>
                </a:lnTo>
                <a:lnTo>
                  <a:pt x="51053" y="113792"/>
                </a:lnTo>
                <a:lnTo>
                  <a:pt x="22225" y="153416"/>
                </a:lnTo>
                <a:lnTo>
                  <a:pt x="4699" y="196087"/>
                </a:lnTo>
                <a:lnTo>
                  <a:pt x="0" y="239903"/>
                </a:lnTo>
                <a:lnTo>
                  <a:pt x="22860" y="240919"/>
                </a:lnTo>
                <a:lnTo>
                  <a:pt x="23875" y="219329"/>
                </a:lnTo>
                <a:lnTo>
                  <a:pt x="25019" y="209931"/>
                </a:lnTo>
                <a:lnTo>
                  <a:pt x="37464" y="173228"/>
                </a:lnTo>
                <a:lnTo>
                  <a:pt x="60960" y="137287"/>
                </a:lnTo>
                <a:lnTo>
                  <a:pt x="94487" y="103759"/>
                </a:lnTo>
                <a:lnTo>
                  <a:pt x="135762" y="74295"/>
                </a:lnTo>
                <a:lnTo>
                  <a:pt x="183261" y="50419"/>
                </a:lnTo>
                <a:lnTo>
                  <a:pt x="235203" y="33147"/>
                </a:lnTo>
                <a:lnTo>
                  <a:pt x="275589" y="25527"/>
                </a:lnTo>
                <a:lnTo>
                  <a:pt x="316991" y="22860"/>
                </a:lnTo>
                <a:lnTo>
                  <a:pt x="441394" y="22860"/>
                </a:lnTo>
                <a:lnTo>
                  <a:pt x="431926" y="19304"/>
                </a:lnTo>
                <a:lnTo>
                  <a:pt x="375412" y="5080"/>
                </a:lnTo>
                <a:lnTo>
                  <a:pt x="331215" y="254"/>
                </a:lnTo>
                <a:lnTo>
                  <a:pt x="316484" y="0"/>
                </a:lnTo>
                <a:close/>
              </a:path>
              <a:path w="625475" h="241300">
                <a:moveTo>
                  <a:pt x="556433" y="120889"/>
                </a:moveTo>
                <a:lnTo>
                  <a:pt x="510159" y="142621"/>
                </a:lnTo>
                <a:lnTo>
                  <a:pt x="621538" y="230632"/>
                </a:lnTo>
                <a:lnTo>
                  <a:pt x="623990" y="132715"/>
                </a:lnTo>
                <a:lnTo>
                  <a:pt x="562990" y="132715"/>
                </a:lnTo>
                <a:lnTo>
                  <a:pt x="556433" y="120889"/>
                </a:lnTo>
                <a:close/>
              </a:path>
              <a:path w="625475" h="241300">
                <a:moveTo>
                  <a:pt x="556697" y="120765"/>
                </a:moveTo>
                <a:lnTo>
                  <a:pt x="556433" y="120889"/>
                </a:lnTo>
                <a:lnTo>
                  <a:pt x="562990" y="132715"/>
                </a:lnTo>
                <a:lnTo>
                  <a:pt x="582929" y="121539"/>
                </a:lnTo>
                <a:lnTo>
                  <a:pt x="557529" y="121539"/>
                </a:lnTo>
                <a:lnTo>
                  <a:pt x="556697" y="120765"/>
                </a:lnTo>
                <a:close/>
              </a:path>
              <a:path w="625475" h="241300">
                <a:moveTo>
                  <a:pt x="625094" y="88646"/>
                </a:moveTo>
                <a:lnTo>
                  <a:pt x="577169" y="111151"/>
                </a:lnTo>
                <a:lnTo>
                  <a:pt x="582929" y="121539"/>
                </a:lnTo>
                <a:lnTo>
                  <a:pt x="562990" y="132715"/>
                </a:lnTo>
                <a:lnTo>
                  <a:pt x="623990" y="132715"/>
                </a:lnTo>
                <a:lnTo>
                  <a:pt x="625094" y="88646"/>
                </a:lnTo>
                <a:close/>
              </a:path>
              <a:path w="625475" h="241300">
                <a:moveTo>
                  <a:pt x="556841" y="120698"/>
                </a:moveTo>
                <a:lnTo>
                  <a:pt x="556697" y="120765"/>
                </a:lnTo>
                <a:lnTo>
                  <a:pt x="557529" y="121539"/>
                </a:lnTo>
                <a:lnTo>
                  <a:pt x="556841" y="120698"/>
                </a:lnTo>
                <a:close/>
              </a:path>
              <a:path w="625475" h="241300">
                <a:moveTo>
                  <a:pt x="577169" y="111151"/>
                </a:moveTo>
                <a:lnTo>
                  <a:pt x="556841" y="120698"/>
                </a:lnTo>
                <a:lnTo>
                  <a:pt x="557529" y="121539"/>
                </a:lnTo>
                <a:lnTo>
                  <a:pt x="582929" y="121539"/>
                </a:lnTo>
                <a:lnTo>
                  <a:pt x="577169" y="111151"/>
                </a:lnTo>
                <a:close/>
              </a:path>
              <a:path w="625475" h="241300">
                <a:moveTo>
                  <a:pt x="556011" y="120128"/>
                </a:moveTo>
                <a:lnTo>
                  <a:pt x="556433" y="120889"/>
                </a:lnTo>
                <a:lnTo>
                  <a:pt x="556697" y="120765"/>
                </a:lnTo>
                <a:lnTo>
                  <a:pt x="556011" y="120128"/>
                </a:lnTo>
                <a:close/>
              </a:path>
              <a:path w="625475" h="241300">
                <a:moveTo>
                  <a:pt x="555244" y="118745"/>
                </a:moveTo>
                <a:lnTo>
                  <a:pt x="556025" y="120142"/>
                </a:lnTo>
                <a:lnTo>
                  <a:pt x="556697" y="120765"/>
                </a:lnTo>
                <a:lnTo>
                  <a:pt x="556841" y="120698"/>
                </a:lnTo>
                <a:lnTo>
                  <a:pt x="555244" y="118745"/>
                </a:lnTo>
                <a:close/>
              </a:path>
              <a:path w="625475" h="241300">
                <a:moveTo>
                  <a:pt x="561000" y="118745"/>
                </a:moveTo>
                <a:lnTo>
                  <a:pt x="555244" y="118745"/>
                </a:lnTo>
                <a:lnTo>
                  <a:pt x="556841" y="120698"/>
                </a:lnTo>
                <a:lnTo>
                  <a:pt x="561000" y="118745"/>
                </a:lnTo>
                <a:close/>
              </a:path>
              <a:path w="625475" h="241300">
                <a:moveTo>
                  <a:pt x="441394" y="22860"/>
                </a:moveTo>
                <a:lnTo>
                  <a:pt x="316991" y="22860"/>
                </a:lnTo>
                <a:lnTo>
                  <a:pt x="330835" y="23114"/>
                </a:lnTo>
                <a:lnTo>
                  <a:pt x="344550" y="24130"/>
                </a:lnTo>
                <a:lnTo>
                  <a:pt x="399034" y="33528"/>
                </a:lnTo>
                <a:lnTo>
                  <a:pt x="450976" y="50927"/>
                </a:lnTo>
                <a:lnTo>
                  <a:pt x="498475" y="75184"/>
                </a:lnTo>
                <a:lnTo>
                  <a:pt x="539750" y="105029"/>
                </a:lnTo>
                <a:lnTo>
                  <a:pt x="556011" y="120128"/>
                </a:lnTo>
                <a:lnTo>
                  <a:pt x="555244" y="118745"/>
                </a:lnTo>
                <a:lnTo>
                  <a:pt x="561000" y="118745"/>
                </a:lnTo>
                <a:lnTo>
                  <a:pt x="577169" y="111151"/>
                </a:lnTo>
                <a:lnTo>
                  <a:pt x="575183" y="107569"/>
                </a:lnTo>
                <a:lnTo>
                  <a:pt x="574675" y="106553"/>
                </a:lnTo>
                <a:lnTo>
                  <a:pt x="532638" y="70358"/>
                </a:lnTo>
                <a:lnTo>
                  <a:pt x="485013" y="41529"/>
                </a:lnTo>
                <a:lnTo>
                  <a:pt x="458977" y="29464"/>
                </a:lnTo>
                <a:lnTo>
                  <a:pt x="441394" y="22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09438" y="3213735"/>
            <a:ext cx="609600" cy="219710"/>
          </a:xfrm>
          <a:custGeom>
            <a:avLst/>
            <a:gdLst/>
            <a:ahLst/>
            <a:cxnLst/>
            <a:rect l="l" t="t" r="r" b="b"/>
            <a:pathLst>
              <a:path w="609600" h="219710">
                <a:moveTo>
                  <a:pt x="0" y="217550"/>
                </a:moveTo>
                <a:lnTo>
                  <a:pt x="20905" y="146202"/>
                </a:lnTo>
                <a:lnTo>
                  <a:pt x="45155" y="112775"/>
                </a:lnTo>
                <a:lnTo>
                  <a:pt x="76931" y="82040"/>
                </a:lnTo>
                <a:lnTo>
                  <a:pt x="114979" y="54889"/>
                </a:lnTo>
                <a:lnTo>
                  <a:pt x="158044" y="32215"/>
                </a:lnTo>
                <a:lnTo>
                  <a:pt x="204872" y="14913"/>
                </a:lnTo>
                <a:lnTo>
                  <a:pt x="254209" y="3877"/>
                </a:lnTo>
                <a:lnTo>
                  <a:pt x="304800" y="0"/>
                </a:lnTo>
                <a:lnTo>
                  <a:pt x="355390" y="3908"/>
                </a:lnTo>
                <a:lnTo>
                  <a:pt x="404727" y="15034"/>
                </a:lnTo>
                <a:lnTo>
                  <a:pt x="451555" y="32474"/>
                </a:lnTo>
                <a:lnTo>
                  <a:pt x="494620" y="55326"/>
                </a:lnTo>
                <a:lnTo>
                  <a:pt x="532668" y="82689"/>
                </a:lnTo>
                <a:lnTo>
                  <a:pt x="564444" y="113660"/>
                </a:lnTo>
                <a:lnTo>
                  <a:pt x="588694" y="147337"/>
                </a:lnTo>
                <a:lnTo>
                  <a:pt x="604164" y="182818"/>
                </a:lnTo>
                <a:lnTo>
                  <a:pt x="609600" y="219201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19038" y="3213735"/>
            <a:ext cx="609600" cy="219710"/>
          </a:xfrm>
          <a:custGeom>
            <a:avLst/>
            <a:gdLst/>
            <a:ahLst/>
            <a:cxnLst/>
            <a:rect l="l" t="t" r="r" b="b"/>
            <a:pathLst>
              <a:path w="609600" h="219710">
                <a:moveTo>
                  <a:pt x="0" y="217550"/>
                </a:moveTo>
                <a:lnTo>
                  <a:pt x="20905" y="146202"/>
                </a:lnTo>
                <a:lnTo>
                  <a:pt x="45155" y="112775"/>
                </a:lnTo>
                <a:lnTo>
                  <a:pt x="76931" y="82040"/>
                </a:lnTo>
                <a:lnTo>
                  <a:pt x="114979" y="54889"/>
                </a:lnTo>
                <a:lnTo>
                  <a:pt x="158044" y="32215"/>
                </a:lnTo>
                <a:lnTo>
                  <a:pt x="204872" y="14913"/>
                </a:lnTo>
                <a:lnTo>
                  <a:pt x="254209" y="3877"/>
                </a:lnTo>
                <a:lnTo>
                  <a:pt x="304800" y="0"/>
                </a:lnTo>
                <a:lnTo>
                  <a:pt x="355390" y="3908"/>
                </a:lnTo>
                <a:lnTo>
                  <a:pt x="404727" y="15034"/>
                </a:lnTo>
                <a:lnTo>
                  <a:pt x="451555" y="32474"/>
                </a:lnTo>
                <a:lnTo>
                  <a:pt x="494620" y="55326"/>
                </a:lnTo>
                <a:lnTo>
                  <a:pt x="532668" y="82689"/>
                </a:lnTo>
                <a:lnTo>
                  <a:pt x="564444" y="113660"/>
                </a:lnTo>
                <a:lnTo>
                  <a:pt x="588694" y="147337"/>
                </a:lnTo>
                <a:lnTo>
                  <a:pt x="604164" y="182818"/>
                </a:lnTo>
                <a:lnTo>
                  <a:pt x="609600" y="219201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616700" y="3202304"/>
            <a:ext cx="625475" cy="241300"/>
          </a:xfrm>
          <a:custGeom>
            <a:avLst/>
            <a:gdLst/>
            <a:ahLst/>
            <a:cxnLst/>
            <a:rect l="l" t="t" r="r" b="b"/>
            <a:pathLst>
              <a:path w="625475" h="241300">
                <a:moveTo>
                  <a:pt x="316483" y="0"/>
                </a:moveTo>
                <a:lnTo>
                  <a:pt x="272288" y="2921"/>
                </a:lnTo>
                <a:lnTo>
                  <a:pt x="228853" y="11175"/>
                </a:lnTo>
                <a:lnTo>
                  <a:pt x="173735" y="29591"/>
                </a:lnTo>
                <a:lnTo>
                  <a:pt x="123190" y="55245"/>
                </a:lnTo>
                <a:lnTo>
                  <a:pt x="78994" y="86868"/>
                </a:lnTo>
                <a:lnTo>
                  <a:pt x="51053" y="113792"/>
                </a:lnTo>
                <a:lnTo>
                  <a:pt x="22225" y="153416"/>
                </a:lnTo>
                <a:lnTo>
                  <a:pt x="4699" y="196087"/>
                </a:lnTo>
                <a:lnTo>
                  <a:pt x="0" y="239903"/>
                </a:lnTo>
                <a:lnTo>
                  <a:pt x="22859" y="240919"/>
                </a:lnTo>
                <a:lnTo>
                  <a:pt x="23875" y="219329"/>
                </a:lnTo>
                <a:lnTo>
                  <a:pt x="25019" y="209931"/>
                </a:lnTo>
                <a:lnTo>
                  <a:pt x="37465" y="173228"/>
                </a:lnTo>
                <a:lnTo>
                  <a:pt x="60959" y="137287"/>
                </a:lnTo>
                <a:lnTo>
                  <a:pt x="94488" y="103759"/>
                </a:lnTo>
                <a:lnTo>
                  <a:pt x="135763" y="74295"/>
                </a:lnTo>
                <a:lnTo>
                  <a:pt x="183260" y="50419"/>
                </a:lnTo>
                <a:lnTo>
                  <a:pt x="235203" y="33147"/>
                </a:lnTo>
                <a:lnTo>
                  <a:pt x="275590" y="25527"/>
                </a:lnTo>
                <a:lnTo>
                  <a:pt x="316992" y="22860"/>
                </a:lnTo>
                <a:lnTo>
                  <a:pt x="441394" y="22860"/>
                </a:lnTo>
                <a:lnTo>
                  <a:pt x="431926" y="19304"/>
                </a:lnTo>
                <a:lnTo>
                  <a:pt x="375411" y="5080"/>
                </a:lnTo>
                <a:lnTo>
                  <a:pt x="331216" y="254"/>
                </a:lnTo>
                <a:lnTo>
                  <a:pt x="316483" y="0"/>
                </a:lnTo>
                <a:close/>
              </a:path>
              <a:path w="625475" h="241300">
                <a:moveTo>
                  <a:pt x="556433" y="120889"/>
                </a:moveTo>
                <a:lnTo>
                  <a:pt x="510158" y="142621"/>
                </a:lnTo>
                <a:lnTo>
                  <a:pt x="621538" y="230632"/>
                </a:lnTo>
                <a:lnTo>
                  <a:pt x="623990" y="132715"/>
                </a:lnTo>
                <a:lnTo>
                  <a:pt x="562991" y="132715"/>
                </a:lnTo>
                <a:lnTo>
                  <a:pt x="556433" y="120889"/>
                </a:lnTo>
                <a:close/>
              </a:path>
              <a:path w="625475" h="241300">
                <a:moveTo>
                  <a:pt x="556697" y="120765"/>
                </a:moveTo>
                <a:lnTo>
                  <a:pt x="556433" y="120889"/>
                </a:lnTo>
                <a:lnTo>
                  <a:pt x="562991" y="132715"/>
                </a:lnTo>
                <a:lnTo>
                  <a:pt x="582929" y="121539"/>
                </a:lnTo>
                <a:lnTo>
                  <a:pt x="557529" y="121539"/>
                </a:lnTo>
                <a:lnTo>
                  <a:pt x="556697" y="120765"/>
                </a:lnTo>
                <a:close/>
              </a:path>
              <a:path w="625475" h="241300">
                <a:moveTo>
                  <a:pt x="625094" y="88646"/>
                </a:moveTo>
                <a:lnTo>
                  <a:pt x="577169" y="111151"/>
                </a:lnTo>
                <a:lnTo>
                  <a:pt x="582929" y="121539"/>
                </a:lnTo>
                <a:lnTo>
                  <a:pt x="562991" y="132715"/>
                </a:lnTo>
                <a:lnTo>
                  <a:pt x="623990" y="132715"/>
                </a:lnTo>
                <a:lnTo>
                  <a:pt x="625094" y="88646"/>
                </a:lnTo>
                <a:close/>
              </a:path>
              <a:path w="625475" h="241300">
                <a:moveTo>
                  <a:pt x="556841" y="120698"/>
                </a:moveTo>
                <a:lnTo>
                  <a:pt x="556697" y="120765"/>
                </a:lnTo>
                <a:lnTo>
                  <a:pt x="557529" y="121539"/>
                </a:lnTo>
                <a:lnTo>
                  <a:pt x="556841" y="120698"/>
                </a:lnTo>
                <a:close/>
              </a:path>
              <a:path w="625475" h="241300">
                <a:moveTo>
                  <a:pt x="577169" y="111151"/>
                </a:moveTo>
                <a:lnTo>
                  <a:pt x="556841" y="120698"/>
                </a:lnTo>
                <a:lnTo>
                  <a:pt x="557529" y="121539"/>
                </a:lnTo>
                <a:lnTo>
                  <a:pt x="582929" y="121539"/>
                </a:lnTo>
                <a:lnTo>
                  <a:pt x="577169" y="111151"/>
                </a:lnTo>
                <a:close/>
              </a:path>
              <a:path w="625475" h="241300">
                <a:moveTo>
                  <a:pt x="556011" y="120128"/>
                </a:moveTo>
                <a:lnTo>
                  <a:pt x="556433" y="120889"/>
                </a:lnTo>
                <a:lnTo>
                  <a:pt x="556697" y="120765"/>
                </a:lnTo>
                <a:lnTo>
                  <a:pt x="556011" y="120128"/>
                </a:lnTo>
                <a:close/>
              </a:path>
              <a:path w="625475" h="241300">
                <a:moveTo>
                  <a:pt x="555244" y="118745"/>
                </a:moveTo>
                <a:lnTo>
                  <a:pt x="556025" y="120142"/>
                </a:lnTo>
                <a:lnTo>
                  <a:pt x="556697" y="120765"/>
                </a:lnTo>
                <a:lnTo>
                  <a:pt x="556841" y="120698"/>
                </a:lnTo>
                <a:lnTo>
                  <a:pt x="555244" y="118745"/>
                </a:lnTo>
                <a:close/>
              </a:path>
              <a:path w="625475" h="241300">
                <a:moveTo>
                  <a:pt x="561000" y="118745"/>
                </a:moveTo>
                <a:lnTo>
                  <a:pt x="555244" y="118745"/>
                </a:lnTo>
                <a:lnTo>
                  <a:pt x="556841" y="120698"/>
                </a:lnTo>
                <a:lnTo>
                  <a:pt x="561000" y="118745"/>
                </a:lnTo>
                <a:close/>
              </a:path>
              <a:path w="625475" h="241300">
                <a:moveTo>
                  <a:pt x="441394" y="22860"/>
                </a:moveTo>
                <a:lnTo>
                  <a:pt x="316992" y="22860"/>
                </a:lnTo>
                <a:lnTo>
                  <a:pt x="330834" y="23114"/>
                </a:lnTo>
                <a:lnTo>
                  <a:pt x="344550" y="24130"/>
                </a:lnTo>
                <a:lnTo>
                  <a:pt x="399033" y="33528"/>
                </a:lnTo>
                <a:lnTo>
                  <a:pt x="450976" y="50927"/>
                </a:lnTo>
                <a:lnTo>
                  <a:pt x="498475" y="75184"/>
                </a:lnTo>
                <a:lnTo>
                  <a:pt x="539750" y="105029"/>
                </a:lnTo>
                <a:lnTo>
                  <a:pt x="556011" y="120128"/>
                </a:lnTo>
                <a:lnTo>
                  <a:pt x="555244" y="118745"/>
                </a:lnTo>
                <a:lnTo>
                  <a:pt x="561000" y="118745"/>
                </a:lnTo>
                <a:lnTo>
                  <a:pt x="577169" y="111151"/>
                </a:lnTo>
                <a:lnTo>
                  <a:pt x="575182" y="107569"/>
                </a:lnTo>
                <a:lnTo>
                  <a:pt x="574675" y="106553"/>
                </a:lnTo>
                <a:lnTo>
                  <a:pt x="532638" y="70358"/>
                </a:lnTo>
                <a:lnTo>
                  <a:pt x="485013" y="41529"/>
                </a:lnTo>
                <a:lnTo>
                  <a:pt x="458977" y="29464"/>
                </a:lnTo>
                <a:lnTo>
                  <a:pt x="441394" y="22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1437132" y="4561332"/>
          <a:ext cx="7315200" cy="4983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4983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-1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58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65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2971038" y="4344670"/>
            <a:ext cx="609600" cy="219075"/>
          </a:xfrm>
          <a:custGeom>
            <a:avLst/>
            <a:gdLst/>
            <a:ahLst/>
            <a:cxnLst/>
            <a:rect l="l" t="t" r="r" b="b"/>
            <a:pathLst>
              <a:path w="609600" h="219075">
                <a:moveTo>
                  <a:pt x="0" y="217423"/>
                </a:moveTo>
                <a:lnTo>
                  <a:pt x="20905" y="146142"/>
                </a:lnTo>
                <a:lnTo>
                  <a:pt x="45155" y="112738"/>
                </a:lnTo>
                <a:lnTo>
                  <a:pt x="76931" y="82018"/>
                </a:lnTo>
                <a:lnTo>
                  <a:pt x="114979" y="54877"/>
                </a:lnTo>
                <a:lnTo>
                  <a:pt x="158044" y="32210"/>
                </a:lnTo>
                <a:lnTo>
                  <a:pt x="204872" y="14912"/>
                </a:lnTo>
                <a:lnTo>
                  <a:pt x="254209" y="3877"/>
                </a:lnTo>
                <a:lnTo>
                  <a:pt x="304800" y="0"/>
                </a:lnTo>
                <a:lnTo>
                  <a:pt x="355390" y="3904"/>
                </a:lnTo>
                <a:lnTo>
                  <a:pt x="404727" y="15017"/>
                </a:lnTo>
                <a:lnTo>
                  <a:pt x="451555" y="32436"/>
                </a:lnTo>
                <a:lnTo>
                  <a:pt x="494620" y="55262"/>
                </a:lnTo>
                <a:lnTo>
                  <a:pt x="532668" y="82593"/>
                </a:lnTo>
                <a:lnTo>
                  <a:pt x="564444" y="113528"/>
                </a:lnTo>
                <a:lnTo>
                  <a:pt x="588694" y="147166"/>
                </a:lnTo>
                <a:lnTo>
                  <a:pt x="604164" y="182606"/>
                </a:lnTo>
                <a:lnTo>
                  <a:pt x="609600" y="218947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568700" y="4333366"/>
            <a:ext cx="625475" cy="240665"/>
          </a:xfrm>
          <a:custGeom>
            <a:avLst/>
            <a:gdLst/>
            <a:ahLst/>
            <a:cxnLst/>
            <a:rect l="l" t="t" r="r" b="b"/>
            <a:pathLst>
              <a:path w="625475" h="240664">
                <a:moveTo>
                  <a:pt x="316484" y="0"/>
                </a:moveTo>
                <a:lnTo>
                  <a:pt x="272288" y="2793"/>
                </a:lnTo>
                <a:lnTo>
                  <a:pt x="228853" y="11175"/>
                </a:lnTo>
                <a:lnTo>
                  <a:pt x="173736" y="29463"/>
                </a:lnTo>
                <a:lnTo>
                  <a:pt x="123189" y="55117"/>
                </a:lnTo>
                <a:lnTo>
                  <a:pt x="78994" y="86740"/>
                </a:lnTo>
                <a:lnTo>
                  <a:pt x="51053" y="113664"/>
                </a:lnTo>
                <a:lnTo>
                  <a:pt x="22098" y="153161"/>
                </a:lnTo>
                <a:lnTo>
                  <a:pt x="4699" y="195833"/>
                </a:lnTo>
                <a:lnTo>
                  <a:pt x="0" y="239648"/>
                </a:lnTo>
                <a:lnTo>
                  <a:pt x="22860" y="240664"/>
                </a:lnTo>
                <a:lnTo>
                  <a:pt x="23875" y="219074"/>
                </a:lnTo>
                <a:lnTo>
                  <a:pt x="25019" y="209676"/>
                </a:lnTo>
                <a:lnTo>
                  <a:pt x="37464" y="173100"/>
                </a:lnTo>
                <a:lnTo>
                  <a:pt x="60960" y="137159"/>
                </a:lnTo>
                <a:lnTo>
                  <a:pt x="94487" y="103631"/>
                </a:lnTo>
                <a:lnTo>
                  <a:pt x="135762" y="74294"/>
                </a:lnTo>
                <a:lnTo>
                  <a:pt x="183261" y="50291"/>
                </a:lnTo>
                <a:lnTo>
                  <a:pt x="235203" y="33146"/>
                </a:lnTo>
                <a:lnTo>
                  <a:pt x="275589" y="25399"/>
                </a:lnTo>
                <a:lnTo>
                  <a:pt x="316991" y="22732"/>
                </a:lnTo>
                <a:lnTo>
                  <a:pt x="441194" y="22732"/>
                </a:lnTo>
                <a:lnTo>
                  <a:pt x="431800" y="19176"/>
                </a:lnTo>
                <a:lnTo>
                  <a:pt x="375412" y="5079"/>
                </a:lnTo>
                <a:lnTo>
                  <a:pt x="331215" y="253"/>
                </a:lnTo>
                <a:lnTo>
                  <a:pt x="316484" y="0"/>
                </a:lnTo>
                <a:close/>
              </a:path>
              <a:path w="625475" h="240664">
                <a:moveTo>
                  <a:pt x="556433" y="120635"/>
                </a:moveTo>
                <a:lnTo>
                  <a:pt x="510159" y="142366"/>
                </a:lnTo>
                <a:lnTo>
                  <a:pt x="621538" y="230377"/>
                </a:lnTo>
                <a:lnTo>
                  <a:pt x="623990" y="132460"/>
                </a:lnTo>
                <a:lnTo>
                  <a:pt x="562990" y="132460"/>
                </a:lnTo>
                <a:lnTo>
                  <a:pt x="556433" y="120635"/>
                </a:lnTo>
                <a:close/>
              </a:path>
              <a:path w="625475" h="240664">
                <a:moveTo>
                  <a:pt x="556697" y="120511"/>
                </a:moveTo>
                <a:lnTo>
                  <a:pt x="556433" y="120635"/>
                </a:lnTo>
                <a:lnTo>
                  <a:pt x="562990" y="132460"/>
                </a:lnTo>
                <a:lnTo>
                  <a:pt x="582929" y="121284"/>
                </a:lnTo>
                <a:lnTo>
                  <a:pt x="557529" y="121284"/>
                </a:lnTo>
                <a:lnTo>
                  <a:pt x="556697" y="120511"/>
                </a:lnTo>
                <a:close/>
              </a:path>
              <a:path w="625475" h="240664">
                <a:moveTo>
                  <a:pt x="625094" y="88391"/>
                </a:moveTo>
                <a:lnTo>
                  <a:pt x="577169" y="110897"/>
                </a:lnTo>
                <a:lnTo>
                  <a:pt x="582929" y="121284"/>
                </a:lnTo>
                <a:lnTo>
                  <a:pt x="562990" y="132460"/>
                </a:lnTo>
                <a:lnTo>
                  <a:pt x="623990" y="132460"/>
                </a:lnTo>
                <a:lnTo>
                  <a:pt x="625094" y="88391"/>
                </a:lnTo>
                <a:close/>
              </a:path>
              <a:path w="625475" h="240664">
                <a:moveTo>
                  <a:pt x="556841" y="120444"/>
                </a:moveTo>
                <a:lnTo>
                  <a:pt x="556697" y="120511"/>
                </a:lnTo>
                <a:lnTo>
                  <a:pt x="557529" y="121284"/>
                </a:lnTo>
                <a:lnTo>
                  <a:pt x="556841" y="120444"/>
                </a:lnTo>
                <a:close/>
              </a:path>
              <a:path w="625475" h="240664">
                <a:moveTo>
                  <a:pt x="577169" y="110897"/>
                </a:moveTo>
                <a:lnTo>
                  <a:pt x="556841" y="120444"/>
                </a:lnTo>
                <a:lnTo>
                  <a:pt x="557529" y="121284"/>
                </a:lnTo>
                <a:lnTo>
                  <a:pt x="582929" y="121284"/>
                </a:lnTo>
                <a:lnTo>
                  <a:pt x="577169" y="110897"/>
                </a:lnTo>
                <a:close/>
              </a:path>
              <a:path w="625475" h="240664">
                <a:moveTo>
                  <a:pt x="556011" y="119874"/>
                </a:moveTo>
                <a:lnTo>
                  <a:pt x="556433" y="120635"/>
                </a:lnTo>
                <a:lnTo>
                  <a:pt x="556697" y="120511"/>
                </a:lnTo>
                <a:lnTo>
                  <a:pt x="556011" y="119874"/>
                </a:lnTo>
                <a:close/>
              </a:path>
              <a:path w="625475" h="240664">
                <a:moveTo>
                  <a:pt x="555244" y="118490"/>
                </a:moveTo>
                <a:lnTo>
                  <a:pt x="556011" y="119874"/>
                </a:lnTo>
                <a:lnTo>
                  <a:pt x="556697" y="120511"/>
                </a:lnTo>
                <a:lnTo>
                  <a:pt x="556841" y="120444"/>
                </a:lnTo>
                <a:lnTo>
                  <a:pt x="555244" y="118490"/>
                </a:lnTo>
                <a:close/>
              </a:path>
              <a:path w="625475" h="240664">
                <a:moveTo>
                  <a:pt x="561000" y="118490"/>
                </a:moveTo>
                <a:lnTo>
                  <a:pt x="555244" y="118490"/>
                </a:lnTo>
                <a:lnTo>
                  <a:pt x="556841" y="120444"/>
                </a:lnTo>
                <a:lnTo>
                  <a:pt x="561000" y="118490"/>
                </a:lnTo>
                <a:close/>
              </a:path>
              <a:path w="625475" h="240664">
                <a:moveTo>
                  <a:pt x="441194" y="22732"/>
                </a:moveTo>
                <a:lnTo>
                  <a:pt x="316991" y="22732"/>
                </a:lnTo>
                <a:lnTo>
                  <a:pt x="330835" y="23113"/>
                </a:lnTo>
                <a:lnTo>
                  <a:pt x="344550" y="24002"/>
                </a:lnTo>
                <a:lnTo>
                  <a:pt x="399034" y="33400"/>
                </a:lnTo>
                <a:lnTo>
                  <a:pt x="450850" y="50799"/>
                </a:lnTo>
                <a:lnTo>
                  <a:pt x="498475" y="75056"/>
                </a:lnTo>
                <a:lnTo>
                  <a:pt x="539750" y="104774"/>
                </a:lnTo>
                <a:lnTo>
                  <a:pt x="556011" y="119874"/>
                </a:lnTo>
                <a:lnTo>
                  <a:pt x="555244" y="118490"/>
                </a:lnTo>
                <a:lnTo>
                  <a:pt x="561000" y="118490"/>
                </a:lnTo>
                <a:lnTo>
                  <a:pt x="577169" y="110897"/>
                </a:lnTo>
                <a:lnTo>
                  <a:pt x="575183" y="107314"/>
                </a:lnTo>
                <a:lnTo>
                  <a:pt x="574675" y="106298"/>
                </a:lnTo>
                <a:lnTo>
                  <a:pt x="532511" y="70230"/>
                </a:lnTo>
                <a:lnTo>
                  <a:pt x="485013" y="41401"/>
                </a:lnTo>
                <a:lnTo>
                  <a:pt x="458977" y="29463"/>
                </a:lnTo>
                <a:lnTo>
                  <a:pt x="441194" y="227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87900" y="4333366"/>
            <a:ext cx="625475" cy="240665"/>
          </a:xfrm>
          <a:custGeom>
            <a:avLst/>
            <a:gdLst/>
            <a:ahLst/>
            <a:cxnLst/>
            <a:rect l="l" t="t" r="r" b="b"/>
            <a:pathLst>
              <a:path w="625475" h="240664">
                <a:moveTo>
                  <a:pt x="316484" y="0"/>
                </a:moveTo>
                <a:lnTo>
                  <a:pt x="272288" y="2793"/>
                </a:lnTo>
                <a:lnTo>
                  <a:pt x="228853" y="11175"/>
                </a:lnTo>
                <a:lnTo>
                  <a:pt x="173736" y="29463"/>
                </a:lnTo>
                <a:lnTo>
                  <a:pt x="123189" y="55117"/>
                </a:lnTo>
                <a:lnTo>
                  <a:pt x="78994" y="86740"/>
                </a:lnTo>
                <a:lnTo>
                  <a:pt x="51053" y="113664"/>
                </a:lnTo>
                <a:lnTo>
                  <a:pt x="22098" y="153161"/>
                </a:lnTo>
                <a:lnTo>
                  <a:pt x="4699" y="195833"/>
                </a:lnTo>
                <a:lnTo>
                  <a:pt x="0" y="239648"/>
                </a:lnTo>
                <a:lnTo>
                  <a:pt x="22860" y="240664"/>
                </a:lnTo>
                <a:lnTo>
                  <a:pt x="23875" y="219074"/>
                </a:lnTo>
                <a:lnTo>
                  <a:pt x="25019" y="209676"/>
                </a:lnTo>
                <a:lnTo>
                  <a:pt x="37464" y="173100"/>
                </a:lnTo>
                <a:lnTo>
                  <a:pt x="60960" y="137159"/>
                </a:lnTo>
                <a:lnTo>
                  <a:pt x="94487" y="103631"/>
                </a:lnTo>
                <a:lnTo>
                  <a:pt x="135762" y="74294"/>
                </a:lnTo>
                <a:lnTo>
                  <a:pt x="183261" y="50291"/>
                </a:lnTo>
                <a:lnTo>
                  <a:pt x="235203" y="33146"/>
                </a:lnTo>
                <a:lnTo>
                  <a:pt x="275589" y="25399"/>
                </a:lnTo>
                <a:lnTo>
                  <a:pt x="316991" y="22732"/>
                </a:lnTo>
                <a:lnTo>
                  <a:pt x="441194" y="22732"/>
                </a:lnTo>
                <a:lnTo>
                  <a:pt x="431800" y="19176"/>
                </a:lnTo>
                <a:lnTo>
                  <a:pt x="375412" y="5079"/>
                </a:lnTo>
                <a:lnTo>
                  <a:pt x="331215" y="253"/>
                </a:lnTo>
                <a:lnTo>
                  <a:pt x="316484" y="0"/>
                </a:lnTo>
                <a:close/>
              </a:path>
              <a:path w="625475" h="240664">
                <a:moveTo>
                  <a:pt x="556433" y="120635"/>
                </a:moveTo>
                <a:lnTo>
                  <a:pt x="510159" y="142366"/>
                </a:lnTo>
                <a:lnTo>
                  <a:pt x="621538" y="230377"/>
                </a:lnTo>
                <a:lnTo>
                  <a:pt x="623990" y="132460"/>
                </a:lnTo>
                <a:lnTo>
                  <a:pt x="562990" y="132460"/>
                </a:lnTo>
                <a:lnTo>
                  <a:pt x="556433" y="120635"/>
                </a:lnTo>
                <a:close/>
              </a:path>
              <a:path w="625475" h="240664">
                <a:moveTo>
                  <a:pt x="556697" y="120511"/>
                </a:moveTo>
                <a:lnTo>
                  <a:pt x="556433" y="120635"/>
                </a:lnTo>
                <a:lnTo>
                  <a:pt x="562990" y="132460"/>
                </a:lnTo>
                <a:lnTo>
                  <a:pt x="582929" y="121284"/>
                </a:lnTo>
                <a:lnTo>
                  <a:pt x="557529" y="121284"/>
                </a:lnTo>
                <a:lnTo>
                  <a:pt x="556697" y="120511"/>
                </a:lnTo>
                <a:close/>
              </a:path>
              <a:path w="625475" h="240664">
                <a:moveTo>
                  <a:pt x="625094" y="88391"/>
                </a:moveTo>
                <a:lnTo>
                  <a:pt x="577169" y="110897"/>
                </a:lnTo>
                <a:lnTo>
                  <a:pt x="582929" y="121284"/>
                </a:lnTo>
                <a:lnTo>
                  <a:pt x="562990" y="132460"/>
                </a:lnTo>
                <a:lnTo>
                  <a:pt x="623990" y="132460"/>
                </a:lnTo>
                <a:lnTo>
                  <a:pt x="625094" y="88391"/>
                </a:lnTo>
                <a:close/>
              </a:path>
              <a:path w="625475" h="240664">
                <a:moveTo>
                  <a:pt x="556841" y="120444"/>
                </a:moveTo>
                <a:lnTo>
                  <a:pt x="556697" y="120511"/>
                </a:lnTo>
                <a:lnTo>
                  <a:pt x="557529" y="121284"/>
                </a:lnTo>
                <a:lnTo>
                  <a:pt x="556841" y="120444"/>
                </a:lnTo>
                <a:close/>
              </a:path>
              <a:path w="625475" h="240664">
                <a:moveTo>
                  <a:pt x="577169" y="110897"/>
                </a:moveTo>
                <a:lnTo>
                  <a:pt x="556841" y="120444"/>
                </a:lnTo>
                <a:lnTo>
                  <a:pt x="557529" y="121284"/>
                </a:lnTo>
                <a:lnTo>
                  <a:pt x="582929" y="121284"/>
                </a:lnTo>
                <a:lnTo>
                  <a:pt x="577169" y="110897"/>
                </a:lnTo>
                <a:close/>
              </a:path>
              <a:path w="625475" h="240664">
                <a:moveTo>
                  <a:pt x="556011" y="119874"/>
                </a:moveTo>
                <a:lnTo>
                  <a:pt x="556433" y="120635"/>
                </a:lnTo>
                <a:lnTo>
                  <a:pt x="556697" y="120511"/>
                </a:lnTo>
                <a:lnTo>
                  <a:pt x="556011" y="119874"/>
                </a:lnTo>
                <a:close/>
              </a:path>
              <a:path w="625475" h="240664">
                <a:moveTo>
                  <a:pt x="555244" y="118490"/>
                </a:moveTo>
                <a:lnTo>
                  <a:pt x="556011" y="119874"/>
                </a:lnTo>
                <a:lnTo>
                  <a:pt x="556697" y="120511"/>
                </a:lnTo>
                <a:lnTo>
                  <a:pt x="556841" y="120444"/>
                </a:lnTo>
                <a:lnTo>
                  <a:pt x="555244" y="118490"/>
                </a:lnTo>
                <a:close/>
              </a:path>
              <a:path w="625475" h="240664">
                <a:moveTo>
                  <a:pt x="561000" y="118490"/>
                </a:moveTo>
                <a:lnTo>
                  <a:pt x="555244" y="118490"/>
                </a:lnTo>
                <a:lnTo>
                  <a:pt x="556841" y="120444"/>
                </a:lnTo>
                <a:lnTo>
                  <a:pt x="561000" y="118490"/>
                </a:lnTo>
                <a:close/>
              </a:path>
              <a:path w="625475" h="240664">
                <a:moveTo>
                  <a:pt x="441194" y="22732"/>
                </a:moveTo>
                <a:lnTo>
                  <a:pt x="316991" y="22732"/>
                </a:lnTo>
                <a:lnTo>
                  <a:pt x="330835" y="23113"/>
                </a:lnTo>
                <a:lnTo>
                  <a:pt x="344550" y="24002"/>
                </a:lnTo>
                <a:lnTo>
                  <a:pt x="399034" y="33400"/>
                </a:lnTo>
                <a:lnTo>
                  <a:pt x="450850" y="50799"/>
                </a:lnTo>
                <a:lnTo>
                  <a:pt x="498475" y="75056"/>
                </a:lnTo>
                <a:lnTo>
                  <a:pt x="539750" y="104774"/>
                </a:lnTo>
                <a:lnTo>
                  <a:pt x="556011" y="119874"/>
                </a:lnTo>
                <a:lnTo>
                  <a:pt x="555244" y="118490"/>
                </a:lnTo>
                <a:lnTo>
                  <a:pt x="561000" y="118490"/>
                </a:lnTo>
                <a:lnTo>
                  <a:pt x="577169" y="110897"/>
                </a:lnTo>
                <a:lnTo>
                  <a:pt x="575183" y="107314"/>
                </a:lnTo>
                <a:lnTo>
                  <a:pt x="574675" y="106298"/>
                </a:lnTo>
                <a:lnTo>
                  <a:pt x="532511" y="70230"/>
                </a:lnTo>
                <a:lnTo>
                  <a:pt x="485013" y="41401"/>
                </a:lnTo>
                <a:lnTo>
                  <a:pt x="458977" y="29463"/>
                </a:lnTo>
                <a:lnTo>
                  <a:pt x="441194" y="227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007100" y="4333366"/>
            <a:ext cx="625475" cy="240665"/>
          </a:xfrm>
          <a:custGeom>
            <a:avLst/>
            <a:gdLst/>
            <a:ahLst/>
            <a:cxnLst/>
            <a:rect l="l" t="t" r="r" b="b"/>
            <a:pathLst>
              <a:path w="625475" h="240664">
                <a:moveTo>
                  <a:pt x="316484" y="0"/>
                </a:moveTo>
                <a:lnTo>
                  <a:pt x="272288" y="2793"/>
                </a:lnTo>
                <a:lnTo>
                  <a:pt x="228853" y="11175"/>
                </a:lnTo>
                <a:lnTo>
                  <a:pt x="173736" y="29463"/>
                </a:lnTo>
                <a:lnTo>
                  <a:pt x="123189" y="55117"/>
                </a:lnTo>
                <a:lnTo>
                  <a:pt x="78994" y="86740"/>
                </a:lnTo>
                <a:lnTo>
                  <a:pt x="51053" y="113664"/>
                </a:lnTo>
                <a:lnTo>
                  <a:pt x="22098" y="153161"/>
                </a:lnTo>
                <a:lnTo>
                  <a:pt x="4699" y="195833"/>
                </a:lnTo>
                <a:lnTo>
                  <a:pt x="0" y="239648"/>
                </a:lnTo>
                <a:lnTo>
                  <a:pt x="22860" y="240664"/>
                </a:lnTo>
                <a:lnTo>
                  <a:pt x="23875" y="219074"/>
                </a:lnTo>
                <a:lnTo>
                  <a:pt x="25019" y="209676"/>
                </a:lnTo>
                <a:lnTo>
                  <a:pt x="37464" y="173100"/>
                </a:lnTo>
                <a:lnTo>
                  <a:pt x="60960" y="137159"/>
                </a:lnTo>
                <a:lnTo>
                  <a:pt x="94487" y="103631"/>
                </a:lnTo>
                <a:lnTo>
                  <a:pt x="135762" y="74294"/>
                </a:lnTo>
                <a:lnTo>
                  <a:pt x="183261" y="50291"/>
                </a:lnTo>
                <a:lnTo>
                  <a:pt x="235203" y="33146"/>
                </a:lnTo>
                <a:lnTo>
                  <a:pt x="275589" y="25399"/>
                </a:lnTo>
                <a:lnTo>
                  <a:pt x="316991" y="22732"/>
                </a:lnTo>
                <a:lnTo>
                  <a:pt x="441194" y="22732"/>
                </a:lnTo>
                <a:lnTo>
                  <a:pt x="431800" y="19176"/>
                </a:lnTo>
                <a:lnTo>
                  <a:pt x="375412" y="5079"/>
                </a:lnTo>
                <a:lnTo>
                  <a:pt x="331215" y="253"/>
                </a:lnTo>
                <a:lnTo>
                  <a:pt x="316484" y="0"/>
                </a:lnTo>
                <a:close/>
              </a:path>
              <a:path w="625475" h="240664">
                <a:moveTo>
                  <a:pt x="556433" y="120635"/>
                </a:moveTo>
                <a:lnTo>
                  <a:pt x="510158" y="142366"/>
                </a:lnTo>
                <a:lnTo>
                  <a:pt x="621538" y="230377"/>
                </a:lnTo>
                <a:lnTo>
                  <a:pt x="623990" y="132460"/>
                </a:lnTo>
                <a:lnTo>
                  <a:pt x="562991" y="132460"/>
                </a:lnTo>
                <a:lnTo>
                  <a:pt x="556433" y="120635"/>
                </a:lnTo>
                <a:close/>
              </a:path>
              <a:path w="625475" h="240664">
                <a:moveTo>
                  <a:pt x="556697" y="120511"/>
                </a:moveTo>
                <a:lnTo>
                  <a:pt x="556433" y="120635"/>
                </a:lnTo>
                <a:lnTo>
                  <a:pt x="562991" y="132460"/>
                </a:lnTo>
                <a:lnTo>
                  <a:pt x="582929" y="121284"/>
                </a:lnTo>
                <a:lnTo>
                  <a:pt x="557529" y="121284"/>
                </a:lnTo>
                <a:lnTo>
                  <a:pt x="556697" y="120511"/>
                </a:lnTo>
                <a:close/>
              </a:path>
              <a:path w="625475" h="240664">
                <a:moveTo>
                  <a:pt x="625094" y="88391"/>
                </a:moveTo>
                <a:lnTo>
                  <a:pt x="577169" y="110897"/>
                </a:lnTo>
                <a:lnTo>
                  <a:pt x="582929" y="121284"/>
                </a:lnTo>
                <a:lnTo>
                  <a:pt x="562991" y="132460"/>
                </a:lnTo>
                <a:lnTo>
                  <a:pt x="623990" y="132460"/>
                </a:lnTo>
                <a:lnTo>
                  <a:pt x="625094" y="88391"/>
                </a:lnTo>
                <a:close/>
              </a:path>
              <a:path w="625475" h="240664">
                <a:moveTo>
                  <a:pt x="556841" y="120444"/>
                </a:moveTo>
                <a:lnTo>
                  <a:pt x="556697" y="120511"/>
                </a:lnTo>
                <a:lnTo>
                  <a:pt x="557529" y="121284"/>
                </a:lnTo>
                <a:lnTo>
                  <a:pt x="556841" y="120444"/>
                </a:lnTo>
                <a:close/>
              </a:path>
              <a:path w="625475" h="240664">
                <a:moveTo>
                  <a:pt x="577169" y="110897"/>
                </a:moveTo>
                <a:lnTo>
                  <a:pt x="556841" y="120444"/>
                </a:lnTo>
                <a:lnTo>
                  <a:pt x="557529" y="121284"/>
                </a:lnTo>
                <a:lnTo>
                  <a:pt x="582929" y="121284"/>
                </a:lnTo>
                <a:lnTo>
                  <a:pt x="577169" y="110897"/>
                </a:lnTo>
                <a:close/>
              </a:path>
              <a:path w="625475" h="240664">
                <a:moveTo>
                  <a:pt x="556011" y="119874"/>
                </a:moveTo>
                <a:lnTo>
                  <a:pt x="556433" y="120635"/>
                </a:lnTo>
                <a:lnTo>
                  <a:pt x="556697" y="120511"/>
                </a:lnTo>
                <a:lnTo>
                  <a:pt x="556011" y="119874"/>
                </a:lnTo>
                <a:close/>
              </a:path>
              <a:path w="625475" h="240664">
                <a:moveTo>
                  <a:pt x="555244" y="118490"/>
                </a:moveTo>
                <a:lnTo>
                  <a:pt x="556011" y="119874"/>
                </a:lnTo>
                <a:lnTo>
                  <a:pt x="556697" y="120511"/>
                </a:lnTo>
                <a:lnTo>
                  <a:pt x="556841" y="120444"/>
                </a:lnTo>
                <a:lnTo>
                  <a:pt x="555244" y="118490"/>
                </a:lnTo>
                <a:close/>
              </a:path>
              <a:path w="625475" h="240664">
                <a:moveTo>
                  <a:pt x="561000" y="118490"/>
                </a:moveTo>
                <a:lnTo>
                  <a:pt x="555244" y="118490"/>
                </a:lnTo>
                <a:lnTo>
                  <a:pt x="556841" y="120444"/>
                </a:lnTo>
                <a:lnTo>
                  <a:pt x="561000" y="118490"/>
                </a:lnTo>
                <a:close/>
              </a:path>
              <a:path w="625475" h="240664">
                <a:moveTo>
                  <a:pt x="441194" y="22732"/>
                </a:moveTo>
                <a:lnTo>
                  <a:pt x="316991" y="22732"/>
                </a:lnTo>
                <a:lnTo>
                  <a:pt x="330835" y="23113"/>
                </a:lnTo>
                <a:lnTo>
                  <a:pt x="344550" y="24002"/>
                </a:lnTo>
                <a:lnTo>
                  <a:pt x="399034" y="33400"/>
                </a:lnTo>
                <a:lnTo>
                  <a:pt x="450850" y="50799"/>
                </a:lnTo>
                <a:lnTo>
                  <a:pt x="498475" y="75056"/>
                </a:lnTo>
                <a:lnTo>
                  <a:pt x="539750" y="104774"/>
                </a:lnTo>
                <a:lnTo>
                  <a:pt x="556011" y="119874"/>
                </a:lnTo>
                <a:lnTo>
                  <a:pt x="555244" y="118490"/>
                </a:lnTo>
                <a:lnTo>
                  <a:pt x="561000" y="118490"/>
                </a:lnTo>
                <a:lnTo>
                  <a:pt x="577169" y="110897"/>
                </a:lnTo>
                <a:lnTo>
                  <a:pt x="575182" y="107314"/>
                </a:lnTo>
                <a:lnTo>
                  <a:pt x="574675" y="106298"/>
                </a:lnTo>
                <a:lnTo>
                  <a:pt x="532510" y="70230"/>
                </a:lnTo>
                <a:lnTo>
                  <a:pt x="485013" y="41401"/>
                </a:lnTo>
                <a:lnTo>
                  <a:pt x="458977" y="29463"/>
                </a:lnTo>
                <a:lnTo>
                  <a:pt x="441194" y="227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88340" y="1292097"/>
            <a:ext cx="142240" cy="1398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95A9A9"/>
                </a:solidFill>
                <a:latin typeface="Perpetua"/>
                <a:cs typeface="Perpetua"/>
              </a:rPr>
              <a:t>1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95A9A9"/>
                </a:solidFill>
                <a:latin typeface="Perpetua"/>
                <a:cs typeface="Perpetua"/>
              </a:rPr>
              <a:t>2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8340" y="3486658"/>
            <a:ext cx="142240" cy="1398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95A9A9"/>
                </a:solidFill>
                <a:latin typeface="Perpetua"/>
                <a:cs typeface="Perpetua"/>
              </a:rPr>
              <a:t>3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95A9A9"/>
                </a:solidFill>
                <a:latin typeface="Perpetua"/>
                <a:cs typeface="Perpetua"/>
              </a:rPr>
              <a:t>4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60932" y="2234183"/>
          <a:ext cx="7315200" cy="4983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4983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-1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58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65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1675638" y="2017522"/>
            <a:ext cx="609600" cy="219075"/>
          </a:xfrm>
          <a:custGeom>
            <a:avLst/>
            <a:gdLst/>
            <a:ahLst/>
            <a:cxnLst/>
            <a:rect l="l" t="t" r="r" b="b"/>
            <a:pathLst>
              <a:path w="609600" h="219075">
                <a:moveTo>
                  <a:pt x="0" y="217424"/>
                </a:moveTo>
                <a:lnTo>
                  <a:pt x="20905" y="146142"/>
                </a:lnTo>
                <a:lnTo>
                  <a:pt x="45155" y="112738"/>
                </a:lnTo>
                <a:lnTo>
                  <a:pt x="76931" y="82018"/>
                </a:lnTo>
                <a:lnTo>
                  <a:pt x="114979" y="54877"/>
                </a:lnTo>
                <a:lnTo>
                  <a:pt x="158044" y="32210"/>
                </a:lnTo>
                <a:lnTo>
                  <a:pt x="204872" y="14912"/>
                </a:lnTo>
                <a:lnTo>
                  <a:pt x="254209" y="3877"/>
                </a:lnTo>
                <a:lnTo>
                  <a:pt x="304800" y="0"/>
                </a:lnTo>
                <a:lnTo>
                  <a:pt x="355390" y="3904"/>
                </a:lnTo>
                <a:lnTo>
                  <a:pt x="404727" y="15017"/>
                </a:lnTo>
                <a:lnTo>
                  <a:pt x="451555" y="32436"/>
                </a:lnTo>
                <a:lnTo>
                  <a:pt x="494620" y="55262"/>
                </a:lnTo>
                <a:lnTo>
                  <a:pt x="532668" y="82593"/>
                </a:lnTo>
                <a:lnTo>
                  <a:pt x="564444" y="113528"/>
                </a:lnTo>
                <a:lnTo>
                  <a:pt x="588694" y="147166"/>
                </a:lnTo>
                <a:lnTo>
                  <a:pt x="604164" y="182606"/>
                </a:lnTo>
                <a:lnTo>
                  <a:pt x="609600" y="218948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73300" y="2006219"/>
            <a:ext cx="625475" cy="240665"/>
          </a:xfrm>
          <a:custGeom>
            <a:avLst/>
            <a:gdLst/>
            <a:ahLst/>
            <a:cxnLst/>
            <a:rect l="l" t="t" r="r" b="b"/>
            <a:pathLst>
              <a:path w="625475" h="240664">
                <a:moveTo>
                  <a:pt x="316483" y="0"/>
                </a:moveTo>
                <a:lnTo>
                  <a:pt x="272288" y="2793"/>
                </a:lnTo>
                <a:lnTo>
                  <a:pt x="228854" y="11175"/>
                </a:lnTo>
                <a:lnTo>
                  <a:pt x="173736" y="29463"/>
                </a:lnTo>
                <a:lnTo>
                  <a:pt x="123189" y="55117"/>
                </a:lnTo>
                <a:lnTo>
                  <a:pt x="78993" y="86740"/>
                </a:lnTo>
                <a:lnTo>
                  <a:pt x="51054" y="113664"/>
                </a:lnTo>
                <a:lnTo>
                  <a:pt x="22098" y="153161"/>
                </a:lnTo>
                <a:lnTo>
                  <a:pt x="4699" y="195833"/>
                </a:lnTo>
                <a:lnTo>
                  <a:pt x="0" y="239648"/>
                </a:lnTo>
                <a:lnTo>
                  <a:pt x="22860" y="240664"/>
                </a:lnTo>
                <a:lnTo>
                  <a:pt x="23875" y="219075"/>
                </a:lnTo>
                <a:lnTo>
                  <a:pt x="25018" y="209676"/>
                </a:lnTo>
                <a:lnTo>
                  <a:pt x="37464" y="173100"/>
                </a:lnTo>
                <a:lnTo>
                  <a:pt x="60960" y="137159"/>
                </a:lnTo>
                <a:lnTo>
                  <a:pt x="94487" y="103631"/>
                </a:lnTo>
                <a:lnTo>
                  <a:pt x="135762" y="74294"/>
                </a:lnTo>
                <a:lnTo>
                  <a:pt x="183261" y="50291"/>
                </a:lnTo>
                <a:lnTo>
                  <a:pt x="235204" y="33146"/>
                </a:lnTo>
                <a:lnTo>
                  <a:pt x="275589" y="25400"/>
                </a:lnTo>
                <a:lnTo>
                  <a:pt x="316992" y="22732"/>
                </a:lnTo>
                <a:lnTo>
                  <a:pt x="441194" y="22732"/>
                </a:lnTo>
                <a:lnTo>
                  <a:pt x="431800" y="19176"/>
                </a:lnTo>
                <a:lnTo>
                  <a:pt x="375412" y="5079"/>
                </a:lnTo>
                <a:lnTo>
                  <a:pt x="331216" y="253"/>
                </a:lnTo>
                <a:lnTo>
                  <a:pt x="316483" y="0"/>
                </a:lnTo>
                <a:close/>
              </a:path>
              <a:path w="625475" h="240664">
                <a:moveTo>
                  <a:pt x="556433" y="120635"/>
                </a:moveTo>
                <a:lnTo>
                  <a:pt x="510158" y="142366"/>
                </a:lnTo>
                <a:lnTo>
                  <a:pt x="621538" y="230377"/>
                </a:lnTo>
                <a:lnTo>
                  <a:pt x="623990" y="132460"/>
                </a:lnTo>
                <a:lnTo>
                  <a:pt x="562991" y="132460"/>
                </a:lnTo>
                <a:lnTo>
                  <a:pt x="556433" y="120635"/>
                </a:lnTo>
                <a:close/>
              </a:path>
              <a:path w="625475" h="240664">
                <a:moveTo>
                  <a:pt x="556697" y="120511"/>
                </a:moveTo>
                <a:lnTo>
                  <a:pt x="556433" y="120635"/>
                </a:lnTo>
                <a:lnTo>
                  <a:pt x="562991" y="132460"/>
                </a:lnTo>
                <a:lnTo>
                  <a:pt x="582930" y="121284"/>
                </a:lnTo>
                <a:lnTo>
                  <a:pt x="557530" y="121284"/>
                </a:lnTo>
                <a:lnTo>
                  <a:pt x="556697" y="120511"/>
                </a:lnTo>
                <a:close/>
              </a:path>
              <a:path w="625475" h="240664">
                <a:moveTo>
                  <a:pt x="625094" y="88391"/>
                </a:moveTo>
                <a:lnTo>
                  <a:pt x="577169" y="110897"/>
                </a:lnTo>
                <a:lnTo>
                  <a:pt x="582930" y="121284"/>
                </a:lnTo>
                <a:lnTo>
                  <a:pt x="562991" y="132460"/>
                </a:lnTo>
                <a:lnTo>
                  <a:pt x="623990" y="132460"/>
                </a:lnTo>
                <a:lnTo>
                  <a:pt x="625094" y="88391"/>
                </a:lnTo>
                <a:close/>
              </a:path>
              <a:path w="625475" h="240664">
                <a:moveTo>
                  <a:pt x="556841" y="120444"/>
                </a:moveTo>
                <a:lnTo>
                  <a:pt x="556697" y="120511"/>
                </a:lnTo>
                <a:lnTo>
                  <a:pt x="557530" y="121284"/>
                </a:lnTo>
                <a:lnTo>
                  <a:pt x="556841" y="120444"/>
                </a:lnTo>
                <a:close/>
              </a:path>
              <a:path w="625475" h="240664">
                <a:moveTo>
                  <a:pt x="577169" y="110897"/>
                </a:moveTo>
                <a:lnTo>
                  <a:pt x="556841" y="120444"/>
                </a:lnTo>
                <a:lnTo>
                  <a:pt x="557530" y="121284"/>
                </a:lnTo>
                <a:lnTo>
                  <a:pt x="582930" y="121284"/>
                </a:lnTo>
                <a:lnTo>
                  <a:pt x="577169" y="110897"/>
                </a:lnTo>
                <a:close/>
              </a:path>
              <a:path w="625475" h="240664">
                <a:moveTo>
                  <a:pt x="556011" y="119874"/>
                </a:moveTo>
                <a:lnTo>
                  <a:pt x="556433" y="120635"/>
                </a:lnTo>
                <a:lnTo>
                  <a:pt x="556697" y="120511"/>
                </a:lnTo>
                <a:lnTo>
                  <a:pt x="556011" y="119874"/>
                </a:lnTo>
                <a:close/>
              </a:path>
              <a:path w="625475" h="240664">
                <a:moveTo>
                  <a:pt x="555244" y="118490"/>
                </a:moveTo>
                <a:lnTo>
                  <a:pt x="556011" y="119874"/>
                </a:lnTo>
                <a:lnTo>
                  <a:pt x="556697" y="120511"/>
                </a:lnTo>
                <a:lnTo>
                  <a:pt x="556841" y="120444"/>
                </a:lnTo>
                <a:lnTo>
                  <a:pt x="555244" y="118490"/>
                </a:lnTo>
                <a:close/>
              </a:path>
              <a:path w="625475" h="240664">
                <a:moveTo>
                  <a:pt x="561000" y="118490"/>
                </a:moveTo>
                <a:lnTo>
                  <a:pt x="555244" y="118490"/>
                </a:lnTo>
                <a:lnTo>
                  <a:pt x="556841" y="120444"/>
                </a:lnTo>
                <a:lnTo>
                  <a:pt x="561000" y="118490"/>
                </a:lnTo>
                <a:close/>
              </a:path>
              <a:path w="625475" h="240664">
                <a:moveTo>
                  <a:pt x="441194" y="22732"/>
                </a:moveTo>
                <a:lnTo>
                  <a:pt x="316992" y="22732"/>
                </a:lnTo>
                <a:lnTo>
                  <a:pt x="330835" y="23113"/>
                </a:lnTo>
                <a:lnTo>
                  <a:pt x="344550" y="24002"/>
                </a:lnTo>
                <a:lnTo>
                  <a:pt x="399033" y="33400"/>
                </a:lnTo>
                <a:lnTo>
                  <a:pt x="450850" y="50800"/>
                </a:lnTo>
                <a:lnTo>
                  <a:pt x="498475" y="75056"/>
                </a:lnTo>
                <a:lnTo>
                  <a:pt x="539750" y="104775"/>
                </a:lnTo>
                <a:lnTo>
                  <a:pt x="556011" y="119874"/>
                </a:lnTo>
                <a:lnTo>
                  <a:pt x="555244" y="118490"/>
                </a:lnTo>
                <a:lnTo>
                  <a:pt x="561000" y="118490"/>
                </a:lnTo>
                <a:lnTo>
                  <a:pt x="577169" y="110897"/>
                </a:lnTo>
                <a:lnTo>
                  <a:pt x="575182" y="107314"/>
                </a:lnTo>
                <a:lnTo>
                  <a:pt x="574675" y="106298"/>
                </a:lnTo>
                <a:lnTo>
                  <a:pt x="532511" y="70230"/>
                </a:lnTo>
                <a:lnTo>
                  <a:pt x="485013" y="41401"/>
                </a:lnTo>
                <a:lnTo>
                  <a:pt x="458977" y="29463"/>
                </a:lnTo>
                <a:lnTo>
                  <a:pt x="441194" y="227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125984"/>
            <a:ext cx="3144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Perpetua"/>
                <a:cs typeface="Perpetua"/>
              </a:rPr>
              <a:t>Solution </a:t>
            </a:r>
            <a:r>
              <a:rPr sz="4000" i="1" spc="-5" dirty="0">
                <a:latin typeface="Perpetua"/>
                <a:cs typeface="Perpetua"/>
              </a:rPr>
              <a:t>contd</a:t>
            </a:r>
            <a:r>
              <a:rPr sz="4000" i="1" spc="-20" dirty="0">
                <a:latin typeface="Perpetua"/>
                <a:cs typeface="Perpetua"/>
              </a:rPr>
              <a:t> </a:t>
            </a:r>
            <a:r>
              <a:rPr sz="4000" spc="-10" dirty="0">
                <a:latin typeface="Perpetua"/>
                <a:cs typeface="Perpetua"/>
              </a:rPr>
              <a:t>---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63700" y="3149219"/>
            <a:ext cx="625475" cy="240665"/>
          </a:xfrm>
          <a:custGeom>
            <a:avLst/>
            <a:gdLst/>
            <a:ahLst/>
            <a:cxnLst/>
            <a:rect l="l" t="t" r="r" b="b"/>
            <a:pathLst>
              <a:path w="625475" h="240664">
                <a:moveTo>
                  <a:pt x="316483" y="0"/>
                </a:moveTo>
                <a:lnTo>
                  <a:pt x="272288" y="2793"/>
                </a:lnTo>
                <a:lnTo>
                  <a:pt x="228854" y="11175"/>
                </a:lnTo>
                <a:lnTo>
                  <a:pt x="173736" y="29463"/>
                </a:lnTo>
                <a:lnTo>
                  <a:pt x="123189" y="55117"/>
                </a:lnTo>
                <a:lnTo>
                  <a:pt x="78993" y="86740"/>
                </a:lnTo>
                <a:lnTo>
                  <a:pt x="51054" y="113664"/>
                </a:lnTo>
                <a:lnTo>
                  <a:pt x="22098" y="153161"/>
                </a:lnTo>
                <a:lnTo>
                  <a:pt x="4699" y="195833"/>
                </a:lnTo>
                <a:lnTo>
                  <a:pt x="0" y="239648"/>
                </a:lnTo>
                <a:lnTo>
                  <a:pt x="22860" y="240664"/>
                </a:lnTo>
                <a:lnTo>
                  <a:pt x="23875" y="219075"/>
                </a:lnTo>
                <a:lnTo>
                  <a:pt x="25018" y="209676"/>
                </a:lnTo>
                <a:lnTo>
                  <a:pt x="37464" y="173100"/>
                </a:lnTo>
                <a:lnTo>
                  <a:pt x="60960" y="137159"/>
                </a:lnTo>
                <a:lnTo>
                  <a:pt x="94487" y="103631"/>
                </a:lnTo>
                <a:lnTo>
                  <a:pt x="135762" y="74294"/>
                </a:lnTo>
                <a:lnTo>
                  <a:pt x="183261" y="50291"/>
                </a:lnTo>
                <a:lnTo>
                  <a:pt x="235204" y="33146"/>
                </a:lnTo>
                <a:lnTo>
                  <a:pt x="275589" y="25400"/>
                </a:lnTo>
                <a:lnTo>
                  <a:pt x="316992" y="22732"/>
                </a:lnTo>
                <a:lnTo>
                  <a:pt x="441194" y="22732"/>
                </a:lnTo>
                <a:lnTo>
                  <a:pt x="431800" y="19176"/>
                </a:lnTo>
                <a:lnTo>
                  <a:pt x="375412" y="5079"/>
                </a:lnTo>
                <a:lnTo>
                  <a:pt x="331216" y="253"/>
                </a:lnTo>
                <a:lnTo>
                  <a:pt x="316483" y="0"/>
                </a:lnTo>
                <a:close/>
              </a:path>
              <a:path w="625475" h="240664">
                <a:moveTo>
                  <a:pt x="556433" y="120635"/>
                </a:moveTo>
                <a:lnTo>
                  <a:pt x="510158" y="142366"/>
                </a:lnTo>
                <a:lnTo>
                  <a:pt x="621538" y="230377"/>
                </a:lnTo>
                <a:lnTo>
                  <a:pt x="623990" y="132460"/>
                </a:lnTo>
                <a:lnTo>
                  <a:pt x="562991" y="132460"/>
                </a:lnTo>
                <a:lnTo>
                  <a:pt x="556433" y="120635"/>
                </a:lnTo>
                <a:close/>
              </a:path>
              <a:path w="625475" h="240664">
                <a:moveTo>
                  <a:pt x="556697" y="120511"/>
                </a:moveTo>
                <a:lnTo>
                  <a:pt x="556433" y="120635"/>
                </a:lnTo>
                <a:lnTo>
                  <a:pt x="562991" y="132460"/>
                </a:lnTo>
                <a:lnTo>
                  <a:pt x="582930" y="121284"/>
                </a:lnTo>
                <a:lnTo>
                  <a:pt x="557530" y="121284"/>
                </a:lnTo>
                <a:lnTo>
                  <a:pt x="556697" y="120511"/>
                </a:lnTo>
                <a:close/>
              </a:path>
              <a:path w="625475" h="240664">
                <a:moveTo>
                  <a:pt x="625094" y="88391"/>
                </a:moveTo>
                <a:lnTo>
                  <a:pt x="577169" y="110897"/>
                </a:lnTo>
                <a:lnTo>
                  <a:pt x="582930" y="121284"/>
                </a:lnTo>
                <a:lnTo>
                  <a:pt x="562991" y="132460"/>
                </a:lnTo>
                <a:lnTo>
                  <a:pt x="623990" y="132460"/>
                </a:lnTo>
                <a:lnTo>
                  <a:pt x="625094" y="88391"/>
                </a:lnTo>
                <a:close/>
              </a:path>
              <a:path w="625475" h="240664">
                <a:moveTo>
                  <a:pt x="556841" y="120444"/>
                </a:moveTo>
                <a:lnTo>
                  <a:pt x="556697" y="120511"/>
                </a:lnTo>
                <a:lnTo>
                  <a:pt x="557530" y="121284"/>
                </a:lnTo>
                <a:lnTo>
                  <a:pt x="556841" y="120444"/>
                </a:lnTo>
                <a:close/>
              </a:path>
              <a:path w="625475" h="240664">
                <a:moveTo>
                  <a:pt x="577169" y="110897"/>
                </a:moveTo>
                <a:lnTo>
                  <a:pt x="556841" y="120444"/>
                </a:lnTo>
                <a:lnTo>
                  <a:pt x="557530" y="121284"/>
                </a:lnTo>
                <a:lnTo>
                  <a:pt x="582930" y="121284"/>
                </a:lnTo>
                <a:lnTo>
                  <a:pt x="577169" y="110897"/>
                </a:lnTo>
                <a:close/>
              </a:path>
              <a:path w="625475" h="240664">
                <a:moveTo>
                  <a:pt x="556011" y="119874"/>
                </a:moveTo>
                <a:lnTo>
                  <a:pt x="556433" y="120635"/>
                </a:lnTo>
                <a:lnTo>
                  <a:pt x="556697" y="120511"/>
                </a:lnTo>
                <a:lnTo>
                  <a:pt x="556011" y="119874"/>
                </a:lnTo>
                <a:close/>
              </a:path>
              <a:path w="625475" h="240664">
                <a:moveTo>
                  <a:pt x="555244" y="118490"/>
                </a:moveTo>
                <a:lnTo>
                  <a:pt x="556011" y="119874"/>
                </a:lnTo>
                <a:lnTo>
                  <a:pt x="556697" y="120511"/>
                </a:lnTo>
                <a:lnTo>
                  <a:pt x="556841" y="120444"/>
                </a:lnTo>
                <a:lnTo>
                  <a:pt x="555244" y="118490"/>
                </a:lnTo>
                <a:close/>
              </a:path>
              <a:path w="625475" h="240664">
                <a:moveTo>
                  <a:pt x="561000" y="118490"/>
                </a:moveTo>
                <a:lnTo>
                  <a:pt x="555244" y="118490"/>
                </a:lnTo>
                <a:lnTo>
                  <a:pt x="556841" y="120444"/>
                </a:lnTo>
                <a:lnTo>
                  <a:pt x="561000" y="118490"/>
                </a:lnTo>
                <a:close/>
              </a:path>
              <a:path w="625475" h="240664">
                <a:moveTo>
                  <a:pt x="441194" y="22732"/>
                </a:moveTo>
                <a:lnTo>
                  <a:pt x="316992" y="22732"/>
                </a:lnTo>
                <a:lnTo>
                  <a:pt x="330835" y="23113"/>
                </a:lnTo>
                <a:lnTo>
                  <a:pt x="344550" y="24002"/>
                </a:lnTo>
                <a:lnTo>
                  <a:pt x="399033" y="33400"/>
                </a:lnTo>
                <a:lnTo>
                  <a:pt x="450850" y="50800"/>
                </a:lnTo>
                <a:lnTo>
                  <a:pt x="498475" y="75056"/>
                </a:lnTo>
                <a:lnTo>
                  <a:pt x="539750" y="104775"/>
                </a:lnTo>
                <a:lnTo>
                  <a:pt x="556011" y="119874"/>
                </a:lnTo>
                <a:lnTo>
                  <a:pt x="555244" y="118490"/>
                </a:lnTo>
                <a:lnTo>
                  <a:pt x="561000" y="118490"/>
                </a:lnTo>
                <a:lnTo>
                  <a:pt x="577169" y="110897"/>
                </a:lnTo>
                <a:lnTo>
                  <a:pt x="575182" y="107314"/>
                </a:lnTo>
                <a:lnTo>
                  <a:pt x="574675" y="106298"/>
                </a:lnTo>
                <a:lnTo>
                  <a:pt x="532511" y="70230"/>
                </a:lnTo>
                <a:lnTo>
                  <a:pt x="485013" y="41401"/>
                </a:lnTo>
                <a:lnTo>
                  <a:pt x="458977" y="29463"/>
                </a:lnTo>
                <a:lnTo>
                  <a:pt x="441194" y="227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60932" y="3377184"/>
          <a:ext cx="7315200" cy="4983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4983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-1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40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43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10" dirty="0">
                          <a:latin typeface="Arial"/>
                          <a:cs typeface="Arial"/>
                        </a:rPr>
                        <a:t>58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65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360932" y="4485132"/>
          <a:ext cx="7315200" cy="4983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498348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-1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58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65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70991" y="2290952"/>
            <a:ext cx="142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95A9A9"/>
                </a:solidFill>
                <a:latin typeface="Perpetua"/>
                <a:cs typeface="Perpetua"/>
              </a:rPr>
              <a:t>6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0991" y="3434334"/>
            <a:ext cx="142240" cy="1390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95A9A9"/>
                </a:solidFill>
                <a:latin typeface="Perpetua"/>
                <a:cs typeface="Perpetua"/>
              </a:rPr>
              <a:t>7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95A9A9"/>
                </a:solidFill>
                <a:latin typeface="Perpetua"/>
                <a:cs typeface="Perpetua"/>
              </a:rPr>
              <a:t>8</a:t>
            </a:r>
            <a:endParaRPr sz="2000">
              <a:latin typeface="Perpetua"/>
              <a:cs typeface="Perpetu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360932" y="1143000"/>
          <a:ext cx="7315200" cy="4983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4983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-1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43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58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400" b="1" spc="-5" dirty="0">
                          <a:latin typeface="Arial"/>
                          <a:cs typeface="Arial"/>
                        </a:rPr>
                        <a:t>65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584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FF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2285238" y="927735"/>
            <a:ext cx="609600" cy="219710"/>
          </a:xfrm>
          <a:custGeom>
            <a:avLst/>
            <a:gdLst/>
            <a:ahLst/>
            <a:cxnLst/>
            <a:rect l="l" t="t" r="r" b="b"/>
            <a:pathLst>
              <a:path w="609600" h="219709">
                <a:moveTo>
                  <a:pt x="0" y="217550"/>
                </a:moveTo>
                <a:lnTo>
                  <a:pt x="20905" y="146202"/>
                </a:lnTo>
                <a:lnTo>
                  <a:pt x="45155" y="112775"/>
                </a:lnTo>
                <a:lnTo>
                  <a:pt x="76931" y="82040"/>
                </a:lnTo>
                <a:lnTo>
                  <a:pt x="114979" y="54889"/>
                </a:lnTo>
                <a:lnTo>
                  <a:pt x="158044" y="32215"/>
                </a:lnTo>
                <a:lnTo>
                  <a:pt x="204872" y="14913"/>
                </a:lnTo>
                <a:lnTo>
                  <a:pt x="254209" y="3877"/>
                </a:lnTo>
                <a:lnTo>
                  <a:pt x="304800" y="0"/>
                </a:lnTo>
                <a:lnTo>
                  <a:pt x="355390" y="3908"/>
                </a:lnTo>
                <a:lnTo>
                  <a:pt x="404727" y="15034"/>
                </a:lnTo>
                <a:lnTo>
                  <a:pt x="451555" y="32474"/>
                </a:lnTo>
                <a:lnTo>
                  <a:pt x="494620" y="55326"/>
                </a:lnTo>
                <a:lnTo>
                  <a:pt x="532668" y="82689"/>
                </a:lnTo>
                <a:lnTo>
                  <a:pt x="564444" y="113660"/>
                </a:lnTo>
                <a:lnTo>
                  <a:pt x="588694" y="147337"/>
                </a:lnTo>
                <a:lnTo>
                  <a:pt x="604164" y="182818"/>
                </a:lnTo>
                <a:lnTo>
                  <a:pt x="609600" y="219201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82900" y="916305"/>
            <a:ext cx="625475" cy="241300"/>
          </a:xfrm>
          <a:custGeom>
            <a:avLst/>
            <a:gdLst/>
            <a:ahLst/>
            <a:cxnLst/>
            <a:rect l="l" t="t" r="r" b="b"/>
            <a:pathLst>
              <a:path w="625475" h="241300">
                <a:moveTo>
                  <a:pt x="316483" y="0"/>
                </a:moveTo>
                <a:lnTo>
                  <a:pt x="272288" y="2921"/>
                </a:lnTo>
                <a:lnTo>
                  <a:pt x="228854" y="11175"/>
                </a:lnTo>
                <a:lnTo>
                  <a:pt x="173736" y="29591"/>
                </a:lnTo>
                <a:lnTo>
                  <a:pt x="123189" y="55245"/>
                </a:lnTo>
                <a:lnTo>
                  <a:pt x="78993" y="86868"/>
                </a:lnTo>
                <a:lnTo>
                  <a:pt x="51054" y="113792"/>
                </a:lnTo>
                <a:lnTo>
                  <a:pt x="22225" y="153416"/>
                </a:lnTo>
                <a:lnTo>
                  <a:pt x="4699" y="196087"/>
                </a:lnTo>
                <a:lnTo>
                  <a:pt x="0" y="239903"/>
                </a:lnTo>
                <a:lnTo>
                  <a:pt x="22860" y="240919"/>
                </a:lnTo>
                <a:lnTo>
                  <a:pt x="23875" y="219329"/>
                </a:lnTo>
                <a:lnTo>
                  <a:pt x="25018" y="209931"/>
                </a:lnTo>
                <a:lnTo>
                  <a:pt x="37464" y="173228"/>
                </a:lnTo>
                <a:lnTo>
                  <a:pt x="60960" y="137287"/>
                </a:lnTo>
                <a:lnTo>
                  <a:pt x="94487" y="103759"/>
                </a:lnTo>
                <a:lnTo>
                  <a:pt x="135762" y="74295"/>
                </a:lnTo>
                <a:lnTo>
                  <a:pt x="183261" y="50419"/>
                </a:lnTo>
                <a:lnTo>
                  <a:pt x="235204" y="33147"/>
                </a:lnTo>
                <a:lnTo>
                  <a:pt x="275589" y="25527"/>
                </a:lnTo>
                <a:lnTo>
                  <a:pt x="316992" y="22860"/>
                </a:lnTo>
                <a:lnTo>
                  <a:pt x="441394" y="22860"/>
                </a:lnTo>
                <a:lnTo>
                  <a:pt x="431926" y="19304"/>
                </a:lnTo>
                <a:lnTo>
                  <a:pt x="375412" y="5080"/>
                </a:lnTo>
                <a:lnTo>
                  <a:pt x="331216" y="254"/>
                </a:lnTo>
                <a:lnTo>
                  <a:pt x="316483" y="0"/>
                </a:lnTo>
                <a:close/>
              </a:path>
              <a:path w="625475" h="241300">
                <a:moveTo>
                  <a:pt x="556433" y="120889"/>
                </a:moveTo>
                <a:lnTo>
                  <a:pt x="510159" y="142621"/>
                </a:lnTo>
                <a:lnTo>
                  <a:pt x="621538" y="230632"/>
                </a:lnTo>
                <a:lnTo>
                  <a:pt x="623990" y="132715"/>
                </a:lnTo>
                <a:lnTo>
                  <a:pt x="562990" y="132715"/>
                </a:lnTo>
                <a:lnTo>
                  <a:pt x="556433" y="120889"/>
                </a:lnTo>
                <a:close/>
              </a:path>
              <a:path w="625475" h="241300">
                <a:moveTo>
                  <a:pt x="556697" y="120765"/>
                </a:moveTo>
                <a:lnTo>
                  <a:pt x="556433" y="120889"/>
                </a:lnTo>
                <a:lnTo>
                  <a:pt x="562990" y="132715"/>
                </a:lnTo>
                <a:lnTo>
                  <a:pt x="582929" y="121539"/>
                </a:lnTo>
                <a:lnTo>
                  <a:pt x="557529" y="121539"/>
                </a:lnTo>
                <a:lnTo>
                  <a:pt x="556697" y="120765"/>
                </a:lnTo>
                <a:close/>
              </a:path>
              <a:path w="625475" h="241300">
                <a:moveTo>
                  <a:pt x="625094" y="88646"/>
                </a:moveTo>
                <a:lnTo>
                  <a:pt x="577169" y="111151"/>
                </a:lnTo>
                <a:lnTo>
                  <a:pt x="582929" y="121539"/>
                </a:lnTo>
                <a:lnTo>
                  <a:pt x="562990" y="132715"/>
                </a:lnTo>
                <a:lnTo>
                  <a:pt x="623990" y="132715"/>
                </a:lnTo>
                <a:lnTo>
                  <a:pt x="625094" y="88646"/>
                </a:lnTo>
                <a:close/>
              </a:path>
              <a:path w="625475" h="241300">
                <a:moveTo>
                  <a:pt x="556841" y="120698"/>
                </a:moveTo>
                <a:lnTo>
                  <a:pt x="556697" y="120765"/>
                </a:lnTo>
                <a:lnTo>
                  <a:pt x="557529" y="121539"/>
                </a:lnTo>
                <a:lnTo>
                  <a:pt x="556841" y="120698"/>
                </a:lnTo>
                <a:close/>
              </a:path>
              <a:path w="625475" h="241300">
                <a:moveTo>
                  <a:pt x="577169" y="111151"/>
                </a:moveTo>
                <a:lnTo>
                  <a:pt x="556841" y="120698"/>
                </a:lnTo>
                <a:lnTo>
                  <a:pt x="557529" y="121539"/>
                </a:lnTo>
                <a:lnTo>
                  <a:pt x="582929" y="121539"/>
                </a:lnTo>
                <a:lnTo>
                  <a:pt x="577169" y="111151"/>
                </a:lnTo>
                <a:close/>
              </a:path>
              <a:path w="625475" h="241300">
                <a:moveTo>
                  <a:pt x="556011" y="120128"/>
                </a:moveTo>
                <a:lnTo>
                  <a:pt x="556433" y="120889"/>
                </a:lnTo>
                <a:lnTo>
                  <a:pt x="556697" y="120765"/>
                </a:lnTo>
                <a:lnTo>
                  <a:pt x="556011" y="120128"/>
                </a:lnTo>
                <a:close/>
              </a:path>
              <a:path w="625475" h="241300">
                <a:moveTo>
                  <a:pt x="555244" y="118745"/>
                </a:moveTo>
                <a:lnTo>
                  <a:pt x="556025" y="120142"/>
                </a:lnTo>
                <a:lnTo>
                  <a:pt x="556697" y="120765"/>
                </a:lnTo>
                <a:lnTo>
                  <a:pt x="556841" y="120698"/>
                </a:lnTo>
                <a:lnTo>
                  <a:pt x="555244" y="118745"/>
                </a:lnTo>
                <a:close/>
              </a:path>
              <a:path w="625475" h="241300">
                <a:moveTo>
                  <a:pt x="561000" y="118745"/>
                </a:moveTo>
                <a:lnTo>
                  <a:pt x="555244" y="118745"/>
                </a:lnTo>
                <a:lnTo>
                  <a:pt x="556841" y="120698"/>
                </a:lnTo>
                <a:lnTo>
                  <a:pt x="561000" y="118745"/>
                </a:lnTo>
                <a:close/>
              </a:path>
              <a:path w="625475" h="241300">
                <a:moveTo>
                  <a:pt x="441394" y="22860"/>
                </a:moveTo>
                <a:lnTo>
                  <a:pt x="316992" y="22860"/>
                </a:lnTo>
                <a:lnTo>
                  <a:pt x="330835" y="23114"/>
                </a:lnTo>
                <a:lnTo>
                  <a:pt x="344550" y="24130"/>
                </a:lnTo>
                <a:lnTo>
                  <a:pt x="399034" y="33528"/>
                </a:lnTo>
                <a:lnTo>
                  <a:pt x="450976" y="50927"/>
                </a:lnTo>
                <a:lnTo>
                  <a:pt x="498475" y="75184"/>
                </a:lnTo>
                <a:lnTo>
                  <a:pt x="539750" y="105029"/>
                </a:lnTo>
                <a:lnTo>
                  <a:pt x="556011" y="120128"/>
                </a:lnTo>
                <a:lnTo>
                  <a:pt x="555244" y="118745"/>
                </a:lnTo>
                <a:lnTo>
                  <a:pt x="561000" y="118745"/>
                </a:lnTo>
                <a:lnTo>
                  <a:pt x="577169" y="111151"/>
                </a:lnTo>
                <a:lnTo>
                  <a:pt x="575183" y="107569"/>
                </a:lnTo>
                <a:lnTo>
                  <a:pt x="574675" y="106553"/>
                </a:lnTo>
                <a:lnTo>
                  <a:pt x="532638" y="70358"/>
                </a:lnTo>
                <a:lnTo>
                  <a:pt x="485013" y="41529"/>
                </a:lnTo>
                <a:lnTo>
                  <a:pt x="458977" y="29464"/>
                </a:lnTo>
                <a:lnTo>
                  <a:pt x="441394" y="22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21300" y="916305"/>
            <a:ext cx="625475" cy="241300"/>
          </a:xfrm>
          <a:custGeom>
            <a:avLst/>
            <a:gdLst/>
            <a:ahLst/>
            <a:cxnLst/>
            <a:rect l="l" t="t" r="r" b="b"/>
            <a:pathLst>
              <a:path w="625475" h="241300">
                <a:moveTo>
                  <a:pt x="316484" y="0"/>
                </a:moveTo>
                <a:lnTo>
                  <a:pt x="272288" y="2921"/>
                </a:lnTo>
                <a:lnTo>
                  <a:pt x="228853" y="11175"/>
                </a:lnTo>
                <a:lnTo>
                  <a:pt x="173736" y="29591"/>
                </a:lnTo>
                <a:lnTo>
                  <a:pt x="123189" y="55245"/>
                </a:lnTo>
                <a:lnTo>
                  <a:pt x="78994" y="86868"/>
                </a:lnTo>
                <a:lnTo>
                  <a:pt x="51053" y="113792"/>
                </a:lnTo>
                <a:lnTo>
                  <a:pt x="22225" y="153416"/>
                </a:lnTo>
                <a:lnTo>
                  <a:pt x="4699" y="196087"/>
                </a:lnTo>
                <a:lnTo>
                  <a:pt x="0" y="239903"/>
                </a:lnTo>
                <a:lnTo>
                  <a:pt x="22860" y="240919"/>
                </a:lnTo>
                <a:lnTo>
                  <a:pt x="23875" y="219329"/>
                </a:lnTo>
                <a:lnTo>
                  <a:pt x="25019" y="209931"/>
                </a:lnTo>
                <a:lnTo>
                  <a:pt x="37464" y="173228"/>
                </a:lnTo>
                <a:lnTo>
                  <a:pt x="60960" y="137287"/>
                </a:lnTo>
                <a:lnTo>
                  <a:pt x="94487" y="103759"/>
                </a:lnTo>
                <a:lnTo>
                  <a:pt x="135762" y="74295"/>
                </a:lnTo>
                <a:lnTo>
                  <a:pt x="183261" y="50419"/>
                </a:lnTo>
                <a:lnTo>
                  <a:pt x="235203" y="33147"/>
                </a:lnTo>
                <a:lnTo>
                  <a:pt x="275589" y="25527"/>
                </a:lnTo>
                <a:lnTo>
                  <a:pt x="316991" y="22860"/>
                </a:lnTo>
                <a:lnTo>
                  <a:pt x="441394" y="22860"/>
                </a:lnTo>
                <a:lnTo>
                  <a:pt x="431926" y="19304"/>
                </a:lnTo>
                <a:lnTo>
                  <a:pt x="375412" y="5080"/>
                </a:lnTo>
                <a:lnTo>
                  <a:pt x="331215" y="254"/>
                </a:lnTo>
                <a:lnTo>
                  <a:pt x="316484" y="0"/>
                </a:lnTo>
                <a:close/>
              </a:path>
              <a:path w="625475" h="241300">
                <a:moveTo>
                  <a:pt x="556433" y="120889"/>
                </a:moveTo>
                <a:lnTo>
                  <a:pt x="510159" y="142621"/>
                </a:lnTo>
                <a:lnTo>
                  <a:pt x="621538" y="230632"/>
                </a:lnTo>
                <a:lnTo>
                  <a:pt x="623990" y="132715"/>
                </a:lnTo>
                <a:lnTo>
                  <a:pt x="562990" y="132715"/>
                </a:lnTo>
                <a:lnTo>
                  <a:pt x="556433" y="120889"/>
                </a:lnTo>
                <a:close/>
              </a:path>
              <a:path w="625475" h="241300">
                <a:moveTo>
                  <a:pt x="556697" y="120765"/>
                </a:moveTo>
                <a:lnTo>
                  <a:pt x="556433" y="120889"/>
                </a:lnTo>
                <a:lnTo>
                  <a:pt x="562990" y="132715"/>
                </a:lnTo>
                <a:lnTo>
                  <a:pt x="582929" y="121539"/>
                </a:lnTo>
                <a:lnTo>
                  <a:pt x="557529" y="121539"/>
                </a:lnTo>
                <a:lnTo>
                  <a:pt x="556697" y="120765"/>
                </a:lnTo>
                <a:close/>
              </a:path>
              <a:path w="625475" h="241300">
                <a:moveTo>
                  <a:pt x="625094" y="88646"/>
                </a:moveTo>
                <a:lnTo>
                  <a:pt x="577169" y="111151"/>
                </a:lnTo>
                <a:lnTo>
                  <a:pt x="582929" y="121539"/>
                </a:lnTo>
                <a:lnTo>
                  <a:pt x="562990" y="132715"/>
                </a:lnTo>
                <a:lnTo>
                  <a:pt x="623990" y="132715"/>
                </a:lnTo>
                <a:lnTo>
                  <a:pt x="625094" y="88646"/>
                </a:lnTo>
                <a:close/>
              </a:path>
              <a:path w="625475" h="241300">
                <a:moveTo>
                  <a:pt x="556841" y="120698"/>
                </a:moveTo>
                <a:lnTo>
                  <a:pt x="556697" y="120765"/>
                </a:lnTo>
                <a:lnTo>
                  <a:pt x="557529" y="121539"/>
                </a:lnTo>
                <a:lnTo>
                  <a:pt x="556841" y="120698"/>
                </a:lnTo>
                <a:close/>
              </a:path>
              <a:path w="625475" h="241300">
                <a:moveTo>
                  <a:pt x="577169" y="111151"/>
                </a:moveTo>
                <a:lnTo>
                  <a:pt x="556841" y="120698"/>
                </a:lnTo>
                <a:lnTo>
                  <a:pt x="557529" y="121539"/>
                </a:lnTo>
                <a:lnTo>
                  <a:pt x="582929" y="121539"/>
                </a:lnTo>
                <a:lnTo>
                  <a:pt x="577169" y="111151"/>
                </a:lnTo>
                <a:close/>
              </a:path>
              <a:path w="625475" h="241300">
                <a:moveTo>
                  <a:pt x="556011" y="120128"/>
                </a:moveTo>
                <a:lnTo>
                  <a:pt x="556433" y="120889"/>
                </a:lnTo>
                <a:lnTo>
                  <a:pt x="556697" y="120765"/>
                </a:lnTo>
                <a:lnTo>
                  <a:pt x="556011" y="120128"/>
                </a:lnTo>
                <a:close/>
              </a:path>
              <a:path w="625475" h="241300">
                <a:moveTo>
                  <a:pt x="555244" y="118745"/>
                </a:moveTo>
                <a:lnTo>
                  <a:pt x="556025" y="120142"/>
                </a:lnTo>
                <a:lnTo>
                  <a:pt x="556697" y="120765"/>
                </a:lnTo>
                <a:lnTo>
                  <a:pt x="556841" y="120698"/>
                </a:lnTo>
                <a:lnTo>
                  <a:pt x="555244" y="118745"/>
                </a:lnTo>
                <a:close/>
              </a:path>
              <a:path w="625475" h="241300">
                <a:moveTo>
                  <a:pt x="561000" y="118745"/>
                </a:moveTo>
                <a:lnTo>
                  <a:pt x="555244" y="118745"/>
                </a:lnTo>
                <a:lnTo>
                  <a:pt x="556841" y="120698"/>
                </a:lnTo>
                <a:lnTo>
                  <a:pt x="561000" y="118745"/>
                </a:lnTo>
                <a:close/>
              </a:path>
              <a:path w="625475" h="241300">
                <a:moveTo>
                  <a:pt x="441394" y="22860"/>
                </a:moveTo>
                <a:lnTo>
                  <a:pt x="316991" y="22860"/>
                </a:lnTo>
                <a:lnTo>
                  <a:pt x="330835" y="23114"/>
                </a:lnTo>
                <a:lnTo>
                  <a:pt x="344550" y="24130"/>
                </a:lnTo>
                <a:lnTo>
                  <a:pt x="399034" y="33528"/>
                </a:lnTo>
                <a:lnTo>
                  <a:pt x="450976" y="50927"/>
                </a:lnTo>
                <a:lnTo>
                  <a:pt x="498475" y="75184"/>
                </a:lnTo>
                <a:lnTo>
                  <a:pt x="539750" y="105029"/>
                </a:lnTo>
                <a:lnTo>
                  <a:pt x="556011" y="120128"/>
                </a:lnTo>
                <a:lnTo>
                  <a:pt x="555244" y="118745"/>
                </a:lnTo>
                <a:lnTo>
                  <a:pt x="561000" y="118745"/>
                </a:lnTo>
                <a:lnTo>
                  <a:pt x="577169" y="111151"/>
                </a:lnTo>
                <a:lnTo>
                  <a:pt x="575183" y="107569"/>
                </a:lnTo>
                <a:lnTo>
                  <a:pt x="574675" y="106553"/>
                </a:lnTo>
                <a:lnTo>
                  <a:pt x="532638" y="70358"/>
                </a:lnTo>
                <a:lnTo>
                  <a:pt x="485013" y="41529"/>
                </a:lnTo>
                <a:lnTo>
                  <a:pt x="458977" y="29464"/>
                </a:lnTo>
                <a:lnTo>
                  <a:pt x="441394" y="22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35940" y="1139697"/>
            <a:ext cx="142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95A9A9"/>
                </a:solidFill>
                <a:latin typeface="Perpetua"/>
                <a:cs typeface="Perpetua"/>
              </a:rPr>
              <a:t>5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0373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Perpetua"/>
                <a:cs typeface="Perpetua"/>
              </a:rPr>
              <a:t>Bubble </a:t>
            </a:r>
            <a:r>
              <a:rPr sz="4000" spc="30" dirty="0">
                <a:latin typeface="Perpetua"/>
                <a:cs typeface="Perpetua"/>
              </a:rPr>
              <a:t>sort</a:t>
            </a:r>
            <a:r>
              <a:rPr sz="4000" spc="-50" dirty="0">
                <a:latin typeface="Perpetua"/>
                <a:cs typeface="Perpetua"/>
              </a:rPr>
              <a:t> </a:t>
            </a:r>
            <a:r>
              <a:rPr sz="4000" spc="5" dirty="0">
                <a:latin typeface="Perpetua"/>
                <a:cs typeface="Perpetua"/>
              </a:rPr>
              <a:t>algorithm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9460" y="1990420"/>
            <a:ext cx="1422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Perpetua"/>
                <a:cs typeface="Perpetua"/>
              </a:rPr>
              <a:t>n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340" y="1672793"/>
            <a:ext cx="6110605" cy="3499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8691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9B2C1F"/>
                </a:solidFill>
                <a:latin typeface="Perpetua"/>
                <a:cs typeface="Perpetua"/>
              </a:rPr>
              <a:t>i</a:t>
            </a:r>
            <a:endParaRPr sz="2000">
              <a:latin typeface="Perpetua"/>
              <a:cs typeface="Perpetua"/>
            </a:endParaRPr>
          </a:p>
          <a:p>
            <a:pPr marL="4485640">
              <a:lnSpc>
                <a:spcPct val="100000"/>
              </a:lnSpc>
              <a:spcBef>
                <a:spcPts val="100"/>
              </a:spcBef>
              <a:tabLst>
                <a:tab pos="4971415" algn="l"/>
                <a:tab pos="5393055" algn="l"/>
              </a:tabLst>
            </a:pPr>
            <a:r>
              <a:rPr sz="2000" dirty="0">
                <a:latin typeface="Perpetua"/>
                <a:cs typeface="Perpetua"/>
              </a:rPr>
              <a:t>1	2	3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Times New Roman"/>
              <a:cs typeface="Times New Roman"/>
            </a:endParaRPr>
          </a:p>
          <a:p>
            <a:pPr marL="287020" marR="2904490" indent="-274955">
              <a:lnSpc>
                <a:spcPct val="115399"/>
              </a:lnSpc>
            </a:pPr>
            <a:r>
              <a:rPr sz="2800" spc="-5" dirty="0">
                <a:latin typeface="Perpetua"/>
                <a:cs typeface="Perpetua"/>
              </a:rPr>
              <a:t>n </a:t>
            </a:r>
            <a:r>
              <a:rPr sz="2800" spc="-5" dirty="0">
                <a:latin typeface="Times New Roman"/>
                <a:cs typeface="Times New Roman"/>
              </a:rPr>
              <a:t>← </a:t>
            </a:r>
            <a:r>
              <a:rPr sz="2800" spc="-5" dirty="0">
                <a:latin typeface="Perpetua"/>
                <a:cs typeface="Perpetua"/>
              </a:rPr>
              <a:t>length of list A  </a:t>
            </a:r>
            <a:r>
              <a:rPr sz="2800" spc="-10" dirty="0">
                <a:latin typeface="Perpetua"/>
                <a:cs typeface="Perpetua"/>
              </a:rPr>
              <a:t>Repeat from </a:t>
            </a:r>
            <a:r>
              <a:rPr sz="2800" spc="-5" dirty="0">
                <a:latin typeface="Perpetua"/>
                <a:cs typeface="Perpetua"/>
              </a:rPr>
              <a:t>i = 1 to</a:t>
            </a:r>
            <a:r>
              <a:rPr sz="2800" spc="-6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n</a:t>
            </a:r>
            <a:endParaRPr sz="2800">
              <a:latin typeface="Perpetua"/>
              <a:cs typeface="Perpetua"/>
            </a:endParaRPr>
          </a:p>
          <a:p>
            <a:pPr marL="1006475">
              <a:lnSpc>
                <a:spcPct val="100000"/>
              </a:lnSpc>
              <a:spcBef>
                <a:spcPts val="600"/>
              </a:spcBef>
            </a:pPr>
            <a:r>
              <a:rPr sz="2800" spc="-10" dirty="0">
                <a:latin typeface="Perpetua"/>
                <a:cs typeface="Perpetua"/>
              </a:rPr>
              <a:t>Repeat from </a:t>
            </a:r>
            <a:r>
              <a:rPr sz="2800" spc="-5" dirty="0">
                <a:latin typeface="Perpetua"/>
                <a:cs typeface="Perpetua"/>
              </a:rPr>
              <a:t>j = i + 1 to</a:t>
            </a:r>
            <a:r>
              <a:rPr sz="2800" spc="-2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n</a:t>
            </a:r>
            <a:endParaRPr sz="2800">
              <a:latin typeface="Perpetua"/>
              <a:cs typeface="Perpetua"/>
            </a:endParaRPr>
          </a:p>
          <a:p>
            <a:pPr marL="1841500">
              <a:lnSpc>
                <a:spcPct val="100000"/>
              </a:lnSpc>
              <a:spcBef>
                <a:spcPts val="600"/>
              </a:spcBef>
              <a:tabLst>
                <a:tab pos="2173605" algn="l"/>
              </a:tabLst>
            </a:pPr>
            <a:r>
              <a:rPr sz="2800" spc="-5" dirty="0">
                <a:latin typeface="Perpetua"/>
                <a:cs typeface="Perpetua"/>
              </a:rPr>
              <a:t>if	list A[j] &lt; </a:t>
            </a:r>
            <a:r>
              <a:rPr sz="2800" spc="-10" dirty="0">
                <a:latin typeface="Perpetua"/>
                <a:cs typeface="Perpetua"/>
              </a:rPr>
              <a:t>list</a:t>
            </a:r>
            <a:r>
              <a:rPr sz="2800" spc="-45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A[j -1]</a:t>
            </a:r>
            <a:endParaRPr sz="2800">
              <a:latin typeface="Perpetua"/>
              <a:cs typeface="Perpetua"/>
            </a:endParaRPr>
          </a:p>
          <a:p>
            <a:pPr marL="2477135">
              <a:lnSpc>
                <a:spcPct val="100000"/>
              </a:lnSpc>
              <a:spcBef>
                <a:spcPts val="700"/>
              </a:spcBef>
            </a:pPr>
            <a:r>
              <a:rPr sz="2800" spc="-5" dirty="0">
                <a:latin typeface="Perpetua"/>
                <a:cs typeface="Perpetua"/>
              </a:rPr>
              <a:t>then </a:t>
            </a:r>
            <a:r>
              <a:rPr sz="2800" spc="5" dirty="0">
                <a:latin typeface="Perpetua"/>
                <a:cs typeface="Perpetua"/>
              </a:rPr>
              <a:t>exchange </a:t>
            </a:r>
            <a:r>
              <a:rPr sz="2800" spc="-10" dirty="0">
                <a:latin typeface="Perpetua"/>
                <a:cs typeface="Perpetua"/>
              </a:rPr>
              <a:t>A[j] </a:t>
            </a:r>
            <a:r>
              <a:rPr sz="2800" spc="-5" dirty="0">
                <a:latin typeface="Symbol"/>
                <a:cs typeface="Symbol"/>
              </a:rPr>
              <a:t></a:t>
            </a:r>
            <a:r>
              <a:rPr sz="2800" spc="-5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Perpetua"/>
                <a:cs typeface="Perpetua"/>
              </a:rPr>
              <a:t>A[j-1]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34761" y="1848611"/>
            <a:ext cx="2520950" cy="114300"/>
          </a:xfrm>
          <a:custGeom>
            <a:avLst/>
            <a:gdLst/>
            <a:ahLst/>
            <a:cxnLst/>
            <a:rect l="l" t="t" r="r" b="b"/>
            <a:pathLst>
              <a:path w="2520950" h="114300">
                <a:moveTo>
                  <a:pt x="2406395" y="0"/>
                </a:moveTo>
                <a:lnTo>
                  <a:pt x="2406395" y="114300"/>
                </a:lnTo>
                <a:lnTo>
                  <a:pt x="2482595" y="76200"/>
                </a:lnTo>
                <a:lnTo>
                  <a:pt x="2425445" y="76200"/>
                </a:lnTo>
                <a:lnTo>
                  <a:pt x="2425445" y="38100"/>
                </a:lnTo>
                <a:lnTo>
                  <a:pt x="2482595" y="38100"/>
                </a:lnTo>
                <a:lnTo>
                  <a:pt x="2406395" y="0"/>
                </a:lnTo>
                <a:close/>
              </a:path>
              <a:path w="2520950" h="114300">
                <a:moveTo>
                  <a:pt x="240639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406395" y="76200"/>
                </a:lnTo>
                <a:lnTo>
                  <a:pt x="2406395" y="38100"/>
                </a:lnTo>
                <a:close/>
              </a:path>
              <a:path w="2520950" h="114300">
                <a:moveTo>
                  <a:pt x="2482595" y="38100"/>
                </a:moveTo>
                <a:lnTo>
                  <a:pt x="2425445" y="38100"/>
                </a:lnTo>
                <a:lnTo>
                  <a:pt x="2425445" y="76200"/>
                </a:lnTo>
                <a:lnTo>
                  <a:pt x="2482595" y="76200"/>
                </a:lnTo>
                <a:lnTo>
                  <a:pt x="2520695" y="57150"/>
                </a:lnTo>
                <a:lnTo>
                  <a:pt x="2482595" y="38100"/>
                </a:lnTo>
                <a:close/>
              </a:path>
            </a:pathLst>
          </a:custGeom>
          <a:solidFill>
            <a:srgbClr val="9B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015484" y="2261616"/>
          <a:ext cx="3156582" cy="4236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215"/>
                <a:gridCol w="449579"/>
                <a:gridCol w="449580"/>
                <a:gridCol w="452755"/>
                <a:gridCol w="451484"/>
                <a:gridCol w="450214"/>
                <a:gridCol w="452755"/>
              </a:tblGrid>
              <a:tr h="423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958708" y="2780157"/>
            <a:ext cx="1003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FC0"/>
                </a:solidFill>
                <a:latin typeface="Perpetua"/>
                <a:cs typeface="Perpetua"/>
              </a:rPr>
              <a:t>j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65291" y="2878835"/>
            <a:ext cx="2114550" cy="114300"/>
          </a:xfrm>
          <a:custGeom>
            <a:avLst/>
            <a:gdLst/>
            <a:ahLst/>
            <a:cxnLst/>
            <a:rect l="l" t="t" r="r" b="b"/>
            <a:pathLst>
              <a:path w="2114550" h="114300">
                <a:moveTo>
                  <a:pt x="2000250" y="0"/>
                </a:moveTo>
                <a:lnTo>
                  <a:pt x="2000250" y="114300"/>
                </a:lnTo>
                <a:lnTo>
                  <a:pt x="2076450" y="76200"/>
                </a:lnTo>
                <a:lnTo>
                  <a:pt x="2019300" y="76200"/>
                </a:lnTo>
                <a:lnTo>
                  <a:pt x="2019300" y="38100"/>
                </a:lnTo>
                <a:lnTo>
                  <a:pt x="2076450" y="38100"/>
                </a:lnTo>
                <a:lnTo>
                  <a:pt x="2000250" y="0"/>
                </a:lnTo>
                <a:close/>
              </a:path>
              <a:path w="2114550" h="114300">
                <a:moveTo>
                  <a:pt x="2000250" y="38100"/>
                </a:moveTo>
                <a:lnTo>
                  <a:pt x="1866900" y="38100"/>
                </a:lnTo>
                <a:lnTo>
                  <a:pt x="1866900" y="76200"/>
                </a:lnTo>
                <a:lnTo>
                  <a:pt x="2000250" y="76200"/>
                </a:lnTo>
                <a:lnTo>
                  <a:pt x="2000250" y="38100"/>
                </a:lnTo>
                <a:close/>
              </a:path>
              <a:path w="2114550" h="114300">
                <a:moveTo>
                  <a:pt x="2076450" y="38100"/>
                </a:moveTo>
                <a:lnTo>
                  <a:pt x="2019300" y="38100"/>
                </a:lnTo>
                <a:lnTo>
                  <a:pt x="2019300" y="76200"/>
                </a:lnTo>
                <a:lnTo>
                  <a:pt x="2076450" y="76200"/>
                </a:lnTo>
                <a:lnTo>
                  <a:pt x="2114550" y="57150"/>
                </a:lnTo>
                <a:lnTo>
                  <a:pt x="2076450" y="38100"/>
                </a:lnTo>
                <a:close/>
              </a:path>
              <a:path w="2114550" h="114300">
                <a:moveTo>
                  <a:pt x="1752600" y="38100"/>
                </a:moveTo>
                <a:lnTo>
                  <a:pt x="1600200" y="38100"/>
                </a:lnTo>
                <a:lnTo>
                  <a:pt x="1600200" y="76200"/>
                </a:lnTo>
                <a:lnTo>
                  <a:pt x="1752600" y="76200"/>
                </a:lnTo>
                <a:lnTo>
                  <a:pt x="1752600" y="38100"/>
                </a:lnTo>
                <a:close/>
              </a:path>
              <a:path w="2114550" h="114300">
                <a:moveTo>
                  <a:pt x="1485900" y="38100"/>
                </a:moveTo>
                <a:lnTo>
                  <a:pt x="1333500" y="38100"/>
                </a:lnTo>
                <a:lnTo>
                  <a:pt x="1333500" y="76200"/>
                </a:lnTo>
                <a:lnTo>
                  <a:pt x="1485900" y="76200"/>
                </a:lnTo>
                <a:lnTo>
                  <a:pt x="1485900" y="38100"/>
                </a:lnTo>
                <a:close/>
              </a:path>
              <a:path w="2114550" h="114300">
                <a:moveTo>
                  <a:pt x="1219200" y="38100"/>
                </a:moveTo>
                <a:lnTo>
                  <a:pt x="1066800" y="38100"/>
                </a:lnTo>
                <a:lnTo>
                  <a:pt x="1066800" y="76200"/>
                </a:lnTo>
                <a:lnTo>
                  <a:pt x="1219200" y="76200"/>
                </a:lnTo>
                <a:lnTo>
                  <a:pt x="1219200" y="38100"/>
                </a:lnTo>
                <a:close/>
              </a:path>
              <a:path w="2114550" h="114300">
                <a:moveTo>
                  <a:pt x="952500" y="38100"/>
                </a:moveTo>
                <a:lnTo>
                  <a:pt x="800100" y="38100"/>
                </a:lnTo>
                <a:lnTo>
                  <a:pt x="800100" y="76200"/>
                </a:lnTo>
                <a:lnTo>
                  <a:pt x="952500" y="76200"/>
                </a:lnTo>
                <a:lnTo>
                  <a:pt x="952500" y="38100"/>
                </a:lnTo>
                <a:close/>
              </a:path>
              <a:path w="2114550" h="114300">
                <a:moveTo>
                  <a:pt x="685800" y="38100"/>
                </a:moveTo>
                <a:lnTo>
                  <a:pt x="533400" y="38100"/>
                </a:lnTo>
                <a:lnTo>
                  <a:pt x="533400" y="76200"/>
                </a:lnTo>
                <a:lnTo>
                  <a:pt x="685800" y="76200"/>
                </a:lnTo>
                <a:lnTo>
                  <a:pt x="685800" y="38100"/>
                </a:lnTo>
                <a:close/>
              </a:path>
              <a:path w="2114550" h="114300">
                <a:moveTo>
                  <a:pt x="419100" y="38100"/>
                </a:moveTo>
                <a:lnTo>
                  <a:pt x="266700" y="38100"/>
                </a:lnTo>
                <a:lnTo>
                  <a:pt x="266700" y="76200"/>
                </a:lnTo>
                <a:lnTo>
                  <a:pt x="419100" y="76200"/>
                </a:lnTo>
                <a:lnTo>
                  <a:pt x="419100" y="38100"/>
                </a:lnTo>
                <a:close/>
              </a:path>
              <a:path w="2114550" h="114300">
                <a:moveTo>
                  <a:pt x="152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52400" y="76200"/>
                </a:lnTo>
                <a:lnTo>
                  <a:pt x="152400" y="3810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76800" y="381000"/>
            <a:ext cx="999744" cy="121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3175" y="6074155"/>
            <a:ext cx="3845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Perpetua"/>
                <a:cs typeface="Perpetua"/>
              </a:rPr>
              <a:t>Case </a:t>
            </a:r>
            <a:r>
              <a:rPr sz="4000" spc="-15" dirty="0">
                <a:latin typeface="Perpetua"/>
                <a:cs typeface="Perpetua"/>
              </a:rPr>
              <a:t>study </a:t>
            </a:r>
            <a:r>
              <a:rPr sz="4000" spc="-10" dirty="0">
                <a:latin typeface="Perpetua"/>
                <a:cs typeface="Perpetua"/>
              </a:rPr>
              <a:t>time</a:t>
            </a:r>
            <a:r>
              <a:rPr sz="4000" spc="-2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…..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56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381000"/>
            <a:ext cx="3733800" cy="4985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632586"/>
            <a:ext cx="2787015" cy="4841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30" dirty="0">
                <a:latin typeface="Perpetua"/>
                <a:cs typeface="Perpetua"/>
              </a:rPr>
              <a:t>SORTING</a:t>
            </a:r>
            <a:endParaRPr sz="40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 marL="90805" marR="5080" indent="-50800" algn="ctr">
              <a:lnSpc>
                <a:spcPct val="100000"/>
              </a:lnSpc>
            </a:pPr>
            <a:r>
              <a:rPr sz="4000" b="1" spc="-45" dirty="0">
                <a:latin typeface="Perpetua"/>
                <a:cs typeface="Perpetua"/>
              </a:rPr>
              <a:t>How </a:t>
            </a:r>
            <a:r>
              <a:rPr sz="4000" b="1" spc="-5" dirty="0">
                <a:latin typeface="Perpetua"/>
                <a:cs typeface="Perpetua"/>
              </a:rPr>
              <a:t>do </a:t>
            </a:r>
            <a:r>
              <a:rPr sz="4000" b="1" spc="-45" dirty="0">
                <a:latin typeface="Perpetua"/>
                <a:cs typeface="Perpetua"/>
              </a:rPr>
              <a:t>you  </a:t>
            </a:r>
            <a:r>
              <a:rPr sz="4000" b="1" spc="30" dirty="0">
                <a:latin typeface="Perpetua"/>
                <a:cs typeface="Perpetua"/>
              </a:rPr>
              <a:t>sort </a:t>
            </a:r>
            <a:r>
              <a:rPr sz="4000" b="1" spc="-25" dirty="0">
                <a:latin typeface="Perpetua"/>
                <a:cs typeface="Perpetua"/>
              </a:rPr>
              <a:t>when  </a:t>
            </a:r>
            <a:r>
              <a:rPr sz="4000" b="1" spc="-45" dirty="0">
                <a:latin typeface="Perpetua"/>
                <a:cs typeface="Perpetua"/>
              </a:rPr>
              <a:t>you </a:t>
            </a:r>
            <a:r>
              <a:rPr sz="4000" b="1" spc="-15" dirty="0">
                <a:latin typeface="Perpetua"/>
                <a:cs typeface="Perpetua"/>
              </a:rPr>
              <a:t>can  </a:t>
            </a:r>
            <a:r>
              <a:rPr sz="4000" b="1" spc="-30" dirty="0">
                <a:latin typeface="Perpetua"/>
                <a:cs typeface="Perpetua"/>
              </a:rPr>
              <a:t>only  </a:t>
            </a:r>
            <a:r>
              <a:rPr sz="4000" b="1" spc="-10" dirty="0">
                <a:latin typeface="Perpetua"/>
                <a:cs typeface="Perpetua"/>
              </a:rPr>
              <a:t>compare  </a:t>
            </a:r>
            <a:r>
              <a:rPr sz="4000" b="1" spc="-45" dirty="0">
                <a:latin typeface="Perpetua"/>
                <a:cs typeface="Perpetua"/>
              </a:rPr>
              <a:t>two</a:t>
            </a:r>
            <a:r>
              <a:rPr sz="4000" b="1" spc="-50" dirty="0">
                <a:latin typeface="Perpetua"/>
                <a:cs typeface="Perpetua"/>
              </a:rPr>
              <a:t> </a:t>
            </a:r>
            <a:r>
              <a:rPr sz="4000" b="1" spc="-5" dirty="0">
                <a:latin typeface="Perpetua"/>
                <a:cs typeface="Perpetua"/>
              </a:rPr>
              <a:t>things?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67200" y="667512"/>
            <a:ext cx="3429000" cy="552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930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Perpetua"/>
                <a:cs typeface="Perpetua"/>
              </a:rPr>
              <a:t>So</a:t>
            </a:r>
            <a:r>
              <a:rPr sz="4000" b="1" spc="130" dirty="0">
                <a:latin typeface="Perpetua"/>
                <a:cs typeface="Perpetua"/>
              </a:rPr>
              <a:t>r</a:t>
            </a:r>
            <a:r>
              <a:rPr sz="4000" b="1" spc="-5" dirty="0">
                <a:latin typeface="Perpetua"/>
                <a:cs typeface="Perpetua"/>
              </a:rPr>
              <a:t>t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383233"/>
            <a:ext cx="6765925" cy="4245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Part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One: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–Find </a:t>
            </a:r>
            <a:r>
              <a:rPr sz="2400" spc="-5" dirty="0">
                <a:latin typeface="Perpetua"/>
                <a:cs typeface="Perpetua"/>
              </a:rPr>
              <a:t>the lightest </a:t>
            </a:r>
            <a:r>
              <a:rPr sz="2400" dirty="0">
                <a:latin typeface="Perpetua"/>
                <a:cs typeface="Perpetua"/>
              </a:rPr>
              <a:t>bottle using the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scale</a:t>
            </a:r>
            <a:endParaRPr sz="24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–What </a:t>
            </a:r>
            <a:r>
              <a:rPr sz="2400" dirty="0">
                <a:latin typeface="Perpetua"/>
                <a:cs typeface="Perpetua"/>
              </a:rPr>
              <a:t>is the </a:t>
            </a:r>
            <a:r>
              <a:rPr sz="2400" spc="-5" dirty="0">
                <a:latin typeface="Perpetua"/>
                <a:cs typeface="Perpetua"/>
              </a:rPr>
              <a:t>easiest </a:t>
            </a:r>
            <a:r>
              <a:rPr sz="2400" spc="-40" dirty="0">
                <a:latin typeface="Perpetua"/>
                <a:cs typeface="Perpetua"/>
              </a:rPr>
              <a:t>way </a:t>
            </a:r>
            <a:r>
              <a:rPr sz="2400" dirty="0">
                <a:latin typeface="Perpetua"/>
                <a:cs typeface="Perpetua"/>
              </a:rPr>
              <a:t>to do this?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Part</a:t>
            </a:r>
            <a:r>
              <a:rPr sz="2400" spc="-300" dirty="0">
                <a:latin typeface="Perpetua"/>
                <a:cs typeface="Perpetua"/>
              </a:rPr>
              <a:t> </a:t>
            </a:r>
            <a:r>
              <a:rPr sz="2400" spc="-85" dirty="0">
                <a:latin typeface="Perpetua"/>
                <a:cs typeface="Perpetua"/>
              </a:rPr>
              <a:t>Two: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–Choose </a:t>
            </a:r>
            <a:r>
              <a:rPr sz="2400" spc="-5" dirty="0">
                <a:latin typeface="Perpetua"/>
                <a:cs typeface="Perpetua"/>
              </a:rPr>
              <a:t>three </a:t>
            </a:r>
            <a:r>
              <a:rPr sz="2400" dirty="0">
                <a:latin typeface="Perpetua"/>
                <a:cs typeface="Perpetua"/>
              </a:rPr>
              <a:t>bottles </a:t>
            </a:r>
            <a:r>
              <a:rPr sz="2400" spc="-15" dirty="0">
                <a:latin typeface="Perpetua"/>
                <a:cs typeface="Perpetua"/>
              </a:rPr>
              <a:t>at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random</a:t>
            </a:r>
            <a:endParaRPr sz="24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15" dirty="0">
                <a:latin typeface="Perpetua"/>
                <a:cs typeface="Perpetua"/>
              </a:rPr>
              <a:t>–Sort </a:t>
            </a:r>
            <a:r>
              <a:rPr sz="2400" spc="-5" dirty="0">
                <a:latin typeface="Perpetua"/>
                <a:cs typeface="Perpetua"/>
              </a:rPr>
              <a:t>them </a:t>
            </a:r>
            <a:r>
              <a:rPr sz="2400" dirty="0">
                <a:latin typeface="Perpetua"/>
                <a:cs typeface="Perpetua"/>
              </a:rPr>
              <a:t>using the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scale</a:t>
            </a:r>
            <a:endParaRPr sz="24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15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–What </a:t>
            </a:r>
            <a:r>
              <a:rPr sz="2400" dirty="0">
                <a:latin typeface="Perpetua"/>
                <a:cs typeface="Perpetua"/>
              </a:rPr>
              <a:t>is the </a:t>
            </a:r>
            <a:r>
              <a:rPr sz="2400" spc="-25" dirty="0">
                <a:latin typeface="Perpetua"/>
                <a:cs typeface="Perpetua"/>
              </a:rPr>
              <a:t>fewest </a:t>
            </a:r>
            <a:r>
              <a:rPr sz="2400" spc="-5" dirty="0">
                <a:latin typeface="Perpetua"/>
                <a:cs typeface="Perpetua"/>
              </a:rPr>
              <a:t>number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5" dirty="0">
                <a:latin typeface="Perpetua"/>
                <a:cs typeface="Perpetua"/>
              </a:rPr>
              <a:t>comparisons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can</a:t>
            </a:r>
            <a:r>
              <a:rPr sz="2400" spc="-9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do?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930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Perpetua"/>
                <a:cs typeface="Perpetua"/>
              </a:rPr>
              <a:t>So</a:t>
            </a:r>
            <a:r>
              <a:rPr sz="4000" b="1" spc="130" dirty="0">
                <a:latin typeface="Perpetua"/>
                <a:cs typeface="Perpetua"/>
              </a:rPr>
              <a:t>r</a:t>
            </a:r>
            <a:r>
              <a:rPr sz="4000" b="1" spc="-5" dirty="0">
                <a:latin typeface="Perpetua"/>
                <a:cs typeface="Perpetua"/>
              </a:rPr>
              <a:t>t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442325" cy="3029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5" dirty="0">
                <a:latin typeface="Perpetua"/>
                <a:cs typeface="Perpetua"/>
              </a:rPr>
              <a:t>Part</a:t>
            </a:r>
            <a:r>
              <a:rPr sz="2600" spc="-3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Three: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550">
              <a:latin typeface="Times New Roman"/>
              <a:cs typeface="Times New Roman"/>
            </a:endParaRPr>
          </a:p>
          <a:p>
            <a:pPr marL="561340" marR="5080" lvl="1" indent="-228600">
              <a:lnSpc>
                <a:spcPct val="100000"/>
              </a:lnSpc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15" dirty="0">
                <a:latin typeface="Perpetua"/>
                <a:cs typeface="Perpetua"/>
              </a:rPr>
              <a:t>–Sort </a:t>
            </a:r>
            <a:r>
              <a:rPr sz="2600" spc="-5" dirty="0">
                <a:latin typeface="Perpetua"/>
                <a:cs typeface="Perpetua"/>
              </a:rPr>
              <a:t>all the </a:t>
            </a:r>
            <a:r>
              <a:rPr sz="2600" dirty="0">
                <a:latin typeface="Perpetua"/>
                <a:cs typeface="Perpetua"/>
              </a:rPr>
              <a:t>bottles </a:t>
            </a:r>
            <a:r>
              <a:rPr sz="2600" spc="-10" dirty="0">
                <a:latin typeface="Perpetua"/>
                <a:cs typeface="Perpetua"/>
              </a:rPr>
              <a:t>from </a:t>
            </a:r>
            <a:r>
              <a:rPr sz="2600" spc="-5" dirty="0">
                <a:latin typeface="Perpetua"/>
                <a:cs typeface="Perpetua"/>
              </a:rPr>
              <a:t>lightest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heaviest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15" dirty="0">
                <a:latin typeface="Perpetua"/>
                <a:cs typeface="Perpetua"/>
              </a:rPr>
              <a:t>repeatedly </a:t>
            </a:r>
            <a:r>
              <a:rPr sz="2600" dirty="0">
                <a:latin typeface="Perpetua"/>
                <a:cs typeface="Perpetua"/>
              </a:rPr>
              <a:t>finding  the lightest </a:t>
            </a:r>
            <a:r>
              <a:rPr sz="2600" spc="-5" dirty="0">
                <a:latin typeface="Perpetua"/>
                <a:cs typeface="Perpetua"/>
              </a:rPr>
              <a:t>bottle remaining, and </a:t>
            </a:r>
            <a:r>
              <a:rPr sz="2600" spc="-15" dirty="0">
                <a:latin typeface="Perpetua"/>
                <a:cs typeface="Perpetua"/>
              </a:rPr>
              <a:t>moving </a:t>
            </a:r>
            <a:r>
              <a:rPr sz="2600" dirty="0">
                <a:latin typeface="Perpetua"/>
                <a:cs typeface="Perpetua"/>
              </a:rPr>
              <a:t>it into the </a:t>
            </a:r>
            <a:r>
              <a:rPr sz="2600" spc="15" dirty="0">
                <a:latin typeface="Perpetua"/>
                <a:cs typeface="Perpetua"/>
              </a:rPr>
              <a:t>sorted </a:t>
            </a:r>
            <a:r>
              <a:rPr sz="2600" spc="-5" dirty="0">
                <a:latin typeface="Perpetua"/>
                <a:cs typeface="Perpetua"/>
              </a:rPr>
              <a:t>list </a:t>
            </a:r>
            <a:r>
              <a:rPr sz="2600" spc="-15" dirty="0">
                <a:latin typeface="Perpetua"/>
                <a:cs typeface="Perpetua"/>
              </a:rPr>
              <a:t>at 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top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61340" lvl="1" indent="-22860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–This is </a:t>
            </a:r>
            <a:r>
              <a:rPr sz="2600" spc="-20" dirty="0">
                <a:latin typeface="Perpetua"/>
                <a:cs typeface="Perpetua"/>
              </a:rPr>
              <a:t>known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b="1" spc="-5" dirty="0">
                <a:latin typeface="Perpetua"/>
                <a:cs typeface="Perpetua"/>
              </a:rPr>
              <a:t>Selection</a:t>
            </a:r>
            <a:r>
              <a:rPr sz="2600" b="1" dirty="0">
                <a:latin typeface="Perpetua"/>
                <a:cs typeface="Perpetua"/>
              </a:rPr>
              <a:t> </a:t>
            </a:r>
            <a:r>
              <a:rPr sz="2600" b="1" spc="20" dirty="0">
                <a:latin typeface="Perpetua"/>
                <a:cs typeface="Perpetua"/>
              </a:rPr>
              <a:t>Sort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4978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Perpetua"/>
                <a:cs typeface="Perpetua"/>
              </a:rPr>
              <a:t>Finding </a:t>
            </a:r>
            <a:r>
              <a:rPr sz="4000" b="1" spc="-10" dirty="0">
                <a:latin typeface="Perpetua"/>
                <a:cs typeface="Perpetua"/>
              </a:rPr>
              <a:t>the Smallest</a:t>
            </a:r>
            <a:r>
              <a:rPr sz="4000" b="1" spc="-30" dirty="0">
                <a:latin typeface="Perpetua"/>
                <a:cs typeface="Perpetua"/>
              </a:rPr>
              <a:t> </a:t>
            </a:r>
            <a:r>
              <a:rPr sz="4000" b="1" spc="-5" dirty="0">
                <a:latin typeface="Perpetua"/>
                <a:cs typeface="Perpetua"/>
              </a:rPr>
              <a:t>Item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353281"/>
            <a:ext cx="6399530" cy="30448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00" b="1" spc="-15" dirty="0">
                <a:latin typeface="Perpetua"/>
                <a:cs typeface="Perpetua"/>
              </a:rPr>
              <a:t>given: </a:t>
            </a:r>
            <a:r>
              <a:rPr sz="2800" b="1" spc="-5" dirty="0">
                <a:latin typeface="Perpetua"/>
                <a:cs typeface="Perpetua"/>
              </a:rPr>
              <a:t>a list of </a:t>
            </a:r>
            <a:r>
              <a:rPr sz="2800" b="1" spc="-10" dirty="0">
                <a:latin typeface="Perpetua"/>
                <a:cs typeface="Perpetua"/>
              </a:rPr>
              <a:t>data </a:t>
            </a:r>
            <a:r>
              <a:rPr sz="2800" b="1" spc="-5" dirty="0">
                <a:latin typeface="Perpetua"/>
                <a:cs typeface="Perpetua"/>
              </a:rPr>
              <a:t>to find the minimum</a:t>
            </a:r>
            <a:r>
              <a:rPr sz="2800" b="1" spc="-165" dirty="0">
                <a:latin typeface="Perpetua"/>
                <a:cs typeface="Perpetua"/>
              </a:rPr>
              <a:t> </a:t>
            </a:r>
            <a:r>
              <a:rPr sz="2800" b="1" spc="-5" dirty="0">
                <a:latin typeface="Perpetua"/>
                <a:cs typeface="Perpetua"/>
              </a:rPr>
              <a:t>in</a:t>
            </a:r>
            <a:endParaRPr sz="2800">
              <a:latin typeface="Perpetua"/>
              <a:cs typeface="Perpetua"/>
            </a:endParaRPr>
          </a:p>
          <a:p>
            <a:pPr marL="12700" marR="932180">
              <a:lnSpc>
                <a:spcPct val="117900"/>
              </a:lnSpc>
            </a:pPr>
            <a:r>
              <a:rPr sz="2800" spc="-5" dirty="0">
                <a:latin typeface="Perpetua"/>
                <a:cs typeface="Perpetua"/>
              </a:rPr>
              <a:t>set currentSmallestItem to </a:t>
            </a:r>
            <a:r>
              <a:rPr sz="2800" spc="5" dirty="0">
                <a:latin typeface="Perpetua"/>
                <a:cs typeface="Perpetua"/>
              </a:rPr>
              <a:t>first </a:t>
            </a:r>
            <a:r>
              <a:rPr sz="2800" spc="-5" dirty="0">
                <a:latin typeface="Perpetua"/>
                <a:cs typeface="Perpetua"/>
              </a:rPr>
              <a:t>item in </a:t>
            </a:r>
            <a:r>
              <a:rPr sz="2800" spc="-10" dirty="0">
                <a:latin typeface="Perpetua"/>
                <a:cs typeface="Perpetua"/>
              </a:rPr>
              <a:t>list  while </a:t>
            </a:r>
            <a:r>
              <a:rPr sz="2800" spc="-55" dirty="0">
                <a:latin typeface="Perpetua"/>
                <a:cs typeface="Perpetua"/>
              </a:rPr>
              <a:t>we </a:t>
            </a:r>
            <a:r>
              <a:rPr sz="2800" spc="-45" dirty="0">
                <a:latin typeface="Perpetua"/>
                <a:cs typeface="Perpetua"/>
              </a:rPr>
              <a:t>haven’t </a:t>
            </a:r>
            <a:r>
              <a:rPr sz="2800" spc="-10" dirty="0">
                <a:latin typeface="Perpetua"/>
                <a:cs typeface="Perpetua"/>
              </a:rPr>
              <a:t>looked </a:t>
            </a:r>
            <a:r>
              <a:rPr sz="2800" spc="-20" dirty="0">
                <a:latin typeface="Perpetua"/>
                <a:cs typeface="Perpetua"/>
              </a:rPr>
              <a:t>at </a:t>
            </a:r>
            <a:r>
              <a:rPr sz="2800" spc="-5" dirty="0">
                <a:latin typeface="Perpetua"/>
                <a:cs typeface="Perpetua"/>
              </a:rPr>
              <a:t>all items in</a:t>
            </a:r>
            <a:r>
              <a:rPr sz="2800" spc="1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list:</a:t>
            </a:r>
            <a:endParaRPr sz="28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600"/>
              </a:spcBef>
            </a:pPr>
            <a:r>
              <a:rPr sz="2800" spc="-5" dirty="0">
                <a:latin typeface="Perpetua"/>
                <a:cs typeface="Perpetua"/>
              </a:rPr>
              <a:t>set compareItem to next item in</a:t>
            </a:r>
            <a:r>
              <a:rPr sz="2800" spc="-2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list</a:t>
            </a:r>
            <a:endParaRPr sz="28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605"/>
              </a:spcBef>
            </a:pPr>
            <a:r>
              <a:rPr sz="2800" spc="-5" dirty="0">
                <a:latin typeface="Perpetua"/>
                <a:cs typeface="Perpetua"/>
              </a:rPr>
              <a:t>if compareItem &lt;</a:t>
            </a:r>
            <a:r>
              <a:rPr sz="2800" spc="-4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currentSmallestItem:</a:t>
            </a:r>
            <a:endParaRPr sz="28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800" spc="-40" dirty="0">
                <a:latin typeface="Perpetua"/>
                <a:cs typeface="Perpetua"/>
              </a:rPr>
              <a:t>save </a:t>
            </a:r>
            <a:r>
              <a:rPr sz="2800" spc="-5" dirty="0">
                <a:latin typeface="Perpetua"/>
                <a:cs typeface="Perpetua"/>
              </a:rPr>
              <a:t>compareItem to</a:t>
            </a:r>
            <a:r>
              <a:rPr sz="2800" spc="3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currentSmallestItem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0232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Perpetua"/>
                <a:cs typeface="Perpetua"/>
              </a:rPr>
              <a:t>Selection</a:t>
            </a:r>
            <a:r>
              <a:rPr sz="4000" b="1" spc="-70" dirty="0">
                <a:latin typeface="Perpetua"/>
                <a:cs typeface="Perpetua"/>
              </a:rPr>
              <a:t> </a:t>
            </a:r>
            <a:r>
              <a:rPr sz="4000" b="1" spc="30" dirty="0">
                <a:latin typeface="Perpetua"/>
                <a:cs typeface="Perpetua"/>
              </a:rPr>
              <a:t>Sort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346890"/>
            <a:ext cx="7728584" cy="3974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10585">
              <a:lnSpc>
                <a:spcPct val="115700"/>
              </a:lnSpc>
              <a:spcBef>
                <a:spcPts val="100"/>
              </a:spcBef>
            </a:pPr>
            <a:r>
              <a:rPr sz="3200" spc="-5" dirty="0">
                <a:latin typeface="Perpetua"/>
                <a:cs typeface="Perpetua"/>
              </a:rPr>
              <a:t>given: </a:t>
            </a:r>
            <a:r>
              <a:rPr sz="3200" dirty="0">
                <a:latin typeface="Perpetua"/>
                <a:cs typeface="Perpetua"/>
              </a:rPr>
              <a:t>a </a:t>
            </a:r>
            <a:r>
              <a:rPr sz="3200" spc="-5" dirty="0">
                <a:latin typeface="Perpetua"/>
                <a:cs typeface="Perpetua"/>
              </a:rPr>
              <a:t>list </a:t>
            </a:r>
            <a:r>
              <a:rPr sz="3200" dirty="0">
                <a:latin typeface="Perpetua"/>
                <a:cs typeface="Perpetua"/>
              </a:rPr>
              <a:t>of </a:t>
            </a:r>
            <a:r>
              <a:rPr sz="3200" spc="-10" dirty="0">
                <a:latin typeface="Perpetua"/>
                <a:cs typeface="Perpetua"/>
              </a:rPr>
              <a:t>data </a:t>
            </a:r>
            <a:r>
              <a:rPr sz="3200" dirty="0">
                <a:latin typeface="Perpetua"/>
                <a:cs typeface="Perpetua"/>
              </a:rPr>
              <a:t>to </a:t>
            </a:r>
            <a:r>
              <a:rPr sz="3200" spc="25" dirty="0">
                <a:latin typeface="Perpetua"/>
                <a:cs typeface="Perpetua"/>
              </a:rPr>
              <a:t>sort  </a:t>
            </a:r>
            <a:r>
              <a:rPr sz="3200" dirty="0">
                <a:latin typeface="Perpetua"/>
                <a:cs typeface="Perpetua"/>
              </a:rPr>
              <a:t>set </a:t>
            </a:r>
            <a:r>
              <a:rPr sz="3200" spc="10" dirty="0">
                <a:latin typeface="Perpetua"/>
                <a:cs typeface="Perpetua"/>
              </a:rPr>
              <a:t>listSorted </a:t>
            </a:r>
            <a:r>
              <a:rPr sz="3200" dirty="0">
                <a:latin typeface="Perpetua"/>
                <a:cs typeface="Perpetua"/>
              </a:rPr>
              <a:t>to </a:t>
            </a:r>
            <a:r>
              <a:rPr sz="3200" spc="-5" dirty="0">
                <a:latin typeface="Perpetua"/>
                <a:cs typeface="Perpetua"/>
              </a:rPr>
              <a:t>an empty</a:t>
            </a:r>
            <a:r>
              <a:rPr sz="3200" spc="-35" dirty="0">
                <a:latin typeface="Perpetua"/>
                <a:cs typeface="Perpetua"/>
              </a:rPr>
              <a:t> </a:t>
            </a:r>
            <a:r>
              <a:rPr sz="3200" spc="-5" dirty="0">
                <a:latin typeface="Perpetua"/>
                <a:cs typeface="Perpetua"/>
              </a:rPr>
              <a:t>list</a:t>
            </a:r>
            <a:endParaRPr sz="3200">
              <a:latin typeface="Perpetua"/>
              <a:cs typeface="Perpetua"/>
            </a:endParaRPr>
          </a:p>
          <a:p>
            <a:pPr marL="12700" marR="618490">
              <a:lnSpc>
                <a:spcPts val="4440"/>
              </a:lnSpc>
              <a:spcBef>
                <a:spcPts val="250"/>
              </a:spcBef>
            </a:pPr>
            <a:r>
              <a:rPr sz="3200" dirty="0">
                <a:latin typeface="Perpetua"/>
                <a:cs typeface="Perpetua"/>
              </a:rPr>
              <a:t>set listRemaining to the </a:t>
            </a:r>
            <a:r>
              <a:rPr sz="3200" spc="10" dirty="0">
                <a:latin typeface="Perpetua"/>
                <a:cs typeface="Perpetua"/>
              </a:rPr>
              <a:t>original </a:t>
            </a:r>
            <a:r>
              <a:rPr sz="3200" spc="-5" dirty="0">
                <a:latin typeface="Perpetua"/>
                <a:cs typeface="Perpetua"/>
              </a:rPr>
              <a:t>list </a:t>
            </a:r>
            <a:r>
              <a:rPr sz="3200" dirty="0">
                <a:latin typeface="Perpetua"/>
                <a:cs typeface="Perpetua"/>
              </a:rPr>
              <a:t>to be </a:t>
            </a:r>
            <a:r>
              <a:rPr sz="3200" spc="15" dirty="0">
                <a:latin typeface="Perpetua"/>
                <a:cs typeface="Perpetua"/>
              </a:rPr>
              <a:t>sorted  </a:t>
            </a:r>
            <a:r>
              <a:rPr sz="3200" dirty="0">
                <a:latin typeface="Perpetua"/>
                <a:cs typeface="Perpetua"/>
              </a:rPr>
              <a:t>while </a:t>
            </a:r>
            <a:r>
              <a:rPr sz="3200" spc="-5" dirty="0">
                <a:latin typeface="Perpetua"/>
                <a:cs typeface="Perpetua"/>
              </a:rPr>
              <a:t>listRemaining </a:t>
            </a:r>
            <a:r>
              <a:rPr sz="3200" dirty="0">
                <a:latin typeface="Perpetua"/>
                <a:cs typeface="Perpetua"/>
              </a:rPr>
              <a:t>is </a:t>
            </a:r>
            <a:r>
              <a:rPr sz="3200" spc="-5" dirty="0">
                <a:latin typeface="Perpetua"/>
                <a:cs typeface="Perpetua"/>
              </a:rPr>
              <a:t>not</a:t>
            </a:r>
            <a:r>
              <a:rPr sz="3200" spc="30" dirty="0">
                <a:latin typeface="Perpetua"/>
                <a:cs typeface="Perpetua"/>
              </a:rPr>
              <a:t> </a:t>
            </a:r>
            <a:r>
              <a:rPr sz="3200" spc="-5" dirty="0">
                <a:latin typeface="Perpetua"/>
                <a:cs typeface="Perpetua"/>
              </a:rPr>
              <a:t>empty:</a:t>
            </a:r>
            <a:endParaRPr sz="3200">
              <a:latin typeface="Perpetua"/>
              <a:cs typeface="Perpetua"/>
            </a:endParaRPr>
          </a:p>
          <a:p>
            <a:pPr marL="286385" marR="5080">
              <a:lnSpc>
                <a:spcPts val="4440"/>
              </a:lnSpc>
            </a:pPr>
            <a:r>
              <a:rPr sz="3200" dirty="0">
                <a:latin typeface="Perpetua"/>
                <a:cs typeface="Perpetua"/>
              </a:rPr>
              <a:t>set </a:t>
            </a:r>
            <a:r>
              <a:rPr sz="3200" spc="-25" dirty="0">
                <a:latin typeface="Perpetua"/>
                <a:cs typeface="Perpetua"/>
              </a:rPr>
              <a:t>smallestValue </a:t>
            </a:r>
            <a:r>
              <a:rPr sz="3200" dirty="0">
                <a:latin typeface="Perpetua"/>
                <a:cs typeface="Perpetua"/>
              </a:rPr>
              <a:t>to the </a:t>
            </a:r>
            <a:r>
              <a:rPr sz="3200" spc="-5" dirty="0">
                <a:latin typeface="Perpetua"/>
                <a:cs typeface="Perpetua"/>
              </a:rPr>
              <a:t>min </a:t>
            </a:r>
            <a:r>
              <a:rPr sz="3200" spc="-15" dirty="0">
                <a:latin typeface="Perpetua"/>
                <a:cs typeface="Perpetua"/>
              </a:rPr>
              <a:t>value </a:t>
            </a:r>
            <a:r>
              <a:rPr sz="3200" dirty="0">
                <a:latin typeface="Perpetua"/>
                <a:cs typeface="Perpetua"/>
              </a:rPr>
              <a:t>in </a:t>
            </a:r>
            <a:r>
              <a:rPr sz="3200" spc="-5" dirty="0">
                <a:latin typeface="Perpetua"/>
                <a:cs typeface="Perpetua"/>
              </a:rPr>
              <a:t>listRemaining  add </a:t>
            </a:r>
            <a:r>
              <a:rPr sz="3200" spc="-25" dirty="0">
                <a:latin typeface="Perpetua"/>
                <a:cs typeface="Perpetua"/>
              </a:rPr>
              <a:t>smallestValue </a:t>
            </a:r>
            <a:r>
              <a:rPr sz="3200" dirty="0">
                <a:latin typeface="Perpetua"/>
                <a:cs typeface="Perpetua"/>
              </a:rPr>
              <a:t>to the </a:t>
            </a:r>
            <a:r>
              <a:rPr sz="3200" spc="-5" dirty="0">
                <a:latin typeface="Perpetua"/>
                <a:cs typeface="Perpetua"/>
              </a:rPr>
              <a:t>end of</a:t>
            </a:r>
            <a:r>
              <a:rPr sz="3200" spc="50" dirty="0">
                <a:latin typeface="Perpetua"/>
                <a:cs typeface="Perpetua"/>
              </a:rPr>
              <a:t> </a:t>
            </a:r>
            <a:r>
              <a:rPr sz="3200" spc="5" dirty="0">
                <a:latin typeface="Perpetua"/>
                <a:cs typeface="Perpetua"/>
              </a:rPr>
              <a:t>listSorted</a:t>
            </a:r>
            <a:endParaRPr sz="32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355"/>
              </a:spcBef>
            </a:pPr>
            <a:r>
              <a:rPr sz="3200" spc="-35" dirty="0">
                <a:latin typeface="Perpetua"/>
                <a:cs typeface="Perpetua"/>
              </a:rPr>
              <a:t>remove </a:t>
            </a:r>
            <a:r>
              <a:rPr sz="3200" spc="-25" dirty="0">
                <a:latin typeface="Perpetua"/>
                <a:cs typeface="Perpetua"/>
              </a:rPr>
              <a:t>smallestValue </a:t>
            </a:r>
            <a:r>
              <a:rPr sz="3200" spc="-10" dirty="0">
                <a:latin typeface="Perpetua"/>
                <a:cs typeface="Perpetua"/>
              </a:rPr>
              <a:t>from</a:t>
            </a:r>
            <a:r>
              <a:rPr sz="3200" spc="50" dirty="0">
                <a:latin typeface="Perpetua"/>
                <a:cs typeface="Perpetua"/>
              </a:rPr>
              <a:t> </a:t>
            </a:r>
            <a:r>
              <a:rPr sz="3200" spc="-5" dirty="0">
                <a:latin typeface="Perpetua"/>
                <a:cs typeface="Perpetua"/>
              </a:rPr>
              <a:t>listRemaining</a:t>
            </a:r>
            <a:endParaRPr sz="32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0460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5" dirty="0">
                <a:latin typeface="Perpetua"/>
                <a:cs typeface="Perpetua"/>
              </a:rPr>
              <a:t>Insertion</a:t>
            </a:r>
            <a:r>
              <a:rPr sz="4000" b="1" spc="-55" dirty="0">
                <a:latin typeface="Perpetua"/>
                <a:cs typeface="Perpetua"/>
              </a:rPr>
              <a:t> </a:t>
            </a:r>
            <a:r>
              <a:rPr sz="4000" b="1" spc="30" dirty="0">
                <a:latin typeface="Perpetua"/>
                <a:cs typeface="Perpetua"/>
              </a:rPr>
              <a:t>Sort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906651"/>
            <a:ext cx="8380095" cy="3653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80" dirty="0">
                <a:latin typeface="Perpetua"/>
                <a:cs typeface="Perpetua"/>
              </a:rPr>
              <a:t>Take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leftmost bottle </a:t>
            </a:r>
            <a:r>
              <a:rPr sz="2600" spc="-10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bottom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15" dirty="0">
                <a:latin typeface="Perpetua"/>
                <a:cs typeface="Perpetua"/>
              </a:rPr>
              <a:t>Insert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5" dirty="0">
                <a:latin typeface="Perpetua"/>
                <a:cs typeface="Perpetua"/>
              </a:rPr>
              <a:t>into the </a:t>
            </a:r>
            <a:r>
              <a:rPr sz="2600" dirty="0">
                <a:latin typeface="Perpetua"/>
                <a:cs typeface="Perpetua"/>
              </a:rPr>
              <a:t>correct </a:t>
            </a:r>
            <a:r>
              <a:rPr sz="2600" spc="-10" dirty="0">
                <a:latin typeface="Perpetua"/>
                <a:cs typeface="Perpetua"/>
              </a:rPr>
              <a:t>location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15" dirty="0">
                <a:latin typeface="Perpetua"/>
                <a:cs typeface="Perpetua"/>
              </a:rPr>
              <a:t>sorted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list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–Do this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comparing the </a:t>
            </a:r>
            <a:r>
              <a:rPr sz="2600" spc="-15" dirty="0">
                <a:latin typeface="Perpetua"/>
                <a:cs typeface="Perpetua"/>
              </a:rPr>
              <a:t>new </a:t>
            </a:r>
            <a:r>
              <a:rPr sz="2600" dirty="0">
                <a:latin typeface="Perpetua"/>
                <a:cs typeface="Perpetua"/>
              </a:rPr>
              <a:t>item with </a:t>
            </a:r>
            <a:r>
              <a:rPr sz="2600" spc="5" dirty="0">
                <a:latin typeface="Perpetua"/>
                <a:cs typeface="Perpetua"/>
              </a:rPr>
              <a:t>each </a:t>
            </a:r>
            <a:r>
              <a:rPr sz="2600" dirty="0">
                <a:latin typeface="Perpetua"/>
                <a:cs typeface="Perpetua"/>
              </a:rPr>
              <a:t>of the existing items  </a:t>
            </a:r>
            <a:r>
              <a:rPr sz="2600" spc="-10" dirty="0">
                <a:latin typeface="Perpetua"/>
                <a:cs typeface="Perpetua"/>
              </a:rPr>
              <a:t>(usually </a:t>
            </a:r>
            <a:r>
              <a:rPr sz="2600" spc="10" dirty="0">
                <a:latin typeface="Perpetua"/>
                <a:cs typeface="Perpetua"/>
              </a:rPr>
              <a:t>starting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 end) </a:t>
            </a:r>
            <a:r>
              <a:rPr sz="2600" spc="-5" dirty="0">
                <a:latin typeface="Perpetua"/>
                <a:cs typeface="Perpetua"/>
              </a:rPr>
              <a:t>until </a:t>
            </a:r>
            <a:r>
              <a:rPr sz="2600" dirty="0">
                <a:latin typeface="Perpetua"/>
                <a:cs typeface="Perpetua"/>
              </a:rPr>
              <a:t>the correct </a:t>
            </a:r>
            <a:r>
              <a:rPr sz="2600" spc="-5" dirty="0">
                <a:latin typeface="Perpetua"/>
                <a:cs typeface="Perpetua"/>
              </a:rPr>
              <a:t>place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found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is </a:t>
            </a:r>
            <a:r>
              <a:rPr sz="2600" spc="-15" dirty="0">
                <a:latin typeface="Perpetua"/>
                <a:cs typeface="Perpetua"/>
              </a:rPr>
              <a:t>known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b="1" spc="5" dirty="0">
                <a:latin typeface="Perpetua"/>
                <a:cs typeface="Perpetua"/>
              </a:rPr>
              <a:t>Insertion</a:t>
            </a:r>
            <a:r>
              <a:rPr sz="2600" b="1" spc="-10" dirty="0">
                <a:latin typeface="Perpetua"/>
                <a:cs typeface="Perpetua"/>
              </a:rPr>
              <a:t> </a:t>
            </a:r>
            <a:r>
              <a:rPr sz="2600" b="1" spc="20" dirty="0">
                <a:latin typeface="Perpetua"/>
                <a:cs typeface="Perpetua"/>
              </a:rPr>
              <a:t>Sort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0460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5" dirty="0">
                <a:latin typeface="Perpetua"/>
                <a:cs typeface="Perpetua"/>
              </a:rPr>
              <a:t>Insertion</a:t>
            </a:r>
            <a:r>
              <a:rPr sz="4000" b="1" spc="-55" dirty="0">
                <a:latin typeface="Perpetua"/>
                <a:cs typeface="Perpetua"/>
              </a:rPr>
              <a:t> </a:t>
            </a:r>
            <a:r>
              <a:rPr sz="4000" b="1" spc="30" dirty="0">
                <a:latin typeface="Perpetua"/>
                <a:cs typeface="Perpetua"/>
              </a:rPr>
              <a:t>Sort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353281"/>
            <a:ext cx="7538720" cy="405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769995">
              <a:lnSpc>
                <a:spcPct val="117900"/>
              </a:lnSpc>
              <a:spcBef>
                <a:spcPts val="105"/>
              </a:spcBef>
            </a:pPr>
            <a:r>
              <a:rPr sz="2800" spc="-5" dirty="0">
                <a:latin typeface="Perpetua"/>
                <a:cs typeface="Perpetua"/>
              </a:rPr>
              <a:t>given: a list of </a:t>
            </a:r>
            <a:r>
              <a:rPr sz="2800" spc="-10" dirty="0">
                <a:latin typeface="Perpetua"/>
                <a:cs typeface="Perpetua"/>
              </a:rPr>
              <a:t>data to </a:t>
            </a:r>
            <a:r>
              <a:rPr sz="2800" spc="20" dirty="0">
                <a:latin typeface="Perpetua"/>
                <a:cs typeface="Perpetua"/>
              </a:rPr>
              <a:t>sort  </a:t>
            </a:r>
            <a:r>
              <a:rPr sz="2800" spc="-5" dirty="0">
                <a:latin typeface="Perpetua"/>
                <a:cs typeface="Perpetua"/>
              </a:rPr>
              <a:t>set </a:t>
            </a:r>
            <a:r>
              <a:rPr sz="2800" dirty="0">
                <a:latin typeface="Perpetua"/>
                <a:cs typeface="Perpetua"/>
              </a:rPr>
              <a:t>listSorted </a:t>
            </a:r>
            <a:r>
              <a:rPr sz="2800" spc="-5" dirty="0">
                <a:latin typeface="Perpetua"/>
                <a:cs typeface="Perpetua"/>
              </a:rPr>
              <a:t>to an empty</a:t>
            </a:r>
            <a:r>
              <a:rPr sz="2800" spc="-25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list</a:t>
            </a:r>
            <a:endParaRPr sz="2800">
              <a:latin typeface="Perpetua"/>
              <a:cs typeface="Perpetua"/>
            </a:endParaRPr>
          </a:p>
          <a:p>
            <a:pPr marL="12700" marR="1337310">
              <a:lnSpc>
                <a:spcPts val="3960"/>
              </a:lnSpc>
              <a:spcBef>
                <a:spcPts val="229"/>
              </a:spcBef>
            </a:pPr>
            <a:r>
              <a:rPr sz="2800" spc="-5" dirty="0">
                <a:latin typeface="Perpetua"/>
                <a:cs typeface="Perpetua"/>
              </a:rPr>
              <a:t>set </a:t>
            </a:r>
            <a:r>
              <a:rPr sz="2800" spc="-10" dirty="0">
                <a:latin typeface="Perpetua"/>
                <a:cs typeface="Perpetua"/>
              </a:rPr>
              <a:t>listRemaining </a:t>
            </a:r>
            <a:r>
              <a:rPr sz="2800" spc="-5" dirty="0">
                <a:latin typeface="Perpetua"/>
                <a:cs typeface="Perpetua"/>
              </a:rPr>
              <a:t>to the </a:t>
            </a:r>
            <a:r>
              <a:rPr sz="2800" spc="10" dirty="0">
                <a:latin typeface="Perpetua"/>
                <a:cs typeface="Perpetua"/>
              </a:rPr>
              <a:t>original </a:t>
            </a:r>
            <a:r>
              <a:rPr sz="2800" spc="-5" dirty="0">
                <a:latin typeface="Perpetua"/>
                <a:cs typeface="Perpetua"/>
              </a:rPr>
              <a:t>list to be </a:t>
            </a:r>
            <a:r>
              <a:rPr sz="2800" spc="10" dirty="0">
                <a:latin typeface="Perpetua"/>
                <a:cs typeface="Perpetua"/>
              </a:rPr>
              <a:t>sorted  </a:t>
            </a:r>
            <a:r>
              <a:rPr sz="2800" spc="-5" dirty="0">
                <a:latin typeface="Perpetua"/>
                <a:cs typeface="Perpetua"/>
              </a:rPr>
              <a:t>while listRemaining is not</a:t>
            </a:r>
            <a:r>
              <a:rPr sz="280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empty:</a:t>
            </a:r>
            <a:endParaRPr sz="2800">
              <a:latin typeface="Perpetua"/>
              <a:cs typeface="Perpetua"/>
            </a:endParaRPr>
          </a:p>
          <a:p>
            <a:pPr marL="286385" marR="412750">
              <a:lnSpc>
                <a:spcPts val="3960"/>
              </a:lnSpc>
            </a:pPr>
            <a:r>
              <a:rPr sz="2800" spc="-5" dirty="0">
                <a:latin typeface="Perpetua"/>
                <a:cs typeface="Perpetua"/>
              </a:rPr>
              <a:t>set </a:t>
            </a:r>
            <a:r>
              <a:rPr sz="2800" spc="-40" dirty="0">
                <a:latin typeface="Perpetua"/>
                <a:cs typeface="Perpetua"/>
              </a:rPr>
              <a:t>nextValueToSort </a:t>
            </a:r>
            <a:r>
              <a:rPr sz="2800" spc="-5" dirty="0">
                <a:latin typeface="Perpetua"/>
                <a:cs typeface="Perpetua"/>
              </a:rPr>
              <a:t>to the </a:t>
            </a:r>
            <a:r>
              <a:rPr sz="2800" spc="5" dirty="0">
                <a:latin typeface="Perpetua"/>
                <a:cs typeface="Perpetua"/>
              </a:rPr>
              <a:t>first </a:t>
            </a:r>
            <a:r>
              <a:rPr sz="2800" spc="-5" dirty="0">
                <a:latin typeface="Perpetua"/>
                <a:cs typeface="Perpetua"/>
              </a:rPr>
              <a:t>item in </a:t>
            </a:r>
            <a:r>
              <a:rPr sz="2800" spc="-10" dirty="0">
                <a:latin typeface="Perpetua"/>
                <a:cs typeface="Perpetua"/>
              </a:rPr>
              <a:t>listRemaining  </a:t>
            </a:r>
            <a:r>
              <a:rPr sz="2800" spc="-5" dirty="0">
                <a:latin typeface="Perpetua"/>
                <a:cs typeface="Perpetua"/>
              </a:rPr>
              <a:t>add </a:t>
            </a:r>
            <a:r>
              <a:rPr sz="2800" spc="-40" dirty="0">
                <a:latin typeface="Perpetua"/>
                <a:cs typeface="Perpetua"/>
              </a:rPr>
              <a:t>nextValueToSort </a:t>
            </a:r>
            <a:r>
              <a:rPr sz="2800" spc="-5" dirty="0">
                <a:latin typeface="Perpetua"/>
                <a:cs typeface="Perpetua"/>
              </a:rPr>
              <a:t>to the end of</a:t>
            </a:r>
            <a:r>
              <a:rPr sz="2800" spc="10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listSorted</a:t>
            </a:r>
            <a:endParaRPr sz="28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375"/>
              </a:spcBef>
            </a:pPr>
            <a:r>
              <a:rPr sz="2800" spc="-10" dirty="0">
                <a:latin typeface="Perpetua"/>
                <a:cs typeface="Perpetua"/>
              </a:rPr>
              <a:t>while </a:t>
            </a:r>
            <a:r>
              <a:rPr sz="2800" spc="-35" dirty="0">
                <a:latin typeface="Perpetua"/>
                <a:cs typeface="Perpetua"/>
              </a:rPr>
              <a:t>(nextValueToSort) </a:t>
            </a:r>
            <a:r>
              <a:rPr sz="2800" spc="-5" dirty="0">
                <a:latin typeface="Perpetua"/>
                <a:cs typeface="Perpetua"/>
              </a:rPr>
              <a:t>&lt;= </a:t>
            </a:r>
            <a:r>
              <a:rPr sz="2800" spc="-15" dirty="0">
                <a:latin typeface="Perpetua"/>
                <a:cs typeface="Perpetua"/>
              </a:rPr>
              <a:t>(value </a:t>
            </a:r>
            <a:r>
              <a:rPr sz="2800" spc="-5" dirty="0">
                <a:latin typeface="Perpetua"/>
                <a:cs typeface="Perpetua"/>
              </a:rPr>
              <a:t>to its</a:t>
            </a:r>
            <a:r>
              <a:rPr sz="2800" spc="7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left):</a:t>
            </a:r>
            <a:endParaRPr sz="28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800" spc="-30" dirty="0">
                <a:latin typeface="Perpetua"/>
                <a:cs typeface="Perpetua"/>
              </a:rPr>
              <a:t>swap </a:t>
            </a:r>
            <a:r>
              <a:rPr sz="2800" spc="-40" dirty="0">
                <a:latin typeface="Perpetua"/>
                <a:cs typeface="Perpetua"/>
              </a:rPr>
              <a:t>nextValueToSort </a:t>
            </a:r>
            <a:r>
              <a:rPr sz="2800" spc="-5" dirty="0">
                <a:latin typeface="Perpetua"/>
                <a:cs typeface="Perpetua"/>
              </a:rPr>
              <a:t>with </a:t>
            </a:r>
            <a:r>
              <a:rPr sz="2800" spc="-10" dirty="0">
                <a:latin typeface="Perpetua"/>
                <a:cs typeface="Perpetua"/>
              </a:rPr>
              <a:t>its </a:t>
            </a:r>
            <a:r>
              <a:rPr sz="2800" spc="-5" dirty="0">
                <a:latin typeface="Perpetua"/>
                <a:cs typeface="Perpetua"/>
              </a:rPr>
              <a:t>neighbour to the</a:t>
            </a:r>
            <a:r>
              <a:rPr sz="2800" spc="145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left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67181"/>
            <a:ext cx="41389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spc="-10" dirty="0">
                <a:latin typeface="Perpetua"/>
                <a:cs typeface="Perpetua"/>
              </a:rPr>
              <a:t>What </a:t>
            </a:r>
            <a:r>
              <a:rPr sz="4000" i="1" spc="-5" dirty="0">
                <a:latin typeface="Perpetua"/>
                <a:cs typeface="Perpetua"/>
              </a:rPr>
              <a:t>has been</a:t>
            </a:r>
            <a:r>
              <a:rPr sz="4000" i="1" spc="-50" dirty="0">
                <a:latin typeface="Perpetua"/>
                <a:cs typeface="Perpetua"/>
              </a:rPr>
              <a:t> </a:t>
            </a:r>
            <a:r>
              <a:rPr sz="4000" i="1" dirty="0">
                <a:latin typeface="Perpetua"/>
                <a:cs typeface="Perpetua"/>
              </a:rPr>
              <a:t>described?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1735962"/>
            <a:ext cx="6970395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95"/>
              </a:spcBef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dirty="0">
                <a:latin typeface="Perpetua"/>
                <a:cs typeface="Perpetua"/>
              </a:rPr>
              <a:t>need for </a:t>
            </a:r>
            <a:r>
              <a:rPr sz="2800" spc="-5" dirty="0">
                <a:latin typeface="Perpetua"/>
                <a:cs typeface="Perpetua"/>
              </a:rPr>
              <a:t>re-arrangement of a collection of</a:t>
            </a:r>
            <a:r>
              <a:rPr sz="2800" spc="45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data.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95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spc="-5" dirty="0">
                <a:latin typeface="Perpetua"/>
                <a:cs typeface="Perpetua"/>
              </a:rPr>
              <a:t>Selection </a:t>
            </a:r>
            <a:r>
              <a:rPr sz="2800" spc="10" dirty="0">
                <a:latin typeface="Perpetua"/>
                <a:cs typeface="Perpetua"/>
              </a:rPr>
              <a:t>sorting</a:t>
            </a:r>
            <a:r>
              <a:rPr sz="280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technique.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950">
              <a:latin typeface="Times New Roman"/>
              <a:cs typeface="Times New Roman"/>
            </a:endParaRPr>
          </a:p>
          <a:p>
            <a:pPr marL="287020" indent="-274955">
              <a:lnSpc>
                <a:spcPct val="100000"/>
              </a:lnSpc>
              <a:buSzPct val="83928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800" spc="-20" dirty="0">
                <a:latin typeface="Perpetua"/>
                <a:cs typeface="Perpetua"/>
              </a:rPr>
              <a:t>Bubble </a:t>
            </a:r>
            <a:r>
              <a:rPr sz="2800" spc="10" dirty="0">
                <a:latin typeface="Perpetua"/>
                <a:cs typeface="Perpetua"/>
              </a:rPr>
              <a:t>sorting</a:t>
            </a:r>
            <a:r>
              <a:rPr sz="2800" spc="2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technique.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4175" y="5196077"/>
            <a:ext cx="4680585" cy="1466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spc="-5" dirty="0">
                <a:latin typeface="Perpetua"/>
                <a:cs typeface="Perpetua"/>
              </a:rPr>
              <a:t>Credits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</a:rPr>
              <a:t>112.196.5.130/edusat/engg/CompEngg/.../EDUSAT%20Lect.ppt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dirty="0">
                <a:latin typeface="Perpetua"/>
                <a:cs typeface="Perpetua"/>
              </a:rPr>
              <a:t>Analysis </a:t>
            </a:r>
            <a:r>
              <a:rPr sz="1050" i="1" spc="-5" dirty="0">
                <a:latin typeface="Perpetua"/>
                <a:cs typeface="Perpetua"/>
              </a:rPr>
              <a:t>of Algorithms, </a:t>
            </a:r>
            <a:r>
              <a:rPr sz="1050" i="1" dirty="0">
                <a:latin typeface="Perpetua"/>
                <a:cs typeface="Perpetua"/>
              </a:rPr>
              <a:t>CS </a:t>
            </a:r>
            <a:r>
              <a:rPr sz="1050" i="1" spc="-5" dirty="0">
                <a:latin typeface="Perpetua"/>
                <a:cs typeface="Perpetua"/>
              </a:rPr>
              <a:t>477/677, </a:t>
            </a:r>
            <a:r>
              <a:rPr sz="1050" i="1" dirty="0">
                <a:latin typeface="Perpetua"/>
                <a:cs typeface="Perpetua"/>
              </a:rPr>
              <a:t>George</a:t>
            </a:r>
            <a:r>
              <a:rPr sz="1050" i="1" spc="-85" dirty="0">
                <a:latin typeface="Perpetua"/>
                <a:cs typeface="Perpetua"/>
              </a:rPr>
              <a:t> </a:t>
            </a:r>
            <a:r>
              <a:rPr sz="1050" i="1" spc="-5" dirty="0">
                <a:latin typeface="Perpetua"/>
                <a:cs typeface="Perpetua"/>
              </a:rPr>
              <a:t>Bebis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  <a:hlinkClick r:id="rId2"/>
              </a:rPr>
              <a:t>http://www.powershow.com/view/158a13-</a:t>
            </a:r>
            <a:endParaRPr sz="10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1050" i="1" spc="-5" dirty="0">
                <a:latin typeface="Perpetua"/>
                <a:cs typeface="Perpetua"/>
              </a:rPr>
              <a:t>ZjNmN/ICS103_Programming_in_C_Lecture_14_Searching_and_Sorting_powerpoint_ppt_presentation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  <a:hlinkClick r:id="rId3"/>
              </a:rPr>
              <a:t>https://ww</a:t>
            </a:r>
            <a:r>
              <a:rPr sz="1050" i="1" spc="-5" dirty="0">
                <a:latin typeface="Perpetua"/>
                <a:cs typeface="Perpetua"/>
              </a:rPr>
              <a:t>w.c</a:t>
            </a:r>
            <a:r>
              <a:rPr sz="1050" i="1" spc="-5" dirty="0">
                <a:latin typeface="Perpetua"/>
                <a:cs typeface="Perpetua"/>
                <a:hlinkClick r:id="rId3"/>
              </a:rPr>
              <a:t>ourse</a:t>
            </a:r>
            <a:r>
              <a:rPr sz="1050" i="1" spc="-5" dirty="0">
                <a:latin typeface="Perpetua"/>
                <a:cs typeface="Perpetua"/>
              </a:rPr>
              <a:t>h</a:t>
            </a:r>
            <a:r>
              <a:rPr sz="1050" i="1" spc="-5" dirty="0">
                <a:latin typeface="Perpetua"/>
                <a:cs typeface="Perpetua"/>
                <a:hlinkClick r:id="rId3"/>
              </a:rPr>
              <a:t>ero.com/file/6355834/sorting/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</a:rPr>
              <a:t>CENG 213 </a:t>
            </a:r>
            <a:r>
              <a:rPr sz="1050" i="1" dirty="0">
                <a:latin typeface="Perpetua"/>
                <a:cs typeface="Perpetua"/>
              </a:rPr>
              <a:t>Data Structures, METU,</a:t>
            </a:r>
            <a:r>
              <a:rPr sz="1050" i="1" spc="-95" dirty="0">
                <a:latin typeface="Perpetua"/>
                <a:cs typeface="Perpetua"/>
              </a:rPr>
              <a:t> </a:t>
            </a:r>
            <a:r>
              <a:rPr sz="1050" i="1" spc="-5" dirty="0">
                <a:latin typeface="Perpetua"/>
                <a:cs typeface="Perpetua"/>
              </a:rPr>
              <a:t>CSE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</a:rPr>
              <a:t>ww.cs.bu.edu/fac/gkollios/cs113/Slides/</a:t>
            </a:r>
            <a:r>
              <a:rPr sz="1050" b="1" i="1" spc="-5" dirty="0">
                <a:latin typeface="Perpetua"/>
                <a:cs typeface="Perpetua"/>
              </a:rPr>
              <a:t>Sorting</a:t>
            </a:r>
            <a:r>
              <a:rPr sz="1050" i="1" spc="-5" dirty="0">
                <a:latin typeface="Perpetua"/>
                <a:cs typeface="Perpetua"/>
              </a:rPr>
              <a:t>I.ppt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</a:rPr>
              <a:t>Google</a:t>
            </a:r>
            <a:r>
              <a:rPr sz="1050" i="1" spc="-15" dirty="0">
                <a:latin typeface="Perpetua"/>
                <a:cs typeface="Perpetua"/>
              </a:rPr>
              <a:t> </a:t>
            </a:r>
            <a:r>
              <a:rPr sz="1050" i="1" spc="-5" dirty="0">
                <a:latin typeface="Perpetua"/>
                <a:cs typeface="Perpetua"/>
              </a:rPr>
              <a:t>images</a:t>
            </a:r>
            <a:endParaRPr sz="105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1000" y="457200"/>
            <a:ext cx="533400" cy="5740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19800" y="2667000"/>
            <a:ext cx="1828800" cy="20284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2" ma:contentTypeDescription="Create a new document." ma:contentTypeScope="" ma:versionID="377713a6ec07779513477d2db2fdf306">
  <xsd:schema xmlns:xsd="http://www.w3.org/2001/XMLSchema" xmlns:xs="http://www.w3.org/2001/XMLSchema" xmlns:p="http://schemas.microsoft.com/office/2006/metadata/properties" xmlns:ns2="97fcc8e9-f7dc-4663-b115-0b99de842f01" targetNamespace="http://schemas.microsoft.com/office/2006/metadata/properties" ma:root="true" ma:fieldsID="6b5254e67f1be017f500236611855803" ns2:_="">
    <xsd:import namespace="97fcc8e9-f7dc-4663-b115-0b99de842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cc8e9-f7dc-4663-b115-0b99de842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9E6366-8A5F-4D62-AFF1-801066D3155F}"/>
</file>

<file path=customXml/itemProps2.xml><?xml version="1.0" encoding="utf-8"?>
<ds:datastoreItem xmlns:ds="http://schemas.openxmlformats.org/officeDocument/2006/customXml" ds:itemID="{06AB1792-F09E-4257-BFF9-14203420CECF}"/>
</file>

<file path=customXml/itemProps3.xml><?xml version="1.0" encoding="utf-8"?>
<ds:datastoreItem xmlns:ds="http://schemas.openxmlformats.org/officeDocument/2006/customXml" ds:itemID="{25213D27-594B-473A-98CE-2D2332A1A9D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2572</Words>
  <Application>Microsoft Office PowerPoint</Application>
  <PresentationFormat>On-screen Show (4:3)</PresentationFormat>
  <Paragraphs>916</Paragraphs>
  <Slides>64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Office Theme</vt:lpstr>
      <vt:lpstr>Slide 1</vt:lpstr>
      <vt:lpstr>Objectives</vt:lpstr>
      <vt:lpstr>Sorting</vt:lpstr>
      <vt:lpstr>Sorting techniques</vt:lpstr>
      <vt:lpstr>Selection sort</vt:lpstr>
      <vt:lpstr>General strategy</vt:lpstr>
      <vt:lpstr>General strategy contd---</vt:lpstr>
      <vt:lpstr>Eg: Sort a list of 6 elements from smallest to  largest</vt:lpstr>
      <vt:lpstr>Start by finding the smallest entry.</vt:lpstr>
      <vt:lpstr>Swap the smallest entry with the first entry.</vt:lpstr>
      <vt:lpstr>Slide 11</vt:lpstr>
      <vt:lpstr>Slide 12</vt:lpstr>
      <vt:lpstr>Now, find the smallest entry in the unsorted side.</vt:lpstr>
      <vt:lpstr>Swap this smallest entry with the front of the unsorted  side.</vt:lpstr>
      <vt:lpstr>We have increased the size of the sorted side by one</vt:lpstr>
      <vt:lpstr>Slide 16</vt:lpstr>
      <vt:lpstr>Slide 17</vt:lpstr>
      <vt:lpstr>Slide 18</vt:lpstr>
      <vt:lpstr>Slide 19</vt:lpstr>
      <vt:lpstr>Slide 20</vt:lpstr>
      <vt:lpstr>Slide 21</vt:lpstr>
      <vt:lpstr>Eg:The scan, select and swap process</vt:lpstr>
      <vt:lpstr>Slide 23</vt:lpstr>
      <vt:lpstr>Solution</vt:lpstr>
      <vt:lpstr>Sorted</vt:lpstr>
      <vt:lpstr>Slide 26</vt:lpstr>
      <vt:lpstr>Solution</vt:lpstr>
      <vt:lpstr>Selection sort algorithm</vt:lpstr>
      <vt:lpstr>Bubble Sort</vt:lpstr>
      <vt:lpstr>Bubble Sort 9, 6, 2, 12, 11, 9, 3, 7</vt:lpstr>
      <vt:lpstr>First Pass 6, 2, 9, 11, 9, 3, 7, 12</vt:lpstr>
      <vt:lpstr>First Pass 6,</vt:lpstr>
      <vt:lpstr>First Pass 6,</vt:lpstr>
      <vt:lpstr>First Pass 6, 2, 9, 11, 9, 3, 7, 12</vt:lpstr>
      <vt:lpstr>First Pass 6, 2, 9, 11, 9, 3, 7, 12</vt:lpstr>
      <vt:lpstr>Slide 36</vt:lpstr>
      <vt:lpstr>6, 2, 9, 12, 11, 9, 3, 7</vt:lpstr>
      <vt:lpstr>Bubble Sort contd--- 6, 2, 9, 11, 9, 3, 7, 12</vt:lpstr>
      <vt:lpstr>Bubble Sort : Second pass</vt:lpstr>
      <vt:lpstr>First Pass 6, 2, 9, 11, 9, 3, 7, 12</vt:lpstr>
      <vt:lpstr>Bubble Sort : Fourth pass</vt:lpstr>
      <vt:lpstr>Bubble Sort : Fifth pass First Pass 6, 2, 9, 11, 9, 3, 7, 12</vt:lpstr>
      <vt:lpstr>Bubble Sort : Sixth pass</vt:lpstr>
      <vt:lpstr>Slide 44</vt:lpstr>
      <vt:lpstr>Solution</vt:lpstr>
      <vt:lpstr>Pass 1</vt:lpstr>
      <vt:lpstr>Pass 2</vt:lpstr>
      <vt:lpstr>Pass 3</vt:lpstr>
      <vt:lpstr>Pass 4</vt:lpstr>
      <vt:lpstr>Pass 5</vt:lpstr>
      <vt:lpstr>Pass 6</vt:lpstr>
      <vt:lpstr>Pass 7</vt:lpstr>
      <vt:lpstr>Solution</vt:lpstr>
      <vt:lpstr>Solution contd ---</vt:lpstr>
      <vt:lpstr>Bubble sort algorithm</vt:lpstr>
      <vt:lpstr>Slide 56</vt:lpstr>
      <vt:lpstr>Slide 57</vt:lpstr>
      <vt:lpstr>Sort</vt:lpstr>
      <vt:lpstr>Sort</vt:lpstr>
      <vt:lpstr>Finding the Smallest Item</vt:lpstr>
      <vt:lpstr>Selection Sort</vt:lpstr>
      <vt:lpstr>Insertion Sort</vt:lpstr>
      <vt:lpstr>Insertion Sort</vt:lpstr>
      <vt:lpstr>What has been described?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ADMIN</cp:lastModifiedBy>
  <cp:revision>3</cp:revision>
  <dcterms:created xsi:type="dcterms:W3CDTF">2020-09-07T06:02:10Z</dcterms:created>
  <dcterms:modified xsi:type="dcterms:W3CDTF">2021-12-27T06:49:06Z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