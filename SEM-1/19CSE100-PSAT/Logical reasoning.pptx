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jpeg" ContentType="image/jpeg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57.xml" ContentType="application/vnd.openxmlformats-officedocument.presentationml.slide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6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customXml" Target="../customXml/item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10/18/2021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10/18/2021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10/18/2021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2"/>
                </a:lnTo>
                <a:lnTo>
                  <a:pt x="8959784" y="6543131"/>
                </a:lnTo>
                <a:lnTo>
                  <a:pt x="8932012" y="6579938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3"/>
                </a:lnTo>
                <a:lnTo>
                  <a:pt x="8778290" y="6679439"/>
                </a:lnTo>
                <a:lnTo>
                  <a:pt x="8731751" y="6689830"/>
                </a:lnTo>
                <a:lnTo>
                  <a:pt x="8682990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18869" y="350265"/>
            <a:ext cx="690626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39" y="2486126"/>
            <a:ext cx="8072120" cy="2785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531" y="70103"/>
            <a:ext cx="9012936" cy="66918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531" y="70103"/>
            <a:ext cx="9013190" cy="6692265"/>
          </a:xfrm>
          <a:custGeom>
            <a:avLst/>
            <a:gdLst/>
            <a:ahLst/>
            <a:cxnLst/>
            <a:rect l="l" t="t" r="r" b="b"/>
            <a:pathLst>
              <a:path w="9013190" h="6692265">
                <a:moveTo>
                  <a:pt x="0" y="329819"/>
                </a:moveTo>
                <a:lnTo>
                  <a:pt x="3576" y="281088"/>
                </a:lnTo>
                <a:lnTo>
                  <a:pt x="13965" y="234576"/>
                </a:lnTo>
                <a:lnTo>
                  <a:pt x="30656" y="190791"/>
                </a:lnTo>
                <a:lnTo>
                  <a:pt x="53139" y="150245"/>
                </a:lnTo>
                <a:lnTo>
                  <a:pt x="80905" y="113448"/>
                </a:lnTo>
                <a:lnTo>
                  <a:pt x="113441" y="80911"/>
                </a:lnTo>
                <a:lnTo>
                  <a:pt x="150240" y="53144"/>
                </a:lnTo>
                <a:lnTo>
                  <a:pt x="190789" y="30660"/>
                </a:lnTo>
                <a:lnTo>
                  <a:pt x="234580" y="13967"/>
                </a:lnTo>
                <a:lnTo>
                  <a:pt x="281102" y="3576"/>
                </a:lnTo>
                <a:lnTo>
                  <a:pt x="329844" y="0"/>
                </a:lnTo>
                <a:lnTo>
                  <a:pt x="8683117" y="0"/>
                </a:lnTo>
                <a:lnTo>
                  <a:pt x="8731847" y="3576"/>
                </a:lnTo>
                <a:lnTo>
                  <a:pt x="8778359" y="13967"/>
                </a:lnTo>
                <a:lnTo>
                  <a:pt x="8822144" y="30660"/>
                </a:lnTo>
                <a:lnTo>
                  <a:pt x="8862690" y="53144"/>
                </a:lnTo>
                <a:lnTo>
                  <a:pt x="8899487" y="80911"/>
                </a:lnTo>
                <a:lnTo>
                  <a:pt x="8932024" y="113448"/>
                </a:lnTo>
                <a:lnTo>
                  <a:pt x="8959791" y="150245"/>
                </a:lnTo>
                <a:lnTo>
                  <a:pt x="8982275" y="190791"/>
                </a:lnTo>
                <a:lnTo>
                  <a:pt x="8998968" y="234576"/>
                </a:lnTo>
                <a:lnTo>
                  <a:pt x="9009359" y="281088"/>
                </a:lnTo>
                <a:lnTo>
                  <a:pt x="9012936" y="329819"/>
                </a:lnTo>
                <a:lnTo>
                  <a:pt x="9012936" y="6362026"/>
                </a:lnTo>
                <a:lnTo>
                  <a:pt x="9009359" y="6410769"/>
                </a:lnTo>
                <a:lnTo>
                  <a:pt x="8998968" y="6457290"/>
                </a:lnTo>
                <a:lnTo>
                  <a:pt x="8982275" y="6501081"/>
                </a:lnTo>
                <a:lnTo>
                  <a:pt x="8959791" y="6541631"/>
                </a:lnTo>
                <a:lnTo>
                  <a:pt x="8932024" y="6578430"/>
                </a:lnTo>
                <a:lnTo>
                  <a:pt x="8899487" y="6610967"/>
                </a:lnTo>
                <a:lnTo>
                  <a:pt x="8862690" y="6638733"/>
                </a:lnTo>
                <a:lnTo>
                  <a:pt x="8822144" y="6661216"/>
                </a:lnTo>
                <a:lnTo>
                  <a:pt x="8778359" y="6677908"/>
                </a:lnTo>
                <a:lnTo>
                  <a:pt x="8731847" y="6688297"/>
                </a:lnTo>
                <a:lnTo>
                  <a:pt x="8683117" y="6691873"/>
                </a:lnTo>
                <a:lnTo>
                  <a:pt x="329844" y="6691873"/>
                </a:lnTo>
                <a:lnTo>
                  <a:pt x="281102" y="6688297"/>
                </a:lnTo>
                <a:lnTo>
                  <a:pt x="234580" y="6677908"/>
                </a:lnTo>
                <a:lnTo>
                  <a:pt x="190789" y="6661216"/>
                </a:lnTo>
                <a:lnTo>
                  <a:pt x="150240" y="6638733"/>
                </a:lnTo>
                <a:lnTo>
                  <a:pt x="113441" y="6610967"/>
                </a:lnTo>
                <a:lnTo>
                  <a:pt x="80905" y="6578430"/>
                </a:lnTo>
                <a:lnTo>
                  <a:pt x="53139" y="6541631"/>
                </a:lnTo>
                <a:lnTo>
                  <a:pt x="30656" y="6501081"/>
                </a:lnTo>
                <a:lnTo>
                  <a:pt x="13965" y="6457290"/>
                </a:lnTo>
                <a:lnTo>
                  <a:pt x="3576" y="6410769"/>
                </a:lnTo>
                <a:lnTo>
                  <a:pt x="0" y="6362026"/>
                </a:lnTo>
                <a:lnTo>
                  <a:pt x="0" y="329819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484" y="1395983"/>
            <a:ext cx="9022080" cy="121920"/>
          </a:xfrm>
          <a:custGeom>
            <a:avLst/>
            <a:gdLst/>
            <a:ahLst/>
            <a:cxnLst/>
            <a:rect l="l" t="t" r="r" b="b"/>
            <a:pathLst>
              <a:path w="9022080" h="121919">
                <a:moveTo>
                  <a:pt x="0" y="121920"/>
                </a:moveTo>
                <a:lnTo>
                  <a:pt x="9022080" y="121920"/>
                </a:lnTo>
                <a:lnTo>
                  <a:pt x="9022080" y="0"/>
                </a:lnTo>
                <a:lnTo>
                  <a:pt x="0" y="0"/>
                </a:lnTo>
                <a:lnTo>
                  <a:pt x="0" y="121920"/>
                </a:lnTo>
                <a:close/>
              </a:path>
            </a:pathLst>
          </a:custGeom>
          <a:solidFill>
            <a:srgbClr val="E6B0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484" y="2976372"/>
            <a:ext cx="9022080" cy="111760"/>
          </a:xfrm>
          <a:custGeom>
            <a:avLst/>
            <a:gdLst/>
            <a:ahLst/>
            <a:cxnLst/>
            <a:rect l="l" t="t" r="r" b="b"/>
            <a:pathLst>
              <a:path w="9022080" h="111760">
                <a:moveTo>
                  <a:pt x="0" y="111251"/>
                </a:moveTo>
                <a:lnTo>
                  <a:pt x="9022080" y="111251"/>
                </a:lnTo>
                <a:lnTo>
                  <a:pt x="9022080" y="0"/>
                </a:lnTo>
                <a:lnTo>
                  <a:pt x="0" y="0"/>
                </a:lnTo>
                <a:lnTo>
                  <a:pt x="0" y="111251"/>
                </a:lnTo>
                <a:close/>
              </a:path>
            </a:pathLst>
          </a:custGeom>
          <a:solidFill>
            <a:srgbClr val="9184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2400" y="6477000"/>
            <a:ext cx="457200" cy="266700"/>
          </a:xfrm>
          <a:custGeom>
            <a:avLst/>
            <a:gdLst/>
            <a:ahLst/>
            <a:cxnLst/>
            <a:rect l="l" t="t" r="r" b="b"/>
            <a:pathLst>
              <a:path w="457200" h="266700">
                <a:moveTo>
                  <a:pt x="228600" y="0"/>
                </a:moveTo>
                <a:lnTo>
                  <a:pt x="167829" y="4763"/>
                </a:lnTo>
                <a:lnTo>
                  <a:pt x="113221" y="18206"/>
                </a:lnTo>
                <a:lnTo>
                  <a:pt x="66955" y="39057"/>
                </a:lnTo>
                <a:lnTo>
                  <a:pt x="31210" y="66045"/>
                </a:lnTo>
                <a:lnTo>
                  <a:pt x="8165" y="97900"/>
                </a:lnTo>
                <a:lnTo>
                  <a:pt x="0" y="133350"/>
                </a:lnTo>
                <a:lnTo>
                  <a:pt x="8165" y="168799"/>
                </a:lnTo>
                <a:lnTo>
                  <a:pt x="31210" y="200654"/>
                </a:lnTo>
                <a:lnTo>
                  <a:pt x="66955" y="227642"/>
                </a:lnTo>
                <a:lnTo>
                  <a:pt x="113221" y="248492"/>
                </a:lnTo>
                <a:lnTo>
                  <a:pt x="167829" y="261935"/>
                </a:lnTo>
                <a:lnTo>
                  <a:pt x="228600" y="266698"/>
                </a:lnTo>
                <a:lnTo>
                  <a:pt x="289370" y="261935"/>
                </a:lnTo>
                <a:lnTo>
                  <a:pt x="343978" y="248492"/>
                </a:lnTo>
                <a:lnTo>
                  <a:pt x="390244" y="227642"/>
                </a:lnTo>
                <a:lnTo>
                  <a:pt x="425989" y="200654"/>
                </a:lnTo>
                <a:lnTo>
                  <a:pt x="449034" y="168799"/>
                </a:lnTo>
                <a:lnTo>
                  <a:pt x="457200" y="133350"/>
                </a:lnTo>
                <a:lnTo>
                  <a:pt x="449034" y="97900"/>
                </a:lnTo>
                <a:lnTo>
                  <a:pt x="425989" y="66045"/>
                </a:lnTo>
                <a:lnTo>
                  <a:pt x="390244" y="39057"/>
                </a:lnTo>
                <a:lnTo>
                  <a:pt x="343978" y="18206"/>
                </a:lnTo>
                <a:lnTo>
                  <a:pt x="289370" y="4763"/>
                </a:lnTo>
                <a:lnTo>
                  <a:pt x="228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35381" y="6495084"/>
            <a:ext cx="901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Perpetua"/>
                <a:cs typeface="Perpetua"/>
              </a:rPr>
              <a:t>1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484" y="1517903"/>
            <a:ext cx="9022080" cy="677108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spc="10" dirty="0" smtClean="0">
                <a:latin typeface="Perpetua"/>
                <a:cs typeface="Perpetua"/>
              </a:rPr>
              <a:t>Logical</a:t>
            </a:r>
            <a:r>
              <a:rPr sz="4400" spc="-5" dirty="0" smtClean="0">
                <a:latin typeface="Perpetua"/>
                <a:cs typeface="Perpetua"/>
              </a:rPr>
              <a:t> </a:t>
            </a:r>
            <a:r>
              <a:rPr sz="4400" spc="-5" dirty="0">
                <a:latin typeface="Perpetua"/>
                <a:cs typeface="Perpetua"/>
              </a:rPr>
              <a:t>reasoning</a:t>
            </a:r>
            <a:endParaRPr sz="4400" dirty="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57886"/>
            <a:ext cx="409447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A Restaurant</a:t>
            </a:r>
            <a:r>
              <a:rPr sz="4000" spc="-60" dirty="0"/>
              <a:t> </a:t>
            </a:r>
            <a:r>
              <a:rPr sz="4000" spc="5" dirty="0"/>
              <a:t>Scenario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07340" y="1176274"/>
            <a:ext cx="8443595" cy="537400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6385" marR="204470" indent="-274320">
              <a:lnSpc>
                <a:spcPts val="2810"/>
              </a:lnSpc>
              <a:spcBef>
                <a:spcPts val="45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In a </a:t>
            </a:r>
            <a:r>
              <a:rPr sz="2600" spc="-5" dirty="0">
                <a:latin typeface="Perpetua"/>
                <a:cs typeface="Perpetua"/>
              </a:rPr>
              <a:t>restaurant, </a:t>
            </a:r>
            <a:r>
              <a:rPr sz="2600" spc="-15" dirty="0">
                <a:latin typeface="Perpetua"/>
                <a:cs typeface="Perpetua"/>
              </a:rPr>
              <a:t>your Father </a:t>
            </a:r>
            <a:r>
              <a:rPr sz="2600" dirty="0">
                <a:latin typeface="Perpetua"/>
                <a:cs typeface="Perpetua"/>
              </a:rPr>
              <a:t>has </a:t>
            </a:r>
            <a:r>
              <a:rPr sz="2600" spc="-5" dirty="0">
                <a:latin typeface="Perpetua"/>
                <a:cs typeface="Perpetua"/>
              </a:rPr>
              <a:t>ordered </a:t>
            </a:r>
            <a:r>
              <a:rPr sz="2600" dirty="0" smtClean="0">
                <a:latin typeface="Perpetua"/>
                <a:cs typeface="Perpetua"/>
              </a:rPr>
              <a:t>Fish, </a:t>
            </a:r>
            <a:r>
              <a:rPr sz="2600" spc="-15" dirty="0">
                <a:latin typeface="Perpetua"/>
                <a:cs typeface="Perpetua"/>
              </a:rPr>
              <a:t>your </a:t>
            </a:r>
            <a:r>
              <a:rPr sz="2600" dirty="0">
                <a:latin typeface="Perpetua"/>
                <a:cs typeface="Perpetua"/>
              </a:rPr>
              <a:t>Mother</a:t>
            </a:r>
            <a:r>
              <a:rPr sz="2600" spc="-22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ordered  </a:t>
            </a:r>
            <a:r>
              <a:rPr sz="2600" spc="-25" dirty="0" smtClean="0">
                <a:latin typeface="Perpetua"/>
                <a:cs typeface="Perpetua"/>
              </a:rPr>
              <a:t>Vegetarian,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5" dirty="0">
                <a:latin typeface="Perpetua"/>
                <a:cs typeface="Perpetua"/>
              </a:rPr>
              <a:t>ordered</a:t>
            </a:r>
            <a:r>
              <a:rPr sz="2600" spc="-95" dirty="0">
                <a:latin typeface="Perpetua"/>
                <a:cs typeface="Perpetua"/>
              </a:rPr>
              <a:t> </a:t>
            </a:r>
            <a:r>
              <a:rPr sz="2600" spc="-10" dirty="0" smtClean="0">
                <a:latin typeface="Perpetua"/>
                <a:cs typeface="Perpetua"/>
              </a:rPr>
              <a:t>Meat.</a:t>
            </a:r>
            <a:endParaRPr sz="2600" dirty="0">
              <a:latin typeface="Perpetua"/>
              <a:cs typeface="Perpetua"/>
            </a:endParaRPr>
          </a:p>
          <a:p>
            <a:pPr marL="286385" marR="673735" indent="-274320">
              <a:lnSpc>
                <a:spcPts val="281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361315" algn="l"/>
                <a:tab pos="361950" algn="l"/>
              </a:tabLst>
            </a:pPr>
            <a:r>
              <a:rPr dirty="0"/>
              <a:t>	</a:t>
            </a:r>
            <a:r>
              <a:rPr sz="2600" dirty="0">
                <a:latin typeface="Perpetua"/>
                <a:cs typeface="Perpetua"/>
              </a:rPr>
              <a:t>Out of the </a:t>
            </a:r>
            <a:r>
              <a:rPr sz="2600" spc="5" dirty="0">
                <a:latin typeface="Perpetua"/>
                <a:cs typeface="Perpetua"/>
              </a:rPr>
              <a:t>kitchen </a:t>
            </a:r>
            <a:r>
              <a:rPr sz="2600" spc="-5" dirty="0">
                <a:latin typeface="Perpetua"/>
                <a:cs typeface="Perpetua"/>
              </a:rPr>
              <a:t>comes </a:t>
            </a:r>
            <a:r>
              <a:rPr sz="2600" dirty="0">
                <a:latin typeface="Perpetua"/>
                <a:cs typeface="Perpetua"/>
              </a:rPr>
              <a:t>some </a:t>
            </a:r>
            <a:r>
              <a:rPr sz="2600" spc="-15" dirty="0">
                <a:latin typeface="Perpetua"/>
                <a:cs typeface="Perpetua"/>
              </a:rPr>
              <a:t>new </a:t>
            </a:r>
            <a:r>
              <a:rPr sz="2600" spc="5" dirty="0">
                <a:latin typeface="Perpetua"/>
                <a:cs typeface="Perpetua"/>
              </a:rPr>
              <a:t>person carrying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three  </a:t>
            </a:r>
            <a:r>
              <a:rPr sz="2600" spc="-15" dirty="0">
                <a:latin typeface="Perpetua"/>
                <a:cs typeface="Perpetua"/>
              </a:rPr>
              <a:t>plates.</a:t>
            </a:r>
            <a:endParaRPr sz="2600" dirty="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44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What </a:t>
            </a:r>
            <a:r>
              <a:rPr sz="2600" i="1" dirty="0">
                <a:latin typeface="Perpetua"/>
                <a:cs typeface="Perpetua"/>
              </a:rPr>
              <a:t>will</a:t>
            </a:r>
            <a:r>
              <a:rPr sz="2600" i="1" spc="-1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happen</a:t>
            </a:r>
            <a:r>
              <a:rPr sz="2600" spc="-5" dirty="0">
                <a:latin typeface="Perpetua"/>
                <a:cs typeface="Perpetua"/>
              </a:rPr>
              <a:t>?</a:t>
            </a:r>
            <a:endParaRPr sz="2600" dirty="0">
              <a:latin typeface="Perpetua"/>
              <a:cs typeface="Perpetua"/>
            </a:endParaRPr>
          </a:p>
          <a:p>
            <a:pPr marL="561340" marR="5080" lvl="1" indent="-228600">
              <a:lnSpc>
                <a:spcPts val="2810"/>
              </a:lnSpc>
              <a:spcBef>
                <a:spcPts val="434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waiter </a:t>
            </a:r>
            <a:r>
              <a:rPr sz="2600" dirty="0">
                <a:latin typeface="Perpetua"/>
                <a:cs typeface="Perpetua"/>
              </a:rPr>
              <a:t>asks a </a:t>
            </a:r>
            <a:r>
              <a:rPr sz="2600" spc="10" dirty="0">
                <a:latin typeface="Perpetua"/>
                <a:cs typeface="Perpetua"/>
              </a:rPr>
              <a:t>first </a:t>
            </a:r>
            <a:r>
              <a:rPr sz="2600" dirty="0">
                <a:latin typeface="Perpetua"/>
                <a:cs typeface="Perpetua"/>
              </a:rPr>
              <a:t>question, </a:t>
            </a:r>
            <a:r>
              <a:rPr sz="2600" spc="-35" dirty="0">
                <a:latin typeface="Perpetua"/>
                <a:cs typeface="Perpetua"/>
              </a:rPr>
              <a:t>say </a:t>
            </a:r>
            <a:r>
              <a:rPr sz="2600" dirty="0">
                <a:latin typeface="Perpetua"/>
                <a:cs typeface="Perpetua"/>
              </a:rPr>
              <a:t>“Who </a:t>
            </a:r>
            <a:r>
              <a:rPr sz="2600" spc="-5" dirty="0">
                <a:latin typeface="Perpetua"/>
                <a:cs typeface="Perpetua"/>
              </a:rPr>
              <a:t>ordered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 smtClean="0">
                <a:latin typeface="Perpetua"/>
                <a:cs typeface="Perpetua"/>
              </a:rPr>
              <a:t>meat?”,</a:t>
            </a:r>
            <a:r>
              <a:rPr sz="2600" spc="-350" dirty="0" smtClean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and  </a:t>
            </a:r>
            <a:r>
              <a:rPr sz="2600" dirty="0">
                <a:latin typeface="Perpetua"/>
                <a:cs typeface="Perpetua"/>
              </a:rPr>
              <a:t>puts </a:t>
            </a:r>
            <a:r>
              <a:rPr sz="2600" spc="-5" dirty="0">
                <a:latin typeface="Perpetua"/>
                <a:cs typeface="Perpetua"/>
              </a:rPr>
              <a:t>that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plate.</a:t>
            </a:r>
            <a:endParaRPr sz="2600" dirty="0">
              <a:latin typeface="Perpetua"/>
              <a:cs typeface="Perpetua"/>
            </a:endParaRPr>
          </a:p>
          <a:p>
            <a:pPr marL="561340" marR="157480" lvl="1" indent="-228600">
              <a:lnSpc>
                <a:spcPts val="2810"/>
              </a:lnSpc>
              <a:spcBef>
                <a:spcPts val="39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Then he </a:t>
            </a:r>
            <a:r>
              <a:rPr sz="2600" spc="-5" dirty="0">
                <a:latin typeface="Perpetua"/>
                <a:cs typeface="Perpetua"/>
              </a:rPr>
              <a:t>asks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second </a:t>
            </a:r>
            <a:r>
              <a:rPr sz="2600" dirty="0">
                <a:latin typeface="Perpetua"/>
                <a:cs typeface="Perpetua"/>
              </a:rPr>
              <a:t>question “Who has the </a:t>
            </a:r>
            <a:r>
              <a:rPr sz="2600" spc="-5" dirty="0" smtClean="0">
                <a:latin typeface="Perpetua"/>
                <a:cs typeface="Perpetua"/>
              </a:rPr>
              <a:t>fish?”, </a:t>
            </a:r>
            <a:r>
              <a:rPr sz="2600" spc="-5" dirty="0">
                <a:latin typeface="Perpetua"/>
                <a:cs typeface="Perpetua"/>
              </a:rPr>
              <a:t>and puts</a:t>
            </a:r>
            <a:r>
              <a:rPr sz="2600" spc="-25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that  </a:t>
            </a:r>
            <a:r>
              <a:rPr sz="2600" spc="-15" dirty="0">
                <a:latin typeface="Perpetua"/>
                <a:cs typeface="Perpetua"/>
              </a:rPr>
              <a:t>plate.</a:t>
            </a:r>
            <a:endParaRPr sz="2600" dirty="0">
              <a:latin typeface="Perpetua"/>
              <a:cs typeface="Perpetua"/>
            </a:endParaRPr>
          </a:p>
          <a:p>
            <a:pPr marL="561340" marR="665480" lvl="1" indent="-228600">
              <a:lnSpc>
                <a:spcPts val="281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latin typeface="Perpetua"/>
                <a:cs typeface="Perpetua"/>
              </a:rPr>
              <a:t>And then, </a:t>
            </a:r>
            <a:r>
              <a:rPr sz="2600" dirty="0">
                <a:latin typeface="Perpetua"/>
                <a:cs typeface="Perpetua"/>
              </a:rPr>
              <a:t>without </a:t>
            </a:r>
            <a:r>
              <a:rPr sz="2600" spc="-5" dirty="0">
                <a:latin typeface="Perpetua"/>
                <a:cs typeface="Perpetua"/>
              </a:rPr>
              <a:t>asking </a:t>
            </a:r>
            <a:r>
              <a:rPr sz="2600" spc="-20" dirty="0">
                <a:latin typeface="Perpetua"/>
                <a:cs typeface="Perpetua"/>
              </a:rPr>
              <a:t>further, </a:t>
            </a:r>
            <a:r>
              <a:rPr sz="2600" dirty="0">
                <a:latin typeface="Perpetua"/>
                <a:cs typeface="Perpetua"/>
              </a:rPr>
              <a:t>he </a:t>
            </a:r>
            <a:r>
              <a:rPr sz="2600" spc="-15" dirty="0">
                <a:latin typeface="Perpetua"/>
                <a:cs typeface="Perpetua"/>
              </a:rPr>
              <a:t>knows </a:t>
            </a:r>
            <a:r>
              <a:rPr sz="2600" dirty="0">
                <a:latin typeface="Perpetua"/>
                <a:cs typeface="Perpetua"/>
              </a:rPr>
              <a:t>he has to </a:t>
            </a:r>
            <a:r>
              <a:rPr sz="2600" spc="-5" dirty="0">
                <a:latin typeface="Perpetua"/>
                <a:cs typeface="Perpetua"/>
              </a:rPr>
              <a:t>put</a:t>
            </a:r>
            <a:r>
              <a:rPr sz="2600" spc="-2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  </a:t>
            </a:r>
            <a:r>
              <a:rPr sz="2600" spc="-5" dirty="0">
                <a:latin typeface="Perpetua"/>
                <a:cs typeface="Perpetua"/>
              </a:rPr>
              <a:t>remaining plate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10" dirty="0">
                <a:latin typeface="Perpetua"/>
                <a:cs typeface="Perpetua"/>
              </a:rPr>
              <a:t>front </a:t>
            </a:r>
            <a:r>
              <a:rPr sz="2600" dirty="0">
                <a:latin typeface="Perpetua"/>
                <a:cs typeface="Perpetua"/>
              </a:rPr>
              <a:t>of </a:t>
            </a:r>
            <a:r>
              <a:rPr sz="2600" spc="-15" dirty="0">
                <a:latin typeface="Perpetua"/>
                <a:cs typeface="Perpetua"/>
              </a:rPr>
              <a:t>your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35" dirty="0">
                <a:latin typeface="Perpetua"/>
                <a:cs typeface="Perpetua"/>
              </a:rPr>
              <a:t>Mother.</a:t>
            </a:r>
            <a:endParaRPr sz="2600" dirty="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buFont typeface="Arial"/>
              <a:buChar char="•"/>
            </a:pPr>
            <a:endParaRPr sz="3700" dirty="0">
              <a:latin typeface="Times New Roman"/>
              <a:cs typeface="Times New Roman"/>
            </a:endParaRPr>
          </a:p>
          <a:p>
            <a:pPr marL="4428490" lvl="2" indent="-300990">
              <a:lnSpc>
                <a:spcPct val="100000"/>
              </a:lnSpc>
              <a:buSzPct val="96666"/>
              <a:buFont typeface="Wingdings"/>
              <a:buChar char=""/>
              <a:tabLst>
                <a:tab pos="4429125" algn="l"/>
              </a:tabLst>
            </a:pPr>
            <a:r>
              <a:rPr sz="3000" i="1" spc="-10" dirty="0">
                <a:solidFill>
                  <a:srgbClr val="C00000"/>
                </a:solidFill>
                <a:latin typeface="Perpetua"/>
                <a:cs typeface="Perpetua"/>
              </a:rPr>
              <a:t>What </a:t>
            </a:r>
            <a:r>
              <a:rPr sz="3000" i="1" dirty="0">
                <a:solidFill>
                  <a:srgbClr val="C00000"/>
                </a:solidFill>
                <a:latin typeface="Perpetua"/>
                <a:cs typeface="Perpetua"/>
              </a:rPr>
              <a:t>has </a:t>
            </a:r>
            <a:r>
              <a:rPr sz="3000" i="1" spc="-5" dirty="0">
                <a:solidFill>
                  <a:srgbClr val="C00000"/>
                </a:solidFill>
                <a:latin typeface="Perpetua"/>
                <a:cs typeface="Perpetua"/>
              </a:rPr>
              <a:t>happened </a:t>
            </a:r>
            <a:r>
              <a:rPr sz="3000" i="1" spc="-10" dirty="0">
                <a:solidFill>
                  <a:srgbClr val="C00000"/>
                </a:solidFill>
                <a:latin typeface="Perpetua"/>
                <a:cs typeface="Perpetua"/>
              </a:rPr>
              <a:t>here</a:t>
            </a:r>
            <a:r>
              <a:rPr sz="3000" spc="-10" dirty="0">
                <a:solidFill>
                  <a:srgbClr val="C00000"/>
                </a:solidFill>
                <a:latin typeface="Perpetua"/>
                <a:cs typeface="Perpetua"/>
              </a:rPr>
              <a:t>?</a:t>
            </a:r>
            <a:r>
              <a:rPr sz="3000" spc="1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3500" i="1" dirty="0">
                <a:latin typeface="Perpetua"/>
                <a:cs typeface="Perpetua"/>
              </a:rPr>
              <a:t>…</a:t>
            </a:r>
            <a:endParaRPr sz="3500" dirty="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335026"/>
            <a:ext cx="54019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How </a:t>
            </a:r>
            <a:r>
              <a:rPr spc="-15" dirty="0"/>
              <a:t>was </a:t>
            </a:r>
            <a:r>
              <a:rPr dirty="0"/>
              <a:t>the </a:t>
            </a:r>
            <a:r>
              <a:rPr i="1" spc="-5" dirty="0">
                <a:latin typeface="Perpetua"/>
                <a:cs typeface="Perpetua"/>
              </a:rPr>
              <a:t>Conclusion</a:t>
            </a:r>
            <a:r>
              <a:rPr i="1" spc="-15" dirty="0">
                <a:latin typeface="Perpetua"/>
                <a:cs typeface="Perpetua"/>
              </a:rPr>
              <a:t> </a:t>
            </a:r>
            <a:r>
              <a:rPr dirty="0"/>
              <a:t>reached?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281430"/>
            <a:ext cx="8075930" cy="4420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5367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10" dirty="0">
                <a:latin typeface="Perpetua"/>
                <a:cs typeface="Perpetua"/>
              </a:rPr>
              <a:t>Starting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end, </a:t>
            </a:r>
            <a:r>
              <a:rPr sz="2600" dirty="0">
                <a:latin typeface="Perpetua"/>
                <a:cs typeface="Perpetua"/>
              </a:rPr>
              <a:t>when the </a:t>
            </a:r>
            <a:r>
              <a:rPr sz="2600" spc="-10" dirty="0">
                <a:latin typeface="Perpetua"/>
                <a:cs typeface="Perpetua"/>
              </a:rPr>
              <a:t>waiter </a:t>
            </a:r>
            <a:r>
              <a:rPr sz="2600" spc="-5" dirty="0">
                <a:latin typeface="Perpetua"/>
                <a:cs typeface="Perpetua"/>
              </a:rPr>
              <a:t>puts </a:t>
            </a:r>
            <a:r>
              <a:rPr sz="2600" dirty="0">
                <a:latin typeface="Perpetua"/>
                <a:cs typeface="Perpetua"/>
              </a:rPr>
              <a:t>the third </a:t>
            </a:r>
            <a:r>
              <a:rPr sz="2600" spc="-10" dirty="0">
                <a:latin typeface="Perpetua"/>
                <a:cs typeface="Perpetua"/>
              </a:rPr>
              <a:t>plate</a:t>
            </a:r>
            <a:r>
              <a:rPr sz="2600" spc="-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without  </a:t>
            </a:r>
            <a:r>
              <a:rPr sz="2600" spc="-10" dirty="0">
                <a:latin typeface="Perpetua"/>
                <a:cs typeface="Perpetua"/>
              </a:rPr>
              <a:t>asking,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dirty="0">
                <a:latin typeface="Perpetua"/>
                <a:cs typeface="Perpetua"/>
              </a:rPr>
              <a:t>see a </a:t>
            </a:r>
            <a:r>
              <a:rPr sz="2600" spc="-5" dirty="0">
                <a:latin typeface="Perpetua"/>
                <a:cs typeface="Perpetua"/>
              </a:rPr>
              <a:t>major </a:t>
            </a:r>
            <a:r>
              <a:rPr sz="2600" dirty="0">
                <a:latin typeface="Perpetua"/>
                <a:cs typeface="Perpetua"/>
              </a:rPr>
              <a:t>logical</a:t>
            </a:r>
            <a:r>
              <a:rPr sz="2600" spc="-8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act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600" dirty="0">
                <a:latin typeface="Perpetua"/>
                <a:cs typeface="Perpetua"/>
              </a:rPr>
              <a:t>The information in the </a:t>
            </a:r>
            <a:r>
              <a:rPr sz="2600" spc="-35" dirty="0">
                <a:latin typeface="Perpetua"/>
                <a:cs typeface="Perpetua"/>
              </a:rPr>
              <a:t>two </a:t>
            </a:r>
            <a:r>
              <a:rPr sz="2600" spc="-15" dirty="0">
                <a:latin typeface="Perpetua"/>
                <a:cs typeface="Perpetua"/>
              </a:rPr>
              <a:t>answers </a:t>
            </a:r>
            <a:r>
              <a:rPr sz="2600" spc="-10" dirty="0">
                <a:latin typeface="Perpetua"/>
                <a:cs typeface="Perpetua"/>
              </a:rPr>
              <a:t>received </a:t>
            </a:r>
            <a:r>
              <a:rPr sz="2600" spc="-20" dirty="0">
                <a:latin typeface="Perpetua"/>
                <a:cs typeface="Perpetua"/>
              </a:rPr>
              <a:t>allows </a:t>
            </a:r>
            <a:r>
              <a:rPr sz="2600" spc="-5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waiter </a:t>
            </a:r>
            <a:r>
              <a:rPr sz="2600" dirty="0">
                <a:latin typeface="Perpetua"/>
                <a:cs typeface="Perpetua"/>
              </a:rPr>
              <a:t>to  infer </a:t>
            </a:r>
            <a:r>
              <a:rPr sz="2600" spc="-10" dirty="0">
                <a:latin typeface="Perpetua"/>
                <a:cs typeface="Perpetua"/>
              </a:rPr>
              <a:t>automatically </a:t>
            </a:r>
            <a:r>
              <a:rPr sz="2600" spc="-5" dirty="0">
                <a:latin typeface="Perpetua"/>
                <a:cs typeface="Perpetua"/>
              </a:rPr>
              <a:t>where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third </a:t>
            </a:r>
            <a:r>
              <a:rPr sz="2600" dirty="0">
                <a:latin typeface="Perpetua"/>
                <a:cs typeface="Perpetua"/>
              </a:rPr>
              <a:t>dish </a:t>
            </a:r>
            <a:r>
              <a:rPr sz="2600" spc="-5" dirty="0">
                <a:latin typeface="Perpetua"/>
                <a:cs typeface="Perpetua"/>
              </a:rPr>
              <a:t>must </a:t>
            </a:r>
            <a:r>
              <a:rPr sz="2600" spc="-50" dirty="0">
                <a:latin typeface="Perpetua"/>
                <a:cs typeface="Perpetua"/>
              </a:rPr>
              <a:t>go.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waiter </a:t>
            </a:r>
            <a:r>
              <a:rPr sz="2600" spc="-20" dirty="0">
                <a:latin typeface="Perpetua"/>
                <a:cs typeface="Perpetua"/>
              </a:rPr>
              <a:t>draws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conclusion.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45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represent </a:t>
            </a:r>
            <a:r>
              <a:rPr sz="2600" dirty="0">
                <a:latin typeface="Perpetua"/>
                <a:cs typeface="Perpetua"/>
              </a:rPr>
              <a:t>this in </a:t>
            </a:r>
            <a:r>
              <a:rPr sz="2600" spc="-5" dirty="0">
                <a:latin typeface="Perpetua"/>
                <a:cs typeface="Perpetua"/>
              </a:rPr>
              <a:t>an inference </a:t>
            </a:r>
            <a:r>
              <a:rPr sz="2600" spc="5" dirty="0">
                <a:latin typeface="Perpetua"/>
                <a:cs typeface="Perpetua"/>
              </a:rPr>
              <a:t>schema </a:t>
            </a:r>
            <a:r>
              <a:rPr sz="2600" dirty="0">
                <a:latin typeface="Perpetua"/>
                <a:cs typeface="Perpetua"/>
              </a:rPr>
              <a:t>with some</a:t>
            </a:r>
            <a:r>
              <a:rPr sz="2600" spc="-35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notation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(F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“fish”, M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spc="15" dirty="0">
                <a:latin typeface="Perpetua"/>
                <a:cs typeface="Perpetua"/>
              </a:rPr>
              <a:t>“meat”,V </a:t>
            </a:r>
            <a:r>
              <a:rPr sz="2600" dirty="0">
                <a:latin typeface="Perpetua"/>
                <a:cs typeface="Perpetua"/>
              </a:rPr>
              <a:t>for</a:t>
            </a:r>
            <a:r>
              <a:rPr sz="2600" spc="-44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“vegetarian”)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F or V or</a:t>
            </a:r>
            <a:r>
              <a:rPr sz="2600" spc="-3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not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not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1180" y="5737352"/>
            <a:ext cx="88836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5595" indent="-303530">
              <a:lnSpc>
                <a:spcPct val="100000"/>
              </a:lnSpc>
              <a:spcBef>
                <a:spcPts val="100"/>
              </a:spcBef>
              <a:buSzPct val="84615"/>
              <a:buFont typeface="Arial"/>
              <a:buChar char="•"/>
              <a:tabLst>
                <a:tab pos="315595" algn="l"/>
                <a:tab pos="316230" algn="l"/>
              </a:tabLst>
            </a:pPr>
            <a:r>
              <a:rPr sz="2600" spc="250" dirty="0">
                <a:latin typeface="Times New Roman"/>
                <a:cs typeface="Times New Roman"/>
              </a:rPr>
              <a:t>→</a:t>
            </a:r>
            <a:r>
              <a:rPr sz="2600" dirty="0">
                <a:latin typeface="Perpetua"/>
                <a:cs typeface="Perpetua"/>
              </a:rPr>
              <a:t>V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3594" y="5990335"/>
            <a:ext cx="6163945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2585" indent="-350520">
              <a:lnSpc>
                <a:spcPct val="100000"/>
              </a:lnSpc>
              <a:spcBef>
                <a:spcPts val="100"/>
              </a:spcBef>
              <a:buSzPct val="97142"/>
              <a:buFont typeface="Wingdings"/>
              <a:buChar char=""/>
              <a:tabLst>
                <a:tab pos="363220" algn="l"/>
              </a:tabLst>
            </a:pPr>
            <a:r>
              <a:rPr sz="3500" i="1" spc="-15" dirty="0">
                <a:solidFill>
                  <a:srgbClr val="C00000"/>
                </a:solidFill>
                <a:latin typeface="Perpetua"/>
                <a:cs typeface="Perpetua"/>
              </a:rPr>
              <a:t>Logic </a:t>
            </a:r>
            <a:r>
              <a:rPr sz="3500" i="1" dirty="0">
                <a:solidFill>
                  <a:srgbClr val="C00000"/>
                </a:solidFill>
                <a:latin typeface="Perpetua"/>
                <a:cs typeface="Perpetua"/>
              </a:rPr>
              <a:t>can </a:t>
            </a:r>
            <a:r>
              <a:rPr sz="3500" i="1" spc="-5" dirty="0">
                <a:solidFill>
                  <a:srgbClr val="C00000"/>
                </a:solidFill>
                <a:latin typeface="Perpetua"/>
                <a:cs typeface="Perpetua"/>
              </a:rPr>
              <a:t>be </a:t>
            </a:r>
            <a:r>
              <a:rPr sz="3500" i="1" dirty="0">
                <a:solidFill>
                  <a:srgbClr val="C00000"/>
                </a:solidFill>
                <a:latin typeface="Perpetua"/>
                <a:cs typeface="Perpetua"/>
              </a:rPr>
              <a:t>seen </a:t>
            </a:r>
            <a:r>
              <a:rPr sz="3500" i="1" spc="-5" dirty="0">
                <a:solidFill>
                  <a:srgbClr val="C00000"/>
                </a:solidFill>
                <a:latin typeface="Perpetua"/>
                <a:cs typeface="Perpetua"/>
              </a:rPr>
              <a:t>in </a:t>
            </a:r>
            <a:r>
              <a:rPr sz="3500" i="1" dirty="0">
                <a:solidFill>
                  <a:srgbClr val="C00000"/>
                </a:solidFill>
                <a:latin typeface="Perpetua"/>
                <a:cs typeface="Perpetua"/>
              </a:rPr>
              <a:t>action all around</a:t>
            </a:r>
            <a:r>
              <a:rPr sz="3500" i="1" spc="-6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3500" i="1" dirty="0">
                <a:solidFill>
                  <a:srgbClr val="C00000"/>
                </a:solidFill>
                <a:latin typeface="Perpetua"/>
                <a:cs typeface="Perpetua"/>
              </a:rPr>
              <a:t>us</a:t>
            </a:r>
            <a:endParaRPr sz="35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831414"/>
            <a:ext cx="7407275" cy="345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ts val="2595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The Restaurant </a:t>
            </a:r>
            <a:r>
              <a:rPr sz="2400" spc="5" dirty="0">
                <a:latin typeface="Perpetua"/>
                <a:cs typeface="Perpetua"/>
              </a:rPr>
              <a:t>scenario </a:t>
            </a:r>
            <a:r>
              <a:rPr sz="2400" spc="15" dirty="0">
                <a:latin typeface="Perpetua"/>
                <a:cs typeface="Perpetua"/>
              </a:rPr>
              <a:t>starts </a:t>
            </a:r>
            <a:r>
              <a:rPr sz="2400" dirty="0">
                <a:latin typeface="Perpetua"/>
                <a:cs typeface="Perpetua"/>
              </a:rPr>
              <a:t>with </a:t>
            </a:r>
            <a:r>
              <a:rPr sz="2400" spc="-5" dirty="0">
                <a:latin typeface="Perpetua"/>
                <a:cs typeface="Perpetua"/>
              </a:rPr>
              <a:t>an </a:t>
            </a:r>
            <a:r>
              <a:rPr sz="2400" dirty="0">
                <a:latin typeface="Perpetua"/>
                <a:cs typeface="Perpetua"/>
              </a:rPr>
              <a:t>initial </a:t>
            </a:r>
            <a:r>
              <a:rPr sz="2400" spc="5" dirty="0">
                <a:latin typeface="Perpetua"/>
                <a:cs typeface="Perpetua"/>
              </a:rPr>
              <a:t>information</a:t>
            </a:r>
            <a:r>
              <a:rPr sz="2400" spc="-19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state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ts val="2505"/>
              </a:lnSpc>
            </a:pPr>
            <a:r>
              <a:rPr sz="2400" dirty="0">
                <a:latin typeface="Perpetua"/>
                <a:cs typeface="Perpetua"/>
              </a:rPr>
              <a:t>consisting of six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options</a:t>
            </a:r>
            <a:endParaRPr sz="2400">
              <a:latin typeface="Perpetua"/>
              <a:cs typeface="Perpetua"/>
            </a:endParaRPr>
          </a:p>
          <a:p>
            <a:pPr marL="561340" marR="5080" lvl="1" indent="-229235">
              <a:lnSpc>
                <a:spcPts val="2300"/>
              </a:lnSpc>
              <a:spcBef>
                <a:spcPts val="470"/>
              </a:spcBef>
              <a:buSzPct val="85416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400" spc="-5" dirty="0">
                <a:latin typeface="Perpetua"/>
                <a:cs typeface="Perpetua"/>
              </a:rPr>
              <a:t>all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30" dirty="0">
                <a:latin typeface="Perpetua"/>
                <a:cs typeface="Perpetua"/>
              </a:rPr>
              <a:t>ways </a:t>
            </a:r>
            <a:r>
              <a:rPr sz="2400" dirty="0">
                <a:latin typeface="Perpetua"/>
                <a:cs typeface="Perpetua"/>
              </a:rPr>
              <a:t>in </a:t>
            </a:r>
            <a:r>
              <a:rPr sz="2400" spc="5" dirty="0">
                <a:latin typeface="Perpetua"/>
                <a:cs typeface="Perpetua"/>
              </a:rPr>
              <a:t>which </a:t>
            </a:r>
            <a:r>
              <a:rPr sz="2400" spc="-5" dirty="0">
                <a:latin typeface="Perpetua"/>
                <a:cs typeface="Perpetua"/>
              </a:rPr>
              <a:t>three plates </a:t>
            </a:r>
            <a:r>
              <a:rPr sz="2400" dirty="0">
                <a:latin typeface="Perpetua"/>
                <a:cs typeface="Perpetua"/>
              </a:rPr>
              <a:t>can be distributed </a:t>
            </a:r>
            <a:r>
              <a:rPr sz="2400" spc="-35" dirty="0">
                <a:latin typeface="Perpetua"/>
                <a:cs typeface="Perpetua"/>
              </a:rPr>
              <a:t>over </a:t>
            </a:r>
            <a:r>
              <a:rPr sz="2400" spc="-5" dirty="0">
                <a:latin typeface="Perpetua"/>
                <a:cs typeface="Perpetua"/>
              </a:rPr>
              <a:t>three  </a:t>
            </a:r>
            <a:r>
              <a:rPr sz="2400" dirty="0">
                <a:latin typeface="Perpetua"/>
                <a:cs typeface="Perpetua"/>
              </a:rPr>
              <a:t>people</a:t>
            </a:r>
            <a:endParaRPr sz="2400">
              <a:latin typeface="Perpetua"/>
              <a:cs typeface="Perpetua"/>
            </a:endParaRPr>
          </a:p>
          <a:p>
            <a:pPr marL="561340" lvl="1" indent="-229235">
              <a:lnSpc>
                <a:spcPts val="2725"/>
              </a:lnSpc>
              <a:buSzPct val="85416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400" spc="-30" dirty="0">
                <a:latin typeface="Perpetua"/>
                <a:cs typeface="Perpetua"/>
              </a:rPr>
              <a:t>(MFV;MV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15" dirty="0">
                <a:latin typeface="Perpetua"/>
                <a:cs typeface="Perpetua"/>
              </a:rPr>
              <a:t>F;FMV;FVM;VMF;VFM).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ts val="2795"/>
              </a:lnSpc>
              <a:spcBef>
                <a:spcPts val="3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25" dirty="0">
                <a:latin typeface="Perpetua"/>
                <a:cs typeface="Perpetua"/>
              </a:rPr>
              <a:t>answer </a:t>
            </a:r>
            <a:r>
              <a:rPr sz="2400" dirty="0">
                <a:latin typeface="Perpetua"/>
                <a:cs typeface="Perpetua"/>
              </a:rPr>
              <a:t>to the </a:t>
            </a:r>
            <a:r>
              <a:rPr sz="2400" spc="5" dirty="0">
                <a:latin typeface="Perpetua"/>
                <a:cs typeface="Perpetua"/>
              </a:rPr>
              <a:t>first </a:t>
            </a:r>
            <a:r>
              <a:rPr sz="2400" dirty="0">
                <a:latin typeface="Perpetua"/>
                <a:cs typeface="Perpetua"/>
              </a:rPr>
              <a:t>question then </a:t>
            </a:r>
            <a:r>
              <a:rPr sz="2400" spc="-5" dirty="0">
                <a:latin typeface="Perpetua"/>
                <a:cs typeface="Perpetua"/>
              </a:rPr>
              <a:t>reduces </a:t>
            </a:r>
            <a:r>
              <a:rPr sz="2400" dirty="0">
                <a:latin typeface="Perpetua"/>
                <a:cs typeface="Perpetua"/>
              </a:rPr>
              <a:t>this to</a:t>
            </a:r>
            <a:r>
              <a:rPr sz="2400" spc="-80" dirty="0">
                <a:latin typeface="Perpetua"/>
                <a:cs typeface="Perpetua"/>
              </a:rPr>
              <a:t> </a:t>
            </a:r>
            <a:r>
              <a:rPr sz="2400" spc="-35" dirty="0">
                <a:latin typeface="Perpetua"/>
                <a:cs typeface="Perpetua"/>
              </a:rPr>
              <a:t>two</a:t>
            </a:r>
            <a:endParaRPr sz="2400">
              <a:latin typeface="Perpetua"/>
              <a:cs typeface="Perpetua"/>
            </a:endParaRPr>
          </a:p>
          <a:p>
            <a:pPr marL="561340" lvl="1" indent="-229235">
              <a:lnSpc>
                <a:spcPts val="2795"/>
              </a:lnSpc>
              <a:buSzPct val="85416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400" dirty="0">
                <a:latin typeface="Perpetua"/>
                <a:cs typeface="Perpetua"/>
              </a:rPr>
              <a:t>(the </a:t>
            </a:r>
            <a:r>
              <a:rPr sz="2400" spc="-5" dirty="0">
                <a:latin typeface="Perpetua"/>
                <a:cs typeface="Perpetua"/>
              </a:rPr>
              <a:t>remaining </a:t>
            </a:r>
            <a:r>
              <a:rPr sz="2400" spc="5" dirty="0">
                <a:latin typeface="Perpetua"/>
                <a:cs typeface="Perpetua"/>
              </a:rPr>
              <a:t>orders </a:t>
            </a:r>
            <a:r>
              <a:rPr sz="2400" dirty="0">
                <a:latin typeface="Perpetua"/>
                <a:cs typeface="Perpetua"/>
              </a:rPr>
              <a:t>FV </a:t>
            </a:r>
            <a:r>
              <a:rPr sz="2400" spc="65" dirty="0">
                <a:latin typeface="Perpetua"/>
                <a:cs typeface="Perpetua"/>
              </a:rPr>
              <a:t>,V</a:t>
            </a:r>
            <a:r>
              <a:rPr sz="2400" spc="-5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F)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ts val="2790"/>
              </a:lnSpc>
              <a:spcBef>
                <a:spcPts val="2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25" dirty="0">
                <a:latin typeface="Perpetua"/>
                <a:cs typeface="Perpetua"/>
              </a:rPr>
              <a:t>answer </a:t>
            </a:r>
            <a:r>
              <a:rPr sz="2400" dirty="0">
                <a:latin typeface="Perpetua"/>
                <a:cs typeface="Perpetua"/>
              </a:rPr>
              <a:t>to the second question </a:t>
            </a:r>
            <a:r>
              <a:rPr sz="2400" spc="-5" dirty="0">
                <a:latin typeface="Perpetua"/>
                <a:cs typeface="Perpetua"/>
              </a:rPr>
              <a:t>reduces </a:t>
            </a:r>
            <a:r>
              <a:rPr sz="2400" dirty="0">
                <a:latin typeface="Perpetua"/>
                <a:cs typeface="Perpetua"/>
              </a:rPr>
              <a:t>this to</a:t>
            </a:r>
            <a:r>
              <a:rPr sz="2400" spc="-7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one</a:t>
            </a:r>
            <a:endParaRPr sz="2400">
              <a:latin typeface="Perpetua"/>
              <a:cs typeface="Perpetua"/>
            </a:endParaRPr>
          </a:p>
          <a:p>
            <a:pPr marL="561340" lvl="1" indent="-229235">
              <a:lnSpc>
                <a:spcPts val="2790"/>
              </a:lnSpc>
              <a:buSzPct val="85416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400" dirty="0">
                <a:latin typeface="Perpetua"/>
                <a:cs typeface="Perpetua"/>
              </a:rPr>
              <a:t>( the one </a:t>
            </a:r>
            <a:r>
              <a:rPr sz="2400" spc="-5" dirty="0">
                <a:latin typeface="Perpetua"/>
                <a:cs typeface="Perpetua"/>
              </a:rPr>
              <a:t>remaining</a:t>
            </a:r>
            <a:r>
              <a:rPr sz="2400" spc="-35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V)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3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MFV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54986" y="1074912"/>
            <a:ext cx="6509783" cy="15019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9740" y="274065"/>
            <a:ext cx="66008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Formally </a:t>
            </a:r>
            <a:r>
              <a:rPr spc="-5" dirty="0"/>
              <a:t>stating </a:t>
            </a:r>
            <a:r>
              <a:rPr dirty="0"/>
              <a:t>the </a:t>
            </a:r>
            <a:r>
              <a:rPr spc="-20" dirty="0"/>
              <a:t>procedure, </a:t>
            </a:r>
            <a:r>
              <a:rPr spc="-70" dirty="0"/>
              <a:t>we</a:t>
            </a:r>
            <a:r>
              <a:rPr spc="-145" dirty="0"/>
              <a:t> </a:t>
            </a:r>
            <a:r>
              <a:rPr spc="-45" dirty="0"/>
              <a:t>have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0"/>
            <a:ext cx="8373745" cy="6764020"/>
          </a:xfrm>
          <a:prstGeom prst="rect">
            <a:avLst/>
          </a:prstGeom>
        </p:spPr>
        <p:txBody>
          <a:bodyPr vert="horz" wrap="square" lIns="0" tIns="207010" rIns="0" bIns="0" rtlCol="0">
            <a:spAutoFit/>
          </a:bodyPr>
          <a:lstStyle/>
          <a:p>
            <a:pPr marL="676910" indent="-512445">
              <a:lnSpc>
                <a:spcPct val="100000"/>
              </a:lnSpc>
              <a:spcBef>
                <a:spcPts val="1630"/>
              </a:spcBef>
              <a:buFont typeface="Wingdings"/>
              <a:buChar char=""/>
              <a:tabLst>
                <a:tab pos="677545" algn="l"/>
              </a:tabLst>
            </a:pPr>
            <a:r>
              <a:rPr sz="3600" spc="-5" dirty="0">
                <a:latin typeface="Perpetua"/>
                <a:cs typeface="Perpetua"/>
              </a:rPr>
              <a:t>Reasoning</a:t>
            </a:r>
            <a:endParaRPr sz="3600">
              <a:latin typeface="Perpetua"/>
              <a:cs typeface="Perpetua"/>
            </a:endParaRPr>
          </a:p>
          <a:p>
            <a:pPr marL="393700">
              <a:lnSpc>
                <a:spcPct val="100000"/>
              </a:lnSpc>
              <a:spcBef>
                <a:spcPts val="1110"/>
              </a:spcBef>
            </a:pPr>
            <a:r>
              <a:rPr sz="2600" spc="-15" dirty="0">
                <a:latin typeface="Perpetua"/>
                <a:cs typeface="Perpetua"/>
              </a:rPr>
              <a:t>Drawing </a:t>
            </a:r>
            <a:r>
              <a:rPr sz="2600" dirty="0">
                <a:latin typeface="Perpetua"/>
                <a:cs typeface="Perpetua"/>
              </a:rPr>
              <a:t>of </a:t>
            </a:r>
            <a:r>
              <a:rPr sz="2600" spc="-5" dirty="0">
                <a:latin typeface="Perpetua"/>
                <a:cs typeface="Perpetua"/>
              </a:rPr>
              <a:t>inferences </a:t>
            </a:r>
            <a:r>
              <a:rPr sz="2600" dirty="0">
                <a:latin typeface="Perpetua"/>
                <a:cs typeface="Perpetua"/>
              </a:rPr>
              <a:t>or </a:t>
            </a:r>
            <a:r>
              <a:rPr sz="2600" spc="-5" dirty="0">
                <a:latin typeface="Perpetua"/>
                <a:cs typeface="Perpetua"/>
              </a:rPr>
              <a:t>conclusions from </a:t>
            </a:r>
            <a:r>
              <a:rPr sz="2600" spc="-15" dirty="0">
                <a:latin typeface="Perpetua"/>
                <a:cs typeface="Perpetua"/>
              </a:rPr>
              <a:t>known </a:t>
            </a:r>
            <a:r>
              <a:rPr sz="2600" dirty="0">
                <a:latin typeface="Perpetua"/>
                <a:cs typeface="Perpetua"/>
              </a:rPr>
              <a:t>or </a:t>
            </a:r>
            <a:r>
              <a:rPr sz="2600" spc="-5" dirty="0">
                <a:latin typeface="Perpetua"/>
                <a:cs typeface="Perpetua"/>
              </a:rPr>
              <a:t>assumed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facts</a:t>
            </a:r>
            <a:endParaRPr sz="2600">
              <a:latin typeface="Perpetua"/>
              <a:cs typeface="Perpetua"/>
            </a:endParaRPr>
          </a:p>
          <a:p>
            <a:pPr marL="608330" indent="-443865">
              <a:lnSpc>
                <a:spcPct val="100000"/>
              </a:lnSpc>
              <a:spcBef>
                <a:spcPts val="2615"/>
              </a:spcBef>
              <a:buFont typeface="Wingdings"/>
              <a:buChar char=""/>
              <a:tabLst>
                <a:tab pos="608965" algn="l"/>
              </a:tabLst>
            </a:pPr>
            <a:r>
              <a:rPr sz="3500" dirty="0">
                <a:latin typeface="Perpetua"/>
                <a:cs typeface="Perpetua"/>
              </a:rPr>
              <a:t>The act </a:t>
            </a:r>
            <a:r>
              <a:rPr sz="3500" spc="-5" dirty="0">
                <a:latin typeface="Perpetua"/>
                <a:cs typeface="Perpetua"/>
              </a:rPr>
              <a:t>of</a:t>
            </a:r>
            <a:r>
              <a:rPr sz="3500" spc="-20" dirty="0">
                <a:latin typeface="Perpetua"/>
                <a:cs typeface="Perpetua"/>
              </a:rPr>
              <a:t> </a:t>
            </a:r>
            <a:r>
              <a:rPr sz="3500" spc="-5" dirty="0">
                <a:latin typeface="Perpetua"/>
                <a:cs typeface="Perpetua"/>
              </a:rPr>
              <a:t>inference</a:t>
            </a:r>
            <a:endParaRPr sz="3500">
              <a:latin typeface="Perpetua"/>
              <a:cs typeface="Perpetua"/>
            </a:endParaRPr>
          </a:p>
          <a:p>
            <a:pPr marL="317500">
              <a:lnSpc>
                <a:spcPct val="100000"/>
              </a:lnSpc>
              <a:spcBef>
                <a:spcPts val="2090"/>
              </a:spcBef>
            </a:pPr>
            <a:r>
              <a:rPr sz="2400" spc="-15" dirty="0">
                <a:latin typeface="Perpetua"/>
                <a:cs typeface="Perpetua"/>
              </a:rPr>
              <a:t>Drawing </a:t>
            </a:r>
            <a:r>
              <a:rPr sz="2400" dirty="0">
                <a:latin typeface="Perpetua"/>
                <a:cs typeface="Perpetua"/>
              </a:rPr>
              <a:t>conclusion </a:t>
            </a:r>
            <a:r>
              <a:rPr sz="2400" spc="-10" dirty="0">
                <a:latin typeface="Perpetua"/>
                <a:cs typeface="Perpetua"/>
              </a:rPr>
              <a:t>from </a:t>
            </a:r>
            <a:r>
              <a:rPr sz="2400" spc="-30" dirty="0">
                <a:latin typeface="Perpetua"/>
                <a:cs typeface="Perpetua"/>
              </a:rPr>
              <a:t>two </a:t>
            </a:r>
            <a:r>
              <a:rPr sz="2400" dirty="0">
                <a:latin typeface="Perpetua"/>
                <a:cs typeface="Perpetua"/>
              </a:rPr>
              <a:t>pieces of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information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50">
              <a:latin typeface="Times New Roman"/>
              <a:cs typeface="Times New Roman"/>
            </a:endParaRPr>
          </a:p>
          <a:p>
            <a:pPr marL="466725" indent="-454659">
              <a:lnSpc>
                <a:spcPct val="100000"/>
              </a:lnSpc>
              <a:buFont typeface="Wingdings"/>
              <a:buChar char=""/>
              <a:tabLst>
                <a:tab pos="467359" algn="l"/>
              </a:tabLst>
            </a:pPr>
            <a:r>
              <a:rPr sz="3600" spc="-30" dirty="0">
                <a:latin typeface="Perpetua"/>
                <a:cs typeface="Perpetua"/>
              </a:rPr>
              <a:t>Why </a:t>
            </a:r>
            <a:r>
              <a:rPr sz="3600" dirty="0">
                <a:latin typeface="Perpetua"/>
                <a:cs typeface="Perpetua"/>
              </a:rPr>
              <a:t>is </a:t>
            </a:r>
            <a:r>
              <a:rPr sz="3600" spc="-5" dirty="0">
                <a:latin typeface="Perpetua"/>
                <a:cs typeface="Perpetua"/>
              </a:rPr>
              <a:t>reasoning</a:t>
            </a:r>
            <a:r>
              <a:rPr sz="3600" spc="20" dirty="0">
                <a:latin typeface="Perpetua"/>
                <a:cs typeface="Perpetua"/>
              </a:rPr>
              <a:t> </a:t>
            </a:r>
            <a:r>
              <a:rPr sz="3600" spc="10" dirty="0">
                <a:latin typeface="Perpetua"/>
                <a:cs typeface="Perpetua"/>
              </a:rPr>
              <a:t>important?</a:t>
            </a:r>
            <a:endParaRPr sz="3600">
              <a:latin typeface="Perpetua"/>
              <a:cs typeface="Perpetua"/>
            </a:endParaRPr>
          </a:p>
          <a:p>
            <a:pPr marL="6223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latin typeface="Perpetua"/>
                <a:cs typeface="Perpetua"/>
              </a:rPr>
              <a:t>When </a:t>
            </a:r>
            <a:r>
              <a:rPr sz="2000" spc="-5" dirty="0">
                <a:latin typeface="Perpetua"/>
                <a:cs typeface="Perpetua"/>
              </a:rPr>
              <a:t>solving </a:t>
            </a:r>
            <a:r>
              <a:rPr sz="2000" dirty="0">
                <a:latin typeface="Perpetua"/>
                <a:cs typeface="Perpetua"/>
              </a:rPr>
              <a:t>a</a:t>
            </a:r>
            <a:r>
              <a:rPr sz="2000" spc="-20" dirty="0">
                <a:latin typeface="Perpetua"/>
                <a:cs typeface="Perpetua"/>
              </a:rPr>
              <a:t> </a:t>
            </a:r>
            <a:r>
              <a:rPr sz="2000" spc="-10" dirty="0">
                <a:latin typeface="Perpetua"/>
                <a:cs typeface="Perpetua"/>
              </a:rPr>
              <a:t>problem:</a:t>
            </a:r>
            <a:endParaRPr sz="2000">
              <a:latin typeface="Perpetua"/>
              <a:cs typeface="Perpetua"/>
            </a:endParaRPr>
          </a:p>
          <a:p>
            <a:pPr marL="1536700">
              <a:lnSpc>
                <a:spcPct val="100000"/>
              </a:lnSpc>
            </a:pPr>
            <a:r>
              <a:rPr sz="2000" spc="-5" dirty="0">
                <a:latin typeface="Perpetua"/>
                <a:cs typeface="Perpetua"/>
              </a:rPr>
              <a:t>one </a:t>
            </a:r>
            <a:r>
              <a:rPr sz="2000" spc="-10" dirty="0">
                <a:latin typeface="Perpetua"/>
                <a:cs typeface="Perpetua"/>
              </a:rPr>
              <a:t>must </a:t>
            </a:r>
            <a:r>
              <a:rPr sz="2000" dirty="0">
                <a:latin typeface="Perpetua"/>
                <a:cs typeface="Perpetua"/>
              </a:rPr>
              <a:t>understand the question</a:t>
            </a:r>
            <a:endParaRPr sz="2000">
              <a:latin typeface="Perpetua"/>
              <a:cs typeface="Perpetua"/>
            </a:endParaRPr>
          </a:p>
          <a:p>
            <a:pPr marL="1593215">
              <a:lnSpc>
                <a:spcPct val="100000"/>
              </a:lnSpc>
            </a:pPr>
            <a:r>
              <a:rPr sz="2000" spc="-5" dirty="0">
                <a:latin typeface="Perpetua"/>
                <a:cs typeface="Perpetua"/>
              </a:rPr>
              <a:t>gather all </a:t>
            </a:r>
            <a:r>
              <a:rPr sz="2000" spc="5" dirty="0">
                <a:latin typeface="Perpetua"/>
                <a:cs typeface="Perpetua"/>
              </a:rPr>
              <a:t>pertinent</a:t>
            </a:r>
            <a:r>
              <a:rPr sz="2000" spc="-35" dirty="0">
                <a:latin typeface="Perpetua"/>
                <a:cs typeface="Perpetua"/>
              </a:rPr>
              <a:t> </a:t>
            </a:r>
            <a:r>
              <a:rPr sz="2000" spc="-10" dirty="0">
                <a:latin typeface="Perpetua"/>
                <a:cs typeface="Perpetua"/>
              </a:rPr>
              <a:t>facts</a:t>
            </a:r>
            <a:endParaRPr sz="2000">
              <a:latin typeface="Perpetua"/>
              <a:cs typeface="Perpetua"/>
            </a:endParaRPr>
          </a:p>
          <a:p>
            <a:pPr marL="1536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Perpetua"/>
                <a:cs typeface="Perpetua"/>
              </a:rPr>
              <a:t>analyze </a:t>
            </a:r>
            <a:r>
              <a:rPr sz="2000" dirty="0">
                <a:latin typeface="Perpetua"/>
                <a:cs typeface="Perpetua"/>
              </a:rPr>
              <a:t>the</a:t>
            </a:r>
            <a:r>
              <a:rPr sz="2000" spc="-25" dirty="0">
                <a:latin typeface="Perpetua"/>
                <a:cs typeface="Perpetua"/>
              </a:rPr>
              <a:t> </a:t>
            </a:r>
            <a:r>
              <a:rPr sz="2000" spc="-10" dirty="0">
                <a:latin typeface="Perpetua"/>
                <a:cs typeface="Perpetua"/>
              </a:rPr>
              <a:t>problem</a:t>
            </a:r>
            <a:endParaRPr sz="2000">
              <a:latin typeface="Perpetua"/>
              <a:cs typeface="Perpetua"/>
            </a:endParaRPr>
          </a:p>
          <a:p>
            <a:pPr marL="1536700" marR="228600">
              <a:lnSpc>
                <a:spcPct val="100000"/>
              </a:lnSpc>
              <a:tabLst>
                <a:tab pos="2085339" algn="l"/>
                <a:tab pos="2712085" algn="l"/>
                <a:tab pos="3435985" algn="l"/>
                <a:tab pos="3964940" algn="l"/>
                <a:tab pos="4601845" algn="l"/>
                <a:tab pos="4917440" algn="l"/>
                <a:tab pos="5805805" algn="l"/>
                <a:tab pos="6751320" algn="l"/>
                <a:tab pos="7165975" algn="l"/>
                <a:tab pos="7846695" algn="l"/>
              </a:tabLst>
            </a:pPr>
            <a:r>
              <a:rPr sz="2000" spc="-5" dirty="0">
                <a:latin typeface="Perpetua"/>
                <a:cs typeface="Perpetua"/>
              </a:rPr>
              <a:t>an</a:t>
            </a:r>
            <a:r>
              <a:rPr sz="2000" dirty="0">
                <a:latin typeface="Perpetua"/>
                <a:cs typeface="Perpetua"/>
              </a:rPr>
              <a:t>d	t</a:t>
            </a:r>
            <a:r>
              <a:rPr sz="2000" spc="-10" dirty="0">
                <a:latin typeface="Perpetua"/>
                <a:cs typeface="Perpetua"/>
              </a:rPr>
              <a:t>h</a:t>
            </a:r>
            <a:r>
              <a:rPr sz="2000" dirty="0">
                <a:latin typeface="Perpetua"/>
                <a:cs typeface="Perpetua"/>
              </a:rPr>
              <a:t>en	c</a:t>
            </a:r>
            <a:r>
              <a:rPr sz="2000" spc="-10" dirty="0">
                <a:latin typeface="Perpetua"/>
                <a:cs typeface="Perpetua"/>
              </a:rPr>
              <a:t>o</a:t>
            </a:r>
            <a:r>
              <a:rPr sz="2000" spc="-5" dirty="0">
                <a:latin typeface="Perpetua"/>
                <a:cs typeface="Perpetua"/>
              </a:rPr>
              <a:t>m</a:t>
            </a:r>
            <a:r>
              <a:rPr sz="2000" dirty="0">
                <a:latin typeface="Perpetua"/>
                <a:cs typeface="Perpetua"/>
              </a:rPr>
              <a:t>e	</a:t>
            </a:r>
            <a:r>
              <a:rPr sz="2000" spc="-10" dirty="0">
                <a:latin typeface="Perpetua"/>
                <a:cs typeface="Perpetua"/>
              </a:rPr>
              <a:t>ou</a:t>
            </a:r>
            <a:r>
              <a:rPr sz="2000" dirty="0">
                <a:latin typeface="Perpetua"/>
                <a:cs typeface="Perpetua"/>
              </a:rPr>
              <a:t>t	w</a:t>
            </a:r>
            <a:r>
              <a:rPr sz="2000" spc="-10" dirty="0">
                <a:latin typeface="Perpetua"/>
                <a:cs typeface="Perpetua"/>
              </a:rPr>
              <a:t>i</a:t>
            </a:r>
            <a:r>
              <a:rPr sz="2000" dirty="0">
                <a:latin typeface="Perpetua"/>
                <a:cs typeface="Perpetua"/>
              </a:rPr>
              <a:t>th	a	c</a:t>
            </a:r>
            <a:r>
              <a:rPr sz="2000" spc="-10" dirty="0">
                <a:latin typeface="Perpetua"/>
                <a:cs typeface="Perpetua"/>
              </a:rPr>
              <a:t>o</a:t>
            </a:r>
            <a:r>
              <a:rPr sz="2000" spc="25" dirty="0">
                <a:latin typeface="Perpetua"/>
                <a:cs typeface="Perpetua"/>
              </a:rPr>
              <a:t>r</a:t>
            </a:r>
            <a:r>
              <a:rPr sz="2000" spc="-35" dirty="0">
                <a:latin typeface="Perpetua"/>
                <a:cs typeface="Perpetua"/>
              </a:rPr>
              <a:t>r</a:t>
            </a:r>
            <a:r>
              <a:rPr sz="2000" dirty="0">
                <a:latin typeface="Perpetua"/>
                <a:cs typeface="Perpetua"/>
              </a:rPr>
              <a:t>ect	str</a:t>
            </a:r>
            <a:r>
              <a:rPr sz="2000" spc="-30" dirty="0">
                <a:latin typeface="Perpetua"/>
                <a:cs typeface="Perpetua"/>
              </a:rPr>
              <a:t>a</a:t>
            </a:r>
            <a:r>
              <a:rPr sz="2000" dirty="0">
                <a:latin typeface="Perpetua"/>
                <a:cs typeface="Perpetua"/>
              </a:rPr>
              <a:t>te</a:t>
            </a:r>
            <a:r>
              <a:rPr sz="2000" spc="5" dirty="0">
                <a:latin typeface="Perpetua"/>
                <a:cs typeface="Perpetua"/>
              </a:rPr>
              <a:t>g</a:t>
            </a:r>
            <a:r>
              <a:rPr sz="2000" dirty="0">
                <a:latin typeface="Perpetua"/>
                <a:cs typeface="Perpetua"/>
              </a:rPr>
              <a:t>y	to	s</a:t>
            </a:r>
            <a:r>
              <a:rPr sz="2000" spc="-25" dirty="0">
                <a:latin typeface="Perpetua"/>
                <a:cs typeface="Perpetua"/>
              </a:rPr>
              <a:t>o</a:t>
            </a:r>
            <a:r>
              <a:rPr sz="2000" spc="-15" dirty="0">
                <a:latin typeface="Perpetua"/>
                <a:cs typeface="Perpetua"/>
              </a:rPr>
              <a:t>l</a:t>
            </a:r>
            <a:r>
              <a:rPr sz="2000" spc="-35" dirty="0">
                <a:latin typeface="Perpetua"/>
                <a:cs typeface="Perpetua"/>
              </a:rPr>
              <a:t>v</a:t>
            </a:r>
            <a:r>
              <a:rPr sz="2000" dirty="0">
                <a:latin typeface="Perpetua"/>
                <a:cs typeface="Perpetua"/>
              </a:rPr>
              <a:t>e	the  </a:t>
            </a:r>
            <a:r>
              <a:rPr sz="2000" spc="-5" dirty="0">
                <a:latin typeface="Perpetua"/>
                <a:cs typeface="Perpetua"/>
              </a:rPr>
              <a:t>problem………………</a:t>
            </a:r>
            <a:endParaRPr sz="2000">
              <a:latin typeface="Perpetua"/>
              <a:cs typeface="Perpetua"/>
            </a:endParaRPr>
          </a:p>
          <a:p>
            <a:pPr marL="622300">
              <a:lnSpc>
                <a:spcPct val="100000"/>
              </a:lnSpc>
            </a:pPr>
            <a:r>
              <a:rPr sz="2000" spc="-105" dirty="0">
                <a:latin typeface="Perpetua"/>
                <a:cs typeface="Perpetua"/>
              </a:rPr>
              <a:t>We </a:t>
            </a:r>
            <a:r>
              <a:rPr sz="2000" dirty="0">
                <a:latin typeface="Perpetua"/>
                <a:cs typeface="Perpetua"/>
              </a:rPr>
              <a:t>need the </a:t>
            </a:r>
            <a:r>
              <a:rPr sz="2000" spc="-5" dirty="0">
                <a:latin typeface="Perpetua"/>
                <a:cs typeface="Perpetua"/>
              </a:rPr>
              <a:t>skill of correct</a:t>
            </a:r>
            <a:r>
              <a:rPr sz="2000" spc="110" dirty="0">
                <a:latin typeface="Perpetua"/>
                <a:cs typeface="Perpetua"/>
              </a:rPr>
              <a:t> </a:t>
            </a:r>
            <a:r>
              <a:rPr sz="2000" spc="-25" dirty="0">
                <a:latin typeface="Perpetua"/>
                <a:cs typeface="Perpetua"/>
              </a:rPr>
              <a:t>reasoning.</a:t>
            </a:r>
            <a:endParaRPr sz="2000">
              <a:latin typeface="Perpetua"/>
              <a:cs typeface="Perpetua"/>
            </a:endParaRPr>
          </a:p>
          <a:p>
            <a:pPr marL="600710" lvl="1" indent="-360045">
              <a:lnSpc>
                <a:spcPct val="100000"/>
              </a:lnSpc>
              <a:spcBef>
                <a:spcPts val="1855"/>
              </a:spcBef>
              <a:buSzPct val="97222"/>
              <a:buFont typeface="Wingdings"/>
              <a:buChar char=""/>
              <a:tabLst>
                <a:tab pos="601345" algn="l"/>
              </a:tabLst>
            </a:pPr>
            <a:r>
              <a:rPr sz="3600" b="1" spc="15" dirty="0">
                <a:latin typeface="Perpetua"/>
                <a:cs typeface="Perpetua"/>
              </a:rPr>
              <a:t>Logic </a:t>
            </a:r>
            <a:r>
              <a:rPr sz="3600" dirty="0">
                <a:latin typeface="Perpetua"/>
                <a:cs typeface="Perpetua"/>
              </a:rPr>
              <a:t>– The science </a:t>
            </a:r>
            <a:r>
              <a:rPr sz="3600" spc="-5" dirty="0">
                <a:latin typeface="Perpetua"/>
                <a:cs typeface="Perpetua"/>
              </a:rPr>
              <a:t>of </a:t>
            </a:r>
            <a:r>
              <a:rPr sz="3600" b="1" spc="15" dirty="0">
                <a:solidFill>
                  <a:srgbClr val="C00000"/>
                </a:solidFill>
                <a:latin typeface="Perpetua"/>
                <a:cs typeface="Perpetua"/>
              </a:rPr>
              <a:t>correct</a:t>
            </a:r>
            <a:r>
              <a:rPr sz="3600" b="1" spc="-47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3600" b="1" spc="-5" dirty="0">
                <a:solidFill>
                  <a:srgbClr val="C00000"/>
                </a:solidFill>
                <a:latin typeface="Perpetua"/>
                <a:cs typeface="Perpetua"/>
              </a:rPr>
              <a:t>reasoning</a:t>
            </a:r>
            <a:r>
              <a:rPr sz="3600" spc="-5" dirty="0">
                <a:latin typeface="Perpetua"/>
                <a:cs typeface="Perpetua"/>
              </a:rPr>
              <a:t>.</a:t>
            </a:r>
            <a:endParaRPr sz="3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7600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Identifying </a:t>
            </a:r>
            <a:r>
              <a:rPr sz="4000" spc="-10" dirty="0"/>
              <a:t>facts </a:t>
            </a:r>
            <a:r>
              <a:rPr sz="4000" spc="-5" dirty="0"/>
              <a:t>and</a:t>
            </a:r>
            <a:r>
              <a:rPr sz="4000" spc="5" dirty="0"/>
              <a:t> </a:t>
            </a:r>
            <a:r>
              <a:rPr sz="4000" spc="-5" dirty="0"/>
              <a:t>conclusion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35381" y="6456984"/>
            <a:ext cx="901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Perpetua"/>
                <a:cs typeface="Perpetua"/>
              </a:rPr>
              <a:t>6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6476491"/>
            <a:ext cx="895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81200" y="1828800"/>
            <a:ext cx="4413504" cy="3124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7340" y="1053813"/>
            <a:ext cx="7802245" cy="14433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600" spc="-5" dirty="0">
                <a:latin typeface="Perpetua"/>
                <a:cs typeface="Perpetua"/>
              </a:rPr>
              <a:t>Doctor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patient:-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600" dirty="0">
                <a:latin typeface="Perpetua"/>
                <a:cs typeface="Perpetua"/>
              </a:rPr>
              <a:t>If </a:t>
            </a:r>
            <a:r>
              <a:rPr sz="2600" spc="-15" dirty="0">
                <a:latin typeface="Perpetua"/>
                <a:cs typeface="Perpetua"/>
              </a:rPr>
              <a:t>you take </a:t>
            </a:r>
            <a:r>
              <a:rPr sz="2600" spc="-55" dirty="0">
                <a:latin typeface="Perpetua"/>
                <a:cs typeface="Perpetua"/>
              </a:rPr>
              <a:t>my </a:t>
            </a:r>
            <a:r>
              <a:rPr sz="2600" spc="-5" dirty="0">
                <a:latin typeface="Perpetua"/>
                <a:cs typeface="Perpetua"/>
              </a:rPr>
              <a:t>medication,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dirty="0">
                <a:latin typeface="Perpetua"/>
                <a:cs typeface="Perpetua"/>
              </a:rPr>
              <a:t>will get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35" dirty="0">
                <a:latin typeface="Perpetua"/>
                <a:cs typeface="Perpetua"/>
              </a:rPr>
              <a:t>better.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600" spc="-95" dirty="0">
                <a:latin typeface="Perpetua"/>
                <a:cs typeface="Perpetua"/>
              </a:rPr>
              <a:t>You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5" dirty="0">
                <a:latin typeface="Perpetua"/>
                <a:cs typeface="Perpetua"/>
              </a:rPr>
              <a:t>not </a:t>
            </a:r>
            <a:r>
              <a:rPr sz="2600" spc="-10" dirty="0">
                <a:latin typeface="Perpetua"/>
                <a:cs typeface="Perpetua"/>
              </a:rPr>
              <a:t>taken </a:t>
            </a:r>
            <a:r>
              <a:rPr sz="2600" spc="-55" dirty="0">
                <a:latin typeface="Perpetua"/>
                <a:cs typeface="Perpetua"/>
              </a:rPr>
              <a:t>my </a:t>
            </a:r>
            <a:r>
              <a:rPr sz="2600" spc="-25" dirty="0">
                <a:latin typeface="Perpetua"/>
                <a:cs typeface="Perpetua"/>
              </a:rPr>
              <a:t>medication.You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not getting </a:t>
            </a:r>
            <a:r>
              <a:rPr sz="2600" spc="-20" dirty="0">
                <a:latin typeface="Perpetua"/>
                <a:cs typeface="Perpetua"/>
              </a:rPr>
              <a:t>any</a:t>
            </a:r>
            <a:r>
              <a:rPr sz="2600" spc="265" dirty="0">
                <a:latin typeface="Perpetua"/>
                <a:cs typeface="Perpetua"/>
              </a:rPr>
              <a:t> </a:t>
            </a:r>
            <a:r>
              <a:rPr sz="2600" spc="-35" dirty="0">
                <a:latin typeface="Perpetua"/>
                <a:cs typeface="Perpetua"/>
              </a:rPr>
              <a:t>better.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7340" y="182626"/>
            <a:ext cx="51892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Identifying facts </a:t>
            </a:r>
            <a:r>
              <a:rPr spc="-5" dirty="0"/>
              <a:t>and</a:t>
            </a:r>
            <a:r>
              <a:rPr spc="-100" dirty="0"/>
              <a:t> </a:t>
            </a:r>
            <a:r>
              <a:rPr spc="-5" dirty="0"/>
              <a:t>conclusion</a:t>
            </a:r>
          </a:p>
        </p:txBody>
      </p:sp>
      <p:sp>
        <p:nvSpPr>
          <p:cNvPr id="5" name="object 5"/>
          <p:cNvSpPr/>
          <p:nvPr/>
        </p:nvSpPr>
        <p:spPr>
          <a:xfrm>
            <a:off x="2590800" y="4953000"/>
            <a:ext cx="4885944" cy="137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67000" y="3124200"/>
            <a:ext cx="4924044" cy="13814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7340" y="3248025"/>
            <a:ext cx="1959610" cy="29216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940"/>
              </a:spcBef>
            </a:pPr>
            <a:r>
              <a:rPr sz="1800" b="1" i="1" spc="-5" dirty="0">
                <a:latin typeface="Perpetua"/>
                <a:cs typeface="Perpetua"/>
              </a:rPr>
              <a:t>The two</a:t>
            </a:r>
            <a:r>
              <a:rPr sz="1800" b="1" i="1" spc="-60" dirty="0">
                <a:latin typeface="Perpetua"/>
                <a:cs typeface="Perpetua"/>
              </a:rPr>
              <a:t> </a:t>
            </a:r>
            <a:r>
              <a:rPr sz="1800" b="1" i="1" spc="-15" dirty="0">
                <a:latin typeface="Perpetua"/>
                <a:cs typeface="Perpetua"/>
              </a:rPr>
              <a:t>facts</a:t>
            </a:r>
            <a:endParaRPr sz="18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5" dirty="0">
                <a:solidFill>
                  <a:srgbClr val="C00000"/>
                </a:solidFill>
                <a:latin typeface="Perpetua"/>
                <a:cs typeface="Perpetua"/>
              </a:rPr>
              <a:t>Option</a:t>
            </a:r>
            <a:r>
              <a:rPr sz="1800" b="1" spc="-1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1800" b="1" dirty="0">
                <a:solidFill>
                  <a:srgbClr val="C00000"/>
                </a:solidFill>
                <a:latin typeface="Perpetua"/>
                <a:cs typeface="Perpetua"/>
              </a:rPr>
              <a:t>1</a:t>
            </a:r>
            <a:endParaRPr sz="1800">
              <a:latin typeface="Perpetua"/>
              <a:cs typeface="Perpetua"/>
            </a:endParaRPr>
          </a:p>
          <a:p>
            <a:pPr marL="774700">
              <a:lnSpc>
                <a:spcPct val="100000"/>
              </a:lnSpc>
              <a:spcBef>
                <a:spcPts val="1440"/>
              </a:spcBef>
            </a:pPr>
            <a:r>
              <a:rPr sz="1800" b="1" i="1" spc="-5" dirty="0">
                <a:latin typeface="Perpetua"/>
                <a:cs typeface="Perpetua"/>
              </a:rPr>
              <a:t>Conclusion</a:t>
            </a:r>
            <a:endParaRPr sz="18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50">
              <a:latin typeface="Times New Roman"/>
              <a:cs typeface="Times New Roman"/>
            </a:endParaRPr>
          </a:p>
          <a:p>
            <a:pPr marL="774700">
              <a:lnSpc>
                <a:spcPct val="100000"/>
              </a:lnSpc>
            </a:pPr>
            <a:r>
              <a:rPr sz="1800" b="1" i="1" spc="-5" dirty="0">
                <a:latin typeface="Perpetua"/>
                <a:cs typeface="Perpetua"/>
              </a:rPr>
              <a:t>The two</a:t>
            </a:r>
            <a:r>
              <a:rPr sz="1800" b="1" i="1" spc="-90" dirty="0">
                <a:latin typeface="Perpetua"/>
                <a:cs typeface="Perpetua"/>
              </a:rPr>
              <a:t> </a:t>
            </a:r>
            <a:r>
              <a:rPr sz="1800" b="1" i="1" spc="-15" dirty="0">
                <a:latin typeface="Perpetua"/>
                <a:cs typeface="Perpetua"/>
              </a:rPr>
              <a:t>facts</a:t>
            </a:r>
            <a:endParaRPr sz="18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800" b="1" spc="-5" dirty="0">
                <a:solidFill>
                  <a:srgbClr val="C00000"/>
                </a:solidFill>
                <a:latin typeface="Perpetua"/>
                <a:cs typeface="Perpetua"/>
              </a:rPr>
              <a:t>Option</a:t>
            </a:r>
            <a:r>
              <a:rPr sz="1800" b="1" spc="-1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1800" b="1" dirty="0">
                <a:solidFill>
                  <a:srgbClr val="C00000"/>
                </a:solidFill>
                <a:latin typeface="Perpetua"/>
                <a:cs typeface="Perpetua"/>
              </a:rPr>
              <a:t>2</a:t>
            </a:r>
            <a:endParaRPr sz="1800">
              <a:latin typeface="Perpetua"/>
              <a:cs typeface="Perpetua"/>
            </a:endParaRPr>
          </a:p>
          <a:p>
            <a:pPr marL="850900">
              <a:lnSpc>
                <a:spcPct val="100000"/>
              </a:lnSpc>
              <a:spcBef>
                <a:spcPts val="840"/>
              </a:spcBef>
            </a:pPr>
            <a:r>
              <a:rPr sz="1800" b="1" i="1" spc="-5" dirty="0">
                <a:latin typeface="Perpetua"/>
                <a:cs typeface="Perpetua"/>
              </a:rPr>
              <a:t>Conclusion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72400" y="3581400"/>
            <a:ext cx="794003" cy="6042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934063" y="5347156"/>
            <a:ext cx="756023" cy="84203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4540" y="6476491"/>
            <a:ext cx="895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5381" y="6456984"/>
            <a:ext cx="901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Perpetua"/>
                <a:cs typeface="Perpetua"/>
              </a:rPr>
              <a:t>8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140" y="1972183"/>
            <a:ext cx="8606790" cy="1591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marR="5715" indent="-515620">
              <a:lnSpc>
                <a:spcPct val="100000"/>
              </a:lnSpc>
              <a:spcBef>
                <a:spcPts val="100"/>
              </a:spcBef>
              <a:buSzPct val="85416"/>
              <a:buAutoNum type="arabicPeriod"/>
              <a:tabLst>
                <a:tab pos="527685" algn="l"/>
                <a:tab pos="528320" algn="l"/>
                <a:tab pos="847725" algn="l"/>
                <a:tab pos="1364615" algn="l"/>
                <a:tab pos="1865630" algn="l"/>
                <a:tab pos="2606675" algn="l"/>
                <a:tab pos="4150360" algn="l"/>
                <a:tab pos="4570095" algn="l"/>
                <a:tab pos="4895850" algn="l"/>
                <a:tab pos="5534660" algn="l"/>
                <a:tab pos="6194425" algn="l"/>
                <a:tab pos="6711315" algn="l"/>
                <a:tab pos="7371715" algn="l"/>
                <a:tab pos="8011795" algn="l"/>
              </a:tabLst>
            </a:pPr>
            <a:r>
              <a:rPr sz="2400" dirty="0">
                <a:latin typeface="Perpetua"/>
                <a:cs typeface="Perpetua"/>
              </a:rPr>
              <a:t>If	</a:t>
            </a:r>
            <a:r>
              <a:rPr sz="2400" spc="-45" dirty="0">
                <a:latin typeface="Perpetua"/>
                <a:cs typeface="Perpetua"/>
              </a:rPr>
              <a:t>J</a:t>
            </a:r>
            <a:r>
              <a:rPr sz="2400" dirty="0">
                <a:latin typeface="Perpetua"/>
                <a:cs typeface="Perpetua"/>
              </a:rPr>
              <a:t>oe	has	</a:t>
            </a:r>
            <a:r>
              <a:rPr sz="2400" spc="-15" dirty="0">
                <a:latin typeface="Perpetua"/>
                <a:cs typeface="Perpetua"/>
              </a:rPr>
              <a:t>a</a:t>
            </a:r>
            <a:r>
              <a:rPr sz="2400" dirty="0">
                <a:latin typeface="Perpetua"/>
                <a:cs typeface="Perpetua"/>
              </a:rPr>
              <a:t>cute	</a:t>
            </a:r>
            <a:r>
              <a:rPr sz="2400" spc="-5" dirty="0">
                <a:latin typeface="Perpetua"/>
                <a:cs typeface="Perpetua"/>
              </a:rPr>
              <a:t>ap</a:t>
            </a:r>
            <a:r>
              <a:rPr sz="2400" spc="5" dirty="0">
                <a:latin typeface="Perpetua"/>
                <a:cs typeface="Perpetua"/>
              </a:rPr>
              <a:t>p</a:t>
            </a:r>
            <a:r>
              <a:rPr sz="2400" dirty="0">
                <a:latin typeface="Perpetua"/>
                <a:cs typeface="Perpetua"/>
              </a:rPr>
              <a:t>en</a:t>
            </a:r>
            <a:r>
              <a:rPr sz="2400" spc="5" dirty="0">
                <a:latin typeface="Perpetua"/>
                <a:cs typeface="Perpetua"/>
              </a:rPr>
              <a:t>d</a:t>
            </a:r>
            <a:r>
              <a:rPr sz="2400" spc="-10" dirty="0">
                <a:latin typeface="Perpetua"/>
                <a:cs typeface="Perpetua"/>
              </a:rPr>
              <a:t>i</a:t>
            </a:r>
            <a:r>
              <a:rPr sz="2400" dirty="0">
                <a:latin typeface="Perpetua"/>
                <a:cs typeface="Perpetua"/>
              </a:rPr>
              <a:t>citis,	he	</a:t>
            </a:r>
            <a:r>
              <a:rPr sz="2400" spc="-10" dirty="0">
                <a:latin typeface="Perpetua"/>
                <a:cs typeface="Perpetua"/>
              </a:rPr>
              <a:t>i</a:t>
            </a:r>
            <a:r>
              <a:rPr sz="2400" dirty="0">
                <a:latin typeface="Perpetua"/>
                <a:cs typeface="Perpetua"/>
              </a:rPr>
              <a:t>s	</a:t>
            </a:r>
            <a:r>
              <a:rPr sz="2400" spc="-65" dirty="0">
                <a:latin typeface="Perpetua"/>
                <a:cs typeface="Perpetua"/>
              </a:rPr>
              <a:t>v</a:t>
            </a:r>
            <a:r>
              <a:rPr sz="2400" dirty="0">
                <a:latin typeface="Perpetua"/>
                <a:cs typeface="Perpetua"/>
              </a:rPr>
              <a:t>e</a:t>
            </a:r>
            <a:r>
              <a:rPr sz="2400" spc="20" dirty="0">
                <a:latin typeface="Perpetua"/>
                <a:cs typeface="Perpetua"/>
              </a:rPr>
              <a:t>r</a:t>
            </a:r>
            <a:r>
              <a:rPr sz="2400" dirty="0">
                <a:latin typeface="Perpetua"/>
                <a:cs typeface="Perpetua"/>
              </a:rPr>
              <a:t>y	si</a:t>
            </a:r>
            <a:r>
              <a:rPr sz="2400" spc="45" dirty="0">
                <a:latin typeface="Perpetua"/>
                <a:cs typeface="Perpetua"/>
              </a:rPr>
              <a:t>c</a:t>
            </a:r>
            <a:r>
              <a:rPr sz="2400" spc="5" dirty="0">
                <a:latin typeface="Perpetua"/>
                <a:cs typeface="Perpetua"/>
              </a:rPr>
              <a:t>k</a:t>
            </a:r>
            <a:r>
              <a:rPr sz="2400" dirty="0">
                <a:latin typeface="Perpetua"/>
                <a:cs typeface="Perpetua"/>
              </a:rPr>
              <a:t>.	</a:t>
            </a:r>
            <a:r>
              <a:rPr sz="2400" spc="-45" dirty="0">
                <a:latin typeface="Perpetua"/>
                <a:cs typeface="Perpetua"/>
              </a:rPr>
              <a:t>J</a:t>
            </a:r>
            <a:r>
              <a:rPr sz="2400" dirty="0">
                <a:latin typeface="Perpetua"/>
                <a:cs typeface="Perpetua"/>
              </a:rPr>
              <a:t>oe	d</a:t>
            </a:r>
            <a:r>
              <a:rPr sz="2400" spc="5" dirty="0">
                <a:latin typeface="Perpetua"/>
                <a:cs typeface="Perpetua"/>
              </a:rPr>
              <a:t>o</a:t>
            </a:r>
            <a:r>
              <a:rPr sz="2400" dirty="0">
                <a:latin typeface="Perpetua"/>
                <a:cs typeface="Perpetua"/>
              </a:rPr>
              <a:t>es	h</a:t>
            </a:r>
            <a:r>
              <a:rPr sz="2400" spc="-70" dirty="0">
                <a:latin typeface="Perpetua"/>
                <a:cs typeface="Perpetua"/>
              </a:rPr>
              <a:t>a</a:t>
            </a:r>
            <a:r>
              <a:rPr sz="2400" spc="-55" dirty="0">
                <a:latin typeface="Perpetua"/>
                <a:cs typeface="Perpetua"/>
              </a:rPr>
              <a:t>v</a:t>
            </a:r>
            <a:r>
              <a:rPr sz="2400" dirty="0">
                <a:latin typeface="Perpetua"/>
                <a:cs typeface="Perpetua"/>
              </a:rPr>
              <a:t>e	</a:t>
            </a:r>
            <a:r>
              <a:rPr sz="2400" spc="-5" dirty="0">
                <a:latin typeface="Perpetua"/>
                <a:cs typeface="Perpetua"/>
              </a:rPr>
              <a:t>acute  </a:t>
            </a:r>
            <a:r>
              <a:rPr sz="2400" dirty="0">
                <a:latin typeface="Perpetua"/>
                <a:cs typeface="Perpetua"/>
              </a:rPr>
              <a:t>appendicitis.Therefore he is </a:t>
            </a:r>
            <a:r>
              <a:rPr sz="2400" spc="-10" dirty="0">
                <a:latin typeface="Perpetua"/>
                <a:cs typeface="Perpetua"/>
              </a:rPr>
              <a:t>very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spc="10" dirty="0">
                <a:latin typeface="Perpetua"/>
                <a:cs typeface="Perpetua"/>
              </a:rPr>
              <a:t>sick.</a:t>
            </a:r>
            <a:endParaRPr sz="2400">
              <a:latin typeface="Perpetua"/>
              <a:cs typeface="Perpetua"/>
            </a:endParaRPr>
          </a:p>
          <a:p>
            <a:pPr marL="527685" indent="-515620">
              <a:lnSpc>
                <a:spcPts val="2865"/>
              </a:lnSpc>
              <a:spcBef>
                <a:spcPts val="600"/>
              </a:spcBef>
              <a:buSzPct val="85416"/>
              <a:buAutoNum type="arabicPeriod"/>
              <a:tabLst>
                <a:tab pos="527685" algn="l"/>
                <a:tab pos="528320" algn="l"/>
              </a:tabLst>
            </a:pPr>
            <a:r>
              <a:rPr sz="2400" spc="5" dirty="0">
                <a:latin typeface="Perpetua"/>
                <a:cs typeface="Perpetua"/>
              </a:rPr>
              <a:t>During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20" dirty="0">
                <a:latin typeface="Perpetua"/>
                <a:cs typeface="Perpetua"/>
              </a:rPr>
              <a:t>weekend </a:t>
            </a:r>
            <a:r>
              <a:rPr sz="2400" spc="-50" dirty="0">
                <a:latin typeface="Perpetua"/>
                <a:cs typeface="Perpetua"/>
              </a:rPr>
              <a:t>we </a:t>
            </a:r>
            <a:r>
              <a:rPr sz="2400" dirty="0">
                <a:latin typeface="Perpetua"/>
                <a:cs typeface="Perpetua"/>
              </a:rPr>
              <a:t>either </a:t>
            </a:r>
            <a:r>
              <a:rPr sz="2400" spc="-5" dirty="0">
                <a:latin typeface="Perpetua"/>
                <a:cs typeface="Perpetua"/>
              </a:rPr>
              <a:t>go </a:t>
            </a:r>
            <a:r>
              <a:rPr sz="2400" dirty="0">
                <a:latin typeface="Perpetua"/>
                <a:cs typeface="Perpetua"/>
              </a:rPr>
              <a:t>fishing or </a:t>
            </a:r>
            <a:r>
              <a:rPr sz="2400" spc="-50" dirty="0">
                <a:latin typeface="Perpetua"/>
                <a:cs typeface="Perpetua"/>
              </a:rPr>
              <a:t>we </a:t>
            </a:r>
            <a:r>
              <a:rPr sz="2400" spc="-25" dirty="0">
                <a:latin typeface="Perpetua"/>
                <a:cs typeface="Perpetua"/>
              </a:rPr>
              <a:t>play </a:t>
            </a:r>
            <a:r>
              <a:rPr sz="2400" spc="-10" dirty="0">
                <a:latin typeface="Perpetua"/>
                <a:cs typeface="Perpetua"/>
              </a:rPr>
              <a:t>cards.</a:t>
            </a:r>
            <a:r>
              <a:rPr sz="2400" spc="38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This </a:t>
            </a:r>
            <a:r>
              <a:rPr sz="2400" spc="-25" dirty="0">
                <a:latin typeface="Perpetua"/>
                <a:cs typeface="Perpetua"/>
              </a:rPr>
              <a:t>weekend</a:t>
            </a:r>
            <a:endParaRPr sz="2400">
              <a:latin typeface="Perpetua"/>
              <a:cs typeface="Perpetua"/>
            </a:endParaRPr>
          </a:p>
          <a:p>
            <a:pPr marL="527685">
              <a:lnSpc>
                <a:spcPts val="3105"/>
              </a:lnSpc>
            </a:pPr>
            <a:r>
              <a:rPr sz="2400" spc="-45" dirty="0">
                <a:latin typeface="Perpetua"/>
                <a:cs typeface="Perpetua"/>
              </a:rPr>
              <a:t>we </a:t>
            </a:r>
            <a:r>
              <a:rPr sz="2400" dirty="0">
                <a:latin typeface="Perpetua"/>
                <a:cs typeface="Perpetua"/>
              </a:rPr>
              <a:t>did not </a:t>
            </a:r>
            <a:r>
              <a:rPr sz="2400" spc="-5" dirty="0">
                <a:latin typeface="Perpetua"/>
                <a:cs typeface="Perpetua"/>
              </a:rPr>
              <a:t>go </a:t>
            </a:r>
            <a:r>
              <a:rPr sz="2400" spc="-10" dirty="0">
                <a:latin typeface="Perpetua"/>
                <a:cs typeface="Perpetua"/>
              </a:rPr>
              <a:t>fishing.Therefore, </a:t>
            </a:r>
            <a:r>
              <a:rPr sz="2400" dirty="0">
                <a:latin typeface="Perpetua"/>
                <a:cs typeface="Perpetua"/>
              </a:rPr>
              <a:t>this </a:t>
            </a:r>
            <a:r>
              <a:rPr sz="2400" spc="-20" dirty="0">
                <a:latin typeface="Perpetua"/>
                <a:cs typeface="Perpetua"/>
              </a:rPr>
              <a:t>weekend </a:t>
            </a:r>
            <a:r>
              <a:rPr sz="2400" spc="-45" dirty="0">
                <a:latin typeface="Perpetua"/>
                <a:cs typeface="Perpetua"/>
              </a:rPr>
              <a:t>we </a:t>
            </a:r>
            <a:r>
              <a:rPr sz="2400" spc="-30" dirty="0">
                <a:latin typeface="Perpetua"/>
                <a:cs typeface="Perpetua"/>
              </a:rPr>
              <a:t>were </a:t>
            </a:r>
            <a:r>
              <a:rPr sz="2400" spc="-15" dirty="0">
                <a:latin typeface="Perpetua"/>
                <a:cs typeface="Perpetua"/>
              </a:rPr>
              <a:t>playing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cards</a:t>
            </a:r>
            <a:r>
              <a:rPr sz="2600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1140" y="3618357"/>
            <a:ext cx="32245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marR="5080" indent="-515620">
              <a:lnSpc>
                <a:spcPct val="100000"/>
              </a:lnSpc>
              <a:spcBef>
                <a:spcPts val="100"/>
              </a:spcBef>
              <a:tabLst>
                <a:tab pos="527685" algn="l"/>
                <a:tab pos="1014094" algn="l"/>
                <a:tab pos="1103630" algn="l"/>
                <a:tab pos="1656714" algn="l"/>
                <a:tab pos="1837055" algn="l"/>
                <a:tab pos="2464435" algn="l"/>
                <a:tab pos="2669540" algn="l"/>
              </a:tabLst>
            </a:pPr>
            <a:r>
              <a:rPr sz="2050" spc="-5" dirty="0">
                <a:latin typeface="Perpetua"/>
                <a:cs typeface="Perpetua"/>
              </a:rPr>
              <a:t>3.	</a:t>
            </a:r>
            <a:r>
              <a:rPr sz="2400" dirty="0">
                <a:latin typeface="Perpetua"/>
                <a:cs typeface="Perpetua"/>
              </a:rPr>
              <a:t>If		</a:t>
            </a:r>
            <a:r>
              <a:rPr sz="2400" spc="-45" dirty="0">
                <a:latin typeface="Perpetua"/>
                <a:cs typeface="Perpetua"/>
              </a:rPr>
              <a:t>we		</a:t>
            </a:r>
            <a:r>
              <a:rPr sz="2400" dirty="0">
                <a:latin typeface="Perpetua"/>
                <a:cs typeface="Perpetua"/>
              </a:rPr>
              <a:t>win		the  If	</a:t>
            </a:r>
            <a:r>
              <a:rPr sz="2400" spc="-90" dirty="0">
                <a:latin typeface="Perpetua"/>
                <a:cs typeface="Perpetua"/>
              </a:rPr>
              <a:t>w</a:t>
            </a:r>
            <a:r>
              <a:rPr sz="2400" dirty="0">
                <a:latin typeface="Perpetua"/>
                <a:cs typeface="Perpetua"/>
              </a:rPr>
              <a:t>e	h</a:t>
            </a:r>
            <a:r>
              <a:rPr sz="2400" spc="-70" dirty="0">
                <a:latin typeface="Perpetua"/>
                <a:cs typeface="Perpetua"/>
              </a:rPr>
              <a:t>a</a:t>
            </a:r>
            <a:r>
              <a:rPr sz="2400" spc="-55" dirty="0">
                <a:latin typeface="Perpetua"/>
                <a:cs typeface="Perpetua"/>
              </a:rPr>
              <a:t>v</a:t>
            </a:r>
            <a:r>
              <a:rPr sz="2400" dirty="0">
                <a:latin typeface="Perpetua"/>
                <a:cs typeface="Perpetua"/>
              </a:rPr>
              <a:t>e	</a:t>
            </a:r>
            <a:r>
              <a:rPr sz="2400" spc="-5" dirty="0">
                <a:latin typeface="Perpetua"/>
                <a:cs typeface="Perpetua"/>
              </a:rPr>
              <a:t>m</a:t>
            </a:r>
            <a:r>
              <a:rPr sz="2400" spc="5" dirty="0">
                <a:latin typeface="Perpetua"/>
                <a:cs typeface="Perpetua"/>
              </a:rPr>
              <a:t>o</a:t>
            </a:r>
            <a:r>
              <a:rPr sz="2400" dirty="0">
                <a:latin typeface="Perpetua"/>
                <a:cs typeface="Perpetua"/>
              </a:rPr>
              <a:t>n</a:t>
            </a:r>
            <a:r>
              <a:rPr sz="2400" spc="-30" dirty="0">
                <a:latin typeface="Perpetua"/>
                <a:cs typeface="Perpetua"/>
              </a:rPr>
              <a:t>e</a:t>
            </a:r>
            <a:r>
              <a:rPr sz="2400" dirty="0">
                <a:latin typeface="Perpetua"/>
                <a:cs typeface="Perpetua"/>
              </a:rPr>
              <a:t>y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51630" y="3618357"/>
            <a:ext cx="23971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475" marR="5080" indent="-105410">
              <a:lnSpc>
                <a:spcPct val="100000"/>
              </a:lnSpc>
              <a:spcBef>
                <a:spcPts val="100"/>
              </a:spcBef>
              <a:tabLst>
                <a:tab pos="760730" algn="l"/>
                <a:tab pos="1010919" algn="l"/>
                <a:tab pos="1507490" algn="l"/>
                <a:tab pos="1743710" algn="l"/>
                <a:tab pos="2103755" algn="l"/>
              </a:tabLst>
            </a:pPr>
            <a:r>
              <a:rPr sz="2400" dirty="0">
                <a:latin typeface="Perpetua"/>
                <a:cs typeface="Perpetua"/>
              </a:rPr>
              <a:t>game		</a:t>
            </a:r>
            <a:r>
              <a:rPr sz="2400" spc="-45" dirty="0">
                <a:latin typeface="Perpetua"/>
                <a:cs typeface="Perpetua"/>
              </a:rPr>
              <a:t>we		</a:t>
            </a:r>
            <a:r>
              <a:rPr sz="2400" dirty="0">
                <a:latin typeface="Perpetua"/>
                <a:cs typeface="Perpetua"/>
              </a:rPr>
              <a:t>will  </a:t>
            </a:r>
            <a:r>
              <a:rPr sz="2400" spc="-90" dirty="0">
                <a:latin typeface="Perpetua"/>
                <a:cs typeface="Perpetua"/>
              </a:rPr>
              <a:t>w</a:t>
            </a:r>
            <a:r>
              <a:rPr sz="2400" dirty="0">
                <a:latin typeface="Perpetua"/>
                <a:cs typeface="Perpetua"/>
              </a:rPr>
              <a:t>e	will	</a:t>
            </a:r>
            <a:r>
              <a:rPr sz="2400" spc="5" dirty="0">
                <a:latin typeface="Perpetua"/>
                <a:cs typeface="Perpetua"/>
              </a:rPr>
              <a:t>g</a:t>
            </a:r>
            <a:r>
              <a:rPr sz="2400" dirty="0">
                <a:latin typeface="Perpetua"/>
                <a:cs typeface="Perpetua"/>
              </a:rPr>
              <a:t>o	on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19825" y="3618357"/>
            <a:ext cx="15595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3510" marR="5080" indent="-131445">
              <a:lnSpc>
                <a:spcPct val="100000"/>
              </a:lnSpc>
              <a:spcBef>
                <a:spcPts val="100"/>
              </a:spcBef>
              <a:tabLst>
                <a:tab pos="581025" algn="l"/>
                <a:tab pos="770255" algn="l"/>
                <a:tab pos="1318895" algn="l"/>
              </a:tabLst>
            </a:pPr>
            <a:r>
              <a:rPr sz="2400" dirty="0">
                <a:latin typeface="Perpetua"/>
                <a:cs typeface="Perpetua"/>
              </a:rPr>
              <a:t>get		</a:t>
            </a:r>
            <a:r>
              <a:rPr sz="2400" spc="5" dirty="0">
                <a:latin typeface="Perpetua"/>
                <a:cs typeface="Perpetua"/>
              </a:rPr>
              <a:t>much  </a:t>
            </a:r>
            <a:r>
              <a:rPr sz="2400" dirty="0">
                <a:latin typeface="Perpetua"/>
                <a:cs typeface="Perpetua"/>
              </a:rPr>
              <a:t>a	t</a:t>
            </a:r>
            <a:r>
              <a:rPr sz="2400" spc="40" dirty="0">
                <a:latin typeface="Perpetua"/>
                <a:cs typeface="Perpetua"/>
              </a:rPr>
              <a:t>r</a:t>
            </a:r>
            <a:r>
              <a:rPr sz="2400" dirty="0">
                <a:latin typeface="Perpetua"/>
                <a:cs typeface="Perpetua"/>
              </a:rPr>
              <a:t>ip	</a:t>
            </a:r>
            <a:r>
              <a:rPr sz="2400" spc="-5" dirty="0">
                <a:latin typeface="Perpetua"/>
                <a:cs typeface="Perpetua"/>
              </a:rPr>
              <a:t>to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07857" y="3618357"/>
            <a:ext cx="8312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995" marR="5080" indent="-7493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Perpetua"/>
                <a:cs typeface="Perpetua"/>
              </a:rPr>
              <a:t>mo</a:t>
            </a:r>
            <a:r>
              <a:rPr sz="2400" spc="5" dirty="0">
                <a:latin typeface="Perpetua"/>
                <a:cs typeface="Perpetua"/>
              </a:rPr>
              <a:t>n</a:t>
            </a:r>
            <a:r>
              <a:rPr sz="2400" spc="-40" dirty="0">
                <a:latin typeface="Perpetua"/>
                <a:cs typeface="Perpetua"/>
              </a:rPr>
              <a:t>e</a:t>
            </a:r>
            <a:r>
              <a:rPr sz="2400" spc="-240" dirty="0">
                <a:latin typeface="Perpetua"/>
                <a:cs typeface="Perpetua"/>
              </a:rPr>
              <a:t>y</a:t>
            </a:r>
            <a:r>
              <a:rPr sz="2400" dirty="0">
                <a:latin typeface="Perpetua"/>
                <a:cs typeface="Perpetua"/>
              </a:rPr>
              <a:t>.  </a:t>
            </a:r>
            <a:r>
              <a:rPr sz="2400" spc="-15" dirty="0">
                <a:latin typeface="Perpetua"/>
                <a:cs typeface="Perpetua"/>
              </a:rPr>
              <a:t>C</a:t>
            </a:r>
            <a:r>
              <a:rPr sz="2400" dirty="0">
                <a:latin typeface="Perpetua"/>
                <a:cs typeface="Perpetua"/>
              </a:rPr>
              <a:t>hi</a:t>
            </a:r>
            <a:r>
              <a:rPr sz="2400" spc="5" dirty="0">
                <a:latin typeface="Perpetua"/>
                <a:cs typeface="Perpetua"/>
              </a:rPr>
              <a:t>n</a:t>
            </a:r>
            <a:r>
              <a:rPr sz="2400" dirty="0">
                <a:latin typeface="Perpetua"/>
                <a:cs typeface="Perpetua"/>
              </a:rPr>
              <a:t>a.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6251" y="4350257"/>
            <a:ext cx="6562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Perpetua"/>
                <a:cs typeface="Perpetua"/>
              </a:rPr>
              <a:t>Therefore, </a:t>
            </a:r>
            <a:r>
              <a:rPr sz="2400" dirty="0">
                <a:latin typeface="Perpetua"/>
                <a:cs typeface="Perpetua"/>
              </a:rPr>
              <a:t>if </a:t>
            </a:r>
            <a:r>
              <a:rPr sz="2400" spc="-45" dirty="0">
                <a:latin typeface="Perpetua"/>
                <a:cs typeface="Perpetua"/>
              </a:rPr>
              <a:t>we </a:t>
            </a:r>
            <a:r>
              <a:rPr sz="2400" dirty="0">
                <a:latin typeface="Perpetua"/>
                <a:cs typeface="Perpetua"/>
              </a:rPr>
              <a:t>win the game </a:t>
            </a:r>
            <a:r>
              <a:rPr sz="2400" spc="-45" dirty="0">
                <a:latin typeface="Perpetua"/>
                <a:cs typeface="Perpetua"/>
              </a:rPr>
              <a:t>we </a:t>
            </a:r>
            <a:r>
              <a:rPr sz="2400" dirty="0">
                <a:latin typeface="Perpetua"/>
                <a:cs typeface="Perpetua"/>
              </a:rPr>
              <a:t>will </a:t>
            </a:r>
            <a:r>
              <a:rPr sz="2400" spc="-5" dirty="0">
                <a:latin typeface="Perpetua"/>
                <a:cs typeface="Perpetua"/>
              </a:rPr>
              <a:t>go </a:t>
            </a:r>
            <a:r>
              <a:rPr sz="2400" dirty="0">
                <a:latin typeface="Perpetua"/>
                <a:cs typeface="Perpetua"/>
              </a:rPr>
              <a:t>on a </a:t>
            </a:r>
            <a:r>
              <a:rPr sz="2400" spc="10" dirty="0">
                <a:latin typeface="Perpetua"/>
                <a:cs typeface="Perpetua"/>
              </a:rPr>
              <a:t>trip </a:t>
            </a:r>
            <a:r>
              <a:rPr sz="2400" spc="-5" dirty="0">
                <a:latin typeface="Perpetua"/>
                <a:cs typeface="Perpetua"/>
              </a:rPr>
              <a:t>to</a:t>
            </a:r>
            <a:r>
              <a:rPr sz="2400" spc="-12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China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31140" y="485902"/>
            <a:ext cx="77260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Identify facts and conclusion </a:t>
            </a:r>
            <a:r>
              <a:rPr sz="2800" dirty="0"/>
              <a:t>for </a:t>
            </a:r>
            <a:r>
              <a:rPr sz="2800" spc="-5" dirty="0"/>
              <a:t>the sentences given</a:t>
            </a:r>
            <a:r>
              <a:rPr sz="2800" spc="50" dirty="0"/>
              <a:t> </a:t>
            </a:r>
            <a:r>
              <a:rPr sz="2800" spc="-15" dirty="0"/>
              <a:t>below:-</a:t>
            </a:r>
            <a:endParaRPr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4540" y="6476491"/>
            <a:ext cx="895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5381" y="6456984"/>
            <a:ext cx="901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Perpetua"/>
                <a:cs typeface="Perpetua"/>
              </a:rPr>
              <a:t>9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140" y="1209421"/>
            <a:ext cx="7731125" cy="3147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marR="1614805" indent="-527685">
              <a:lnSpc>
                <a:spcPct val="120900"/>
              </a:lnSpc>
              <a:spcBef>
                <a:spcPts val="100"/>
              </a:spcBef>
              <a:buSzPct val="85416"/>
              <a:buAutoNum type="arabicPeriod"/>
              <a:tabLst>
                <a:tab pos="527685" algn="l"/>
                <a:tab pos="528320" algn="l"/>
              </a:tabLst>
            </a:pPr>
            <a:r>
              <a:rPr sz="2400" spc="-20" dirty="0">
                <a:latin typeface="Perpetua"/>
                <a:cs typeface="Perpetua"/>
              </a:rPr>
              <a:t>Fact </a:t>
            </a:r>
            <a:r>
              <a:rPr sz="2400" dirty="0">
                <a:latin typeface="Perpetua"/>
                <a:cs typeface="Perpetua"/>
              </a:rPr>
              <a:t>1: If </a:t>
            </a:r>
            <a:r>
              <a:rPr sz="2400" spc="-15" dirty="0">
                <a:latin typeface="Perpetua"/>
                <a:cs typeface="Perpetua"/>
              </a:rPr>
              <a:t>Joe </a:t>
            </a:r>
            <a:r>
              <a:rPr sz="2400" dirty="0">
                <a:latin typeface="Perpetua"/>
                <a:cs typeface="Perpetua"/>
              </a:rPr>
              <a:t>has </a:t>
            </a:r>
            <a:r>
              <a:rPr sz="2400" spc="-5" dirty="0">
                <a:latin typeface="Perpetua"/>
                <a:cs typeface="Perpetua"/>
              </a:rPr>
              <a:t>acute </a:t>
            </a:r>
            <a:r>
              <a:rPr sz="2400" dirty="0">
                <a:latin typeface="Perpetua"/>
                <a:cs typeface="Perpetua"/>
              </a:rPr>
              <a:t>appendicitis, he is </a:t>
            </a:r>
            <a:r>
              <a:rPr sz="2400" spc="-10" dirty="0">
                <a:latin typeface="Perpetua"/>
                <a:cs typeface="Perpetua"/>
              </a:rPr>
              <a:t>very</a:t>
            </a:r>
            <a:r>
              <a:rPr sz="2400" spc="-305" dirty="0">
                <a:latin typeface="Perpetua"/>
                <a:cs typeface="Perpetua"/>
              </a:rPr>
              <a:t> </a:t>
            </a:r>
            <a:r>
              <a:rPr sz="2400" spc="10" dirty="0">
                <a:latin typeface="Perpetua"/>
                <a:cs typeface="Perpetua"/>
              </a:rPr>
              <a:t>sick.  </a:t>
            </a:r>
            <a:r>
              <a:rPr sz="2400" spc="-20" dirty="0">
                <a:latin typeface="Perpetua"/>
                <a:cs typeface="Perpetua"/>
              </a:rPr>
              <a:t>Fact </a:t>
            </a:r>
            <a:r>
              <a:rPr sz="2400" dirty="0">
                <a:latin typeface="Perpetua"/>
                <a:cs typeface="Perpetua"/>
              </a:rPr>
              <a:t>2: </a:t>
            </a:r>
            <a:r>
              <a:rPr sz="2400" spc="-15" dirty="0">
                <a:latin typeface="Perpetua"/>
                <a:cs typeface="Perpetua"/>
              </a:rPr>
              <a:t>Joe </a:t>
            </a:r>
            <a:r>
              <a:rPr sz="2400" dirty="0">
                <a:latin typeface="Perpetua"/>
                <a:cs typeface="Perpetua"/>
              </a:rPr>
              <a:t>does </a:t>
            </a:r>
            <a:r>
              <a:rPr sz="2400" spc="-35" dirty="0">
                <a:latin typeface="Perpetua"/>
                <a:cs typeface="Perpetua"/>
              </a:rPr>
              <a:t>have </a:t>
            </a:r>
            <a:r>
              <a:rPr sz="2400" spc="-5" dirty="0">
                <a:latin typeface="Perpetua"/>
                <a:cs typeface="Perpetua"/>
              </a:rPr>
              <a:t>acute appendicitis.  </a:t>
            </a:r>
            <a:r>
              <a:rPr sz="2400" dirty="0">
                <a:latin typeface="Perpetua"/>
                <a:cs typeface="Perpetua"/>
              </a:rPr>
              <a:t>Conclusion: </a:t>
            </a:r>
            <a:r>
              <a:rPr sz="2400" spc="-15" dirty="0">
                <a:latin typeface="Perpetua"/>
                <a:cs typeface="Perpetua"/>
              </a:rPr>
              <a:t>Joe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10" dirty="0">
                <a:latin typeface="Perpetua"/>
                <a:cs typeface="Perpetua"/>
              </a:rPr>
              <a:t>very</a:t>
            </a:r>
            <a:r>
              <a:rPr sz="2400" spc="-130" dirty="0">
                <a:latin typeface="Perpetua"/>
                <a:cs typeface="Perpetua"/>
              </a:rPr>
              <a:t> </a:t>
            </a:r>
            <a:r>
              <a:rPr sz="2400" spc="10" dirty="0">
                <a:latin typeface="Perpetua"/>
                <a:cs typeface="Perpetua"/>
              </a:rPr>
              <a:t>sick.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Perpetua"/>
              <a:buAutoNum type="arabicPeriod"/>
            </a:pPr>
            <a:endParaRPr sz="3000">
              <a:latin typeface="Times New Roman"/>
              <a:cs typeface="Times New Roman"/>
            </a:endParaRPr>
          </a:p>
          <a:p>
            <a:pPr marL="527685" marR="5080" indent="-527685">
              <a:lnSpc>
                <a:spcPct val="120800"/>
              </a:lnSpc>
              <a:spcBef>
                <a:spcPts val="5"/>
              </a:spcBef>
              <a:buSzPct val="85416"/>
              <a:buAutoNum type="arabicPeriod"/>
              <a:tabLst>
                <a:tab pos="527685" algn="l"/>
                <a:tab pos="528320" algn="l"/>
              </a:tabLst>
            </a:pPr>
            <a:r>
              <a:rPr sz="2400" spc="-20" dirty="0">
                <a:latin typeface="Perpetua"/>
                <a:cs typeface="Perpetua"/>
              </a:rPr>
              <a:t>Fact </a:t>
            </a:r>
            <a:r>
              <a:rPr sz="2400" dirty="0">
                <a:latin typeface="Perpetua"/>
                <a:cs typeface="Perpetua"/>
              </a:rPr>
              <a:t>1: </a:t>
            </a:r>
            <a:r>
              <a:rPr sz="2400" spc="5" dirty="0">
                <a:latin typeface="Perpetua"/>
                <a:cs typeface="Perpetua"/>
              </a:rPr>
              <a:t>During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20" dirty="0">
                <a:latin typeface="Perpetua"/>
                <a:cs typeface="Perpetua"/>
              </a:rPr>
              <a:t>weekend </a:t>
            </a:r>
            <a:r>
              <a:rPr sz="2400" spc="-45" dirty="0">
                <a:latin typeface="Perpetua"/>
                <a:cs typeface="Perpetua"/>
              </a:rPr>
              <a:t>we </a:t>
            </a:r>
            <a:r>
              <a:rPr sz="2400" dirty="0">
                <a:latin typeface="Perpetua"/>
                <a:cs typeface="Perpetua"/>
              </a:rPr>
              <a:t>either </a:t>
            </a:r>
            <a:r>
              <a:rPr sz="2400" spc="-5" dirty="0">
                <a:latin typeface="Perpetua"/>
                <a:cs typeface="Perpetua"/>
              </a:rPr>
              <a:t>go </a:t>
            </a:r>
            <a:r>
              <a:rPr sz="2400" dirty="0">
                <a:latin typeface="Perpetua"/>
                <a:cs typeface="Perpetua"/>
              </a:rPr>
              <a:t>fishing or </a:t>
            </a:r>
            <a:r>
              <a:rPr sz="2400" spc="-45" dirty="0">
                <a:latin typeface="Perpetua"/>
                <a:cs typeface="Perpetua"/>
              </a:rPr>
              <a:t>we </a:t>
            </a:r>
            <a:r>
              <a:rPr sz="2400" spc="-20" dirty="0">
                <a:latin typeface="Perpetua"/>
                <a:cs typeface="Perpetua"/>
              </a:rPr>
              <a:t>play </a:t>
            </a:r>
            <a:r>
              <a:rPr sz="2400" spc="-10" dirty="0">
                <a:latin typeface="Perpetua"/>
                <a:cs typeface="Perpetua"/>
              </a:rPr>
              <a:t>cards.  </a:t>
            </a:r>
            <a:r>
              <a:rPr sz="2400" spc="-20" dirty="0">
                <a:latin typeface="Perpetua"/>
                <a:cs typeface="Perpetua"/>
              </a:rPr>
              <a:t>Fact </a:t>
            </a:r>
            <a:r>
              <a:rPr sz="2400" dirty="0">
                <a:latin typeface="Perpetua"/>
                <a:cs typeface="Perpetua"/>
              </a:rPr>
              <a:t>2:This </a:t>
            </a:r>
            <a:r>
              <a:rPr sz="2400" spc="-20" dirty="0">
                <a:latin typeface="Perpetua"/>
                <a:cs typeface="Perpetua"/>
              </a:rPr>
              <a:t>weekend </a:t>
            </a:r>
            <a:r>
              <a:rPr sz="2400" spc="-45" dirty="0">
                <a:latin typeface="Perpetua"/>
                <a:cs typeface="Perpetua"/>
              </a:rPr>
              <a:t>we </a:t>
            </a:r>
            <a:r>
              <a:rPr sz="2400" dirty="0">
                <a:latin typeface="Perpetua"/>
                <a:cs typeface="Perpetua"/>
              </a:rPr>
              <a:t>did not </a:t>
            </a:r>
            <a:r>
              <a:rPr sz="2400" spc="-5" dirty="0">
                <a:latin typeface="Perpetua"/>
                <a:cs typeface="Perpetua"/>
              </a:rPr>
              <a:t>go</a:t>
            </a:r>
            <a:r>
              <a:rPr sz="2400" spc="35" dirty="0">
                <a:latin typeface="Perpetua"/>
                <a:cs typeface="Perpetua"/>
              </a:rPr>
              <a:t> </a:t>
            </a:r>
            <a:r>
              <a:rPr sz="2400" spc="-30" dirty="0">
                <a:latin typeface="Perpetua"/>
                <a:cs typeface="Perpetua"/>
              </a:rPr>
              <a:t>fishing.</a:t>
            </a:r>
            <a:endParaRPr sz="2400">
              <a:latin typeface="Perpetua"/>
              <a:cs typeface="Perpetua"/>
            </a:endParaRPr>
          </a:p>
          <a:p>
            <a:pPr marL="561340">
              <a:lnSpc>
                <a:spcPct val="100000"/>
              </a:lnSpc>
              <a:spcBef>
                <a:spcPts val="565"/>
              </a:spcBef>
            </a:pPr>
            <a:r>
              <a:rPr sz="2400" dirty="0">
                <a:latin typeface="Perpetua"/>
                <a:cs typeface="Perpetua"/>
              </a:rPr>
              <a:t>Conclusion </a:t>
            </a:r>
            <a:r>
              <a:rPr sz="2400" spc="30" dirty="0">
                <a:latin typeface="Perpetua"/>
                <a:cs typeface="Perpetua"/>
              </a:rPr>
              <a:t>:This </a:t>
            </a:r>
            <a:r>
              <a:rPr sz="2400" spc="-20" dirty="0">
                <a:latin typeface="Perpetua"/>
                <a:cs typeface="Perpetua"/>
              </a:rPr>
              <a:t>weekend </a:t>
            </a:r>
            <a:r>
              <a:rPr sz="2400" spc="-45" dirty="0">
                <a:latin typeface="Perpetua"/>
                <a:cs typeface="Perpetua"/>
              </a:rPr>
              <a:t>we </a:t>
            </a:r>
            <a:r>
              <a:rPr sz="2400" spc="-30" dirty="0">
                <a:latin typeface="Perpetua"/>
                <a:cs typeface="Perpetua"/>
              </a:rPr>
              <a:t>were </a:t>
            </a:r>
            <a:r>
              <a:rPr sz="2400" spc="-15" dirty="0">
                <a:latin typeface="Perpetua"/>
                <a:cs typeface="Perpetua"/>
              </a:rPr>
              <a:t>playing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cards</a:t>
            </a:r>
            <a:r>
              <a:rPr sz="2600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07857" y="4883657"/>
            <a:ext cx="8299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Perpetua"/>
                <a:cs typeface="Perpetua"/>
              </a:rPr>
              <a:t>mo</a:t>
            </a:r>
            <a:r>
              <a:rPr sz="2400" spc="5" dirty="0">
                <a:latin typeface="Perpetua"/>
                <a:cs typeface="Perpetua"/>
              </a:rPr>
              <a:t>n</a:t>
            </a:r>
            <a:r>
              <a:rPr sz="2400" spc="-40" dirty="0">
                <a:latin typeface="Perpetua"/>
                <a:cs typeface="Perpetua"/>
              </a:rPr>
              <a:t>e</a:t>
            </a:r>
            <a:r>
              <a:rPr sz="2400" spc="-240" dirty="0">
                <a:latin typeface="Perpetua"/>
                <a:cs typeface="Perpetua"/>
              </a:rPr>
              <a:t>y</a:t>
            </a:r>
            <a:r>
              <a:rPr sz="2400" dirty="0">
                <a:latin typeface="Perpetua"/>
                <a:cs typeface="Perpetua"/>
              </a:rPr>
              <a:t>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1140" y="4883657"/>
            <a:ext cx="7520940" cy="1199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marR="5080" indent="-515620">
              <a:lnSpc>
                <a:spcPct val="100000"/>
              </a:lnSpc>
              <a:spcBef>
                <a:spcPts val="100"/>
              </a:spcBef>
              <a:tabLst>
                <a:tab pos="527685" algn="l"/>
                <a:tab pos="1259205" algn="l"/>
                <a:tab pos="1757680" algn="l"/>
                <a:tab pos="2196465" algn="l"/>
                <a:tab pos="2794000" algn="l"/>
                <a:tab pos="3487420" algn="l"/>
                <a:tab pos="4115435" algn="l"/>
                <a:tab pos="4977130" algn="l"/>
                <a:tab pos="5574030" algn="l"/>
                <a:tab pos="6273800" algn="l"/>
                <a:tab pos="6894195" algn="l"/>
              </a:tabLst>
            </a:pPr>
            <a:r>
              <a:rPr sz="2050" spc="-5" dirty="0">
                <a:latin typeface="Perpetua"/>
                <a:cs typeface="Perpetua"/>
              </a:rPr>
              <a:t>3.	</a:t>
            </a:r>
            <a:r>
              <a:rPr sz="2400" spc="-60" dirty="0">
                <a:latin typeface="Perpetua"/>
                <a:cs typeface="Perpetua"/>
              </a:rPr>
              <a:t>F</a:t>
            </a:r>
            <a:r>
              <a:rPr sz="2400" spc="-5" dirty="0">
                <a:latin typeface="Perpetua"/>
                <a:cs typeface="Perpetua"/>
              </a:rPr>
              <a:t>ac</a:t>
            </a:r>
            <a:r>
              <a:rPr sz="2400" dirty="0">
                <a:latin typeface="Perpetua"/>
                <a:cs typeface="Perpetua"/>
              </a:rPr>
              <a:t>t	1:	If	</a:t>
            </a:r>
            <a:r>
              <a:rPr sz="2400" spc="-90" dirty="0">
                <a:latin typeface="Perpetua"/>
                <a:cs typeface="Perpetua"/>
              </a:rPr>
              <a:t>w</a:t>
            </a:r>
            <a:r>
              <a:rPr sz="2400" dirty="0">
                <a:latin typeface="Perpetua"/>
                <a:cs typeface="Perpetua"/>
              </a:rPr>
              <a:t>e	win	the	game	</a:t>
            </a:r>
            <a:r>
              <a:rPr sz="2400" spc="-90" dirty="0">
                <a:latin typeface="Perpetua"/>
                <a:cs typeface="Perpetua"/>
              </a:rPr>
              <a:t>w</a:t>
            </a:r>
            <a:r>
              <a:rPr sz="2400" dirty="0">
                <a:latin typeface="Perpetua"/>
                <a:cs typeface="Perpetua"/>
              </a:rPr>
              <a:t>e	will	get	</a:t>
            </a:r>
            <a:r>
              <a:rPr sz="2400" spc="-25" dirty="0">
                <a:latin typeface="Perpetua"/>
                <a:cs typeface="Perpetua"/>
              </a:rPr>
              <a:t>m</a:t>
            </a:r>
            <a:r>
              <a:rPr sz="2400" dirty="0">
                <a:latin typeface="Perpetua"/>
                <a:cs typeface="Perpetua"/>
              </a:rPr>
              <a:t>u</a:t>
            </a:r>
            <a:r>
              <a:rPr sz="2400" spc="50" dirty="0">
                <a:latin typeface="Perpetua"/>
                <a:cs typeface="Perpetua"/>
              </a:rPr>
              <a:t>c</a:t>
            </a:r>
            <a:r>
              <a:rPr sz="2400" dirty="0">
                <a:latin typeface="Perpetua"/>
                <a:cs typeface="Perpetua"/>
              </a:rPr>
              <a:t>h  </a:t>
            </a:r>
            <a:r>
              <a:rPr sz="2400" spc="-20" dirty="0">
                <a:latin typeface="Perpetua"/>
                <a:cs typeface="Perpetua"/>
              </a:rPr>
              <a:t>Fact </a:t>
            </a:r>
            <a:r>
              <a:rPr sz="2400" dirty="0">
                <a:latin typeface="Perpetua"/>
                <a:cs typeface="Perpetua"/>
              </a:rPr>
              <a:t>2: If </a:t>
            </a:r>
            <a:r>
              <a:rPr sz="2400" spc="-45" dirty="0">
                <a:latin typeface="Perpetua"/>
                <a:cs typeface="Perpetua"/>
              </a:rPr>
              <a:t>we </a:t>
            </a:r>
            <a:r>
              <a:rPr sz="2400" spc="-35" dirty="0">
                <a:latin typeface="Perpetua"/>
                <a:cs typeface="Perpetua"/>
              </a:rPr>
              <a:t>have </a:t>
            </a:r>
            <a:r>
              <a:rPr sz="2400" spc="-10" dirty="0">
                <a:latin typeface="Perpetua"/>
                <a:cs typeface="Perpetua"/>
              </a:rPr>
              <a:t>money </a:t>
            </a:r>
            <a:r>
              <a:rPr sz="2400" spc="-45" dirty="0">
                <a:latin typeface="Perpetua"/>
                <a:cs typeface="Perpetua"/>
              </a:rPr>
              <a:t>we </a:t>
            </a:r>
            <a:r>
              <a:rPr sz="2400" dirty="0">
                <a:latin typeface="Perpetua"/>
                <a:cs typeface="Perpetua"/>
              </a:rPr>
              <a:t>will </a:t>
            </a:r>
            <a:r>
              <a:rPr sz="2400" spc="-5" dirty="0">
                <a:latin typeface="Perpetua"/>
                <a:cs typeface="Perpetua"/>
              </a:rPr>
              <a:t>go </a:t>
            </a:r>
            <a:r>
              <a:rPr sz="2400" dirty="0">
                <a:latin typeface="Perpetua"/>
                <a:cs typeface="Perpetua"/>
              </a:rPr>
              <a:t>on a </a:t>
            </a:r>
            <a:r>
              <a:rPr sz="2400" spc="10" dirty="0">
                <a:latin typeface="Perpetua"/>
                <a:cs typeface="Perpetua"/>
              </a:rPr>
              <a:t>trip </a:t>
            </a:r>
            <a:r>
              <a:rPr sz="2400" spc="-5" dirty="0">
                <a:latin typeface="Perpetua"/>
                <a:cs typeface="Perpetua"/>
              </a:rPr>
              <a:t>to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China.</a:t>
            </a:r>
            <a:endParaRPr sz="2400">
              <a:latin typeface="Perpetua"/>
              <a:cs typeface="Perpetua"/>
            </a:endParaRPr>
          </a:p>
          <a:p>
            <a:pPr marL="56134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Perpetua"/>
                <a:cs typeface="Perpetua"/>
              </a:rPr>
              <a:t>Conclusion : If </a:t>
            </a:r>
            <a:r>
              <a:rPr sz="2400" spc="-45" dirty="0">
                <a:latin typeface="Perpetua"/>
                <a:cs typeface="Perpetua"/>
              </a:rPr>
              <a:t>we </a:t>
            </a:r>
            <a:r>
              <a:rPr sz="2400" dirty="0">
                <a:latin typeface="Perpetua"/>
                <a:cs typeface="Perpetua"/>
              </a:rPr>
              <a:t>win the </a:t>
            </a:r>
            <a:r>
              <a:rPr sz="2400" spc="-15" dirty="0">
                <a:latin typeface="Perpetua"/>
                <a:cs typeface="Perpetua"/>
              </a:rPr>
              <a:t>game, </a:t>
            </a:r>
            <a:r>
              <a:rPr sz="2400" spc="-45" dirty="0">
                <a:latin typeface="Perpetua"/>
                <a:cs typeface="Perpetua"/>
              </a:rPr>
              <a:t>we </a:t>
            </a:r>
            <a:r>
              <a:rPr sz="2400" dirty="0">
                <a:latin typeface="Perpetua"/>
                <a:cs typeface="Perpetua"/>
              </a:rPr>
              <a:t>will </a:t>
            </a:r>
            <a:r>
              <a:rPr sz="2400" spc="-5" dirty="0">
                <a:latin typeface="Perpetua"/>
                <a:cs typeface="Perpetua"/>
              </a:rPr>
              <a:t>go </a:t>
            </a:r>
            <a:r>
              <a:rPr sz="2400" dirty="0">
                <a:latin typeface="Perpetua"/>
                <a:cs typeface="Perpetua"/>
              </a:rPr>
              <a:t>on a </a:t>
            </a:r>
            <a:r>
              <a:rPr sz="2400" spc="10" dirty="0">
                <a:latin typeface="Perpetua"/>
                <a:cs typeface="Perpetua"/>
              </a:rPr>
              <a:t>trip </a:t>
            </a:r>
            <a:r>
              <a:rPr sz="2400" spc="-5" dirty="0">
                <a:latin typeface="Perpetua"/>
                <a:cs typeface="Perpetua"/>
              </a:rPr>
              <a:t>to</a:t>
            </a:r>
            <a:r>
              <a:rPr sz="2400" spc="-20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China.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07794" y="333502"/>
            <a:ext cx="46120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Identify facts and conclusion</a:t>
            </a:r>
            <a:r>
              <a:rPr sz="2800" spc="5" dirty="0"/>
              <a:t> </a:t>
            </a:r>
            <a:r>
              <a:rPr sz="2800" spc="-5" dirty="0"/>
              <a:t>(Soln.)</a:t>
            </a:r>
            <a:endParaRPr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4540" y="6476491"/>
            <a:ext cx="895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10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1180" y="1225286"/>
            <a:ext cx="5577205" cy="3309620"/>
          </a:xfrm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2800" spc="-5" dirty="0">
                <a:latin typeface="Perpetua"/>
                <a:cs typeface="Perpetua"/>
              </a:rPr>
              <a:t>Set</a:t>
            </a:r>
            <a:r>
              <a:rPr sz="2800" spc="-2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1:-</a:t>
            </a:r>
            <a:endParaRPr sz="2800">
              <a:latin typeface="Perpetua"/>
              <a:cs typeface="Perpetua"/>
            </a:endParaRPr>
          </a:p>
          <a:p>
            <a:pPr marL="12700" marR="464820">
              <a:lnSpc>
                <a:spcPct val="111800"/>
              </a:lnSpc>
              <a:spcBef>
                <a:spcPts val="10"/>
              </a:spcBef>
            </a:pPr>
            <a:r>
              <a:rPr sz="2800" spc="-25" dirty="0">
                <a:latin typeface="Perpetua"/>
                <a:cs typeface="Perpetua"/>
              </a:rPr>
              <a:t>Fact </a:t>
            </a:r>
            <a:r>
              <a:rPr sz="2800" spc="-5" dirty="0">
                <a:latin typeface="Perpetua"/>
                <a:cs typeface="Perpetua"/>
              </a:rPr>
              <a:t>1: Islands </a:t>
            </a:r>
            <a:r>
              <a:rPr sz="2800" spc="-15" dirty="0">
                <a:latin typeface="Perpetua"/>
                <a:cs typeface="Perpetua"/>
              </a:rPr>
              <a:t>are </a:t>
            </a:r>
            <a:r>
              <a:rPr sz="2800" dirty="0">
                <a:latin typeface="Perpetua"/>
                <a:cs typeface="Perpetua"/>
              </a:rPr>
              <a:t>surrounded </a:t>
            </a:r>
            <a:r>
              <a:rPr sz="2800" spc="-35" dirty="0">
                <a:latin typeface="Perpetua"/>
                <a:cs typeface="Perpetua"/>
              </a:rPr>
              <a:t>by </a:t>
            </a:r>
            <a:r>
              <a:rPr sz="2800" spc="-55" dirty="0">
                <a:latin typeface="Perpetua"/>
                <a:cs typeface="Perpetua"/>
              </a:rPr>
              <a:t>water.  </a:t>
            </a:r>
            <a:r>
              <a:rPr sz="2800" spc="-25" dirty="0">
                <a:latin typeface="Perpetua"/>
                <a:cs typeface="Perpetua"/>
              </a:rPr>
              <a:t>Fact </a:t>
            </a:r>
            <a:r>
              <a:rPr sz="2800" spc="-5" dirty="0">
                <a:latin typeface="Perpetua"/>
                <a:cs typeface="Perpetua"/>
              </a:rPr>
              <a:t>2: Maui is an</a:t>
            </a:r>
            <a:r>
              <a:rPr sz="2800" spc="-9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island.</a:t>
            </a:r>
            <a:endParaRPr sz="2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latin typeface="Perpetua"/>
                <a:cs typeface="Perpetua"/>
              </a:rPr>
              <a:t>Set</a:t>
            </a:r>
            <a:r>
              <a:rPr sz="2800" spc="-2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2:-</a:t>
            </a:r>
            <a:endParaRPr sz="2800">
              <a:latin typeface="Perpetua"/>
              <a:cs typeface="Perpetua"/>
            </a:endParaRPr>
          </a:p>
          <a:p>
            <a:pPr marL="12700" marR="5080">
              <a:lnSpc>
                <a:spcPct val="111800"/>
              </a:lnSpc>
            </a:pPr>
            <a:r>
              <a:rPr sz="2800" spc="-15" dirty="0">
                <a:latin typeface="Perpetua"/>
                <a:cs typeface="Perpetua"/>
              </a:rPr>
              <a:t>Fact1: </a:t>
            </a:r>
            <a:r>
              <a:rPr sz="2800" spc="-10" dirty="0">
                <a:latin typeface="Perpetua"/>
                <a:cs typeface="Perpetua"/>
              </a:rPr>
              <a:t>Acute angles </a:t>
            </a:r>
            <a:r>
              <a:rPr sz="2800" spc="-15" dirty="0">
                <a:latin typeface="Perpetua"/>
                <a:cs typeface="Perpetua"/>
              </a:rPr>
              <a:t>are </a:t>
            </a:r>
            <a:r>
              <a:rPr sz="2800" spc="-5" dirty="0">
                <a:latin typeface="Perpetua"/>
                <a:cs typeface="Perpetua"/>
              </a:rPr>
              <a:t>less than 90</a:t>
            </a:r>
            <a:r>
              <a:rPr sz="2800" spc="-28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degrees  </a:t>
            </a:r>
            <a:r>
              <a:rPr sz="2800" spc="-20" dirty="0">
                <a:latin typeface="Perpetua"/>
                <a:cs typeface="Perpetua"/>
              </a:rPr>
              <a:t>Fact2 </a:t>
            </a:r>
            <a:r>
              <a:rPr sz="2800" spc="25" dirty="0">
                <a:latin typeface="Perpetua"/>
                <a:cs typeface="Perpetua"/>
              </a:rPr>
              <a:t>:This </a:t>
            </a:r>
            <a:r>
              <a:rPr sz="2800" spc="-5" dirty="0">
                <a:latin typeface="Perpetua"/>
                <a:cs typeface="Perpetua"/>
              </a:rPr>
              <a:t>angle is 40</a:t>
            </a:r>
            <a:r>
              <a:rPr sz="2800" spc="-1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degrees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1140" y="485902"/>
            <a:ext cx="65195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What will be </a:t>
            </a:r>
            <a:r>
              <a:rPr sz="2800" spc="-5" dirty="0"/>
              <a:t>the conclusion </a:t>
            </a:r>
            <a:r>
              <a:rPr sz="2800" dirty="0"/>
              <a:t>for </a:t>
            </a:r>
            <a:r>
              <a:rPr sz="2800" spc="-5" dirty="0"/>
              <a:t>cases </a:t>
            </a:r>
            <a:r>
              <a:rPr sz="2800" spc="-10" dirty="0"/>
              <a:t>given</a:t>
            </a:r>
            <a:r>
              <a:rPr sz="2800" spc="40" dirty="0"/>
              <a:t> </a:t>
            </a:r>
            <a:r>
              <a:rPr sz="2800" spc="-15" dirty="0"/>
              <a:t>below?</a:t>
            </a:r>
            <a:endParaRPr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4540" y="6476491"/>
            <a:ext cx="895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11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1180" y="1225286"/>
            <a:ext cx="5577840" cy="4150360"/>
          </a:xfrm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2800" spc="-5" dirty="0">
                <a:latin typeface="Perpetua"/>
                <a:cs typeface="Perpetua"/>
              </a:rPr>
              <a:t>Set</a:t>
            </a:r>
            <a:r>
              <a:rPr sz="2800" spc="-2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1:-</a:t>
            </a:r>
            <a:endParaRPr sz="2800">
              <a:latin typeface="Perpetua"/>
              <a:cs typeface="Perpetua"/>
            </a:endParaRPr>
          </a:p>
          <a:p>
            <a:pPr marL="12700" marR="465455">
              <a:lnSpc>
                <a:spcPct val="111800"/>
              </a:lnSpc>
              <a:spcBef>
                <a:spcPts val="10"/>
              </a:spcBef>
            </a:pPr>
            <a:r>
              <a:rPr sz="2800" spc="-25" dirty="0">
                <a:latin typeface="Perpetua"/>
                <a:cs typeface="Perpetua"/>
              </a:rPr>
              <a:t>Fact </a:t>
            </a:r>
            <a:r>
              <a:rPr sz="2800" spc="-5" dirty="0">
                <a:latin typeface="Perpetua"/>
                <a:cs typeface="Perpetua"/>
              </a:rPr>
              <a:t>1: Islands </a:t>
            </a:r>
            <a:r>
              <a:rPr sz="2800" spc="-15" dirty="0">
                <a:latin typeface="Perpetua"/>
                <a:cs typeface="Perpetua"/>
              </a:rPr>
              <a:t>are </a:t>
            </a:r>
            <a:r>
              <a:rPr sz="2800" dirty="0">
                <a:latin typeface="Perpetua"/>
                <a:cs typeface="Perpetua"/>
              </a:rPr>
              <a:t>surrounded </a:t>
            </a:r>
            <a:r>
              <a:rPr sz="2800" spc="-35" dirty="0">
                <a:latin typeface="Perpetua"/>
                <a:cs typeface="Perpetua"/>
              </a:rPr>
              <a:t>by </a:t>
            </a:r>
            <a:r>
              <a:rPr sz="2800" spc="-55" dirty="0">
                <a:latin typeface="Perpetua"/>
                <a:cs typeface="Perpetua"/>
              </a:rPr>
              <a:t>water.  </a:t>
            </a:r>
            <a:r>
              <a:rPr sz="2800" spc="-25" dirty="0">
                <a:latin typeface="Perpetua"/>
                <a:cs typeface="Perpetua"/>
              </a:rPr>
              <a:t>Fact </a:t>
            </a:r>
            <a:r>
              <a:rPr sz="2800" spc="-5" dirty="0">
                <a:latin typeface="Perpetua"/>
                <a:cs typeface="Perpetua"/>
              </a:rPr>
              <a:t>2: Maui is an</a:t>
            </a:r>
            <a:r>
              <a:rPr sz="2800" spc="-9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island.</a:t>
            </a:r>
            <a:endParaRPr sz="28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400" i="1" spc="-5" dirty="0">
                <a:latin typeface="Perpetua"/>
                <a:cs typeface="Perpetua"/>
              </a:rPr>
              <a:t>Conclusion: Maui is </a:t>
            </a:r>
            <a:r>
              <a:rPr sz="2400" i="1" dirty="0">
                <a:latin typeface="Perpetua"/>
                <a:cs typeface="Perpetua"/>
              </a:rPr>
              <a:t>surrounded </a:t>
            </a:r>
            <a:r>
              <a:rPr sz="2400" i="1" spc="-35" dirty="0">
                <a:latin typeface="Perpetua"/>
                <a:cs typeface="Perpetua"/>
              </a:rPr>
              <a:t>by</a:t>
            </a:r>
            <a:r>
              <a:rPr sz="2400" i="1" spc="-215" dirty="0">
                <a:latin typeface="Perpetua"/>
                <a:cs typeface="Perpetua"/>
              </a:rPr>
              <a:t> </a:t>
            </a:r>
            <a:r>
              <a:rPr sz="2400" i="1" spc="-40" dirty="0">
                <a:latin typeface="Perpetua"/>
                <a:cs typeface="Perpetua"/>
              </a:rPr>
              <a:t>water.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endParaRPr sz="3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Perpetua"/>
                <a:cs typeface="Perpetua"/>
              </a:rPr>
              <a:t>Set</a:t>
            </a:r>
            <a:r>
              <a:rPr sz="2800" spc="-2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2:-</a:t>
            </a:r>
            <a:endParaRPr sz="2800">
              <a:latin typeface="Perpetua"/>
              <a:cs typeface="Perpetua"/>
            </a:endParaRPr>
          </a:p>
          <a:p>
            <a:pPr marL="12700" marR="5080">
              <a:lnSpc>
                <a:spcPts val="3770"/>
              </a:lnSpc>
              <a:spcBef>
                <a:spcPts val="180"/>
              </a:spcBef>
            </a:pPr>
            <a:r>
              <a:rPr sz="2800" spc="-15" dirty="0">
                <a:latin typeface="Perpetua"/>
                <a:cs typeface="Perpetua"/>
              </a:rPr>
              <a:t>Fact1: </a:t>
            </a:r>
            <a:r>
              <a:rPr sz="2800" spc="-5" dirty="0">
                <a:latin typeface="Perpetua"/>
                <a:cs typeface="Perpetua"/>
              </a:rPr>
              <a:t>Acute angles </a:t>
            </a:r>
            <a:r>
              <a:rPr sz="2800" spc="-15" dirty="0">
                <a:latin typeface="Perpetua"/>
                <a:cs typeface="Perpetua"/>
              </a:rPr>
              <a:t>are </a:t>
            </a:r>
            <a:r>
              <a:rPr sz="2800" spc="-5" dirty="0">
                <a:latin typeface="Perpetua"/>
                <a:cs typeface="Perpetua"/>
              </a:rPr>
              <a:t>less than 90</a:t>
            </a:r>
            <a:r>
              <a:rPr sz="2800" spc="-33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degrees  </a:t>
            </a:r>
            <a:r>
              <a:rPr sz="2800" spc="-20" dirty="0">
                <a:latin typeface="Perpetua"/>
                <a:cs typeface="Perpetua"/>
              </a:rPr>
              <a:t>Fact2 </a:t>
            </a:r>
            <a:r>
              <a:rPr sz="2800" spc="30" dirty="0">
                <a:latin typeface="Perpetua"/>
                <a:cs typeface="Perpetua"/>
              </a:rPr>
              <a:t>:This </a:t>
            </a:r>
            <a:r>
              <a:rPr sz="2800" spc="-10" dirty="0">
                <a:latin typeface="Perpetua"/>
                <a:cs typeface="Perpetua"/>
              </a:rPr>
              <a:t>angle </a:t>
            </a:r>
            <a:r>
              <a:rPr sz="2800" spc="-5" dirty="0">
                <a:latin typeface="Perpetua"/>
                <a:cs typeface="Perpetua"/>
              </a:rPr>
              <a:t>is 40</a:t>
            </a:r>
            <a:r>
              <a:rPr sz="2800" spc="1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degrees.</a:t>
            </a:r>
            <a:endParaRPr sz="28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2400" i="1" spc="-10" dirty="0">
                <a:latin typeface="Perpetua"/>
                <a:cs typeface="Perpetua"/>
              </a:rPr>
              <a:t>Conclusion: </a:t>
            </a:r>
            <a:r>
              <a:rPr sz="2400" i="1" dirty="0">
                <a:latin typeface="Perpetua"/>
                <a:cs typeface="Perpetua"/>
              </a:rPr>
              <a:t>It </a:t>
            </a:r>
            <a:r>
              <a:rPr sz="2400" i="1" spc="-5" dirty="0">
                <a:latin typeface="Perpetua"/>
                <a:cs typeface="Perpetua"/>
              </a:rPr>
              <a:t>is </a:t>
            </a:r>
            <a:r>
              <a:rPr sz="2400" i="1" dirty="0">
                <a:latin typeface="Perpetua"/>
                <a:cs typeface="Perpetua"/>
              </a:rPr>
              <a:t>an </a:t>
            </a:r>
            <a:r>
              <a:rPr sz="2400" i="1" spc="-5" dirty="0">
                <a:latin typeface="Perpetua"/>
                <a:cs typeface="Perpetua"/>
              </a:rPr>
              <a:t>acute</a:t>
            </a:r>
            <a:r>
              <a:rPr sz="2400" i="1" spc="-24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angle.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1140" y="485902"/>
            <a:ext cx="7404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What will be </a:t>
            </a:r>
            <a:r>
              <a:rPr sz="2800" spc="-5" dirty="0"/>
              <a:t>the conclusion </a:t>
            </a:r>
            <a:r>
              <a:rPr sz="2800" dirty="0"/>
              <a:t>for </a:t>
            </a:r>
            <a:r>
              <a:rPr sz="2800" spc="-5" dirty="0"/>
              <a:t>cases </a:t>
            </a:r>
            <a:r>
              <a:rPr sz="2800" spc="-10" dirty="0"/>
              <a:t>given</a:t>
            </a:r>
            <a:r>
              <a:rPr sz="2800" spc="70" dirty="0"/>
              <a:t> </a:t>
            </a:r>
            <a:r>
              <a:rPr sz="2800" spc="-10" dirty="0"/>
              <a:t>below?(Soln.)</a:t>
            </a:r>
            <a:endParaRPr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510286"/>
            <a:ext cx="205676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Arguments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07340" y="1354581"/>
            <a:ext cx="8541385" cy="4954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9250" indent="-337185">
              <a:lnSpc>
                <a:spcPts val="2375"/>
              </a:lnSpc>
              <a:spcBef>
                <a:spcPts val="95"/>
              </a:spcBef>
              <a:buSzPct val="84090"/>
              <a:buFont typeface="Arial"/>
              <a:buChar char="•"/>
              <a:tabLst>
                <a:tab pos="349250" algn="l"/>
                <a:tab pos="349885" algn="l"/>
              </a:tabLst>
            </a:pPr>
            <a:r>
              <a:rPr sz="2200" dirty="0">
                <a:latin typeface="Perpetua"/>
                <a:cs typeface="Perpetua"/>
              </a:rPr>
              <a:t>In </a:t>
            </a:r>
            <a:r>
              <a:rPr sz="2200" spc="-20" dirty="0">
                <a:latin typeface="Perpetua"/>
                <a:cs typeface="Perpetua"/>
              </a:rPr>
              <a:t>day-to-day </a:t>
            </a:r>
            <a:r>
              <a:rPr sz="2200" dirty="0">
                <a:latin typeface="Perpetua"/>
                <a:cs typeface="Perpetua"/>
              </a:rPr>
              <a:t>life </a:t>
            </a:r>
            <a:r>
              <a:rPr sz="2200" spc="-15" dirty="0">
                <a:latin typeface="Perpetua"/>
                <a:cs typeface="Perpetua"/>
              </a:rPr>
              <a:t>“</a:t>
            </a:r>
            <a:r>
              <a:rPr sz="2200" i="1" spc="-15" dirty="0">
                <a:latin typeface="Perpetua"/>
                <a:cs typeface="Perpetua"/>
              </a:rPr>
              <a:t>arguing</a:t>
            </a:r>
            <a:r>
              <a:rPr sz="2200" spc="-15" dirty="0">
                <a:latin typeface="Perpetua"/>
                <a:cs typeface="Perpetua"/>
              </a:rPr>
              <a:t>” </a:t>
            </a:r>
            <a:r>
              <a:rPr sz="2200" spc="-5" dirty="0">
                <a:latin typeface="Perpetua"/>
                <a:cs typeface="Perpetua"/>
              </a:rPr>
              <a:t>is </a:t>
            </a:r>
            <a:r>
              <a:rPr sz="2200" spc="-10" dirty="0">
                <a:latin typeface="Perpetua"/>
                <a:cs typeface="Perpetua"/>
              </a:rPr>
              <a:t>usually </a:t>
            </a:r>
            <a:r>
              <a:rPr sz="2200" dirty="0">
                <a:latin typeface="Perpetua"/>
                <a:cs typeface="Perpetua"/>
              </a:rPr>
              <a:t>understood to </a:t>
            </a:r>
            <a:r>
              <a:rPr sz="2200" spc="-10" dirty="0">
                <a:latin typeface="Perpetua"/>
                <a:cs typeface="Perpetua"/>
              </a:rPr>
              <a:t>mean </a:t>
            </a:r>
            <a:r>
              <a:rPr sz="2200" spc="-5" dirty="0">
                <a:latin typeface="Perpetua"/>
                <a:cs typeface="Perpetua"/>
              </a:rPr>
              <a:t>a disagreement </a:t>
            </a:r>
            <a:r>
              <a:rPr sz="2200" dirty="0">
                <a:latin typeface="Perpetua"/>
                <a:cs typeface="Perpetua"/>
              </a:rPr>
              <a:t>or</a:t>
            </a:r>
            <a:r>
              <a:rPr sz="2200" spc="33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fight,</a:t>
            </a:r>
            <a:endParaRPr sz="2200">
              <a:latin typeface="Perpetua"/>
              <a:cs typeface="Perpetua"/>
            </a:endParaRPr>
          </a:p>
          <a:p>
            <a:pPr marL="286385">
              <a:lnSpc>
                <a:spcPts val="2375"/>
              </a:lnSpc>
            </a:pPr>
            <a:r>
              <a:rPr sz="2200" spc="-5" dirty="0">
                <a:latin typeface="Perpetua"/>
                <a:cs typeface="Perpetua"/>
              </a:rPr>
              <a:t>and something </a:t>
            </a:r>
            <a:r>
              <a:rPr sz="2200" spc="-10" dirty="0">
                <a:latin typeface="Perpetua"/>
                <a:cs typeface="Perpetua"/>
              </a:rPr>
              <a:t>that </a:t>
            </a:r>
            <a:r>
              <a:rPr sz="2200" spc="-5" dirty="0">
                <a:latin typeface="Perpetua"/>
                <a:cs typeface="Perpetua"/>
              </a:rPr>
              <a:t>most </a:t>
            </a:r>
            <a:r>
              <a:rPr sz="2200" dirty="0">
                <a:latin typeface="Perpetua"/>
                <a:cs typeface="Perpetua"/>
              </a:rPr>
              <a:t>try </a:t>
            </a:r>
            <a:r>
              <a:rPr sz="2200" spc="-10" dirty="0">
                <a:latin typeface="Perpetua"/>
                <a:cs typeface="Perpetua"/>
              </a:rPr>
              <a:t>to</a:t>
            </a:r>
            <a:r>
              <a:rPr sz="2200" spc="65" dirty="0">
                <a:latin typeface="Perpetua"/>
                <a:cs typeface="Perpetua"/>
              </a:rPr>
              <a:t> </a:t>
            </a:r>
            <a:r>
              <a:rPr sz="2200" spc="-25" dirty="0">
                <a:latin typeface="Perpetua"/>
                <a:cs typeface="Perpetua"/>
              </a:rPr>
              <a:t>avoid</a:t>
            </a:r>
            <a:endParaRPr sz="22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50">
              <a:latin typeface="Times New Roman"/>
              <a:cs typeface="Times New Roman"/>
            </a:endParaRPr>
          </a:p>
          <a:p>
            <a:pPr marL="286385" marR="20320" indent="-274320">
              <a:lnSpc>
                <a:spcPct val="80000"/>
              </a:lnSpc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spc="-5" dirty="0">
                <a:latin typeface="Perpetua"/>
                <a:cs typeface="Perpetua"/>
              </a:rPr>
              <a:t>An Argument </a:t>
            </a:r>
            <a:r>
              <a:rPr sz="2200" dirty="0">
                <a:latin typeface="Perpetua"/>
                <a:cs typeface="Perpetua"/>
              </a:rPr>
              <a:t>--- </a:t>
            </a:r>
            <a:r>
              <a:rPr sz="2200" spc="-5" dirty="0">
                <a:latin typeface="Perpetua"/>
                <a:cs typeface="Perpetua"/>
              </a:rPr>
              <a:t>could be a collection of </a:t>
            </a:r>
            <a:r>
              <a:rPr sz="2200" spc="-10" dirty="0">
                <a:latin typeface="Perpetua"/>
                <a:cs typeface="Perpetua"/>
              </a:rPr>
              <a:t>conversation </a:t>
            </a:r>
            <a:r>
              <a:rPr sz="2200" spc="5" dirty="0">
                <a:latin typeface="Perpetua"/>
                <a:cs typeface="Perpetua"/>
              </a:rPr>
              <a:t>which </a:t>
            </a:r>
            <a:r>
              <a:rPr sz="2200" spc="-5" dirty="0">
                <a:latin typeface="Perpetua"/>
                <a:cs typeface="Perpetua"/>
              </a:rPr>
              <a:t>helps </a:t>
            </a:r>
            <a:r>
              <a:rPr sz="2200" dirty="0">
                <a:latin typeface="Perpetua"/>
                <a:cs typeface="Perpetua"/>
              </a:rPr>
              <a:t>us </a:t>
            </a:r>
            <a:r>
              <a:rPr sz="2200" spc="-20" dirty="0">
                <a:latin typeface="Perpetua"/>
                <a:cs typeface="Perpetua"/>
              </a:rPr>
              <a:t>draw </a:t>
            </a:r>
            <a:r>
              <a:rPr sz="2200" spc="-5" dirty="0">
                <a:latin typeface="Perpetua"/>
                <a:cs typeface="Perpetua"/>
              </a:rPr>
              <a:t>some  conclusion</a:t>
            </a:r>
            <a:endParaRPr sz="22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i="1" spc="-15" dirty="0">
                <a:latin typeface="Perpetua"/>
                <a:cs typeface="Perpetua"/>
              </a:rPr>
              <a:t>Arguments </a:t>
            </a:r>
            <a:r>
              <a:rPr sz="2200" spc="-15" dirty="0">
                <a:latin typeface="Perpetua"/>
                <a:cs typeface="Perpetua"/>
              </a:rPr>
              <a:t>are </a:t>
            </a:r>
            <a:r>
              <a:rPr sz="2200" spc="15" dirty="0">
                <a:latin typeface="Perpetua"/>
                <a:cs typeface="Perpetua"/>
              </a:rPr>
              <a:t>part </a:t>
            </a:r>
            <a:r>
              <a:rPr sz="2200" spc="-5" dirty="0">
                <a:latin typeface="Perpetua"/>
                <a:cs typeface="Perpetua"/>
              </a:rPr>
              <a:t>of thinking</a:t>
            </a:r>
            <a:r>
              <a:rPr sz="2200" spc="6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processes</a:t>
            </a:r>
            <a:endParaRPr sz="22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i="1" spc="-15" dirty="0">
                <a:latin typeface="Perpetua"/>
                <a:cs typeface="Perpetua"/>
              </a:rPr>
              <a:t>Arguments </a:t>
            </a:r>
            <a:r>
              <a:rPr sz="2200" spc="-15" dirty="0">
                <a:latin typeface="Perpetua"/>
                <a:cs typeface="Perpetua"/>
              </a:rPr>
              <a:t>are </a:t>
            </a:r>
            <a:r>
              <a:rPr sz="2200" spc="-5" dirty="0">
                <a:latin typeface="Perpetua"/>
                <a:cs typeface="Perpetua"/>
              </a:rPr>
              <a:t>a </a:t>
            </a:r>
            <a:r>
              <a:rPr sz="2200" spc="15" dirty="0">
                <a:latin typeface="Perpetua"/>
                <a:cs typeface="Perpetua"/>
              </a:rPr>
              <a:t>part </a:t>
            </a:r>
            <a:r>
              <a:rPr sz="2200" spc="-5" dirty="0">
                <a:latin typeface="Perpetua"/>
                <a:cs typeface="Perpetua"/>
              </a:rPr>
              <a:t>of </a:t>
            </a:r>
            <a:r>
              <a:rPr sz="2200" spc="-25" dirty="0">
                <a:latin typeface="Perpetua"/>
                <a:cs typeface="Perpetua"/>
              </a:rPr>
              <a:t>how </a:t>
            </a:r>
            <a:r>
              <a:rPr sz="2200" spc="-40" dirty="0">
                <a:latin typeface="Perpetua"/>
                <a:cs typeface="Perpetua"/>
              </a:rPr>
              <a:t>we </a:t>
            </a:r>
            <a:r>
              <a:rPr sz="2200" spc="-5" dirty="0">
                <a:latin typeface="Perpetua"/>
                <a:cs typeface="Perpetua"/>
              </a:rPr>
              <a:t>use </a:t>
            </a:r>
            <a:r>
              <a:rPr sz="2200" dirty="0">
                <a:latin typeface="Perpetua"/>
                <a:cs typeface="Perpetua"/>
              </a:rPr>
              <a:t>logical</a:t>
            </a:r>
            <a:r>
              <a:rPr sz="2200" spc="13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reasoning</a:t>
            </a:r>
            <a:endParaRPr sz="22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2700">
              <a:latin typeface="Times New Roman"/>
              <a:cs typeface="Times New Roman"/>
            </a:endParaRPr>
          </a:p>
          <a:p>
            <a:pPr marL="286385" marR="17780" indent="-274320">
              <a:lnSpc>
                <a:spcPts val="2110"/>
              </a:lnSpc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spc="-35" dirty="0">
                <a:latin typeface="Perpetua"/>
                <a:cs typeface="Perpetua"/>
              </a:rPr>
              <a:t>Formally, </a:t>
            </a:r>
            <a:r>
              <a:rPr sz="2200" i="1" spc="-15" dirty="0">
                <a:latin typeface="Perpetua"/>
                <a:cs typeface="Perpetua"/>
              </a:rPr>
              <a:t>argument </a:t>
            </a:r>
            <a:r>
              <a:rPr sz="2200" spc="-5" dirty="0">
                <a:latin typeface="Perpetua"/>
                <a:cs typeface="Perpetua"/>
              </a:rPr>
              <a:t>is a </a:t>
            </a:r>
            <a:r>
              <a:rPr sz="2200" spc="5" dirty="0">
                <a:latin typeface="Perpetua"/>
                <a:cs typeface="Perpetua"/>
              </a:rPr>
              <a:t>group </a:t>
            </a:r>
            <a:r>
              <a:rPr sz="2200" spc="-5" dirty="0">
                <a:latin typeface="Perpetua"/>
                <a:cs typeface="Perpetua"/>
              </a:rPr>
              <a:t>of </a:t>
            </a:r>
            <a:r>
              <a:rPr sz="2200" spc="-10" dirty="0">
                <a:latin typeface="Perpetua"/>
                <a:cs typeface="Perpetua"/>
              </a:rPr>
              <a:t>statements, where </a:t>
            </a:r>
            <a:r>
              <a:rPr sz="2200" spc="-5" dirty="0">
                <a:latin typeface="Perpetua"/>
                <a:cs typeface="Perpetua"/>
              </a:rPr>
              <a:t>the </a:t>
            </a:r>
            <a:r>
              <a:rPr sz="2200" dirty="0">
                <a:latin typeface="Perpetua"/>
                <a:cs typeface="Perpetua"/>
              </a:rPr>
              <a:t>conclusion </a:t>
            </a:r>
            <a:r>
              <a:rPr sz="2200" spc="-5" dirty="0">
                <a:latin typeface="Perpetua"/>
                <a:cs typeface="Perpetua"/>
              </a:rPr>
              <a:t>statement is   claimed </a:t>
            </a:r>
            <a:r>
              <a:rPr sz="2200" spc="-10" dirty="0">
                <a:latin typeface="Perpetua"/>
                <a:cs typeface="Perpetua"/>
              </a:rPr>
              <a:t>to </a:t>
            </a:r>
            <a:r>
              <a:rPr sz="2200" spc="-15" dirty="0">
                <a:latin typeface="Perpetua"/>
                <a:cs typeface="Perpetua"/>
              </a:rPr>
              <a:t>follow </a:t>
            </a:r>
            <a:r>
              <a:rPr sz="2200" spc="-10" dirty="0">
                <a:latin typeface="Perpetua"/>
                <a:cs typeface="Perpetua"/>
              </a:rPr>
              <a:t>from </a:t>
            </a:r>
            <a:r>
              <a:rPr sz="2200" spc="-5" dirty="0">
                <a:latin typeface="Perpetua"/>
                <a:cs typeface="Perpetua"/>
              </a:rPr>
              <a:t>the other</a:t>
            </a:r>
            <a:r>
              <a:rPr sz="2200" spc="105" dirty="0">
                <a:latin typeface="Perpetua"/>
                <a:cs typeface="Perpetua"/>
              </a:rPr>
              <a:t> </a:t>
            </a:r>
            <a:r>
              <a:rPr sz="2200" spc="-15" dirty="0">
                <a:latin typeface="Perpetua"/>
                <a:cs typeface="Perpetua"/>
              </a:rPr>
              <a:t>statements.</a:t>
            </a:r>
            <a:endParaRPr sz="22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i="1" spc="-15" dirty="0">
                <a:latin typeface="Perpetua"/>
                <a:cs typeface="Perpetua"/>
              </a:rPr>
              <a:t>Arguments </a:t>
            </a:r>
            <a:r>
              <a:rPr sz="2200" spc="-5" dirty="0">
                <a:latin typeface="Perpetua"/>
                <a:cs typeface="Perpetua"/>
              </a:rPr>
              <a:t>can be either </a:t>
            </a:r>
            <a:r>
              <a:rPr sz="2200" b="1" spc="-15" dirty="0">
                <a:solidFill>
                  <a:srgbClr val="C00000"/>
                </a:solidFill>
                <a:latin typeface="Perpetua"/>
                <a:cs typeface="Perpetua"/>
              </a:rPr>
              <a:t>inductive </a:t>
            </a:r>
            <a:r>
              <a:rPr sz="2200" b="1" spc="-5" dirty="0">
                <a:solidFill>
                  <a:srgbClr val="C00000"/>
                </a:solidFill>
                <a:latin typeface="Perpetua"/>
                <a:cs typeface="Perpetua"/>
              </a:rPr>
              <a:t>or</a:t>
            </a:r>
            <a:r>
              <a:rPr sz="2200" b="1" spc="114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200" b="1" spc="-15" dirty="0">
                <a:solidFill>
                  <a:srgbClr val="C00000"/>
                </a:solidFill>
                <a:latin typeface="Perpetua"/>
                <a:cs typeface="Perpetua"/>
              </a:rPr>
              <a:t>deductive</a:t>
            </a:r>
            <a:r>
              <a:rPr sz="2200" spc="-15" dirty="0">
                <a:latin typeface="Perpetua"/>
                <a:cs typeface="Perpetua"/>
              </a:rPr>
              <a:t>.</a:t>
            </a:r>
            <a:endParaRPr sz="22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19800" y="2819400"/>
            <a:ext cx="2571750" cy="22067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213472" y="192109"/>
            <a:ext cx="1346453" cy="8736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92568" y="640080"/>
            <a:ext cx="810768" cy="7315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87426"/>
            <a:ext cx="58477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Structure for a </a:t>
            </a:r>
            <a:r>
              <a:rPr b="1" spc="10" dirty="0">
                <a:latin typeface="Perpetua"/>
                <a:cs typeface="Perpetua"/>
              </a:rPr>
              <a:t>logical</a:t>
            </a:r>
            <a:r>
              <a:rPr b="1" spc="-20" dirty="0">
                <a:latin typeface="Perpetua"/>
                <a:cs typeface="Perpetua"/>
              </a:rPr>
              <a:t> </a:t>
            </a:r>
            <a:r>
              <a:rPr b="1" spc="-5" dirty="0">
                <a:latin typeface="Perpetua"/>
                <a:cs typeface="Perpetua"/>
              </a:rPr>
              <a:t>argument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509725"/>
            <a:ext cx="8072120" cy="17646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Wingdings"/>
              <a:buChar char=""/>
              <a:tabLst>
                <a:tab pos="287020" algn="l"/>
                <a:tab pos="928369" algn="l"/>
                <a:tab pos="1239520" algn="l"/>
                <a:tab pos="1731645" algn="l"/>
                <a:tab pos="3403600" algn="l"/>
                <a:tab pos="3969385" algn="l"/>
                <a:tab pos="5543550" algn="l"/>
                <a:tab pos="6256020" algn="l"/>
                <a:tab pos="6472555" algn="l"/>
                <a:tab pos="6961505" algn="l"/>
                <a:tab pos="7811770" algn="l"/>
              </a:tabLst>
            </a:pPr>
            <a:r>
              <a:rPr sz="2600" dirty="0">
                <a:latin typeface="Perpetua"/>
                <a:cs typeface="Perpetua"/>
              </a:rPr>
              <a:t>This	is	</a:t>
            </a:r>
            <a:r>
              <a:rPr sz="2600" spc="-114" dirty="0">
                <a:latin typeface="Perpetua"/>
                <a:cs typeface="Perpetua"/>
              </a:rPr>
              <a:t>m</a:t>
            </a:r>
            <a:r>
              <a:rPr sz="2600" dirty="0">
                <a:latin typeface="Perpetua"/>
                <a:cs typeface="Perpetua"/>
              </a:rPr>
              <a:t>y	</a:t>
            </a:r>
            <a:r>
              <a:rPr sz="2600" b="1" spc="-5" dirty="0">
                <a:latin typeface="Perpetua"/>
                <a:cs typeface="Perpetua"/>
              </a:rPr>
              <a:t>conclu</a:t>
            </a:r>
            <a:r>
              <a:rPr sz="2600" b="1" spc="-10" dirty="0">
                <a:latin typeface="Perpetua"/>
                <a:cs typeface="Perpetua"/>
              </a:rPr>
              <a:t>s</a:t>
            </a:r>
            <a:r>
              <a:rPr sz="2600" b="1" dirty="0">
                <a:latin typeface="Perpetua"/>
                <a:cs typeface="Perpetua"/>
              </a:rPr>
              <a:t>ion	</a:t>
            </a:r>
            <a:r>
              <a:rPr sz="2600" b="1" spc="-5" dirty="0">
                <a:latin typeface="Perpetua"/>
                <a:cs typeface="Perpetua"/>
              </a:rPr>
              <a:t>(o</a:t>
            </a:r>
            <a:r>
              <a:rPr sz="2600" b="1" dirty="0">
                <a:latin typeface="Perpetua"/>
                <a:cs typeface="Perpetua"/>
              </a:rPr>
              <a:t>r	</a:t>
            </a:r>
            <a:r>
              <a:rPr sz="2600" b="1" spc="-5" dirty="0">
                <a:latin typeface="Perpetua"/>
                <a:cs typeface="Perpetua"/>
              </a:rPr>
              <a:t>cl</a:t>
            </a:r>
            <a:r>
              <a:rPr sz="2600" b="1" spc="-15" dirty="0">
                <a:latin typeface="Perpetua"/>
                <a:cs typeface="Perpetua"/>
              </a:rPr>
              <a:t>a</a:t>
            </a:r>
            <a:r>
              <a:rPr sz="2600" b="1" dirty="0">
                <a:latin typeface="Perpetua"/>
                <a:cs typeface="Perpetua"/>
              </a:rPr>
              <a:t>im</a:t>
            </a:r>
            <a:r>
              <a:rPr sz="2600" b="1" spc="5" dirty="0">
                <a:latin typeface="Perpetua"/>
                <a:cs typeface="Perpetua"/>
              </a:rPr>
              <a:t>)</a:t>
            </a:r>
            <a:r>
              <a:rPr sz="2600" dirty="0">
                <a:latin typeface="Perpetua"/>
                <a:cs typeface="Perpetua"/>
              </a:rPr>
              <a:t>, </a:t>
            </a:r>
            <a:r>
              <a:rPr sz="2600" spc="-254" dirty="0">
                <a:latin typeface="Perpetua"/>
                <a:cs typeface="Perpetua"/>
              </a:rPr>
              <a:t> </a:t>
            </a:r>
            <a:r>
              <a:rPr sz="2600" spc="10" dirty="0">
                <a:latin typeface="Perpetua"/>
                <a:cs typeface="Perpetua"/>
              </a:rPr>
              <a:t>i</a:t>
            </a:r>
            <a:r>
              <a:rPr sz="2600" dirty="0">
                <a:latin typeface="Perpetua"/>
                <a:cs typeface="Perpetua"/>
              </a:rPr>
              <a:t>t</a:t>
            </a:r>
            <a:r>
              <a:rPr sz="2600" spc="-240" dirty="0">
                <a:latin typeface="Perpetua"/>
                <a:cs typeface="Perpetua"/>
              </a:rPr>
              <a:t>’</a:t>
            </a:r>
            <a:r>
              <a:rPr sz="2600" dirty="0">
                <a:latin typeface="Perpetua"/>
                <a:cs typeface="Perpetua"/>
              </a:rPr>
              <a:t>s	wh</a:t>
            </a:r>
            <a:r>
              <a:rPr sz="2600" spc="-3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	I	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m	t</a:t>
            </a:r>
            <a:r>
              <a:rPr sz="2600" spc="3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ying	</a:t>
            </a:r>
            <a:r>
              <a:rPr sz="2600" spc="-5" dirty="0">
                <a:latin typeface="Perpetua"/>
                <a:cs typeface="Perpetua"/>
              </a:rPr>
              <a:t>to  </a:t>
            </a:r>
            <a:r>
              <a:rPr sz="2600" spc="-35" dirty="0">
                <a:latin typeface="Perpetua"/>
                <a:cs typeface="Perpetua"/>
              </a:rPr>
              <a:t>prove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4615"/>
              <a:buFont typeface="Wingdings"/>
              <a:buChar char=""/>
              <a:tabLst>
                <a:tab pos="287020" algn="l"/>
                <a:tab pos="4356735" algn="l"/>
              </a:tabLst>
            </a:pPr>
            <a:r>
              <a:rPr sz="2600" spc="-5" dirty="0">
                <a:latin typeface="Perpetua"/>
                <a:cs typeface="Perpetua"/>
              </a:rPr>
              <a:t>Here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one </a:t>
            </a:r>
            <a:r>
              <a:rPr sz="2600" b="1" dirty="0">
                <a:latin typeface="Perpetua"/>
                <a:cs typeface="Perpetua"/>
              </a:rPr>
              <a:t>premise (</a:t>
            </a:r>
            <a:r>
              <a:rPr sz="2600" b="1" spc="5" dirty="0">
                <a:latin typeface="Perpetua"/>
                <a:cs typeface="Perpetua"/>
              </a:rPr>
              <a:t> </a:t>
            </a:r>
            <a:r>
              <a:rPr sz="2600" b="1" spc="10" dirty="0">
                <a:latin typeface="Perpetua"/>
                <a:cs typeface="Perpetua"/>
              </a:rPr>
              <a:t>fact </a:t>
            </a:r>
            <a:r>
              <a:rPr sz="2600" b="1" dirty="0">
                <a:latin typeface="Perpetua"/>
                <a:cs typeface="Perpetua"/>
              </a:rPr>
              <a:t>#1)	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5" dirty="0">
                <a:latin typeface="Perpetua"/>
                <a:cs typeface="Perpetua"/>
              </a:rPr>
              <a:t>backs </a:t>
            </a:r>
            <a:r>
              <a:rPr sz="2600" spc="-5" dirty="0">
                <a:latin typeface="Perpetua"/>
                <a:cs typeface="Perpetua"/>
              </a:rPr>
              <a:t>up </a:t>
            </a:r>
            <a:r>
              <a:rPr sz="2600" spc="-55" dirty="0">
                <a:latin typeface="Perpetua"/>
                <a:cs typeface="Perpetua"/>
              </a:rPr>
              <a:t>my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claim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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Here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another </a:t>
            </a:r>
            <a:r>
              <a:rPr sz="2600" b="1" dirty="0">
                <a:latin typeface="Perpetua"/>
                <a:cs typeface="Perpetua"/>
              </a:rPr>
              <a:t>premise ( </a:t>
            </a:r>
            <a:r>
              <a:rPr sz="2600" b="1" spc="10" dirty="0">
                <a:latin typeface="Perpetua"/>
                <a:cs typeface="Perpetua"/>
              </a:rPr>
              <a:t>fact </a:t>
            </a:r>
            <a:r>
              <a:rPr sz="2600" b="1" spc="-5" dirty="0">
                <a:latin typeface="Perpetua"/>
                <a:cs typeface="Perpetua"/>
              </a:rPr>
              <a:t>#2)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5" dirty="0">
                <a:latin typeface="Perpetua"/>
                <a:cs typeface="Perpetua"/>
              </a:rPr>
              <a:t>backs </a:t>
            </a:r>
            <a:r>
              <a:rPr sz="2600" dirty="0">
                <a:latin typeface="Perpetua"/>
                <a:cs typeface="Perpetua"/>
              </a:rPr>
              <a:t>up </a:t>
            </a:r>
            <a:r>
              <a:rPr sz="2600" spc="-55" dirty="0">
                <a:latin typeface="Perpetua"/>
                <a:cs typeface="Perpetua"/>
              </a:rPr>
              <a:t>my</a:t>
            </a:r>
            <a:r>
              <a:rPr sz="2600" spc="-5" dirty="0">
                <a:latin typeface="Perpetua"/>
                <a:cs typeface="Perpetua"/>
              </a:rPr>
              <a:t> claim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00195" y="3695711"/>
            <a:ext cx="5762248" cy="2420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545947"/>
            <a:ext cx="7898130" cy="215963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9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In </a:t>
            </a:r>
            <a:r>
              <a:rPr sz="2600" spc="5" dirty="0">
                <a:latin typeface="Perpetua"/>
                <a:cs typeface="Perpetua"/>
              </a:rPr>
              <a:t>logic, </a:t>
            </a:r>
            <a:r>
              <a:rPr sz="2600" spc="-5" dirty="0">
                <a:latin typeface="Perpetua"/>
                <a:cs typeface="Perpetua"/>
              </a:rPr>
              <a:t>an argument</a:t>
            </a:r>
            <a:r>
              <a:rPr sz="2600" spc="-7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requires</a:t>
            </a:r>
            <a:endParaRPr sz="2600">
              <a:latin typeface="Perpetua"/>
              <a:cs typeface="Perpetua"/>
            </a:endParaRPr>
          </a:p>
          <a:p>
            <a:pPr marL="561340" marR="5080" lvl="1" indent="-229235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600" dirty="0">
                <a:latin typeface="Perpetua"/>
                <a:cs typeface="Perpetua"/>
              </a:rPr>
              <a:t>a set of </a:t>
            </a:r>
            <a:r>
              <a:rPr sz="2600" spc="-10" dirty="0">
                <a:latin typeface="Perpetua"/>
                <a:cs typeface="Perpetua"/>
              </a:rPr>
              <a:t>(at </a:t>
            </a:r>
            <a:r>
              <a:rPr sz="2600" spc="-5" dirty="0">
                <a:latin typeface="Perpetua"/>
                <a:cs typeface="Perpetua"/>
              </a:rPr>
              <a:t>least) </a:t>
            </a:r>
            <a:r>
              <a:rPr sz="2600" spc="-30" dirty="0">
                <a:latin typeface="Perpetua"/>
                <a:cs typeface="Perpetua"/>
              </a:rPr>
              <a:t>two </a:t>
            </a:r>
            <a:r>
              <a:rPr sz="2600" spc="-10" dirty="0">
                <a:latin typeface="Perpetua"/>
                <a:cs typeface="Perpetua"/>
              </a:rPr>
              <a:t>declarative </a:t>
            </a:r>
            <a:r>
              <a:rPr sz="2600" spc="-5" dirty="0">
                <a:latin typeface="Perpetua"/>
                <a:cs typeface="Perpetua"/>
              </a:rPr>
              <a:t>sentences </a:t>
            </a:r>
            <a:r>
              <a:rPr sz="2600" dirty="0">
                <a:latin typeface="Perpetua"/>
                <a:cs typeface="Perpetua"/>
              </a:rPr>
              <a:t>(or </a:t>
            </a:r>
            <a:r>
              <a:rPr sz="2600" spc="-5" dirty="0">
                <a:latin typeface="Perpetua"/>
                <a:cs typeface="Perpetua"/>
              </a:rPr>
              <a:t>“propositions”)  </a:t>
            </a:r>
            <a:r>
              <a:rPr sz="2600" spc="-15" dirty="0">
                <a:latin typeface="Perpetua"/>
                <a:cs typeface="Perpetua"/>
              </a:rPr>
              <a:t>known </a:t>
            </a:r>
            <a:r>
              <a:rPr sz="2600" spc="-5" dirty="0">
                <a:latin typeface="Perpetua"/>
                <a:cs typeface="Perpetua"/>
              </a:rPr>
              <a:t>as the</a:t>
            </a:r>
            <a:r>
              <a:rPr sz="260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premises</a:t>
            </a:r>
            <a:endParaRPr sz="2600">
              <a:latin typeface="Perpetua"/>
              <a:cs typeface="Perpetua"/>
            </a:endParaRPr>
          </a:p>
          <a:p>
            <a:pPr marL="561340" marR="448309" lvl="1" indent="-229235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600" spc="-5" dirty="0">
                <a:latin typeface="Perpetua"/>
                <a:cs typeface="Perpetua"/>
              </a:rPr>
              <a:t>along </a:t>
            </a:r>
            <a:r>
              <a:rPr sz="2600" dirty="0">
                <a:latin typeface="Perpetua"/>
                <a:cs typeface="Perpetua"/>
              </a:rPr>
              <a:t>with </a:t>
            </a:r>
            <a:r>
              <a:rPr sz="2600" spc="-5" dirty="0">
                <a:latin typeface="Perpetua"/>
                <a:cs typeface="Perpetua"/>
              </a:rPr>
              <a:t>another </a:t>
            </a:r>
            <a:r>
              <a:rPr sz="2600" spc="-10" dirty="0">
                <a:latin typeface="Perpetua"/>
                <a:cs typeface="Perpetua"/>
              </a:rPr>
              <a:t>declarative </a:t>
            </a:r>
            <a:r>
              <a:rPr sz="2600" spc="-5" dirty="0">
                <a:latin typeface="Perpetua"/>
                <a:cs typeface="Perpetua"/>
              </a:rPr>
              <a:t>sentence </a:t>
            </a:r>
            <a:r>
              <a:rPr sz="2600" dirty="0">
                <a:latin typeface="Perpetua"/>
                <a:cs typeface="Perpetua"/>
              </a:rPr>
              <a:t>(or </a:t>
            </a:r>
            <a:r>
              <a:rPr sz="2600" spc="-5" dirty="0">
                <a:latin typeface="Perpetua"/>
                <a:cs typeface="Perpetua"/>
              </a:rPr>
              <a:t>“proposition”)  </a:t>
            </a:r>
            <a:r>
              <a:rPr sz="2600" spc="-15" dirty="0">
                <a:latin typeface="Perpetua"/>
                <a:cs typeface="Perpetua"/>
              </a:rPr>
              <a:t>known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conclusion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95400" y="2800355"/>
            <a:ext cx="6934200" cy="3743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33921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Deductive</a:t>
            </a:r>
            <a:r>
              <a:rPr spc="-70" dirty="0"/>
              <a:t> </a:t>
            </a:r>
            <a:r>
              <a:rPr spc="-5" dirty="0"/>
              <a:t>reasoning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078738"/>
            <a:ext cx="8074025" cy="463994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86385" marR="5080" indent="-274320">
              <a:lnSpc>
                <a:spcPts val="2300"/>
              </a:lnSpc>
              <a:spcBef>
                <a:spcPts val="66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0" dirty="0">
                <a:latin typeface="Perpetua"/>
                <a:cs typeface="Perpetua"/>
              </a:rPr>
              <a:t>Deductive </a:t>
            </a:r>
            <a:r>
              <a:rPr sz="2400" spc="-5" dirty="0">
                <a:latin typeface="Perpetua"/>
                <a:cs typeface="Perpetua"/>
              </a:rPr>
              <a:t>reasoning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is based </a:t>
            </a:r>
            <a:r>
              <a:rPr sz="2400" spc="-5" dirty="0">
                <a:latin typeface="Perpetua"/>
                <a:cs typeface="Perpetua"/>
              </a:rPr>
              <a:t>on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b="1" spc="-5" dirty="0">
                <a:solidFill>
                  <a:srgbClr val="C00000"/>
                </a:solidFill>
                <a:latin typeface="Perpetua"/>
                <a:cs typeface="Perpetua"/>
              </a:rPr>
              <a:t>general </a:t>
            </a:r>
            <a:r>
              <a:rPr sz="2400" b="1" spc="-10" dirty="0">
                <a:solidFill>
                  <a:srgbClr val="C00000"/>
                </a:solidFill>
                <a:latin typeface="Perpetua"/>
                <a:cs typeface="Perpetua"/>
              </a:rPr>
              <a:t>statement </a:t>
            </a:r>
            <a:r>
              <a:rPr sz="2400" b="1" spc="-5" dirty="0">
                <a:solidFill>
                  <a:srgbClr val="C00000"/>
                </a:solidFill>
                <a:latin typeface="Perpetua"/>
                <a:cs typeface="Perpetua"/>
              </a:rPr>
              <a:t>of </a:t>
            </a:r>
            <a:r>
              <a:rPr sz="2400" b="1" spc="5" dirty="0">
                <a:solidFill>
                  <a:srgbClr val="C00000"/>
                </a:solidFill>
                <a:latin typeface="Perpetua"/>
                <a:cs typeface="Perpetua"/>
              </a:rPr>
              <a:t>fact </a:t>
            </a:r>
            <a:r>
              <a:rPr sz="2400" dirty="0">
                <a:latin typeface="Perpetua"/>
                <a:cs typeface="Perpetua"/>
              </a:rPr>
              <a:t>is  hard </a:t>
            </a:r>
            <a:r>
              <a:rPr sz="2400" spc="-5" dirty="0">
                <a:latin typeface="Perpetua"/>
                <a:cs typeface="Perpetua"/>
              </a:rPr>
              <a:t>to argue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with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2550">
              <a:latin typeface="Times New Roman"/>
              <a:cs typeface="Times New Roman"/>
            </a:endParaRPr>
          </a:p>
          <a:p>
            <a:pPr marL="287020" indent="-274320">
              <a:lnSpc>
                <a:spcPts val="2790"/>
              </a:lnSpc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When using this </a:t>
            </a:r>
            <a:r>
              <a:rPr sz="2400" spc="-5" dirty="0">
                <a:latin typeface="Perpetua"/>
                <a:cs typeface="Perpetua"/>
              </a:rPr>
              <a:t>method,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spc="5" dirty="0">
                <a:latin typeface="Perpetua"/>
                <a:cs typeface="Perpetua"/>
              </a:rPr>
              <a:t>begin </a:t>
            </a:r>
            <a:r>
              <a:rPr sz="2400" dirty="0">
                <a:latin typeface="Perpetua"/>
                <a:cs typeface="Perpetua"/>
              </a:rPr>
              <a:t>with a </a:t>
            </a:r>
            <a:r>
              <a:rPr sz="2400" b="1" spc="5" dirty="0">
                <a:solidFill>
                  <a:srgbClr val="C00000"/>
                </a:solidFill>
                <a:latin typeface="Perpetua"/>
                <a:cs typeface="Perpetua"/>
              </a:rPr>
              <a:t>factual</a:t>
            </a:r>
            <a:r>
              <a:rPr sz="2400" b="1" spc="-17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Perpetua"/>
                <a:cs typeface="Perpetua"/>
              </a:rPr>
              <a:t>statement</a:t>
            </a:r>
            <a:endParaRPr sz="2400">
              <a:latin typeface="Perpetua"/>
              <a:cs typeface="Perpetua"/>
            </a:endParaRPr>
          </a:p>
          <a:p>
            <a:pPr marL="561340" lvl="1" indent="-229870">
              <a:lnSpc>
                <a:spcPts val="2790"/>
              </a:lnSpc>
              <a:buSzPct val="85416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400" spc="-5" dirty="0">
                <a:latin typeface="Perpetua"/>
                <a:cs typeface="Perpetua"/>
              </a:rPr>
              <a:t>Eg: </a:t>
            </a:r>
            <a:r>
              <a:rPr sz="2400" dirty="0">
                <a:latin typeface="Perpetua"/>
                <a:cs typeface="Perpetua"/>
              </a:rPr>
              <a:t>a class of things, </a:t>
            </a:r>
            <a:r>
              <a:rPr sz="2400" spc="10" dirty="0">
                <a:latin typeface="Perpetua"/>
                <a:cs typeface="Perpetua"/>
              </a:rPr>
              <a:t>such </a:t>
            </a:r>
            <a:r>
              <a:rPr sz="2400" spc="-5" dirty="0">
                <a:latin typeface="Perpetua"/>
                <a:cs typeface="Perpetua"/>
              </a:rPr>
              <a:t>as</a:t>
            </a:r>
            <a:r>
              <a:rPr sz="2400" spc="-254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animals</a:t>
            </a:r>
            <a:endParaRPr sz="24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buFont typeface="Arial"/>
              <a:buChar char="•"/>
            </a:pPr>
            <a:endParaRPr sz="25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25" dirty="0">
                <a:latin typeface="Perpetua"/>
                <a:cs typeface="Perpetua"/>
              </a:rPr>
              <a:t>For </a:t>
            </a:r>
            <a:r>
              <a:rPr sz="2400" spc="-10" dirty="0">
                <a:latin typeface="Perpetua"/>
                <a:cs typeface="Perpetua"/>
              </a:rPr>
              <a:t>example,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dirty="0">
                <a:latin typeface="Perpetua"/>
                <a:cs typeface="Perpetua"/>
              </a:rPr>
              <a:t>might </a:t>
            </a:r>
            <a:r>
              <a:rPr sz="2400" spc="-85" dirty="0">
                <a:latin typeface="Perpetua"/>
                <a:cs typeface="Perpetua"/>
              </a:rPr>
              <a:t>say, </a:t>
            </a:r>
            <a:r>
              <a:rPr sz="2400" dirty="0">
                <a:latin typeface="Perpetua"/>
                <a:cs typeface="Perpetua"/>
              </a:rPr>
              <a:t>“</a:t>
            </a:r>
            <a:r>
              <a:rPr sz="2400" i="1" dirty="0">
                <a:latin typeface="Perpetua"/>
                <a:cs typeface="Perpetua"/>
              </a:rPr>
              <a:t>all </a:t>
            </a:r>
            <a:r>
              <a:rPr sz="2400" i="1" spc="-5" dirty="0">
                <a:latin typeface="Perpetua"/>
                <a:cs typeface="Perpetua"/>
              </a:rPr>
              <a:t>animals </a:t>
            </a:r>
            <a:r>
              <a:rPr sz="2400" i="1" dirty="0">
                <a:latin typeface="Perpetua"/>
                <a:cs typeface="Perpetua"/>
              </a:rPr>
              <a:t>need</a:t>
            </a:r>
            <a:r>
              <a:rPr sz="2400" i="1" spc="-220" dirty="0">
                <a:latin typeface="Perpetua"/>
                <a:cs typeface="Perpetua"/>
              </a:rPr>
              <a:t> </a:t>
            </a:r>
            <a:r>
              <a:rPr sz="2400" i="1" spc="-20" dirty="0">
                <a:latin typeface="Perpetua"/>
                <a:cs typeface="Perpetua"/>
              </a:rPr>
              <a:t>oxygen</a:t>
            </a:r>
            <a:r>
              <a:rPr sz="2400" spc="-20" dirty="0">
                <a:latin typeface="Perpetua"/>
                <a:cs typeface="Perpetua"/>
              </a:rPr>
              <a:t>”</a:t>
            </a:r>
            <a:endParaRPr sz="2400">
              <a:latin typeface="Perpetua"/>
              <a:cs typeface="Perpetua"/>
            </a:endParaRPr>
          </a:p>
          <a:p>
            <a:pPr marL="285115">
              <a:lnSpc>
                <a:spcPct val="100000"/>
              </a:lnSpc>
              <a:spcBef>
                <a:spcPts val="25"/>
              </a:spcBef>
            </a:pPr>
            <a:r>
              <a:rPr sz="2400" dirty="0">
                <a:latin typeface="Perpetua"/>
                <a:cs typeface="Perpetua"/>
              </a:rPr>
              <a:t>Because this is </a:t>
            </a:r>
            <a:r>
              <a:rPr sz="2400" spc="10" dirty="0">
                <a:latin typeface="Perpetua"/>
                <a:cs typeface="Perpetua"/>
              </a:rPr>
              <a:t>true </a:t>
            </a:r>
            <a:r>
              <a:rPr sz="2400" dirty="0">
                <a:latin typeface="Perpetua"/>
                <a:cs typeface="Perpetua"/>
              </a:rPr>
              <a:t>of </a:t>
            </a:r>
            <a:r>
              <a:rPr sz="2400" spc="-15" dirty="0">
                <a:latin typeface="Perpetua"/>
                <a:cs typeface="Perpetua"/>
              </a:rPr>
              <a:t>every </a:t>
            </a:r>
            <a:r>
              <a:rPr sz="2400" spc="-5" dirty="0">
                <a:latin typeface="Perpetua"/>
                <a:cs typeface="Perpetua"/>
              </a:rPr>
              <a:t>animal, </a:t>
            </a:r>
            <a:r>
              <a:rPr sz="2400" dirty="0">
                <a:latin typeface="Perpetua"/>
                <a:cs typeface="Perpetua"/>
              </a:rPr>
              <a:t>it is </a:t>
            </a:r>
            <a:r>
              <a:rPr sz="2400" spc="10" dirty="0">
                <a:latin typeface="Perpetua"/>
                <a:cs typeface="Perpetua"/>
              </a:rPr>
              <a:t>true </a:t>
            </a:r>
            <a:r>
              <a:rPr sz="2400" dirty="0">
                <a:latin typeface="Perpetua"/>
                <a:cs typeface="Perpetua"/>
              </a:rPr>
              <a:t>of </a:t>
            </a:r>
            <a:r>
              <a:rPr sz="2400" spc="10" dirty="0">
                <a:latin typeface="Perpetua"/>
                <a:cs typeface="Perpetua"/>
              </a:rPr>
              <a:t>each </a:t>
            </a:r>
            <a:r>
              <a:rPr sz="2400" spc="-5" dirty="0">
                <a:latin typeface="Perpetua"/>
                <a:cs typeface="Perpetua"/>
              </a:rPr>
              <a:t>animal as</a:t>
            </a:r>
            <a:r>
              <a:rPr sz="2400" spc="-210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well.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00">
              <a:latin typeface="Times New Roman"/>
              <a:cs typeface="Times New Roman"/>
            </a:endParaRPr>
          </a:p>
          <a:p>
            <a:pPr marL="287020" indent="-274320">
              <a:lnSpc>
                <a:spcPts val="2595"/>
              </a:lnSpc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0" dirty="0">
                <a:latin typeface="Perpetua"/>
                <a:cs typeface="Perpetua"/>
              </a:rPr>
              <a:t>Therefore,</a:t>
            </a:r>
            <a:r>
              <a:rPr sz="2400" spc="75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you</a:t>
            </a:r>
            <a:r>
              <a:rPr sz="2400" spc="18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can</a:t>
            </a:r>
            <a:r>
              <a:rPr sz="2400" spc="175" dirty="0">
                <a:latin typeface="Perpetua"/>
                <a:cs typeface="Perpetua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Perpetua"/>
                <a:cs typeface="Perpetua"/>
              </a:rPr>
              <a:t>truthfully</a:t>
            </a:r>
            <a:r>
              <a:rPr sz="2400" b="1" spc="18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Perpetua"/>
                <a:cs typeface="Perpetua"/>
              </a:rPr>
              <a:t>conclude</a:t>
            </a:r>
            <a:r>
              <a:rPr sz="2400" b="1" spc="19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that</a:t>
            </a:r>
            <a:r>
              <a:rPr sz="2400" spc="17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17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specific</a:t>
            </a:r>
            <a:r>
              <a:rPr sz="2400" spc="19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animal,</a:t>
            </a:r>
            <a:r>
              <a:rPr sz="2400" spc="75" dirty="0">
                <a:latin typeface="Perpetua"/>
                <a:cs typeface="Perpetua"/>
              </a:rPr>
              <a:t> </a:t>
            </a:r>
            <a:r>
              <a:rPr sz="2400" spc="-15" dirty="0">
                <a:latin typeface="Perpetua"/>
                <a:cs typeface="Perpetua"/>
              </a:rPr>
              <a:t>like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ts val="2595"/>
              </a:lnSpc>
            </a:pPr>
            <a:r>
              <a:rPr sz="2400" spc="-10" dirty="0">
                <a:latin typeface="Perpetua"/>
                <a:cs typeface="Perpetua"/>
              </a:rPr>
              <a:t>your </a:t>
            </a:r>
            <a:r>
              <a:rPr sz="2400" dirty="0">
                <a:latin typeface="Perpetua"/>
                <a:cs typeface="Perpetua"/>
              </a:rPr>
              <a:t>pet </a:t>
            </a:r>
            <a:r>
              <a:rPr sz="2400" spc="-60" dirty="0">
                <a:latin typeface="Perpetua"/>
                <a:cs typeface="Perpetua"/>
              </a:rPr>
              <a:t>tommy, </a:t>
            </a:r>
            <a:r>
              <a:rPr sz="2400" dirty="0">
                <a:latin typeface="Perpetua"/>
                <a:cs typeface="Perpetua"/>
              </a:rPr>
              <a:t>needs</a:t>
            </a:r>
            <a:r>
              <a:rPr sz="2400" spc="-5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oxygen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It is </a:t>
            </a:r>
            <a:r>
              <a:rPr sz="2400" spc="-5" dirty="0">
                <a:latin typeface="Perpetua"/>
                <a:cs typeface="Perpetua"/>
              </a:rPr>
              <a:t>also </a:t>
            </a:r>
            <a:r>
              <a:rPr sz="2400" dirty="0">
                <a:latin typeface="Perpetua"/>
                <a:cs typeface="Perpetua"/>
              </a:rPr>
              <a:t>called </a:t>
            </a:r>
            <a:r>
              <a:rPr sz="2400" b="1" spc="-15" dirty="0">
                <a:solidFill>
                  <a:srgbClr val="C00000"/>
                </a:solidFill>
                <a:latin typeface="Perpetua"/>
                <a:cs typeface="Perpetua"/>
              </a:rPr>
              <a:t>top-down</a:t>
            </a:r>
            <a:r>
              <a:rPr sz="2400" b="1" spc="-3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spc="5" dirty="0">
                <a:solidFill>
                  <a:srgbClr val="C00000"/>
                </a:solidFill>
                <a:latin typeface="Perpetua"/>
                <a:cs typeface="Perpetua"/>
              </a:rPr>
              <a:t>logic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5000" y="4648200"/>
            <a:ext cx="2895600" cy="198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50342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Deductive </a:t>
            </a:r>
            <a:r>
              <a:rPr spc="-5" dirty="0"/>
              <a:t>reasoning-</a:t>
            </a:r>
            <a:r>
              <a:rPr spc="-55" dirty="0"/>
              <a:t> </a:t>
            </a:r>
            <a:r>
              <a:rPr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02538"/>
            <a:ext cx="4885690" cy="734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ts val="279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latin typeface="Perpetua"/>
                <a:cs typeface="Perpetua"/>
              </a:rPr>
              <a:t>“All </a:t>
            </a:r>
            <a:r>
              <a:rPr sz="2400" dirty="0">
                <a:latin typeface="Perpetua"/>
                <a:cs typeface="Perpetua"/>
              </a:rPr>
              <a:t>green plants need</a:t>
            </a:r>
            <a:r>
              <a:rPr sz="2400" spc="-20" dirty="0">
                <a:latin typeface="Perpetua"/>
                <a:cs typeface="Perpetua"/>
              </a:rPr>
              <a:t> sunlight.”</a:t>
            </a:r>
            <a:endParaRPr sz="2400">
              <a:latin typeface="Perpetua"/>
              <a:cs typeface="Perpetua"/>
            </a:endParaRPr>
          </a:p>
          <a:p>
            <a:pPr marL="561340" lvl="1" indent="-229235">
              <a:lnSpc>
                <a:spcPts val="2790"/>
              </a:lnSpc>
              <a:buSzPct val="85416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400" dirty="0">
                <a:latin typeface="Perpetua"/>
                <a:cs typeface="Perpetua"/>
              </a:rPr>
              <a:t>It </a:t>
            </a:r>
            <a:r>
              <a:rPr sz="2400" spc="10" dirty="0">
                <a:latin typeface="Perpetua"/>
                <a:cs typeface="Perpetua"/>
              </a:rPr>
              <a:t>starts </a:t>
            </a:r>
            <a:r>
              <a:rPr sz="2400" dirty="0">
                <a:latin typeface="Perpetua"/>
                <a:cs typeface="Perpetua"/>
              </a:rPr>
              <a:t>off </a:t>
            </a:r>
            <a:r>
              <a:rPr sz="2400" spc="-5" dirty="0">
                <a:latin typeface="Perpetua"/>
                <a:cs typeface="Perpetua"/>
              </a:rPr>
              <a:t>with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b="1" dirty="0">
                <a:solidFill>
                  <a:srgbClr val="C00000"/>
                </a:solidFill>
                <a:latin typeface="Perpetua"/>
                <a:cs typeface="Perpetua"/>
              </a:rPr>
              <a:t>general</a:t>
            </a:r>
            <a:r>
              <a:rPr sz="2400" b="1" spc="-5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Perpetua"/>
                <a:cs typeface="Perpetua"/>
              </a:rPr>
              <a:t>statement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38009" y="1752726"/>
            <a:ext cx="15646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spc="-15" dirty="0">
                <a:solidFill>
                  <a:srgbClr val="00AF50"/>
                </a:solidFill>
                <a:latin typeface="Perpetua"/>
                <a:cs typeface="Perpetua"/>
              </a:rPr>
              <a:t>Known </a:t>
            </a:r>
            <a:r>
              <a:rPr sz="1900" b="1" spc="-5" dirty="0">
                <a:solidFill>
                  <a:srgbClr val="00AF50"/>
                </a:solidFill>
                <a:latin typeface="Perpetua"/>
                <a:cs typeface="Perpetua"/>
              </a:rPr>
              <a:t>Fact</a:t>
            </a:r>
            <a:r>
              <a:rPr sz="1900" b="1" spc="-55" dirty="0">
                <a:solidFill>
                  <a:srgbClr val="00AF50"/>
                </a:solidFill>
                <a:latin typeface="Perpetua"/>
                <a:cs typeface="Perpetua"/>
              </a:rPr>
              <a:t> </a:t>
            </a:r>
            <a:r>
              <a:rPr sz="1900" b="1" spc="-5" dirty="0">
                <a:solidFill>
                  <a:srgbClr val="00AF50"/>
                </a:solidFill>
                <a:latin typeface="Perpetua"/>
                <a:cs typeface="Perpetua"/>
              </a:rPr>
              <a:t>#1</a:t>
            </a:r>
            <a:endParaRPr sz="19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401951"/>
            <a:ext cx="4789170" cy="1077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ts val="279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“This </a:t>
            </a:r>
            <a:r>
              <a:rPr sz="2400" spc="-5" dirty="0">
                <a:latin typeface="Perpetua"/>
                <a:cs typeface="Perpetua"/>
              </a:rPr>
              <a:t>rosebush </a:t>
            </a:r>
            <a:r>
              <a:rPr sz="2400" dirty="0">
                <a:latin typeface="Perpetua"/>
                <a:cs typeface="Perpetua"/>
              </a:rPr>
              <a:t>is a </a:t>
            </a:r>
            <a:r>
              <a:rPr sz="2400" spc="5" dirty="0">
                <a:latin typeface="Perpetua"/>
                <a:cs typeface="Perpetua"/>
              </a:rPr>
              <a:t>green</a:t>
            </a:r>
            <a:r>
              <a:rPr sz="2400" spc="-70" dirty="0">
                <a:latin typeface="Perpetua"/>
                <a:cs typeface="Perpetua"/>
              </a:rPr>
              <a:t> </a:t>
            </a:r>
            <a:r>
              <a:rPr sz="2400" spc="-30" dirty="0">
                <a:latin typeface="Perpetua"/>
                <a:cs typeface="Perpetua"/>
              </a:rPr>
              <a:t>plant.”</a:t>
            </a:r>
            <a:endParaRPr sz="2400">
              <a:latin typeface="Perpetua"/>
              <a:cs typeface="Perpetua"/>
            </a:endParaRPr>
          </a:p>
          <a:p>
            <a:pPr marL="561340" lvl="1" indent="-229235">
              <a:lnSpc>
                <a:spcPts val="2700"/>
              </a:lnSpc>
              <a:buSzPct val="85416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400" dirty="0">
                <a:latin typeface="Perpetua"/>
                <a:cs typeface="Perpetua"/>
              </a:rPr>
              <a:t>The next step is </a:t>
            </a:r>
            <a:r>
              <a:rPr sz="2400" spc="-5" dirty="0">
                <a:latin typeface="Perpetua"/>
                <a:cs typeface="Perpetua"/>
              </a:rPr>
              <a:t>reducing the</a:t>
            </a:r>
            <a:r>
              <a:rPr sz="2400" spc="-90" dirty="0">
                <a:latin typeface="Perpetua"/>
                <a:cs typeface="Perpetua"/>
              </a:rPr>
              <a:t> </a:t>
            </a:r>
            <a:r>
              <a:rPr sz="2400" b="1" dirty="0">
                <a:solidFill>
                  <a:srgbClr val="C00000"/>
                </a:solidFill>
                <a:latin typeface="Perpetua"/>
                <a:cs typeface="Perpetua"/>
              </a:rPr>
              <a:t>general</a:t>
            </a:r>
            <a:endParaRPr sz="2400">
              <a:latin typeface="Perpetua"/>
              <a:cs typeface="Perpetua"/>
            </a:endParaRPr>
          </a:p>
          <a:p>
            <a:pPr marL="629920">
              <a:lnSpc>
                <a:spcPts val="2790"/>
              </a:lnSpc>
            </a:pPr>
            <a:r>
              <a:rPr sz="2400" b="1" spc="-5" dirty="0">
                <a:solidFill>
                  <a:srgbClr val="C00000"/>
                </a:solidFill>
                <a:latin typeface="Perpetua"/>
                <a:cs typeface="Perpetua"/>
              </a:rPr>
              <a:t>to </a:t>
            </a:r>
            <a:r>
              <a:rPr sz="2400" b="1" dirty="0">
                <a:solidFill>
                  <a:srgbClr val="C00000"/>
                </a:solidFill>
                <a:latin typeface="Perpetua"/>
                <a:cs typeface="Perpetua"/>
              </a:rPr>
              <a:t>a </a:t>
            </a:r>
            <a:r>
              <a:rPr sz="2400" b="1" spc="5" dirty="0">
                <a:solidFill>
                  <a:srgbClr val="C00000"/>
                </a:solidFill>
                <a:latin typeface="Perpetua"/>
                <a:cs typeface="Perpetua"/>
              </a:rPr>
              <a:t>particular</a:t>
            </a:r>
            <a:r>
              <a:rPr sz="2400" b="1" spc="-4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Perpetua"/>
                <a:cs typeface="Perpetua"/>
              </a:rPr>
              <a:t>example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38009" y="3744848"/>
            <a:ext cx="15646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spc="-15" dirty="0">
                <a:solidFill>
                  <a:srgbClr val="00AF50"/>
                </a:solidFill>
                <a:latin typeface="Perpetua"/>
                <a:cs typeface="Perpetua"/>
              </a:rPr>
              <a:t>Known </a:t>
            </a:r>
            <a:r>
              <a:rPr sz="1900" b="1" spc="-5" dirty="0">
                <a:solidFill>
                  <a:srgbClr val="00AF50"/>
                </a:solidFill>
                <a:latin typeface="Perpetua"/>
                <a:cs typeface="Perpetua"/>
              </a:rPr>
              <a:t>Fact</a:t>
            </a:r>
            <a:r>
              <a:rPr sz="1900" b="1" spc="-55" dirty="0">
                <a:solidFill>
                  <a:srgbClr val="00AF50"/>
                </a:solidFill>
                <a:latin typeface="Perpetua"/>
                <a:cs typeface="Perpetua"/>
              </a:rPr>
              <a:t> </a:t>
            </a:r>
            <a:r>
              <a:rPr sz="1900" b="1" spc="-5" dirty="0">
                <a:solidFill>
                  <a:srgbClr val="00AF50"/>
                </a:solidFill>
                <a:latin typeface="Perpetua"/>
                <a:cs typeface="Perpetua"/>
              </a:rPr>
              <a:t>#2</a:t>
            </a:r>
            <a:endParaRPr sz="190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4719066"/>
            <a:ext cx="4846320" cy="735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ts val="2795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0" dirty="0">
                <a:latin typeface="Perpetua"/>
                <a:cs typeface="Perpetua"/>
              </a:rPr>
              <a:t>“Therefore, </a:t>
            </a:r>
            <a:r>
              <a:rPr sz="2400" dirty="0">
                <a:latin typeface="Perpetua"/>
                <a:cs typeface="Perpetua"/>
              </a:rPr>
              <a:t>this </a:t>
            </a:r>
            <a:r>
              <a:rPr sz="2400" spc="-5" dirty="0">
                <a:latin typeface="Perpetua"/>
                <a:cs typeface="Perpetua"/>
              </a:rPr>
              <a:t>rosebush </a:t>
            </a:r>
            <a:r>
              <a:rPr sz="2400" dirty="0">
                <a:latin typeface="Perpetua"/>
                <a:cs typeface="Perpetua"/>
              </a:rPr>
              <a:t>needs</a:t>
            </a:r>
            <a:r>
              <a:rPr sz="2400" spc="-170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sunlight.”</a:t>
            </a:r>
            <a:endParaRPr sz="2400">
              <a:latin typeface="Perpetua"/>
              <a:cs typeface="Perpetua"/>
            </a:endParaRPr>
          </a:p>
          <a:p>
            <a:pPr marL="561340" lvl="1" indent="-229235">
              <a:lnSpc>
                <a:spcPts val="2795"/>
              </a:lnSpc>
              <a:buSzPct val="85416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400" spc="-40" dirty="0">
                <a:latin typeface="Perpetua"/>
                <a:cs typeface="Perpetua"/>
              </a:rPr>
              <a:t>Finally,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b="1" spc="-20" dirty="0">
                <a:solidFill>
                  <a:srgbClr val="C00000"/>
                </a:solidFill>
                <a:latin typeface="Perpetua"/>
                <a:cs typeface="Perpetua"/>
              </a:rPr>
              <a:t>draw </a:t>
            </a:r>
            <a:r>
              <a:rPr sz="2400" b="1" dirty="0">
                <a:solidFill>
                  <a:srgbClr val="C00000"/>
                </a:solidFill>
                <a:latin typeface="Perpetua"/>
                <a:cs typeface="Perpetua"/>
              </a:rPr>
              <a:t>a</a:t>
            </a:r>
            <a:r>
              <a:rPr sz="2400" b="1" spc="-6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Perpetua"/>
                <a:cs typeface="Perpetua"/>
              </a:rPr>
              <a:t>conclusion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38009" y="5821171"/>
            <a:ext cx="11836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spc="-10" dirty="0">
                <a:solidFill>
                  <a:srgbClr val="00AF50"/>
                </a:solidFill>
                <a:latin typeface="Perpetua"/>
                <a:cs typeface="Perpetua"/>
              </a:rPr>
              <a:t>Conclusion</a:t>
            </a:r>
            <a:endParaRPr sz="1900">
              <a:latin typeface="Perpetua"/>
              <a:cs typeface="Perpetu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81800" y="762000"/>
            <a:ext cx="1600200" cy="9997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81800" y="4648200"/>
            <a:ext cx="1676400" cy="1028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81800" y="2514600"/>
            <a:ext cx="1685544" cy="11247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28924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Another</a:t>
            </a:r>
            <a:r>
              <a:rPr spc="-70" dirty="0"/>
              <a:t> </a:t>
            </a:r>
            <a:r>
              <a:rPr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90690"/>
            <a:ext cx="8626475" cy="527050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09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b="1" spc="-15" dirty="0">
                <a:latin typeface="Perpetua"/>
                <a:cs typeface="Perpetua"/>
              </a:rPr>
              <a:t>Known </a:t>
            </a:r>
            <a:r>
              <a:rPr sz="2400" b="1" dirty="0">
                <a:latin typeface="Perpetua"/>
                <a:cs typeface="Perpetua"/>
              </a:rPr>
              <a:t>Fact</a:t>
            </a:r>
            <a:r>
              <a:rPr sz="2400" b="1" spc="5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#1</a:t>
            </a:r>
            <a:endParaRPr sz="2400">
              <a:latin typeface="Perpetua"/>
              <a:cs typeface="Perpetua"/>
            </a:endParaRPr>
          </a:p>
          <a:p>
            <a:pPr marL="355600">
              <a:lnSpc>
                <a:spcPct val="100000"/>
              </a:lnSpc>
              <a:spcBef>
                <a:spcPts val="310"/>
              </a:spcBef>
            </a:pPr>
            <a:r>
              <a:rPr sz="2400" dirty="0">
                <a:latin typeface="Perpetua"/>
                <a:cs typeface="Perpetua"/>
              </a:rPr>
              <a:t>The cut-off </a:t>
            </a:r>
            <a:r>
              <a:rPr sz="2400" spc="-10" dirty="0">
                <a:latin typeface="Perpetua"/>
                <a:cs typeface="Perpetua"/>
              </a:rPr>
              <a:t>date </a:t>
            </a:r>
            <a:r>
              <a:rPr sz="2400" dirty="0">
                <a:latin typeface="Perpetua"/>
                <a:cs typeface="Perpetua"/>
              </a:rPr>
              <a:t>for </a:t>
            </a:r>
            <a:r>
              <a:rPr sz="2400" spc="-15" dirty="0">
                <a:latin typeface="Perpetua"/>
                <a:cs typeface="Perpetua"/>
              </a:rPr>
              <a:t>swim </a:t>
            </a:r>
            <a:r>
              <a:rPr sz="2400" dirty="0">
                <a:latin typeface="Perpetua"/>
                <a:cs typeface="Perpetua"/>
              </a:rPr>
              <a:t>camp </a:t>
            </a:r>
            <a:r>
              <a:rPr sz="2400" spc="-5" dirty="0">
                <a:latin typeface="Perpetua"/>
                <a:cs typeface="Perpetua"/>
              </a:rPr>
              <a:t>registration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5" dirty="0">
                <a:latin typeface="Perpetua"/>
                <a:cs typeface="Perpetua"/>
              </a:rPr>
              <a:t>June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15</a:t>
            </a:r>
            <a:endParaRPr sz="2400">
              <a:latin typeface="Perpetua"/>
              <a:cs typeface="Perpetua"/>
            </a:endParaRPr>
          </a:p>
          <a:p>
            <a:pPr marL="399415">
              <a:lnSpc>
                <a:spcPct val="100000"/>
              </a:lnSpc>
              <a:spcBef>
                <a:spcPts val="315"/>
              </a:spcBef>
            </a:pPr>
            <a:r>
              <a:rPr sz="2400" spc="-5" dirty="0">
                <a:latin typeface="Perpetua"/>
                <a:cs typeface="Perpetua"/>
              </a:rPr>
              <a:t>After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spc="-20" dirty="0">
                <a:latin typeface="Perpetua"/>
                <a:cs typeface="Perpetua"/>
              </a:rPr>
              <a:t>date, </a:t>
            </a:r>
            <a:r>
              <a:rPr sz="2400" dirty="0">
                <a:latin typeface="Perpetua"/>
                <a:cs typeface="Perpetua"/>
              </a:rPr>
              <a:t>kids go on a </a:t>
            </a:r>
            <a:r>
              <a:rPr sz="2400" spc="-10" dirty="0">
                <a:latin typeface="Perpetua"/>
                <a:cs typeface="Perpetua"/>
              </a:rPr>
              <a:t>wait </a:t>
            </a:r>
            <a:r>
              <a:rPr sz="2400" spc="-5" dirty="0">
                <a:latin typeface="Perpetua"/>
                <a:cs typeface="Perpetua"/>
              </a:rPr>
              <a:t>list </a:t>
            </a:r>
            <a:r>
              <a:rPr sz="2400" dirty="0">
                <a:latin typeface="Perpetua"/>
                <a:cs typeface="Perpetua"/>
              </a:rPr>
              <a:t>- no exceptions</a:t>
            </a:r>
            <a:r>
              <a:rPr sz="2400" spc="-145" dirty="0">
                <a:latin typeface="Perpetua"/>
                <a:cs typeface="Perpetua"/>
              </a:rPr>
              <a:t> </a:t>
            </a:r>
            <a:r>
              <a:rPr sz="2400" spc="-25" dirty="0">
                <a:latin typeface="Perpetua"/>
                <a:cs typeface="Perpetua"/>
              </a:rPr>
              <a:t>allowed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0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b="1" spc="-15" dirty="0">
                <a:latin typeface="Perpetua"/>
                <a:cs typeface="Perpetua"/>
              </a:rPr>
              <a:t>Known </a:t>
            </a:r>
            <a:r>
              <a:rPr sz="2400" b="1" dirty="0">
                <a:latin typeface="Perpetua"/>
                <a:cs typeface="Perpetua"/>
              </a:rPr>
              <a:t>Fact</a:t>
            </a:r>
            <a:r>
              <a:rPr sz="2400" b="1" spc="5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#2</a:t>
            </a:r>
            <a:endParaRPr sz="2400">
              <a:latin typeface="Perpetua"/>
              <a:cs typeface="Perpetua"/>
            </a:endParaRPr>
          </a:p>
          <a:p>
            <a:pPr marL="355600">
              <a:lnSpc>
                <a:spcPct val="100000"/>
              </a:lnSpc>
              <a:spcBef>
                <a:spcPts val="315"/>
              </a:spcBef>
            </a:pPr>
            <a:r>
              <a:rPr sz="2400" spc="-90" dirty="0">
                <a:latin typeface="Perpetua"/>
                <a:cs typeface="Perpetua"/>
              </a:rPr>
              <a:t>You </a:t>
            </a:r>
            <a:r>
              <a:rPr sz="2400" spc="-35" dirty="0">
                <a:latin typeface="Perpetua"/>
                <a:cs typeface="Perpetua"/>
              </a:rPr>
              <a:t>have </a:t>
            </a:r>
            <a:r>
              <a:rPr sz="2400" spc="-5" dirty="0">
                <a:latin typeface="Perpetua"/>
                <a:cs typeface="Perpetua"/>
              </a:rPr>
              <a:t>missed </a:t>
            </a:r>
            <a:r>
              <a:rPr sz="2400" dirty="0">
                <a:latin typeface="Perpetua"/>
                <a:cs typeface="Perpetua"/>
              </a:rPr>
              <a:t>the cut-off to </a:t>
            </a:r>
            <a:r>
              <a:rPr sz="2400" spc="-10" dirty="0">
                <a:latin typeface="Perpetua"/>
                <a:cs typeface="Perpetua"/>
              </a:rPr>
              <a:t>date to </a:t>
            </a:r>
            <a:r>
              <a:rPr sz="2400" dirty="0">
                <a:latin typeface="Perpetua"/>
                <a:cs typeface="Perpetua"/>
              </a:rPr>
              <a:t>register </a:t>
            </a:r>
            <a:r>
              <a:rPr sz="2400" spc="-15" dirty="0">
                <a:latin typeface="Perpetua"/>
                <a:cs typeface="Perpetua"/>
              </a:rPr>
              <a:t>your </a:t>
            </a:r>
            <a:r>
              <a:rPr sz="2400" spc="5" dirty="0">
                <a:latin typeface="Perpetua"/>
                <a:cs typeface="Perpetua"/>
              </a:rPr>
              <a:t>child </a:t>
            </a:r>
            <a:r>
              <a:rPr sz="2400" spc="-25" dirty="0">
                <a:latin typeface="Perpetua"/>
                <a:cs typeface="Perpetua"/>
              </a:rPr>
              <a:t>by </a:t>
            </a:r>
            <a:r>
              <a:rPr sz="2400" spc="-35" dirty="0">
                <a:latin typeface="Perpetua"/>
                <a:cs typeface="Perpetua"/>
              </a:rPr>
              <a:t>two</a:t>
            </a:r>
            <a:r>
              <a:rPr sz="2400" spc="100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days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0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b="1" spc="-5" dirty="0">
                <a:latin typeface="Perpetua"/>
                <a:cs typeface="Perpetua"/>
              </a:rPr>
              <a:t>Conclusion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315"/>
              </a:spcBef>
            </a:pPr>
            <a:r>
              <a:rPr sz="2400" spc="-65" dirty="0">
                <a:latin typeface="Perpetua"/>
                <a:cs typeface="Perpetua"/>
              </a:rPr>
              <a:t>Your </a:t>
            </a:r>
            <a:r>
              <a:rPr sz="2400" spc="5" dirty="0">
                <a:latin typeface="Perpetua"/>
                <a:cs typeface="Perpetua"/>
              </a:rPr>
              <a:t>child </a:t>
            </a:r>
            <a:r>
              <a:rPr sz="2400" spc="-45" dirty="0">
                <a:latin typeface="Perpetua"/>
                <a:cs typeface="Perpetua"/>
              </a:rPr>
              <a:t>won’t </a:t>
            </a:r>
            <a:r>
              <a:rPr sz="2400" dirty="0">
                <a:latin typeface="Perpetua"/>
                <a:cs typeface="Perpetua"/>
              </a:rPr>
              <a:t>be </a:t>
            </a:r>
            <a:r>
              <a:rPr sz="2400" spc="-5" dirty="0">
                <a:latin typeface="Perpetua"/>
                <a:cs typeface="Perpetua"/>
              </a:rPr>
              <a:t>registered and </a:t>
            </a:r>
            <a:r>
              <a:rPr sz="2400" dirty="0">
                <a:latin typeface="Perpetua"/>
                <a:cs typeface="Perpetua"/>
              </a:rPr>
              <a:t>her name will </a:t>
            </a:r>
            <a:r>
              <a:rPr sz="2400" spc="-10" dirty="0">
                <a:latin typeface="Perpetua"/>
                <a:cs typeface="Perpetua"/>
              </a:rPr>
              <a:t>go </a:t>
            </a:r>
            <a:r>
              <a:rPr sz="2400" dirty="0">
                <a:latin typeface="Perpetua"/>
                <a:cs typeface="Perpetua"/>
              </a:rPr>
              <a:t>on the </a:t>
            </a:r>
            <a:r>
              <a:rPr sz="2400" spc="-15" dirty="0">
                <a:latin typeface="Perpetua"/>
                <a:cs typeface="Perpetua"/>
              </a:rPr>
              <a:t>wait</a:t>
            </a:r>
            <a:r>
              <a:rPr sz="2400" spc="5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list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1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5416"/>
              <a:buFont typeface="Wingdings"/>
              <a:buChar char=""/>
              <a:tabLst>
                <a:tab pos="287020" algn="l"/>
              </a:tabLst>
            </a:pPr>
            <a:r>
              <a:rPr sz="2400" b="1" i="1" spc="-10" dirty="0">
                <a:solidFill>
                  <a:srgbClr val="C00000"/>
                </a:solidFill>
                <a:latin typeface="Perpetua"/>
                <a:cs typeface="Perpetua"/>
              </a:rPr>
              <a:t>What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do all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these </a:t>
            </a:r>
            <a:r>
              <a:rPr sz="2400" b="1" i="1" spc="-10" dirty="0">
                <a:solidFill>
                  <a:srgbClr val="C00000"/>
                </a:solidFill>
                <a:latin typeface="Perpetua"/>
                <a:cs typeface="Perpetua"/>
              </a:rPr>
              <a:t>examples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tell</a:t>
            </a:r>
            <a:r>
              <a:rPr sz="2400" b="1" i="1" spc="2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i="1" spc="-15" dirty="0">
                <a:solidFill>
                  <a:srgbClr val="C00000"/>
                </a:solidFill>
                <a:latin typeface="Perpetua"/>
                <a:cs typeface="Perpetua"/>
              </a:rPr>
              <a:t>you?</a:t>
            </a:r>
            <a:endParaRPr sz="24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110"/>
              </a:spcBef>
              <a:buSzPct val="85416"/>
              <a:buFont typeface="Wingdings"/>
              <a:buChar char=""/>
              <a:tabLst>
                <a:tab pos="561340" algn="l"/>
              </a:tabLst>
            </a:pPr>
            <a:r>
              <a:rPr sz="2400" b="1" i="1" spc="-10" dirty="0">
                <a:solidFill>
                  <a:srgbClr val="00AF50"/>
                </a:solidFill>
                <a:latin typeface="Perpetua"/>
                <a:cs typeface="Perpetua"/>
              </a:rPr>
              <a:t>Deductive </a:t>
            </a:r>
            <a:r>
              <a:rPr sz="2400" b="1" i="1" spc="-5" dirty="0">
                <a:solidFill>
                  <a:srgbClr val="00AF50"/>
                </a:solidFill>
                <a:latin typeface="Perpetua"/>
                <a:cs typeface="Perpetua"/>
              </a:rPr>
              <a:t>reasoning </a:t>
            </a:r>
            <a:r>
              <a:rPr sz="2400" b="1" i="1" spc="-20" dirty="0">
                <a:solidFill>
                  <a:srgbClr val="00AF50"/>
                </a:solidFill>
                <a:latin typeface="Perpetua"/>
                <a:cs typeface="Perpetua"/>
              </a:rPr>
              <a:t>drives </a:t>
            </a:r>
            <a:r>
              <a:rPr sz="2400" b="1" i="1" spc="-10" dirty="0">
                <a:solidFill>
                  <a:srgbClr val="00AF50"/>
                </a:solidFill>
                <a:latin typeface="Perpetua"/>
                <a:cs typeface="Perpetua"/>
              </a:rPr>
              <a:t>you </a:t>
            </a:r>
            <a:r>
              <a:rPr sz="2400" b="1" i="1" dirty="0">
                <a:solidFill>
                  <a:srgbClr val="00AF50"/>
                </a:solidFill>
                <a:latin typeface="Perpetua"/>
                <a:cs typeface="Perpetua"/>
              </a:rPr>
              <a:t>to a conclusion </a:t>
            </a:r>
            <a:r>
              <a:rPr sz="2400" b="1" i="1" spc="-5" dirty="0">
                <a:solidFill>
                  <a:srgbClr val="00AF50"/>
                </a:solidFill>
                <a:latin typeface="Perpetua"/>
                <a:cs typeface="Perpetua"/>
              </a:rPr>
              <a:t>based </a:t>
            </a:r>
            <a:r>
              <a:rPr sz="2400" b="1" i="1" dirty="0">
                <a:solidFill>
                  <a:srgbClr val="00AF50"/>
                </a:solidFill>
                <a:latin typeface="Perpetua"/>
                <a:cs typeface="Perpetua"/>
              </a:rPr>
              <a:t>on </a:t>
            </a:r>
            <a:r>
              <a:rPr sz="2400" b="1" i="1" spc="-10" dirty="0">
                <a:solidFill>
                  <a:srgbClr val="00AF50"/>
                </a:solidFill>
                <a:latin typeface="Perpetua"/>
                <a:cs typeface="Perpetua"/>
              </a:rPr>
              <a:t>known</a:t>
            </a:r>
            <a:r>
              <a:rPr sz="2400" b="1" i="1" spc="90" dirty="0">
                <a:solidFill>
                  <a:srgbClr val="00AF50"/>
                </a:solidFill>
                <a:latin typeface="Perpetua"/>
                <a:cs typeface="Perpetua"/>
              </a:rPr>
              <a:t> </a:t>
            </a:r>
            <a:r>
              <a:rPr sz="2400" b="1" i="1" spc="-20" dirty="0">
                <a:solidFill>
                  <a:srgbClr val="00AF50"/>
                </a:solidFill>
                <a:latin typeface="Perpetua"/>
                <a:cs typeface="Perpetua"/>
              </a:rPr>
              <a:t>facts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2222"/>
            <a:ext cx="7726680" cy="1190625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b="1" spc="-5" dirty="0">
                <a:latin typeface="Perpetua"/>
                <a:cs typeface="Perpetua"/>
              </a:rPr>
              <a:t>A</a:t>
            </a:r>
            <a:r>
              <a:rPr spc="-5" dirty="0"/>
              <a:t>dvertisements and </a:t>
            </a:r>
            <a:r>
              <a:rPr dirty="0"/>
              <a:t>commercials </a:t>
            </a:r>
            <a:r>
              <a:rPr spc="-5" dirty="0"/>
              <a:t>–an</a:t>
            </a:r>
            <a:r>
              <a:rPr spc="-40" dirty="0"/>
              <a:t> </a:t>
            </a:r>
            <a:r>
              <a:rPr dirty="0"/>
              <a:t>example</a:t>
            </a:r>
          </a:p>
          <a:p>
            <a:pPr marR="616585" algn="ctr">
              <a:lnSpc>
                <a:spcPct val="100000"/>
              </a:lnSpc>
              <a:spcBef>
                <a:spcPts val="790"/>
              </a:spcBef>
            </a:pPr>
            <a:r>
              <a:rPr sz="2400" dirty="0"/>
              <a:t>Man: </a:t>
            </a:r>
            <a:r>
              <a:rPr sz="2400" i="1" spc="-40" dirty="0">
                <a:latin typeface="Perpetua"/>
                <a:cs typeface="Perpetua"/>
              </a:rPr>
              <a:t>What’s </a:t>
            </a:r>
            <a:r>
              <a:rPr sz="2400" i="1" spc="-15" dirty="0">
                <a:latin typeface="Perpetua"/>
                <a:cs typeface="Perpetua"/>
              </a:rPr>
              <a:t>better, </a:t>
            </a:r>
            <a:r>
              <a:rPr sz="2400" i="1" spc="-10" dirty="0">
                <a:latin typeface="Perpetua"/>
                <a:cs typeface="Perpetua"/>
              </a:rPr>
              <a:t>faster </a:t>
            </a:r>
            <a:r>
              <a:rPr sz="2400" i="1" spc="-5" dirty="0">
                <a:latin typeface="Perpetua"/>
                <a:cs typeface="Perpetua"/>
              </a:rPr>
              <a:t>or</a:t>
            </a:r>
            <a:r>
              <a:rPr sz="2400" i="1" spc="-295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slower?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0194" y="1611833"/>
            <a:ext cx="3433445" cy="4446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Perpetua"/>
                <a:cs typeface="Perpetua"/>
              </a:rPr>
              <a:t>All </a:t>
            </a:r>
            <a:r>
              <a:rPr sz="2400" dirty="0">
                <a:latin typeface="Perpetua"/>
                <a:cs typeface="Perpetua"/>
              </a:rPr>
              <a:t>kids:</a:t>
            </a:r>
            <a:r>
              <a:rPr sz="2400" spc="-120" dirty="0">
                <a:latin typeface="Perpetua"/>
                <a:cs typeface="Perpetua"/>
              </a:rPr>
              <a:t> </a:t>
            </a:r>
            <a:r>
              <a:rPr sz="2400" i="1" spc="-25" dirty="0">
                <a:latin typeface="Perpetua"/>
                <a:cs typeface="Perpetua"/>
              </a:rPr>
              <a:t>Faster!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Perpetua"/>
                <a:cs typeface="Perpetua"/>
              </a:rPr>
              <a:t>Man: </a:t>
            </a:r>
            <a:r>
              <a:rPr sz="2400" i="1" spc="-5" dirty="0">
                <a:latin typeface="Perpetua"/>
                <a:cs typeface="Perpetua"/>
              </a:rPr>
              <a:t>And </a:t>
            </a:r>
            <a:r>
              <a:rPr sz="2400" i="1" spc="-45" dirty="0">
                <a:latin typeface="Perpetua"/>
                <a:cs typeface="Perpetua"/>
              </a:rPr>
              <a:t>what’s</a:t>
            </a:r>
            <a:r>
              <a:rPr sz="2400" i="1" spc="-105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fast?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20" dirty="0">
                <a:latin typeface="Perpetua"/>
                <a:cs typeface="Perpetua"/>
              </a:rPr>
              <a:t>Boy: </a:t>
            </a:r>
            <a:r>
              <a:rPr sz="2400" i="1" dirty="0">
                <a:latin typeface="Perpetua"/>
                <a:cs typeface="Perpetua"/>
              </a:rPr>
              <a:t>My </a:t>
            </a:r>
            <a:r>
              <a:rPr sz="2400" i="1" spc="-45" dirty="0">
                <a:latin typeface="Perpetua"/>
                <a:cs typeface="Perpetua"/>
              </a:rPr>
              <a:t>mom’s </a:t>
            </a:r>
            <a:r>
              <a:rPr sz="2400" i="1" dirty="0">
                <a:latin typeface="Perpetua"/>
                <a:cs typeface="Perpetua"/>
              </a:rPr>
              <a:t>car </a:t>
            </a:r>
            <a:r>
              <a:rPr sz="2400" i="1" spc="-5" dirty="0">
                <a:latin typeface="Perpetua"/>
                <a:cs typeface="Perpetua"/>
              </a:rPr>
              <a:t>and </a:t>
            </a:r>
            <a:r>
              <a:rPr sz="2400" i="1" dirty="0">
                <a:latin typeface="Perpetua"/>
                <a:cs typeface="Perpetua"/>
              </a:rPr>
              <a:t>a</a:t>
            </a:r>
            <a:r>
              <a:rPr sz="2400" i="1" spc="-10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cheetah.</a:t>
            </a:r>
            <a:endParaRPr sz="2400">
              <a:latin typeface="Perpetua"/>
              <a:cs typeface="Perpetua"/>
            </a:endParaRPr>
          </a:p>
          <a:p>
            <a:pPr marL="12700" marR="943610">
              <a:lnSpc>
                <a:spcPct val="221700"/>
              </a:lnSpc>
            </a:pPr>
            <a:r>
              <a:rPr sz="2400" dirty="0">
                <a:latin typeface="Perpetua"/>
                <a:cs typeface="Perpetua"/>
              </a:rPr>
              <a:t>Girl: </a:t>
            </a:r>
            <a:r>
              <a:rPr sz="2400" i="1" dirty="0">
                <a:latin typeface="Perpetua"/>
                <a:cs typeface="Perpetua"/>
              </a:rPr>
              <a:t>A </a:t>
            </a:r>
            <a:r>
              <a:rPr sz="2400" i="1" spc="-5" dirty="0">
                <a:latin typeface="Perpetua"/>
                <a:cs typeface="Perpetua"/>
              </a:rPr>
              <a:t>space </a:t>
            </a:r>
            <a:r>
              <a:rPr sz="2400" i="1" spc="-25" dirty="0">
                <a:latin typeface="Perpetua"/>
                <a:cs typeface="Perpetua"/>
              </a:rPr>
              <a:t>ship.  </a:t>
            </a:r>
            <a:r>
              <a:rPr sz="2400" dirty="0">
                <a:latin typeface="Perpetua"/>
                <a:cs typeface="Perpetua"/>
              </a:rPr>
              <a:t>Man: </a:t>
            </a:r>
            <a:r>
              <a:rPr sz="2400" i="1" spc="-5" dirty="0">
                <a:latin typeface="Perpetua"/>
                <a:cs typeface="Perpetua"/>
              </a:rPr>
              <a:t>And </a:t>
            </a:r>
            <a:r>
              <a:rPr sz="2400" i="1" spc="-45" dirty="0">
                <a:latin typeface="Perpetua"/>
                <a:cs typeface="Perpetua"/>
              </a:rPr>
              <a:t>what’s </a:t>
            </a:r>
            <a:r>
              <a:rPr sz="2400" i="1" spc="-10" dirty="0">
                <a:latin typeface="Perpetua"/>
                <a:cs typeface="Perpetua"/>
              </a:rPr>
              <a:t>slow?  </a:t>
            </a:r>
            <a:r>
              <a:rPr sz="2400" spc="-20" dirty="0">
                <a:latin typeface="Perpetua"/>
                <a:cs typeface="Perpetua"/>
              </a:rPr>
              <a:t>Boy: </a:t>
            </a:r>
            <a:r>
              <a:rPr sz="2400" i="1" dirty="0">
                <a:latin typeface="Perpetua"/>
                <a:cs typeface="Perpetua"/>
              </a:rPr>
              <a:t>My </a:t>
            </a:r>
            <a:r>
              <a:rPr sz="2400" i="1" spc="-30" dirty="0">
                <a:latin typeface="Perpetua"/>
                <a:cs typeface="Perpetua"/>
              </a:rPr>
              <a:t>grandma’s</a:t>
            </a:r>
            <a:r>
              <a:rPr sz="2400" i="1" spc="-155" dirty="0">
                <a:latin typeface="Perpetua"/>
                <a:cs typeface="Perpetua"/>
              </a:rPr>
              <a:t> </a:t>
            </a:r>
            <a:r>
              <a:rPr sz="2400" i="1" spc="-45" dirty="0">
                <a:latin typeface="Perpetua"/>
                <a:cs typeface="Perpetua"/>
              </a:rPr>
              <a:t>slow.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19800" y="1219200"/>
            <a:ext cx="2801111" cy="2819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16738"/>
            <a:ext cx="4606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Man: </a:t>
            </a:r>
            <a:r>
              <a:rPr sz="2400" i="1" spc="-40" dirty="0">
                <a:latin typeface="Perpetua"/>
                <a:cs typeface="Perpetua"/>
              </a:rPr>
              <a:t>Would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-5" dirty="0">
                <a:latin typeface="Perpetua"/>
                <a:cs typeface="Perpetua"/>
              </a:rPr>
              <a:t>like </a:t>
            </a:r>
            <a:r>
              <a:rPr sz="2400" i="1" dirty="0">
                <a:latin typeface="Perpetua"/>
                <a:cs typeface="Perpetua"/>
              </a:rPr>
              <a:t>her </a:t>
            </a:r>
            <a:r>
              <a:rPr sz="2400" i="1" spc="-5" dirty="0">
                <a:latin typeface="Perpetua"/>
                <a:cs typeface="Perpetua"/>
              </a:rPr>
              <a:t>better if </a:t>
            </a:r>
            <a:r>
              <a:rPr sz="2400" i="1" dirty="0">
                <a:latin typeface="Perpetua"/>
                <a:cs typeface="Perpetua"/>
              </a:rPr>
              <a:t>she </a:t>
            </a:r>
            <a:r>
              <a:rPr sz="2400" i="1" spc="-20" dirty="0">
                <a:latin typeface="Perpetua"/>
                <a:cs typeface="Perpetua"/>
              </a:rPr>
              <a:t>was</a:t>
            </a:r>
            <a:r>
              <a:rPr sz="2400" i="1" spc="-145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fast?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054353"/>
            <a:ext cx="8444230" cy="552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Perpetua"/>
                <a:cs typeface="Perpetua"/>
              </a:rPr>
              <a:t>Boy: </a:t>
            </a:r>
            <a:r>
              <a:rPr sz="2400" i="1" dirty="0">
                <a:latin typeface="Perpetua"/>
                <a:cs typeface="Perpetua"/>
              </a:rPr>
              <a:t>I </a:t>
            </a:r>
            <a:r>
              <a:rPr sz="2400" i="1" spc="-5" dirty="0">
                <a:latin typeface="Perpetua"/>
                <a:cs typeface="Perpetua"/>
              </a:rPr>
              <a:t>bet </a:t>
            </a:r>
            <a:r>
              <a:rPr sz="2400" i="1" dirty="0">
                <a:latin typeface="Perpetua"/>
                <a:cs typeface="Perpetua"/>
              </a:rPr>
              <a:t>she </a:t>
            </a:r>
            <a:r>
              <a:rPr sz="2400" i="1" spc="-10" dirty="0">
                <a:latin typeface="Perpetua"/>
                <a:cs typeface="Perpetua"/>
              </a:rPr>
              <a:t>would </a:t>
            </a:r>
            <a:r>
              <a:rPr sz="2400" i="1" spc="-5" dirty="0">
                <a:latin typeface="Perpetua"/>
                <a:cs typeface="Perpetua"/>
              </a:rPr>
              <a:t>like it if she </a:t>
            </a:r>
            <a:r>
              <a:rPr sz="2400" i="1" spc="-20" dirty="0">
                <a:latin typeface="Perpetua"/>
                <a:cs typeface="Perpetua"/>
              </a:rPr>
              <a:t>was</a:t>
            </a:r>
            <a:r>
              <a:rPr sz="2400" i="1" spc="-114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fast.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Perpetua"/>
                <a:cs typeface="Perpetua"/>
              </a:rPr>
              <a:t>Man: </a:t>
            </a:r>
            <a:r>
              <a:rPr sz="2400" i="1" spc="-5" dirty="0">
                <a:latin typeface="Perpetua"/>
                <a:cs typeface="Perpetua"/>
              </a:rPr>
              <a:t>Hmm, </a:t>
            </a:r>
            <a:r>
              <a:rPr sz="2400" i="1" spc="-20" dirty="0">
                <a:latin typeface="Perpetua"/>
                <a:cs typeface="Perpetua"/>
              </a:rPr>
              <a:t>maybe </a:t>
            </a:r>
            <a:r>
              <a:rPr sz="2400" i="1" spc="-10" dirty="0">
                <a:latin typeface="Perpetua"/>
                <a:cs typeface="Perpetua"/>
              </a:rPr>
              <a:t>give </a:t>
            </a:r>
            <a:r>
              <a:rPr sz="2400" i="1" dirty="0">
                <a:latin typeface="Perpetua"/>
                <a:cs typeface="Perpetua"/>
              </a:rPr>
              <a:t>her some </a:t>
            </a:r>
            <a:r>
              <a:rPr sz="2400" i="1" spc="-5" dirty="0">
                <a:latin typeface="Perpetua"/>
                <a:cs typeface="Perpetua"/>
              </a:rPr>
              <a:t>turbo</a:t>
            </a:r>
            <a:r>
              <a:rPr sz="2400" i="1" spc="-36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boosters?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20" dirty="0">
                <a:latin typeface="Perpetua"/>
                <a:cs typeface="Perpetua"/>
              </a:rPr>
              <a:t>Boy: </a:t>
            </a:r>
            <a:r>
              <a:rPr sz="2400" i="1" dirty="0">
                <a:latin typeface="Perpetua"/>
                <a:cs typeface="Perpetua"/>
              </a:rPr>
              <a:t>Or tape a </a:t>
            </a:r>
            <a:r>
              <a:rPr sz="2400" i="1" spc="-5" dirty="0">
                <a:latin typeface="Perpetua"/>
                <a:cs typeface="Perpetua"/>
              </a:rPr>
              <a:t>cheetah </a:t>
            </a:r>
            <a:r>
              <a:rPr sz="2400" i="1" dirty="0">
                <a:latin typeface="Perpetua"/>
                <a:cs typeface="Perpetua"/>
              </a:rPr>
              <a:t>to her</a:t>
            </a:r>
            <a:r>
              <a:rPr sz="2400" i="1" spc="-130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back.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Perpetua"/>
                <a:cs typeface="Perpetua"/>
              </a:rPr>
              <a:t>Man: </a:t>
            </a:r>
            <a:r>
              <a:rPr sz="2400" i="1" spc="-80" dirty="0">
                <a:latin typeface="Perpetua"/>
                <a:cs typeface="Perpetua"/>
              </a:rPr>
              <a:t>Tape </a:t>
            </a:r>
            <a:r>
              <a:rPr sz="2400" i="1" dirty="0">
                <a:latin typeface="Perpetua"/>
                <a:cs typeface="Perpetua"/>
              </a:rPr>
              <a:t>a </a:t>
            </a:r>
            <a:r>
              <a:rPr sz="2400" i="1" spc="-5" dirty="0">
                <a:latin typeface="Perpetua"/>
                <a:cs typeface="Perpetua"/>
              </a:rPr>
              <a:t>cheetah </a:t>
            </a:r>
            <a:r>
              <a:rPr sz="2400" i="1" dirty="0">
                <a:latin typeface="Perpetua"/>
                <a:cs typeface="Perpetua"/>
              </a:rPr>
              <a:t>to her </a:t>
            </a:r>
            <a:r>
              <a:rPr sz="2400" i="1" spc="-15" dirty="0">
                <a:latin typeface="Perpetua"/>
                <a:cs typeface="Perpetua"/>
              </a:rPr>
              <a:t>back, </a:t>
            </a:r>
            <a:r>
              <a:rPr sz="2400" i="1" spc="-5" dirty="0">
                <a:latin typeface="Perpetua"/>
                <a:cs typeface="Perpetua"/>
              </a:rPr>
              <a:t>it </a:t>
            </a:r>
            <a:r>
              <a:rPr sz="2400" i="1" dirty="0">
                <a:latin typeface="Perpetua"/>
                <a:cs typeface="Perpetua"/>
              </a:rPr>
              <a:t>seems </a:t>
            </a:r>
            <a:r>
              <a:rPr sz="2400" i="1" spc="-5" dirty="0">
                <a:latin typeface="Perpetua"/>
                <a:cs typeface="Perpetua"/>
              </a:rPr>
              <a:t>like </a:t>
            </a:r>
            <a:r>
              <a:rPr sz="2400" i="1" spc="-35" dirty="0">
                <a:latin typeface="Perpetua"/>
                <a:cs typeface="Perpetua"/>
              </a:rPr>
              <a:t>you’ve </a:t>
            </a:r>
            <a:r>
              <a:rPr sz="2400" i="1" spc="-5" dirty="0">
                <a:latin typeface="Perpetua"/>
                <a:cs typeface="Perpetua"/>
              </a:rPr>
              <a:t>thought </a:t>
            </a:r>
            <a:r>
              <a:rPr sz="2400" i="1" dirty="0">
                <a:latin typeface="Perpetua"/>
                <a:cs typeface="Perpetua"/>
              </a:rPr>
              <a:t>about this</a:t>
            </a:r>
            <a:r>
              <a:rPr sz="2400" i="1" spc="-250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before.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00">
              <a:latin typeface="Times New Roman"/>
              <a:cs typeface="Times New Roman"/>
            </a:endParaRPr>
          </a:p>
          <a:p>
            <a:pPr marL="216535">
              <a:lnSpc>
                <a:spcPct val="100000"/>
              </a:lnSpc>
            </a:pPr>
            <a:r>
              <a:rPr sz="2400" b="1" dirty="0">
                <a:latin typeface="Perpetua"/>
                <a:cs typeface="Perpetua"/>
              </a:rPr>
              <a:t>Narrator</a:t>
            </a:r>
            <a:endParaRPr sz="2400">
              <a:latin typeface="Perpetua"/>
              <a:cs typeface="Perpetua"/>
            </a:endParaRPr>
          </a:p>
          <a:p>
            <a:pPr marL="1910080">
              <a:lnSpc>
                <a:spcPct val="100000"/>
              </a:lnSpc>
              <a:spcBef>
                <a:spcPts val="30"/>
              </a:spcBef>
            </a:pPr>
            <a:r>
              <a:rPr sz="2400" b="1" i="1" spc="-70" dirty="0">
                <a:latin typeface="Perpetua"/>
                <a:cs typeface="Perpetua"/>
              </a:rPr>
              <a:t>It’s </a:t>
            </a:r>
            <a:r>
              <a:rPr sz="2400" b="1" i="1" dirty="0">
                <a:latin typeface="Perpetua"/>
                <a:cs typeface="Perpetua"/>
              </a:rPr>
              <a:t>not </a:t>
            </a:r>
            <a:r>
              <a:rPr sz="2400" b="1" i="1" spc="-5" dirty="0">
                <a:latin typeface="Perpetua"/>
                <a:cs typeface="Perpetua"/>
              </a:rPr>
              <a:t>complicated, </a:t>
            </a:r>
            <a:r>
              <a:rPr sz="2400" b="1" i="1" spc="-15" dirty="0">
                <a:latin typeface="Perpetua"/>
                <a:cs typeface="Perpetua"/>
              </a:rPr>
              <a:t>faster </a:t>
            </a:r>
            <a:r>
              <a:rPr sz="2400" b="1" i="1" dirty="0">
                <a:latin typeface="Perpetua"/>
                <a:cs typeface="Perpetua"/>
              </a:rPr>
              <a:t>is</a:t>
            </a:r>
            <a:r>
              <a:rPr sz="2400" b="1" i="1" spc="-185" dirty="0">
                <a:latin typeface="Perpetua"/>
                <a:cs typeface="Perpetua"/>
              </a:rPr>
              <a:t> </a:t>
            </a:r>
            <a:r>
              <a:rPr sz="2400" b="1" i="1" spc="-25" dirty="0">
                <a:latin typeface="Perpetua"/>
                <a:cs typeface="Perpetua"/>
              </a:rPr>
              <a:t>better.</a:t>
            </a:r>
            <a:endParaRPr sz="2400">
              <a:latin typeface="Perpetua"/>
              <a:cs typeface="Perpetua"/>
            </a:endParaRPr>
          </a:p>
          <a:p>
            <a:pPr marL="1841500">
              <a:lnSpc>
                <a:spcPct val="100000"/>
              </a:lnSpc>
              <a:spcBef>
                <a:spcPts val="20"/>
              </a:spcBef>
            </a:pPr>
            <a:r>
              <a:rPr sz="2400" b="1" i="1" dirty="0">
                <a:latin typeface="Perpetua"/>
                <a:cs typeface="Perpetua"/>
              </a:rPr>
              <a:t>And iPhone 5 </a:t>
            </a:r>
            <a:r>
              <a:rPr sz="2400" b="1" i="1" spc="-10" dirty="0">
                <a:latin typeface="Perpetua"/>
                <a:cs typeface="Perpetua"/>
              </a:rPr>
              <a:t>downloads </a:t>
            </a:r>
            <a:r>
              <a:rPr sz="2400" b="1" i="1" spc="-15" dirty="0">
                <a:latin typeface="Perpetua"/>
                <a:cs typeface="Perpetua"/>
              </a:rPr>
              <a:t>fastest </a:t>
            </a:r>
            <a:r>
              <a:rPr sz="2400" b="1" i="1" dirty="0">
                <a:latin typeface="Perpetua"/>
                <a:cs typeface="Perpetua"/>
              </a:rPr>
              <a:t>on </a:t>
            </a:r>
            <a:r>
              <a:rPr sz="2400" b="1" i="1" spc="-60" dirty="0">
                <a:latin typeface="Perpetua"/>
                <a:cs typeface="Perpetua"/>
              </a:rPr>
              <a:t>AT&amp;T</a:t>
            </a:r>
            <a:r>
              <a:rPr sz="2400" b="1" i="1" spc="-135" dirty="0">
                <a:latin typeface="Perpetua"/>
                <a:cs typeface="Perpetua"/>
              </a:rPr>
              <a:t> </a:t>
            </a:r>
            <a:r>
              <a:rPr sz="2400" b="1" i="1" spc="-20" dirty="0">
                <a:latin typeface="Perpetua"/>
                <a:cs typeface="Perpetua"/>
              </a:rPr>
              <a:t>4G.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000">
              <a:latin typeface="Times New Roman"/>
              <a:cs typeface="Times New Roman"/>
            </a:endParaRPr>
          </a:p>
          <a:p>
            <a:pPr marL="1650364" indent="-280670">
              <a:lnSpc>
                <a:spcPct val="100000"/>
              </a:lnSpc>
              <a:buSzPct val="96428"/>
              <a:buFont typeface="Wingdings"/>
              <a:buChar char=""/>
              <a:tabLst>
                <a:tab pos="1651000" algn="l"/>
              </a:tabLst>
            </a:pPr>
            <a:r>
              <a:rPr sz="2800" b="1" i="1" spc="-10" dirty="0">
                <a:solidFill>
                  <a:srgbClr val="C00000"/>
                </a:solidFill>
                <a:latin typeface="Perpetua"/>
                <a:cs typeface="Perpetua"/>
              </a:rPr>
              <a:t>What </a:t>
            </a:r>
            <a:r>
              <a:rPr sz="2800" b="1" i="1" spc="-5" dirty="0">
                <a:solidFill>
                  <a:srgbClr val="C00000"/>
                </a:solidFill>
                <a:latin typeface="Perpetua"/>
                <a:cs typeface="Perpetua"/>
              </a:rPr>
              <a:t>do </a:t>
            </a:r>
            <a:r>
              <a:rPr sz="2800" b="1" i="1" spc="-20" dirty="0">
                <a:solidFill>
                  <a:srgbClr val="C00000"/>
                </a:solidFill>
                <a:latin typeface="Perpetua"/>
                <a:cs typeface="Perpetua"/>
              </a:rPr>
              <a:t>you </a:t>
            </a:r>
            <a:r>
              <a:rPr sz="2800" b="1" i="1" spc="-5" dirty="0">
                <a:solidFill>
                  <a:srgbClr val="C00000"/>
                </a:solidFill>
                <a:latin typeface="Perpetua"/>
                <a:cs typeface="Perpetua"/>
              </a:rPr>
              <a:t>think this Ad </a:t>
            </a:r>
            <a:r>
              <a:rPr sz="2800" b="1" i="1" spc="-35" dirty="0">
                <a:solidFill>
                  <a:srgbClr val="C00000"/>
                </a:solidFill>
                <a:latin typeface="Perpetua"/>
                <a:cs typeface="Perpetua"/>
              </a:rPr>
              <a:t>conveys </a:t>
            </a:r>
            <a:r>
              <a:rPr sz="2800" b="1" i="1" spc="-5" dirty="0">
                <a:solidFill>
                  <a:srgbClr val="C00000"/>
                </a:solidFill>
                <a:latin typeface="Perpetua"/>
                <a:cs typeface="Perpetua"/>
              </a:rPr>
              <a:t>to </a:t>
            </a:r>
            <a:r>
              <a:rPr sz="2800" b="1" i="1" dirty="0">
                <a:solidFill>
                  <a:srgbClr val="C00000"/>
                </a:solidFill>
                <a:latin typeface="Perpetua"/>
                <a:cs typeface="Perpetua"/>
              </a:rPr>
              <a:t>the</a:t>
            </a:r>
            <a:r>
              <a:rPr sz="2800" b="1" i="1" spc="-2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800" b="1" i="1" spc="-30" dirty="0">
                <a:solidFill>
                  <a:srgbClr val="C00000"/>
                </a:solidFill>
                <a:latin typeface="Perpetua"/>
                <a:cs typeface="Perpetua"/>
              </a:rPr>
              <a:t>viewers?</a:t>
            </a:r>
            <a:endParaRPr sz="2800">
              <a:latin typeface="Perpetua"/>
              <a:cs typeface="Perpetua"/>
            </a:endParaRPr>
          </a:p>
          <a:p>
            <a:pPr marL="1650364" indent="-280670">
              <a:lnSpc>
                <a:spcPct val="100000"/>
              </a:lnSpc>
              <a:buSzPct val="96428"/>
              <a:buFont typeface="Wingdings"/>
              <a:buChar char=""/>
              <a:tabLst>
                <a:tab pos="1651000" algn="l"/>
              </a:tabLst>
            </a:pPr>
            <a:r>
              <a:rPr sz="2800" b="1" i="1" spc="-10" dirty="0">
                <a:solidFill>
                  <a:srgbClr val="C00000"/>
                </a:solidFill>
                <a:latin typeface="Perpetua"/>
                <a:cs typeface="Perpetua"/>
              </a:rPr>
              <a:t>The </a:t>
            </a:r>
            <a:r>
              <a:rPr sz="2800" b="1" i="1" spc="-25" dirty="0">
                <a:solidFill>
                  <a:srgbClr val="C00000"/>
                </a:solidFill>
                <a:latin typeface="Perpetua"/>
                <a:cs typeface="Perpetua"/>
              </a:rPr>
              <a:t>viewer </a:t>
            </a:r>
            <a:r>
              <a:rPr sz="2800" b="1" i="1" spc="-5" dirty="0">
                <a:solidFill>
                  <a:srgbClr val="C00000"/>
                </a:solidFill>
                <a:latin typeface="Perpetua"/>
                <a:cs typeface="Perpetua"/>
              </a:rPr>
              <a:t>is left with </a:t>
            </a:r>
            <a:r>
              <a:rPr sz="2800" b="1" i="1" spc="-25" dirty="0">
                <a:solidFill>
                  <a:srgbClr val="C00000"/>
                </a:solidFill>
                <a:latin typeface="Perpetua"/>
                <a:cs typeface="Perpetua"/>
              </a:rPr>
              <a:t>what</a:t>
            </a:r>
            <a:r>
              <a:rPr sz="2800" b="1" i="1" spc="5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800" b="1" i="1" spc="-10" dirty="0">
                <a:solidFill>
                  <a:srgbClr val="C00000"/>
                </a:solidFill>
                <a:latin typeface="Perpetua"/>
                <a:cs typeface="Perpetua"/>
              </a:rPr>
              <a:t>conclusion?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9600" y="4495800"/>
            <a:ext cx="1420368" cy="1219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95800" y="5029199"/>
            <a:ext cx="4191000" cy="1828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2140" y="377697"/>
            <a:ext cx="6439535" cy="50285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105"/>
              </a:spcBef>
              <a:buSzPct val="85000"/>
              <a:buFont typeface="Wingdings"/>
              <a:buChar char=""/>
              <a:tabLst>
                <a:tab pos="287655" algn="l"/>
              </a:tabLst>
            </a:pPr>
            <a:r>
              <a:rPr sz="2000" spc="-5" dirty="0">
                <a:latin typeface="Perpetua"/>
                <a:cs typeface="Perpetua"/>
              </a:rPr>
              <a:t>Deductive reasoning applies </a:t>
            </a:r>
            <a:r>
              <a:rPr sz="2000" dirty="0">
                <a:latin typeface="Perpetua"/>
                <a:cs typeface="Perpetua"/>
              </a:rPr>
              <a:t>a </a:t>
            </a:r>
            <a:r>
              <a:rPr sz="2000" spc="-5" dirty="0">
                <a:latin typeface="Perpetua"/>
                <a:cs typeface="Perpetua"/>
              </a:rPr>
              <a:t>general </a:t>
            </a:r>
            <a:r>
              <a:rPr sz="2000" spc="5" dirty="0">
                <a:latin typeface="Perpetua"/>
                <a:cs typeface="Perpetua"/>
              </a:rPr>
              <a:t>rule </a:t>
            </a:r>
            <a:r>
              <a:rPr sz="2000" dirty="0">
                <a:latin typeface="Perpetua"/>
                <a:cs typeface="Perpetua"/>
              </a:rPr>
              <a:t>to </a:t>
            </a:r>
            <a:r>
              <a:rPr sz="2000" spc="-5" dirty="0">
                <a:latin typeface="Perpetua"/>
                <a:cs typeface="Perpetua"/>
              </a:rPr>
              <a:t>specific examples</a:t>
            </a:r>
            <a:endParaRPr sz="20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Wingdings"/>
              <a:buChar char=""/>
            </a:pPr>
            <a:endParaRPr sz="310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spcBef>
                <a:spcPts val="5"/>
              </a:spcBef>
              <a:buSzPct val="85000"/>
              <a:buFont typeface="Wingdings"/>
              <a:buChar char=""/>
              <a:tabLst>
                <a:tab pos="287655" algn="l"/>
              </a:tabLst>
            </a:pPr>
            <a:r>
              <a:rPr sz="2000" dirty="0">
                <a:latin typeface="Perpetua"/>
                <a:cs typeface="Perpetua"/>
              </a:rPr>
              <a:t>This can be seen in advertisements </a:t>
            </a:r>
            <a:r>
              <a:rPr sz="2000" spc="-15" dirty="0">
                <a:latin typeface="Perpetua"/>
                <a:cs typeface="Perpetua"/>
              </a:rPr>
              <a:t>like </a:t>
            </a:r>
            <a:r>
              <a:rPr sz="2000" dirty="0">
                <a:latin typeface="Perpetua"/>
                <a:cs typeface="Perpetua"/>
              </a:rPr>
              <a:t>the </a:t>
            </a:r>
            <a:r>
              <a:rPr sz="2000" spc="-40" dirty="0">
                <a:latin typeface="Perpetua"/>
                <a:cs typeface="Perpetua"/>
              </a:rPr>
              <a:t>AT&amp;T</a:t>
            </a:r>
            <a:r>
              <a:rPr sz="2000" spc="-235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commercial</a:t>
            </a:r>
            <a:endParaRPr sz="20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Wingdings"/>
              <a:buChar char=""/>
            </a:pPr>
            <a:endParaRPr sz="310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buSzPct val="85000"/>
              <a:buFont typeface="Wingdings"/>
              <a:buChar char=""/>
              <a:tabLst>
                <a:tab pos="287655" algn="l"/>
              </a:tabLst>
            </a:pPr>
            <a:r>
              <a:rPr sz="2000" dirty="0">
                <a:latin typeface="Perpetua"/>
                <a:cs typeface="Perpetua"/>
              </a:rPr>
              <a:t>The </a:t>
            </a:r>
            <a:r>
              <a:rPr sz="2000" spc="-5" dirty="0">
                <a:latin typeface="Perpetua"/>
                <a:cs typeface="Perpetua"/>
              </a:rPr>
              <a:t>kids establish </a:t>
            </a:r>
            <a:r>
              <a:rPr sz="2000" dirty="0">
                <a:latin typeface="Perpetua"/>
                <a:cs typeface="Perpetua"/>
              </a:rPr>
              <a:t>in their </a:t>
            </a:r>
            <a:r>
              <a:rPr sz="2000" spc="-10" dirty="0">
                <a:latin typeface="Perpetua"/>
                <a:cs typeface="Perpetua"/>
              </a:rPr>
              <a:t>conversation </a:t>
            </a:r>
            <a:r>
              <a:rPr sz="2000" spc="-5" dirty="0">
                <a:latin typeface="Perpetua"/>
                <a:cs typeface="Perpetua"/>
              </a:rPr>
              <a:t>that </a:t>
            </a:r>
            <a:r>
              <a:rPr sz="2000" spc="-10" dirty="0">
                <a:latin typeface="Perpetua"/>
                <a:cs typeface="Perpetua"/>
              </a:rPr>
              <a:t>faster </a:t>
            </a:r>
            <a:r>
              <a:rPr sz="2000" dirty="0">
                <a:latin typeface="Perpetua"/>
                <a:cs typeface="Perpetua"/>
              </a:rPr>
              <a:t>things </a:t>
            </a:r>
            <a:r>
              <a:rPr sz="2000" spc="-15" dirty="0">
                <a:latin typeface="Perpetua"/>
                <a:cs typeface="Perpetua"/>
              </a:rPr>
              <a:t>are</a:t>
            </a:r>
            <a:r>
              <a:rPr sz="2000" spc="2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better</a:t>
            </a:r>
            <a:endParaRPr sz="20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Wingdings"/>
              <a:buChar char=""/>
            </a:pPr>
            <a:endParaRPr sz="310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buSzPct val="85000"/>
              <a:buFont typeface="Wingdings"/>
              <a:buChar char=""/>
              <a:tabLst>
                <a:tab pos="287655" algn="l"/>
              </a:tabLst>
            </a:pPr>
            <a:r>
              <a:rPr sz="2000" dirty="0">
                <a:latin typeface="Perpetua"/>
                <a:cs typeface="Perpetua"/>
              </a:rPr>
              <a:t>The </a:t>
            </a:r>
            <a:r>
              <a:rPr sz="2000" spc="-5" dirty="0">
                <a:latin typeface="Perpetua"/>
                <a:cs typeface="Perpetua"/>
              </a:rPr>
              <a:t>narrator </a:t>
            </a:r>
            <a:r>
              <a:rPr sz="2000" spc="-20" dirty="0">
                <a:latin typeface="Perpetua"/>
                <a:cs typeface="Perpetua"/>
              </a:rPr>
              <a:t>says </a:t>
            </a:r>
            <a:r>
              <a:rPr sz="2000" spc="-10" dirty="0">
                <a:latin typeface="Perpetua"/>
                <a:cs typeface="Perpetua"/>
              </a:rPr>
              <a:t>that </a:t>
            </a:r>
            <a:r>
              <a:rPr sz="2000" dirty="0">
                <a:latin typeface="Perpetua"/>
                <a:cs typeface="Perpetua"/>
              </a:rPr>
              <a:t>iPhone 5 </a:t>
            </a:r>
            <a:r>
              <a:rPr sz="2000" spc="-15" dirty="0">
                <a:latin typeface="Perpetua"/>
                <a:cs typeface="Perpetua"/>
              </a:rPr>
              <a:t>downloads </a:t>
            </a:r>
            <a:r>
              <a:rPr sz="2000" spc="-10" dirty="0">
                <a:latin typeface="Perpetua"/>
                <a:cs typeface="Perpetua"/>
              </a:rPr>
              <a:t>fastest </a:t>
            </a:r>
            <a:r>
              <a:rPr sz="2000" dirty="0">
                <a:latin typeface="Perpetua"/>
                <a:cs typeface="Perpetua"/>
              </a:rPr>
              <a:t>on </a:t>
            </a:r>
            <a:r>
              <a:rPr sz="2000" spc="-40" dirty="0">
                <a:latin typeface="Perpetua"/>
                <a:cs typeface="Perpetua"/>
              </a:rPr>
              <a:t>AT&amp;T</a:t>
            </a:r>
            <a:r>
              <a:rPr sz="2000" spc="-13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4G</a:t>
            </a:r>
            <a:endParaRPr sz="20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Wingdings"/>
              <a:buChar char=""/>
            </a:pPr>
            <a:endParaRPr sz="310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buSzPct val="85000"/>
              <a:buFont typeface="Wingdings"/>
              <a:buChar char=""/>
              <a:tabLst>
                <a:tab pos="287655" algn="l"/>
              </a:tabLst>
            </a:pPr>
            <a:r>
              <a:rPr sz="2000" spc="-5" dirty="0">
                <a:latin typeface="Perpetua"/>
                <a:cs typeface="Perpetua"/>
              </a:rPr>
              <a:t>Thus </a:t>
            </a:r>
            <a:r>
              <a:rPr sz="2000" dirty="0">
                <a:latin typeface="Perpetua"/>
                <a:cs typeface="Perpetua"/>
              </a:rPr>
              <a:t>the </a:t>
            </a:r>
            <a:r>
              <a:rPr sz="2000" spc="-20" dirty="0">
                <a:latin typeface="Perpetua"/>
                <a:cs typeface="Perpetua"/>
              </a:rPr>
              <a:t>viewer </a:t>
            </a:r>
            <a:r>
              <a:rPr sz="2000" dirty="0">
                <a:latin typeface="Perpetua"/>
                <a:cs typeface="Perpetua"/>
              </a:rPr>
              <a:t>is </a:t>
            </a:r>
            <a:r>
              <a:rPr sz="2000" spc="-5" dirty="0">
                <a:latin typeface="Perpetua"/>
                <a:cs typeface="Perpetua"/>
              </a:rPr>
              <a:t>left </a:t>
            </a:r>
            <a:r>
              <a:rPr sz="2000" dirty="0">
                <a:latin typeface="Perpetua"/>
                <a:cs typeface="Perpetua"/>
              </a:rPr>
              <a:t>with the </a:t>
            </a:r>
            <a:r>
              <a:rPr sz="2000" spc="-5" dirty="0">
                <a:latin typeface="Perpetua"/>
                <a:cs typeface="Perpetua"/>
              </a:rPr>
              <a:t>conclusion that </a:t>
            </a:r>
            <a:r>
              <a:rPr sz="2000" spc="-40" dirty="0">
                <a:latin typeface="Perpetua"/>
                <a:cs typeface="Perpetua"/>
              </a:rPr>
              <a:t>AT&amp;T </a:t>
            </a:r>
            <a:r>
              <a:rPr sz="2000" dirty="0">
                <a:latin typeface="Perpetua"/>
                <a:cs typeface="Perpetua"/>
              </a:rPr>
              <a:t>4G is</a:t>
            </a:r>
            <a:r>
              <a:rPr sz="2000" spc="-12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better</a:t>
            </a:r>
            <a:endParaRPr sz="20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Wingdings"/>
              <a:buChar char=""/>
            </a:pP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Perpetua"/>
                <a:cs typeface="Perpetua"/>
              </a:rPr>
              <a:t>This </a:t>
            </a:r>
            <a:r>
              <a:rPr sz="2400" spc="-20" dirty="0">
                <a:latin typeface="Perpetua"/>
                <a:cs typeface="Perpetua"/>
              </a:rPr>
              <a:t>commercial’s </a:t>
            </a:r>
            <a:r>
              <a:rPr sz="2400" dirty="0">
                <a:latin typeface="Perpetua"/>
                <a:cs typeface="Perpetua"/>
              </a:rPr>
              <a:t>deduction can be </a:t>
            </a:r>
            <a:r>
              <a:rPr sz="2400" spc="-5" dirty="0">
                <a:latin typeface="Perpetua"/>
                <a:cs typeface="Perpetua"/>
              </a:rPr>
              <a:t>summed </a:t>
            </a:r>
            <a:r>
              <a:rPr sz="2400" dirty="0">
                <a:latin typeface="Perpetua"/>
                <a:cs typeface="Perpetua"/>
              </a:rPr>
              <a:t>up </a:t>
            </a:r>
            <a:r>
              <a:rPr sz="2400" spc="-5" dirty="0">
                <a:latin typeface="Perpetua"/>
                <a:cs typeface="Perpetua"/>
              </a:rPr>
              <a:t>as</a:t>
            </a:r>
            <a:r>
              <a:rPr sz="2400" spc="-9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follows</a:t>
            </a:r>
            <a:endParaRPr sz="2400">
              <a:latin typeface="Perpetua"/>
              <a:cs typeface="Perpetua"/>
            </a:endParaRPr>
          </a:p>
          <a:p>
            <a:pPr marL="561340" lvl="1" indent="-229235">
              <a:lnSpc>
                <a:spcPct val="100000"/>
              </a:lnSpc>
              <a:spcBef>
                <a:spcPts val="400"/>
              </a:spcBef>
              <a:buSzPct val="85416"/>
              <a:buFont typeface="Wingdings"/>
              <a:buChar char=""/>
              <a:tabLst>
                <a:tab pos="561975" algn="l"/>
              </a:tabLst>
            </a:pPr>
            <a:r>
              <a:rPr sz="2400" spc="-15" dirty="0">
                <a:latin typeface="Perpetua"/>
                <a:cs typeface="Perpetua"/>
              </a:rPr>
              <a:t>Faster </a:t>
            </a:r>
            <a:r>
              <a:rPr sz="2400" dirty="0">
                <a:latin typeface="Perpetua"/>
                <a:cs typeface="Perpetua"/>
              </a:rPr>
              <a:t>things </a:t>
            </a:r>
            <a:r>
              <a:rPr sz="2400" spc="-15" dirty="0">
                <a:latin typeface="Perpetua"/>
                <a:cs typeface="Perpetua"/>
              </a:rPr>
              <a:t>are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better</a:t>
            </a:r>
            <a:endParaRPr sz="2400">
              <a:latin typeface="Perpetua"/>
              <a:cs typeface="Perpetua"/>
            </a:endParaRPr>
          </a:p>
          <a:p>
            <a:pPr marL="561340" lvl="1" indent="-229235">
              <a:lnSpc>
                <a:spcPct val="100000"/>
              </a:lnSpc>
              <a:spcBef>
                <a:spcPts val="395"/>
              </a:spcBef>
              <a:buSzPct val="85416"/>
              <a:buFont typeface="Wingdings"/>
              <a:buChar char=""/>
              <a:tabLst>
                <a:tab pos="561975" algn="l"/>
              </a:tabLst>
            </a:pPr>
            <a:r>
              <a:rPr sz="2400" spc="-50" dirty="0">
                <a:latin typeface="Perpetua"/>
                <a:cs typeface="Perpetua"/>
              </a:rPr>
              <a:t>AT&amp;T </a:t>
            </a:r>
            <a:r>
              <a:rPr sz="2400" dirty="0">
                <a:latin typeface="Perpetua"/>
                <a:cs typeface="Perpetua"/>
              </a:rPr>
              <a:t>4G is</a:t>
            </a:r>
            <a:r>
              <a:rPr sz="2400" spc="1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faster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2484" y="5540146"/>
            <a:ext cx="23171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5416"/>
              <a:buFont typeface="Wingdings"/>
              <a:buChar char=""/>
              <a:tabLst>
                <a:tab pos="241300" algn="l"/>
              </a:tabLst>
            </a:pPr>
            <a:r>
              <a:rPr sz="2400" spc="-50" dirty="0">
                <a:latin typeface="Perpetua"/>
                <a:cs typeface="Perpetua"/>
              </a:rPr>
              <a:t>AT&amp;T </a:t>
            </a:r>
            <a:r>
              <a:rPr sz="2400" dirty="0">
                <a:latin typeface="Perpetua"/>
                <a:cs typeface="Perpetua"/>
              </a:rPr>
              <a:t>4G is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better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85028" y="5514238"/>
            <a:ext cx="300418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spc="-15" dirty="0">
                <a:latin typeface="Perpetua"/>
                <a:cs typeface="Perpetua"/>
              </a:rPr>
              <a:t>Deductive</a:t>
            </a:r>
            <a:r>
              <a:rPr sz="2600" b="1" spc="-4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Reasoning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281686"/>
            <a:ext cx="27546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A</a:t>
            </a:r>
            <a:r>
              <a:rPr sz="4000" spc="-50" dirty="0"/>
              <a:t> </a:t>
            </a:r>
            <a:r>
              <a:rPr sz="4000" spc="-15" dirty="0"/>
              <a:t>conversation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21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6476491"/>
            <a:ext cx="895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340" y="1029970"/>
            <a:ext cx="8521700" cy="515747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845185">
              <a:lnSpc>
                <a:spcPct val="90100"/>
              </a:lnSpc>
              <a:spcBef>
                <a:spcPts val="385"/>
              </a:spcBef>
            </a:pPr>
            <a:r>
              <a:rPr sz="2400" spc="-10" dirty="0">
                <a:latin typeface="Perpetua"/>
                <a:cs typeface="Perpetua"/>
              </a:rPr>
              <a:t>John:- </a:t>
            </a:r>
            <a:r>
              <a:rPr sz="2400" dirty="0">
                <a:latin typeface="Perpetua"/>
                <a:cs typeface="Perpetua"/>
              </a:rPr>
              <a:t>Hello </a:t>
            </a:r>
            <a:r>
              <a:rPr sz="2400" spc="-20" dirty="0">
                <a:latin typeface="Perpetua"/>
                <a:cs typeface="Perpetua"/>
              </a:rPr>
              <a:t>Peter.What </a:t>
            </a:r>
            <a:r>
              <a:rPr sz="2400" spc="-35" dirty="0">
                <a:latin typeface="Perpetua"/>
                <a:cs typeface="Perpetua"/>
              </a:rPr>
              <a:t>have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dirty="0">
                <a:latin typeface="Perpetua"/>
                <a:cs typeface="Perpetua"/>
              </a:rPr>
              <a:t>been doing with yourself </a:t>
            </a:r>
            <a:r>
              <a:rPr sz="2400" spc="-15" dirty="0">
                <a:latin typeface="Perpetua"/>
                <a:cs typeface="Perpetua"/>
              </a:rPr>
              <a:t>lately?  </a:t>
            </a:r>
            <a:r>
              <a:rPr sz="2400" spc="-20" dirty="0">
                <a:latin typeface="Perpetua"/>
                <a:cs typeface="Perpetua"/>
              </a:rPr>
              <a:t>Peter:- </a:t>
            </a:r>
            <a:r>
              <a:rPr sz="2400" dirty="0">
                <a:latin typeface="Perpetua"/>
                <a:cs typeface="Perpetua"/>
              </a:rPr>
              <a:t>Not </a:t>
            </a:r>
            <a:r>
              <a:rPr sz="2400" spc="5" dirty="0">
                <a:latin typeface="Perpetua"/>
                <a:cs typeface="Perpetua"/>
              </a:rPr>
              <a:t>much </a:t>
            </a:r>
            <a:r>
              <a:rPr sz="2400" spc="-5" dirty="0">
                <a:latin typeface="Perpetua"/>
                <a:cs typeface="Perpetua"/>
              </a:rPr>
              <a:t>as am </a:t>
            </a:r>
            <a:r>
              <a:rPr sz="2400" spc="-10" dirty="0">
                <a:latin typeface="Perpetua"/>
                <a:cs typeface="Perpetua"/>
              </a:rPr>
              <a:t>busy </a:t>
            </a:r>
            <a:r>
              <a:rPr sz="2400" spc="-5" dirty="0">
                <a:latin typeface="Perpetua"/>
                <a:cs typeface="Perpetua"/>
              </a:rPr>
              <a:t>with </a:t>
            </a:r>
            <a:r>
              <a:rPr sz="2400" spc="-20" dirty="0">
                <a:latin typeface="Perpetua"/>
                <a:cs typeface="Perpetua"/>
              </a:rPr>
              <a:t>work, </a:t>
            </a:r>
            <a:r>
              <a:rPr sz="2400" spc="-10" dirty="0">
                <a:latin typeface="Perpetua"/>
                <a:cs typeface="Perpetua"/>
              </a:rPr>
              <a:t>but </a:t>
            </a:r>
            <a:r>
              <a:rPr sz="2400" dirty="0">
                <a:latin typeface="Perpetua"/>
                <a:cs typeface="Perpetua"/>
              </a:rPr>
              <a:t>I </a:t>
            </a:r>
            <a:r>
              <a:rPr sz="2400" spc="-35" dirty="0">
                <a:latin typeface="Perpetua"/>
                <a:cs typeface="Perpetua"/>
              </a:rPr>
              <a:t>have </a:t>
            </a:r>
            <a:r>
              <a:rPr sz="2400" spc="10" dirty="0">
                <a:latin typeface="Perpetua"/>
                <a:cs typeface="Perpetua"/>
              </a:rPr>
              <a:t>started </a:t>
            </a:r>
            <a:r>
              <a:rPr sz="2400" spc="-25" dirty="0">
                <a:latin typeface="Perpetua"/>
                <a:cs typeface="Perpetua"/>
              </a:rPr>
              <a:t>exercising.  </a:t>
            </a:r>
            <a:r>
              <a:rPr sz="2400" spc="-5" dirty="0">
                <a:latin typeface="Perpetua"/>
                <a:cs typeface="Perpetua"/>
              </a:rPr>
              <a:t>John:-Ohh,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dirty="0">
                <a:latin typeface="Perpetua"/>
                <a:cs typeface="Perpetua"/>
              </a:rPr>
              <a:t>trying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get in</a:t>
            </a:r>
            <a:r>
              <a:rPr sz="2400" spc="-1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shape?</a:t>
            </a:r>
            <a:endParaRPr sz="2400">
              <a:latin typeface="Perpetua"/>
              <a:cs typeface="Perpetua"/>
            </a:endParaRPr>
          </a:p>
          <a:p>
            <a:pPr marL="12700" marR="318135">
              <a:lnSpc>
                <a:spcPts val="2590"/>
              </a:lnSpc>
              <a:spcBef>
                <a:spcPts val="40"/>
              </a:spcBef>
            </a:pPr>
            <a:r>
              <a:rPr sz="2400" spc="-20" dirty="0">
                <a:latin typeface="Perpetua"/>
                <a:cs typeface="Perpetua"/>
              </a:rPr>
              <a:t>Peter:- </a:t>
            </a:r>
            <a:r>
              <a:rPr sz="2400" dirty="0">
                <a:latin typeface="Perpetua"/>
                <a:cs typeface="Perpetua"/>
              </a:rPr>
              <a:t>Not </a:t>
            </a:r>
            <a:r>
              <a:rPr sz="2400" spc="-15" dirty="0">
                <a:latin typeface="Perpetua"/>
                <a:cs typeface="Perpetua"/>
              </a:rPr>
              <a:t>really </a:t>
            </a:r>
            <a:r>
              <a:rPr sz="2400" spc="-5" dirty="0">
                <a:latin typeface="Perpetua"/>
                <a:cs typeface="Perpetua"/>
              </a:rPr>
              <a:t>as </a:t>
            </a:r>
            <a:r>
              <a:rPr sz="2400" dirty="0">
                <a:latin typeface="Perpetua"/>
                <a:cs typeface="Perpetua"/>
              </a:rPr>
              <a:t>I </a:t>
            </a:r>
            <a:r>
              <a:rPr sz="2400" spc="-5" dirty="0">
                <a:latin typeface="Perpetua"/>
                <a:cs typeface="Perpetua"/>
              </a:rPr>
              <a:t>am </a:t>
            </a:r>
            <a:r>
              <a:rPr sz="2400" dirty="0">
                <a:latin typeface="Perpetua"/>
                <a:cs typeface="Perpetua"/>
              </a:rPr>
              <a:t>quite </a:t>
            </a:r>
            <a:r>
              <a:rPr sz="2400" spc="10" dirty="0">
                <a:latin typeface="Perpetua"/>
                <a:cs typeface="Perpetua"/>
              </a:rPr>
              <a:t>trim </a:t>
            </a:r>
            <a:r>
              <a:rPr sz="2400" spc="-10" dirty="0">
                <a:latin typeface="Perpetua"/>
                <a:cs typeface="Perpetua"/>
              </a:rPr>
              <a:t>at </a:t>
            </a:r>
            <a:r>
              <a:rPr sz="2400" spc="-5" dirty="0">
                <a:latin typeface="Perpetua"/>
                <a:cs typeface="Perpetua"/>
              </a:rPr>
              <a:t>the moment, </a:t>
            </a:r>
            <a:r>
              <a:rPr sz="2400" dirty="0">
                <a:latin typeface="Perpetua"/>
                <a:cs typeface="Perpetua"/>
              </a:rPr>
              <a:t>I just </a:t>
            </a:r>
            <a:r>
              <a:rPr sz="2400" spc="-10" dirty="0">
                <a:latin typeface="Perpetua"/>
                <a:cs typeface="Perpetua"/>
              </a:rPr>
              <a:t>want </a:t>
            </a:r>
            <a:r>
              <a:rPr sz="2400" dirty="0">
                <a:latin typeface="Perpetua"/>
                <a:cs typeface="Perpetua"/>
              </a:rPr>
              <a:t>to</a:t>
            </a:r>
            <a:r>
              <a:rPr sz="2400" spc="-165" dirty="0">
                <a:latin typeface="Perpetua"/>
                <a:cs typeface="Perpetua"/>
              </a:rPr>
              <a:t> </a:t>
            </a:r>
            <a:r>
              <a:rPr sz="2400" spc="-25" dirty="0">
                <a:latin typeface="Perpetua"/>
                <a:cs typeface="Perpetua"/>
              </a:rPr>
              <a:t>improve  </a:t>
            </a:r>
            <a:r>
              <a:rPr sz="2400" spc="-50" dirty="0">
                <a:latin typeface="Perpetua"/>
                <a:cs typeface="Perpetua"/>
              </a:rPr>
              <a:t>my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health.</a:t>
            </a:r>
            <a:endParaRPr sz="2400">
              <a:latin typeface="Perpetua"/>
              <a:cs typeface="Perpetua"/>
            </a:endParaRPr>
          </a:p>
          <a:p>
            <a:pPr marL="12700">
              <a:lnSpc>
                <a:spcPts val="2415"/>
              </a:lnSpc>
            </a:pPr>
            <a:r>
              <a:rPr sz="2400" spc="-10" dirty="0">
                <a:latin typeface="Perpetua"/>
                <a:cs typeface="Perpetua"/>
              </a:rPr>
              <a:t>John:- </a:t>
            </a:r>
            <a:r>
              <a:rPr sz="2400" spc="-65" dirty="0">
                <a:latin typeface="Perpetua"/>
                <a:cs typeface="Perpetua"/>
              </a:rPr>
              <a:t>Yes,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is a </a:t>
            </a:r>
            <a:r>
              <a:rPr sz="2400" spc="-5" dirty="0">
                <a:latin typeface="Perpetua"/>
                <a:cs typeface="Perpetua"/>
              </a:rPr>
              <a:t>good </a:t>
            </a:r>
            <a:r>
              <a:rPr sz="2400" dirty="0">
                <a:latin typeface="Perpetua"/>
                <a:cs typeface="Perpetua"/>
              </a:rPr>
              <a:t>idea I need too </a:t>
            </a:r>
            <a:r>
              <a:rPr sz="2400" spc="-5" dirty="0">
                <a:latin typeface="Perpetua"/>
                <a:cs typeface="Perpetua"/>
              </a:rPr>
              <a:t>as </a:t>
            </a:r>
            <a:r>
              <a:rPr sz="2400" dirty="0">
                <a:latin typeface="Perpetua"/>
                <a:cs typeface="Perpetua"/>
              </a:rPr>
              <a:t>well.What </a:t>
            </a:r>
            <a:r>
              <a:rPr sz="2400" spc="-15" dirty="0">
                <a:latin typeface="Perpetua"/>
                <a:cs typeface="Perpetua"/>
              </a:rPr>
              <a:t>are </a:t>
            </a:r>
            <a:r>
              <a:rPr sz="2400" spc="-20" dirty="0">
                <a:latin typeface="Perpetua"/>
                <a:cs typeface="Perpetua"/>
              </a:rPr>
              <a:t>you</a:t>
            </a:r>
            <a:r>
              <a:rPr sz="2400" spc="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doing?</a:t>
            </a:r>
            <a:endParaRPr sz="2400">
              <a:latin typeface="Perpetua"/>
              <a:cs typeface="Perpetua"/>
            </a:endParaRPr>
          </a:p>
          <a:p>
            <a:pPr marL="12700" marR="5080">
              <a:lnSpc>
                <a:spcPts val="2590"/>
              </a:lnSpc>
              <a:spcBef>
                <a:spcPts val="185"/>
              </a:spcBef>
              <a:tabLst>
                <a:tab pos="838835" algn="l"/>
              </a:tabLst>
            </a:pPr>
            <a:r>
              <a:rPr sz="2400" spc="-20" dirty="0">
                <a:latin typeface="Perpetua"/>
                <a:cs typeface="Perpetua"/>
              </a:rPr>
              <a:t>Peter:- </a:t>
            </a:r>
            <a:r>
              <a:rPr sz="2400" dirty="0">
                <a:latin typeface="Perpetua"/>
                <a:cs typeface="Perpetua"/>
              </a:rPr>
              <a:t>I </a:t>
            </a:r>
            <a:r>
              <a:rPr sz="2400" spc="-5" dirty="0">
                <a:latin typeface="Perpetua"/>
                <a:cs typeface="Perpetua"/>
              </a:rPr>
              <a:t>am </a:t>
            </a:r>
            <a:r>
              <a:rPr sz="2400" dirty="0">
                <a:latin typeface="Perpetua"/>
                <a:cs typeface="Perpetua"/>
              </a:rPr>
              <a:t>going to the </a:t>
            </a:r>
            <a:r>
              <a:rPr sz="2400" spc="-5" dirty="0">
                <a:latin typeface="Perpetua"/>
                <a:cs typeface="Perpetua"/>
              </a:rPr>
              <a:t>gym and </a:t>
            </a:r>
            <a:r>
              <a:rPr sz="2400" dirty="0">
                <a:latin typeface="Perpetua"/>
                <a:cs typeface="Perpetua"/>
              </a:rPr>
              <a:t>do </a:t>
            </a:r>
            <a:r>
              <a:rPr sz="2400" spc="-15" dirty="0">
                <a:latin typeface="Perpetua"/>
                <a:cs typeface="Perpetua"/>
              </a:rPr>
              <a:t>weights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spc="5" dirty="0">
                <a:latin typeface="Perpetua"/>
                <a:cs typeface="Perpetua"/>
              </a:rPr>
              <a:t>running </a:t>
            </a:r>
            <a:r>
              <a:rPr sz="2400" dirty="0">
                <a:latin typeface="Perpetua"/>
                <a:cs typeface="Perpetua"/>
              </a:rPr>
              <a:t>on the </a:t>
            </a:r>
            <a:r>
              <a:rPr sz="2400" spc="-5" dirty="0">
                <a:latin typeface="Perpetua"/>
                <a:cs typeface="Perpetua"/>
              </a:rPr>
              <a:t>treadmill.  </a:t>
            </a:r>
            <a:r>
              <a:rPr sz="2400" spc="-10" dirty="0">
                <a:latin typeface="Perpetua"/>
                <a:cs typeface="Perpetua"/>
              </a:rPr>
              <a:t>John:-	</a:t>
            </a:r>
            <a:r>
              <a:rPr sz="2400" dirty="0">
                <a:latin typeface="Perpetua"/>
                <a:cs typeface="Perpetua"/>
              </a:rPr>
              <a:t>I </a:t>
            </a:r>
            <a:r>
              <a:rPr sz="2400" spc="-5" dirty="0">
                <a:latin typeface="Perpetua"/>
                <a:cs typeface="Perpetua"/>
              </a:rPr>
              <a:t>also </a:t>
            </a:r>
            <a:r>
              <a:rPr sz="2400" dirty="0">
                <a:latin typeface="Perpetua"/>
                <a:cs typeface="Perpetua"/>
              </a:rPr>
              <a:t>think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I need to </a:t>
            </a:r>
            <a:r>
              <a:rPr sz="2400" spc="-10" dirty="0">
                <a:latin typeface="Perpetua"/>
                <a:cs typeface="Perpetua"/>
              </a:rPr>
              <a:t>eat </a:t>
            </a:r>
            <a:r>
              <a:rPr sz="2400" spc="-35" dirty="0">
                <a:latin typeface="Perpetua"/>
                <a:cs typeface="Perpetua"/>
              </a:rPr>
              <a:t>better, </a:t>
            </a:r>
            <a:r>
              <a:rPr sz="2400" dirty="0">
                <a:latin typeface="Perpetua"/>
                <a:cs typeface="Perpetua"/>
              </a:rPr>
              <a:t>it </a:t>
            </a:r>
            <a:r>
              <a:rPr sz="2400" spc="-5" dirty="0">
                <a:latin typeface="Perpetua"/>
                <a:cs typeface="Perpetua"/>
              </a:rPr>
              <a:t>will also </a:t>
            </a:r>
            <a:r>
              <a:rPr sz="2400" dirty="0">
                <a:latin typeface="Perpetua"/>
                <a:cs typeface="Perpetua"/>
              </a:rPr>
              <a:t>help </a:t>
            </a:r>
            <a:r>
              <a:rPr sz="2400" spc="-5" dirty="0">
                <a:latin typeface="Perpetua"/>
                <a:cs typeface="Perpetua"/>
              </a:rPr>
              <a:t>me </a:t>
            </a:r>
            <a:r>
              <a:rPr sz="2400" spc="-10" dirty="0">
                <a:latin typeface="Perpetua"/>
                <a:cs typeface="Perpetua"/>
              </a:rPr>
              <a:t>keep </a:t>
            </a:r>
            <a:r>
              <a:rPr sz="2400" dirty="0">
                <a:latin typeface="Perpetua"/>
                <a:cs typeface="Perpetua"/>
              </a:rPr>
              <a:t>in</a:t>
            </a:r>
            <a:r>
              <a:rPr sz="2400" spc="-14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shape.  </a:t>
            </a:r>
            <a:r>
              <a:rPr sz="2400" spc="-20" dirty="0">
                <a:latin typeface="Perpetua"/>
                <a:cs typeface="Perpetua"/>
              </a:rPr>
              <a:t>Peter:- </a:t>
            </a:r>
            <a:r>
              <a:rPr sz="2400" dirty="0">
                <a:latin typeface="Perpetua"/>
                <a:cs typeface="Perpetua"/>
              </a:rPr>
              <a:t>Did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spc="-20" dirty="0">
                <a:latin typeface="Perpetua"/>
                <a:cs typeface="Perpetua"/>
              </a:rPr>
              <a:t>know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sleep is good for </a:t>
            </a:r>
            <a:r>
              <a:rPr sz="2400" spc="-10" dirty="0">
                <a:latin typeface="Perpetua"/>
                <a:cs typeface="Perpetua"/>
              </a:rPr>
              <a:t>your </a:t>
            </a:r>
            <a:r>
              <a:rPr sz="2400" dirty="0">
                <a:latin typeface="Perpetua"/>
                <a:cs typeface="Perpetua"/>
              </a:rPr>
              <a:t>health. I </a:t>
            </a:r>
            <a:r>
              <a:rPr sz="2400" spc="-35" dirty="0">
                <a:latin typeface="Perpetua"/>
                <a:cs typeface="Perpetua"/>
              </a:rPr>
              <a:t>have </a:t>
            </a:r>
            <a:r>
              <a:rPr sz="2400" dirty="0">
                <a:latin typeface="Perpetua"/>
                <a:cs typeface="Perpetua"/>
              </a:rPr>
              <a:t>heard </a:t>
            </a:r>
            <a:r>
              <a:rPr sz="2400" spc="-10" dirty="0">
                <a:latin typeface="Perpetua"/>
                <a:cs typeface="Perpetua"/>
              </a:rPr>
              <a:t>that  </a:t>
            </a:r>
            <a:r>
              <a:rPr sz="2400" dirty="0">
                <a:latin typeface="Perpetua"/>
                <a:cs typeface="Perpetua"/>
              </a:rPr>
              <a:t>people who sleep on </a:t>
            </a:r>
            <a:r>
              <a:rPr sz="2400" spc="-20" dirty="0">
                <a:latin typeface="Perpetua"/>
                <a:cs typeface="Perpetua"/>
              </a:rPr>
              <a:t>average </a:t>
            </a:r>
            <a:r>
              <a:rPr sz="2400" dirty="0">
                <a:latin typeface="Perpetua"/>
                <a:cs typeface="Perpetua"/>
              </a:rPr>
              <a:t>of </a:t>
            </a:r>
            <a:r>
              <a:rPr sz="2400" spc="-5" dirty="0">
                <a:latin typeface="Perpetua"/>
                <a:cs typeface="Perpetua"/>
              </a:rPr>
              <a:t>eight </a:t>
            </a:r>
            <a:r>
              <a:rPr sz="2400" spc="10" dirty="0">
                <a:latin typeface="Perpetua"/>
                <a:cs typeface="Perpetua"/>
              </a:rPr>
              <a:t>hours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-30" dirty="0">
                <a:latin typeface="Perpetua"/>
                <a:cs typeface="Perpetua"/>
              </a:rPr>
              <a:t>day </a:t>
            </a:r>
            <a:r>
              <a:rPr sz="2400" dirty="0">
                <a:latin typeface="Perpetua"/>
                <a:cs typeface="Perpetua"/>
              </a:rPr>
              <a:t>will </a:t>
            </a:r>
            <a:r>
              <a:rPr sz="2400" spc="-35" dirty="0">
                <a:latin typeface="Perpetua"/>
                <a:cs typeface="Perpetua"/>
              </a:rPr>
              <a:t>have </a:t>
            </a:r>
            <a:r>
              <a:rPr sz="2400" spc="-5" dirty="0">
                <a:latin typeface="Perpetua"/>
                <a:cs typeface="Perpetua"/>
              </a:rPr>
              <a:t>less health  </a:t>
            </a:r>
            <a:r>
              <a:rPr sz="2400" spc="-15" dirty="0">
                <a:latin typeface="Perpetua"/>
                <a:cs typeface="Perpetua"/>
              </a:rPr>
              <a:t>problems.</a:t>
            </a:r>
            <a:endParaRPr sz="2400">
              <a:latin typeface="Perpetua"/>
              <a:cs typeface="Perpetua"/>
            </a:endParaRPr>
          </a:p>
          <a:p>
            <a:pPr marL="12700" marR="504190">
              <a:lnSpc>
                <a:spcPts val="2590"/>
              </a:lnSpc>
              <a:spcBef>
                <a:spcPts val="10"/>
              </a:spcBef>
            </a:pPr>
            <a:r>
              <a:rPr sz="2400" spc="-10" dirty="0">
                <a:latin typeface="Perpetua"/>
                <a:cs typeface="Perpetua"/>
              </a:rPr>
              <a:t>John:- </a:t>
            </a:r>
            <a:r>
              <a:rPr sz="2400" spc="-5" dirty="0">
                <a:latin typeface="Perpetua"/>
                <a:cs typeface="Perpetua"/>
              </a:rPr>
              <a:t>That's </a:t>
            </a:r>
            <a:r>
              <a:rPr sz="2400" dirty="0">
                <a:latin typeface="Perpetua"/>
                <a:cs typeface="Perpetua"/>
              </a:rPr>
              <a:t>is good </a:t>
            </a:r>
            <a:r>
              <a:rPr sz="2400" spc="-5" dirty="0">
                <a:latin typeface="Perpetua"/>
                <a:cs typeface="Perpetua"/>
              </a:rPr>
              <a:t>there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-5" dirty="0">
                <a:latin typeface="Perpetua"/>
                <a:cs typeface="Perpetua"/>
              </a:rPr>
              <a:t>lot </a:t>
            </a:r>
            <a:r>
              <a:rPr sz="2400" dirty="0">
                <a:latin typeface="Perpetua"/>
                <a:cs typeface="Perpetua"/>
              </a:rPr>
              <a:t>of things </a:t>
            </a:r>
            <a:r>
              <a:rPr sz="2400" spc="-50" dirty="0">
                <a:latin typeface="Perpetua"/>
                <a:cs typeface="Perpetua"/>
              </a:rPr>
              <a:t>we </a:t>
            </a:r>
            <a:r>
              <a:rPr sz="2400" dirty="0">
                <a:latin typeface="Perpetua"/>
                <a:cs typeface="Perpetua"/>
              </a:rPr>
              <a:t>can do to </a:t>
            </a:r>
            <a:r>
              <a:rPr sz="2400" spc="-25" dirty="0">
                <a:latin typeface="Perpetua"/>
                <a:cs typeface="Perpetua"/>
              </a:rPr>
              <a:t>stay </a:t>
            </a:r>
            <a:r>
              <a:rPr sz="2400" spc="-40" dirty="0">
                <a:latin typeface="Perpetua"/>
                <a:cs typeface="Perpetua"/>
              </a:rPr>
              <a:t>healthy.  </a:t>
            </a:r>
            <a:r>
              <a:rPr sz="2400" spc="-30" dirty="0">
                <a:latin typeface="Perpetua"/>
                <a:cs typeface="Perpetua"/>
              </a:rPr>
              <a:t>Peter:-Yes. </a:t>
            </a:r>
            <a:r>
              <a:rPr sz="2400" dirty="0">
                <a:latin typeface="Perpetua"/>
                <a:cs typeface="Perpetua"/>
              </a:rPr>
              <a:t>But It </a:t>
            </a:r>
            <a:r>
              <a:rPr sz="2400" spc="-5" dirty="0">
                <a:latin typeface="Perpetua"/>
                <a:cs typeface="Perpetua"/>
              </a:rPr>
              <a:t>will </a:t>
            </a:r>
            <a:r>
              <a:rPr sz="2400" dirty="0">
                <a:latin typeface="Perpetua"/>
                <a:cs typeface="Perpetua"/>
              </a:rPr>
              <a:t>be </a:t>
            </a:r>
            <a:r>
              <a:rPr sz="2400" spc="-5" dirty="0">
                <a:latin typeface="Perpetua"/>
                <a:cs typeface="Perpetua"/>
              </a:rPr>
              <a:t>worth </a:t>
            </a:r>
            <a:r>
              <a:rPr sz="2400" dirty="0">
                <a:latin typeface="Perpetua"/>
                <a:cs typeface="Perpetua"/>
              </a:rPr>
              <a:t>it in the </a:t>
            </a:r>
            <a:r>
              <a:rPr sz="2400" spc="-5" dirty="0">
                <a:latin typeface="Perpetua"/>
                <a:cs typeface="Perpetua"/>
              </a:rPr>
              <a:t>long </a:t>
            </a:r>
            <a:r>
              <a:rPr sz="2400" spc="20" dirty="0">
                <a:latin typeface="Perpetua"/>
                <a:cs typeface="Perpetua"/>
              </a:rPr>
              <a:t>run.When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dirty="0">
                <a:latin typeface="Perpetua"/>
                <a:cs typeface="Perpetua"/>
              </a:rPr>
              <a:t>get </a:t>
            </a:r>
            <a:r>
              <a:rPr sz="2400" spc="5" dirty="0">
                <a:latin typeface="Perpetua"/>
                <a:cs typeface="Perpetua"/>
              </a:rPr>
              <a:t>old, </a:t>
            </a:r>
            <a:r>
              <a:rPr sz="2400" dirty="0">
                <a:latin typeface="Perpetua"/>
                <a:cs typeface="Perpetua"/>
              </a:rPr>
              <a:t>it</a:t>
            </a:r>
            <a:r>
              <a:rPr sz="2400" spc="-27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is  </a:t>
            </a:r>
            <a:r>
              <a:rPr sz="2400" spc="10" dirty="0">
                <a:latin typeface="Perpetua"/>
                <a:cs typeface="Perpetua"/>
              </a:rPr>
              <a:t>important </a:t>
            </a:r>
            <a:r>
              <a:rPr sz="2400" dirty="0">
                <a:latin typeface="Perpetua"/>
                <a:cs typeface="Perpetua"/>
              </a:rPr>
              <a:t>to be </a:t>
            </a:r>
            <a:r>
              <a:rPr sz="2400" spc="-10" dirty="0">
                <a:latin typeface="Perpetua"/>
                <a:cs typeface="Perpetua"/>
              </a:rPr>
              <a:t>healthy </a:t>
            </a:r>
            <a:r>
              <a:rPr sz="2400" spc="-5" dirty="0">
                <a:latin typeface="Perpetua"/>
                <a:cs typeface="Perpetua"/>
              </a:rPr>
              <a:t>and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active.</a:t>
            </a:r>
            <a:endParaRPr sz="2400">
              <a:latin typeface="Perpetua"/>
              <a:cs typeface="Perpetua"/>
            </a:endParaRPr>
          </a:p>
          <a:p>
            <a:pPr marL="5233670" indent="-280670">
              <a:lnSpc>
                <a:spcPct val="100000"/>
              </a:lnSpc>
              <a:spcBef>
                <a:spcPts val="430"/>
              </a:spcBef>
              <a:buSzPct val="96428"/>
              <a:buFont typeface="Wingdings"/>
              <a:buChar char=""/>
              <a:tabLst>
                <a:tab pos="5234305" algn="l"/>
              </a:tabLst>
            </a:pPr>
            <a:r>
              <a:rPr sz="2800" b="1" i="1" spc="-10" dirty="0">
                <a:solidFill>
                  <a:srgbClr val="C00000"/>
                </a:solidFill>
                <a:latin typeface="Perpetua"/>
                <a:cs typeface="Perpetua"/>
              </a:rPr>
              <a:t>What </a:t>
            </a:r>
            <a:r>
              <a:rPr sz="2800" b="1" i="1" spc="-20" dirty="0">
                <a:solidFill>
                  <a:srgbClr val="C00000"/>
                </a:solidFill>
                <a:latin typeface="Perpetua"/>
                <a:cs typeface="Perpetua"/>
              </a:rPr>
              <a:t>are </a:t>
            </a:r>
            <a:r>
              <a:rPr sz="2800" b="1" i="1" spc="-5" dirty="0">
                <a:solidFill>
                  <a:srgbClr val="C00000"/>
                </a:solidFill>
                <a:latin typeface="Perpetua"/>
                <a:cs typeface="Perpetua"/>
              </a:rPr>
              <a:t>the </a:t>
            </a:r>
            <a:r>
              <a:rPr sz="2800" b="1" i="1" spc="-20" dirty="0">
                <a:solidFill>
                  <a:srgbClr val="C00000"/>
                </a:solidFill>
                <a:latin typeface="Perpetua"/>
                <a:cs typeface="Perpetua"/>
              </a:rPr>
              <a:t>facts?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48783" y="6162547"/>
            <a:ext cx="35477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100" indent="-280035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"/>
              <a:tabLst>
                <a:tab pos="292735" algn="l"/>
              </a:tabLst>
            </a:pPr>
            <a:r>
              <a:rPr sz="2800" b="1" i="1" spc="-10" dirty="0">
                <a:solidFill>
                  <a:srgbClr val="C00000"/>
                </a:solidFill>
                <a:latin typeface="Perpetua"/>
                <a:cs typeface="Perpetua"/>
              </a:rPr>
              <a:t>What </a:t>
            </a:r>
            <a:r>
              <a:rPr sz="2800" b="1" i="1" spc="-5" dirty="0">
                <a:solidFill>
                  <a:srgbClr val="C00000"/>
                </a:solidFill>
                <a:latin typeface="Perpetua"/>
                <a:cs typeface="Perpetua"/>
              </a:rPr>
              <a:t>is the</a:t>
            </a:r>
            <a:r>
              <a:rPr sz="2800" b="1" i="1" spc="-1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800" b="1" i="1" spc="-10" dirty="0">
                <a:solidFill>
                  <a:srgbClr val="C00000"/>
                </a:solidFill>
                <a:latin typeface="Perpetua"/>
                <a:cs typeface="Perpetua"/>
              </a:rPr>
              <a:t>conclusion?</a:t>
            </a:r>
            <a:endParaRPr sz="28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281686"/>
            <a:ext cx="404050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/>
              <a:t>Facts </a:t>
            </a:r>
            <a:r>
              <a:rPr sz="4000" spc="-5" dirty="0"/>
              <a:t>and</a:t>
            </a:r>
            <a:r>
              <a:rPr sz="4000" spc="-30" dirty="0"/>
              <a:t> </a:t>
            </a:r>
            <a:r>
              <a:rPr sz="4000" spc="-5" dirty="0"/>
              <a:t>Conclusions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22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6476491"/>
            <a:ext cx="895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340" y="977613"/>
            <a:ext cx="7520940" cy="433959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600" spc="-15" dirty="0">
                <a:latin typeface="Perpetua"/>
                <a:cs typeface="Perpetua"/>
              </a:rPr>
              <a:t>Facts:-</a:t>
            </a:r>
            <a:endParaRPr sz="26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spc="-20" dirty="0">
                <a:latin typeface="Perpetua"/>
                <a:cs typeface="Perpetua"/>
              </a:rPr>
              <a:t>Peter </a:t>
            </a:r>
            <a:r>
              <a:rPr sz="2600" spc="15" dirty="0">
                <a:latin typeface="Perpetua"/>
                <a:cs typeface="Perpetua"/>
              </a:rPr>
              <a:t>started </a:t>
            </a:r>
            <a:r>
              <a:rPr sz="2600" spc="-5" dirty="0">
                <a:latin typeface="Perpetua"/>
                <a:cs typeface="Perpetua"/>
              </a:rPr>
              <a:t>exercising</a:t>
            </a:r>
            <a:endParaRPr sz="26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605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dirty="0">
                <a:latin typeface="Perpetua"/>
                <a:cs typeface="Perpetua"/>
              </a:rPr>
              <a:t>He is doing to </a:t>
            </a:r>
            <a:r>
              <a:rPr sz="2600" spc="-25" dirty="0">
                <a:latin typeface="Perpetua"/>
                <a:cs typeface="Perpetua"/>
              </a:rPr>
              <a:t>improve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health</a:t>
            </a:r>
            <a:endParaRPr sz="2600">
              <a:latin typeface="Perpetua"/>
              <a:cs typeface="Perpetua"/>
            </a:endParaRPr>
          </a:p>
          <a:p>
            <a:pPr marL="527685" marR="100965" indent="-515620">
              <a:lnSpc>
                <a:spcPct val="100000"/>
              </a:lnSpc>
              <a:spcBef>
                <a:spcPts val="600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dirty="0">
                <a:latin typeface="Perpetua"/>
                <a:cs typeface="Perpetua"/>
              </a:rPr>
              <a:t>He is </a:t>
            </a:r>
            <a:r>
              <a:rPr sz="2600" spc="-5" dirty="0">
                <a:latin typeface="Perpetua"/>
                <a:cs typeface="Perpetua"/>
              </a:rPr>
              <a:t>going </a:t>
            </a:r>
            <a:r>
              <a:rPr sz="2600" dirty="0">
                <a:latin typeface="Perpetua"/>
                <a:cs typeface="Perpetua"/>
              </a:rPr>
              <a:t>to the </a:t>
            </a:r>
            <a:r>
              <a:rPr sz="2600" spc="-5" dirty="0">
                <a:latin typeface="Perpetua"/>
                <a:cs typeface="Perpetua"/>
              </a:rPr>
              <a:t>gym and </a:t>
            </a:r>
            <a:r>
              <a:rPr sz="2600" dirty="0">
                <a:latin typeface="Perpetua"/>
                <a:cs typeface="Perpetua"/>
              </a:rPr>
              <a:t>do </a:t>
            </a:r>
            <a:r>
              <a:rPr sz="2600" spc="-15" dirty="0">
                <a:latin typeface="Perpetua"/>
                <a:cs typeface="Perpetua"/>
              </a:rPr>
              <a:t>weights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5" dirty="0">
                <a:latin typeface="Perpetua"/>
                <a:cs typeface="Perpetua"/>
              </a:rPr>
              <a:t>running </a:t>
            </a:r>
            <a:r>
              <a:rPr sz="2600" dirty="0">
                <a:latin typeface="Perpetua"/>
                <a:cs typeface="Perpetua"/>
              </a:rPr>
              <a:t>on the  </a:t>
            </a:r>
            <a:r>
              <a:rPr sz="2600" spc="-5" dirty="0">
                <a:latin typeface="Perpetua"/>
                <a:cs typeface="Perpetua"/>
              </a:rPr>
              <a:t>treadmill</a:t>
            </a:r>
            <a:endParaRPr sz="26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dirty="0">
                <a:latin typeface="Perpetua"/>
                <a:cs typeface="Perpetua"/>
              </a:rPr>
              <a:t>He thinks </a:t>
            </a:r>
            <a:r>
              <a:rPr sz="2600" spc="-5" dirty="0">
                <a:latin typeface="Perpetua"/>
                <a:cs typeface="Perpetua"/>
              </a:rPr>
              <a:t>sleeping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also </a:t>
            </a:r>
            <a:r>
              <a:rPr sz="2600" dirty="0">
                <a:latin typeface="Perpetua"/>
                <a:cs typeface="Perpetua"/>
              </a:rPr>
              <a:t>good for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health</a:t>
            </a:r>
            <a:endParaRPr sz="26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dirty="0">
                <a:latin typeface="Perpetua"/>
                <a:cs typeface="Perpetua"/>
              </a:rPr>
              <a:t>He </a:t>
            </a:r>
            <a:r>
              <a:rPr sz="2600" spc="-10" dirty="0">
                <a:latin typeface="Perpetua"/>
                <a:cs typeface="Perpetua"/>
              </a:rPr>
              <a:t>wants </a:t>
            </a:r>
            <a:r>
              <a:rPr sz="2600" dirty="0">
                <a:latin typeface="Perpetua"/>
                <a:cs typeface="Perpetua"/>
              </a:rPr>
              <a:t>to be </a:t>
            </a:r>
            <a:r>
              <a:rPr sz="2600" spc="-10" dirty="0">
                <a:latin typeface="Perpetua"/>
                <a:cs typeface="Perpetua"/>
              </a:rPr>
              <a:t>healthy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15" dirty="0">
                <a:latin typeface="Perpetua"/>
                <a:cs typeface="Perpetua"/>
              </a:rPr>
              <a:t>active </a:t>
            </a:r>
            <a:r>
              <a:rPr sz="2600" dirty="0">
                <a:latin typeface="Perpetua"/>
                <a:cs typeface="Perpetua"/>
              </a:rPr>
              <a:t>when he is</a:t>
            </a:r>
            <a:r>
              <a:rPr sz="2600" spc="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old</a:t>
            </a:r>
            <a:endParaRPr sz="2600">
              <a:latin typeface="Perpetua"/>
              <a:cs typeface="Perpetua"/>
            </a:endParaRPr>
          </a:p>
          <a:p>
            <a:pPr marL="88900">
              <a:lnSpc>
                <a:spcPct val="100000"/>
              </a:lnSpc>
              <a:spcBef>
                <a:spcPts val="1995"/>
              </a:spcBef>
            </a:pPr>
            <a:r>
              <a:rPr sz="2600" spc="-5" dirty="0">
                <a:latin typeface="Perpetua"/>
                <a:cs typeface="Perpetua"/>
              </a:rPr>
              <a:t>Conclusion:-</a:t>
            </a:r>
            <a:endParaRPr sz="2600">
              <a:latin typeface="Perpetua"/>
              <a:cs typeface="Perpetua"/>
            </a:endParaRPr>
          </a:p>
          <a:p>
            <a:pPr marL="88900">
              <a:lnSpc>
                <a:spcPct val="100000"/>
              </a:lnSpc>
              <a:spcBef>
                <a:spcPts val="290"/>
              </a:spcBef>
            </a:pPr>
            <a:r>
              <a:rPr sz="2600" spc="-20" dirty="0">
                <a:latin typeface="Perpetua"/>
                <a:cs typeface="Perpetua"/>
              </a:rPr>
              <a:t>Peter </a:t>
            </a:r>
            <a:r>
              <a:rPr sz="2600" dirty="0">
                <a:latin typeface="Perpetua"/>
                <a:cs typeface="Perpetua"/>
              </a:rPr>
              <a:t>is doing </a:t>
            </a:r>
            <a:r>
              <a:rPr sz="2600" spc="-5" dirty="0">
                <a:latin typeface="Perpetua"/>
                <a:cs typeface="Perpetua"/>
              </a:rPr>
              <a:t>exercise </a:t>
            </a:r>
            <a:r>
              <a:rPr sz="2600" dirty="0">
                <a:latin typeface="Perpetua"/>
                <a:cs typeface="Perpetua"/>
              </a:rPr>
              <a:t>so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he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dirty="0">
                <a:latin typeface="Perpetua"/>
                <a:cs typeface="Perpetua"/>
              </a:rPr>
              <a:t>be </a:t>
            </a:r>
            <a:r>
              <a:rPr sz="2600" spc="-10" dirty="0">
                <a:latin typeface="Perpetua"/>
                <a:cs typeface="Perpetua"/>
              </a:rPr>
              <a:t>healthy </a:t>
            </a:r>
            <a:r>
              <a:rPr sz="2600" dirty="0">
                <a:latin typeface="Perpetua"/>
                <a:cs typeface="Perpetua"/>
              </a:rPr>
              <a:t>when he is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old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4540" y="6476491"/>
            <a:ext cx="895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23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140" y="1211859"/>
            <a:ext cx="6824345" cy="482917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365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5" dirty="0">
                <a:latin typeface="Perpetua"/>
                <a:cs typeface="Perpetua"/>
              </a:rPr>
              <a:t>Premise: All mammals </a:t>
            </a:r>
            <a:r>
              <a:rPr sz="2800" spc="-15" dirty="0">
                <a:latin typeface="Perpetua"/>
                <a:cs typeface="Perpetua"/>
              </a:rPr>
              <a:t>are </a:t>
            </a:r>
            <a:r>
              <a:rPr sz="2800" spc="-5" dirty="0">
                <a:latin typeface="Perpetua"/>
                <a:cs typeface="Perpetua"/>
              </a:rPr>
              <a:t>warm-blooded</a:t>
            </a:r>
            <a:r>
              <a:rPr sz="2800" spc="-315" dirty="0">
                <a:latin typeface="Perpetua"/>
                <a:cs typeface="Perpetua"/>
              </a:rPr>
              <a:t> </a:t>
            </a:r>
            <a:r>
              <a:rPr sz="2800" spc="-15" dirty="0">
                <a:latin typeface="Perpetua"/>
                <a:cs typeface="Perpetua"/>
              </a:rPr>
              <a:t>animals.</a:t>
            </a:r>
            <a:endParaRPr sz="2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70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  <a:tab pos="1647825" algn="l"/>
              </a:tabLst>
            </a:pPr>
            <a:r>
              <a:rPr sz="2800" spc="-5" dirty="0">
                <a:latin typeface="Perpetua"/>
                <a:cs typeface="Perpetua"/>
              </a:rPr>
              <a:t>Premise:	No </a:t>
            </a:r>
            <a:r>
              <a:rPr sz="2800" spc="-10" dirty="0">
                <a:latin typeface="Perpetua"/>
                <a:cs typeface="Perpetua"/>
              </a:rPr>
              <a:t>lizards </a:t>
            </a:r>
            <a:r>
              <a:rPr sz="2800" spc="-15" dirty="0">
                <a:latin typeface="Perpetua"/>
                <a:cs typeface="Perpetua"/>
              </a:rPr>
              <a:t>are </a:t>
            </a:r>
            <a:r>
              <a:rPr sz="2800" spc="-5" dirty="0">
                <a:latin typeface="Perpetua"/>
                <a:cs typeface="Perpetua"/>
              </a:rPr>
              <a:t>warm-blooded</a:t>
            </a:r>
            <a:r>
              <a:rPr sz="2800" spc="70" dirty="0">
                <a:latin typeface="Perpetua"/>
                <a:cs typeface="Perpetua"/>
              </a:rPr>
              <a:t> </a:t>
            </a:r>
            <a:r>
              <a:rPr sz="2800" spc="-15" dirty="0">
                <a:latin typeface="Perpetua"/>
                <a:cs typeface="Perpetua"/>
              </a:rPr>
              <a:t>animals.</a:t>
            </a:r>
            <a:endParaRPr sz="2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60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5" dirty="0">
                <a:latin typeface="Perpetua"/>
                <a:cs typeface="Perpetua"/>
              </a:rPr>
              <a:t>Conclusion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:</a:t>
            </a:r>
            <a:endParaRPr sz="2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3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5" dirty="0">
                <a:latin typeface="Perpetua"/>
                <a:cs typeface="Perpetua"/>
              </a:rPr>
              <a:t>Premise: All humans </a:t>
            </a:r>
            <a:r>
              <a:rPr sz="2800" spc="-15" dirty="0">
                <a:latin typeface="Perpetua"/>
                <a:cs typeface="Perpetua"/>
              </a:rPr>
              <a:t>are</a:t>
            </a:r>
            <a:r>
              <a:rPr sz="2800" spc="-340" dirty="0">
                <a:latin typeface="Perpetua"/>
                <a:cs typeface="Perpetua"/>
              </a:rPr>
              <a:t> </a:t>
            </a:r>
            <a:r>
              <a:rPr sz="2800" spc="10" dirty="0">
                <a:latin typeface="Perpetua"/>
                <a:cs typeface="Perpetua"/>
              </a:rPr>
              <a:t>mortal.</a:t>
            </a:r>
            <a:endParaRPr sz="2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65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  <a:tab pos="1619885" algn="l"/>
              </a:tabLst>
            </a:pPr>
            <a:r>
              <a:rPr sz="2800" spc="-5" dirty="0">
                <a:latin typeface="Perpetua"/>
                <a:cs typeface="Perpetua"/>
              </a:rPr>
              <a:t>Premise:	All Greeks </a:t>
            </a:r>
            <a:r>
              <a:rPr sz="2800" spc="-15" dirty="0">
                <a:latin typeface="Perpetua"/>
                <a:cs typeface="Perpetua"/>
              </a:rPr>
              <a:t>are</a:t>
            </a:r>
            <a:r>
              <a:rPr sz="2800" spc="-1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human.</a:t>
            </a:r>
            <a:endParaRPr sz="2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65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10" dirty="0">
                <a:latin typeface="Perpetua"/>
                <a:cs typeface="Perpetua"/>
              </a:rPr>
              <a:t>Conclusion:</a:t>
            </a:r>
            <a:endParaRPr sz="2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1835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  <a:tab pos="1567815" algn="l"/>
              </a:tabLst>
            </a:pPr>
            <a:r>
              <a:rPr sz="2800" spc="-5" dirty="0">
                <a:latin typeface="Perpetua"/>
                <a:cs typeface="Perpetua"/>
              </a:rPr>
              <a:t>Premise:	Existence has be </a:t>
            </a:r>
            <a:r>
              <a:rPr sz="2800" spc="10" dirty="0">
                <a:latin typeface="Perpetua"/>
                <a:cs typeface="Perpetua"/>
              </a:rPr>
              <a:t>true </a:t>
            </a:r>
            <a:r>
              <a:rPr sz="2800" spc="-5" dirty="0">
                <a:latin typeface="Perpetua"/>
                <a:cs typeface="Perpetua"/>
              </a:rPr>
              <a:t>if one </a:t>
            </a:r>
            <a:r>
              <a:rPr sz="2800" spc="-10" dirty="0">
                <a:latin typeface="Perpetua"/>
                <a:cs typeface="Perpetua"/>
              </a:rPr>
              <a:t>is</a:t>
            </a:r>
            <a:r>
              <a:rPr sz="2800" spc="15" dirty="0">
                <a:latin typeface="Perpetua"/>
                <a:cs typeface="Perpetua"/>
              </a:rPr>
              <a:t> </a:t>
            </a:r>
            <a:r>
              <a:rPr sz="2800" spc="-35" dirty="0">
                <a:latin typeface="Perpetua"/>
                <a:cs typeface="Perpetua"/>
              </a:rPr>
              <a:t>thinking.</a:t>
            </a:r>
            <a:endParaRPr sz="2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65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5" dirty="0">
                <a:latin typeface="Perpetua"/>
                <a:cs typeface="Perpetua"/>
              </a:rPr>
              <a:t>Premise: I am</a:t>
            </a:r>
            <a:r>
              <a:rPr sz="2800" spc="-140" dirty="0">
                <a:latin typeface="Perpetua"/>
                <a:cs typeface="Perpetua"/>
              </a:rPr>
              <a:t> </a:t>
            </a:r>
            <a:r>
              <a:rPr sz="2800" spc="-35" dirty="0">
                <a:latin typeface="Perpetua"/>
                <a:cs typeface="Perpetua"/>
              </a:rPr>
              <a:t>thinking.</a:t>
            </a:r>
            <a:endParaRPr sz="2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65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5" dirty="0">
                <a:latin typeface="Perpetua"/>
                <a:cs typeface="Perpetua"/>
              </a:rPr>
              <a:t>Conclusion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: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7340" y="237871"/>
            <a:ext cx="691451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10" dirty="0"/>
              <a:t>Write </a:t>
            </a:r>
            <a:r>
              <a:rPr sz="3900" dirty="0"/>
              <a:t>the conclusion </a:t>
            </a:r>
            <a:r>
              <a:rPr sz="3900" spc="-10" dirty="0"/>
              <a:t>for </a:t>
            </a:r>
            <a:r>
              <a:rPr sz="3900" dirty="0"/>
              <a:t>the</a:t>
            </a:r>
            <a:r>
              <a:rPr sz="3900" spc="-70" dirty="0"/>
              <a:t> </a:t>
            </a:r>
            <a:r>
              <a:rPr sz="3900" spc="-15" dirty="0"/>
              <a:t>following</a:t>
            </a:r>
            <a:endParaRPr sz="3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4540" y="6476491"/>
            <a:ext cx="895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24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140" y="678840"/>
            <a:ext cx="7674609" cy="548894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365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5" dirty="0">
                <a:latin typeface="Perpetua"/>
                <a:cs typeface="Perpetua"/>
              </a:rPr>
              <a:t>Major Premise: All mammals </a:t>
            </a:r>
            <a:r>
              <a:rPr sz="2800" spc="-15" dirty="0">
                <a:latin typeface="Perpetua"/>
                <a:cs typeface="Perpetua"/>
              </a:rPr>
              <a:t>are </a:t>
            </a:r>
            <a:r>
              <a:rPr sz="2800" spc="-5" dirty="0">
                <a:latin typeface="Perpetua"/>
                <a:cs typeface="Perpetua"/>
              </a:rPr>
              <a:t>warm-blooded</a:t>
            </a:r>
            <a:r>
              <a:rPr sz="2800" spc="-295" dirty="0">
                <a:latin typeface="Perpetua"/>
                <a:cs typeface="Perpetua"/>
              </a:rPr>
              <a:t> </a:t>
            </a:r>
            <a:r>
              <a:rPr sz="2800" spc="-15" dirty="0">
                <a:latin typeface="Perpetua"/>
                <a:cs typeface="Perpetua"/>
              </a:rPr>
              <a:t>animals.</a:t>
            </a:r>
            <a:endParaRPr sz="2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60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  <a:tab pos="2531110" algn="l"/>
              </a:tabLst>
            </a:pPr>
            <a:r>
              <a:rPr sz="2800" spc="-5" dirty="0">
                <a:latin typeface="Perpetua"/>
                <a:cs typeface="Perpetua"/>
              </a:rPr>
              <a:t>Minor</a:t>
            </a:r>
            <a:r>
              <a:rPr sz="2800" spc="1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Premise:	No </a:t>
            </a:r>
            <a:r>
              <a:rPr sz="2800" spc="-10" dirty="0">
                <a:latin typeface="Perpetua"/>
                <a:cs typeface="Perpetua"/>
              </a:rPr>
              <a:t>lizards </a:t>
            </a:r>
            <a:r>
              <a:rPr sz="2800" spc="-15" dirty="0">
                <a:latin typeface="Perpetua"/>
                <a:cs typeface="Perpetua"/>
              </a:rPr>
              <a:t>are </a:t>
            </a:r>
            <a:r>
              <a:rPr sz="2800" spc="-5" dirty="0">
                <a:latin typeface="Perpetua"/>
                <a:cs typeface="Perpetua"/>
              </a:rPr>
              <a:t>warm-blooded</a:t>
            </a:r>
            <a:r>
              <a:rPr sz="2800" spc="55" dirty="0">
                <a:latin typeface="Perpetua"/>
                <a:cs typeface="Perpetua"/>
              </a:rPr>
              <a:t> </a:t>
            </a:r>
            <a:r>
              <a:rPr sz="2800" spc="-15" dirty="0">
                <a:latin typeface="Perpetua"/>
                <a:cs typeface="Perpetua"/>
              </a:rPr>
              <a:t>animals.</a:t>
            </a:r>
            <a:endParaRPr sz="2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70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5" dirty="0">
                <a:latin typeface="Perpetua"/>
                <a:cs typeface="Perpetua"/>
              </a:rPr>
              <a:t>Conclusion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: </a:t>
            </a:r>
            <a:r>
              <a:rPr sz="2800" spc="-15" dirty="0">
                <a:solidFill>
                  <a:srgbClr val="FF0000"/>
                </a:solidFill>
                <a:latin typeface="Perpetua"/>
                <a:cs typeface="Perpetua"/>
              </a:rPr>
              <a:t>Therefore, 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no </a:t>
            </a:r>
            <a:r>
              <a:rPr sz="2800" spc="-10" dirty="0">
                <a:solidFill>
                  <a:srgbClr val="FF0000"/>
                </a:solidFill>
                <a:latin typeface="Perpetua"/>
                <a:cs typeface="Perpetua"/>
              </a:rPr>
              <a:t>lizards </a:t>
            </a:r>
            <a:r>
              <a:rPr sz="2800" spc="-15" dirty="0">
                <a:solidFill>
                  <a:srgbClr val="FF0000"/>
                </a:solidFill>
                <a:latin typeface="Perpetua"/>
                <a:cs typeface="Perpetua"/>
              </a:rPr>
              <a:t>are</a:t>
            </a:r>
            <a:r>
              <a:rPr sz="2800" spc="10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Perpetua"/>
                <a:cs typeface="Perpetua"/>
              </a:rPr>
              <a:t>mammals</a:t>
            </a:r>
            <a:r>
              <a:rPr sz="2800" spc="-10" dirty="0">
                <a:latin typeface="Perpetua"/>
                <a:cs typeface="Perpetua"/>
              </a:rPr>
              <a:t>.</a:t>
            </a:r>
            <a:endParaRPr sz="28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1835"/>
              </a:spcBef>
            </a:pPr>
            <a:r>
              <a:rPr sz="2800" dirty="0">
                <a:latin typeface="Perpetua"/>
                <a:cs typeface="Perpetua"/>
              </a:rPr>
              <a:t>Correct</a:t>
            </a:r>
            <a:r>
              <a:rPr sz="2800" spc="-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Syllogism:</a:t>
            </a:r>
            <a:endParaRPr sz="2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65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5" dirty="0">
                <a:latin typeface="Perpetua"/>
                <a:cs typeface="Perpetua"/>
              </a:rPr>
              <a:t>Major Premise: All humans </a:t>
            </a:r>
            <a:r>
              <a:rPr sz="2800" spc="-15" dirty="0">
                <a:latin typeface="Perpetua"/>
                <a:cs typeface="Perpetua"/>
              </a:rPr>
              <a:t>are</a:t>
            </a:r>
            <a:r>
              <a:rPr sz="2800" spc="-325" dirty="0">
                <a:latin typeface="Perpetua"/>
                <a:cs typeface="Perpetua"/>
              </a:rPr>
              <a:t> </a:t>
            </a:r>
            <a:r>
              <a:rPr sz="2800" spc="10" dirty="0">
                <a:latin typeface="Perpetua"/>
                <a:cs typeface="Perpetua"/>
              </a:rPr>
              <a:t>mortal.</a:t>
            </a:r>
            <a:endParaRPr sz="2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65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  <a:tab pos="2503805" algn="l"/>
              </a:tabLst>
            </a:pPr>
            <a:r>
              <a:rPr sz="2800" spc="-5" dirty="0">
                <a:latin typeface="Perpetua"/>
                <a:cs typeface="Perpetua"/>
              </a:rPr>
              <a:t>Minor</a:t>
            </a:r>
            <a:r>
              <a:rPr sz="2800" spc="1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Premise:	All Greeks </a:t>
            </a:r>
            <a:r>
              <a:rPr sz="2800" spc="-15" dirty="0">
                <a:latin typeface="Perpetua"/>
                <a:cs typeface="Perpetua"/>
              </a:rPr>
              <a:t>are</a:t>
            </a:r>
            <a:r>
              <a:rPr sz="2800" spc="-5" dirty="0">
                <a:latin typeface="Perpetua"/>
                <a:cs typeface="Perpetua"/>
              </a:rPr>
              <a:t> human.</a:t>
            </a:r>
            <a:endParaRPr sz="2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65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5" dirty="0">
                <a:latin typeface="Perpetua"/>
                <a:cs typeface="Perpetua"/>
              </a:rPr>
              <a:t>Conclusion: </a:t>
            </a:r>
            <a:r>
              <a:rPr sz="2800" spc="-15" dirty="0">
                <a:solidFill>
                  <a:srgbClr val="FF0000"/>
                </a:solidFill>
                <a:latin typeface="Perpetua"/>
                <a:cs typeface="Perpetua"/>
              </a:rPr>
              <a:t>Therefore, 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all Greeks </a:t>
            </a:r>
            <a:r>
              <a:rPr sz="2800" spc="-15" dirty="0">
                <a:solidFill>
                  <a:srgbClr val="FF0000"/>
                </a:solidFill>
                <a:latin typeface="Perpetua"/>
                <a:cs typeface="Perpetua"/>
              </a:rPr>
              <a:t>are</a:t>
            </a:r>
            <a:r>
              <a:rPr sz="2800" spc="7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800" spc="10" dirty="0">
                <a:solidFill>
                  <a:srgbClr val="FF0000"/>
                </a:solidFill>
                <a:latin typeface="Perpetua"/>
                <a:cs typeface="Perpetua"/>
              </a:rPr>
              <a:t>mortal</a:t>
            </a:r>
            <a:r>
              <a:rPr sz="2800" spc="10" dirty="0">
                <a:latin typeface="Perpetua"/>
                <a:cs typeface="Perpetua"/>
              </a:rPr>
              <a:t>.</a:t>
            </a:r>
            <a:endParaRPr sz="28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800" spc="5" dirty="0">
                <a:latin typeface="Perpetua"/>
                <a:cs typeface="Perpetua"/>
              </a:rPr>
              <a:t>Descartes’ </a:t>
            </a:r>
            <a:r>
              <a:rPr sz="2800" dirty="0">
                <a:latin typeface="Perpetua"/>
                <a:cs typeface="Perpetua"/>
              </a:rPr>
              <a:t>Syllogism</a:t>
            </a:r>
            <a:r>
              <a:rPr sz="2800" spc="-14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(correct)</a:t>
            </a:r>
            <a:endParaRPr sz="2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60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  <a:tab pos="2419350" algn="l"/>
              </a:tabLst>
            </a:pPr>
            <a:r>
              <a:rPr sz="2800" spc="-5" dirty="0">
                <a:latin typeface="Perpetua"/>
                <a:cs typeface="Perpetua"/>
              </a:rPr>
              <a:t>Major</a:t>
            </a:r>
            <a:r>
              <a:rPr sz="2800" spc="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Premise:	Existence has be </a:t>
            </a:r>
            <a:r>
              <a:rPr sz="2800" spc="10" dirty="0">
                <a:latin typeface="Perpetua"/>
                <a:cs typeface="Perpetua"/>
              </a:rPr>
              <a:t>true </a:t>
            </a:r>
            <a:r>
              <a:rPr sz="2800" spc="-5" dirty="0">
                <a:latin typeface="Perpetua"/>
                <a:cs typeface="Perpetua"/>
              </a:rPr>
              <a:t>if one is </a:t>
            </a:r>
            <a:r>
              <a:rPr sz="2800" spc="-35" dirty="0">
                <a:latin typeface="Perpetua"/>
                <a:cs typeface="Perpetua"/>
              </a:rPr>
              <a:t>thinking.</a:t>
            </a:r>
            <a:endParaRPr sz="2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65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5" dirty="0">
                <a:latin typeface="Perpetua"/>
                <a:cs typeface="Perpetua"/>
              </a:rPr>
              <a:t>Minor Premise: I am</a:t>
            </a:r>
            <a:r>
              <a:rPr sz="2800" spc="-130" dirty="0">
                <a:latin typeface="Perpetua"/>
                <a:cs typeface="Perpetua"/>
              </a:rPr>
              <a:t> </a:t>
            </a:r>
            <a:r>
              <a:rPr sz="2800" spc="-35" dirty="0">
                <a:latin typeface="Perpetua"/>
                <a:cs typeface="Perpetua"/>
              </a:rPr>
              <a:t>thinking.</a:t>
            </a:r>
            <a:endParaRPr sz="2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65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  <a:tab pos="1986280" algn="l"/>
              </a:tabLst>
            </a:pPr>
            <a:r>
              <a:rPr sz="2800" spc="-5" dirty="0">
                <a:latin typeface="Perpetua"/>
                <a:cs typeface="Perpetua"/>
              </a:rPr>
              <a:t>Conclusion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:	I think, </a:t>
            </a:r>
            <a:r>
              <a:rPr sz="2800" spc="-15" dirty="0">
                <a:solidFill>
                  <a:srgbClr val="FF0000"/>
                </a:solidFill>
                <a:latin typeface="Perpetua"/>
                <a:cs typeface="Perpetua"/>
              </a:rPr>
              <a:t>therefore, </a:t>
            </a:r>
            <a:r>
              <a:rPr sz="2800" spc="-5" dirty="0">
                <a:solidFill>
                  <a:srgbClr val="FF0000"/>
                </a:solidFill>
                <a:latin typeface="Perpetua"/>
                <a:cs typeface="Perpetua"/>
              </a:rPr>
              <a:t>I</a:t>
            </a:r>
            <a:r>
              <a:rPr sz="2800" spc="-254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Perpetua"/>
                <a:cs typeface="Perpetua"/>
              </a:rPr>
              <a:t>am.</a:t>
            </a:r>
            <a:endParaRPr sz="28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45561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 </a:t>
            </a:r>
            <a:r>
              <a:rPr spc="-15" dirty="0"/>
              <a:t>valid </a:t>
            </a:r>
            <a:r>
              <a:rPr spc="-10" dirty="0"/>
              <a:t>deductive</a:t>
            </a:r>
            <a:r>
              <a:rPr spc="-75" dirty="0"/>
              <a:t> </a:t>
            </a:r>
            <a:r>
              <a:rPr spc="-5" dirty="0"/>
              <a:t>argument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14490"/>
            <a:ext cx="8422640" cy="552386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09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b="1" spc="-15" dirty="0">
                <a:latin typeface="Perpetua"/>
                <a:cs typeface="Perpetua"/>
              </a:rPr>
              <a:t>Known </a:t>
            </a:r>
            <a:r>
              <a:rPr sz="2400" b="1" dirty="0">
                <a:latin typeface="Perpetua"/>
                <a:cs typeface="Perpetua"/>
              </a:rPr>
              <a:t>Fact</a:t>
            </a:r>
            <a:r>
              <a:rPr sz="2400" b="1" spc="5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#1</a:t>
            </a:r>
            <a:endParaRPr sz="2400">
              <a:latin typeface="Perpetua"/>
              <a:cs typeface="Perpetua"/>
            </a:endParaRPr>
          </a:p>
          <a:p>
            <a:pPr marL="92710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latin typeface="Perpetua"/>
                <a:cs typeface="Perpetua"/>
              </a:rPr>
              <a:t>All humans </a:t>
            </a:r>
            <a:r>
              <a:rPr sz="2400" spc="-10" dirty="0">
                <a:latin typeface="Perpetua"/>
                <a:cs typeface="Perpetua"/>
              </a:rPr>
              <a:t>are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spc="10" dirty="0">
                <a:latin typeface="Perpetua"/>
                <a:cs typeface="Perpetua"/>
              </a:rPr>
              <a:t>mortal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31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b="1" spc="-15" dirty="0">
                <a:latin typeface="Perpetua"/>
                <a:cs typeface="Perpetua"/>
              </a:rPr>
              <a:t>Known </a:t>
            </a:r>
            <a:r>
              <a:rPr sz="2400" b="1" dirty="0">
                <a:latin typeface="Perpetua"/>
                <a:cs typeface="Perpetua"/>
              </a:rPr>
              <a:t>Fact</a:t>
            </a:r>
            <a:r>
              <a:rPr sz="2400" b="1" spc="5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#2</a:t>
            </a:r>
            <a:endParaRPr sz="2400">
              <a:latin typeface="Perpetua"/>
              <a:cs typeface="Perpetua"/>
            </a:endParaRPr>
          </a:p>
          <a:p>
            <a:pPr marL="927100">
              <a:lnSpc>
                <a:spcPct val="100000"/>
              </a:lnSpc>
              <a:spcBef>
                <a:spcPts val="310"/>
              </a:spcBef>
            </a:pPr>
            <a:r>
              <a:rPr sz="2400" spc="-10" dirty="0">
                <a:latin typeface="Perpetua"/>
                <a:cs typeface="Perpetua"/>
              </a:rPr>
              <a:t>John </a:t>
            </a:r>
            <a:r>
              <a:rPr sz="2400" dirty="0">
                <a:latin typeface="Perpetua"/>
                <a:cs typeface="Perpetua"/>
              </a:rPr>
              <a:t>Smith is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human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31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b="1" spc="-5" dirty="0">
                <a:latin typeface="Perpetua"/>
                <a:cs typeface="Perpetua"/>
              </a:rPr>
              <a:t>Conclusion</a:t>
            </a:r>
            <a:endParaRPr sz="2400">
              <a:latin typeface="Perpetua"/>
              <a:cs typeface="Perpetua"/>
            </a:endParaRPr>
          </a:p>
          <a:p>
            <a:pPr marL="927100">
              <a:lnSpc>
                <a:spcPct val="100000"/>
              </a:lnSpc>
              <a:spcBef>
                <a:spcPts val="310"/>
              </a:spcBef>
            </a:pPr>
            <a:r>
              <a:rPr sz="2400" spc="-10" dirty="0">
                <a:latin typeface="Perpetua"/>
                <a:cs typeface="Perpetua"/>
              </a:rPr>
              <a:t>Therefore, </a:t>
            </a:r>
            <a:r>
              <a:rPr sz="2400" spc="-15" dirty="0">
                <a:latin typeface="Perpetua"/>
                <a:cs typeface="Perpetua"/>
              </a:rPr>
              <a:t>John </a:t>
            </a:r>
            <a:r>
              <a:rPr sz="2400" spc="-5" dirty="0">
                <a:latin typeface="Perpetua"/>
                <a:cs typeface="Perpetua"/>
              </a:rPr>
              <a:t>Smith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-120" dirty="0">
                <a:latin typeface="Perpetua"/>
                <a:cs typeface="Perpetua"/>
              </a:rPr>
              <a:t> </a:t>
            </a:r>
            <a:r>
              <a:rPr sz="2400" spc="10" dirty="0">
                <a:latin typeface="Perpetua"/>
                <a:cs typeface="Perpetua"/>
              </a:rPr>
              <a:t>mortal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endParaRPr sz="30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5416"/>
              <a:buFont typeface="Wingdings"/>
              <a:buChar char=""/>
              <a:tabLst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The conclusion is </a:t>
            </a:r>
            <a:r>
              <a:rPr sz="2400" spc="-5" dirty="0">
                <a:latin typeface="Perpetua"/>
                <a:cs typeface="Perpetua"/>
              </a:rPr>
              <a:t>necessarily </a:t>
            </a:r>
            <a:r>
              <a:rPr sz="2400" spc="-20" dirty="0">
                <a:latin typeface="Perpetua"/>
                <a:cs typeface="Perpetua"/>
              </a:rPr>
              <a:t>drawn </a:t>
            </a:r>
            <a:r>
              <a:rPr sz="2400" spc="-10" dirty="0">
                <a:latin typeface="Perpetua"/>
                <a:cs typeface="Perpetua"/>
              </a:rPr>
              <a:t>from </a:t>
            </a:r>
            <a:r>
              <a:rPr sz="2400" spc="-5" dirty="0">
                <a:latin typeface="Perpetua"/>
                <a:cs typeface="Perpetua"/>
              </a:rPr>
              <a:t>the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premises.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ts val="2740"/>
              </a:lnSpc>
              <a:spcBef>
                <a:spcPts val="310"/>
              </a:spcBef>
              <a:buSzPct val="85416"/>
              <a:buFont typeface="Wingdings"/>
              <a:buChar char=""/>
              <a:tabLst>
                <a:tab pos="287020" algn="l"/>
                <a:tab pos="4906010" algn="l"/>
              </a:tabLst>
            </a:pPr>
            <a:r>
              <a:rPr sz="2400" dirty="0">
                <a:latin typeface="Perpetua"/>
                <a:cs typeface="Perpetua"/>
              </a:rPr>
              <a:t>If </a:t>
            </a:r>
            <a:r>
              <a:rPr sz="2400" spc="-5" dirty="0">
                <a:latin typeface="Perpetua"/>
                <a:cs typeface="Perpetua"/>
              </a:rPr>
              <a:t>the </a:t>
            </a:r>
            <a:r>
              <a:rPr sz="2400" spc="10" dirty="0">
                <a:latin typeface="Perpetua"/>
                <a:cs typeface="Perpetua"/>
              </a:rPr>
              <a:t>truth </a:t>
            </a:r>
            <a:r>
              <a:rPr sz="2400" dirty="0">
                <a:latin typeface="Perpetua"/>
                <a:cs typeface="Perpetua"/>
              </a:rPr>
              <a:t>of the </a:t>
            </a:r>
            <a:r>
              <a:rPr sz="2400" spc="-5" dirty="0">
                <a:latin typeface="Perpetua"/>
                <a:cs typeface="Perpetua"/>
              </a:rPr>
              <a:t>premises </a:t>
            </a:r>
            <a:r>
              <a:rPr sz="2400" dirty="0">
                <a:latin typeface="Perpetua"/>
                <a:cs typeface="Perpetua"/>
              </a:rPr>
              <a:t>( #1</a:t>
            </a:r>
            <a:r>
              <a:rPr sz="2400" spc="-5" dirty="0">
                <a:latin typeface="Perpetua"/>
                <a:cs typeface="Perpetua"/>
              </a:rPr>
              <a:t> and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#2)	is </a:t>
            </a:r>
            <a:r>
              <a:rPr sz="2400" spc="-5" dirty="0">
                <a:latin typeface="Perpetua"/>
                <a:cs typeface="Perpetua"/>
              </a:rPr>
              <a:t>admitted, </a:t>
            </a:r>
            <a:r>
              <a:rPr sz="2400" dirty="0">
                <a:latin typeface="Perpetua"/>
                <a:cs typeface="Perpetua"/>
              </a:rPr>
              <a:t>then </a:t>
            </a:r>
            <a:r>
              <a:rPr sz="2400" spc="-5" dirty="0">
                <a:latin typeface="Perpetua"/>
                <a:cs typeface="Perpetua"/>
              </a:rPr>
              <a:t>the</a:t>
            </a:r>
            <a:r>
              <a:rPr sz="2400" spc="-1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conclusion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ts val="2740"/>
              </a:lnSpc>
            </a:pPr>
            <a:r>
              <a:rPr sz="2400" spc="-10" dirty="0">
                <a:latin typeface="Perpetua"/>
                <a:cs typeface="Perpetua"/>
              </a:rPr>
              <a:t>“John </a:t>
            </a:r>
            <a:r>
              <a:rPr sz="2400" dirty="0">
                <a:latin typeface="Perpetua"/>
                <a:cs typeface="Perpetua"/>
              </a:rPr>
              <a:t>Smith is </a:t>
            </a:r>
            <a:r>
              <a:rPr sz="2400" spc="-5" dirty="0">
                <a:latin typeface="Perpetua"/>
                <a:cs typeface="Perpetua"/>
              </a:rPr>
              <a:t>moral” must also </a:t>
            </a:r>
            <a:r>
              <a:rPr sz="2400" dirty="0">
                <a:latin typeface="Perpetua"/>
                <a:cs typeface="Perpetua"/>
              </a:rPr>
              <a:t>be </a:t>
            </a:r>
            <a:r>
              <a:rPr sz="2400" spc="-5" dirty="0">
                <a:latin typeface="Perpetua"/>
                <a:cs typeface="Perpetua"/>
              </a:rPr>
              <a:t>admitted as</a:t>
            </a:r>
            <a:r>
              <a:rPr sz="2400" spc="-18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true.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00">
              <a:latin typeface="Times New Roman"/>
              <a:cs typeface="Times New Roman"/>
            </a:endParaRPr>
          </a:p>
          <a:p>
            <a:pPr marL="286385" marR="173990" indent="-274320">
              <a:lnSpc>
                <a:spcPts val="2590"/>
              </a:lnSpc>
              <a:buClr>
                <a:srgbClr val="C00000"/>
              </a:buClr>
              <a:buSzPct val="85416"/>
              <a:buFont typeface="Wingdings"/>
              <a:buChar char=""/>
              <a:tabLst>
                <a:tab pos="354965" algn="l"/>
                <a:tab pos="355600" algn="l"/>
              </a:tabLst>
            </a:pPr>
            <a:r>
              <a:rPr dirty="0"/>
              <a:t>	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This is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a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simple </a:t>
            </a:r>
            <a:r>
              <a:rPr sz="2400" b="1" i="1" spc="-25" dirty="0">
                <a:solidFill>
                  <a:srgbClr val="C00000"/>
                </a:solidFill>
                <a:latin typeface="Perpetua"/>
                <a:cs typeface="Perpetua"/>
              </a:rPr>
              <a:t>valid </a:t>
            </a:r>
            <a:r>
              <a:rPr sz="2400" b="1" i="1" spc="-15" dirty="0">
                <a:solidFill>
                  <a:srgbClr val="C00000"/>
                </a:solidFill>
                <a:latin typeface="Perpetua"/>
                <a:cs typeface="Perpetua"/>
              </a:rPr>
              <a:t>deductive </a:t>
            </a:r>
            <a:r>
              <a:rPr sz="2400" b="1" i="1" spc="-20" dirty="0">
                <a:solidFill>
                  <a:srgbClr val="C00000"/>
                </a:solidFill>
                <a:latin typeface="Perpetua"/>
                <a:cs typeface="Perpetua"/>
              </a:rPr>
              <a:t>argument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because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the conclusion is 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necessarily </a:t>
            </a:r>
            <a:r>
              <a:rPr sz="2400" b="1" i="1" spc="-35" dirty="0">
                <a:solidFill>
                  <a:srgbClr val="C00000"/>
                </a:solidFill>
                <a:latin typeface="Perpetua"/>
                <a:cs typeface="Perpetua"/>
              </a:rPr>
              <a:t>drawn </a:t>
            </a:r>
            <a:r>
              <a:rPr sz="2400" b="1" i="1" spc="-10" dirty="0">
                <a:solidFill>
                  <a:srgbClr val="C00000"/>
                </a:solidFill>
                <a:latin typeface="Perpetua"/>
                <a:cs typeface="Perpetua"/>
              </a:rPr>
              <a:t>from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the</a:t>
            </a:r>
            <a:r>
              <a:rPr sz="2400" b="1" i="1" spc="4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Perpetua"/>
                <a:cs typeface="Perpetua"/>
              </a:rPr>
              <a:t>premises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13411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</a:t>
            </a:r>
            <a:r>
              <a:rPr spc="5" dirty="0"/>
              <a:t>a</a:t>
            </a:r>
            <a:r>
              <a:rPr dirty="0"/>
              <a:t>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052830"/>
            <a:ext cx="8453755" cy="4919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30830">
              <a:lnSpc>
                <a:spcPct val="100000"/>
              </a:lnSpc>
              <a:spcBef>
                <a:spcPts val="105"/>
              </a:spcBef>
            </a:pP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When the reasoning 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is </a:t>
            </a:r>
            <a:r>
              <a:rPr sz="2600" b="1" i="1" spc="-35" dirty="0">
                <a:solidFill>
                  <a:srgbClr val="C00000"/>
                </a:solidFill>
                <a:latin typeface="Perpetua"/>
                <a:cs typeface="Perpetua"/>
              </a:rPr>
              <a:t>faulty,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deduction</a:t>
            </a:r>
            <a:r>
              <a:rPr sz="2600" b="1" i="1" spc="56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is</a:t>
            </a:r>
            <a:endParaRPr sz="26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</a:pP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open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to</a:t>
            </a:r>
            <a:r>
              <a:rPr sz="2600" b="1" i="1" spc="-2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debate…..</a:t>
            </a:r>
            <a:endParaRPr sz="2600">
              <a:latin typeface="Perpetua"/>
              <a:cs typeface="Perpetua"/>
            </a:endParaRPr>
          </a:p>
          <a:p>
            <a:pPr marL="1658620" indent="-229235">
              <a:lnSpc>
                <a:spcPct val="100000"/>
              </a:lnSpc>
              <a:spcBef>
                <a:spcPts val="395"/>
              </a:spcBef>
              <a:buClr>
                <a:srgbClr val="A18E6A"/>
              </a:buClr>
              <a:buChar char="•"/>
              <a:tabLst>
                <a:tab pos="1659255" algn="l"/>
              </a:tabLst>
            </a:pPr>
            <a:r>
              <a:rPr sz="2600" spc="-5" dirty="0">
                <a:latin typeface="Perpetua"/>
                <a:cs typeface="Perpetua"/>
              </a:rPr>
              <a:t>All </a:t>
            </a:r>
            <a:r>
              <a:rPr sz="2600" spc="-10" dirty="0">
                <a:latin typeface="Perpetua"/>
                <a:cs typeface="Perpetua"/>
              </a:rPr>
              <a:t>cats are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females</a:t>
            </a:r>
            <a:endParaRPr sz="2600">
              <a:latin typeface="Perpetua"/>
              <a:cs typeface="Perpetua"/>
            </a:endParaRPr>
          </a:p>
          <a:p>
            <a:pPr marL="1658620" indent="-229235">
              <a:lnSpc>
                <a:spcPct val="100000"/>
              </a:lnSpc>
              <a:spcBef>
                <a:spcPts val="409"/>
              </a:spcBef>
              <a:buClr>
                <a:srgbClr val="A18E6A"/>
              </a:buClr>
              <a:buChar char="•"/>
              <a:tabLst>
                <a:tab pos="1659255" algn="l"/>
              </a:tabLst>
            </a:pP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5" dirty="0">
                <a:latin typeface="Perpetua"/>
                <a:cs typeface="Perpetua"/>
              </a:rPr>
              <a:t>Jerry </a:t>
            </a:r>
            <a:r>
              <a:rPr sz="2600" dirty="0">
                <a:latin typeface="Perpetua"/>
                <a:cs typeface="Perpetua"/>
              </a:rPr>
              <a:t>is a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cat</a:t>
            </a:r>
            <a:endParaRPr sz="2600">
              <a:latin typeface="Perpetua"/>
              <a:cs typeface="Perpetua"/>
            </a:endParaRPr>
          </a:p>
          <a:p>
            <a:pPr marL="1658620" indent="-229235">
              <a:lnSpc>
                <a:spcPct val="100000"/>
              </a:lnSpc>
              <a:spcBef>
                <a:spcPts val="395"/>
              </a:spcBef>
              <a:buClr>
                <a:srgbClr val="A18E6A"/>
              </a:buClr>
              <a:buChar char="•"/>
              <a:tabLst>
                <a:tab pos="1659255" algn="l"/>
              </a:tabLst>
            </a:pPr>
            <a:r>
              <a:rPr sz="2600" spc="-10" dirty="0">
                <a:latin typeface="Perpetua"/>
                <a:cs typeface="Perpetua"/>
              </a:rPr>
              <a:t>Therefore, </a:t>
            </a: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5" dirty="0">
                <a:latin typeface="Perpetua"/>
                <a:cs typeface="Perpetua"/>
              </a:rPr>
              <a:t>Jerry </a:t>
            </a:r>
            <a:r>
              <a:rPr sz="2600" dirty="0">
                <a:latin typeface="Perpetua"/>
                <a:cs typeface="Perpetua"/>
              </a:rPr>
              <a:t>is a</a:t>
            </a:r>
            <a:r>
              <a:rPr sz="2600" spc="-15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female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Can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dirty="0">
                <a:latin typeface="Perpetua"/>
                <a:cs typeface="Perpetua"/>
              </a:rPr>
              <a:t>spot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spc="-15" dirty="0">
                <a:latin typeface="Perpetua"/>
                <a:cs typeface="Perpetua"/>
              </a:rPr>
              <a:t>flaw </a:t>
            </a:r>
            <a:r>
              <a:rPr sz="2600" i="1" spc="-5" dirty="0">
                <a:latin typeface="Perpetua"/>
                <a:cs typeface="Perpetua"/>
              </a:rPr>
              <a:t>in the</a:t>
            </a:r>
            <a:r>
              <a:rPr sz="2600" i="1" spc="30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reasoning?</a:t>
            </a:r>
            <a:endParaRPr sz="2600">
              <a:latin typeface="Perpetua"/>
              <a:cs typeface="Perpetua"/>
            </a:endParaRPr>
          </a:p>
          <a:p>
            <a:pPr marL="1841500">
              <a:lnSpc>
                <a:spcPct val="100000"/>
              </a:lnSpc>
              <a:spcBef>
                <a:spcPts val="600"/>
              </a:spcBef>
            </a:pPr>
            <a:r>
              <a:rPr sz="2600" spc="-45" dirty="0">
                <a:latin typeface="Perpetua"/>
                <a:cs typeface="Perpetua"/>
              </a:rPr>
              <a:t>Clearly, </a:t>
            </a:r>
            <a:r>
              <a:rPr sz="2600" dirty="0">
                <a:latin typeface="Perpetua"/>
                <a:cs typeface="Perpetua"/>
              </a:rPr>
              <a:t>some </a:t>
            </a:r>
            <a:r>
              <a:rPr sz="2600" spc="-10" dirty="0">
                <a:latin typeface="Perpetua"/>
                <a:cs typeface="Perpetua"/>
              </a:rPr>
              <a:t>cats are </a:t>
            </a:r>
            <a:r>
              <a:rPr sz="2600" spc="-5" dirty="0">
                <a:latin typeface="Perpetua"/>
                <a:cs typeface="Perpetua"/>
              </a:rPr>
              <a:t>females </a:t>
            </a:r>
            <a:r>
              <a:rPr sz="2600" spc="-10" dirty="0">
                <a:latin typeface="Perpetua"/>
                <a:cs typeface="Perpetua"/>
              </a:rPr>
              <a:t>but </a:t>
            </a:r>
            <a:r>
              <a:rPr sz="2600" spc="-5" dirty="0">
                <a:latin typeface="Perpetua"/>
                <a:cs typeface="Perpetua"/>
              </a:rPr>
              <a:t>not all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cats.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5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75" dirty="0">
                <a:latin typeface="Perpetua"/>
                <a:cs typeface="Perpetua"/>
              </a:rPr>
              <a:t>You </a:t>
            </a:r>
            <a:r>
              <a:rPr sz="2600" i="1" spc="-5" dirty="0">
                <a:latin typeface="Perpetua"/>
                <a:cs typeface="Perpetua"/>
              </a:rPr>
              <a:t>cannot </a:t>
            </a:r>
            <a:r>
              <a:rPr sz="2600" i="1" spc="-10" dirty="0">
                <a:latin typeface="Perpetua"/>
                <a:cs typeface="Perpetua"/>
              </a:rPr>
              <a:t>reason that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5" dirty="0">
                <a:latin typeface="Perpetua"/>
                <a:cs typeface="Perpetua"/>
              </a:rPr>
              <a:t>particular </a:t>
            </a:r>
            <a:r>
              <a:rPr sz="2600" i="1" spc="-15" dirty="0">
                <a:latin typeface="Perpetua"/>
                <a:cs typeface="Perpetua"/>
              </a:rPr>
              <a:t>Jerry </a:t>
            </a:r>
            <a:r>
              <a:rPr sz="2600" i="1" spc="-10" dirty="0">
                <a:latin typeface="Perpetua"/>
                <a:cs typeface="Perpetua"/>
              </a:rPr>
              <a:t>cat </a:t>
            </a:r>
            <a:r>
              <a:rPr sz="2600" i="1" spc="-5" dirty="0">
                <a:latin typeface="Perpetua"/>
                <a:cs typeface="Perpetua"/>
              </a:rPr>
              <a:t>is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10" dirty="0">
                <a:latin typeface="Perpetua"/>
                <a:cs typeface="Perpetua"/>
              </a:rPr>
              <a:t>female </a:t>
            </a:r>
            <a:r>
              <a:rPr sz="2600" i="1" spc="-5" dirty="0">
                <a:latin typeface="Perpetua"/>
                <a:cs typeface="Perpetua"/>
              </a:rPr>
              <a:t>based on </a:t>
            </a:r>
            <a:r>
              <a:rPr sz="2600" i="1" spc="-15" dirty="0">
                <a:latin typeface="Perpetua"/>
                <a:cs typeface="Perpetua"/>
              </a:rPr>
              <a:t>your faulty  </a:t>
            </a:r>
            <a:r>
              <a:rPr sz="2600" i="1" spc="-10" dirty="0">
                <a:latin typeface="Perpetua"/>
                <a:cs typeface="Perpetua"/>
              </a:rPr>
              <a:t>generalization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8800" y="228600"/>
            <a:ext cx="1194815" cy="1027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920" y="152527"/>
            <a:ext cx="7086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 </a:t>
            </a:r>
            <a:r>
              <a:rPr spc="-5" dirty="0"/>
              <a:t>not </a:t>
            </a:r>
            <a:r>
              <a:rPr dirty="0"/>
              <a:t>necessarily </a:t>
            </a:r>
            <a:r>
              <a:rPr spc="-20" dirty="0"/>
              <a:t>valid </a:t>
            </a:r>
            <a:r>
              <a:rPr spc="-10" dirty="0"/>
              <a:t>deductive</a:t>
            </a:r>
            <a:r>
              <a:rPr spc="-50" dirty="0"/>
              <a:t> </a:t>
            </a:r>
            <a:r>
              <a:rPr spc="-5" dirty="0"/>
              <a:t>argument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53813"/>
            <a:ext cx="8450580" cy="421767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9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Dogs </a:t>
            </a:r>
            <a:r>
              <a:rPr sz="2600" spc="-15" dirty="0">
                <a:latin typeface="Perpetua"/>
                <a:cs typeface="Perpetua"/>
              </a:rPr>
              <a:t>are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ill-behaved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All dogs </a:t>
            </a:r>
            <a:r>
              <a:rPr sz="2600" spc="-10" dirty="0">
                <a:latin typeface="Perpetua"/>
                <a:cs typeface="Perpetua"/>
              </a:rPr>
              <a:t>are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animals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0" dirty="0">
                <a:latin typeface="Perpetua"/>
                <a:cs typeface="Perpetua"/>
              </a:rPr>
              <a:t>Therefore, </a:t>
            </a:r>
            <a:r>
              <a:rPr sz="2600" spc="-5" dirty="0">
                <a:latin typeface="Perpetua"/>
                <a:cs typeface="Perpetua"/>
              </a:rPr>
              <a:t>all animals </a:t>
            </a:r>
            <a:r>
              <a:rPr sz="2600" spc="-10" dirty="0">
                <a:latin typeface="Perpetua"/>
                <a:cs typeface="Perpetua"/>
              </a:rPr>
              <a:t>are</a:t>
            </a:r>
            <a:r>
              <a:rPr sz="2600" spc="-11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ill-behaved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It appears the same </a:t>
            </a:r>
            <a:r>
              <a:rPr sz="2600" spc="-5" dirty="0">
                <a:latin typeface="Perpetua"/>
                <a:cs typeface="Perpetua"/>
              </a:rPr>
              <a:t>as the one </a:t>
            </a:r>
            <a:r>
              <a:rPr sz="2600" spc="-15" dirty="0">
                <a:latin typeface="Perpetua"/>
                <a:cs typeface="Perpetua"/>
              </a:rPr>
              <a:t>previously</a:t>
            </a:r>
            <a:r>
              <a:rPr sz="2600" dirty="0">
                <a:latin typeface="Perpetua"/>
                <a:cs typeface="Perpetua"/>
              </a:rPr>
              <a:t> written…..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Experience tells </a:t>
            </a:r>
            <a:r>
              <a:rPr sz="2600" spc="-5" dirty="0">
                <a:latin typeface="Perpetua"/>
                <a:cs typeface="Perpetua"/>
              </a:rPr>
              <a:t>us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400" b="1" spc="-5" dirty="0">
                <a:latin typeface="Perpetua"/>
                <a:cs typeface="Perpetua"/>
              </a:rPr>
              <a:t>there </a:t>
            </a:r>
            <a:r>
              <a:rPr sz="2400" b="1" dirty="0">
                <a:latin typeface="Perpetua"/>
                <a:cs typeface="Perpetua"/>
              </a:rPr>
              <a:t>are </a:t>
            </a:r>
            <a:r>
              <a:rPr sz="2400" b="1" spc="-5" dirty="0">
                <a:latin typeface="Perpetua"/>
                <a:cs typeface="Perpetua"/>
              </a:rPr>
              <a:t>animals </a:t>
            </a:r>
            <a:r>
              <a:rPr sz="2400" b="1" spc="-10" dirty="0">
                <a:latin typeface="Perpetua"/>
                <a:cs typeface="Perpetua"/>
              </a:rPr>
              <a:t>that </a:t>
            </a:r>
            <a:r>
              <a:rPr sz="2400" b="1" dirty="0">
                <a:latin typeface="Perpetua"/>
                <a:cs typeface="Perpetua"/>
              </a:rPr>
              <a:t>are not</a:t>
            </a:r>
            <a:r>
              <a:rPr sz="2400" b="1" spc="-5" dirty="0">
                <a:latin typeface="Perpetua"/>
                <a:cs typeface="Perpetua"/>
              </a:rPr>
              <a:t> </a:t>
            </a:r>
            <a:r>
              <a:rPr sz="2400" b="1" spc="-15" dirty="0">
                <a:latin typeface="Perpetua"/>
                <a:cs typeface="Perpetua"/>
              </a:rPr>
              <a:t>ill-behaved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5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5416"/>
              <a:buFont typeface="Wingdings"/>
              <a:buChar char=""/>
              <a:tabLst>
                <a:tab pos="287020" algn="l"/>
              </a:tabLst>
            </a:pP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The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conclusion is</a:t>
            </a:r>
            <a:r>
              <a:rPr sz="2400" b="1" i="1" spc="-2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Perpetua"/>
                <a:cs typeface="Perpetua"/>
              </a:rPr>
              <a:t>wrong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57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solidFill>
                  <a:srgbClr val="C00000"/>
                </a:solidFill>
                <a:latin typeface="Perpetua"/>
                <a:cs typeface="Perpetua"/>
              </a:rPr>
              <a:t>This is </a:t>
            </a:r>
            <a:r>
              <a:rPr sz="2600" i="1" dirty="0">
                <a:solidFill>
                  <a:srgbClr val="C00000"/>
                </a:solidFill>
                <a:latin typeface="Perpetua"/>
                <a:cs typeface="Perpetua"/>
              </a:rPr>
              <a:t>an </a:t>
            </a:r>
            <a:r>
              <a:rPr sz="2600" i="1" spc="-20" dirty="0">
                <a:solidFill>
                  <a:srgbClr val="C00000"/>
                </a:solidFill>
                <a:latin typeface="Perpetua"/>
                <a:cs typeface="Perpetua"/>
              </a:rPr>
              <a:t>invalid </a:t>
            </a:r>
            <a:r>
              <a:rPr sz="2600" i="1" spc="-10" dirty="0">
                <a:solidFill>
                  <a:srgbClr val="C00000"/>
                </a:solidFill>
                <a:latin typeface="Perpetua"/>
                <a:cs typeface="Perpetua"/>
              </a:rPr>
              <a:t>deductive</a:t>
            </a:r>
            <a:r>
              <a:rPr sz="2600" i="1" spc="1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i="1" spc="-15" dirty="0">
                <a:solidFill>
                  <a:srgbClr val="C00000"/>
                </a:solidFill>
                <a:latin typeface="Perpetua"/>
                <a:cs typeface="Perpetua"/>
              </a:rPr>
              <a:t>argument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46183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When </a:t>
            </a:r>
            <a:r>
              <a:rPr spc="-15" dirty="0"/>
              <a:t>are </a:t>
            </a:r>
            <a:r>
              <a:rPr spc="-5" dirty="0"/>
              <a:t>conclusions</a:t>
            </a:r>
            <a:r>
              <a:rPr spc="-40" dirty="0"/>
              <a:t> </a:t>
            </a:r>
            <a:r>
              <a:rPr spc="-10" dirty="0"/>
              <a:t>false?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7614" y="5212071"/>
            <a:ext cx="1797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dirty="0">
                <a:solidFill>
                  <a:srgbClr val="A18E6A"/>
                </a:solidFill>
                <a:latin typeface="Wingdings"/>
                <a:cs typeface="Wingdings"/>
              </a:rPr>
              <a:t></a:t>
            </a:r>
            <a:endParaRPr sz="18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976630"/>
            <a:ext cx="8324215" cy="50018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0" dirty="0">
                <a:latin typeface="Perpetua"/>
                <a:cs typeface="Perpetua"/>
              </a:rPr>
              <a:t>Deductive </a:t>
            </a:r>
            <a:r>
              <a:rPr sz="2600" spc="-5" dirty="0">
                <a:latin typeface="Perpetua"/>
                <a:cs typeface="Perpetua"/>
              </a:rPr>
              <a:t>reasoning does not </a:t>
            </a:r>
            <a:r>
              <a:rPr sz="2600" spc="5" dirty="0">
                <a:latin typeface="Perpetua"/>
                <a:cs typeface="Perpetua"/>
              </a:rPr>
              <a:t>grant </a:t>
            </a:r>
            <a:r>
              <a:rPr sz="2600" spc="-15" dirty="0">
                <a:latin typeface="Perpetua"/>
                <a:cs typeface="Perpetua"/>
              </a:rPr>
              <a:t>new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knowledge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6385" marR="276225" indent="-274320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Instead,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5" dirty="0">
                <a:latin typeface="Perpetua"/>
                <a:cs typeface="Perpetua"/>
              </a:rPr>
              <a:t>clarifies </a:t>
            </a:r>
            <a:r>
              <a:rPr sz="2600" spc="-5" dirty="0">
                <a:latin typeface="Perpetua"/>
                <a:cs typeface="Perpetua"/>
              </a:rPr>
              <a:t>concepts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35" dirty="0">
                <a:latin typeface="Perpetua"/>
                <a:cs typeface="Perpetua"/>
              </a:rPr>
              <a:t>may </a:t>
            </a:r>
            <a:r>
              <a:rPr sz="2600" spc="-10" dirty="0">
                <a:latin typeface="Perpetua"/>
                <a:cs typeface="Perpetua"/>
              </a:rPr>
              <a:t>already </a:t>
            </a:r>
            <a:r>
              <a:rPr sz="2600" spc="-25" dirty="0">
                <a:latin typeface="Perpetua"/>
                <a:cs typeface="Perpetua"/>
              </a:rPr>
              <a:t>know </a:t>
            </a:r>
            <a:r>
              <a:rPr sz="2600" spc="-5" dirty="0">
                <a:latin typeface="Perpetua"/>
                <a:cs typeface="Perpetua"/>
              </a:rPr>
              <a:t>something  about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5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Deduction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aims 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at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producing </a:t>
            </a:r>
            <a:r>
              <a:rPr sz="2600" b="1" i="1" spc="-15" dirty="0">
                <a:solidFill>
                  <a:srgbClr val="C00000"/>
                </a:solidFill>
                <a:latin typeface="Perpetua"/>
                <a:cs typeface="Perpetua"/>
              </a:rPr>
              <a:t>true, </a:t>
            </a:r>
            <a:r>
              <a:rPr sz="2600" b="1" i="1" spc="-20" dirty="0">
                <a:solidFill>
                  <a:srgbClr val="C00000"/>
                </a:solidFill>
                <a:latin typeface="Perpetua"/>
                <a:cs typeface="Perpetua"/>
              </a:rPr>
              <a:t>valid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conclusions 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only</a:t>
            </a:r>
            <a:r>
              <a:rPr sz="2600" b="1" i="1" spc="-34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based 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on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prior </a:t>
            </a:r>
            <a:r>
              <a:rPr sz="2600" b="1" i="1" spc="-15" dirty="0">
                <a:solidFill>
                  <a:srgbClr val="C00000"/>
                </a:solidFill>
                <a:latin typeface="Perpetua"/>
                <a:cs typeface="Perpetua"/>
              </a:rPr>
              <a:t>knowledge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of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the 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truth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of its</a:t>
            </a:r>
            <a:r>
              <a:rPr sz="2600" b="1" i="1" spc="-2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b="1" i="1" spc="-20" dirty="0">
                <a:solidFill>
                  <a:srgbClr val="C00000"/>
                </a:solidFill>
                <a:latin typeface="Perpetua"/>
                <a:cs typeface="Perpetua"/>
              </a:rPr>
              <a:t>facts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750">
              <a:latin typeface="Times New Roman"/>
              <a:cs typeface="Times New Roman"/>
            </a:endParaRPr>
          </a:p>
          <a:p>
            <a:pPr marL="1708785">
              <a:lnSpc>
                <a:spcPct val="100000"/>
              </a:lnSpc>
            </a:pPr>
            <a:r>
              <a:rPr sz="2800" b="1" i="1" spc="-5" dirty="0">
                <a:solidFill>
                  <a:srgbClr val="C00000"/>
                </a:solidFill>
                <a:latin typeface="Perpetua"/>
                <a:cs typeface="Perpetua"/>
              </a:rPr>
              <a:t>If one of </a:t>
            </a:r>
            <a:r>
              <a:rPr sz="2800" b="1" i="1" dirty="0">
                <a:solidFill>
                  <a:srgbClr val="C00000"/>
                </a:solidFill>
                <a:latin typeface="Perpetua"/>
                <a:cs typeface="Perpetua"/>
              </a:rPr>
              <a:t>the </a:t>
            </a:r>
            <a:r>
              <a:rPr sz="2800" b="1" i="1" spc="-25" dirty="0">
                <a:solidFill>
                  <a:srgbClr val="C00000"/>
                </a:solidFill>
                <a:latin typeface="Perpetua"/>
                <a:cs typeface="Perpetua"/>
              </a:rPr>
              <a:t>facts </a:t>
            </a:r>
            <a:r>
              <a:rPr sz="2800" b="1" i="1" spc="-5" dirty="0">
                <a:solidFill>
                  <a:srgbClr val="C00000"/>
                </a:solidFill>
                <a:latin typeface="Perpetua"/>
                <a:cs typeface="Perpetua"/>
              </a:rPr>
              <a:t>is</a:t>
            </a:r>
            <a:r>
              <a:rPr sz="2800" b="1" i="1" spc="1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800" b="1" i="1" spc="-30" dirty="0">
                <a:solidFill>
                  <a:srgbClr val="C00000"/>
                </a:solidFill>
                <a:latin typeface="Perpetua"/>
                <a:cs typeface="Perpetua"/>
              </a:rPr>
              <a:t>false,</a:t>
            </a:r>
            <a:endParaRPr sz="2800">
              <a:latin typeface="Perpetua"/>
              <a:cs typeface="Perpetua"/>
            </a:endParaRPr>
          </a:p>
          <a:p>
            <a:pPr marL="3493770">
              <a:lnSpc>
                <a:spcPct val="100000"/>
              </a:lnSpc>
              <a:spcBef>
                <a:spcPts val="395"/>
              </a:spcBef>
            </a:pPr>
            <a:r>
              <a:rPr sz="2800" b="1" i="1" spc="-5" dirty="0">
                <a:solidFill>
                  <a:srgbClr val="C00000"/>
                </a:solidFill>
                <a:latin typeface="Perpetua"/>
                <a:cs typeface="Perpetua"/>
              </a:rPr>
              <a:t>the </a:t>
            </a:r>
            <a:r>
              <a:rPr sz="2800" b="1" i="1" spc="-10" dirty="0">
                <a:solidFill>
                  <a:srgbClr val="C00000"/>
                </a:solidFill>
                <a:latin typeface="Perpetua"/>
                <a:cs typeface="Perpetua"/>
              </a:rPr>
              <a:t>conclusion </a:t>
            </a:r>
            <a:r>
              <a:rPr sz="2800" b="1" i="1" spc="-5" dirty="0">
                <a:solidFill>
                  <a:srgbClr val="C00000"/>
                </a:solidFill>
                <a:latin typeface="Perpetua"/>
                <a:cs typeface="Perpetua"/>
              </a:rPr>
              <a:t>will be</a:t>
            </a:r>
            <a:r>
              <a:rPr sz="2800" b="1" i="1" spc="3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800" b="1" i="1" spc="-20" dirty="0">
                <a:solidFill>
                  <a:srgbClr val="C00000"/>
                </a:solidFill>
                <a:latin typeface="Perpetua"/>
                <a:cs typeface="Perpetua"/>
              </a:rPr>
              <a:t>false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28049" y="4724400"/>
            <a:ext cx="1013988" cy="1309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3994" y="1042162"/>
            <a:ext cx="6776720" cy="2617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1250"/>
              <a:buFont typeface="Wingdings"/>
              <a:buChar char=""/>
              <a:tabLst>
                <a:tab pos="287020" algn="l"/>
              </a:tabLst>
            </a:pPr>
            <a:r>
              <a:rPr sz="3200" i="1" spc="-5" dirty="0">
                <a:latin typeface="Perpetua"/>
                <a:cs typeface="Perpetua"/>
              </a:rPr>
              <a:t>The </a:t>
            </a:r>
            <a:r>
              <a:rPr sz="3200" i="1" dirty="0">
                <a:latin typeface="Perpetua"/>
                <a:cs typeface="Perpetua"/>
              </a:rPr>
              <a:t>success of </a:t>
            </a:r>
            <a:r>
              <a:rPr sz="3200" i="1" spc="-10" dirty="0">
                <a:latin typeface="Perpetua"/>
                <a:cs typeface="Perpetua"/>
              </a:rPr>
              <a:t>deductive </a:t>
            </a:r>
            <a:r>
              <a:rPr sz="3200" i="1" spc="-5" dirty="0">
                <a:latin typeface="Perpetua"/>
                <a:cs typeface="Perpetua"/>
              </a:rPr>
              <a:t>reasoning depends </a:t>
            </a:r>
            <a:r>
              <a:rPr sz="3200" i="1" dirty="0">
                <a:latin typeface="Perpetua"/>
                <a:cs typeface="Perpetua"/>
              </a:rPr>
              <a:t>upon  </a:t>
            </a:r>
            <a:r>
              <a:rPr sz="3200" i="1" spc="-5" dirty="0">
                <a:latin typeface="Perpetua"/>
                <a:cs typeface="Perpetua"/>
              </a:rPr>
              <a:t>the </a:t>
            </a:r>
            <a:r>
              <a:rPr sz="3200" i="1" spc="10" dirty="0">
                <a:latin typeface="Perpetua"/>
                <a:cs typeface="Perpetua"/>
              </a:rPr>
              <a:t>truth </a:t>
            </a:r>
            <a:r>
              <a:rPr sz="3200" i="1" dirty="0">
                <a:latin typeface="Perpetua"/>
                <a:cs typeface="Perpetua"/>
              </a:rPr>
              <a:t>of </a:t>
            </a:r>
            <a:r>
              <a:rPr sz="3200" i="1" spc="-15" dirty="0">
                <a:latin typeface="Perpetua"/>
                <a:cs typeface="Perpetua"/>
              </a:rPr>
              <a:t>your</a:t>
            </a:r>
            <a:r>
              <a:rPr sz="3200" i="1" spc="40" dirty="0">
                <a:latin typeface="Perpetua"/>
                <a:cs typeface="Perpetua"/>
              </a:rPr>
              <a:t> </a:t>
            </a:r>
            <a:r>
              <a:rPr sz="3200" i="1" spc="-5" dirty="0">
                <a:latin typeface="Perpetua"/>
                <a:cs typeface="Perpetua"/>
              </a:rPr>
              <a:t>premise</a:t>
            </a:r>
            <a:endParaRPr sz="32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Wingdings"/>
              <a:buChar char=""/>
            </a:pPr>
            <a:endParaRPr sz="4350">
              <a:latin typeface="Times New Roman"/>
              <a:cs typeface="Times New Roman"/>
            </a:endParaRPr>
          </a:p>
          <a:p>
            <a:pPr marL="286385" marR="6985" indent="-274320">
              <a:lnSpc>
                <a:spcPct val="100000"/>
              </a:lnSpc>
              <a:spcBef>
                <a:spcPts val="5"/>
              </a:spcBef>
              <a:buSzPct val="81250"/>
              <a:buFont typeface="Wingdings"/>
              <a:buChar char=""/>
              <a:tabLst>
                <a:tab pos="287020" algn="l"/>
              </a:tabLst>
            </a:pPr>
            <a:r>
              <a:rPr sz="3200" i="1" dirty="0">
                <a:latin typeface="Perpetua"/>
                <a:cs typeface="Perpetua"/>
              </a:rPr>
              <a:t>A </a:t>
            </a:r>
            <a:r>
              <a:rPr sz="3200" i="1" spc="-5" dirty="0">
                <a:latin typeface="Perpetua"/>
                <a:cs typeface="Perpetua"/>
              </a:rPr>
              <a:t>premise (a </a:t>
            </a:r>
            <a:r>
              <a:rPr sz="3200" i="1" spc="-20" dirty="0">
                <a:latin typeface="Perpetua"/>
                <a:cs typeface="Perpetua"/>
              </a:rPr>
              <a:t>declarative </a:t>
            </a:r>
            <a:r>
              <a:rPr sz="3200" i="1" dirty="0">
                <a:latin typeface="Perpetua"/>
                <a:cs typeface="Perpetua"/>
              </a:rPr>
              <a:t>sentence) </a:t>
            </a:r>
            <a:r>
              <a:rPr sz="3200" i="1" spc="-5" dirty="0">
                <a:latin typeface="Perpetua"/>
                <a:cs typeface="Perpetua"/>
              </a:rPr>
              <a:t>is </a:t>
            </a:r>
            <a:r>
              <a:rPr sz="3200" i="1" dirty="0">
                <a:latin typeface="Perpetua"/>
                <a:cs typeface="Perpetua"/>
              </a:rPr>
              <a:t>the </a:t>
            </a:r>
            <a:r>
              <a:rPr sz="3200" i="1" spc="-5" dirty="0">
                <a:latin typeface="Perpetua"/>
                <a:cs typeface="Perpetua"/>
              </a:rPr>
              <a:t>basis </a:t>
            </a:r>
            <a:r>
              <a:rPr sz="3200" i="1" spc="-20" dirty="0">
                <a:latin typeface="Perpetua"/>
                <a:cs typeface="Perpetua"/>
              </a:rPr>
              <a:t>for  </a:t>
            </a:r>
            <a:r>
              <a:rPr sz="3200" i="1" dirty="0">
                <a:latin typeface="Perpetua"/>
                <a:cs typeface="Perpetua"/>
              </a:rPr>
              <a:t>an</a:t>
            </a:r>
            <a:r>
              <a:rPr sz="3200" i="1" spc="-10" dirty="0">
                <a:latin typeface="Perpetua"/>
                <a:cs typeface="Perpetua"/>
              </a:rPr>
              <a:t> argument</a:t>
            </a:r>
            <a:endParaRPr sz="32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71192" y="990600"/>
            <a:ext cx="1593409" cy="27212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30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6476491"/>
            <a:ext cx="77470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5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5962" y="6514454"/>
            <a:ext cx="121285" cy="161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25"/>
              </a:lnSpc>
            </a:pPr>
            <a:r>
              <a:rPr sz="1100" i="1" spc="-5" dirty="0">
                <a:latin typeface="Perpetua"/>
                <a:cs typeface="Perpetua"/>
              </a:rPr>
              <a:t>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94121" y="3418964"/>
            <a:ext cx="6351181" cy="301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0234" y="1178400"/>
            <a:ext cx="4633137" cy="12090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9600" y="228600"/>
            <a:ext cx="990600" cy="1219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2590800"/>
            <a:ext cx="9144000" cy="76200"/>
          </a:xfrm>
          <a:custGeom>
            <a:avLst/>
            <a:gdLst/>
            <a:ahLst/>
            <a:cxnLst/>
            <a:rect l="l" t="t" r="r" b="b"/>
            <a:pathLst>
              <a:path w="9144000" h="76200">
                <a:moveTo>
                  <a:pt x="0" y="76200"/>
                </a:moveTo>
                <a:lnTo>
                  <a:pt x="9144000" y="0"/>
                </a:lnTo>
              </a:path>
            </a:pathLst>
          </a:custGeom>
          <a:ln w="9144">
            <a:solidFill>
              <a:srgbClr val="AE340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25292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Valid</a:t>
            </a:r>
            <a:r>
              <a:rPr spc="-90" dirty="0"/>
              <a:t> </a:t>
            </a:r>
            <a:r>
              <a:rPr spc="-5" dirty="0"/>
              <a:t>argument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901413"/>
            <a:ext cx="8464550" cy="478282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9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All </a:t>
            </a:r>
            <a:r>
              <a:rPr sz="2600" spc="-10" dirty="0">
                <a:latin typeface="Perpetua"/>
                <a:cs typeface="Perpetua"/>
              </a:rPr>
              <a:t>cats are animals.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If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this 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premise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is</a:t>
            </a:r>
            <a:r>
              <a:rPr sz="2600" b="1" i="1" spc="-7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true…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5" dirty="0">
                <a:latin typeface="Perpetua"/>
                <a:cs typeface="Perpetua"/>
              </a:rPr>
              <a:t>Jerry </a:t>
            </a:r>
            <a:r>
              <a:rPr sz="2600" dirty="0">
                <a:latin typeface="Perpetua"/>
                <a:cs typeface="Perpetua"/>
              </a:rPr>
              <a:t>is a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cat.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0" dirty="0">
                <a:latin typeface="Perpetua"/>
                <a:cs typeface="Perpetua"/>
              </a:rPr>
              <a:t>Therefore, </a:t>
            </a: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5" dirty="0">
                <a:latin typeface="Perpetua"/>
                <a:cs typeface="Perpetua"/>
              </a:rPr>
              <a:t>Jerry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an</a:t>
            </a:r>
            <a:r>
              <a:rPr sz="2600" spc="-14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animal.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It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is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impossible </a:t>
            </a:r>
            <a:r>
              <a:rPr sz="2600" b="1" i="1" spc="-20" dirty="0">
                <a:solidFill>
                  <a:srgbClr val="C00000"/>
                </a:solidFill>
                <a:latin typeface="Perpetua"/>
                <a:cs typeface="Perpetua"/>
              </a:rPr>
              <a:t>for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this conclusion to be</a:t>
            </a:r>
            <a:r>
              <a:rPr sz="2600" b="1" i="1" spc="-7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b="1" i="1" spc="-15" dirty="0">
                <a:solidFill>
                  <a:srgbClr val="C00000"/>
                </a:solidFill>
                <a:latin typeface="Perpetua"/>
                <a:cs typeface="Perpetua"/>
              </a:rPr>
              <a:t>false.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Thus, </a:t>
            </a:r>
            <a:r>
              <a:rPr sz="2600" b="1" i="1" spc="-25" dirty="0">
                <a:solidFill>
                  <a:srgbClr val="C00000"/>
                </a:solidFill>
                <a:latin typeface="Perpetua"/>
                <a:cs typeface="Perpetua"/>
              </a:rPr>
              <a:t>we </a:t>
            </a:r>
            <a:r>
              <a:rPr sz="2600" b="1" i="1" spc="-30" dirty="0">
                <a:solidFill>
                  <a:srgbClr val="C00000"/>
                </a:solidFill>
                <a:latin typeface="Perpetua"/>
                <a:cs typeface="Perpetua"/>
              </a:rPr>
              <a:t>have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a </a:t>
            </a:r>
            <a:r>
              <a:rPr sz="2600" b="1" i="1" spc="-25" dirty="0">
                <a:solidFill>
                  <a:srgbClr val="C00000"/>
                </a:solidFill>
                <a:latin typeface="Perpetua"/>
                <a:cs typeface="Perpetua"/>
              </a:rPr>
              <a:t>valid</a:t>
            </a:r>
            <a:r>
              <a:rPr sz="2600" b="1" i="1" spc="-27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b="1" i="1" spc="-20" dirty="0">
                <a:solidFill>
                  <a:srgbClr val="C00000"/>
                </a:solidFill>
                <a:latin typeface="Perpetua"/>
                <a:cs typeface="Perpetua"/>
              </a:rPr>
              <a:t>argument.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buClr>
                <a:srgbClr val="C00000"/>
              </a:buClr>
              <a:buFont typeface="Wingdings"/>
              <a:buChar char=""/>
            </a:pP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C00000"/>
              </a:buClr>
              <a:buFont typeface="Wingdings"/>
              <a:buChar char=""/>
            </a:pPr>
            <a:endParaRPr sz="3250">
              <a:latin typeface="Times New Roman"/>
              <a:cs typeface="Times New Roman"/>
            </a:endParaRPr>
          </a:p>
          <a:p>
            <a:pPr marL="1440815" marR="5080" lvl="1" indent="-285115">
              <a:lnSpc>
                <a:spcPct val="117800"/>
              </a:lnSpc>
              <a:buSzPct val="96428"/>
              <a:buFont typeface="Wingdings"/>
              <a:buChar char=""/>
              <a:tabLst>
                <a:tab pos="1435735" algn="l"/>
                <a:tab pos="7449184" algn="l"/>
              </a:tabLst>
            </a:pPr>
            <a:r>
              <a:rPr sz="2800" i="1" spc="-5" dirty="0">
                <a:latin typeface="Perpetua"/>
                <a:cs typeface="Perpetua"/>
              </a:rPr>
              <a:t>When </a:t>
            </a:r>
            <a:r>
              <a:rPr sz="2800" i="1" spc="-60" dirty="0">
                <a:latin typeface="Perpetua"/>
                <a:cs typeface="Perpetua"/>
              </a:rPr>
              <a:t>it’s </a:t>
            </a:r>
            <a:r>
              <a:rPr sz="2800" i="1" spc="-10" dirty="0">
                <a:latin typeface="Perpetua"/>
                <a:cs typeface="Perpetua"/>
              </a:rPr>
              <a:t>not </a:t>
            </a:r>
            <a:r>
              <a:rPr sz="2800" i="1" spc="-15" dirty="0">
                <a:latin typeface="Perpetua"/>
                <a:cs typeface="Perpetua"/>
              </a:rPr>
              <a:t>possible </a:t>
            </a:r>
            <a:r>
              <a:rPr sz="2800" i="1" spc="-20" dirty="0">
                <a:latin typeface="Perpetua"/>
                <a:cs typeface="Perpetua"/>
              </a:rPr>
              <a:t>for </a:t>
            </a:r>
            <a:r>
              <a:rPr sz="2800" i="1" spc="-5" dirty="0">
                <a:latin typeface="Perpetua"/>
                <a:cs typeface="Perpetua"/>
              </a:rPr>
              <a:t>the </a:t>
            </a:r>
            <a:r>
              <a:rPr sz="2800" i="1" spc="-10" dirty="0">
                <a:latin typeface="Perpetua"/>
                <a:cs typeface="Perpetua"/>
              </a:rPr>
              <a:t>premise </a:t>
            </a:r>
            <a:r>
              <a:rPr sz="2800" i="1" spc="-5" dirty="0">
                <a:latin typeface="Perpetua"/>
                <a:cs typeface="Perpetua"/>
              </a:rPr>
              <a:t>to be</a:t>
            </a:r>
            <a:r>
              <a:rPr sz="2800" i="1" spc="240" dirty="0">
                <a:latin typeface="Perpetua"/>
                <a:cs typeface="Perpetua"/>
              </a:rPr>
              <a:t> </a:t>
            </a:r>
            <a:r>
              <a:rPr sz="2800" i="1" spc="5" dirty="0">
                <a:latin typeface="Perpetua"/>
                <a:cs typeface="Perpetua"/>
              </a:rPr>
              <a:t>true</a:t>
            </a:r>
            <a:r>
              <a:rPr sz="2800" i="1" spc="-15" dirty="0">
                <a:latin typeface="Perpetua"/>
                <a:cs typeface="Perpetua"/>
              </a:rPr>
              <a:t> </a:t>
            </a:r>
            <a:r>
              <a:rPr sz="2800" i="1" spc="-5" dirty="0">
                <a:latin typeface="Perpetua"/>
                <a:cs typeface="Perpetua"/>
              </a:rPr>
              <a:t>and	the  </a:t>
            </a:r>
            <a:r>
              <a:rPr sz="2800" i="1" spc="-10" dirty="0">
                <a:latin typeface="Perpetua"/>
                <a:cs typeface="Perpetua"/>
              </a:rPr>
              <a:t>conclusion </a:t>
            </a:r>
            <a:r>
              <a:rPr sz="2800" i="1" spc="-5" dirty="0">
                <a:latin typeface="Perpetua"/>
                <a:cs typeface="Perpetua"/>
              </a:rPr>
              <a:t>to be </a:t>
            </a:r>
            <a:r>
              <a:rPr sz="2800" i="1" spc="-15" dirty="0">
                <a:latin typeface="Perpetua"/>
                <a:cs typeface="Perpetua"/>
              </a:rPr>
              <a:t>false, </a:t>
            </a:r>
            <a:r>
              <a:rPr sz="2800" i="1" spc="-20" dirty="0">
                <a:latin typeface="Perpetua"/>
                <a:cs typeface="Perpetua"/>
              </a:rPr>
              <a:t>you </a:t>
            </a:r>
            <a:r>
              <a:rPr sz="2800" i="1" spc="-15" dirty="0">
                <a:latin typeface="Perpetua"/>
                <a:cs typeface="Perpetua"/>
              </a:rPr>
              <a:t>are </a:t>
            </a:r>
            <a:r>
              <a:rPr sz="2800" i="1" spc="-5" dirty="0">
                <a:latin typeface="Perpetua"/>
                <a:cs typeface="Perpetua"/>
              </a:rPr>
              <a:t>looking </a:t>
            </a:r>
            <a:r>
              <a:rPr sz="2800" i="1" spc="-15" dirty="0">
                <a:latin typeface="Perpetua"/>
                <a:cs typeface="Perpetua"/>
              </a:rPr>
              <a:t>at </a:t>
            </a:r>
            <a:r>
              <a:rPr sz="2800" i="1" spc="-5" dirty="0">
                <a:latin typeface="Perpetua"/>
                <a:cs typeface="Perpetua"/>
              </a:rPr>
              <a:t>a </a:t>
            </a:r>
            <a:r>
              <a:rPr sz="2800" b="1" i="1" spc="-25" dirty="0">
                <a:latin typeface="Perpetua"/>
                <a:cs typeface="Perpetua"/>
              </a:rPr>
              <a:t>valid</a:t>
            </a:r>
            <a:r>
              <a:rPr sz="2800" b="1" i="1" spc="-110" dirty="0">
                <a:latin typeface="Perpetua"/>
                <a:cs typeface="Perpetua"/>
              </a:rPr>
              <a:t> </a:t>
            </a:r>
            <a:r>
              <a:rPr sz="2800" b="1" i="1" spc="-25" dirty="0">
                <a:latin typeface="Perpetua"/>
                <a:cs typeface="Perpetua"/>
              </a:rPr>
              <a:t>argument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6431" y="4648200"/>
            <a:ext cx="941560" cy="12094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5867"/>
            <a:ext cx="27393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Sound</a:t>
            </a:r>
            <a:r>
              <a:rPr spc="-60" dirty="0"/>
              <a:t> </a:t>
            </a:r>
            <a:r>
              <a:rPr spc="-5" dirty="0"/>
              <a:t>argument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761746"/>
            <a:ext cx="8072755" cy="585343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409"/>
              </a:spcBef>
            </a:pPr>
            <a:r>
              <a:rPr sz="2400" spc="-5" dirty="0">
                <a:latin typeface="Perpetua"/>
                <a:cs typeface="Perpetua"/>
              </a:rPr>
              <a:t>All </a:t>
            </a:r>
            <a:r>
              <a:rPr sz="2400" spc="-10" dirty="0">
                <a:latin typeface="Perpetua"/>
                <a:cs typeface="Perpetua"/>
              </a:rPr>
              <a:t>cats are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females</a:t>
            </a:r>
            <a:endParaRPr sz="2400">
              <a:latin typeface="Perpetua"/>
              <a:cs typeface="Perpetua"/>
            </a:endParaRPr>
          </a:p>
          <a:p>
            <a:pPr marL="927100" marR="5715">
              <a:lnSpc>
                <a:spcPts val="2590"/>
              </a:lnSpc>
              <a:spcBef>
                <a:spcPts val="640"/>
              </a:spcBef>
              <a:tabLst>
                <a:tab pos="1623695" algn="l"/>
                <a:tab pos="2717800" algn="l"/>
                <a:tab pos="3083560" algn="l"/>
                <a:tab pos="3646170" algn="l"/>
                <a:tab pos="4362450" algn="l"/>
                <a:tab pos="5055870" algn="l"/>
                <a:tab pos="5543550" algn="l"/>
                <a:tab pos="6313805" algn="l"/>
                <a:tab pos="7036434" algn="l"/>
                <a:tab pos="7364095" algn="l"/>
              </a:tabLst>
            </a:pP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Thi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s	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p</a:t>
            </a:r>
            <a:r>
              <a:rPr sz="2400" b="1" i="1" spc="-40" dirty="0">
                <a:solidFill>
                  <a:srgbClr val="C00000"/>
                </a:solidFill>
                <a:latin typeface="Perpetua"/>
                <a:cs typeface="Perpetua"/>
              </a:rPr>
              <a:t>r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emise	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i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s	not	tru</a:t>
            </a:r>
            <a:r>
              <a:rPr sz="2400" b="1" i="1" spc="-50" dirty="0">
                <a:solidFill>
                  <a:srgbClr val="C00000"/>
                </a:solidFill>
                <a:latin typeface="Perpetua"/>
                <a:cs typeface="Perpetua"/>
              </a:rPr>
              <a:t>e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,	thus	</a:t>
            </a:r>
            <a:r>
              <a:rPr sz="2400" b="1" i="1" spc="-50" dirty="0">
                <a:solidFill>
                  <a:srgbClr val="C00000"/>
                </a:solidFill>
                <a:latin typeface="Perpetua"/>
                <a:cs typeface="Perpetua"/>
              </a:rPr>
              <a:t>w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e	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don</a:t>
            </a:r>
            <a:r>
              <a:rPr sz="2400" b="1" i="1" spc="-175" dirty="0">
                <a:solidFill>
                  <a:srgbClr val="C00000"/>
                </a:solidFill>
                <a:latin typeface="Perpetua"/>
                <a:cs typeface="Perpetua"/>
              </a:rPr>
              <a:t>’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t	h</a:t>
            </a:r>
            <a:r>
              <a:rPr sz="2400" b="1" i="1" spc="-75" dirty="0">
                <a:solidFill>
                  <a:srgbClr val="C00000"/>
                </a:solidFill>
                <a:latin typeface="Perpetua"/>
                <a:cs typeface="Perpetua"/>
              </a:rPr>
              <a:t>a</a:t>
            </a:r>
            <a:r>
              <a:rPr sz="2400" b="1" i="1" spc="-55" dirty="0">
                <a:solidFill>
                  <a:srgbClr val="C00000"/>
                </a:solidFill>
                <a:latin typeface="Perpetua"/>
                <a:cs typeface="Perpetua"/>
              </a:rPr>
              <a:t>v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e	a	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sound  </a:t>
            </a:r>
            <a:r>
              <a:rPr sz="2400" b="1" i="1" spc="-20" dirty="0">
                <a:solidFill>
                  <a:srgbClr val="C00000"/>
                </a:solidFill>
                <a:latin typeface="Perpetua"/>
                <a:cs typeface="Perpetua"/>
              </a:rPr>
              <a:t>argument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8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This Jerry is a</a:t>
            </a:r>
            <a:r>
              <a:rPr sz="2400" spc="-5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cat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31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0" dirty="0">
                <a:latin typeface="Perpetua"/>
                <a:cs typeface="Perpetua"/>
              </a:rPr>
              <a:t>Therefore, </a:t>
            </a:r>
            <a:r>
              <a:rPr sz="2400" dirty="0">
                <a:latin typeface="Perpetua"/>
                <a:cs typeface="Perpetua"/>
              </a:rPr>
              <a:t>this Jerry is a</a:t>
            </a:r>
            <a:r>
              <a:rPr sz="2400" spc="-15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female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305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400" spc="-5" dirty="0">
                <a:latin typeface="Perpetua"/>
                <a:cs typeface="Perpetua"/>
              </a:rPr>
              <a:t>All </a:t>
            </a:r>
            <a:r>
              <a:rPr sz="2400" spc="-10" dirty="0">
                <a:latin typeface="Perpetua"/>
                <a:cs typeface="Perpetua"/>
              </a:rPr>
              <a:t>cats are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animals</a:t>
            </a:r>
            <a:endParaRPr sz="2400">
              <a:latin typeface="Perpetua"/>
              <a:cs typeface="Perpetua"/>
            </a:endParaRPr>
          </a:p>
          <a:p>
            <a:pPr marL="927100" marR="5080" indent="68580">
              <a:lnSpc>
                <a:spcPts val="2590"/>
              </a:lnSpc>
              <a:spcBef>
                <a:spcPts val="640"/>
              </a:spcBef>
              <a:tabLst>
                <a:tab pos="1685925" algn="l"/>
                <a:tab pos="2773045" algn="l"/>
                <a:tab pos="3132455" algn="l"/>
                <a:tab pos="3841115" algn="l"/>
                <a:tab pos="4245610" algn="l"/>
                <a:tab pos="4725670" algn="l"/>
                <a:tab pos="5283200" algn="l"/>
                <a:tab pos="5953760" algn="l"/>
                <a:tab pos="6355080" algn="l"/>
                <a:tab pos="7147559" algn="l"/>
                <a:tab pos="7468870" algn="l"/>
              </a:tabLst>
            </a:pP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Thi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s	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p</a:t>
            </a:r>
            <a:r>
              <a:rPr sz="2400" b="1" i="1" spc="-40" dirty="0">
                <a:solidFill>
                  <a:srgbClr val="C00000"/>
                </a:solidFill>
                <a:latin typeface="Perpetua"/>
                <a:cs typeface="Perpetua"/>
              </a:rPr>
              <a:t>r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emi</a:t>
            </a:r>
            <a:r>
              <a:rPr sz="2400" b="1" i="1" spc="-15" dirty="0">
                <a:solidFill>
                  <a:srgbClr val="C00000"/>
                </a:solidFill>
                <a:latin typeface="Perpetua"/>
                <a:cs typeface="Perpetua"/>
              </a:rPr>
              <a:t>s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e	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i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s	tru</a:t>
            </a:r>
            <a:r>
              <a:rPr sz="2400" b="1" i="1" spc="-60" dirty="0">
                <a:solidFill>
                  <a:srgbClr val="C00000"/>
                </a:solidFill>
                <a:latin typeface="Perpetua"/>
                <a:cs typeface="Perpetua"/>
              </a:rPr>
              <a:t>e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,	so	</a:t>
            </a:r>
            <a:r>
              <a:rPr sz="2400" b="1" i="1" spc="-50" dirty="0">
                <a:solidFill>
                  <a:srgbClr val="C00000"/>
                </a:solidFill>
                <a:latin typeface="Perpetua"/>
                <a:cs typeface="Perpetua"/>
              </a:rPr>
              <a:t>w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e	a</a:t>
            </a:r>
            <a:r>
              <a:rPr sz="2400" b="1" i="1" spc="-40" dirty="0">
                <a:solidFill>
                  <a:srgbClr val="C00000"/>
                </a:solidFill>
                <a:latin typeface="Perpetua"/>
                <a:cs typeface="Perpetua"/>
              </a:rPr>
              <a:t>r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e	</a:t>
            </a:r>
            <a:r>
              <a:rPr sz="2400" b="1" i="1" spc="-40" dirty="0">
                <a:solidFill>
                  <a:srgbClr val="C00000"/>
                </a:solidFill>
                <a:latin typeface="Perpetua"/>
                <a:cs typeface="Perpetua"/>
              </a:rPr>
              <a:t>ab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le	</a:t>
            </a:r>
            <a:r>
              <a:rPr sz="2400" b="1" i="1" spc="5" dirty="0">
                <a:solidFill>
                  <a:srgbClr val="C00000"/>
                </a:solidFill>
                <a:latin typeface="Perpetua"/>
                <a:cs typeface="Perpetua"/>
              </a:rPr>
              <a:t>t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o	</a:t>
            </a:r>
            <a:r>
              <a:rPr sz="2400" b="1" i="1" spc="-25" dirty="0">
                <a:solidFill>
                  <a:srgbClr val="C00000"/>
                </a:solidFill>
                <a:latin typeface="Perpetua"/>
                <a:cs typeface="Perpetua"/>
              </a:rPr>
              <a:t>b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uild	a	</a:t>
            </a:r>
            <a:r>
              <a:rPr sz="2400" b="1" i="1" spc="-105" dirty="0">
                <a:solidFill>
                  <a:srgbClr val="C00000"/>
                </a:solidFill>
                <a:latin typeface="Perpetua"/>
                <a:cs typeface="Perpetua"/>
              </a:rPr>
              <a:t>v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alid  </a:t>
            </a:r>
            <a:r>
              <a:rPr sz="2400" b="1" i="1" spc="-20" dirty="0">
                <a:solidFill>
                  <a:srgbClr val="C00000"/>
                </a:solidFill>
                <a:latin typeface="Perpetua"/>
                <a:cs typeface="Perpetua"/>
              </a:rPr>
              <a:t>argument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to </a:t>
            </a:r>
            <a:r>
              <a:rPr sz="2400" b="1" i="1" spc="-30" dirty="0">
                <a:solidFill>
                  <a:srgbClr val="C00000"/>
                </a:solidFill>
                <a:latin typeface="Perpetua"/>
                <a:cs typeface="Perpetua"/>
              </a:rPr>
              <a:t>prove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a</a:t>
            </a:r>
            <a:r>
              <a:rPr sz="2400" b="1" i="1" spc="3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conclusion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7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This </a:t>
            </a:r>
            <a:r>
              <a:rPr sz="2400" spc="-15" dirty="0">
                <a:latin typeface="Perpetua"/>
                <a:cs typeface="Perpetua"/>
              </a:rPr>
              <a:t>tabby </a:t>
            </a:r>
            <a:r>
              <a:rPr sz="2400" dirty="0">
                <a:latin typeface="Perpetua"/>
                <a:cs typeface="Perpetua"/>
              </a:rPr>
              <a:t>is a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cat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31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0" dirty="0">
                <a:latin typeface="Perpetua"/>
                <a:cs typeface="Perpetua"/>
              </a:rPr>
              <a:t>Therefore, </a:t>
            </a:r>
            <a:r>
              <a:rPr sz="2400" dirty="0">
                <a:latin typeface="Perpetua"/>
                <a:cs typeface="Perpetua"/>
              </a:rPr>
              <a:t>this </a:t>
            </a:r>
            <a:r>
              <a:rPr sz="2400" spc="-15" dirty="0">
                <a:latin typeface="Perpetua"/>
                <a:cs typeface="Perpetua"/>
              </a:rPr>
              <a:t>tabby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5" dirty="0">
                <a:latin typeface="Perpetua"/>
                <a:cs typeface="Perpetua"/>
              </a:rPr>
              <a:t>an</a:t>
            </a:r>
            <a:r>
              <a:rPr sz="2400" spc="-14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animal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marL="1109980" marR="5715" lvl="1" indent="-228600">
              <a:lnSpc>
                <a:spcPts val="2590"/>
              </a:lnSpc>
              <a:buSzPct val="79166"/>
              <a:buFont typeface="Wingdings"/>
              <a:buChar char=""/>
              <a:tabLst>
                <a:tab pos="1110615" algn="l"/>
              </a:tabLst>
            </a:pPr>
            <a:r>
              <a:rPr sz="2400" i="1" dirty="0">
                <a:solidFill>
                  <a:srgbClr val="C00000"/>
                </a:solidFill>
                <a:latin typeface="Perpetua"/>
                <a:cs typeface="Perpetua"/>
              </a:rPr>
              <a:t>When </a:t>
            </a:r>
            <a:r>
              <a:rPr sz="2400" i="1" spc="-15" dirty="0">
                <a:solidFill>
                  <a:srgbClr val="C00000"/>
                </a:solidFill>
                <a:latin typeface="Perpetua"/>
                <a:cs typeface="Perpetua"/>
              </a:rPr>
              <a:t>you </a:t>
            </a:r>
            <a:r>
              <a:rPr sz="2400" i="1" spc="-35" dirty="0">
                <a:solidFill>
                  <a:srgbClr val="C00000"/>
                </a:solidFill>
                <a:latin typeface="Perpetua"/>
                <a:cs typeface="Perpetua"/>
              </a:rPr>
              <a:t>have </a:t>
            </a:r>
            <a:r>
              <a:rPr sz="2400" i="1" dirty="0">
                <a:solidFill>
                  <a:srgbClr val="C00000"/>
                </a:solidFill>
                <a:latin typeface="Perpetua"/>
                <a:cs typeface="Perpetua"/>
              </a:rPr>
              <a:t>a </a:t>
            </a:r>
            <a:r>
              <a:rPr sz="2400" i="1" spc="5" dirty="0">
                <a:solidFill>
                  <a:srgbClr val="C00000"/>
                </a:solidFill>
                <a:latin typeface="Perpetua"/>
                <a:cs typeface="Perpetua"/>
              </a:rPr>
              <a:t>true </a:t>
            </a:r>
            <a:r>
              <a:rPr sz="2400" i="1" spc="-10" dirty="0">
                <a:solidFill>
                  <a:srgbClr val="C00000"/>
                </a:solidFill>
                <a:latin typeface="Perpetua"/>
                <a:cs typeface="Perpetua"/>
              </a:rPr>
              <a:t>premise, </a:t>
            </a:r>
            <a:r>
              <a:rPr sz="2400" i="1" spc="-15" dirty="0">
                <a:solidFill>
                  <a:srgbClr val="C00000"/>
                </a:solidFill>
                <a:latin typeface="Perpetua"/>
                <a:cs typeface="Perpetua"/>
              </a:rPr>
              <a:t>you </a:t>
            </a:r>
            <a:r>
              <a:rPr sz="2400" i="1" spc="-35" dirty="0">
                <a:solidFill>
                  <a:srgbClr val="C00000"/>
                </a:solidFill>
                <a:latin typeface="Perpetua"/>
                <a:cs typeface="Perpetua"/>
              </a:rPr>
              <a:t>have </a:t>
            </a:r>
            <a:r>
              <a:rPr sz="2400" i="1" dirty="0">
                <a:solidFill>
                  <a:srgbClr val="C00000"/>
                </a:solidFill>
                <a:latin typeface="Perpetua"/>
                <a:cs typeface="Perpetua"/>
              </a:rPr>
              <a:t>the </a:t>
            </a:r>
            <a:r>
              <a:rPr sz="2400" i="1" spc="-15" dirty="0">
                <a:solidFill>
                  <a:srgbClr val="C00000"/>
                </a:solidFill>
                <a:latin typeface="Perpetua"/>
                <a:cs typeface="Perpetua"/>
              </a:rPr>
              <a:t>foundation for </a:t>
            </a:r>
            <a:r>
              <a:rPr sz="2400" i="1" dirty="0">
                <a:solidFill>
                  <a:srgbClr val="C00000"/>
                </a:solidFill>
                <a:latin typeface="Perpetua"/>
                <a:cs typeface="Perpetua"/>
              </a:rPr>
              <a:t>a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sound  </a:t>
            </a:r>
            <a:r>
              <a:rPr sz="2400" b="1" i="1" spc="-20" dirty="0">
                <a:solidFill>
                  <a:srgbClr val="C00000"/>
                </a:solidFill>
                <a:latin typeface="Perpetua"/>
                <a:cs typeface="Perpetua"/>
              </a:rPr>
              <a:t>argument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4031" y="5486400"/>
            <a:ext cx="941560" cy="12094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6072" y="3166872"/>
            <a:ext cx="8372856" cy="22768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6072" y="880872"/>
            <a:ext cx="8372856" cy="23530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1140" y="672439"/>
            <a:ext cx="7564755" cy="5223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100"/>
              </a:spcBef>
            </a:pPr>
            <a:r>
              <a:rPr sz="2600" dirty="0">
                <a:latin typeface="Perpetua"/>
                <a:cs typeface="Perpetua"/>
              </a:rPr>
              <a:t>Look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examples </a:t>
            </a:r>
            <a:r>
              <a:rPr sz="2600" spc="-20" dirty="0">
                <a:latin typeface="Perpetua"/>
                <a:cs typeface="Perpetua"/>
              </a:rPr>
              <a:t>below </a:t>
            </a:r>
            <a:r>
              <a:rPr sz="2600" spc="-5" dirty="0">
                <a:latin typeface="Perpetua"/>
                <a:cs typeface="Perpetua"/>
              </a:rPr>
              <a:t>and decide </a:t>
            </a:r>
            <a:r>
              <a:rPr sz="2600" dirty="0">
                <a:latin typeface="Perpetua"/>
                <a:cs typeface="Perpetua"/>
              </a:rPr>
              <a:t>whether </a:t>
            </a:r>
            <a:r>
              <a:rPr sz="2600" spc="-10" dirty="0">
                <a:latin typeface="Perpetua"/>
                <a:cs typeface="Perpetua"/>
              </a:rPr>
              <a:t>they </a:t>
            </a:r>
            <a:r>
              <a:rPr sz="2600" spc="-15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sound  </a:t>
            </a:r>
            <a:r>
              <a:rPr sz="2600" spc="-10" dirty="0">
                <a:latin typeface="Perpetua"/>
                <a:cs typeface="Perpetua"/>
              </a:rPr>
              <a:t>deductions.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All </a:t>
            </a:r>
            <a:r>
              <a:rPr sz="2600" spc="5" dirty="0">
                <a:latin typeface="Perpetua"/>
                <a:cs typeface="Perpetua"/>
              </a:rPr>
              <a:t>first-graders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dirty="0">
                <a:latin typeface="Perpetua"/>
                <a:cs typeface="Perpetua"/>
              </a:rPr>
              <a:t>6 years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old.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My </a:t>
            </a:r>
            <a:r>
              <a:rPr sz="2600" spc="-5" dirty="0">
                <a:latin typeface="Perpetua"/>
                <a:cs typeface="Perpetua"/>
              </a:rPr>
              <a:t>cousin </a:t>
            </a:r>
            <a:r>
              <a:rPr sz="2600" dirty="0">
                <a:latin typeface="Perpetua"/>
                <a:cs typeface="Perpetua"/>
              </a:rPr>
              <a:t>is a</a:t>
            </a:r>
            <a:r>
              <a:rPr sz="2600" spc="-15" dirty="0">
                <a:latin typeface="Perpetua"/>
                <a:cs typeface="Perpetua"/>
              </a:rPr>
              <a:t> first-grader.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0" dirty="0">
                <a:latin typeface="Perpetua"/>
                <a:cs typeface="Perpetua"/>
              </a:rPr>
              <a:t>Therefore, </a:t>
            </a:r>
            <a:r>
              <a:rPr sz="2600" spc="-55" dirty="0">
                <a:latin typeface="Perpetua"/>
                <a:cs typeface="Perpetua"/>
              </a:rPr>
              <a:t>my </a:t>
            </a:r>
            <a:r>
              <a:rPr sz="2600" spc="-5" dirty="0">
                <a:latin typeface="Perpetua"/>
                <a:cs typeface="Perpetua"/>
              </a:rPr>
              <a:t>cousin </a:t>
            </a:r>
            <a:r>
              <a:rPr sz="2600" dirty="0">
                <a:latin typeface="Perpetua"/>
                <a:cs typeface="Perpetua"/>
              </a:rPr>
              <a:t>is 6 years</a:t>
            </a:r>
            <a:r>
              <a:rPr sz="2600" spc="-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old.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9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All </a:t>
            </a:r>
            <a:r>
              <a:rPr sz="2600" spc="5" dirty="0">
                <a:latin typeface="Perpetua"/>
                <a:cs typeface="Perpetua"/>
              </a:rPr>
              <a:t>first-graders </a:t>
            </a:r>
            <a:r>
              <a:rPr sz="2600" spc="-15" dirty="0">
                <a:latin typeface="Perpetua"/>
                <a:cs typeface="Perpetua"/>
              </a:rPr>
              <a:t>at Roosevelt </a:t>
            </a:r>
            <a:r>
              <a:rPr sz="2600" dirty="0">
                <a:latin typeface="Perpetua"/>
                <a:cs typeface="Perpetua"/>
              </a:rPr>
              <a:t>Elementary </a:t>
            </a:r>
            <a:r>
              <a:rPr sz="2600" spc="-15" dirty="0">
                <a:latin typeface="Perpetua"/>
                <a:cs typeface="Perpetua"/>
              </a:rPr>
              <a:t>take</a:t>
            </a:r>
            <a:r>
              <a:rPr sz="2600" spc="4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Spanish.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5" dirty="0">
                <a:latin typeface="Perpetua"/>
                <a:cs typeface="Perpetua"/>
              </a:rPr>
              <a:t>Josh </a:t>
            </a:r>
            <a:r>
              <a:rPr sz="2600" dirty="0">
                <a:latin typeface="Perpetua"/>
                <a:cs typeface="Perpetua"/>
              </a:rPr>
              <a:t>is a </a:t>
            </a:r>
            <a:r>
              <a:rPr sz="2600" spc="5" dirty="0">
                <a:latin typeface="Perpetua"/>
                <a:cs typeface="Perpetua"/>
              </a:rPr>
              <a:t>first-grader </a:t>
            </a:r>
            <a:r>
              <a:rPr sz="2600" spc="-15" dirty="0">
                <a:latin typeface="Perpetua"/>
                <a:cs typeface="Perpetua"/>
              </a:rPr>
              <a:t>at Roosevelt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Elementary.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59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0" dirty="0">
                <a:latin typeface="Perpetua"/>
                <a:cs typeface="Perpetua"/>
              </a:rPr>
              <a:t>Therefore, </a:t>
            </a:r>
            <a:r>
              <a:rPr sz="2600" spc="-15" dirty="0">
                <a:latin typeface="Perpetua"/>
                <a:cs typeface="Perpetua"/>
              </a:rPr>
              <a:t>Josh </a:t>
            </a:r>
            <a:r>
              <a:rPr sz="2600" spc="-10" dirty="0">
                <a:latin typeface="Perpetua"/>
                <a:cs typeface="Perpetua"/>
              </a:rPr>
              <a:t>takes</a:t>
            </a:r>
            <a:r>
              <a:rPr sz="2600" spc="-14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Spanish.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4540" y="6476491"/>
            <a:ext cx="895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34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1140" y="1316177"/>
            <a:ext cx="825627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Check whether the conclusions in </a:t>
            </a:r>
            <a:r>
              <a:rPr sz="2600" spc="-5" dirty="0">
                <a:latin typeface="Times New Roman"/>
                <a:cs typeface="Times New Roman"/>
              </a:rPr>
              <a:t>each scenario </a:t>
            </a:r>
            <a:r>
              <a:rPr sz="2600" dirty="0">
                <a:latin typeface="Times New Roman"/>
                <a:cs typeface="Times New Roman"/>
              </a:rPr>
              <a:t>is </a:t>
            </a:r>
            <a:r>
              <a:rPr sz="2600" spc="-5" dirty="0">
                <a:latin typeface="Times New Roman"/>
                <a:cs typeface="Times New Roman"/>
              </a:rPr>
              <a:t>valid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not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1140" y="2263266"/>
            <a:ext cx="8607425" cy="329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marR="5080" indent="-515620" algn="just">
              <a:lnSpc>
                <a:spcPct val="100000"/>
              </a:lnSpc>
              <a:spcBef>
                <a:spcPts val="100"/>
              </a:spcBef>
              <a:buSzPct val="85416"/>
              <a:buAutoNum type="arabicPeriod"/>
              <a:tabLst>
                <a:tab pos="528320" algn="l"/>
              </a:tabLst>
            </a:pPr>
            <a:r>
              <a:rPr sz="2400" spc="-5" dirty="0">
                <a:latin typeface="Times New Roman"/>
                <a:cs typeface="Times New Roman"/>
              </a:rPr>
              <a:t>No </a:t>
            </a:r>
            <a:r>
              <a:rPr sz="2400" dirty="0">
                <a:latin typeface="Times New Roman"/>
                <a:cs typeface="Times New Roman"/>
              </a:rPr>
              <a:t>one who can </a:t>
            </a:r>
            <a:r>
              <a:rPr sz="2400" spc="-10" dirty="0">
                <a:latin typeface="Times New Roman"/>
                <a:cs typeface="Times New Roman"/>
              </a:rPr>
              <a:t>afford </a:t>
            </a:r>
            <a:r>
              <a:rPr sz="2400" spc="-5" dirty="0">
                <a:latin typeface="Times New Roman"/>
                <a:cs typeface="Times New Roman"/>
              </a:rPr>
              <a:t>health insurance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unemployed. All  politicians can </a:t>
            </a:r>
            <a:r>
              <a:rPr sz="2400" spc="-10" dirty="0">
                <a:latin typeface="Times New Roman"/>
                <a:cs typeface="Times New Roman"/>
              </a:rPr>
              <a:t>afford </a:t>
            </a:r>
            <a:r>
              <a:rPr sz="2400" dirty="0">
                <a:latin typeface="Times New Roman"/>
                <a:cs typeface="Times New Roman"/>
              </a:rPr>
              <a:t>health </a:t>
            </a:r>
            <a:r>
              <a:rPr sz="2400" spc="-5" dirty="0">
                <a:latin typeface="Times New Roman"/>
                <a:cs typeface="Times New Roman"/>
              </a:rPr>
              <a:t>insurance. Therefore, </a:t>
            </a:r>
            <a:r>
              <a:rPr sz="2400" dirty="0">
                <a:latin typeface="Times New Roman"/>
                <a:cs typeface="Times New Roman"/>
              </a:rPr>
              <a:t>no </a:t>
            </a:r>
            <a:r>
              <a:rPr sz="2400" spc="-5" dirty="0">
                <a:latin typeface="Times New Roman"/>
                <a:cs typeface="Times New Roman"/>
              </a:rPr>
              <a:t>politician </a:t>
            </a:r>
            <a:r>
              <a:rPr sz="2400" dirty="0">
                <a:latin typeface="Times New Roman"/>
                <a:cs typeface="Times New Roman"/>
              </a:rPr>
              <a:t>is  </a:t>
            </a:r>
            <a:r>
              <a:rPr sz="2400" spc="-5" dirty="0">
                <a:latin typeface="Times New Roman"/>
                <a:cs typeface="Times New Roman"/>
              </a:rPr>
              <a:t>unemployed.</a:t>
            </a:r>
            <a:endParaRPr sz="2400">
              <a:latin typeface="Times New Roman"/>
              <a:cs typeface="Times New Roman"/>
            </a:endParaRPr>
          </a:p>
          <a:p>
            <a:pPr marL="527685" marR="5080" indent="-515620" algn="just">
              <a:lnSpc>
                <a:spcPts val="2590"/>
              </a:lnSpc>
              <a:spcBef>
                <a:spcPts val="640"/>
              </a:spcBef>
              <a:buSzPct val="85416"/>
              <a:buAutoNum type="arabicPeriod"/>
              <a:tabLst>
                <a:tab pos="528320" algn="l"/>
              </a:tabLst>
            </a:pPr>
            <a:r>
              <a:rPr sz="2400" spc="-5" dirty="0">
                <a:latin typeface="Times New Roman"/>
                <a:cs typeface="Times New Roman"/>
              </a:rPr>
              <a:t>Some </a:t>
            </a:r>
            <a:r>
              <a:rPr sz="2400" dirty="0">
                <a:latin typeface="Times New Roman"/>
                <a:cs typeface="Times New Roman"/>
              </a:rPr>
              <a:t>professors wear glasses. </a:t>
            </a:r>
            <a:r>
              <a:rPr sz="2400" spc="-45" dirty="0">
                <a:latin typeface="Times New Roman"/>
                <a:cs typeface="Times New Roman"/>
              </a:rPr>
              <a:t>Mr. </a:t>
            </a:r>
            <a:r>
              <a:rPr sz="2400" spc="-5" dirty="0">
                <a:latin typeface="Times New Roman"/>
                <a:cs typeface="Times New Roman"/>
              </a:rPr>
              <a:t>Einstein wears glasses.  </a:t>
            </a:r>
            <a:r>
              <a:rPr sz="2400" dirty="0">
                <a:latin typeface="Times New Roman"/>
                <a:cs typeface="Times New Roman"/>
              </a:rPr>
              <a:t>Therefore, </a:t>
            </a:r>
            <a:r>
              <a:rPr sz="2400" spc="-45" dirty="0">
                <a:latin typeface="Times New Roman"/>
                <a:cs typeface="Times New Roman"/>
              </a:rPr>
              <a:t>Mr. </a:t>
            </a:r>
            <a:r>
              <a:rPr sz="2400" dirty="0">
                <a:latin typeface="Times New Roman"/>
                <a:cs typeface="Times New Roman"/>
              </a:rPr>
              <a:t>Einstein is 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professor.</a:t>
            </a:r>
            <a:endParaRPr sz="2400">
              <a:latin typeface="Times New Roman"/>
              <a:cs typeface="Times New Roman"/>
            </a:endParaRPr>
          </a:p>
          <a:p>
            <a:pPr marL="46355">
              <a:lnSpc>
                <a:spcPct val="100000"/>
              </a:lnSpc>
              <a:spcBef>
                <a:spcPts val="1495"/>
              </a:spcBef>
            </a:pP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Solutions:-</a:t>
            </a:r>
            <a:endParaRPr sz="2600">
              <a:latin typeface="Times New Roman"/>
              <a:cs typeface="Times New Roman"/>
            </a:endParaRPr>
          </a:p>
          <a:p>
            <a:pPr marL="561340" indent="-515620">
              <a:lnSpc>
                <a:spcPct val="100000"/>
              </a:lnSpc>
              <a:spcBef>
                <a:spcPts val="610"/>
              </a:spcBef>
              <a:buSzPct val="85416"/>
              <a:buAutoNum type="arabicPeriod"/>
              <a:tabLst>
                <a:tab pos="561340" algn="l"/>
                <a:tab pos="561975" algn="l"/>
              </a:tabLst>
            </a:pPr>
            <a:r>
              <a:rPr sz="2400" spc="-55" dirty="0">
                <a:solidFill>
                  <a:srgbClr val="FF0000"/>
                </a:solidFill>
                <a:latin typeface="Times New Roman"/>
                <a:cs typeface="Times New Roman"/>
              </a:rPr>
              <a:t>Valid</a:t>
            </a:r>
            <a:endParaRPr sz="2400">
              <a:latin typeface="Times New Roman"/>
              <a:cs typeface="Times New Roman"/>
            </a:endParaRPr>
          </a:p>
          <a:p>
            <a:pPr marL="561340" indent="-515620">
              <a:lnSpc>
                <a:spcPct val="100000"/>
              </a:lnSpc>
              <a:spcBef>
                <a:spcPts val="310"/>
              </a:spcBef>
              <a:buSzPct val="85416"/>
              <a:buAutoNum type="arabicPeriod"/>
              <a:tabLst>
                <a:tab pos="561340" algn="l"/>
                <a:tab pos="561975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Invalid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4540" y="6476491"/>
            <a:ext cx="895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35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1140" y="719074"/>
            <a:ext cx="495427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i="1" dirty="0">
                <a:latin typeface="Perpetua"/>
                <a:cs typeface="Perpetua"/>
              </a:rPr>
              <a:t>Correct </a:t>
            </a:r>
            <a:r>
              <a:rPr sz="2600" i="1" spc="-5" dirty="0">
                <a:latin typeface="Perpetua"/>
                <a:cs typeface="Perpetua"/>
              </a:rPr>
              <a:t>it the </a:t>
            </a:r>
            <a:r>
              <a:rPr sz="2600" i="1" spc="-10" dirty="0">
                <a:latin typeface="Perpetua"/>
                <a:cs typeface="Perpetua"/>
              </a:rPr>
              <a:t>following </a:t>
            </a:r>
            <a:r>
              <a:rPr sz="2600" i="1" spc="-15" dirty="0">
                <a:latin typeface="Perpetua"/>
                <a:cs typeface="Perpetua"/>
              </a:rPr>
              <a:t>arguments </a:t>
            </a:r>
            <a:r>
              <a:rPr sz="2600" i="1" spc="-5" dirty="0">
                <a:latin typeface="Perpetua"/>
                <a:cs typeface="Perpetua"/>
              </a:rPr>
              <a:t>if</a:t>
            </a:r>
            <a:r>
              <a:rPr sz="2600" i="1" spc="30" dirty="0">
                <a:latin typeface="Perpetua"/>
                <a:cs typeface="Perpetua"/>
              </a:rPr>
              <a:t> </a:t>
            </a:r>
            <a:r>
              <a:rPr sz="2600" i="1" spc="-25" dirty="0">
                <a:latin typeface="Perpetua"/>
                <a:cs typeface="Perpetua"/>
              </a:rPr>
              <a:t>necessary.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1140" y="1548081"/>
            <a:ext cx="8190230" cy="3923029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2600" b="1" i="1" spc="-20" dirty="0">
                <a:latin typeface="Perpetua"/>
                <a:cs typeface="Perpetua"/>
              </a:rPr>
              <a:t>Argument</a:t>
            </a:r>
            <a:r>
              <a:rPr sz="2600" b="1" i="1" spc="-30" dirty="0">
                <a:latin typeface="Perpetua"/>
                <a:cs typeface="Perpetua"/>
              </a:rPr>
              <a:t> </a:t>
            </a:r>
            <a:r>
              <a:rPr sz="2600" b="1" i="1" dirty="0">
                <a:latin typeface="Perpetua"/>
                <a:cs typeface="Perpetua"/>
              </a:rPr>
              <a:t>One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9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Major </a:t>
            </a:r>
            <a:r>
              <a:rPr sz="2600" spc="-5" dirty="0">
                <a:latin typeface="Perpetua"/>
                <a:cs typeface="Perpetua"/>
              </a:rPr>
              <a:t>Premise: </a:t>
            </a:r>
            <a:r>
              <a:rPr sz="2600" dirty="0">
                <a:latin typeface="Perpetua"/>
                <a:cs typeface="Perpetua"/>
              </a:rPr>
              <a:t>When it </a:t>
            </a:r>
            <a:r>
              <a:rPr sz="2600" spc="-20" dirty="0">
                <a:latin typeface="Perpetua"/>
                <a:cs typeface="Perpetua"/>
              </a:rPr>
              <a:t>snows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streets </a:t>
            </a:r>
            <a:r>
              <a:rPr sz="2600" dirty="0">
                <a:latin typeface="Perpetua"/>
                <a:cs typeface="Perpetua"/>
              </a:rPr>
              <a:t>get</a:t>
            </a:r>
            <a:r>
              <a:rPr sz="2600" spc="120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wet.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9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Minor Premise: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streets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getting</a:t>
            </a:r>
            <a:r>
              <a:rPr sz="2600" spc="155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wet.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9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1898014" algn="l"/>
              </a:tabLst>
            </a:pPr>
            <a:r>
              <a:rPr sz="2600" spc="-5" dirty="0">
                <a:latin typeface="Perpetua"/>
                <a:cs typeface="Perpetua"/>
              </a:rPr>
              <a:t>Conclusion:	</a:t>
            </a:r>
            <a:r>
              <a:rPr sz="2600" spc="-10" dirty="0">
                <a:latin typeface="Perpetua"/>
                <a:cs typeface="Perpetua"/>
              </a:rPr>
              <a:t>Therefore, </a:t>
            </a:r>
            <a:r>
              <a:rPr sz="2600" dirty="0">
                <a:latin typeface="Perpetua"/>
                <a:cs typeface="Perpetua"/>
              </a:rPr>
              <a:t>it is</a:t>
            </a:r>
            <a:r>
              <a:rPr sz="2600" spc="-125" dirty="0">
                <a:latin typeface="Perpetua"/>
                <a:cs typeface="Perpetua"/>
              </a:rPr>
              <a:t> </a:t>
            </a:r>
            <a:r>
              <a:rPr sz="2600" spc="-40" dirty="0">
                <a:latin typeface="Perpetua"/>
                <a:cs typeface="Perpetua"/>
              </a:rPr>
              <a:t>snowing.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i="1" spc="-20" dirty="0">
                <a:latin typeface="Perpetua"/>
                <a:cs typeface="Perpetua"/>
              </a:rPr>
              <a:t>Argument</a:t>
            </a:r>
            <a:r>
              <a:rPr sz="2600" b="1" i="1" spc="-335" dirty="0">
                <a:latin typeface="Perpetua"/>
                <a:cs typeface="Perpetua"/>
              </a:rPr>
              <a:t> </a:t>
            </a:r>
            <a:r>
              <a:rPr sz="2600" b="1" i="1" spc="-120" dirty="0">
                <a:latin typeface="Perpetua"/>
                <a:cs typeface="Perpetua"/>
              </a:rPr>
              <a:t>Two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9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2271395" algn="l"/>
              </a:tabLst>
            </a:pPr>
            <a:r>
              <a:rPr sz="2600" dirty="0">
                <a:latin typeface="Perpetua"/>
                <a:cs typeface="Perpetua"/>
              </a:rPr>
              <a:t>Major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Premise:	If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10" dirty="0">
                <a:latin typeface="Perpetua"/>
                <a:cs typeface="Perpetua"/>
              </a:rPr>
              <a:t>buy </a:t>
            </a:r>
            <a:r>
              <a:rPr sz="2600" dirty="0">
                <a:latin typeface="Perpetua"/>
                <a:cs typeface="Perpetua"/>
              </a:rPr>
              <a:t>a Ferrari,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dirty="0">
                <a:latin typeface="Perpetua"/>
                <a:cs typeface="Perpetua"/>
              </a:rPr>
              <a:t>will </a:t>
            </a:r>
            <a:r>
              <a:rPr sz="2600" spc="-10" dirty="0">
                <a:latin typeface="Perpetua"/>
                <a:cs typeface="Perpetua"/>
              </a:rPr>
              <a:t>instantly </a:t>
            </a:r>
            <a:r>
              <a:rPr sz="2600" dirty="0">
                <a:latin typeface="Perpetua"/>
                <a:cs typeface="Perpetua"/>
              </a:rPr>
              <a:t>be</a:t>
            </a:r>
            <a:r>
              <a:rPr sz="2600" spc="-70" dirty="0">
                <a:latin typeface="Perpetua"/>
                <a:cs typeface="Perpetua"/>
              </a:rPr>
              <a:t> </a:t>
            </a:r>
            <a:r>
              <a:rPr sz="2600" spc="-35" dirty="0">
                <a:latin typeface="Perpetua"/>
                <a:cs typeface="Perpetua"/>
              </a:rPr>
              <a:t>popular.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9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2301875" algn="l"/>
              </a:tabLst>
            </a:pPr>
            <a:r>
              <a:rPr sz="2600" spc="-5" dirty="0">
                <a:latin typeface="Perpetua"/>
                <a:cs typeface="Perpetua"/>
              </a:rPr>
              <a:t>Minor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Premise:	</a:t>
            </a:r>
            <a:r>
              <a:rPr sz="2600" dirty="0">
                <a:latin typeface="Perpetua"/>
                <a:cs typeface="Perpetua"/>
              </a:rPr>
              <a:t>Ed just </a:t>
            </a:r>
            <a:r>
              <a:rPr sz="2600" spc="-5" dirty="0">
                <a:latin typeface="Perpetua"/>
                <a:cs typeface="Perpetua"/>
              </a:rPr>
              <a:t>bought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Ferrari.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9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1937385" algn="l"/>
              </a:tabLst>
            </a:pPr>
            <a:r>
              <a:rPr sz="2600" spc="-5" dirty="0">
                <a:latin typeface="Perpetua"/>
                <a:cs typeface="Perpetua"/>
              </a:rPr>
              <a:t>Conclusion:	</a:t>
            </a:r>
            <a:r>
              <a:rPr sz="2600" dirty="0">
                <a:latin typeface="Perpetua"/>
                <a:cs typeface="Perpetua"/>
              </a:rPr>
              <a:t>Ed will </a:t>
            </a:r>
            <a:r>
              <a:rPr sz="2600" spc="-10" dirty="0">
                <a:latin typeface="Perpetua"/>
                <a:cs typeface="Perpetua"/>
              </a:rPr>
              <a:t>achieve </a:t>
            </a:r>
            <a:r>
              <a:rPr sz="2600" spc="-5" dirty="0">
                <a:latin typeface="Perpetua"/>
                <a:cs typeface="Perpetua"/>
              </a:rPr>
              <a:t>instant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popularity.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900430"/>
            <a:ext cx="208978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i="1" spc="-20" dirty="0">
                <a:latin typeface="Perpetua"/>
                <a:cs typeface="Perpetua"/>
              </a:rPr>
              <a:t>Argument</a:t>
            </a:r>
            <a:r>
              <a:rPr sz="2600" b="1" i="1" spc="-390" dirty="0">
                <a:latin typeface="Perpetua"/>
                <a:cs typeface="Perpetua"/>
              </a:rPr>
              <a:t> </a:t>
            </a:r>
            <a:r>
              <a:rPr sz="2600" b="1" i="1" spc="-10" dirty="0">
                <a:latin typeface="Perpetua"/>
                <a:cs typeface="Perpetua"/>
              </a:rPr>
              <a:t>Three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693291"/>
            <a:ext cx="7740015" cy="1214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1760" indent="-99060">
              <a:lnSpc>
                <a:spcPct val="100000"/>
              </a:lnSpc>
              <a:spcBef>
                <a:spcPts val="105"/>
              </a:spcBef>
              <a:buSzPct val="80769"/>
              <a:buFont typeface="Arial"/>
              <a:buChar char="•"/>
              <a:tabLst>
                <a:tab pos="111760" algn="l"/>
              </a:tabLst>
            </a:pPr>
            <a:r>
              <a:rPr sz="2600" dirty="0">
                <a:latin typeface="Perpetua"/>
                <a:cs typeface="Perpetua"/>
              </a:rPr>
              <a:t>Major </a:t>
            </a:r>
            <a:r>
              <a:rPr sz="2600" spc="-5" dirty="0">
                <a:latin typeface="Perpetua"/>
                <a:cs typeface="Perpetua"/>
              </a:rPr>
              <a:t>Premise: </a:t>
            </a:r>
            <a:r>
              <a:rPr sz="2600" dirty="0">
                <a:latin typeface="Perpetua"/>
                <a:cs typeface="Perpetua"/>
              </a:rPr>
              <a:t>When the </a:t>
            </a:r>
            <a:r>
              <a:rPr sz="2600" spc="-5" dirty="0">
                <a:latin typeface="Perpetua"/>
                <a:cs typeface="Perpetua"/>
              </a:rPr>
              <a:t>battery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dead,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car </a:t>
            </a:r>
            <a:r>
              <a:rPr sz="2600" dirty="0">
                <a:latin typeface="Perpetua"/>
                <a:cs typeface="Perpetua"/>
              </a:rPr>
              <a:t>will </a:t>
            </a:r>
            <a:r>
              <a:rPr sz="2600" spc="-5" dirty="0">
                <a:latin typeface="Perpetua"/>
                <a:cs typeface="Perpetua"/>
              </a:rPr>
              <a:t>not</a:t>
            </a:r>
            <a:r>
              <a:rPr sz="2600" spc="45" dirty="0">
                <a:latin typeface="Perpetua"/>
                <a:cs typeface="Perpetua"/>
              </a:rPr>
              <a:t> </a:t>
            </a:r>
            <a:r>
              <a:rPr sz="2600" spc="15" dirty="0">
                <a:latin typeface="Perpetua"/>
                <a:cs typeface="Perpetua"/>
              </a:rPr>
              <a:t>start.</a:t>
            </a:r>
            <a:endParaRPr sz="2600">
              <a:latin typeface="Perpetua"/>
              <a:cs typeface="Perpetua"/>
            </a:endParaRPr>
          </a:p>
          <a:p>
            <a:pPr marL="111760" indent="-99060">
              <a:lnSpc>
                <a:spcPct val="100000"/>
              </a:lnSpc>
              <a:buSzPct val="80769"/>
              <a:buFont typeface="Arial"/>
              <a:buChar char="•"/>
              <a:tabLst>
                <a:tab pos="111760" algn="l"/>
              </a:tabLst>
            </a:pPr>
            <a:r>
              <a:rPr sz="2600" spc="-5" dirty="0">
                <a:latin typeface="Perpetua"/>
                <a:cs typeface="Perpetua"/>
              </a:rPr>
              <a:t>Minor Premise: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car </a:t>
            </a:r>
            <a:r>
              <a:rPr sz="2600" dirty="0">
                <a:latin typeface="Perpetua"/>
                <a:cs typeface="Perpetua"/>
              </a:rPr>
              <a:t>will not</a:t>
            </a:r>
            <a:r>
              <a:rPr sz="2600" spc="130" dirty="0">
                <a:latin typeface="Perpetua"/>
                <a:cs typeface="Perpetua"/>
              </a:rPr>
              <a:t> </a:t>
            </a:r>
            <a:r>
              <a:rPr sz="2600" spc="15" dirty="0">
                <a:latin typeface="Perpetua"/>
                <a:cs typeface="Perpetua"/>
              </a:rPr>
              <a:t>start.</a:t>
            </a:r>
            <a:endParaRPr sz="2600">
              <a:latin typeface="Perpetua"/>
              <a:cs typeface="Perpetua"/>
            </a:endParaRPr>
          </a:p>
          <a:p>
            <a:pPr marL="111760" indent="-99060">
              <a:lnSpc>
                <a:spcPct val="100000"/>
              </a:lnSpc>
              <a:buSzPct val="80769"/>
              <a:buFont typeface="Arial"/>
              <a:buChar char="•"/>
              <a:tabLst>
                <a:tab pos="111760" algn="l"/>
                <a:tab pos="1721485" algn="l"/>
              </a:tabLst>
            </a:pPr>
            <a:r>
              <a:rPr sz="2600" spc="-5" dirty="0">
                <a:latin typeface="Perpetua"/>
                <a:cs typeface="Perpetua"/>
              </a:rPr>
              <a:t>Conclusion:	</a:t>
            </a:r>
            <a:r>
              <a:rPr sz="2600" spc="-10" dirty="0">
                <a:latin typeface="Perpetua"/>
                <a:cs typeface="Perpetua"/>
              </a:rPr>
              <a:t>Therefore,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battery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-1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dead.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81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1140" y="1078738"/>
            <a:ext cx="8268970" cy="5111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Perpetua"/>
                <a:cs typeface="Perpetua"/>
              </a:rPr>
              <a:t>One: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Major </a:t>
            </a:r>
            <a:r>
              <a:rPr sz="2400" spc="-5" dirty="0">
                <a:latin typeface="Perpetua"/>
                <a:cs typeface="Perpetua"/>
              </a:rPr>
              <a:t>Premise: </a:t>
            </a:r>
            <a:r>
              <a:rPr sz="2400" dirty="0">
                <a:latin typeface="Perpetua"/>
                <a:cs typeface="Perpetua"/>
              </a:rPr>
              <a:t>When it </a:t>
            </a:r>
            <a:r>
              <a:rPr sz="2400" spc="-15" dirty="0">
                <a:latin typeface="Perpetua"/>
                <a:cs typeface="Perpetua"/>
              </a:rPr>
              <a:t>snows,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10" dirty="0">
                <a:latin typeface="Perpetua"/>
                <a:cs typeface="Perpetua"/>
              </a:rPr>
              <a:t>streets </a:t>
            </a:r>
            <a:r>
              <a:rPr sz="2400" spc="-5" dirty="0">
                <a:latin typeface="Perpetua"/>
                <a:cs typeface="Perpetua"/>
              </a:rPr>
              <a:t>get</a:t>
            </a:r>
            <a:r>
              <a:rPr sz="2400" spc="10" dirty="0">
                <a:latin typeface="Perpetua"/>
                <a:cs typeface="Perpetua"/>
              </a:rPr>
              <a:t> </a:t>
            </a:r>
            <a:r>
              <a:rPr sz="2400" spc="-25" dirty="0">
                <a:latin typeface="Perpetua"/>
                <a:cs typeface="Perpetua"/>
              </a:rPr>
              <a:t>wet.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Minor </a:t>
            </a:r>
            <a:r>
              <a:rPr sz="2400" spc="-5" dirty="0">
                <a:latin typeface="Perpetua"/>
                <a:cs typeface="Perpetua"/>
              </a:rPr>
              <a:t>Premise: </a:t>
            </a:r>
            <a:r>
              <a:rPr sz="2400" dirty="0">
                <a:latin typeface="Perpetua"/>
                <a:cs typeface="Perpetua"/>
              </a:rPr>
              <a:t>It is</a:t>
            </a:r>
            <a:r>
              <a:rPr sz="2400" spc="-135" dirty="0">
                <a:latin typeface="Perpetua"/>
                <a:cs typeface="Perpetua"/>
              </a:rPr>
              <a:t> </a:t>
            </a:r>
            <a:r>
              <a:rPr sz="2400" spc="-40" dirty="0">
                <a:latin typeface="Perpetua"/>
                <a:cs typeface="Perpetua"/>
              </a:rPr>
              <a:t>snowing.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  <a:tab pos="1771650" algn="l"/>
              </a:tabLst>
            </a:pPr>
            <a:r>
              <a:rPr sz="2400" dirty="0">
                <a:latin typeface="Perpetua"/>
                <a:cs typeface="Perpetua"/>
              </a:rPr>
              <a:t>Conclusion:	</a:t>
            </a:r>
            <a:r>
              <a:rPr sz="2400" spc="-10" dirty="0">
                <a:latin typeface="Perpetua"/>
                <a:cs typeface="Perpetua"/>
              </a:rPr>
              <a:t>Therefore,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streets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spc="-5" dirty="0">
                <a:latin typeface="Perpetua"/>
                <a:cs typeface="Perpetua"/>
              </a:rPr>
              <a:t>getting</a:t>
            </a:r>
            <a:r>
              <a:rPr sz="2400" spc="-100" dirty="0">
                <a:latin typeface="Perpetua"/>
                <a:cs typeface="Perpetua"/>
              </a:rPr>
              <a:t> </a:t>
            </a:r>
            <a:r>
              <a:rPr sz="2400" spc="-15" dirty="0">
                <a:latin typeface="Perpetua"/>
                <a:cs typeface="Perpetua"/>
              </a:rPr>
              <a:t>one.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85" dirty="0">
                <a:solidFill>
                  <a:srgbClr val="FF0000"/>
                </a:solidFill>
                <a:latin typeface="Perpetua"/>
                <a:cs typeface="Perpetua"/>
              </a:rPr>
              <a:t>Two:</a:t>
            </a:r>
            <a:endParaRPr sz="2400">
              <a:latin typeface="Perpetua"/>
              <a:cs typeface="Perpetua"/>
            </a:endParaRPr>
          </a:p>
          <a:p>
            <a:pPr marL="286385" marR="5080" indent="-274320">
              <a:lnSpc>
                <a:spcPts val="2300"/>
              </a:lnSpc>
              <a:spcBef>
                <a:spcPts val="59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10" dirty="0">
                <a:latin typeface="Perpetua"/>
                <a:cs typeface="Perpetua"/>
              </a:rPr>
              <a:t>Two </a:t>
            </a:r>
            <a:r>
              <a:rPr sz="2400" spc="-5" dirty="0">
                <a:latin typeface="Perpetua"/>
                <a:cs typeface="Perpetua"/>
              </a:rPr>
              <a:t>proceeds </a:t>
            </a:r>
            <a:r>
              <a:rPr sz="2400" spc="-10" dirty="0">
                <a:latin typeface="Perpetua"/>
                <a:cs typeface="Perpetua"/>
              </a:rPr>
              <a:t>from </a:t>
            </a:r>
            <a:r>
              <a:rPr sz="2400" spc="-5" dirty="0">
                <a:latin typeface="Perpetua"/>
                <a:cs typeface="Perpetua"/>
              </a:rPr>
              <a:t>the </a:t>
            </a:r>
            <a:r>
              <a:rPr sz="2400" spc="5" dirty="0">
                <a:latin typeface="Perpetua"/>
                <a:cs typeface="Perpetua"/>
              </a:rPr>
              <a:t>beginning </a:t>
            </a:r>
            <a:r>
              <a:rPr sz="2400" spc="-10" dirty="0">
                <a:latin typeface="Perpetua"/>
                <a:cs typeface="Perpetua"/>
              </a:rPr>
              <a:t>from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-20" dirty="0">
                <a:latin typeface="Perpetua"/>
                <a:cs typeface="Perpetua"/>
              </a:rPr>
              <a:t>FALSE </a:t>
            </a:r>
            <a:r>
              <a:rPr sz="2400" spc="-5" dirty="0">
                <a:latin typeface="Perpetua"/>
                <a:cs typeface="Perpetua"/>
              </a:rPr>
              <a:t>major premise </a:t>
            </a:r>
            <a:r>
              <a:rPr sz="2400" dirty="0">
                <a:latin typeface="Perpetua"/>
                <a:cs typeface="Perpetua"/>
              </a:rPr>
              <a:t>(Ferraris  </a:t>
            </a:r>
            <a:r>
              <a:rPr sz="2400" spc="-5" dirty="0">
                <a:latin typeface="Perpetua"/>
                <a:cs typeface="Perpetua"/>
              </a:rPr>
              <a:t>give </a:t>
            </a:r>
            <a:r>
              <a:rPr sz="2400" dirty="0">
                <a:latin typeface="Perpetua"/>
                <a:cs typeface="Perpetua"/>
              </a:rPr>
              <a:t>instant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popularity)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4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It can </a:t>
            </a:r>
            <a:r>
              <a:rPr sz="2400" spc="-5" dirty="0">
                <a:latin typeface="Perpetua"/>
                <a:cs typeface="Perpetua"/>
              </a:rPr>
              <a:t>therefore </a:t>
            </a:r>
            <a:r>
              <a:rPr sz="2400" dirty="0">
                <a:latin typeface="Perpetua"/>
                <a:cs typeface="Perpetua"/>
              </a:rPr>
              <a:t>can be </a:t>
            </a:r>
            <a:r>
              <a:rPr sz="2400" spc="-20" dirty="0">
                <a:latin typeface="Perpetua"/>
                <a:cs typeface="Perpetua"/>
              </a:rPr>
              <a:t>thrown </a:t>
            </a:r>
            <a:r>
              <a:rPr sz="2400" dirty="0">
                <a:latin typeface="Perpetua"/>
                <a:cs typeface="Perpetua"/>
              </a:rPr>
              <a:t>out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spc="-40" dirty="0">
                <a:latin typeface="Perpetua"/>
                <a:cs typeface="Perpetua"/>
              </a:rPr>
              <a:t>entirely.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0000"/>
                </a:solidFill>
                <a:latin typeface="Perpetua"/>
                <a:cs typeface="Perpetua"/>
              </a:rPr>
              <a:t>Three: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Major </a:t>
            </a:r>
            <a:r>
              <a:rPr sz="2400" spc="-5" dirty="0">
                <a:latin typeface="Perpetua"/>
                <a:cs typeface="Perpetua"/>
              </a:rPr>
              <a:t>Premise: </a:t>
            </a:r>
            <a:r>
              <a:rPr sz="2400" dirty="0">
                <a:latin typeface="Perpetua"/>
                <a:cs typeface="Perpetua"/>
              </a:rPr>
              <a:t>When the </a:t>
            </a:r>
            <a:r>
              <a:rPr sz="2400" spc="-5" dirty="0">
                <a:latin typeface="Perpetua"/>
                <a:cs typeface="Perpetua"/>
              </a:rPr>
              <a:t>battery </a:t>
            </a:r>
            <a:r>
              <a:rPr sz="2400" dirty="0">
                <a:latin typeface="Perpetua"/>
                <a:cs typeface="Perpetua"/>
              </a:rPr>
              <a:t>is dead, the car will not</a:t>
            </a:r>
            <a:r>
              <a:rPr sz="2400" spc="-55" dirty="0">
                <a:latin typeface="Perpetua"/>
                <a:cs typeface="Perpetua"/>
              </a:rPr>
              <a:t> </a:t>
            </a:r>
            <a:r>
              <a:rPr sz="2400" spc="10" dirty="0">
                <a:latin typeface="Perpetua"/>
                <a:cs typeface="Perpetua"/>
              </a:rPr>
              <a:t>start.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Minor </a:t>
            </a:r>
            <a:r>
              <a:rPr sz="2400" spc="-5" dirty="0">
                <a:latin typeface="Perpetua"/>
                <a:cs typeface="Perpetua"/>
              </a:rPr>
              <a:t>Premise: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battery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1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dead.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3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  <a:tab pos="1771650" algn="l"/>
              </a:tabLst>
            </a:pPr>
            <a:r>
              <a:rPr sz="2400" dirty="0">
                <a:latin typeface="Perpetua"/>
                <a:cs typeface="Perpetua"/>
              </a:rPr>
              <a:t>Conclusion:	</a:t>
            </a:r>
            <a:r>
              <a:rPr sz="2400" spc="-10" dirty="0">
                <a:latin typeface="Perpetua"/>
                <a:cs typeface="Perpetua"/>
              </a:rPr>
              <a:t>Therefore, </a:t>
            </a:r>
            <a:r>
              <a:rPr sz="2400" dirty="0">
                <a:latin typeface="Perpetua"/>
                <a:cs typeface="Perpetua"/>
              </a:rPr>
              <a:t>the car will not</a:t>
            </a:r>
            <a:r>
              <a:rPr sz="2400" spc="-135" dirty="0">
                <a:latin typeface="Perpetua"/>
                <a:cs typeface="Perpetua"/>
              </a:rPr>
              <a:t> </a:t>
            </a:r>
            <a:r>
              <a:rPr sz="2400" spc="10" dirty="0">
                <a:latin typeface="Perpetua"/>
                <a:cs typeface="Perpetua"/>
              </a:rPr>
              <a:t>start.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739" y="357886"/>
            <a:ext cx="15551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Solution</a:t>
            </a:r>
            <a:endParaRPr sz="4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3909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0" dirty="0">
                <a:latin typeface="Perpetua"/>
                <a:cs typeface="Perpetua"/>
              </a:rPr>
              <a:t>Inductive</a:t>
            </a:r>
            <a:r>
              <a:rPr b="1" spc="-80" dirty="0">
                <a:latin typeface="Perpetua"/>
                <a:cs typeface="Perpetua"/>
              </a:rPr>
              <a:t> </a:t>
            </a:r>
            <a:r>
              <a:rPr b="1" dirty="0">
                <a:latin typeface="Perpetua"/>
                <a:cs typeface="Perpetua"/>
              </a:rPr>
              <a:t>reasoning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905382"/>
            <a:ext cx="7885430" cy="260159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9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latin typeface="Perpetua"/>
                <a:cs typeface="Perpetua"/>
              </a:rPr>
              <a:t>Also </a:t>
            </a:r>
            <a:r>
              <a:rPr sz="2400" dirty="0">
                <a:latin typeface="Perpetua"/>
                <a:cs typeface="Perpetua"/>
              </a:rPr>
              <a:t>called bottom-up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spc="5" dirty="0">
                <a:latin typeface="Perpetua"/>
                <a:cs typeface="Perpetua"/>
              </a:rPr>
              <a:t>logic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It is the </a:t>
            </a:r>
            <a:r>
              <a:rPr sz="2400" spc="-15" dirty="0">
                <a:latin typeface="Perpetua"/>
                <a:cs typeface="Perpetua"/>
              </a:rPr>
              <a:t>reverse </a:t>
            </a:r>
            <a:r>
              <a:rPr sz="2400" dirty="0">
                <a:latin typeface="Perpetua"/>
                <a:cs typeface="Perpetua"/>
              </a:rPr>
              <a:t>of </a:t>
            </a:r>
            <a:r>
              <a:rPr sz="2400" spc="-10" dirty="0">
                <a:latin typeface="Perpetua"/>
                <a:cs typeface="Perpetua"/>
              </a:rPr>
              <a:t>deductive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reasoning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This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method</a:t>
            </a:r>
            <a:endParaRPr sz="2400">
              <a:latin typeface="Perpetua"/>
              <a:cs typeface="Perpetua"/>
            </a:endParaRPr>
          </a:p>
          <a:p>
            <a:pPr marL="561340" lvl="1" indent="-229235">
              <a:lnSpc>
                <a:spcPct val="100000"/>
              </a:lnSpc>
              <a:spcBef>
                <a:spcPts val="395"/>
              </a:spcBef>
              <a:buSzPct val="85416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400" spc="5" dirty="0">
                <a:latin typeface="Perpetua"/>
                <a:cs typeface="Perpetua"/>
              </a:rPr>
              <a:t>begins </a:t>
            </a:r>
            <a:r>
              <a:rPr sz="2400" dirty="0">
                <a:latin typeface="Perpetua"/>
                <a:cs typeface="Perpetua"/>
              </a:rPr>
              <a:t>with </a:t>
            </a:r>
            <a:r>
              <a:rPr sz="2400" b="1" spc="-5" dirty="0">
                <a:solidFill>
                  <a:srgbClr val="C00000"/>
                </a:solidFill>
                <a:latin typeface="Perpetua"/>
                <a:cs typeface="Perpetua"/>
              </a:rPr>
              <a:t>specific </a:t>
            </a:r>
            <a:r>
              <a:rPr sz="2400" b="1" dirty="0">
                <a:solidFill>
                  <a:srgbClr val="C00000"/>
                </a:solidFill>
                <a:latin typeface="Perpetua"/>
                <a:cs typeface="Perpetua"/>
              </a:rPr>
              <a:t>pieces </a:t>
            </a:r>
            <a:r>
              <a:rPr sz="2400" b="1" spc="-5" dirty="0">
                <a:solidFill>
                  <a:srgbClr val="C00000"/>
                </a:solidFill>
                <a:latin typeface="Perpetua"/>
                <a:cs typeface="Perpetua"/>
              </a:rPr>
              <a:t>of </a:t>
            </a:r>
            <a:r>
              <a:rPr sz="2400" b="1" dirty="0">
                <a:solidFill>
                  <a:srgbClr val="C00000"/>
                </a:solidFill>
                <a:latin typeface="Perpetua"/>
                <a:cs typeface="Perpetua"/>
              </a:rPr>
              <a:t>information </a:t>
            </a:r>
            <a:r>
              <a:rPr sz="2400" b="1" spc="-5" dirty="0">
                <a:solidFill>
                  <a:srgbClr val="C00000"/>
                </a:solidFill>
                <a:latin typeface="Perpetua"/>
                <a:cs typeface="Perpetua"/>
              </a:rPr>
              <a:t>or</a:t>
            </a:r>
            <a:r>
              <a:rPr sz="2400" b="1" spc="-3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Perpetua"/>
                <a:cs typeface="Perpetua"/>
              </a:rPr>
              <a:t>observations</a:t>
            </a:r>
            <a:r>
              <a:rPr sz="2400" spc="-5" dirty="0">
                <a:latin typeface="Perpetua"/>
                <a:cs typeface="Perpetua"/>
              </a:rPr>
              <a:t>,</a:t>
            </a:r>
            <a:endParaRPr sz="2400">
              <a:latin typeface="Perpetua"/>
              <a:cs typeface="Perpetua"/>
            </a:endParaRPr>
          </a:p>
          <a:p>
            <a:pPr marL="561340" lvl="1" indent="-229235">
              <a:lnSpc>
                <a:spcPct val="100000"/>
              </a:lnSpc>
              <a:spcBef>
                <a:spcPts val="395"/>
              </a:spcBef>
              <a:buSzPct val="85416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then it </a:t>
            </a:r>
            <a:r>
              <a:rPr sz="2400" b="1" spc="-5" dirty="0">
                <a:solidFill>
                  <a:srgbClr val="C00000"/>
                </a:solidFill>
                <a:latin typeface="Perpetua"/>
                <a:cs typeface="Perpetua"/>
              </a:rPr>
              <a:t>concludes with </a:t>
            </a:r>
            <a:r>
              <a:rPr sz="2400" b="1" dirty="0">
                <a:solidFill>
                  <a:srgbClr val="C00000"/>
                </a:solidFill>
                <a:latin typeface="Perpetua"/>
                <a:cs typeface="Perpetua"/>
              </a:rPr>
              <a:t>a</a:t>
            </a:r>
            <a:r>
              <a:rPr sz="2400" b="1" spc="-4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Perpetua"/>
                <a:cs typeface="Perpetua"/>
              </a:rPr>
              <a:t>generalization</a:t>
            </a:r>
            <a:endParaRPr sz="2400">
              <a:latin typeface="Perpetua"/>
              <a:cs typeface="Perpetua"/>
            </a:endParaRPr>
          </a:p>
          <a:p>
            <a:pPr marL="561340" lvl="1" indent="-229235">
              <a:lnSpc>
                <a:spcPct val="100000"/>
              </a:lnSpc>
              <a:spcBef>
                <a:spcPts val="409"/>
              </a:spcBef>
              <a:buSzPct val="85416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generalization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spc="-30" dirty="0">
                <a:latin typeface="Perpetua"/>
                <a:cs typeface="Perpetua"/>
              </a:rPr>
              <a:t>may </a:t>
            </a:r>
            <a:r>
              <a:rPr sz="2400" dirty="0">
                <a:latin typeface="Perpetua"/>
                <a:cs typeface="Perpetua"/>
              </a:rPr>
              <a:t>or </a:t>
            </a:r>
            <a:r>
              <a:rPr sz="2400" spc="-30" dirty="0">
                <a:latin typeface="Perpetua"/>
                <a:cs typeface="Perpetua"/>
              </a:rPr>
              <a:t>may </a:t>
            </a:r>
            <a:r>
              <a:rPr sz="2400" dirty="0">
                <a:latin typeface="Perpetua"/>
                <a:cs typeface="Perpetua"/>
              </a:rPr>
              <a:t>not be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factual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5980" y="4731258"/>
            <a:ext cx="4852670" cy="1691639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495"/>
              </a:spcBef>
              <a:buSzPct val="85416"/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sz="2400" spc="-5" dirty="0">
                <a:latin typeface="Perpetua"/>
                <a:cs typeface="Perpetua"/>
              </a:rPr>
              <a:t>My </a:t>
            </a:r>
            <a:r>
              <a:rPr sz="2400" spc="5" dirty="0">
                <a:latin typeface="Perpetua"/>
                <a:cs typeface="Perpetua"/>
              </a:rPr>
              <a:t>bicycle </a:t>
            </a:r>
            <a:r>
              <a:rPr sz="2400" dirty="0">
                <a:latin typeface="Perpetua"/>
                <a:cs typeface="Perpetua"/>
              </a:rPr>
              <a:t>has a </a:t>
            </a:r>
            <a:r>
              <a:rPr sz="2400" spc="-10" dirty="0">
                <a:latin typeface="Perpetua"/>
                <a:cs typeface="Perpetua"/>
              </a:rPr>
              <a:t>flat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tire</a:t>
            </a:r>
            <a:endParaRPr sz="2400">
              <a:latin typeface="Perpetua"/>
              <a:cs typeface="Perpetua"/>
            </a:endParaRPr>
          </a:p>
          <a:p>
            <a:pPr marL="241300" indent="-229235">
              <a:lnSpc>
                <a:spcPct val="100000"/>
              </a:lnSpc>
              <a:spcBef>
                <a:spcPts val="395"/>
              </a:spcBef>
              <a:buSzPct val="85416"/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sz="2400" spc="-5" dirty="0">
                <a:latin typeface="Perpetua"/>
                <a:cs typeface="Perpetua"/>
              </a:rPr>
              <a:t>My </a:t>
            </a:r>
            <a:r>
              <a:rPr sz="2400" spc="5" dirty="0">
                <a:latin typeface="Perpetua"/>
                <a:cs typeface="Perpetua"/>
              </a:rPr>
              <a:t>bicycle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silver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buSzPct val="85416"/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sz="2400" spc="-10" dirty="0">
                <a:latin typeface="Perpetua"/>
                <a:cs typeface="Perpetua"/>
              </a:rPr>
              <a:t>Therefore, </a:t>
            </a:r>
            <a:r>
              <a:rPr sz="2400" spc="-5" dirty="0">
                <a:latin typeface="Perpetua"/>
                <a:cs typeface="Perpetua"/>
              </a:rPr>
              <a:t>all </a:t>
            </a:r>
            <a:r>
              <a:rPr sz="2400" spc="-10" dirty="0">
                <a:latin typeface="Perpetua"/>
                <a:cs typeface="Perpetua"/>
              </a:rPr>
              <a:t>silver </a:t>
            </a:r>
            <a:r>
              <a:rPr sz="2400" dirty="0">
                <a:latin typeface="Perpetua"/>
                <a:cs typeface="Perpetua"/>
              </a:rPr>
              <a:t>bicycles </a:t>
            </a:r>
            <a:r>
              <a:rPr sz="2400" spc="-35" dirty="0">
                <a:latin typeface="Perpetua"/>
                <a:cs typeface="Perpetua"/>
              </a:rPr>
              <a:t>have </a:t>
            </a:r>
            <a:r>
              <a:rPr sz="2400" spc="-10" dirty="0">
                <a:latin typeface="Perpetua"/>
                <a:cs typeface="Perpetua"/>
              </a:rPr>
              <a:t>flat</a:t>
            </a:r>
            <a:r>
              <a:rPr sz="2400" spc="-12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tires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7200" y="4038600"/>
            <a:ext cx="1143000" cy="8442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38600" y="5105400"/>
            <a:ext cx="1295400" cy="990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78270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Limited </a:t>
            </a:r>
            <a:r>
              <a:rPr spc="5" dirty="0"/>
              <a:t>experiences </a:t>
            </a:r>
            <a:r>
              <a:rPr dirty="0"/>
              <a:t>to </a:t>
            </a:r>
            <a:r>
              <a:rPr spc="-30" dirty="0"/>
              <a:t>sweeping</a:t>
            </a:r>
            <a:r>
              <a:rPr spc="-45" dirty="0"/>
              <a:t> </a:t>
            </a:r>
            <a:r>
              <a:rPr dirty="0"/>
              <a:t>generalities!!!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7380" y="1499057"/>
            <a:ext cx="5612765" cy="1734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600" spc="-5" dirty="0">
                <a:latin typeface="Perpetua"/>
                <a:cs typeface="Perpetua"/>
              </a:rPr>
              <a:t>Every fire hydrant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50" dirty="0">
                <a:latin typeface="Perpetua"/>
                <a:cs typeface="Perpetua"/>
              </a:rPr>
              <a:t>my </a:t>
            </a:r>
            <a:r>
              <a:rPr sz="2600" dirty="0">
                <a:latin typeface="Perpetua"/>
                <a:cs typeface="Perpetua"/>
              </a:rPr>
              <a:t>neighborhood is</a:t>
            </a:r>
            <a:r>
              <a:rPr sz="2600" spc="4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red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2850">
              <a:latin typeface="Times New Roman"/>
              <a:cs typeface="Times New Roman"/>
            </a:endParaRPr>
          </a:p>
          <a:p>
            <a:pPr marL="240665" marR="939800" indent="-240665">
              <a:lnSpc>
                <a:spcPct val="1127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600" spc="-5" dirty="0">
                <a:latin typeface="Perpetua"/>
                <a:cs typeface="Perpetua"/>
              </a:rPr>
              <a:t>Every fire </a:t>
            </a:r>
            <a:r>
              <a:rPr sz="2600" spc="-10" dirty="0">
                <a:latin typeface="Perpetua"/>
                <a:cs typeface="Perpetua"/>
              </a:rPr>
              <a:t>hydrant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55" dirty="0">
                <a:latin typeface="Perpetua"/>
                <a:cs typeface="Perpetua"/>
              </a:rPr>
              <a:t>my </a:t>
            </a:r>
            <a:r>
              <a:rPr sz="2600" dirty="0">
                <a:latin typeface="Perpetua"/>
                <a:cs typeface="Perpetua"/>
              </a:rPr>
              <a:t>best </a:t>
            </a:r>
            <a:r>
              <a:rPr sz="2600" spc="-25" dirty="0">
                <a:latin typeface="Perpetua"/>
                <a:cs typeface="Perpetua"/>
              </a:rPr>
              <a:t>friend’s  </a:t>
            </a:r>
            <a:r>
              <a:rPr sz="2600" spc="-5" dirty="0">
                <a:latin typeface="Perpetua"/>
                <a:cs typeface="Perpetua"/>
              </a:rPr>
              <a:t>neighborhood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red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380" y="4600194"/>
            <a:ext cx="589216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4615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600" spc="-10" dirty="0">
                <a:latin typeface="Perpetua"/>
                <a:cs typeface="Perpetua"/>
              </a:rPr>
              <a:t>Therefore, </a:t>
            </a:r>
            <a:r>
              <a:rPr sz="2600" spc="-15" dirty="0">
                <a:latin typeface="Perpetua"/>
                <a:cs typeface="Perpetua"/>
              </a:rPr>
              <a:t>every </a:t>
            </a:r>
            <a:r>
              <a:rPr sz="2600" spc="-5" dirty="0">
                <a:latin typeface="Perpetua"/>
                <a:cs typeface="Perpetua"/>
              </a:rPr>
              <a:t>fire hydrant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20" dirty="0">
                <a:latin typeface="Perpetua"/>
                <a:cs typeface="Perpetua"/>
              </a:rPr>
              <a:t>town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10" dirty="0">
                <a:latin typeface="Perpetua"/>
                <a:cs typeface="Perpetua"/>
              </a:rPr>
              <a:t>red</a:t>
            </a:r>
            <a:r>
              <a:rPr sz="2600" spc="-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!!!!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24600" y="1905000"/>
            <a:ext cx="2057400" cy="2438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28924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Another</a:t>
            </a:r>
            <a:r>
              <a:rPr spc="-70" dirty="0"/>
              <a:t> </a:t>
            </a:r>
            <a:r>
              <a:rPr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9968" y="901413"/>
            <a:ext cx="7629525" cy="459867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600" i="1" spc="-10" dirty="0">
                <a:latin typeface="Perpetua"/>
                <a:cs typeface="Perpetua"/>
              </a:rPr>
              <a:t>Observation:</a:t>
            </a:r>
            <a:endParaRPr sz="2600">
              <a:latin typeface="Perpetua"/>
              <a:cs typeface="Perpetua"/>
            </a:endParaRPr>
          </a:p>
          <a:p>
            <a:pPr marL="683260" marR="5080" indent="19685">
              <a:lnSpc>
                <a:spcPts val="3720"/>
              </a:lnSpc>
              <a:spcBef>
                <a:spcPts val="225"/>
              </a:spcBef>
            </a:pPr>
            <a:r>
              <a:rPr sz="2600" dirty="0">
                <a:latin typeface="Perpetua"/>
                <a:cs typeface="Perpetua"/>
              </a:rPr>
              <a:t>Sheela is seen </a:t>
            </a:r>
            <a:r>
              <a:rPr sz="2600" spc="-10" dirty="0">
                <a:latin typeface="Perpetua"/>
                <a:cs typeface="Perpetua"/>
              </a:rPr>
              <a:t>walking </a:t>
            </a:r>
            <a:r>
              <a:rPr sz="2600" spc="-5" dirty="0">
                <a:latin typeface="Perpetua"/>
                <a:cs typeface="Perpetua"/>
              </a:rPr>
              <a:t>from her car to her </a:t>
            </a:r>
            <a:r>
              <a:rPr sz="2600" dirty="0">
                <a:latin typeface="Perpetua"/>
                <a:cs typeface="Perpetua"/>
              </a:rPr>
              <a:t>home with a set  </a:t>
            </a:r>
            <a:r>
              <a:rPr sz="2600" spc="-5" dirty="0">
                <a:latin typeface="Perpetua"/>
                <a:cs typeface="Perpetua"/>
              </a:rPr>
              <a:t>of golf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clubs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000">
              <a:latin typeface="Times New Roman"/>
              <a:cs typeface="Times New Roman"/>
            </a:endParaRPr>
          </a:p>
          <a:p>
            <a:pPr marL="62865">
              <a:lnSpc>
                <a:spcPct val="100000"/>
              </a:lnSpc>
              <a:spcBef>
                <a:spcPts val="5"/>
              </a:spcBef>
            </a:pPr>
            <a:r>
              <a:rPr sz="2600" i="1" spc="-10" dirty="0">
                <a:latin typeface="Perpetua"/>
                <a:cs typeface="Perpetua"/>
              </a:rPr>
              <a:t>Observation:</a:t>
            </a:r>
            <a:endParaRPr sz="2600">
              <a:latin typeface="Perpetua"/>
              <a:cs typeface="Perpetua"/>
            </a:endParaRPr>
          </a:p>
          <a:p>
            <a:pPr marL="683260" marR="847090">
              <a:lnSpc>
                <a:spcPct val="119200"/>
              </a:lnSpc>
            </a:pPr>
            <a:r>
              <a:rPr sz="2600" spc="-35" dirty="0">
                <a:latin typeface="Perpetua"/>
                <a:cs typeface="Perpetua"/>
              </a:rPr>
              <a:t>Sheela’s </a:t>
            </a:r>
            <a:r>
              <a:rPr sz="2600" spc="-5" dirty="0">
                <a:latin typeface="Perpetua"/>
                <a:cs typeface="Perpetua"/>
              </a:rPr>
              <a:t>husband </a:t>
            </a:r>
            <a:r>
              <a:rPr sz="2600" spc="-15" dirty="0">
                <a:latin typeface="Perpetua"/>
                <a:cs typeface="Perpetua"/>
              </a:rPr>
              <a:t>Jeff </a:t>
            </a:r>
            <a:r>
              <a:rPr sz="2600" spc="-30" dirty="0">
                <a:latin typeface="Perpetua"/>
                <a:cs typeface="Perpetua"/>
              </a:rPr>
              <a:t>loves </a:t>
            </a:r>
            <a:r>
              <a:rPr sz="2600" dirty="0">
                <a:latin typeface="Perpetua"/>
                <a:cs typeface="Perpetua"/>
              </a:rPr>
              <a:t>golf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10" dirty="0">
                <a:latin typeface="Perpetua"/>
                <a:cs typeface="Perpetua"/>
              </a:rPr>
              <a:t>tomorrow </a:t>
            </a:r>
            <a:r>
              <a:rPr sz="2600" dirty="0">
                <a:latin typeface="Perpetua"/>
                <a:cs typeface="Perpetua"/>
              </a:rPr>
              <a:t>is his  </a:t>
            </a:r>
            <a:r>
              <a:rPr sz="2600" spc="-5" dirty="0">
                <a:latin typeface="Perpetua"/>
                <a:cs typeface="Perpetua"/>
              </a:rPr>
              <a:t>birthday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200">
              <a:latin typeface="Times New Roman"/>
              <a:cs typeface="Times New Roman"/>
            </a:endParaRPr>
          </a:p>
          <a:p>
            <a:pPr marL="62865">
              <a:lnSpc>
                <a:spcPct val="100000"/>
              </a:lnSpc>
            </a:pPr>
            <a:r>
              <a:rPr sz="2600" i="1" spc="-5" dirty="0">
                <a:latin typeface="Perpetua"/>
                <a:cs typeface="Perpetua"/>
              </a:rPr>
              <a:t>Conclusion</a:t>
            </a:r>
            <a:r>
              <a:rPr sz="2600" i="1" spc="5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(inference):</a:t>
            </a:r>
            <a:endParaRPr sz="2600">
              <a:latin typeface="Perpetua"/>
              <a:cs typeface="Perpetua"/>
            </a:endParaRPr>
          </a:p>
          <a:p>
            <a:pPr marL="683260">
              <a:lnSpc>
                <a:spcPct val="100000"/>
              </a:lnSpc>
              <a:spcBef>
                <a:spcPts val="600"/>
              </a:spcBef>
            </a:pPr>
            <a:r>
              <a:rPr sz="2600" spc="-5" dirty="0">
                <a:latin typeface="Perpetua"/>
                <a:cs typeface="Perpetua"/>
              </a:rPr>
              <a:t>Sheela </a:t>
            </a:r>
            <a:r>
              <a:rPr sz="2600" dirty="0">
                <a:latin typeface="Perpetua"/>
                <a:cs typeface="Perpetua"/>
              </a:rPr>
              <a:t>has bought the set </a:t>
            </a:r>
            <a:r>
              <a:rPr sz="2600" spc="-5" dirty="0">
                <a:latin typeface="Perpetua"/>
                <a:cs typeface="Perpetua"/>
              </a:rPr>
              <a:t>of golf clubs for </a:t>
            </a:r>
            <a:r>
              <a:rPr sz="2600" spc="-15" dirty="0">
                <a:latin typeface="Perpetua"/>
                <a:cs typeface="Perpetua"/>
              </a:rPr>
              <a:t>Jeff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35026"/>
            <a:ext cx="38131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 </a:t>
            </a:r>
            <a:r>
              <a:rPr spc="15" dirty="0"/>
              <a:t>risk </a:t>
            </a:r>
            <a:r>
              <a:rPr spc="-10" dirty="0"/>
              <a:t>of</a:t>
            </a:r>
            <a:r>
              <a:rPr spc="-95" dirty="0"/>
              <a:t> </a:t>
            </a:r>
            <a:r>
              <a:rPr spc="10" dirty="0"/>
              <a:t>uncertainty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48765"/>
            <a:ext cx="8071484" cy="4447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10" dirty="0">
                <a:latin typeface="Perpetua"/>
                <a:cs typeface="Perpetua"/>
              </a:rPr>
              <a:t>Inductive </a:t>
            </a:r>
            <a:r>
              <a:rPr sz="2600" i="1" spc="-5" dirty="0">
                <a:latin typeface="Perpetua"/>
                <a:cs typeface="Perpetua"/>
              </a:rPr>
              <a:t>reasoning </a:t>
            </a:r>
            <a:r>
              <a:rPr sz="2600" i="1" dirty="0">
                <a:latin typeface="Perpetua"/>
                <a:cs typeface="Perpetua"/>
              </a:rPr>
              <a:t>depends on </a:t>
            </a:r>
            <a:r>
              <a:rPr sz="2600" i="1" spc="-5" dirty="0">
                <a:latin typeface="Perpetua"/>
                <a:cs typeface="Perpetua"/>
              </a:rPr>
              <a:t>human</a:t>
            </a:r>
            <a:r>
              <a:rPr sz="2600" i="1" spc="-20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observation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"/>
            </a:pPr>
            <a:endParaRPr sz="3750">
              <a:latin typeface="Times New Roman"/>
              <a:cs typeface="Times New Roman"/>
            </a:endParaRPr>
          </a:p>
          <a:p>
            <a:pPr marL="286385" marR="5715" indent="-274320">
              <a:lnSpc>
                <a:spcPct val="100000"/>
              </a:lnSpc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10" dirty="0">
                <a:latin typeface="Perpetua"/>
                <a:cs typeface="Perpetua"/>
              </a:rPr>
              <a:t>Whereas, deductive </a:t>
            </a:r>
            <a:r>
              <a:rPr sz="2600" i="1" spc="-5" dirty="0">
                <a:latin typeface="Perpetua"/>
                <a:cs typeface="Perpetua"/>
              </a:rPr>
              <a:t>reasoning </a:t>
            </a:r>
            <a:r>
              <a:rPr sz="2600" i="1" dirty="0">
                <a:latin typeface="Perpetua"/>
                <a:cs typeface="Perpetua"/>
              </a:rPr>
              <a:t>drives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conclusion based on </a:t>
            </a:r>
            <a:r>
              <a:rPr sz="2600" i="1" spc="-10" dirty="0">
                <a:latin typeface="Perpetua"/>
                <a:cs typeface="Perpetua"/>
              </a:rPr>
              <a:t>known  facts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"/>
            </a:pPr>
            <a:endParaRPr sz="375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Sheela, after </a:t>
            </a:r>
            <a:r>
              <a:rPr sz="2600" i="1" spc="-10" dirty="0">
                <a:latin typeface="Perpetua"/>
                <a:cs typeface="Perpetua"/>
              </a:rPr>
              <a:t>all, </a:t>
            </a:r>
            <a:r>
              <a:rPr sz="2600" i="1" spc="-25" dirty="0">
                <a:latin typeface="Perpetua"/>
                <a:cs typeface="Perpetua"/>
              </a:rPr>
              <a:t>may </a:t>
            </a:r>
            <a:r>
              <a:rPr sz="2600" i="1" spc="-5" dirty="0">
                <a:latin typeface="Perpetua"/>
                <a:cs typeface="Perpetua"/>
              </a:rPr>
              <a:t>be borrowing the </a:t>
            </a:r>
            <a:r>
              <a:rPr sz="2600" i="1" spc="-10" dirty="0">
                <a:latin typeface="Perpetua"/>
                <a:cs typeface="Perpetua"/>
              </a:rPr>
              <a:t>golf clubs. </a:t>
            </a:r>
            <a:r>
              <a:rPr sz="2600" i="1" spc="-5" dirty="0">
                <a:latin typeface="Perpetua"/>
                <a:cs typeface="Perpetua"/>
              </a:rPr>
              <a:t>Or </a:t>
            </a:r>
            <a:r>
              <a:rPr sz="2600" i="1" dirty="0">
                <a:latin typeface="Perpetua"/>
                <a:cs typeface="Perpetua"/>
              </a:rPr>
              <a:t>she </a:t>
            </a:r>
            <a:r>
              <a:rPr sz="2600" i="1" spc="-30" dirty="0">
                <a:latin typeface="Perpetua"/>
                <a:cs typeface="Perpetua"/>
              </a:rPr>
              <a:t>may </a:t>
            </a:r>
            <a:r>
              <a:rPr sz="2600" i="1" spc="-35" dirty="0">
                <a:latin typeface="Perpetua"/>
                <a:cs typeface="Perpetua"/>
              </a:rPr>
              <a:t>have </a:t>
            </a:r>
            <a:r>
              <a:rPr sz="2600" i="1" spc="-10" dirty="0">
                <a:latin typeface="Perpetua"/>
                <a:cs typeface="Perpetua"/>
              </a:rPr>
              <a:t>taken  </a:t>
            </a:r>
            <a:r>
              <a:rPr sz="2600" i="1" dirty="0">
                <a:latin typeface="Perpetua"/>
                <a:cs typeface="Perpetua"/>
              </a:rPr>
              <a:t>up </a:t>
            </a:r>
            <a:r>
              <a:rPr sz="2600" i="1" spc="-10" dirty="0">
                <a:latin typeface="Perpetua"/>
                <a:cs typeface="Perpetua"/>
              </a:rPr>
              <a:t>golf </a:t>
            </a:r>
            <a:r>
              <a:rPr sz="2600" i="1" dirty="0">
                <a:latin typeface="Perpetua"/>
                <a:cs typeface="Perpetua"/>
              </a:rPr>
              <a:t>herself!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"/>
            </a:pPr>
            <a:endParaRPr sz="375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buSzPct val="84615"/>
              <a:buFont typeface="Wingdings"/>
              <a:buChar char=""/>
              <a:tabLst>
                <a:tab pos="287020" algn="l"/>
                <a:tab pos="805180" algn="l"/>
                <a:tab pos="1877695" algn="l"/>
                <a:tab pos="2557780" algn="l"/>
                <a:tab pos="3318510" algn="l"/>
                <a:tab pos="3829050" algn="l"/>
                <a:tab pos="4826000" algn="l"/>
                <a:tab pos="6442075" algn="l"/>
                <a:tab pos="7030084" algn="l"/>
              </a:tabLst>
            </a:pPr>
            <a:r>
              <a:rPr sz="2600" i="1" spc="-75" dirty="0">
                <a:latin typeface="Perpetua"/>
                <a:cs typeface="Perpetua"/>
              </a:rPr>
              <a:t>You	</a:t>
            </a:r>
            <a:r>
              <a:rPr sz="2600" i="1" spc="-15" dirty="0">
                <a:latin typeface="Perpetua"/>
                <a:cs typeface="Perpetua"/>
              </a:rPr>
              <a:t>wouldn’t	know	</a:t>
            </a:r>
            <a:r>
              <a:rPr sz="2600" i="1" spc="-5" dirty="0">
                <a:latin typeface="Perpetua"/>
                <a:cs typeface="Perpetua"/>
              </a:rPr>
              <a:t>unless	</a:t>
            </a:r>
            <a:r>
              <a:rPr sz="2600" i="1" spc="-15" dirty="0">
                <a:latin typeface="Perpetua"/>
                <a:cs typeface="Perpetua"/>
              </a:rPr>
              <a:t>you	</a:t>
            </a:r>
            <a:r>
              <a:rPr sz="2600" i="1" spc="-10" dirty="0">
                <a:latin typeface="Perpetua"/>
                <a:cs typeface="Perpetua"/>
              </a:rPr>
              <a:t>observed	</a:t>
            </a:r>
            <a:r>
              <a:rPr sz="2600" i="1" spc="-25" dirty="0">
                <a:latin typeface="Perpetua"/>
                <a:cs typeface="Perpetua"/>
              </a:rPr>
              <a:t>carefully,</a:t>
            </a:r>
            <a:r>
              <a:rPr sz="2600" i="1" spc="22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and	</a:t>
            </a:r>
            <a:r>
              <a:rPr sz="2600" i="1" spc="-15" dirty="0">
                <a:latin typeface="Perpetua"/>
                <a:cs typeface="Perpetua"/>
              </a:rPr>
              <a:t>even	</a:t>
            </a:r>
            <a:r>
              <a:rPr sz="2600" i="1" spc="-5" dirty="0">
                <a:latin typeface="Perpetua"/>
                <a:cs typeface="Perpetua"/>
              </a:rPr>
              <a:t>then, </a:t>
            </a:r>
            <a:r>
              <a:rPr sz="2600" i="1" spc="-20" dirty="0">
                <a:latin typeface="Perpetua"/>
                <a:cs typeface="Perpetua"/>
              </a:rPr>
              <a:t>you  </a:t>
            </a:r>
            <a:r>
              <a:rPr sz="2600" i="1" spc="-5" dirty="0">
                <a:latin typeface="Perpetua"/>
                <a:cs typeface="Perpetua"/>
              </a:rPr>
              <a:t>would </a:t>
            </a:r>
            <a:r>
              <a:rPr sz="2600" i="1" spc="-30" dirty="0">
                <a:latin typeface="Perpetua"/>
                <a:cs typeface="Perpetua"/>
              </a:rPr>
              <a:t>have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spc="5" dirty="0">
                <a:latin typeface="Perpetua"/>
                <a:cs typeface="Perpetua"/>
              </a:rPr>
              <a:t>describe </a:t>
            </a:r>
            <a:r>
              <a:rPr sz="2600" i="1" spc="-15" dirty="0">
                <a:latin typeface="Perpetua"/>
                <a:cs typeface="Perpetua"/>
              </a:rPr>
              <a:t>your </a:t>
            </a:r>
            <a:r>
              <a:rPr sz="2600" i="1" spc="-5" dirty="0">
                <a:latin typeface="Perpetua"/>
                <a:cs typeface="Perpetua"/>
              </a:rPr>
              <a:t>conclusion as </a:t>
            </a:r>
            <a:r>
              <a:rPr sz="2600" i="1" spc="-10" dirty="0">
                <a:latin typeface="Perpetua"/>
                <a:cs typeface="Perpetua"/>
              </a:rPr>
              <a:t>“probable”</a:t>
            </a:r>
            <a:r>
              <a:rPr sz="2600" i="1" spc="-450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but </a:t>
            </a:r>
            <a:r>
              <a:rPr sz="2600" i="1" spc="-5" dirty="0">
                <a:latin typeface="Perpetua"/>
                <a:cs typeface="Perpetua"/>
              </a:rPr>
              <a:t>not </a:t>
            </a:r>
            <a:r>
              <a:rPr sz="2600" i="1" spc="10" dirty="0">
                <a:latin typeface="Perpetua"/>
                <a:cs typeface="Perpetua"/>
              </a:rPr>
              <a:t>firm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5375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Premises of </a:t>
            </a:r>
            <a:r>
              <a:rPr spc="-10" dirty="0"/>
              <a:t>inductive</a:t>
            </a:r>
            <a:r>
              <a:rPr spc="-65" dirty="0"/>
              <a:t> </a:t>
            </a:r>
            <a:r>
              <a:rPr spc="-5" dirty="0"/>
              <a:t>arguments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27297"/>
            <a:ext cx="8532495" cy="457263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9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premises of </a:t>
            </a:r>
            <a:r>
              <a:rPr sz="2600" spc="-10" dirty="0">
                <a:latin typeface="Perpetua"/>
                <a:cs typeface="Perpetua"/>
              </a:rPr>
              <a:t>inductive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arguments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do </a:t>
            </a:r>
            <a:r>
              <a:rPr sz="2600" spc="-5" dirty="0">
                <a:latin typeface="Perpetua"/>
                <a:cs typeface="Perpetua"/>
              </a:rPr>
              <a:t>not </a:t>
            </a:r>
            <a:r>
              <a:rPr sz="2600" spc="-35" dirty="0">
                <a:latin typeface="Perpetua"/>
                <a:cs typeface="Perpetua"/>
              </a:rPr>
              <a:t>prove </a:t>
            </a:r>
            <a:r>
              <a:rPr sz="2600" dirty="0">
                <a:latin typeface="Perpetua"/>
                <a:cs typeface="Perpetua"/>
              </a:rPr>
              <a:t>their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conclusions,</a:t>
            </a:r>
            <a:endParaRPr sz="2600">
              <a:latin typeface="Perpetua"/>
              <a:cs typeface="Perpetua"/>
            </a:endParaRPr>
          </a:p>
          <a:p>
            <a:pPr marL="636270" lvl="1" indent="-304165">
              <a:lnSpc>
                <a:spcPct val="100000"/>
              </a:lnSpc>
              <a:spcBef>
                <a:spcPts val="414"/>
              </a:spcBef>
              <a:buSzPct val="84615"/>
              <a:buFont typeface="Arial"/>
              <a:buChar char="•"/>
              <a:tabLst>
                <a:tab pos="635635" algn="l"/>
                <a:tab pos="636905" algn="l"/>
              </a:tabLst>
            </a:pPr>
            <a:r>
              <a:rPr sz="2600" spc="-10" dirty="0">
                <a:latin typeface="Perpetua"/>
                <a:cs typeface="Perpetua"/>
              </a:rPr>
              <a:t>but </a:t>
            </a:r>
            <a:r>
              <a:rPr sz="2600" spc="-5" dirty="0">
                <a:latin typeface="Perpetua"/>
                <a:cs typeface="Perpetua"/>
              </a:rPr>
              <a:t>rather </a:t>
            </a:r>
            <a:r>
              <a:rPr sz="2600" spc="-10" dirty="0">
                <a:latin typeface="Perpetua"/>
                <a:cs typeface="Perpetua"/>
              </a:rPr>
              <a:t>they </a:t>
            </a:r>
            <a:r>
              <a:rPr sz="2600" spc="10" dirty="0">
                <a:latin typeface="Perpetua"/>
                <a:cs typeface="Perpetua"/>
              </a:rPr>
              <a:t>support </a:t>
            </a:r>
            <a:r>
              <a:rPr sz="2600" dirty="0">
                <a:latin typeface="Perpetua"/>
                <a:cs typeface="Perpetua"/>
              </a:rPr>
              <a:t>them</a:t>
            </a:r>
            <a:endParaRPr sz="26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355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  <a:tab pos="879475" algn="l"/>
                <a:tab pos="1981835" algn="l"/>
                <a:tab pos="2345690" algn="l"/>
                <a:tab pos="2849245" algn="l"/>
                <a:tab pos="4121785" algn="l"/>
                <a:tab pos="5226685" algn="l"/>
                <a:tab pos="5656580" algn="l"/>
                <a:tab pos="6292215" algn="l"/>
                <a:tab pos="7084695" algn="l"/>
                <a:tab pos="8142605" algn="l"/>
              </a:tabLst>
            </a:pPr>
            <a:r>
              <a:rPr sz="2600" dirty="0">
                <a:latin typeface="Perpetua"/>
                <a:cs typeface="Perpetua"/>
              </a:rPr>
              <a:t>The	st</a:t>
            </a:r>
            <a:r>
              <a:rPr sz="2600" spc="-3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</a:t>
            </a:r>
            <a:r>
              <a:rPr sz="2600" spc="-10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g</a:t>
            </a:r>
            <a:r>
              <a:rPr sz="2600" spc="-15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h	</a:t>
            </a:r>
            <a:r>
              <a:rPr sz="2600" spc="-1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f	the	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spc="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gume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t	d</a:t>
            </a:r>
            <a:r>
              <a:rPr sz="2600" spc="-10" dirty="0">
                <a:latin typeface="Perpetua"/>
                <a:cs typeface="Perpetua"/>
              </a:rPr>
              <a:t>e</a:t>
            </a:r>
            <a:r>
              <a:rPr sz="2600" dirty="0">
                <a:latin typeface="Perpetua"/>
                <a:cs typeface="Perpetua"/>
              </a:rPr>
              <a:t>p</a:t>
            </a:r>
            <a:r>
              <a:rPr sz="2600" spc="-10" dirty="0">
                <a:latin typeface="Perpetua"/>
                <a:cs typeface="Perpetua"/>
              </a:rPr>
              <a:t>e</a:t>
            </a:r>
            <a:r>
              <a:rPr sz="2600" dirty="0">
                <a:latin typeface="Perpetua"/>
                <a:cs typeface="Perpetua"/>
              </a:rPr>
              <a:t>n</a:t>
            </a:r>
            <a:r>
              <a:rPr sz="2600" spc="-15" dirty="0">
                <a:latin typeface="Perpetua"/>
                <a:cs typeface="Perpetua"/>
              </a:rPr>
              <a:t>d</a:t>
            </a:r>
            <a:r>
              <a:rPr sz="2600" dirty="0">
                <a:latin typeface="Perpetua"/>
                <a:cs typeface="Perpetua"/>
              </a:rPr>
              <a:t>s	</a:t>
            </a:r>
            <a:r>
              <a:rPr sz="2600" spc="-1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n	h</a:t>
            </a:r>
            <a:r>
              <a:rPr sz="2600" spc="-8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w	</a:t>
            </a:r>
            <a:r>
              <a:rPr sz="2600" spc="-30" dirty="0">
                <a:latin typeface="Perpetua"/>
                <a:cs typeface="Perpetua"/>
              </a:rPr>
              <a:t>m</a:t>
            </a:r>
            <a:r>
              <a:rPr sz="2600" dirty="0">
                <a:latin typeface="Perpetua"/>
                <a:cs typeface="Perpetua"/>
              </a:rPr>
              <a:t>u</a:t>
            </a:r>
            <a:r>
              <a:rPr sz="2600" spc="30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h	su</a:t>
            </a:r>
            <a:r>
              <a:rPr sz="2600" spc="-15" dirty="0">
                <a:latin typeface="Perpetua"/>
                <a:cs typeface="Perpetua"/>
              </a:rPr>
              <a:t>p</a:t>
            </a:r>
            <a:r>
              <a:rPr sz="2600" spc="-20" dirty="0">
                <a:latin typeface="Perpetua"/>
                <a:cs typeface="Perpetua"/>
              </a:rPr>
              <a:t>p</a:t>
            </a:r>
            <a:r>
              <a:rPr sz="2600" dirty="0">
                <a:latin typeface="Perpetua"/>
                <a:cs typeface="Perpetua"/>
              </a:rPr>
              <a:t>o</a:t>
            </a:r>
            <a:r>
              <a:rPr sz="2600" spc="9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t	the  </a:t>
            </a:r>
            <a:r>
              <a:rPr sz="2600" spc="-5" dirty="0">
                <a:latin typeface="Perpetua"/>
                <a:cs typeface="Perpetua"/>
              </a:rPr>
              <a:t>premise </a:t>
            </a:r>
            <a:r>
              <a:rPr sz="2600" spc="-15" dirty="0">
                <a:latin typeface="Perpetua"/>
                <a:cs typeface="Perpetua"/>
              </a:rPr>
              <a:t>provides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conclusion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less </a:t>
            </a:r>
            <a:r>
              <a:rPr sz="2600" spc="10" dirty="0">
                <a:latin typeface="Perpetua"/>
                <a:cs typeface="Perpetua"/>
              </a:rPr>
              <a:t>support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15" dirty="0">
                <a:latin typeface="Perpetua"/>
                <a:cs typeface="Perpetua"/>
              </a:rPr>
              <a:t>provides,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25" dirty="0">
                <a:latin typeface="Perpetua"/>
                <a:cs typeface="Perpetua"/>
              </a:rPr>
              <a:t>weaker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15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argument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more </a:t>
            </a:r>
            <a:r>
              <a:rPr sz="2600" spc="10" dirty="0">
                <a:latin typeface="Perpetua"/>
                <a:cs typeface="Perpetua"/>
              </a:rPr>
              <a:t>support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15" dirty="0">
                <a:latin typeface="Perpetua"/>
                <a:cs typeface="Perpetua"/>
              </a:rPr>
              <a:t>provides,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stronger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1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argument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1140" y="1116260"/>
            <a:ext cx="7733665" cy="4787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95"/>
              </a:spcBef>
            </a:pPr>
            <a:r>
              <a:rPr sz="2600" spc="-10" dirty="0">
                <a:latin typeface="Perpetua"/>
                <a:cs typeface="Perpetua"/>
              </a:rPr>
              <a:t>Create </a:t>
            </a:r>
            <a:r>
              <a:rPr sz="2600" dirty="0">
                <a:latin typeface="Perpetua"/>
                <a:cs typeface="Perpetua"/>
              </a:rPr>
              <a:t>a logical </a:t>
            </a:r>
            <a:r>
              <a:rPr sz="2600" spc="-5" dirty="0">
                <a:latin typeface="Perpetua"/>
                <a:cs typeface="Perpetua"/>
              </a:rPr>
              <a:t>conclusion </a:t>
            </a:r>
            <a:r>
              <a:rPr sz="2600" dirty="0">
                <a:latin typeface="Perpetua"/>
                <a:cs typeface="Perpetua"/>
              </a:rPr>
              <a:t>based on the </a:t>
            </a:r>
            <a:r>
              <a:rPr sz="2600" spc="-10" dirty="0">
                <a:latin typeface="Perpetua"/>
                <a:cs typeface="Perpetua"/>
              </a:rPr>
              <a:t>following </a:t>
            </a:r>
            <a:r>
              <a:rPr sz="2600" spc="-5" dirty="0">
                <a:latin typeface="Perpetua"/>
                <a:cs typeface="Perpetua"/>
              </a:rPr>
              <a:t>examples </a:t>
            </a:r>
            <a:r>
              <a:rPr sz="2600" dirty="0">
                <a:latin typeface="Perpetua"/>
                <a:cs typeface="Perpetua"/>
              </a:rPr>
              <a:t>of  </a:t>
            </a:r>
            <a:r>
              <a:rPr sz="2600" spc="-10" dirty="0">
                <a:latin typeface="Perpetua"/>
                <a:cs typeface="Perpetua"/>
              </a:rPr>
              <a:t>inductive </a:t>
            </a:r>
            <a:r>
              <a:rPr sz="2600" spc="-30" dirty="0">
                <a:latin typeface="Perpetua"/>
                <a:cs typeface="Perpetua"/>
              </a:rPr>
              <a:t>reasoning. </a:t>
            </a:r>
            <a:r>
              <a:rPr sz="2600" dirty="0">
                <a:latin typeface="Perpetua"/>
                <a:cs typeface="Perpetua"/>
              </a:rPr>
              <a:t>Then </a:t>
            </a:r>
            <a:r>
              <a:rPr sz="2600" spc="-5" dirty="0">
                <a:latin typeface="Perpetua"/>
                <a:cs typeface="Perpetua"/>
              </a:rPr>
              <a:t>decide </a:t>
            </a:r>
            <a:r>
              <a:rPr sz="2600" dirty="0">
                <a:latin typeface="Perpetua"/>
                <a:cs typeface="Perpetua"/>
              </a:rPr>
              <a:t>whether the </a:t>
            </a:r>
            <a:r>
              <a:rPr sz="2600" spc="-5" dirty="0">
                <a:latin typeface="Perpetua"/>
                <a:cs typeface="Perpetua"/>
              </a:rPr>
              <a:t>reasoning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-3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sound.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50">
              <a:latin typeface="Times New Roman"/>
              <a:cs typeface="Times New Roman"/>
            </a:endParaRPr>
          </a:p>
          <a:p>
            <a:pPr marL="12700" marR="2276475">
              <a:lnSpc>
                <a:spcPct val="109300"/>
              </a:lnSpc>
              <a:spcBef>
                <a:spcPts val="5"/>
              </a:spcBef>
            </a:pPr>
            <a:r>
              <a:rPr sz="2600" dirty="0">
                <a:latin typeface="Perpetua"/>
                <a:cs typeface="Perpetua"/>
              </a:rPr>
              <a:t>This green </a:t>
            </a:r>
            <a:r>
              <a:rPr sz="2600" spc="-10" dirty="0">
                <a:latin typeface="Perpetua"/>
                <a:cs typeface="Perpetua"/>
              </a:rPr>
              <a:t>jellybean </a:t>
            </a:r>
            <a:r>
              <a:rPr sz="2600" spc="-5" dirty="0">
                <a:latin typeface="Perpetua"/>
                <a:cs typeface="Perpetua"/>
              </a:rPr>
              <a:t>tastes </a:t>
            </a:r>
            <a:r>
              <a:rPr sz="2600" spc="-10" dirty="0">
                <a:latin typeface="Perpetua"/>
                <a:cs typeface="Perpetua"/>
              </a:rPr>
              <a:t>like </a:t>
            </a:r>
            <a:r>
              <a:rPr sz="2600" spc="5" dirty="0">
                <a:latin typeface="Perpetua"/>
                <a:cs typeface="Perpetua"/>
              </a:rPr>
              <a:t>spearmint.  </a:t>
            </a:r>
            <a:r>
              <a:rPr sz="2600" dirty="0">
                <a:latin typeface="Perpetua"/>
                <a:cs typeface="Perpetua"/>
              </a:rPr>
              <a:t>This green </a:t>
            </a:r>
            <a:r>
              <a:rPr sz="2600" spc="-5" dirty="0">
                <a:latin typeface="Perpetua"/>
                <a:cs typeface="Perpetua"/>
              </a:rPr>
              <a:t>jellybean tastes </a:t>
            </a:r>
            <a:r>
              <a:rPr sz="2600" spc="-15" dirty="0">
                <a:latin typeface="Perpetua"/>
                <a:cs typeface="Perpetua"/>
              </a:rPr>
              <a:t>like </a:t>
            </a:r>
            <a:r>
              <a:rPr sz="2600" spc="5" dirty="0">
                <a:latin typeface="Perpetua"/>
                <a:cs typeface="Perpetua"/>
              </a:rPr>
              <a:t>spearmint </a:t>
            </a:r>
            <a:r>
              <a:rPr sz="2600" spc="-40" dirty="0">
                <a:latin typeface="Perpetua"/>
                <a:cs typeface="Perpetua"/>
              </a:rPr>
              <a:t>too.  </a:t>
            </a:r>
            <a:r>
              <a:rPr sz="2600" spc="-5" dirty="0">
                <a:latin typeface="Perpetua"/>
                <a:cs typeface="Perpetua"/>
              </a:rPr>
              <a:t>Therefore…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600" dirty="0">
                <a:latin typeface="Perpetua"/>
                <a:cs typeface="Perpetua"/>
              </a:rPr>
              <a:t>I </a:t>
            </a:r>
            <a:r>
              <a:rPr sz="2600" spc="-35" dirty="0">
                <a:latin typeface="Perpetua"/>
                <a:cs typeface="Perpetua"/>
              </a:rPr>
              <a:t>saw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man </a:t>
            </a:r>
            <a:r>
              <a:rPr sz="2600" dirty="0">
                <a:latin typeface="Perpetua"/>
                <a:cs typeface="Perpetua"/>
              </a:rPr>
              <a:t>on a unicycle in the park </a:t>
            </a:r>
            <a:r>
              <a:rPr sz="2600" spc="-5" dirty="0">
                <a:latin typeface="Perpetua"/>
                <a:cs typeface="Perpetua"/>
              </a:rPr>
              <a:t>last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60" dirty="0">
                <a:latin typeface="Perpetua"/>
                <a:cs typeface="Perpetua"/>
              </a:rPr>
              <a:t>Sunday.</a:t>
            </a:r>
            <a:endParaRPr sz="2600">
              <a:latin typeface="Perpetua"/>
              <a:cs typeface="Perpetua"/>
            </a:endParaRPr>
          </a:p>
          <a:p>
            <a:pPr marL="12700" marR="1392555">
              <a:lnSpc>
                <a:spcPct val="109200"/>
              </a:lnSpc>
            </a:pPr>
            <a:r>
              <a:rPr sz="2600" dirty="0">
                <a:latin typeface="Perpetua"/>
                <a:cs typeface="Perpetua"/>
              </a:rPr>
              <a:t>I </a:t>
            </a:r>
            <a:r>
              <a:rPr sz="2600" spc="-35" dirty="0">
                <a:latin typeface="Perpetua"/>
                <a:cs typeface="Perpetua"/>
              </a:rPr>
              <a:t>saw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man </a:t>
            </a:r>
            <a:r>
              <a:rPr sz="2600" dirty="0">
                <a:latin typeface="Perpetua"/>
                <a:cs typeface="Perpetua"/>
              </a:rPr>
              <a:t>on a unicycle in the park this </a:t>
            </a:r>
            <a:r>
              <a:rPr sz="2600" spc="-20" dirty="0">
                <a:latin typeface="Perpetua"/>
                <a:cs typeface="Perpetua"/>
              </a:rPr>
              <a:t>Sunday </a:t>
            </a:r>
            <a:r>
              <a:rPr sz="2600" spc="-40" dirty="0">
                <a:latin typeface="Perpetua"/>
                <a:cs typeface="Perpetua"/>
              </a:rPr>
              <a:t>too.  </a:t>
            </a:r>
            <a:r>
              <a:rPr sz="2600" spc="-10" dirty="0">
                <a:latin typeface="Perpetua"/>
                <a:cs typeface="Perpetua"/>
              </a:rPr>
              <a:t>Therefore, </a:t>
            </a:r>
            <a:r>
              <a:rPr sz="2600" dirty="0">
                <a:latin typeface="Perpetua"/>
                <a:cs typeface="Perpetua"/>
              </a:rPr>
              <a:t>next</a:t>
            </a:r>
            <a:r>
              <a:rPr sz="2600" spc="-13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Sunday…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71600" y="228600"/>
            <a:ext cx="5696711" cy="1143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3540" y="1819783"/>
            <a:ext cx="7800975" cy="465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1470" indent="-243204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"/>
              <a:tabLst>
                <a:tab pos="332105" algn="l"/>
              </a:tabLst>
            </a:pPr>
            <a:r>
              <a:rPr sz="2400" spc="-5" dirty="0">
                <a:latin typeface="Perpetua"/>
                <a:cs typeface="Perpetua"/>
              </a:rPr>
              <a:t>Kim </a:t>
            </a:r>
            <a:r>
              <a:rPr sz="2400" spc="-15" dirty="0">
                <a:latin typeface="Perpetua"/>
                <a:cs typeface="Perpetua"/>
              </a:rPr>
              <a:t>knows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spc="-5" dirty="0">
                <a:latin typeface="Perpetua"/>
                <a:cs typeface="Perpetua"/>
              </a:rPr>
              <a:t>Alex </a:t>
            </a:r>
            <a:r>
              <a:rPr sz="2400" dirty="0">
                <a:latin typeface="Perpetua"/>
                <a:cs typeface="Perpetua"/>
              </a:rPr>
              <a:t>is a </a:t>
            </a:r>
            <a:r>
              <a:rPr sz="2400" spc="-5" dirty="0">
                <a:latin typeface="Perpetua"/>
                <a:cs typeface="Perpetua"/>
              </a:rPr>
              <a:t>sophomore(II </a:t>
            </a:r>
            <a:r>
              <a:rPr sz="2400" spc="-10" dirty="0">
                <a:latin typeface="Perpetua"/>
                <a:cs typeface="Perpetua"/>
              </a:rPr>
              <a:t>year)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spc="-25" dirty="0">
                <a:latin typeface="Perpetua"/>
                <a:cs typeface="Perpetua"/>
              </a:rPr>
              <a:t>Kevin </a:t>
            </a:r>
            <a:r>
              <a:rPr sz="2400" dirty="0">
                <a:latin typeface="Perpetua"/>
                <a:cs typeface="Perpetua"/>
              </a:rPr>
              <a:t>is a</a:t>
            </a:r>
            <a:r>
              <a:rPr sz="2400" spc="-19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Junior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"/>
            </a:pPr>
            <a:endParaRPr sz="2500">
              <a:latin typeface="Times New Roman"/>
              <a:cs typeface="Times New Roman"/>
            </a:endParaRPr>
          </a:p>
          <a:p>
            <a:pPr marL="331470" indent="-243204">
              <a:lnSpc>
                <a:spcPct val="100000"/>
              </a:lnSpc>
              <a:buSzPct val="95833"/>
              <a:buFont typeface="Wingdings"/>
              <a:buChar char=""/>
              <a:tabLst>
                <a:tab pos="332105" algn="l"/>
              </a:tabLst>
            </a:pPr>
            <a:r>
              <a:rPr sz="2400" spc="-5" dirty="0">
                <a:latin typeface="Perpetua"/>
                <a:cs typeface="Perpetua"/>
              </a:rPr>
              <a:t>All </a:t>
            </a:r>
            <a:r>
              <a:rPr sz="2400" dirty="0">
                <a:latin typeface="Perpetua"/>
                <a:cs typeface="Perpetua"/>
              </a:rPr>
              <a:t>the other </a:t>
            </a:r>
            <a:r>
              <a:rPr sz="2400" spc="5" dirty="0">
                <a:latin typeface="Perpetua"/>
                <a:cs typeface="Perpetua"/>
              </a:rPr>
              <a:t>juniors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spc="-5" dirty="0">
                <a:latin typeface="Perpetua"/>
                <a:cs typeface="Perpetua"/>
              </a:rPr>
              <a:t>Kim </a:t>
            </a:r>
            <a:r>
              <a:rPr sz="2400" spc="-15" dirty="0">
                <a:latin typeface="Perpetua"/>
                <a:cs typeface="Perpetua"/>
              </a:rPr>
              <a:t>knows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dirty="0">
                <a:latin typeface="Perpetua"/>
                <a:cs typeface="Perpetua"/>
              </a:rPr>
              <a:t>older than</a:t>
            </a:r>
            <a:r>
              <a:rPr sz="2400" spc="-26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Alex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"/>
            </a:pPr>
            <a:endParaRPr sz="2500">
              <a:latin typeface="Times New Roman"/>
              <a:cs typeface="Times New Roman"/>
            </a:endParaRPr>
          </a:p>
          <a:p>
            <a:pPr marL="88900" marR="5080">
              <a:lnSpc>
                <a:spcPct val="100000"/>
              </a:lnSpc>
              <a:buSzPct val="95833"/>
              <a:buFont typeface="Wingdings"/>
              <a:buChar char=""/>
              <a:tabLst>
                <a:tab pos="332105" algn="l"/>
              </a:tabLst>
            </a:pPr>
            <a:r>
              <a:rPr sz="2400" spc="-10" dirty="0">
                <a:latin typeface="Perpetua"/>
                <a:cs typeface="Perpetua"/>
              </a:rPr>
              <a:t>Therefore, </a:t>
            </a:r>
            <a:r>
              <a:rPr sz="2400" spc="-5" dirty="0">
                <a:latin typeface="Perpetua"/>
                <a:cs typeface="Perpetua"/>
              </a:rPr>
              <a:t>Kim </a:t>
            </a:r>
            <a:r>
              <a:rPr sz="2400" b="1" dirty="0">
                <a:latin typeface="Perpetua"/>
                <a:cs typeface="Perpetua"/>
              </a:rPr>
              <a:t>reasons </a:t>
            </a:r>
            <a:r>
              <a:rPr sz="2400" b="1" spc="-15" dirty="0">
                <a:latin typeface="Perpetua"/>
                <a:cs typeface="Perpetua"/>
              </a:rPr>
              <a:t>inductively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spc="-25" dirty="0">
                <a:latin typeface="Perpetua"/>
                <a:cs typeface="Perpetua"/>
              </a:rPr>
              <a:t>Kevin </a:t>
            </a:r>
            <a:r>
              <a:rPr sz="2400" dirty="0">
                <a:latin typeface="Perpetua"/>
                <a:cs typeface="Perpetua"/>
              </a:rPr>
              <a:t>is older than</a:t>
            </a:r>
            <a:r>
              <a:rPr sz="2400" spc="-33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Alex  </a:t>
            </a:r>
            <a:r>
              <a:rPr sz="2400" dirty="0">
                <a:latin typeface="Perpetua"/>
                <a:cs typeface="Perpetua"/>
              </a:rPr>
              <a:t>based on past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observations</a:t>
            </a:r>
            <a:endParaRPr sz="2400">
              <a:latin typeface="Perpetua"/>
              <a:cs typeface="Perpetua"/>
            </a:endParaRPr>
          </a:p>
          <a:p>
            <a:pPr marL="255270" indent="-243204">
              <a:lnSpc>
                <a:spcPct val="100000"/>
              </a:lnSpc>
              <a:spcBef>
                <a:spcPts val="1920"/>
              </a:spcBef>
              <a:buSzPct val="95833"/>
              <a:buFont typeface="Wingdings"/>
              <a:buChar char=""/>
              <a:tabLst>
                <a:tab pos="255904" algn="l"/>
                <a:tab pos="2126615" algn="l"/>
              </a:tabLst>
            </a:pPr>
            <a:r>
              <a:rPr sz="2400" spc="-5" dirty="0">
                <a:latin typeface="Perpetua"/>
                <a:cs typeface="Perpetua"/>
              </a:rPr>
              <a:t>Kim </a:t>
            </a:r>
            <a:r>
              <a:rPr sz="2400" spc="-15" dirty="0">
                <a:latin typeface="Perpetua"/>
                <a:cs typeface="Perpetua"/>
              </a:rPr>
              <a:t>knows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that	</a:t>
            </a:r>
            <a:r>
              <a:rPr sz="2400" spc="-25" dirty="0">
                <a:latin typeface="Perpetua"/>
                <a:cs typeface="Perpetua"/>
              </a:rPr>
              <a:t>Kevin </a:t>
            </a:r>
            <a:r>
              <a:rPr sz="2400" dirty="0">
                <a:latin typeface="Perpetua"/>
                <a:cs typeface="Perpetua"/>
              </a:rPr>
              <a:t>is older than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Mia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"/>
            </a:pPr>
            <a:endParaRPr sz="2500">
              <a:latin typeface="Times New Roman"/>
              <a:cs typeface="Times New Roman"/>
            </a:endParaRPr>
          </a:p>
          <a:p>
            <a:pPr marL="255270" indent="-243204">
              <a:lnSpc>
                <a:spcPct val="100000"/>
              </a:lnSpc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dirty="0">
                <a:latin typeface="Perpetua"/>
                <a:cs typeface="Perpetua"/>
              </a:rPr>
              <a:t>She </a:t>
            </a:r>
            <a:r>
              <a:rPr sz="2400" spc="-5" dirty="0">
                <a:latin typeface="Perpetua"/>
                <a:cs typeface="Perpetua"/>
              </a:rPr>
              <a:t>also </a:t>
            </a:r>
            <a:r>
              <a:rPr sz="2400" spc="-15" dirty="0">
                <a:latin typeface="Perpetua"/>
                <a:cs typeface="Perpetua"/>
              </a:rPr>
              <a:t>knows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spc="-5" dirty="0">
                <a:latin typeface="Perpetua"/>
                <a:cs typeface="Perpetua"/>
              </a:rPr>
              <a:t>Mia </a:t>
            </a:r>
            <a:r>
              <a:rPr sz="2400" dirty="0">
                <a:latin typeface="Perpetua"/>
                <a:cs typeface="Perpetua"/>
              </a:rPr>
              <a:t>is older than</a:t>
            </a:r>
            <a:r>
              <a:rPr sz="2400" spc="-23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Alex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"/>
            </a:pPr>
            <a:endParaRPr sz="2500">
              <a:latin typeface="Times New Roman"/>
              <a:cs typeface="Times New Roman"/>
            </a:endParaRPr>
          </a:p>
          <a:p>
            <a:pPr marL="12700" marR="22860">
              <a:lnSpc>
                <a:spcPct val="100000"/>
              </a:lnSpc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spc="-10" dirty="0">
                <a:latin typeface="Perpetua"/>
                <a:cs typeface="Perpetua"/>
              </a:rPr>
              <a:t>Therefore, </a:t>
            </a:r>
            <a:r>
              <a:rPr sz="2400" spc="-5" dirty="0">
                <a:latin typeface="Perpetua"/>
                <a:cs typeface="Perpetua"/>
              </a:rPr>
              <a:t>Kim </a:t>
            </a:r>
            <a:r>
              <a:rPr sz="2400" b="1" dirty="0">
                <a:latin typeface="Perpetua"/>
                <a:cs typeface="Perpetua"/>
              </a:rPr>
              <a:t>reasons </a:t>
            </a:r>
            <a:r>
              <a:rPr sz="2400" b="1" spc="-15" dirty="0">
                <a:latin typeface="Perpetua"/>
                <a:cs typeface="Perpetua"/>
              </a:rPr>
              <a:t>deductively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spc="-25" dirty="0">
                <a:latin typeface="Perpetua"/>
                <a:cs typeface="Perpetua"/>
              </a:rPr>
              <a:t>Kevin </a:t>
            </a:r>
            <a:r>
              <a:rPr sz="2400" dirty="0">
                <a:latin typeface="Perpetua"/>
                <a:cs typeface="Perpetua"/>
              </a:rPr>
              <a:t>is older than</a:t>
            </a:r>
            <a:r>
              <a:rPr sz="2400" spc="-33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Alex  </a:t>
            </a:r>
            <a:r>
              <a:rPr sz="2400" dirty="0">
                <a:latin typeface="Perpetua"/>
                <a:cs typeface="Perpetua"/>
              </a:rPr>
              <a:t>based on </a:t>
            </a:r>
            <a:r>
              <a:rPr sz="2400" spc="-5" dirty="0">
                <a:latin typeface="Perpetua"/>
                <a:cs typeface="Perpetua"/>
              </a:rPr>
              <a:t>accepted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statements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7472" y="1566672"/>
            <a:ext cx="8449056" cy="25816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1272" y="4081271"/>
            <a:ext cx="8525256" cy="25816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6664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Deductive </a:t>
            </a:r>
            <a:r>
              <a:rPr dirty="0"/>
              <a:t>and </a:t>
            </a:r>
            <a:r>
              <a:rPr spc="-10" dirty="0"/>
              <a:t>inductive </a:t>
            </a:r>
            <a:r>
              <a:rPr dirty="0"/>
              <a:t>in </a:t>
            </a:r>
            <a:r>
              <a:rPr spc="-10" dirty="0"/>
              <a:t>real</a:t>
            </a:r>
            <a:r>
              <a:rPr spc="-40" dirty="0"/>
              <a:t> </a:t>
            </a:r>
            <a:r>
              <a:rPr spc="-20" dirty="0"/>
              <a:t>world???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976630"/>
            <a:ext cx="8072755" cy="5086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10" dirty="0">
                <a:latin typeface="Perpetua"/>
                <a:cs typeface="Perpetua"/>
              </a:rPr>
              <a:t>risk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5" dirty="0">
                <a:latin typeface="Perpetua"/>
                <a:cs typeface="Perpetua"/>
              </a:rPr>
              <a:t>uncertainty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10" dirty="0">
                <a:latin typeface="Perpetua"/>
                <a:cs typeface="Perpetua"/>
              </a:rPr>
              <a:t>inductive </a:t>
            </a:r>
            <a:r>
              <a:rPr sz="2600" spc="-5" dirty="0">
                <a:latin typeface="Perpetua"/>
                <a:cs typeface="Perpetua"/>
              </a:rPr>
              <a:t>reasoning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15" dirty="0">
                <a:latin typeface="Perpetua"/>
                <a:cs typeface="Perpetua"/>
              </a:rPr>
              <a:t>why </a:t>
            </a:r>
            <a:r>
              <a:rPr sz="2600" spc="5" dirty="0">
                <a:latin typeface="Perpetua"/>
                <a:cs typeface="Perpetua"/>
              </a:rPr>
              <a:t>crime  </a:t>
            </a:r>
            <a:r>
              <a:rPr sz="2600" dirty="0">
                <a:latin typeface="Perpetua"/>
                <a:cs typeface="Perpetua"/>
              </a:rPr>
              <a:t>scene </a:t>
            </a:r>
            <a:r>
              <a:rPr sz="2600" spc="-10" dirty="0">
                <a:latin typeface="Perpetua"/>
                <a:cs typeface="Perpetua"/>
              </a:rPr>
              <a:t>investigators </a:t>
            </a:r>
            <a:r>
              <a:rPr sz="2600" spc="-5" dirty="0">
                <a:latin typeface="Perpetua"/>
                <a:cs typeface="Perpetua"/>
              </a:rPr>
              <a:t>must </a:t>
            </a:r>
            <a:r>
              <a:rPr sz="2600" spc="-10" dirty="0">
                <a:latin typeface="Perpetua"/>
                <a:cs typeface="Perpetua"/>
              </a:rPr>
              <a:t>ensure that they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10" dirty="0">
                <a:latin typeface="Perpetua"/>
                <a:cs typeface="Perpetua"/>
              </a:rPr>
              <a:t>gathered </a:t>
            </a:r>
            <a:r>
              <a:rPr sz="2600" spc="-20" dirty="0">
                <a:latin typeface="Perpetua"/>
                <a:cs typeface="Perpetua"/>
              </a:rPr>
              <a:t>many  </a:t>
            </a:r>
            <a:r>
              <a:rPr sz="2600" spc="5" dirty="0">
                <a:latin typeface="Perpetua"/>
                <a:cs typeface="Perpetua"/>
              </a:rPr>
              <a:t>observations </a:t>
            </a:r>
            <a:r>
              <a:rPr sz="2600" spc="-5" dirty="0">
                <a:latin typeface="Perpetua"/>
                <a:cs typeface="Perpetua"/>
              </a:rPr>
              <a:t>(evidence) before </a:t>
            </a:r>
            <a:r>
              <a:rPr sz="2600" spc="-15" dirty="0">
                <a:latin typeface="Perpetua"/>
                <a:cs typeface="Perpetua"/>
              </a:rPr>
              <a:t>drawing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conclusion</a:t>
            </a:r>
            <a:endParaRPr sz="26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60" dirty="0">
                <a:latin typeface="Perpetua"/>
                <a:cs typeface="Perpetua"/>
              </a:rPr>
              <a:t>However, </a:t>
            </a:r>
            <a:r>
              <a:rPr sz="2600" spc="-45" dirty="0">
                <a:latin typeface="Perpetua"/>
                <a:cs typeface="Perpetua"/>
              </a:rPr>
              <a:t>here’s </a:t>
            </a:r>
            <a:r>
              <a:rPr sz="2600" dirty="0">
                <a:latin typeface="Perpetua"/>
                <a:cs typeface="Perpetua"/>
              </a:rPr>
              <a:t>something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interesting</a:t>
            </a:r>
            <a:endParaRPr sz="2600">
              <a:latin typeface="Perpetua"/>
              <a:cs typeface="Perpetua"/>
            </a:endParaRPr>
          </a:p>
          <a:p>
            <a:pPr marL="561340" marR="300990" lvl="1" indent="-229235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600" spc="-5" dirty="0">
                <a:latin typeface="Perpetua"/>
                <a:cs typeface="Perpetua"/>
              </a:rPr>
              <a:t>Once </a:t>
            </a:r>
            <a:r>
              <a:rPr sz="2600" spc="-50" dirty="0">
                <a:latin typeface="Perpetua"/>
                <a:cs typeface="Perpetua"/>
              </a:rPr>
              <a:t>CSI’s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dirty="0">
                <a:latin typeface="Perpetua"/>
                <a:cs typeface="Perpetua"/>
              </a:rPr>
              <a:t>biological </a:t>
            </a:r>
            <a:r>
              <a:rPr sz="2600" spc="-10" dirty="0">
                <a:latin typeface="Perpetua"/>
                <a:cs typeface="Perpetua"/>
              </a:rPr>
              <a:t>evidence </a:t>
            </a:r>
            <a:r>
              <a:rPr sz="2600" dirty="0">
                <a:latin typeface="Perpetua"/>
                <a:cs typeface="Perpetua"/>
              </a:rPr>
              <a:t>of a </a:t>
            </a:r>
            <a:r>
              <a:rPr sz="2600" spc="5" dirty="0">
                <a:latin typeface="Perpetua"/>
                <a:cs typeface="Perpetua"/>
              </a:rPr>
              <a:t>person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scene,  they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dirty="0">
                <a:latin typeface="Perpetua"/>
                <a:cs typeface="Perpetua"/>
              </a:rPr>
              <a:t>switch </a:t>
            </a:r>
            <a:r>
              <a:rPr sz="2600" spc="10" dirty="0">
                <a:latin typeface="Perpetua"/>
                <a:cs typeface="Perpetua"/>
              </a:rPr>
              <a:t>back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10" dirty="0">
                <a:latin typeface="Perpetua"/>
                <a:cs typeface="Perpetua"/>
              </a:rPr>
              <a:t>deductive</a:t>
            </a:r>
            <a:r>
              <a:rPr sz="2600" spc="-5" dirty="0">
                <a:latin typeface="Perpetua"/>
                <a:cs typeface="Perpetua"/>
              </a:rPr>
              <a:t> reasoning</a:t>
            </a:r>
            <a:endParaRPr sz="2600">
              <a:latin typeface="Perpetua"/>
              <a:cs typeface="Perpetua"/>
            </a:endParaRPr>
          </a:p>
          <a:p>
            <a:pPr marL="561340" marR="208279" lvl="1" indent="-229235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635635" algn="l"/>
                <a:tab pos="636905" algn="l"/>
              </a:tabLst>
            </a:pPr>
            <a:r>
              <a:rPr dirty="0"/>
              <a:t>	</a:t>
            </a:r>
            <a:r>
              <a:rPr sz="2600" dirty="0">
                <a:latin typeface="Perpetua"/>
                <a:cs typeface="Perpetua"/>
              </a:rPr>
              <a:t>If it is a </a:t>
            </a:r>
            <a:r>
              <a:rPr sz="2600" spc="-15" dirty="0">
                <a:latin typeface="Perpetua"/>
                <a:cs typeface="Perpetua"/>
              </a:rPr>
              <a:t>known </a:t>
            </a:r>
            <a:r>
              <a:rPr sz="2600" spc="-10" dirty="0">
                <a:latin typeface="Perpetua"/>
                <a:cs typeface="Perpetua"/>
              </a:rPr>
              <a:t>fact that </a:t>
            </a:r>
            <a:r>
              <a:rPr sz="2600" spc="-30" dirty="0">
                <a:latin typeface="Perpetua"/>
                <a:cs typeface="Perpetua"/>
              </a:rPr>
              <a:t>someone’s </a:t>
            </a:r>
            <a:r>
              <a:rPr sz="2600" spc="5" dirty="0">
                <a:latin typeface="Perpetua"/>
                <a:cs typeface="Perpetua"/>
              </a:rPr>
              <a:t>fingerprints </a:t>
            </a:r>
            <a:r>
              <a:rPr sz="2600" dirty="0">
                <a:latin typeface="Perpetua"/>
                <a:cs typeface="Perpetua"/>
              </a:rPr>
              <a:t>or DNA  </a:t>
            </a:r>
            <a:r>
              <a:rPr sz="2600" spc="-5" dirty="0">
                <a:latin typeface="Perpetua"/>
                <a:cs typeface="Perpetua"/>
              </a:rPr>
              <a:t>identify </a:t>
            </a:r>
            <a:r>
              <a:rPr sz="2600" dirty="0">
                <a:latin typeface="Perpetua"/>
                <a:cs typeface="Perpetua"/>
              </a:rPr>
              <a:t>him or </a:t>
            </a:r>
            <a:r>
              <a:rPr sz="2600" spc="-55" dirty="0">
                <a:latin typeface="Perpetua"/>
                <a:cs typeface="Perpetua"/>
              </a:rPr>
              <a:t>her, </a:t>
            </a:r>
            <a:r>
              <a:rPr sz="2600" dirty="0">
                <a:latin typeface="Perpetua"/>
                <a:cs typeface="Perpetua"/>
              </a:rPr>
              <a:t>then it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dirty="0">
                <a:latin typeface="Perpetua"/>
                <a:cs typeface="Perpetua"/>
              </a:rPr>
              <a:t>be </a:t>
            </a:r>
            <a:r>
              <a:rPr sz="2600" spc="-5" dirty="0">
                <a:latin typeface="Perpetua"/>
                <a:cs typeface="Perpetua"/>
              </a:rPr>
              <a:t>deduced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5" dirty="0">
                <a:latin typeface="Perpetua"/>
                <a:cs typeface="Perpetua"/>
              </a:rPr>
              <a:t>fingerprint </a:t>
            </a:r>
            <a:r>
              <a:rPr sz="2600" dirty="0">
                <a:latin typeface="Perpetua"/>
                <a:cs typeface="Perpetua"/>
              </a:rPr>
              <a:t>or  DNA </a:t>
            </a:r>
            <a:r>
              <a:rPr sz="2600" spc="-10" dirty="0">
                <a:latin typeface="Perpetua"/>
                <a:cs typeface="Perpetua"/>
              </a:rPr>
              <a:t>evidence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scene </a:t>
            </a:r>
            <a:r>
              <a:rPr sz="2600" spc="-30" dirty="0">
                <a:latin typeface="Perpetua"/>
                <a:cs typeface="Perpetua"/>
              </a:rPr>
              <a:t>proves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person </a:t>
            </a:r>
            <a:r>
              <a:rPr sz="2600" spc="-10" dirty="0">
                <a:latin typeface="Perpetua"/>
                <a:cs typeface="Perpetua"/>
              </a:rPr>
              <a:t>was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there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550">
              <a:latin typeface="Times New Roman"/>
              <a:cs typeface="Times New Roman"/>
            </a:endParaRPr>
          </a:p>
          <a:p>
            <a:pPr marL="286385" marR="854710" indent="-274320">
              <a:lnSpc>
                <a:spcPct val="100000"/>
              </a:lnSpc>
              <a:spcBef>
                <a:spcPts val="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So </a:t>
            </a:r>
            <a:r>
              <a:rPr sz="2600" spc="-45" dirty="0">
                <a:latin typeface="Perpetua"/>
                <a:cs typeface="Perpetua"/>
              </a:rPr>
              <a:t>that’s </a:t>
            </a:r>
            <a:r>
              <a:rPr sz="2600" dirty="0">
                <a:latin typeface="Perpetua"/>
                <a:cs typeface="Perpetua"/>
              </a:rPr>
              <a:t>it. </a:t>
            </a:r>
            <a:r>
              <a:rPr sz="2600" spc="-5" dirty="0">
                <a:latin typeface="Perpetua"/>
                <a:cs typeface="Perpetua"/>
              </a:rPr>
              <a:t>Deductive and </a:t>
            </a:r>
            <a:r>
              <a:rPr sz="2600" spc="-10" dirty="0">
                <a:latin typeface="Perpetua"/>
                <a:cs typeface="Perpetua"/>
              </a:rPr>
              <a:t>inductive.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10" dirty="0">
                <a:latin typeface="Perpetua"/>
                <a:cs typeface="Perpetua"/>
              </a:rPr>
              <a:t>takes </a:t>
            </a:r>
            <a:r>
              <a:rPr sz="2600" dirty="0">
                <a:latin typeface="Perpetua"/>
                <a:cs typeface="Perpetua"/>
              </a:rPr>
              <a:t>both types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  reasoning help us </a:t>
            </a:r>
            <a:r>
              <a:rPr sz="2600" spc="-35" dirty="0">
                <a:latin typeface="Perpetua"/>
                <a:cs typeface="Perpetua"/>
              </a:rPr>
              <a:t>move </a:t>
            </a:r>
            <a:r>
              <a:rPr sz="2600" spc="-5" dirty="0">
                <a:latin typeface="Perpetua"/>
                <a:cs typeface="Perpetua"/>
              </a:rPr>
              <a:t>around </a:t>
            </a:r>
            <a:r>
              <a:rPr sz="2600" dirty="0">
                <a:latin typeface="Perpetua"/>
                <a:cs typeface="Perpetua"/>
              </a:rPr>
              <a:t>this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world.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7546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A</a:t>
            </a:r>
            <a:r>
              <a:rPr sz="4000" spc="-50" dirty="0"/>
              <a:t> </a:t>
            </a:r>
            <a:r>
              <a:rPr sz="4000" spc="-15" dirty="0"/>
              <a:t>conversation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357325"/>
            <a:ext cx="8072120" cy="48437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Adham</a:t>
            </a:r>
            <a:r>
              <a:rPr sz="2600" spc="-5" dirty="0">
                <a:latin typeface="Perpetua"/>
                <a:cs typeface="Perpetua"/>
              </a:rPr>
              <a:t>: </a:t>
            </a:r>
            <a:r>
              <a:rPr sz="2600" spc="-15" dirty="0">
                <a:latin typeface="Perpetua"/>
                <a:cs typeface="Perpetua"/>
              </a:rPr>
              <a:t>I've </a:t>
            </a:r>
            <a:r>
              <a:rPr sz="2600" spc="-5" dirty="0">
                <a:latin typeface="Perpetua"/>
                <a:cs typeface="Perpetua"/>
              </a:rPr>
              <a:t>noticed </a:t>
            </a:r>
            <a:r>
              <a:rPr sz="2600" spc="-15" dirty="0">
                <a:latin typeface="Perpetua"/>
                <a:cs typeface="Perpetua"/>
              </a:rPr>
              <a:t>previously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15" dirty="0">
                <a:latin typeface="Perpetua"/>
                <a:cs typeface="Perpetua"/>
              </a:rPr>
              <a:t>every </a:t>
            </a:r>
            <a:r>
              <a:rPr sz="2600" dirty="0">
                <a:latin typeface="Perpetua"/>
                <a:cs typeface="Perpetua"/>
              </a:rPr>
              <a:t>time I </a:t>
            </a:r>
            <a:r>
              <a:rPr sz="2600" spc="10" dirty="0">
                <a:latin typeface="Perpetua"/>
                <a:cs typeface="Perpetua"/>
              </a:rPr>
              <a:t>kick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ball </a:t>
            </a:r>
            <a:r>
              <a:rPr sz="2600" spc="-20" dirty="0">
                <a:latin typeface="Perpetua"/>
                <a:cs typeface="Perpetua"/>
              </a:rPr>
              <a:t>up, </a:t>
            </a:r>
            <a:r>
              <a:rPr sz="2600" spc="5" dirty="0">
                <a:latin typeface="Perpetua"/>
                <a:cs typeface="Perpetua"/>
              </a:rPr>
              <a:t>it  </a:t>
            </a:r>
            <a:r>
              <a:rPr sz="2600" dirty="0">
                <a:latin typeface="Perpetua"/>
                <a:cs typeface="Perpetua"/>
              </a:rPr>
              <a:t>comes </a:t>
            </a:r>
            <a:r>
              <a:rPr sz="2600" spc="5" dirty="0">
                <a:latin typeface="Perpetua"/>
                <a:cs typeface="Perpetua"/>
              </a:rPr>
              <a:t>back </a:t>
            </a:r>
            <a:r>
              <a:rPr sz="2600" spc="-20" dirty="0">
                <a:latin typeface="Perpetua"/>
                <a:cs typeface="Perpetua"/>
              </a:rPr>
              <a:t>down, </a:t>
            </a:r>
            <a:r>
              <a:rPr sz="2600" dirty="0">
                <a:latin typeface="Perpetua"/>
                <a:cs typeface="Perpetua"/>
              </a:rPr>
              <a:t>so I guess this </a:t>
            </a:r>
            <a:r>
              <a:rPr sz="2600" spc="-10" dirty="0">
                <a:latin typeface="Perpetua"/>
                <a:cs typeface="Perpetua"/>
              </a:rPr>
              <a:t>next </a:t>
            </a:r>
            <a:r>
              <a:rPr sz="2600" dirty="0">
                <a:latin typeface="Perpetua"/>
                <a:cs typeface="Perpetua"/>
              </a:rPr>
              <a:t>time when I </a:t>
            </a:r>
            <a:r>
              <a:rPr sz="2600" spc="10" dirty="0">
                <a:latin typeface="Perpetua"/>
                <a:cs typeface="Perpetua"/>
              </a:rPr>
              <a:t>kick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20" dirty="0">
                <a:latin typeface="Perpetua"/>
                <a:cs typeface="Perpetua"/>
              </a:rPr>
              <a:t>up, </a:t>
            </a:r>
            <a:r>
              <a:rPr sz="2600" spc="5" dirty="0">
                <a:latin typeface="Perpetua"/>
                <a:cs typeface="Perpetua"/>
              </a:rPr>
              <a:t>it  </a:t>
            </a:r>
            <a:r>
              <a:rPr sz="2600" dirty="0">
                <a:latin typeface="Perpetua"/>
                <a:cs typeface="Perpetua"/>
              </a:rPr>
              <a:t>will </a:t>
            </a:r>
            <a:r>
              <a:rPr sz="2600" spc="-5" dirty="0">
                <a:latin typeface="Perpetua"/>
                <a:cs typeface="Perpetua"/>
              </a:rPr>
              <a:t>come </a:t>
            </a:r>
            <a:r>
              <a:rPr sz="2600" spc="5" dirty="0">
                <a:latin typeface="Perpetua"/>
                <a:cs typeface="Perpetua"/>
              </a:rPr>
              <a:t>back </a:t>
            </a:r>
            <a:r>
              <a:rPr sz="2600" spc="-15" dirty="0">
                <a:latin typeface="Perpetua"/>
                <a:cs typeface="Perpetua"/>
              </a:rPr>
              <a:t>down,</a:t>
            </a:r>
            <a:r>
              <a:rPr sz="2600" spc="-1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too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i="1" spc="10" dirty="0">
                <a:latin typeface="Perpetua"/>
                <a:cs typeface="Perpetua"/>
              </a:rPr>
              <a:t>Rizik</a:t>
            </a:r>
            <a:r>
              <a:rPr sz="2600" spc="10" dirty="0">
                <a:latin typeface="Perpetua"/>
                <a:cs typeface="Perpetua"/>
              </a:rPr>
              <a:t>:That's </a:t>
            </a:r>
            <a:r>
              <a:rPr sz="2600" spc="-10" dirty="0">
                <a:latin typeface="Perpetua"/>
                <a:cs typeface="Perpetua"/>
              </a:rPr>
              <a:t>Newton's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30" dirty="0">
                <a:latin typeface="Perpetua"/>
                <a:cs typeface="Perpetua"/>
              </a:rPr>
              <a:t>Law</a:t>
            </a:r>
            <a:endParaRPr sz="2600">
              <a:latin typeface="Perpetua"/>
              <a:cs typeface="Perpetua"/>
            </a:endParaRPr>
          </a:p>
          <a:p>
            <a:pPr marL="311150">
              <a:lnSpc>
                <a:spcPct val="100000"/>
              </a:lnSpc>
              <a:spcBef>
                <a:spcPts val="600"/>
              </a:spcBef>
            </a:pPr>
            <a:r>
              <a:rPr sz="2600" spc="-5" dirty="0">
                <a:latin typeface="Perpetua"/>
                <a:cs typeface="Perpetua"/>
              </a:rPr>
              <a:t>Everything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goes </a:t>
            </a:r>
            <a:r>
              <a:rPr sz="2600" spc="-5" dirty="0">
                <a:latin typeface="Perpetua"/>
                <a:cs typeface="Perpetua"/>
              </a:rPr>
              <a:t>up must come</a:t>
            </a:r>
            <a:r>
              <a:rPr sz="2600" spc="-20" dirty="0">
                <a:latin typeface="Perpetua"/>
                <a:cs typeface="Perpetua"/>
              </a:rPr>
              <a:t> down</a:t>
            </a:r>
            <a:endParaRPr sz="26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600"/>
              </a:spcBef>
            </a:pP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20" dirty="0">
                <a:latin typeface="Perpetua"/>
                <a:cs typeface="Perpetua"/>
              </a:rPr>
              <a:t>so, </a:t>
            </a:r>
            <a:r>
              <a:rPr sz="2600" dirty="0">
                <a:latin typeface="Perpetua"/>
                <a:cs typeface="Perpetua"/>
              </a:rPr>
              <a:t>if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10" dirty="0">
                <a:latin typeface="Perpetua"/>
                <a:cs typeface="Perpetua"/>
              </a:rPr>
              <a:t>kick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ball </a:t>
            </a:r>
            <a:r>
              <a:rPr sz="2600" spc="-20" dirty="0">
                <a:latin typeface="Perpetua"/>
                <a:cs typeface="Perpetua"/>
              </a:rPr>
              <a:t>up,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5" dirty="0">
                <a:latin typeface="Perpetua"/>
                <a:cs typeface="Perpetua"/>
              </a:rPr>
              <a:t>must come</a:t>
            </a:r>
            <a:r>
              <a:rPr sz="2600" spc="-19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down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5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ct val="100000"/>
              </a:lnSpc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Adham</a:t>
            </a:r>
            <a:r>
              <a:rPr sz="2600" spc="-5" dirty="0">
                <a:latin typeface="Perpetua"/>
                <a:cs typeface="Perpetua"/>
              </a:rPr>
              <a:t>: </a:t>
            </a:r>
            <a:r>
              <a:rPr sz="2600" spc="-15" dirty="0">
                <a:latin typeface="Perpetua"/>
                <a:cs typeface="Perpetua"/>
              </a:rPr>
              <a:t>I've </a:t>
            </a:r>
            <a:r>
              <a:rPr sz="2600" spc="-5" dirty="0">
                <a:latin typeface="Perpetua"/>
                <a:cs typeface="Perpetua"/>
              </a:rPr>
              <a:t>noticed </a:t>
            </a:r>
            <a:r>
              <a:rPr sz="2600" spc="-15" dirty="0">
                <a:latin typeface="Perpetua"/>
                <a:cs typeface="Perpetua"/>
              </a:rPr>
              <a:t>previously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15" dirty="0">
                <a:latin typeface="Perpetua"/>
                <a:cs typeface="Perpetua"/>
              </a:rPr>
              <a:t>every </a:t>
            </a:r>
            <a:r>
              <a:rPr sz="2600" dirty="0">
                <a:latin typeface="Perpetua"/>
                <a:cs typeface="Perpetua"/>
              </a:rPr>
              <a:t>time I </a:t>
            </a:r>
            <a:r>
              <a:rPr sz="2600" spc="10" dirty="0">
                <a:latin typeface="Perpetua"/>
                <a:cs typeface="Perpetua"/>
              </a:rPr>
              <a:t>kick </a:t>
            </a:r>
            <a:r>
              <a:rPr sz="2600" dirty="0">
                <a:latin typeface="Perpetua"/>
                <a:cs typeface="Perpetua"/>
              </a:rPr>
              <a:t>a ball </a:t>
            </a:r>
            <a:r>
              <a:rPr sz="2600" spc="-20" dirty="0">
                <a:latin typeface="Perpetua"/>
                <a:cs typeface="Perpetua"/>
              </a:rPr>
              <a:t>up, </a:t>
            </a:r>
            <a:r>
              <a:rPr sz="2600" spc="5" dirty="0">
                <a:latin typeface="Perpetua"/>
                <a:cs typeface="Perpetua"/>
              </a:rPr>
              <a:t>it  </a:t>
            </a:r>
            <a:r>
              <a:rPr sz="2600" spc="-5" dirty="0">
                <a:latin typeface="Perpetua"/>
                <a:cs typeface="Perpetua"/>
              </a:rPr>
              <a:t>comes </a:t>
            </a:r>
            <a:r>
              <a:rPr sz="2600" spc="10" dirty="0">
                <a:latin typeface="Perpetua"/>
                <a:cs typeface="Perpetua"/>
              </a:rPr>
              <a:t>back </a:t>
            </a:r>
            <a:r>
              <a:rPr sz="2600" spc="-15" dirty="0">
                <a:latin typeface="Perpetua"/>
                <a:cs typeface="Perpetua"/>
              </a:rPr>
              <a:t>down, </a:t>
            </a:r>
            <a:r>
              <a:rPr sz="2600" dirty="0">
                <a:latin typeface="Perpetua"/>
                <a:cs typeface="Perpetua"/>
              </a:rPr>
              <a:t>so I guess this </a:t>
            </a:r>
            <a:r>
              <a:rPr sz="2600" spc="-10" dirty="0">
                <a:latin typeface="Perpetua"/>
                <a:cs typeface="Perpetua"/>
              </a:rPr>
              <a:t>next </a:t>
            </a:r>
            <a:r>
              <a:rPr sz="2600" dirty="0">
                <a:latin typeface="Perpetua"/>
                <a:cs typeface="Perpetua"/>
              </a:rPr>
              <a:t>time when I </a:t>
            </a:r>
            <a:r>
              <a:rPr sz="2600" spc="10" dirty="0">
                <a:latin typeface="Perpetua"/>
                <a:cs typeface="Perpetua"/>
              </a:rPr>
              <a:t>kick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20" dirty="0">
                <a:latin typeface="Perpetua"/>
                <a:cs typeface="Perpetua"/>
              </a:rPr>
              <a:t>up, </a:t>
            </a:r>
            <a:r>
              <a:rPr sz="2600" spc="5" dirty="0">
                <a:latin typeface="Perpetua"/>
                <a:cs typeface="Perpetua"/>
              </a:rPr>
              <a:t>it  </a:t>
            </a:r>
            <a:r>
              <a:rPr sz="2600" dirty="0">
                <a:latin typeface="Perpetua"/>
                <a:cs typeface="Perpetua"/>
              </a:rPr>
              <a:t>will </a:t>
            </a:r>
            <a:r>
              <a:rPr sz="2600" spc="-5" dirty="0">
                <a:latin typeface="Perpetua"/>
                <a:cs typeface="Perpetua"/>
              </a:rPr>
              <a:t>come </a:t>
            </a:r>
            <a:r>
              <a:rPr sz="2600" spc="5" dirty="0">
                <a:latin typeface="Perpetua"/>
                <a:cs typeface="Perpetua"/>
              </a:rPr>
              <a:t>back </a:t>
            </a:r>
            <a:r>
              <a:rPr sz="2600" spc="-15" dirty="0">
                <a:latin typeface="Perpetua"/>
                <a:cs typeface="Perpetua"/>
              </a:rPr>
              <a:t>down,</a:t>
            </a:r>
            <a:r>
              <a:rPr sz="2600" spc="-1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too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19600" y="304800"/>
            <a:ext cx="4172711" cy="8366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0254" y="1220470"/>
            <a:ext cx="78422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C00000"/>
                </a:solidFill>
                <a:latin typeface="Perpetua"/>
                <a:cs typeface="Perpetua"/>
              </a:rPr>
              <a:t>using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47998" y="1220470"/>
            <a:ext cx="120269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induct</a:t>
            </a:r>
            <a:r>
              <a:rPr sz="2600" b="1" i="1" spc="-45" dirty="0">
                <a:solidFill>
                  <a:srgbClr val="C00000"/>
                </a:solidFill>
                <a:latin typeface="Perpetua"/>
                <a:cs typeface="Perpetua"/>
              </a:rPr>
              <a:t>iv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e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74716" y="1220470"/>
            <a:ext cx="137795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reasoning</a:t>
            </a:r>
            <a:r>
              <a:rPr sz="2600" b="1" spc="-10" dirty="0">
                <a:solidFill>
                  <a:srgbClr val="C00000"/>
                </a:solidFill>
                <a:latin typeface="Perpetua"/>
                <a:cs typeface="Perpetua"/>
              </a:rPr>
              <a:t>,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63106" y="1220470"/>
            <a:ext cx="111633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C00000"/>
                </a:solidFill>
                <a:latin typeface="Perpetua"/>
                <a:cs typeface="Perpetua"/>
              </a:rPr>
              <a:t>argu</a:t>
            </a:r>
            <a:r>
              <a:rPr sz="2600" b="1" spc="-10" dirty="0">
                <a:solidFill>
                  <a:srgbClr val="C00000"/>
                </a:solidFill>
                <a:latin typeface="Perpetua"/>
                <a:cs typeface="Perpetua"/>
              </a:rPr>
              <a:t>i</a:t>
            </a:r>
            <a:r>
              <a:rPr sz="2600" b="1" dirty="0">
                <a:solidFill>
                  <a:srgbClr val="C00000"/>
                </a:solidFill>
                <a:latin typeface="Perpetua"/>
                <a:cs typeface="Perpetua"/>
              </a:rPr>
              <a:t>ng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04226" y="1220470"/>
            <a:ext cx="70485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spc="-15" dirty="0">
                <a:solidFill>
                  <a:srgbClr val="C00000"/>
                </a:solidFill>
                <a:latin typeface="Perpetua"/>
                <a:cs typeface="Perpetua"/>
              </a:rPr>
              <a:t>fr</a:t>
            </a:r>
            <a:r>
              <a:rPr sz="2600" b="1" dirty="0">
                <a:solidFill>
                  <a:srgbClr val="C00000"/>
                </a:solidFill>
                <a:latin typeface="Perpetua"/>
                <a:cs typeface="Perpetua"/>
              </a:rPr>
              <a:t>om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1220470"/>
            <a:ext cx="1967864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Wingdings"/>
              <a:buChar char=""/>
              <a:tabLst>
                <a:tab pos="287020" algn="l"/>
                <a:tab pos="1548765" algn="l"/>
              </a:tabLst>
            </a:pPr>
            <a:r>
              <a:rPr sz="2600" b="1" dirty="0">
                <a:solidFill>
                  <a:srgbClr val="C00000"/>
                </a:solidFill>
                <a:latin typeface="Perpetua"/>
                <a:cs typeface="Perpetua"/>
              </a:rPr>
              <a:t>Adham	</a:t>
            </a:r>
            <a:r>
              <a:rPr sz="2600" b="1" spc="-5" dirty="0">
                <a:solidFill>
                  <a:srgbClr val="C00000"/>
                </a:solidFill>
                <a:latin typeface="Perpetua"/>
                <a:cs typeface="Perpetua"/>
              </a:rPr>
              <a:t>is  </a:t>
            </a:r>
            <a:r>
              <a:rPr sz="2600" b="1" dirty="0">
                <a:solidFill>
                  <a:srgbClr val="C00000"/>
                </a:solidFill>
                <a:latin typeface="Perpetua"/>
                <a:cs typeface="Perpetua"/>
              </a:rPr>
              <a:t>o</a:t>
            </a:r>
            <a:r>
              <a:rPr sz="2600" b="1" spc="5" dirty="0">
                <a:solidFill>
                  <a:srgbClr val="C00000"/>
                </a:solidFill>
                <a:latin typeface="Perpetua"/>
                <a:cs typeface="Perpetua"/>
              </a:rPr>
              <a:t>b</a:t>
            </a:r>
            <a:r>
              <a:rPr sz="2600" b="1" spc="-5" dirty="0">
                <a:solidFill>
                  <a:srgbClr val="C00000"/>
                </a:solidFill>
                <a:latin typeface="Perpetua"/>
                <a:cs typeface="Perpetua"/>
              </a:rPr>
              <a:t>se</a:t>
            </a:r>
            <a:r>
              <a:rPr sz="2600" b="1" spc="55" dirty="0">
                <a:solidFill>
                  <a:srgbClr val="C00000"/>
                </a:solidFill>
                <a:latin typeface="Perpetua"/>
                <a:cs typeface="Perpetua"/>
              </a:rPr>
              <a:t>r</a:t>
            </a:r>
            <a:r>
              <a:rPr sz="2600" b="1" spc="-30" dirty="0">
                <a:solidFill>
                  <a:srgbClr val="C00000"/>
                </a:solidFill>
                <a:latin typeface="Perpetua"/>
                <a:cs typeface="Perpetua"/>
              </a:rPr>
              <a:t>va</a:t>
            </a:r>
            <a:r>
              <a:rPr sz="2600" b="1" spc="-5" dirty="0">
                <a:solidFill>
                  <a:srgbClr val="C00000"/>
                </a:solidFill>
                <a:latin typeface="Perpetua"/>
                <a:cs typeface="Perpetua"/>
              </a:rPr>
              <a:t>ti</a:t>
            </a:r>
            <a:r>
              <a:rPr sz="2600" b="1" dirty="0">
                <a:solidFill>
                  <a:srgbClr val="C00000"/>
                </a:solidFill>
                <a:latin typeface="Perpetua"/>
                <a:cs typeface="Perpetua"/>
              </a:rPr>
              <a:t>on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i="1" spc="10" dirty="0">
                <a:latin typeface="Perpetua"/>
                <a:cs typeface="Perpetua"/>
              </a:rPr>
              <a:t>Rizik</a:t>
            </a:r>
            <a:r>
              <a:rPr spc="10" dirty="0"/>
              <a:t>:That's </a:t>
            </a:r>
            <a:r>
              <a:rPr spc="-10" dirty="0"/>
              <a:t>Newton's</a:t>
            </a:r>
            <a:r>
              <a:rPr spc="-40" dirty="0"/>
              <a:t> </a:t>
            </a:r>
            <a:r>
              <a:rPr spc="-30" dirty="0"/>
              <a:t>Law</a:t>
            </a:r>
          </a:p>
          <a:p>
            <a:pPr marL="311150">
              <a:lnSpc>
                <a:spcPct val="100000"/>
              </a:lnSpc>
              <a:spcBef>
                <a:spcPts val="600"/>
              </a:spcBef>
            </a:pPr>
            <a:r>
              <a:rPr spc="-5" dirty="0"/>
              <a:t>Everything </a:t>
            </a:r>
            <a:r>
              <a:rPr spc="-10" dirty="0"/>
              <a:t>that </a:t>
            </a:r>
            <a:r>
              <a:rPr dirty="0"/>
              <a:t>goes </a:t>
            </a:r>
            <a:r>
              <a:rPr spc="-5" dirty="0"/>
              <a:t>up must come</a:t>
            </a:r>
            <a:r>
              <a:rPr spc="-20" dirty="0"/>
              <a:t> down</a:t>
            </a:r>
          </a:p>
          <a:p>
            <a:pPr marL="286385">
              <a:lnSpc>
                <a:spcPct val="100000"/>
              </a:lnSpc>
              <a:spcBef>
                <a:spcPts val="600"/>
              </a:spcBef>
            </a:pPr>
            <a:r>
              <a:rPr spc="-5" dirty="0"/>
              <a:t>And </a:t>
            </a:r>
            <a:r>
              <a:rPr spc="-20" dirty="0"/>
              <a:t>so, </a:t>
            </a:r>
            <a:r>
              <a:rPr dirty="0"/>
              <a:t>if </a:t>
            </a:r>
            <a:r>
              <a:rPr spc="-15" dirty="0"/>
              <a:t>you </a:t>
            </a:r>
            <a:r>
              <a:rPr spc="10" dirty="0"/>
              <a:t>kick </a:t>
            </a:r>
            <a:r>
              <a:rPr dirty="0"/>
              <a:t>the ball </a:t>
            </a:r>
            <a:r>
              <a:rPr spc="-20" dirty="0"/>
              <a:t>up, </a:t>
            </a:r>
            <a:r>
              <a:rPr dirty="0"/>
              <a:t>it </a:t>
            </a:r>
            <a:r>
              <a:rPr spc="-5" dirty="0"/>
              <a:t>must come</a:t>
            </a:r>
            <a:r>
              <a:rPr spc="-190" dirty="0"/>
              <a:t> </a:t>
            </a:r>
            <a:r>
              <a:rPr spc="-20" dirty="0"/>
              <a:t>down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5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b="1" spc="-5" dirty="0">
                <a:solidFill>
                  <a:srgbClr val="C00000"/>
                </a:solidFill>
                <a:latin typeface="Perpetua"/>
                <a:cs typeface="Perpetua"/>
              </a:rPr>
              <a:t>Rizik is </a:t>
            </a:r>
            <a:r>
              <a:rPr b="1" dirty="0">
                <a:solidFill>
                  <a:srgbClr val="C00000"/>
                </a:solidFill>
                <a:latin typeface="Perpetua"/>
                <a:cs typeface="Perpetua"/>
              </a:rPr>
              <a:t>using </a:t>
            </a:r>
            <a:r>
              <a:rPr b="1" i="1" spc="-15" dirty="0">
                <a:solidFill>
                  <a:srgbClr val="C00000"/>
                </a:solidFill>
                <a:latin typeface="Perpetua"/>
                <a:cs typeface="Perpetua"/>
              </a:rPr>
              <a:t>deductive </a:t>
            </a:r>
            <a:r>
              <a:rPr b="1" i="1" spc="-10" dirty="0">
                <a:solidFill>
                  <a:srgbClr val="C00000"/>
                </a:solidFill>
                <a:latin typeface="Perpetua"/>
                <a:cs typeface="Perpetua"/>
              </a:rPr>
              <a:t>reasoning</a:t>
            </a:r>
            <a:r>
              <a:rPr b="1" spc="-10" dirty="0">
                <a:solidFill>
                  <a:srgbClr val="C00000"/>
                </a:solidFill>
                <a:latin typeface="Perpetua"/>
                <a:cs typeface="Perpetua"/>
              </a:rPr>
              <a:t>, </a:t>
            </a:r>
            <a:r>
              <a:rPr b="1" dirty="0">
                <a:solidFill>
                  <a:srgbClr val="C00000"/>
                </a:solidFill>
                <a:latin typeface="Perpetua"/>
                <a:cs typeface="Perpetua"/>
              </a:rPr>
              <a:t>arguing from </a:t>
            </a:r>
            <a:r>
              <a:rPr b="1" spc="-5" dirty="0">
                <a:solidFill>
                  <a:srgbClr val="C00000"/>
                </a:solidFill>
                <a:latin typeface="Perpetua"/>
                <a:cs typeface="Perpetua"/>
              </a:rPr>
              <a:t>the </a:t>
            </a:r>
            <a:r>
              <a:rPr b="1" spc="-40" dirty="0">
                <a:solidFill>
                  <a:srgbClr val="C00000"/>
                </a:solidFill>
                <a:latin typeface="Perpetua"/>
                <a:cs typeface="Perpetua"/>
              </a:rPr>
              <a:t>law </a:t>
            </a:r>
            <a:r>
              <a:rPr b="1" spc="50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b="1" dirty="0">
                <a:solidFill>
                  <a:srgbClr val="C00000"/>
                </a:solidFill>
                <a:latin typeface="Perpetua"/>
                <a:cs typeface="Perpetua"/>
              </a:rPr>
              <a:t>of</a:t>
            </a:r>
            <a:r>
              <a:rPr b="1" spc="-1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b="1" spc="-10" dirty="0">
                <a:solidFill>
                  <a:srgbClr val="C00000"/>
                </a:solidFill>
                <a:latin typeface="Perpetua"/>
                <a:cs typeface="Perpetua"/>
              </a:rPr>
              <a:t>gravity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220470"/>
            <a:ext cx="8074659" cy="3745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9525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Rizik's argument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10" dirty="0">
                <a:latin typeface="Perpetua"/>
                <a:cs typeface="Perpetua"/>
              </a:rPr>
              <a:t>clearly from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general </a:t>
            </a:r>
            <a:r>
              <a:rPr sz="2600" dirty="0">
                <a:latin typeface="Perpetua"/>
                <a:cs typeface="Perpetua"/>
              </a:rPr>
              <a:t>(the </a:t>
            </a:r>
            <a:r>
              <a:rPr sz="2600" spc="-35" dirty="0">
                <a:latin typeface="Perpetua"/>
                <a:cs typeface="Perpetua"/>
              </a:rPr>
              <a:t>law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-10" dirty="0">
                <a:latin typeface="Perpetua"/>
                <a:cs typeface="Perpetua"/>
              </a:rPr>
              <a:t>gravity) 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specific </a:t>
            </a:r>
            <a:r>
              <a:rPr sz="2600" dirty="0">
                <a:latin typeface="Perpetua"/>
                <a:cs typeface="Perpetua"/>
              </a:rPr>
              <a:t>(this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kick)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Adham's argument </a:t>
            </a:r>
            <a:r>
              <a:rPr sz="2600" spc="-35" dirty="0">
                <a:latin typeface="Perpetua"/>
                <a:cs typeface="Perpetua"/>
              </a:rPr>
              <a:t>may </a:t>
            </a:r>
            <a:r>
              <a:rPr sz="2600" spc="-5" dirty="0">
                <a:latin typeface="Perpetua"/>
                <a:cs typeface="Perpetua"/>
              </a:rPr>
              <a:t>be less </a:t>
            </a:r>
            <a:r>
              <a:rPr sz="2600" spc="-10" dirty="0">
                <a:latin typeface="Perpetua"/>
                <a:cs typeface="Perpetua"/>
              </a:rPr>
              <a:t>obviously from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specific </a:t>
            </a:r>
            <a:r>
              <a:rPr sz="2600" dirty="0">
                <a:latin typeface="Perpetua"/>
                <a:cs typeface="Perpetua"/>
              </a:rPr>
              <a:t>(each  individual </a:t>
            </a:r>
            <a:r>
              <a:rPr sz="2600" spc="-5" dirty="0">
                <a:latin typeface="Perpetua"/>
                <a:cs typeface="Perpetua"/>
              </a:rPr>
              <a:t>instance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10" dirty="0">
                <a:latin typeface="Perpetua"/>
                <a:cs typeface="Perpetua"/>
              </a:rPr>
              <a:t>which </a:t>
            </a:r>
            <a:r>
              <a:rPr sz="2600" dirty="0">
                <a:latin typeface="Perpetua"/>
                <a:cs typeface="Perpetua"/>
              </a:rPr>
              <a:t>he has </a:t>
            </a:r>
            <a:r>
              <a:rPr sz="2600" spc="5" dirty="0">
                <a:latin typeface="Perpetua"/>
                <a:cs typeface="Perpetua"/>
              </a:rPr>
              <a:t>observed </a:t>
            </a:r>
            <a:r>
              <a:rPr sz="2600" spc="-5" dirty="0">
                <a:latin typeface="Perpetua"/>
                <a:cs typeface="Perpetua"/>
              </a:rPr>
              <a:t>balls </a:t>
            </a:r>
            <a:r>
              <a:rPr sz="2600" dirty="0">
                <a:latin typeface="Perpetua"/>
                <a:cs typeface="Perpetua"/>
              </a:rPr>
              <a:t>being kicked  </a:t>
            </a:r>
            <a:r>
              <a:rPr sz="2600" spc="-5" dirty="0">
                <a:latin typeface="Perpetua"/>
                <a:cs typeface="Perpetua"/>
              </a:rPr>
              <a:t>up and coming </a:t>
            </a:r>
            <a:r>
              <a:rPr sz="2600" spc="10" dirty="0">
                <a:latin typeface="Perpetua"/>
                <a:cs typeface="Perpetua"/>
              </a:rPr>
              <a:t>back </a:t>
            </a:r>
            <a:r>
              <a:rPr sz="2600" spc="-20" dirty="0">
                <a:latin typeface="Perpetua"/>
                <a:cs typeface="Perpetua"/>
              </a:rPr>
              <a:t>down)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general </a:t>
            </a:r>
            <a:r>
              <a:rPr sz="2600" dirty="0">
                <a:latin typeface="Perpetua"/>
                <a:cs typeface="Perpetua"/>
              </a:rPr>
              <a:t>(the </a:t>
            </a:r>
            <a:r>
              <a:rPr sz="2600" spc="-5" dirty="0">
                <a:latin typeface="Perpetua"/>
                <a:cs typeface="Perpetua"/>
              </a:rPr>
              <a:t>prediction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a  similar </a:t>
            </a:r>
            <a:r>
              <a:rPr sz="2600" spc="-25" dirty="0">
                <a:latin typeface="Perpetua"/>
                <a:cs typeface="Perpetua"/>
              </a:rPr>
              <a:t>event </a:t>
            </a:r>
            <a:r>
              <a:rPr sz="2600" dirty="0">
                <a:latin typeface="Perpetua"/>
                <a:cs typeface="Perpetua"/>
              </a:rPr>
              <a:t>will </a:t>
            </a:r>
            <a:r>
              <a:rPr sz="2600" spc="-5" dirty="0">
                <a:latin typeface="Perpetua"/>
                <a:cs typeface="Perpetua"/>
              </a:rPr>
              <a:t>result </a:t>
            </a:r>
            <a:r>
              <a:rPr sz="2600" dirty="0">
                <a:latin typeface="Perpetua"/>
                <a:cs typeface="Perpetua"/>
              </a:rPr>
              <a:t>in a similar </a:t>
            </a:r>
            <a:r>
              <a:rPr sz="2600" spc="-5" dirty="0">
                <a:latin typeface="Perpetua"/>
                <a:cs typeface="Perpetua"/>
              </a:rPr>
              <a:t>outcome </a:t>
            </a:r>
            <a:r>
              <a:rPr sz="2600" spc="5" dirty="0">
                <a:latin typeface="Perpetua"/>
                <a:cs typeface="Perpetua"/>
              </a:rPr>
              <a:t>in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future)  </a:t>
            </a:r>
            <a:r>
              <a:rPr sz="2600" dirty="0">
                <a:latin typeface="Perpetua"/>
                <a:cs typeface="Perpetua"/>
              </a:rPr>
              <a:t>because he </a:t>
            </a:r>
            <a:r>
              <a:rPr sz="2600" spc="-5" dirty="0">
                <a:latin typeface="Perpetua"/>
                <a:cs typeface="Perpetua"/>
              </a:rPr>
              <a:t>has stated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5" dirty="0">
                <a:latin typeface="Perpetua"/>
                <a:cs typeface="Perpetua"/>
              </a:rPr>
              <a:t>in </a:t>
            </a:r>
            <a:r>
              <a:rPr sz="2600" spc="10" dirty="0">
                <a:latin typeface="Perpetua"/>
                <a:cs typeface="Perpetua"/>
              </a:rPr>
              <a:t>terms </a:t>
            </a:r>
            <a:r>
              <a:rPr sz="2600" spc="-15" dirty="0">
                <a:latin typeface="Perpetua"/>
                <a:cs typeface="Perpetua"/>
              </a:rPr>
              <a:t>only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i="1" dirty="0">
                <a:latin typeface="Perpetua"/>
                <a:cs typeface="Perpetua"/>
              </a:rPr>
              <a:t>next </a:t>
            </a:r>
            <a:r>
              <a:rPr sz="2600" dirty="0">
                <a:latin typeface="Perpetua"/>
                <a:cs typeface="Perpetua"/>
              </a:rPr>
              <a:t>similar </a:t>
            </a:r>
            <a:r>
              <a:rPr sz="2600" spc="-15" dirty="0">
                <a:latin typeface="Perpetua"/>
                <a:cs typeface="Perpetua"/>
              </a:rPr>
              <a:t>event-- 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next </a:t>
            </a:r>
            <a:r>
              <a:rPr sz="2600" dirty="0">
                <a:latin typeface="Perpetua"/>
                <a:cs typeface="Perpetua"/>
              </a:rPr>
              <a:t>time </a:t>
            </a:r>
            <a:r>
              <a:rPr sz="2600" spc="-5" dirty="0">
                <a:latin typeface="Perpetua"/>
                <a:cs typeface="Perpetua"/>
              </a:rPr>
              <a:t>he </a:t>
            </a:r>
            <a:r>
              <a:rPr sz="2600" spc="5" dirty="0">
                <a:latin typeface="Perpetua"/>
                <a:cs typeface="Perpetua"/>
              </a:rPr>
              <a:t>kicks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ball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49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6476491"/>
            <a:ext cx="895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7244" y="1735962"/>
            <a:ext cx="65201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Good </a:t>
            </a:r>
            <a:r>
              <a:rPr sz="2800" spc="5" dirty="0"/>
              <a:t>logical </a:t>
            </a:r>
            <a:r>
              <a:rPr sz="2800" spc="-5" dirty="0"/>
              <a:t>arguments can come in </a:t>
            </a:r>
            <a:r>
              <a:rPr sz="2800" spc="-40" dirty="0"/>
              <a:t>two</a:t>
            </a:r>
            <a:r>
              <a:rPr sz="2800" spc="15" dirty="0"/>
              <a:t> </a:t>
            </a:r>
            <a:r>
              <a:rPr sz="2800" spc="-5" dirty="0"/>
              <a:t>varieties:</a:t>
            </a:r>
            <a:endParaRPr sz="2800"/>
          </a:p>
        </p:txBody>
      </p:sp>
      <p:sp>
        <p:nvSpPr>
          <p:cNvPr id="5" name="object 5"/>
          <p:cNvSpPr txBox="1"/>
          <p:nvPr/>
        </p:nvSpPr>
        <p:spPr>
          <a:xfrm>
            <a:off x="2745994" y="2589402"/>
            <a:ext cx="489966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0" dirty="0">
                <a:latin typeface="Perpetua"/>
                <a:cs typeface="Perpetua"/>
              </a:rPr>
              <a:t>deductive</a:t>
            </a:r>
            <a:r>
              <a:rPr sz="2800" b="1" spc="-5" dirty="0">
                <a:latin typeface="Perpetua"/>
                <a:cs typeface="Perpetua"/>
              </a:rPr>
              <a:t> </a:t>
            </a:r>
            <a:r>
              <a:rPr sz="2800" b="1" spc="-10" dirty="0">
                <a:latin typeface="Perpetua"/>
                <a:cs typeface="Perpetua"/>
              </a:rPr>
              <a:t>demonstrations</a:t>
            </a:r>
            <a:endParaRPr sz="2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spc="-15" dirty="0">
                <a:latin typeface="Perpetua"/>
                <a:cs typeface="Perpetua"/>
              </a:rPr>
              <a:t>inductive </a:t>
            </a:r>
            <a:r>
              <a:rPr sz="2800" b="1" dirty="0">
                <a:latin typeface="Perpetua"/>
                <a:cs typeface="Perpetua"/>
              </a:rPr>
              <a:t>supporting</a:t>
            </a:r>
            <a:r>
              <a:rPr sz="2800" b="1" spc="-5" dirty="0">
                <a:latin typeface="Perpetua"/>
                <a:cs typeface="Perpetua"/>
              </a:rPr>
              <a:t> arguments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71800" y="228600"/>
            <a:ext cx="2877312" cy="15910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1140" y="1231138"/>
            <a:ext cx="4319270" cy="4818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latin typeface="Perpetua"/>
                <a:cs typeface="Perpetua"/>
              </a:rPr>
              <a:t>All </a:t>
            </a:r>
            <a:r>
              <a:rPr sz="2400" spc="-10" dirty="0">
                <a:latin typeface="Perpetua"/>
                <a:cs typeface="Perpetua"/>
              </a:rPr>
              <a:t>cats </a:t>
            </a:r>
            <a:r>
              <a:rPr sz="2400" spc="-35" dirty="0">
                <a:latin typeface="Perpetua"/>
                <a:cs typeface="Perpetua"/>
              </a:rPr>
              <a:t>have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spc="-55" dirty="0">
                <a:latin typeface="Perpetua"/>
                <a:cs typeface="Perpetua"/>
              </a:rPr>
              <a:t>fur.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latin typeface="Perpetua"/>
                <a:cs typeface="Perpetua"/>
              </a:rPr>
              <a:t>Xena </a:t>
            </a:r>
            <a:r>
              <a:rPr sz="2400" dirty="0">
                <a:latin typeface="Perpetua"/>
                <a:cs typeface="Perpetua"/>
              </a:rPr>
              <a:t>is a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cat.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0" dirty="0">
                <a:latin typeface="Perpetua"/>
                <a:cs typeface="Perpetua"/>
              </a:rPr>
              <a:t>Therefore, </a:t>
            </a:r>
            <a:r>
              <a:rPr sz="2400" spc="-5" dirty="0">
                <a:latin typeface="Perpetua"/>
                <a:cs typeface="Perpetua"/>
              </a:rPr>
              <a:t>Xena </a:t>
            </a:r>
            <a:r>
              <a:rPr sz="2400" dirty="0">
                <a:latin typeface="Perpetua"/>
                <a:cs typeface="Perpetua"/>
              </a:rPr>
              <a:t>has</a:t>
            </a:r>
            <a:r>
              <a:rPr sz="2400" spc="-130" dirty="0">
                <a:latin typeface="Perpetua"/>
                <a:cs typeface="Perpetua"/>
              </a:rPr>
              <a:t> </a:t>
            </a:r>
            <a:r>
              <a:rPr sz="2400" spc="-55" dirty="0">
                <a:latin typeface="Perpetua"/>
                <a:cs typeface="Perpetua"/>
              </a:rPr>
              <a:t>fur.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3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. Some </a:t>
            </a:r>
            <a:r>
              <a:rPr sz="2400" spc="5" dirty="0">
                <a:latin typeface="Perpetua"/>
                <a:cs typeface="Perpetua"/>
              </a:rPr>
              <a:t>horses </a:t>
            </a:r>
            <a:r>
              <a:rPr sz="2400" spc="-10" dirty="0">
                <a:latin typeface="Perpetua"/>
                <a:cs typeface="Perpetua"/>
              </a:rPr>
              <a:t>are</a:t>
            </a:r>
            <a:r>
              <a:rPr sz="2400" spc="-150" dirty="0">
                <a:latin typeface="Perpetua"/>
                <a:cs typeface="Perpetua"/>
              </a:rPr>
              <a:t> </a:t>
            </a:r>
            <a:r>
              <a:rPr sz="2400" spc="-55" dirty="0">
                <a:latin typeface="Perpetua"/>
                <a:cs typeface="Perpetua"/>
              </a:rPr>
              <a:t>big.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latin typeface="Perpetua"/>
                <a:cs typeface="Perpetua"/>
              </a:rPr>
              <a:t>All </a:t>
            </a:r>
            <a:r>
              <a:rPr sz="2400" spc="5" dirty="0">
                <a:latin typeface="Perpetua"/>
                <a:cs typeface="Perpetua"/>
              </a:rPr>
              <a:t>horses </a:t>
            </a:r>
            <a:r>
              <a:rPr sz="2400" spc="-35" dirty="0">
                <a:latin typeface="Perpetua"/>
                <a:cs typeface="Perpetua"/>
              </a:rPr>
              <a:t>have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spc="-15" dirty="0">
                <a:latin typeface="Perpetua"/>
                <a:cs typeface="Perpetua"/>
              </a:rPr>
              <a:t>tails.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0" dirty="0">
                <a:latin typeface="Perpetua"/>
                <a:cs typeface="Perpetua"/>
              </a:rPr>
              <a:t>Therefore, anything </a:t>
            </a:r>
            <a:r>
              <a:rPr sz="2400" spc="-5" dirty="0">
                <a:latin typeface="Perpetua"/>
                <a:cs typeface="Perpetua"/>
              </a:rPr>
              <a:t>with </a:t>
            </a:r>
            <a:r>
              <a:rPr sz="2400" dirty="0">
                <a:latin typeface="Perpetua"/>
                <a:cs typeface="Perpetua"/>
              </a:rPr>
              <a:t>a tail is</a:t>
            </a:r>
            <a:r>
              <a:rPr sz="2400" spc="-160" dirty="0">
                <a:latin typeface="Perpetua"/>
                <a:cs typeface="Perpetua"/>
              </a:rPr>
              <a:t> </a:t>
            </a:r>
            <a:r>
              <a:rPr sz="2400" spc="-60" dirty="0">
                <a:latin typeface="Perpetua"/>
                <a:cs typeface="Perpetua"/>
              </a:rPr>
              <a:t>big.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3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latin typeface="Perpetua"/>
                <a:cs typeface="Perpetua"/>
              </a:rPr>
              <a:t>All humans </a:t>
            </a:r>
            <a:r>
              <a:rPr sz="2400" spc="-35" dirty="0">
                <a:latin typeface="Perpetua"/>
                <a:cs typeface="Perpetua"/>
              </a:rPr>
              <a:t>have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nose.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5" dirty="0">
                <a:latin typeface="Perpetua"/>
                <a:cs typeface="Perpetua"/>
              </a:rPr>
              <a:t>Bobby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human.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0" dirty="0">
                <a:latin typeface="Perpetua"/>
                <a:cs typeface="Perpetua"/>
              </a:rPr>
              <a:t>Therefore, </a:t>
            </a:r>
            <a:r>
              <a:rPr sz="2400" spc="-15" dirty="0">
                <a:latin typeface="Perpetua"/>
                <a:cs typeface="Perpetua"/>
              </a:rPr>
              <a:t>Bobby </a:t>
            </a:r>
            <a:r>
              <a:rPr sz="2400" dirty="0">
                <a:latin typeface="Perpetua"/>
                <a:cs typeface="Perpetua"/>
              </a:rPr>
              <a:t>has a</a:t>
            </a:r>
            <a:r>
              <a:rPr sz="2400" spc="-13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nose.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739" y="152527"/>
            <a:ext cx="61950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State </a:t>
            </a:r>
            <a:r>
              <a:rPr dirty="0"/>
              <a:t>whether </a:t>
            </a:r>
            <a:r>
              <a:rPr spc="-10" dirty="0"/>
              <a:t>Deductive </a:t>
            </a:r>
            <a:r>
              <a:rPr spc="-5" dirty="0"/>
              <a:t>or</a:t>
            </a:r>
            <a:r>
              <a:rPr spc="-60" dirty="0"/>
              <a:t> </a:t>
            </a:r>
            <a:r>
              <a:rPr spc="-10" dirty="0"/>
              <a:t>Inductive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1140" y="926338"/>
            <a:ext cx="4319270" cy="5187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6865" algn="l"/>
                <a:tab pos="890905" algn="l"/>
              </a:tabLst>
            </a:pPr>
            <a:r>
              <a:rPr sz="2400" u="heavy" dirty="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Perpetua"/>
                <a:cs typeface="Perpetua"/>
              </a:rPr>
              <a:t> 	</a:t>
            </a:r>
            <a:r>
              <a:rPr sz="2400" dirty="0">
                <a:solidFill>
                  <a:srgbClr val="C00000"/>
                </a:solidFill>
                <a:latin typeface="Perpetua"/>
                <a:cs typeface="Perpetua"/>
              </a:rPr>
              <a:t>D</a:t>
            </a:r>
            <a:r>
              <a:rPr sz="2400" u="heavy" dirty="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Perpetua"/>
                <a:cs typeface="Perpetua"/>
              </a:rPr>
              <a:t> 	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latin typeface="Perpetua"/>
                <a:cs typeface="Perpetua"/>
              </a:rPr>
              <a:t>All </a:t>
            </a:r>
            <a:r>
              <a:rPr sz="2400" spc="-10" dirty="0">
                <a:latin typeface="Perpetua"/>
                <a:cs typeface="Perpetua"/>
              </a:rPr>
              <a:t>cats </a:t>
            </a:r>
            <a:r>
              <a:rPr sz="2400" spc="-35" dirty="0">
                <a:latin typeface="Perpetua"/>
                <a:cs typeface="Perpetua"/>
              </a:rPr>
              <a:t>have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spc="-55" dirty="0">
                <a:latin typeface="Perpetua"/>
                <a:cs typeface="Perpetua"/>
              </a:rPr>
              <a:t>fur.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latin typeface="Perpetua"/>
                <a:cs typeface="Perpetua"/>
              </a:rPr>
              <a:t>Xena </a:t>
            </a:r>
            <a:r>
              <a:rPr sz="2400" dirty="0">
                <a:latin typeface="Perpetua"/>
                <a:cs typeface="Perpetua"/>
              </a:rPr>
              <a:t>is a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cat.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0" dirty="0">
                <a:latin typeface="Perpetua"/>
                <a:cs typeface="Perpetua"/>
              </a:rPr>
              <a:t>Therefore, </a:t>
            </a:r>
            <a:r>
              <a:rPr sz="2400" spc="-5" dirty="0">
                <a:latin typeface="Perpetua"/>
                <a:cs typeface="Perpetua"/>
              </a:rPr>
              <a:t>Xena </a:t>
            </a:r>
            <a:r>
              <a:rPr sz="2400" dirty="0">
                <a:latin typeface="Perpetua"/>
                <a:cs typeface="Perpetua"/>
              </a:rPr>
              <a:t>has</a:t>
            </a:r>
            <a:r>
              <a:rPr sz="2400" spc="-130" dirty="0">
                <a:latin typeface="Perpetua"/>
                <a:cs typeface="Perpetua"/>
              </a:rPr>
              <a:t> </a:t>
            </a:r>
            <a:r>
              <a:rPr sz="2400" spc="-55" dirty="0">
                <a:latin typeface="Perpetua"/>
                <a:cs typeface="Perpetua"/>
              </a:rPr>
              <a:t>fur.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16865" algn="l"/>
                <a:tab pos="767080" algn="l"/>
              </a:tabLst>
            </a:pPr>
            <a:r>
              <a:rPr sz="2400" u="heavy" dirty="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Perpetua"/>
                <a:cs typeface="Perpetua"/>
              </a:rPr>
              <a:t> 	</a:t>
            </a:r>
            <a:r>
              <a:rPr sz="2400" spc="-5" dirty="0">
                <a:solidFill>
                  <a:srgbClr val="C00000"/>
                </a:solidFill>
                <a:latin typeface="Perpetua"/>
                <a:cs typeface="Perpetua"/>
              </a:rPr>
              <a:t>I</a:t>
            </a:r>
            <a:r>
              <a:rPr sz="2400" u="heavy" dirty="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Perpetua"/>
                <a:cs typeface="Perpetua"/>
              </a:rPr>
              <a:t> 	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3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Some </a:t>
            </a:r>
            <a:r>
              <a:rPr sz="2400" spc="5" dirty="0">
                <a:latin typeface="Perpetua"/>
                <a:cs typeface="Perpetua"/>
              </a:rPr>
              <a:t>horses </a:t>
            </a:r>
            <a:r>
              <a:rPr sz="2400" spc="-10" dirty="0">
                <a:latin typeface="Perpetua"/>
                <a:cs typeface="Perpetua"/>
              </a:rPr>
              <a:t>are</a:t>
            </a:r>
            <a:r>
              <a:rPr sz="2400" spc="-110" dirty="0">
                <a:latin typeface="Perpetua"/>
                <a:cs typeface="Perpetua"/>
              </a:rPr>
              <a:t> </a:t>
            </a:r>
            <a:r>
              <a:rPr sz="2400" spc="-55" dirty="0">
                <a:latin typeface="Perpetua"/>
                <a:cs typeface="Perpetua"/>
              </a:rPr>
              <a:t>big.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latin typeface="Perpetua"/>
                <a:cs typeface="Perpetua"/>
              </a:rPr>
              <a:t>All </a:t>
            </a:r>
            <a:r>
              <a:rPr sz="2400" spc="5" dirty="0">
                <a:latin typeface="Perpetua"/>
                <a:cs typeface="Perpetua"/>
              </a:rPr>
              <a:t>horses </a:t>
            </a:r>
            <a:r>
              <a:rPr sz="2400" spc="-35" dirty="0">
                <a:latin typeface="Perpetua"/>
                <a:cs typeface="Perpetua"/>
              </a:rPr>
              <a:t>have</a:t>
            </a:r>
            <a:r>
              <a:rPr sz="2400" spc="-75" dirty="0">
                <a:latin typeface="Perpetua"/>
                <a:cs typeface="Perpetua"/>
              </a:rPr>
              <a:t> </a:t>
            </a:r>
            <a:r>
              <a:rPr sz="2400" spc="-15" dirty="0">
                <a:latin typeface="Perpetua"/>
                <a:cs typeface="Perpetua"/>
              </a:rPr>
              <a:t>tails.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0" dirty="0">
                <a:latin typeface="Perpetua"/>
                <a:cs typeface="Perpetua"/>
              </a:rPr>
              <a:t>Therefore, anything </a:t>
            </a:r>
            <a:r>
              <a:rPr sz="2400" spc="-5" dirty="0">
                <a:latin typeface="Perpetua"/>
                <a:cs typeface="Perpetua"/>
              </a:rPr>
              <a:t>with </a:t>
            </a:r>
            <a:r>
              <a:rPr sz="2400" dirty="0">
                <a:latin typeface="Perpetua"/>
                <a:cs typeface="Perpetua"/>
              </a:rPr>
              <a:t>a tail is</a:t>
            </a:r>
            <a:r>
              <a:rPr sz="2400" spc="-160" dirty="0">
                <a:latin typeface="Perpetua"/>
                <a:cs typeface="Perpetua"/>
              </a:rPr>
              <a:t> </a:t>
            </a:r>
            <a:r>
              <a:rPr sz="2400" spc="-60" dirty="0">
                <a:latin typeface="Perpetua"/>
                <a:cs typeface="Perpetua"/>
              </a:rPr>
              <a:t>big.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16865" algn="l"/>
                <a:tab pos="890905" algn="l"/>
              </a:tabLst>
            </a:pPr>
            <a:r>
              <a:rPr sz="2400" u="heavy" dirty="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Perpetua"/>
                <a:cs typeface="Perpetua"/>
              </a:rPr>
              <a:t> 	</a:t>
            </a:r>
            <a:r>
              <a:rPr sz="2400" dirty="0">
                <a:solidFill>
                  <a:srgbClr val="C00000"/>
                </a:solidFill>
                <a:latin typeface="Perpetua"/>
                <a:cs typeface="Perpetua"/>
              </a:rPr>
              <a:t>D</a:t>
            </a:r>
            <a:r>
              <a:rPr sz="2400" u="heavy" dirty="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Perpetua"/>
                <a:cs typeface="Perpetua"/>
              </a:rPr>
              <a:t> 	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latin typeface="Perpetua"/>
                <a:cs typeface="Perpetua"/>
              </a:rPr>
              <a:t>All humans </a:t>
            </a:r>
            <a:r>
              <a:rPr sz="2400" spc="-35" dirty="0">
                <a:latin typeface="Perpetua"/>
                <a:cs typeface="Perpetua"/>
              </a:rPr>
              <a:t>have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nose.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5" dirty="0">
                <a:latin typeface="Perpetua"/>
                <a:cs typeface="Perpetua"/>
              </a:rPr>
              <a:t>Bobby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human.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3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0" dirty="0">
                <a:latin typeface="Perpetua"/>
                <a:cs typeface="Perpetua"/>
              </a:rPr>
              <a:t>Therefore, </a:t>
            </a:r>
            <a:r>
              <a:rPr sz="2400" spc="-15" dirty="0">
                <a:latin typeface="Perpetua"/>
                <a:cs typeface="Perpetua"/>
              </a:rPr>
              <a:t>Bobby </a:t>
            </a:r>
            <a:r>
              <a:rPr sz="2400" dirty="0">
                <a:latin typeface="Perpetua"/>
                <a:cs typeface="Perpetua"/>
              </a:rPr>
              <a:t>has a</a:t>
            </a:r>
            <a:r>
              <a:rPr sz="2400" spc="-14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nose.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739" y="152527"/>
            <a:ext cx="74028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State </a:t>
            </a:r>
            <a:r>
              <a:rPr dirty="0"/>
              <a:t>whether </a:t>
            </a:r>
            <a:r>
              <a:rPr spc="-10" dirty="0"/>
              <a:t>Deductive </a:t>
            </a:r>
            <a:r>
              <a:rPr spc="-5" dirty="0"/>
              <a:t>or </a:t>
            </a:r>
            <a:r>
              <a:rPr spc="-10" dirty="0"/>
              <a:t>Inductive---</a:t>
            </a:r>
            <a:r>
              <a:rPr dirty="0"/>
              <a:t> soln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4540" y="6476491"/>
            <a:ext cx="895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52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1180" y="1221994"/>
            <a:ext cx="8120380" cy="479869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492125" indent="-228600">
              <a:lnSpc>
                <a:spcPct val="80000"/>
              </a:lnSpc>
              <a:spcBef>
                <a:spcPts val="725"/>
              </a:spcBef>
              <a:buSzPct val="84615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10" dirty="0">
                <a:latin typeface="Perpetua"/>
                <a:cs typeface="Perpetua"/>
              </a:rPr>
              <a:t>marble </a:t>
            </a:r>
            <a:r>
              <a:rPr sz="2600" spc="-5" dirty="0">
                <a:latin typeface="Perpetua"/>
                <a:cs typeface="Perpetua"/>
              </a:rPr>
              <a:t>from </a:t>
            </a:r>
            <a:r>
              <a:rPr sz="2600" dirty="0">
                <a:latin typeface="Perpetua"/>
                <a:cs typeface="Perpetua"/>
              </a:rPr>
              <a:t>the bag is </a:t>
            </a:r>
            <a:r>
              <a:rPr sz="2600" spc="-5" dirty="0">
                <a:latin typeface="Perpetua"/>
                <a:cs typeface="Perpetua"/>
              </a:rPr>
              <a:t>black. That </a:t>
            </a:r>
            <a:r>
              <a:rPr sz="2600" spc="-10" dirty="0">
                <a:latin typeface="Perpetua"/>
                <a:cs typeface="Perpetua"/>
              </a:rPr>
              <a:t>marble from </a:t>
            </a:r>
            <a:r>
              <a:rPr sz="2600" dirty="0">
                <a:latin typeface="Perpetua"/>
                <a:cs typeface="Perpetua"/>
              </a:rPr>
              <a:t>the bag</a:t>
            </a:r>
            <a:r>
              <a:rPr sz="2600" spc="-3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  </a:t>
            </a:r>
            <a:r>
              <a:rPr sz="2600" spc="-5" dirty="0">
                <a:latin typeface="Perpetua"/>
                <a:cs typeface="Perpetua"/>
              </a:rPr>
              <a:t>black. </a:t>
            </a:r>
            <a:r>
              <a:rPr sz="2600" dirty="0">
                <a:latin typeface="Perpetua"/>
                <a:cs typeface="Perpetua"/>
              </a:rPr>
              <a:t>A third </a:t>
            </a:r>
            <a:r>
              <a:rPr sz="2600" spc="-10" dirty="0">
                <a:latin typeface="Perpetua"/>
                <a:cs typeface="Perpetua"/>
              </a:rPr>
              <a:t>marble </a:t>
            </a:r>
            <a:r>
              <a:rPr sz="2600" spc="-5" dirty="0">
                <a:latin typeface="Perpetua"/>
                <a:cs typeface="Perpetua"/>
              </a:rPr>
              <a:t>from </a:t>
            </a:r>
            <a:r>
              <a:rPr sz="2600" dirty="0">
                <a:latin typeface="Perpetua"/>
                <a:cs typeface="Perpetua"/>
              </a:rPr>
              <a:t>the bag is black. </a:t>
            </a:r>
            <a:r>
              <a:rPr sz="2600" spc="-5" dirty="0">
                <a:latin typeface="Perpetua"/>
                <a:cs typeface="Perpetua"/>
              </a:rPr>
              <a:t>Therefore all </a:t>
            </a:r>
            <a:r>
              <a:rPr sz="2600" dirty="0">
                <a:latin typeface="Perpetua"/>
                <a:cs typeface="Perpetua"/>
              </a:rPr>
              <a:t>the  </a:t>
            </a:r>
            <a:r>
              <a:rPr sz="2600" spc="-10" dirty="0">
                <a:latin typeface="Perpetua"/>
                <a:cs typeface="Perpetua"/>
              </a:rPr>
              <a:t>marbles </a:t>
            </a:r>
            <a:r>
              <a:rPr sz="2600" dirty="0">
                <a:latin typeface="Perpetua"/>
                <a:cs typeface="Perpetua"/>
              </a:rPr>
              <a:t>in the bag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black.</a:t>
            </a:r>
            <a:endParaRPr sz="2600">
              <a:latin typeface="Perpetua"/>
              <a:cs typeface="Perpetua"/>
            </a:endParaRPr>
          </a:p>
          <a:p>
            <a:pPr marL="241300" marR="316230" indent="-228600">
              <a:lnSpc>
                <a:spcPct val="8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600" dirty="0">
                <a:latin typeface="Perpetua"/>
                <a:cs typeface="Perpetua"/>
              </a:rPr>
              <a:t>Sam is a </a:t>
            </a:r>
            <a:r>
              <a:rPr sz="2600" spc="-10" dirty="0">
                <a:latin typeface="Perpetua"/>
                <a:cs typeface="Perpetua"/>
              </a:rPr>
              <a:t>bus </a:t>
            </a:r>
            <a:r>
              <a:rPr sz="2600" spc="-35" dirty="0">
                <a:latin typeface="Perpetua"/>
                <a:cs typeface="Perpetua"/>
              </a:rPr>
              <a:t>driver. </a:t>
            </a:r>
            <a:r>
              <a:rPr sz="2600" spc="-5" dirty="0">
                <a:latin typeface="Perpetua"/>
                <a:cs typeface="Perpetua"/>
              </a:rPr>
              <a:t>All </a:t>
            </a:r>
            <a:r>
              <a:rPr sz="2600" spc="5" dirty="0">
                <a:latin typeface="Perpetua"/>
                <a:cs typeface="Perpetua"/>
              </a:rPr>
              <a:t>drivers </a:t>
            </a:r>
            <a:r>
              <a:rPr sz="2600" dirty="0">
                <a:latin typeface="Perpetua"/>
                <a:cs typeface="Perpetua"/>
              </a:rPr>
              <a:t>drive </a:t>
            </a:r>
            <a:r>
              <a:rPr sz="2600" spc="-10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30km </a:t>
            </a:r>
            <a:r>
              <a:rPr sz="2600" spc="-5" dirty="0">
                <a:latin typeface="Perpetua"/>
                <a:cs typeface="Perpetua"/>
              </a:rPr>
              <a:t>an </a:t>
            </a:r>
            <a:r>
              <a:rPr sz="2600" spc="-45" dirty="0">
                <a:latin typeface="Perpetua"/>
                <a:cs typeface="Perpetua"/>
              </a:rPr>
              <a:t>hour,</a:t>
            </a:r>
            <a:r>
              <a:rPr sz="2600" spc="-28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therefore  </a:t>
            </a:r>
            <a:r>
              <a:rPr sz="2600" dirty="0">
                <a:latin typeface="Perpetua"/>
                <a:cs typeface="Perpetua"/>
              </a:rPr>
              <a:t>Sam drives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30 km </a:t>
            </a:r>
            <a:r>
              <a:rPr sz="2600" spc="-5" dirty="0">
                <a:latin typeface="Perpetua"/>
                <a:cs typeface="Perpetua"/>
              </a:rPr>
              <a:t>an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45" dirty="0">
                <a:latin typeface="Perpetua"/>
                <a:cs typeface="Perpetua"/>
              </a:rPr>
              <a:t>hour.</a:t>
            </a:r>
            <a:endParaRPr sz="2600">
              <a:latin typeface="Perpetua"/>
              <a:cs typeface="Perpetua"/>
            </a:endParaRPr>
          </a:p>
          <a:p>
            <a:pPr marL="241300" marR="309245" indent="-228600">
              <a:lnSpc>
                <a:spcPts val="2500"/>
              </a:lnSpc>
              <a:spcBef>
                <a:spcPts val="380"/>
              </a:spcBef>
              <a:buSzPct val="84615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600" spc="-5" dirty="0">
                <a:latin typeface="Perpetua"/>
                <a:cs typeface="Perpetua"/>
              </a:rPr>
              <a:t>Every </a:t>
            </a:r>
            <a:r>
              <a:rPr sz="2600" dirty="0">
                <a:latin typeface="Perpetua"/>
                <a:cs typeface="Perpetua"/>
              </a:rPr>
              <a:t>time </a:t>
            </a:r>
            <a:r>
              <a:rPr sz="2600" spc="-10" dirty="0">
                <a:latin typeface="Perpetua"/>
                <a:cs typeface="Perpetua"/>
              </a:rPr>
              <a:t>you eat </a:t>
            </a:r>
            <a:r>
              <a:rPr sz="2600" dirty="0">
                <a:latin typeface="Perpetua"/>
                <a:cs typeface="Perpetua"/>
              </a:rPr>
              <a:t>peanuts, </a:t>
            </a:r>
            <a:r>
              <a:rPr sz="2600" spc="-10" dirty="0">
                <a:latin typeface="Perpetua"/>
                <a:cs typeface="Perpetua"/>
              </a:rPr>
              <a:t>your throat </a:t>
            </a:r>
            <a:r>
              <a:rPr sz="2600" spc="-25" dirty="0">
                <a:latin typeface="Perpetua"/>
                <a:cs typeface="Perpetua"/>
              </a:rPr>
              <a:t>sweels </a:t>
            </a:r>
            <a:r>
              <a:rPr sz="2600" dirty="0">
                <a:latin typeface="Perpetua"/>
                <a:cs typeface="Perpetua"/>
              </a:rPr>
              <a:t>up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15" dirty="0">
                <a:latin typeface="Perpetua"/>
                <a:cs typeface="Perpetua"/>
              </a:rPr>
              <a:t>you</a:t>
            </a:r>
            <a:r>
              <a:rPr sz="2600" spc="-1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can't  </a:t>
            </a:r>
            <a:r>
              <a:rPr sz="2600" spc="-5" dirty="0">
                <a:latin typeface="Perpetua"/>
                <a:cs typeface="Perpetua"/>
              </a:rPr>
              <a:t>breath. </a:t>
            </a:r>
            <a:r>
              <a:rPr sz="2600" spc="-20" dirty="0">
                <a:latin typeface="Perpetua"/>
                <a:cs typeface="Perpetua"/>
              </a:rPr>
              <a:t>So,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dirty="0">
                <a:latin typeface="Perpetua"/>
                <a:cs typeface="Perpetua"/>
              </a:rPr>
              <a:t>allergic to</a:t>
            </a:r>
            <a:r>
              <a:rPr sz="2600" spc="-12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peanuts.</a:t>
            </a:r>
            <a:endParaRPr sz="2600">
              <a:latin typeface="Perpetua"/>
              <a:cs typeface="Perpetua"/>
            </a:endParaRPr>
          </a:p>
          <a:p>
            <a:pPr marL="241300" marR="425450" indent="-228600">
              <a:lnSpc>
                <a:spcPts val="2500"/>
              </a:lnSpc>
              <a:spcBef>
                <a:spcPts val="390"/>
              </a:spcBef>
              <a:buSzPct val="84615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600" spc="-5" dirty="0">
                <a:latin typeface="Perpetua"/>
                <a:cs typeface="Perpetua"/>
              </a:rPr>
              <a:t>All </a:t>
            </a:r>
            <a:r>
              <a:rPr sz="2600" spc="-10" dirty="0">
                <a:latin typeface="Perpetua"/>
                <a:cs typeface="Perpetua"/>
              </a:rPr>
              <a:t>cats </a:t>
            </a:r>
            <a:r>
              <a:rPr sz="2600" spc="-5" dirty="0">
                <a:latin typeface="Perpetua"/>
                <a:cs typeface="Perpetua"/>
              </a:rPr>
              <a:t>that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5" dirty="0">
                <a:latin typeface="Perpetua"/>
                <a:cs typeface="Perpetua"/>
              </a:rPr>
              <a:t>observed </a:t>
            </a:r>
            <a:r>
              <a:rPr sz="2600" spc="-10" dirty="0">
                <a:latin typeface="Perpetua"/>
                <a:cs typeface="Perpetua"/>
              </a:rPr>
              <a:t>purr.Therefore, </a:t>
            </a:r>
            <a:r>
              <a:rPr sz="2600" spc="-15" dirty="0">
                <a:latin typeface="Perpetua"/>
                <a:cs typeface="Perpetua"/>
              </a:rPr>
              <a:t>every </a:t>
            </a:r>
            <a:r>
              <a:rPr sz="2600" spc="-10" dirty="0">
                <a:latin typeface="Perpetua"/>
                <a:cs typeface="Perpetua"/>
              </a:rPr>
              <a:t>cat </a:t>
            </a:r>
            <a:r>
              <a:rPr sz="2600" spc="-5" dirty="0">
                <a:latin typeface="Perpetua"/>
                <a:cs typeface="Perpetua"/>
              </a:rPr>
              <a:t>must  </a:t>
            </a:r>
            <a:r>
              <a:rPr sz="2600" spc="-35" dirty="0">
                <a:latin typeface="Perpetua"/>
                <a:cs typeface="Perpetua"/>
              </a:rPr>
              <a:t>purr.</a:t>
            </a:r>
            <a:endParaRPr sz="2600">
              <a:latin typeface="Perpetua"/>
              <a:cs typeface="Perpetua"/>
            </a:endParaRPr>
          </a:p>
          <a:p>
            <a:pPr marL="241300" marR="66040" indent="-228600" algn="just">
              <a:lnSpc>
                <a:spcPct val="80000"/>
              </a:lnSpc>
              <a:spcBef>
                <a:spcPts val="415"/>
              </a:spcBef>
              <a:buSzPct val="84615"/>
              <a:buFont typeface="Arial"/>
              <a:buChar char="•"/>
              <a:tabLst>
                <a:tab pos="241300" algn="l"/>
              </a:tabLst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get a </a:t>
            </a:r>
            <a:r>
              <a:rPr sz="2600" spc="5" dirty="0">
                <a:latin typeface="Perpetua"/>
                <a:cs typeface="Perpetua"/>
              </a:rPr>
              <a:t>Bachelor's degree </a:t>
            </a:r>
            <a:r>
              <a:rPr sz="2600" spc="-20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Utah </a:t>
            </a:r>
            <a:r>
              <a:rPr sz="2600" spc="-5" dirty="0">
                <a:latin typeface="Perpetua"/>
                <a:cs typeface="Perpetua"/>
              </a:rPr>
              <a:t>Sate </a:t>
            </a:r>
            <a:r>
              <a:rPr sz="2600" spc="-25" dirty="0">
                <a:latin typeface="Perpetua"/>
                <a:cs typeface="Perpetua"/>
              </a:rPr>
              <a:t>University, </a:t>
            </a:r>
            <a:r>
              <a:rPr sz="2600" dirty="0">
                <a:latin typeface="Perpetua"/>
                <a:cs typeface="Perpetua"/>
              </a:rPr>
              <a:t>a student </a:t>
            </a:r>
            <a:r>
              <a:rPr sz="2600" spc="-5" dirty="0">
                <a:latin typeface="Perpetua"/>
                <a:cs typeface="Perpetua"/>
              </a:rPr>
              <a:t>must 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5" dirty="0">
                <a:latin typeface="Perpetua"/>
                <a:cs typeface="Perpetua"/>
              </a:rPr>
              <a:t>120 </a:t>
            </a:r>
            <a:r>
              <a:rPr sz="2600" spc="-10" dirty="0">
                <a:latin typeface="Perpetua"/>
                <a:cs typeface="Perpetua"/>
              </a:rPr>
              <a:t>credits. Sally </a:t>
            </a:r>
            <a:r>
              <a:rPr sz="2600" dirty="0">
                <a:latin typeface="Perpetua"/>
                <a:cs typeface="Perpetua"/>
              </a:rPr>
              <a:t>has </a:t>
            </a:r>
            <a:r>
              <a:rPr sz="2600" spc="-10" dirty="0">
                <a:latin typeface="Perpetua"/>
                <a:cs typeface="Perpetua"/>
              </a:rPr>
              <a:t>more </a:t>
            </a:r>
            <a:r>
              <a:rPr sz="2600" dirty="0">
                <a:latin typeface="Perpetua"/>
                <a:cs typeface="Perpetua"/>
              </a:rPr>
              <a:t>than 130 </a:t>
            </a:r>
            <a:r>
              <a:rPr sz="2600" spc="-10" dirty="0">
                <a:latin typeface="Perpetua"/>
                <a:cs typeface="Perpetua"/>
              </a:rPr>
              <a:t>credits.</a:t>
            </a:r>
            <a:r>
              <a:rPr sz="2600" spc="-509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Therefore, Sally  </a:t>
            </a:r>
            <a:r>
              <a:rPr sz="2600" dirty="0">
                <a:latin typeface="Perpetua"/>
                <a:cs typeface="Perpetua"/>
              </a:rPr>
              <a:t>has a </a:t>
            </a:r>
            <a:r>
              <a:rPr sz="2600" spc="5" dirty="0">
                <a:latin typeface="Perpetua"/>
                <a:cs typeface="Perpetua"/>
              </a:rPr>
              <a:t>bachelor's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degree.</a:t>
            </a:r>
            <a:endParaRPr sz="2600">
              <a:latin typeface="Perpetua"/>
              <a:cs typeface="Perpetua"/>
            </a:endParaRPr>
          </a:p>
          <a:p>
            <a:pPr marL="241300" marR="5080" indent="-228600" algn="just">
              <a:lnSpc>
                <a:spcPct val="80000"/>
              </a:lnSpc>
              <a:spcBef>
                <a:spcPts val="405"/>
              </a:spcBef>
              <a:buSzPct val="84615"/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Perpetua"/>
                <a:cs typeface="Perpetua"/>
              </a:rPr>
              <a:t>Bachelor's</a:t>
            </a:r>
            <a:r>
              <a:rPr sz="260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are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10" dirty="0">
                <a:latin typeface="Perpetua"/>
                <a:cs typeface="Perpetua"/>
              </a:rPr>
              <a:t>unmarried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men.</a:t>
            </a:r>
            <a:r>
              <a:rPr sz="2600" spc="-10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Bill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5" dirty="0">
                <a:latin typeface="Perpetua"/>
                <a:cs typeface="Perpetua"/>
              </a:rPr>
              <a:t> unmarried.</a:t>
            </a:r>
            <a:r>
              <a:rPr sz="2600" spc="-39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Therefore,</a:t>
            </a:r>
            <a:r>
              <a:rPr sz="2600" spc="-1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Bill </a:t>
            </a:r>
            <a:r>
              <a:rPr sz="2600" spc="5" dirty="0">
                <a:latin typeface="Perpetua"/>
                <a:cs typeface="Perpetua"/>
              </a:rPr>
              <a:t>is 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bachelor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12140" y="273811"/>
            <a:ext cx="61950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State </a:t>
            </a:r>
            <a:r>
              <a:rPr dirty="0"/>
              <a:t>whether </a:t>
            </a:r>
            <a:r>
              <a:rPr spc="-10" dirty="0"/>
              <a:t>Deductive </a:t>
            </a:r>
            <a:r>
              <a:rPr spc="-5" dirty="0"/>
              <a:t>or</a:t>
            </a:r>
            <a:r>
              <a:rPr spc="-55" dirty="0"/>
              <a:t> </a:t>
            </a:r>
            <a:r>
              <a:rPr spc="-10" dirty="0"/>
              <a:t>Inductive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4540" y="6476491"/>
            <a:ext cx="895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53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1180" y="1221994"/>
            <a:ext cx="8120380" cy="479869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492125" indent="-228600">
              <a:lnSpc>
                <a:spcPct val="80000"/>
              </a:lnSpc>
              <a:spcBef>
                <a:spcPts val="725"/>
              </a:spcBef>
              <a:buSzPct val="84615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10" dirty="0">
                <a:latin typeface="Perpetua"/>
                <a:cs typeface="Perpetua"/>
              </a:rPr>
              <a:t>marble </a:t>
            </a:r>
            <a:r>
              <a:rPr sz="2600" spc="-5" dirty="0">
                <a:latin typeface="Perpetua"/>
                <a:cs typeface="Perpetua"/>
              </a:rPr>
              <a:t>from </a:t>
            </a:r>
            <a:r>
              <a:rPr sz="2600" dirty="0">
                <a:latin typeface="Perpetua"/>
                <a:cs typeface="Perpetua"/>
              </a:rPr>
              <a:t>the bag is </a:t>
            </a:r>
            <a:r>
              <a:rPr sz="2600" spc="-5" dirty="0">
                <a:latin typeface="Perpetua"/>
                <a:cs typeface="Perpetua"/>
              </a:rPr>
              <a:t>black. That </a:t>
            </a:r>
            <a:r>
              <a:rPr sz="2600" spc="-10" dirty="0">
                <a:latin typeface="Perpetua"/>
                <a:cs typeface="Perpetua"/>
              </a:rPr>
              <a:t>marble from </a:t>
            </a:r>
            <a:r>
              <a:rPr sz="2600" dirty="0">
                <a:latin typeface="Perpetua"/>
                <a:cs typeface="Perpetua"/>
              </a:rPr>
              <a:t>the bag</a:t>
            </a:r>
            <a:r>
              <a:rPr sz="2600" spc="-3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  </a:t>
            </a:r>
            <a:r>
              <a:rPr sz="2600" spc="-5" dirty="0">
                <a:latin typeface="Perpetua"/>
                <a:cs typeface="Perpetua"/>
              </a:rPr>
              <a:t>black. </a:t>
            </a:r>
            <a:r>
              <a:rPr sz="2600" dirty="0">
                <a:latin typeface="Perpetua"/>
                <a:cs typeface="Perpetua"/>
              </a:rPr>
              <a:t>A third </a:t>
            </a:r>
            <a:r>
              <a:rPr sz="2600" spc="-10" dirty="0">
                <a:latin typeface="Perpetua"/>
                <a:cs typeface="Perpetua"/>
              </a:rPr>
              <a:t>marble </a:t>
            </a:r>
            <a:r>
              <a:rPr sz="2600" spc="-5" dirty="0">
                <a:latin typeface="Perpetua"/>
                <a:cs typeface="Perpetua"/>
              </a:rPr>
              <a:t>from </a:t>
            </a:r>
            <a:r>
              <a:rPr sz="2600" dirty="0">
                <a:latin typeface="Perpetua"/>
                <a:cs typeface="Perpetua"/>
              </a:rPr>
              <a:t>the bag is black. </a:t>
            </a:r>
            <a:r>
              <a:rPr sz="2600" spc="-5" dirty="0">
                <a:latin typeface="Perpetua"/>
                <a:cs typeface="Perpetua"/>
              </a:rPr>
              <a:t>Therefore all </a:t>
            </a:r>
            <a:r>
              <a:rPr sz="2600" dirty="0">
                <a:latin typeface="Perpetua"/>
                <a:cs typeface="Perpetua"/>
              </a:rPr>
              <a:t>the  </a:t>
            </a:r>
            <a:r>
              <a:rPr sz="2600" spc="-10" dirty="0">
                <a:latin typeface="Perpetua"/>
                <a:cs typeface="Perpetua"/>
              </a:rPr>
              <a:t>marbles </a:t>
            </a:r>
            <a:r>
              <a:rPr sz="2600" dirty="0">
                <a:latin typeface="Perpetua"/>
                <a:cs typeface="Perpetua"/>
              </a:rPr>
              <a:t>in the bag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black.</a:t>
            </a:r>
            <a:r>
              <a:rPr sz="2600" i="1" spc="-10" dirty="0">
                <a:latin typeface="Perpetua"/>
                <a:cs typeface="Perpetua"/>
              </a:rPr>
              <a:t>(Inductive)</a:t>
            </a:r>
            <a:endParaRPr sz="2600">
              <a:latin typeface="Perpetua"/>
              <a:cs typeface="Perpetua"/>
            </a:endParaRPr>
          </a:p>
          <a:p>
            <a:pPr marL="241300" marR="316230" indent="-228600">
              <a:lnSpc>
                <a:spcPct val="8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600" dirty="0">
                <a:latin typeface="Perpetua"/>
                <a:cs typeface="Perpetua"/>
              </a:rPr>
              <a:t>Sam is a </a:t>
            </a:r>
            <a:r>
              <a:rPr sz="2600" spc="-10" dirty="0">
                <a:latin typeface="Perpetua"/>
                <a:cs typeface="Perpetua"/>
              </a:rPr>
              <a:t>bus </a:t>
            </a:r>
            <a:r>
              <a:rPr sz="2600" spc="-35" dirty="0">
                <a:latin typeface="Perpetua"/>
                <a:cs typeface="Perpetua"/>
              </a:rPr>
              <a:t>driver. </a:t>
            </a:r>
            <a:r>
              <a:rPr sz="2600" spc="-5" dirty="0">
                <a:latin typeface="Perpetua"/>
                <a:cs typeface="Perpetua"/>
              </a:rPr>
              <a:t>All </a:t>
            </a:r>
            <a:r>
              <a:rPr sz="2600" spc="5" dirty="0">
                <a:latin typeface="Perpetua"/>
                <a:cs typeface="Perpetua"/>
              </a:rPr>
              <a:t>drivers </a:t>
            </a:r>
            <a:r>
              <a:rPr sz="2600" dirty="0">
                <a:latin typeface="Perpetua"/>
                <a:cs typeface="Perpetua"/>
              </a:rPr>
              <a:t>drive </a:t>
            </a:r>
            <a:r>
              <a:rPr sz="2600" spc="-10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30km </a:t>
            </a:r>
            <a:r>
              <a:rPr sz="2600" spc="-5" dirty="0">
                <a:latin typeface="Perpetua"/>
                <a:cs typeface="Perpetua"/>
              </a:rPr>
              <a:t>an </a:t>
            </a:r>
            <a:r>
              <a:rPr sz="2600" spc="-45" dirty="0">
                <a:latin typeface="Perpetua"/>
                <a:cs typeface="Perpetua"/>
              </a:rPr>
              <a:t>hour,</a:t>
            </a:r>
            <a:r>
              <a:rPr sz="2600" spc="-28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therefore  </a:t>
            </a:r>
            <a:r>
              <a:rPr sz="2600" dirty="0">
                <a:latin typeface="Perpetua"/>
                <a:cs typeface="Perpetua"/>
              </a:rPr>
              <a:t>Sam drives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30 km </a:t>
            </a:r>
            <a:r>
              <a:rPr sz="2600" spc="-5" dirty="0">
                <a:latin typeface="Perpetua"/>
                <a:cs typeface="Perpetua"/>
              </a:rPr>
              <a:t>an</a:t>
            </a:r>
            <a:r>
              <a:rPr sz="2600" spc="25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hour.</a:t>
            </a:r>
            <a:r>
              <a:rPr sz="2600" i="1" spc="-25" dirty="0">
                <a:latin typeface="Perpetua"/>
                <a:cs typeface="Perpetua"/>
              </a:rPr>
              <a:t>(Inductive)</a:t>
            </a:r>
            <a:endParaRPr sz="2600">
              <a:latin typeface="Perpetua"/>
              <a:cs typeface="Perpetua"/>
            </a:endParaRPr>
          </a:p>
          <a:p>
            <a:pPr marL="241300" marR="362585" indent="-228600">
              <a:lnSpc>
                <a:spcPts val="2500"/>
              </a:lnSpc>
              <a:spcBef>
                <a:spcPts val="380"/>
              </a:spcBef>
              <a:buSzPct val="84615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600" spc="-5" dirty="0">
                <a:latin typeface="Perpetua"/>
                <a:cs typeface="Perpetua"/>
              </a:rPr>
              <a:t>Every </a:t>
            </a:r>
            <a:r>
              <a:rPr sz="2600" dirty="0">
                <a:latin typeface="Perpetua"/>
                <a:cs typeface="Perpetua"/>
              </a:rPr>
              <a:t>time </a:t>
            </a:r>
            <a:r>
              <a:rPr sz="2600" spc="-10" dirty="0">
                <a:latin typeface="Perpetua"/>
                <a:cs typeface="Perpetua"/>
              </a:rPr>
              <a:t>you eat </a:t>
            </a:r>
            <a:r>
              <a:rPr sz="2600" dirty="0">
                <a:latin typeface="Perpetua"/>
                <a:cs typeface="Perpetua"/>
              </a:rPr>
              <a:t>peanuts, </a:t>
            </a:r>
            <a:r>
              <a:rPr sz="2600" spc="-10" dirty="0">
                <a:latin typeface="Perpetua"/>
                <a:cs typeface="Perpetua"/>
              </a:rPr>
              <a:t>your throat </a:t>
            </a:r>
            <a:r>
              <a:rPr sz="2600" spc="-25" dirty="0">
                <a:latin typeface="Perpetua"/>
                <a:cs typeface="Perpetua"/>
              </a:rPr>
              <a:t>swells </a:t>
            </a:r>
            <a:r>
              <a:rPr sz="2600" dirty="0">
                <a:latin typeface="Perpetua"/>
                <a:cs typeface="Perpetua"/>
              </a:rPr>
              <a:t>up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15" dirty="0">
                <a:latin typeface="Perpetua"/>
                <a:cs typeface="Perpetua"/>
              </a:rPr>
              <a:t>you</a:t>
            </a:r>
            <a:r>
              <a:rPr sz="2600" spc="-1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can't  </a:t>
            </a:r>
            <a:r>
              <a:rPr sz="2600" spc="-5" dirty="0">
                <a:latin typeface="Perpetua"/>
                <a:cs typeface="Perpetua"/>
              </a:rPr>
              <a:t>breath. </a:t>
            </a:r>
            <a:r>
              <a:rPr sz="2600" spc="-20" dirty="0">
                <a:latin typeface="Perpetua"/>
                <a:cs typeface="Perpetua"/>
              </a:rPr>
              <a:t>So,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dirty="0">
                <a:latin typeface="Perpetua"/>
                <a:cs typeface="Perpetua"/>
              </a:rPr>
              <a:t>allergic to </a:t>
            </a:r>
            <a:r>
              <a:rPr sz="2600" spc="-15" dirty="0">
                <a:latin typeface="Perpetua"/>
                <a:cs typeface="Perpetua"/>
              </a:rPr>
              <a:t>peanuts.</a:t>
            </a:r>
            <a:r>
              <a:rPr sz="2600" spc="-220" dirty="0">
                <a:latin typeface="Perpetua"/>
                <a:cs typeface="Perpetua"/>
              </a:rPr>
              <a:t> </a:t>
            </a:r>
            <a:r>
              <a:rPr sz="2200" i="1" spc="-10" dirty="0">
                <a:latin typeface="Perpetua"/>
                <a:cs typeface="Perpetua"/>
              </a:rPr>
              <a:t>(Inductive)</a:t>
            </a:r>
            <a:endParaRPr sz="2200">
              <a:latin typeface="Perpetua"/>
              <a:cs typeface="Perpetua"/>
            </a:endParaRPr>
          </a:p>
          <a:p>
            <a:pPr marL="241300" marR="425450" indent="-228600">
              <a:lnSpc>
                <a:spcPts val="2500"/>
              </a:lnSpc>
              <a:spcBef>
                <a:spcPts val="390"/>
              </a:spcBef>
              <a:buSzPct val="84615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600" spc="-5" dirty="0">
                <a:latin typeface="Perpetua"/>
                <a:cs typeface="Perpetua"/>
              </a:rPr>
              <a:t>All </a:t>
            </a:r>
            <a:r>
              <a:rPr sz="2600" spc="-10" dirty="0">
                <a:latin typeface="Perpetua"/>
                <a:cs typeface="Perpetua"/>
              </a:rPr>
              <a:t>cats </a:t>
            </a:r>
            <a:r>
              <a:rPr sz="2600" spc="-5" dirty="0">
                <a:latin typeface="Perpetua"/>
                <a:cs typeface="Perpetua"/>
              </a:rPr>
              <a:t>that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5" dirty="0">
                <a:latin typeface="Perpetua"/>
                <a:cs typeface="Perpetua"/>
              </a:rPr>
              <a:t>observed </a:t>
            </a:r>
            <a:r>
              <a:rPr sz="2600" spc="-10" dirty="0">
                <a:latin typeface="Perpetua"/>
                <a:cs typeface="Perpetua"/>
              </a:rPr>
              <a:t>purr.Therefore, </a:t>
            </a:r>
            <a:r>
              <a:rPr sz="2600" spc="-15" dirty="0">
                <a:latin typeface="Perpetua"/>
                <a:cs typeface="Perpetua"/>
              </a:rPr>
              <a:t>every </a:t>
            </a:r>
            <a:r>
              <a:rPr sz="2600" spc="-10" dirty="0">
                <a:latin typeface="Perpetua"/>
                <a:cs typeface="Perpetua"/>
              </a:rPr>
              <a:t>cat </a:t>
            </a:r>
            <a:r>
              <a:rPr sz="2600" spc="-5" dirty="0">
                <a:latin typeface="Perpetua"/>
                <a:cs typeface="Perpetua"/>
              </a:rPr>
              <a:t>must  </a:t>
            </a:r>
            <a:r>
              <a:rPr sz="2600" spc="-20" dirty="0">
                <a:latin typeface="Perpetua"/>
                <a:cs typeface="Perpetua"/>
              </a:rPr>
              <a:t>purr.</a:t>
            </a:r>
            <a:r>
              <a:rPr sz="2600" i="1" spc="-20" dirty="0">
                <a:latin typeface="Perpetua"/>
                <a:cs typeface="Perpetua"/>
              </a:rPr>
              <a:t>(Inductive)</a:t>
            </a:r>
            <a:endParaRPr sz="2600">
              <a:latin typeface="Perpetua"/>
              <a:cs typeface="Perpetua"/>
            </a:endParaRPr>
          </a:p>
          <a:p>
            <a:pPr marL="241300" marR="66040" indent="-228600" algn="just">
              <a:lnSpc>
                <a:spcPct val="80000"/>
              </a:lnSpc>
              <a:spcBef>
                <a:spcPts val="415"/>
              </a:spcBef>
              <a:buSzPct val="84615"/>
              <a:buFont typeface="Arial"/>
              <a:buChar char="•"/>
              <a:tabLst>
                <a:tab pos="241300" algn="l"/>
              </a:tabLst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get a </a:t>
            </a:r>
            <a:r>
              <a:rPr sz="2600" spc="5" dirty="0">
                <a:latin typeface="Perpetua"/>
                <a:cs typeface="Perpetua"/>
              </a:rPr>
              <a:t>Bachelor's degree </a:t>
            </a:r>
            <a:r>
              <a:rPr sz="2600" spc="-20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Utah </a:t>
            </a:r>
            <a:r>
              <a:rPr sz="2600" spc="-5" dirty="0">
                <a:latin typeface="Perpetua"/>
                <a:cs typeface="Perpetua"/>
              </a:rPr>
              <a:t>Sate </a:t>
            </a:r>
            <a:r>
              <a:rPr sz="2600" spc="-25" dirty="0">
                <a:latin typeface="Perpetua"/>
                <a:cs typeface="Perpetua"/>
              </a:rPr>
              <a:t>University, </a:t>
            </a:r>
            <a:r>
              <a:rPr sz="2600" dirty="0">
                <a:latin typeface="Perpetua"/>
                <a:cs typeface="Perpetua"/>
              </a:rPr>
              <a:t>a student </a:t>
            </a:r>
            <a:r>
              <a:rPr sz="2600" spc="-5" dirty="0">
                <a:latin typeface="Perpetua"/>
                <a:cs typeface="Perpetua"/>
              </a:rPr>
              <a:t>must 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5" dirty="0">
                <a:latin typeface="Perpetua"/>
                <a:cs typeface="Perpetua"/>
              </a:rPr>
              <a:t>120 </a:t>
            </a:r>
            <a:r>
              <a:rPr sz="2600" spc="-10" dirty="0">
                <a:latin typeface="Perpetua"/>
                <a:cs typeface="Perpetua"/>
              </a:rPr>
              <a:t>credits. Sally </a:t>
            </a:r>
            <a:r>
              <a:rPr sz="2600" dirty="0">
                <a:latin typeface="Perpetua"/>
                <a:cs typeface="Perpetua"/>
              </a:rPr>
              <a:t>has </a:t>
            </a:r>
            <a:r>
              <a:rPr sz="2600" spc="-10" dirty="0">
                <a:latin typeface="Perpetua"/>
                <a:cs typeface="Perpetua"/>
              </a:rPr>
              <a:t>more </a:t>
            </a:r>
            <a:r>
              <a:rPr sz="2600" dirty="0">
                <a:latin typeface="Perpetua"/>
                <a:cs typeface="Perpetua"/>
              </a:rPr>
              <a:t>than 130 </a:t>
            </a:r>
            <a:r>
              <a:rPr sz="2600" spc="-10" dirty="0">
                <a:latin typeface="Perpetua"/>
                <a:cs typeface="Perpetua"/>
              </a:rPr>
              <a:t>credits.</a:t>
            </a:r>
            <a:r>
              <a:rPr sz="2600" spc="-509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Therefore, Sally  </a:t>
            </a:r>
            <a:r>
              <a:rPr sz="2600" dirty="0">
                <a:latin typeface="Perpetua"/>
                <a:cs typeface="Perpetua"/>
              </a:rPr>
              <a:t>has a </a:t>
            </a:r>
            <a:r>
              <a:rPr sz="2600" spc="5" dirty="0">
                <a:latin typeface="Perpetua"/>
                <a:cs typeface="Perpetua"/>
              </a:rPr>
              <a:t>bachelor's</a:t>
            </a:r>
            <a:r>
              <a:rPr sz="2600" spc="-10" dirty="0">
                <a:latin typeface="Perpetua"/>
                <a:cs typeface="Perpetua"/>
              </a:rPr>
              <a:t> degree.</a:t>
            </a:r>
            <a:r>
              <a:rPr sz="2600" i="1" spc="-10" dirty="0">
                <a:latin typeface="Perpetua"/>
                <a:cs typeface="Perpetua"/>
              </a:rPr>
              <a:t>(Deductive)</a:t>
            </a:r>
            <a:endParaRPr sz="2600">
              <a:latin typeface="Perpetua"/>
              <a:cs typeface="Perpetua"/>
            </a:endParaRPr>
          </a:p>
          <a:p>
            <a:pPr marL="241300" marR="5080" indent="-228600" algn="just">
              <a:lnSpc>
                <a:spcPct val="80000"/>
              </a:lnSpc>
              <a:spcBef>
                <a:spcPts val="405"/>
              </a:spcBef>
              <a:buSzPct val="84615"/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Perpetua"/>
                <a:cs typeface="Perpetua"/>
              </a:rPr>
              <a:t>Bachelor's</a:t>
            </a:r>
            <a:r>
              <a:rPr sz="260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are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10" dirty="0">
                <a:latin typeface="Perpetua"/>
                <a:cs typeface="Perpetua"/>
              </a:rPr>
              <a:t>unmarried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men.</a:t>
            </a:r>
            <a:r>
              <a:rPr sz="2600" spc="-10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Bill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5" dirty="0">
                <a:latin typeface="Perpetua"/>
                <a:cs typeface="Perpetua"/>
              </a:rPr>
              <a:t> unmarried.</a:t>
            </a:r>
            <a:r>
              <a:rPr sz="2600" spc="-39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Therefore,</a:t>
            </a:r>
            <a:r>
              <a:rPr sz="2600" spc="-1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Bill </a:t>
            </a:r>
            <a:r>
              <a:rPr sz="2600" spc="5" dirty="0">
                <a:latin typeface="Perpetua"/>
                <a:cs typeface="Perpetua"/>
              </a:rPr>
              <a:t>is 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bachelor.</a:t>
            </a:r>
            <a:r>
              <a:rPr sz="2600" i="1" spc="-15" dirty="0">
                <a:latin typeface="Perpetua"/>
                <a:cs typeface="Perpetua"/>
              </a:rPr>
              <a:t>(Deductive)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12140" y="340868"/>
            <a:ext cx="650620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State </a:t>
            </a:r>
            <a:r>
              <a:rPr sz="3200" dirty="0"/>
              <a:t>whether </a:t>
            </a:r>
            <a:r>
              <a:rPr sz="3200" spc="-10" dirty="0"/>
              <a:t>Deductive </a:t>
            </a:r>
            <a:r>
              <a:rPr sz="3200" spc="-5" dirty="0"/>
              <a:t>or </a:t>
            </a:r>
            <a:r>
              <a:rPr sz="3200" spc="-10" dirty="0"/>
              <a:t>Inductive</a:t>
            </a:r>
            <a:r>
              <a:rPr sz="3200" spc="55" dirty="0"/>
              <a:t> </a:t>
            </a:r>
            <a:r>
              <a:rPr sz="3200" dirty="0"/>
              <a:t>(Soln)</a:t>
            </a:r>
            <a:endParaRPr sz="32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3175" y="6074155"/>
            <a:ext cx="38455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Perpetua"/>
                <a:cs typeface="Perpetua"/>
              </a:rPr>
              <a:t>Case </a:t>
            </a:r>
            <a:r>
              <a:rPr sz="4000" spc="-15" dirty="0">
                <a:latin typeface="Perpetua"/>
                <a:cs typeface="Perpetua"/>
              </a:rPr>
              <a:t>study </a:t>
            </a:r>
            <a:r>
              <a:rPr sz="4000" spc="-10" dirty="0">
                <a:latin typeface="Perpetua"/>
                <a:cs typeface="Perpetua"/>
              </a:rPr>
              <a:t>time</a:t>
            </a:r>
            <a:r>
              <a:rPr sz="4000" spc="-25" dirty="0">
                <a:latin typeface="Perpetua"/>
                <a:cs typeface="Perpetua"/>
              </a:rPr>
              <a:t> </a:t>
            </a:r>
            <a:r>
              <a:rPr sz="4000" spc="-5" dirty="0">
                <a:latin typeface="Perpetua"/>
                <a:cs typeface="Perpetua"/>
              </a:rPr>
              <a:t>…..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54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6476491"/>
            <a:ext cx="895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3400" y="381000"/>
            <a:ext cx="3733800" cy="49850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1140" y="3011246"/>
            <a:ext cx="8604885" cy="3080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5"/>
              </a:spcBef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spc="-5" dirty="0">
                <a:latin typeface="Perpetua"/>
                <a:cs typeface="Perpetua"/>
              </a:rPr>
              <a:t>The </a:t>
            </a:r>
            <a:r>
              <a:rPr sz="2200" spc="-20" dirty="0">
                <a:latin typeface="Perpetua"/>
                <a:cs typeface="Perpetua"/>
              </a:rPr>
              <a:t>show </a:t>
            </a:r>
            <a:r>
              <a:rPr sz="2200" i="1" dirty="0">
                <a:latin typeface="Perpetua"/>
                <a:cs typeface="Perpetua"/>
              </a:rPr>
              <a:t>Criminal </a:t>
            </a:r>
            <a:r>
              <a:rPr sz="2200" i="1" spc="-5" dirty="0">
                <a:latin typeface="Perpetua"/>
                <a:cs typeface="Perpetua"/>
              </a:rPr>
              <a:t>Minds </a:t>
            </a:r>
            <a:r>
              <a:rPr sz="2200" spc="-10" dirty="0">
                <a:latin typeface="Perpetua"/>
                <a:cs typeface="Perpetua"/>
              </a:rPr>
              <a:t>features </a:t>
            </a:r>
            <a:r>
              <a:rPr sz="2200" spc="-5" dirty="0">
                <a:latin typeface="Perpetua"/>
                <a:cs typeface="Perpetua"/>
              </a:rPr>
              <a:t>a special unit of the FBI </a:t>
            </a:r>
            <a:r>
              <a:rPr sz="2200" spc="-10" dirty="0">
                <a:latin typeface="Perpetua"/>
                <a:cs typeface="Perpetua"/>
              </a:rPr>
              <a:t>that </a:t>
            </a:r>
            <a:r>
              <a:rPr sz="2200" spc="-5" dirty="0">
                <a:latin typeface="Perpetua"/>
                <a:cs typeface="Perpetua"/>
              </a:rPr>
              <a:t>profiles</a:t>
            </a:r>
            <a:r>
              <a:rPr sz="2200" spc="18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criminals</a:t>
            </a:r>
            <a:endParaRPr sz="22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310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ts val="2380"/>
              </a:lnSpc>
              <a:buSzPct val="84090"/>
              <a:buFont typeface="Arial"/>
              <a:buChar char="•"/>
              <a:tabLst>
                <a:tab pos="287020" algn="l"/>
              </a:tabLst>
            </a:pPr>
            <a:r>
              <a:rPr sz="2200" spc="-15" dirty="0">
                <a:latin typeface="Perpetua"/>
                <a:cs typeface="Perpetua"/>
              </a:rPr>
              <a:t>They </a:t>
            </a:r>
            <a:r>
              <a:rPr sz="2200" spc="-5" dirty="0">
                <a:latin typeface="Perpetua"/>
                <a:cs typeface="Perpetua"/>
              </a:rPr>
              <a:t>do this </a:t>
            </a:r>
            <a:r>
              <a:rPr sz="2200" spc="-25" dirty="0">
                <a:latin typeface="Perpetua"/>
                <a:cs typeface="Perpetua"/>
              </a:rPr>
              <a:t>by </a:t>
            </a:r>
            <a:r>
              <a:rPr sz="2200" dirty="0">
                <a:latin typeface="Perpetua"/>
                <a:cs typeface="Perpetua"/>
              </a:rPr>
              <a:t>interviewing criminals </a:t>
            </a:r>
            <a:r>
              <a:rPr sz="2200" spc="-5" dirty="0">
                <a:latin typeface="Perpetua"/>
                <a:cs typeface="Perpetua"/>
              </a:rPr>
              <a:t>who </a:t>
            </a:r>
            <a:r>
              <a:rPr sz="2200" spc="-35" dirty="0">
                <a:latin typeface="Perpetua"/>
                <a:cs typeface="Perpetua"/>
              </a:rPr>
              <a:t>have </a:t>
            </a:r>
            <a:r>
              <a:rPr sz="2200" spc="-15" dirty="0">
                <a:latin typeface="Perpetua"/>
                <a:cs typeface="Perpetua"/>
              </a:rPr>
              <a:t>already </a:t>
            </a:r>
            <a:r>
              <a:rPr sz="2200" spc="-5" dirty="0">
                <a:latin typeface="Perpetua"/>
                <a:cs typeface="Perpetua"/>
              </a:rPr>
              <a:t>been caught and then  </a:t>
            </a:r>
            <a:r>
              <a:rPr sz="2200" dirty="0">
                <a:latin typeface="Perpetua"/>
                <a:cs typeface="Perpetua"/>
              </a:rPr>
              <a:t>inducing </a:t>
            </a:r>
            <a:r>
              <a:rPr sz="2200" spc="-5" dirty="0">
                <a:latin typeface="Perpetua"/>
                <a:cs typeface="Perpetua"/>
              </a:rPr>
              <a:t>general </a:t>
            </a:r>
            <a:r>
              <a:rPr sz="2200" spc="5" dirty="0">
                <a:latin typeface="Perpetua"/>
                <a:cs typeface="Perpetua"/>
              </a:rPr>
              <a:t>rules </a:t>
            </a:r>
            <a:r>
              <a:rPr sz="2200" spc="-5" dirty="0">
                <a:latin typeface="Perpetua"/>
                <a:cs typeface="Perpetua"/>
              </a:rPr>
              <a:t>about all </a:t>
            </a:r>
            <a:r>
              <a:rPr sz="2200" dirty="0">
                <a:latin typeface="Perpetua"/>
                <a:cs typeface="Perpetua"/>
              </a:rPr>
              <a:t>criminals </a:t>
            </a:r>
            <a:r>
              <a:rPr sz="2200" spc="-5" dirty="0">
                <a:latin typeface="Perpetua"/>
                <a:cs typeface="Perpetua"/>
              </a:rPr>
              <a:t>in </a:t>
            </a:r>
            <a:r>
              <a:rPr sz="2200" dirty="0">
                <a:latin typeface="Perpetua"/>
                <a:cs typeface="Perpetua"/>
              </a:rPr>
              <a:t>order </a:t>
            </a:r>
            <a:r>
              <a:rPr sz="2200" spc="-10" dirty="0">
                <a:latin typeface="Perpetua"/>
                <a:cs typeface="Perpetua"/>
              </a:rPr>
              <a:t>to </a:t>
            </a:r>
            <a:r>
              <a:rPr sz="2200" dirty="0">
                <a:latin typeface="Perpetua"/>
                <a:cs typeface="Perpetua"/>
              </a:rPr>
              <a:t>catch </a:t>
            </a:r>
            <a:r>
              <a:rPr sz="2200" spc="-5" dirty="0">
                <a:latin typeface="Perpetua"/>
                <a:cs typeface="Perpetua"/>
              </a:rPr>
              <a:t>the </a:t>
            </a:r>
            <a:r>
              <a:rPr sz="2200" dirty="0">
                <a:latin typeface="Perpetua"/>
                <a:cs typeface="Perpetua"/>
              </a:rPr>
              <a:t>one </a:t>
            </a:r>
            <a:r>
              <a:rPr sz="2200" spc="-15" dirty="0">
                <a:latin typeface="Perpetua"/>
                <a:cs typeface="Perpetua"/>
              </a:rPr>
              <a:t>they are  </a:t>
            </a:r>
            <a:r>
              <a:rPr sz="2200" spc="-5" dirty="0">
                <a:latin typeface="Perpetua"/>
                <a:cs typeface="Perpetua"/>
              </a:rPr>
              <a:t>looking</a:t>
            </a:r>
            <a:r>
              <a:rPr sz="2200" spc="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for</a:t>
            </a:r>
            <a:endParaRPr sz="22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305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ct val="90000"/>
              </a:lnSpc>
              <a:buSzPct val="84090"/>
              <a:buFont typeface="Arial"/>
              <a:buChar char="•"/>
              <a:tabLst>
                <a:tab pos="287020" algn="l"/>
              </a:tabLst>
            </a:pPr>
            <a:r>
              <a:rPr sz="2200" spc="-10" dirty="0">
                <a:latin typeface="Perpetua"/>
                <a:cs typeface="Perpetua"/>
              </a:rPr>
              <a:t>Inductive reasoning, </a:t>
            </a:r>
            <a:r>
              <a:rPr sz="2200" spc="5" dirty="0">
                <a:latin typeface="Perpetua"/>
                <a:cs typeface="Perpetua"/>
              </a:rPr>
              <a:t>which </a:t>
            </a:r>
            <a:r>
              <a:rPr sz="2200" spc="-5" dirty="0">
                <a:latin typeface="Perpetua"/>
                <a:cs typeface="Perpetua"/>
              </a:rPr>
              <a:t>uses specific examples </a:t>
            </a:r>
            <a:r>
              <a:rPr sz="2200" spc="-10" dirty="0">
                <a:latin typeface="Perpetua"/>
                <a:cs typeface="Perpetua"/>
              </a:rPr>
              <a:t>to </a:t>
            </a:r>
            <a:r>
              <a:rPr sz="2200" spc="-15" dirty="0">
                <a:latin typeface="Perpetua"/>
                <a:cs typeface="Perpetua"/>
              </a:rPr>
              <a:t>make </a:t>
            </a:r>
            <a:r>
              <a:rPr sz="2200" spc="-5" dirty="0">
                <a:latin typeface="Perpetua"/>
                <a:cs typeface="Perpetua"/>
              </a:rPr>
              <a:t>a general </a:t>
            </a:r>
            <a:r>
              <a:rPr sz="2200" dirty="0">
                <a:latin typeface="Perpetua"/>
                <a:cs typeface="Perpetua"/>
              </a:rPr>
              <a:t>rule, </a:t>
            </a:r>
            <a:r>
              <a:rPr sz="2200" spc="-5" dirty="0">
                <a:latin typeface="Perpetua"/>
                <a:cs typeface="Perpetua"/>
              </a:rPr>
              <a:t>can be  </a:t>
            </a:r>
            <a:r>
              <a:rPr sz="2200" spc="-10" dirty="0">
                <a:latin typeface="Perpetua"/>
                <a:cs typeface="Perpetua"/>
              </a:rPr>
              <a:t>seen frequently </a:t>
            </a:r>
            <a:r>
              <a:rPr sz="2200" spc="-5" dirty="0">
                <a:latin typeface="Perpetua"/>
                <a:cs typeface="Perpetua"/>
              </a:rPr>
              <a:t>in episodes of </a:t>
            </a:r>
            <a:r>
              <a:rPr sz="2200" dirty="0">
                <a:latin typeface="Perpetua"/>
                <a:cs typeface="Perpetua"/>
              </a:rPr>
              <a:t>TV </a:t>
            </a:r>
            <a:r>
              <a:rPr sz="2200" spc="-15" dirty="0">
                <a:latin typeface="Perpetua"/>
                <a:cs typeface="Perpetua"/>
              </a:rPr>
              <a:t>shows </a:t>
            </a:r>
            <a:r>
              <a:rPr sz="2200" spc="-5" dirty="0">
                <a:latin typeface="Perpetua"/>
                <a:cs typeface="Perpetua"/>
              </a:rPr>
              <a:t>or </a:t>
            </a:r>
            <a:r>
              <a:rPr sz="2200" spc="-15" dirty="0">
                <a:latin typeface="Perpetua"/>
                <a:cs typeface="Perpetua"/>
              </a:rPr>
              <a:t>movies that </a:t>
            </a:r>
            <a:r>
              <a:rPr sz="2200" spc="-25" dirty="0">
                <a:latin typeface="Perpetua"/>
                <a:cs typeface="Perpetua"/>
              </a:rPr>
              <a:t>involve </a:t>
            </a:r>
            <a:r>
              <a:rPr sz="2200" spc="5" dirty="0">
                <a:latin typeface="Perpetua"/>
                <a:cs typeface="Perpetua"/>
              </a:rPr>
              <a:t>crime </a:t>
            </a:r>
            <a:r>
              <a:rPr sz="2200" spc="-5" dirty="0">
                <a:latin typeface="Perpetua"/>
                <a:cs typeface="Perpetua"/>
              </a:rPr>
              <a:t>scene  </a:t>
            </a:r>
            <a:r>
              <a:rPr sz="2200" spc="-15" dirty="0">
                <a:latin typeface="Perpetua"/>
                <a:cs typeface="Perpetua"/>
              </a:rPr>
              <a:t>investigation</a:t>
            </a:r>
            <a:endParaRPr sz="22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739" y="281686"/>
            <a:ext cx="47345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The </a:t>
            </a:r>
            <a:r>
              <a:rPr sz="4000" spc="-30" dirty="0"/>
              <a:t>show </a:t>
            </a:r>
            <a:r>
              <a:rPr sz="4000" spc="-5" dirty="0"/>
              <a:t>: </a:t>
            </a:r>
            <a:r>
              <a:rPr sz="4000" i="1" dirty="0">
                <a:latin typeface="Perpetua"/>
                <a:cs typeface="Perpetua"/>
              </a:rPr>
              <a:t>Criminal</a:t>
            </a:r>
            <a:r>
              <a:rPr sz="4000" i="1" spc="-150" dirty="0">
                <a:latin typeface="Perpetua"/>
                <a:cs typeface="Perpetua"/>
              </a:rPr>
              <a:t> </a:t>
            </a:r>
            <a:r>
              <a:rPr sz="4000" i="1" spc="-5" dirty="0">
                <a:latin typeface="Perpetua"/>
                <a:cs typeface="Perpetua"/>
              </a:rPr>
              <a:t>Minds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8200" y="1143000"/>
            <a:ext cx="6400800" cy="1676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1140" y="2167255"/>
            <a:ext cx="8573770" cy="379095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286385" marR="5080" indent="-274320">
              <a:lnSpc>
                <a:spcPct val="80000"/>
              </a:lnSpc>
              <a:spcBef>
                <a:spcPts val="655"/>
              </a:spcBef>
              <a:buSzPct val="84782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300" spc="5" dirty="0">
                <a:latin typeface="Perpetua"/>
                <a:cs typeface="Perpetua"/>
              </a:rPr>
              <a:t>Hotch: </a:t>
            </a:r>
            <a:r>
              <a:rPr sz="2300" i="1" spc="-5" dirty="0">
                <a:latin typeface="Perpetua"/>
                <a:cs typeface="Perpetua"/>
              </a:rPr>
              <a:t>Sprees usually </a:t>
            </a:r>
            <a:r>
              <a:rPr sz="2300" i="1" dirty="0">
                <a:latin typeface="Perpetua"/>
                <a:cs typeface="Perpetua"/>
              </a:rPr>
              <a:t>end </a:t>
            </a:r>
            <a:r>
              <a:rPr sz="2300" i="1" spc="-5" dirty="0">
                <a:latin typeface="Perpetua"/>
                <a:cs typeface="Perpetua"/>
              </a:rPr>
              <a:t>in </a:t>
            </a:r>
            <a:r>
              <a:rPr sz="2300" i="1" dirty="0">
                <a:latin typeface="Perpetua"/>
                <a:cs typeface="Perpetua"/>
              </a:rPr>
              <a:t>suicide. If </a:t>
            </a:r>
            <a:r>
              <a:rPr sz="2300" i="1" spc="-50" dirty="0">
                <a:latin typeface="Perpetua"/>
                <a:cs typeface="Perpetua"/>
              </a:rPr>
              <a:t>he’s </a:t>
            </a:r>
            <a:r>
              <a:rPr sz="2300" i="1" spc="-10" dirty="0">
                <a:latin typeface="Perpetua"/>
                <a:cs typeface="Perpetua"/>
              </a:rPr>
              <a:t>got </a:t>
            </a:r>
            <a:r>
              <a:rPr sz="2300" i="1" dirty="0">
                <a:latin typeface="Perpetua"/>
                <a:cs typeface="Perpetua"/>
              </a:rPr>
              <a:t>nothing to </a:t>
            </a:r>
            <a:r>
              <a:rPr sz="2300" i="1" spc="-20" dirty="0">
                <a:latin typeface="Perpetua"/>
                <a:cs typeface="Perpetua"/>
              </a:rPr>
              <a:t>live </a:t>
            </a:r>
            <a:r>
              <a:rPr sz="2300" i="1" spc="-40" dirty="0">
                <a:latin typeface="Perpetua"/>
                <a:cs typeface="Perpetua"/>
              </a:rPr>
              <a:t>for,</a:t>
            </a:r>
            <a:r>
              <a:rPr sz="2300" i="1" spc="-409" dirty="0">
                <a:latin typeface="Perpetua"/>
                <a:cs typeface="Perpetua"/>
              </a:rPr>
              <a:t> </a:t>
            </a:r>
            <a:r>
              <a:rPr sz="2300" i="1" spc="-35" dirty="0">
                <a:latin typeface="Perpetua"/>
                <a:cs typeface="Perpetua"/>
              </a:rPr>
              <a:t>why </a:t>
            </a:r>
            <a:r>
              <a:rPr sz="2300" i="1" spc="-15" dirty="0">
                <a:latin typeface="Perpetua"/>
                <a:cs typeface="Perpetua"/>
              </a:rPr>
              <a:t>wouldn’t </a:t>
            </a:r>
            <a:r>
              <a:rPr sz="2300" i="1" dirty="0">
                <a:latin typeface="Perpetua"/>
                <a:cs typeface="Perpetua"/>
              </a:rPr>
              <a:t>he </a:t>
            </a:r>
            <a:r>
              <a:rPr sz="2300" i="1" spc="-5" dirty="0">
                <a:latin typeface="Perpetua"/>
                <a:cs typeface="Perpetua"/>
              </a:rPr>
              <a:t>end  it?</a:t>
            </a:r>
            <a:endParaRPr sz="23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24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4782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300" spc="-5" dirty="0">
                <a:latin typeface="Perpetua"/>
                <a:cs typeface="Perpetua"/>
              </a:rPr>
              <a:t>Reid: </a:t>
            </a:r>
            <a:r>
              <a:rPr sz="2300" i="1" dirty="0">
                <a:latin typeface="Perpetua"/>
                <a:cs typeface="Perpetua"/>
              </a:rPr>
              <a:t>Because </a:t>
            </a:r>
            <a:r>
              <a:rPr sz="2300" i="1" spc="-50" dirty="0">
                <a:latin typeface="Perpetua"/>
                <a:cs typeface="Perpetua"/>
              </a:rPr>
              <a:t>he’s </a:t>
            </a:r>
            <a:r>
              <a:rPr sz="2300" i="1" dirty="0">
                <a:latin typeface="Perpetua"/>
                <a:cs typeface="Perpetua"/>
              </a:rPr>
              <a:t>not </a:t>
            </a:r>
            <a:r>
              <a:rPr sz="2300" i="1" spc="-5" dirty="0">
                <a:latin typeface="Perpetua"/>
                <a:cs typeface="Perpetua"/>
              </a:rPr>
              <a:t>finished</a:t>
            </a:r>
            <a:r>
              <a:rPr sz="2300" i="1" spc="40" dirty="0">
                <a:latin typeface="Perpetua"/>
                <a:cs typeface="Perpetua"/>
              </a:rPr>
              <a:t> </a:t>
            </a:r>
            <a:r>
              <a:rPr sz="2300" i="1" spc="-15" dirty="0">
                <a:latin typeface="Perpetua"/>
                <a:cs typeface="Perpetua"/>
              </a:rPr>
              <a:t>yet.</a:t>
            </a:r>
            <a:endParaRPr sz="23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24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4782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300" spc="-5" dirty="0">
                <a:latin typeface="Perpetua"/>
                <a:cs typeface="Perpetua"/>
              </a:rPr>
              <a:t>Reid: </a:t>
            </a:r>
            <a:r>
              <a:rPr sz="2300" i="1" spc="-50" dirty="0">
                <a:latin typeface="Perpetua"/>
                <a:cs typeface="Perpetua"/>
              </a:rPr>
              <a:t>He’s </a:t>
            </a:r>
            <a:r>
              <a:rPr sz="2300" i="1" spc="-15" dirty="0">
                <a:latin typeface="Perpetua"/>
                <a:cs typeface="Perpetua"/>
              </a:rPr>
              <a:t>obviously </a:t>
            </a:r>
            <a:r>
              <a:rPr sz="2300" i="1" spc="-10" dirty="0">
                <a:latin typeface="Perpetua"/>
                <a:cs typeface="Perpetua"/>
              </a:rPr>
              <a:t>got </a:t>
            </a:r>
            <a:r>
              <a:rPr sz="2300" i="1" dirty="0">
                <a:latin typeface="Perpetua"/>
                <a:cs typeface="Perpetua"/>
              </a:rPr>
              <a:t>displaced </a:t>
            </a:r>
            <a:r>
              <a:rPr sz="2300" i="1" spc="-10" dirty="0">
                <a:latin typeface="Perpetua"/>
                <a:cs typeface="Perpetua"/>
              </a:rPr>
              <a:t>anger </a:t>
            </a:r>
            <a:r>
              <a:rPr sz="2300" i="1" dirty="0">
                <a:latin typeface="Perpetua"/>
                <a:cs typeface="Perpetua"/>
              </a:rPr>
              <a:t>and </a:t>
            </a:r>
            <a:r>
              <a:rPr sz="2300" i="1" spc="-5" dirty="0">
                <a:latin typeface="Perpetua"/>
                <a:cs typeface="Perpetua"/>
              </a:rPr>
              <a:t>took it out on </a:t>
            </a:r>
            <a:r>
              <a:rPr sz="2300" i="1" dirty="0">
                <a:latin typeface="Perpetua"/>
                <a:cs typeface="Perpetua"/>
              </a:rPr>
              <a:t>his first</a:t>
            </a:r>
            <a:r>
              <a:rPr sz="2300" i="1" spc="-85" dirty="0">
                <a:latin typeface="Perpetua"/>
                <a:cs typeface="Perpetua"/>
              </a:rPr>
              <a:t> </a:t>
            </a:r>
            <a:r>
              <a:rPr sz="2300" i="1" spc="-5" dirty="0">
                <a:latin typeface="Perpetua"/>
                <a:cs typeface="Perpetua"/>
              </a:rPr>
              <a:t>victim.</a:t>
            </a:r>
            <a:endParaRPr sz="23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2900">
              <a:latin typeface="Times New Roman"/>
              <a:cs typeface="Times New Roman"/>
            </a:endParaRPr>
          </a:p>
          <a:p>
            <a:pPr marL="286385" marR="217170" indent="-274320">
              <a:lnSpc>
                <a:spcPts val="2210"/>
              </a:lnSpc>
              <a:buSzPct val="84782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300" spc="5" dirty="0">
                <a:latin typeface="Perpetua"/>
                <a:cs typeface="Perpetua"/>
              </a:rPr>
              <a:t>Hotch: </a:t>
            </a:r>
            <a:r>
              <a:rPr sz="2300" i="1" spc="-5" dirty="0">
                <a:latin typeface="Perpetua"/>
                <a:cs typeface="Perpetua"/>
              </a:rPr>
              <a:t>The </a:t>
            </a:r>
            <a:r>
              <a:rPr sz="2300" i="1" spc="-10" dirty="0">
                <a:latin typeface="Perpetua"/>
                <a:cs typeface="Perpetua"/>
              </a:rPr>
              <a:t>stock </a:t>
            </a:r>
            <a:r>
              <a:rPr sz="2300" i="1" spc="-30" dirty="0">
                <a:latin typeface="Perpetua"/>
                <a:cs typeface="Perpetua"/>
              </a:rPr>
              <a:t>boy </a:t>
            </a:r>
            <a:r>
              <a:rPr sz="2300" i="1" spc="-5" dirty="0">
                <a:latin typeface="Perpetua"/>
                <a:cs typeface="Perpetua"/>
              </a:rPr>
              <a:t>represented </a:t>
            </a:r>
            <a:r>
              <a:rPr sz="2300" i="1" spc="-35" dirty="0">
                <a:latin typeface="Perpetua"/>
                <a:cs typeface="Perpetua"/>
              </a:rPr>
              <a:t>someone.We </a:t>
            </a:r>
            <a:r>
              <a:rPr sz="2300" i="1" dirty="0">
                <a:latin typeface="Perpetua"/>
                <a:cs typeface="Perpetua"/>
              </a:rPr>
              <a:t>need to </a:t>
            </a:r>
            <a:r>
              <a:rPr sz="2300" i="1" spc="-15" dirty="0">
                <a:latin typeface="Perpetua"/>
                <a:cs typeface="Perpetua"/>
              </a:rPr>
              <a:t>know </a:t>
            </a:r>
            <a:r>
              <a:rPr sz="2300" i="1" spc="-50" dirty="0">
                <a:latin typeface="Perpetua"/>
                <a:cs typeface="Perpetua"/>
              </a:rPr>
              <a:t>who.What </a:t>
            </a:r>
            <a:r>
              <a:rPr sz="2300" i="1" dirty="0">
                <a:latin typeface="Perpetua"/>
                <a:cs typeface="Perpetua"/>
              </a:rPr>
              <a:t>about the </a:t>
            </a:r>
            <a:r>
              <a:rPr sz="2300" i="1" spc="-5" dirty="0">
                <a:latin typeface="Perpetua"/>
                <a:cs typeface="Perpetua"/>
              </a:rPr>
              <a:t>other  </a:t>
            </a:r>
            <a:r>
              <a:rPr sz="2300" i="1" spc="-10" dirty="0">
                <a:latin typeface="Perpetua"/>
                <a:cs typeface="Perpetua"/>
              </a:rPr>
              <a:t>victims.</a:t>
            </a:r>
            <a:endParaRPr sz="23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24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4782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300" spc="-5" dirty="0">
                <a:latin typeface="Perpetua"/>
                <a:cs typeface="Perpetua"/>
              </a:rPr>
              <a:t>Reid:</a:t>
            </a:r>
            <a:r>
              <a:rPr sz="2300" spc="-114" dirty="0">
                <a:latin typeface="Perpetua"/>
                <a:cs typeface="Perpetua"/>
              </a:rPr>
              <a:t> </a:t>
            </a:r>
            <a:r>
              <a:rPr sz="2300" i="1" spc="-10" dirty="0">
                <a:latin typeface="Perpetua"/>
                <a:cs typeface="Perpetua"/>
              </a:rPr>
              <a:t>Defensive.</a:t>
            </a:r>
            <a:endParaRPr sz="23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4900">
              <a:lnSpc>
                <a:spcPct val="100000"/>
              </a:lnSpc>
              <a:spcBef>
                <a:spcPts val="100"/>
              </a:spcBef>
            </a:pPr>
            <a:r>
              <a:rPr dirty="0"/>
              <a:t>A </a:t>
            </a:r>
            <a:r>
              <a:rPr spc="-15" dirty="0"/>
              <a:t>conversation </a:t>
            </a:r>
            <a:r>
              <a:rPr spc="-5" dirty="0"/>
              <a:t>among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profilers</a:t>
            </a:r>
          </a:p>
        </p:txBody>
      </p:sp>
      <p:sp>
        <p:nvSpPr>
          <p:cNvPr id="5" name="object 5"/>
          <p:cNvSpPr/>
          <p:nvPr/>
        </p:nvSpPr>
        <p:spPr>
          <a:xfrm>
            <a:off x="304800" y="304800"/>
            <a:ext cx="1828800" cy="1601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1140" y="976630"/>
            <a:ext cx="8531860" cy="3502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5" dirty="0">
                <a:latin typeface="Perpetua"/>
                <a:cs typeface="Perpetua"/>
              </a:rPr>
              <a:t>Hotch: </a:t>
            </a:r>
            <a:r>
              <a:rPr sz="2600" i="1" spc="-75" dirty="0">
                <a:latin typeface="Perpetua"/>
                <a:cs typeface="Perpetua"/>
              </a:rPr>
              <a:t>Was </a:t>
            </a:r>
            <a:r>
              <a:rPr sz="2600" i="1" dirty="0">
                <a:latin typeface="Perpetua"/>
                <a:cs typeface="Perpetua"/>
              </a:rPr>
              <a:t>he</a:t>
            </a:r>
            <a:r>
              <a:rPr sz="2600" i="1" spc="-5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military?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Garcia:</a:t>
            </a:r>
            <a:r>
              <a:rPr sz="2600" spc="-105" dirty="0">
                <a:latin typeface="Perpetua"/>
                <a:cs typeface="Perpetua"/>
              </a:rPr>
              <a:t> </a:t>
            </a:r>
            <a:r>
              <a:rPr sz="2600" i="1" spc="-15" dirty="0">
                <a:latin typeface="Perpetua"/>
                <a:cs typeface="Perpetua"/>
              </a:rPr>
              <a:t>Negative.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5" dirty="0">
                <a:latin typeface="Perpetua"/>
                <a:cs typeface="Perpetua"/>
              </a:rPr>
              <a:t>Hotch: </a:t>
            </a:r>
            <a:r>
              <a:rPr sz="2600" i="1" spc="-55" dirty="0">
                <a:latin typeface="Perpetua"/>
                <a:cs typeface="Perpetua"/>
              </a:rPr>
              <a:t>He’s </a:t>
            </a:r>
            <a:r>
              <a:rPr sz="2600" i="1" spc="-5" dirty="0">
                <a:latin typeface="Perpetua"/>
                <a:cs typeface="Perpetua"/>
              </a:rPr>
              <a:t>lashing </a:t>
            </a:r>
            <a:r>
              <a:rPr sz="2600" i="1" spc="-25" dirty="0">
                <a:latin typeface="Perpetua"/>
                <a:cs typeface="Perpetua"/>
              </a:rPr>
              <a:t>out.There’s </a:t>
            </a:r>
            <a:r>
              <a:rPr sz="2600" i="1" spc="-15" dirty="0">
                <a:latin typeface="Perpetua"/>
                <a:cs typeface="Perpetua"/>
              </a:rPr>
              <a:t>got </a:t>
            </a:r>
            <a:r>
              <a:rPr sz="2600" i="1" dirty="0">
                <a:latin typeface="Perpetua"/>
                <a:cs typeface="Perpetua"/>
              </a:rPr>
              <a:t>to </a:t>
            </a:r>
            <a:r>
              <a:rPr sz="2600" i="1" spc="-5" dirty="0">
                <a:latin typeface="Perpetua"/>
                <a:cs typeface="Perpetua"/>
              </a:rPr>
              <a:t>be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reason. </a:t>
            </a:r>
            <a:r>
              <a:rPr sz="2600" i="1" dirty="0">
                <a:latin typeface="Perpetua"/>
                <a:cs typeface="Perpetua"/>
              </a:rPr>
              <a:t>Rossi </a:t>
            </a:r>
            <a:r>
              <a:rPr sz="2600" i="1" spc="-5" dirty="0">
                <a:latin typeface="Perpetua"/>
                <a:cs typeface="Perpetua"/>
              </a:rPr>
              <a:t>and </a:t>
            </a:r>
            <a:r>
              <a:rPr sz="2600" i="1" spc="-15" dirty="0">
                <a:latin typeface="Perpetua"/>
                <a:cs typeface="Perpetua"/>
              </a:rPr>
              <a:t>Prentiss, </a:t>
            </a:r>
            <a:r>
              <a:rPr sz="2600" i="1" dirty="0">
                <a:latin typeface="Perpetua"/>
                <a:cs typeface="Perpetua"/>
              </a:rPr>
              <a:t>dig  </a:t>
            </a:r>
            <a:r>
              <a:rPr sz="2600" i="1" spc="-5" dirty="0">
                <a:latin typeface="Perpetua"/>
                <a:cs typeface="Perpetua"/>
              </a:rPr>
              <a:t>through </a:t>
            </a:r>
            <a:r>
              <a:rPr sz="2600" i="1" dirty="0">
                <a:latin typeface="Perpetua"/>
                <a:cs typeface="Perpetua"/>
              </a:rPr>
              <a:t>his </a:t>
            </a:r>
            <a:r>
              <a:rPr sz="2600" i="1" spc="-5" dirty="0">
                <a:latin typeface="Perpetua"/>
                <a:cs typeface="Perpetua"/>
              </a:rPr>
              <a:t>house. </a:t>
            </a:r>
            <a:r>
              <a:rPr sz="2600" i="1" dirty="0">
                <a:latin typeface="Perpetua"/>
                <a:cs typeface="Perpetua"/>
              </a:rPr>
              <a:t>Reid and </a:t>
            </a:r>
            <a:r>
              <a:rPr sz="2600" i="1" spc="-40" dirty="0">
                <a:latin typeface="Perpetua"/>
                <a:cs typeface="Perpetua"/>
              </a:rPr>
              <a:t>JJ, </a:t>
            </a:r>
            <a:r>
              <a:rPr sz="2600" i="1" spc="-15" dirty="0">
                <a:latin typeface="Perpetua"/>
                <a:cs typeface="Perpetua"/>
              </a:rPr>
              <a:t>get </a:t>
            </a:r>
            <a:r>
              <a:rPr sz="2600" i="1" dirty="0">
                <a:latin typeface="Perpetua"/>
                <a:cs typeface="Perpetua"/>
              </a:rPr>
              <a:t>to </a:t>
            </a:r>
            <a:r>
              <a:rPr sz="2600" i="1" spc="-5" dirty="0">
                <a:latin typeface="Perpetua"/>
                <a:cs typeface="Perpetua"/>
              </a:rPr>
              <a:t>the station. </a:t>
            </a:r>
            <a:r>
              <a:rPr sz="2600" i="1" spc="-25" dirty="0">
                <a:latin typeface="Perpetua"/>
                <a:cs typeface="Perpetua"/>
              </a:rPr>
              <a:t>Morgan </a:t>
            </a:r>
            <a:r>
              <a:rPr sz="2600" i="1" spc="-5" dirty="0">
                <a:latin typeface="Perpetua"/>
                <a:cs typeface="Perpetua"/>
              </a:rPr>
              <a:t>and </a:t>
            </a:r>
            <a:r>
              <a:rPr sz="2600" i="1" dirty="0">
                <a:latin typeface="Perpetua"/>
                <a:cs typeface="Perpetua"/>
              </a:rPr>
              <a:t>I will take </a:t>
            </a:r>
            <a:r>
              <a:rPr sz="2600" i="1" spc="-5" dirty="0">
                <a:latin typeface="Perpetua"/>
                <a:cs typeface="Perpetua"/>
              </a:rPr>
              <a:t>the  </a:t>
            </a:r>
            <a:r>
              <a:rPr sz="2600" i="1" spc="5" dirty="0">
                <a:latin typeface="Perpetua"/>
                <a:cs typeface="Perpetua"/>
              </a:rPr>
              <a:t>crime </a:t>
            </a:r>
            <a:r>
              <a:rPr sz="2600" i="1" spc="-5" dirty="0">
                <a:latin typeface="Perpetua"/>
                <a:cs typeface="Perpetua"/>
              </a:rPr>
              <a:t>scene.This </a:t>
            </a:r>
            <a:r>
              <a:rPr sz="2600" i="1" spc="-50" dirty="0">
                <a:latin typeface="Perpetua"/>
                <a:cs typeface="Perpetua"/>
              </a:rPr>
              <a:t>guy’s </a:t>
            </a:r>
            <a:r>
              <a:rPr sz="2600" i="1" spc="-15" dirty="0">
                <a:latin typeface="Perpetua"/>
                <a:cs typeface="Perpetua"/>
              </a:rPr>
              <a:t>got </a:t>
            </a:r>
            <a:r>
              <a:rPr sz="2600" i="1" spc="-30" dirty="0">
                <a:latin typeface="Perpetua"/>
                <a:cs typeface="Perpetua"/>
              </a:rPr>
              <a:t>anger, </a:t>
            </a:r>
            <a:r>
              <a:rPr sz="2600" i="1" dirty="0">
                <a:latin typeface="Perpetua"/>
                <a:cs typeface="Perpetua"/>
              </a:rPr>
              <a:t>endless </a:t>
            </a:r>
            <a:r>
              <a:rPr sz="2600" i="1" spc="-20" dirty="0">
                <a:latin typeface="Perpetua"/>
                <a:cs typeface="Perpetua"/>
              </a:rPr>
              <a:t>targets </a:t>
            </a:r>
            <a:r>
              <a:rPr sz="2600" i="1" spc="-5" dirty="0">
                <a:latin typeface="Perpetua"/>
                <a:cs typeface="Perpetua"/>
              </a:rPr>
              <a:t>and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gun.</a:t>
            </a:r>
            <a:r>
              <a:rPr sz="2600" i="1" spc="-45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And from the looks  of it, </a:t>
            </a:r>
            <a:r>
              <a:rPr sz="2600" i="1" dirty="0">
                <a:latin typeface="Perpetua"/>
                <a:cs typeface="Perpetua"/>
              </a:rPr>
              <a:t>he </a:t>
            </a:r>
            <a:r>
              <a:rPr sz="2600" i="1" spc="-5" dirty="0">
                <a:latin typeface="Perpetua"/>
                <a:cs typeface="Perpetua"/>
              </a:rPr>
              <a:t>just </a:t>
            </a:r>
            <a:r>
              <a:rPr sz="2600" i="1" spc="-15" dirty="0">
                <a:latin typeface="Perpetua"/>
                <a:cs typeface="Perpetua"/>
              </a:rPr>
              <a:t>got</a:t>
            </a:r>
            <a:r>
              <a:rPr sz="2600" i="1" spc="-250" dirty="0">
                <a:latin typeface="Perpetua"/>
                <a:cs typeface="Perpetua"/>
              </a:rPr>
              <a:t> </a:t>
            </a:r>
            <a:r>
              <a:rPr sz="2600" i="1" spc="5" dirty="0">
                <a:latin typeface="Perpetua"/>
                <a:cs typeface="Perpetua"/>
              </a:rPr>
              <a:t>started.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41775" y="5859271"/>
            <a:ext cx="4495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729" indent="-240665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b="1" i="1" spc="-10" dirty="0">
                <a:solidFill>
                  <a:srgbClr val="C00000"/>
                </a:solidFill>
                <a:latin typeface="Perpetua"/>
                <a:cs typeface="Perpetua"/>
              </a:rPr>
              <a:t>What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does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the </a:t>
            </a:r>
            <a:r>
              <a:rPr sz="2400" b="1" i="1" spc="-25" dirty="0">
                <a:solidFill>
                  <a:srgbClr val="C00000"/>
                </a:solidFill>
                <a:latin typeface="Perpetua"/>
                <a:cs typeface="Perpetua"/>
              </a:rPr>
              <a:t>conversation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lead to?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1140" y="1993519"/>
            <a:ext cx="7305040" cy="37115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13080">
              <a:lnSpc>
                <a:spcPct val="100800"/>
              </a:lnSpc>
              <a:spcBef>
                <a:spcPts val="75"/>
              </a:spcBef>
            </a:pPr>
            <a:r>
              <a:rPr sz="2400" spc="-10" dirty="0">
                <a:latin typeface="Perpetua"/>
                <a:cs typeface="Perpetua"/>
              </a:rPr>
              <a:t>Conversations </a:t>
            </a:r>
            <a:r>
              <a:rPr sz="2400" spc="-5" dirty="0">
                <a:latin typeface="Perpetua"/>
                <a:cs typeface="Perpetua"/>
              </a:rPr>
              <a:t>among </a:t>
            </a:r>
            <a:r>
              <a:rPr sz="2400" dirty="0">
                <a:latin typeface="Perpetua"/>
                <a:cs typeface="Perpetua"/>
              </a:rPr>
              <a:t>the profilers, </a:t>
            </a:r>
            <a:r>
              <a:rPr sz="2400" spc="-10" dirty="0">
                <a:latin typeface="Perpetua"/>
                <a:cs typeface="Perpetua"/>
              </a:rPr>
              <a:t>like </a:t>
            </a:r>
            <a:r>
              <a:rPr sz="2400" spc="-5" dirty="0">
                <a:latin typeface="Perpetua"/>
                <a:cs typeface="Perpetua"/>
              </a:rPr>
              <a:t>the </a:t>
            </a:r>
            <a:r>
              <a:rPr sz="2400" dirty="0">
                <a:latin typeface="Perpetua"/>
                <a:cs typeface="Perpetua"/>
              </a:rPr>
              <a:t>one </a:t>
            </a:r>
            <a:r>
              <a:rPr sz="2400" spc="-30" dirty="0">
                <a:latin typeface="Perpetua"/>
                <a:cs typeface="Perpetua"/>
              </a:rPr>
              <a:t>above, </a:t>
            </a:r>
            <a:r>
              <a:rPr sz="2400" spc="-5" dirty="0">
                <a:latin typeface="Perpetua"/>
                <a:cs typeface="Perpetua"/>
              </a:rPr>
              <a:t>lead</a:t>
            </a:r>
            <a:r>
              <a:rPr sz="2400" spc="-2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to  </a:t>
            </a:r>
            <a:r>
              <a:rPr sz="2400" spc="-10" dirty="0">
                <a:latin typeface="Perpetua"/>
                <a:cs typeface="Perpetua"/>
              </a:rPr>
              <a:t>inductive </a:t>
            </a:r>
            <a:r>
              <a:rPr sz="2400" spc="-5" dirty="0">
                <a:latin typeface="Perpetua"/>
                <a:cs typeface="Perpetua"/>
              </a:rPr>
              <a:t>reasoning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can be summed up </a:t>
            </a:r>
            <a:r>
              <a:rPr sz="2400" spc="-5" dirty="0">
                <a:latin typeface="Perpetua"/>
                <a:cs typeface="Perpetua"/>
              </a:rPr>
              <a:t>as</a:t>
            </a:r>
            <a:r>
              <a:rPr sz="2400" spc="-7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follows: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He has nothing to </a:t>
            </a:r>
            <a:r>
              <a:rPr sz="2400" spc="-20" dirty="0">
                <a:latin typeface="Perpetua"/>
                <a:cs typeface="Perpetua"/>
              </a:rPr>
              <a:t>live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spc="-55" dirty="0">
                <a:latin typeface="Perpetua"/>
                <a:cs typeface="Perpetua"/>
              </a:rPr>
              <a:t>for.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He </a:t>
            </a:r>
            <a:r>
              <a:rPr sz="2400" spc="-20" dirty="0">
                <a:latin typeface="Perpetua"/>
                <a:cs typeface="Perpetua"/>
              </a:rPr>
              <a:t>doesn’t </a:t>
            </a:r>
            <a:r>
              <a:rPr sz="2400" spc="-15" dirty="0">
                <a:latin typeface="Perpetua"/>
                <a:cs typeface="Perpetua"/>
              </a:rPr>
              <a:t>want </a:t>
            </a:r>
            <a:r>
              <a:rPr sz="2400" dirty="0">
                <a:latin typeface="Perpetua"/>
                <a:cs typeface="Perpetua"/>
              </a:rPr>
              <a:t>to </a:t>
            </a:r>
            <a:r>
              <a:rPr sz="2400" spc="-5" dirty="0">
                <a:latin typeface="Perpetua"/>
                <a:cs typeface="Perpetua"/>
              </a:rPr>
              <a:t>commit suicide.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He </a:t>
            </a:r>
            <a:r>
              <a:rPr sz="2400" spc="-30" dirty="0">
                <a:latin typeface="Perpetua"/>
                <a:cs typeface="Perpetua"/>
              </a:rPr>
              <a:t>wasn’t </a:t>
            </a:r>
            <a:r>
              <a:rPr sz="2400" dirty="0">
                <a:latin typeface="Perpetua"/>
                <a:cs typeface="Perpetua"/>
              </a:rPr>
              <a:t>in the</a:t>
            </a:r>
            <a:r>
              <a:rPr sz="2400" spc="5" dirty="0">
                <a:latin typeface="Perpetua"/>
                <a:cs typeface="Perpetua"/>
              </a:rPr>
              <a:t> </a:t>
            </a:r>
            <a:r>
              <a:rPr sz="2400" spc="-30" dirty="0">
                <a:latin typeface="Perpetua"/>
                <a:cs typeface="Perpetua"/>
              </a:rPr>
              <a:t>military.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He has displaced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spc="-40" dirty="0">
                <a:latin typeface="Perpetua"/>
                <a:cs typeface="Perpetua"/>
              </a:rPr>
              <a:t>anger.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He has </a:t>
            </a:r>
            <a:r>
              <a:rPr sz="2400" spc="-5" dirty="0">
                <a:latin typeface="Perpetua"/>
                <a:cs typeface="Perpetua"/>
              </a:rPr>
              <a:t>endless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targets.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He has a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gun.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He is a </a:t>
            </a:r>
            <a:r>
              <a:rPr sz="2400" spc="-5" dirty="0">
                <a:latin typeface="Perpetua"/>
                <a:cs typeface="Perpetua"/>
              </a:rPr>
              <a:t>dangerous man </a:t>
            </a:r>
            <a:r>
              <a:rPr sz="2400" dirty="0">
                <a:latin typeface="Perpetua"/>
                <a:cs typeface="Perpetua"/>
              </a:rPr>
              <a:t>who </a:t>
            </a:r>
            <a:r>
              <a:rPr sz="2400" spc="-5" dirty="0">
                <a:latin typeface="Perpetua"/>
                <a:cs typeface="Perpetua"/>
              </a:rPr>
              <a:t>will </a:t>
            </a:r>
            <a:r>
              <a:rPr sz="2400" spc="20" dirty="0">
                <a:latin typeface="Perpetua"/>
                <a:cs typeface="Perpetua"/>
              </a:rPr>
              <a:t>hurt </a:t>
            </a:r>
            <a:r>
              <a:rPr sz="2400" spc="-10" dirty="0">
                <a:latin typeface="Perpetua"/>
                <a:cs typeface="Perpetua"/>
              </a:rPr>
              <a:t>more people.</a:t>
            </a:r>
            <a:r>
              <a:rPr sz="2400" spc="-20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(conclusion)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7340" y="639826"/>
            <a:ext cx="751078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C00000"/>
                </a:solidFill>
              </a:rPr>
              <a:t>Solution:</a:t>
            </a:r>
          </a:p>
          <a:p>
            <a:pPr marL="12700">
              <a:lnSpc>
                <a:spcPct val="100000"/>
              </a:lnSpc>
            </a:pPr>
            <a:r>
              <a:rPr dirty="0"/>
              <a:t>The </a:t>
            </a:r>
            <a:r>
              <a:rPr spc="-15" dirty="0"/>
              <a:t>conversation </a:t>
            </a:r>
            <a:r>
              <a:rPr spc="-5" dirty="0"/>
              <a:t>leads </a:t>
            </a:r>
            <a:r>
              <a:rPr dirty="0"/>
              <a:t>to </a:t>
            </a:r>
            <a:r>
              <a:rPr spc="-10" dirty="0"/>
              <a:t>inductive</a:t>
            </a:r>
            <a:r>
              <a:rPr spc="15" dirty="0"/>
              <a:t> </a:t>
            </a:r>
            <a:r>
              <a:rPr spc="-5" dirty="0"/>
              <a:t>reasoning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3175" y="6074155"/>
            <a:ext cx="38455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Perpetua"/>
                <a:cs typeface="Perpetua"/>
              </a:rPr>
              <a:t>Case </a:t>
            </a:r>
            <a:r>
              <a:rPr sz="4000" spc="-15" dirty="0">
                <a:latin typeface="Perpetua"/>
                <a:cs typeface="Perpetua"/>
              </a:rPr>
              <a:t>study </a:t>
            </a:r>
            <a:r>
              <a:rPr sz="4000" spc="-10" dirty="0">
                <a:latin typeface="Perpetua"/>
                <a:cs typeface="Perpetua"/>
              </a:rPr>
              <a:t>time</a:t>
            </a:r>
            <a:r>
              <a:rPr sz="4000" spc="-25" dirty="0">
                <a:latin typeface="Perpetua"/>
                <a:cs typeface="Perpetua"/>
              </a:rPr>
              <a:t> </a:t>
            </a:r>
            <a:r>
              <a:rPr sz="4000" spc="-5" dirty="0">
                <a:latin typeface="Perpetua"/>
                <a:cs typeface="Perpetua"/>
              </a:rPr>
              <a:t>…..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59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6476491"/>
            <a:ext cx="895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3400" y="381000"/>
            <a:ext cx="3733800" cy="49850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4540" y="6476491"/>
            <a:ext cx="895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60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140" y="3606165"/>
            <a:ext cx="8607425" cy="2708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In the </a:t>
            </a:r>
            <a:r>
              <a:rPr sz="2200" spc="-10" dirty="0">
                <a:latin typeface="Times New Roman"/>
                <a:cs typeface="Times New Roman"/>
              </a:rPr>
              <a:t>city of </a:t>
            </a:r>
            <a:r>
              <a:rPr sz="2200" spc="-5" dirty="0">
                <a:latin typeface="Times New Roman"/>
                <a:cs typeface="Times New Roman"/>
              </a:rPr>
              <a:t>Königsberg, there is a river that forms two islands namely  </a:t>
            </a:r>
            <a:r>
              <a:rPr sz="2200" spc="-50" dirty="0">
                <a:latin typeface="Times New Roman"/>
                <a:cs typeface="Times New Roman"/>
              </a:rPr>
              <a:t>West </a:t>
            </a:r>
            <a:r>
              <a:rPr sz="2200" spc="-5" dirty="0">
                <a:latin typeface="Times New Roman"/>
                <a:cs typeface="Times New Roman"/>
              </a:rPr>
              <a:t>Island(WI) and East Island(EI). </a:t>
            </a:r>
            <a:r>
              <a:rPr sz="2200" spc="-55" dirty="0">
                <a:latin typeface="Times New Roman"/>
                <a:cs typeface="Times New Roman"/>
              </a:rPr>
              <a:t>Two </a:t>
            </a:r>
            <a:r>
              <a:rPr sz="2200" spc="-5" dirty="0">
                <a:latin typeface="Times New Roman"/>
                <a:cs typeface="Times New Roman"/>
              </a:rPr>
              <a:t>banks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the river – North  Bank(NB) </a:t>
            </a:r>
            <a:r>
              <a:rPr sz="2200" dirty="0">
                <a:latin typeface="Times New Roman"/>
                <a:cs typeface="Times New Roman"/>
              </a:rPr>
              <a:t>and South </a:t>
            </a:r>
            <a:r>
              <a:rPr sz="2200" spc="-5" dirty="0">
                <a:latin typeface="Times New Roman"/>
                <a:cs typeface="Times New Roman"/>
              </a:rPr>
              <a:t>Bank(SB) - </a:t>
            </a:r>
            <a:r>
              <a:rPr sz="2200" dirty="0">
                <a:latin typeface="Times New Roman"/>
                <a:cs typeface="Times New Roman"/>
              </a:rPr>
              <a:t>are </a:t>
            </a:r>
            <a:r>
              <a:rPr sz="2200" spc="-5" dirty="0">
                <a:latin typeface="Times New Roman"/>
                <a:cs typeface="Times New Roman"/>
              </a:rPr>
              <a:t>connected to these island by means of  seven bridges as shown </a:t>
            </a:r>
            <a:r>
              <a:rPr sz="2200" spc="-10" dirty="0">
                <a:latin typeface="Times New Roman"/>
                <a:cs typeface="Times New Roman"/>
              </a:rPr>
              <a:t>in the map </a:t>
            </a:r>
            <a:r>
              <a:rPr sz="2200" spc="-5" dirty="0">
                <a:latin typeface="Times New Roman"/>
                <a:cs typeface="Times New Roman"/>
              </a:rPr>
              <a:t>above. Is it possible to start from any one 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the four points (WI,EI,NB </a:t>
            </a:r>
            <a:r>
              <a:rPr sz="2200" dirty="0">
                <a:latin typeface="Times New Roman"/>
                <a:cs typeface="Times New Roman"/>
              </a:rPr>
              <a:t>or </a:t>
            </a:r>
            <a:r>
              <a:rPr sz="2200" spc="-5" dirty="0">
                <a:latin typeface="Times New Roman"/>
                <a:cs typeface="Times New Roman"/>
              </a:rPr>
              <a:t>SB) in the </a:t>
            </a:r>
            <a:r>
              <a:rPr sz="2200" spc="-35" dirty="0">
                <a:latin typeface="Times New Roman"/>
                <a:cs typeface="Times New Roman"/>
              </a:rPr>
              <a:t>city, </a:t>
            </a:r>
            <a:r>
              <a:rPr sz="2200" spc="-5" dirty="0">
                <a:latin typeface="Times New Roman"/>
                <a:cs typeface="Times New Roman"/>
              </a:rPr>
              <a:t>visits </a:t>
            </a:r>
            <a:r>
              <a:rPr sz="2200" spc="-10" dirty="0">
                <a:latin typeface="Times New Roman"/>
                <a:cs typeface="Times New Roman"/>
              </a:rPr>
              <a:t>each </a:t>
            </a:r>
            <a:r>
              <a:rPr sz="2200" spc="-5" dirty="0">
                <a:latin typeface="Times New Roman"/>
                <a:cs typeface="Times New Roman"/>
              </a:rPr>
              <a:t>part </a:t>
            </a:r>
            <a:r>
              <a:rPr sz="2200" spc="-1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the city  (both banks </a:t>
            </a:r>
            <a:r>
              <a:rPr sz="2200" spc="-10" dirty="0">
                <a:latin typeface="Times New Roman"/>
                <a:cs typeface="Times New Roman"/>
              </a:rPr>
              <a:t>and </a:t>
            </a:r>
            <a:r>
              <a:rPr sz="2200" spc="-5" dirty="0">
                <a:latin typeface="Times New Roman"/>
                <a:cs typeface="Times New Roman"/>
              </a:rPr>
              <a:t>both islands), crosses </a:t>
            </a:r>
            <a:r>
              <a:rPr sz="2200" spc="-10" dirty="0">
                <a:latin typeface="Times New Roman"/>
                <a:cs typeface="Times New Roman"/>
              </a:rPr>
              <a:t>each </a:t>
            </a:r>
            <a:r>
              <a:rPr sz="2200" spc="-5" dirty="0">
                <a:latin typeface="Times New Roman"/>
                <a:cs typeface="Times New Roman"/>
              </a:rPr>
              <a:t>bridge once and come back to  the starting </a:t>
            </a:r>
            <a:r>
              <a:rPr sz="2200" dirty="0">
                <a:latin typeface="Times New Roman"/>
                <a:cs typeface="Times New Roman"/>
              </a:rPr>
              <a:t>point? </a:t>
            </a:r>
            <a:r>
              <a:rPr sz="2200" spc="-5" dirty="0">
                <a:latin typeface="Times New Roman"/>
                <a:cs typeface="Times New Roman"/>
              </a:rPr>
              <a:t>There is no restriction in visiting land areas multiple  times.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8739" y="281686"/>
            <a:ext cx="4073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10" dirty="0"/>
              <a:t>Bridges </a:t>
            </a:r>
            <a:r>
              <a:rPr sz="4000" spc="-5" dirty="0"/>
              <a:t>of</a:t>
            </a:r>
            <a:r>
              <a:rPr sz="4000" spc="-75" dirty="0"/>
              <a:t> </a:t>
            </a:r>
            <a:r>
              <a:rPr sz="4000" spc="-5" dirty="0"/>
              <a:t>Königsberg</a:t>
            </a:r>
            <a:endParaRPr sz="4000"/>
          </a:p>
        </p:txBody>
      </p:sp>
      <p:sp>
        <p:nvSpPr>
          <p:cNvPr id="7" name="object 7"/>
          <p:cNvSpPr/>
          <p:nvPr/>
        </p:nvSpPr>
        <p:spPr>
          <a:xfrm>
            <a:off x="2171700" y="1066800"/>
            <a:ext cx="3886200" cy="26380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4540" y="6476491"/>
            <a:ext cx="895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61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140" y="1252474"/>
            <a:ext cx="459232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Let us </a:t>
            </a:r>
            <a:r>
              <a:rPr sz="2600" spc="15" dirty="0">
                <a:latin typeface="Perpetua"/>
                <a:cs typeface="Perpetua"/>
              </a:rPr>
              <a:t>start </a:t>
            </a:r>
            <a:r>
              <a:rPr sz="2600" spc="-30" dirty="0">
                <a:latin typeface="Perpetua"/>
                <a:cs typeface="Perpetua"/>
              </a:rPr>
              <a:t>by </a:t>
            </a:r>
            <a:r>
              <a:rPr sz="2600" spc="-5" dirty="0">
                <a:latin typeface="Perpetua"/>
                <a:cs typeface="Perpetua"/>
              </a:rPr>
              <a:t>representing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map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8739" y="281686"/>
            <a:ext cx="59582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10" dirty="0"/>
              <a:t>Bridges </a:t>
            </a:r>
            <a:r>
              <a:rPr sz="4000" spc="-5" dirty="0"/>
              <a:t>of Königsberg :</a:t>
            </a:r>
            <a:r>
              <a:rPr sz="4000" spc="-195" dirty="0"/>
              <a:t> </a:t>
            </a:r>
            <a:r>
              <a:rPr sz="4000" spc="-5" dirty="0"/>
              <a:t>Solution</a:t>
            </a:r>
            <a:endParaRPr sz="4000"/>
          </a:p>
        </p:txBody>
      </p:sp>
      <p:sp>
        <p:nvSpPr>
          <p:cNvPr id="7" name="object 7"/>
          <p:cNvSpPr/>
          <p:nvPr/>
        </p:nvSpPr>
        <p:spPr>
          <a:xfrm>
            <a:off x="5039459" y="1908429"/>
            <a:ext cx="3752138" cy="2171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1140" y="4218558"/>
            <a:ext cx="7473950" cy="1129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  <a:tab pos="2832735" algn="l"/>
              </a:tabLst>
            </a:pPr>
            <a:r>
              <a:rPr sz="2400" spc="-5" dirty="0">
                <a:latin typeface="Perpetua"/>
                <a:cs typeface="Perpetua"/>
              </a:rPr>
              <a:t>Circles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represent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land	</a:t>
            </a:r>
            <a:r>
              <a:rPr sz="2400" spc="-10" dirty="0">
                <a:latin typeface="Perpetua"/>
                <a:cs typeface="Perpetua"/>
              </a:rPr>
              <a:t>area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black </a:t>
            </a:r>
            <a:r>
              <a:rPr sz="2400" spc="-5" dirty="0">
                <a:latin typeface="Perpetua"/>
                <a:cs typeface="Perpetua"/>
              </a:rPr>
              <a:t>lines represent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bridges.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Let us </a:t>
            </a:r>
            <a:r>
              <a:rPr sz="2400" spc="15" dirty="0">
                <a:latin typeface="Perpetua"/>
                <a:cs typeface="Perpetua"/>
              </a:rPr>
              <a:t>start </a:t>
            </a:r>
            <a:r>
              <a:rPr sz="2400" spc="-5" dirty="0">
                <a:latin typeface="Perpetua"/>
                <a:cs typeface="Perpetua"/>
              </a:rPr>
              <a:t>with </a:t>
            </a:r>
            <a:r>
              <a:rPr sz="2400" spc="15" dirty="0">
                <a:latin typeface="Perpetua"/>
                <a:cs typeface="Perpetua"/>
              </a:rPr>
              <a:t>North</a:t>
            </a:r>
            <a:r>
              <a:rPr sz="2400" spc="-6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Bank(NB)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5" dirty="0">
                <a:latin typeface="Perpetua"/>
                <a:cs typeface="Perpetua"/>
              </a:rPr>
              <a:t>Whenever </a:t>
            </a:r>
            <a:r>
              <a:rPr sz="2400" spc="-50" dirty="0">
                <a:latin typeface="Perpetua"/>
                <a:cs typeface="Perpetua"/>
              </a:rPr>
              <a:t>we </a:t>
            </a:r>
            <a:r>
              <a:rPr sz="2400" spc="-10" dirty="0">
                <a:latin typeface="Perpetua"/>
                <a:cs typeface="Perpetua"/>
              </a:rPr>
              <a:t>cross </a:t>
            </a:r>
            <a:r>
              <a:rPr sz="2400" dirty="0">
                <a:latin typeface="Perpetua"/>
                <a:cs typeface="Perpetua"/>
              </a:rPr>
              <a:t>one bridge, </a:t>
            </a:r>
            <a:r>
              <a:rPr sz="2400" spc="-50" dirty="0">
                <a:latin typeface="Perpetua"/>
                <a:cs typeface="Perpetua"/>
              </a:rPr>
              <a:t>we </a:t>
            </a:r>
            <a:r>
              <a:rPr sz="2400" spc="-5" dirty="0">
                <a:latin typeface="Perpetua"/>
                <a:cs typeface="Perpetua"/>
              </a:rPr>
              <a:t>will </a:t>
            </a:r>
            <a:r>
              <a:rPr sz="2400" spc="5" dirty="0">
                <a:latin typeface="Perpetua"/>
                <a:cs typeface="Perpetua"/>
              </a:rPr>
              <a:t>change </a:t>
            </a:r>
            <a:r>
              <a:rPr sz="2400" dirty="0">
                <a:latin typeface="Perpetua"/>
                <a:cs typeface="Perpetua"/>
              </a:rPr>
              <a:t>its colour to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RED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0520" y="1719072"/>
            <a:ext cx="3886200" cy="26380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19600" y="2667000"/>
            <a:ext cx="609600" cy="299085"/>
          </a:xfrm>
          <a:custGeom>
            <a:avLst/>
            <a:gdLst/>
            <a:ahLst/>
            <a:cxnLst/>
            <a:rect l="l" t="t" r="r" b="b"/>
            <a:pathLst>
              <a:path w="609600" h="299085">
                <a:moveTo>
                  <a:pt x="460248" y="0"/>
                </a:moveTo>
                <a:lnTo>
                  <a:pt x="460248" y="74675"/>
                </a:lnTo>
                <a:lnTo>
                  <a:pt x="0" y="74675"/>
                </a:lnTo>
                <a:lnTo>
                  <a:pt x="0" y="224027"/>
                </a:lnTo>
                <a:lnTo>
                  <a:pt x="460248" y="224027"/>
                </a:lnTo>
                <a:lnTo>
                  <a:pt x="460248" y="298703"/>
                </a:lnTo>
                <a:lnTo>
                  <a:pt x="609600" y="149351"/>
                </a:lnTo>
                <a:lnTo>
                  <a:pt x="460248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19600" y="2667000"/>
            <a:ext cx="609600" cy="299085"/>
          </a:xfrm>
          <a:custGeom>
            <a:avLst/>
            <a:gdLst/>
            <a:ahLst/>
            <a:cxnLst/>
            <a:rect l="l" t="t" r="r" b="b"/>
            <a:pathLst>
              <a:path w="609600" h="299085">
                <a:moveTo>
                  <a:pt x="0" y="74675"/>
                </a:moveTo>
                <a:lnTo>
                  <a:pt x="460248" y="74675"/>
                </a:lnTo>
                <a:lnTo>
                  <a:pt x="460248" y="0"/>
                </a:lnTo>
                <a:lnTo>
                  <a:pt x="609600" y="149351"/>
                </a:lnTo>
                <a:lnTo>
                  <a:pt x="460248" y="298703"/>
                </a:lnTo>
                <a:lnTo>
                  <a:pt x="460248" y="224027"/>
                </a:lnTo>
                <a:lnTo>
                  <a:pt x="0" y="224027"/>
                </a:lnTo>
                <a:lnTo>
                  <a:pt x="0" y="74675"/>
                </a:lnTo>
                <a:close/>
              </a:path>
            </a:pathLst>
          </a:custGeom>
          <a:ln w="12192">
            <a:solidFill>
              <a:srgbClr val="9B31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4540" y="6476491"/>
            <a:ext cx="895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62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8469" y="693102"/>
            <a:ext cx="2876537" cy="16649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52071" y="649288"/>
            <a:ext cx="2684814" cy="15542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55365" y="2821196"/>
            <a:ext cx="2610678" cy="14833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05319" y="1824989"/>
            <a:ext cx="690880" cy="896619"/>
          </a:xfrm>
          <a:custGeom>
            <a:avLst/>
            <a:gdLst/>
            <a:ahLst/>
            <a:cxnLst/>
            <a:rect l="l" t="t" r="r" b="b"/>
            <a:pathLst>
              <a:path w="690879" h="896619">
                <a:moveTo>
                  <a:pt x="639458" y="839694"/>
                </a:moveTo>
                <a:lnTo>
                  <a:pt x="614299" y="859027"/>
                </a:lnTo>
                <a:lnTo>
                  <a:pt x="690879" y="896238"/>
                </a:lnTo>
                <a:lnTo>
                  <a:pt x="681837" y="849757"/>
                </a:lnTo>
                <a:lnTo>
                  <a:pt x="647191" y="849757"/>
                </a:lnTo>
                <a:lnTo>
                  <a:pt x="639458" y="839694"/>
                </a:lnTo>
                <a:close/>
              </a:path>
              <a:path w="690879" h="896619">
                <a:moveTo>
                  <a:pt x="649510" y="831970"/>
                </a:moveTo>
                <a:lnTo>
                  <a:pt x="639458" y="839694"/>
                </a:lnTo>
                <a:lnTo>
                  <a:pt x="647191" y="849757"/>
                </a:lnTo>
                <a:lnTo>
                  <a:pt x="657225" y="842010"/>
                </a:lnTo>
                <a:lnTo>
                  <a:pt x="649510" y="831970"/>
                </a:lnTo>
                <a:close/>
              </a:path>
              <a:path w="690879" h="896619">
                <a:moveTo>
                  <a:pt x="674624" y="812673"/>
                </a:moveTo>
                <a:lnTo>
                  <a:pt x="649510" y="831970"/>
                </a:lnTo>
                <a:lnTo>
                  <a:pt x="657225" y="842010"/>
                </a:lnTo>
                <a:lnTo>
                  <a:pt x="647191" y="849757"/>
                </a:lnTo>
                <a:lnTo>
                  <a:pt x="681837" y="849757"/>
                </a:lnTo>
                <a:lnTo>
                  <a:pt x="674624" y="812673"/>
                </a:lnTo>
                <a:close/>
              </a:path>
              <a:path w="690879" h="896619">
                <a:moveTo>
                  <a:pt x="10159" y="0"/>
                </a:moveTo>
                <a:lnTo>
                  <a:pt x="0" y="7620"/>
                </a:lnTo>
                <a:lnTo>
                  <a:pt x="639458" y="839694"/>
                </a:lnTo>
                <a:lnTo>
                  <a:pt x="649510" y="831970"/>
                </a:lnTo>
                <a:lnTo>
                  <a:pt x="10159" y="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81400" y="1380744"/>
            <a:ext cx="962025" cy="76200"/>
          </a:xfrm>
          <a:custGeom>
            <a:avLst/>
            <a:gdLst/>
            <a:ahLst/>
            <a:cxnLst/>
            <a:rect l="l" t="t" r="r" b="b"/>
            <a:pathLst>
              <a:path w="962025" h="76200">
                <a:moveTo>
                  <a:pt x="885571" y="0"/>
                </a:moveTo>
                <a:lnTo>
                  <a:pt x="885571" y="76200"/>
                </a:lnTo>
                <a:lnTo>
                  <a:pt x="949071" y="44450"/>
                </a:lnTo>
                <a:lnTo>
                  <a:pt x="898271" y="44450"/>
                </a:lnTo>
                <a:lnTo>
                  <a:pt x="898271" y="31750"/>
                </a:lnTo>
                <a:lnTo>
                  <a:pt x="949071" y="31750"/>
                </a:lnTo>
                <a:lnTo>
                  <a:pt x="885571" y="0"/>
                </a:lnTo>
                <a:close/>
              </a:path>
              <a:path w="962025" h="76200">
                <a:moveTo>
                  <a:pt x="88557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885571" y="44450"/>
                </a:lnTo>
                <a:lnTo>
                  <a:pt x="885571" y="31750"/>
                </a:lnTo>
                <a:close/>
              </a:path>
              <a:path w="962025" h="76200">
                <a:moveTo>
                  <a:pt x="949071" y="31750"/>
                </a:moveTo>
                <a:lnTo>
                  <a:pt x="898271" y="31750"/>
                </a:lnTo>
                <a:lnTo>
                  <a:pt x="898271" y="44450"/>
                </a:lnTo>
                <a:lnTo>
                  <a:pt x="949071" y="44450"/>
                </a:lnTo>
                <a:lnTo>
                  <a:pt x="961771" y="38100"/>
                </a:lnTo>
                <a:lnTo>
                  <a:pt x="949071" y="3175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5692" y="2811710"/>
            <a:ext cx="2950689" cy="16771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97808" y="3541521"/>
            <a:ext cx="1700530" cy="76200"/>
          </a:xfrm>
          <a:custGeom>
            <a:avLst/>
            <a:gdLst/>
            <a:ahLst/>
            <a:cxnLst/>
            <a:rect l="l" t="t" r="r" b="b"/>
            <a:pathLst>
              <a:path w="1700529" h="76200">
                <a:moveTo>
                  <a:pt x="75564" y="0"/>
                </a:moveTo>
                <a:lnTo>
                  <a:pt x="0" y="39242"/>
                </a:lnTo>
                <a:lnTo>
                  <a:pt x="76707" y="76200"/>
                </a:lnTo>
                <a:lnTo>
                  <a:pt x="76233" y="44576"/>
                </a:lnTo>
                <a:lnTo>
                  <a:pt x="63626" y="44576"/>
                </a:lnTo>
                <a:lnTo>
                  <a:pt x="63372" y="31876"/>
                </a:lnTo>
                <a:lnTo>
                  <a:pt x="76040" y="31689"/>
                </a:lnTo>
                <a:lnTo>
                  <a:pt x="75564" y="0"/>
                </a:lnTo>
                <a:close/>
              </a:path>
              <a:path w="1700529" h="76200">
                <a:moveTo>
                  <a:pt x="76040" y="31689"/>
                </a:moveTo>
                <a:lnTo>
                  <a:pt x="63372" y="31876"/>
                </a:lnTo>
                <a:lnTo>
                  <a:pt x="63626" y="44576"/>
                </a:lnTo>
                <a:lnTo>
                  <a:pt x="76230" y="44390"/>
                </a:lnTo>
                <a:lnTo>
                  <a:pt x="76040" y="31689"/>
                </a:lnTo>
                <a:close/>
              </a:path>
              <a:path w="1700529" h="76200">
                <a:moveTo>
                  <a:pt x="76230" y="44390"/>
                </a:moveTo>
                <a:lnTo>
                  <a:pt x="63626" y="44576"/>
                </a:lnTo>
                <a:lnTo>
                  <a:pt x="76233" y="44576"/>
                </a:lnTo>
                <a:lnTo>
                  <a:pt x="76230" y="44390"/>
                </a:lnTo>
                <a:close/>
              </a:path>
              <a:path w="1700529" h="76200">
                <a:moveTo>
                  <a:pt x="1700021" y="7619"/>
                </a:moveTo>
                <a:lnTo>
                  <a:pt x="76040" y="31689"/>
                </a:lnTo>
                <a:lnTo>
                  <a:pt x="76230" y="44390"/>
                </a:lnTo>
                <a:lnTo>
                  <a:pt x="1700149" y="20319"/>
                </a:lnTo>
                <a:lnTo>
                  <a:pt x="1700021" y="7619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24687" y="4696714"/>
            <a:ext cx="8414385" cy="1877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Now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there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</a:t>
            </a:r>
            <a:r>
              <a:rPr sz="2200" spc="15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bridges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(which</a:t>
            </a:r>
            <a:r>
              <a:rPr sz="2200" spc="15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we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have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crossed)</a:t>
            </a:r>
            <a:r>
              <a:rPr sz="2200" spc="15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available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15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take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us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back to North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Bank!!!</a:t>
            </a:r>
            <a:endParaRPr sz="2200">
              <a:latin typeface="Times New Roman"/>
              <a:cs typeface="Times New Roman"/>
            </a:endParaRPr>
          </a:p>
          <a:p>
            <a:pPr marL="3356610" indent="-240665">
              <a:lnSpc>
                <a:spcPct val="100000"/>
              </a:lnSpc>
              <a:spcBef>
                <a:spcPts val="655"/>
              </a:spcBef>
              <a:buSzPct val="95833"/>
              <a:buFont typeface="Wingdings"/>
              <a:buChar char=""/>
              <a:tabLst>
                <a:tab pos="3357245" algn="l"/>
              </a:tabLst>
            </a:pPr>
            <a:r>
              <a:rPr sz="2400" b="1" i="1" spc="-95" dirty="0">
                <a:solidFill>
                  <a:srgbClr val="C00000"/>
                </a:solidFill>
                <a:latin typeface="Perpetua"/>
                <a:cs typeface="Perpetua"/>
              </a:rPr>
              <a:t>Try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with some other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starting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point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and</a:t>
            </a:r>
            <a:r>
              <a:rPr sz="2400" b="1" i="1" spc="6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see</a:t>
            </a:r>
            <a:endParaRPr sz="2400">
              <a:latin typeface="Perpetua"/>
              <a:cs typeface="Perpetua"/>
            </a:endParaRPr>
          </a:p>
          <a:p>
            <a:pPr marL="3356610" indent="-240665">
              <a:lnSpc>
                <a:spcPct val="100000"/>
              </a:lnSpc>
              <a:spcBef>
                <a:spcPts val="5"/>
              </a:spcBef>
              <a:buSzPct val="95833"/>
              <a:buFont typeface="Wingdings"/>
              <a:buChar char=""/>
              <a:tabLst>
                <a:tab pos="3357245" algn="l"/>
              </a:tabLst>
            </a:pPr>
            <a:r>
              <a:rPr sz="2400" b="1" i="1" spc="-15" dirty="0">
                <a:solidFill>
                  <a:srgbClr val="C00000"/>
                </a:solidFill>
                <a:latin typeface="Perpetua"/>
                <a:cs typeface="Perpetua"/>
              </a:rPr>
              <a:t>Are you </a:t>
            </a:r>
            <a:r>
              <a:rPr sz="2400" b="1" i="1" spc="-25" dirty="0">
                <a:solidFill>
                  <a:srgbClr val="C00000"/>
                </a:solidFill>
                <a:latin typeface="Perpetua"/>
                <a:cs typeface="Perpetua"/>
              </a:rPr>
              <a:t>able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to </a:t>
            </a:r>
            <a:r>
              <a:rPr sz="2400" b="1" i="1" spc="-15" dirty="0">
                <a:solidFill>
                  <a:srgbClr val="C00000"/>
                </a:solidFill>
                <a:latin typeface="Perpetua"/>
                <a:cs typeface="Perpetua"/>
              </a:rPr>
              <a:t>achieve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the</a:t>
            </a:r>
            <a:r>
              <a:rPr sz="2400" b="1" i="1" spc="4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i="1" spc="-15" dirty="0">
                <a:solidFill>
                  <a:srgbClr val="C00000"/>
                </a:solidFill>
                <a:latin typeface="Perpetua"/>
                <a:cs typeface="Perpetua"/>
              </a:rPr>
              <a:t>goal?</a:t>
            </a:r>
            <a:endParaRPr sz="2400">
              <a:latin typeface="Perpetua"/>
              <a:cs typeface="Perpetua"/>
            </a:endParaRPr>
          </a:p>
          <a:p>
            <a:pPr marL="3356610" indent="-240665">
              <a:lnSpc>
                <a:spcPct val="100000"/>
              </a:lnSpc>
              <a:buSzPct val="95833"/>
              <a:buFont typeface="Wingdings"/>
              <a:buChar char=""/>
              <a:tabLst>
                <a:tab pos="3357245" algn="l"/>
              </a:tabLst>
            </a:pPr>
            <a:r>
              <a:rPr sz="2400" b="1" i="1" spc="-10" dirty="0">
                <a:solidFill>
                  <a:srgbClr val="C00000"/>
                </a:solidFill>
                <a:latin typeface="Perpetua"/>
                <a:cs typeface="Perpetua"/>
              </a:rPr>
              <a:t>What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do </a:t>
            </a:r>
            <a:r>
              <a:rPr sz="2400" b="1" i="1" spc="-15" dirty="0">
                <a:solidFill>
                  <a:srgbClr val="C00000"/>
                </a:solidFill>
                <a:latin typeface="Perpetua"/>
                <a:cs typeface="Perpetua"/>
              </a:rPr>
              <a:t>you observe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in each</a:t>
            </a:r>
            <a:r>
              <a:rPr sz="2400" b="1" i="1" spc="2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case?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4540" y="6476491"/>
            <a:ext cx="895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63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8150" y="1165605"/>
            <a:ext cx="8415020" cy="4354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0"/>
              </a:spcBef>
              <a:buSzPct val="85416"/>
              <a:buFont typeface="Wingdings"/>
              <a:buChar char="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If </a:t>
            </a:r>
            <a:r>
              <a:rPr sz="2400" spc="-5" dirty="0">
                <a:latin typeface="Times New Roman"/>
                <a:cs typeface="Times New Roman"/>
              </a:rPr>
              <a:t>we </a:t>
            </a:r>
            <a:r>
              <a:rPr sz="2400" dirty="0">
                <a:latin typeface="Times New Roman"/>
                <a:cs typeface="Times New Roman"/>
              </a:rPr>
              <a:t>are </a:t>
            </a:r>
            <a:r>
              <a:rPr sz="2400" spc="-5" dirty="0">
                <a:latin typeface="Times New Roman"/>
                <a:cs typeface="Times New Roman"/>
              </a:rPr>
              <a:t>returning </a:t>
            </a:r>
            <a:r>
              <a:rPr sz="2400" dirty="0">
                <a:latin typeface="Times New Roman"/>
                <a:cs typeface="Times New Roman"/>
              </a:rPr>
              <a:t>back to the </a:t>
            </a:r>
            <a:r>
              <a:rPr sz="2400" spc="-5" dirty="0">
                <a:latin typeface="Times New Roman"/>
                <a:cs typeface="Times New Roman"/>
              </a:rPr>
              <a:t>starting point, we </a:t>
            </a:r>
            <a:r>
              <a:rPr sz="2400" dirty="0">
                <a:latin typeface="Times New Roman"/>
                <a:cs typeface="Times New Roman"/>
              </a:rPr>
              <a:t>have </a:t>
            </a:r>
            <a:r>
              <a:rPr sz="2400" spc="-5" dirty="0">
                <a:latin typeface="Times New Roman"/>
                <a:cs typeface="Times New Roman"/>
              </a:rPr>
              <a:t>not crossed  </a:t>
            </a:r>
            <a:r>
              <a:rPr sz="2400" dirty="0">
                <a:latin typeface="Times New Roman"/>
                <a:cs typeface="Times New Roman"/>
              </a:rPr>
              <a:t>all bridges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>
                <a:latin typeface="Times New Roman"/>
                <a:cs typeface="Times New Roman"/>
              </a:rPr>
              <a:t> there will </a:t>
            </a:r>
            <a:r>
              <a:rPr sz="2400" spc="-5" dirty="0">
                <a:latin typeface="Times New Roman"/>
                <a:cs typeface="Times New Roman"/>
              </a:rPr>
              <a:t>be some </a:t>
            </a:r>
            <a:r>
              <a:rPr sz="2400" dirty="0">
                <a:latin typeface="Times New Roman"/>
                <a:cs typeface="Times New Roman"/>
              </a:rPr>
              <a:t>black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"/>
            </a:pPr>
            <a:endParaRPr sz="355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ct val="100000"/>
              </a:lnSpc>
              <a:buSzPct val="85416"/>
              <a:buFont typeface="Wingdings"/>
              <a:buChar char="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If </a:t>
            </a:r>
            <a:r>
              <a:rPr sz="2400" spc="-5" dirty="0">
                <a:latin typeface="Times New Roman"/>
                <a:cs typeface="Times New Roman"/>
              </a:rPr>
              <a:t>we </a:t>
            </a:r>
            <a:r>
              <a:rPr sz="2400" dirty="0">
                <a:latin typeface="Times New Roman"/>
                <a:cs typeface="Times New Roman"/>
              </a:rPr>
              <a:t>have crossed </a:t>
            </a:r>
            <a:r>
              <a:rPr sz="2400" spc="-5" dirty="0">
                <a:latin typeface="Times New Roman"/>
                <a:cs typeface="Times New Roman"/>
              </a:rPr>
              <a:t>all bridges; i.e.; </a:t>
            </a:r>
            <a:r>
              <a:rPr sz="2400" dirty="0">
                <a:latin typeface="Times New Roman"/>
                <a:cs typeface="Times New Roman"/>
              </a:rPr>
              <a:t>all </a:t>
            </a:r>
            <a:r>
              <a:rPr sz="2400" spc="-5" dirty="0">
                <a:latin typeface="Times New Roman"/>
                <a:cs typeface="Times New Roman"/>
              </a:rPr>
              <a:t>lines are re-coloured as </a:t>
            </a:r>
            <a:r>
              <a:rPr sz="2400" spc="5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RED, we will be </a:t>
            </a:r>
            <a:r>
              <a:rPr sz="2400" dirty="0">
                <a:latin typeface="Times New Roman"/>
                <a:cs typeface="Times New Roman"/>
              </a:rPr>
              <a:t>in a </a:t>
            </a:r>
            <a:r>
              <a:rPr sz="2400" spc="-5" dirty="0">
                <a:latin typeface="Times New Roman"/>
                <a:cs typeface="Times New Roman"/>
              </a:rPr>
              <a:t>land </a:t>
            </a:r>
            <a:r>
              <a:rPr sz="2400" dirty="0">
                <a:latin typeface="Times New Roman"/>
                <a:cs typeface="Times New Roman"/>
              </a:rPr>
              <a:t>area </a:t>
            </a:r>
            <a:r>
              <a:rPr sz="2400" spc="-5" dirty="0">
                <a:latin typeface="Times New Roman"/>
                <a:cs typeface="Times New Roman"/>
              </a:rPr>
              <a:t>that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10" dirty="0">
                <a:latin typeface="Times New Roman"/>
                <a:cs typeface="Times New Roman"/>
              </a:rPr>
              <a:t>different </a:t>
            </a:r>
            <a:r>
              <a:rPr sz="2400" dirty="0">
                <a:latin typeface="Times New Roman"/>
                <a:cs typeface="Times New Roman"/>
              </a:rPr>
              <a:t>from </a:t>
            </a:r>
            <a:r>
              <a:rPr sz="2400" spc="-5" dirty="0">
                <a:latin typeface="Times New Roman"/>
                <a:cs typeface="Times New Roman"/>
              </a:rPr>
              <a:t>our </a:t>
            </a:r>
            <a:r>
              <a:rPr sz="2400" dirty="0">
                <a:latin typeface="Times New Roman"/>
                <a:cs typeface="Times New Roman"/>
              </a:rPr>
              <a:t>starting  point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"/>
            </a:pPr>
            <a:endParaRPr sz="355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ct val="100000"/>
              </a:lnSpc>
              <a:buSzPct val="85416"/>
              <a:buFont typeface="Wingdings"/>
              <a:buChar char="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Hence,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conclusion </a:t>
            </a:r>
            <a:r>
              <a:rPr sz="2400" spc="-5" dirty="0">
                <a:latin typeface="Times New Roman"/>
                <a:cs typeface="Times New Roman"/>
              </a:rPr>
              <a:t>is that it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not possible to </a:t>
            </a:r>
            <a:r>
              <a:rPr sz="2400" dirty="0">
                <a:latin typeface="Times New Roman"/>
                <a:cs typeface="Times New Roman"/>
              </a:rPr>
              <a:t>start </a:t>
            </a:r>
            <a:r>
              <a:rPr sz="2400" spc="-5" dirty="0">
                <a:latin typeface="Times New Roman"/>
                <a:cs typeface="Times New Roman"/>
              </a:rPr>
              <a:t>from </a:t>
            </a:r>
            <a:r>
              <a:rPr sz="2400" dirty="0">
                <a:latin typeface="Times New Roman"/>
                <a:cs typeface="Times New Roman"/>
              </a:rPr>
              <a:t>any  one of the four </a:t>
            </a:r>
            <a:r>
              <a:rPr sz="2400" spc="-5" dirty="0">
                <a:latin typeface="Times New Roman"/>
                <a:cs typeface="Times New Roman"/>
              </a:rPr>
              <a:t>points (WI,EI,NB </a:t>
            </a:r>
            <a:r>
              <a:rPr sz="2400" spc="5" dirty="0">
                <a:latin typeface="Times New Roman"/>
                <a:cs typeface="Times New Roman"/>
              </a:rPr>
              <a:t>or </a:t>
            </a:r>
            <a:r>
              <a:rPr sz="2400" spc="-5" dirty="0">
                <a:latin typeface="Times New Roman"/>
                <a:cs typeface="Times New Roman"/>
              </a:rPr>
              <a:t>SB)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spc="-35" dirty="0">
                <a:latin typeface="Times New Roman"/>
                <a:cs typeface="Times New Roman"/>
              </a:rPr>
              <a:t>city, </a:t>
            </a:r>
            <a:r>
              <a:rPr sz="2400" spc="-5" dirty="0">
                <a:latin typeface="Times New Roman"/>
                <a:cs typeface="Times New Roman"/>
              </a:rPr>
              <a:t>visits </a:t>
            </a:r>
            <a:r>
              <a:rPr sz="2400" dirty="0">
                <a:latin typeface="Times New Roman"/>
                <a:cs typeface="Times New Roman"/>
              </a:rPr>
              <a:t>each  part of </a:t>
            </a:r>
            <a:r>
              <a:rPr sz="2400" spc="-5" dirty="0">
                <a:latin typeface="Times New Roman"/>
                <a:cs typeface="Times New Roman"/>
              </a:rPr>
              <a:t>the city </a:t>
            </a:r>
            <a:r>
              <a:rPr sz="2400" dirty="0">
                <a:latin typeface="Times New Roman"/>
                <a:cs typeface="Times New Roman"/>
              </a:rPr>
              <a:t>(both </a:t>
            </a:r>
            <a:r>
              <a:rPr sz="2400" spc="-10" dirty="0">
                <a:latin typeface="Times New Roman"/>
                <a:cs typeface="Times New Roman"/>
              </a:rPr>
              <a:t>banks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both </a:t>
            </a:r>
            <a:r>
              <a:rPr sz="2400" dirty="0">
                <a:latin typeface="Times New Roman"/>
                <a:cs typeface="Times New Roman"/>
              </a:rPr>
              <a:t>islands), </a:t>
            </a:r>
            <a:r>
              <a:rPr sz="2400" spc="-5" dirty="0">
                <a:latin typeface="Times New Roman"/>
                <a:cs typeface="Times New Roman"/>
              </a:rPr>
              <a:t>crosses each bridge  </a:t>
            </a:r>
            <a:r>
              <a:rPr sz="2400" dirty="0">
                <a:latin typeface="Times New Roman"/>
                <a:cs typeface="Times New Roman"/>
              </a:rPr>
              <a:t>once and </a:t>
            </a:r>
            <a:r>
              <a:rPr sz="2400" spc="-5" dirty="0">
                <a:latin typeface="Times New Roman"/>
                <a:cs typeface="Times New Roman"/>
              </a:rPr>
              <a:t>come </a:t>
            </a:r>
            <a:r>
              <a:rPr sz="2400" dirty="0">
                <a:latin typeface="Times New Roman"/>
                <a:cs typeface="Times New Roman"/>
              </a:rPr>
              <a:t>back to the starting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196D1F7F73754F88450F2D99E4F7B5" ma:contentTypeVersion="2" ma:contentTypeDescription="Create a new document." ma:contentTypeScope="" ma:versionID="377713a6ec07779513477d2db2fdf306">
  <xsd:schema xmlns:xsd="http://www.w3.org/2001/XMLSchema" xmlns:xs="http://www.w3.org/2001/XMLSchema" xmlns:p="http://schemas.microsoft.com/office/2006/metadata/properties" xmlns:ns2="97fcc8e9-f7dc-4663-b115-0b99de842f01" targetNamespace="http://schemas.microsoft.com/office/2006/metadata/properties" ma:root="true" ma:fieldsID="6b5254e67f1be017f500236611855803" ns2:_="">
    <xsd:import namespace="97fcc8e9-f7dc-4663-b115-0b99de842f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fcc8e9-f7dc-4663-b115-0b99de842f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414D953-216F-46D6-ACD4-99D27CB2C378}"/>
</file>

<file path=customXml/itemProps2.xml><?xml version="1.0" encoding="utf-8"?>
<ds:datastoreItem xmlns:ds="http://schemas.openxmlformats.org/officeDocument/2006/customXml" ds:itemID="{7900DC71-4733-423E-B141-19EB4AFC7679}"/>
</file>

<file path=customXml/itemProps3.xml><?xml version="1.0" encoding="utf-8"?>
<ds:datastoreItem xmlns:ds="http://schemas.openxmlformats.org/officeDocument/2006/customXml" ds:itemID="{AFE63B48-55B8-4A63-9D6B-BF5E1710553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3425</Words>
  <Application>Microsoft Office PowerPoint</Application>
  <PresentationFormat>On-screen Show (4:3)</PresentationFormat>
  <Paragraphs>572</Paragraphs>
  <Slides>63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4" baseType="lpstr">
      <vt:lpstr>Office Theme</vt:lpstr>
      <vt:lpstr>Slide 1</vt:lpstr>
      <vt:lpstr>A Restaurant Scenario</vt:lpstr>
      <vt:lpstr>How was the Conclusion reached?</vt:lpstr>
      <vt:lpstr>Formally stating the procedure, we have</vt:lpstr>
      <vt:lpstr>Slide 5</vt:lpstr>
      <vt:lpstr>Identifying facts and conclusion</vt:lpstr>
      <vt:lpstr>Identifying facts and conclusion</vt:lpstr>
      <vt:lpstr>Identify facts and conclusion for the sentences given below:-</vt:lpstr>
      <vt:lpstr>Identify facts and conclusion (Soln.)</vt:lpstr>
      <vt:lpstr>What will be the conclusion for cases given below?</vt:lpstr>
      <vt:lpstr>What will be the conclusion for cases given below?(Soln.)</vt:lpstr>
      <vt:lpstr>Arguments</vt:lpstr>
      <vt:lpstr>Structure for a logical argument</vt:lpstr>
      <vt:lpstr>Slide 14</vt:lpstr>
      <vt:lpstr>Deductive reasoning</vt:lpstr>
      <vt:lpstr>Deductive reasoning- example</vt:lpstr>
      <vt:lpstr>Another example</vt:lpstr>
      <vt:lpstr>Advertisements and commercials –an example Man: What’s better, faster or slower?</vt:lpstr>
      <vt:lpstr>Man: Would you like her better if she was fast?</vt:lpstr>
      <vt:lpstr>Slide 20</vt:lpstr>
      <vt:lpstr>A conversation</vt:lpstr>
      <vt:lpstr>Facts and Conclusions</vt:lpstr>
      <vt:lpstr>Write the conclusion for the following</vt:lpstr>
      <vt:lpstr>Slide 24</vt:lpstr>
      <vt:lpstr>A valid deductive argument</vt:lpstr>
      <vt:lpstr>Caution</vt:lpstr>
      <vt:lpstr>A not necessarily valid deductive argument</vt:lpstr>
      <vt:lpstr>When are conclusions false?</vt:lpstr>
      <vt:lpstr>Slide 29</vt:lpstr>
      <vt:lpstr>Slide 30</vt:lpstr>
      <vt:lpstr>Valid argument</vt:lpstr>
      <vt:lpstr>Sound argument</vt:lpstr>
      <vt:lpstr>Slide 33</vt:lpstr>
      <vt:lpstr>Check whether the conclusions in each scenario is valid or not</vt:lpstr>
      <vt:lpstr>Correct it the following arguments if necessary.</vt:lpstr>
      <vt:lpstr>Argument Three</vt:lpstr>
      <vt:lpstr>Solution</vt:lpstr>
      <vt:lpstr>Inductive reasoning</vt:lpstr>
      <vt:lpstr>Limited experiences to sweeping generalities!!!</vt:lpstr>
      <vt:lpstr>Another example</vt:lpstr>
      <vt:lpstr>The risk of uncertainty</vt:lpstr>
      <vt:lpstr>Premises of inductive arguments</vt:lpstr>
      <vt:lpstr>Slide 43</vt:lpstr>
      <vt:lpstr>Slide 44</vt:lpstr>
      <vt:lpstr>Deductive and inductive in real world???</vt:lpstr>
      <vt:lpstr>A conversation</vt:lpstr>
      <vt:lpstr>from</vt:lpstr>
      <vt:lpstr>Slide 48</vt:lpstr>
      <vt:lpstr>Good logical arguments can come in two varieties:</vt:lpstr>
      <vt:lpstr>State whether Deductive or Inductive</vt:lpstr>
      <vt:lpstr>State whether Deductive or Inductive--- soln</vt:lpstr>
      <vt:lpstr>State whether Deductive or Inductive</vt:lpstr>
      <vt:lpstr>State whether Deductive or Inductive (Soln)</vt:lpstr>
      <vt:lpstr>Slide 54</vt:lpstr>
      <vt:lpstr>The show : Criminal Minds</vt:lpstr>
      <vt:lpstr>A conversation among the profilers</vt:lpstr>
      <vt:lpstr>Slide 57</vt:lpstr>
      <vt:lpstr>Solution: The conversation leads to inductive reasoning</vt:lpstr>
      <vt:lpstr>Slide 59</vt:lpstr>
      <vt:lpstr>Bridges of Königsberg</vt:lpstr>
      <vt:lpstr>Bridges of Königsberg : Solution</vt:lpstr>
      <vt:lpstr>Slide 62</vt:lpstr>
      <vt:lpstr>Slide 63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Repetition</dc:title>
  <dc:creator>admins</dc:creator>
  <cp:lastModifiedBy>user</cp:lastModifiedBy>
  <cp:revision>4</cp:revision>
  <dcterms:created xsi:type="dcterms:W3CDTF">2020-09-07T07:01:45Z</dcterms:created>
  <dcterms:modified xsi:type="dcterms:W3CDTF">2021-10-18T05:28:03Z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2017-07-04T00:00:00Z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2020-09-07T00:00:00Z</vt:filetime>
  </property>
  <property fmtid="{D5CDD505-2E9C-101B-9397-08002B2CF9AE}" pid="5" name="ContentTypeId">
    <vt:lpwstr>0x01010093196D1F7F73754F88450F2D99E4F7B5</vt:lpwstr>
  </property>
</Properties>
</file>