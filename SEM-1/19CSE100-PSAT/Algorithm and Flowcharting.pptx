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80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55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89" Type="http://schemas.openxmlformats.org/officeDocument/2006/relationships/customXml" Target="../customXml/item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customXml" Target="../customXml/item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27F38-410A-44CE-8C68-2A155EE10387}" type="datetimeFigureOut">
              <a:rPr lang="en-IN" smtClean="0"/>
              <a:t>07-09-2020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3DBE1-65BF-4604-9066-8253F064F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1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3DBE1-65BF-4604-9066-8253F064F910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410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72923"/>
            <a:ext cx="8529319" cy="1978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4"/>
            <a:ext cx="7614920" cy="19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7977" y="6482301"/>
            <a:ext cx="204470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pp49j6/revis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pp49j6/revis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pp49j6/revision/2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pp49j6/revision/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/2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/2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/2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/3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/4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/6" TargetMode="Externa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/7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bc.co.uk/education/guides/zssk87h/revision/7" TargetMode="Externa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ultiwingspan.co.uk/" TargetMode="External"/><Relationship Id="rId3" Type="http://schemas.openxmlformats.org/officeDocument/2006/relationships/hyperlink" Target="http://www.rff.com/" TargetMode="External"/><Relationship Id="rId7" Type="http://schemas.openxmlformats.org/officeDocument/2006/relationships/hyperlink" Target="http://www.cimt.plymouth.ac.uk/projects/mepres/book8/" TargetMode="External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tms.edu.my/" TargetMode="External"/><Relationship Id="rId5" Type="http://schemas.openxmlformats.org/officeDocument/2006/relationships/hyperlink" Target="http://www.breezetree.com/flowcharting-" TargetMode="External"/><Relationship Id="rId4" Type="http://schemas.openxmlformats.org/officeDocument/2006/relationships/hyperlink" Target="http://cdn.robotc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31" y="70103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26"/>
                  </a:lnTo>
                  <a:lnTo>
                    <a:pt x="9009359" y="6410769"/>
                  </a:lnTo>
                  <a:lnTo>
                    <a:pt x="8998968" y="6457290"/>
                  </a:lnTo>
                  <a:lnTo>
                    <a:pt x="8982275" y="6501081"/>
                  </a:lnTo>
                  <a:lnTo>
                    <a:pt x="8959791" y="6541631"/>
                  </a:lnTo>
                  <a:lnTo>
                    <a:pt x="8932024" y="6578430"/>
                  </a:lnTo>
                  <a:lnTo>
                    <a:pt x="8899487" y="6610967"/>
                  </a:lnTo>
                  <a:lnTo>
                    <a:pt x="8862690" y="6638733"/>
                  </a:lnTo>
                  <a:lnTo>
                    <a:pt x="8822144" y="6661216"/>
                  </a:lnTo>
                  <a:lnTo>
                    <a:pt x="8778359" y="6677908"/>
                  </a:lnTo>
                  <a:lnTo>
                    <a:pt x="8731847" y="6688297"/>
                  </a:lnTo>
                  <a:lnTo>
                    <a:pt x="8683117" y="6691873"/>
                  </a:lnTo>
                  <a:lnTo>
                    <a:pt x="329844" y="6691873"/>
                  </a:lnTo>
                  <a:lnTo>
                    <a:pt x="281102" y="6688297"/>
                  </a:lnTo>
                  <a:lnTo>
                    <a:pt x="234580" y="6677908"/>
                  </a:lnTo>
                  <a:lnTo>
                    <a:pt x="190789" y="6661216"/>
                  </a:lnTo>
                  <a:lnTo>
                    <a:pt x="150240" y="6638733"/>
                  </a:lnTo>
                  <a:lnTo>
                    <a:pt x="113441" y="6610967"/>
                  </a:lnTo>
                  <a:lnTo>
                    <a:pt x="80905" y="6578430"/>
                  </a:lnTo>
                  <a:lnTo>
                    <a:pt x="53139" y="6541631"/>
                  </a:lnTo>
                  <a:lnTo>
                    <a:pt x="30656" y="6501081"/>
                  </a:lnTo>
                  <a:lnTo>
                    <a:pt x="13965" y="6457290"/>
                  </a:lnTo>
                  <a:lnTo>
                    <a:pt x="3576" y="6410769"/>
                  </a:lnTo>
                  <a:lnTo>
                    <a:pt x="0" y="6362026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84" y="1395983"/>
              <a:ext cx="9022080" cy="121920"/>
            </a:xfrm>
            <a:custGeom>
              <a:avLst/>
              <a:gdLst/>
              <a:ahLst/>
              <a:cxnLst/>
              <a:rect l="l" t="t" r="r" b="b"/>
              <a:pathLst>
                <a:path w="9022080" h="121919">
                  <a:moveTo>
                    <a:pt x="902208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22080" y="121920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84" y="2976372"/>
              <a:ext cx="9022080" cy="111760"/>
            </a:xfrm>
            <a:custGeom>
              <a:avLst/>
              <a:gdLst/>
              <a:ahLst/>
              <a:cxnLst/>
              <a:rect l="l" t="t" r="r" b="b"/>
              <a:pathLst>
                <a:path w="9022080" h="111760">
                  <a:moveTo>
                    <a:pt x="902208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9022080" y="111251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400" y="6477000"/>
              <a:ext cx="457200" cy="266700"/>
            </a:xfrm>
            <a:custGeom>
              <a:avLst/>
              <a:gdLst/>
              <a:ahLst/>
              <a:cxnLst/>
              <a:rect l="l" t="t" r="r" b="b"/>
              <a:pathLst>
                <a:path w="457200" h="266700">
                  <a:moveTo>
                    <a:pt x="228600" y="0"/>
                  </a:moveTo>
                  <a:lnTo>
                    <a:pt x="167829" y="4763"/>
                  </a:lnTo>
                  <a:lnTo>
                    <a:pt x="113221" y="18206"/>
                  </a:lnTo>
                  <a:lnTo>
                    <a:pt x="66955" y="39057"/>
                  </a:lnTo>
                  <a:lnTo>
                    <a:pt x="31210" y="66045"/>
                  </a:lnTo>
                  <a:lnTo>
                    <a:pt x="8165" y="97900"/>
                  </a:lnTo>
                  <a:lnTo>
                    <a:pt x="0" y="133350"/>
                  </a:lnTo>
                  <a:lnTo>
                    <a:pt x="8165" y="168799"/>
                  </a:lnTo>
                  <a:lnTo>
                    <a:pt x="31210" y="200654"/>
                  </a:lnTo>
                  <a:lnTo>
                    <a:pt x="66955" y="227642"/>
                  </a:lnTo>
                  <a:lnTo>
                    <a:pt x="113221" y="248492"/>
                  </a:lnTo>
                  <a:lnTo>
                    <a:pt x="167829" y="261935"/>
                  </a:lnTo>
                  <a:lnTo>
                    <a:pt x="228600" y="266698"/>
                  </a:lnTo>
                  <a:lnTo>
                    <a:pt x="289370" y="261935"/>
                  </a:lnTo>
                  <a:lnTo>
                    <a:pt x="343978" y="248492"/>
                  </a:lnTo>
                  <a:lnTo>
                    <a:pt x="390244" y="227642"/>
                  </a:lnTo>
                  <a:lnTo>
                    <a:pt x="425989" y="200654"/>
                  </a:lnTo>
                  <a:lnTo>
                    <a:pt x="449034" y="168799"/>
                  </a:lnTo>
                  <a:lnTo>
                    <a:pt x="457200" y="133350"/>
                  </a:lnTo>
                  <a:lnTo>
                    <a:pt x="449034" y="97900"/>
                  </a:lnTo>
                  <a:lnTo>
                    <a:pt x="425989" y="66045"/>
                  </a:lnTo>
                  <a:lnTo>
                    <a:pt x="390244" y="39057"/>
                  </a:lnTo>
                  <a:lnTo>
                    <a:pt x="343978" y="18206"/>
                  </a:lnTo>
                  <a:lnTo>
                    <a:pt x="289370" y="4763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484" y="1517903"/>
            <a:ext cx="9022080" cy="677108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spc="5" dirty="0" smtClean="0">
                <a:latin typeface="Perpetua"/>
                <a:cs typeface="Perpetua"/>
              </a:rPr>
              <a:t>Algorithm </a:t>
            </a:r>
            <a:r>
              <a:rPr sz="4400" spc="-5" dirty="0">
                <a:latin typeface="Perpetua"/>
                <a:cs typeface="Perpetua"/>
              </a:rPr>
              <a:t>and</a:t>
            </a:r>
            <a:r>
              <a:rPr sz="4400" spc="-25" dirty="0">
                <a:latin typeface="Perpetua"/>
                <a:cs typeface="Perpetua"/>
              </a:rPr>
              <a:t> </a:t>
            </a:r>
            <a:r>
              <a:rPr sz="4400" spc="5" dirty="0">
                <a:latin typeface="Perpetua"/>
                <a:cs typeface="Perpetua"/>
              </a:rPr>
              <a:t>Flowcharting</a:t>
            </a:r>
            <a:endParaRPr sz="4400" dirty="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t>1</a:t>
            </a:fld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738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Algorithm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t>2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00430"/>
            <a:ext cx="8531860" cy="5163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An </a:t>
            </a:r>
            <a:r>
              <a:rPr sz="2600" spc="5" dirty="0">
                <a:latin typeface="Perpetua"/>
                <a:cs typeface="Perpetua"/>
              </a:rPr>
              <a:t>algorithm </a:t>
            </a:r>
            <a:r>
              <a:rPr sz="2600" dirty="0">
                <a:latin typeface="Perpetua"/>
                <a:cs typeface="Perpetua"/>
              </a:rPr>
              <a:t>is a plan, a set </a:t>
            </a:r>
            <a:r>
              <a:rPr sz="2600" spc="-5" dirty="0">
                <a:latin typeface="Perpetua"/>
                <a:cs typeface="Perpetua"/>
              </a:rPr>
              <a:t>of step-by-step </a:t>
            </a:r>
            <a:r>
              <a:rPr sz="2600" dirty="0">
                <a:latin typeface="Perpetua"/>
                <a:cs typeface="Perpetua"/>
              </a:rPr>
              <a:t>instructions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resolve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10" dirty="0">
                <a:latin typeface="Perpetua"/>
                <a:cs typeface="Perpetua"/>
              </a:rPr>
              <a:t>problem.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In an </a:t>
            </a:r>
            <a:r>
              <a:rPr sz="2600" spc="5" dirty="0">
                <a:latin typeface="Perpetua"/>
                <a:cs typeface="Perpetua"/>
              </a:rPr>
              <a:t>algorithm,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5" dirty="0">
                <a:latin typeface="Perpetua"/>
                <a:cs typeface="Perpetua"/>
              </a:rPr>
              <a:t>instruction </a:t>
            </a:r>
            <a:r>
              <a:rPr sz="2600" dirty="0">
                <a:latin typeface="Perpetua"/>
                <a:cs typeface="Perpetua"/>
              </a:rPr>
              <a:t>is identified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the order in </a:t>
            </a:r>
            <a:r>
              <a:rPr sz="2600" spc="5" dirty="0">
                <a:latin typeface="Perpetua"/>
                <a:cs typeface="Perpetua"/>
              </a:rPr>
              <a:t>which 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5" dirty="0">
                <a:latin typeface="Perpetua"/>
                <a:cs typeface="Perpetua"/>
              </a:rPr>
              <a:t>should be </a:t>
            </a:r>
            <a:r>
              <a:rPr sz="2600" spc="10" dirty="0">
                <a:latin typeface="Perpetua"/>
                <a:cs typeface="Perpetua"/>
              </a:rPr>
              <a:t>carried </a:t>
            </a:r>
            <a:r>
              <a:rPr sz="2600" spc="-5" dirty="0">
                <a:latin typeface="Perpetua"/>
                <a:cs typeface="Perpetua"/>
              </a:rPr>
              <a:t>out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planned.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Algorithms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one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four </a:t>
            </a:r>
            <a:r>
              <a:rPr sz="2600" spc="5" dirty="0">
                <a:latin typeface="Perpetua"/>
                <a:cs typeface="Perpetua"/>
              </a:rPr>
              <a:t>cornerstones </a:t>
            </a:r>
            <a:r>
              <a:rPr sz="2600" spc="-5" dirty="0">
                <a:latin typeface="Perpetua"/>
                <a:cs typeface="Perpetua"/>
              </a:rPr>
              <a:t>of Computer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Science.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ts val="3190"/>
              </a:lnSpc>
              <a:spcBef>
                <a:spcPts val="65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If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can tie </a:t>
            </a:r>
            <a:r>
              <a:rPr sz="2600" i="1" spc="-10" dirty="0">
                <a:latin typeface="Perpetua"/>
                <a:cs typeface="Perpetua"/>
              </a:rPr>
              <a:t>shoelaces, </a:t>
            </a:r>
            <a:r>
              <a:rPr sz="2600" i="1" spc="-5" dirty="0">
                <a:latin typeface="Perpetua"/>
                <a:cs typeface="Perpetua"/>
              </a:rPr>
              <a:t>make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cup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tea, </a:t>
            </a:r>
            <a:r>
              <a:rPr sz="2600" i="1" spc="-15" dirty="0">
                <a:latin typeface="Perpetua"/>
                <a:cs typeface="Perpetua"/>
              </a:rPr>
              <a:t>get </a:t>
            </a:r>
            <a:r>
              <a:rPr sz="2600" i="1" spc="-5" dirty="0">
                <a:latin typeface="Perpetua"/>
                <a:cs typeface="Perpetua"/>
              </a:rPr>
              <a:t>dressed </a:t>
            </a:r>
            <a:r>
              <a:rPr sz="2600" i="1" spc="-10" dirty="0">
                <a:latin typeface="Perpetua"/>
                <a:cs typeface="Perpetua"/>
              </a:rPr>
              <a:t>or </a:t>
            </a:r>
            <a:r>
              <a:rPr sz="2600" i="1" spc="-15" dirty="0">
                <a:latin typeface="Perpetua"/>
                <a:cs typeface="Perpetua"/>
              </a:rPr>
              <a:t>prepare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meal </a:t>
            </a:r>
            <a:r>
              <a:rPr sz="2600" i="1" dirty="0">
                <a:latin typeface="Perpetua"/>
                <a:cs typeface="Perpetua"/>
              </a:rPr>
              <a:t>then 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10" dirty="0">
                <a:latin typeface="Perpetua"/>
                <a:cs typeface="Perpetua"/>
              </a:rPr>
              <a:t>already </a:t>
            </a:r>
            <a:r>
              <a:rPr sz="2600" i="1" spc="-15" dirty="0">
                <a:latin typeface="Perpetua"/>
                <a:cs typeface="Perpetua"/>
              </a:rPr>
              <a:t>know how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20" dirty="0">
                <a:latin typeface="Perpetua"/>
                <a:cs typeface="Perpetua"/>
              </a:rPr>
              <a:t>follow </a:t>
            </a:r>
            <a:r>
              <a:rPr sz="2600" i="1" dirty="0">
                <a:latin typeface="Perpetua"/>
                <a:cs typeface="Perpetua"/>
              </a:rPr>
              <a:t>an algorithm.</a:t>
            </a:r>
            <a:r>
              <a:rPr sz="2600" i="1" spc="-215" dirty="0">
                <a:latin typeface="Perpetua"/>
                <a:cs typeface="Perpetua"/>
              </a:rPr>
              <a:t> </a:t>
            </a:r>
            <a:r>
              <a:rPr sz="2750" i="1" spc="-125" dirty="0">
                <a:latin typeface="Wingdings"/>
                <a:cs typeface="Wingdings"/>
              </a:rPr>
              <a:t></a:t>
            </a:r>
            <a:endParaRPr sz="2750">
              <a:latin typeface="Wingdings"/>
              <a:cs typeface="Wingdings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In an </a:t>
            </a:r>
            <a:r>
              <a:rPr sz="2600" dirty="0">
                <a:latin typeface="Perpetua"/>
                <a:cs typeface="Perpetua"/>
              </a:rPr>
              <a:t>algorithm, </a:t>
            </a:r>
            <a:r>
              <a:rPr sz="2600" spc="10" dirty="0">
                <a:latin typeface="Perpetua"/>
                <a:cs typeface="Perpetua"/>
              </a:rPr>
              <a:t>each</a:t>
            </a:r>
            <a:r>
              <a:rPr sz="2600" spc="1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instruction</a:t>
            </a:r>
            <a:r>
              <a:rPr sz="2600" spc="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identified and </a:t>
            </a:r>
            <a:r>
              <a:rPr sz="2600" dirty="0">
                <a:latin typeface="Perpetua"/>
                <a:cs typeface="Perpetua"/>
              </a:rPr>
              <a:t>the order in </a:t>
            </a:r>
            <a:r>
              <a:rPr sz="2600" spc="5" dirty="0">
                <a:latin typeface="Perpetua"/>
                <a:cs typeface="Perpetua"/>
              </a:rPr>
              <a:t>which 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5" dirty="0">
                <a:latin typeface="Perpetua"/>
                <a:cs typeface="Perpetua"/>
              </a:rPr>
              <a:t>should be </a:t>
            </a:r>
            <a:r>
              <a:rPr sz="2600" spc="10" dirty="0">
                <a:latin typeface="Perpetua"/>
                <a:cs typeface="Perpetua"/>
              </a:rPr>
              <a:t>carried </a:t>
            </a:r>
            <a:r>
              <a:rPr sz="2600" spc="-5" dirty="0">
                <a:latin typeface="Perpetua"/>
                <a:cs typeface="Perpetua"/>
              </a:rPr>
              <a:t>out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planned.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Algorithms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often </a:t>
            </a:r>
            <a:r>
              <a:rPr sz="2600" spc="-10" dirty="0">
                <a:latin typeface="Perpetua"/>
                <a:cs typeface="Perpetua"/>
              </a:rPr>
              <a:t>used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5" dirty="0">
                <a:latin typeface="Perpetua"/>
                <a:cs typeface="Perpetua"/>
              </a:rPr>
              <a:t>point for creating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computer  </a:t>
            </a:r>
            <a:r>
              <a:rPr sz="2600" dirty="0">
                <a:latin typeface="Perpetua"/>
                <a:cs typeface="Perpetua"/>
              </a:rPr>
              <a:t>program,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they are </a:t>
            </a:r>
            <a:r>
              <a:rPr sz="2600" dirty="0">
                <a:latin typeface="Perpetua"/>
                <a:cs typeface="Perpetua"/>
              </a:rPr>
              <a:t>sometimes </a:t>
            </a:r>
            <a:r>
              <a:rPr sz="2600" spc="5" dirty="0">
                <a:latin typeface="Perpetua"/>
                <a:cs typeface="Perpetua"/>
              </a:rPr>
              <a:t>written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flowchart</a:t>
            </a:r>
            <a:r>
              <a:rPr sz="2600" spc="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 </a:t>
            </a:r>
            <a:r>
              <a:rPr sz="2600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pseudocode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403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0665" algn="l"/>
              </a:tabLst>
            </a:pPr>
            <a:r>
              <a:rPr sz="3600" i="0" spc="5" dirty="0">
                <a:latin typeface="Perpetua"/>
                <a:cs typeface="Perpetua"/>
              </a:rPr>
              <a:t>Instruct	</a:t>
            </a:r>
            <a:r>
              <a:rPr sz="3600" i="0" dirty="0">
                <a:latin typeface="Perpetua"/>
                <a:cs typeface="Perpetua"/>
              </a:rPr>
              <a:t>a</a:t>
            </a:r>
            <a:r>
              <a:rPr sz="3600" i="0" spc="-95" dirty="0">
                <a:latin typeface="Perpetua"/>
                <a:cs typeface="Perpetua"/>
              </a:rPr>
              <a:t> </a:t>
            </a:r>
            <a:r>
              <a:rPr sz="3600" i="0" dirty="0">
                <a:latin typeface="Perpetua"/>
                <a:cs typeface="Perpetua"/>
              </a:rPr>
              <a:t>computer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t>3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00430"/>
            <a:ext cx="854138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87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to tell a </a:t>
            </a:r>
            <a:r>
              <a:rPr sz="2600" spc="-5" dirty="0">
                <a:latin typeface="Perpetua"/>
                <a:cs typeface="Perpetua"/>
              </a:rPr>
              <a:t>computer to do something,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computer </a:t>
            </a:r>
            <a:r>
              <a:rPr sz="2600" dirty="0">
                <a:latin typeface="Perpetua"/>
                <a:cs typeface="Perpetua"/>
              </a:rPr>
              <a:t>program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tell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30" dirty="0">
                <a:latin typeface="Perpetua"/>
                <a:cs typeface="Perpetua"/>
              </a:rPr>
              <a:t>computer, </a:t>
            </a:r>
            <a:r>
              <a:rPr sz="2600" spc="-10" dirty="0">
                <a:latin typeface="Perpetua"/>
                <a:cs typeface="Perpetua"/>
              </a:rPr>
              <a:t>step-by-step, exactly 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to do and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to do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it.</a:t>
            </a:r>
            <a:endParaRPr sz="2600">
              <a:latin typeface="Perpetua"/>
              <a:cs typeface="Perpetua"/>
            </a:endParaRPr>
          </a:p>
          <a:p>
            <a:pPr marL="286385" marR="177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This step-by-step </a:t>
            </a:r>
            <a:r>
              <a:rPr sz="2600" b="1" spc="5" dirty="0">
                <a:latin typeface="Perpetua"/>
                <a:cs typeface="Perpetua"/>
              </a:rPr>
              <a:t>program </a:t>
            </a:r>
            <a:r>
              <a:rPr sz="2600" b="1" dirty="0">
                <a:latin typeface="Perpetua"/>
                <a:cs typeface="Perpetua"/>
              </a:rPr>
              <a:t>will need </a:t>
            </a:r>
            <a:r>
              <a:rPr sz="2600" b="1" spc="5" dirty="0">
                <a:latin typeface="Perpetua"/>
                <a:cs typeface="Perpetua"/>
              </a:rPr>
              <a:t>planning, </a:t>
            </a:r>
            <a:r>
              <a:rPr sz="2600" b="1" dirty="0">
                <a:latin typeface="Perpetua"/>
                <a:cs typeface="Perpetua"/>
              </a:rPr>
              <a:t>and to </a:t>
            </a:r>
            <a:r>
              <a:rPr sz="2600" b="1" spc="-5" dirty="0">
                <a:latin typeface="Perpetua"/>
                <a:cs typeface="Perpetua"/>
              </a:rPr>
              <a:t>do  this </a:t>
            </a:r>
            <a:r>
              <a:rPr sz="2600" b="1" spc="-35" dirty="0">
                <a:latin typeface="Perpetua"/>
                <a:cs typeface="Perpetua"/>
              </a:rPr>
              <a:t>we </a:t>
            </a:r>
            <a:r>
              <a:rPr sz="2600" b="1" spc="-5" dirty="0">
                <a:latin typeface="Perpetua"/>
                <a:cs typeface="Perpetua"/>
              </a:rPr>
              <a:t>use an</a:t>
            </a:r>
            <a:r>
              <a:rPr sz="2600" b="1" spc="40" dirty="0">
                <a:latin typeface="Perpetua"/>
                <a:cs typeface="Perpetua"/>
              </a:rPr>
              <a:t> </a:t>
            </a:r>
            <a:r>
              <a:rPr sz="2600" b="1" spc="5" dirty="0">
                <a:latin typeface="Perpetua"/>
                <a:cs typeface="Perpetua"/>
              </a:rPr>
              <a:t>algorithm.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Computers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spc="-5" dirty="0">
                <a:latin typeface="Perpetua"/>
                <a:cs typeface="Perpetua"/>
              </a:rPr>
              <a:t>as good as </a:t>
            </a:r>
            <a:r>
              <a:rPr sz="2600" dirty="0">
                <a:latin typeface="Perpetua"/>
                <a:cs typeface="Perpetua"/>
              </a:rPr>
              <a:t>the algorithms </a:t>
            </a:r>
            <a:r>
              <a:rPr sz="2600" spc="-10" dirty="0">
                <a:latin typeface="Perpetua"/>
                <a:cs typeface="Perpetua"/>
              </a:rPr>
              <a:t>they are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given.</a:t>
            </a:r>
            <a:endParaRPr sz="2600">
              <a:latin typeface="Perpetua"/>
              <a:cs typeface="Perpetua"/>
            </a:endParaRPr>
          </a:p>
          <a:p>
            <a:pPr marL="286385" marR="1587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give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computer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poor </a:t>
            </a:r>
            <a:r>
              <a:rPr sz="2600" dirty="0">
                <a:latin typeface="Perpetua"/>
                <a:cs typeface="Perpetua"/>
              </a:rPr>
              <a:t>algorithm,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will get a </a:t>
            </a:r>
            <a:r>
              <a:rPr sz="2600" spc="-5" dirty="0">
                <a:latin typeface="Perpetua"/>
                <a:cs typeface="Perpetua"/>
              </a:rPr>
              <a:t>poor result </a:t>
            </a:r>
            <a:r>
              <a:rPr sz="2600" dirty="0">
                <a:latin typeface="Perpetua"/>
                <a:cs typeface="Perpetua"/>
              </a:rPr>
              <a:t>–  </a:t>
            </a:r>
            <a:r>
              <a:rPr sz="2600" spc="-5" dirty="0">
                <a:latin typeface="Perpetua"/>
                <a:cs typeface="Perpetua"/>
              </a:rPr>
              <a:t>hence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5" dirty="0">
                <a:latin typeface="Perpetua"/>
                <a:cs typeface="Perpetua"/>
              </a:rPr>
              <a:t>phrase:‘Garbage </a:t>
            </a:r>
            <a:r>
              <a:rPr sz="2600" dirty="0">
                <a:latin typeface="Perpetua"/>
                <a:cs typeface="Perpetua"/>
              </a:rPr>
              <a:t>in, </a:t>
            </a:r>
            <a:r>
              <a:rPr sz="2600" spc="-5" dirty="0">
                <a:latin typeface="Perpetua"/>
                <a:cs typeface="Perpetua"/>
              </a:rPr>
              <a:t>garbage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70" dirty="0">
                <a:latin typeface="Perpetua"/>
                <a:cs typeface="Perpetua"/>
              </a:rPr>
              <a:t>out.’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Algorithms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used for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-5" dirty="0">
                <a:latin typeface="Perpetua"/>
                <a:cs typeface="Perpetua"/>
              </a:rPr>
              <a:t>different things </a:t>
            </a:r>
            <a:r>
              <a:rPr sz="2600" dirty="0">
                <a:latin typeface="Perpetua"/>
                <a:cs typeface="Perpetua"/>
              </a:rPr>
              <a:t>including </a:t>
            </a:r>
            <a:r>
              <a:rPr sz="2600" spc="-5" dirty="0">
                <a:latin typeface="Perpetua"/>
                <a:cs typeface="Perpetua"/>
              </a:rPr>
              <a:t>calculations,  </a:t>
            </a:r>
            <a:r>
              <a:rPr sz="2600" spc="-10" dirty="0">
                <a:latin typeface="Perpetua"/>
                <a:cs typeface="Perpetua"/>
              </a:rPr>
              <a:t>data </a:t>
            </a:r>
            <a:r>
              <a:rPr sz="2600" spc="-5" dirty="0">
                <a:latin typeface="Perpetua"/>
                <a:cs typeface="Perpetua"/>
              </a:rPr>
              <a:t>processing and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automation.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63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Perpetua"/>
                <a:cs typeface="Perpetua"/>
              </a:rPr>
              <a:t>Plan </a:t>
            </a:r>
            <a:r>
              <a:rPr sz="4000" i="0" dirty="0">
                <a:latin typeface="Perpetua"/>
                <a:cs typeface="Perpetua"/>
              </a:rPr>
              <a:t>for</a:t>
            </a:r>
            <a:r>
              <a:rPr sz="4000" i="0" spc="-50" dirty="0">
                <a:latin typeface="Perpetua"/>
                <a:cs typeface="Perpetua"/>
              </a:rPr>
              <a:t> </a:t>
            </a:r>
            <a:r>
              <a:rPr sz="4000" i="0" spc="-5" dirty="0">
                <a:latin typeface="Perpetua"/>
                <a:cs typeface="Perpetua"/>
              </a:rPr>
              <a:t>solution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t>4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2495" cy="3898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10" dirty="0">
                <a:latin typeface="Perpetua"/>
                <a:cs typeface="Perpetua"/>
              </a:rPr>
              <a:t>important </a:t>
            </a:r>
            <a:r>
              <a:rPr sz="2600" spc="-5" dirty="0">
                <a:latin typeface="Perpetua"/>
                <a:cs typeface="Perpetua"/>
              </a:rPr>
              <a:t>to plan </a:t>
            </a:r>
            <a:r>
              <a:rPr sz="2600" dirty="0">
                <a:latin typeface="Perpetua"/>
                <a:cs typeface="Perpetua"/>
              </a:rPr>
              <a:t>out the solution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sure 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it will </a:t>
            </a:r>
            <a:r>
              <a:rPr sz="2600" spc="-5" dirty="0">
                <a:latin typeface="Perpetua"/>
                <a:cs typeface="Perpetua"/>
              </a:rPr>
              <a:t>be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correct.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Using</a:t>
            </a:r>
            <a:r>
              <a:rPr sz="260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computational </a:t>
            </a:r>
            <a:r>
              <a:rPr sz="2600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thinking</a:t>
            </a:r>
            <a:r>
              <a:rPr sz="2600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decomposition</a:t>
            </a:r>
            <a:r>
              <a:rPr sz="2600" spc="-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-10" dirty="0">
                <a:latin typeface="Perpetua"/>
                <a:cs typeface="Perpetua"/>
              </a:rPr>
              <a:t>break </a:t>
            </a:r>
            <a:r>
              <a:rPr sz="2600" spc="-20" dirty="0">
                <a:latin typeface="Perpetua"/>
                <a:cs typeface="Perpetua"/>
              </a:rPr>
              <a:t>down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into smaller </a:t>
            </a:r>
            <a:r>
              <a:rPr sz="2600" spc="15" dirty="0">
                <a:latin typeface="Perpetua"/>
                <a:cs typeface="Perpetua"/>
              </a:rPr>
              <a:t>parts </a:t>
            </a:r>
            <a:r>
              <a:rPr sz="2600" spc="-5" dirty="0">
                <a:latin typeface="Perpetua"/>
                <a:cs typeface="Perpetua"/>
              </a:rPr>
              <a:t>and then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plan out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15" dirty="0">
                <a:latin typeface="Perpetua"/>
                <a:cs typeface="Perpetua"/>
              </a:rPr>
              <a:t>they </a:t>
            </a:r>
            <a:r>
              <a:rPr sz="2600" dirty="0">
                <a:latin typeface="Perpetua"/>
                <a:cs typeface="Perpetua"/>
              </a:rPr>
              <a:t>fit  </a:t>
            </a:r>
            <a:r>
              <a:rPr sz="2600" spc="5" dirty="0">
                <a:latin typeface="Perpetua"/>
                <a:cs typeface="Perpetua"/>
              </a:rPr>
              <a:t>back </a:t>
            </a:r>
            <a:r>
              <a:rPr sz="2600" spc="-5" dirty="0">
                <a:latin typeface="Perpetua"/>
                <a:cs typeface="Perpetua"/>
              </a:rPr>
              <a:t>together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5" dirty="0">
                <a:latin typeface="Perpetua"/>
                <a:cs typeface="Perpetua"/>
              </a:rPr>
              <a:t>suitable </a:t>
            </a:r>
            <a:r>
              <a:rPr sz="2600" dirty="0">
                <a:latin typeface="Perpetua"/>
                <a:cs typeface="Perpetua"/>
              </a:rPr>
              <a:t>order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order </a:t>
            </a:r>
            <a:r>
              <a:rPr sz="2600" spc="-5" dirty="0">
                <a:latin typeface="Perpetua"/>
                <a:cs typeface="Perpetua"/>
              </a:rPr>
              <a:t>can be represented as an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An algorithm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clear.</a:t>
            </a:r>
            <a:endParaRPr sz="2600">
              <a:latin typeface="Perpetua"/>
              <a:cs typeface="Perpetua"/>
            </a:endParaRPr>
          </a:p>
          <a:p>
            <a:pPr marL="286385" marR="889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It must </a:t>
            </a:r>
            <a:r>
              <a:rPr sz="2600" spc="-30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5" dirty="0">
                <a:latin typeface="Perpetua"/>
                <a:cs typeface="Perpetua"/>
              </a:rPr>
              <a:t>point, </a:t>
            </a:r>
            <a:r>
              <a:rPr sz="2600" dirty="0">
                <a:latin typeface="Perpetua"/>
                <a:cs typeface="Perpetua"/>
              </a:rPr>
              <a:t>a finishing </a:t>
            </a:r>
            <a:r>
              <a:rPr sz="2600" spc="-5" dirty="0">
                <a:latin typeface="Perpetua"/>
                <a:cs typeface="Perpetua"/>
              </a:rPr>
              <a:t>point and </a:t>
            </a:r>
            <a:r>
              <a:rPr sz="2600" dirty="0">
                <a:latin typeface="Perpetua"/>
                <a:cs typeface="Perpetua"/>
              </a:rPr>
              <a:t>a set </a:t>
            </a:r>
            <a:r>
              <a:rPr sz="2600" spc="-5" dirty="0">
                <a:latin typeface="Perpetua"/>
                <a:cs typeface="Perpetua"/>
              </a:rPr>
              <a:t>of clear 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instructions in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between.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063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Perpetua"/>
                <a:cs typeface="Perpetua"/>
              </a:rPr>
              <a:t>Representing</a:t>
            </a:r>
            <a:r>
              <a:rPr sz="3600" i="0" spc="-85" dirty="0">
                <a:latin typeface="Perpetua"/>
                <a:cs typeface="Perpetua"/>
              </a:rPr>
              <a:t> </a:t>
            </a:r>
            <a:r>
              <a:rPr sz="3600" i="0" spc="5" dirty="0">
                <a:latin typeface="Perpetua"/>
                <a:cs typeface="Perpetua"/>
              </a:rPr>
              <a:t>algorithms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2247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z="1100" dirty="0">
                <a:latin typeface="Perpetua"/>
                <a:cs typeface="Perpetua"/>
              </a:rPr>
              <a:t>5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81202"/>
            <a:ext cx="8531225" cy="494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1128395" algn="l"/>
                <a:tab pos="1649095" algn="l"/>
                <a:tab pos="2256155" algn="l"/>
                <a:tab pos="2981960" algn="l"/>
                <a:tab pos="3688715" algn="l"/>
                <a:tab pos="4293870" algn="l"/>
                <a:tab pos="5877560" algn="l"/>
                <a:tab pos="6432550" algn="l"/>
                <a:tab pos="6877684" algn="l"/>
                <a:tab pos="8365490" algn="l"/>
              </a:tabLst>
            </a:pPr>
            <a:r>
              <a:rPr sz="2400" dirty="0">
                <a:latin typeface="Perpetua"/>
                <a:cs typeface="Perpetua"/>
              </a:rPr>
              <a:t>T</a:t>
            </a:r>
            <a:r>
              <a:rPr sz="2400" spc="5" dirty="0">
                <a:latin typeface="Perpetua"/>
                <a:cs typeface="Perpetua"/>
              </a:rPr>
              <a:t>h</a:t>
            </a:r>
            <a:r>
              <a:rPr sz="2400" dirty="0">
                <a:latin typeface="Perpetua"/>
                <a:cs typeface="Perpetua"/>
              </a:rPr>
              <a:t>e</a:t>
            </a:r>
            <a:r>
              <a:rPr sz="2400" spc="-2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e	</a:t>
            </a:r>
            <a:r>
              <a:rPr sz="2400" spc="-15" dirty="0">
                <a:latin typeface="Perpetua"/>
                <a:cs typeface="Perpetua"/>
              </a:rPr>
              <a:t>a</a:t>
            </a:r>
            <a:r>
              <a:rPr sz="2400" spc="-2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e	t</a:t>
            </a:r>
            <a:r>
              <a:rPr sz="2400" spc="-95" dirty="0">
                <a:latin typeface="Perpetua"/>
                <a:cs typeface="Perpetua"/>
              </a:rPr>
              <a:t>w</a:t>
            </a:r>
            <a:r>
              <a:rPr sz="2400" dirty="0">
                <a:latin typeface="Perpetua"/>
                <a:cs typeface="Perpetua"/>
              </a:rPr>
              <a:t>o	</a:t>
            </a:r>
            <a:r>
              <a:rPr sz="2400" spc="-5" dirty="0">
                <a:latin typeface="Perpetua"/>
                <a:cs typeface="Perpetua"/>
              </a:rPr>
              <a:t>ma</a:t>
            </a:r>
            <a:r>
              <a:rPr sz="2400" dirty="0">
                <a:latin typeface="Perpetua"/>
                <a:cs typeface="Perpetua"/>
              </a:rPr>
              <a:t>in	</a:t>
            </a:r>
            <a:r>
              <a:rPr sz="2400" spc="-30" dirty="0">
                <a:latin typeface="Perpetua"/>
                <a:cs typeface="Perpetua"/>
              </a:rPr>
              <a:t>w</a:t>
            </a:r>
            <a:r>
              <a:rPr sz="2400" spc="-100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ys	th</a:t>
            </a:r>
            <a:r>
              <a:rPr sz="2400" spc="-25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t	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alg</a:t>
            </a:r>
            <a:r>
              <a:rPr sz="2400" b="1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o</a:t>
            </a:r>
            <a:r>
              <a:rPr sz="2400" b="1" u="heavy" spc="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r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it</a:t>
            </a:r>
            <a:r>
              <a:rPr sz="24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h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ms</a:t>
            </a:r>
            <a:r>
              <a:rPr sz="2400" b="1" dirty="0">
                <a:solidFill>
                  <a:srgbClr val="CC9900"/>
                </a:solidFill>
                <a:latin typeface="Perpetua"/>
                <a:cs typeface="Perpetua"/>
              </a:rPr>
              <a:t>	</a:t>
            </a:r>
            <a:r>
              <a:rPr sz="2400" dirty="0">
                <a:latin typeface="Perpetua"/>
                <a:cs typeface="Perpetua"/>
              </a:rPr>
              <a:t>can	</a:t>
            </a:r>
            <a:r>
              <a:rPr sz="2400" spc="5" dirty="0">
                <a:latin typeface="Perpetua"/>
                <a:cs typeface="Perpetua"/>
              </a:rPr>
              <a:t>b</a:t>
            </a:r>
            <a:r>
              <a:rPr sz="2400" dirty="0">
                <a:latin typeface="Perpetua"/>
                <a:cs typeface="Perpetua"/>
              </a:rPr>
              <a:t>e	</a:t>
            </a:r>
            <a:r>
              <a:rPr sz="2400" spc="-25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ep</a:t>
            </a:r>
            <a:r>
              <a:rPr sz="2400" spc="-20" dirty="0">
                <a:latin typeface="Perpetua"/>
                <a:cs typeface="Perpetua"/>
              </a:rPr>
              <a:t>r</a:t>
            </a:r>
            <a:r>
              <a:rPr sz="2400" dirty="0">
                <a:latin typeface="Perpetua"/>
                <a:cs typeface="Perpetua"/>
              </a:rPr>
              <a:t>e</a:t>
            </a:r>
            <a:r>
              <a:rPr sz="2400" spc="-10" dirty="0">
                <a:latin typeface="Perpetua"/>
                <a:cs typeface="Perpetua"/>
              </a:rPr>
              <a:t>s</a:t>
            </a:r>
            <a:r>
              <a:rPr sz="2400" dirty="0">
                <a:latin typeface="Perpetua"/>
                <a:cs typeface="Perpetua"/>
              </a:rPr>
              <a:t>ented	–</a:t>
            </a:r>
            <a:endParaRPr sz="2400">
              <a:latin typeface="Perpetua"/>
              <a:cs typeface="Perpetua"/>
            </a:endParaRPr>
          </a:p>
          <a:p>
            <a:pPr marL="355600">
              <a:lnSpc>
                <a:spcPct val="100000"/>
              </a:lnSpc>
            </a:pP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pseudocode</a:t>
            </a:r>
            <a:r>
              <a:rPr sz="2400" b="1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flowcharts</a:t>
            </a:r>
            <a:r>
              <a:rPr sz="240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Most</a:t>
            </a:r>
            <a:r>
              <a:rPr sz="240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4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programs</a:t>
            </a:r>
            <a:r>
              <a:rPr sz="2400" b="1" spc="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400" spc="-10" dirty="0">
                <a:latin typeface="Perpetua"/>
                <a:cs typeface="Perpetua"/>
              </a:rPr>
              <a:t>are developed </a:t>
            </a:r>
            <a:r>
              <a:rPr sz="2400" dirty="0">
                <a:latin typeface="Perpetua"/>
                <a:cs typeface="Perpetua"/>
              </a:rPr>
              <a:t>using</a:t>
            </a:r>
            <a:r>
              <a:rPr sz="2400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programming</a:t>
            </a:r>
            <a:r>
              <a:rPr sz="2400" b="1" u="heavy" spc="-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 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languages</a:t>
            </a:r>
            <a:r>
              <a:rPr sz="240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286385" marR="76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1088390" algn="l"/>
                <a:tab pos="2286635" algn="l"/>
                <a:tab pos="2919095" algn="l"/>
                <a:tab pos="3883660" algn="l"/>
                <a:tab pos="4883785" algn="l"/>
                <a:tab pos="5455285" algn="l"/>
                <a:tab pos="6147435" algn="l"/>
                <a:tab pos="6558915" algn="l"/>
                <a:tab pos="7211695" algn="l"/>
                <a:tab pos="7598409" algn="l"/>
                <a:tab pos="8168640" algn="l"/>
              </a:tabLst>
            </a:pPr>
            <a:r>
              <a:rPr sz="2400" dirty="0">
                <a:latin typeface="Perpetua"/>
                <a:cs typeface="Perpetua"/>
              </a:rPr>
              <a:t>T</a:t>
            </a:r>
            <a:r>
              <a:rPr sz="2400" spc="5" dirty="0">
                <a:latin typeface="Perpetua"/>
                <a:cs typeface="Perpetua"/>
              </a:rPr>
              <a:t>h</a:t>
            </a:r>
            <a:r>
              <a:rPr sz="2400" dirty="0">
                <a:latin typeface="Perpetua"/>
                <a:cs typeface="Perpetua"/>
              </a:rPr>
              <a:t>ese	</a:t>
            </a:r>
            <a:r>
              <a:rPr sz="2400" spc="-5" dirty="0">
                <a:latin typeface="Perpetua"/>
                <a:cs typeface="Perpetua"/>
              </a:rPr>
              <a:t>l</a:t>
            </a:r>
            <a:r>
              <a:rPr sz="2400" spc="-15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ngua</a:t>
            </a:r>
            <a:r>
              <a:rPr sz="2400" spc="-15" dirty="0">
                <a:latin typeface="Perpetua"/>
                <a:cs typeface="Perpetua"/>
              </a:rPr>
              <a:t>g</a:t>
            </a:r>
            <a:r>
              <a:rPr sz="2400" dirty="0">
                <a:latin typeface="Perpetua"/>
                <a:cs typeface="Perpetua"/>
              </a:rPr>
              <a:t>es	h</a:t>
            </a:r>
            <a:r>
              <a:rPr sz="2400" spc="-70" dirty="0">
                <a:latin typeface="Perpetua"/>
                <a:cs typeface="Perpetua"/>
              </a:rPr>
              <a:t>a</a:t>
            </a:r>
            <a:r>
              <a:rPr sz="2400" spc="-55" dirty="0">
                <a:latin typeface="Perpetua"/>
                <a:cs typeface="Perpetua"/>
              </a:rPr>
              <a:t>v</a:t>
            </a:r>
            <a:r>
              <a:rPr sz="2400" dirty="0">
                <a:latin typeface="Perpetua"/>
                <a:cs typeface="Perpetua"/>
              </a:rPr>
              <a:t>e	s</a:t>
            </a:r>
            <a:r>
              <a:rPr sz="2400" spc="5" dirty="0">
                <a:latin typeface="Perpetua"/>
                <a:cs typeface="Perpetua"/>
              </a:rPr>
              <a:t>p</a:t>
            </a:r>
            <a:r>
              <a:rPr sz="2400" spc="-15" dirty="0">
                <a:latin typeface="Perpetua"/>
                <a:cs typeface="Perpetua"/>
              </a:rPr>
              <a:t>e</a:t>
            </a:r>
            <a:r>
              <a:rPr sz="2400" dirty="0">
                <a:latin typeface="Perpetua"/>
                <a:cs typeface="Perpetua"/>
              </a:rPr>
              <a:t>cific	</a:t>
            </a:r>
            <a:r>
              <a:rPr sz="2400" b="1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syn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tax</a:t>
            </a:r>
            <a:r>
              <a:rPr sz="2400" b="1" dirty="0">
                <a:solidFill>
                  <a:srgbClr val="CC9900"/>
                </a:solidFill>
                <a:latin typeface="Perpetua"/>
                <a:cs typeface="Perpetua"/>
              </a:rPr>
              <a:t>	</a:t>
            </a:r>
            <a:r>
              <a:rPr sz="2400" dirty="0">
                <a:latin typeface="Perpetua"/>
                <a:cs typeface="Perpetua"/>
              </a:rPr>
              <a:t>th</a:t>
            </a:r>
            <a:r>
              <a:rPr sz="2400" spc="-25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t	</a:t>
            </a:r>
            <a:r>
              <a:rPr sz="2400" spc="-25" dirty="0">
                <a:latin typeface="Perpetua"/>
                <a:cs typeface="Perpetua"/>
              </a:rPr>
              <a:t>m</a:t>
            </a:r>
            <a:r>
              <a:rPr sz="2400" dirty="0">
                <a:latin typeface="Perpetua"/>
                <a:cs typeface="Perpetua"/>
              </a:rPr>
              <a:t>u</a:t>
            </a:r>
            <a:r>
              <a:rPr sz="2400" spc="5" dirty="0">
                <a:latin typeface="Perpetua"/>
                <a:cs typeface="Perpetua"/>
              </a:rPr>
              <a:t>s</a:t>
            </a:r>
            <a:r>
              <a:rPr sz="2400" dirty="0">
                <a:latin typeface="Perpetua"/>
                <a:cs typeface="Perpetua"/>
              </a:rPr>
              <a:t>t	</a:t>
            </a:r>
            <a:r>
              <a:rPr sz="2400" spc="-5" dirty="0">
                <a:latin typeface="Perpetua"/>
                <a:cs typeface="Perpetua"/>
              </a:rPr>
              <a:t>b</a:t>
            </a:r>
            <a:r>
              <a:rPr sz="2400" dirty="0">
                <a:latin typeface="Perpetua"/>
                <a:cs typeface="Perpetua"/>
              </a:rPr>
              <a:t>e	u</a:t>
            </a:r>
            <a:r>
              <a:rPr sz="2400" spc="5" dirty="0">
                <a:latin typeface="Perpetua"/>
                <a:cs typeface="Perpetua"/>
              </a:rPr>
              <a:t>s</a:t>
            </a:r>
            <a:r>
              <a:rPr sz="2400" dirty="0">
                <a:latin typeface="Perpetua"/>
                <a:cs typeface="Perpetua"/>
              </a:rPr>
              <a:t>ed	</a:t>
            </a:r>
            <a:r>
              <a:rPr sz="2400" spc="-10" dirty="0">
                <a:latin typeface="Perpetua"/>
                <a:cs typeface="Perpetua"/>
              </a:rPr>
              <a:t>s</a:t>
            </a:r>
            <a:r>
              <a:rPr sz="2400" dirty="0">
                <a:latin typeface="Perpetua"/>
                <a:cs typeface="Perpetua"/>
              </a:rPr>
              <a:t>o	t</a:t>
            </a:r>
            <a:r>
              <a:rPr sz="2400" spc="-15" dirty="0">
                <a:latin typeface="Perpetua"/>
                <a:cs typeface="Perpetua"/>
              </a:rPr>
              <a:t>h</a:t>
            </a:r>
            <a:r>
              <a:rPr sz="2400" spc="-25" dirty="0">
                <a:latin typeface="Perpetua"/>
                <a:cs typeface="Perpetua"/>
              </a:rPr>
              <a:t>a</a:t>
            </a:r>
            <a:r>
              <a:rPr sz="2400" dirty="0">
                <a:latin typeface="Perpetua"/>
                <a:cs typeface="Perpetua"/>
              </a:rPr>
              <a:t>t	the  program will </a:t>
            </a:r>
            <a:r>
              <a:rPr sz="2400" spc="15" dirty="0">
                <a:latin typeface="Perpetua"/>
                <a:cs typeface="Perpetua"/>
              </a:rPr>
              <a:t>run</a:t>
            </a:r>
            <a:r>
              <a:rPr sz="2400" spc="-35" dirty="0">
                <a:latin typeface="Perpetua"/>
                <a:cs typeface="Perpetua"/>
              </a:rPr>
              <a:t> properly.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55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spc="-5" dirty="0">
                <a:latin typeface="Perpetua"/>
                <a:cs typeface="Perpetua"/>
              </a:rPr>
              <a:t>Pseudocode is </a:t>
            </a:r>
            <a:r>
              <a:rPr sz="2400" b="1" dirty="0">
                <a:latin typeface="Perpetua"/>
                <a:cs typeface="Perpetua"/>
              </a:rPr>
              <a:t>not a programming language</a:t>
            </a:r>
            <a:r>
              <a:rPr sz="2400" dirty="0">
                <a:latin typeface="Perpetua"/>
                <a:cs typeface="Perpetua"/>
              </a:rPr>
              <a:t>, </a:t>
            </a:r>
            <a:r>
              <a:rPr sz="2400" spc="-5" dirty="0">
                <a:latin typeface="Perpetua"/>
                <a:cs typeface="Perpetua"/>
              </a:rPr>
              <a:t>it </a:t>
            </a:r>
            <a:r>
              <a:rPr sz="2400" dirty="0">
                <a:latin typeface="Perpetua"/>
                <a:cs typeface="Perpetua"/>
              </a:rPr>
              <a:t>is a simple </a:t>
            </a:r>
            <a:r>
              <a:rPr sz="2400" spc="-40" dirty="0">
                <a:latin typeface="Perpetua"/>
                <a:cs typeface="Perpetua"/>
              </a:rPr>
              <a:t>way </a:t>
            </a:r>
            <a:r>
              <a:rPr sz="2400" dirty="0">
                <a:latin typeface="Perpetua"/>
                <a:cs typeface="Perpetua"/>
              </a:rPr>
              <a:t>of  </a:t>
            </a:r>
            <a:r>
              <a:rPr sz="2400" spc="5" dirty="0">
                <a:latin typeface="Perpetua"/>
                <a:cs typeface="Perpetua"/>
              </a:rPr>
              <a:t>describing </a:t>
            </a:r>
            <a:r>
              <a:rPr sz="2400" dirty="0">
                <a:latin typeface="Perpetua"/>
                <a:cs typeface="Perpetua"/>
              </a:rPr>
              <a:t>a set of </a:t>
            </a:r>
            <a:r>
              <a:rPr sz="2400" spc="5" dirty="0">
                <a:latin typeface="Perpetua"/>
                <a:cs typeface="Perpetua"/>
              </a:rPr>
              <a:t>instructions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does not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use specific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syntax.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5" dirty="0">
                <a:latin typeface="Perpetua"/>
                <a:cs typeface="Perpetua"/>
              </a:rPr>
              <a:t>Writing </a:t>
            </a:r>
            <a:r>
              <a:rPr sz="2400" dirty="0">
                <a:latin typeface="Perpetua"/>
                <a:cs typeface="Perpetua"/>
              </a:rPr>
              <a:t>in pseudocode is similar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5" dirty="0">
                <a:latin typeface="Perpetua"/>
                <a:cs typeface="Perpetua"/>
              </a:rPr>
              <a:t>writing </a:t>
            </a:r>
            <a:r>
              <a:rPr sz="2400" dirty="0">
                <a:latin typeface="Perpetua"/>
                <a:cs typeface="Perpetua"/>
              </a:rPr>
              <a:t>in a programming</a:t>
            </a:r>
            <a:r>
              <a:rPr sz="2400" spc="-1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language.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dirty="0">
                <a:latin typeface="Perpetua"/>
                <a:cs typeface="Perpetua"/>
              </a:rPr>
              <a:t>step of the algorithm is written on a </a:t>
            </a:r>
            <a:r>
              <a:rPr sz="2400" spc="-5" dirty="0">
                <a:latin typeface="Perpetua"/>
                <a:cs typeface="Perpetua"/>
              </a:rPr>
              <a:t>line </a:t>
            </a:r>
            <a:r>
              <a:rPr sz="2400" dirty="0">
                <a:latin typeface="Perpetua"/>
                <a:cs typeface="Perpetua"/>
              </a:rPr>
              <a:t>of its </a:t>
            </a:r>
            <a:r>
              <a:rPr sz="2400" spc="-25" dirty="0">
                <a:latin typeface="Perpetua"/>
                <a:cs typeface="Perpetua"/>
              </a:rPr>
              <a:t>own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sequence.</a:t>
            </a:r>
            <a:endParaRPr sz="2400">
              <a:latin typeface="Perpetua"/>
              <a:cs typeface="Perpetua"/>
            </a:endParaRPr>
          </a:p>
          <a:p>
            <a:pPr marL="286385" marR="76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1478915" algn="l"/>
                <a:tab pos="3211830" algn="l"/>
                <a:tab pos="3789679" algn="l"/>
                <a:tab pos="4933950" algn="l"/>
                <a:tab pos="5365750" algn="l"/>
                <a:tab pos="6937375" algn="l"/>
                <a:tab pos="8255634" algn="l"/>
              </a:tabLst>
            </a:pPr>
            <a:r>
              <a:rPr sz="2400" b="1" spc="-5" dirty="0">
                <a:latin typeface="Perpetua"/>
                <a:cs typeface="Perpetua"/>
              </a:rPr>
              <a:t>Us</a:t>
            </a:r>
            <a:r>
              <a:rPr sz="2400" b="1" dirty="0">
                <a:latin typeface="Perpetua"/>
                <a:cs typeface="Perpetua"/>
              </a:rPr>
              <a:t>ual</a:t>
            </a:r>
            <a:r>
              <a:rPr sz="2400" b="1" spc="-55" dirty="0">
                <a:latin typeface="Perpetua"/>
                <a:cs typeface="Perpetua"/>
              </a:rPr>
              <a:t>l</a:t>
            </a:r>
            <a:r>
              <a:rPr sz="2400" b="1" spc="-195" dirty="0">
                <a:latin typeface="Perpetua"/>
                <a:cs typeface="Perpetua"/>
              </a:rPr>
              <a:t>y</a:t>
            </a:r>
            <a:r>
              <a:rPr sz="2400" b="1" dirty="0">
                <a:latin typeface="Perpetua"/>
                <a:cs typeface="Perpetua"/>
              </a:rPr>
              <a:t>,	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i</a:t>
            </a:r>
            <a:r>
              <a:rPr sz="2400" b="1" u="heavy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n</a:t>
            </a:r>
            <a:r>
              <a:rPr sz="2400" b="1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st</a:t>
            </a:r>
            <a:r>
              <a:rPr sz="2400" b="1" u="heavy" spc="5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r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uc</a:t>
            </a:r>
            <a:r>
              <a:rPr sz="24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t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i</a:t>
            </a:r>
            <a:r>
              <a:rPr sz="2400" b="1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o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ns</a:t>
            </a:r>
            <a:r>
              <a:rPr sz="2400" b="1" dirty="0">
                <a:solidFill>
                  <a:srgbClr val="CC9900"/>
                </a:solidFill>
                <a:latin typeface="Perpetua"/>
                <a:cs typeface="Perpetua"/>
              </a:rPr>
              <a:t>	</a:t>
            </a:r>
            <a:r>
              <a:rPr sz="2400" b="1" dirty="0">
                <a:latin typeface="Perpetua"/>
                <a:cs typeface="Perpetua"/>
              </a:rPr>
              <a:t>are	w</a:t>
            </a:r>
            <a:r>
              <a:rPr sz="2400" b="1" spc="40" dirty="0">
                <a:latin typeface="Perpetua"/>
                <a:cs typeface="Perpetua"/>
              </a:rPr>
              <a:t>r</a:t>
            </a:r>
            <a:r>
              <a:rPr sz="2400" b="1" dirty="0">
                <a:latin typeface="Perpetua"/>
                <a:cs typeface="Perpetua"/>
              </a:rPr>
              <a:t>itten	</a:t>
            </a:r>
            <a:r>
              <a:rPr sz="2400" b="1" spc="-5" dirty="0">
                <a:latin typeface="Perpetua"/>
                <a:cs typeface="Perpetua"/>
              </a:rPr>
              <a:t>i</a:t>
            </a:r>
            <a:r>
              <a:rPr sz="2400" b="1" dirty="0">
                <a:latin typeface="Perpetua"/>
                <a:cs typeface="Perpetua"/>
              </a:rPr>
              <a:t>n	upper</a:t>
            </a:r>
            <a:r>
              <a:rPr sz="2400" b="1" spc="-10" dirty="0">
                <a:latin typeface="Perpetua"/>
                <a:cs typeface="Perpetua"/>
              </a:rPr>
              <a:t>c</a:t>
            </a:r>
            <a:r>
              <a:rPr sz="2400" b="1" dirty="0">
                <a:latin typeface="Perpetua"/>
                <a:cs typeface="Perpetua"/>
              </a:rPr>
              <a:t>as</a:t>
            </a:r>
            <a:r>
              <a:rPr sz="2400" b="1" spc="5" dirty="0">
                <a:latin typeface="Perpetua"/>
                <a:cs typeface="Perpetua"/>
              </a:rPr>
              <a:t>e</a:t>
            </a:r>
            <a:r>
              <a:rPr sz="2400" dirty="0">
                <a:latin typeface="Perpetua"/>
                <a:cs typeface="Perpetua"/>
              </a:rPr>
              <a:t>,	</a:t>
            </a:r>
            <a:r>
              <a:rPr sz="2400" b="1" u="heavy" spc="-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v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a</a:t>
            </a:r>
            <a:r>
              <a:rPr sz="2400" b="1" u="heavy" spc="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r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i</a:t>
            </a:r>
            <a:r>
              <a:rPr sz="2400" b="1" u="heavy" spc="-4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a</a:t>
            </a:r>
            <a:r>
              <a:rPr sz="2400" b="1" u="heavy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b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les</a:t>
            </a:r>
            <a:r>
              <a:rPr sz="2400" b="1" dirty="0">
                <a:solidFill>
                  <a:srgbClr val="CC9900"/>
                </a:solidFill>
                <a:latin typeface="Perpetua"/>
                <a:cs typeface="Perpetua"/>
              </a:rPr>
              <a:t>	</a:t>
            </a:r>
            <a:r>
              <a:rPr sz="2400" b="1" spc="-5" dirty="0">
                <a:latin typeface="Perpetua"/>
                <a:cs typeface="Perpetua"/>
              </a:rPr>
              <a:t>in  </a:t>
            </a:r>
            <a:r>
              <a:rPr sz="2400" b="1" spc="-20" dirty="0">
                <a:latin typeface="Perpetua"/>
                <a:cs typeface="Perpetua"/>
              </a:rPr>
              <a:t>lowercase </a:t>
            </a:r>
            <a:r>
              <a:rPr sz="2400" b="1" dirty="0">
                <a:latin typeface="Perpetua"/>
                <a:cs typeface="Perpetua"/>
              </a:rPr>
              <a:t>and messages </a:t>
            </a:r>
            <a:r>
              <a:rPr sz="2400" b="1" spc="-5" dirty="0">
                <a:latin typeface="Perpetua"/>
                <a:cs typeface="Perpetua"/>
              </a:rPr>
              <a:t>in sentence</a:t>
            </a:r>
            <a:r>
              <a:rPr sz="2400" b="1" spc="-40" dirty="0">
                <a:latin typeface="Perpetua"/>
                <a:cs typeface="Perpetua"/>
              </a:rPr>
              <a:t> </a:t>
            </a:r>
            <a:r>
              <a:rPr sz="2400" b="1" spc="-5" dirty="0">
                <a:latin typeface="Perpetua"/>
                <a:cs typeface="Perpetua"/>
              </a:rPr>
              <a:t>case</a:t>
            </a:r>
            <a:r>
              <a:rPr sz="2400" spc="-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2562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A sample</a:t>
            </a:r>
            <a:r>
              <a:rPr sz="3600" i="0" spc="-70" dirty="0">
                <a:latin typeface="Perpetua"/>
                <a:cs typeface="Perpetua"/>
              </a:rPr>
              <a:t> </a:t>
            </a:r>
            <a:r>
              <a:rPr sz="3600" i="0" dirty="0">
                <a:latin typeface="Perpetua"/>
                <a:cs typeface="Perpetua"/>
              </a:rPr>
              <a:t>algorithm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53813"/>
            <a:ext cx="8291830" cy="4547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9220">
              <a:lnSpc>
                <a:spcPct val="119200"/>
              </a:lnSpc>
              <a:spcBef>
                <a:spcPts val="95"/>
              </a:spcBef>
            </a:pPr>
            <a:r>
              <a:rPr sz="2600" i="1" dirty="0">
                <a:latin typeface="Perpetua"/>
                <a:cs typeface="Perpetua"/>
              </a:rPr>
              <a:t>Scenario:</a:t>
            </a:r>
            <a:r>
              <a:rPr sz="2600" i="1" spc="-27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I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am</a:t>
            </a:r>
            <a:r>
              <a:rPr sz="2600" i="1" spc="-10" dirty="0">
                <a:latin typeface="Perpetua"/>
                <a:cs typeface="Perpetua"/>
              </a:rPr>
              <a:t> walking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to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shops,</a:t>
            </a:r>
            <a:r>
              <a:rPr sz="2600" i="1" spc="-27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when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car</a:t>
            </a:r>
            <a:r>
              <a:rPr sz="2600" i="1" spc="-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pulls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up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beside me.The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driver  winds </a:t>
            </a:r>
            <a:r>
              <a:rPr sz="2600" i="1" spc="-10" dirty="0">
                <a:latin typeface="Perpetua"/>
                <a:cs typeface="Perpetua"/>
              </a:rPr>
              <a:t>down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window.“Excuse </a:t>
            </a:r>
            <a:r>
              <a:rPr sz="2600" i="1" spc="-5" dirty="0">
                <a:latin typeface="Perpetua"/>
                <a:cs typeface="Perpetua"/>
              </a:rPr>
              <a:t>me, </a:t>
            </a: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dirty="0">
                <a:latin typeface="Perpetua"/>
                <a:cs typeface="Perpetua"/>
              </a:rPr>
              <a:t>do I </a:t>
            </a:r>
            <a:r>
              <a:rPr sz="2600" i="1" spc="-15" dirty="0">
                <a:latin typeface="Perpetua"/>
                <a:cs typeface="Perpetua"/>
              </a:rPr>
              <a:t>get </a:t>
            </a:r>
            <a:r>
              <a:rPr sz="2600" i="1" spc="-5" dirty="0">
                <a:latin typeface="Perpetua"/>
                <a:cs typeface="Perpetua"/>
              </a:rPr>
              <a:t>to Kirkcroft</a:t>
            </a:r>
            <a:r>
              <a:rPr sz="2600" i="1" spc="-229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Lane?”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50">
              <a:latin typeface="Perpetua"/>
              <a:cs typeface="Perpetua"/>
            </a:endParaRPr>
          </a:p>
          <a:p>
            <a:pPr marL="86995">
              <a:lnSpc>
                <a:spcPct val="100000"/>
              </a:lnSpc>
            </a:pPr>
            <a:r>
              <a:rPr sz="2600" i="1" dirty="0">
                <a:latin typeface="Perpetua"/>
                <a:cs typeface="Perpetua"/>
              </a:rPr>
              <a:t>I </a:t>
            </a:r>
            <a:r>
              <a:rPr sz="2600" i="1" spc="-15" dirty="0">
                <a:latin typeface="Perpetua"/>
                <a:cs typeface="Perpetua"/>
              </a:rPr>
              <a:t>answer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giving an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algorithm:</a:t>
            </a:r>
            <a:endParaRPr sz="2600">
              <a:latin typeface="Perpetua"/>
              <a:cs typeface="Perpetua"/>
            </a:endParaRPr>
          </a:p>
          <a:p>
            <a:pPr marL="847725" indent="-515620">
              <a:lnSpc>
                <a:spcPct val="100000"/>
              </a:lnSpc>
              <a:spcBef>
                <a:spcPts val="400"/>
              </a:spcBef>
              <a:buSzPct val="84615"/>
              <a:buAutoNum type="arabicPeriod"/>
              <a:tabLst>
                <a:tab pos="847725" algn="l"/>
                <a:tab pos="848360" algn="l"/>
              </a:tabLst>
            </a:pPr>
            <a:r>
              <a:rPr sz="2600" dirty="0">
                <a:latin typeface="Perpetua"/>
                <a:cs typeface="Perpetua"/>
              </a:rPr>
              <a:t>Go </a:t>
            </a:r>
            <a:r>
              <a:rPr sz="2600" spc="-20" dirty="0">
                <a:latin typeface="Perpetua"/>
                <a:cs typeface="Perpetua"/>
              </a:rPr>
              <a:t>down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hill.</a:t>
            </a:r>
            <a:endParaRPr sz="2600">
              <a:latin typeface="Perpetua"/>
              <a:cs typeface="Perpetua"/>
            </a:endParaRPr>
          </a:p>
          <a:p>
            <a:pPr marL="847725" indent="-515620">
              <a:lnSpc>
                <a:spcPct val="100000"/>
              </a:lnSpc>
              <a:spcBef>
                <a:spcPts val="405"/>
              </a:spcBef>
              <a:buSzPct val="84615"/>
              <a:buAutoNum type="arabicPeriod"/>
              <a:tabLst>
                <a:tab pos="847725" algn="l"/>
                <a:tab pos="848360" algn="l"/>
              </a:tabLst>
            </a:pPr>
            <a:r>
              <a:rPr sz="2600" spc="-80" dirty="0">
                <a:latin typeface="Perpetua"/>
                <a:cs typeface="Perpetua"/>
              </a:rPr>
              <a:t>Take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first </a:t>
            </a:r>
            <a:r>
              <a:rPr sz="2600" spc="-5" dirty="0">
                <a:latin typeface="Perpetua"/>
                <a:cs typeface="Perpetua"/>
              </a:rPr>
              <a:t>major </a:t>
            </a:r>
            <a:r>
              <a:rPr sz="2600" spc="10" dirty="0">
                <a:latin typeface="Perpetua"/>
                <a:cs typeface="Perpetua"/>
              </a:rPr>
              <a:t>turning </a:t>
            </a:r>
            <a:r>
              <a:rPr sz="2600" dirty="0">
                <a:latin typeface="Perpetua"/>
                <a:cs typeface="Perpetua"/>
              </a:rPr>
              <a:t>on the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left.</a:t>
            </a:r>
            <a:endParaRPr sz="2600">
              <a:latin typeface="Perpetua"/>
              <a:cs typeface="Perpetua"/>
            </a:endParaRPr>
          </a:p>
          <a:p>
            <a:pPr marL="847725" indent="-515620">
              <a:lnSpc>
                <a:spcPct val="100000"/>
              </a:lnSpc>
              <a:spcBef>
                <a:spcPts val="400"/>
              </a:spcBef>
              <a:buSzPct val="84615"/>
              <a:buAutoNum type="arabicPeriod"/>
              <a:tabLst>
                <a:tab pos="847725" algn="l"/>
                <a:tab pos="848360" algn="l"/>
              </a:tabLst>
            </a:pPr>
            <a:r>
              <a:rPr sz="2600" dirty="0">
                <a:latin typeface="Perpetua"/>
                <a:cs typeface="Perpetua"/>
              </a:rPr>
              <a:t>Go up the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hill.</a:t>
            </a:r>
            <a:endParaRPr sz="2600">
              <a:latin typeface="Perpetua"/>
              <a:cs typeface="Perpetua"/>
            </a:endParaRPr>
          </a:p>
          <a:p>
            <a:pPr marL="847725" marR="5080" indent="-515620">
              <a:lnSpc>
                <a:spcPct val="100000"/>
              </a:lnSpc>
              <a:spcBef>
                <a:spcPts val="395"/>
              </a:spcBef>
              <a:buSzPct val="84615"/>
              <a:buAutoNum type="arabicPeriod"/>
              <a:tabLst>
                <a:tab pos="847725" algn="l"/>
                <a:tab pos="848360" algn="l"/>
              </a:tabLst>
            </a:pPr>
            <a:r>
              <a:rPr sz="2600" spc="-80" dirty="0">
                <a:latin typeface="Perpetua"/>
                <a:cs typeface="Perpetua"/>
              </a:rPr>
              <a:t>Take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first </a:t>
            </a:r>
            <a:r>
              <a:rPr sz="2600" spc="10" dirty="0">
                <a:latin typeface="Perpetua"/>
                <a:cs typeface="Perpetua"/>
              </a:rPr>
              <a:t>turning </a:t>
            </a:r>
            <a:r>
              <a:rPr sz="2600" dirty="0">
                <a:latin typeface="Perpetua"/>
                <a:cs typeface="Perpetua"/>
              </a:rPr>
              <a:t>on the </a:t>
            </a:r>
            <a:r>
              <a:rPr sz="2600" spc="-5" dirty="0">
                <a:latin typeface="Perpetua"/>
                <a:cs typeface="Perpetua"/>
              </a:rPr>
              <a:t>left. </a:t>
            </a:r>
            <a:r>
              <a:rPr sz="2600" dirty="0">
                <a:latin typeface="Perpetua"/>
                <a:cs typeface="Perpetua"/>
              </a:rPr>
              <a:t>(It is just </a:t>
            </a:r>
            <a:r>
              <a:rPr sz="2600" spc="-5" dirty="0">
                <a:latin typeface="Perpetua"/>
                <a:cs typeface="Perpetua"/>
              </a:rPr>
              <a:t>after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Navigation  </a:t>
            </a:r>
            <a:r>
              <a:rPr sz="2600" spc="-5" dirty="0">
                <a:latin typeface="Perpetua"/>
                <a:cs typeface="Perpetua"/>
              </a:rPr>
              <a:t>pub).</a:t>
            </a:r>
            <a:endParaRPr sz="2600">
              <a:latin typeface="Perpetua"/>
              <a:cs typeface="Perpetua"/>
            </a:endParaRPr>
          </a:p>
          <a:p>
            <a:pPr marL="847725" indent="-515620">
              <a:lnSpc>
                <a:spcPct val="100000"/>
              </a:lnSpc>
              <a:spcBef>
                <a:spcPts val="409"/>
              </a:spcBef>
              <a:buSzPct val="84615"/>
              <a:buAutoNum type="arabicPeriod"/>
              <a:tabLst>
                <a:tab pos="847725" algn="l"/>
                <a:tab pos="848360" algn="l"/>
              </a:tabLst>
            </a:pPr>
            <a:r>
              <a:rPr sz="2600" spc="-9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there.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610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A sample</a:t>
            </a:r>
            <a:r>
              <a:rPr sz="3600" i="0" spc="-80" dirty="0">
                <a:latin typeface="Perpetua"/>
                <a:cs typeface="Perpetua"/>
              </a:rPr>
              <a:t> </a:t>
            </a:r>
            <a:r>
              <a:rPr sz="3600" i="0" spc="-5" dirty="0">
                <a:latin typeface="Perpetua"/>
                <a:cs typeface="Perpetua"/>
              </a:rPr>
              <a:t>Pseudocode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994" y="676402"/>
            <a:ext cx="4997450" cy="488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1464945" indent="-68580">
              <a:lnSpc>
                <a:spcPct val="1208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OUTPUT </a:t>
            </a:r>
            <a:r>
              <a:rPr sz="2400" spc="-10" dirty="0">
                <a:latin typeface="Perpetua"/>
                <a:cs typeface="Perpetua"/>
              </a:rPr>
              <a:t>'What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0" dirty="0">
                <a:latin typeface="Perpetua"/>
                <a:cs typeface="Perpetua"/>
              </a:rPr>
              <a:t>your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name?‘  </a:t>
            </a:r>
            <a:r>
              <a:rPr sz="2400" spc="-5" dirty="0">
                <a:latin typeface="Perpetua"/>
                <a:cs typeface="Perpetua"/>
              </a:rPr>
              <a:t>INPUT </a:t>
            </a:r>
            <a:r>
              <a:rPr sz="2400" dirty="0">
                <a:latin typeface="Perpetua"/>
                <a:cs typeface="Perpetua"/>
              </a:rPr>
              <a:t>user inputs their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name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20" dirty="0">
                <a:latin typeface="Perpetua"/>
                <a:cs typeface="Perpetua"/>
              </a:rPr>
              <a:t>STORE </a:t>
            </a:r>
            <a:r>
              <a:rPr sz="2400" dirty="0">
                <a:latin typeface="Perpetua"/>
                <a:cs typeface="Perpetua"/>
              </a:rPr>
              <a:t>the user's input in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b="1" dirty="0">
                <a:latin typeface="Perpetua"/>
                <a:cs typeface="Perpetua"/>
              </a:rPr>
              <a:t>name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variable</a:t>
            </a:r>
            <a:endParaRPr sz="2400">
              <a:latin typeface="Perpetua"/>
              <a:cs typeface="Perpetua"/>
            </a:endParaRPr>
          </a:p>
          <a:p>
            <a:pPr marL="12700" marR="1745614" indent="68580">
              <a:lnSpc>
                <a:spcPct val="1208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OUTPUT </a:t>
            </a:r>
            <a:r>
              <a:rPr sz="2400" spc="-5" dirty="0">
                <a:latin typeface="Perpetua"/>
                <a:cs typeface="Perpetua"/>
              </a:rPr>
              <a:t>'Hello' </a:t>
            </a:r>
            <a:r>
              <a:rPr sz="2400" dirty="0">
                <a:latin typeface="Perpetua"/>
                <a:cs typeface="Perpetua"/>
              </a:rPr>
              <a:t>+ name  OUTPUT </a:t>
            </a:r>
            <a:r>
              <a:rPr sz="2400" spc="-25" dirty="0">
                <a:latin typeface="Perpetua"/>
                <a:cs typeface="Perpetua"/>
              </a:rPr>
              <a:t>'How </a:t>
            </a:r>
            <a:r>
              <a:rPr sz="2400" dirty="0">
                <a:latin typeface="Perpetua"/>
                <a:cs typeface="Perpetua"/>
              </a:rPr>
              <a:t>old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you?'  </a:t>
            </a:r>
            <a:r>
              <a:rPr sz="2400" spc="-5" dirty="0">
                <a:latin typeface="Perpetua"/>
                <a:cs typeface="Perpetua"/>
              </a:rPr>
              <a:t>INPUT </a:t>
            </a:r>
            <a:r>
              <a:rPr sz="2400" dirty="0">
                <a:latin typeface="Perpetua"/>
                <a:cs typeface="Perpetua"/>
              </a:rPr>
              <a:t>user inputs their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age</a:t>
            </a:r>
            <a:endParaRPr sz="2400">
              <a:latin typeface="Perpetua"/>
              <a:cs typeface="Perpetua"/>
            </a:endParaRPr>
          </a:p>
          <a:p>
            <a:pPr marL="81280" marR="196850">
              <a:lnSpc>
                <a:spcPct val="120800"/>
              </a:lnSpc>
              <a:tabLst>
                <a:tab pos="1841500" algn="l"/>
              </a:tabLst>
            </a:pPr>
            <a:r>
              <a:rPr sz="2400" spc="-20" dirty="0">
                <a:latin typeface="Perpetua"/>
                <a:cs typeface="Perpetua"/>
              </a:rPr>
              <a:t>STORE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dirty="0">
                <a:latin typeface="Perpetua"/>
                <a:cs typeface="Perpetua"/>
              </a:rPr>
              <a:t>user's input in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b="1" dirty="0">
                <a:latin typeface="Perpetua"/>
                <a:cs typeface="Perpetua"/>
              </a:rPr>
              <a:t>age </a:t>
            </a:r>
            <a:r>
              <a:rPr sz="2400" spc="-10" dirty="0">
                <a:latin typeface="Perpetua"/>
                <a:cs typeface="Perpetua"/>
              </a:rPr>
              <a:t>variable  </a:t>
            </a: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10" dirty="0">
                <a:latin typeface="Perpetua"/>
                <a:cs typeface="Perpetua"/>
              </a:rPr>
              <a:t>age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&gt;=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70	THEN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latin typeface="Perpetua"/>
                <a:cs typeface="Perpetua"/>
              </a:rPr>
              <a:t>OUTPUT </a:t>
            </a:r>
            <a:r>
              <a:rPr sz="2400" spc="-70" dirty="0">
                <a:latin typeface="Perpetua"/>
                <a:cs typeface="Perpetua"/>
              </a:rPr>
              <a:t>'You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5" dirty="0">
                <a:latin typeface="Perpetua"/>
                <a:cs typeface="Perpetua"/>
              </a:rPr>
              <a:t>aged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perfection!‘</a:t>
            </a:r>
            <a:endParaRPr sz="2400">
              <a:latin typeface="Perpetua"/>
              <a:cs typeface="Perpetua"/>
            </a:endParaRPr>
          </a:p>
          <a:p>
            <a:pPr marL="8128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Perpetua"/>
                <a:cs typeface="Perpetua"/>
              </a:rPr>
              <a:t>ELSE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Perpetua"/>
                <a:cs typeface="Perpetua"/>
              </a:rPr>
              <a:t>OUTPUT </a:t>
            </a:r>
            <a:r>
              <a:rPr sz="2400" spc="-70" dirty="0">
                <a:latin typeface="Perpetua"/>
                <a:cs typeface="Perpetua"/>
              </a:rPr>
              <a:t>'You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5" dirty="0">
                <a:latin typeface="Perpetua"/>
                <a:cs typeface="Perpetua"/>
              </a:rPr>
              <a:t>spring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chicken!'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381" y="6456984"/>
            <a:ext cx="901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Perpetua"/>
                <a:cs typeface="Perpetua"/>
              </a:rPr>
              <a:t>7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994" y="5859271"/>
            <a:ext cx="63309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does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this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algorithm</a:t>
            </a:r>
            <a:r>
              <a:rPr sz="2400" b="1" i="1" spc="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perform?</a:t>
            </a:r>
            <a:endParaRPr sz="2400">
              <a:latin typeface="Perpetua"/>
              <a:cs typeface="Perpetua"/>
            </a:endParaRPr>
          </a:p>
          <a:p>
            <a:pPr marL="491490">
              <a:lnSpc>
                <a:spcPct val="100000"/>
              </a:lnSpc>
            </a:pPr>
            <a:r>
              <a:rPr sz="2400" i="1" spc="-145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ask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someone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their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name and </a:t>
            </a:r>
            <a:r>
              <a:rPr sz="2400" i="1" spc="-25" dirty="0">
                <a:solidFill>
                  <a:srgbClr val="C00000"/>
                </a:solidFill>
                <a:latin typeface="Perpetua"/>
                <a:cs typeface="Perpetua"/>
              </a:rPr>
              <a:t>age,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and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make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a</a:t>
            </a:r>
            <a:r>
              <a:rPr sz="2400" i="1" spc="-1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comment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75730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5" dirty="0">
                <a:latin typeface="Perpetua"/>
                <a:cs typeface="Perpetua"/>
              </a:rPr>
              <a:t>Representing an </a:t>
            </a:r>
            <a:r>
              <a:rPr sz="3600" b="1" i="0" spc="5" dirty="0">
                <a:latin typeface="Perpetua"/>
                <a:cs typeface="Perpetua"/>
              </a:rPr>
              <a:t>algorithm:</a:t>
            </a:r>
            <a:r>
              <a:rPr sz="3600" b="1" i="0" spc="-185" dirty="0">
                <a:latin typeface="Perpetua"/>
                <a:cs typeface="Perpetua"/>
              </a:rPr>
              <a:t> </a:t>
            </a:r>
            <a:r>
              <a:rPr sz="3600" b="1" i="0" dirty="0">
                <a:latin typeface="Perpetua"/>
                <a:cs typeface="Perpetua"/>
              </a:rPr>
              <a:t>Flowcharts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53813"/>
            <a:ext cx="8532495" cy="397382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flowchart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5" dirty="0">
                <a:latin typeface="Perpetua"/>
                <a:cs typeface="Perpetua"/>
              </a:rPr>
              <a:t>diagram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represents </a:t>
            </a:r>
            <a:r>
              <a:rPr sz="2600" dirty="0">
                <a:latin typeface="Perpetua"/>
                <a:cs typeface="Perpetua"/>
              </a:rPr>
              <a:t>a set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4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instructions</a:t>
            </a:r>
            <a:r>
              <a:rPr sz="2600" spc="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698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5" dirty="0">
                <a:latin typeface="Perpetua"/>
                <a:cs typeface="Perpetua"/>
              </a:rPr>
              <a:t>Flowcharts </a:t>
            </a:r>
            <a:r>
              <a:rPr sz="2600" dirty="0">
                <a:latin typeface="Perpetua"/>
                <a:cs typeface="Perpetua"/>
              </a:rPr>
              <a:t>normally use </a:t>
            </a:r>
            <a:r>
              <a:rPr sz="2600" spc="-5" dirty="0">
                <a:latin typeface="Perpetua"/>
                <a:cs typeface="Perpetua"/>
              </a:rPr>
              <a:t>standard </a:t>
            </a:r>
            <a:r>
              <a:rPr sz="2600" dirty="0">
                <a:latin typeface="Perpetua"/>
                <a:cs typeface="Perpetua"/>
              </a:rPr>
              <a:t>symbols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represent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different  instructions.</a:t>
            </a:r>
            <a:endParaRPr sz="2600">
              <a:latin typeface="Perpetua"/>
              <a:cs typeface="Perpetua"/>
            </a:endParaRPr>
          </a:p>
          <a:p>
            <a:pPr marL="286385" marR="6985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163320" algn="l"/>
                <a:tab pos="1693545" algn="l"/>
                <a:tab pos="2295525" algn="l"/>
                <a:tab pos="2907030" algn="l"/>
                <a:tab pos="3662679" algn="l"/>
                <a:tab pos="4495165" algn="l"/>
                <a:tab pos="5038090" algn="l"/>
                <a:tab pos="5756910" algn="l"/>
                <a:tab pos="6159500" algn="l"/>
                <a:tab pos="6983095" algn="l"/>
                <a:tab pos="8002270" algn="l"/>
                <a:tab pos="8395970" algn="l"/>
              </a:tabLst>
            </a:pP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3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f</a:t>
            </a:r>
            <a:r>
              <a:rPr sz="2600" spc="-45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w	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eal	</a:t>
            </a:r>
            <a:r>
              <a:rPr sz="2600" spc="6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ules	</a:t>
            </a:r>
            <a:r>
              <a:rPr sz="2600" spc="-5" dirty="0">
                <a:latin typeface="Perpetua"/>
                <a:cs typeface="Perpetua"/>
              </a:rPr>
              <a:t>ab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ut	the	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spc="-40" dirty="0">
                <a:latin typeface="Perpetua"/>
                <a:cs typeface="Perpetua"/>
              </a:rPr>
              <a:t>e</a:t>
            </a:r>
            <a:r>
              <a:rPr sz="2600" spc="-5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el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detail	nee</a:t>
            </a:r>
            <a:r>
              <a:rPr sz="2600" spc="-15" dirty="0">
                <a:latin typeface="Perpetua"/>
                <a:cs typeface="Perpetua"/>
              </a:rPr>
              <a:t>de</a:t>
            </a:r>
            <a:r>
              <a:rPr sz="2600" dirty="0">
                <a:latin typeface="Perpetua"/>
                <a:cs typeface="Perpetua"/>
              </a:rPr>
              <a:t>d	</a:t>
            </a:r>
            <a:r>
              <a:rPr sz="2600" spc="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n	a  </a:t>
            </a:r>
            <a:r>
              <a:rPr sz="2600" spc="5" dirty="0">
                <a:latin typeface="Perpetua"/>
                <a:cs typeface="Perpetua"/>
              </a:rPr>
              <a:t>flowchart.</a:t>
            </a:r>
            <a:endParaRPr sz="2600">
              <a:latin typeface="Perpetua"/>
              <a:cs typeface="Perpetua"/>
            </a:endParaRPr>
          </a:p>
          <a:p>
            <a:pPr marL="286385" marR="825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Sometimes </a:t>
            </a:r>
            <a:r>
              <a:rPr sz="2600" spc="5" dirty="0">
                <a:latin typeface="Perpetua"/>
                <a:cs typeface="Perpetua"/>
              </a:rPr>
              <a:t>flowcharts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broken </a:t>
            </a:r>
            <a:r>
              <a:rPr sz="2600" spc="-25" dirty="0">
                <a:latin typeface="Perpetua"/>
                <a:cs typeface="Perpetua"/>
              </a:rPr>
              <a:t>down </a:t>
            </a:r>
            <a:r>
              <a:rPr sz="2600" dirty="0">
                <a:latin typeface="Perpetua"/>
                <a:cs typeface="Perpetua"/>
              </a:rPr>
              <a:t>into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-5" dirty="0">
                <a:latin typeface="Perpetua"/>
                <a:cs typeface="Perpetua"/>
              </a:rPr>
              <a:t>steps to </a:t>
            </a:r>
            <a:r>
              <a:rPr sz="2600" spc="-20" dirty="0">
                <a:latin typeface="Perpetua"/>
                <a:cs typeface="Perpetua"/>
              </a:rPr>
              <a:t>provide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lot of detail about </a:t>
            </a:r>
            <a:r>
              <a:rPr sz="2600" spc="-10" dirty="0">
                <a:latin typeface="Perpetua"/>
                <a:cs typeface="Perpetua"/>
              </a:rPr>
              <a:t>exactly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happening.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Sometimes </a:t>
            </a:r>
            <a:r>
              <a:rPr sz="2600" spc="-10" dirty="0">
                <a:latin typeface="Perpetua"/>
                <a:cs typeface="Perpetua"/>
              </a:rPr>
              <a:t>they are </a:t>
            </a:r>
            <a:r>
              <a:rPr sz="2600" dirty="0">
                <a:latin typeface="Perpetua"/>
                <a:cs typeface="Perpetua"/>
              </a:rPr>
              <a:t>simplified so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number of steps occur </a:t>
            </a:r>
            <a:r>
              <a:rPr sz="2600" dirty="0">
                <a:latin typeface="Perpetua"/>
                <a:cs typeface="Perpetua"/>
              </a:rPr>
              <a:t>in  just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spc="-30" dirty="0">
                <a:latin typeface="Perpetua"/>
                <a:cs typeface="Perpetua"/>
              </a:rPr>
              <a:t>step.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381" y="6456984"/>
            <a:ext cx="901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Perpetua"/>
                <a:cs typeface="Perpetua"/>
              </a:rPr>
              <a:t>8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717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Perpetua"/>
                <a:cs typeface="Perpetua"/>
              </a:rPr>
              <a:t>Relationship </a:t>
            </a:r>
            <a:r>
              <a:rPr sz="3600" i="0" spc="-20" dirty="0">
                <a:latin typeface="Perpetua"/>
                <a:cs typeface="Perpetua"/>
              </a:rPr>
              <a:t>between </a:t>
            </a:r>
            <a:r>
              <a:rPr sz="3600" spc="10" dirty="0"/>
              <a:t>rules </a:t>
            </a:r>
            <a:r>
              <a:rPr sz="3600" i="0" spc="-5" dirty="0">
                <a:latin typeface="Perpetua"/>
                <a:cs typeface="Perpetua"/>
              </a:rPr>
              <a:t>and</a:t>
            </a:r>
            <a:r>
              <a:rPr sz="3600" i="0" spc="-50" dirty="0">
                <a:latin typeface="Perpetua"/>
                <a:cs typeface="Perpetua"/>
              </a:rPr>
              <a:t> </a:t>
            </a:r>
            <a:r>
              <a:rPr sz="3600" dirty="0"/>
              <a:t>algorithms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03497"/>
            <a:ext cx="7720330" cy="44704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Not all </a:t>
            </a:r>
            <a:r>
              <a:rPr sz="2600" i="1" spc="-5" dirty="0">
                <a:latin typeface="Perpetua"/>
                <a:cs typeface="Perpetua"/>
              </a:rPr>
              <a:t>lists of </a:t>
            </a:r>
            <a:r>
              <a:rPr sz="2600" i="1" spc="5" dirty="0">
                <a:latin typeface="Perpetua"/>
                <a:cs typeface="Perpetua"/>
              </a:rPr>
              <a:t>rules </a:t>
            </a:r>
            <a:r>
              <a:rPr sz="2600" i="1" spc="-10" dirty="0">
                <a:latin typeface="Perpetua"/>
                <a:cs typeface="Perpetua"/>
              </a:rPr>
              <a:t>are</a:t>
            </a:r>
            <a:r>
              <a:rPr sz="2600" i="1" spc="-3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algorithms.</a:t>
            </a:r>
            <a:endParaRPr sz="26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sz="2600" spc="-5" dirty="0">
                <a:latin typeface="Perpetua"/>
                <a:cs typeface="Perpetua"/>
              </a:rPr>
              <a:t>Example: Rules </a:t>
            </a:r>
            <a:r>
              <a:rPr sz="2600" dirty="0">
                <a:latin typeface="Perpetua"/>
                <a:cs typeface="Perpetua"/>
              </a:rPr>
              <a:t>on </a:t>
            </a:r>
            <a:r>
              <a:rPr sz="2600" spc="-5" dirty="0">
                <a:latin typeface="Perpetua"/>
                <a:cs typeface="Perpetua"/>
              </a:rPr>
              <a:t>toilet </a:t>
            </a:r>
            <a:r>
              <a:rPr sz="2600" dirty="0">
                <a:latin typeface="Perpetua"/>
                <a:cs typeface="Perpetua"/>
              </a:rPr>
              <a:t>of in an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airliner.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14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No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smoking.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No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eating.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Do not use when </a:t>
            </a:r>
            <a:r>
              <a:rPr sz="2600" spc="-5" dirty="0">
                <a:latin typeface="Perpetua"/>
                <a:cs typeface="Perpetua"/>
              </a:rPr>
              <a:t>the fasten seat </a:t>
            </a:r>
            <a:r>
              <a:rPr sz="2600" dirty="0">
                <a:latin typeface="Perpetua"/>
                <a:cs typeface="Perpetua"/>
              </a:rPr>
              <a:t>belt sigh is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But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spc="10" dirty="0">
                <a:latin typeface="Perpetua"/>
                <a:cs typeface="Perpetua"/>
              </a:rPr>
              <a:t>rules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an airliner </a:t>
            </a:r>
            <a:r>
              <a:rPr sz="2600" dirty="0">
                <a:latin typeface="Perpetua"/>
                <a:cs typeface="Perpetua"/>
              </a:rPr>
              <a:t>exit </a:t>
            </a:r>
            <a:r>
              <a:rPr sz="2600" spc="-5" dirty="0">
                <a:latin typeface="Perpetua"/>
                <a:cs typeface="Perpetua"/>
              </a:rPr>
              <a:t>door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algorithm,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2600" i="1" spc="-15" dirty="0">
                <a:latin typeface="Perpetua"/>
                <a:cs typeface="Perpetua"/>
              </a:rPr>
              <a:t>Emergency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opening:</a:t>
            </a:r>
            <a:endParaRPr sz="2600">
              <a:latin typeface="Perpetua"/>
              <a:cs typeface="Perpetua"/>
            </a:endParaRPr>
          </a:p>
          <a:p>
            <a:pPr marL="915669" lvl="1" indent="-30924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916305" algn="l"/>
              </a:tabLst>
            </a:pPr>
            <a:r>
              <a:rPr sz="2600" dirty="0">
                <a:latin typeface="Perpetua"/>
                <a:cs typeface="Perpetua"/>
              </a:rPr>
              <a:t>Pull </a:t>
            </a:r>
            <a:r>
              <a:rPr sz="2600" spc="-30" dirty="0">
                <a:latin typeface="Perpetua"/>
                <a:cs typeface="Perpetua"/>
              </a:rPr>
              <a:t>cover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aside.</a:t>
            </a:r>
            <a:endParaRPr sz="2600">
              <a:latin typeface="Perpetua"/>
              <a:cs typeface="Perpetua"/>
            </a:endParaRPr>
          </a:p>
          <a:p>
            <a:pPr marL="915669" lvl="1" indent="-309245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916305" algn="l"/>
              </a:tabLst>
            </a:pPr>
            <a:r>
              <a:rPr sz="2600" dirty="0">
                <a:latin typeface="Perpetua"/>
                <a:cs typeface="Perpetua"/>
              </a:rPr>
              <a:t>Push </a:t>
            </a:r>
            <a:r>
              <a:rPr sz="2600" spc="-20" dirty="0">
                <a:latin typeface="Perpetua"/>
                <a:cs typeface="Perpetua"/>
              </a:rPr>
              <a:t>lever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open position and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release.</a:t>
            </a:r>
            <a:endParaRPr sz="2600">
              <a:latin typeface="Perpetua"/>
              <a:cs typeface="Perpetua"/>
            </a:endParaRPr>
          </a:p>
          <a:p>
            <a:pPr marL="915669" lvl="1" indent="-30924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916305" algn="l"/>
              </a:tabLst>
            </a:pPr>
            <a:r>
              <a:rPr sz="2600" dirty="0">
                <a:latin typeface="Perpetua"/>
                <a:cs typeface="Perpetua"/>
              </a:rPr>
              <a:t>Push </a:t>
            </a:r>
            <a:r>
              <a:rPr sz="2600" spc="-5" dirty="0">
                <a:latin typeface="Perpetua"/>
                <a:cs typeface="Perpetua"/>
              </a:rPr>
              <a:t>door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outwards.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28600"/>
            <a:ext cx="7924800" cy="609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7962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A </a:t>
            </a:r>
            <a:r>
              <a:rPr sz="3600" i="0" spc="-5" dirty="0">
                <a:latin typeface="Perpetua"/>
                <a:cs typeface="Perpetua"/>
              </a:rPr>
              <a:t>simple </a:t>
            </a:r>
            <a:r>
              <a:rPr sz="3600" i="0" spc="-10" dirty="0">
                <a:latin typeface="Perpetua"/>
                <a:cs typeface="Perpetua"/>
              </a:rPr>
              <a:t>command </a:t>
            </a:r>
            <a:r>
              <a:rPr sz="3600" i="0" spc="-20" dirty="0">
                <a:latin typeface="Perpetua"/>
                <a:cs typeface="Perpetua"/>
              </a:rPr>
              <a:t>like </a:t>
            </a:r>
            <a:r>
              <a:rPr sz="3600" i="0" spc="-10" dirty="0">
                <a:latin typeface="Perpetua"/>
                <a:cs typeface="Perpetua"/>
              </a:rPr>
              <a:t>'spread butter </a:t>
            </a:r>
            <a:r>
              <a:rPr sz="3600" i="0" spc="-5" dirty="0">
                <a:latin typeface="Perpetua"/>
                <a:cs typeface="Perpetua"/>
              </a:rPr>
              <a:t>on</a:t>
            </a:r>
            <a:r>
              <a:rPr sz="3600" i="0" spc="50" dirty="0">
                <a:latin typeface="Perpetua"/>
                <a:cs typeface="Perpetua"/>
              </a:rPr>
              <a:t> </a:t>
            </a:r>
            <a:r>
              <a:rPr sz="3600" i="0" spc="-10" dirty="0">
                <a:latin typeface="Perpetua"/>
                <a:cs typeface="Perpetua"/>
              </a:rPr>
              <a:t>bread‘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77613"/>
            <a:ext cx="8418830" cy="405002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Remove </a:t>
            </a:r>
            <a:r>
              <a:rPr sz="2600" spc="-5" dirty="0">
                <a:latin typeface="Perpetua"/>
                <a:cs typeface="Perpetua"/>
              </a:rPr>
              <a:t>lid from </a:t>
            </a:r>
            <a:r>
              <a:rPr sz="2600" spc="-10" dirty="0">
                <a:latin typeface="Perpetua"/>
                <a:cs typeface="Perpetua"/>
              </a:rPr>
              <a:t>butter </a:t>
            </a:r>
            <a:r>
              <a:rPr sz="2600" spc="-5" dirty="0">
                <a:latin typeface="Perpetua"/>
                <a:cs typeface="Perpetua"/>
              </a:rPr>
              <a:t>tub and place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one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side.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Place 5 </a:t>
            </a:r>
            <a:r>
              <a:rPr sz="2600" spc="5" dirty="0">
                <a:latin typeface="Perpetua"/>
                <a:cs typeface="Perpetua"/>
              </a:rPr>
              <a:t>grams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butter </a:t>
            </a:r>
            <a:r>
              <a:rPr sz="2600" spc="-5" dirty="0">
                <a:latin typeface="Perpetua"/>
                <a:cs typeface="Perpetua"/>
              </a:rPr>
              <a:t>on the </a:t>
            </a:r>
            <a:r>
              <a:rPr sz="2600" dirty="0">
                <a:latin typeface="Perpetua"/>
                <a:cs typeface="Perpetua"/>
              </a:rPr>
              <a:t>tip of </a:t>
            </a:r>
            <a:r>
              <a:rPr sz="2600" spc="-5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knife.</a:t>
            </a:r>
            <a:endParaRPr sz="2600">
              <a:latin typeface="Perpetua"/>
              <a:cs typeface="Perpetua"/>
            </a:endParaRPr>
          </a:p>
          <a:p>
            <a:pPr marL="286385" marR="42545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Position </a:t>
            </a:r>
            <a:r>
              <a:rPr sz="2600" dirty="0">
                <a:latin typeface="Perpetua"/>
                <a:cs typeface="Perpetua"/>
              </a:rPr>
              <a:t>the tip </a:t>
            </a:r>
            <a:r>
              <a:rPr sz="2600" spc="-1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knife on the </a:t>
            </a:r>
            <a:r>
              <a:rPr sz="2600" spc="-10" dirty="0">
                <a:latin typeface="Perpetua"/>
                <a:cs typeface="Perpetua"/>
              </a:rPr>
              <a:t>upwards </a:t>
            </a:r>
            <a:r>
              <a:rPr sz="2600" dirty="0">
                <a:latin typeface="Perpetua"/>
                <a:cs typeface="Perpetua"/>
              </a:rPr>
              <a:t>side of the slice of </a:t>
            </a:r>
            <a:r>
              <a:rPr sz="2600" spc="-5" dirty="0">
                <a:latin typeface="Perpetua"/>
                <a:cs typeface="Perpetua"/>
              </a:rPr>
              <a:t>bread  </a:t>
            </a:r>
            <a:r>
              <a:rPr sz="2600" dirty="0">
                <a:latin typeface="Perpetua"/>
                <a:cs typeface="Perpetua"/>
              </a:rPr>
              <a:t>with the </a:t>
            </a:r>
            <a:r>
              <a:rPr sz="2600" spc="-10" dirty="0">
                <a:latin typeface="Perpetua"/>
                <a:cs typeface="Perpetua"/>
              </a:rPr>
              <a:t>butter </a:t>
            </a:r>
            <a:r>
              <a:rPr sz="2600" spc="-15" dirty="0">
                <a:latin typeface="Perpetua"/>
                <a:cs typeface="Perpetua"/>
              </a:rPr>
              <a:t>between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knife and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bread.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dirty="0">
                <a:latin typeface="Perpetua"/>
                <a:cs typeface="Perpetua"/>
              </a:rPr>
              <a:t>the knife backwards </a:t>
            </a:r>
            <a:r>
              <a:rPr sz="2600" spc="-5" dirty="0">
                <a:latin typeface="Perpetua"/>
                <a:cs typeface="Perpetua"/>
              </a:rPr>
              <a:t>and forwards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20" dirty="0">
                <a:latin typeface="Perpetua"/>
                <a:cs typeface="Perpetua"/>
              </a:rPr>
              <a:t>sweeping </a:t>
            </a:r>
            <a:r>
              <a:rPr sz="2600" spc="-5" dirty="0">
                <a:latin typeface="Perpetua"/>
                <a:cs typeface="Perpetua"/>
              </a:rPr>
              <a:t>motion </a:t>
            </a:r>
            <a:r>
              <a:rPr sz="2600" spc="-10" dirty="0">
                <a:latin typeface="Perpetua"/>
                <a:cs typeface="Perpetua"/>
              </a:rPr>
              <a:t>across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bread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spread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spc="-25" dirty="0">
                <a:latin typeface="Perpetua"/>
                <a:cs typeface="Perpetua"/>
              </a:rPr>
              <a:t>even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thickness.</a:t>
            </a:r>
            <a:endParaRPr sz="2600">
              <a:latin typeface="Perpetua"/>
              <a:cs typeface="Perpetua"/>
            </a:endParaRPr>
          </a:p>
          <a:p>
            <a:pPr marL="286385" marR="69532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Repeat </a:t>
            </a:r>
            <a:r>
              <a:rPr sz="2600" spc="-5" dirty="0">
                <a:latin typeface="Perpetua"/>
                <a:cs typeface="Perpetua"/>
              </a:rPr>
              <a:t>steps </a:t>
            </a:r>
            <a:r>
              <a:rPr sz="2600" dirty="0">
                <a:latin typeface="Perpetua"/>
                <a:cs typeface="Perpetua"/>
              </a:rPr>
              <a:t>2 to 4 </a:t>
            </a:r>
            <a:r>
              <a:rPr sz="2600" spc="-5" dirty="0">
                <a:latin typeface="Perpetua"/>
                <a:cs typeface="Perpetua"/>
              </a:rPr>
              <a:t>until one </a:t>
            </a:r>
            <a:r>
              <a:rPr sz="2600" dirty="0">
                <a:latin typeface="Perpetua"/>
                <a:cs typeface="Perpetua"/>
              </a:rPr>
              <a:t>side of the slice of </a:t>
            </a:r>
            <a:r>
              <a:rPr sz="2600" spc="-5" dirty="0">
                <a:latin typeface="Perpetua"/>
                <a:cs typeface="Perpetua"/>
              </a:rPr>
              <a:t>bread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25" dirty="0">
                <a:latin typeface="Perpetua"/>
                <a:cs typeface="Perpetua"/>
              </a:rPr>
              <a:t>evenly  </a:t>
            </a:r>
            <a:r>
              <a:rPr sz="2600" spc="-5" dirty="0">
                <a:latin typeface="Perpetua"/>
                <a:cs typeface="Perpetua"/>
              </a:rPr>
              <a:t>coated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butter.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Remove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spc="-5" dirty="0">
                <a:latin typeface="Perpetua"/>
                <a:cs typeface="Perpetua"/>
              </a:rPr>
              <a:t>excess </a:t>
            </a:r>
            <a:r>
              <a:rPr sz="2600" spc="-10" dirty="0">
                <a:latin typeface="Perpetua"/>
                <a:cs typeface="Perpetua"/>
              </a:rPr>
              <a:t>butter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tip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knife.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457200"/>
            <a:ext cx="8229600" cy="579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0010">
              <a:lnSpc>
                <a:spcPct val="100000"/>
              </a:lnSpc>
              <a:spcBef>
                <a:spcPts val="105"/>
              </a:spcBef>
            </a:pPr>
            <a:r>
              <a:rPr i="0" dirty="0">
                <a:latin typeface="Perpetua"/>
                <a:cs typeface="Perpetua"/>
              </a:rPr>
              <a:t>A simple program could be </a:t>
            </a:r>
            <a:r>
              <a:rPr i="0" spc="-10" dirty="0">
                <a:latin typeface="Perpetua"/>
                <a:cs typeface="Perpetua"/>
              </a:rPr>
              <a:t>created </a:t>
            </a:r>
            <a:r>
              <a:rPr i="0" dirty="0">
                <a:latin typeface="Perpetua"/>
                <a:cs typeface="Perpetua"/>
              </a:rPr>
              <a:t>to </a:t>
            </a:r>
            <a:r>
              <a:rPr i="0" spc="-5" dirty="0">
                <a:latin typeface="Perpetua"/>
                <a:cs typeface="Perpetua"/>
              </a:rPr>
              <a:t>ask </a:t>
            </a:r>
            <a:r>
              <a:rPr i="0" dirty="0">
                <a:latin typeface="Perpetua"/>
                <a:cs typeface="Perpetua"/>
              </a:rPr>
              <a:t>someone their  </a:t>
            </a:r>
            <a:r>
              <a:rPr i="0" spc="-5" dirty="0">
                <a:latin typeface="Perpetua"/>
                <a:cs typeface="Perpetua"/>
              </a:rPr>
              <a:t>name and </a:t>
            </a:r>
            <a:r>
              <a:rPr i="0" spc="-20" dirty="0">
                <a:latin typeface="Perpetua"/>
                <a:cs typeface="Perpetua"/>
              </a:rPr>
              <a:t>age, </a:t>
            </a:r>
            <a:r>
              <a:rPr i="0" spc="-5" dirty="0">
                <a:latin typeface="Perpetua"/>
                <a:cs typeface="Perpetua"/>
              </a:rPr>
              <a:t>and </a:t>
            </a:r>
            <a:r>
              <a:rPr i="0" dirty="0">
                <a:latin typeface="Perpetua"/>
                <a:cs typeface="Perpetua"/>
              </a:rPr>
              <a:t>to </a:t>
            </a:r>
            <a:r>
              <a:rPr i="0" spc="-15" dirty="0">
                <a:latin typeface="Perpetua"/>
                <a:cs typeface="Perpetua"/>
              </a:rPr>
              <a:t>make </a:t>
            </a:r>
            <a:r>
              <a:rPr i="0" dirty="0">
                <a:latin typeface="Perpetua"/>
                <a:cs typeface="Perpetua"/>
              </a:rPr>
              <a:t>a comment based </a:t>
            </a:r>
            <a:r>
              <a:rPr i="0" spc="-5" dirty="0">
                <a:latin typeface="Perpetua"/>
                <a:cs typeface="Perpetua"/>
              </a:rPr>
              <a:t>on</a:t>
            </a:r>
            <a:r>
              <a:rPr i="0" spc="-105" dirty="0">
                <a:latin typeface="Perpetua"/>
                <a:cs typeface="Perpetua"/>
              </a:rPr>
              <a:t> </a:t>
            </a:r>
            <a:r>
              <a:rPr i="0" spc="-10" dirty="0">
                <a:latin typeface="Perpetua"/>
                <a:cs typeface="Perpetua"/>
              </a:rPr>
              <a:t>these.</a:t>
            </a:r>
          </a:p>
          <a:p>
            <a:pPr marL="12700" marR="5080">
              <a:lnSpc>
                <a:spcPct val="100000"/>
              </a:lnSpc>
            </a:pPr>
            <a:r>
              <a:rPr i="0" dirty="0">
                <a:latin typeface="Perpetua"/>
                <a:cs typeface="Perpetua"/>
              </a:rPr>
              <a:t>This program </a:t>
            </a:r>
            <a:r>
              <a:rPr i="0" spc="-10" dirty="0">
                <a:latin typeface="Perpetua"/>
                <a:cs typeface="Perpetua"/>
              </a:rPr>
              <a:t>represented </a:t>
            </a:r>
            <a:r>
              <a:rPr i="0" dirty="0">
                <a:latin typeface="Perpetua"/>
                <a:cs typeface="Perpetua"/>
              </a:rPr>
              <a:t>in </a:t>
            </a:r>
            <a:r>
              <a:rPr i="0" spc="-5" dirty="0">
                <a:latin typeface="Perpetua"/>
                <a:cs typeface="Perpetua"/>
              </a:rPr>
              <a:t>pseudocode </a:t>
            </a:r>
            <a:r>
              <a:rPr i="0" spc="-25" dirty="0">
                <a:latin typeface="Perpetua"/>
                <a:cs typeface="Perpetua"/>
              </a:rPr>
              <a:t>would </a:t>
            </a:r>
            <a:r>
              <a:rPr i="0" spc="-5" dirty="0">
                <a:latin typeface="Perpetua"/>
                <a:cs typeface="Perpetua"/>
              </a:rPr>
              <a:t>look </a:t>
            </a:r>
            <a:r>
              <a:rPr i="0" spc="-20" dirty="0">
                <a:latin typeface="Perpetua"/>
                <a:cs typeface="Perpetua"/>
              </a:rPr>
              <a:t>like  </a:t>
            </a:r>
            <a:r>
              <a:rPr i="0" dirty="0">
                <a:latin typeface="Perpetua"/>
                <a:cs typeface="Perpetua"/>
              </a:rPr>
              <a:t>this: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2197194"/>
            <a:ext cx="8573770" cy="4473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743450">
              <a:lnSpc>
                <a:spcPct val="119200"/>
              </a:lnSpc>
              <a:spcBef>
                <a:spcPts val="95"/>
              </a:spcBef>
            </a:pPr>
            <a:r>
              <a:rPr sz="2600" dirty="0">
                <a:latin typeface="Perpetua"/>
                <a:cs typeface="Perpetua"/>
              </a:rPr>
              <a:t>OUTPUT </a:t>
            </a:r>
            <a:r>
              <a:rPr sz="2600" spc="-10" dirty="0">
                <a:latin typeface="Perpetua"/>
                <a:cs typeface="Perpetua"/>
              </a:rPr>
              <a:t>'What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5" dirty="0">
                <a:latin typeface="Perpetua"/>
                <a:cs typeface="Perpetua"/>
              </a:rPr>
              <a:t>your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name?‘  INPUT user </a:t>
            </a:r>
            <a:r>
              <a:rPr sz="2600" spc="-5" dirty="0">
                <a:latin typeface="Perpetua"/>
                <a:cs typeface="Perpetua"/>
              </a:rPr>
              <a:t>inputs </a:t>
            </a:r>
            <a:r>
              <a:rPr sz="2600" dirty="0">
                <a:latin typeface="Perpetua"/>
                <a:cs typeface="Perpetua"/>
              </a:rPr>
              <a:t>their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name</a:t>
            </a:r>
            <a:endParaRPr sz="2600" dirty="0">
              <a:latin typeface="Perpetua"/>
              <a:cs typeface="Perpetua"/>
            </a:endParaRPr>
          </a:p>
          <a:p>
            <a:pPr marL="12700" marR="3162300">
              <a:lnSpc>
                <a:spcPct val="119200"/>
              </a:lnSpc>
              <a:spcBef>
                <a:spcPts val="5"/>
              </a:spcBef>
            </a:pPr>
            <a:r>
              <a:rPr sz="2600" spc="-20" dirty="0">
                <a:latin typeface="Perpetua"/>
                <a:cs typeface="Perpetua"/>
              </a:rPr>
              <a:t>STORE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user's input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b="1" dirty="0">
                <a:latin typeface="Perpetua"/>
                <a:cs typeface="Perpetua"/>
              </a:rPr>
              <a:t>name </a:t>
            </a:r>
            <a:r>
              <a:rPr sz="2600" spc="-10" dirty="0">
                <a:latin typeface="Perpetua"/>
                <a:cs typeface="Perpetua"/>
              </a:rPr>
              <a:t>variable  </a:t>
            </a:r>
            <a:r>
              <a:rPr sz="2600" dirty="0">
                <a:latin typeface="Perpetua"/>
                <a:cs typeface="Perpetua"/>
              </a:rPr>
              <a:t>OUTPUT </a:t>
            </a:r>
            <a:r>
              <a:rPr sz="2600" spc="-5" dirty="0">
                <a:latin typeface="Perpetua"/>
                <a:cs typeface="Perpetua"/>
              </a:rPr>
              <a:t>'Hello' </a:t>
            </a:r>
            <a:r>
              <a:rPr sz="2600" dirty="0">
                <a:latin typeface="Perpetua"/>
                <a:cs typeface="Perpetua"/>
              </a:rPr>
              <a:t>+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name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OUTPUT </a:t>
            </a:r>
            <a:r>
              <a:rPr sz="2600" spc="-20" dirty="0">
                <a:latin typeface="Perpetua"/>
                <a:cs typeface="Perpetua"/>
              </a:rPr>
              <a:t>'How </a:t>
            </a:r>
            <a:r>
              <a:rPr sz="2600" dirty="0">
                <a:latin typeface="Perpetua"/>
                <a:cs typeface="Perpetua"/>
              </a:rPr>
              <a:t>old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you?‘</a:t>
            </a:r>
            <a:endParaRPr sz="2600" dirty="0">
              <a:latin typeface="Perpetua"/>
              <a:cs typeface="Perpetua"/>
            </a:endParaRPr>
          </a:p>
          <a:p>
            <a:pPr marL="12700" marR="5080">
              <a:lnSpc>
                <a:spcPct val="119200"/>
              </a:lnSpc>
              <a:spcBef>
                <a:spcPts val="5"/>
              </a:spcBef>
              <a:tabLst>
                <a:tab pos="2755900" algn="l"/>
              </a:tabLst>
            </a:pPr>
            <a:r>
              <a:rPr sz="2600" dirty="0">
                <a:latin typeface="Perpetua"/>
                <a:cs typeface="Perpetua"/>
              </a:rPr>
              <a:t>INPUT </a:t>
            </a:r>
            <a:r>
              <a:rPr sz="2600" spc="-5" dirty="0">
                <a:latin typeface="Perpetua"/>
                <a:cs typeface="Perpetua"/>
              </a:rPr>
              <a:t>user inputs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-5" dirty="0">
                <a:latin typeface="Perpetua"/>
                <a:cs typeface="Perpetua"/>
              </a:rPr>
              <a:t>age </a:t>
            </a:r>
            <a:r>
              <a:rPr sz="2600" spc="-20" dirty="0">
                <a:latin typeface="Perpetua"/>
                <a:cs typeface="Perpetua"/>
              </a:rPr>
              <a:t>STORE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user's input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b="1" dirty="0">
                <a:latin typeface="Perpetua"/>
                <a:cs typeface="Perpetua"/>
              </a:rPr>
              <a:t>age </a:t>
            </a:r>
            <a:r>
              <a:rPr sz="2600" spc="-10" dirty="0">
                <a:latin typeface="Perpetua"/>
                <a:cs typeface="Perpetua"/>
              </a:rPr>
              <a:t>variable 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" dirty="0">
                <a:latin typeface="Perpetua"/>
                <a:cs typeface="Perpetua"/>
              </a:rPr>
              <a:t>age </a:t>
            </a:r>
            <a:r>
              <a:rPr sz="2600" dirty="0">
                <a:latin typeface="Perpetua"/>
                <a:cs typeface="Perpetua"/>
              </a:rPr>
              <a:t>&gt;=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70</a:t>
            </a:r>
            <a:r>
              <a:rPr sz="2600" spc="-3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	OUTPUT </a:t>
            </a:r>
            <a:r>
              <a:rPr sz="2600" spc="-75" dirty="0">
                <a:latin typeface="Perpetua"/>
                <a:cs typeface="Perpetua"/>
              </a:rPr>
              <a:t>'You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aged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perfection!‘</a:t>
            </a:r>
            <a:endParaRPr sz="2600" dirty="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927100" algn="l"/>
              </a:tabLst>
            </a:pPr>
            <a:r>
              <a:rPr sz="2600" dirty="0">
                <a:latin typeface="Perpetua"/>
                <a:cs typeface="Perpetua"/>
              </a:rPr>
              <a:t>ELSE	OUTPUT </a:t>
            </a:r>
            <a:r>
              <a:rPr sz="2600" spc="-75" dirty="0">
                <a:latin typeface="Perpetua"/>
                <a:cs typeface="Perpetua"/>
              </a:rPr>
              <a:t>'You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spring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chicken!'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 dirty="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14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0" y="304800"/>
            <a:ext cx="4978783" cy="6377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320" y="1358105"/>
            <a:ext cx="3145790" cy="4674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i="1" spc="-5" dirty="0">
                <a:latin typeface="Perpetua"/>
                <a:cs typeface="Perpetua"/>
              </a:rPr>
              <a:t>Pseudocode</a:t>
            </a:r>
            <a:endParaRPr sz="2600">
              <a:latin typeface="Perpetua"/>
              <a:cs typeface="Perpetua"/>
            </a:endParaRPr>
          </a:p>
          <a:p>
            <a:pPr marL="228600" marR="521970" indent="-216535">
              <a:lnSpc>
                <a:spcPts val="3720"/>
              </a:lnSpc>
              <a:spcBef>
                <a:spcPts val="225"/>
              </a:spcBef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lamp plugged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  Then</a:t>
            </a:r>
            <a:endParaRPr sz="2600">
              <a:latin typeface="Perpetua"/>
              <a:cs typeface="Perpetua"/>
            </a:endParaRPr>
          </a:p>
          <a:p>
            <a:pPr marL="911225" marR="56515" indent="-449580">
              <a:lnSpc>
                <a:spcPts val="3720"/>
              </a:lnSpc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bulb </a:t>
            </a:r>
            <a:r>
              <a:rPr sz="2600" spc="5" dirty="0">
                <a:latin typeface="Perpetua"/>
                <a:cs typeface="Perpetua"/>
              </a:rPr>
              <a:t>burned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out  </a:t>
            </a:r>
            <a:r>
              <a:rPr sz="2600" dirty="0">
                <a:latin typeface="Perpetua"/>
                <a:cs typeface="Perpetua"/>
              </a:rPr>
              <a:t>Then</a:t>
            </a:r>
            <a:endParaRPr sz="2600">
              <a:latin typeface="Perpetua"/>
              <a:cs typeface="Perpetua"/>
            </a:endParaRPr>
          </a:p>
          <a:p>
            <a:pPr marL="911225" marR="235585" indent="449580">
              <a:lnSpc>
                <a:spcPts val="3720"/>
              </a:lnSpc>
              <a:spcBef>
                <a:spcPts val="5"/>
              </a:spcBef>
            </a:pPr>
            <a:r>
              <a:rPr sz="2600" spc="-5" dirty="0">
                <a:latin typeface="Perpetua"/>
                <a:cs typeface="Perpetua"/>
              </a:rPr>
              <a:t>Replace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bulb  </a:t>
            </a:r>
            <a:r>
              <a:rPr sz="2600" dirty="0">
                <a:latin typeface="Perpetua"/>
                <a:cs typeface="Perpetua"/>
              </a:rPr>
              <a:t>Else</a:t>
            </a:r>
            <a:endParaRPr sz="2600">
              <a:latin typeface="Perpetua"/>
              <a:cs typeface="Perpetua"/>
            </a:endParaRPr>
          </a:p>
          <a:p>
            <a:pPr marL="1360805">
              <a:lnSpc>
                <a:spcPct val="100000"/>
              </a:lnSpc>
              <a:spcBef>
                <a:spcPts val="375"/>
              </a:spcBef>
              <a:tabLst>
                <a:tab pos="1967864" algn="l"/>
              </a:tabLst>
            </a:pPr>
            <a:r>
              <a:rPr sz="2600" dirty="0">
                <a:latin typeface="Perpetua"/>
                <a:cs typeface="Perpetua"/>
              </a:rPr>
              <a:t>Buy	</a:t>
            </a:r>
            <a:r>
              <a:rPr sz="2600" spc="-15" dirty="0">
                <a:latin typeface="Perpetua"/>
                <a:cs typeface="Perpetua"/>
              </a:rPr>
              <a:t>new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lamp</a:t>
            </a:r>
            <a:endParaRPr sz="2600">
              <a:latin typeface="Perpetua"/>
              <a:cs typeface="Perpetua"/>
            </a:endParaRPr>
          </a:p>
          <a:p>
            <a:pPr marL="2286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Else</a:t>
            </a:r>
            <a:endParaRPr sz="2600">
              <a:latin typeface="Perpetua"/>
              <a:cs typeface="Perpetua"/>
            </a:endParaRPr>
          </a:p>
          <a:p>
            <a:pPr marL="462280">
              <a:lnSpc>
                <a:spcPct val="100000"/>
              </a:lnSpc>
            </a:pPr>
            <a:r>
              <a:rPr sz="2600" spc="5" dirty="0">
                <a:latin typeface="Perpetua"/>
                <a:cs typeface="Perpetua"/>
              </a:rPr>
              <a:t>Plugin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lamp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5175" y="1433525"/>
            <a:ext cx="108204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i="1" dirty="0">
                <a:latin typeface="Perpetua"/>
                <a:cs typeface="Perpetua"/>
              </a:rPr>
              <a:t>Fl</a:t>
            </a:r>
            <a:r>
              <a:rPr sz="2600" i="1" spc="-40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wcha</a:t>
            </a:r>
            <a:r>
              <a:rPr sz="2600" i="1" spc="70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t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5994" y="6164071"/>
            <a:ext cx="5870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latin typeface="Perpetua"/>
                <a:cs typeface="Perpetua"/>
              </a:rPr>
              <a:t>Did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spc="-5" dirty="0">
                <a:latin typeface="Perpetua"/>
                <a:cs typeface="Perpetua"/>
              </a:rPr>
              <a:t>notice </a:t>
            </a:r>
            <a:r>
              <a:rPr sz="2400" i="1" spc="-10" dirty="0">
                <a:latin typeface="Perpetua"/>
                <a:cs typeface="Perpetua"/>
              </a:rPr>
              <a:t>different </a:t>
            </a:r>
            <a:r>
              <a:rPr sz="2400" i="1" spc="-5" dirty="0">
                <a:latin typeface="Perpetua"/>
                <a:cs typeface="Perpetua"/>
              </a:rPr>
              <a:t>shapes/symbols in the </a:t>
            </a:r>
            <a:r>
              <a:rPr sz="2400" i="1" dirty="0">
                <a:latin typeface="Perpetua"/>
                <a:cs typeface="Perpetua"/>
              </a:rPr>
              <a:t>flowchart?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24400" y="1905000"/>
            <a:ext cx="2801111" cy="381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23228" y="5089397"/>
            <a:ext cx="2701925" cy="6178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295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Flowchart </a:t>
            </a:r>
            <a:r>
              <a:rPr sz="2000" spc="-5" dirty="0">
                <a:latin typeface="Perpetua"/>
                <a:cs typeface="Perpetua"/>
              </a:rPr>
              <a:t>for</a:t>
            </a:r>
            <a:r>
              <a:rPr sz="2000" spc="-10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dealing  with non-functioning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bulb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Perpetua"/>
                <a:cs typeface="Perpetua"/>
              </a:rPr>
              <a:t>An </a:t>
            </a:r>
            <a:r>
              <a:rPr sz="3600" i="0" dirty="0">
                <a:latin typeface="Perpetua"/>
                <a:cs typeface="Perpetua"/>
              </a:rPr>
              <a:t>Algorithm for </a:t>
            </a:r>
            <a:r>
              <a:rPr sz="3600" i="0" spc="-5" dirty="0">
                <a:latin typeface="Perpetua"/>
                <a:cs typeface="Perpetua"/>
              </a:rPr>
              <a:t>dealing </a:t>
            </a:r>
            <a:r>
              <a:rPr sz="3600" i="0" dirty="0">
                <a:latin typeface="Perpetua"/>
                <a:cs typeface="Perpetua"/>
              </a:rPr>
              <a:t>with a</a:t>
            </a:r>
            <a:r>
              <a:rPr sz="3600" i="0" spc="-330" dirty="0">
                <a:latin typeface="Perpetua"/>
                <a:cs typeface="Perpetua"/>
              </a:rPr>
              <a:t> </a:t>
            </a:r>
            <a:r>
              <a:rPr sz="3600" i="0" dirty="0">
                <a:latin typeface="Perpetua"/>
                <a:cs typeface="Perpetua"/>
              </a:rPr>
              <a:t>non-functioning  </a:t>
            </a:r>
            <a:r>
              <a:rPr sz="3600" i="0" spc="-10" dirty="0">
                <a:latin typeface="Perpetua"/>
                <a:cs typeface="Perpetua"/>
              </a:rPr>
              <a:t>bulb</a:t>
            </a:r>
            <a:endParaRPr sz="3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0254" y="2505583"/>
            <a:ext cx="6294755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235" marR="5715" indent="-229235" algn="r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29235" algn="l"/>
              </a:tabLst>
            </a:pP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Algorithms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are about </a:t>
            </a:r>
            <a:r>
              <a:rPr sz="2400" b="1" i="1" spc="-70" dirty="0">
                <a:solidFill>
                  <a:srgbClr val="C00000"/>
                </a:solidFill>
                <a:latin typeface="Perpetua"/>
                <a:cs typeface="Perpetua"/>
              </a:rPr>
              <a:t>HOW 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we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perform</a:t>
            </a:r>
            <a:r>
              <a:rPr sz="2400" b="1" i="1" spc="1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something.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Font typeface="Wingdings"/>
              <a:buChar char=""/>
            </a:pPr>
            <a:endParaRPr sz="3200">
              <a:latin typeface="Perpetua"/>
              <a:cs typeface="Perpetua"/>
            </a:endParaRPr>
          </a:p>
          <a:p>
            <a:pPr marL="228600" marR="5080" lvl="1" indent="-228600" algn="r">
              <a:lnSpc>
                <a:spcPct val="100000"/>
              </a:lnSpc>
              <a:buSzPct val="85416"/>
              <a:buFont typeface="Wingdings"/>
              <a:buChar char=""/>
              <a:tabLst>
                <a:tab pos="228600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It is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not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about </a:t>
            </a:r>
            <a:r>
              <a:rPr sz="2400" b="1" i="1" spc="-55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we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want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to</a:t>
            </a:r>
            <a:r>
              <a:rPr sz="2400" b="1" i="1" spc="-38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perform…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94484" y="1828800"/>
            <a:ext cx="1235616" cy="15873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19200" y="4220935"/>
            <a:ext cx="4344987" cy="808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69794" y="5249417"/>
            <a:ext cx="56241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inputs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-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ingredients and</a:t>
            </a:r>
            <a:r>
              <a:rPr sz="2400" i="1" spc="-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quantities</a:t>
            </a:r>
            <a:endParaRPr sz="2400">
              <a:latin typeface="Perpetua"/>
              <a:cs typeface="Perpetua"/>
            </a:endParaRPr>
          </a:p>
          <a:p>
            <a:pPr marL="252729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process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-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recipe or</a:t>
            </a:r>
            <a:r>
              <a:rPr sz="2400" i="1" spc="-2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method</a:t>
            </a:r>
            <a:endParaRPr sz="2400">
              <a:latin typeface="Perpetua"/>
              <a:cs typeface="Perpetua"/>
            </a:endParaRPr>
          </a:p>
          <a:p>
            <a:pPr marL="252729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output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- </a:t>
            </a:r>
            <a:r>
              <a:rPr sz="2400" i="1" spc="-25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finished sandwich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/ cake will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be</a:t>
            </a:r>
            <a:r>
              <a:rPr sz="2400" i="1" spc="-6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i="1" spc="-5" dirty="0">
                <a:solidFill>
                  <a:srgbClr val="C00000"/>
                </a:solidFill>
                <a:latin typeface="Perpetua"/>
                <a:cs typeface="Perpetua"/>
              </a:rPr>
              <a:t>like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701166"/>
            <a:ext cx="7912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A </a:t>
            </a:r>
            <a:r>
              <a:rPr sz="3600" i="0" spc="-5" dirty="0">
                <a:latin typeface="Perpetua"/>
                <a:cs typeface="Perpetua"/>
              </a:rPr>
              <a:t>simple </a:t>
            </a:r>
            <a:r>
              <a:rPr sz="3600" i="0" spc="-10" dirty="0">
                <a:latin typeface="Perpetua"/>
                <a:cs typeface="Perpetua"/>
              </a:rPr>
              <a:t>command </a:t>
            </a:r>
            <a:r>
              <a:rPr sz="3600" i="0" spc="-20" dirty="0">
                <a:latin typeface="Perpetua"/>
                <a:cs typeface="Perpetua"/>
              </a:rPr>
              <a:t>like </a:t>
            </a:r>
            <a:r>
              <a:rPr sz="3600" i="0" spc="-10" dirty="0">
                <a:latin typeface="Perpetua"/>
                <a:cs typeface="Perpetua"/>
              </a:rPr>
              <a:t>'spread butter </a:t>
            </a:r>
            <a:r>
              <a:rPr sz="3600" i="0" spc="-5" dirty="0">
                <a:latin typeface="Perpetua"/>
                <a:cs typeface="Perpetua"/>
              </a:rPr>
              <a:t>on</a:t>
            </a:r>
            <a:r>
              <a:rPr sz="3600" i="0" spc="50" dirty="0">
                <a:latin typeface="Perpetua"/>
                <a:cs typeface="Perpetua"/>
              </a:rPr>
              <a:t> </a:t>
            </a:r>
            <a:r>
              <a:rPr sz="3600" i="0" spc="-10" dirty="0">
                <a:latin typeface="Perpetua"/>
                <a:cs typeface="Perpetua"/>
              </a:rPr>
              <a:t>bread'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81659" y="1383476"/>
            <a:ext cx="7969884" cy="38982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5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25" dirty="0">
                <a:latin typeface="Perpetua"/>
                <a:cs typeface="Perpetua"/>
              </a:rPr>
              <a:t>Remove </a:t>
            </a:r>
            <a:r>
              <a:rPr sz="2600" spc="-5" dirty="0">
                <a:latin typeface="Perpetua"/>
                <a:cs typeface="Perpetua"/>
              </a:rPr>
              <a:t>lid </a:t>
            </a:r>
            <a:r>
              <a:rPr sz="2600" spc="-10" dirty="0">
                <a:latin typeface="Perpetua"/>
                <a:cs typeface="Perpetua"/>
              </a:rPr>
              <a:t>from butter </a:t>
            </a:r>
            <a:r>
              <a:rPr sz="2600" spc="-5" dirty="0">
                <a:latin typeface="Perpetua"/>
                <a:cs typeface="Perpetua"/>
              </a:rPr>
              <a:t>tub and </a:t>
            </a:r>
            <a:r>
              <a:rPr sz="2600" spc="-10" dirty="0">
                <a:latin typeface="Perpetua"/>
                <a:cs typeface="Perpetua"/>
              </a:rPr>
              <a:t>place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one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side.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4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Place 5 </a:t>
            </a:r>
            <a:r>
              <a:rPr sz="2600" spc="5" dirty="0">
                <a:latin typeface="Perpetua"/>
                <a:cs typeface="Perpetua"/>
              </a:rPr>
              <a:t>grams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butter </a:t>
            </a:r>
            <a:r>
              <a:rPr sz="2600" dirty="0">
                <a:latin typeface="Perpetua"/>
                <a:cs typeface="Perpetua"/>
              </a:rPr>
              <a:t>on the tip of the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knife.</a:t>
            </a:r>
            <a:endParaRPr sz="2600">
              <a:latin typeface="Perpetua"/>
              <a:cs typeface="Perpetua"/>
            </a:endParaRPr>
          </a:p>
          <a:p>
            <a:pPr marL="527685" marR="92075" indent="-515620">
              <a:lnSpc>
                <a:spcPct val="100000"/>
              </a:lnSpc>
              <a:spcBef>
                <a:spcPts val="40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15" dirty="0">
                <a:latin typeface="Perpetua"/>
                <a:cs typeface="Perpetua"/>
              </a:rPr>
              <a:t>Position </a:t>
            </a:r>
            <a:r>
              <a:rPr sz="2600" dirty="0">
                <a:latin typeface="Perpetua"/>
                <a:cs typeface="Perpetua"/>
              </a:rPr>
              <a:t>the tip </a:t>
            </a:r>
            <a:r>
              <a:rPr sz="2600" spc="-1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knife on the </a:t>
            </a:r>
            <a:r>
              <a:rPr sz="2600" spc="-10" dirty="0">
                <a:latin typeface="Perpetua"/>
                <a:cs typeface="Perpetua"/>
              </a:rPr>
              <a:t>upwards </a:t>
            </a:r>
            <a:r>
              <a:rPr sz="2600" dirty="0">
                <a:latin typeface="Perpetua"/>
                <a:cs typeface="Perpetua"/>
              </a:rPr>
              <a:t>side of the slice of  </a:t>
            </a:r>
            <a:r>
              <a:rPr sz="2600" spc="-5" dirty="0">
                <a:latin typeface="Perpetua"/>
                <a:cs typeface="Perpetua"/>
              </a:rPr>
              <a:t>bread </a:t>
            </a:r>
            <a:r>
              <a:rPr sz="2600" dirty="0">
                <a:latin typeface="Perpetua"/>
                <a:cs typeface="Perpetua"/>
              </a:rPr>
              <a:t>with the </a:t>
            </a:r>
            <a:r>
              <a:rPr sz="2600" spc="-10" dirty="0">
                <a:latin typeface="Perpetua"/>
                <a:cs typeface="Perpetua"/>
              </a:rPr>
              <a:t>butter </a:t>
            </a:r>
            <a:r>
              <a:rPr sz="2600" spc="-15" dirty="0">
                <a:latin typeface="Perpetua"/>
                <a:cs typeface="Perpetua"/>
              </a:rPr>
              <a:t>between </a:t>
            </a:r>
            <a:r>
              <a:rPr sz="2600" dirty="0">
                <a:latin typeface="Perpetua"/>
                <a:cs typeface="Perpetua"/>
              </a:rPr>
              <a:t>the knife </a:t>
            </a:r>
            <a:r>
              <a:rPr sz="2600" spc="-5" dirty="0">
                <a:latin typeface="Perpetua"/>
                <a:cs typeface="Perpetua"/>
              </a:rPr>
              <a:t>and the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bread.</a:t>
            </a:r>
            <a:endParaRPr sz="2600">
              <a:latin typeface="Perpetua"/>
              <a:cs typeface="Perpetua"/>
            </a:endParaRPr>
          </a:p>
          <a:p>
            <a:pPr marL="527685" marR="106680" indent="-515620">
              <a:lnSpc>
                <a:spcPct val="100000"/>
              </a:lnSpc>
              <a:spcBef>
                <a:spcPts val="4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knife </a:t>
            </a:r>
            <a:r>
              <a:rPr sz="2600" dirty="0">
                <a:latin typeface="Perpetua"/>
                <a:cs typeface="Perpetua"/>
              </a:rPr>
              <a:t>backwards </a:t>
            </a:r>
            <a:r>
              <a:rPr sz="2600" spc="-5" dirty="0">
                <a:latin typeface="Perpetua"/>
                <a:cs typeface="Perpetua"/>
              </a:rPr>
              <a:t>and forwards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20" dirty="0">
                <a:latin typeface="Perpetua"/>
                <a:cs typeface="Perpetua"/>
              </a:rPr>
              <a:t>sweeping </a:t>
            </a:r>
            <a:r>
              <a:rPr sz="2600" spc="-5" dirty="0">
                <a:latin typeface="Perpetua"/>
                <a:cs typeface="Perpetua"/>
              </a:rPr>
              <a:t>motion  </a:t>
            </a:r>
            <a:r>
              <a:rPr sz="2600" spc="-10" dirty="0">
                <a:latin typeface="Perpetua"/>
                <a:cs typeface="Perpetua"/>
              </a:rPr>
              <a:t>across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bread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spread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spc="-25" dirty="0">
                <a:latin typeface="Perpetua"/>
                <a:cs typeface="Perpetua"/>
              </a:rPr>
              <a:t>even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thickness.</a:t>
            </a:r>
            <a:endParaRPr sz="2600">
              <a:latin typeface="Perpetua"/>
              <a:cs typeface="Perpetua"/>
            </a:endParaRPr>
          </a:p>
          <a:p>
            <a:pPr marL="527685" marR="5080" indent="-515620">
              <a:lnSpc>
                <a:spcPct val="100000"/>
              </a:lnSpc>
              <a:spcBef>
                <a:spcPts val="39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10" dirty="0">
                <a:latin typeface="Perpetua"/>
                <a:cs typeface="Perpetua"/>
              </a:rPr>
              <a:t>Repeat </a:t>
            </a:r>
            <a:r>
              <a:rPr sz="2600" spc="-5" dirty="0">
                <a:latin typeface="Perpetua"/>
                <a:cs typeface="Perpetua"/>
              </a:rPr>
              <a:t>steps </a:t>
            </a:r>
            <a:r>
              <a:rPr sz="2600" dirty="0">
                <a:latin typeface="Perpetua"/>
                <a:cs typeface="Perpetua"/>
              </a:rPr>
              <a:t>2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4 </a:t>
            </a:r>
            <a:r>
              <a:rPr sz="2600" spc="-5" dirty="0">
                <a:latin typeface="Perpetua"/>
                <a:cs typeface="Perpetua"/>
              </a:rPr>
              <a:t>until one </a:t>
            </a:r>
            <a:r>
              <a:rPr sz="2600" dirty="0">
                <a:latin typeface="Perpetua"/>
                <a:cs typeface="Perpetua"/>
              </a:rPr>
              <a:t>side of the slice of </a:t>
            </a:r>
            <a:r>
              <a:rPr sz="2600" spc="-5" dirty="0">
                <a:latin typeface="Perpetua"/>
                <a:cs typeface="Perpetua"/>
              </a:rPr>
              <a:t>bread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25" dirty="0">
                <a:latin typeface="Perpetua"/>
                <a:cs typeface="Perpetua"/>
              </a:rPr>
              <a:t>evenly  </a:t>
            </a:r>
            <a:r>
              <a:rPr sz="2600" spc="-10" dirty="0">
                <a:latin typeface="Perpetua"/>
                <a:cs typeface="Perpetua"/>
              </a:rPr>
              <a:t>coated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butter.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409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25" dirty="0">
                <a:latin typeface="Perpetua"/>
                <a:cs typeface="Perpetua"/>
              </a:rPr>
              <a:t>Remove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spc="-5" dirty="0">
                <a:latin typeface="Perpetua"/>
                <a:cs typeface="Perpetua"/>
              </a:rPr>
              <a:t>excess </a:t>
            </a:r>
            <a:r>
              <a:rPr sz="2600" spc="-10" dirty="0">
                <a:latin typeface="Perpetua"/>
                <a:cs typeface="Perpetua"/>
              </a:rPr>
              <a:t>butter </a:t>
            </a: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tip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knife.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457200"/>
            <a:ext cx="8229600" cy="579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23688" y="1459476"/>
            <a:ext cx="2951964" cy="4530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2320" y="1358105"/>
            <a:ext cx="8336915" cy="49999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fill the </a:t>
            </a:r>
            <a:r>
              <a:rPr sz="2600" i="1" dirty="0">
                <a:latin typeface="Perpetua"/>
                <a:cs typeface="Perpetua"/>
              </a:rPr>
              <a:t>flowchart</a:t>
            </a:r>
            <a:r>
              <a:rPr sz="2600" i="1" spc="2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with</a:t>
            </a:r>
            <a:endParaRPr sz="2600">
              <a:latin typeface="Perpetua"/>
              <a:cs typeface="Perpetua"/>
            </a:endParaRPr>
          </a:p>
          <a:p>
            <a:pPr marL="236220">
              <a:lnSpc>
                <a:spcPct val="100000"/>
              </a:lnSpc>
              <a:spcBef>
                <a:spcPts val="600"/>
              </a:spcBef>
            </a:pP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appropriate </a:t>
            </a:r>
            <a:r>
              <a:rPr sz="2600" i="1" spc="-5" dirty="0">
                <a:latin typeface="Perpetua"/>
                <a:cs typeface="Perpetua"/>
              </a:rPr>
              <a:t>actions </a:t>
            </a:r>
            <a:r>
              <a:rPr sz="2600" i="1" spc="-10" dirty="0">
                <a:latin typeface="Perpetua"/>
                <a:cs typeface="Perpetua"/>
              </a:rPr>
              <a:t>given</a:t>
            </a:r>
            <a:r>
              <a:rPr sz="2600" i="1" spc="-3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below?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00">
              <a:latin typeface="Perpetua"/>
              <a:cs typeface="Perpetua"/>
            </a:endParaRPr>
          </a:p>
          <a:p>
            <a:pPr marL="876300" lvl="1" indent="-325120">
              <a:lnSpc>
                <a:spcPct val="100000"/>
              </a:lnSpc>
              <a:buSzPct val="75000"/>
              <a:buFont typeface="Arial"/>
              <a:buChar char="•"/>
              <a:tabLst>
                <a:tab pos="876300" algn="l"/>
                <a:tab pos="876935" algn="l"/>
              </a:tabLst>
            </a:pPr>
            <a:r>
              <a:rPr sz="2600" i="1" dirty="0">
                <a:latin typeface="Perpetua"/>
                <a:cs typeface="Perpetua"/>
              </a:rPr>
              <a:t>Landed </a:t>
            </a:r>
            <a:r>
              <a:rPr sz="2600" i="1" spc="-5" dirty="0">
                <a:latin typeface="Perpetua"/>
                <a:cs typeface="Perpetua"/>
              </a:rPr>
              <a:t>on snake</a:t>
            </a:r>
            <a:r>
              <a:rPr sz="2600" i="1" spc="-3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head?</a:t>
            </a:r>
            <a:endParaRPr sz="2600">
              <a:latin typeface="Perpetua"/>
              <a:cs typeface="Perpetua"/>
            </a:endParaRPr>
          </a:p>
          <a:p>
            <a:pPr marL="876300" lvl="1" indent="-325120">
              <a:lnSpc>
                <a:spcPct val="100000"/>
              </a:lnSpc>
              <a:spcBef>
                <a:spcPts val="1105"/>
              </a:spcBef>
              <a:buSzPct val="75000"/>
              <a:buFont typeface="Arial"/>
              <a:buChar char="•"/>
              <a:tabLst>
                <a:tab pos="876300" algn="l"/>
                <a:tab pos="876935" algn="l"/>
              </a:tabLst>
            </a:pPr>
            <a:r>
              <a:rPr sz="2600" i="1" spc="-5" dirty="0">
                <a:latin typeface="Perpetua"/>
                <a:cs typeface="Perpetua"/>
              </a:rPr>
              <a:t>Climb-up ladder</a:t>
            </a:r>
            <a:endParaRPr sz="2600">
              <a:latin typeface="Perpetua"/>
              <a:cs typeface="Perpetua"/>
            </a:endParaRPr>
          </a:p>
          <a:p>
            <a:pPr marL="876300" lvl="1" indent="-325120">
              <a:lnSpc>
                <a:spcPct val="100000"/>
              </a:lnSpc>
              <a:spcBef>
                <a:spcPts val="1095"/>
              </a:spcBef>
              <a:buSzPct val="75000"/>
              <a:buFont typeface="Arial"/>
              <a:buChar char="•"/>
              <a:tabLst>
                <a:tab pos="876300" algn="l"/>
                <a:tab pos="876935" algn="l"/>
              </a:tabLst>
            </a:pPr>
            <a:r>
              <a:rPr sz="2600" i="1" spc="-15" dirty="0">
                <a:latin typeface="Perpetua"/>
                <a:cs typeface="Perpetua"/>
              </a:rPr>
              <a:t>Throw</a:t>
            </a:r>
            <a:r>
              <a:rPr sz="2600" i="1" spc="-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dice</a:t>
            </a:r>
            <a:endParaRPr sz="2600">
              <a:latin typeface="Perpetua"/>
              <a:cs typeface="Perpetua"/>
            </a:endParaRPr>
          </a:p>
          <a:p>
            <a:pPr marL="876300" lvl="1" indent="-325120">
              <a:lnSpc>
                <a:spcPct val="100000"/>
              </a:lnSpc>
              <a:spcBef>
                <a:spcPts val="1100"/>
              </a:spcBef>
              <a:buSzPct val="75000"/>
              <a:buFont typeface="Arial"/>
              <a:buChar char="•"/>
              <a:tabLst>
                <a:tab pos="876300" algn="l"/>
                <a:tab pos="876935" algn="l"/>
              </a:tabLst>
            </a:pPr>
            <a:r>
              <a:rPr sz="2600" i="1" spc="-20" dirty="0">
                <a:latin typeface="Perpetua"/>
                <a:cs typeface="Perpetua"/>
              </a:rPr>
              <a:t>Move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piece</a:t>
            </a:r>
            <a:endParaRPr sz="2600">
              <a:latin typeface="Perpetua"/>
              <a:cs typeface="Perpetua"/>
            </a:endParaRPr>
          </a:p>
          <a:p>
            <a:pPr marL="876300" lvl="1" indent="-325120">
              <a:lnSpc>
                <a:spcPct val="100000"/>
              </a:lnSpc>
              <a:spcBef>
                <a:spcPts val="1110"/>
              </a:spcBef>
              <a:buSzPct val="75000"/>
              <a:buFont typeface="Arial"/>
              <a:buChar char="•"/>
              <a:tabLst>
                <a:tab pos="876300" algn="l"/>
                <a:tab pos="876935" algn="l"/>
              </a:tabLst>
            </a:pPr>
            <a:r>
              <a:rPr sz="2600" i="1" spc="-5" dirty="0">
                <a:latin typeface="Perpetua"/>
                <a:cs typeface="Perpetua"/>
              </a:rPr>
              <a:t>At the bottom of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ladder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3000">
              <a:latin typeface="Perpetua"/>
              <a:cs typeface="Perpetua"/>
            </a:endParaRPr>
          </a:p>
          <a:p>
            <a:pPr marL="3671570">
              <a:lnSpc>
                <a:spcPct val="100000"/>
              </a:lnSpc>
              <a:spcBef>
                <a:spcPts val="216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Flowchart </a:t>
            </a:r>
            <a:r>
              <a:rPr sz="2000" spc="-5" dirty="0">
                <a:latin typeface="Perpetua"/>
                <a:cs typeface="Perpetua"/>
              </a:rPr>
              <a:t>for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-30" dirty="0">
                <a:latin typeface="Perpetua"/>
                <a:cs typeface="Perpetua"/>
              </a:rPr>
              <a:t>move </a:t>
            </a:r>
            <a:r>
              <a:rPr sz="2000" spc="-5" dirty="0">
                <a:latin typeface="Perpetua"/>
                <a:cs typeface="Perpetua"/>
              </a:rPr>
              <a:t>in snake-ladder</a:t>
            </a:r>
            <a:r>
              <a:rPr sz="2000" spc="-9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game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81921" y="304915"/>
            <a:ext cx="1133100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8038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27245" algn="l"/>
              </a:tabLst>
            </a:pPr>
            <a:r>
              <a:rPr sz="4000" i="0" spc="10" dirty="0">
                <a:latin typeface="Perpetua"/>
                <a:cs typeface="Perpetua"/>
              </a:rPr>
              <a:t>Flowchart </a:t>
            </a:r>
            <a:r>
              <a:rPr sz="4000" i="0" spc="-5" dirty="0">
                <a:latin typeface="Perpetua"/>
                <a:cs typeface="Perpetua"/>
              </a:rPr>
              <a:t>for a</a:t>
            </a:r>
            <a:r>
              <a:rPr sz="4000" i="0" dirty="0">
                <a:latin typeface="Perpetua"/>
                <a:cs typeface="Perpetua"/>
              </a:rPr>
              <a:t> </a:t>
            </a:r>
            <a:r>
              <a:rPr sz="4000" i="0" spc="-55" dirty="0">
                <a:latin typeface="Perpetua"/>
                <a:cs typeface="Perpetua"/>
              </a:rPr>
              <a:t>move</a:t>
            </a:r>
            <a:r>
              <a:rPr sz="4000" i="0" spc="10" dirty="0">
                <a:latin typeface="Perpetua"/>
                <a:cs typeface="Perpetua"/>
              </a:rPr>
              <a:t> </a:t>
            </a:r>
            <a:r>
              <a:rPr sz="4000" i="0" spc="-5" dirty="0">
                <a:latin typeface="Perpetua"/>
                <a:cs typeface="Perpetua"/>
              </a:rPr>
              <a:t>in	</a:t>
            </a:r>
            <a:r>
              <a:rPr sz="4000" i="0" spc="-10" dirty="0">
                <a:latin typeface="Perpetua"/>
                <a:cs typeface="Perpetua"/>
              </a:rPr>
              <a:t>snake-ladder</a:t>
            </a:r>
            <a:r>
              <a:rPr sz="4000" i="0" spc="-35" dirty="0">
                <a:latin typeface="Perpetua"/>
                <a:cs typeface="Perpetua"/>
              </a:rPr>
              <a:t> </a:t>
            </a:r>
            <a:r>
              <a:rPr sz="4000" i="0" dirty="0">
                <a:latin typeface="Perpetua"/>
                <a:cs typeface="Perpetua"/>
              </a:rPr>
              <a:t>game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309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0" dirty="0">
                <a:latin typeface="Perpetua"/>
                <a:cs typeface="Perpetua"/>
              </a:rPr>
              <a:t>Control</a:t>
            </a:r>
            <a:r>
              <a:rPr sz="3600" i="0" spc="-340" dirty="0">
                <a:latin typeface="Perpetua"/>
                <a:cs typeface="Perpetua"/>
              </a:rPr>
              <a:t> </a:t>
            </a:r>
            <a:r>
              <a:rPr sz="3600" i="0" spc="-5" dirty="0">
                <a:latin typeface="Perpetua"/>
                <a:cs typeface="Perpetua"/>
              </a:rPr>
              <a:t>Abstraction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31860" cy="5045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664845" algn="l"/>
                <a:tab pos="2233295" algn="l"/>
                <a:tab pos="3318510" algn="l"/>
                <a:tab pos="4586605" algn="l"/>
                <a:tab pos="4848860" algn="l"/>
                <a:tab pos="6329045" algn="l"/>
                <a:tab pos="6821170" algn="l"/>
                <a:tab pos="8141334" algn="l"/>
              </a:tabLst>
            </a:pPr>
            <a:r>
              <a:rPr sz="2600" spc="-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5" dirty="0">
                <a:latin typeface="Perpetua"/>
                <a:cs typeface="Perpetua"/>
              </a:rPr>
              <a:t>Alg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5" dirty="0">
                <a:latin typeface="Perpetua"/>
                <a:cs typeface="Perpetua"/>
              </a:rPr>
              <a:t>h</a:t>
            </a:r>
            <a:r>
              <a:rPr sz="2600" spc="-5" dirty="0">
                <a:latin typeface="Perpetua"/>
                <a:cs typeface="Perpetua"/>
              </a:rPr>
              <a:t>ms</a:t>
            </a:r>
            <a:r>
              <a:rPr sz="2600" dirty="0">
                <a:latin typeface="Perpetua"/>
                <a:cs typeface="Perpetua"/>
              </a:rPr>
              <a:t>,	Co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ol	S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spc="6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uct</a:t>
            </a:r>
            <a:r>
              <a:rPr sz="2600" spc="-10" dirty="0">
                <a:latin typeface="Perpetua"/>
                <a:cs typeface="Perpetua"/>
              </a:rPr>
              <a:t>u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a	</a:t>
            </a:r>
            <a:r>
              <a:rPr sz="2600" spc="-5" dirty="0">
                <a:latin typeface="Perpetua"/>
                <a:cs typeface="Perpetua"/>
              </a:rPr>
              <a:t>me</a:t>
            </a:r>
            <a:r>
              <a:rPr sz="2600" spc="3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hanism	</a:t>
            </a:r>
            <a:r>
              <a:rPr sz="2600" spc="-5" dirty="0">
                <a:latin typeface="Perpetua"/>
                <a:cs typeface="Perpetua"/>
              </a:rPr>
              <a:t>fo</a:t>
            </a:r>
            <a:r>
              <a:rPr sz="2600" dirty="0">
                <a:latin typeface="Perpetua"/>
                <a:cs typeface="Perpetua"/>
              </a:rPr>
              <a:t>r	spe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ifyi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g	the  </a:t>
            </a:r>
            <a:r>
              <a:rPr sz="2600" spc="-5" dirty="0">
                <a:latin typeface="Perpetua"/>
                <a:cs typeface="Perpetua"/>
              </a:rPr>
              <a:t>proper </a:t>
            </a:r>
            <a:r>
              <a:rPr sz="2600" dirty="0">
                <a:latin typeface="Perpetua"/>
                <a:cs typeface="Perpetua"/>
              </a:rPr>
              <a:t>order in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instructions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performed.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60" dirty="0">
                <a:latin typeface="Perpetua"/>
                <a:cs typeface="Perpetua"/>
              </a:rPr>
              <a:t>Types</a:t>
            </a:r>
            <a:r>
              <a:rPr sz="2600" spc="-5" dirty="0">
                <a:latin typeface="Perpetua"/>
                <a:cs typeface="Perpetua"/>
              </a:rPr>
              <a:t> include: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Selection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5" dirty="0">
                <a:latin typeface="Perpetua"/>
                <a:cs typeface="Perpetua"/>
              </a:rPr>
              <a:t>Repetition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Sequential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control</a:t>
            </a:r>
            <a:endParaRPr sz="2600">
              <a:latin typeface="Perpetua"/>
              <a:cs typeface="Perpetua"/>
            </a:endParaRPr>
          </a:p>
          <a:p>
            <a:pPr marL="527685" marR="5080" indent="-515620">
              <a:lnSpc>
                <a:spcPct val="100000"/>
              </a:lnSpc>
              <a:spcBef>
                <a:spcPts val="60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i="1" spc="-5" dirty="0">
                <a:latin typeface="Perpetua"/>
                <a:cs typeface="Perpetua"/>
              </a:rPr>
              <a:t>Control </a:t>
            </a:r>
            <a:r>
              <a:rPr sz="2600" i="1" spc="-10" dirty="0">
                <a:latin typeface="Perpetua"/>
                <a:cs typeface="Perpetua"/>
              </a:rPr>
              <a:t>abstraction </a:t>
            </a:r>
            <a:r>
              <a:rPr sz="2600" dirty="0">
                <a:latin typeface="Perpetua"/>
                <a:cs typeface="Perpetua"/>
              </a:rPr>
              <a:t>– is name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spc="-10" dirty="0">
                <a:latin typeface="Perpetua"/>
                <a:cs typeface="Perpetua"/>
              </a:rPr>
              <a:t>has </a:t>
            </a:r>
            <a:r>
              <a:rPr sz="2600" spc="-25" dirty="0">
                <a:latin typeface="Perpetua"/>
                <a:cs typeface="Perpetua"/>
              </a:rPr>
              <a:t>well </a:t>
            </a:r>
            <a:r>
              <a:rPr sz="2600" spc="-5" dirty="0">
                <a:latin typeface="Perpetua"/>
                <a:cs typeface="Perpetua"/>
              </a:rPr>
              <a:t>defined operation(use  of </a:t>
            </a:r>
            <a:r>
              <a:rPr sz="2600" dirty="0">
                <a:latin typeface="Perpetua"/>
                <a:cs typeface="Perpetua"/>
              </a:rPr>
              <a:t>sub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problem).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  <a:tab pos="2830830" algn="l"/>
              </a:tabLst>
            </a:pPr>
            <a:r>
              <a:rPr sz="2600" spc="5" dirty="0">
                <a:latin typeface="Perpetua"/>
                <a:cs typeface="Perpetua"/>
              </a:rPr>
              <a:t>Concurrency	</a:t>
            </a:r>
            <a:r>
              <a:rPr sz="2600" spc="-5" dirty="0">
                <a:latin typeface="Perpetua"/>
                <a:cs typeface="Perpetua"/>
              </a:rPr>
              <a:t>(not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scope of </a:t>
            </a:r>
            <a:r>
              <a:rPr sz="2600" dirty="0">
                <a:latin typeface="Perpetua"/>
                <a:cs typeface="Perpetua"/>
              </a:rPr>
              <a:t>this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course)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AutoNum type="arabicPeriod"/>
            </a:pPr>
            <a:endParaRPr sz="4300">
              <a:latin typeface="Perpetua"/>
              <a:cs typeface="Perpetua"/>
            </a:endParaRPr>
          </a:p>
          <a:p>
            <a:pPr marL="1416050" lvl="1" indent="-241300">
              <a:lnSpc>
                <a:spcPct val="100000"/>
              </a:lnSpc>
              <a:buSzPct val="95833"/>
              <a:buFont typeface="Wingdings"/>
              <a:buChar char=""/>
              <a:tabLst>
                <a:tab pos="1416685" algn="l"/>
              </a:tabLst>
            </a:pPr>
            <a:r>
              <a:rPr sz="2400" i="1" spc="-5" dirty="0">
                <a:latin typeface="Perpetua"/>
                <a:cs typeface="Perpetua"/>
              </a:rPr>
              <a:t>Identify the control structures of the recipes </a:t>
            </a:r>
            <a:r>
              <a:rPr sz="2400" i="1" spc="-25" dirty="0">
                <a:latin typeface="Perpetua"/>
                <a:cs typeface="Perpetua"/>
              </a:rPr>
              <a:t>available </a:t>
            </a:r>
            <a:r>
              <a:rPr sz="2400" i="1" spc="-5" dirty="0">
                <a:latin typeface="Perpetua"/>
                <a:cs typeface="Perpetua"/>
              </a:rPr>
              <a:t>in next </a:t>
            </a:r>
            <a:r>
              <a:rPr sz="2400" i="1" spc="-10" dirty="0">
                <a:latin typeface="Perpetua"/>
                <a:cs typeface="Perpetua"/>
              </a:rPr>
              <a:t>two</a:t>
            </a:r>
            <a:r>
              <a:rPr sz="2400" i="1" spc="8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slides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843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10" dirty="0">
                <a:latin typeface="Perpetua"/>
                <a:cs typeface="Perpetua"/>
              </a:rPr>
              <a:t>Flowchart</a:t>
            </a:r>
            <a:r>
              <a:rPr sz="4000" i="0" spc="-95" dirty="0">
                <a:latin typeface="Perpetua"/>
                <a:cs typeface="Perpetua"/>
              </a:rPr>
              <a:t> </a:t>
            </a:r>
            <a:r>
              <a:rPr sz="4000" i="0" spc="5" dirty="0">
                <a:latin typeface="Perpetua"/>
                <a:cs typeface="Perpetua"/>
              </a:rPr>
              <a:t>structures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61897"/>
            <a:ext cx="783399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SzPct val="85416"/>
              <a:buFont typeface="Wingdings 2"/>
              <a:buChar char=""/>
              <a:tabLst>
                <a:tab pos="285115" algn="l"/>
                <a:tab pos="285750" algn="l"/>
              </a:tabLst>
            </a:pPr>
            <a:r>
              <a:rPr sz="2400" dirty="0">
                <a:latin typeface="Perpetua"/>
                <a:cs typeface="Perpetua"/>
              </a:rPr>
              <a:t>Sequence</a:t>
            </a:r>
            <a:endParaRPr sz="2400">
              <a:latin typeface="Perpetua"/>
              <a:cs typeface="Perpetua"/>
            </a:endParaRPr>
          </a:p>
          <a:p>
            <a:pPr marL="876935" lvl="1" indent="-325755">
              <a:lnSpc>
                <a:spcPct val="100000"/>
              </a:lnSpc>
              <a:spcBef>
                <a:spcPts val="5"/>
              </a:spcBef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400" spc="5" dirty="0">
                <a:latin typeface="Perpetua"/>
                <a:cs typeface="Perpetua"/>
              </a:rPr>
              <a:t>Series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actions </a:t>
            </a:r>
            <a:r>
              <a:rPr sz="2400" spc="5" dirty="0">
                <a:latin typeface="Perpetua"/>
                <a:cs typeface="Perpetua"/>
              </a:rPr>
              <a:t>performed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sequence.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buSzPct val="85416"/>
              <a:buFont typeface="Wingdings 2"/>
              <a:buChar char=""/>
              <a:tabLst>
                <a:tab pos="285115" algn="l"/>
                <a:tab pos="285750" algn="l"/>
              </a:tabLst>
            </a:pPr>
            <a:r>
              <a:rPr sz="2400" spc="-5" dirty="0">
                <a:latin typeface="Perpetua"/>
                <a:cs typeface="Perpetua"/>
              </a:rPr>
              <a:t>Selection</a:t>
            </a:r>
            <a:endParaRPr sz="2400">
              <a:latin typeface="Perpetua"/>
              <a:cs typeface="Perpetua"/>
            </a:endParaRPr>
          </a:p>
          <a:p>
            <a:pPr marL="876935" lvl="1" indent="-325755">
              <a:lnSpc>
                <a:spcPct val="100000"/>
              </a:lnSpc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400" spc="-5" dirty="0">
                <a:latin typeface="Perpetua"/>
                <a:cs typeface="Perpetua"/>
              </a:rPr>
              <a:t>Selecting </a:t>
            </a:r>
            <a:r>
              <a:rPr sz="2400" dirty="0">
                <a:latin typeface="Perpetua"/>
                <a:cs typeface="Perpetua"/>
              </a:rPr>
              <a:t>one of </a:t>
            </a:r>
            <a:r>
              <a:rPr sz="2400" spc="-30" dirty="0">
                <a:latin typeface="Perpetua"/>
                <a:cs typeface="Perpetua"/>
              </a:rPr>
              <a:t>two </a:t>
            </a:r>
            <a:r>
              <a:rPr sz="2400" spc="-5" dirty="0">
                <a:latin typeface="Perpetua"/>
                <a:cs typeface="Perpetua"/>
              </a:rPr>
              <a:t>possible actions </a:t>
            </a:r>
            <a:r>
              <a:rPr sz="2400" dirty="0">
                <a:latin typeface="Perpetua"/>
                <a:cs typeface="Perpetua"/>
              </a:rPr>
              <a:t>depending on a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condition.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buSzPct val="85416"/>
              <a:buFont typeface="Wingdings 2"/>
              <a:buChar char=""/>
              <a:tabLst>
                <a:tab pos="285115" algn="l"/>
                <a:tab pos="285750" algn="l"/>
              </a:tabLst>
            </a:pPr>
            <a:r>
              <a:rPr sz="2400" spc="-5" dirty="0">
                <a:latin typeface="Perpetua"/>
                <a:cs typeface="Perpetua"/>
              </a:rPr>
              <a:t>Iteration</a:t>
            </a:r>
            <a:endParaRPr sz="2400">
              <a:latin typeface="Perpetua"/>
              <a:cs typeface="Perpetua"/>
            </a:endParaRPr>
          </a:p>
          <a:p>
            <a:pPr marL="876935" lvl="1" indent="-325755">
              <a:lnSpc>
                <a:spcPct val="100000"/>
              </a:lnSpc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400" spc="-5" dirty="0">
                <a:latin typeface="Perpetua"/>
                <a:cs typeface="Perpetua"/>
              </a:rPr>
              <a:t>Repeating</a:t>
            </a:r>
            <a:r>
              <a:rPr sz="2400" spc="-10" dirty="0">
                <a:latin typeface="Perpetua"/>
                <a:cs typeface="Perpetua"/>
              </a:rPr>
              <a:t> actions.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6216" y="3897662"/>
            <a:ext cx="6031952" cy="1946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65350" y="5879693"/>
            <a:ext cx="47999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Sequential, selection </a:t>
            </a:r>
            <a:r>
              <a:rPr sz="2000" spc="-5" dirty="0">
                <a:latin typeface="Perpetua"/>
                <a:cs typeface="Perpetua"/>
              </a:rPr>
              <a:t>and iteration</a:t>
            </a:r>
            <a:r>
              <a:rPr sz="2000" spc="-20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structures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570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Sequen</a:t>
            </a:r>
            <a:r>
              <a:rPr sz="3600" i="0" spc="-20" dirty="0">
                <a:latin typeface="Perpetua"/>
                <a:cs typeface="Perpetua"/>
              </a:rPr>
              <a:t>c</a:t>
            </a:r>
            <a:r>
              <a:rPr sz="3600" i="0" dirty="0">
                <a:latin typeface="Perpetua"/>
                <a:cs typeface="Perpetua"/>
              </a:rPr>
              <a:t>e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77613"/>
            <a:ext cx="3373120" cy="23882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unlock the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door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open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door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enter the </a:t>
            </a:r>
            <a:r>
              <a:rPr sz="2600" spc="-10" dirty="0">
                <a:latin typeface="Perpetua"/>
                <a:cs typeface="Perpetua"/>
              </a:rPr>
              <a:t>room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switch </a:t>
            </a:r>
            <a:r>
              <a:rPr sz="2600" dirty="0">
                <a:latin typeface="Perpetua"/>
                <a:cs typeface="Perpetua"/>
              </a:rPr>
              <a:t>on </a:t>
            </a:r>
            <a:r>
              <a:rPr sz="2600" spc="-5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light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close </a:t>
            </a:r>
            <a:r>
              <a:rPr sz="2600" spc="-5" dirty="0">
                <a:latin typeface="Perpetua"/>
                <a:cs typeface="Perpetua"/>
              </a:rPr>
              <a:t>the door </a:t>
            </a:r>
            <a:r>
              <a:rPr sz="2600" dirty="0">
                <a:latin typeface="Perpetua"/>
                <a:cs typeface="Perpetua"/>
              </a:rPr>
              <a:t>behind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you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0" y="304800"/>
            <a:ext cx="1264920" cy="618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530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Selection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52830"/>
            <a:ext cx="5815965" cy="3502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685" indent="-27368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73685" algn="l"/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door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locked, </a:t>
            </a:r>
            <a:r>
              <a:rPr sz="2600" b="1" dirty="0">
                <a:latin typeface="Perpetua"/>
                <a:cs typeface="Perpetua"/>
              </a:rPr>
              <a:t>THEN </a:t>
            </a:r>
            <a:r>
              <a:rPr sz="2600" dirty="0">
                <a:latin typeface="Perpetua"/>
                <a:cs typeface="Perpetua"/>
              </a:rPr>
              <a:t>unlock the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door,</a:t>
            </a:r>
            <a:endParaRPr sz="2600">
              <a:latin typeface="Perpetua"/>
              <a:cs typeface="Perpetua"/>
            </a:endParaRPr>
          </a:p>
          <a:p>
            <a:pPr marR="346710" algn="ctr">
              <a:lnSpc>
                <a:spcPct val="100000"/>
              </a:lnSpc>
            </a:pPr>
            <a:r>
              <a:rPr sz="2600" b="1" dirty="0">
                <a:latin typeface="Perpetua"/>
                <a:cs typeface="Perpetua"/>
              </a:rPr>
              <a:t>ELSE </a:t>
            </a:r>
            <a:r>
              <a:rPr sz="2600" dirty="0">
                <a:latin typeface="Perpetua"/>
                <a:cs typeface="Perpetua"/>
              </a:rPr>
              <a:t>do </a:t>
            </a:r>
            <a:r>
              <a:rPr sz="2600" spc="-5" dirty="0">
                <a:latin typeface="Perpetua"/>
                <a:cs typeface="Perpetua"/>
              </a:rPr>
              <a:t>nothing </a:t>
            </a:r>
            <a:r>
              <a:rPr sz="2600" dirty="0">
                <a:latin typeface="Perpetua"/>
                <a:cs typeface="Perpetua"/>
              </a:rPr>
              <a:t>(go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next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instruction)</a:t>
            </a:r>
            <a:endParaRPr sz="2600">
              <a:latin typeface="Perpetua"/>
              <a:cs typeface="Perpetua"/>
            </a:endParaRPr>
          </a:p>
          <a:p>
            <a:pPr marL="273685" marR="257810" indent="-273685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73685" algn="l"/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door </a:t>
            </a:r>
            <a:r>
              <a:rPr sz="2600" dirty="0">
                <a:latin typeface="Perpetua"/>
                <a:cs typeface="Perpetua"/>
              </a:rPr>
              <a:t>is closed, </a:t>
            </a:r>
            <a:r>
              <a:rPr sz="2600" b="1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open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70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door,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2600" b="1" dirty="0">
                <a:latin typeface="Perpetua"/>
                <a:cs typeface="Perpetua"/>
              </a:rPr>
              <a:t>ELSE </a:t>
            </a:r>
            <a:r>
              <a:rPr sz="2600" dirty="0">
                <a:latin typeface="Perpetua"/>
                <a:cs typeface="Perpetua"/>
              </a:rPr>
              <a:t>do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nothing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Enter the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room</a:t>
            </a:r>
            <a:endParaRPr sz="2600">
              <a:latin typeface="Perpetua"/>
              <a:cs typeface="Perpetua"/>
            </a:endParaRPr>
          </a:p>
          <a:p>
            <a:pPr marL="286385" marR="55181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room </a:t>
            </a:r>
            <a:r>
              <a:rPr sz="2600" dirty="0">
                <a:latin typeface="Perpetua"/>
                <a:cs typeface="Perpetua"/>
              </a:rPr>
              <a:t>is dark, </a:t>
            </a:r>
            <a:r>
              <a:rPr sz="2600" b="1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switch </a:t>
            </a:r>
            <a:r>
              <a:rPr sz="2600" dirty="0">
                <a:latin typeface="Perpetua"/>
                <a:cs typeface="Perpetua"/>
              </a:rPr>
              <a:t>on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the  light, </a:t>
            </a:r>
            <a:r>
              <a:rPr sz="2600" b="1" dirty="0">
                <a:latin typeface="Perpetua"/>
                <a:cs typeface="Perpetua"/>
              </a:rPr>
              <a:t>ELSE </a:t>
            </a:r>
            <a:r>
              <a:rPr sz="2600" dirty="0">
                <a:latin typeface="Perpetua"/>
                <a:cs typeface="Perpetua"/>
              </a:rPr>
              <a:t>do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nothing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Close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door </a:t>
            </a:r>
            <a:r>
              <a:rPr sz="2600" dirty="0">
                <a:latin typeface="Perpetua"/>
                <a:cs typeface="Perpetua"/>
              </a:rPr>
              <a:t>behind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you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72200" y="533400"/>
            <a:ext cx="2362200" cy="594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442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Iter</a:t>
            </a:r>
            <a:r>
              <a:rPr sz="3600" i="0" spc="-25" dirty="0">
                <a:latin typeface="Perpetua"/>
                <a:cs typeface="Perpetua"/>
              </a:rPr>
              <a:t>a</a:t>
            </a:r>
            <a:r>
              <a:rPr sz="3600" i="0" dirty="0">
                <a:latin typeface="Perpetua"/>
                <a:cs typeface="Perpetua"/>
              </a:rPr>
              <a:t>tion</a:t>
            </a:r>
            <a:endParaRPr sz="3600">
              <a:latin typeface="Perpetua"/>
              <a:cs typeface="Perpetu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4800" y="228600"/>
            <a:ext cx="6182360" cy="6089015"/>
            <a:chOff x="304800" y="228600"/>
            <a:chExt cx="6182360" cy="6089015"/>
          </a:xfrm>
        </p:grpSpPr>
        <p:sp>
          <p:nvSpPr>
            <p:cNvPr id="4" name="object 4"/>
            <p:cNvSpPr/>
            <p:nvPr/>
          </p:nvSpPr>
          <p:spPr>
            <a:xfrm>
              <a:off x="304800" y="838200"/>
              <a:ext cx="3617843" cy="547879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62400" y="228600"/>
              <a:ext cx="2153022" cy="246771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43400" y="3276600"/>
              <a:ext cx="2143496" cy="246697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781800" y="4038600"/>
            <a:ext cx="2153398" cy="24677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57404" y="369613"/>
            <a:ext cx="1047668" cy="784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8520" y="1280921"/>
            <a:ext cx="8641080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fill the </a:t>
            </a:r>
            <a:r>
              <a:rPr sz="2600" i="1" dirty="0">
                <a:latin typeface="Perpetua"/>
                <a:cs typeface="Perpetua"/>
              </a:rPr>
              <a:t>flowchart </a:t>
            </a:r>
            <a:r>
              <a:rPr sz="2600" i="1" spc="-5" dirty="0">
                <a:latin typeface="Perpetua"/>
                <a:cs typeface="Perpetua"/>
              </a:rPr>
              <a:t>with </a:t>
            </a:r>
            <a:r>
              <a:rPr sz="2600" i="1" dirty="0">
                <a:latin typeface="Perpetua"/>
                <a:cs typeface="Perpetua"/>
              </a:rPr>
              <a:t>appropriate </a:t>
            </a:r>
            <a:r>
              <a:rPr sz="2600" i="1" spc="-5" dirty="0">
                <a:latin typeface="Perpetua"/>
                <a:cs typeface="Perpetua"/>
              </a:rPr>
              <a:t>angles? </a:t>
            </a:r>
            <a:r>
              <a:rPr sz="2600" i="1" spc="-10" dirty="0">
                <a:latin typeface="Perpetua"/>
                <a:cs typeface="Perpetua"/>
              </a:rPr>
              <a:t>(reflex </a:t>
            </a:r>
            <a:r>
              <a:rPr sz="2600" i="1" spc="-5" dirty="0">
                <a:latin typeface="Perpetua"/>
                <a:cs typeface="Perpetua"/>
              </a:rPr>
              <a:t>angle, obtuse angle,  angle on </a:t>
            </a:r>
            <a:r>
              <a:rPr sz="2600" i="1" spc="-15" dirty="0">
                <a:latin typeface="Perpetua"/>
                <a:cs typeface="Perpetua"/>
              </a:rPr>
              <a:t>straight </a:t>
            </a:r>
            <a:r>
              <a:rPr sz="2600" i="1" spc="-5" dirty="0">
                <a:latin typeface="Perpetua"/>
                <a:cs typeface="Perpetua"/>
              </a:rPr>
              <a:t>line, </a:t>
            </a:r>
            <a:r>
              <a:rPr sz="2600" i="1" spc="5" dirty="0">
                <a:latin typeface="Perpetua"/>
                <a:cs typeface="Perpetua"/>
              </a:rPr>
              <a:t>right </a:t>
            </a:r>
            <a:r>
              <a:rPr sz="2600" i="1" spc="-5" dirty="0">
                <a:latin typeface="Perpetua"/>
                <a:cs typeface="Perpetua"/>
              </a:rPr>
              <a:t>angle,</a:t>
            </a:r>
            <a:r>
              <a:rPr sz="2600" i="1" spc="-47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acute angle).</a:t>
            </a:r>
            <a:endParaRPr sz="2600">
              <a:latin typeface="Perpetua"/>
              <a:cs typeface="Perpet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36632" y="2324141"/>
            <a:ext cx="5377815" cy="3929379"/>
            <a:chOff x="3536632" y="2324141"/>
            <a:chExt cx="5377815" cy="3929379"/>
          </a:xfrm>
        </p:grpSpPr>
        <p:sp>
          <p:nvSpPr>
            <p:cNvPr id="5" name="object 5"/>
            <p:cNvSpPr/>
            <p:nvPr/>
          </p:nvSpPr>
          <p:spPr>
            <a:xfrm>
              <a:off x="3581400" y="5817107"/>
              <a:ext cx="5328285" cy="431800"/>
            </a:xfrm>
            <a:custGeom>
              <a:avLst/>
              <a:gdLst/>
              <a:ahLst/>
              <a:cxnLst/>
              <a:rect l="l" t="t" r="r" b="b"/>
              <a:pathLst>
                <a:path w="5328284" h="431800">
                  <a:moveTo>
                    <a:pt x="0" y="431292"/>
                  </a:moveTo>
                  <a:lnTo>
                    <a:pt x="864108" y="431292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431292"/>
                  </a:lnTo>
                  <a:close/>
                </a:path>
                <a:path w="5328284" h="431800">
                  <a:moveTo>
                    <a:pt x="4463796" y="431292"/>
                  </a:moveTo>
                  <a:lnTo>
                    <a:pt x="5327904" y="431292"/>
                  </a:lnTo>
                  <a:lnTo>
                    <a:pt x="5327904" y="0"/>
                  </a:lnTo>
                  <a:lnTo>
                    <a:pt x="4463796" y="0"/>
                  </a:lnTo>
                  <a:lnTo>
                    <a:pt x="4463796" y="431292"/>
                  </a:lnTo>
                  <a:close/>
                </a:path>
                <a:path w="5328284" h="431800">
                  <a:moveTo>
                    <a:pt x="3456431" y="431292"/>
                  </a:moveTo>
                  <a:lnTo>
                    <a:pt x="4319015" y="431292"/>
                  </a:lnTo>
                  <a:lnTo>
                    <a:pt x="4319015" y="0"/>
                  </a:lnTo>
                  <a:lnTo>
                    <a:pt x="3456431" y="0"/>
                  </a:lnTo>
                  <a:lnTo>
                    <a:pt x="3456431" y="431292"/>
                  </a:lnTo>
                  <a:close/>
                </a:path>
                <a:path w="5328284" h="431800">
                  <a:moveTo>
                    <a:pt x="2196084" y="431292"/>
                  </a:moveTo>
                  <a:lnTo>
                    <a:pt x="3058668" y="431292"/>
                  </a:lnTo>
                  <a:lnTo>
                    <a:pt x="3058668" y="0"/>
                  </a:lnTo>
                  <a:lnTo>
                    <a:pt x="2196084" y="0"/>
                  </a:lnTo>
                  <a:lnTo>
                    <a:pt x="2196084" y="431292"/>
                  </a:lnTo>
                  <a:close/>
                </a:path>
                <a:path w="5328284" h="431800">
                  <a:moveTo>
                    <a:pt x="1187196" y="431292"/>
                  </a:moveTo>
                  <a:lnTo>
                    <a:pt x="2051304" y="431292"/>
                  </a:lnTo>
                  <a:lnTo>
                    <a:pt x="2051304" y="0"/>
                  </a:lnTo>
                  <a:lnTo>
                    <a:pt x="1187196" y="0"/>
                  </a:lnTo>
                  <a:lnTo>
                    <a:pt x="1187196" y="4312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36632" y="2324141"/>
              <a:ext cx="4505325" cy="34899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727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10" dirty="0">
                <a:latin typeface="Perpetua"/>
                <a:cs typeface="Perpetua"/>
              </a:rPr>
              <a:t>Flowchart </a:t>
            </a:r>
            <a:r>
              <a:rPr sz="4000" i="0" spc="-5" dirty="0">
                <a:latin typeface="Perpetua"/>
                <a:cs typeface="Perpetua"/>
              </a:rPr>
              <a:t>for </a:t>
            </a:r>
            <a:r>
              <a:rPr sz="4000" i="0" spc="-10" dirty="0">
                <a:latin typeface="Perpetua"/>
                <a:cs typeface="Perpetua"/>
              </a:rPr>
              <a:t>classifying</a:t>
            </a:r>
            <a:r>
              <a:rPr sz="4000" i="0" spc="-50" dirty="0">
                <a:latin typeface="Perpetua"/>
                <a:cs typeface="Perpetua"/>
              </a:rPr>
              <a:t> </a:t>
            </a:r>
            <a:r>
              <a:rPr sz="4000" i="0" spc="-5" dirty="0">
                <a:latin typeface="Perpetua"/>
                <a:cs typeface="Perpetua"/>
              </a:rPr>
              <a:t>angles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5175" y="6232652"/>
            <a:ext cx="3587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Flowchart </a:t>
            </a:r>
            <a:r>
              <a:rPr sz="2000" spc="-5" dirty="0">
                <a:latin typeface="Perpetua"/>
                <a:cs typeface="Perpetua"/>
              </a:rPr>
              <a:t>for classifying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angles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322224"/>
            <a:ext cx="6163945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7060" marR="5080" indent="-594995">
              <a:lnSpc>
                <a:spcPct val="115500"/>
              </a:lnSpc>
              <a:spcBef>
                <a:spcPts val="100"/>
              </a:spcBef>
              <a:tabLst>
                <a:tab pos="527685" algn="l"/>
              </a:tabLst>
            </a:pPr>
            <a:r>
              <a:rPr sz="1850" dirty="0">
                <a:latin typeface="Perpetua"/>
                <a:cs typeface="Perpetua"/>
              </a:rPr>
              <a:t>1.	</a:t>
            </a:r>
            <a:r>
              <a:rPr sz="2200" spc="-5" dirty="0">
                <a:latin typeface="Perpetua"/>
                <a:cs typeface="Perpetua"/>
              </a:rPr>
              <a:t>Place the </a:t>
            </a:r>
            <a:r>
              <a:rPr sz="2200" spc="-10" dirty="0">
                <a:latin typeface="Perpetua"/>
                <a:cs typeface="Perpetua"/>
              </a:rPr>
              <a:t>following </a:t>
            </a:r>
            <a:r>
              <a:rPr sz="2200" dirty="0">
                <a:latin typeface="Perpetua"/>
                <a:cs typeface="Perpetua"/>
              </a:rPr>
              <a:t>ingredients </a:t>
            </a:r>
            <a:r>
              <a:rPr sz="2200" spc="-5" dirty="0">
                <a:latin typeface="Perpetua"/>
                <a:cs typeface="Perpetua"/>
              </a:rPr>
              <a:t>in a </a:t>
            </a:r>
            <a:r>
              <a:rPr sz="2200" spc="-25" dirty="0">
                <a:latin typeface="Perpetua"/>
                <a:cs typeface="Perpetua"/>
              </a:rPr>
              <a:t>microwavable </a:t>
            </a:r>
            <a:r>
              <a:rPr sz="2200" spc="-15" dirty="0">
                <a:latin typeface="Perpetua"/>
                <a:cs typeface="Perpetua"/>
              </a:rPr>
              <a:t>bowl:  </a:t>
            </a:r>
            <a:r>
              <a:rPr sz="2200" spc="-5" dirty="0">
                <a:latin typeface="Perpetua"/>
                <a:cs typeface="Perpetua"/>
              </a:rPr>
              <a:t>3 cups of </a:t>
            </a:r>
            <a:r>
              <a:rPr sz="2200" spc="-20" dirty="0">
                <a:latin typeface="Perpetua"/>
                <a:cs typeface="Perpetua"/>
              </a:rPr>
              <a:t>semisweet </a:t>
            </a:r>
            <a:r>
              <a:rPr sz="2200" dirty="0">
                <a:latin typeface="Perpetua"/>
                <a:cs typeface="Perpetua"/>
              </a:rPr>
              <a:t>chocolate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5" dirty="0">
                <a:latin typeface="Perpetua"/>
                <a:cs typeface="Perpetua"/>
              </a:rPr>
              <a:t>chips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96776"/>
            <a:ext cx="7184390" cy="40894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607060">
              <a:lnSpc>
                <a:spcPct val="100000"/>
              </a:lnSpc>
              <a:spcBef>
                <a:spcPts val="490"/>
              </a:spcBef>
            </a:pPr>
            <a:r>
              <a:rPr sz="2200" spc="-5" dirty="0">
                <a:latin typeface="Perpetua"/>
                <a:cs typeface="Perpetua"/>
              </a:rPr>
              <a:t>one 14 oz. </a:t>
            </a:r>
            <a:r>
              <a:rPr sz="2200" spc="-10" dirty="0">
                <a:latin typeface="Perpetua"/>
                <a:cs typeface="Perpetua"/>
              </a:rPr>
              <a:t>can </a:t>
            </a:r>
            <a:r>
              <a:rPr sz="2200" spc="-5" dirty="0">
                <a:latin typeface="Perpetua"/>
                <a:cs typeface="Perpetua"/>
              </a:rPr>
              <a:t>of </a:t>
            </a:r>
            <a:r>
              <a:rPr sz="2200" spc="-20" dirty="0">
                <a:latin typeface="Perpetua"/>
                <a:cs typeface="Perpetua"/>
              </a:rPr>
              <a:t>sweetened </a:t>
            </a:r>
            <a:r>
              <a:rPr sz="2200" spc="-5" dirty="0">
                <a:latin typeface="Perpetua"/>
                <a:cs typeface="Perpetua"/>
              </a:rPr>
              <a:t>condensed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milk</a:t>
            </a:r>
            <a:endParaRPr sz="2200">
              <a:latin typeface="Perpetua"/>
              <a:cs typeface="Perpetua"/>
            </a:endParaRPr>
          </a:p>
          <a:p>
            <a:pPr marL="607060">
              <a:lnSpc>
                <a:spcPct val="100000"/>
              </a:lnSpc>
              <a:spcBef>
                <a:spcPts val="400"/>
              </a:spcBef>
            </a:pPr>
            <a:r>
              <a:rPr sz="2200" spc="-5" dirty="0">
                <a:latin typeface="Perpetua"/>
                <a:cs typeface="Perpetua"/>
              </a:rPr>
              <a:t>54 cup of</a:t>
            </a:r>
            <a:r>
              <a:rPr sz="2200" spc="4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butter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090"/>
              <a:buAutoNum type="arabicPeriod" startAt="2"/>
              <a:tabLst>
                <a:tab pos="527685" algn="l"/>
                <a:tab pos="528320" algn="l"/>
              </a:tabLst>
            </a:pPr>
            <a:r>
              <a:rPr sz="2200" spc="-5" dirty="0">
                <a:latin typeface="Perpetua"/>
                <a:cs typeface="Perpetua"/>
              </a:rPr>
              <a:t>If desired. stir in 1 cup of walnut</a:t>
            </a:r>
            <a:r>
              <a:rPr sz="2200" spc="5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pieces.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090"/>
              <a:buAutoNum type="arabicPeriod" startAt="2"/>
              <a:tabLst>
                <a:tab pos="527685" algn="l"/>
                <a:tab pos="528320" algn="l"/>
              </a:tabLst>
            </a:pPr>
            <a:r>
              <a:rPr sz="2200" spc="-5" dirty="0">
                <a:latin typeface="Perpetua"/>
                <a:cs typeface="Perpetua"/>
              </a:rPr>
              <a:t>Zap in </a:t>
            </a:r>
            <a:r>
              <a:rPr sz="2200" spc="-30" dirty="0">
                <a:latin typeface="Perpetua"/>
                <a:cs typeface="Perpetua"/>
              </a:rPr>
              <a:t>microwave </a:t>
            </a:r>
            <a:r>
              <a:rPr sz="2200" spc="-5" dirty="0">
                <a:latin typeface="Perpetua"/>
                <a:cs typeface="Perpetua"/>
              </a:rPr>
              <a:t>for one</a:t>
            </a:r>
            <a:r>
              <a:rPr sz="2200" spc="10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minute.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090"/>
              <a:buAutoNum type="arabicPeriod" startAt="2"/>
              <a:tabLst>
                <a:tab pos="527685" algn="l"/>
                <a:tab pos="528320" algn="l"/>
              </a:tabLst>
            </a:pPr>
            <a:r>
              <a:rPr sz="2200" spc="-20" dirty="0">
                <a:latin typeface="Perpetua"/>
                <a:cs typeface="Perpetua"/>
              </a:rPr>
              <a:t>Remove </a:t>
            </a:r>
            <a:r>
              <a:rPr sz="2200" spc="-10" dirty="0">
                <a:latin typeface="Perpetua"/>
                <a:cs typeface="Perpetua"/>
              </a:rPr>
              <a:t>from </a:t>
            </a:r>
            <a:r>
              <a:rPr sz="2200" spc="-30" dirty="0">
                <a:latin typeface="Perpetua"/>
                <a:cs typeface="Perpetua"/>
              </a:rPr>
              <a:t>microwave </a:t>
            </a:r>
            <a:r>
              <a:rPr sz="2200" spc="-5" dirty="0">
                <a:latin typeface="Perpetua"/>
                <a:cs typeface="Perpetua"/>
              </a:rPr>
              <a:t>and stir the</a:t>
            </a:r>
            <a:r>
              <a:rPr sz="2200" spc="15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mixture.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5"/>
              </a:spcBef>
              <a:buSzPct val="84090"/>
              <a:buAutoNum type="arabicPeriod" startAt="2"/>
              <a:tabLst>
                <a:tab pos="527685" algn="l"/>
                <a:tab pos="528320" algn="l"/>
              </a:tabLst>
            </a:pPr>
            <a:r>
              <a:rPr sz="2200" spc="-10" dirty="0">
                <a:latin typeface="Perpetua"/>
                <a:cs typeface="Perpetua"/>
              </a:rPr>
              <a:t>Repeat </a:t>
            </a:r>
            <a:r>
              <a:rPr sz="2200" spc="-5" dirty="0">
                <a:latin typeface="Perpetua"/>
                <a:cs typeface="Perpetua"/>
              </a:rPr>
              <a:t>Steps 3 and 4 until </a:t>
            </a:r>
            <a:r>
              <a:rPr sz="2200" dirty="0">
                <a:latin typeface="Perpetua"/>
                <a:cs typeface="Perpetua"/>
              </a:rPr>
              <a:t>chocolate </a:t>
            </a:r>
            <a:r>
              <a:rPr sz="2200" spc="5" dirty="0">
                <a:latin typeface="Perpetua"/>
                <a:cs typeface="Perpetua"/>
              </a:rPr>
              <a:t>chips </a:t>
            </a:r>
            <a:r>
              <a:rPr sz="2200" spc="-10" dirty="0">
                <a:latin typeface="Perpetua"/>
                <a:cs typeface="Perpetua"/>
              </a:rPr>
              <a:t>are completely</a:t>
            </a:r>
            <a:r>
              <a:rPr sz="2200" spc="22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melted.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090"/>
              <a:buAutoNum type="arabicPeriod" startAt="2"/>
              <a:tabLst>
                <a:tab pos="527685" algn="l"/>
                <a:tab pos="528320" algn="l"/>
              </a:tabLst>
            </a:pPr>
            <a:r>
              <a:rPr sz="2200" spc="-5" dirty="0">
                <a:latin typeface="Perpetua"/>
                <a:cs typeface="Perpetua"/>
              </a:rPr>
              <a:t>Stir 1 teaspoon of </a:t>
            </a:r>
            <a:r>
              <a:rPr sz="2200" spc="-10" dirty="0">
                <a:latin typeface="Perpetua"/>
                <a:cs typeface="Perpetua"/>
              </a:rPr>
              <a:t>vanilla </a:t>
            </a:r>
            <a:r>
              <a:rPr sz="2200" spc="-5" dirty="0">
                <a:latin typeface="Perpetua"/>
                <a:cs typeface="Perpetua"/>
              </a:rPr>
              <a:t>into</a:t>
            </a:r>
            <a:r>
              <a:rPr sz="2200" spc="9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mixture.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090"/>
              <a:buAutoNum type="arabicPeriod" startAt="2"/>
              <a:tabLst>
                <a:tab pos="527685" algn="l"/>
                <a:tab pos="528320" algn="l"/>
              </a:tabLst>
            </a:pPr>
            <a:r>
              <a:rPr sz="2200" spc="-20" dirty="0">
                <a:latin typeface="Perpetua"/>
                <a:cs typeface="Perpetua"/>
              </a:rPr>
              <a:t>Pour </a:t>
            </a:r>
            <a:r>
              <a:rPr sz="2200" spc="-5" dirty="0">
                <a:latin typeface="Perpetua"/>
                <a:cs typeface="Perpetua"/>
              </a:rPr>
              <a:t>mixture into a </a:t>
            </a:r>
            <a:r>
              <a:rPr sz="2200" dirty="0">
                <a:latin typeface="Perpetua"/>
                <a:cs typeface="Perpetua"/>
              </a:rPr>
              <a:t>greased </a:t>
            </a:r>
            <a:r>
              <a:rPr sz="2200" spc="-5" dirty="0">
                <a:latin typeface="Perpetua"/>
                <a:cs typeface="Perpetua"/>
              </a:rPr>
              <a:t>8 </a:t>
            </a:r>
            <a:r>
              <a:rPr sz="2200" spc="-30" dirty="0">
                <a:latin typeface="Perpetua"/>
                <a:cs typeface="Perpetua"/>
              </a:rPr>
              <a:t>by </a:t>
            </a:r>
            <a:r>
              <a:rPr sz="2200" spc="-5" dirty="0">
                <a:latin typeface="Perpetua"/>
                <a:cs typeface="Perpetua"/>
              </a:rPr>
              <a:t>8</a:t>
            </a:r>
            <a:r>
              <a:rPr sz="2200" spc="16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dish.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090"/>
              <a:buAutoNum type="arabicPeriod" startAt="2"/>
              <a:tabLst>
                <a:tab pos="527685" algn="l"/>
                <a:tab pos="528320" algn="l"/>
              </a:tabLst>
            </a:pPr>
            <a:r>
              <a:rPr sz="2200" dirty="0">
                <a:latin typeface="Perpetua"/>
                <a:cs typeface="Perpetua"/>
              </a:rPr>
              <a:t>Refrigerate </a:t>
            </a:r>
            <a:r>
              <a:rPr sz="2200" spc="-5" dirty="0">
                <a:latin typeface="Perpetua"/>
                <a:cs typeface="Perpetua"/>
              </a:rPr>
              <a:t>for </a:t>
            </a:r>
            <a:r>
              <a:rPr sz="2200" spc="-10" dirty="0">
                <a:latin typeface="Perpetua"/>
                <a:cs typeface="Perpetua"/>
              </a:rPr>
              <a:t>three</a:t>
            </a:r>
            <a:r>
              <a:rPr sz="2200" spc="3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hours.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090"/>
              <a:buAutoNum type="arabicPeriod" startAt="2"/>
              <a:tabLst>
                <a:tab pos="527685" algn="l"/>
                <a:tab pos="528320" algn="l"/>
              </a:tabLst>
            </a:pPr>
            <a:r>
              <a:rPr sz="2200" spc="-5" dirty="0">
                <a:latin typeface="Perpetua"/>
                <a:cs typeface="Perpetua"/>
              </a:rPr>
              <a:t>Cut fudge into 1 </a:t>
            </a:r>
            <a:r>
              <a:rPr sz="2200" spc="5" dirty="0">
                <a:latin typeface="Perpetua"/>
                <a:cs typeface="Perpetua"/>
              </a:rPr>
              <a:t>inch</a:t>
            </a:r>
            <a:r>
              <a:rPr sz="2200" spc="6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squares.</a:t>
            </a:r>
            <a:endParaRPr sz="2200">
              <a:latin typeface="Perpetua"/>
              <a:cs typeface="Perpet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96636" y="1289071"/>
            <a:ext cx="3651250" cy="974090"/>
            <a:chOff x="5096636" y="1289071"/>
            <a:chExt cx="3651250" cy="974090"/>
          </a:xfrm>
        </p:grpSpPr>
        <p:sp>
          <p:nvSpPr>
            <p:cNvPr id="5" name="object 5"/>
            <p:cNvSpPr/>
            <p:nvPr/>
          </p:nvSpPr>
          <p:spPr>
            <a:xfrm>
              <a:off x="5102986" y="1295421"/>
              <a:ext cx="3638550" cy="961390"/>
            </a:xfrm>
            <a:custGeom>
              <a:avLst/>
              <a:gdLst/>
              <a:ahLst/>
              <a:cxnLst/>
              <a:rect l="l" t="t" r="r" b="b"/>
              <a:pathLst>
                <a:path w="3638550" h="961389">
                  <a:moveTo>
                    <a:pt x="2045854" y="68"/>
                  </a:moveTo>
                  <a:lnTo>
                    <a:pt x="1991491" y="0"/>
                  </a:lnTo>
                  <a:lnTo>
                    <a:pt x="1937114" y="354"/>
                  </a:lnTo>
                  <a:lnTo>
                    <a:pt x="1882772" y="1134"/>
                  </a:lnTo>
                  <a:lnTo>
                    <a:pt x="1828515" y="2338"/>
                  </a:lnTo>
                  <a:lnTo>
                    <a:pt x="1774390" y="3969"/>
                  </a:lnTo>
                  <a:lnTo>
                    <a:pt x="1720445" y="6027"/>
                  </a:lnTo>
                  <a:lnTo>
                    <a:pt x="1666730" y="8514"/>
                  </a:lnTo>
                  <a:lnTo>
                    <a:pt x="1613293" y="11430"/>
                  </a:lnTo>
                  <a:lnTo>
                    <a:pt x="1560182" y="14776"/>
                  </a:lnTo>
                  <a:lnTo>
                    <a:pt x="1507447" y="18554"/>
                  </a:lnTo>
                  <a:lnTo>
                    <a:pt x="1455134" y="22765"/>
                  </a:lnTo>
                  <a:lnTo>
                    <a:pt x="1403293" y="27409"/>
                  </a:lnTo>
                  <a:lnTo>
                    <a:pt x="1351973" y="32487"/>
                  </a:lnTo>
                  <a:lnTo>
                    <a:pt x="1301221" y="38001"/>
                  </a:lnTo>
                  <a:lnTo>
                    <a:pt x="1251087" y="43951"/>
                  </a:lnTo>
                  <a:lnTo>
                    <a:pt x="1201619" y="50339"/>
                  </a:lnTo>
                  <a:lnTo>
                    <a:pt x="1152864" y="57166"/>
                  </a:lnTo>
                  <a:lnTo>
                    <a:pt x="1104873" y="64432"/>
                  </a:lnTo>
                  <a:lnTo>
                    <a:pt x="1057693" y="72139"/>
                  </a:lnTo>
                  <a:lnTo>
                    <a:pt x="1011373" y="80287"/>
                  </a:lnTo>
                  <a:lnTo>
                    <a:pt x="965962" y="88878"/>
                  </a:lnTo>
                  <a:lnTo>
                    <a:pt x="901144" y="102277"/>
                  </a:lnTo>
                  <a:lnTo>
                    <a:pt x="840077" y="116296"/>
                  </a:lnTo>
                  <a:lnTo>
                    <a:pt x="782772" y="130897"/>
                  </a:lnTo>
                  <a:lnTo>
                    <a:pt x="729246" y="146043"/>
                  </a:lnTo>
                  <a:lnTo>
                    <a:pt x="679511" y="161697"/>
                  </a:lnTo>
                  <a:lnTo>
                    <a:pt x="633582" y="177822"/>
                  </a:lnTo>
                  <a:lnTo>
                    <a:pt x="591472" y="194382"/>
                  </a:lnTo>
                  <a:lnTo>
                    <a:pt x="553196" y="211338"/>
                  </a:lnTo>
                  <a:lnTo>
                    <a:pt x="518768" y="228654"/>
                  </a:lnTo>
                  <a:lnTo>
                    <a:pt x="461512" y="264218"/>
                  </a:lnTo>
                  <a:lnTo>
                    <a:pt x="419815" y="300775"/>
                  </a:lnTo>
                  <a:lnTo>
                    <a:pt x="393791" y="338031"/>
                  </a:lnTo>
                  <a:lnTo>
                    <a:pt x="383551" y="375687"/>
                  </a:lnTo>
                  <a:lnTo>
                    <a:pt x="384385" y="394572"/>
                  </a:lnTo>
                  <a:lnTo>
                    <a:pt x="398032" y="432274"/>
                  </a:lnTo>
                  <a:lnTo>
                    <a:pt x="427744" y="469634"/>
                  </a:lnTo>
                  <a:lnTo>
                    <a:pt x="473634" y="506356"/>
                  </a:lnTo>
                  <a:lnTo>
                    <a:pt x="535814" y="542145"/>
                  </a:lnTo>
                  <a:lnTo>
                    <a:pt x="573048" y="559596"/>
                  </a:lnTo>
                  <a:lnTo>
                    <a:pt x="614396" y="576702"/>
                  </a:lnTo>
                  <a:lnTo>
                    <a:pt x="659873" y="593426"/>
                  </a:lnTo>
                  <a:lnTo>
                    <a:pt x="709493" y="609731"/>
                  </a:lnTo>
                  <a:lnTo>
                    <a:pt x="763270" y="625580"/>
                  </a:lnTo>
                  <a:lnTo>
                    <a:pt x="0" y="961241"/>
                  </a:lnTo>
                  <a:lnTo>
                    <a:pt x="1245615" y="717274"/>
                  </a:lnTo>
                  <a:lnTo>
                    <a:pt x="1294711" y="723150"/>
                  </a:lnTo>
                  <a:lnTo>
                    <a:pt x="1344367" y="728608"/>
                  </a:lnTo>
                  <a:lnTo>
                    <a:pt x="1394542" y="733649"/>
                  </a:lnTo>
                  <a:lnTo>
                    <a:pt x="1445191" y="738274"/>
                  </a:lnTo>
                  <a:lnTo>
                    <a:pt x="1496270" y="742484"/>
                  </a:lnTo>
                  <a:lnTo>
                    <a:pt x="1547738" y="746280"/>
                  </a:lnTo>
                  <a:lnTo>
                    <a:pt x="1599549" y="749663"/>
                  </a:lnTo>
                  <a:lnTo>
                    <a:pt x="1651661" y="752635"/>
                  </a:lnTo>
                  <a:lnTo>
                    <a:pt x="1704030" y="755196"/>
                  </a:lnTo>
                  <a:lnTo>
                    <a:pt x="1756612" y="757347"/>
                  </a:lnTo>
                  <a:lnTo>
                    <a:pt x="1809364" y="759090"/>
                  </a:lnTo>
                  <a:lnTo>
                    <a:pt x="1862243" y="760426"/>
                  </a:lnTo>
                  <a:lnTo>
                    <a:pt x="1915204" y="761356"/>
                  </a:lnTo>
                  <a:lnTo>
                    <a:pt x="1968205" y="761880"/>
                  </a:lnTo>
                  <a:lnTo>
                    <a:pt x="2021202" y="762000"/>
                  </a:lnTo>
                  <a:lnTo>
                    <a:pt x="2074151" y="761717"/>
                  </a:lnTo>
                  <a:lnTo>
                    <a:pt x="2127009" y="761032"/>
                  </a:lnTo>
                  <a:lnTo>
                    <a:pt x="2179732" y="759946"/>
                  </a:lnTo>
                  <a:lnTo>
                    <a:pt x="2232277" y="758461"/>
                  </a:lnTo>
                  <a:lnTo>
                    <a:pt x="2284601" y="756576"/>
                  </a:lnTo>
                  <a:lnTo>
                    <a:pt x="2336659" y="754294"/>
                  </a:lnTo>
                  <a:lnTo>
                    <a:pt x="2388409" y="751616"/>
                  </a:lnTo>
                  <a:lnTo>
                    <a:pt x="2439806" y="748542"/>
                  </a:lnTo>
                  <a:lnTo>
                    <a:pt x="2490808" y="745073"/>
                  </a:lnTo>
                  <a:lnTo>
                    <a:pt x="2541371" y="741211"/>
                  </a:lnTo>
                  <a:lnTo>
                    <a:pt x="2591451" y="736957"/>
                  </a:lnTo>
                  <a:lnTo>
                    <a:pt x="2641004" y="732312"/>
                  </a:lnTo>
                  <a:lnTo>
                    <a:pt x="2689988" y="727277"/>
                  </a:lnTo>
                  <a:lnTo>
                    <a:pt x="2738359" y="721852"/>
                  </a:lnTo>
                  <a:lnTo>
                    <a:pt x="2786073" y="716040"/>
                  </a:lnTo>
                  <a:lnTo>
                    <a:pt x="2833086" y="709840"/>
                  </a:lnTo>
                  <a:lnTo>
                    <a:pt x="2879356" y="703255"/>
                  </a:lnTo>
                  <a:lnTo>
                    <a:pt x="2924839" y="696285"/>
                  </a:lnTo>
                  <a:lnTo>
                    <a:pt x="2969490" y="688932"/>
                  </a:lnTo>
                  <a:lnTo>
                    <a:pt x="3013268" y="681196"/>
                  </a:lnTo>
                  <a:lnTo>
                    <a:pt x="3056128" y="673078"/>
                  </a:lnTo>
                  <a:lnTo>
                    <a:pt x="3120945" y="659679"/>
                  </a:lnTo>
                  <a:lnTo>
                    <a:pt x="3182012" y="645661"/>
                  </a:lnTo>
                  <a:lnTo>
                    <a:pt x="3239317" y="631060"/>
                  </a:lnTo>
                  <a:lnTo>
                    <a:pt x="3292843" y="615914"/>
                  </a:lnTo>
                  <a:lnTo>
                    <a:pt x="3342578" y="600260"/>
                  </a:lnTo>
                  <a:lnTo>
                    <a:pt x="3388507" y="584134"/>
                  </a:lnTo>
                  <a:lnTo>
                    <a:pt x="3430617" y="567575"/>
                  </a:lnTo>
                  <a:lnTo>
                    <a:pt x="3468893" y="550619"/>
                  </a:lnTo>
                  <a:lnTo>
                    <a:pt x="3503321" y="533303"/>
                  </a:lnTo>
                  <a:lnTo>
                    <a:pt x="3560577" y="497739"/>
                  </a:lnTo>
                  <a:lnTo>
                    <a:pt x="3602274" y="461181"/>
                  </a:lnTo>
                  <a:lnTo>
                    <a:pt x="3628298" y="423926"/>
                  </a:lnTo>
                  <a:lnTo>
                    <a:pt x="3638538" y="386270"/>
                  </a:lnTo>
                  <a:lnTo>
                    <a:pt x="3637704" y="367384"/>
                  </a:lnTo>
                  <a:lnTo>
                    <a:pt x="3624057" y="329683"/>
                  </a:lnTo>
                  <a:lnTo>
                    <a:pt x="3594345" y="292323"/>
                  </a:lnTo>
                  <a:lnTo>
                    <a:pt x="3548455" y="255601"/>
                  </a:lnTo>
                  <a:lnTo>
                    <a:pt x="3486275" y="219812"/>
                  </a:lnTo>
                  <a:lnTo>
                    <a:pt x="3449041" y="202361"/>
                  </a:lnTo>
                  <a:lnTo>
                    <a:pt x="3407693" y="185255"/>
                  </a:lnTo>
                  <a:lnTo>
                    <a:pt x="3362216" y="168531"/>
                  </a:lnTo>
                  <a:lnTo>
                    <a:pt x="3312596" y="152226"/>
                  </a:lnTo>
                  <a:lnTo>
                    <a:pt x="3258819" y="136376"/>
                  </a:lnTo>
                  <a:lnTo>
                    <a:pt x="3220546" y="126056"/>
                  </a:lnTo>
                  <a:lnTo>
                    <a:pt x="3181047" y="116134"/>
                  </a:lnTo>
                  <a:lnTo>
                    <a:pt x="3140371" y="106610"/>
                  </a:lnTo>
                  <a:lnTo>
                    <a:pt x="3098566" y="97486"/>
                  </a:lnTo>
                  <a:lnTo>
                    <a:pt x="3055682" y="88764"/>
                  </a:lnTo>
                  <a:lnTo>
                    <a:pt x="3011765" y="80443"/>
                  </a:lnTo>
                  <a:lnTo>
                    <a:pt x="2966866" y="72525"/>
                  </a:lnTo>
                  <a:lnTo>
                    <a:pt x="2921032" y="65011"/>
                  </a:lnTo>
                  <a:lnTo>
                    <a:pt x="2874312" y="57902"/>
                  </a:lnTo>
                  <a:lnTo>
                    <a:pt x="2826754" y="51199"/>
                  </a:lnTo>
                  <a:lnTo>
                    <a:pt x="2778407" y="44903"/>
                  </a:lnTo>
                  <a:lnTo>
                    <a:pt x="2729320" y="39015"/>
                  </a:lnTo>
                  <a:lnTo>
                    <a:pt x="2679540" y="33537"/>
                  </a:lnTo>
                  <a:lnTo>
                    <a:pt x="2629117" y="28468"/>
                  </a:lnTo>
                  <a:lnTo>
                    <a:pt x="2578099" y="23810"/>
                  </a:lnTo>
                  <a:lnTo>
                    <a:pt x="2526534" y="19565"/>
                  </a:lnTo>
                  <a:lnTo>
                    <a:pt x="2474471" y="15732"/>
                  </a:lnTo>
                  <a:lnTo>
                    <a:pt x="2421958" y="12314"/>
                  </a:lnTo>
                  <a:lnTo>
                    <a:pt x="2369044" y="9311"/>
                  </a:lnTo>
                  <a:lnTo>
                    <a:pt x="2315778" y="6724"/>
                  </a:lnTo>
                  <a:lnTo>
                    <a:pt x="2262207" y="4554"/>
                  </a:lnTo>
                  <a:lnTo>
                    <a:pt x="2208381" y="2803"/>
                  </a:lnTo>
                  <a:lnTo>
                    <a:pt x="2154348" y="1471"/>
                  </a:lnTo>
                  <a:lnTo>
                    <a:pt x="2100156" y="559"/>
                  </a:lnTo>
                  <a:lnTo>
                    <a:pt x="2045854" y="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02986" y="1295421"/>
              <a:ext cx="3638550" cy="961390"/>
            </a:xfrm>
            <a:custGeom>
              <a:avLst/>
              <a:gdLst/>
              <a:ahLst/>
              <a:cxnLst/>
              <a:rect l="l" t="t" r="r" b="b"/>
              <a:pathLst>
                <a:path w="3638550" h="961389">
                  <a:moveTo>
                    <a:pt x="0" y="961241"/>
                  </a:moveTo>
                  <a:lnTo>
                    <a:pt x="763270" y="625580"/>
                  </a:lnTo>
                  <a:lnTo>
                    <a:pt x="709493" y="609731"/>
                  </a:lnTo>
                  <a:lnTo>
                    <a:pt x="659873" y="593426"/>
                  </a:lnTo>
                  <a:lnTo>
                    <a:pt x="614396" y="576702"/>
                  </a:lnTo>
                  <a:lnTo>
                    <a:pt x="573048" y="559596"/>
                  </a:lnTo>
                  <a:lnTo>
                    <a:pt x="535814" y="542145"/>
                  </a:lnTo>
                  <a:lnTo>
                    <a:pt x="473634" y="506356"/>
                  </a:lnTo>
                  <a:lnTo>
                    <a:pt x="427744" y="469634"/>
                  </a:lnTo>
                  <a:lnTo>
                    <a:pt x="398032" y="432274"/>
                  </a:lnTo>
                  <a:lnTo>
                    <a:pt x="384385" y="394572"/>
                  </a:lnTo>
                  <a:lnTo>
                    <a:pt x="383551" y="375687"/>
                  </a:lnTo>
                  <a:lnTo>
                    <a:pt x="386691" y="356827"/>
                  </a:lnTo>
                  <a:lnTo>
                    <a:pt x="404837" y="319334"/>
                  </a:lnTo>
                  <a:lnTo>
                    <a:pt x="438712" y="282391"/>
                  </a:lnTo>
                  <a:lnTo>
                    <a:pt x="488202" y="246293"/>
                  </a:lnTo>
                  <a:lnTo>
                    <a:pt x="553196" y="211338"/>
                  </a:lnTo>
                  <a:lnTo>
                    <a:pt x="591472" y="194382"/>
                  </a:lnTo>
                  <a:lnTo>
                    <a:pt x="633582" y="177822"/>
                  </a:lnTo>
                  <a:lnTo>
                    <a:pt x="679511" y="161697"/>
                  </a:lnTo>
                  <a:lnTo>
                    <a:pt x="729246" y="146043"/>
                  </a:lnTo>
                  <a:lnTo>
                    <a:pt x="782772" y="130897"/>
                  </a:lnTo>
                  <a:lnTo>
                    <a:pt x="840077" y="116296"/>
                  </a:lnTo>
                  <a:lnTo>
                    <a:pt x="901144" y="102277"/>
                  </a:lnTo>
                  <a:lnTo>
                    <a:pt x="965962" y="88878"/>
                  </a:lnTo>
                  <a:lnTo>
                    <a:pt x="1011373" y="80287"/>
                  </a:lnTo>
                  <a:lnTo>
                    <a:pt x="1057693" y="72139"/>
                  </a:lnTo>
                  <a:lnTo>
                    <a:pt x="1104873" y="64432"/>
                  </a:lnTo>
                  <a:lnTo>
                    <a:pt x="1152864" y="57166"/>
                  </a:lnTo>
                  <a:lnTo>
                    <a:pt x="1201619" y="50339"/>
                  </a:lnTo>
                  <a:lnTo>
                    <a:pt x="1251087" y="43951"/>
                  </a:lnTo>
                  <a:lnTo>
                    <a:pt x="1301221" y="38001"/>
                  </a:lnTo>
                  <a:lnTo>
                    <a:pt x="1351973" y="32487"/>
                  </a:lnTo>
                  <a:lnTo>
                    <a:pt x="1403293" y="27409"/>
                  </a:lnTo>
                  <a:lnTo>
                    <a:pt x="1455134" y="22765"/>
                  </a:lnTo>
                  <a:lnTo>
                    <a:pt x="1507447" y="18554"/>
                  </a:lnTo>
                  <a:lnTo>
                    <a:pt x="1560182" y="14776"/>
                  </a:lnTo>
                  <a:lnTo>
                    <a:pt x="1613293" y="11430"/>
                  </a:lnTo>
                  <a:lnTo>
                    <a:pt x="1666730" y="8514"/>
                  </a:lnTo>
                  <a:lnTo>
                    <a:pt x="1720445" y="6027"/>
                  </a:lnTo>
                  <a:lnTo>
                    <a:pt x="1774390" y="3969"/>
                  </a:lnTo>
                  <a:lnTo>
                    <a:pt x="1828515" y="2338"/>
                  </a:lnTo>
                  <a:lnTo>
                    <a:pt x="1882772" y="1134"/>
                  </a:lnTo>
                  <a:lnTo>
                    <a:pt x="1937114" y="354"/>
                  </a:lnTo>
                  <a:lnTo>
                    <a:pt x="1991491" y="0"/>
                  </a:lnTo>
                  <a:lnTo>
                    <a:pt x="2045854" y="68"/>
                  </a:lnTo>
                  <a:lnTo>
                    <a:pt x="2100156" y="559"/>
                  </a:lnTo>
                  <a:lnTo>
                    <a:pt x="2154348" y="1471"/>
                  </a:lnTo>
                  <a:lnTo>
                    <a:pt x="2208381" y="2803"/>
                  </a:lnTo>
                  <a:lnTo>
                    <a:pt x="2262207" y="4554"/>
                  </a:lnTo>
                  <a:lnTo>
                    <a:pt x="2315778" y="6724"/>
                  </a:lnTo>
                  <a:lnTo>
                    <a:pt x="2369044" y="9311"/>
                  </a:lnTo>
                  <a:lnTo>
                    <a:pt x="2421958" y="12314"/>
                  </a:lnTo>
                  <a:lnTo>
                    <a:pt x="2474471" y="15732"/>
                  </a:lnTo>
                  <a:lnTo>
                    <a:pt x="2526534" y="19565"/>
                  </a:lnTo>
                  <a:lnTo>
                    <a:pt x="2578099" y="23810"/>
                  </a:lnTo>
                  <a:lnTo>
                    <a:pt x="2629117" y="28468"/>
                  </a:lnTo>
                  <a:lnTo>
                    <a:pt x="2679540" y="33537"/>
                  </a:lnTo>
                  <a:lnTo>
                    <a:pt x="2729320" y="39015"/>
                  </a:lnTo>
                  <a:lnTo>
                    <a:pt x="2778407" y="44903"/>
                  </a:lnTo>
                  <a:lnTo>
                    <a:pt x="2826754" y="51199"/>
                  </a:lnTo>
                  <a:lnTo>
                    <a:pt x="2874312" y="57902"/>
                  </a:lnTo>
                  <a:lnTo>
                    <a:pt x="2921032" y="65011"/>
                  </a:lnTo>
                  <a:lnTo>
                    <a:pt x="2966866" y="72525"/>
                  </a:lnTo>
                  <a:lnTo>
                    <a:pt x="3011765" y="80443"/>
                  </a:lnTo>
                  <a:lnTo>
                    <a:pt x="3055682" y="88764"/>
                  </a:lnTo>
                  <a:lnTo>
                    <a:pt x="3098566" y="97486"/>
                  </a:lnTo>
                  <a:lnTo>
                    <a:pt x="3140371" y="106610"/>
                  </a:lnTo>
                  <a:lnTo>
                    <a:pt x="3181047" y="116134"/>
                  </a:lnTo>
                  <a:lnTo>
                    <a:pt x="3220546" y="126056"/>
                  </a:lnTo>
                  <a:lnTo>
                    <a:pt x="3258819" y="136376"/>
                  </a:lnTo>
                  <a:lnTo>
                    <a:pt x="3312596" y="152226"/>
                  </a:lnTo>
                  <a:lnTo>
                    <a:pt x="3362216" y="168531"/>
                  </a:lnTo>
                  <a:lnTo>
                    <a:pt x="3407693" y="185255"/>
                  </a:lnTo>
                  <a:lnTo>
                    <a:pt x="3449041" y="202361"/>
                  </a:lnTo>
                  <a:lnTo>
                    <a:pt x="3486275" y="219812"/>
                  </a:lnTo>
                  <a:lnTo>
                    <a:pt x="3548455" y="255601"/>
                  </a:lnTo>
                  <a:lnTo>
                    <a:pt x="3594345" y="292323"/>
                  </a:lnTo>
                  <a:lnTo>
                    <a:pt x="3624057" y="329683"/>
                  </a:lnTo>
                  <a:lnTo>
                    <a:pt x="3637704" y="367384"/>
                  </a:lnTo>
                  <a:lnTo>
                    <a:pt x="3638538" y="386270"/>
                  </a:lnTo>
                  <a:lnTo>
                    <a:pt x="3635398" y="405130"/>
                  </a:lnTo>
                  <a:lnTo>
                    <a:pt x="3617252" y="442622"/>
                  </a:lnTo>
                  <a:lnTo>
                    <a:pt x="3583377" y="479566"/>
                  </a:lnTo>
                  <a:lnTo>
                    <a:pt x="3533887" y="515664"/>
                  </a:lnTo>
                  <a:lnTo>
                    <a:pt x="3468893" y="550619"/>
                  </a:lnTo>
                  <a:lnTo>
                    <a:pt x="3430617" y="567575"/>
                  </a:lnTo>
                  <a:lnTo>
                    <a:pt x="3388507" y="584134"/>
                  </a:lnTo>
                  <a:lnTo>
                    <a:pt x="3342578" y="600260"/>
                  </a:lnTo>
                  <a:lnTo>
                    <a:pt x="3292843" y="615914"/>
                  </a:lnTo>
                  <a:lnTo>
                    <a:pt x="3239317" y="631060"/>
                  </a:lnTo>
                  <a:lnTo>
                    <a:pt x="3182012" y="645661"/>
                  </a:lnTo>
                  <a:lnTo>
                    <a:pt x="3120945" y="659679"/>
                  </a:lnTo>
                  <a:lnTo>
                    <a:pt x="3056128" y="673078"/>
                  </a:lnTo>
                  <a:lnTo>
                    <a:pt x="3013268" y="681196"/>
                  </a:lnTo>
                  <a:lnTo>
                    <a:pt x="2969490" y="688932"/>
                  </a:lnTo>
                  <a:lnTo>
                    <a:pt x="2924839" y="696285"/>
                  </a:lnTo>
                  <a:lnTo>
                    <a:pt x="2879356" y="703255"/>
                  </a:lnTo>
                  <a:lnTo>
                    <a:pt x="2833086" y="709840"/>
                  </a:lnTo>
                  <a:lnTo>
                    <a:pt x="2786073" y="716040"/>
                  </a:lnTo>
                  <a:lnTo>
                    <a:pt x="2738359" y="721852"/>
                  </a:lnTo>
                  <a:lnTo>
                    <a:pt x="2689988" y="727277"/>
                  </a:lnTo>
                  <a:lnTo>
                    <a:pt x="2641004" y="732312"/>
                  </a:lnTo>
                  <a:lnTo>
                    <a:pt x="2591451" y="736957"/>
                  </a:lnTo>
                  <a:lnTo>
                    <a:pt x="2541371" y="741211"/>
                  </a:lnTo>
                  <a:lnTo>
                    <a:pt x="2490808" y="745073"/>
                  </a:lnTo>
                  <a:lnTo>
                    <a:pt x="2439806" y="748542"/>
                  </a:lnTo>
                  <a:lnTo>
                    <a:pt x="2388409" y="751616"/>
                  </a:lnTo>
                  <a:lnTo>
                    <a:pt x="2336659" y="754294"/>
                  </a:lnTo>
                  <a:lnTo>
                    <a:pt x="2284601" y="756576"/>
                  </a:lnTo>
                  <a:lnTo>
                    <a:pt x="2232277" y="758461"/>
                  </a:lnTo>
                  <a:lnTo>
                    <a:pt x="2179732" y="759946"/>
                  </a:lnTo>
                  <a:lnTo>
                    <a:pt x="2127009" y="761032"/>
                  </a:lnTo>
                  <a:lnTo>
                    <a:pt x="2074151" y="761717"/>
                  </a:lnTo>
                  <a:lnTo>
                    <a:pt x="2021202" y="762000"/>
                  </a:lnTo>
                  <a:lnTo>
                    <a:pt x="1968205" y="761880"/>
                  </a:lnTo>
                  <a:lnTo>
                    <a:pt x="1915204" y="761356"/>
                  </a:lnTo>
                  <a:lnTo>
                    <a:pt x="1862243" y="760426"/>
                  </a:lnTo>
                  <a:lnTo>
                    <a:pt x="1809364" y="759090"/>
                  </a:lnTo>
                  <a:lnTo>
                    <a:pt x="1756612" y="757347"/>
                  </a:lnTo>
                  <a:lnTo>
                    <a:pt x="1704030" y="755196"/>
                  </a:lnTo>
                  <a:lnTo>
                    <a:pt x="1651661" y="752635"/>
                  </a:lnTo>
                  <a:lnTo>
                    <a:pt x="1599549" y="749663"/>
                  </a:lnTo>
                  <a:lnTo>
                    <a:pt x="1547738" y="746280"/>
                  </a:lnTo>
                  <a:lnTo>
                    <a:pt x="1496270" y="742484"/>
                  </a:lnTo>
                  <a:lnTo>
                    <a:pt x="1445191" y="738274"/>
                  </a:lnTo>
                  <a:lnTo>
                    <a:pt x="1394542" y="733649"/>
                  </a:lnTo>
                  <a:lnTo>
                    <a:pt x="1344367" y="728608"/>
                  </a:lnTo>
                  <a:lnTo>
                    <a:pt x="1294711" y="723150"/>
                  </a:lnTo>
                  <a:lnTo>
                    <a:pt x="1245615" y="717274"/>
                  </a:lnTo>
                  <a:lnTo>
                    <a:pt x="0" y="961241"/>
                  </a:lnTo>
                  <a:close/>
                </a:path>
              </a:pathLst>
            </a:custGeom>
            <a:ln w="12192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75070" y="1255521"/>
            <a:ext cx="16802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Selection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--add  </a:t>
            </a:r>
            <a:r>
              <a:rPr sz="2400" spc="-10" dirty="0">
                <a:latin typeface="Perpetua"/>
                <a:cs typeface="Perpetua"/>
              </a:rPr>
              <a:t>walnuts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not</a:t>
            </a:r>
            <a:endParaRPr sz="2400">
              <a:latin typeface="Perpetua"/>
              <a:cs typeface="Perpetu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94448" y="2279928"/>
            <a:ext cx="2454275" cy="1085215"/>
            <a:chOff x="6394448" y="2279928"/>
            <a:chExt cx="2454275" cy="1085215"/>
          </a:xfrm>
        </p:grpSpPr>
        <p:sp>
          <p:nvSpPr>
            <p:cNvPr id="9" name="object 9"/>
            <p:cNvSpPr/>
            <p:nvPr/>
          </p:nvSpPr>
          <p:spPr>
            <a:xfrm>
              <a:off x="6400544" y="2286024"/>
              <a:ext cx="2442210" cy="1072515"/>
            </a:xfrm>
            <a:custGeom>
              <a:avLst/>
              <a:gdLst/>
              <a:ahLst/>
              <a:cxnLst/>
              <a:rect l="l" t="t" r="r" b="b"/>
              <a:pathLst>
                <a:path w="2442209" h="1072514">
                  <a:moveTo>
                    <a:pt x="1246515" y="0"/>
                  </a:moveTo>
                  <a:lnTo>
                    <a:pt x="1189115" y="39"/>
                  </a:lnTo>
                  <a:lnTo>
                    <a:pt x="1131956" y="667"/>
                  </a:lnTo>
                  <a:lnTo>
                    <a:pt x="1075133" y="1876"/>
                  </a:lnTo>
                  <a:lnTo>
                    <a:pt x="1018739" y="3660"/>
                  </a:lnTo>
                  <a:lnTo>
                    <a:pt x="962868" y="6011"/>
                  </a:lnTo>
                  <a:lnTo>
                    <a:pt x="907612" y="8923"/>
                  </a:lnTo>
                  <a:lnTo>
                    <a:pt x="853066" y="12388"/>
                  </a:lnTo>
                  <a:lnTo>
                    <a:pt x="799323" y="16400"/>
                  </a:lnTo>
                  <a:lnTo>
                    <a:pt x="746476" y="20951"/>
                  </a:lnTo>
                  <a:lnTo>
                    <a:pt x="694620" y="26035"/>
                  </a:lnTo>
                  <a:lnTo>
                    <a:pt x="643847" y="31644"/>
                  </a:lnTo>
                  <a:lnTo>
                    <a:pt x="594251" y="37772"/>
                  </a:lnTo>
                  <a:lnTo>
                    <a:pt x="545927" y="44411"/>
                  </a:lnTo>
                  <a:lnTo>
                    <a:pt x="498966" y="51555"/>
                  </a:lnTo>
                  <a:lnTo>
                    <a:pt x="453463" y="59196"/>
                  </a:lnTo>
                  <a:lnTo>
                    <a:pt x="409511" y="67328"/>
                  </a:lnTo>
                  <a:lnTo>
                    <a:pt x="367205" y="75943"/>
                  </a:lnTo>
                  <a:lnTo>
                    <a:pt x="326636" y="85035"/>
                  </a:lnTo>
                  <a:lnTo>
                    <a:pt x="287900" y="94596"/>
                  </a:lnTo>
                  <a:lnTo>
                    <a:pt x="251089" y="104620"/>
                  </a:lnTo>
                  <a:lnTo>
                    <a:pt x="183617" y="126027"/>
                  </a:lnTo>
                  <a:lnTo>
                    <a:pt x="124969" y="149200"/>
                  </a:lnTo>
                  <a:lnTo>
                    <a:pt x="90688" y="165876"/>
                  </a:lnTo>
                  <a:lnTo>
                    <a:pt x="38887" y="199872"/>
                  </a:lnTo>
                  <a:lnTo>
                    <a:pt x="8880" y="234374"/>
                  </a:lnTo>
                  <a:lnTo>
                    <a:pt x="0" y="268956"/>
                  </a:lnTo>
                  <a:lnTo>
                    <a:pt x="3274" y="286144"/>
                  </a:lnTo>
                  <a:lnTo>
                    <a:pt x="24838" y="320049"/>
                  </a:lnTo>
                  <a:lnTo>
                    <a:pt x="65866" y="352972"/>
                  </a:lnTo>
                  <a:lnTo>
                    <a:pt x="125692" y="384487"/>
                  </a:lnTo>
                  <a:lnTo>
                    <a:pt x="162447" y="399584"/>
                  </a:lnTo>
                  <a:lnTo>
                    <a:pt x="203652" y="414169"/>
                  </a:lnTo>
                  <a:lnTo>
                    <a:pt x="249224" y="428191"/>
                  </a:lnTo>
                  <a:lnTo>
                    <a:pt x="299080" y="441594"/>
                  </a:lnTo>
                  <a:lnTo>
                    <a:pt x="353136" y="454327"/>
                  </a:lnTo>
                  <a:lnTo>
                    <a:pt x="411310" y="466336"/>
                  </a:lnTo>
                  <a:lnTo>
                    <a:pt x="473517" y="477568"/>
                  </a:lnTo>
                  <a:lnTo>
                    <a:pt x="539676" y="487970"/>
                  </a:lnTo>
                  <a:lnTo>
                    <a:pt x="609703" y="497488"/>
                  </a:lnTo>
                  <a:lnTo>
                    <a:pt x="683515" y="506070"/>
                  </a:lnTo>
                  <a:lnTo>
                    <a:pt x="224029" y="1072490"/>
                  </a:lnTo>
                  <a:lnTo>
                    <a:pt x="1133222" y="532740"/>
                  </a:lnTo>
                  <a:lnTo>
                    <a:pt x="1195100" y="533364"/>
                  </a:lnTo>
                  <a:lnTo>
                    <a:pt x="1256590" y="533307"/>
                  </a:lnTo>
                  <a:lnTo>
                    <a:pt x="1317598" y="532580"/>
                  </a:lnTo>
                  <a:lnTo>
                    <a:pt x="1378026" y="531197"/>
                  </a:lnTo>
                  <a:lnTo>
                    <a:pt x="1437780" y="529169"/>
                  </a:lnTo>
                  <a:lnTo>
                    <a:pt x="1496761" y="526507"/>
                  </a:lnTo>
                  <a:lnTo>
                    <a:pt x="1554875" y="523225"/>
                  </a:lnTo>
                  <a:lnTo>
                    <a:pt x="1612026" y="519335"/>
                  </a:lnTo>
                  <a:lnTo>
                    <a:pt x="1668117" y="514847"/>
                  </a:lnTo>
                  <a:lnTo>
                    <a:pt x="1723052" y="509776"/>
                  </a:lnTo>
                  <a:lnTo>
                    <a:pt x="1776735" y="504131"/>
                  </a:lnTo>
                  <a:lnTo>
                    <a:pt x="1829071" y="497926"/>
                  </a:lnTo>
                  <a:lnTo>
                    <a:pt x="1879962" y="491173"/>
                  </a:lnTo>
                  <a:lnTo>
                    <a:pt x="1929313" y="483884"/>
                  </a:lnTo>
                  <a:lnTo>
                    <a:pt x="1977029" y="476070"/>
                  </a:lnTo>
                  <a:lnTo>
                    <a:pt x="2023012" y="467745"/>
                  </a:lnTo>
                  <a:lnTo>
                    <a:pt x="2067167" y="458919"/>
                  </a:lnTo>
                  <a:lnTo>
                    <a:pt x="2109397" y="449605"/>
                  </a:lnTo>
                  <a:lnTo>
                    <a:pt x="2149607" y="439815"/>
                  </a:lnTo>
                  <a:lnTo>
                    <a:pt x="2187701" y="429562"/>
                  </a:lnTo>
                  <a:lnTo>
                    <a:pt x="2257154" y="407711"/>
                  </a:lnTo>
                  <a:lnTo>
                    <a:pt x="2316989" y="384150"/>
                  </a:lnTo>
                  <a:lnTo>
                    <a:pt x="2351269" y="367475"/>
                  </a:lnTo>
                  <a:lnTo>
                    <a:pt x="2403070" y="333478"/>
                  </a:lnTo>
                  <a:lnTo>
                    <a:pt x="2433079" y="298977"/>
                  </a:lnTo>
                  <a:lnTo>
                    <a:pt x="2441961" y="264395"/>
                  </a:lnTo>
                  <a:lnTo>
                    <a:pt x="2438688" y="247207"/>
                  </a:lnTo>
                  <a:lnTo>
                    <a:pt x="2417128" y="213302"/>
                  </a:lnTo>
                  <a:lnTo>
                    <a:pt x="2376107" y="180379"/>
                  </a:lnTo>
                  <a:lnTo>
                    <a:pt x="2316290" y="148864"/>
                  </a:lnTo>
                  <a:lnTo>
                    <a:pt x="2279541" y="133767"/>
                  </a:lnTo>
                  <a:lnTo>
                    <a:pt x="2238343" y="119181"/>
                  </a:lnTo>
                  <a:lnTo>
                    <a:pt x="2192778" y="105160"/>
                  </a:lnTo>
                  <a:lnTo>
                    <a:pt x="2142931" y="91757"/>
                  </a:lnTo>
                  <a:lnTo>
                    <a:pt x="2088884" y="79024"/>
                  </a:lnTo>
                  <a:lnTo>
                    <a:pt x="2030721" y="67015"/>
                  </a:lnTo>
                  <a:lnTo>
                    <a:pt x="1968525" y="55783"/>
                  </a:lnTo>
                  <a:lnTo>
                    <a:pt x="1902379" y="45381"/>
                  </a:lnTo>
                  <a:lnTo>
                    <a:pt x="1832366" y="35863"/>
                  </a:lnTo>
                  <a:lnTo>
                    <a:pt x="1758570" y="27280"/>
                  </a:lnTo>
                  <a:lnTo>
                    <a:pt x="1703201" y="21709"/>
                  </a:lnTo>
                  <a:lnTo>
                    <a:pt x="1647233" y="16788"/>
                  </a:lnTo>
                  <a:lnTo>
                    <a:pt x="1590759" y="12513"/>
                  </a:lnTo>
                  <a:lnTo>
                    <a:pt x="1533871" y="8874"/>
                  </a:lnTo>
                  <a:lnTo>
                    <a:pt x="1476664" y="5866"/>
                  </a:lnTo>
                  <a:lnTo>
                    <a:pt x="1419232" y="3482"/>
                  </a:lnTo>
                  <a:lnTo>
                    <a:pt x="1361667" y="1714"/>
                  </a:lnTo>
                  <a:lnTo>
                    <a:pt x="1304064" y="556"/>
                  </a:lnTo>
                  <a:lnTo>
                    <a:pt x="1246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544" y="2286024"/>
              <a:ext cx="2442210" cy="1072515"/>
            </a:xfrm>
            <a:custGeom>
              <a:avLst/>
              <a:gdLst/>
              <a:ahLst/>
              <a:cxnLst/>
              <a:rect l="l" t="t" r="r" b="b"/>
              <a:pathLst>
                <a:path w="2442209" h="1072514">
                  <a:moveTo>
                    <a:pt x="224029" y="1072490"/>
                  </a:moveTo>
                  <a:lnTo>
                    <a:pt x="683515" y="506070"/>
                  </a:lnTo>
                  <a:lnTo>
                    <a:pt x="609703" y="497488"/>
                  </a:lnTo>
                  <a:lnTo>
                    <a:pt x="539676" y="487970"/>
                  </a:lnTo>
                  <a:lnTo>
                    <a:pt x="473517" y="477568"/>
                  </a:lnTo>
                  <a:lnTo>
                    <a:pt x="411310" y="466336"/>
                  </a:lnTo>
                  <a:lnTo>
                    <a:pt x="353136" y="454327"/>
                  </a:lnTo>
                  <a:lnTo>
                    <a:pt x="299080" y="441594"/>
                  </a:lnTo>
                  <a:lnTo>
                    <a:pt x="249224" y="428191"/>
                  </a:lnTo>
                  <a:lnTo>
                    <a:pt x="203652" y="414169"/>
                  </a:lnTo>
                  <a:lnTo>
                    <a:pt x="162447" y="399584"/>
                  </a:lnTo>
                  <a:lnTo>
                    <a:pt x="125692" y="384487"/>
                  </a:lnTo>
                  <a:lnTo>
                    <a:pt x="65866" y="352972"/>
                  </a:lnTo>
                  <a:lnTo>
                    <a:pt x="24838" y="320049"/>
                  </a:lnTo>
                  <a:lnTo>
                    <a:pt x="3274" y="286144"/>
                  </a:lnTo>
                  <a:lnTo>
                    <a:pt x="0" y="268956"/>
                  </a:lnTo>
                  <a:lnTo>
                    <a:pt x="1840" y="251681"/>
                  </a:lnTo>
                  <a:lnTo>
                    <a:pt x="21201" y="217087"/>
                  </a:lnTo>
                  <a:lnTo>
                    <a:pt x="62022" y="182785"/>
                  </a:lnTo>
                  <a:lnTo>
                    <a:pt x="124969" y="149200"/>
                  </a:lnTo>
                  <a:lnTo>
                    <a:pt x="183617" y="126027"/>
                  </a:lnTo>
                  <a:lnTo>
                    <a:pt x="251089" y="104620"/>
                  </a:lnTo>
                  <a:lnTo>
                    <a:pt x="287900" y="94596"/>
                  </a:lnTo>
                  <a:lnTo>
                    <a:pt x="326636" y="85035"/>
                  </a:lnTo>
                  <a:lnTo>
                    <a:pt x="367205" y="75943"/>
                  </a:lnTo>
                  <a:lnTo>
                    <a:pt x="409511" y="67328"/>
                  </a:lnTo>
                  <a:lnTo>
                    <a:pt x="453463" y="59196"/>
                  </a:lnTo>
                  <a:lnTo>
                    <a:pt x="498966" y="51555"/>
                  </a:lnTo>
                  <a:lnTo>
                    <a:pt x="545927" y="44411"/>
                  </a:lnTo>
                  <a:lnTo>
                    <a:pt x="594251" y="37772"/>
                  </a:lnTo>
                  <a:lnTo>
                    <a:pt x="643847" y="31644"/>
                  </a:lnTo>
                  <a:lnTo>
                    <a:pt x="694620" y="26035"/>
                  </a:lnTo>
                  <a:lnTo>
                    <a:pt x="746476" y="20951"/>
                  </a:lnTo>
                  <a:lnTo>
                    <a:pt x="799323" y="16400"/>
                  </a:lnTo>
                  <a:lnTo>
                    <a:pt x="853066" y="12388"/>
                  </a:lnTo>
                  <a:lnTo>
                    <a:pt x="907612" y="8923"/>
                  </a:lnTo>
                  <a:lnTo>
                    <a:pt x="962868" y="6011"/>
                  </a:lnTo>
                  <a:lnTo>
                    <a:pt x="1018739" y="3660"/>
                  </a:lnTo>
                  <a:lnTo>
                    <a:pt x="1075133" y="1876"/>
                  </a:lnTo>
                  <a:lnTo>
                    <a:pt x="1131956" y="667"/>
                  </a:lnTo>
                  <a:lnTo>
                    <a:pt x="1189115" y="39"/>
                  </a:lnTo>
                  <a:lnTo>
                    <a:pt x="1246515" y="0"/>
                  </a:lnTo>
                  <a:lnTo>
                    <a:pt x="1304064" y="556"/>
                  </a:lnTo>
                  <a:lnTo>
                    <a:pt x="1361667" y="1714"/>
                  </a:lnTo>
                  <a:lnTo>
                    <a:pt x="1419232" y="3482"/>
                  </a:lnTo>
                  <a:lnTo>
                    <a:pt x="1476664" y="5866"/>
                  </a:lnTo>
                  <a:lnTo>
                    <a:pt x="1533871" y="8874"/>
                  </a:lnTo>
                  <a:lnTo>
                    <a:pt x="1590759" y="12513"/>
                  </a:lnTo>
                  <a:lnTo>
                    <a:pt x="1647233" y="16788"/>
                  </a:lnTo>
                  <a:lnTo>
                    <a:pt x="1703201" y="21709"/>
                  </a:lnTo>
                  <a:lnTo>
                    <a:pt x="1758570" y="27280"/>
                  </a:lnTo>
                  <a:lnTo>
                    <a:pt x="1832366" y="35863"/>
                  </a:lnTo>
                  <a:lnTo>
                    <a:pt x="1902379" y="45381"/>
                  </a:lnTo>
                  <a:lnTo>
                    <a:pt x="1968525" y="55783"/>
                  </a:lnTo>
                  <a:lnTo>
                    <a:pt x="2030721" y="67015"/>
                  </a:lnTo>
                  <a:lnTo>
                    <a:pt x="2088884" y="79024"/>
                  </a:lnTo>
                  <a:lnTo>
                    <a:pt x="2142931" y="91757"/>
                  </a:lnTo>
                  <a:lnTo>
                    <a:pt x="2192778" y="105160"/>
                  </a:lnTo>
                  <a:lnTo>
                    <a:pt x="2238343" y="119181"/>
                  </a:lnTo>
                  <a:lnTo>
                    <a:pt x="2279541" y="133767"/>
                  </a:lnTo>
                  <a:lnTo>
                    <a:pt x="2316290" y="148864"/>
                  </a:lnTo>
                  <a:lnTo>
                    <a:pt x="2376107" y="180379"/>
                  </a:lnTo>
                  <a:lnTo>
                    <a:pt x="2417128" y="213302"/>
                  </a:lnTo>
                  <a:lnTo>
                    <a:pt x="2438688" y="247207"/>
                  </a:lnTo>
                  <a:lnTo>
                    <a:pt x="2441961" y="264395"/>
                  </a:lnTo>
                  <a:lnTo>
                    <a:pt x="2440119" y="281669"/>
                  </a:lnTo>
                  <a:lnTo>
                    <a:pt x="2420757" y="316264"/>
                  </a:lnTo>
                  <a:lnTo>
                    <a:pt x="2379936" y="350566"/>
                  </a:lnTo>
                  <a:lnTo>
                    <a:pt x="2316989" y="384150"/>
                  </a:lnTo>
                  <a:lnTo>
                    <a:pt x="2257154" y="407711"/>
                  </a:lnTo>
                  <a:lnTo>
                    <a:pt x="2187701" y="429562"/>
                  </a:lnTo>
                  <a:lnTo>
                    <a:pt x="2149607" y="439815"/>
                  </a:lnTo>
                  <a:lnTo>
                    <a:pt x="2109397" y="449605"/>
                  </a:lnTo>
                  <a:lnTo>
                    <a:pt x="2067167" y="458919"/>
                  </a:lnTo>
                  <a:lnTo>
                    <a:pt x="2023012" y="467745"/>
                  </a:lnTo>
                  <a:lnTo>
                    <a:pt x="1977029" y="476070"/>
                  </a:lnTo>
                  <a:lnTo>
                    <a:pt x="1929313" y="483884"/>
                  </a:lnTo>
                  <a:lnTo>
                    <a:pt x="1879962" y="491173"/>
                  </a:lnTo>
                  <a:lnTo>
                    <a:pt x="1829071" y="497926"/>
                  </a:lnTo>
                  <a:lnTo>
                    <a:pt x="1776735" y="504131"/>
                  </a:lnTo>
                  <a:lnTo>
                    <a:pt x="1723052" y="509776"/>
                  </a:lnTo>
                  <a:lnTo>
                    <a:pt x="1668117" y="514847"/>
                  </a:lnTo>
                  <a:lnTo>
                    <a:pt x="1612026" y="519335"/>
                  </a:lnTo>
                  <a:lnTo>
                    <a:pt x="1554875" y="523225"/>
                  </a:lnTo>
                  <a:lnTo>
                    <a:pt x="1496761" y="526507"/>
                  </a:lnTo>
                  <a:lnTo>
                    <a:pt x="1437780" y="529169"/>
                  </a:lnTo>
                  <a:lnTo>
                    <a:pt x="1378026" y="531197"/>
                  </a:lnTo>
                  <a:lnTo>
                    <a:pt x="1317598" y="532580"/>
                  </a:lnTo>
                  <a:lnTo>
                    <a:pt x="1256590" y="533307"/>
                  </a:lnTo>
                  <a:lnTo>
                    <a:pt x="1195100" y="533364"/>
                  </a:lnTo>
                  <a:lnTo>
                    <a:pt x="1133222" y="532740"/>
                  </a:lnTo>
                  <a:lnTo>
                    <a:pt x="224029" y="1072490"/>
                  </a:lnTo>
                  <a:close/>
                </a:path>
              </a:pathLst>
            </a:custGeom>
            <a:ln w="12192">
              <a:solidFill>
                <a:srgbClr val="9B31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27291" y="2315083"/>
            <a:ext cx="1189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Repetition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752726"/>
            <a:ext cx="6027420" cy="2447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4805" indent="-332740">
              <a:lnSpc>
                <a:spcPts val="3265"/>
              </a:lnSpc>
              <a:buSzPct val="107692"/>
              <a:buAutoNum type="arabicPeriod"/>
              <a:tabLst>
                <a:tab pos="345440" algn="l"/>
              </a:tabLst>
            </a:pPr>
            <a:r>
              <a:rPr sz="2600" spc="-10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fudge (for </a:t>
            </a:r>
            <a:r>
              <a:rPr sz="2600" dirty="0">
                <a:latin typeface="Perpetua"/>
                <a:cs typeface="Perpetua"/>
              </a:rPr>
              <a:t>algorithm see </a:t>
            </a:r>
            <a:r>
              <a:rPr sz="2600" spc="-10" dirty="0">
                <a:latin typeface="Perpetua"/>
                <a:cs typeface="Perpetua"/>
              </a:rPr>
              <a:t>previous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slide).</a:t>
            </a:r>
            <a:endParaRPr sz="2600">
              <a:latin typeface="Perpetua"/>
              <a:cs typeface="Perpetua"/>
            </a:endParaRPr>
          </a:p>
          <a:p>
            <a:pPr marL="321310" indent="-309245">
              <a:lnSpc>
                <a:spcPct val="100000"/>
              </a:lnSpc>
              <a:spcBef>
                <a:spcPts val="2225"/>
              </a:spcBef>
              <a:buAutoNum type="arabicPeriod"/>
              <a:tabLst>
                <a:tab pos="321945" algn="l"/>
              </a:tabLst>
            </a:pPr>
            <a:r>
              <a:rPr sz="2600" spc="-10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chocolate </a:t>
            </a:r>
            <a:r>
              <a:rPr sz="2600" spc="10" dirty="0">
                <a:latin typeface="Perpetua"/>
                <a:cs typeface="Perpetua"/>
              </a:rPr>
              <a:t>chip </a:t>
            </a:r>
            <a:r>
              <a:rPr sz="2600" spc="-10" dirty="0">
                <a:latin typeface="Perpetua"/>
                <a:cs typeface="Perpetua"/>
              </a:rPr>
              <a:t>cookies.</a:t>
            </a:r>
            <a:endParaRPr sz="2600">
              <a:latin typeface="Perpetua"/>
              <a:cs typeface="Perpetua"/>
            </a:endParaRPr>
          </a:p>
          <a:p>
            <a:pPr marL="321310" indent="-309245">
              <a:lnSpc>
                <a:spcPct val="100000"/>
              </a:lnSpc>
              <a:spcBef>
                <a:spcPts val="2165"/>
              </a:spcBef>
              <a:buAutoNum type="arabicPeriod"/>
              <a:tabLst>
                <a:tab pos="321945" algn="l"/>
              </a:tabLst>
            </a:pPr>
            <a:r>
              <a:rPr sz="2600" spc="-10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peanut </a:t>
            </a:r>
            <a:r>
              <a:rPr sz="2600" spc="-10" dirty="0">
                <a:latin typeface="Perpetua"/>
                <a:cs typeface="Perpetua"/>
              </a:rPr>
              <a:t>butter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bars.</a:t>
            </a:r>
            <a:endParaRPr sz="2600">
              <a:latin typeface="Perpetua"/>
              <a:cs typeface="Perpetua"/>
            </a:endParaRPr>
          </a:p>
          <a:p>
            <a:pPr marL="295910" indent="-283845">
              <a:lnSpc>
                <a:spcPct val="100000"/>
              </a:lnSpc>
              <a:spcBef>
                <a:spcPts val="2160"/>
              </a:spcBef>
              <a:buAutoNum type="arabicPeriod"/>
              <a:tabLst>
                <a:tab pos="296545" algn="l"/>
              </a:tabLst>
            </a:pPr>
            <a:r>
              <a:rPr sz="2600" dirty="0">
                <a:latin typeface="Perpetua"/>
                <a:cs typeface="Perpetua"/>
              </a:rPr>
              <a:t>Arrange </a:t>
            </a:r>
            <a:r>
              <a:rPr sz="2600" spc="-15" dirty="0">
                <a:latin typeface="Perpetua"/>
                <a:cs typeface="Perpetua"/>
              </a:rPr>
              <a:t>fudge, </a:t>
            </a:r>
            <a:r>
              <a:rPr sz="2600" dirty="0">
                <a:latin typeface="Perpetua"/>
                <a:cs typeface="Perpetua"/>
              </a:rPr>
              <a:t>cookies,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10" dirty="0">
                <a:latin typeface="Perpetua"/>
                <a:cs typeface="Perpetua"/>
              </a:rPr>
              <a:t>bars </a:t>
            </a:r>
            <a:r>
              <a:rPr sz="2600" dirty="0">
                <a:latin typeface="Perpetua"/>
                <a:cs typeface="Perpetua"/>
              </a:rPr>
              <a:t>on a </a:t>
            </a:r>
            <a:r>
              <a:rPr sz="2600" spc="-5" dirty="0">
                <a:latin typeface="Perpetua"/>
                <a:cs typeface="Perpetua"/>
              </a:rPr>
              <a:t>large</a:t>
            </a:r>
            <a:r>
              <a:rPr sz="2600" spc="-220" dirty="0">
                <a:latin typeface="Perpetua"/>
                <a:cs typeface="Perpetua"/>
              </a:rPr>
              <a:t> </a:t>
            </a:r>
            <a:r>
              <a:rPr sz="2600" spc="-75" dirty="0">
                <a:latin typeface="Perpetua"/>
                <a:cs typeface="Perpetua"/>
              </a:rPr>
              <a:t>tray.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57360" y="685733"/>
            <a:ext cx="4648835" cy="1136015"/>
          </a:xfrm>
          <a:custGeom>
            <a:avLst/>
            <a:gdLst/>
            <a:ahLst/>
            <a:cxnLst/>
            <a:rect l="l" t="t" r="r" b="b"/>
            <a:pathLst>
              <a:path w="4648834" h="1136014">
                <a:moveTo>
                  <a:pt x="898764" y="1135954"/>
                </a:moveTo>
                <a:lnTo>
                  <a:pt x="1226043" y="716854"/>
                </a:lnTo>
                <a:lnTo>
                  <a:pt x="1150014" y="709872"/>
                </a:lnTo>
                <a:lnTo>
                  <a:pt x="1076195" y="702495"/>
                </a:lnTo>
                <a:lnTo>
                  <a:pt x="1004610" y="694735"/>
                </a:lnTo>
                <a:lnTo>
                  <a:pt x="935282" y="686604"/>
                </a:lnTo>
                <a:lnTo>
                  <a:pt x="868233" y="678116"/>
                </a:lnTo>
                <a:lnTo>
                  <a:pt x="803487" y="669283"/>
                </a:lnTo>
                <a:lnTo>
                  <a:pt x="741066" y="660116"/>
                </a:lnTo>
                <a:lnTo>
                  <a:pt x="680993" y="650630"/>
                </a:lnTo>
                <a:lnTo>
                  <a:pt x="623292" y="640835"/>
                </a:lnTo>
                <a:lnTo>
                  <a:pt x="567984" y="630745"/>
                </a:lnTo>
                <a:lnTo>
                  <a:pt x="515095" y="620371"/>
                </a:lnTo>
                <a:lnTo>
                  <a:pt x="464645" y="609728"/>
                </a:lnTo>
                <a:lnTo>
                  <a:pt x="416658" y="598826"/>
                </a:lnTo>
                <a:lnTo>
                  <a:pt x="371158" y="587679"/>
                </a:lnTo>
                <a:lnTo>
                  <a:pt x="328166" y="576298"/>
                </a:lnTo>
                <a:lnTo>
                  <a:pt x="287707" y="564698"/>
                </a:lnTo>
                <a:lnTo>
                  <a:pt x="249803" y="552889"/>
                </a:lnTo>
                <a:lnTo>
                  <a:pt x="181751" y="528696"/>
                </a:lnTo>
                <a:lnTo>
                  <a:pt x="124195" y="503821"/>
                </a:lnTo>
                <a:lnTo>
                  <a:pt x="77318" y="478363"/>
                </a:lnTo>
                <a:lnTo>
                  <a:pt x="41304" y="452422"/>
                </a:lnTo>
                <a:lnTo>
                  <a:pt x="8052" y="412824"/>
                </a:lnTo>
                <a:lnTo>
                  <a:pt x="0" y="386112"/>
                </a:lnTo>
                <a:lnTo>
                  <a:pt x="276" y="372700"/>
                </a:lnTo>
                <a:lnTo>
                  <a:pt x="18595" y="332388"/>
                </a:lnTo>
                <a:lnTo>
                  <a:pt x="63629" y="292224"/>
                </a:lnTo>
                <a:lnTo>
                  <a:pt x="108800" y="265697"/>
                </a:lnTo>
                <a:lnTo>
                  <a:pt x="166303" y="239486"/>
                </a:lnTo>
                <a:lnTo>
                  <a:pt x="236322" y="213691"/>
                </a:lnTo>
                <a:lnTo>
                  <a:pt x="276083" y="200980"/>
                </a:lnTo>
                <a:lnTo>
                  <a:pt x="336240" y="183672"/>
                </a:lnTo>
                <a:lnTo>
                  <a:pt x="401042" y="167074"/>
                </a:lnTo>
                <a:lnTo>
                  <a:pt x="470280" y="151197"/>
                </a:lnTo>
                <a:lnTo>
                  <a:pt x="543748" y="136050"/>
                </a:lnTo>
                <a:lnTo>
                  <a:pt x="582003" y="128753"/>
                </a:lnTo>
                <a:lnTo>
                  <a:pt x="621237" y="121643"/>
                </a:lnTo>
                <a:lnTo>
                  <a:pt x="661426" y="114721"/>
                </a:lnTo>
                <a:lnTo>
                  <a:pt x="702542" y="107988"/>
                </a:lnTo>
                <a:lnTo>
                  <a:pt x="744559" y="101445"/>
                </a:lnTo>
                <a:lnTo>
                  <a:pt x="787453" y="95093"/>
                </a:lnTo>
                <a:lnTo>
                  <a:pt x="831197" y="88935"/>
                </a:lnTo>
                <a:lnTo>
                  <a:pt x="875765" y="82970"/>
                </a:lnTo>
                <a:lnTo>
                  <a:pt x="921131" y="77202"/>
                </a:lnTo>
                <a:lnTo>
                  <a:pt x="967269" y="71629"/>
                </a:lnTo>
                <a:lnTo>
                  <a:pt x="1014154" y="66255"/>
                </a:lnTo>
                <a:lnTo>
                  <a:pt x="1061759" y="61080"/>
                </a:lnTo>
                <a:lnTo>
                  <a:pt x="1110059" y="56106"/>
                </a:lnTo>
                <a:lnTo>
                  <a:pt x="1159027" y="51333"/>
                </a:lnTo>
                <a:lnTo>
                  <a:pt x="1208638" y="46764"/>
                </a:lnTo>
                <a:lnTo>
                  <a:pt x="1258866" y="42399"/>
                </a:lnTo>
                <a:lnTo>
                  <a:pt x="1309684" y="38239"/>
                </a:lnTo>
                <a:lnTo>
                  <a:pt x="1361068" y="34287"/>
                </a:lnTo>
                <a:lnTo>
                  <a:pt x="1412991" y="30543"/>
                </a:lnTo>
                <a:lnTo>
                  <a:pt x="1465427" y="27008"/>
                </a:lnTo>
                <a:lnTo>
                  <a:pt x="1518350" y="23684"/>
                </a:lnTo>
                <a:lnTo>
                  <a:pt x="1571735" y="20573"/>
                </a:lnTo>
                <a:lnTo>
                  <a:pt x="1625554" y="17675"/>
                </a:lnTo>
                <a:lnTo>
                  <a:pt x="1679784" y="14991"/>
                </a:lnTo>
                <a:lnTo>
                  <a:pt x="1734397" y="12523"/>
                </a:lnTo>
                <a:lnTo>
                  <a:pt x="1789368" y="10273"/>
                </a:lnTo>
                <a:lnTo>
                  <a:pt x="1844670" y="8241"/>
                </a:lnTo>
                <a:lnTo>
                  <a:pt x="1900278" y="6429"/>
                </a:lnTo>
                <a:lnTo>
                  <a:pt x="1956167" y="4838"/>
                </a:lnTo>
                <a:lnTo>
                  <a:pt x="2012309" y="3469"/>
                </a:lnTo>
                <a:lnTo>
                  <a:pt x="2068680" y="2325"/>
                </a:lnTo>
                <a:lnTo>
                  <a:pt x="2125252" y="1405"/>
                </a:lnTo>
                <a:lnTo>
                  <a:pt x="2182001" y="711"/>
                </a:lnTo>
                <a:lnTo>
                  <a:pt x="2238900" y="244"/>
                </a:lnTo>
                <a:lnTo>
                  <a:pt x="2295924" y="7"/>
                </a:lnTo>
                <a:lnTo>
                  <a:pt x="2353047" y="0"/>
                </a:lnTo>
                <a:lnTo>
                  <a:pt x="2410242" y="223"/>
                </a:lnTo>
                <a:lnTo>
                  <a:pt x="2467483" y="680"/>
                </a:lnTo>
                <a:lnTo>
                  <a:pt x="2524746" y="1370"/>
                </a:lnTo>
                <a:lnTo>
                  <a:pt x="2582003" y="2296"/>
                </a:lnTo>
                <a:lnTo>
                  <a:pt x="2639230" y="3458"/>
                </a:lnTo>
                <a:lnTo>
                  <a:pt x="2696399" y="4858"/>
                </a:lnTo>
                <a:lnTo>
                  <a:pt x="2753486" y="6497"/>
                </a:lnTo>
                <a:lnTo>
                  <a:pt x="2810464" y="8376"/>
                </a:lnTo>
                <a:lnTo>
                  <a:pt x="2867308" y="10497"/>
                </a:lnTo>
                <a:lnTo>
                  <a:pt x="2923990" y="12861"/>
                </a:lnTo>
                <a:lnTo>
                  <a:pt x="2980487" y="15469"/>
                </a:lnTo>
                <a:lnTo>
                  <a:pt x="3036771" y="18323"/>
                </a:lnTo>
                <a:lnTo>
                  <a:pt x="3092816" y="21423"/>
                </a:lnTo>
                <a:lnTo>
                  <a:pt x="3148598" y="24771"/>
                </a:lnTo>
                <a:lnTo>
                  <a:pt x="3204089" y="28369"/>
                </a:lnTo>
                <a:lnTo>
                  <a:pt x="3259264" y="32217"/>
                </a:lnTo>
                <a:lnTo>
                  <a:pt x="3314097" y="36317"/>
                </a:lnTo>
                <a:lnTo>
                  <a:pt x="3368563" y="40670"/>
                </a:lnTo>
                <a:lnTo>
                  <a:pt x="3422635" y="45278"/>
                </a:lnTo>
                <a:lnTo>
                  <a:pt x="3498663" y="52259"/>
                </a:lnTo>
                <a:lnTo>
                  <a:pt x="3572482" y="59636"/>
                </a:lnTo>
                <a:lnTo>
                  <a:pt x="3644067" y="67395"/>
                </a:lnTo>
                <a:lnTo>
                  <a:pt x="3713395" y="75524"/>
                </a:lnTo>
                <a:lnTo>
                  <a:pt x="3780444" y="84011"/>
                </a:lnTo>
                <a:lnTo>
                  <a:pt x="3845190" y="92843"/>
                </a:lnTo>
                <a:lnTo>
                  <a:pt x="3907611" y="102007"/>
                </a:lnTo>
                <a:lnTo>
                  <a:pt x="3967684" y="111492"/>
                </a:lnTo>
                <a:lnTo>
                  <a:pt x="4025385" y="121284"/>
                </a:lnTo>
                <a:lnTo>
                  <a:pt x="4080693" y="131372"/>
                </a:lnTo>
                <a:lnTo>
                  <a:pt x="4133582" y="141742"/>
                </a:lnTo>
                <a:lnTo>
                  <a:pt x="4184032" y="152383"/>
                </a:lnTo>
                <a:lnTo>
                  <a:pt x="4232019" y="163282"/>
                </a:lnTo>
                <a:lnTo>
                  <a:pt x="4277519" y="174426"/>
                </a:lnTo>
                <a:lnTo>
                  <a:pt x="4320511" y="185804"/>
                </a:lnTo>
                <a:lnTo>
                  <a:pt x="4360970" y="197402"/>
                </a:lnTo>
                <a:lnTo>
                  <a:pt x="4398874" y="209208"/>
                </a:lnTo>
                <a:lnTo>
                  <a:pt x="4466926" y="233395"/>
                </a:lnTo>
                <a:lnTo>
                  <a:pt x="4524482" y="258265"/>
                </a:lnTo>
                <a:lnTo>
                  <a:pt x="4571359" y="283718"/>
                </a:lnTo>
                <a:lnTo>
                  <a:pt x="4607374" y="309656"/>
                </a:lnTo>
                <a:lnTo>
                  <a:pt x="4640625" y="349252"/>
                </a:lnTo>
                <a:lnTo>
                  <a:pt x="4648678" y="375963"/>
                </a:lnTo>
                <a:lnTo>
                  <a:pt x="4648401" y="389376"/>
                </a:lnTo>
                <a:lnTo>
                  <a:pt x="4630082" y="429692"/>
                </a:lnTo>
                <a:lnTo>
                  <a:pt x="4585048" y="469864"/>
                </a:lnTo>
                <a:lnTo>
                  <a:pt x="4539877" y="496400"/>
                </a:lnTo>
                <a:lnTo>
                  <a:pt x="4482374" y="522623"/>
                </a:lnTo>
                <a:lnTo>
                  <a:pt x="4412355" y="548433"/>
                </a:lnTo>
                <a:lnTo>
                  <a:pt x="4372595" y="561152"/>
                </a:lnTo>
                <a:lnTo>
                  <a:pt x="4311617" y="578660"/>
                </a:lnTo>
                <a:lnTo>
                  <a:pt x="4245612" y="595492"/>
                </a:lnTo>
                <a:lnTo>
                  <a:pt x="4174789" y="611628"/>
                </a:lnTo>
                <a:lnTo>
                  <a:pt x="4099363" y="627051"/>
                </a:lnTo>
                <a:lnTo>
                  <a:pt x="4059989" y="634488"/>
                </a:lnTo>
                <a:lnTo>
                  <a:pt x="4019543" y="641741"/>
                </a:lnTo>
                <a:lnTo>
                  <a:pt x="3978053" y="648805"/>
                </a:lnTo>
                <a:lnTo>
                  <a:pt x="3935543" y="655680"/>
                </a:lnTo>
                <a:lnTo>
                  <a:pt x="3892042" y="662362"/>
                </a:lnTo>
                <a:lnTo>
                  <a:pt x="3847574" y="668849"/>
                </a:lnTo>
                <a:lnTo>
                  <a:pt x="3802168" y="675139"/>
                </a:lnTo>
                <a:lnTo>
                  <a:pt x="3755849" y="681230"/>
                </a:lnTo>
                <a:lnTo>
                  <a:pt x="3708643" y="687120"/>
                </a:lnTo>
                <a:lnTo>
                  <a:pt x="3660578" y="692805"/>
                </a:lnTo>
                <a:lnTo>
                  <a:pt x="3611680" y="698284"/>
                </a:lnTo>
                <a:lnTo>
                  <a:pt x="3561974" y="703555"/>
                </a:lnTo>
                <a:lnTo>
                  <a:pt x="3511489" y="708615"/>
                </a:lnTo>
                <a:lnTo>
                  <a:pt x="3460250" y="713461"/>
                </a:lnTo>
                <a:lnTo>
                  <a:pt x="3408284" y="718092"/>
                </a:lnTo>
                <a:lnTo>
                  <a:pt x="3355616" y="722505"/>
                </a:lnTo>
                <a:lnTo>
                  <a:pt x="3302275" y="726698"/>
                </a:lnTo>
                <a:lnTo>
                  <a:pt x="3248285" y="730668"/>
                </a:lnTo>
                <a:lnTo>
                  <a:pt x="3193675" y="734413"/>
                </a:lnTo>
                <a:lnTo>
                  <a:pt x="3138469" y="737932"/>
                </a:lnTo>
                <a:lnTo>
                  <a:pt x="3082696" y="741221"/>
                </a:lnTo>
                <a:lnTo>
                  <a:pt x="3026380" y="744278"/>
                </a:lnTo>
                <a:lnTo>
                  <a:pt x="2969549" y="747101"/>
                </a:lnTo>
                <a:lnTo>
                  <a:pt x="2912229" y="749687"/>
                </a:lnTo>
                <a:lnTo>
                  <a:pt x="2854447" y="752035"/>
                </a:lnTo>
                <a:lnTo>
                  <a:pt x="2796229" y="754142"/>
                </a:lnTo>
                <a:lnTo>
                  <a:pt x="2737602" y="756006"/>
                </a:lnTo>
                <a:lnTo>
                  <a:pt x="2678592" y="757623"/>
                </a:lnTo>
                <a:lnTo>
                  <a:pt x="2619225" y="758993"/>
                </a:lnTo>
                <a:lnTo>
                  <a:pt x="2559529" y="760113"/>
                </a:lnTo>
                <a:lnTo>
                  <a:pt x="2499529" y="760980"/>
                </a:lnTo>
                <a:lnTo>
                  <a:pt x="2439252" y="761592"/>
                </a:lnTo>
                <a:lnTo>
                  <a:pt x="2378725" y="761946"/>
                </a:lnTo>
                <a:lnTo>
                  <a:pt x="2317974" y="762041"/>
                </a:lnTo>
                <a:lnTo>
                  <a:pt x="2257025" y="761875"/>
                </a:lnTo>
                <a:lnTo>
                  <a:pt x="2195905" y="761444"/>
                </a:lnTo>
                <a:lnTo>
                  <a:pt x="2134641" y="760746"/>
                </a:lnTo>
                <a:lnTo>
                  <a:pt x="2073260" y="759780"/>
                </a:lnTo>
                <a:lnTo>
                  <a:pt x="898764" y="1135954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54295" y="645921"/>
            <a:ext cx="165353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 marR="5080" indent="-91440">
              <a:lnSpc>
                <a:spcPct val="100000"/>
              </a:lnSpc>
              <a:spcBef>
                <a:spcPts val="100"/>
              </a:spcBef>
            </a:pPr>
            <a:r>
              <a:rPr sz="2400" i="0" spc="-5" dirty="0">
                <a:latin typeface="Perpetua"/>
                <a:cs typeface="Perpetua"/>
              </a:rPr>
              <a:t>Steps </a:t>
            </a:r>
            <a:r>
              <a:rPr sz="2400" i="0" dirty="0">
                <a:latin typeface="Perpetua"/>
                <a:cs typeface="Perpetua"/>
              </a:rPr>
              <a:t>1to 3</a:t>
            </a:r>
            <a:r>
              <a:rPr sz="2400" i="0" spc="-85" dirty="0">
                <a:latin typeface="Perpetua"/>
                <a:cs typeface="Perpetua"/>
              </a:rPr>
              <a:t> </a:t>
            </a:r>
            <a:r>
              <a:rPr sz="2400" i="0" dirty="0">
                <a:latin typeface="Perpetua"/>
                <a:cs typeface="Perpetua"/>
              </a:rPr>
              <a:t>has  subalgorithm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28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140" y="319005"/>
            <a:ext cx="7273925" cy="61785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800" i="0" spc="-5" dirty="0">
                <a:latin typeface="Perpetua"/>
                <a:cs typeface="Perpetua"/>
              </a:rPr>
              <a:t>The </a:t>
            </a:r>
            <a:r>
              <a:rPr sz="1800" i="0" spc="-10" dirty="0">
                <a:latin typeface="Perpetua"/>
                <a:cs typeface="Perpetua"/>
              </a:rPr>
              <a:t>following </a:t>
            </a:r>
            <a:r>
              <a:rPr sz="1800" i="0" dirty="0">
                <a:latin typeface="Perpetua"/>
                <a:cs typeface="Perpetua"/>
              </a:rPr>
              <a:t>algorithms </a:t>
            </a:r>
            <a:r>
              <a:rPr sz="1800" i="0" spc="10" dirty="0">
                <a:latin typeface="Perpetua"/>
                <a:cs typeface="Perpetua"/>
              </a:rPr>
              <a:t>each </a:t>
            </a:r>
            <a:r>
              <a:rPr sz="1800" i="0" dirty="0">
                <a:latin typeface="Perpetua"/>
                <a:cs typeface="Perpetua"/>
              </a:rPr>
              <a:t>use </a:t>
            </a:r>
            <a:r>
              <a:rPr sz="1800" i="0" spc="-5" dirty="0">
                <a:latin typeface="Perpetua"/>
                <a:cs typeface="Perpetua"/>
              </a:rPr>
              <a:t>data</a:t>
            </a:r>
            <a:r>
              <a:rPr sz="1800" i="0" spc="-75" dirty="0">
                <a:latin typeface="Perpetua"/>
                <a:cs typeface="Perpetua"/>
              </a:rPr>
              <a:t> </a:t>
            </a:r>
            <a:r>
              <a:rPr sz="1800" i="0" spc="-10" dirty="0">
                <a:latin typeface="Perpetua"/>
                <a:cs typeface="Perpetua"/>
              </a:rPr>
              <a:t>values.</a:t>
            </a:r>
            <a:endParaRPr sz="1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800" i="0" spc="-5" dirty="0">
                <a:latin typeface="Perpetua"/>
                <a:cs typeface="Perpetua"/>
              </a:rPr>
              <a:t>Can </a:t>
            </a:r>
            <a:r>
              <a:rPr sz="1800" i="0" spc="-10" dirty="0">
                <a:latin typeface="Perpetua"/>
                <a:cs typeface="Perpetua"/>
              </a:rPr>
              <a:t>you </a:t>
            </a:r>
            <a:r>
              <a:rPr sz="1800" i="0" spc="-15" dirty="0">
                <a:latin typeface="Perpetua"/>
                <a:cs typeface="Perpetua"/>
              </a:rPr>
              <a:t>work </a:t>
            </a:r>
            <a:r>
              <a:rPr sz="1800" i="0" dirty="0">
                <a:latin typeface="Perpetua"/>
                <a:cs typeface="Perpetua"/>
              </a:rPr>
              <a:t>out </a:t>
            </a:r>
            <a:r>
              <a:rPr sz="1800" i="0" spc="5" dirty="0">
                <a:latin typeface="Perpetua"/>
                <a:cs typeface="Perpetua"/>
              </a:rPr>
              <a:t>which </a:t>
            </a:r>
            <a:r>
              <a:rPr sz="1800" i="0" dirty="0">
                <a:latin typeface="Perpetua"/>
                <a:cs typeface="Perpetua"/>
              </a:rPr>
              <a:t>of these is using </a:t>
            </a:r>
            <a:r>
              <a:rPr sz="1800" i="0" spc="-5" dirty="0">
                <a:latin typeface="Perpetua"/>
                <a:cs typeface="Perpetua"/>
              </a:rPr>
              <a:t>fixed values </a:t>
            </a:r>
            <a:r>
              <a:rPr sz="1800" i="0" dirty="0">
                <a:latin typeface="Perpetua"/>
                <a:cs typeface="Perpetua"/>
              </a:rPr>
              <a:t>and </a:t>
            </a:r>
            <a:r>
              <a:rPr sz="1800" i="0" spc="5" dirty="0">
                <a:latin typeface="Perpetua"/>
                <a:cs typeface="Perpetua"/>
              </a:rPr>
              <a:t>which </a:t>
            </a:r>
            <a:r>
              <a:rPr sz="1800" i="0" dirty="0">
                <a:latin typeface="Perpetua"/>
                <a:cs typeface="Perpetua"/>
              </a:rPr>
              <a:t>is using </a:t>
            </a:r>
            <a:r>
              <a:rPr sz="1800" i="0" spc="-5" dirty="0">
                <a:latin typeface="Perpetua"/>
                <a:cs typeface="Perpetua"/>
              </a:rPr>
              <a:t>variable</a:t>
            </a:r>
            <a:r>
              <a:rPr sz="1800" i="0" spc="-215" dirty="0">
                <a:latin typeface="Perpetua"/>
                <a:cs typeface="Perpetua"/>
              </a:rPr>
              <a:t> </a:t>
            </a:r>
            <a:r>
              <a:rPr sz="1800" i="0" spc="-5" dirty="0">
                <a:latin typeface="Perpetua"/>
                <a:cs typeface="Perpetua"/>
              </a:rPr>
              <a:t>values?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1207086"/>
            <a:ext cx="4032250" cy="35744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2486660" indent="-274320">
              <a:lnSpc>
                <a:spcPct val="107800"/>
              </a:lnSpc>
              <a:spcBef>
                <a:spcPts val="95"/>
              </a:spcBef>
              <a:buSzPct val="83333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b="1" dirty="0">
                <a:latin typeface="Perpetua"/>
                <a:cs typeface="Perpetua"/>
              </a:rPr>
              <a:t>Algorithm A  </a:t>
            </a:r>
            <a:r>
              <a:rPr sz="1800" spc="-5" dirty="0">
                <a:latin typeface="Perpetua"/>
                <a:cs typeface="Perpetua"/>
              </a:rPr>
              <a:t>Add </a:t>
            </a:r>
            <a:r>
              <a:rPr sz="1800" dirty="0">
                <a:latin typeface="Perpetua"/>
                <a:cs typeface="Perpetua"/>
              </a:rPr>
              <a:t>4 to 5  </a:t>
            </a:r>
            <a:r>
              <a:rPr sz="1800" spc="5" dirty="0">
                <a:latin typeface="Perpetua"/>
                <a:cs typeface="Perpetua"/>
              </a:rPr>
              <a:t>Print </a:t>
            </a:r>
            <a:r>
              <a:rPr sz="1800" dirty="0">
                <a:latin typeface="Perpetua"/>
                <a:cs typeface="Perpetua"/>
              </a:rPr>
              <a:t>the</a:t>
            </a:r>
            <a:r>
              <a:rPr sz="1800" spc="-114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result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1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3333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b="1" dirty="0">
                <a:latin typeface="Perpetua"/>
                <a:cs typeface="Perpetua"/>
              </a:rPr>
              <a:t>Algorithm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B</a:t>
            </a:r>
            <a:endParaRPr sz="1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65"/>
              </a:spcBef>
            </a:pPr>
            <a:r>
              <a:rPr sz="1800" spc="-5" dirty="0">
                <a:latin typeface="Perpetua"/>
                <a:cs typeface="Perpetua"/>
              </a:rPr>
              <a:t>Ask </a:t>
            </a:r>
            <a:r>
              <a:rPr sz="1800" dirty="0">
                <a:latin typeface="Perpetua"/>
                <a:cs typeface="Perpetua"/>
              </a:rPr>
              <a:t>the user to type in a whole</a:t>
            </a:r>
            <a:r>
              <a:rPr sz="1800" spc="-13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number</a:t>
            </a:r>
            <a:endParaRPr sz="1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70"/>
              </a:spcBef>
            </a:pPr>
            <a:r>
              <a:rPr sz="1800" spc="-5" dirty="0">
                <a:latin typeface="Perpetua"/>
                <a:cs typeface="Perpetua"/>
              </a:rPr>
              <a:t>Add </a:t>
            </a:r>
            <a:r>
              <a:rPr sz="1800" dirty="0">
                <a:latin typeface="Perpetua"/>
                <a:cs typeface="Perpetua"/>
              </a:rPr>
              <a:t>5 to </a:t>
            </a:r>
            <a:r>
              <a:rPr sz="1800" spc="-5" dirty="0">
                <a:latin typeface="Perpetua"/>
                <a:cs typeface="Perpetua"/>
              </a:rPr>
              <a:t>that</a:t>
            </a:r>
            <a:r>
              <a:rPr sz="1800" spc="-3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number</a:t>
            </a:r>
            <a:endParaRPr sz="1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70"/>
              </a:spcBef>
            </a:pPr>
            <a:r>
              <a:rPr sz="1800" spc="5" dirty="0">
                <a:latin typeface="Perpetua"/>
                <a:cs typeface="Perpetua"/>
              </a:rPr>
              <a:t>Print </a:t>
            </a:r>
            <a:r>
              <a:rPr sz="1800" dirty="0">
                <a:latin typeface="Perpetua"/>
                <a:cs typeface="Perpetua"/>
              </a:rPr>
              <a:t>the</a:t>
            </a:r>
            <a:r>
              <a:rPr sz="1800" spc="-4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result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3333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b="1" dirty="0">
                <a:latin typeface="Perpetua"/>
                <a:cs typeface="Perpetua"/>
              </a:rPr>
              <a:t>Algorithm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C</a:t>
            </a:r>
            <a:endParaRPr sz="18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170"/>
              </a:spcBef>
            </a:pPr>
            <a:r>
              <a:rPr sz="1800" dirty="0">
                <a:latin typeface="Perpetua"/>
                <a:cs typeface="Perpetua"/>
              </a:rPr>
              <a:t>If 4 is </a:t>
            </a:r>
            <a:r>
              <a:rPr sz="1800" spc="-5" dirty="0">
                <a:latin typeface="Perpetua"/>
                <a:cs typeface="Perpetua"/>
              </a:rPr>
              <a:t>less </a:t>
            </a:r>
            <a:r>
              <a:rPr sz="1800" dirty="0">
                <a:latin typeface="Perpetua"/>
                <a:cs typeface="Perpetua"/>
              </a:rPr>
              <a:t>than 5 </a:t>
            </a:r>
            <a:r>
              <a:rPr sz="1800" spc="-5" dirty="0">
                <a:latin typeface="Perpetua"/>
                <a:cs typeface="Perpetua"/>
              </a:rPr>
              <a:t>Add </a:t>
            </a:r>
            <a:r>
              <a:rPr sz="1800" dirty="0">
                <a:latin typeface="Perpetua"/>
                <a:cs typeface="Perpetua"/>
              </a:rPr>
              <a:t>5 to</a:t>
            </a:r>
            <a:r>
              <a:rPr sz="1800" spc="-229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4</a:t>
            </a:r>
            <a:endParaRPr sz="18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170"/>
              </a:spcBef>
            </a:pPr>
            <a:r>
              <a:rPr sz="1800" spc="5" dirty="0">
                <a:latin typeface="Perpetua"/>
                <a:cs typeface="Perpetua"/>
              </a:rPr>
              <a:t>Print </a:t>
            </a:r>
            <a:r>
              <a:rPr sz="1800" dirty="0">
                <a:latin typeface="Perpetua"/>
                <a:cs typeface="Perpetua"/>
              </a:rPr>
              <a:t>the </a:t>
            </a:r>
            <a:r>
              <a:rPr sz="1800" spc="-5" dirty="0">
                <a:latin typeface="Perpetua"/>
                <a:cs typeface="Perpetua"/>
              </a:rPr>
              <a:t>result </a:t>
            </a:r>
            <a:r>
              <a:rPr sz="1800" dirty="0">
                <a:latin typeface="Perpetua"/>
                <a:cs typeface="Perpetua"/>
              </a:rPr>
              <a:t>Otherwise </a:t>
            </a:r>
            <a:r>
              <a:rPr sz="1800" spc="5" dirty="0">
                <a:latin typeface="Perpetua"/>
                <a:cs typeface="Perpetua"/>
              </a:rPr>
              <a:t>Print</a:t>
            </a:r>
            <a:r>
              <a:rPr sz="1800" spc="-13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"no"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140" y="5072633"/>
            <a:ext cx="4602480" cy="13721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140"/>
              </a:lnSpc>
              <a:spcBef>
                <a:spcPts val="100"/>
              </a:spcBef>
              <a:buSzPct val="83333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b="1" dirty="0">
                <a:latin typeface="Perpetua"/>
                <a:cs typeface="Perpetua"/>
              </a:rPr>
              <a:t>Algorithm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D</a:t>
            </a:r>
            <a:endParaRPr sz="1800" dirty="0">
              <a:latin typeface="Perpetua"/>
              <a:cs typeface="Perpetua"/>
            </a:endParaRPr>
          </a:p>
          <a:p>
            <a:pPr marL="332740">
              <a:lnSpc>
                <a:spcPts val="2125"/>
              </a:lnSpc>
            </a:pPr>
            <a:r>
              <a:rPr sz="1800" spc="-5" dirty="0">
                <a:latin typeface="Perpetua"/>
                <a:cs typeface="Perpetua"/>
              </a:rPr>
              <a:t>Ask </a:t>
            </a:r>
            <a:r>
              <a:rPr sz="1800" dirty="0">
                <a:latin typeface="Perpetua"/>
                <a:cs typeface="Perpetua"/>
              </a:rPr>
              <a:t>the user to type in a whole</a:t>
            </a:r>
            <a:r>
              <a:rPr sz="1800" spc="-12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number</a:t>
            </a:r>
            <a:endParaRPr sz="1800" dirty="0">
              <a:latin typeface="Perpetua"/>
              <a:cs typeface="Perpetua"/>
            </a:endParaRPr>
          </a:p>
          <a:p>
            <a:pPr marL="382905">
              <a:lnSpc>
                <a:spcPts val="2130"/>
              </a:lnSpc>
            </a:pPr>
            <a:r>
              <a:rPr sz="1800" dirty="0">
                <a:latin typeface="Perpetua"/>
                <a:cs typeface="Perpetua"/>
              </a:rPr>
              <a:t>If the number typed in is </a:t>
            </a:r>
            <a:r>
              <a:rPr sz="1800" spc="-5" dirty="0">
                <a:latin typeface="Perpetua"/>
                <a:cs typeface="Perpetua"/>
              </a:rPr>
              <a:t>less </a:t>
            </a:r>
            <a:r>
              <a:rPr sz="1800" dirty="0">
                <a:latin typeface="Perpetua"/>
                <a:cs typeface="Perpetua"/>
              </a:rPr>
              <a:t>than</a:t>
            </a:r>
            <a:r>
              <a:rPr sz="1800" spc="-13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5</a:t>
            </a:r>
          </a:p>
          <a:p>
            <a:pPr marL="332740" marR="5080" indent="502920">
              <a:lnSpc>
                <a:spcPts val="2120"/>
              </a:lnSpc>
              <a:spcBef>
                <a:spcPts val="90"/>
              </a:spcBef>
            </a:pPr>
            <a:r>
              <a:rPr sz="1800" spc="-5" dirty="0">
                <a:latin typeface="Perpetua"/>
                <a:cs typeface="Perpetua"/>
              </a:rPr>
              <a:t>Add </a:t>
            </a:r>
            <a:r>
              <a:rPr sz="1800" dirty="0">
                <a:latin typeface="Perpetua"/>
                <a:cs typeface="Perpetua"/>
              </a:rPr>
              <a:t>5 to the </a:t>
            </a:r>
            <a:r>
              <a:rPr sz="1800" spc="-5" dirty="0">
                <a:latin typeface="Perpetua"/>
                <a:cs typeface="Perpetua"/>
              </a:rPr>
              <a:t>number </a:t>
            </a:r>
            <a:r>
              <a:rPr sz="1800" dirty="0">
                <a:latin typeface="Perpetua"/>
                <a:cs typeface="Perpetua"/>
              </a:rPr>
              <a:t>typed in </a:t>
            </a:r>
            <a:r>
              <a:rPr sz="1800" spc="5" dirty="0">
                <a:latin typeface="Perpetua"/>
                <a:cs typeface="Perpetua"/>
              </a:rPr>
              <a:t>Print </a:t>
            </a:r>
            <a:r>
              <a:rPr sz="1800" dirty="0">
                <a:latin typeface="Perpetua"/>
                <a:cs typeface="Perpetua"/>
              </a:rPr>
              <a:t>the</a:t>
            </a:r>
            <a:r>
              <a:rPr sz="1800" spc="-16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result  </a:t>
            </a:r>
            <a:r>
              <a:rPr sz="1800" dirty="0">
                <a:latin typeface="Perpetua"/>
                <a:cs typeface="Perpetua"/>
              </a:rPr>
              <a:t>Otherwise </a:t>
            </a:r>
            <a:r>
              <a:rPr sz="1800" spc="5" dirty="0">
                <a:latin typeface="Perpetua"/>
                <a:cs typeface="Perpetua"/>
              </a:rPr>
              <a:t>Print</a:t>
            </a:r>
            <a:r>
              <a:rPr sz="1800" spc="-3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"no</a:t>
            </a:r>
            <a:r>
              <a:rPr sz="1800" spc="-5" dirty="0" smtClean="0">
                <a:latin typeface="Perpetua"/>
                <a:cs typeface="Perpetua"/>
              </a:rPr>
              <a:t>"</a:t>
            </a:r>
            <a:endParaRPr sz="1800" dirty="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842" y="1354073"/>
            <a:ext cx="5784215" cy="3032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5115" algn="l"/>
                <a:tab pos="285750" algn="l"/>
              </a:tabLst>
            </a:pPr>
            <a:r>
              <a:rPr sz="2800" spc="-5" dirty="0">
                <a:latin typeface="Perpetua"/>
                <a:cs typeface="Perpetua"/>
              </a:rPr>
              <a:t>Sequence</a:t>
            </a:r>
            <a:endParaRPr sz="28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spcBef>
                <a:spcPts val="30"/>
              </a:spcBef>
              <a:buSzPct val="84615"/>
              <a:buFont typeface="Arial"/>
              <a:buChar char="•"/>
              <a:tabLst>
                <a:tab pos="876935" algn="l"/>
                <a:tab pos="877569" algn="l"/>
                <a:tab pos="4297045" algn="l"/>
              </a:tabLst>
            </a:pP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actions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performed	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sequence.</a:t>
            </a:r>
            <a:endParaRPr sz="2600">
              <a:latin typeface="Perpetua"/>
              <a:cs typeface="Perpetua"/>
            </a:endParaRPr>
          </a:p>
          <a:p>
            <a:pPr marL="302895" indent="-273685">
              <a:lnSpc>
                <a:spcPct val="100000"/>
              </a:lnSpc>
              <a:spcBef>
                <a:spcPts val="1290"/>
              </a:spcBef>
              <a:buSzPct val="83928"/>
              <a:buFont typeface="Arial"/>
              <a:buChar char="•"/>
              <a:tabLst>
                <a:tab pos="302895" algn="l"/>
                <a:tab pos="303530" algn="l"/>
              </a:tabLst>
            </a:pPr>
            <a:r>
              <a:rPr sz="2800" spc="-5" dirty="0">
                <a:latin typeface="Perpetua"/>
                <a:cs typeface="Perpetua"/>
              </a:rPr>
              <a:t>Selection</a:t>
            </a:r>
            <a:endParaRPr sz="2800">
              <a:latin typeface="Perpetua"/>
              <a:cs typeface="Perpetua"/>
            </a:endParaRPr>
          </a:p>
          <a:p>
            <a:pPr marL="436880" marR="2913380" lvl="1" indent="-325120">
              <a:lnSpc>
                <a:spcPct val="100000"/>
              </a:lnSpc>
              <a:spcBef>
                <a:spcPts val="35"/>
              </a:spcBef>
              <a:buSzPct val="84615"/>
              <a:buFont typeface="Arial"/>
              <a:buChar char="•"/>
              <a:tabLst>
                <a:tab pos="436880" algn="l"/>
                <a:tab pos="437515" algn="l"/>
              </a:tabLst>
            </a:pPr>
            <a:r>
              <a:rPr sz="2600" spc="-5" dirty="0">
                <a:latin typeface="Perpetua"/>
                <a:cs typeface="Perpetua"/>
              </a:rPr>
              <a:t>Selecting </a:t>
            </a:r>
            <a:r>
              <a:rPr sz="2600" dirty="0">
                <a:latin typeface="Perpetua"/>
                <a:cs typeface="Perpetua"/>
              </a:rPr>
              <a:t>one of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two  </a:t>
            </a:r>
            <a:r>
              <a:rPr sz="2600" spc="-10" dirty="0">
                <a:latin typeface="Perpetua"/>
                <a:cs typeface="Perpetua"/>
              </a:rPr>
              <a:t>possible </a:t>
            </a:r>
            <a:r>
              <a:rPr sz="2600" spc="-5" dirty="0">
                <a:latin typeface="Perpetua"/>
                <a:cs typeface="Perpetua"/>
              </a:rPr>
              <a:t>actions  depending </a:t>
            </a:r>
            <a:r>
              <a:rPr sz="2600" dirty="0">
                <a:latin typeface="Perpetua"/>
                <a:cs typeface="Perpetua"/>
              </a:rPr>
              <a:t>on a  </a:t>
            </a:r>
            <a:r>
              <a:rPr sz="2600" spc="-5" dirty="0">
                <a:latin typeface="Perpetua"/>
                <a:cs typeface="Perpetua"/>
              </a:rPr>
              <a:t>condition.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332220" y="414527"/>
            <a:ext cx="1947672" cy="56919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15639" y="3444240"/>
            <a:ext cx="2346960" cy="270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93594" y="6234176"/>
            <a:ext cx="64077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89300" algn="l"/>
              </a:tabLst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5" dirty="0">
                <a:latin typeface="Perpetua"/>
                <a:cs typeface="Perpetua"/>
              </a:rPr>
              <a:t>logic</a:t>
            </a:r>
            <a:r>
              <a:rPr sz="2000" spc="-20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requiring</a:t>
            </a:r>
            <a:r>
              <a:rPr sz="2000" spc="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selection	</a:t>
            </a: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Sequential </a:t>
            </a:r>
            <a:r>
              <a:rPr sz="2000" spc="5" dirty="0">
                <a:latin typeface="Perpetua"/>
                <a:cs typeface="Perpetua"/>
              </a:rPr>
              <a:t>logic</a:t>
            </a:r>
            <a:r>
              <a:rPr sz="2000" spc="-14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algorithm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5375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Perpetua"/>
                <a:cs typeface="Perpetua"/>
              </a:rPr>
              <a:t>Sequence</a:t>
            </a:r>
            <a:r>
              <a:rPr sz="4000" i="0" spc="-50" dirty="0">
                <a:latin typeface="Perpetua"/>
                <a:cs typeface="Perpetua"/>
              </a:rPr>
              <a:t> </a:t>
            </a:r>
            <a:r>
              <a:rPr sz="4000" i="0" spc="5" dirty="0">
                <a:latin typeface="Perpetua"/>
                <a:cs typeface="Perpetua"/>
              </a:rPr>
              <a:t>structure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815" y="1201673"/>
            <a:ext cx="4646930" cy="1388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750" indent="-273685">
              <a:lnSpc>
                <a:spcPct val="100000"/>
              </a:lnSpc>
              <a:spcBef>
                <a:spcPts val="95"/>
              </a:spcBef>
              <a:buSzPct val="83928"/>
              <a:buFont typeface="Wingdings 2"/>
              <a:buChar char=""/>
              <a:tabLst>
                <a:tab pos="286385" algn="l"/>
              </a:tabLst>
            </a:pPr>
            <a:r>
              <a:rPr sz="2800" spc="-5" dirty="0">
                <a:latin typeface="Perpetua"/>
                <a:cs typeface="Perpetua"/>
              </a:rPr>
              <a:t>Iteration</a:t>
            </a:r>
            <a:endParaRPr sz="28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spcBef>
                <a:spcPts val="30"/>
              </a:spcBef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600" spc="-5" dirty="0">
                <a:latin typeface="Perpetua"/>
                <a:cs typeface="Perpetua"/>
              </a:rPr>
              <a:t>Repeating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actions.</a:t>
            </a:r>
            <a:endParaRPr sz="2600">
              <a:latin typeface="Perpetua"/>
              <a:cs typeface="Perpetua"/>
            </a:endParaRPr>
          </a:p>
          <a:p>
            <a:pPr marL="876935" lvl="1" indent="-325120">
              <a:lnSpc>
                <a:spcPct val="100000"/>
              </a:lnSpc>
              <a:spcBef>
                <a:spcPts val="1110"/>
              </a:spcBef>
              <a:buSzPct val="75000"/>
              <a:buFont typeface="Arial"/>
              <a:buChar char="•"/>
              <a:tabLst>
                <a:tab pos="876935" algn="l"/>
                <a:tab pos="877569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loop tests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condition and</a:t>
            </a:r>
            <a:r>
              <a:rPr sz="2600" spc="4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if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0228" y="2564383"/>
            <a:ext cx="6292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6245" algn="l"/>
              </a:tabLst>
            </a:pPr>
            <a:r>
              <a:rPr sz="2600" dirty="0">
                <a:latin typeface="Perpetua"/>
                <a:cs typeface="Perpetua"/>
              </a:rPr>
              <a:t>it	is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0228" y="2960624"/>
            <a:ext cx="8445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Perpetua"/>
                <a:cs typeface="Perpetua"/>
              </a:rPr>
              <a:t>action.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228" y="3356559"/>
            <a:ext cx="11563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Perpetua"/>
                <a:cs typeface="Perpetua"/>
              </a:rPr>
              <a:t>condition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64663" y="3356559"/>
            <a:ext cx="7289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Perpetua"/>
                <a:cs typeface="Perpetua"/>
              </a:rPr>
              <a:t>again.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5142" y="2564383"/>
            <a:ext cx="2929255" cy="1215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225" marR="5080" indent="-264160" algn="r">
              <a:lnSpc>
                <a:spcPct val="100000"/>
              </a:lnSpc>
              <a:spcBef>
                <a:spcPts val="105"/>
              </a:spcBef>
              <a:tabLst>
                <a:tab pos="1205865" algn="l"/>
                <a:tab pos="1289685" algn="l"/>
                <a:tab pos="1692275" algn="l"/>
                <a:tab pos="2540000" algn="l"/>
                <a:tab pos="2641600" algn="l"/>
              </a:tabLst>
            </a:pPr>
            <a:r>
              <a:rPr sz="2600" dirty="0">
                <a:latin typeface="Perpetua"/>
                <a:cs typeface="Perpetua"/>
              </a:rPr>
              <a:t>s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tisfied,		perf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spc="70" dirty="0">
                <a:latin typeface="Perpetua"/>
                <a:cs typeface="Perpetua"/>
              </a:rPr>
              <a:t>r</a:t>
            </a:r>
            <a:r>
              <a:rPr sz="2600" spc="-5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s		</a:t>
            </a:r>
            <a:r>
              <a:rPr sz="2600" spc="-5" dirty="0">
                <a:latin typeface="Perpetua"/>
                <a:cs typeface="Perpetua"/>
              </a:rPr>
              <a:t>an  </a:t>
            </a:r>
            <a:r>
              <a:rPr sz="2600" dirty="0">
                <a:latin typeface="Perpetua"/>
                <a:cs typeface="Perpetua"/>
              </a:rPr>
              <a:t>Then	it	tes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s	the</a:t>
            </a:r>
            <a:endParaRPr sz="2600">
              <a:latin typeface="Perpetua"/>
              <a:cs typeface="Perpetua"/>
            </a:endParaRPr>
          </a:p>
          <a:p>
            <a:pPr marR="5080" algn="r">
              <a:lnSpc>
                <a:spcPct val="100000"/>
              </a:lnSpc>
              <a:tabLst>
                <a:tab pos="633730" algn="l"/>
              </a:tabLst>
            </a:pPr>
            <a:r>
              <a:rPr sz="2600" spc="-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f	the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0228" y="3753358"/>
            <a:ext cx="7334250" cy="212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57270" algn="just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latin typeface="Perpetua"/>
                <a:cs typeface="Perpetua"/>
              </a:rPr>
              <a:t>condition </a:t>
            </a:r>
            <a:r>
              <a:rPr sz="2600" dirty="0">
                <a:latin typeface="Perpetua"/>
                <a:cs typeface="Perpetua"/>
              </a:rPr>
              <a:t>is still </a:t>
            </a:r>
            <a:r>
              <a:rPr sz="2600" spc="-5" dirty="0">
                <a:latin typeface="Perpetua"/>
                <a:cs typeface="Perpetua"/>
              </a:rPr>
              <a:t>satisfied,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5" dirty="0">
                <a:latin typeface="Perpetua"/>
                <a:cs typeface="Perpetua"/>
              </a:rPr>
              <a:t>action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repeated.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0" dirty="0">
                <a:latin typeface="Perpetua"/>
                <a:cs typeface="Perpetua"/>
              </a:rPr>
              <a:t>is  repeated </a:t>
            </a:r>
            <a:r>
              <a:rPr sz="2600" spc="-5" dirty="0">
                <a:latin typeface="Perpetua"/>
                <a:cs typeface="Perpetua"/>
              </a:rPr>
              <a:t>until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condition </a:t>
            </a:r>
            <a:r>
              <a:rPr sz="2600" spc="-10" dirty="0">
                <a:latin typeface="Perpetua"/>
                <a:cs typeface="Perpetua"/>
              </a:rPr>
              <a:t>is  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satisfied.</a:t>
            </a:r>
            <a:endParaRPr sz="2600">
              <a:latin typeface="Perpetua"/>
              <a:cs typeface="Perpetua"/>
            </a:endParaRPr>
          </a:p>
          <a:p>
            <a:pPr marL="3341370">
              <a:lnSpc>
                <a:spcPct val="100000"/>
              </a:lnSpc>
              <a:spcBef>
                <a:spcPts val="1639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5" dirty="0">
                <a:latin typeface="Perpetua"/>
                <a:cs typeface="Perpetua"/>
              </a:rPr>
              <a:t>logic </a:t>
            </a:r>
            <a:r>
              <a:rPr sz="2000" spc="-5" dirty="0">
                <a:latin typeface="Perpetua"/>
                <a:cs typeface="Perpetua"/>
              </a:rPr>
              <a:t>requiring iteration</a:t>
            </a:r>
            <a:r>
              <a:rPr sz="2000" spc="-19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structure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48648" y="1550583"/>
            <a:ext cx="3022782" cy="3815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391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Perpetua"/>
                <a:cs typeface="Perpetua"/>
              </a:rPr>
              <a:t>Iteration</a:t>
            </a:r>
            <a:r>
              <a:rPr sz="4000" i="0" spc="-90" dirty="0">
                <a:latin typeface="Perpetua"/>
                <a:cs typeface="Perpetua"/>
              </a:rPr>
              <a:t> </a:t>
            </a:r>
            <a:r>
              <a:rPr sz="4000" i="0" spc="5" dirty="0">
                <a:latin typeface="Perpetua"/>
                <a:cs typeface="Perpetua"/>
              </a:rPr>
              <a:t>structure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520" y="1750313"/>
            <a:ext cx="4648200" cy="204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15" indent="-273050" algn="just">
              <a:lnSpc>
                <a:spcPct val="100000"/>
              </a:lnSpc>
              <a:spcBef>
                <a:spcPts val="95"/>
              </a:spcBef>
              <a:buSzPct val="83928"/>
              <a:buFont typeface="Wingdings 2"/>
              <a:buChar char=""/>
              <a:tabLst>
                <a:tab pos="285750" algn="l"/>
              </a:tabLst>
            </a:pPr>
            <a:r>
              <a:rPr sz="2800" spc="-5" dirty="0">
                <a:latin typeface="Perpetua"/>
                <a:cs typeface="Perpetua"/>
              </a:rPr>
              <a:t>Selection</a:t>
            </a:r>
            <a:endParaRPr sz="2800">
              <a:latin typeface="Perpetua"/>
              <a:cs typeface="Perpetua"/>
            </a:endParaRPr>
          </a:p>
          <a:p>
            <a:pPr marL="756285" marR="5080" lvl="1" indent="-325120" algn="just">
              <a:lnSpc>
                <a:spcPct val="100000"/>
              </a:lnSpc>
              <a:spcBef>
                <a:spcPts val="35"/>
              </a:spcBef>
              <a:buSzPct val="75000"/>
              <a:buFont typeface="Arial"/>
              <a:buChar char="•"/>
              <a:tabLst>
                <a:tab pos="756920" algn="l"/>
              </a:tabLst>
            </a:pPr>
            <a:r>
              <a:rPr sz="2600" spc="-5" dirty="0">
                <a:latin typeface="Perpetua"/>
                <a:cs typeface="Perpetua"/>
              </a:rPr>
              <a:t>Iteration </a:t>
            </a:r>
            <a:r>
              <a:rPr sz="2600" dirty="0">
                <a:latin typeface="Perpetua"/>
                <a:cs typeface="Perpetua"/>
              </a:rPr>
              <a:t>can still </a:t>
            </a:r>
            <a:r>
              <a:rPr sz="2600" spc="-5" dirty="0">
                <a:latin typeface="Perpetua"/>
                <a:cs typeface="Perpetua"/>
              </a:rPr>
              <a:t>be realized 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-10" dirty="0">
                <a:latin typeface="Perpetua"/>
                <a:cs typeface="Perpetua"/>
              </a:rPr>
              <a:t>inverse </a:t>
            </a:r>
            <a:r>
              <a:rPr sz="2600" spc="-5" dirty="0">
                <a:latin typeface="Perpetua"/>
                <a:cs typeface="Perpetua"/>
              </a:rPr>
              <a:t>condition  satisfaction </a:t>
            </a:r>
            <a:r>
              <a:rPr sz="2600" spc="-10" dirty="0">
                <a:latin typeface="Perpetua"/>
                <a:cs typeface="Perpetua"/>
              </a:rPr>
              <a:t>i.e. repeat </a:t>
            </a:r>
            <a:r>
              <a:rPr sz="2600" spc="-5" dirty="0">
                <a:latin typeface="Perpetua"/>
                <a:cs typeface="Perpetua"/>
              </a:rPr>
              <a:t>action as  long as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condition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not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2232" y="4161790"/>
            <a:ext cx="3272154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8270" algn="l"/>
                <a:tab pos="1835150" algn="l"/>
                <a:tab pos="3035300" algn="l"/>
              </a:tabLst>
            </a:pPr>
            <a:r>
              <a:rPr sz="2600" dirty="0">
                <a:latin typeface="Perpetua"/>
                <a:cs typeface="Perpetua"/>
              </a:rPr>
              <a:t>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15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ition	</a:t>
            </a:r>
            <a:r>
              <a:rPr sz="2600" spc="1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s	s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tisfied	</a:t>
            </a:r>
            <a:r>
              <a:rPr sz="2600" spc="-5" dirty="0">
                <a:latin typeface="Perpetua"/>
                <a:cs typeface="Perpetua"/>
              </a:rPr>
              <a:t>as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232" y="3765550"/>
            <a:ext cx="3903979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1211580" algn="l"/>
                <a:tab pos="1901825" algn="l"/>
                <a:tab pos="2671445" algn="l"/>
                <a:tab pos="3502660" algn="l"/>
              </a:tabLst>
            </a:pPr>
            <a:r>
              <a:rPr sz="2600" dirty="0">
                <a:latin typeface="Perpetua"/>
                <a:cs typeface="Perpetua"/>
              </a:rPr>
              <a:t>s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tisfied	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dirty="0">
                <a:latin typeface="Perpetua"/>
                <a:cs typeface="Perpetua"/>
              </a:rPr>
              <a:t>d	st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p	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ce	the</a:t>
            </a:r>
            <a:endParaRPr sz="2600">
              <a:latin typeface="Perpetua"/>
              <a:cs typeface="Perpetu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2600" dirty="0">
                <a:latin typeface="Perpetua"/>
                <a:cs typeface="Perpetua"/>
              </a:rPr>
              <a:t>the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2232" y="4557725"/>
            <a:ext cx="168021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Perpetua"/>
                <a:cs typeface="Perpetua"/>
              </a:rPr>
              <a:t>figure </a:t>
            </a:r>
            <a:r>
              <a:rPr sz="2600" spc="-15" dirty="0">
                <a:latin typeface="Perpetua"/>
                <a:cs typeface="Perpetua"/>
              </a:rPr>
              <a:t>shows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10601" y="1309993"/>
            <a:ext cx="3290785" cy="4145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80228" y="5592267"/>
            <a:ext cx="36220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spc="-5" dirty="0">
                <a:latin typeface="Perpetua"/>
                <a:cs typeface="Perpetua"/>
              </a:rPr>
              <a:t>Iteration </a:t>
            </a:r>
            <a:r>
              <a:rPr sz="2000" dirty="0">
                <a:latin typeface="Perpetua"/>
                <a:cs typeface="Perpetua"/>
              </a:rPr>
              <a:t>with </a:t>
            </a:r>
            <a:r>
              <a:rPr sz="2000" spc="-10" dirty="0">
                <a:latin typeface="Perpetua"/>
                <a:cs typeface="Perpetua"/>
              </a:rPr>
              <a:t>inverse</a:t>
            </a:r>
            <a:r>
              <a:rPr sz="2000" spc="-5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condition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69655" y="552558"/>
            <a:ext cx="474016" cy="670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0237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Perpetua"/>
                <a:cs typeface="Perpetua"/>
              </a:rPr>
              <a:t>Iteration </a:t>
            </a:r>
            <a:r>
              <a:rPr sz="4000" i="0" spc="5" dirty="0">
                <a:latin typeface="Perpetua"/>
                <a:cs typeface="Perpetua"/>
              </a:rPr>
              <a:t>structure </a:t>
            </a:r>
            <a:r>
              <a:rPr sz="4000" i="0" spc="-5" dirty="0">
                <a:latin typeface="Perpetua"/>
                <a:cs typeface="Perpetua"/>
              </a:rPr>
              <a:t>– </a:t>
            </a:r>
            <a:r>
              <a:rPr sz="4000" i="0" spc="-15" dirty="0">
                <a:latin typeface="Perpetua"/>
                <a:cs typeface="Perpetua"/>
              </a:rPr>
              <a:t>inverse</a:t>
            </a:r>
            <a:r>
              <a:rPr sz="4000" i="0" spc="-50" dirty="0">
                <a:latin typeface="Perpetua"/>
                <a:cs typeface="Perpetua"/>
              </a:rPr>
              <a:t> </a:t>
            </a:r>
            <a:r>
              <a:rPr sz="4000" i="0" spc="-5" dirty="0">
                <a:latin typeface="Perpetua"/>
                <a:cs typeface="Perpetua"/>
              </a:rPr>
              <a:t>condition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3594" y="5859271"/>
            <a:ext cx="5942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latin typeface="Perpetua"/>
                <a:cs typeface="Perpetua"/>
              </a:rPr>
              <a:t>Do </a:t>
            </a:r>
            <a:r>
              <a:rPr sz="2400" i="1" spc="-15" dirty="0">
                <a:latin typeface="Perpetua"/>
                <a:cs typeface="Perpetua"/>
              </a:rPr>
              <a:t>you </a:t>
            </a:r>
            <a:r>
              <a:rPr sz="2400" i="1" dirty="0">
                <a:latin typeface="Perpetua"/>
                <a:cs typeface="Perpetua"/>
              </a:rPr>
              <a:t>see </a:t>
            </a:r>
            <a:r>
              <a:rPr sz="2400" i="1" spc="-25" dirty="0">
                <a:latin typeface="Perpetua"/>
                <a:cs typeface="Perpetua"/>
              </a:rPr>
              <a:t>any </a:t>
            </a:r>
            <a:r>
              <a:rPr sz="2400" i="1" spc="-10" dirty="0">
                <a:latin typeface="Perpetua"/>
                <a:cs typeface="Perpetua"/>
              </a:rPr>
              <a:t>problem </a:t>
            </a:r>
            <a:r>
              <a:rPr sz="2400" i="1" dirty="0">
                <a:latin typeface="Perpetua"/>
                <a:cs typeface="Perpetua"/>
              </a:rPr>
              <a:t>with the </a:t>
            </a:r>
            <a:r>
              <a:rPr sz="2400" i="1" spc="-20" dirty="0">
                <a:latin typeface="Perpetua"/>
                <a:cs typeface="Perpetua"/>
              </a:rPr>
              <a:t>above </a:t>
            </a:r>
            <a:r>
              <a:rPr sz="2400" i="1" spc="-15" dirty="0">
                <a:latin typeface="Perpetua"/>
                <a:cs typeface="Perpetua"/>
              </a:rPr>
              <a:t>iteration</a:t>
            </a:r>
            <a:r>
              <a:rPr sz="2400" i="1" spc="-5" dirty="0">
                <a:latin typeface="Perpetua"/>
                <a:cs typeface="Perpetua"/>
              </a:rPr>
              <a:t> structure?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05000" y="1905000"/>
            <a:ext cx="4882896" cy="2776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8794" y="4708397"/>
            <a:ext cx="41376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-5" dirty="0">
                <a:latin typeface="Perpetua"/>
                <a:cs typeface="Perpetua"/>
              </a:rPr>
              <a:t>simple </a:t>
            </a:r>
            <a:r>
              <a:rPr sz="2000" dirty="0">
                <a:latin typeface="Perpetua"/>
                <a:cs typeface="Perpetua"/>
              </a:rPr>
              <a:t>task </a:t>
            </a:r>
            <a:r>
              <a:rPr sz="2000" spc="-5" dirty="0">
                <a:latin typeface="Perpetua"/>
                <a:cs typeface="Perpetua"/>
              </a:rPr>
              <a:t>with iteration</a:t>
            </a:r>
            <a:r>
              <a:rPr sz="2000" spc="-25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structure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6248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Perpetua"/>
                <a:cs typeface="Perpetua"/>
              </a:rPr>
              <a:t>Controlling </a:t>
            </a:r>
            <a:r>
              <a:rPr sz="4000" i="0" spc="-10" dirty="0">
                <a:latin typeface="Perpetua"/>
                <a:cs typeface="Perpetua"/>
              </a:rPr>
              <a:t>iteration</a:t>
            </a:r>
            <a:r>
              <a:rPr sz="4000" i="0" spc="-35" dirty="0">
                <a:latin typeface="Perpetua"/>
                <a:cs typeface="Perpetua"/>
              </a:rPr>
              <a:t> </a:t>
            </a:r>
            <a:r>
              <a:rPr sz="4000" i="0" spc="5" dirty="0">
                <a:latin typeface="Perpetua"/>
                <a:cs typeface="Perpetua"/>
              </a:rPr>
              <a:t>structure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9519" y="1358105"/>
            <a:ext cx="7049770" cy="14427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5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spc="-5" dirty="0">
                <a:latin typeface="Perpetua"/>
                <a:cs typeface="Perpetua"/>
              </a:rPr>
              <a:t>Sometimes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flowchart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spc="-5" dirty="0">
                <a:latin typeface="Perpetua"/>
                <a:cs typeface="Perpetua"/>
              </a:rPr>
              <a:t>exceed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page.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Connectors </a:t>
            </a:r>
            <a:r>
              <a:rPr sz="2600" spc="-20" dirty="0">
                <a:latin typeface="Perpetua"/>
                <a:cs typeface="Perpetua"/>
              </a:rPr>
              <a:t>allow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connect to </a:t>
            </a:r>
            <a:r>
              <a:rPr sz="2600" spc="5" dirty="0">
                <a:latin typeface="Perpetua"/>
                <a:cs typeface="Perpetua"/>
              </a:rPr>
              <a:t>flowchart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segments.</a:t>
            </a:r>
            <a:endParaRPr sz="26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SzPct val="84615"/>
              <a:buFont typeface="Wingdings 2"/>
              <a:buChar char=""/>
              <a:tabLst>
                <a:tab pos="285750" algn="l"/>
              </a:tabLst>
            </a:pPr>
            <a:r>
              <a:rPr sz="2600" dirty="0">
                <a:latin typeface="Perpetua"/>
                <a:cs typeface="Perpetua"/>
              </a:rPr>
              <a:t>Connectors need to be </a:t>
            </a:r>
            <a:r>
              <a:rPr sz="2600" spc="-10" dirty="0">
                <a:latin typeface="Perpetua"/>
                <a:cs typeface="Perpetua"/>
              </a:rPr>
              <a:t>uniquely </a:t>
            </a:r>
            <a:r>
              <a:rPr sz="2600" spc="-5" dirty="0">
                <a:latin typeface="Perpetua"/>
                <a:cs typeface="Perpetua"/>
              </a:rPr>
              <a:t>named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clarity.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91816" y="3203568"/>
            <a:ext cx="5215587" cy="24762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5844" y="5883961"/>
            <a:ext cx="72732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Connectors </a:t>
            </a:r>
            <a:r>
              <a:rPr sz="2000" spc="-5" dirty="0">
                <a:latin typeface="Perpetua"/>
                <a:cs typeface="Perpetua"/>
              </a:rPr>
              <a:t>connect </a:t>
            </a:r>
            <a:r>
              <a:rPr sz="2000" dirty="0">
                <a:latin typeface="Perpetua"/>
                <a:cs typeface="Perpetua"/>
              </a:rPr>
              <a:t>flowchart segments as </a:t>
            </a:r>
            <a:r>
              <a:rPr sz="2000" spc="-20" dirty="0">
                <a:latin typeface="Perpetua"/>
                <a:cs typeface="Perpetua"/>
              </a:rPr>
              <a:t>well </a:t>
            </a:r>
            <a:r>
              <a:rPr sz="2000" dirty="0">
                <a:latin typeface="Perpetua"/>
                <a:cs typeface="Perpetua"/>
              </a:rPr>
              <a:t>flowcharts </a:t>
            </a:r>
            <a:r>
              <a:rPr sz="2000" spc="-10" dirty="0">
                <a:latin typeface="Perpetua"/>
                <a:cs typeface="Perpetua"/>
              </a:rPr>
              <a:t>across</a:t>
            </a:r>
            <a:r>
              <a:rPr sz="2000" spc="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pages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162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10" dirty="0">
                <a:latin typeface="Perpetua"/>
                <a:cs typeface="Perpetua"/>
              </a:rPr>
              <a:t>Co</a:t>
            </a:r>
            <a:r>
              <a:rPr sz="4000" i="0" spc="5" dirty="0">
                <a:latin typeface="Perpetua"/>
                <a:cs typeface="Perpetua"/>
              </a:rPr>
              <a:t>n</a:t>
            </a:r>
            <a:r>
              <a:rPr sz="4000" i="0" spc="-5" dirty="0">
                <a:latin typeface="Perpetua"/>
                <a:cs typeface="Perpetua"/>
              </a:rPr>
              <a:t>necto</a:t>
            </a:r>
            <a:r>
              <a:rPr sz="4000" i="0" spc="80" dirty="0">
                <a:latin typeface="Perpetua"/>
                <a:cs typeface="Perpetua"/>
              </a:rPr>
              <a:t>r</a:t>
            </a:r>
            <a:r>
              <a:rPr sz="4000" i="0" spc="-5" dirty="0">
                <a:latin typeface="Perpetua"/>
                <a:cs typeface="Perpetua"/>
              </a:rPr>
              <a:t>s</a:t>
            </a:r>
            <a:endParaRPr sz="4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i="0" dirty="0">
                <a:latin typeface="Perpetua"/>
                <a:cs typeface="Perpetua"/>
              </a:rPr>
              <a:t>Algorithm for </a:t>
            </a:r>
            <a:r>
              <a:rPr sz="3600" i="0" spc="-5" dirty="0">
                <a:latin typeface="Perpetua"/>
                <a:cs typeface="Perpetua"/>
              </a:rPr>
              <a:t>accept </a:t>
            </a:r>
            <a:r>
              <a:rPr sz="3600" i="0" dirty="0">
                <a:latin typeface="Perpetua"/>
                <a:cs typeface="Perpetua"/>
              </a:rPr>
              <a:t>a </a:t>
            </a:r>
            <a:r>
              <a:rPr sz="3600" i="0" spc="-5" dirty="0">
                <a:latin typeface="Perpetua"/>
                <a:cs typeface="Perpetua"/>
              </a:rPr>
              <a:t>number </a:t>
            </a:r>
            <a:r>
              <a:rPr sz="3600" i="0" spc="-10" dirty="0">
                <a:latin typeface="Perpetua"/>
                <a:cs typeface="Perpetua"/>
              </a:rPr>
              <a:t>from </a:t>
            </a:r>
            <a:r>
              <a:rPr sz="3600" i="0" spc="-5" dirty="0">
                <a:latin typeface="Perpetua"/>
                <a:cs typeface="Perpetua"/>
              </a:rPr>
              <a:t>user </a:t>
            </a:r>
            <a:r>
              <a:rPr sz="3600" i="0" dirty="0">
                <a:latin typeface="Perpetua"/>
                <a:cs typeface="Perpetua"/>
              </a:rPr>
              <a:t>and  </a:t>
            </a:r>
            <a:r>
              <a:rPr sz="3600" i="0" spc="-5" dirty="0">
                <a:latin typeface="Perpetua"/>
                <a:cs typeface="Perpetua"/>
              </a:rPr>
              <a:t>calculate </a:t>
            </a:r>
            <a:r>
              <a:rPr sz="3600" i="0" dirty="0">
                <a:latin typeface="Perpetua"/>
                <a:cs typeface="Perpetua"/>
              </a:rPr>
              <a:t>sum </a:t>
            </a:r>
            <a:r>
              <a:rPr sz="3600" i="0" spc="-5" dirty="0">
                <a:latin typeface="Perpetua"/>
                <a:cs typeface="Perpetua"/>
              </a:rPr>
              <a:t>of</a:t>
            </a:r>
            <a:r>
              <a:rPr sz="3600" i="0" spc="-20" dirty="0">
                <a:latin typeface="Perpetua"/>
                <a:cs typeface="Perpetua"/>
              </a:rPr>
              <a:t> </a:t>
            </a:r>
            <a:r>
              <a:rPr sz="3600" i="0" spc="-5" dirty="0">
                <a:latin typeface="Perpetua"/>
                <a:cs typeface="Perpetua"/>
              </a:rPr>
              <a:t>square: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10665"/>
            <a:ext cx="8432165" cy="4342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[Sum of </a:t>
            </a:r>
            <a:r>
              <a:rPr sz="2400" spc="-5" dirty="0">
                <a:latin typeface="Perpetua"/>
                <a:cs typeface="Perpetua"/>
              </a:rPr>
              <a:t>square </a:t>
            </a:r>
            <a:r>
              <a:rPr sz="2400" dirty="0">
                <a:latin typeface="Perpetua"/>
                <a:cs typeface="Perpetua"/>
              </a:rPr>
              <a:t>: </a:t>
            </a:r>
            <a:r>
              <a:rPr sz="2400" spc="-5" dirty="0">
                <a:latin typeface="Perpetua"/>
                <a:cs typeface="Perpetua"/>
              </a:rPr>
              <a:t>accept </a:t>
            </a:r>
            <a:r>
              <a:rPr sz="2400" dirty="0">
                <a:latin typeface="Perpetua"/>
                <a:cs typeface="Perpetua"/>
              </a:rPr>
              <a:t>number num </a:t>
            </a:r>
            <a:r>
              <a:rPr sz="2400" spc="-10" dirty="0">
                <a:latin typeface="Perpetua"/>
                <a:cs typeface="Perpetua"/>
              </a:rPr>
              <a:t>from </a:t>
            </a:r>
            <a:r>
              <a:rPr sz="2400" spc="-45" dirty="0">
                <a:latin typeface="Perpetua"/>
                <a:cs typeface="Perpetua"/>
              </a:rPr>
              <a:t>user,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set </a:t>
            </a:r>
            <a:r>
              <a:rPr sz="2400" spc="-5" dirty="0">
                <a:latin typeface="Perpetua"/>
                <a:cs typeface="Perpetua"/>
              </a:rPr>
              <a:t>sum=0 and</a:t>
            </a:r>
            <a:r>
              <a:rPr sz="2400" spc="-2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calculate</a:t>
            </a:r>
            <a:endParaRPr sz="2400">
              <a:latin typeface="Perpetua"/>
              <a:cs typeface="Perpetua"/>
            </a:endParaRPr>
          </a:p>
          <a:p>
            <a:pPr marL="286385" marR="6456680">
              <a:lnSpc>
                <a:spcPts val="2590"/>
              </a:lnSpc>
              <a:spcBef>
                <a:spcPts val="185"/>
              </a:spcBef>
            </a:pPr>
            <a:r>
              <a:rPr sz="2400" dirty="0">
                <a:latin typeface="Perpetua"/>
                <a:cs typeface="Perpetua"/>
              </a:rPr>
              <a:t>sum of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square.]  </a:t>
            </a: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1.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Start</a:t>
            </a:r>
            <a:endParaRPr sz="2400">
              <a:latin typeface="Perpetua"/>
              <a:cs typeface="Perpetua"/>
            </a:endParaRPr>
          </a:p>
          <a:p>
            <a:pPr marL="286385" marR="5250815">
              <a:lnSpc>
                <a:spcPts val="2590"/>
              </a:lnSpc>
              <a:spcBef>
                <a:spcPts val="5"/>
              </a:spcBef>
            </a:pP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2. </a:t>
            </a:r>
            <a:r>
              <a:rPr sz="2400" spc="-5" dirty="0">
                <a:latin typeface="Perpetua"/>
                <a:cs typeface="Perpetua"/>
              </a:rPr>
              <a:t>Read </a:t>
            </a:r>
            <a:r>
              <a:rPr sz="2400" dirty="0">
                <a:latin typeface="Perpetua"/>
                <a:cs typeface="Perpetua"/>
              </a:rPr>
              <a:t>number</a:t>
            </a:r>
            <a:r>
              <a:rPr sz="2400" spc="-1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num  </a:t>
            </a: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3.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[Initialize]</a:t>
            </a:r>
            <a:endParaRPr sz="2400">
              <a:latin typeface="Perpetua"/>
              <a:cs typeface="Perpetua"/>
            </a:endParaRPr>
          </a:p>
          <a:p>
            <a:pPr marL="832485">
              <a:lnSpc>
                <a:spcPts val="2415"/>
              </a:lnSpc>
            </a:pPr>
            <a:r>
              <a:rPr sz="2400" spc="-5" dirty="0">
                <a:latin typeface="Perpetua"/>
                <a:cs typeface="Perpetua"/>
              </a:rPr>
              <a:t>sum=0,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i=1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590"/>
              </a:lnSpc>
            </a:pP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4. </a:t>
            </a:r>
            <a:r>
              <a:rPr sz="2400" spc="-10" dirty="0">
                <a:latin typeface="Perpetua"/>
                <a:cs typeface="Perpetua"/>
              </a:rPr>
              <a:t>Repeat </a:t>
            </a: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4 </a:t>
            </a:r>
            <a:r>
              <a:rPr sz="2400" spc="-5" dirty="0">
                <a:latin typeface="Perpetua"/>
                <a:cs typeface="Perpetua"/>
              </a:rPr>
              <a:t>through </a:t>
            </a:r>
            <a:r>
              <a:rPr sz="2400" dirty="0">
                <a:latin typeface="Perpetua"/>
                <a:cs typeface="Perpetua"/>
              </a:rPr>
              <a:t>6 until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i&lt;=num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590"/>
              </a:lnSpc>
            </a:pP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5.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sum=sum+(i*i)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595"/>
              </a:lnSpc>
            </a:pP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6.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i=i+1</a:t>
            </a:r>
            <a:endParaRPr sz="2400">
              <a:latin typeface="Perpetua"/>
              <a:cs typeface="Perpetua"/>
            </a:endParaRPr>
          </a:p>
          <a:p>
            <a:pPr marL="286385" marR="4754880">
              <a:lnSpc>
                <a:spcPts val="2590"/>
              </a:lnSpc>
              <a:spcBef>
                <a:spcPts val="185"/>
              </a:spcBef>
            </a:pP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7. </a:t>
            </a:r>
            <a:r>
              <a:rPr sz="2400" spc="10" dirty="0">
                <a:latin typeface="Perpetua"/>
                <a:cs typeface="Perpetua"/>
              </a:rPr>
              <a:t>print </a:t>
            </a:r>
            <a:r>
              <a:rPr sz="2400" dirty="0">
                <a:latin typeface="Perpetua"/>
                <a:cs typeface="Perpetua"/>
              </a:rPr>
              <a:t>the sum of</a:t>
            </a:r>
            <a:r>
              <a:rPr sz="2400" spc="-2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square  Step </a:t>
            </a:r>
            <a:r>
              <a:rPr sz="2400" dirty="0">
                <a:latin typeface="Perpetua"/>
                <a:cs typeface="Perpetua"/>
              </a:rPr>
              <a:t>8.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stop</a:t>
            </a:r>
            <a:endParaRPr sz="2400">
              <a:latin typeface="Perpetua"/>
              <a:cs typeface="Perpetua"/>
            </a:endParaRPr>
          </a:p>
          <a:p>
            <a:pPr marL="286385" marR="5700395">
              <a:lnSpc>
                <a:spcPts val="259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[end of loop step 4]  [end of sum of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square]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6488" y="714755"/>
            <a:ext cx="7677911" cy="5643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94" rIns="0" bIns="0" rtlCol="0">
            <a:spAutoFit/>
          </a:bodyPr>
          <a:lstStyle/>
          <a:p>
            <a:pPr marL="69850" marR="17780">
              <a:lnSpc>
                <a:spcPct val="100000"/>
              </a:lnSpc>
              <a:spcBef>
                <a:spcPts val="100"/>
              </a:spcBef>
            </a:pPr>
            <a:r>
              <a:rPr i="0" spc="-5" dirty="0">
                <a:latin typeface="Perpetua"/>
                <a:cs typeface="Perpetua"/>
              </a:rPr>
              <a:t>Roots </a:t>
            </a:r>
            <a:r>
              <a:rPr i="0" spc="-10" dirty="0">
                <a:latin typeface="Perpetua"/>
                <a:cs typeface="Perpetua"/>
              </a:rPr>
              <a:t>of </a:t>
            </a:r>
            <a:r>
              <a:rPr i="0" dirty="0">
                <a:latin typeface="Perpetua"/>
                <a:cs typeface="Perpetua"/>
              </a:rPr>
              <a:t>a </a:t>
            </a:r>
            <a:r>
              <a:rPr i="0" spc="-5" dirty="0">
                <a:latin typeface="Perpetua"/>
                <a:cs typeface="Perpetua"/>
              </a:rPr>
              <a:t>quadratic equation </a:t>
            </a:r>
            <a:r>
              <a:rPr dirty="0"/>
              <a:t>ax</a:t>
            </a:r>
            <a:r>
              <a:rPr sz="3150" baseline="25132" dirty="0"/>
              <a:t>2</a:t>
            </a:r>
            <a:r>
              <a:rPr sz="3200" dirty="0"/>
              <a:t>+bx+c=0</a:t>
            </a:r>
            <a:r>
              <a:rPr sz="3200" i="0" dirty="0">
                <a:latin typeface="Perpetua"/>
                <a:cs typeface="Perpetua"/>
              </a:rPr>
              <a:t>, with</a:t>
            </a:r>
            <a:r>
              <a:rPr sz="3200" i="0" spc="-90" dirty="0">
                <a:latin typeface="Perpetua"/>
                <a:cs typeface="Perpetua"/>
              </a:rPr>
              <a:t> </a:t>
            </a:r>
            <a:r>
              <a:rPr sz="3200" i="0" dirty="0">
                <a:latin typeface="Perpetua"/>
                <a:cs typeface="Perpetua"/>
              </a:rPr>
              <a:t>the  </a:t>
            </a:r>
            <a:r>
              <a:rPr sz="3200" i="0" spc="-5" dirty="0">
                <a:latin typeface="Perpetua"/>
                <a:cs typeface="Perpetua"/>
              </a:rPr>
              <a:t>coefficients </a:t>
            </a:r>
            <a:r>
              <a:rPr sz="3200" dirty="0"/>
              <a:t>a, </a:t>
            </a:r>
            <a:r>
              <a:rPr sz="3200" spc="-80" dirty="0"/>
              <a:t>b, </a:t>
            </a:r>
            <a:r>
              <a:rPr sz="3200" i="0" spc="-5" dirty="0">
                <a:latin typeface="Perpetua"/>
                <a:cs typeface="Perpetua"/>
              </a:rPr>
              <a:t>and </a:t>
            </a:r>
            <a:r>
              <a:rPr sz="3200" dirty="0"/>
              <a:t>c </a:t>
            </a:r>
            <a:r>
              <a:rPr sz="3200" i="0" spc="-5" dirty="0">
                <a:latin typeface="Perpetua"/>
                <a:cs typeface="Perpetua"/>
              </a:rPr>
              <a:t>defined </a:t>
            </a:r>
            <a:r>
              <a:rPr sz="3200" i="0" spc="-10" dirty="0">
                <a:latin typeface="Perpetua"/>
                <a:cs typeface="Perpetua"/>
              </a:rPr>
              <a:t>from </a:t>
            </a:r>
            <a:r>
              <a:rPr sz="3200" i="0" spc="-5" dirty="0">
                <a:latin typeface="Perpetua"/>
                <a:cs typeface="Perpetua"/>
              </a:rPr>
              <a:t>user</a:t>
            </a:r>
            <a:r>
              <a:rPr sz="3200" i="0" spc="-465" dirty="0">
                <a:latin typeface="Perpetua"/>
                <a:cs typeface="Perpetua"/>
              </a:rPr>
              <a:t> </a:t>
            </a:r>
            <a:r>
              <a:rPr sz="3200" i="0" spc="-5" dirty="0">
                <a:latin typeface="Perpetua"/>
                <a:cs typeface="Perpetua"/>
              </a:rPr>
              <a:t>input.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523081"/>
            <a:ext cx="6569709" cy="83756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400" dirty="0">
                <a:latin typeface="Perpetua"/>
                <a:cs typeface="Perpetua"/>
              </a:rPr>
              <a:t>Input: </a:t>
            </a:r>
            <a:r>
              <a:rPr sz="2400" spc="-5" dirty="0">
                <a:latin typeface="Perpetua"/>
                <a:cs typeface="Perpetua"/>
              </a:rPr>
              <a:t>quadratic equation </a:t>
            </a:r>
            <a:r>
              <a:rPr sz="2400" dirty="0">
                <a:latin typeface="Perpetua"/>
                <a:cs typeface="Perpetua"/>
              </a:rPr>
              <a:t>coefficients </a:t>
            </a:r>
            <a:r>
              <a:rPr sz="2400" spc="-5" dirty="0">
                <a:latin typeface="Perpetua"/>
                <a:cs typeface="Perpetua"/>
              </a:rPr>
              <a:t>a, </a:t>
            </a:r>
            <a:r>
              <a:rPr sz="2400" spc="-75" dirty="0">
                <a:latin typeface="Perpetua"/>
                <a:cs typeface="Perpetua"/>
              </a:rPr>
              <a:t>b,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c in </a:t>
            </a:r>
            <a:r>
              <a:rPr sz="2400" spc="-10" dirty="0">
                <a:latin typeface="Perpetua"/>
                <a:cs typeface="Perpetua"/>
              </a:rPr>
              <a:t>real</a:t>
            </a:r>
            <a:r>
              <a:rPr sz="2400" spc="-2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type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Perpetua"/>
                <a:cs typeface="Perpetua"/>
              </a:rPr>
              <a:t>Output: the </a:t>
            </a:r>
            <a:r>
              <a:rPr sz="2400" spc="-5" dirty="0">
                <a:latin typeface="Perpetua"/>
                <a:cs typeface="Perpetua"/>
              </a:rPr>
              <a:t>roots </a:t>
            </a:r>
            <a:r>
              <a:rPr sz="2400" dirty="0">
                <a:latin typeface="Perpetua"/>
                <a:cs typeface="Perpetua"/>
              </a:rPr>
              <a:t>of the</a:t>
            </a:r>
            <a:r>
              <a:rPr sz="2400" spc="-1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equation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4695" y="2374519"/>
            <a:ext cx="35769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output: "Ill-posed </a:t>
            </a:r>
            <a:r>
              <a:rPr sz="2400" spc="-5" dirty="0">
                <a:latin typeface="Perpetua"/>
                <a:cs typeface="Perpetua"/>
              </a:rPr>
              <a:t>equation.</a:t>
            </a:r>
            <a:r>
              <a:rPr sz="2400" spc="-3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NO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4695" y="3109340"/>
            <a:ext cx="3718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output: </a:t>
            </a:r>
            <a:r>
              <a:rPr sz="2400" spc="-5" dirty="0">
                <a:latin typeface="Perpetua"/>
                <a:cs typeface="Perpetua"/>
              </a:rPr>
              <a:t>"SOLUTION: </a:t>
            </a:r>
            <a:r>
              <a:rPr sz="2400" spc="-20" dirty="0">
                <a:latin typeface="Perpetua"/>
                <a:cs typeface="Perpetua"/>
              </a:rPr>
              <a:t>any </a:t>
            </a:r>
            <a:r>
              <a:rPr sz="2400" spc="-10" dirty="0">
                <a:latin typeface="Perpetua"/>
                <a:cs typeface="Perpetua"/>
              </a:rPr>
              <a:t>real</a:t>
            </a:r>
            <a:r>
              <a:rPr sz="2400" spc="-2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4695" y="3843908"/>
            <a:ext cx="3736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output: </a:t>
            </a:r>
            <a:r>
              <a:rPr sz="2400" spc="-5" dirty="0">
                <a:latin typeface="Perpetua"/>
                <a:cs typeface="Perpetua"/>
              </a:rPr>
              <a:t>"Linear Equation,</a:t>
            </a:r>
            <a:r>
              <a:rPr sz="2400" spc="-2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Unique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21739" y="4578857"/>
            <a:ext cx="3752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output:"Quadratic Equation,</a:t>
            </a:r>
            <a:r>
              <a:rPr sz="2400" spc="-1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Real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340" y="2374519"/>
            <a:ext cx="3517900" cy="29248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131445" indent="-274320">
              <a:lnSpc>
                <a:spcPts val="2590"/>
              </a:lnSpc>
              <a:spcBef>
                <a:spcPts val="425"/>
              </a:spcBef>
            </a:pPr>
            <a:r>
              <a:rPr sz="2400" spc="-5" dirty="0">
                <a:latin typeface="Perpetua"/>
                <a:cs typeface="Perpetua"/>
              </a:rPr>
              <a:t>Case#1: </a:t>
            </a:r>
            <a:r>
              <a:rPr sz="2400" dirty="0">
                <a:latin typeface="Perpetua"/>
                <a:cs typeface="Perpetua"/>
              </a:rPr>
              <a:t>input: </a:t>
            </a:r>
            <a:r>
              <a:rPr sz="2400" spc="-10" dirty="0">
                <a:latin typeface="Perpetua"/>
                <a:cs typeface="Perpetua"/>
              </a:rPr>
              <a:t>a=0,b=0,c=1  </a:t>
            </a:r>
            <a:r>
              <a:rPr sz="2400" spc="-20" dirty="0">
                <a:latin typeface="Perpetua"/>
                <a:cs typeface="Perpetua"/>
              </a:rPr>
              <a:t>SOLUTION."</a:t>
            </a:r>
            <a:endParaRPr sz="2400">
              <a:latin typeface="Perpetua"/>
              <a:cs typeface="Perpetua"/>
            </a:endParaRPr>
          </a:p>
          <a:p>
            <a:pPr marL="286385" marR="131445" indent="-274320">
              <a:lnSpc>
                <a:spcPts val="2590"/>
              </a:lnSpc>
              <a:spcBef>
                <a:spcPts val="605"/>
              </a:spcBef>
            </a:pPr>
            <a:r>
              <a:rPr sz="2400" spc="-5" dirty="0">
                <a:latin typeface="Perpetua"/>
                <a:cs typeface="Perpetua"/>
              </a:rPr>
              <a:t>Case#2: </a:t>
            </a:r>
            <a:r>
              <a:rPr sz="2400" dirty="0">
                <a:latin typeface="Perpetua"/>
                <a:cs typeface="Perpetua"/>
              </a:rPr>
              <a:t>input: </a:t>
            </a:r>
            <a:r>
              <a:rPr sz="2400" spc="-10" dirty="0">
                <a:latin typeface="Perpetua"/>
                <a:cs typeface="Perpetua"/>
              </a:rPr>
              <a:t>a=0,b=0,c=0  </a:t>
            </a:r>
            <a:r>
              <a:rPr sz="2400" dirty="0">
                <a:latin typeface="Perpetua"/>
                <a:cs typeface="Perpetua"/>
              </a:rPr>
              <a:t>complex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numbers"</a:t>
            </a:r>
            <a:endParaRPr sz="2400">
              <a:latin typeface="Perpetua"/>
              <a:cs typeface="Perpetua"/>
            </a:endParaRPr>
          </a:p>
          <a:p>
            <a:pPr marL="286385" marR="131445" indent="-274320">
              <a:lnSpc>
                <a:spcPts val="2590"/>
              </a:lnSpc>
              <a:spcBef>
                <a:spcPts val="605"/>
              </a:spcBef>
              <a:tabLst>
                <a:tab pos="1486535" algn="l"/>
              </a:tabLst>
            </a:pPr>
            <a:r>
              <a:rPr sz="2400" spc="-5" dirty="0">
                <a:latin typeface="Perpetua"/>
                <a:cs typeface="Perpetua"/>
              </a:rPr>
              <a:t>Case#3: </a:t>
            </a:r>
            <a:r>
              <a:rPr sz="2400" dirty="0">
                <a:latin typeface="Perpetua"/>
                <a:cs typeface="Perpetua"/>
              </a:rPr>
              <a:t>input: </a:t>
            </a:r>
            <a:r>
              <a:rPr sz="2400" spc="-10" dirty="0">
                <a:latin typeface="Perpetua"/>
                <a:cs typeface="Perpetua"/>
              </a:rPr>
              <a:t>a=0,b=2,c=4  </a:t>
            </a:r>
            <a:r>
              <a:rPr sz="2400" dirty="0">
                <a:latin typeface="Perpetua"/>
                <a:cs typeface="Perpetua"/>
              </a:rPr>
              <a:t>Solution:	2.0"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ts val="2590"/>
              </a:lnSpc>
              <a:spcBef>
                <a:spcPts val="610"/>
              </a:spcBef>
            </a:pPr>
            <a:r>
              <a:rPr sz="2400" spc="-5" dirty="0">
                <a:latin typeface="Perpetua"/>
                <a:cs typeface="Perpetua"/>
              </a:rPr>
              <a:t>Case#4: </a:t>
            </a:r>
            <a:r>
              <a:rPr sz="2400" dirty="0">
                <a:latin typeface="Perpetua"/>
                <a:cs typeface="Perpetua"/>
              </a:rPr>
              <a:t>input: </a:t>
            </a:r>
            <a:r>
              <a:rPr sz="2400" spc="-5" dirty="0">
                <a:latin typeface="Perpetua"/>
                <a:cs typeface="Perpetua"/>
              </a:rPr>
              <a:t>a=1,b=-2,c=1  </a:t>
            </a:r>
            <a:r>
              <a:rPr sz="2400" dirty="0">
                <a:latin typeface="Perpetua"/>
                <a:cs typeface="Perpetua"/>
              </a:rPr>
              <a:t>Solutions: x1=1.0,</a:t>
            </a:r>
            <a:r>
              <a:rPr sz="2400" spc="-3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x2=1.0"!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340" y="5313375"/>
            <a:ext cx="840295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080" indent="-274320">
              <a:lnSpc>
                <a:spcPts val="2590"/>
              </a:lnSpc>
              <a:spcBef>
                <a:spcPts val="425"/>
              </a:spcBef>
              <a:tabLst>
                <a:tab pos="4129404" algn="l"/>
              </a:tabLst>
            </a:pPr>
            <a:r>
              <a:rPr sz="2400" spc="-5" dirty="0">
                <a:latin typeface="Perpetua"/>
                <a:cs typeface="Perpetua"/>
              </a:rPr>
              <a:t>Case#5:</a:t>
            </a:r>
            <a:r>
              <a:rPr sz="2400" spc="4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input: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a=1,b=0,c=1	</a:t>
            </a:r>
            <a:r>
              <a:rPr sz="2400" spc="-5" dirty="0">
                <a:latin typeface="Perpetua"/>
                <a:cs typeface="Perpetua"/>
              </a:rPr>
              <a:t>output:"Quadratic Equation,</a:t>
            </a:r>
            <a:r>
              <a:rPr sz="2400" spc="-14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Complex  </a:t>
            </a:r>
            <a:r>
              <a:rPr sz="2400" dirty="0">
                <a:latin typeface="Perpetua"/>
                <a:cs typeface="Perpetua"/>
              </a:rPr>
              <a:t>Solutions: x1=0.0+i1.0,</a:t>
            </a:r>
            <a:r>
              <a:rPr sz="2400" spc="-2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x2=0.0-i1.0"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643127"/>
            <a:ext cx="8482584" cy="5529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42" y="357886"/>
            <a:ext cx="2857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Perpetua"/>
                <a:cs typeface="Perpetua"/>
              </a:rPr>
              <a:t>Office</a:t>
            </a:r>
            <a:r>
              <a:rPr sz="4000" i="0" spc="-360" dirty="0">
                <a:latin typeface="Perpetua"/>
                <a:cs typeface="Perpetua"/>
              </a:rPr>
              <a:t> </a:t>
            </a:r>
            <a:r>
              <a:rPr sz="4000" i="0" spc="-10" dirty="0">
                <a:latin typeface="Perpetua"/>
                <a:cs typeface="Perpetua"/>
              </a:rPr>
              <a:t>Assistant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659" y="1062354"/>
            <a:ext cx="826770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Suppose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need </a:t>
            </a:r>
            <a:r>
              <a:rPr sz="2400" spc="-5" dirty="0">
                <a:latin typeface="Perpetua"/>
                <a:cs typeface="Perpetua"/>
              </a:rPr>
              <a:t>to hire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20" dirty="0">
                <a:latin typeface="Perpetua"/>
                <a:cs typeface="Perpetua"/>
              </a:rPr>
              <a:t>new </a:t>
            </a:r>
            <a:r>
              <a:rPr sz="2400" dirty="0">
                <a:latin typeface="Perpetua"/>
                <a:cs typeface="Perpetua"/>
              </a:rPr>
              <a:t>office </a:t>
            </a:r>
            <a:r>
              <a:rPr sz="2400" spc="-5" dirty="0">
                <a:latin typeface="Perpetua"/>
                <a:cs typeface="Perpetua"/>
              </a:rPr>
              <a:t>assistant. </a:t>
            </a:r>
            <a:r>
              <a:rPr sz="2400" spc="-65" dirty="0">
                <a:latin typeface="Perpetua"/>
                <a:cs typeface="Perpetua"/>
              </a:rPr>
              <a:t>Your </a:t>
            </a:r>
            <a:r>
              <a:rPr sz="2400" spc="-10" dirty="0">
                <a:latin typeface="Perpetua"/>
                <a:cs typeface="Perpetua"/>
              </a:rPr>
              <a:t>previous  </a:t>
            </a:r>
            <a:r>
              <a:rPr sz="2400" spc="-5" dirty="0">
                <a:latin typeface="Perpetua"/>
                <a:cs typeface="Perpetua"/>
              </a:rPr>
              <a:t>attempts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spc="5" dirty="0">
                <a:latin typeface="Perpetua"/>
                <a:cs typeface="Perpetua"/>
              </a:rPr>
              <a:t>hiring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been unsuccessful,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decide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use </a:t>
            </a:r>
            <a:r>
              <a:rPr sz="2400" spc="-5" dirty="0">
                <a:latin typeface="Perpetua"/>
                <a:cs typeface="Perpetua"/>
              </a:rPr>
              <a:t>an  </a:t>
            </a:r>
            <a:r>
              <a:rPr sz="2400" spc="-10" dirty="0">
                <a:latin typeface="Perpetua"/>
                <a:cs typeface="Perpetua"/>
              </a:rPr>
              <a:t>employment </a:t>
            </a:r>
            <a:r>
              <a:rPr sz="2400" spc="-35" dirty="0">
                <a:latin typeface="Perpetua"/>
                <a:cs typeface="Perpetua"/>
              </a:rPr>
              <a:t>agency.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employment </a:t>
            </a:r>
            <a:r>
              <a:rPr sz="2400" dirty="0">
                <a:latin typeface="Perpetua"/>
                <a:cs typeface="Perpetua"/>
              </a:rPr>
              <a:t>agency sends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one </a:t>
            </a:r>
            <a:r>
              <a:rPr sz="2400" spc="-5" dirty="0">
                <a:latin typeface="Perpetua"/>
                <a:cs typeface="Perpetua"/>
              </a:rPr>
              <a:t>candidate  </a:t>
            </a: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spc="-85" dirty="0">
                <a:latin typeface="Perpetua"/>
                <a:cs typeface="Perpetua"/>
              </a:rPr>
              <a:t>day. </a:t>
            </a: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spc="5" dirty="0">
                <a:latin typeface="Perpetua"/>
                <a:cs typeface="Perpetua"/>
              </a:rPr>
              <a:t>interview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5" dirty="0">
                <a:latin typeface="Perpetua"/>
                <a:cs typeface="Perpetua"/>
              </a:rPr>
              <a:t>person </a:t>
            </a:r>
            <a:r>
              <a:rPr sz="2400" spc="-10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then </a:t>
            </a:r>
            <a:r>
              <a:rPr sz="2400" spc="-5" dirty="0">
                <a:latin typeface="Perpetua"/>
                <a:cs typeface="Perpetua"/>
              </a:rPr>
              <a:t>decide </a:t>
            </a:r>
            <a:r>
              <a:rPr sz="2400" dirty="0">
                <a:latin typeface="Perpetua"/>
                <a:cs typeface="Perpetua"/>
              </a:rPr>
              <a:t>either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hire </a:t>
            </a:r>
            <a:r>
              <a:rPr sz="2400" spc="-5" dirty="0">
                <a:latin typeface="Perpetua"/>
                <a:cs typeface="Perpetua"/>
              </a:rPr>
              <a:t>that  </a:t>
            </a:r>
            <a:r>
              <a:rPr sz="2400" spc="5" dirty="0">
                <a:latin typeface="Perpetua"/>
                <a:cs typeface="Perpetua"/>
              </a:rPr>
              <a:t>person </a:t>
            </a:r>
            <a:r>
              <a:rPr sz="2400" spc="-5" dirty="0">
                <a:latin typeface="Perpetua"/>
                <a:cs typeface="Perpetua"/>
              </a:rPr>
              <a:t>or not. </a:t>
            </a: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spc="-10" dirty="0">
                <a:latin typeface="Perpetua"/>
                <a:cs typeface="Perpetua"/>
              </a:rPr>
              <a:t>must </a:t>
            </a:r>
            <a:r>
              <a:rPr sz="2400" spc="-30" dirty="0">
                <a:latin typeface="Perpetua"/>
                <a:cs typeface="Perpetua"/>
              </a:rPr>
              <a:t>pay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employment </a:t>
            </a:r>
            <a:r>
              <a:rPr sz="2400" dirty="0">
                <a:latin typeface="Perpetua"/>
                <a:cs typeface="Perpetua"/>
              </a:rPr>
              <a:t>agency a </a:t>
            </a:r>
            <a:r>
              <a:rPr sz="2400" spc="-5" dirty="0">
                <a:latin typeface="Perpetua"/>
                <a:cs typeface="Perpetua"/>
              </a:rPr>
              <a:t>small </a:t>
            </a:r>
            <a:r>
              <a:rPr sz="2400" dirty="0">
                <a:latin typeface="Perpetua"/>
                <a:cs typeface="Perpetua"/>
              </a:rPr>
              <a:t>fee </a:t>
            </a:r>
            <a:r>
              <a:rPr sz="2400" spc="-5" dirty="0">
                <a:latin typeface="Perpetua"/>
                <a:cs typeface="Perpetua"/>
              </a:rPr>
              <a:t>to  </a:t>
            </a:r>
            <a:r>
              <a:rPr sz="2400" spc="5" dirty="0">
                <a:latin typeface="Perpetua"/>
                <a:cs typeface="Perpetua"/>
              </a:rPr>
              <a:t>interview </a:t>
            </a:r>
            <a:r>
              <a:rPr sz="2400" spc="-5" dirty="0">
                <a:latin typeface="Perpetua"/>
                <a:cs typeface="Perpetua"/>
              </a:rPr>
              <a:t>an applicant. </a:t>
            </a:r>
            <a:r>
              <a:rPr sz="2400" spc="-160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actually hire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spc="-10" dirty="0">
                <a:latin typeface="Perpetua"/>
                <a:cs typeface="Perpetua"/>
              </a:rPr>
              <a:t>applicant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0" dirty="0">
                <a:latin typeface="Perpetua"/>
                <a:cs typeface="Perpetua"/>
              </a:rPr>
              <a:t>more </a:t>
            </a:r>
            <a:r>
              <a:rPr sz="2400" spc="-45" dirty="0">
                <a:latin typeface="Perpetua"/>
                <a:cs typeface="Perpetua"/>
              </a:rPr>
              <a:t>costly,  </a:t>
            </a:r>
            <a:r>
              <a:rPr sz="2400" spc="-60" dirty="0">
                <a:latin typeface="Perpetua"/>
                <a:cs typeface="Perpetua"/>
              </a:rPr>
              <a:t>however, </a:t>
            </a:r>
            <a:r>
              <a:rPr sz="2400" spc="-5" dirty="0">
                <a:latin typeface="Perpetua"/>
                <a:cs typeface="Perpetua"/>
              </a:rPr>
              <a:t>since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spc="-10" dirty="0">
                <a:latin typeface="Perpetua"/>
                <a:cs typeface="Perpetua"/>
              </a:rPr>
              <a:t>must fire </a:t>
            </a:r>
            <a:r>
              <a:rPr sz="2400" spc="-15" dirty="0">
                <a:latin typeface="Perpetua"/>
                <a:cs typeface="Perpetua"/>
              </a:rPr>
              <a:t>your </a:t>
            </a:r>
            <a:r>
              <a:rPr sz="2400" dirty="0">
                <a:latin typeface="Perpetua"/>
                <a:cs typeface="Perpetua"/>
              </a:rPr>
              <a:t>current office </a:t>
            </a:r>
            <a:r>
              <a:rPr sz="2400" spc="-5" dirty="0">
                <a:latin typeface="Perpetua"/>
                <a:cs typeface="Perpetua"/>
              </a:rPr>
              <a:t>assistant and </a:t>
            </a:r>
            <a:r>
              <a:rPr sz="2400" spc="-30" dirty="0">
                <a:latin typeface="Perpetua"/>
                <a:cs typeface="Perpetua"/>
              </a:rPr>
              <a:t>pay </a:t>
            </a:r>
            <a:r>
              <a:rPr sz="2400" dirty="0">
                <a:latin typeface="Perpetua"/>
                <a:cs typeface="Perpetua"/>
              </a:rPr>
              <a:t>a  </a:t>
            </a:r>
            <a:r>
              <a:rPr sz="2400" spc="-5" dirty="0">
                <a:latin typeface="Perpetua"/>
                <a:cs typeface="Perpetua"/>
              </a:rPr>
              <a:t>substantial </a:t>
            </a:r>
            <a:r>
              <a:rPr sz="2400" spc="5" dirty="0">
                <a:latin typeface="Perpetua"/>
                <a:cs typeface="Perpetua"/>
              </a:rPr>
              <a:t>hiring </a:t>
            </a:r>
            <a:r>
              <a:rPr sz="2400" dirty="0">
                <a:latin typeface="Perpetua"/>
                <a:cs typeface="Perpetua"/>
              </a:rPr>
              <a:t>fee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employment </a:t>
            </a:r>
            <a:r>
              <a:rPr sz="2400" spc="-35" dirty="0">
                <a:latin typeface="Perpetua"/>
                <a:cs typeface="Perpetua"/>
              </a:rPr>
              <a:t>agency. </a:t>
            </a: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5" dirty="0">
                <a:latin typeface="Perpetua"/>
                <a:cs typeface="Perpetua"/>
              </a:rPr>
              <a:t>committed to  </a:t>
            </a:r>
            <a:r>
              <a:rPr sz="2400" spc="-20" dirty="0">
                <a:latin typeface="Perpetua"/>
                <a:cs typeface="Perpetua"/>
              </a:rPr>
              <a:t>having,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times, the </a:t>
            </a:r>
            <a:r>
              <a:rPr sz="2400" spc="-5" dirty="0">
                <a:latin typeface="Perpetua"/>
                <a:cs typeface="Perpetua"/>
              </a:rPr>
              <a:t>best </a:t>
            </a:r>
            <a:r>
              <a:rPr sz="2400" spc="-10" dirty="0">
                <a:latin typeface="Perpetua"/>
                <a:cs typeface="Perpetua"/>
              </a:rPr>
              <a:t>possible </a:t>
            </a:r>
            <a:r>
              <a:rPr sz="2400" spc="5" dirty="0">
                <a:latin typeface="Perpetua"/>
                <a:cs typeface="Perpetua"/>
              </a:rPr>
              <a:t>person </a:t>
            </a:r>
            <a:r>
              <a:rPr sz="2400" dirty="0">
                <a:latin typeface="Perpetua"/>
                <a:cs typeface="Perpetua"/>
              </a:rPr>
              <a:t>for </a:t>
            </a:r>
            <a:r>
              <a:rPr sz="2400" spc="-10" dirty="0">
                <a:latin typeface="Perpetua"/>
                <a:cs typeface="Perpetua"/>
              </a:rPr>
              <a:t>the </a:t>
            </a:r>
            <a:r>
              <a:rPr sz="2400" spc="-40" dirty="0">
                <a:latin typeface="Perpetua"/>
                <a:cs typeface="Perpetua"/>
              </a:rPr>
              <a:t>job. </a:t>
            </a:r>
            <a:r>
              <a:rPr sz="2400" spc="-15" dirty="0">
                <a:latin typeface="Perpetua"/>
                <a:cs typeface="Perpetua"/>
              </a:rPr>
              <a:t>Therefore, you  </a:t>
            </a:r>
            <a:r>
              <a:rPr sz="2400" dirty="0">
                <a:latin typeface="Perpetua"/>
                <a:cs typeface="Perpetua"/>
              </a:rPr>
              <a:t>decide </a:t>
            </a:r>
            <a:r>
              <a:rPr sz="2400" spc="-5" dirty="0">
                <a:latin typeface="Perpetua"/>
                <a:cs typeface="Perpetua"/>
              </a:rPr>
              <a:t>that, after </a:t>
            </a:r>
            <a:r>
              <a:rPr sz="2400" spc="5" dirty="0">
                <a:latin typeface="Perpetua"/>
                <a:cs typeface="Perpetua"/>
              </a:rPr>
              <a:t>interviewing </a:t>
            </a: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spc="-5" dirty="0">
                <a:latin typeface="Perpetua"/>
                <a:cs typeface="Perpetua"/>
              </a:rPr>
              <a:t>applicant, </a:t>
            </a: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applicant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better  qualified than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current </a:t>
            </a:r>
            <a:r>
              <a:rPr sz="2400" dirty="0">
                <a:latin typeface="Perpetua"/>
                <a:cs typeface="Perpetua"/>
              </a:rPr>
              <a:t>office </a:t>
            </a:r>
            <a:r>
              <a:rPr sz="2400" spc="-5" dirty="0">
                <a:latin typeface="Perpetua"/>
                <a:cs typeface="Perpetua"/>
              </a:rPr>
              <a:t>assistant,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10" dirty="0">
                <a:latin typeface="Perpetua"/>
                <a:cs typeface="Perpetua"/>
              </a:rPr>
              <a:t>fire </a:t>
            </a:r>
            <a:r>
              <a:rPr sz="2400" dirty="0">
                <a:latin typeface="Perpetua"/>
                <a:cs typeface="Perpetua"/>
              </a:rPr>
              <a:t>the current office  </a:t>
            </a:r>
            <a:r>
              <a:rPr sz="2400" spc="-5" dirty="0">
                <a:latin typeface="Perpetua"/>
                <a:cs typeface="Perpetua"/>
              </a:rPr>
              <a:t>assistant and hire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5" dirty="0">
                <a:latin typeface="Perpetua"/>
                <a:cs typeface="Perpetua"/>
              </a:rPr>
              <a:t>new </a:t>
            </a:r>
            <a:r>
              <a:rPr sz="2400" spc="-5" dirty="0">
                <a:latin typeface="Perpetua"/>
                <a:cs typeface="Perpetua"/>
              </a:rPr>
              <a:t>applicant. </a:t>
            </a:r>
            <a:r>
              <a:rPr sz="2400" spc="-90" dirty="0">
                <a:latin typeface="Perpetua"/>
                <a:cs typeface="Perpetua"/>
              </a:rPr>
              <a:t>You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willing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30" dirty="0">
                <a:latin typeface="Perpetua"/>
                <a:cs typeface="Perpetua"/>
              </a:rPr>
              <a:t>pay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resulting  </a:t>
            </a:r>
            <a:r>
              <a:rPr sz="2400" spc="10" dirty="0">
                <a:latin typeface="Perpetua"/>
                <a:cs typeface="Perpetua"/>
              </a:rPr>
              <a:t>price </a:t>
            </a:r>
            <a:r>
              <a:rPr sz="2400" dirty="0">
                <a:latin typeface="Perpetua"/>
                <a:cs typeface="Perpetua"/>
              </a:rPr>
              <a:t>of this </a:t>
            </a:r>
            <a:r>
              <a:rPr sz="2400" spc="-35" dirty="0">
                <a:latin typeface="Perpetua"/>
                <a:cs typeface="Perpetua"/>
              </a:rPr>
              <a:t>strategy, </a:t>
            </a:r>
            <a:r>
              <a:rPr sz="2400" spc="-10" dirty="0">
                <a:latin typeface="Perpetua"/>
                <a:cs typeface="Perpetua"/>
              </a:rPr>
              <a:t>but </a:t>
            </a:r>
            <a:r>
              <a:rPr sz="2400" spc="-15" dirty="0">
                <a:latin typeface="Perpetua"/>
                <a:cs typeface="Perpetua"/>
              </a:rPr>
              <a:t>you </a:t>
            </a:r>
            <a:r>
              <a:rPr sz="2400" dirty="0">
                <a:latin typeface="Perpetua"/>
                <a:cs typeface="Perpetua"/>
              </a:rPr>
              <a:t>wish </a:t>
            </a:r>
            <a:r>
              <a:rPr sz="2400" spc="-5" dirty="0">
                <a:latin typeface="Perpetua"/>
                <a:cs typeface="Perpetua"/>
              </a:rPr>
              <a:t>to estimate </a:t>
            </a:r>
            <a:r>
              <a:rPr sz="2400" spc="-10" dirty="0">
                <a:latin typeface="Perpetua"/>
                <a:cs typeface="Perpetua"/>
              </a:rPr>
              <a:t>what that </a:t>
            </a:r>
            <a:r>
              <a:rPr sz="2400" spc="10" dirty="0">
                <a:latin typeface="Perpetua"/>
                <a:cs typeface="Perpetua"/>
              </a:rPr>
              <a:t>price </a:t>
            </a:r>
            <a:r>
              <a:rPr sz="2400" dirty="0">
                <a:latin typeface="Perpetua"/>
                <a:cs typeface="Perpetua"/>
              </a:rPr>
              <a:t>will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be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931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10" dirty="0">
                <a:latin typeface="Perpetua"/>
                <a:cs typeface="Perpetua"/>
              </a:rPr>
              <a:t>Algo</a:t>
            </a:r>
            <a:r>
              <a:rPr sz="4000" i="0" spc="90" dirty="0">
                <a:latin typeface="Perpetua"/>
                <a:cs typeface="Perpetua"/>
              </a:rPr>
              <a:t>r</a:t>
            </a:r>
            <a:r>
              <a:rPr sz="4000" i="0" spc="-5" dirty="0">
                <a:latin typeface="Perpetua"/>
                <a:cs typeface="Perpetua"/>
              </a:rPr>
              <a:t>ithm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5604" y="1949627"/>
            <a:ext cx="7544146" cy="34305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14781"/>
            <a:ext cx="8542655" cy="3822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714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procedure </a:t>
            </a:r>
            <a:r>
              <a:rPr sz="2600" spc="-40" dirty="0">
                <a:latin typeface="Perpetua"/>
                <a:cs typeface="Perpetua"/>
              </a:rPr>
              <a:t>HIRE-ASSISTANT, </a:t>
            </a:r>
            <a:r>
              <a:rPr sz="2600" spc="-5" dirty="0">
                <a:latin typeface="Perpetua"/>
                <a:cs typeface="Perpetua"/>
              </a:rPr>
              <a:t>expresses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strategy for </a:t>
            </a:r>
            <a:r>
              <a:rPr sz="2600" spc="5" dirty="0">
                <a:latin typeface="Perpetua"/>
                <a:cs typeface="Perpetua"/>
              </a:rPr>
              <a:t>hiring 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pseudocode.</a:t>
            </a:r>
            <a:endParaRPr sz="2600">
              <a:latin typeface="Perpetua"/>
              <a:cs typeface="Perpetua"/>
            </a:endParaRPr>
          </a:p>
          <a:p>
            <a:pPr marL="286385" marR="17145" indent="-274320" algn="just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assumes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candidates 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office assistant </a:t>
            </a:r>
            <a:r>
              <a:rPr sz="2600" spc="5" dirty="0">
                <a:latin typeface="Perpetua"/>
                <a:cs typeface="Perpetua"/>
              </a:rPr>
              <a:t>job </a:t>
            </a:r>
            <a:r>
              <a:rPr sz="2600" spc="-10" dirty="0">
                <a:latin typeface="Perpetua"/>
                <a:cs typeface="Perpetua"/>
              </a:rPr>
              <a:t>are  </a:t>
            </a:r>
            <a:r>
              <a:rPr sz="2600" spc="-5" dirty="0">
                <a:latin typeface="Perpetua"/>
                <a:cs typeface="Perpetua"/>
              </a:rPr>
              <a:t>numbered </a:t>
            </a:r>
            <a:r>
              <a:rPr sz="2600" dirty="0">
                <a:latin typeface="Perpetua"/>
                <a:cs typeface="Perpetua"/>
              </a:rPr>
              <a:t>1 </a:t>
            </a:r>
            <a:r>
              <a:rPr sz="2600" spc="-5" dirty="0">
                <a:latin typeface="Perpetua"/>
                <a:cs typeface="Perpetua"/>
              </a:rPr>
              <a:t>through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n.</a:t>
            </a:r>
            <a:endParaRPr sz="2600">
              <a:latin typeface="Perpetua"/>
              <a:cs typeface="Perpetua"/>
            </a:endParaRPr>
          </a:p>
          <a:p>
            <a:pPr marL="286385" marR="1587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procedure </a:t>
            </a:r>
            <a:r>
              <a:rPr sz="2600" spc="-5" dirty="0">
                <a:latin typeface="Perpetua"/>
                <a:cs typeface="Perpetua"/>
              </a:rPr>
              <a:t>assumes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able </a:t>
            </a:r>
            <a:r>
              <a:rPr sz="2600" spc="-20" dirty="0">
                <a:latin typeface="Perpetua"/>
                <a:cs typeface="Perpetua"/>
              </a:rPr>
              <a:t>to, </a:t>
            </a:r>
            <a:r>
              <a:rPr sz="2600" spc="-5" dirty="0">
                <a:latin typeface="Perpetua"/>
                <a:cs typeface="Perpetua"/>
              </a:rPr>
              <a:t>after </a:t>
            </a:r>
            <a:r>
              <a:rPr sz="2600" spc="5" dirty="0">
                <a:latin typeface="Perpetua"/>
                <a:cs typeface="Perpetua"/>
              </a:rPr>
              <a:t>interviewing  </a:t>
            </a:r>
            <a:r>
              <a:rPr sz="2600" spc="-5" dirty="0">
                <a:latin typeface="Perpetua"/>
                <a:cs typeface="Perpetua"/>
              </a:rPr>
              <a:t>candidate </a:t>
            </a:r>
            <a:r>
              <a:rPr sz="2600" spc="5" dirty="0">
                <a:latin typeface="Perpetua"/>
                <a:cs typeface="Perpetua"/>
              </a:rPr>
              <a:t>i,determine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" dirty="0">
                <a:latin typeface="Perpetua"/>
                <a:cs typeface="Perpetua"/>
              </a:rPr>
              <a:t>candidate </a:t>
            </a:r>
            <a:r>
              <a:rPr sz="2600" dirty="0">
                <a:latin typeface="Perpetua"/>
                <a:cs typeface="Perpetua"/>
              </a:rPr>
              <a:t>i is the </a:t>
            </a:r>
            <a:r>
              <a:rPr sz="2600" spc="-5" dirty="0">
                <a:latin typeface="Perpetua"/>
                <a:cs typeface="Perpetua"/>
              </a:rPr>
              <a:t>best candidate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35" dirty="0">
                <a:latin typeface="Perpetua"/>
                <a:cs typeface="Perpetua"/>
              </a:rPr>
              <a:t>have  </a:t>
            </a:r>
            <a:r>
              <a:rPr sz="2600" dirty="0">
                <a:latin typeface="Perpetua"/>
                <a:cs typeface="Perpetua"/>
              </a:rPr>
              <a:t>seen so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65" dirty="0">
                <a:latin typeface="Perpetua"/>
                <a:cs typeface="Perpetua"/>
              </a:rPr>
              <a:t>far.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initialize,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procedure creates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25" dirty="0">
                <a:latin typeface="Perpetua"/>
                <a:cs typeface="Perpetua"/>
              </a:rPr>
              <a:t>dummy </a:t>
            </a:r>
            <a:r>
              <a:rPr sz="2600" spc="-10" dirty="0">
                <a:latin typeface="Perpetua"/>
                <a:cs typeface="Perpetua"/>
              </a:rPr>
              <a:t>candidate, </a:t>
            </a:r>
            <a:r>
              <a:rPr sz="2600" spc="-5" dirty="0">
                <a:latin typeface="Perpetua"/>
                <a:cs typeface="Perpetua"/>
              </a:rPr>
              <a:t>numbered 0,  </a:t>
            </a:r>
            <a:r>
              <a:rPr sz="2600" dirty="0">
                <a:latin typeface="Perpetua"/>
                <a:cs typeface="Perpetua"/>
              </a:rPr>
              <a:t>who is </a:t>
            </a:r>
            <a:r>
              <a:rPr sz="2600" spc="-5" dirty="0">
                <a:latin typeface="Perpetua"/>
                <a:cs typeface="Perpetua"/>
              </a:rPr>
              <a:t>less qualified than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other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candidates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i="0" spc="-10" dirty="0">
                <a:latin typeface="Perpetua"/>
                <a:cs typeface="Perpetua"/>
              </a:rPr>
              <a:t>Sieve-of-Eratosthenes-to </a:t>
            </a:r>
            <a:r>
              <a:rPr sz="3600" i="0" dirty="0">
                <a:latin typeface="Perpetua"/>
                <a:cs typeface="Perpetua"/>
              </a:rPr>
              <a:t>find </a:t>
            </a:r>
            <a:r>
              <a:rPr sz="3600" i="0" spc="10" dirty="0">
                <a:latin typeface="Perpetua"/>
                <a:cs typeface="Perpetua"/>
              </a:rPr>
              <a:t>prime </a:t>
            </a:r>
            <a:r>
              <a:rPr sz="3600" i="0" spc="5" dirty="0">
                <a:latin typeface="Perpetua"/>
                <a:cs typeface="Perpetua"/>
              </a:rPr>
              <a:t>numbers </a:t>
            </a:r>
            <a:r>
              <a:rPr sz="3600" i="0" spc="-5" dirty="0">
                <a:latin typeface="Perpetua"/>
                <a:cs typeface="Perpetua"/>
              </a:rPr>
              <a:t>up </a:t>
            </a:r>
            <a:r>
              <a:rPr sz="3600" i="0" dirty="0">
                <a:latin typeface="Perpetua"/>
                <a:cs typeface="Perpetua"/>
              </a:rPr>
              <a:t>to  an</a:t>
            </a:r>
            <a:r>
              <a:rPr sz="3600" i="0" spc="-5" dirty="0">
                <a:latin typeface="Perpetua"/>
                <a:cs typeface="Perpetua"/>
              </a:rPr>
              <a:t> </a:t>
            </a:r>
            <a:r>
              <a:rPr sz="3600" i="0" spc="-40" dirty="0">
                <a:latin typeface="Perpetua"/>
                <a:cs typeface="Perpetua"/>
              </a:rPr>
              <a:t>integer.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38097"/>
            <a:ext cx="8516620" cy="4455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Input to </a:t>
            </a:r>
            <a:r>
              <a:rPr sz="2400" spc="-10" dirty="0">
                <a:latin typeface="Perpetua"/>
                <a:cs typeface="Perpetua"/>
              </a:rPr>
              <a:t>Sieve-of-Eratosthenes </a:t>
            </a:r>
            <a:r>
              <a:rPr sz="2400" dirty="0">
                <a:latin typeface="Perpetua"/>
                <a:cs typeface="Perpetua"/>
              </a:rPr>
              <a:t>algorithm is </a:t>
            </a:r>
            <a:r>
              <a:rPr sz="2400" spc="-5" dirty="0">
                <a:latin typeface="Perpetua"/>
                <a:cs typeface="Perpetua"/>
              </a:rPr>
              <a:t>an integer number and</a:t>
            </a:r>
            <a:r>
              <a:rPr sz="2400" spc="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output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10" dirty="0">
                <a:latin typeface="Perpetua"/>
                <a:cs typeface="Perpetua"/>
              </a:rPr>
              <a:t>prime </a:t>
            </a:r>
            <a:r>
              <a:rPr sz="2400" spc="5" dirty="0">
                <a:latin typeface="Perpetua"/>
                <a:cs typeface="Perpetua"/>
              </a:rPr>
              <a:t>numbers which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less </a:t>
            </a:r>
            <a:r>
              <a:rPr sz="2400" dirty="0">
                <a:latin typeface="Perpetua"/>
                <a:cs typeface="Perpetua"/>
              </a:rPr>
              <a:t>than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dirty="0">
                <a:latin typeface="Perpetua"/>
                <a:cs typeface="Perpetua"/>
              </a:rPr>
              <a:t>input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number.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Sample </a:t>
            </a:r>
            <a:r>
              <a:rPr sz="2400" i="1" spc="-5" dirty="0">
                <a:latin typeface="Perpetua"/>
                <a:cs typeface="Perpetua"/>
              </a:rPr>
              <a:t>Input </a:t>
            </a:r>
            <a:r>
              <a:rPr sz="2400" i="1" dirty="0">
                <a:latin typeface="Perpetua"/>
                <a:cs typeface="Perpetua"/>
              </a:rPr>
              <a:t>: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10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2400" i="1" dirty="0">
                <a:latin typeface="Perpetua"/>
                <a:cs typeface="Perpetua"/>
              </a:rPr>
              <a:t>Sample </a:t>
            </a:r>
            <a:r>
              <a:rPr sz="2400" i="1" spc="-5" dirty="0">
                <a:latin typeface="Perpetua"/>
                <a:cs typeface="Perpetua"/>
              </a:rPr>
              <a:t>Output </a:t>
            </a:r>
            <a:r>
              <a:rPr sz="2400" i="1" dirty="0">
                <a:latin typeface="Perpetua"/>
                <a:cs typeface="Perpetua"/>
              </a:rPr>
              <a:t>: </a:t>
            </a:r>
            <a:r>
              <a:rPr sz="2400" dirty="0">
                <a:latin typeface="Perpetua"/>
                <a:cs typeface="Perpetua"/>
              </a:rPr>
              <a:t>2, 3, 5,</a:t>
            </a:r>
            <a:r>
              <a:rPr sz="2400" spc="-3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7.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dirty="0">
                <a:latin typeface="Perpetua"/>
                <a:cs typeface="Perpetua"/>
              </a:rPr>
              <a:t>Algorithm</a:t>
            </a:r>
            <a:endParaRPr sz="2400">
              <a:latin typeface="Perpetua"/>
              <a:cs typeface="Perpetua"/>
            </a:endParaRPr>
          </a:p>
          <a:p>
            <a:pPr marL="561340" marR="383540" lvl="1" indent="-228600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The algorithm </a:t>
            </a:r>
            <a:r>
              <a:rPr sz="2400" spc="-10" dirty="0">
                <a:latin typeface="Perpetua"/>
                <a:cs typeface="Perpetua"/>
              </a:rPr>
              <a:t>takes </a:t>
            </a:r>
            <a:r>
              <a:rPr sz="2400" dirty="0">
                <a:latin typeface="Perpetua"/>
                <a:cs typeface="Perpetua"/>
              </a:rPr>
              <a:t>a number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dirty="0">
                <a:latin typeface="Perpetua"/>
                <a:cs typeface="Perpetua"/>
              </a:rPr>
              <a:t>input. Assign this input to a</a:t>
            </a:r>
            <a:r>
              <a:rPr sz="2400" spc="-3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variable  </a:t>
            </a:r>
            <a:r>
              <a:rPr sz="2400" dirty="0">
                <a:latin typeface="Perpetua"/>
                <a:cs typeface="Perpetua"/>
              </a:rPr>
              <a:t>‘limit’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Assign </a:t>
            </a:r>
            <a:r>
              <a:rPr sz="2400" spc="-5" dirty="0">
                <a:latin typeface="Perpetua"/>
                <a:cs typeface="Perpetua"/>
              </a:rPr>
              <a:t>variable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i=2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Mark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5" dirty="0">
                <a:latin typeface="Perpetua"/>
                <a:cs typeface="Perpetua"/>
              </a:rPr>
              <a:t>numbers </a:t>
            </a:r>
            <a:r>
              <a:rPr sz="2400" spc="10" dirty="0">
                <a:latin typeface="Perpetua"/>
                <a:cs typeface="Perpetua"/>
              </a:rPr>
              <a:t>which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multiple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variable </a:t>
            </a:r>
            <a:r>
              <a:rPr sz="2400" dirty="0">
                <a:latin typeface="Perpetua"/>
                <a:cs typeface="Perpetua"/>
              </a:rPr>
              <a:t>i </a:t>
            </a:r>
            <a:r>
              <a:rPr sz="2400" spc="-5" dirty="0">
                <a:latin typeface="Perpetua"/>
                <a:cs typeface="Perpetua"/>
              </a:rPr>
              <a:t>and less </a:t>
            </a:r>
            <a:r>
              <a:rPr sz="2400" dirty="0">
                <a:latin typeface="Perpetua"/>
                <a:cs typeface="Perpetua"/>
              </a:rPr>
              <a:t>than the</a:t>
            </a:r>
            <a:r>
              <a:rPr sz="2400" spc="-3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‘limit’.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Update </a:t>
            </a:r>
            <a:r>
              <a:rPr sz="2400" spc="-10" dirty="0">
                <a:latin typeface="Perpetua"/>
                <a:cs typeface="Perpetua"/>
              </a:rPr>
              <a:t>value </a:t>
            </a:r>
            <a:r>
              <a:rPr sz="2400" dirty="0">
                <a:latin typeface="Perpetua"/>
                <a:cs typeface="Perpetua"/>
              </a:rPr>
              <a:t>of i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dirty="0">
                <a:latin typeface="Perpetua"/>
                <a:cs typeface="Perpetua"/>
              </a:rPr>
              <a:t>the next </a:t>
            </a:r>
            <a:r>
              <a:rPr sz="2400" spc="-5" dirty="0">
                <a:latin typeface="Perpetua"/>
                <a:cs typeface="Perpetua"/>
              </a:rPr>
              <a:t>unmarked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number.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5" dirty="0">
                <a:latin typeface="Perpetua"/>
                <a:cs typeface="Perpetua"/>
              </a:rPr>
              <a:t>variable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 is </a:t>
            </a:r>
            <a:r>
              <a:rPr sz="2400" spc="-5" dirty="0">
                <a:latin typeface="Perpetua"/>
                <a:cs typeface="Perpetua"/>
              </a:rPr>
              <a:t>greater </a:t>
            </a:r>
            <a:r>
              <a:rPr sz="2400" dirty="0">
                <a:latin typeface="Perpetua"/>
                <a:cs typeface="Perpetua"/>
              </a:rPr>
              <a:t>than the</a:t>
            </a:r>
            <a:r>
              <a:rPr sz="2400" spc="-2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‘limit’,</a:t>
            </a:r>
            <a:r>
              <a:rPr sz="2400" spc="-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then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stop.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Else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go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step </a:t>
            </a:r>
            <a:r>
              <a:rPr sz="2400" dirty="0">
                <a:latin typeface="Perpetua"/>
                <a:cs typeface="Perpetua"/>
              </a:rPr>
              <a:t>3.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7051" y="428244"/>
            <a:ext cx="8037576" cy="5929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57886"/>
            <a:ext cx="38722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latin typeface="Perpetua"/>
                <a:cs typeface="Perpetua"/>
              </a:rPr>
              <a:t>Complex</a:t>
            </a:r>
            <a:r>
              <a:rPr sz="4000" i="0" spc="-60" dirty="0">
                <a:latin typeface="Perpetua"/>
                <a:cs typeface="Perpetua"/>
              </a:rPr>
              <a:t> </a:t>
            </a:r>
            <a:r>
              <a:rPr sz="4000" i="0" spc="10" dirty="0">
                <a:latin typeface="Perpetua"/>
                <a:cs typeface="Perpetua"/>
              </a:rPr>
              <a:t>Flowcharts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1958" y="1278715"/>
            <a:ext cx="7875739" cy="50909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320" y="1422653"/>
            <a:ext cx="8456295" cy="461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5750" algn="l"/>
              </a:tabLst>
            </a:pPr>
            <a:r>
              <a:rPr sz="2400" i="1" dirty="0">
                <a:latin typeface="Perpetua"/>
                <a:cs typeface="Perpetua"/>
              </a:rPr>
              <a:t>Design a flowchart to </a:t>
            </a:r>
            <a:r>
              <a:rPr sz="2400" i="1" spc="-10" dirty="0">
                <a:latin typeface="Perpetua"/>
                <a:cs typeface="Perpetua"/>
              </a:rPr>
              <a:t>convert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20" dirty="0">
                <a:latin typeface="Perpetua"/>
                <a:cs typeface="Perpetua"/>
              </a:rPr>
              <a:t>Fahrenheit </a:t>
            </a:r>
            <a:r>
              <a:rPr sz="2400" i="1" spc="-15" dirty="0">
                <a:latin typeface="Perpetua"/>
                <a:cs typeface="Perpetua"/>
              </a:rPr>
              <a:t>temperature </a:t>
            </a:r>
            <a:r>
              <a:rPr sz="2400" i="1" dirty="0">
                <a:latin typeface="Perpetua"/>
                <a:cs typeface="Perpetua"/>
              </a:rPr>
              <a:t>to</a:t>
            </a:r>
            <a:r>
              <a:rPr sz="2400" i="1" spc="1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celsius.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039"/>
              </a:spcBef>
              <a:buSzPct val="85416"/>
              <a:buFont typeface="Wingdings"/>
              <a:buChar char=""/>
              <a:tabLst>
                <a:tab pos="285750" algn="l"/>
              </a:tabLst>
            </a:pPr>
            <a:r>
              <a:rPr sz="2400" i="1" dirty="0">
                <a:latin typeface="Perpetua"/>
                <a:cs typeface="Perpetua"/>
              </a:rPr>
              <a:t>Design</a:t>
            </a:r>
            <a:r>
              <a:rPr sz="2400" i="1" spc="-2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flowchart</a:t>
            </a:r>
            <a:r>
              <a:rPr sz="2400" i="1" spc="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to find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largest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spc="-10" dirty="0">
                <a:latin typeface="Perpetua"/>
                <a:cs typeface="Perpetua"/>
              </a:rPr>
              <a:t>three</a:t>
            </a:r>
            <a:r>
              <a:rPr sz="2400" i="1" spc="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numbers</a:t>
            </a:r>
            <a:r>
              <a:rPr sz="2400" i="1" spc="-12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A,</a:t>
            </a:r>
            <a:r>
              <a:rPr sz="2400" i="1" spc="-245" dirty="0">
                <a:latin typeface="Perpetua"/>
                <a:cs typeface="Perpetua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B,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C.</a:t>
            </a:r>
            <a:endParaRPr sz="2400">
              <a:latin typeface="Perpetua"/>
              <a:cs typeface="Perpetua"/>
            </a:endParaRPr>
          </a:p>
          <a:p>
            <a:pPr marL="285115" marR="5080" indent="-273050">
              <a:lnSpc>
                <a:spcPct val="150000"/>
              </a:lnSpc>
              <a:spcBef>
                <a:spcPts val="600"/>
              </a:spcBef>
              <a:buSzPct val="85416"/>
              <a:buFont typeface="Wingdings"/>
              <a:buChar char=""/>
              <a:tabLst>
                <a:tab pos="285750" algn="l"/>
              </a:tabLst>
            </a:pPr>
            <a:r>
              <a:rPr sz="2400" i="1" dirty="0">
                <a:latin typeface="Perpetua"/>
                <a:cs typeface="Perpetua"/>
              </a:rPr>
              <a:t>Design a flowchart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calculating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25" dirty="0">
                <a:latin typeface="Perpetua"/>
                <a:cs typeface="Perpetua"/>
              </a:rPr>
              <a:t>student’s </a:t>
            </a:r>
            <a:r>
              <a:rPr sz="2400" i="1" spc="-5" dirty="0">
                <a:latin typeface="Perpetua"/>
                <a:cs typeface="Perpetua"/>
              </a:rPr>
              <a:t>letter </a:t>
            </a:r>
            <a:r>
              <a:rPr sz="2400" i="1" spc="-15" dirty="0">
                <a:latin typeface="Perpetua"/>
                <a:cs typeface="Perpetua"/>
              </a:rPr>
              <a:t>grade </a:t>
            </a:r>
            <a:r>
              <a:rPr sz="2400" i="1" spc="-10" dirty="0">
                <a:latin typeface="Perpetua"/>
                <a:cs typeface="Perpetua"/>
              </a:rPr>
              <a:t>given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15" dirty="0">
                <a:latin typeface="Perpetua"/>
                <a:cs typeface="Perpetua"/>
              </a:rPr>
              <a:t>following </a:t>
            </a:r>
            <a:r>
              <a:rPr sz="2400" i="1" spc="-10" dirty="0">
                <a:latin typeface="Perpetua"/>
                <a:cs typeface="Perpetua"/>
              </a:rPr>
              <a:t>mark  </a:t>
            </a:r>
            <a:r>
              <a:rPr sz="2400" i="1" spc="-20" dirty="0">
                <a:latin typeface="Perpetua"/>
                <a:cs typeface="Perpetua"/>
              </a:rPr>
              <a:t>ranges:</a:t>
            </a:r>
            <a:r>
              <a:rPr sz="2400" i="1" spc="-24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(90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–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spc="25" dirty="0">
                <a:latin typeface="Perpetua"/>
                <a:cs typeface="Perpetua"/>
              </a:rPr>
              <a:t>100:A;</a:t>
            </a:r>
            <a:r>
              <a:rPr sz="2400" i="1" spc="-24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80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–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89: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B;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70 –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79:</a:t>
            </a:r>
            <a:r>
              <a:rPr sz="2400" i="1" spc="-245" dirty="0">
                <a:latin typeface="Perpetua"/>
                <a:cs typeface="Perpetua"/>
              </a:rPr>
              <a:t> </a:t>
            </a:r>
            <a:r>
              <a:rPr sz="2400" i="1" spc="-35" dirty="0">
                <a:latin typeface="Perpetua"/>
                <a:cs typeface="Perpetua"/>
              </a:rPr>
              <a:t>C,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60</a:t>
            </a:r>
            <a:r>
              <a:rPr sz="2400" i="1" spc="-1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– 69: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D;</a:t>
            </a:r>
            <a:r>
              <a:rPr sz="2400" i="1" spc="-245" dirty="0">
                <a:latin typeface="Perpetua"/>
                <a:cs typeface="Perpetua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below</a:t>
            </a:r>
            <a:r>
              <a:rPr sz="2400" i="1" spc="-15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60:</a:t>
            </a:r>
            <a:r>
              <a:rPr sz="2400" i="1" spc="-25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F).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039"/>
              </a:spcBef>
              <a:buSzPct val="85416"/>
              <a:buFont typeface="Wingdings"/>
              <a:buChar char=""/>
              <a:tabLst>
                <a:tab pos="285750" algn="l"/>
              </a:tabLst>
            </a:pPr>
            <a:r>
              <a:rPr sz="2400" i="1" dirty="0">
                <a:latin typeface="Perpetua"/>
                <a:cs typeface="Perpetua"/>
              </a:rPr>
              <a:t>Design a flowchart to </a:t>
            </a:r>
            <a:r>
              <a:rPr sz="2400" i="1" spc="5" dirty="0">
                <a:latin typeface="Perpetua"/>
                <a:cs typeface="Perpetua"/>
              </a:rPr>
              <a:t>print </a:t>
            </a:r>
            <a:r>
              <a:rPr sz="2400" i="1" spc="-5" dirty="0">
                <a:latin typeface="Perpetua"/>
                <a:cs typeface="Perpetua"/>
              </a:rPr>
              <a:t>number </a:t>
            </a:r>
            <a:r>
              <a:rPr sz="2400" i="1" dirty="0">
                <a:latin typeface="Perpetua"/>
                <a:cs typeface="Perpetua"/>
              </a:rPr>
              <a:t>sequence </a:t>
            </a:r>
            <a:r>
              <a:rPr sz="2400" i="1" spc="-5" dirty="0">
                <a:latin typeface="Perpetua"/>
                <a:cs typeface="Perpetua"/>
              </a:rPr>
              <a:t>up </a:t>
            </a:r>
            <a:r>
              <a:rPr sz="2400" i="1" dirty="0">
                <a:latin typeface="Perpetua"/>
                <a:cs typeface="Perpetua"/>
              </a:rPr>
              <a:t>to a </a:t>
            </a:r>
            <a:r>
              <a:rPr sz="2400" i="1" spc="-10" dirty="0">
                <a:latin typeface="Perpetua"/>
                <a:cs typeface="Perpetua"/>
              </a:rPr>
              <a:t>given positive</a:t>
            </a:r>
            <a:r>
              <a:rPr sz="2400" i="1" spc="-45" dirty="0">
                <a:latin typeface="Perpetua"/>
                <a:cs typeface="Perpetua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integer.</a:t>
            </a:r>
            <a:endParaRPr sz="2400">
              <a:latin typeface="Perpetua"/>
              <a:cs typeface="Perpetua"/>
            </a:endParaRPr>
          </a:p>
          <a:p>
            <a:pPr marL="285115" marR="5715" indent="-273050">
              <a:lnSpc>
                <a:spcPct val="150100"/>
              </a:lnSpc>
              <a:spcBef>
                <a:spcPts val="600"/>
              </a:spcBef>
              <a:buSzPct val="85416"/>
              <a:buFont typeface="Wingdings"/>
              <a:buChar char=""/>
              <a:tabLst>
                <a:tab pos="285750" algn="l"/>
              </a:tabLst>
            </a:pPr>
            <a:r>
              <a:rPr sz="2400" i="1" spc="-5" dirty="0">
                <a:latin typeface="Perpetua"/>
                <a:cs typeface="Perpetua"/>
              </a:rPr>
              <a:t>Modify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flowchart that </a:t>
            </a:r>
            <a:r>
              <a:rPr sz="2400" i="1" spc="5" dirty="0">
                <a:latin typeface="Perpetua"/>
                <a:cs typeface="Perpetua"/>
              </a:rPr>
              <a:t>prints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number sequence </a:t>
            </a:r>
            <a:r>
              <a:rPr sz="2400" i="1" dirty="0">
                <a:latin typeface="Perpetua"/>
                <a:cs typeface="Perpetua"/>
              </a:rPr>
              <a:t>to </a:t>
            </a:r>
            <a:r>
              <a:rPr sz="2400" i="1" spc="-5" dirty="0">
                <a:latin typeface="Perpetua"/>
                <a:cs typeface="Perpetua"/>
              </a:rPr>
              <a:t>add </a:t>
            </a:r>
            <a:r>
              <a:rPr sz="2400" i="1" dirty="0">
                <a:latin typeface="Perpetua"/>
                <a:cs typeface="Perpetua"/>
              </a:rPr>
              <a:t>all the </a:t>
            </a:r>
            <a:r>
              <a:rPr sz="2400" i="1" spc="-5" dirty="0">
                <a:latin typeface="Perpetua"/>
                <a:cs typeface="Perpetua"/>
              </a:rPr>
              <a:t>numbers </a:t>
            </a:r>
            <a:r>
              <a:rPr sz="2400" i="1" spc="-10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the  sequence.</a:t>
            </a:r>
            <a:endParaRPr sz="2400">
              <a:latin typeface="Perpetua"/>
              <a:cs typeface="Perpetua"/>
            </a:endParaRPr>
          </a:p>
          <a:p>
            <a:pPr marL="285115" indent="-273050">
              <a:lnSpc>
                <a:spcPct val="100000"/>
              </a:lnSpc>
              <a:spcBef>
                <a:spcPts val="2039"/>
              </a:spcBef>
              <a:buSzPct val="85416"/>
              <a:buFont typeface="Wingdings"/>
              <a:buChar char=""/>
              <a:tabLst>
                <a:tab pos="285750" algn="l"/>
              </a:tabLst>
            </a:pPr>
            <a:r>
              <a:rPr sz="2400" i="1" dirty="0">
                <a:latin typeface="Perpetua"/>
                <a:cs typeface="Perpetua"/>
              </a:rPr>
              <a:t>Design a flowchart to </a:t>
            </a:r>
            <a:r>
              <a:rPr sz="2400" i="1" spc="-5" dirty="0">
                <a:latin typeface="Perpetua"/>
                <a:cs typeface="Perpetua"/>
              </a:rPr>
              <a:t>find </a:t>
            </a: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45" dirty="0">
                <a:latin typeface="Perpetua"/>
                <a:cs typeface="Perpetua"/>
              </a:rPr>
              <a:t>average </a:t>
            </a:r>
            <a:r>
              <a:rPr sz="2400" i="1" spc="-35" dirty="0">
                <a:latin typeface="Perpetua"/>
                <a:cs typeface="Perpetua"/>
              </a:rPr>
              <a:t>age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spc="-15" dirty="0">
                <a:latin typeface="Perpetua"/>
                <a:cs typeface="Perpetua"/>
              </a:rPr>
              <a:t>your</a:t>
            </a:r>
            <a:r>
              <a:rPr sz="2400" i="1" spc="3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class.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95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2790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5" dirty="0"/>
              <a:t>Try </a:t>
            </a:r>
            <a:r>
              <a:rPr sz="4000" spc="-5" dirty="0"/>
              <a:t>it</a:t>
            </a:r>
            <a:r>
              <a:rPr sz="4000" spc="95" dirty="0"/>
              <a:t> </a:t>
            </a:r>
            <a:r>
              <a:rPr sz="4000" spc="-10" dirty="0"/>
              <a:t>yourself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3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CSE,Coimbatore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45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281430"/>
            <a:ext cx="56159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i="1" spc="-10" dirty="0">
                <a:latin typeface="Perpetua"/>
                <a:cs typeface="Perpetua"/>
              </a:rPr>
              <a:t>Give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10" dirty="0">
                <a:latin typeface="Perpetua"/>
                <a:cs typeface="Perpetua"/>
              </a:rPr>
              <a:t>level-1 </a:t>
            </a:r>
            <a:r>
              <a:rPr sz="2600" i="1" spc="-5" dirty="0">
                <a:latin typeface="Perpetua"/>
                <a:cs typeface="Perpetua"/>
              </a:rPr>
              <a:t>design to </a:t>
            </a:r>
            <a:r>
              <a:rPr sz="2600" i="1" spc="-30" dirty="0">
                <a:latin typeface="Perpetua"/>
                <a:cs typeface="Perpetua"/>
              </a:rPr>
              <a:t>draw </a:t>
            </a:r>
            <a:r>
              <a:rPr sz="2600" i="1" spc="-5" dirty="0">
                <a:latin typeface="Perpetua"/>
                <a:cs typeface="Perpetua"/>
              </a:rPr>
              <a:t>the Figure: Green</a:t>
            </a:r>
            <a:r>
              <a:rPr sz="2600" i="1" spc="-270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Jeep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129286"/>
            <a:ext cx="51295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25" dirty="0">
                <a:latin typeface="Perpetua"/>
                <a:cs typeface="Perpetua"/>
              </a:rPr>
              <a:t>Drawing </a:t>
            </a:r>
            <a:r>
              <a:rPr sz="4000" i="0" spc="-5" dirty="0">
                <a:latin typeface="Perpetua"/>
                <a:cs typeface="Perpetua"/>
              </a:rPr>
              <a:t>a Off-Road</a:t>
            </a:r>
            <a:r>
              <a:rPr sz="4000" i="0" spc="-500" dirty="0">
                <a:latin typeface="Perpetua"/>
                <a:cs typeface="Perpetua"/>
              </a:rPr>
              <a:t> </a:t>
            </a:r>
            <a:r>
              <a:rPr sz="4000" i="0" spc="-70" dirty="0">
                <a:latin typeface="Perpetua"/>
                <a:cs typeface="Perpetua"/>
              </a:rPr>
              <a:t>Vehicle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62200" y="1752600"/>
            <a:ext cx="5029200" cy="35484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65957" y="5435295"/>
            <a:ext cx="1765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Green</a:t>
            </a:r>
            <a:r>
              <a:rPr sz="2000" spc="-14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Jeep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9620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20" dirty="0">
                <a:latin typeface="Perpetua"/>
                <a:cs typeface="Perpetua"/>
              </a:rPr>
              <a:t>Drawing </a:t>
            </a:r>
            <a:r>
              <a:rPr sz="3600" i="0" dirty="0">
                <a:latin typeface="Perpetua"/>
                <a:cs typeface="Perpetua"/>
              </a:rPr>
              <a:t>a </a:t>
            </a:r>
            <a:r>
              <a:rPr sz="3600" i="0" spc="-5" dirty="0">
                <a:latin typeface="Perpetua"/>
                <a:cs typeface="Perpetua"/>
              </a:rPr>
              <a:t>Off-Road </a:t>
            </a:r>
            <a:r>
              <a:rPr sz="3600" i="0" spc="-55" dirty="0">
                <a:latin typeface="Perpetua"/>
                <a:cs typeface="Perpetua"/>
              </a:rPr>
              <a:t>Vehicle-</a:t>
            </a:r>
            <a:r>
              <a:rPr sz="3600" i="0" spc="-450" dirty="0">
                <a:latin typeface="Perpetua"/>
                <a:cs typeface="Perpetua"/>
              </a:rPr>
              <a:t> </a:t>
            </a:r>
            <a:r>
              <a:rPr sz="3600" i="0" spc="-25" dirty="0">
                <a:latin typeface="Perpetua"/>
                <a:cs typeface="Perpetua"/>
              </a:rPr>
              <a:t>Level1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78382"/>
            <a:ext cx="7251065" cy="310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Perpetua"/>
                <a:cs typeface="Perpetua"/>
              </a:rPr>
              <a:t>STEP-1: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green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  <a:tabLst>
                <a:tab pos="1156335" algn="l"/>
              </a:tabLst>
            </a:pPr>
            <a:r>
              <a:rPr sz="2600" dirty="0">
                <a:latin typeface="Perpetua"/>
                <a:cs typeface="Perpetua"/>
              </a:rPr>
              <a:t>STEP-2:	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bumper just </a:t>
            </a:r>
            <a:r>
              <a:rPr sz="2600" spc="-20" dirty="0">
                <a:latin typeface="Perpetua"/>
                <a:cs typeface="Perpetua"/>
              </a:rPr>
              <a:t>below </a:t>
            </a:r>
            <a:r>
              <a:rPr sz="2600" spc="-5" dirty="0">
                <a:latin typeface="Perpetua"/>
                <a:cs typeface="Perpetua"/>
              </a:rPr>
              <a:t>the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  <a:p>
            <a:pPr marL="12700" marR="769620">
              <a:lnSpc>
                <a:spcPts val="5280"/>
              </a:lnSpc>
              <a:spcBef>
                <a:spcPts val="535"/>
              </a:spcBef>
              <a:tabLst>
                <a:tab pos="1156335" algn="l"/>
              </a:tabLst>
            </a:pPr>
            <a:r>
              <a:rPr sz="2600" dirty="0">
                <a:latin typeface="Perpetua"/>
                <a:cs typeface="Perpetua"/>
              </a:rPr>
              <a:t>STEP-3:	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tires </a:t>
            </a:r>
            <a:r>
              <a:rPr sz="2600" dirty="0">
                <a:latin typeface="Perpetua"/>
                <a:cs typeface="Perpetua"/>
              </a:rPr>
              <a:t>behind the </a:t>
            </a:r>
            <a:r>
              <a:rPr sz="2600" spc="10" dirty="0">
                <a:latin typeface="Perpetua"/>
                <a:cs typeface="Perpetua"/>
              </a:rPr>
              <a:t>grille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40" dirty="0">
                <a:latin typeface="Perpetua"/>
                <a:cs typeface="Perpetua"/>
              </a:rPr>
              <a:t>bumper.  </a:t>
            </a:r>
            <a:r>
              <a:rPr sz="2600" dirty="0">
                <a:latin typeface="Perpetua"/>
                <a:cs typeface="Perpetua"/>
              </a:rPr>
              <a:t>STEP-4:	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windshield just </a:t>
            </a:r>
            <a:r>
              <a:rPr sz="2600" spc="-30" dirty="0">
                <a:latin typeface="Perpetua"/>
                <a:cs typeface="Perpetua"/>
              </a:rPr>
              <a:t>above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  <a:tabLst>
                <a:tab pos="1156335" algn="l"/>
              </a:tabLst>
            </a:pPr>
            <a:r>
              <a:rPr sz="2600" dirty="0">
                <a:latin typeface="Perpetua"/>
                <a:cs typeface="Perpetua"/>
              </a:rPr>
              <a:t>STEP-5:	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30" dirty="0">
                <a:latin typeface="Perpetua"/>
                <a:cs typeface="Perpetua"/>
              </a:rPr>
              <a:t>two </a:t>
            </a:r>
            <a:r>
              <a:rPr sz="2600" dirty="0">
                <a:latin typeface="Perpetua"/>
                <a:cs typeface="Perpetua"/>
              </a:rPr>
              <a:t>auxiliary </a:t>
            </a:r>
            <a:r>
              <a:rPr sz="2600" spc="-5" dirty="0">
                <a:latin typeface="Perpetua"/>
                <a:cs typeface="Perpetua"/>
              </a:rPr>
              <a:t>lights </a:t>
            </a:r>
            <a:r>
              <a:rPr sz="2600" dirty="0">
                <a:latin typeface="Perpetua"/>
                <a:cs typeface="Perpetua"/>
              </a:rPr>
              <a:t>on top of the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windshield.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6733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25" dirty="0">
                <a:latin typeface="Perpetua"/>
                <a:cs typeface="Perpetua"/>
              </a:rPr>
              <a:t>Drawing </a:t>
            </a:r>
            <a:r>
              <a:rPr sz="4000" i="0" spc="-5" dirty="0">
                <a:latin typeface="Perpetua"/>
                <a:cs typeface="Perpetua"/>
              </a:rPr>
              <a:t>a Off-Road </a:t>
            </a:r>
            <a:r>
              <a:rPr sz="4000" i="0" spc="-60" dirty="0">
                <a:latin typeface="Perpetua"/>
                <a:cs typeface="Perpetua"/>
              </a:rPr>
              <a:t>Vehicle- </a:t>
            </a:r>
            <a:r>
              <a:rPr sz="4000" i="0" spc="-30" dirty="0">
                <a:latin typeface="Perpetua"/>
                <a:cs typeface="Perpetua"/>
              </a:rPr>
              <a:t>Level</a:t>
            </a:r>
            <a:r>
              <a:rPr sz="4000" i="0" spc="-425" dirty="0">
                <a:latin typeface="Perpetua"/>
                <a:cs typeface="Perpetua"/>
              </a:rPr>
              <a:t> </a:t>
            </a:r>
            <a:r>
              <a:rPr sz="4000" i="0" spc="-5" dirty="0">
                <a:latin typeface="Perpetua"/>
                <a:cs typeface="Perpetua"/>
              </a:rPr>
              <a:t>2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00430"/>
            <a:ext cx="8261984" cy="4021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72834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instructions from the </a:t>
            </a:r>
            <a:r>
              <a:rPr sz="2600" i="1" spc="-10" dirty="0">
                <a:latin typeface="Perpetua"/>
                <a:cs typeface="Perpetua"/>
              </a:rPr>
              <a:t>level-1 </a:t>
            </a:r>
            <a:r>
              <a:rPr sz="2600" i="1" spc="-5" dirty="0">
                <a:latin typeface="Perpetua"/>
                <a:cs typeface="Perpetua"/>
              </a:rPr>
              <a:t>one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5" dirty="0">
                <a:latin typeface="Perpetua"/>
                <a:cs typeface="Perpetua"/>
              </a:rPr>
              <a:t>one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refine </a:t>
            </a:r>
            <a:r>
              <a:rPr sz="2600" i="1" dirty="0">
                <a:latin typeface="Perpetua"/>
                <a:cs typeface="Perpetua"/>
              </a:rPr>
              <a:t>each  </a:t>
            </a:r>
            <a:r>
              <a:rPr sz="2600" i="1" spc="-5" dirty="0">
                <a:latin typeface="Perpetua"/>
                <a:cs typeface="Perpetua"/>
              </a:rPr>
              <a:t>instruction into</a:t>
            </a:r>
            <a:r>
              <a:rPr sz="2600" i="1" spc="2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parts.</a:t>
            </a:r>
            <a:endParaRPr sz="2600">
              <a:latin typeface="Perpetua"/>
              <a:cs typeface="Perpetua"/>
            </a:endParaRPr>
          </a:p>
          <a:p>
            <a:pPr marL="286385" marR="3638550" indent="-286385">
              <a:lnSpc>
                <a:spcPts val="5080"/>
              </a:lnSpc>
              <a:spcBef>
                <a:spcPts val="31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447165" algn="l"/>
              </a:tabLst>
            </a:pPr>
            <a:r>
              <a:rPr sz="2600" i="1" spc="-5" dirty="0">
                <a:latin typeface="Perpetua"/>
                <a:cs typeface="Perpetua"/>
              </a:rPr>
              <a:t>Consider </a:t>
            </a:r>
            <a:r>
              <a:rPr sz="2600" i="1" dirty="0">
                <a:latin typeface="Perpetua"/>
                <a:cs typeface="Perpetua"/>
              </a:rPr>
              <a:t>expansion </a:t>
            </a:r>
            <a:r>
              <a:rPr sz="2600" i="1" spc="-5" dirty="0">
                <a:latin typeface="Perpetua"/>
                <a:cs typeface="Perpetua"/>
              </a:rPr>
              <a:t>green </a:t>
            </a:r>
            <a:r>
              <a:rPr sz="2600" i="1" spc="5" dirty="0">
                <a:latin typeface="Perpetua"/>
                <a:cs typeface="Perpetua"/>
              </a:rPr>
              <a:t>grille </a:t>
            </a:r>
            <a:r>
              <a:rPr sz="2600" i="1" spc="-15" dirty="0">
                <a:latin typeface="Perpetua"/>
                <a:cs typeface="Perpetua"/>
              </a:rPr>
              <a:t>drawing</a:t>
            </a:r>
            <a:r>
              <a:rPr sz="2600" spc="-15" dirty="0">
                <a:latin typeface="Perpetua"/>
                <a:cs typeface="Perpetua"/>
              </a:rPr>
              <a:t>.  </a:t>
            </a:r>
            <a:r>
              <a:rPr sz="2600" spc="-5" dirty="0">
                <a:latin typeface="Perpetua"/>
                <a:cs typeface="Perpetua"/>
              </a:rPr>
              <a:t>STEP</a:t>
            </a:r>
            <a:r>
              <a:rPr sz="2600" dirty="0">
                <a:latin typeface="Perpetua"/>
                <a:cs typeface="Perpetua"/>
              </a:rPr>
              <a:t> 1:	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green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  <a:p>
            <a:pPr marL="607060">
              <a:lnSpc>
                <a:spcPct val="100000"/>
              </a:lnSpc>
              <a:spcBef>
                <a:spcPts val="1455"/>
              </a:spcBef>
            </a:pPr>
            <a:r>
              <a:rPr sz="2600" spc="-5" dirty="0">
                <a:latin typeface="Perpetua"/>
                <a:cs typeface="Perpetua"/>
              </a:rPr>
              <a:t>1.1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green </a:t>
            </a:r>
            <a:r>
              <a:rPr sz="2600" spc="10" dirty="0">
                <a:latin typeface="Perpetua"/>
                <a:cs typeface="Perpetua"/>
              </a:rPr>
              <a:t>grille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background.</a:t>
            </a:r>
            <a:endParaRPr sz="2600">
              <a:latin typeface="Perpetua"/>
              <a:cs typeface="Perpetua"/>
            </a:endParaRPr>
          </a:p>
          <a:p>
            <a:pPr marL="607060">
              <a:lnSpc>
                <a:spcPct val="100000"/>
              </a:lnSpc>
              <a:spcBef>
                <a:spcPts val="1970"/>
              </a:spcBef>
            </a:pPr>
            <a:r>
              <a:rPr sz="2600" dirty="0">
                <a:latin typeface="Perpetua"/>
                <a:cs typeface="Perpetua"/>
              </a:rPr>
              <a:t>. </a:t>
            </a:r>
            <a:r>
              <a:rPr sz="2600" spc="-5" dirty="0">
                <a:latin typeface="Perpetua"/>
                <a:cs typeface="Perpetua"/>
              </a:rPr>
              <a:t>1.2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headlight</a:t>
            </a:r>
            <a:endParaRPr sz="2600">
              <a:latin typeface="Perpetua"/>
              <a:cs typeface="Perpetua"/>
            </a:endParaRPr>
          </a:p>
          <a:p>
            <a:pPr marL="607060">
              <a:lnSpc>
                <a:spcPct val="100000"/>
              </a:lnSpc>
              <a:spcBef>
                <a:spcPts val="1955"/>
              </a:spcBef>
            </a:pPr>
            <a:r>
              <a:rPr sz="2600" spc="-5" dirty="0">
                <a:latin typeface="Perpetua"/>
                <a:cs typeface="Perpetua"/>
              </a:rPr>
              <a:t>1.3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four </a:t>
            </a:r>
            <a:r>
              <a:rPr sz="2600" spc="-10" dirty="0">
                <a:latin typeface="Perpetua"/>
                <a:cs typeface="Perpetua"/>
              </a:rPr>
              <a:t>equally </a:t>
            </a:r>
            <a:r>
              <a:rPr sz="2600" spc="-5" dirty="0">
                <a:latin typeface="Perpetua"/>
                <a:cs typeface="Perpetua"/>
              </a:rPr>
              <a:t>spaced black </a:t>
            </a:r>
            <a:r>
              <a:rPr sz="2600" dirty="0">
                <a:latin typeface="Perpetua"/>
                <a:cs typeface="Perpetua"/>
              </a:rPr>
              <a:t>vertical </a:t>
            </a:r>
            <a:r>
              <a:rPr sz="2600" spc="-10" dirty="0">
                <a:latin typeface="Perpetua"/>
                <a:cs typeface="Perpetua"/>
              </a:rPr>
              <a:t>rectangles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443230"/>
            <a:ext cx="8252459" cy="3948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3983354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</a:t>
            </a:r>
            <a:r>
              <a:rPr sz="2600" i="1" dirty="0">
                <a:latin typeface="Perpetua"/>
                <a:cs typeface="Perpetua"/>
              </a:rPr>
              <a:t>details </a:t>
            </a:r>
            <a:r>
              <a:rPr sz="2600" i="1" spc="-5" dirty="0">
                <a:latin typeface="Perpetua"/>
                <a:cs typeface="Perpetua"/>
              </a:rPr>
              <a:t>of</a:t>
            </a:r>
            <a:r>
              <a:rPr sz="2600" i="1" spc="4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drawing </a:t>
            </a:r>
            <a:r>
              <a:rPr sz="2600" i="1" spc="-5" dirty="0">
                <a:latin typeface="Perpetua"/>
                <a:cs typeface="Perpetua"/>
              </a:rPr>
              <a:t>of	tires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tabLst>
                <a:tab pos="1402080" algn="l"/>
              </a:tabLst>
            </a:pPr>
            <a:r>
              <a:rPr sz="2600" spc="-5" dirty="0">
                <a:latin typeface="Perpetua"/>
                <a:cs typeface="Perpetua"/>
              </a:rPr>
              <a:t>STEP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3:	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tires </a:t>
            </a:r>
            <a:r>
              <a:rPr sz="2600" dirty="0">
                <a:latin typeface="Perpetua"/>
                <a:cs typeface="Perpetua"/>
              </a:rPr>
              <a:t>behind the </a:t>
            </a:r>
            <a:r>
              <a:rPr sz="2600" spc="15" dirty="0">
                <a:latin typeface="Perpetua"/>
                <a:cs typeface="Perpetua"/>
              </a:rPr>
              <a:t>grille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bumper.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3.1.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 tire </a:t>
            </a:r>
            <a:r>
              <a:rPr sz="2600" dirty="0">
                <a:latin typeface="Perpetua"/>
                <a:cs typeface="Perpetua"/>
              </a:rPr>
              <a:t>(a black </a:t>
            </a:r>
            <a:r>
              <a:rPr sz="2600" spc="-5" dirty="0">
                <a:latin typeface="Perpetua"/>
                <a:cs typeface="Perpetua"/>
              </a:rPr>
              <a:t>rectangle) slightly </a:t>
            </a:r>
            <a:r>
              <a:rPr sz="2600" dirty="0">
                <a:latin typeface="Perpetua"/>
                <a:cs typeface="Perpetua"/>
              </a:rPr>
              <a:t>protruding </a:t>
            </a:r>
            <a:r>
              <a:rPr sz="2600" spc="-5" dirty="0">
                <a:latin typeface="Perpetua"/>
                <a:cs typeface="Perpetua"/>
              </a:rPr>
              <a:t>left 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spc="15" dirty="0">
                <a:latin typeface="Perpetua"/>
                <a:cs typeface="Perpetua"/>
              </a:rPr>
              <a:t>grille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bumper.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3.2.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half.moon hubcap extending outside the left</a:t>
            </a:r>
            <a:r>
              <a:rPr sz="2600" spc="-15" dirty="0">
                <a:latin typeface="Perpetua"/>
                <a:cs typeface="Perpetua"/>
              </a:rPr>
              <a:t> tire.</a:t>
            </a:r>
            <a:endParaRPr sz="2600">
              <a:latin typeface="Perpetua"/>
              <a:cs typeface="Perpetua"/>
            </a:endParaRPr>
          </a:p>
          <a:p>
            <a:pPr marL="561340" marR="295275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3.3.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spc="-5" dirty="0">
                <a:latin typeface="Perpetua"/>
                <a:cs typeface="Perpetua"/>
              </a:rPr>
              <a:t>tire </a:t>
            </a:r>
            <a:r>
              <a:rPr sz="2600" dirty="0">
                <a:latin typeface="Perpetua"/>
                <a:cs typeface="Perpetua"/>
              </a:rPr>
              <a:t>(a black </a:t>
            </a:r>
            <a:r>
              <a:rPr sz="2600" spc="-5" dirty="0">
                <a:latin typeface="Perpetua"/>
                <a:cs typeface="Perpetua"/>
              </a:rPr>
              <a:t>rectangle) slightly </a:t>
            </a:r>
            <a:r>
              <a:rPr sz="2600" dirty="0">
                <a:latin typeface="Perpetua"/>
                <a:cs typeface="Perpetua"/>
              </a:rPr>
              <a:t>protruding 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spc="15" dirty="0">
                <a:latin typeface="Perpetua"/>
                <a:cs typeface="Perpetua"/>
              </a:rPr>
              <a:t>grille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35" dirty="0">
                <a:latin typeface="Perpetua"/>
                <a:cs typeface="Perpetua"/>
              </a:rPr>
              <a:t>bumper.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3.4.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half-moon hubcap extending outside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tire.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45947"/>
            <a:ext cx="7872730" cy="40741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</a:t>
            </a:r>
            <a:r>
              <a:rPr sz="2600" i="1" dirty="0">
                <a:latin typeface="Perpetua"/>
                <a:cs typeface="Perpetua"/>
              </a:rPr>
              <a:t>details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20" dirty="0">
                <a:latin typeface="Perpetua"/>
                <a:cs typeface="Perpetua"/>
              </a:rPr>
              <a:t>drawing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windshield.</a:t>
            </a:r>
            <a:endParaRPr sz="26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395"/>
              </a:spcBef>
            </a:pPr>
            <a:r>
              <a:rPr sz="2600" spc="-5" dirty="0">
                <a:latin typeface="Perpetua"/>
                <a:cs typeface="Perpetua"/>
              </a:rPr>
              <a:t>STEP </a:t>
            </a:r>
            <a:r>
              <a:rPr sz="2600" dirty="0">
                <a:latin typeface="Perpetua"/>
                <a:cs typeface="Perpetua"/>
              </a:rPr>
              <a:t>4: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windshield just </a:t>
            </a:r>
            <a:r>
              <a:rPr sz="2600" spc="-30" dirty="0">
                <a:latin typeface="Perpetua"/>
                <a:cs typeface="Perpetua"/>
              </a:rPr>
              <a:t>above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  <a:p>
            <a:pPr marL="1162685" lvl="1" indent="-55626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16332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gray </a:t>
            </a:r>
            <a:r>
              <a:rPr sz="2600" spc="-5" dirty="0">
                <a:latin typeface="Perpetua"/>
                <a:cs typeface="Perpetua"/>
              </a:rPr>
              <a:t>rectangle for </a:t>
            </a:r>
            <a:r>
              <a:rPr sz="2600" dirty="0">
                <a:latin typeface="Perpetua"/>
                <a:cs typeface="Perpetua"/>
              </a:rPr>
              <a:t>the outside of the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windshield.</a:t>
            </a:r>
            <a:endParaRPr sz="2600">
              <a:latin typeface="Perpetua"/>
              <a:cs typeface="Perpetua"/>
            </a:endParaRPr>
          </a:p>
          <a:p>
            <a:pPr marL="1162685" lvl="1" indent="-55626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116332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white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center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windshield.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Consider the </a:t>
            </a:r>
            <a:r>
              <a:rPr sz="2600" i="1" dirty="0">
                <a:latin typeface="Perpetua"/>
                <a:cs typeface="Perpetua"/>
              </a:rPr>
              <a:t>details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20" dirty="0">
                <a:latin typeface="Perpetua"/>
                <a:cs typeface="Perpetua"/>
              </a:rPr>
              <a:t>drawing </a:t>
            </a:r>
            <a:r>
              <a:rPr sz="2600" i="1" dirty="0">
                <a:latin typeface="Perpetua"/>
                <a:cs typeface="Perpetua"/>
              </a:rPr>
              <a:t>a auxiliary</a:t>
            </a:r>
            <a:r>
              <a:rPr sz="2600" i="1" spc="-4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lights.</a:t>
            </a:r>
            <a:endParaRPr sz="26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409"/>
              </a:spcBef>
            </a:pPr>
            <a:r>
              <a:rPr sz="2600" spc="-5" dirty="0">
                <a:latin typeface="Perpetua"/>
                <a:cs typeface="Perpetua"/>
              </a:rPr>
              <a:t>STEP </a:t>
            </a:r>
            <a:r>
              <a:rPr sz="2600" dirty="0">
                <a:latin typeface="Perpetua"/>
                <a:cs typeface="Perpetua"/>
              </a:rPr>
              <a:t>5: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30" dirty="0">
                <a:latin typeface="Perpetua"/>
                <a:cs typeface="Perpetua"/>
              </a:rPr>
              <a:t>two </a:t>
            </a:r>
            <a:r>
              <a:rPr sz="2600" dirty="0">
                <a:latin typeface="Perpetua"/>
                <a:cs typeface="Perpetua"/>
              </a:rPr>
              <a:t>auxiliary </a:t>
            </a:r>
            <a:r>
              <a:rPr sz="2600" spc="-5" dirty="0">
                <a:latin typeface="Perpetua"/>
                <a:cs typeface="Perpetua"/>
              </a:rPr>
              <a:t>lights </a:t>
            </a:r>
            <a:r>
              <a:rPr sz="2600" dirty="0">
                <a:latin typeface="Perpetua"/>
                <a:cs typeface="Perpetua"/>
              </a:rPr>
              <a:t>on </a:t>
            </a:r>
            <a:r>
              <a:rPr sz="2600" spc="-5" dirty="0">
                <a:latin typeface="Perpetua"/>
                <a:cs typeface="Perpetua"/>
              </a:rPr>
              <a:t>top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windshield.</a:t>
            </a:r>
            <a:endParaRPr sz="2600">
              <a:latin typeface="Perpetua"/>
              <a:cs typeface="Perpetua"/>
            </a:endParaRPr>
          </a:p>
          <a:p>
            <a:pPr marL="1162685" lvl="1" indent="-55626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116332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dirty="0">
                <a:latin typeface="Perpetua"/>
                <a:cs typeface="Perpetua"/>
              </a:rPr>
              <a:t>auxiliary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light.</a:t>
            </a:r>
            <a:endParaRPr sz="2600">
              <a:latin typeface="Perpetua"/>
              <a:cs typeface="Perpetua"/>
            </a:endParaRPr>
          </a:p>
          <a:p>
            <a:pPr marL="1163320" lvl="1" indent="-55689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1163955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dirty="0">
                <a:latin typeface="Perpetua"/>
                <a:cs typeface="Perpetua"/>
              </a:rPr>
              <a:t>auxiliary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light.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81991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25" dirty="0">
                <a:latin typeface="Perpetua"/>
                <a:cs typeface="Perpetua"/>
              </a:rPr>
              <a:t>Drawing </a:t>
            </a:r>
            <a:r>
              <a:rPr sz="4000" i="0" spc="-5" dirty="0">
                <a:latin typeface="Perpetua"/>
                <a:cs typeface="Perpetua"/>
              </a:rPr>
              <a:t>a Off-Road </a:t>
            </a:r>
            <a:r>
              <a:rPr sz="4000" i="0" spc="-60" dirty="0">
                <a:latin typeface="Perpetua"/>
                <a:cs typeface="Perpetua"/>
              </a:rPr>
              <a:t>Vehicle- </a:t>
            </a:r>
            <a:r>
              <a:rPr sz="4000" i="0" spc="-5" dirty="0">
                <a:latin typeface="Perpetua"/>
                <a:cs typeface="Perpetua"/>
              </a:rPr>
              <a:t>Final</a:t>
            </a:r>
            <a:r>
              <a:rPr sz="4000" i="0" spc="-405" dirty="0">
                <a:latin typeface="Perpetua"/>
                <a:cs typeface="Perpetua"/>
              </a:rPr>
              <a:t> </a:t>
            </a:r>
            <a:r>
              <a:rPr sz="4000" i="0" spc="5" dirty="0">
                <a:latin typeface="Perpetua"/>
                <a:cs typeface="Perpetua"/>
              </a:rPr>
              <a:t>algorithm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973582"/>
            <a:ext cx="7863205" cy="4242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27125" algn="l"/>
              </a:tabLst>
            </a:pPr>
            <a:r>
              <a:rPr sz="2600" spc="-5" dirty="0">
                <a:latin typeface="Perpetua"/>
                <a:cs typeface="Perpetua"/>
              </a:rPr>
              <a:t>STEP</a:t>
            </a:r>
            <a:r>
              <a:rPr sz="2600" dirty="0">
                <a:latin typeface="Perpetua"/>
                <a:cs typeface="Perpetua"/>
              </a:rPr>
              <a:t> 1:	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green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  <a:p>
            <a:pPr marL="888365" lvl="1" indent="-556260">
              <a:lnSpc>
                <a:spcPct val="100000"/>
              </a:lnSpc>
              <a:spcBef>
                <a:spcPts val="1955"/>
              </a:spcBef>
              <a:buAutoNum type="arabicPeriod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green </a:t>
            </a:r>
            <a:r>
              <a:rPr sz="2600" spc="15" dirty="0">
                <a:latin typeface="Perpetua"/>
                <a:cs typeface="Perpetua"/>
              </a:rPr>
              <a:t>grille </a:t>
            </a:r>
            <a:r>
              <a:rPr sz="2600" dirty="0">
                <a:latin typeface="Perpetua"/>
                <a:cs typeface="Perpetua"/>
              </a:rPr>
              <a:t>background.</a:t>
            </a:r>
            <a:endParaRPr sz="2600">
              <a:latin typeface="Perpetua"/>
              <a:cs typeface="Perpetua"/>
            </a:endParaRPr>
          </a:p>
          <a:p>
            <a:pPr marL="888365" lvl="1" indent="-556260">
              <a:lnSpc>
                <a:spcPct val="100000"/>
              </a:lnSpc>
              <a:spcBef>
                <a:spcPts val="1955"/>
              </a:spcBef>
              <a:buAutoNum type="arabicPeriod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headlight.</a:t>
            </a:r>
            <a:endParaRPr sz="2600">
              <a:latin typeface="Perpetua"/>
              <a:cs typeface="Perpetua"/>
            </a:endParaRPr>
          </a:p>
          <a:p>
            <a:pPr marL="1411605" lvl="2" indent="-805180">
              <a:lnSpc>
                <a:spcPct val="100000"/>
              </a:lnSpc>
              <a:spcBef>
                <a:spcPts val="1970"/>
              </a:spcBef>
              <a:buAutoNum type="arabicPeriod"/>
              <a:tabLst>
                <a:tab pos="141224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black outer dot 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5" dirty="0">
                <a:latin typeface="Perpetua"/>
                <a:cs typeface="Perpetua"/>
              </a:rPr>
              <a:t>rim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headlight.</a:t>
            </a:r>
            <a:endParaRPr sz="2600">
              <a:latin typeface="Perpetua"/>
              <a:cs typeface="Perpetua"/>
            </a:endParaRPr>
          </a:p>
          <a:p>
            <a:pPr marL="1411605" lvl="2" indent="-805180">
              <a:lnSpc>
                <a:spcPct val="100000"/>
              </a:lnSpc>
              <a:spcBef>
                <a:spcPts val="1960"/>
              </a:spcBef>
              <a:buAutoNum type="arabicPeriod"/>
              <a:tabLst>
                <a:tab pos="141224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white </a:t>
            </a:r>
            <a:r>
              <a:rPr sz="2600" spc="-5" dirty="0">
                <a:latin typeface="Perpetua"/>
                <a:cs typeface="Perpetua"/>
              </a:rPr>
              <a:t>dot centered </a:t>
            </a:r>
            <a:r>
              <a:rPr sz="2600" dirty="0">
                <a:latin typeface="Perpetua"/>
                <a:cs typeface="Perpetua"/>
              </a:rPr>
              <a:t>within the </a:t>
            </a:r>
            <a:r>
              <a:rPr sz="2600" spc="-5" dirty="0">
                <a:latin typeface="Perpetua"/>
                <a:cs typeface="Perpetua"/>
              </a:rPr>
              <a:t>black</a:t>
            </a:r>
            <a:r>
              <a:rPr sz="2600" spc="10" dirty="0">
                <a:latin typeface="Perpetua"/>
                <a:cs typeface="Perpetua"/>
              </a:rPr>
              <a:t> rim.</a:t>
            </a:r>
            <a:endParaRPr sz="2600">
              <a:latin typeface="Perpetua"/>
              <a:cs typeface="Perpetua"/>
            </a:endParaRPr>
          </a:p>
          <a:p>
            <a:pPr marL="835660" marR="5080" lvl="2" indent="-154305">
              <a:lnSpc>
                <a:spcPct val="150100"/>
              </a:lnSpc>
              <a:spcBef>
                <a:spcPts val="390"/>
              </a:spcBef>
              <a:buAutoNum type="arabicPeriod"/>
              <a:tabLst>
                <a:tab pos="1486535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three </a:t>
            </a:r>
            <a:r>
              <a:rPr sz="2600" spc="-10" dirty="0">
                <a:latin typeface="Perpetua"/>
                <a:cs typeface="Perpetua"/>
              </a:rPr>
              <a:t>equally </a:t>
            </a:r>
            <a:r>
              <a:rPr sz="2600" spc="-5" dirty="0">
                <a:latin typeface="Perpetua"/>
                <a:cs typeface="Perpetua"/>
              </a:rPr>
              <a:t>spaced </a:t>
            </a:r>
            <a:r>
              <a:rPr sz="2600" dirty="0">
                <a:latin typeface="Perpetua"/>
                <a:cs typeface="Perpetua"/>
              </a:rPr>
              <a:t>vertical </a:t>
            </a:r>
            <a:r>
              <a:rPr sz="2600" spc="-5" dirty="0">
                <a:latin typeface="Perpetua"/>
                <a:cs typeface="Perpetua"/>
              </a:rPr>
              <a:t>black rectangles as  headlight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protectors.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95630"/>
            <a:ext cx="8315959" cy="4792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1340" marR="340360" lvl="1" indent="-228600">
              <a:lnSpc>
                <a:spcPct val="100000"/>
              </a:lnSpc>
              <a:spcBef>
                <a:spcPts val="105"/>
              </a:spcBef>
              <a:buAutoNum type="arabicPeriod" startAt="3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four </a:t>
            </a:r>
            <a:r>
              <a:rPr sz="2600" spc="-10" dirty="0">
                <a:latin typeface="Perpetua"/>
                <a:cs typeface="Perpetua"/>
              </a:rPr>
              <a:t>equally </a:t>
            </a:r>
            <a:r>
              <a:rPr sz="2600" spc="-5" dirty="0">
                <a:latin typeface="Perpetua"/>
                <a:cs typeface="Perpetua"/>
              </a:rPr>
              <a:t>spaced black </a:t>
            </a:r>
            <a:r>
              <a:rPr sz="2600" dirty="0">
                <a:latin typeface="Perpetua"/>
                <a:cs typeface="Perpetua"/>
              </a:rPr>
              <a:t>vertical </a:t>
            </a:r>
            <a:r>
              <a:rPr sz="2600" spc="-10" dirty="0">
                <a:latin typeface="Perpetua"/>
                <a:cs typeface="Perpetua"/>
              </a:rPr>
              <a:t>rectangles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15" dirty="0">
                <a:latin typeface="Perpetua"/>
                <a:cs typeface="Perpetua"/>
              </a:rPr>
              <a:t>grille  </a:t>
            </a:r>
            <a:r>
              <a:rPr sz="2600" spc="-5" dirty="0">
                <a:latin typeface="Perpetua"/>
                <a:cs typeface="Perpetua"/>
              </a:rPr>
              <a:t>openings.</a:t>
            </a:r>
            <a:endParaRPr sz="2600">
              <a:latin typeface="Perpetua"/>
              <a:cs typeface="Perpetua"/>
            </a:endParaRPr>
          </a:p>
          <a:p>
            <a:pPr marL="888365" lvl="1" indent="-556260">
              <a:lnSpc>
                <a:spcPct val="100000"/>
              </a:lnSpc>
              <a:spcBef>
                <a:spcPts val="395"/>
              </a:spcBef>
              <a:buAutoNum type="arabicPeriod" startAt="3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headlight.</a:t>
            </a:r>
            <a:endParaRPr sz="2600">
              <a:latin typeface="Perpetua"/>
              <a:cs typeface="Perpetua"/>
            </a:endParaRPr>
          </a:p>
          <a:p>
            <a:pPr marL="1411605" lvl="2" indent="-80518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141224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black outer </a:t>
            </a:r>
            <a:r>
              <a:rPr sz="2600" dirty="0">
                <a:latin typeface="Perpetua"/>
                <a:cs typeface="Perpetua"/>
              </a:rPr>
              <a:t>dot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5" dirty="0">
                <a:latin typeface="Perpetua"/>
                <a:cs typeface="Perpetua"/>
              </a:rPr>
              <a:t>rim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headlight.</a:t>
            </a:r>
            <a:endParaRPr sz="2600">
              <a:latin typeface="Perpetua"/>
              <a:cs typeface="Perpetua"/>
            </a:endParaRPr>
          </a:p>
          <a:p>
            <a:pPr marL="1411605" lvl="2" indent="-80518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141224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white </a:t>
            </a:r>
            <a:r>
              <a:rPr sz="2600" spc="-5" dirty="0">
                <a:latin typeface="Perpetua"/>
                <a:cs typeface="Perpetua"/>
              </a:rPr>
              <a:t>dot centered </a:t>
            </a:r>
            <a:r>
              <a:rPr sz="2600" dirty="0">
                <a:latin typeface="Perpetua"/>
                <a:cs typeface="Perpetua"/>
              </a:rPr>
              <a:t>within the </a:t>
            </a:r>
            <a:r>
              <a:rPr sz="2600" spc="-5" dirty="0">
                <a:latin typeface="Perpetua"/>
                <a:cs typeface="Perpetua"/>
              </a:rPr>
              <a:t>black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rim.</a:t>
            </a:r>
            <a:endParaRPr sz="2600">
              <a:latin typeface="Perpetua"/>
              <a:cs typeface="Perpetua"/>
            </a:endParaRPr>
          </a:p>
          <a:p>
            <a:pPr marL="835660" marR="532130" lvl="2" indent="-22860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141224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three </a:t>
            </a:r>
            <a:r>
              <a:rPr sz="2600" spc="-10" dirty="0">
                <a:latin typeface="Perpetua"/>
                <a:cs typeface="Perpetua"/>
              </a:rPr>
              <a:t>equally </a:t>
            </a:r>
            <a:r>
              <a:rPr sz="2600" spc="-5" dirty="0">
                <a:latin typeface="Perpetua"/>
                <a:cs typeface="Perpetua"/>
              </a:rPr>
              <a:t>spaced </a:t>
            </a:r>
            <a:r>
              <a:rPr sz="2600" dirty="0">
                <a:latin typeface="Perpetua"/>
                <a:cs typeface="Perpetua"/>
              </a:rPr>
              <a:t>vertical </a:t>
            </a:r>
            <a:r>
              <a:rPr sz="2600" spc="-5" dirty="0">
                <a:latin typeface="Perpetua"/>
                <a:cs typeface="Perpetua"/>
              </a:rPr>
              <a:t>black rectangles as  headlight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protectors.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600" spc="-5" dirty="0">
                <a:latin typeface="Perpetua"/>
                <a:cs typeface="Perpetua"/>
              </a:rPr>
              <a:t>STEP </a:t>
            </a:r>
            <a:r>
              <a:rPr sz="2600" dirty="0">
                <a:latin typeface="Perpetua"/>
                <a:cs typeface="Perpetua"/>
              </a:rPr>
              <a:t>2: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bumper just </a:t>
            </a:r>
            <a:r>
              <a:rPr sz="2600" spc="-20" dirty="0">
                <a:latin typeface="Perpetua"/>
                <a:cs typeface="Perpetua"/>
              </a:rPr>
              <a:t>below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-5" dirty="0">
                <a:latin typeface="Perpetua"/>
                <a:cs typeface="Perpetua"/>
              </a:rPr>
              <a:t>STEP </a:t>
            </a:r>
            <a:r>
              <a:rPr sz="2600" spc="-20" dirty="0">
                <a:latin typeface="Perpetua"/>
                <a:cs typeface="Perpetua"/>
              </a:rPr>
              <a:t>3:Draw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tires </a:t>
            </a:r>
            <a:r>
              <a:rPr sz="2600" dirty="0">
                <a:latin typeface="Perpetua"/>
                <a:cs typeface="Perpetua"/>
              </a:rPr>
              <a:t>behind the </a:t>
            </a:r>
            <a:r>
              <a:rPr sz="2600" spc="15" dirty="0">
                <a:latin typeface="Perpetua"/>
                <a:cs typeface="Perpetua"/>
              </a:rPr>
              <a:t>grille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bumper.</a:t>
            </a:r>
            <a:endParaRPr sz="2600">
              <a:latin typeface="Perpetua"/>
              <a:cs typeface="Perpetua"/>
            </a:endParaRPr>
          </a:p>
          <a:p>
            <a:pPr marL="561340" marR="5080" indent="-228600">
              <a:lnSpc>
                <a:spcPct val="100000"/>
              </a:lnSpc>
              <a:spcBef>
                <a:spcPts val="409"/>
              </a:spcBef>
            </a:pPr>
            <a:r>
              <a:rPr sz="2600" spc="-5" dirty="0">
                <a:latin typeface="Perpetua"/>
                <a:cs typeface="Perpetua"/>
              </a:rPr>
              <a:t>3.1.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 tire </a:t>
            </a:r>
            <a:r>
              <a:rPr sz="2600" dirty="0">
                <a:latin typeface="Perpetua"/>
                <a:cs typeface="Perpetua"/>
              </a:rPr>
              <a:t>(a </a:t>
            </a:r>
            <a:r>
              <a:rPr sz="2600" spc="-5" dirty="0">
                <a:latin typeface="Perpetua"/>
                <a:cs typeface="Perpetua"/>
              </a:rPr>
              <a:t>black </a:t>
            </a:r>
            <a:r>
              <a:rPr sz="2600" spc="-10" dirty="0">
                <a:latin typeface="Perpetua"/>
                <a:cs typeface="Perpetua"/>
              </a:rPr>
              <a:t>rectangle) slightly </a:t>
            </a:r>
            <a:r>
              <a:rPr sz="2600" dirty="0">
                <a:latin typeface="Perpetua"/>
                <a:cs typeface="Perpetua"/>
              </a:rPr>
              <a:t>protruding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dirty="0">
                <a:latin typeface="Perpetua"/>
                <a:cs typeface="Perpetua"/>
              </a:rPr>
              <a:t>of  the </a:t>
            </a:r>
            <a:r>
              <a:rPr sz="2600" spc="15" dirty="0">
                <a:latin typeface="Perpetua"/>
                <a:cs typeface="Perpetua"/>
              </a:rPr>
              <a:t>grille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bumper.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16382"/>
            <a:ext cx="8366759" cy="4268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8365" lvl="1" indent="-556260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half-moon </a:t>
            </a:r>
            <a:r>
              <a:rPr sz="2600" dirty="0">
                <a:latin typeface="Perpetua"/>
                <a:cs typeface="Perpetua"/>
              </a:rPr>
              <a:t>hubcap extending outside the </a:t>
            </a:r>
            <a:r>
              <a:rPr sz="2600" spc="-5" dirty="0">
                <a:latin typeface="Perpetua"/>
                <a:cs typeface="Perpetua"/>
              </a:rPr>
              <a:t>left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tire.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50100"/>
              </a:lnSpc>
              <a:spcBef>
                <a:spcPts val="390"/>
              </a:spcBef>
              <a:buAutoNum type="arabicPeriod" startAt="2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spc="-5" dirty="0">
                <a:latin typeface="Perpetua"/>
                <a:cs typeface="Perpetua"/>
              </a:rPr>
              <a:t>tire </a:t>
            </a:r>
            <a:r>
              <a:rPr sz="2600" dirty="0">
                <a:latin typeface="Perpetua"/>
                <a:cs typeface="Perpetua"/>
              </a:rPr>
              <a:t>(a </a:t>
            </a:r>
            <a:r>
              <a:rPr sz="2600" spc="-5" dirty="0">
                <a:latin typeface="Perpetua"/>
                <a:cs typeface="Perpetua"/>
              </a:rPr>
              <a:t>black </a:t>
            </a:r>
            <a:r>
              <a:rPr sz="2600" spc="-10" dirty="0">
                <a:latin typeface="Perpetua"/>
                <a:cs typeface="Perpetua"/>
              </a:rPr>
              <a:t>rectangle) slightly </a:t>
            </a:r>
            <a:r>
              <a:rPr sz="2600" dirty="0">
                <a:latin typeface="Perpetua"/>
                <a:cs typeface="Perpetua"/>
              </a:rPr>
              <a:t>protruding </a:t>
            </a:r>
            <a:r>
              <a:rPr sz="2600" spc="10" dirty="0">
                <a:latin typeface="Perpetua"/>
                <a:cs typeface="Perpetua"/>
              </a:rPr>
              <a:t>right 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spc="15" dirty="0">
                <a:latin typeface="Perpetua"/>
                <a:cs typeface="Perpetua"/>
              </a:rPr>
              <a:t>grille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bumper.</a:t>
            </a:r>
            <a:endParaRPr sz="2600">
              <a:latin typeface="Perpetua"/>
              <a:cs typeface="Perpetua"/>
            </a:endParaRPr>
          </a:p>
          <a:p>
            <a:pPr marL="12700" marR="507365" lvl="1" indent="320040">
              <a:lnSpc>
                <a:spcPts val="5280"/>
              </a:lnSpc>
              <a:spcBef>
                <a:spcPts val="330"/>
              </a:spcBef>
              <a:buAutoNum type="arabicPeriod" startAt="2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half-moon </a:t>
            </a:r>
            <a:r>
              <a:rPr sz="2600" dirty="0">
                <a:latin typeface="Perpetua"/>
                <a:cs typeface="Perpetua"/>
              </a:rPr>
              <a:t>hubcap extending outside the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spc="-15" dirty="0">
                <a:latin typeface="Perpetua"/>
                <a:cs typeface="Perpetua"/>
              </a:rPr>
              <a:t>tire.  </a:t>
            </a:r>
            <a:r>
              <a:rPr sz="2600" spc="-5" dirty="0">
                <a:latin typeface="Perpetua"/>
                <a:cs typeface="Perpetua"/>
              </a:rPr>
              <a:t>STEP </a:t>
            </a:r>
            <a:r>
              <a:rPr sz="2600" dirty="0">
                <a:latin typeface="Perpetua"/>
                <a:cs typeface="Perpetua"/>
              </a:rPr>
              <a:t>4: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windshield just </a:t>
            </a:r>
            <a:r>
              <a:rPr sz="2600" spc="-30" dirty="0">
                <a:latin typeface="Perpetua"/>
                <a:cs typeface="Perpetua"/>
              </a:rPr>
              <a:t>above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grille.</a:t>
            </a:r>
            <a:endParaRPr sz="2600">
              <a:latin typeface="Perpetua"/>
              <a:cs typeface="Perpetua"/>
            </a:endParaRPr>
          </a:p>
          <a:p>
            <a:pPr marL="888365" lvl="1" indent="-556260">
              <a:lnSpc>
                <a:spcPct val="100000"/>
              </a:lnSpc>
              <a:spcBef>
                <a:spcPts val="1435"/>
              </a:spcBef>
              <a:buAutoNum type="arabicPeriod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gray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outside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windshield.</a:t>
            </a:r>
            <a:endParaRPr sz="2600">
              <a:latin typeface="Perpetua"/>
              <a:cs typeface="Perpetua"/>
            </a:endParaRPr>
          </a:p>
          <a:p>
            <a:pPr marL="888365" lvl="1" indent="-556260">
              <a:lnSpc>
                <a:spcPct val="100000"/>
              </a:lnSpc>
              <a:spcBef>
                <a:spcPts val="1960"/>
              </a:spcBef>
              <a:buAutoNum type="arabicPeriod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white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center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windshield.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92582"/>
            <a:ext cx="8121015" cy="4242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Perpetua"/>
                <a:cs typeface="Perpetua"/>
              </a:rPr>
              <a:t>STEP </a:t>
            </a:r>
            <a:r>
              <a:rPr sz="2600" dirty="0">
                <a:latin typeface="Perpetua"/>
                <a:cs typeface="Perpetua"/>
              </a:rPr>
              <a:t>5: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30" dirty="0">
                <a:latin typeface="Perpetua"/>
                <a:cs typeface="Perpetua"/>
              </a:rPr>
              <a:t>two </a:t>
            </a:r>
            <a:r>
              <a:rPr sz="2600" dirty="0">
                <a:latin typeface="Perpetua"/>
                <a:cs typeface="Perpetua"/>
              </a:rPr>
              <a:t>auxiliary </a:t>
            </a:r>
            <a:r>
              <a:rPr sz="2600" spc="-5" dirty="0">
                <a:latin typeface="Perpetua"/>
                <a:cs typeface="Perpetua"/>
              </a:rPr>
              <a:t>lights </a:t>
            </a:r>
            <a:r>
              <a:rPr sz="2600" dirty="0">
                <a:latin typeface="Perpetua"/>
                <a:cs typeface="Perpetua"/>
              </a:rPr>
              <a:t>on </a:t>
            </a:r>
            <a:r>
              <a:rPr sz="2600" spc="-5" dirty="0">
                <a:latin typeface="Perpetua"/>
                <a:cs typeface="Perpetua"/>
              </a:rPr>
              <a:t>top </a:t>
            </a:r>
            <a:r>
              <a:rPr sz="2600" dirty="0">
                <a:latin typeface="Perpetua"/>
                <a:cs typeface="Perpetua"/>
              </a:rPr>
              <a:t>of the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windshield.</a:t>
            </a:r>
            <a:endParaRPr sz="2600">
              <a:latin typeface="Perpetua"/>
              <a:cs typeface="Perpetua"/>
            </a:endParaRPr>
          </a:p>
          <a:p>
            <a:pPr marL="888365" lvl="1" indent="-556260">
              <a:lnSpc>
                <a:spcPct val="100000"/>
              </a:lnSpc>
              <a:spcBef>
                <a:spcPts val="1955"/>
              </a:spcBef>
              <a:buAutoNum type="arabicPeriod"/>
              <a:tabLst>
                <a:tab pos="8890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dirty="0">
                <a:latin typeface="Perpetua"/>
                <a:cs typeface="Perpetua"/>
              </a:rPr>
              <a:t>auxiliary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light.</a:t>
            </a:r>
            <a:endParaRPr sz="2600">
              <a:latin typeface="Perpetua"/>
              <a:cs typeface="Perpetua"/>
            </a:endParaRPr>
          </a:p>
          <a:p>
            <a:pPr marL="835660" marR="5080" lvl="2" indent="-228600">
              <a:lnSpc>
                <a:spcPct val="150000"/>
              </a:lnSpc>
              <a:spcBef>
                <a:spcPts val="395"/>
              </a:spcBef>
              <a:buAutoNum type="arabicPeriod"/>
              <a:tabLst>
                <a:tab pos="141224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outer black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5" dirty="0">
                <a:latin typeface="Perpetua"/>
                <a:cs typeface="Perpetua"/>
              </a:rPr>
              <a:t>rim </a:t>
            </a:r>
            <a:r>
              <a:rPr sz="2600" dirty="0">
                <a:latin typeface="Perpetua"/>
                <a:cs typeface="Perpetua"/>
              </a:rPr>
              <a:t>for the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dirty="0">
                <a:latin typeface="Perpetua"/>
                <a:cs typeface="Perpetua"/>
              </a:rPr>
              <a:t>auxiliary  </a:t>
            </a:r>
            <a:r>
              <a:rPr sz="2600" spc="-5" dirty="0">
                <a:latin typeface="Perpetua"/>
                <a:cs typeface="Perpetua"/>
              </a:rPr>
              <a:t>light.</a:t>
            </a:r>
            <a:endParaRPr sz="2600">
              <a:latin typeface="Perpetua"/>
              <a:cs typeface="Perpetua"/>
            </a:endParaRPr>
          </a:p>
          <a:p>
            <a:pPr marL="1411605" lvl="2" indent="-805180">
              <a:lnSpc>
                <a:spcPct val="100000"/>
              </a:lnSpc>
              <a:spcBef>
                <a:spcPts val="1975"/>
              </a:spcBef>
              <a:buAutoNum type="arabicPeriod"/>
              <a:tabLst>
                <a:tab pos="141224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20" dirty="0">
                <a:latin typeface="Perpetua"/>
                <a:cs typeface="Perpetua"/>
              </a:rPr>
              <a:t>yellow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centered </a:t>
            </a:r>
            <a:r>
              <a:rPr sz="2600" dirty="0">
                <a:latin typeface="Perpetua"/>
                <a:cs typeface="Perpetua"/>
              </a:rPr>
              <a:t>inside the </a:t>
            </a:r>
            <a:r>
              <a:rPr sz="2600" spc="-5" dirty="0">
                <a:latin typeface="Perpetua"/>
                <a:cs typeface="Perpetua"/>
              </a:rPr>
              <a:t>black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rim.</a:t>
            </a:r>
            <a:endParaRPr sz="2600">
              <a:latin typeface="Perpetua"/>
              <a:cs typeface="Perpetua"/>
            </a:endParaRPr>
          </a:p>
          <a:p>
            <a:pPr marL="1411605" lvl="2" indent="-805180">
              <a:lnSpc>
                <a:spcPct val="100000"/>
              </a:lnSpc>
              <a:spcBef>
                <a:spcPts val="1955"/>
              </a:spcBef>
              <a:buAutoNum type="arabicPeriod"/>
              <a:tabLst>
                <a:tab pos="1412240" algn="l"/>
              </a:tabLst>
            </a:pPr>
            <a:r>
              <a:rPr sz="2600" dirty="0">
                <a:latin typeface="Perpetua"/>
                <a:cs typeface="Perpetua"/>
              </a:rPr>
              <a:t>Place the </a:t>
            </a:r>
            <a:r>
              <a:rPr sz="2600" spc="-25" dirty="0">
                <a:latin typeface="Perpetua"/>
                <a:cs typeface="Perpetua"/>
              </a:rPr>
              <a:t>word </a:t>
            </a:r>
            <a:r>
              <a:rPr sz="2600" spc="-5" dirty="0">
                <a:latin typeface="Perpetua"/>
                <a:cs typeface="Perpetua"/>
              </a:rPr>
              <a:t>"HI" centered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20" dirty="0">
                <a:latin typeface="Perpetua"/>
                <a:cs typeface="Perpetua"/>
              </a:rPr>
              <a:t>yellow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rectangle.</a:t>
            </a:r>
            <a:endParaRPr sz="2600">
              <a:latin typeface="Perpetua"/>
              <a:cs typeface="Perpetua"/>
            </a:endParaRPr>
          </a:p>
          <a:p>
            <a:pPr marL="1411605" lvl="2" indent="-805180">
              <a:lnSpc>
                <a:spcPct val="100000"/>
              </a:lnSpc>
              <a:spcBef>
                <a:spcPts val="1960"/>
              </a:spcBef>
              <a:buAutoNum type="arabicPeriod"/>
              <a:tabLst>
                <a:tab pos="141224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small </a:t>
            </a:r>
            <a:r>
              <a:rPr sz="2600" spc="-5" dirty="0">
                <a:latin typeface="Perpetua"/>
                <a:cs typeface="Perpetua"/>
              </a:rPr>
              <a:t>black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base of the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light.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592582"/>
            <a:ext cx="7952105" cy="3597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8325" lvl="1" indent="-556260">
              <a:lnSpc>
                <a:spcPct val="100000"/>
              </a:lnSpc>
              <a:spcBef>
                <a:spcPts val="105"/>
              </a:spcBef>
              <a:buAutoNum type="arabicPeriod" startAt="2"/>
              <a:tabLst>
                <a:tab pos="56896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dirty="0">
                <a:latin typeface="Perpetua"/>
                <a:cs typeface="Perpetua"/>
              </a:rPr>
              <a:t>auxiliary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light.</a:t>
            </a:r>
            <a:endParaRPr sz="2600">
              <a:latin typeface="Perpetua"/>
              <a:cs typeface="Perpetua"/>
            </a:endParaRPr>
          </a:p>
          <a:p>
            <a:pPr marL="515620" marR="156210" lvl="2" indent="-228600">
              <a:lnSpc>
                <a:spcPct val="150100"/>
              </a:lnSpc>
              <a:spcBef>
                <a:spcPts val="390"/>
              </a:spcBef>
              <a:buAutoNum type="arabicPeriod"/>
              <a:tabLst>
                <a:tab pos="10922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5" dirty="0">
                <a:latin typeface="Perpetua"/>
                <a:cs typeface="Perpetua"/>
              </a:rPr>
              <a:t>outer black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5" dirty="0">
                <a:latin typeface="Perpetua"/>
                <a:cs typeface="Perpetua"/>
              </a:rPr>
              <a:t>rim </a:t>
            </a:r>
            <a:r>
              <a:rPr sz="2600" dirty="0">
                <a:latin typeface="Perpetua"/>
                <a:cs typeface="Perpetua"/>
              </a:rPr>
              <a:t>for the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dirty="0">
                <a:latin typeface="Perpetua"/>
                <a:cs typeface="Perpetua"/>
              </a:rPr>
              <a:t>auxiliary  </a:t>
            </a:r>
            <a:r>
              <a:rPr sz="2600" spc="-5" dirty="0">
                <a:latin typeface="Perpetua"/>
                <a:cs typeface="Perpetua"/>
              </a:rPr>
              <a:t>light.</a:t>
            </a:r>
            <a:endParaRPr sz="2600">
              <a:latin typeface="Perpetua"/>
              <a:cs typeface="Perpetua"/>
            </a:endParaRPr>
          </a:p>
          <a:p>
            <a:pPr marL="1091565" lvl="2" indent="-805180">
              <a:lnSpc>
                <a:spcPct val="100000"/>
              </a:lnSpc>
              <a:spcBef>
                <a:spcPts val="1955"/>
              </a:spcBef>
              <a:buAutoNum type="arabicPeriod"/>
              <a:tabLst>
                <a:tab pos="10922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spc="-20" dirty="0">
                <a:latin typeface="Perpetua"/>
                <a:cs typeface="Perpetua"/>
              </a:rPr>
              <a:t>yellow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centered </a:t>
            </a:r>
            <a:r>
              <a:rPr sz="2600" dirty="0">
                <a:latin typeface="Perpetua"/>
                <a:cs typeface="Perpetua"/>
              </a:rPr>
              <a:t>inside the </a:t>
            </a:r>
            <a:r>
              <a:rPr sz="2600" spc="-5" dirty="0">
                <a:latin typeface="Perpetua"/>
                <a:cs typeface="Perpetua"/>
              </a:rPr>
              <a:t>black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rim.</a:t>
            </a:r>
            <a:endParaRPr sz="2600">
              <a:latin typeface="Perpetua"/>
              <a:cs typeface="Perpetua"/>
            </a:endParaRPr>
          </a:p>
          <a:p>
            <a:pPr marL="1091565" lvl="2" indent="-805180">
              <a:lnSpc>
                <a:spcPct val="100000"/>
              </a:lnSpc>
              <a:spcBef>
                <a:spcPts val="1970"/>
              </a:spcBef>
              <a:buAutoNum type="arabicPeriod"/>
              <a:tabLst>
                <a:tab pos="1092200" algn="l"/>
              </a:tabLst>
            </a:pPr>
            <a:r>
              <a:rPr sz="2600" dirty="0">
                <a:latin typeface="Perpetua"/>
                <a:cs typeface="Perpetua"/>
              </a:rPr>
              <a:t>Place the </a:t>
            </a:r>
            <a:r>
              <a:rPr sz="2600" spc="-25" dirty="0">
                <a:latin typeface="Perpetua"/>
                <a:cs typeface="Perpetua"/>
              </a:rPr>
              <a:t>word </a:t>
            </a:r>
            <a:r>
              <a:rPr sz="2600" spc="-5" dirty="0">
                <a:latin typeface="Perpetua"/>
                <a:cs typeface="Perpetua"/>
              </a:rPr>
              <a:t>"MOM" centered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20" dirty="0">
                <a:latin typeface="Perpetua"/>
                <a:cs typeface="Perpetua"/>
              </a:rPr>
              <a:t>yellow</a:t>
            </a:r>
            <a:r>
              <a:rPr sz="2600" spc="-15" dirty="0">
                <a:latin typeface="Perpetua"/>
                <a:cs typeface="Perpetua"/>
              </a:rPr>
              <a:t> rectangle.</a:t>
            </a:r>
            <a:endParaRPr sz="2600">
              <a:latin typeface="Perpetua"/>
              <a:cs typeface="Perpetua"/>
            </a:endParaRPr>
          </a:p>
          <a:p>
            <a:pPr marL="1091565" lvl="2" indent="-805180">
              <a:lnSpc>
                <a:spcPct val="100000"/>
              </a:lnSpc>
              <a:spcBef>
                <a:spcPts val="1955"/>
              </a:spcBef>
              <a:buAutoNum type="arabicPeriod"/>
              <a:tabLst>
                <a:tab pos="1092200" algn="l"/>
              </a:tabLst>
            </a:pP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small </a:t>
            </a:r>
            <a:r>
              <a:rPr sz="2600" spc="-5" dirty="0">
                <a:latin typeface="Perpetua"/>
                <a:cs typeface="Perpetua"/>
              </a:rPr>
              <a:t>black </a:t>
            </a:r>
            <a:r>
              <a:rPr sz="2600" spc="-10" dirty="0">
                <a:latin typeface="Perpetua"/>
                <a:cs typeface="Perpetua"/>
              </a:rPr>
              <a:t>rectangle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base of the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light.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71830"/>
            <a:ext cx="55308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i="0" spc="10" dirty="0">
                <a:latin typeface="Perpetua"/>
                <a:cs typeface="Perpetua"/>
              </a:rPr>
              <a:t>Write </a:t>
            </a:r>
            <a:r>
              <a:rPr sz="2600" i="0" dirty="0">
                <a:latin typeface="Perpetua"/>
                <a:cs typeface="Perpetua"/>
              </a:rPr>
              <a:t>the </a:t>
            </a:r>
            <a:r>
              <a:rPr sz="2600" i="0" spc="-5" dirty="0">
                <a:latin typeface="Perpetua"/>
                <a:cs typeface="Perpetua"/>
              </a:rPr>
              <a:t>detailed </a:t>
            </a:r>
            <a:r>
              <a:rPr sz="2600" i="0" dirty="0">
                <a:latin typeface="Perpetua"/>
                <a:cs typeface="Perpetua"/>
              </a:rPr>
              <a:t>algorithm </a:t>
            </a:r>
            <a:r>
              <a:rPr sz="2600" i="0" spc="-5" dirty="0">
                <a:latin typeface="Perpetua"/>
                <a:cs typeface="Perpetua"/>
              </a:rPr>
              <a:t>for </a:t>
            </a:r>
            <a:r>
              <a:rPr sz="2600" i="0" dirty="0">
                <a:latin typeface="Perpetua"/>
                <a:cs typeface="Perpetua"/>
              </a:rPr>
              <a:t>the</a:t>
            </a:r>
            <a:r>
              <a:rPr sz="2600" i="0" spc="-5" dirty="0">
                <a:latin typeface="Perpetua"/>
                <a:cs typeface="Perpetua"/>
              </a:rPr>
              <a:t> </a:t>
            </a:r>
            <a:r>
              <a:rPr sz="2600" i="0" spc="-10" dirty="0">
                <a:latin typeface="Perpetua"/>
                <a:cs typeface="Perpetua"/>
              </a:rPr>
              <a:t>following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400" y="3429000"/>
            <a:ext cx="7239000" cy="198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3400" y="228600"/>
            <a:ext cx="8315325" cy="3048000"/>
            <a:chOff x="533400" y="228600"/>
            <a:chExt cx="8315325" cy="3048000"/>
          </a:xfrm>
        </p:grpSpPr>
        <p:sp>
          <p:nvSpPr>
            <p:cNvPr id="5" name="object 5"/>
            <p:cNvSpPr/>
            <p:nvPr/>
          </p:nvSpPr>
          <p:spPr>
            <a:xfrm>
              <a:off x="533400" y="1219200"/>
              <a:ext cx="7315200" cy="2057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96200" y="228600"/>
              <a:ext cx="1152144" cy="101041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400" y="685800"/>
            <a:ext cx="7391400" cy="5791200"/>
            <a:chOff x="533400" y="685800"/>
            <a:chExt cx="7391400" cy="5791200"/>
          </a:xfrm>
        </p:grpSpPr>
        <p:sp>
          <p:nvSpPr>
            <p:cNvPr id="3" name="object 3"/>
            <p:cNvSpPr/>
            <p:nvPr/>
          </p:nvSpPr>
          <p:spPr>
            <a:xfrm>
              <a:off x="533400" y="685800"/>
              <a:ext cx="7391400" cy="304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09600" y="3657600"/>
              <a:ext cx="6909816" cy="2819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9740" y="211023"/>
            <a:ext cx="1303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0" spc="-5" dirty="0">
                <a:latin typeface="Perpetua"/>
                <a:cs typeface="Perpetua"/>
              </a:rPr>
              <a:t>Solu</a:t>
            </a:r>
            <a:r>
              <a:rPr sz="2800" b="1" i="0" spc="-15" dirty="0">
                <a:latin typeface="Perpetua"/>
                <a:cs typeface="Perpetua"/>
              </a:rPr>
              <a:t>t</a:t>
            </a:r>
            <a:r>
              <a:rPr sz="2800" b="1" i="0" spc="-5" dirty="0">
                <a:latin typeface="Perpetua"/>
                <a:cs typeface="Perpetua"/>
              </a:rPr>
              <a:t>ion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349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5" dirty="0">
                <a:latin typeface="Perpetua"/>
                <a:cs typeface="Perpetua"/>
              </a:rPr>
              <a:t>Evaluating</a:t>
            </a:r>
            <a:r>
              <a:rPr sz="3600" i="0" spc="-35" dirty="0">
                <a:latin typeface="Perpetua"/>
                <a:cs typeface="Perpetua"/>
              </a:rPr>
              <a:t> </a:t>
            </a:r>
            <a:r>
              <a:rPr sz="3600" i="0" spc="-5" dirty="0">
                <a:latin typeface="Perpetua"/>
                <a:cs typeface="Perpetua"/>
              </a:rPr>
              <a:t>Solutions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58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748030"/>
            <a:ext cx="8531860" cy="4766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Before </a:t>
            </a:r>
            <a:r>
              <a:rPr sz="2600" spc="-5" dirty="0">
                <a:latin typeface="Perpetua"/>
                <a:cs typeface="Perpetua"/>
              </a:rPr>
              <a:t>solutions </a:t>
            </a:r>
            <a:r>
              <a:rPr sz="2600" dirty="0">
                <a:latin typeface="Perpetua"/>
                <a:cs typeface="Perpetua"/>
              </a:rPr>
              <a:t>can </a:t>
            </a:r>
            <a:r>
              <a:rPr sz="2600" spc="-5" dirty="0">
                <a:latin typeface="Perpetua"/>
                <a:cs typeface="Perpetua"/>
              </a:rPr>
              <a:t>be programmed, </a:t>
            </a:r>
            <a:r>
              <a:rPr sz="2600" spc="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10" dirty="0">
                <a:latin typeface="Perpetua"/>
                <a:cs typeface="Perpetua"/>
              </a:rPr>
              <a:t>important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make sure  that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0" dirty="0">
                <a:latin typeface="Perpetua"/>
                <a:cs typeface="Perpetua"/>
              </a:rPr>
              <a:t>properly </a:t>
            </a:r>
            <a:r>
              <a:rPr sz="2600" spc="-5" dirty="0">
                <a:latin typeface="Perpetua"/>
                <a:cs typeface="Perpetua"/>
              </a:rPr>
              <a:t>satisfies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problem,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does </a:t>
            </a:r>
            <a:r>
              <a:rPr sz="2600" dirty="0">
                <a:latin typeface="Perpetua"/>
                <a:cs typeface="Perpetua"/>
              </a:rPr>
              <a:t>so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efficiently.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321945" algn="l"/>
                <a:tab pos="322580" algn="l"/>
              </a:tabLst>
            </a:pPr>
            <a:r>
              <a:rPr sz="2600" dirty="0">
                <a:latin typeface="Perpetua"/>
                <a:cs typeface="Perpetua"/>
              </a:rPr>
              <a:t>This is </a:t>
            </a:r>
            <a:r>
              <a:rPr sz="2600" spc="-5" dirty="0">
                <a:latin typeface="Perpetua"/>
                <a:cs typeface="Perpetua"/>
              </a:rPr>
              <a:t>done through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evaluation.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600" b="1" spc="-10" dirty="0">
                <a:latin typeface="Perpetua"/>
                <a:cs typeface="Perpetua"/>
              </a:rPr>
              <a:t>What </a:t>
            </a:r>
            <a:r>
              <a:rPr sz="2600" b="1" spc="-5" dirty="0">
                <a:latin typeface="Perpetua"/>
                <a:cs typeface="Perpetua"/>
              </a:rPr>
              <a:t>is</a:t>
            </a:r>
            <a:r>
              <a:rPr sz="2600" b="1" spc="5" dirty="0">
                <a:latin typeface="Perpetua"/>
                <a:cs typeface="Perpetua"/>
              </a:rPr>
              <a:t> </a:t>
            </a:r>
            <a:r>
              <a:rPr sz="2600" b="1" spc="-15" dirty="0">
                <a:latin typeface="Perpetua"/>
                <a:cs typeface="Perpetua"/>
              </a:rPr>
              <a:t>evaluation?</a:t>
            </a:r>
            <a:endParaRPr sz="2600">
              <a:latin typeface="Perpetua"/>
              <a:cs typeface="Perpetua"/>
            </a:endParaRPr>
          </a:p>
          <a:p>
            <a:pPr marL="286385" marR="825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  <a:hlinkClick r:id="rId2"/>
              </a:rPr>
              <a:t>Once </a:t>
            </a:r>
            <a:r>
              <a:rPr sz="2600" dirty="0">
                <a:latin typeface="Perpetua"/>
                <a:cs typeface="Perpetua"/>
                <a:hlinkClick r:id="rId2"/>
              </a:rPr>
              <a:t>a </a:t>
            </a:r>
            <a:r>
              <a:rPr sz="2600" spc="-5" dirty="0">
                <a:latin typeface="Perpetua"/>
                <a:cs typeface="Perpetua"/>
                <a:hlinkClick r:id="rId2"/>
              </a:rPr>
              <a:t>solution </a:t>
            </a:r>
            <a:r>
              <a:rPr sz="2600" dirty="0">
                <a:latin typeface="Perpetua"/>
                <a:cs typeface="Perpetua"/>
                <a:hlinkClick r:id="rId2"/>
              </a:rPr>
              <a:t>has been </a:t>
            </a:r>
            <a:r>
              <a:rPr sz="2600" spc="-5" dirty="0">
                <a:latin typeface="Perpetua"/>
                <a:cs typeface="Perpetua"/>
                <a:hlinkClick r:id="rId2"/>
              </a:rPr>
              <a:t>designed </a:t>
            </a:r>
            <a:r>
              <a:rPr sz="2600" dirty="0">
                <a:latin typeface="Perpetua"/>
                <a:cs typeface="Perpetua"/>
                <a:hlinkClick r:id="rId2"/>
              </a:rPr>
              <a:t>using</a:t>
            </a:r>
            <a:r>
              <a:rPr sz="2600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b="1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computational  thinking</a:t>
            </a:r>
            <a:r>
              <a:rPr sz="2600" spc="-5" dirty="0">
                <a:latin typeface="Perpetua"/>
                <a:cs typeface="Perpetua"/>
                <a:hlinkClick r:id="rId2"/>
              </a:rPr>
              <a:t>, </a:t>
            </a:r>
            <a:r>
              <a:rPr sz="2600" spc="5" dirty="0">
                <a:latin typeface="Perpetua"/>
                <a:cs typeface="Perpetua"/>
                <a:hlinkClick r:id="rId2"/>
              </a:rPr>
              <a:t>it </a:t>
            </a:r>
            <a:r>
              <a:rPr sz="2600" dirty="0">
                <a:latin typeface="Perpetua"/>
                <a:cs typeface="Perpetua"/>
                <a:hlinkClick r:id="rId2"/>
              </a:rPr>
              <a:t>is </a:t>
            </a:r>
            <a:r>
              <a:rPr sz="2600" spc="10" dirty="0">
                <a:latin typeface="Perpetua"/>
                <a:cs typeface="Perpetua"/>
                <a:hlinkClick r:id="rId2"/>
              </a:rPr>
              <a:t>important </a:t>
            </a:r>
            <a:r>
              <a:rPr sz="2600" spc="-5" dirty="0">
                <a:latin typeface="Perpetua"/>
                <a:cs typeface="Perpetua"/>
                <a:hlinkClick r:id="rId2"/>
              </a:rPr>
              <a:t>to </a:t>
            </a:r>
            <a:r>
              <a:rPr sz="2600" spc="-10" dirty="0">
                <a:latin typeface="Perpetua"/>
                <a:cs typeface="Perpetua"/>
                <a:hlinkClick r:id="rId2"/>
              </a:rPr>
              <a:t>make </a:t>
            </a:r>
            <a:r>
              <a:rPr sz="2600" spc="-5" dirty="0">
                <a:latin typeface="Perpetua"/>
                <a:cs typeface="Perpetua"/>
                <a:hlinkClick r:id="rId2"/>
              </a:rPr>
              <a:t>sure </a:t>
            </a:r>
            <a:r>
              <a:rPr sz="2600" spc="-10" dirty="0">
                <a:latin typeface="Perpetua"/>
                <a:cs typeface="Perpetua"/>
                <a:hlinkClick r:id="rId2"/>
              </a:rPr>
              <a:t>that </a:t>
            </a:r>
            <a:r>
              <a:rPr sz="2600" dirty="0">
                <a:latin typeface="Perpetua"/>
                <a:cs typeface="Perpetua"/>
                <a:hlinkClick r:id="rId2"/>
              </a:rPr>
              <a:t>the </a:t>
            </a:r>
            <a:r>
              <a:rPr sz="2600" spc="-5" dirty="0">
                <a:latin typeface="Perpetua"/>
                <a:cs typeface="Perpetua"/>
                <a:hlinkClick r:id="rId2"/>
              </a:rPr>
              <a:t>solution </a:t>
            </a:r>
            <a:r>
              <a:rPr sz="2600" dirty="0">
                <a:latin typeface="Perpetua"/>
                <a:cs typeface="Perpetua"/>
                <a:hlinkClick r:id="rId2"/>
              </a:rPr>
              <a:t>is fit </a:t>
            </a:r>
            <a:r>
              <a:rPr sz="2600" spc="-5" dirty="0">
                <a:latin typeface="Perpetua"/>
                <a:cs typeface="Perpetua"/>
                <a:hlinkClick r:id="rId2"/>
              </a:rPr>
              <a:t>for 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purpose.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Evaluation </a:t>
            </a:r>
            <a:r>
              <a:rPr sz="2600" dirty="0">
                <a:latin typeface="Perpetua"/>
                <a:cs typeface="Perpetua"/>
              </a:rPr>
              <a:t>is the </a:t>
            </a:r>
            <a:r>
              <a:rPr sz="2600" spc="-5" dirty="0">
                <a:latin typeface="Perpetua"/>
                <a:cs typeface="Perpetua"/>
              </a:rPr>
              <a:t>process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15" dirty="0">
                <a:latin typeface="Perpetua"/>
                <a:cs typeface="Perpetua"/>
              </a:rPr>
              <a:t>allows </a:t>
            </a:r>
            <a:r>
              <a:rPr sz="2600" spc="-5" dirty="0">
                <a:latin typeface="Perpetua"/>
                <a:cs typeface="Perpetua"/>
              </a:rPr>
              <a:t>us to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spc="-10" dirty="0">
                <a:latin typeface="Perpetua"/>
                <a:cs typeface="Perpetua"/>
              </a:rPr>
              <a:t>sure </a:t>
            </a:r>
            <a:r>
              <a:rPr sz="2600" spc="-5" dirty="0">
                <a:latin typeface="Perpetua"/>
                <a:cs typeface="Perpetua"/>
              </a:rPr>
              <a:t>our solution 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does </a:t>
            </a:r>
            <a:r>
              <a:rPr sz="2600" dirty="0">
                <a:latin typeface="Perpetua"/>
                <a:cs typeface="Perpetua"/>
              </a:rPr>
              <a:t>the job it has been </a:t>
            </a:r>
            <a:r>
              <a:rPr sz="2600" spc="-5" dirty="0">
                <a:latin typeface="Perpetua"/>
                <a:cs typeface="Perpetua"/>
              </a:rPr>
              <a:t>designed to do and to </a:t>
            </a:r>
            <a:r>
              <a:rPr sz="2600" dirty="0">
                <a:latin typeface="Perpetua"/>
                <a:cs typeface="Perpetua"/>
              </a:rPr>
              <a:t>think </a:t>
            </a:r>
            <a:r>
              <a:rPr sz="2600" spc="-5" dirty="0">
                <a:latin typeface="Perpetua"/>
                <a:cs typeface="Perpetua"/>
              </a:rPr>
              <a:t>about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10" dirty="0">
                <a:latin typeface="Perpetua"/>
                <a:cs typeface="Perpetua"/>
              </a:rPr>
              <a:t>it  </a:t>
            </a:r>
            <a:r>
              <a:rPr sz="2600" spc="-5" dirty="0">
                <a:latin typeface="Perpetua"/>
                <a:cs typeface="Perpetua"/>
              </a:rPr>
              <a:t>could be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improved.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1447800"/>
            <a:ext cx="8153400" cy="487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Make </a:t>
            </a:r>
            <a:r>
              <a:rPr spc="-10" dirty="0"/>
              <a:t>sure that </a:t>
            </a:r>
            <a:r>
              <a:rPr spc="-5" dirty="0"/>
              <a:t>the </a:t>
            </a:r>
            <a:r>
              <a:rPr dirty="0"/>
              <a:t>solution </a:t>
            </a:r>
            <a:r>
              <a:rPr spc="-5" dirty="0"/>
              <a:t>is fit </a:t>
            </a:r>
            <a:r>
              <a:rPr spc="-20" dirty="0"/>
              <a:t>for  </a:t>
            </a:r>
            <a:r>
              <a:rPr i="1" dirty="0"/>
              <a:t>purpose………………….. </a:t>
            </a:r>
            <a:r>
              <a:rPr i="1" spc="-20" dirty="0"/>
              <a:t>How</a:t>
            </a:r>
            <a:r>
              <a:rPr i="1" spc="-355" dirty="0"/>
              <a:t> </a:t>
            </a:r>
            <a:r>
              <a:rPr i="1" dirty="0"/>
              <a:t>????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59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743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5" dirty="0">
                <a:latin typeface="Perpetua"/>
                <a:cs typeface="Perpetua"/>
              </a:rPr>
              <a:t>Evaluate </a:t>
            </a:r>
            <a:r>
              <a:rPr sz="3600" i="0" dirty="0">
                <a:latin typeface="Perpetua"/>
                <a:cs typeface="Perpetua"/>
              </a:rPr>
              <a:t>the</a:t>
            </a:r>
            <a:r>
              <a:rPr sz="3600" i="0" spc="-45" dirty="0">
                <a:latin typeface="Perpetua"/>
                <a:cs typeface="Perpetua"/>
              </a:rPr>
              <a:t> </a:t>
            </a:r>
            <a:r>
              <a:rPr sz="3600" i="0" dirty="0">
                <a:latin typeface="Perpetua"/>
                <a:cs typeface="Perpetua"/>
              </a:rPr>
              <a:t>algorithm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774547"/>
            <a:ext cx="8531860" cy="541591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spc="5" dirty="0">
                <a:latin typeface="Perpetua"/>
                <a:cs typeface="Perpetua"/>
              </a:rPr>
              <a:t>written, </a:t>
            </a:r>
            <a:r>
              <a:rPr sz="2600" spc="-5" dirty="0">
                <a:latin typeface="Perpetua"/>
                <a:cs typeface="Perpetua"/>
              </a:rPr>
              <a:t>an </a:t>
            </a:r>
            <a:r>
              <a:rPr sz="26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algorithm</a:t>
            </a:r>
            <a:r>
              <a:rPr sz="2600" b="1" spc="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spc="-5" dirty="0">
                <a:latin typeface="Perpetua"/>
                <a:cs typeface="Perpetua"/>
              </a:rPr>
              <a:t>should be </a:t>
            </a:r>
            <a:r>
              <a:rPr sz="2600" spc="5" dirty="0">
                <a:latin typeface="Perpetua"/>
                <a:cs typeface="Perpetua"/>
              </a:rPr>
              <a:t>checked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sure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it:</a:t>
            </a:r>
            <a:endParaRPr sz="2600"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is </a:t>
            </a:r>
            <a:r>
              <a:rPr sz="2600" b="1" spc="-15" dirty="0">
                <a:solidFill>
                  <a:srgbClr val="C00000"/>
                </a:solidFill>
                <a:latin typeface="Perpetua"/>
                <a:cs typeface="Perpetua"/>
              </a:rPr>
              <a:t>easily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understood </a:t>
            </a:r>
            <a:r>
              <a:rPr sz="2600" dirty="0">
                <a:latin typeface="Perpetua"/>
                <a:cs typeface="Perpetua"/>
              </a:rPr>
              <a:t>– is it </a:t>
            </a:r>
            <a:r>
              <a:rPr sz="2600" spc="-15" dirty="0">
                <a:latin typeface="Perpetua"/>
                <a:cs typeface="Perpetua"/>
              </a:rPr>
              <a:t>fully</a:t>
            </a:r>
            <a:r>
              <a:rPr sz="2600" spc="1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decomposed</a:t>
            </a:r>
            <a:r>
              <a:rPr sz="2600" dirty="0">
                <a:latin typeface="Perpetua"/>
                <a:cs typeface="Perpetua"/>
              </a:rPr>
              <a:t>?</a:t>
            </a:r>
            <a:endParaRPr sz="2600"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is 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complete </a:t>
            </a:r>
            <a:r>
              <a:rPr sz="2600" dirty="0">
                <a:latin typeface="Perpetua"/>
                <a:cs typeface="Perpetua"/>
              </a:rPr>
              <a:t>– does it </a:t>
            </a:r>
            <a:r>
              <a:rPr sz="2600" spc="-15" dirty="0">
                <a:latin typeface="Perpetua"/>
                <a:cs typeface="Perpetua"/>
              </a:rPr>
              <a:t>solve every </a:t>
            </a:r>
            <a:r>
              <a:rPr sz="2600" spc="-5" dirty="0">
                <a:latin typeface="Perpetua"/>
                <a:cs typeface="Perpetua"/>
              </a:rPr>
              <a:t>aspect of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problem?</a:t>
            </a:r>
            <a:endParaRPr sz="2600">
              <a:latin typeface="Perpetua"/>
              <a:cs typeface="Perpetua"/>
            </a:endParaRPr>
          </a:p>
          <a:p>
            <a:pPr marL="561340" marR="5080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is 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efficient </a:t>
            </a:r>
            <a:r>
              <a:rPr sz="2600" dirty="0">
                <a:latin typeface="Perpetua"/>
                <a:cs typeface="Perpetua"/>
              </a:rPr>
              <a:t>– does it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problem, </a:t>
            </a:r>
            <a:r>
              <a:rPr sz="2600" spc="-5" dirty="0">
                <a:latin typeface="Perpetua"/>
                <a:cs typeface="Perpetua"/>
              </a:rPr>
              <a:t>making </a:t>
            </a:r>
            <a:r>
              <a:rPr sz="2600" dirty="0">
                <a:latin typeface="Perpetua"/>
                <a:cs typeface="Perpetua"/>
              </a:rPr>
              <a:t>best use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20" dirty="0">
                <a:latin typeface="Perpetua"/>
                <a:cs typeface="Perpetua"/>
              </a:rPr>
              <a:t>available </a:t>
            </a:r>
            <a:r>
              <a:rPr sz="2600" spc="-5" dirty="0">
                <a:latin typeface="Perpetua"/>
                <a:cs typeface="Perpetua"/>
              </a:rPr>
              <a:t>resources (eg as quickly as possible/using least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space)?</a:t>
            </a:r>
            <a:endParaRPr sz="2600">
              <a:latin typeface="Perpetua"/>
              <a:cs typeface="Perpetua"/>
            </a:endParaRPr>
          </a:p>
          <a:p>
            <a:pPr marL="561340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meets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design </a:t>
            </a:r>
            <a:r>
              <a:rPr sz="2600" b="1" spc="10" dirty="0">
                <a:solidFill>
                  <a:srgbClr val="C00000"/>
                </a:solidFill>
                <a:latin typeface="Perpetua"/>
                <a:cs typeface="Perpetua"/>
              </a:rPr>
              <a:t>criteria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been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given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an </a:t>
            </a:r>
            <a:r>
              <a:rPr sz="2600" dirty="0">
                <a:latin typeface="Perpetua"/>
                <a:cs typeface="Perpetua"/>
              </a:rPr>
              <a:t>algorithm </a:t>
            </a:r>
            <a:r>
              <a:rPr sz="2600" spc="-5" dirty="0">
                <a:latin typeface="Perpetua"/>
                <a:cs typeface="Perpetua"/>
              </a:rPr>
              <a:t>meets </a:t>
            </a:r>
            <a:r>
              <a:rPr sz="2600" dirty="0">
                <a:latin typeface="Perpetua"/>
                <a:cs typeface="Perpetua"/>
              </a:rPr>
              <a:t>these </a:t>
            </a:r>
            <a:r>
              <a:rPr sz="2600" spc="-5" dirty="0">
                <a:latin typeface="Perpetua"/>
                <a:cs typeface="Perpetua"/>
              </a:rPr>
              <a:t>four </a:t>
            </a:r>
            <a:r>
              <a:rPr sz="2600" spc="10" dirty="0">
                <a:latin typeface="Perpetua"/>
                <a:cs typeface="Perpetua"/>
              </a:rPr>
              <a:t>criteria </a:t>
            </a:r>
            <a:r>
              <a:rPr sz="2600" dirty="0">
                <a:latin typeface="Perpetua"/>
                <a:cs typeface="Perpetua"/>
              </a:rPr>
              <a:t>it is </a:t>
            </a:r>
            <a:r>
              <a:rPr sz="2600" spc="-15" dirty="0">
                <a:latin typeface="Perpetua"/>
                <a:cs typeface="Perpetua"/>
              </a:rPr>
              <a:t>likely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work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well.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be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programmed.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30" dirty="0">
                <a:solidFill>
                  <a:srgbClr val="C00000"/>
                </a:solidFill>
                <a:latin typeface="Perpetua"/>
                <a:cs typeface="Perpetua"/>
              </a:rPr>
              <a:t>Failure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evaluate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can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make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it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difficult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write a</a:t>
            </a:r>
            <a:r>
              <a:rPr sz="2600" b="1" i="1" spc="-9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30" dirty="0">
                <a:solidFill>
                  <a:srgbClr val="C00000"/>
                </a:solidFill>
                <a:latin typeface="Perpetua"/>
                <a:cs typeface="Perpetua"/>
              </a:rPr>
              <a:t>program.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Evaluation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helps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to make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sure that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as </a:t>
            </a:r>
            <a:r>
              <a:rPr sz="2600" b="1" i="1" spc="-30" dirty="0">
                <a:solidFill>
                  <a:srgbClr val="C00000"/>
                </a:solidFill>
                <a:latin typeface="Perpetua"/>
                <a:cs typeface="Perpetua"/>
              </a:rPr>
              <a:t>few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difficulties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as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possible 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are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faced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when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programming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the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solution.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4861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30" dirty="0">
                <a:latin typeface="Perpetua"/>
                <a:cs typeface="Perpetua"/>
              </a:rPr>
              <a:t>Why </a:t>
            </a:r>
            <a:r>
              <a:rPr sz="3600" i="0" dirty="0">
                <a:latin typeface="Perpetua"/>
                <a:cs typeface="Perpetua"/>
              </a:rPr>
              <a:t>is </a:t>
            </a:r>
            <a:r>
              <a:rPr sz="3600" i="0" spc="-20" dirty="0">
                <a:latin typeface="Perpetua"/>
                <a:cs typeface="Perpetua"/>
              </a:rPr>
              <a:t>evaluation </a:t>
            </a:r>
            <a:r>
              <a:rPr sz="3600" i="0" spc="10" dirty="0">
                <a:latin typeface="Perpetua"/>
                <a:cs typeface="Perpetua"/>
              </a:rPr>
              <a:t>important?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052830"/>
            <a:ext cx="8531860" cy="3822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0" indent="-274320" algn="just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b="1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Computational thinking</a:t>
            </a:r>
            <a:r>
              <a:rPr sz="2600" b="1" spc="-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helps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design a  solution – an</a:t>
            </a:r>
            <a:r>
              <a:rPr sz="2600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algorithm</a:t>
            </a:r>
            <a:r>
              <a:rPr sz="2600" b="1" spc="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be used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program a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computer.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950" algn="l"/>
              </a:tabLst>
            </a:pPr>
            <a:r>
              <a:rPr dirty="0"/>
              <a:t>	</a:t>
            </a:r>
            <a:r>
              <a:rPr sz="2600" spc="-65" dirty="0">
                <a:latin typeface="Perpetua"/>
                <a:cs typeface="Perpetua"/>
              </a:rPr>
              <a:t>However, </a:t>
            </a:r>
            <a:r>
              <a:rPr sz="2600" dirty="0">
                <a:latin typeface="Perpetua"/>
                <a:cs typeface="Perpetua"/>
              </a:rPr>
              <a:t>if the solution is </a:t>
            </a:r>
            <a:r>
              <a:rPr sz="2600" spc="-45" dirty="0">
                <a:latin typeface="Perpetua"/>
                <a:cs typeface="Perpetua"/>
              </a:rPr>
              <a:t>faulty, </a:t>
            </a:r>
            <a:r>
              <a:rPr sz="2600" spc="5" dirty="0">
                <a:latin typeface="Perpetua"/>
                <a:cs typeface="Perpetua"/>
              </a:rPr>
              <a:t>it </a:t>
            </a:r>
            <a:r>
              <a:rPr sz="2600" spc="-30" dirty="0">
                <a:latin typeface="Perpetua"/>
                <a:cs typeface="Perpetua"/>
              </a:rPr>
              <a:t>may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dirty="0">
                <a:latin typeface="Perpetua"/>
                <a:cs typeface="Perpetua"/>
              </a:rPr>
              <a:t>difficult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the  program.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Even </a:t>
            </a:r>
            <a:r>
              <a:rPr sz="2600" spc="-20" dirty="0">
                <a:latin typeface="Perpetua"/>
                <a:cs typeface="Perpetua"/>
              </a:rPr>
              <a:t>worse,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finished </a:t>
            </a:r>
            <a:r>
              <a:rPr sz="2600" dirty="0">
                <a:latin typeface="Perpetua"/>
                <a:cs typeface="Perpetua"/>
              </a:rPr>
              <a:t>program </a:t>
            </a:r>
            <a:r>
              <a:rPr sz="2600" spc="-5" dirty="0">
                <a:latin typeface="Perpetua"/>
                <a:cs typeface="Perpetua"/>
              </a:rPr>
              <a:t>might </a:t>
            </a:r>
            <a:r>
              <a:rPr sz="2600" dirty="0">
                <a:latin typeface="Perpetua"/>
                <a:cs typeface="Perpetua"/>
              </a:rPr>
              <a:t>not </a:t>
            </a:r>
            <a:r>
              <a:rPr sz="2600" spc="-10" dirty="0">
                <a:latin typeface="Perpetua"/>
                <a:cs typeface="Perpetua"/>
              </a:rPr>
              <a:t>solve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problem  </a:t>
            </a:r>
            <a:r>
              <a:rPr sz="2600" spc="-35" dirty="0">
                <a:latin typeface="Perpetua"/>
                <a:cs typeface="Perpetua"/>
              </a:rPr>
              <a:t>correctly.</a:t>
            </a:r>
            <a:endParaRPr sz="2600">
              <a:latin typeface="Perpetua"/>
              <a:cs typeface="Perpetua"/>
            </a:endParaRPr>
          </a:p>
          <a:p>
            <a:pPr marL="286385" marR="698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Evaluation </a:t>
            </a:r>
            <a:r>
              <a:rPr sz="2600" spc="-20" dirty="0">
                <a:latin typeface="Perpetua"/>
                <a:cs typeface="Perpetua"/>
              </a:rPr>
              <a:t>allows </a:t>
            </a:r>
            <a:r>
              <a:rPr sz="2600" spc="-5" dirty="0">
                <a:latin typeface="Perpetua"/>
                <a:cs typeface="Perpetua"/>
              </a:rPr>
              <a:t>us to </a:t>
            </a:r>
            <a:r>
              <a:rPr sz="2600" dirty="0">
                <a:latin typeface="Perpetua"/>
                <a:cs typeface="Perpetua"/>
              </a:rPr>
              <a:t>consider the </a:t>
            </a:r>
            <a:r>
              <a:rPr sz="2600" spc="-5" dirty="0">
                <a:latin typeface="Perpetua"/>
                <a:cs typeface="Perpetua"/>
              </a:rPr>
              <a:t>solution to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problem, </a:t>
            </a:r>
            <a:r>
              <a:rPr sz="2600" spc="-15" dirty="0">
                <a:latin typeface="Perpetua"/>
                <a:cs typeface="Perpetua"/>
              </a:rPr>
              <a:t>make  </a:t>
            </a:r>
            <a:r>
              <a:rPr sz="2600" spc="-10" dirty="0">
                <a:latin typeface="Perpetua"/>
                <a:cs typeface="Perpetua"/>
              </a:rPr>
              <a:t>sure that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meets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original </a:t>
            </a:r>
            <a:r>
              <a:rPr sz="2600" dirty="0">
                <a:latin typeface="Perpetua"/>
                <a:cs typeface="Perpetua"/>
              </a:rPr>
              <a:t>design </a:t>
            </a:r>
            <a:r>
              <a:rPr sz="2600" spc="10" dirty="0">
                <a:latin typeface="Perpetua"/>
                <a:cs typeface="Perpetua"/>
              </a:rPr>
              <a:t>criteria, </a:t>
            </a:r>
            <a:r>
              <a:rPr sz="2600" spc="-5" dirty="0">
                <a:latin typeface="Perpetua"/>
                <a:cs typeface="Perpetua"/>
              </a:rPr>
              <a:t>produces </a:t>
            </a:r>
            <a:r>
              <a:rPr sz="2600" dirty="0">
                <a:latin typeface="Perpetua"/>
                <a:cs typeface="Perpetua"/>
              </a:rPr>
              <a:t>the correct  </a:t>
            </a:r>
            <a:r>
              <a:rPr sz="2600" spc="-5" dirty="0">
                <a:latin typeface="Perpetua"/>
                <a:cs typeface="Perpetua"/>
              </a:rPr>
              <a:t>solution and </a:t>
            </a:r>
            <a:r>
              <a:rPr sz="2600" dirty="0">
                <a:latin typeface="Perpetua"/>
                <a:cs typeface="Perpetua"/>
              </a:rPr>
              <a:t>is fit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purpose - </a:t>
            </a:r>
            <a:r>
              <a:rPr sz="2600" spc="-5" dirty="0">
                <a:latin typeface="Perpetua"/>
                <a:cs typeface="Perpetua"/>
              </a:rPr>
              <a:t>before programming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begins.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831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20" dirty="0">
                <a:latin typeface="Perpetua"/>
                <a:cs typeface="Perpetua"/>
              </a:rPr>
              <a:t>Faulty </a:t>
            </a:r>
            <a:r>
              <a:rPr sz="3600" i="0" spc="-5" dirty="0">
                <a:latin typeface="Perpetua"/>
                <a:cs typeface="Perpetua"/>
              </a:rPr>
              <a:t>solutions do not </a:t>
            </a:r>
            <a:r>
              <a:rPr sz="3600" i="0" spc="-20" dirty="0">
                <a:latin typeface="Perpetua"/>
                <a:cs typeface="Perpetua"/>
              </a:rPr>
              <a:t>solve </a:t>
            </a:r>
            <a:r>
              <a:rPr sz="3600" i="0" dirty="0">
                <a:latin typeface="Perpetua"/>
                <a:cs typeface="Perpetua"/>
              </a:rPr>
              <a:t>the</a:t>
            </a:r>
            <a:r>
              <a:rPr sz="3600" i="0" spc="50" dirty="0">
                <a:latin typeface="Perpetua"/>
                <a:cs typeface="Perpetua"/>
              </a:rPr>
              <a:t> </a:t>
            </a:r>
            <a:r>
              <a:rPr sz="3600" i="0" spc="-25" dirty="0">
                <a:latin typeface="Perpetua"/>
                <a:cs typeface="Perpetua"/>
              </a:rPr>
              <a:t>problem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00430"/>
            <a:ext cx="8531860" cy="5060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98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solution </a:t>
            </a:r>
            <a:r>
              <a:rPr sz="2600" dirty="0">
                <a:latin typeface="Perpetua"/>
                <a:cs typeface="Perpetua"/>
              </a:rPr>
              <a:t>has </a:t>
            </a:r>
            <a:r>
              <a:rPr sz="2600" spc="-5" dirty="0">
                <a:latin typeface="Perpetua"/>
                <a:cs typeface="Perpetua"/>
              </a:rPr>
              <a:t>been decided and </a:t>
            </a: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5" dirty="0">
                <a:latin typeface="Perpetua"/>
                <a:cs typeface="Perpetua"/>
              </a:rPr>
              <a:t>designed, </a:t>
            </a:r>
            <a:r>
              <a:rPr sz="2600" dirty="0">
                <a:latin typeface="Perpetua"/>
                <a:cs typeface="Perpetua"/>
              </a:rPr>
              <a:t>it can  be </a:t>
            </a:r>
            <a:r>
              <a:rPr sz="2600" spc="-5" dirty="0">
                <a:latin typeface="Perpetua"/>
                <a:cs typeface="Perpetua"/>
              </a:rPr>
              <a:t>tempting to miss out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evaluating </a:t>
            </a:r>
            <a:r>
              <a:rPr sz="2600" dirty="0">
                <a:latin typeface="Perpetua"/>
                <a:cs typeface="Perpetua"/>
              </a:rPr>
              <a:t>stage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to  </a:t>
            </a:r>
            <a:r>
              <a:rPr sz="2600" spc="15" dirty="0">
                <a:latin typeface="Perpetua"/>
                <a:cs typeface="Perpetua"/>
              </a:rPr>
              <a:t>start</a:t>
            </a:r>
            <a:r>
              <a:rPr sz="2600" spc="1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programming</a:t>
            </a:r>
            <a:r>
              <a:rPr sz="2600" b="1" spc="-30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spc="-30" dirty="0">
                <a:latin typeface="Perpetua"/>
                <a:cs typeface="Perpetua"/>
              </a:rPr>
              <a:t>immediately.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50" dirty="0">
                <a:solidFill>
                  <a:srgbClr val="C00000"/>
                </a:solidFill>
                <a:latin typeface="Perpetua"/>
                <a:cs typeface="Perpetua"/>
              </a:rPr>
              <a:t>However,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without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evaluation </a:t>
            </a:r>
            <a:r>
              <a:rPr sz="2600" b="1" i="1" spc="-35" dirty="0">
                <a:solidFill>
                  <a:srgbClr val="C00000"/>
                </a:solidFill>
                <a:latin typeface="Perpetua"/>
                <a:cs typeface="Perpetua"/>
              </a:rPr>
              <a:t>any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faults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in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algorithm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will 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not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be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picked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up, and the </a:t>
            </a:r>
            <a:r>
              <a:rPr sz="2600" b="1" i="1" spc="-35" dirty="0">
                <a:solidFill>
                  <a:srgbClr val="C00000"/>
                </a:solidFill>
                <a:latin typeface="Perpetua"/>
                <a:cs typeface="Perpetua"/>
              </a:rPr>
              <a:t>program </a:t>
            </a:r>
            <a:r>
              <a:rPr sz="2600" b="1" i="1" spc="-25" dirty="0">
                <a:solidFill>
                  <a:srgbClr val="C00000"/>
                </a:solidFill>
                <a:latin typeface="Perpetua"/>
                <a:cs typeface="Perpetua"/>
              </a:rPr>
              <a:t>may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not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correctly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solve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the 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problem,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or </a:t>
            </a:r>
            <a:r>
              <a:rPr sz="2600" b="1" i="1" spc="-25" dirty="0">
                <a:solidFill>
                  <a:srgbClr val="C00000"/>
                </a:solidFill>
                <a:latin typeface="Perpetua"/>
                <a:cs typeface="Perpetua"/>
              </a:rPr>
              <a:t>may </a:t>
            </a:r>
            <a:r>
              <a:rPr sz="2600" b="1" i="1" spc="5" dirty="0">
                <a:solidFill>
                  <a:srgbClr val="C00000"/>
                </a:solidFill>
                <a:latin typeface="Perpetua"/>
                <a:cs typeface="Perpetua"/>
              </a:rPr>
              <a:t>not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solve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it in the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best</a:t>
            </a:r>
            <a:r>
              <a:rPr sz="2600" b="1" i="1" spc="-3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65" dirty="0">
                <a:solidFill>
                  <a:srgbClr val="C00000"/>
                </a:solidFill>
                <a:latin typeface="Perpetua"/>
                <a:cs typeface="Perpetua"/>
              </a:rPr>
              <a:t>way.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Faults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spc="-5" dirty="0">
                <a:latin typeface="Perpetua"/>
                <a:cs typeface="Perpetua"/>
              </a:rPr>
              <a:t>be minor and not </a:t>
            </a:r>
            <a:r>
              <a:rPr sz="2600" spc="-10" dirty="0">
                <a:latin typeface="Perpetua"/>
                <a:cs typeface="Perpetua"/>
              </a:rPr>
              <a:t>very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important.</a:t>
            </a:r>
            <a:endParaRPr sz="2600">
              <a:latin typeface="Perpetua"/>
              <a:cs typeface="Perpetua"/>
            </a:endParaRPr>
          </a:p>
          <a:p>
            <a:pPr marL="561340" marR="5715" lvl="1" indent="-228600" algn="just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15" dirty="0">
                <a:latin typeface="Perpetua"/>
                <a:cs typeface="Perpetua"/>
              </a:rPr>
              <a:t>example, </a:t>
            </a:r>
            <a:r>
              <a:rPr sz="2600" dirty="0">
                <a:latin typeface="Perpetua"/>
                <a:cs typeface="Perpetua"/>
              </a:rPr>
              <a:t>if a </a:t>
            </a:r>
            <a:r>
              <a:rPr sz="2600" spc="-5" dirty="0">
                <a:latin typeface="Perpetua"/>
                <a:cs typeface="Perpetua"/>
              </a:rPr>
              <a:t>solution 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question </a:t>
            </a:r>
            <a:r>
              <a:rPr sz="2600" spc="-20" dirty="0">
                <a:latin typeface="Perpetua"/>
                <a:cs typeface="Perpetua"/>
              </a:rPr>
              <a:t>‘how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cat?’ </a:t>
            </a:r>
            <a:r>
              <a:rPr sz="2600" spc="-10" dirty="0">
                <a:latin typeface="Perpetua"/>
                <a:cs typeface="Perpetua"/>
              </a:rPr>
              <a:t>was  </a:t>
            </a:r>
            <a:r>
              <a:rPr sz="2600" spc="-5" dirty="0">
                <a:latin typeface="Perpetua"/>
                <a:cs typeface="Perpetua"/>
              </a:rPr>
              <a:t>created and </a:t>
            </a:r>
            <a:r>
              <a:rPr sz="2600" dirty="0">
                <a:latin typeface="Perpetua"/>
                <a:cs typeface="Perpetua"/>
              </a:rPr>
              <a:t>this had </a:t>
            </a:r>
            <a:r>
              <a:rPr sz="2600" spc="-10" dirty="0">
                <a:latin typeface="Perpetua"/>
                <a:cs typeface="Perpetua"/>
              </a:rPr>
              <a:t>faults, </a:t>
            </a:r>
            <a:r>
              <a:rPr sz="2600" spc="-5" dirty="0">
                <a:latin typeface="Perpetua"/>
                <a:cs typeface="Perpetua"/>
              </a:rPr>
              <a:t>all that </a:t>
            </a:r>
            <a:r>
              <a:rPr sz="2600" spc="-20" dirty="0">
                <a:latin typeface="Perpetua"/>
                <a:cs typeface="Perpetua"/>
              </a:rPr>
              <a:t>would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wrong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cat  </a:t>
            </a:r>
            <a:r>
              <a:rPr sz="2600" spc="-20" dirty="0">
                <a:latin typeface="Perpetua"/>
                <a:cs typeface="Perpetua"/>
              </a:rPr>
              <a:t>drawn </a:t>
            </a:r>
            <a:r>
              <a:rPr sz="2600" spc="-5" dirty="0">
                <a:latin typeface="Perpetua"/>
                <a:cs typeface="Perpetua"/>
              </a:rPr>
              <a:t>might not look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cat.</a:t>
            </a:r>
            <a:endParaRPr sz="26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65" dirty="0">
                <a:latin typeface="Perpetua"/>
                <a:cs typeface="Perpetua"/>
              </a:rPr>
              <a:t>However, </a:t>
            </a:r>
            <a:r>
              <a:rPr sz="2600" spc="-10" dirty="0">
                <a:latin typeface="Perpetua"/>
                <a:cs typeface="Perpetua"/>
              </a:rPr>
              <a:t>faults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huge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terrible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spc="-5" dirty="0">
                <a:latin typeface="Perpetua"/>
                <a:cs typeface="Perpetua"/>
              </a:rPr>
              <a:t>effects, eg </a:t>
            </a:r>
            <a:r>
              <a:rPr sz="2600" dirty="0">
                <a:latin typeface="Perpetua"/>
                <a:cs typeface="Perpetua"/>
              </a:rPr>
              <a:t>if the  solution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an </a:t>
            </a:r>
            <a:r>
              <a:rPr sz="2600" spc="-10" dirty="0">
                <a:latin typeface="Perpetua"/>
                <a:cs typeface="Perpetua"/>
              </a:rPr>
              <a:t>aeroplane </a:t>
            </a:r>
            <a:r>
              <a:rPr sz="2600" spc="-5" dirty="0">
                <a:latin typeface="Perpetua"/>
                <a:cs typeface="Perpetua"/>
              </a:rPr>
              <a:t>autopilot </a:t>
            </a:r>
            <a:r>
              <a:rPr sz="2600" dirty="0">
                <a:latin typeface="Perpetua"/>
                <a:cs typeface="Perpetua"/>
              </a:rPr>
              <a:t>had </a:t>
            </a:r>
            <a:r>
              <a:rPr sz="2600" spc="-15" dirty="0">
                <a:latin typeface="Perpetua"/>
                <a:cs typeface="Perpetua"/>
              </a:rPr>
              <a:t>faults.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76555"/>
            <a:ext cx="775652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i="0" dirty="0">
                <a:latin typeface="Perpetua"/>
                <a:cs typeface="Perpetua"/>
              </a:rPr>
              <a:t>A </a:t>
            </a:r>
            <a:r>
              <a:rPr sz="2900" i="0" spc="-5" dirty="0">
                <a:latin typeface="Perpetua"/>
                <a:cs typeface="Perpetua"/>
              </a:rPr>
              <a:t>faulty </a:t>
            </a:r>
            <a:r>
              <a:rPr sz="2900" i="0" dirty="0">
                <a:latin typeface="Perpetua"/>
                <a:cs typeface="Perpetua"/>
              </a:rPr>
              <a:t>solution </a:t>
            </a:r>
            <a:r>
              <a:rPr sz="2900" i="0" spc="-35" dirty="0">
                <a:latin typeface="Perpetua"/>
                <a:cs typeface="Perpetua"/>
              </a:rPr>
              <a:t>may </a:t>
            </a:r>
            <a:r>
              <a:rPr sz="2900" i="0" dirty="0">
                <a:latin typeface="Perpetua"/>
                <a:cs typeface="Perpetua"/>
              </a:rPr>
              <a:t>include one or </a:t>
            </a:r>
            <a:r>
              <a:rPr sz="2900" i="0" spc="-10" dirty="0">
                <a:latin typeface="Perpetua"/>
                <a:cs typeface="Perpetua"/>
              </a:rPr>
              <a:t>more </a:t>
            </a:r>
            <a:r>
              <a:rPr sz="2900" i="0" dirty="0">
                <a:latin typeface="Perpetua"/>
                <a:cs typeface="Perpetua"/>
              </a:rPr>
              <a:t>of these</a:t>
            </a:r>
            <a:r>
              <a:rPr sz="2900" i="0" spc="-100" dirty="0">
                <a:latin typeface="Perpetua"/>
                <a:cs typeface="Perpetua"/>
              </a:rPr>
              <a:t> </a:t>
            </a:r>
            <a:r>
              <a:rPr sz="2900" i="0" dirty="0">
                <a:latin typeface="Perpetua"/>
                <a:cs typeface="Perpetua"/>
              </a:rPr>
              <a:t>errors.</a:t>
            </a:r>
            <a:endParaRPr sz="29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291321" y="1575257"/>
            <a:ext cx="54737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Perpetua"/>
                <a:cs typeface="Perpetua"/>
              </a:rPr>
              <a:t>h</a:t>
            </a:r>
            <a:r>
              <a:rPr sz="2600" spc="-80" dirty="0">
                <a:latin typeface="Perpetua"/>
                <a:cs typeface="Perpetua"/>
              </a:rPr>
              <a:t>a</a:t>
            </a:r>
            <a:r>
              <a:rPr sz="2600" spc="-5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079697"/>
            <a:ext cx="7674609" cy="13150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dirty="0">
                <a:latin typeface="Perpetua"/>
                <a:cs typeface="Perpetua"/>
              </a:rPr>
              <a:t>find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solutions </a:t>
            </a:r>
            <a:r>
              <a:rPr sz="2600" spc="-10" dirty="0">
                <a:latin typeface="Perpetua"/>
                <a:cs typeface="Perpetua"/>
              </a:rPr>
              <a:t>fail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because: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  <a:tab pos="1067435" algn="l"/>
                <a:tab pos="1579245" algn="l"/>
                <a:tab pos="2391410" algn="l"/>
                <a:tab pos="3365500" algn="l"/>
                <a:tab pos="5333365" algn="l"/>
                <a:tab pos="5769610" algn="l"/>
                <a:tab pos="6446520" algn="l"/>
                <a:tab pos="7263130" algn="l"/>
              </a:tabLst>
            </a:pPr>
            <a:r>
              <a:rPr sz="2600" spc="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t	is	</a:t>
            </a:r>
            <a:r>
              <a:rPr sz="2600" b="1" dirty="0">
                <a:latin typeface="Perpetua"/>
                <a:cs typeface="Perpetua"/>
              </a:rPr>
              <a:t>not	ful</a:t>
            </a:r>
            <a:r>
              <a:rPr sz="2600" b="1" spc="-55" dirty="0">
                <a:latin typeface="Perpetua"/>
                <a:cs typeface="Perpetua"/>
              </a:rPr>
              <a:t>l</a:t>
            </a:r>
            <a:r>
              <a:rPr sz="2600" b="1" dirty="0">
                <a:latin typeface="Perpetua"/>
                <a:cs typeface="Perpetua"/>
              </a:rPr>
              <a:t>y	un</a:t>
            </a:r>
            <a:r>
              <a:rPr sz="2600" b="1" spc="-15" dirty="0">
                <a:latin typeface="Perpetua"/>
                <a:cs typeface="Perpetua"/>
              </a:rPr>
              <a:t>d</a:t>
            </a:r>
            <a:r>
              <a:rPr sz="2600" b="1" spc="-5" dirty="0">
                <a:latin typeface="Perpetua"/>
                <a:cs typeface="Perpetua"/>
              </a:rPr>
              <a:t>e</a:t>
            </a:r>
            <a:r>
              <a:rPr sz="2600" b="1" spc="20" dirty="0">
                <a:latin typeface="Perpetua"/>
                <a:cs typeface="Perpetua"/>
              </a:rPr>
              <a:t>r</a:t>
            </a:r>
            <a:r>
              <a:rPr sz="2600" b="1" spc="-5" dirty="0">
                <a:latin typeface="Perpetua"/>
                <a:cs typeface="Perpetua"/>
              </a:rPr>
              <a:t>stoo</a:t>
            </a:r>
            <a:r>
              <a:rPr sz="2600" b="1" dirty="0">
                <a:latin typeface="Perpetua"/>
                <a:cs typeface="Perpetua"/>
              </a:rPr>
              <a:t>d	</a:t>
            </a:r>
            <a:r>
              <a:rPr sz="2600" dirty="0">
                <a:latin typeface="Perpetua"/>
                <a:cs typeface="Perpetua"/>
              </a:rPr>
              <a:t>-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m</a:t>
            </a:r>
            <a:r>
              <a:rPr sz="2600" spc="-10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y	</a:t>
            </a:r>
            <a:r>
              <a:rPr sz="2600" spc="-10" dirty="0">
                <a:latin typeface="Perpetua"/>
                <a:cs typeface="Perpetua"/>
              </a:rPr>
              <a:t>not  properly</a:t>
            </a:r>
            <a:r>
              <a:rPr sz="2600" spc="-1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decomposed</a:t>
            </a:r>
            <a:r>
              <a:rPr sz="2600" b="1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problem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380" y="2866466"/>
            <a:ext cx="8208645" cy="300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it is </a:t>
            </a:r>
            <a:r>
              <a:rPr sz="2600" b="1" spc="-5" dirty="0">
                <a:latin typeface="Perpetua"/>
                <a:cs typeface="Perpetua"/>
              </a:rPr>
              <a:t>incomplete </a:t>
            </a:r>
            <a:r>
              <a:rPr sz="2600" dirty="0">
                <a:latin typeface="Perpetua"/>
                <a:cs typeface="Perpetua"/>
              </a:rPr>
              <a:t>- some </a:t>
            </a:r>
            <a:r>
              <a:rPr sz="2600" spc="15" dirty="0">
                <a:latin typeface="Perpetua"/>
                <a:cs typeface="Perpetua"/>
              </a:rPr>
              <a:t>parts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35" dirty="0">
                <a:latin typeface="Perpetua"/>
                <a:cs typeface="Perpetua"/>
              </a:rPr>
              <a:t>may have </a:t>
            </a:r>
            <a:r>
              <a:rPr sz="2600" dirty="0">
                <a:latin typeface="Perpetua"/>
                <a:cs typeface="Perpetua"/>
              </a:rPr>
              <a:t>been </a:t>
            </a:r>
            <a:r>
              <a:rPr sz="2600" spc="-5" dirty="0">
                <a:latin typeface="Perpetua"/>
                <a:cs typeface="Perpetua"/>
              </a:rPr>
              <a:t>left  out</a:t>
            </a:r>
            <a:r>
              <a:rPr sz="2600" spc="-10" dirty="0">
                <a:latin typeface="Perpetua"/>
                <a:cs typeface="Perpetua"/>
              </a:rPr>
              <a:t> accidentally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400">
              <a:latin typeface="Perpetua"/>
              <a:cs typeface="Perpetua"/>
            </a:endParaRPr>
          </a:p>
          <a:p>
            <a:pPr marL="241300" indent="-228600">
              <a:lnSpc>
                <a:spcPct val="100000"/>
              </a:lnSpc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it is </a:t>
            </a:r>
            <a:r>
              <a:rPr sz="2600" b="1" spc="-5" dirty="0">
                <a:latin typeface="Perpetua"/>
                <a:cs typeface="Perpetua"/>
              </a:rPr>
              <a:t>inefficient </a:t>
            </a:r>
            <a:r>
              <a:rPr sz="2600" dirty="0">
                <a:latin typeface="Perpetua"/>
                <a:cs typeface="Perpetua"/>
              </a:rPr>
              <a:t>– it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too complicated or too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long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3400">
              <a:latin typeface="Perpetua"/>
              <a:cs typeface="Perpetua"/>
            </a:endParaRPr>
          </a:p>
          <a:p>
            <a:pPr marL="241300" marR="5080" indent="-22860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600" dirty="0">
                <a:latin typeface="Perpetua"/>
                <a:cs typeface="Perpetua"/>
              </a:rPr>
              <a:t>it </a:t>
            </a:r>
            <a:r>
              <a:rPr sz="2600" b="1" dirty="0">
                <a:latin typeface="Perpetua"/>
                <a:cs typeface="Perpetua"/>
              </a:rPr>
              <a:t>does not meet </a:t>
            </a:r>
            <a:r>
              <a:rPr sz="2600" b="1" spc="-5" dirty="0">
                <a:latin typeface="Perpetua"/>
                <a:cs typeface="Perpetua"/>
              </a:rPr>
              <a:t>the </a:t>
            </a:r>
            <a:r>
              <a:rPr sz="2600" b="1" spc="10" dirty="0">
                <a:latin typeface="Perpetua"/>
                <a:cs typeface="Perpetua"/>
              </a:rPr>
              <a:t>original </a:t>
            </a:r>
            <a:r>
              <a:rPr sz="2600" b="1" dirty="0">
                <a:latin typeface="Perpetua"/>
                <a:cs typeface="Perpetua"/>
              </a:rPr>
              <a:t>design </a:t>
            </a:r>
            <a:r>
              <a:rPr sz="2600" b="1" spc="10" dirty="0">
                <a:latin typeface="Perpetua"/>
                <a:cs typeface="Perpetua"/>
              </a:rPr>
              <a:t>criteria </a:t>
            </a:r>
            <a:r>
              <a:rPr sz="2600" dirty="0">
                <a:latin typeface="Perpetua"/>
                <a:cs typeface="Perpetua"/>
              </a:rPr>
              <a:t>– so it is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fit 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purpose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80543"/>
            <a:ext cx="57365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8495" algn="l"/>
                <a:tab pos="4295140" algn="l"/>
              </a:tabLst>
            </a:pPr>
            <a:r>
              <a:rPr b="1" i="0" dirty="0">
                <a:latin typeface="Perpetua"/>
                <a:cs typeface="Perpetua"/>
              </a:rPr>
              <a:t>A</a:t>
            </a:r>
            <a:r>
              <a:rPr b="1" i="0" spc="5" dirty="0">
                <a:latin typeface="Perpetua"/>
                <a:cs typeface="Perpetua"/>
              </a:rPr>
              <a:t> </a:t>
            </a:r>
            <a:r>
              <a:rPr b="1" i="0" spc="-15" dirty="0">
                <a:latin typeface="Perpetua"/>
                <a:cs typeface="Perpetua"/>
              </a:rPr>
              <a:t>study</a:t>
            </a:r>
            <a:r>
              <a:rPr b="1" i="0" spc="5" dirty="0">
                <a:latin typeface="Perpetua"/>
                <a:cs typeface="Perpetua"/>
              </a:rPr>
              <a:t> </a:t>
            </a:r>
            <a:r>
              <a:rPr b="1" i="0" dirty="0">
                <a:latin typeface="Perpetua"/>
                <a:cs typeface="Perpetua"/>
              </a:rPr>
              <a:t>of	</a:t>
            </a:r>
            <a:r>
              <a:rPr b="1" i="0" spc="-10" dirty="0">
                <a:latin typeface="Perpetua"/>
                <a:cs typeface="Perpetua"/>
              </a:rPr>
              <a:t>“Evaluation”	</a:t>
            </a:r>
            <a:r>
              <a:rPr b="1" i="0" dirty="0">
                <a:latin typeface="Perpetua"/>
                <a:cs typeface="Perpetua"/>
              </a:rPr>
              <a:t>in</a:t>
            </a:r>
            <a:r>
              <a:rPr b="1" i="0" spc="-75" dirty="0">
                <a:latin typeface="Perpetua"/>
                <a:cs typeface="Perpetua"/>
              </a:rPr>
              <a:t> </a:t>
            </a:r>
            <a:r>
              <a:rPr b="1" i="0" dirty="0">
                <a:latin typeface="Perpetua"/>
                <a:cs typeface="Perpetua"/>
              </a:rPr>
              <a:t>detail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30590" cy="4000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example </a:t>
            </a:r>
            <a:r>
              <a:rPr sz="2600" spc="-20" dirty="0">
                <a:latin typeface="Perpetua"/>
                <a:cs typeface="Perpetua"/>
              </a:rPr>
              <a:t>“</a:t>
            </a:r>
            <a:r>
              <a:rPr sz="2600" b="1" spc="-20" dirty="0">
                <a:solidFill>
                  <a:srgbClr val="C00000"/>
                </a:solidFill>
                <a:latin typeface="Perpetua"/>
                <a:cs typeface="Perpetua"/>
              </a:rPr>
              <a:t>How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600" b="1" spc="-15" dirty="0">
                <a:solidFill>
                  <a:srgbClr val="C00000"/>
                </a:solidFill>
                <a:latin typeface="Perpetua"/>
                <a:cs typeface="Perpetua"/>
              </a:rPr>
              <a:t>bake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a</a:t>
            </a:r>
            <a:r>
              <a:rPr sz="2600" b="1" spc="-13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spc="-15" dirty="0">
                <a:solidFill>
                  <a:srgbClr val="C00000"/>
                </a:solidFill>
                <a:latin typeface="Perpetua"/>
                <a:cs typeface="Perpetua"/>
              </a:rPr>
              <a:t>cake</a:t>
            </a:r>
            <a:r>
              <a:rPr sz="2600" spc="-15" dirty="0">
                <a:latin typeface="Perpetua"/>
                <a:cs typeface="Perpetua"/>
              </a:rPr>
              <a:t>”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619125" algn="l"/>
              </a:tabLst>
            </a:pPr>
            <a:r>
              <a:rPr sz="2600" spc="-5" dirty="0">
                <a:latin typeface="Perpetua"/>
                <a:cs typeface="Perpetua"/>
              </a:rPr>
              <a:t>It	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decomposed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to: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kind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cake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-10" dirty="0">
                <a:latin typeface="Perpetua"/>
                <a:cs typeface="Perpetua"/>
              </a:rPr>
              <a:t> bake</a:t>
            </a:r>
            <a:endParaRPr sz="2600">
              <a:latin typeface="Perpetua"/>
              <a:cs typeface="Perpetua"/>
            </a:endParaRPr>
          </a:p>
          <a:p>
            <a:pPr marL="835660" marR="508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ingredients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needed,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much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ingredient, </a:t>
            </a:r>
            <a:r>
              <a:rPr sz="2600" dirty="0">
                <a:latin typeface="Perpetua"/>
                <a:cs typeface="Perpetua"/>
              </a:rPr>
              <a:t>and  when </a:t>
            </a:r>
            <a:r>
              <a:rPr sz="2600" spc="-5" dirty="0">
                <a:latin typeface="Perpetua"/>
                <a:cs typeface="Perpetua"/>
              </a:rPr>
              <a:t>to add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it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-5" dirty="0">
                <a:latin typeface="Perpetua"/>
                <a:cs typeface="Perpetua"/>
              </a:rPr>
              <a:t>people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for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long to </a:t>
            </a:r>
            <a:r>
              <a:rPr sz="2600" spc="-10" dirty="0">
                <a:latin typeface="Perpetua"/>
                <a:cs typeface="Perpetua"/>
              </a:rPr>
              <a:t>bake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cake </a:t>
            </a:r>
            <a:r>
              <a:rPr sz="2600" spc="-5" dirty="0">
                <a:latin typeface="Perpetua"/>
                <a:cs typeface="Perpetua"/>
              </a:rPr>
              <a:t>for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equipment is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needed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005578"/>
            <a:ext cx="5819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100"/>
              </a:spcBef>
              <a:buSzPct val="84375"/>
              <a:buFont typeface="Wingdings"/>
              <a:buChar char=""/>
              <a:tabLst>
                <a:tab pos="527685" algn="l"/>
                <a:tab pos="528320" algn="l"/>
              </a:tabLst>
            </a:pPr>
            <a:r>
              <a:rPr sz="3200" dirty="0">
                <a:latin typeface="Perpetua"/>
                <a:cs typeface="Perpetua"/>
              </a:rPr>
              <a:t>The </a:t>
            </a:r>
            <a:r>
              <a:rPr sz="3200" spc="-5" dirty="0">
                <a:latin typeface="Perpetua"/>
                <a:cs typeface="Perpetua"/>
              </a:rPr>
              <a:t>Decomposition of</a:t>
            </a:r>
            <a:r>
              <a:rPr sz="3200" dirty="0">
                <a:latin typeface="Perpetua"/>
                <a:cs typeface="Perpetua"/>
              </a:rPr>
              <a:t> </a:t>
            </a:r>
            <a:r>
              <a:rPr sz="3200" b="1" spc="-5" dirty="0">
                <a:latin typeface="Perpetua"/>
                <a:cs typeface="Perpetua"/>
              </a:rPr>
              <a:t>equipment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1905000"/>
            <a:ext cx="7207797" cy="2806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29025" y="5867400"/>
            <a:ext cx="1104900" cy="68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340" y="280543"/>
            <a:ext cx="8270240" cy="145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3415" algn="l"/>
              </a:tabLst>
            </a:pPr>
            <a:r>
              <a:rPr sz="3200" b="1" dirty="0">
                <a:latin typeface="Perpetua"/>
                <a:cs typeface="Perpetua"/>
              </a:rPr>
              <a:t>#1	</a:t>
            </a:r>
            <a:r>
              <a:rPr sz="3200" b="1" spc="-5" dirty="0">
                <a:latin typeface="Perpetua"/>
                <a:cs typeface="Perpetua"/>
              </a:rPr>
              <a:t>Solutions </a:t>
            </a:r>
            <a:r>
              <a:rPr sz="3200" b="1" spc="-15" dirty="0">
                <a:latin typeface="Perpetua"/>
                <a:cs typeface="Perpetua"/>
              </a:rPr>
              <a:t>that </a:t>
            </a:r>
            <a:r>
              <a:rPr sz="3200" b="1" dirty="0">
                <a:latin typeface="Perpetua"/>
                <a:cs typeface="Perpetua"/>
              </a:rPr>
              <a:t>are not </a:t>
            </a:r>
            <a:r>
              <a:rPr sz="3200" b="1" spc="-10" dirty="0">
                <a:latin typeface="Perpetua"/>
                <a:cs typeface="Perpetua"/>
              </a:rPr>
              <a:t>properly</a:t>
            </a:r>
            <a:r>
              <a:rPr sz="3200" b="1" dirty="0">
                <a:latin typeface="Perpetua"/>
                <a:cs typeface="Perpetua"/>
              </a:rPr>
              <a:t> decomposed</a:t>
            </a:r>
            <a:endParaRPr sz="3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00">
              <a:latin typeface="Perpetua"/>
              <a:cs typeface="Perpetua"/>
            </a:endParaRPr>
          </a:p>
          <a:p>
            <a:pPr marL="646430" indent="-405765">
              <a:lnSpc>
                <a:spcPct val="100000"/>
              </a:lnSpc>
              <a:buFont typeface="Wingdings"/>
              <a:buChar char=""/>
              <a:tabLst>
                <a:tab pos="647065" algn="l"/>
              </a:tabLst>
            </a:pPr>
            <a:r>
              <a:rPr sz="3200" dirty="0">
                <a:latin typeface="Perpetua"/>
                <a:cs typeface="Perpetua"/>
              </a:rPr>
              <a:t>The </a:t>
            </a:r>
            <a:r>
              <a:rPr sz="3200" spc="-5" dirty="0">
                <a:latin typeface="Perpetua"/>
                <a:cs typeface="Perpetua"/>
              </a:rPr>
              <a:t>Decomposition </a:t>
            </a:r>
            <a:r>
              <a:rPr sz="3200" dirty="0">
                <a:latin typeface="Perpetua"/>
                <a:cs typeface="Perpetua"/>
              </a:rPr>
              <a:t>of</a:t>
            </a:r>
            <a:r>
              <a:rPr sz="3200" spc="-10" dirty="0">
                <a:latin typeface="Perpetua"/>
                <a:cs typeface="Perpetua"/>
              </a:rPr>
              <a:t> </a:t>
            </a:r>
            <a:r>
              <a:rPr sz="3200" b="1" spc="5" dirty="0">
                <a:latin typeface="Perpetua"/>
                <a:cs typeface="Perpetua"/>
              </a:rPr>
              <a:t>ingredients</a:t>
            </a:r>
            <a:endParaRPr sz="32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7792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5" dirty="0">
                <a:latin typeface="Perpetua"/>
                <a:cs typeface="Perpetua"/>
              </a:rPr>
              <a:t>Equipment Decomposition </a:t>
            </a:r>
            <a:r>
              <a:rPr sz="3600" i="0" dirty="0">
                <a:latin typeface="Perpetua"/>
                <a:cs typeface="Perpetua"/>
              </a:rPr>
              <a:t>is</a:t>
            </a:r>
            <a:r>
              <a:rPr sz="3600" i="0" spc="5" dirty="0">
                <a:latin typeface="Perpetua"/>
                <a:cs typeface="Perpetua"/>
              </a:rPr>
              <a:t> </a:t>
            </a:r>
            <a:r>
              <a:rPr sz="3600" i="0" spc="-5" dirty="0">
                <a:latin typeface="Perpetua"/>
                <a:cs typeface="Perpetua"/>
              </a:rPr>
              <a:t>incomplete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43290" cy="4690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651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‘Equipment’ </a:t>
            </a:r>
            <a:r>
              <a:rPr sz="2600" spc="20" dirty="0">
                <a:latin typeface="Perpetua"/>
                <a:cs typeface="Perpetua"/>
              </a:rPr>
              <a:t>part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10" dirty="0">
                <a:latin typeface="Perpetua"/>
                <a:cs typeface="Perpetua"/>
              </a:rPr>
              <a:t>properly </a:t>
            </a:r>
            <a:r>
              <a:rPr sz="2600" spc="-15" dirty="0">
                <a:latin typeface="Perpetua"/>
                <a:cs typeface="Perpetua"/>
              </a:rPr>
              <a:t>broken </a:t>
            </a:r>
            <a:r>
              <a:rPr sz="2600" spc="-25" dirty="0">
                <a:latin typeface="Perpetua"/>
                <a:cs typeface="Perpetua"/>
              </a:rPr>
              <a:t>down </a:t>
            </a:r>
            <a:r>
              <a:rPr sz="2600" dirty="0">
                <a:latin typeface="Perpetua"/>
                <a:cs typeface="Perpetua"/>
              </a:rPr>
              <a:t>(or  </a:t>
            </a:r>
            <a:r>
              <a:rPr sz="2600" spc="-5" dirty="0">
                <a:latin typeface="Perpetua"/>
                <a:cs typeface="Perpetua"/>
              </a:rPr>
              <a:t>decomposed).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Therefore, </a:t>
            </a:r>
            <a:r>
              <a:rPr sz="2600" dirty="0">
                <a:latin typeface="Perpetua"/>
                <a:cs typeface="Perpetua"/>
              </a:rPr>
              <a:t>if the solution -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u="heavy" spc="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algorithm</a:t>
            </a:r>
            <a:r>
              <a:rPr sz="2600" b="1" spc="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spc="-35" dirty="0">
                <a:latin typeface="Perpetua"/>
                <a:cs typeface="Perpetua"/>
              </a:rPr>
              <a:t>were </a:t>
            </a:r>
            <a:r>
              <a:rPr sz="2600" spc="-10" dirty="0">
                <a:latin typeface="Perpetua"/>
                <a:cs typeface="Perpetua"/>
              </a:rPr>
              <a:t>created from </a:t>
            </a:r>
            <a:r>
              <a:rPr sz="2600" dirty="0">
                <a:latin typeface="Perpetua"/>
                <a:cs typeface="Perpetua"/>
              </a:rPr>
              <a:t>this,  baking the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20" dirty="0">
                <a:latin typeface="Perpetua"/>
                <a:cs typeface="Perpetua"/>
              </a:rPr>
              <a:t>run </a:t>
            </a:r>
            <a:r>
              <a:rPr sz="2600" dirty="0">
                <a:latin typeface="Perpetua"/>
                <a:cs typeface="Perpetua"/>
              </a:rPr>
              <a:t>into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problems.</a:t>
            </a:r>
            <a:endParaRPr sz="2600">
              <a:latin typeface="Perpetua"/>
              <a:cs typeface="Perpetua"/>
            </a:endParaRPr>
          </a:p>
          <a:p>
            <a:pPr marL="286385" marR="1841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35" dirty="0">
                <a:latin typeface="Perpetua"/>
                <a:cs typeface="Perpetua"/>
              </a:rPr>
              <a:t>say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equipment is </a:t>
            </a:r>
            <a:r>
              <a:rPr sz="2600" spc="-5" dirty="0">
                <a:latin typeface="Perpetua"/>
                <a:cs typeface="Perpetua"/>
              </a:rPr>
              <a:t>needed,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dirty="0">
                <a:latin typeface="Perpetua"/>
                <a:cs typeface="Perpetua"/>
              </a:rPr>
              <a:t>use it, so a </a:t>
            </a:r>
            <a:r>
              <a:rPr sz="2600" spc="5" dirty="0">
                <a:latin typeface="Perpetua"/>
                <a:cs typeface="Perpetua"/>
              </a:rPr>
              <a:t>person </a:t>
            </a:r>
            <a:r>
              <a:rPr sz="2600" spc="-5" dirty="0">
                <a:latin typeface="Perpetua"/>
                <a:cs typeface="Perpetua"/>
              </a:rPr>
              <a:t>could </a:t>
            </a:r>
            <a:r>
              <a:rPr sz="2600" dirty="0">
                <a:latin typeface="Perpetua"/>
                <a:cs typeface="Perpetua"/>
              </a:rPr>
              <a:t>end </a:t>
            </a:r>
            <a:r>
              <a:rPr sz="2600" spc="-5" dirty="0">
                <a:latin typeface="Perpetua"/>
                <a:cs typeface="Perpetua"/>
              </a:rPr>
              <a:t>up </a:t>
            </a:r>
            <a:r>
              <a:rPr sz="2600" dirty="0">
                <a:latin typeface="Perpetua"/>
                <a:cs typeface="Perpetua"/>
              </a:rPr>
              <a:t>trying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use a knife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measure </a:t>
            </a:r>
            <a:r>
              <a:rPr sz="2600" spc="-5" dirty="0">
                <a:latin typeface="Perpetua"/>
                <a:cs typeface="Perpetua"/>
              </a:rPr>
              <a:t>out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flour and </a:t>
            </a:r>
            <a:r>
              <a:rPr sz="2600" dirty="0">
                <a:latin typeface="Perpetua"/>
                <a:cs typeface="Perpetua"/>
              </a:rPr>
              <a:t>a whisk </a:t>
            </a:r>
            <a:r>
              <a:rPr sz="2600" spc="-5" dirty="0">
                <a:latin typeface="Perpetua"/>
                <a:cs typeface="Perpetua"/>
              </a:rPr>
              <a:t>to cut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lump of </a:t>
            </a:r>
            <a:r>
              <a:rPr sz="2600" spc="-40" dirty="0">
                <a:latin typeface="Perpetua"/>
                <a:cs typeface="Perpetua"/>
              </a:rPr>
              <a:t>butter,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example.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spc="-10" dirty="0">
                <a:latin typeface="Perpetua"/>
                <a:cs typeface="Perpetua"/>
              </a:rPr>
              <a:t>wrong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20" dirty="0">
                <a:latin typeface="Perpetua"/>
                <a:cs typeface="Perpetua"/>
              </a:rPr>
              <a:t>would, </a:t>
            </a:r>
            <a:r>
              <a:rPr sz="2600" spc="-5" dirty="0">
                <a:latin typeface="Perpetua"/>
                <a:cs typeface="Perpetua"/>
              </a:rPr>
              <a:t>of course, not</a:t>
            </a:r>
            <a:r>
              <a:rPr sz="2600" spc="-15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work.</a:t>
            </a:r>
            <a:endParaRPr sz="2600">
              <a:latin typeface="Perpetua"/>
              <a:cs typeface="Perpetua"/>
            </a:endParaRPr>
          </a:p>
          <a:p>
            <a:pPr marL="286385" marR="1587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45" dirty="0">
                <a:latin typeface="Perpetua"/>
                <a:cs typeface="Perpetua"/>
              </a:rPr>
              <a:t>Ideally, </a:t>
            </a:r>
            <a:r>
              <a:rPr sz="2600" spc="-5" dirty="0">
                <a:latin typeface="Perpetua"/>
                <a:cs typeface="Perpetua"/>
              </a:rPr>
              <a:t>then, ‘Equipment’ should be decomposed </a:t>
            </a:r>
            <a:r>
              <a:rPr sz="2600" spc="-20" dirty="0">
                <a:latin typeface="Perpetua"/>
                <a:cs typeface="Perpetua"/>
              </a:rPr>
              <a:t>further, </a:t>
            </a:r>
            <a:r>
              <a:rPr sz="2600" spc="-5" dirty="0">
                <a:latin typeface="Perpetua"/>
                <a:cs typeface="Perpetua"/>
              </a:rPr>
              <a:t>to state 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equipment is </a:t>
            </a:r>
            <a:r>
              <a:rPr sz="2600" spc="-5" dirty="0">
                <a:latin typeface="Perpetua"/>
                <a:cs typeface="Perpetua"/>
              </a:rPr>
              <a:t>needed and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ingredients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item </a:t>
            </a:r>
            <a:r>
              <a:rPr sz="2600" spc="5" dirty="0">
                <a:latin typeface="Perpetua"/>
                <a:cs typeface="Perpetua"/>
              </a:rPr>
              <a:t>is </a:t>
            </a:r>
            <a:r>
              <a:rPr sz="2600" dirty="0">
                <a:latin typeface="Perpetua"/>
                <a:cs typeface="Perpetua"/>
              </a:rPr>
              <a:t>used  with.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4253560"/>
            <a:ext cx="8531225" cy="1216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problem </a:t>
            </a:r>
            <a:r>
              <a:rPr sz="2600" b="1" spc="10" dirty="0">
                <a:solidFill>
                  <a:srgbClr val="C00000"/>
                </a:solidFill>
                <a:latin typeface="Perpetua"/>
                <a:cs typeface="Perpetua"/>
              </a:rPr>
              <a:t>occurred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here because 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the problem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of </a:t>
            </a:r>
            <a:r>
              <a:rPr sz="2600" b="1" spc="-15" dirty="0">
                <a:solidFill>
                  <a:srgbClr val="C00000"/>
                </a:solidFill>
                <a:latin typeface="Perpetua"/>
                <a:cs typeface="Perpetua"/>
              </a:rPr>
              <a:t>which  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equipment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to use and </a:t>
            </a:r>
            <a:r>
              <a:rPr sz="2600" b="1" spc="-10" dirty="0">
                <a:solidFill>
                  <a:srgbClr val="C00000"/>
                </a:solidFill>
                <a:latin typeface="Perpetua"/>
                <a:cs typeface="Perpetua"/>
              </a:rPr>
              <a:t>which </a:t>
            </a:r>
            <a:r>
              <a:rPr sz="2600" b="1" spc="5" dirty="0">
                <a:solidFill>
                  <a:srgbClr val="C00000"/>
                </a:solidFill>
                <a:latin typeface="Perpetua"/>
                <a:cs typeface="Perpetua"/>
              </a:rPr>
              <a:t>ingredients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600" b="1" spc="-5" dirty="0">
                <a:solidFill>
                  <a:srgbClr val="C00000"/>
                </a:solidFill>
                <a:latin typeface="Perpetua"/>
                <a:cs typeface="Perpetua"/>
              </a:rPr>
              <a:t>use it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with  </a:t>
            </a:r>
            <a:r>
              <a:rPr sz="2600" b="1" spc="-10" dirty="0">
                <a:solidFill>
                  <a:srgbClr val="C00000"/>
                </a:solidFill>
                <a:latin typeface="Perpetua"/>
                <a:cs typeface="Perpetua"/>
              </a:rPr>
              <a:t>hadn’t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been </a:t>
            </a:r>
            <a:r>
              <a:rPr sz="2600" b="1" spc="-15" dirty="0">
                <a:solidFill>
                  <a:srgbClr val="C00000"/>
                </a:solidFill>
                <a:latin typeface="Perpetua"/>
                <a:cs typeface="Perpetua"/>
              </a:rPr>
              <a:t>fully</a:t>
            </a:r>
            <a:r>
              <a:rPr sz="2600" b="1" spc="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C00000"/>
                </a:solidFill>
                <a:latin typeface="Perpetua"/>
                <a:cs typeface="Perpetua"/>
              </a:rPr>
              <a:t>decomposed.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2000" y="304800"/>
            <a:ext cx="7267903" cy="34134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67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6617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8530" algn="l"/>
              </a:tabLst>
            </a:pPr>
            <a:r>
              <a:rPr sz="3600" b="1" i="0" dirty="0">
                <a:latin typeface="Perpetua"/>
                <a:cs typeface="Perpetua"/>
              </a:rPr>
              <a:t>#</a:t>
            </a:r>
            <a:r>
              <a:rPr sz="3600" b="1" i="0" spc="-5" dirty="0">
                <a:latin typeface="Perpetua"/>
                <a:cs typeface="Perpetua"/>
              </a:rPr>
              <a:t> </a:t>
            </a:r>
            <a:r>
              <a:rPr sz="3600" b="1" i="0" dirty="0">
                <a:latin typeface="Perpetua"/>
                <a:cs typeface="Perpetua"/>
              </a:rPr>
              <a:t>2	Solutions </a:t>
            </a:r>
            <a:r>
              <a:rPr sz="3600" b="1" i="0" spc="-15" dirty="0">
                <a:latin typeface="Perpetua"/>
                <a:cs typeface="Perpetua"/>
              </a:rPr>
              <a:t>that </a:t>
            </a:r>
            <a:r>
              <a:rPr sz="3600" b="1" i="0" spc="-5" dirty="0">
                <a:latin typeface="Perpetua"/>
                <a:cs typeface="Perpetua"/>
              </a:rPr>
              <a:t>are</a:t>
            </a:r>
            <a:r>
              <a:rPr sz="3600" b="1" i="0" spc="-75" dirty="0">
                <a:latin typeface="Perpetua"/>
                <a:cs typeface="Perpetua"/>
              </a:rPr>
              <a:t> </a:t>
            </a:r>
            <a:r>
              <a:rPr sz="3600" b="1" i="0" dirty="0">
                <a:latin typeface="Perpetua"/>
                <a:cs typeface="Perpetua"/>
              </a:rPr>
              <a:t>incomplete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09866" y="877570"/>
            <a:ext cx="1525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– </a:t>
            </a:r>
            <a:r>
              <a:rPr sz="2400" spc="15" dirty="0">
                <a:latin typeface="Perpetua"/>
                <a:cs typeface="Perpetua"/>
              </a:rPr>
              <a:t>part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2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877570"/>
            <a:ext cx="6807834" cy="1480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35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25" dirty="0">
                <a:latin typeface="Perpetua"/>
                <a:cs typeface="Perpetua"/>
              </a:rPr>
              <a:t>How</a:t>
            </a:r>
            <a:r>
              <a:rPr sz="2400" spc="31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3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bake</a:t>
            </a:r>
            <a:r>
              <a:rPr sz="2400" spc="3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3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cake</a:t>
            </a:r>
            <a:r>
              <a:rPr sz="2400" spc="3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decomposition</a:t>
            </a:r>
            <a:r>
              <a:rPr sz="2400" spc="340" dirty="0">
                <a:latin typeface="Perpetua"/>
                <a:cs typeface="Perpetua"/>
              </a:rPr>
              <a:t> </a:t>
            </a:r>
            <a:r>
              <a:rPr sz="2400" b="1" spc="-5" dirty="0">
                <a:latin typeface="Perpetua"/>
                <a:cs typeface="Perpetua"/>
              </a:rPr>
              <a:t>is</a:t>
            </a:r>
            <a:r>
              <a:rPr sz="2400" b="1" spc="305" dirty="0">
                <a:latin typeface="Perpetua"/>
                <a:cs typeface="Perpetua"/>
              </a:rPr>
              <a:t> </a:t>
            </a:r>
            <a:r>
              <a:rPr sz="2400" b="1" spc="-5" dirty="0">
                <a:latin typeface="Perpetua"/>
                <a:cs typeface="Perpetua"/>
              </a:rPr>
              <a:t>still</a:t>
            </a:r>
            <a:r>
              <a:rPr sz="2400" b="1" spc="31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incomplete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spc="-10" dirty="0">
                <a:latin typeface="Perpetua"/>
                <a:cs typeface="Perpetua"/>
              </a:rPr>
              <a:t>problem </a:t>
            </a:r>
            <a:r>
              <a:rPr sz="2400" dirty="0">
                <a:latin typeface="Perpetua"/>
                <a:cs typeface="Perpetua"/>
              </a:rPr>
              <a:t>has been </a:t>
            </a:r>
            <a:r>
              <a:rPr sz="2400" spc="-5" dirty="0">
                <a:latin typeface="Perpetua"/>
                <a:cs typeface="Perpetua"/>
              </a:rPr>
              <a:t>left out. </a:t>
            </a: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still need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21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know: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where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bake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cake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1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what temperature </a:t>
            </a:r>
            <a:r>
              <a:rPr sz="2400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bake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cake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at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2371471"/>
            <a:ext cx="8543290" cy="39128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6385" marR="5080" indent="-274320" algn="just">
              <a:lnSpc>
                <a:spcPct val="90000"/>
              </a:lnSpc>
              <a:spcBef>
                <a:spcPts val="38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dirty="0">
                <a:latin typeface="Perpetua"/>
                <a:cs typeface="Perpetua"/>
              </a:rPr>
              <a:t>if this information </a:t>
            </a:r>
            <a:r>
              <a:rPr sz="2400" spc="-15" dirty="0">
                <a:latin typeface="Perpetua"/>
                <a:cs typeface="Perpetua"/>
              </a:rPr>
              <a:t>was </a:t>
            </a:r>
            <a:r>
              <a:rPr sz="2400" dirty="0">
                <a:latin typeface="Perpetua"/>
                <a:cs typeface="Perpetua"/>
              </a:rPr>
              <a:t>used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5" dirty="0">
                <a:latin typeface="Perpetua"/>
                <a:cs typeface="Perpetua"/>
              </a:rPr>
              <a:t>create </a:t>
            </a:r>
            <a:r>
              <a:rPr sz="2400" dirty="0">
                <a:latin typeface="Perpetua"/>
                <a:cs typeface="Perpetua"/>
              </a:rPr>
              <a:t>the solution,  the</a:t>
            </a:r>
            <a:r>
              <a:rPr sz="240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4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algorithm</a:t>
            </a:r>
            <a:r>
              <a:rPr sz="2400" b="1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would </a:t>
            </a:r>
            <a:r>
              <a:rPr sz="2400" spc="-30" dirty="0">
                <a:latin typeface="Perpetua"/>
                <a:cs typeface="Perpetua"/>
              </a:rPr>
              <a:t>say </a:t>
            </a:r>
            <a:r>
              <a:rPr sz="2400" spc="-25" dirty="0">
                <a:latin typeface="Perpetua"/>
                <a:cs typeface="Perpetua"/>
              </a:rPr>
              <a:t>how </a:t>
            </a:r>
            <a:r>
              <a:rPr sz="2400" spc="-5" dirty="0">
                <a:latin typeface="Perpetua"/>
                <a:cs typeface="Perpetua"/>
              </a:rPr>
              <a:t>long the </a:t>
            </a:r>
            <a:r>
              <a:rPr sz="2400" spc="-10" dirty="0">
                <a:latin typeface="Perpetua"/>
                <a:cs typeface="Perpetua"/>
              </a:rPr>
              <a:t>cake </a:t>
            </a:r>
            <a:r>
              <a:rPr sz="2400" spc="-5" dirty="0">
                <a:latin typeface="Perpetua"/>
                <a:cs typeface="Perpetua"/>
              </a:rPr>
              <a:t>should </a:t>
            </a:r>
            <a:r>
              <a:rPr sz="2400" dirty="0">
                <a:latin typeface="Perpetua"/>
                <a:cs typeface="Perpetua"/>
              </a:rPr>
              <a:t>be </a:t>
            </a:r>
            <a:r>
              <a:rPr sz="2400" spc="-5" dirty="0">
                <a:latin typeface="Perpetua"/>
                <a:cs typeface="Perpetua"/>
              </a:rPr>
              <a:t>baked for </a:t>
            </a:r>
            <a:r>
              <a:rPr sz="2400" spc="-10" dirty="0">
                <a:latin typeface="Perpetua"/>
                <a:cs typeface="Perpetua"/>
              </a:rPr>
              <a:t>but </a:t>
            </a:r>
            <a:r>
              <a:rPr sz="2400" dirty="0">
                <a:latin typeface="Perpetua"/>
                <a:cs typeface="Perpetua"/>
              </a:rPr>
              <a:t>it  </a:t>
            </a:r>
            <a:r>
              <a:rPr sz="2400" spc="-20" dirty="0">
                <a:latin typeface="Perpetua"/>
                <a:cs typeface="Perpetua"/>
              </a:rPr>
              <a:t>would </a:t>
            </a:r>
            <a:r>
              <a:rPr sz="2400" dirty="0">
                <a:latin typeface="Perpetua"/>
                <a:cs typeface="Perpetua"/>
              </a:rPr>
              <a:t>not </a:t>
            </a:r>
            <a:r>
              <a:rPr sz="2400" spc="-5" dirty="0">
                <a:latin typeface="Perpetua"/>
                <a:cs typeface="Perpetua"/>
              </a:rPr>
              <a:t>state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cake </a:t>
            </a:r>
            <a:r>
              <a:rPr sz="2400" spc="-5" dirty="0">
                <a:latin typeface="Perpetua"/>
                <a:cs typeface="Perpetua"/>
              </a:rPr>
              <a:t>should </a:t>
            </a:r>
            <a:r>
              <a:rPr sz="2400" dirty="0">
                <a:latin typeface="Perpetua"/>
                <a:cs typeface="Perpetua"/>
              </a:rPr>
              <a:t>be placed in the </a:t>
            </a:r>
            <a:r>
              <a:rPr sz="2400" spc="-25" dirty="0">
                <a:latin typeface="Perpetua"/>
                <a:cs typeface="Perpetua"/>
              </a:rPr>
              <a:t>oven,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5" dirty="0">
                <a:latin typeface="Perpetua"/>
                <a:cs typeface="Perpetua"/>
              </a:rPr>
              <a:t>the  temperature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5" dirty="0">
                <a:latin typeface="Perpetua"/>
                <a:cs typeface="Perpetua"/>
              </a:rPr>
              <a:t>oven </a:t>
            </a:r>
            <a:r>
              <a:rPr sz="2400" dirty="0">
                <a:latin typeface="Perpetua"/>
                <a:cs typeface="Perpetua"/>
              </a:rPr>
              <a:t>should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be.</a:t>
            </a:r>
            <a:endParaRPr sz="2400">
              <a:latin typeface="Perpetua"/>
              <a:cs typeface="Perpetua"/>
            </a:endParaRPr>
          </a:p>
          <a:p>
            <a:pPr marL="286385" marR="17780" indent="-274320" algn="just">
              <a:lnSpc>
                <a:spcPts val="2590"/>
              </a:lnSpc>
              <a:spcBef>
                <a:spcPts val="64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15" dirty="0">
                <a:latin typeface="Perpetua"/>
                <a:cs typeface="Perpetua"/>
              </a:rPr>
              <a:t>Even </a:t>
            </a:r>
            <a:r>
              <a:rPr sz="2400" dirty="0">
                <a:latin typeface="Perpetua"/>
                <a:cs typeface="Perpetua"/>
              </a:rPr>
              <a:t>if the </a:t>
            </a:r>
            <a:r>
              <a:rPr sz="2400" spc="-15" dirty="0">
                <a:latin typeface="Perpetua"/>
                <a:cs typeface="Perpetua"/>
              </a:rPr>
              <a:t>cake </a:t>
            </a:r>
            <a:r>
              <a:rPr sz="2400" spc="-5" dirty="0">
                <a:latin typeface="Perpetua"/>
                <a:cs typeface="Perpetua"/>
              </a:rPr>
              <a:t>made </a:t>
            </a:r>
            <a:r>
              <a:rPr sz="2400" dirty="0">
                <a:latin typeface="Perpetua"/>
                <a:cs typeface="Perpetua"/>
              </a:rPr>
              <a:t>it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25" dirty="0">
                <a:latin typeface="Perpetua"/>
                <a:cs typeface="Perpetua"/>
              </a:rPr>
              <a:t>oven, </a:t>
            </a:r>
            <a:r>
              <a:rPr sz="2400" dirty="0">
                <a:latin typeface="Perpetua"/>
                <a:cs typeface="Perpetua"/>
              </a:rPr>
              <a:t>it could </a:t>
            </a:r>
            <a:r>
              <a:rPr sz="2400" spc="-5" dirty="0">
                <a:latin typeface="Perpetua"/>
                <a:cs typeface="Perpetua"/>
              </a:rPr>
              <a:t>end up undercooked or </a:t>
            </a:r>
            <a:r>
              <a:rPr sz="2400" spc="5" dirty="0">
                <a:latin typeface="Perpetua"/>
                <a:cs typeface="Perpetua"/>
              </a:rPr>
              <a:t>burnt 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cinder.</a:t>
            </a:r>
            <a:endParaRPr sz="2400">
              <a:latin typeface="Perpetua"/>
              <a:cs typeface="Perpetua"/>
            </a:endParaRPr>
          </a:p>
          <a:p>
            <a:pPr marL="286385" marR="17145" indent="-274320" algn="just">
              <a:lnSpc>
                <a:spcPts val="2590"/>
              </a:lnSpc>
              <a:spcBef>
                <a:spcPts val="61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65" dirty="0">
                <a:latin typeface="Perpetua"/>
                <a:cs typeface="Perpetua"/>
              </a:rPr>
              <a:t>Very </a:t>
            </a:r>
            <a:r>
              <a:rPr sz="2400" spc="5" dirty="0">
                <a:latin typeface="Perpetua"/>
                <a:cs typeface="Perpetua"/>
              </a:rPr>
              <a:t>important </a:t>
            </a:r>
            <a:r>
              <a:rPr sz="2400" dirty="0">
                <a:latin typeface="Perpetua"/>
                <a:cs typeface="Perpetua"/>
              </a:rPr>
              <a:t>factors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been </a:t>
            </a:r>
            <a:r>
              <a:rPr sz="2400" spc="-5" dirty="0">
                <a:latin typeface="Perpetua"/>
                <a:cs typeface="Perpetua"/>
              </a:rPr>
              <a:t>left </a:t>
            </a:r>
            <a:r>
              <a:rPr sz="2400" dirty="0">
                <a:latin typeface="Perpetua"/>
                <a:cs typeface="Perpetua"/>
              </a:rPr>
              <a:t>out, so the chances of </a:t>
            </a:r>
            <a:r>
              <a:rPr sz="2400" spc="-10" dirty="0">
                <a:latin typeface="Perpetua"/>
                <a:cs typeface="Perpetua"/>
              </a:rPr>
              <a:t>making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great  </a:t>
            </a:r>
            <a:r>
              <a:rPr sz="2400" spc="-10" dirty="0">
                <a:latin typeface="Perpetua"/>
                <a:cs typeface="Perpetua"/>
              </a:rPr>
              <a:t>cake are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slim.</a:t>
            </a:r>
            <a:endParaRPr sz="2400">
              <a:latin typeface="Perpetua"/>
              <a:cs typeface="Perpetua"/>
            </a:endParaRPr>
          </a:p>
          <a:p>
            <a:pPr marL="286385" marR="17145" indent="-274320" algn="just">
              <a:lnSpc>
                <a:spcPct val="90000"/>
              </a:lnSpc>
              <a:spcBef>
                <a:spcPts val="565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problem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occurred here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because placing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 cake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in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oven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and 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specifying the 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oven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temperature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had not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been included, making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 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solution</a:t>
            </a:r>
            <a:r>
              <a:rPr sz="2400" b="1" i="1" spc="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incomplete.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609600"/>
            <a:ext cx="8458200" cy="5857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69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3582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660" algn="l"/>
              </a:tabLst>
            </a:pPr>
            <a:r>
              <a:rPr sz="3600" b="1" i="0" dirty="0">
                <a:latin typeface="Perpetua"/>
                <a:cs typeface="Perpetua"/>
              </a:rPr>
              <a:t>#3	Solutions </a:t>
            </a:r>
            <a:r>
              <a:rPr sz="3600" b="1" i="0" spc="-15" dirty="0">
                <a:latin typeface="Perpetua"/>
                <a:cs typeface="Perpetua"/>
              </a:rPr>
              <a:t>that </a:t>
            </a:r>
            <a:r>
              <a:rPr sz="3600" b="1" i="0" spc="-5" dirty="0">
                <a:latin typeface="Perpetua"/>
                <a:cs typeface="Perpetua"/>
              </a:rPr>
              <a:t>are</a:t>
            </a:r>
            <a:r>
              <a:rPr sz="3600" b="1" i="0" spc="-85" dirty="0">
                <a:latin typeface="Perpetua"/>
                <a:cs typeface="Perpetua"/>
              </a:rPr>
              <a:t> </a:t>
            </a:r>
            <a:r>
              <a:rPr sz="3600" b="1" i="0" dirty="0">
                <a:latin typeface="Perpetua"/>
                <a:cs typeface="Perpetua"/>
              </a:rPr>
              <a:t>inefficient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8530590" cy="3822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927100" algn="l"/>
                <a:tab pos="2059305" algn="l"/>
                <a:tab pos="2975610" algn="l"/>
                <a:tab pos="3698240" algn="l"/>
                <a:tab pos="4039235" algn="l"/>
                <a:tab pos="5012055" algn="l"/>
                <a:tab pos="5827395" algn="l"/>
                <a:tab pos="6711315" algn="l"/>
                <a:tab pos="7052945" algn="l"/>
                <a:tab pos="7682230" algn="l"/>
              </a:tabLst>
            </a:pPr>
            <a:r>
              <a:rPr sz="2600" dirty="0">
                <a:latin typeface="Perpetua"/>
                <a:cs typeface="Perpetua"/>
              </a:rPr>
              <a:t>The	sol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ti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d	st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te	–	</a:t>
            </a:r>
            <a:r>
              <a:rPr sz="2600" spc="-5" dirty="0">
                <a:latin typeface="Perpetua"/>
                <a:cs typeface="Perpetua"/>
              </a:rPr>
              <a:t>amo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g	o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her	thin</a:t>
            </a:r>
            <a:r>
              <a:rPr sz="2600" spc="-1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s	–	th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ce</a:t>
            </a:r>
            <a:r>
              <a:rPr sz="2600" spc="10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tain  </a:t>
            </a:r>
            <a:r>
              <a:rPr sz="2600" spc="-5" dirty="0">
                <a:latin typeface="Perpetua"/>
                <a:cs typeface="Perpetua"/>
              </a:rPr>
              <a:t>quantities of </a:t>
            </a:r>
            <a:r>
              <a:rPr sz="2600" spc="5" dirty="0">
                <a:latin typeface="Perpetua"/>
                <a:cs typeface="Perpetua"/>
              </a:rPr>
              <a:t>particular </a:t>
            </a:r>
            <a:r>
              <a:rPr sz="2600" dirty="0">
                <a:latin typeface="Perpetua"/>
                <a:cs typeface="Perpetua"/>
              </a:rPr>
              <a:t>ingredients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needed to </a:t>
            </a:r>
            <a:r>
              <a:rPr sz="2600" spc="-10" dirty="0">
                <a:latin typeface="Perpetua"/>
                <a:cs typeface="Perpetua"/>
              </a:rPr>
              <a:t>make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cake.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55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dirty="0">
                <a:latin typeface="Perpetua"/>
                <a:cs typeface="Perpetua"/>
              </a:rPr>
              <a:t>ingredient, it </a:t>
            </a:r>
            <a:r>
              <a:rPr sz="2600" spc="-5" dirty="0">
                <a:latin typeface="Perpetua"/>
                <a:cs typeface="Perpetua"/>
              </a:rPr>
              <a:t>might </a:t>
            </a:r>
            <a:r>
              <a:rPr sz="2600" dirty="0">
                <a:latin typeface="Perpetua"/>
                <a:cs typeface="Perpetua"/>
              </a:rPr>
              <a:t>tell </a:t>
            </a:r>
            <a:r>
              <a:rPr sz="2600" spc="-5" dirty="0">
                <a:latin typeface="Perpetua"/>
                <a:cs typeface="Perpetua"/>
              </a:rPr>
              <a:t>us to go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cupboard, </a:t>
            </a:r>
            <a:r>
              <a:rPr sz="2600" dirty="0">
                <a:latin typeface="Perpetua"/>
                <a:cs typeface="Perpetua"/>
              </a:rPr>
              <a:t>get the  ingredient,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10" dirty="0">
                <a:latin typeface="Perpetua"/>
                <a:cs typeface="Perpetua"/>
              </a:rPr>
              <a:t>bring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10" dirty="0">
                <a:latin typeface="Perpetua"/>
                <a:cs typeface="Perpetua"/>
              </a:rPr>
              <a:t>back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table.</a:t>
            </a:r>
            <a:endParaRPr sz="2600">
              <a:latin typeface="Perpetua"/>
              <a:cs typeface="Perpetua"/>
            </a:endParaRPr>
          </a:p>
          <a:p>
            <a:pPr marL="561340" marR="6985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second </a:t>
            </a:r>
            <a:r>
              <a:rPr sz="2600" dirty="0">
                <a:latin typeface="Perpetua"/>
                <a:cs typeface="Perpetua"/>
              </a:rPr>
              <a:t>– </a:t>
            </a:r>
            <a:r>
              <a:rPr sz="2600" spc="-5" dirty="0">
                <a:latin typeface="Perpetua"/>
                <a:cs typeface="Perpetua"/>
              </a:rPr>
              <a:t>and all other </a:t>
            </a:r>
            <a:r>
              <a:rPr sz="2600" dirty="0">
                <a:latin typeface="Perpetua"/>
                <a:cs typeface="Perpetua"/>
              </a:rPr>
              <a:t>ingredients – </a:t>
            </a: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might tell </a:t>
            </a:r>
            <a:r>
              <a:rPr sz="2600" spc="-5" dirty="0">
                <a:latin typeface="Perpetua"/>
                <a:cs typeface="Perpetua"/>
              </a:rPr>
              <a:t>us to do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same.</a:t>
            </a:r>
            <a:endParaRPr sz="2600">
              <a:latin typeface="Perpetua"/>
              <a:cs typeface="Perpetua"/>
            </a:endParaRPr>
          </a:p>
          <a:p>
            <a:pPr marL="561340" marR="6985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spc="-5" dirty="0">
                <a:latin typeface="Perpetua"/>
                <a:cs typeface="Perpetua"/>
              </a:rPr>
              <a:t>had three </a:t>
            </a:r>
            <a:r>
              <a:rPr sz="2600" dirty="0">
                <a:latin typeface="Perpetua"/>
                <a:cs typeface="Perpetua"/>
              </a:rPr>
              <a:t>ingredients,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mean three </a:t>
            </a:r>
            <a:r>
              <a:rPr sz="2600" spc="5" dirty="0">
                <a:latin typeface="Perpetua"/>
                <a:cs typeface="Perpetua"/>
              </a:rPr>
              <a:t>trips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cupboard.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81000"/>
            <a:ext cx="7131925" cy="464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5473090"/>
            <a:ext cx="774763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While this would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work,</a:t>
            </a:r>
            <a:r>
              <a:rPr sz="2600" b="1" i="1" spc="-45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it would be unnecessarily </a:t>
            </a:r>
            <a:r>
              <a:rPr sz="2600" b="1" i="1" spc="5" dirty="0">
                <a:solidFill>
                  <a:srgbClr val="C00000"/>
                </a:solidFill>
                <a:latin typeface="Perpetua"/>
                <a:cs typeface="Perpetua"/>
              </a:rPr>
              <a:t>long and 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complicated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71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214071"/>
            <a:ext cx="834961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It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would be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more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efficient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fetch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all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ingredients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in one</a:t>
            </a:r>
            <a:r>
              <a:rPr sz="2600" b="1" i="1" spc="-11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go, 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and the </a:t>
            </a:r>
            <a:r>
              <a:rPr sz="2600" b="1" i="1" spc="-35" dirty="0">
                <a:solidFill>
                  <a:srgbClr val="C00000"/>
                </a:solidFill>
                <a:latin typeface="Perpetua"/>
                <a:cs typeface="Perpetua"/>
              </a:rPr>
              <a:t>program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would be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shorter as a</a:t>
            </a:r>
            <a:r>
              <a:rPr sz="2600" b="1" i="1" spc="-4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result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4792217"/>
            <a:ext cx="8413750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The solution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is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now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simpler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and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more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efficient,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and has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reduced</a:t>
            </a:r>
            <a:r>
              <a:rPr sz="2400" b="1" i="1" spc="-2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from 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nine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steps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to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30" dirty="0">
                <a:solidFill>
                  <a:srgbClr val="C00000"/>
                </a:solidFill>
                <a:latin typeface="Perpetua"/>
                <a:cs typeface="Perpetua"/>
              </a:rPr>
              <a:t>five.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problem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occurred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here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because some steps </a:t>
            </a:r>
            <a:r>
              <a:rPr sz="2400" b="1" i="1" spc="-25" dirty="0">
                <a:solidFill>
                  <a:srgbClr val="C00000"/>
                </a:solidFill>
                <a:latin typeface="Perpetua"/>
                <a:cs typeface="Perpetua"/>
              </a:rPr>
              <a:t>were</a:t>
            </a:r>
            <a:r>
              <a:rPr sz="2400" b="1" i="1" spc="2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repeated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</a:pP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unnecessarily,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making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solution inefficient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and </a:t>
            </a:r>
            <a:r>
              <a:rPr sz="2400" b="1" i="1" spc="-40" dirty="0">
                <a:solidFill>
                  <a:srgbClr val="C00000"/>
                </a:solidFill>
                <a:latin typeface="Perpetua"/>
                <a:cs typeface="Perpetua"/>
              </a:rPr>
              <a:t>overly</a:t>
            </a:r>
            <a:r>
              <a:rPr sz="2400" b="1" i="1" spc="-22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20" dirty="0">
                <a:solidFill>
                  <a:srgbClr val="C00000"/>
                </a:solidFill>
                <a:latin typeface="Perpetua"/>
                <a:cs typeface="Perpetua"/>
              </a:rPr>
              <a:t>long.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1143000"/>
            <a:ext cx="7040781" cy="36543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72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356742"/>
            <a:ext cx="8532495" cy="459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8015" algn="l"/>
              </a:tabLst>
            </a:pPr>
            <a:r>
              <a:rPr sz="2400" b="1" dirty="0">
                <a:latin typeface="Perpetua"/>
                <a:cs typeface="Perpetua"/>
              </a:rPr>
              <a:t>#4	</a:t>
            </a:r>
            <a:r>
              <a:rPr sz="2400" b="1" spc="-5" dirty="0">
                <a:latin typeface="Perpetua"/>
                <a:cs typeface="Perpetua"/>
              </a:rPr>
              <a:t>Solutions that </a:t>
            </a:r>
            <a:r>
              <a:rPr sz="2400" b="1" dirty="0">
                <a:latin typeface="Perpetua"/>
                <a:cs typeface="Perpetua"/>
              </a:rPr>
              <a:t>do not meet the </a:t>
            </a:r>
            <a:r>
              <a:rPr sz="2400" b="1" spc="5" dirty="0">
                <a:latin typeface="Perpetua"/>
                <a:cs typeface="Perpetua"/>
              </a:rPr>
              <a:t>original </a:t>
            </a:r>
            <a:r>
              <a:rPr sz="2400" b="1" dirty="0">
                <a:latin typeface="Perpetua"/>
                <a:cs typeface="Perpetua"/>
              </a:rPr>
              <a:t>design</a:t>
            </a:r>
            <a:r>
              <a:rPr sz="2400" b="1" spc="-75" dirty="0">
                <a:latin typeface="Perpetua"/>
                <a:cs typeface="Perpetua"/>
              </a:rPr>
              <a:t> </a:t>
            </a:r>
            <a:r>
              <a:rPr sz="2400" b="1" spc="10" dirty="0">
                <a:latin typeface="Perpetua"/>
                <a:cs typeface="Perpetua"/>
              </a:rPr>
              <a:t>criteria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5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Solutions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should  be  </a:t>
            </a:r>
            <a:r>
              <a:rPr sz="2600" spc="-15" dirty="0">
                <a:latin typeface="Perpetua"/>
                <a:cs typeface="Perpetua"/>
              </a:rPr>
              <a:t>evaluated </a:t>
            </a:r>
            <a:r>
              <a:rPr sz="2600" spc="-5" dirty="0">
                <a:latin typeface="Perpetua"/>
                <a:cs typeface="Perpetua"/>
              </a:rPr>
              <a:t>against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90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original</a:t>
            </a:r>
            <a:endParaRPr sz="2600">
              <a:latin typeface="Perpetua"/>
              <a:cs typeface="Perpetua"/>
            </a:endParaRPr>
          </a:p>
          <a:p>
            <a:pPr marL="286385" algn="just">
              <a:lnSpc>
                <a:spcPct val="100000"/>
              </a:lnSpc>
            </a:pPr>
            <a:r>
              <a:rPr sz="2600" b="1" u="heavy" spc="-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specification</a:t>
            </a:r>
            <a:r>
              <a:rPr sz="2600" b="1" spc="-5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design </a:t>
            </a:r>
            <a:r>
              <a:rPr sz="2600" b="1" u="heavy" spc="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criteria</a:t>
            </a:r>
            <a:r>
              <a:rPr sz="2600" b="1" spc="10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spc="-5" dirty="0">
                <a:latin typeface="Perpetua"/>
                <a:cs typeface="Perpetua"/>
              </a:rPr>
              <a:t>where</a:t>
            </a:r>
            <a:r>
              <a:rPr sz="2600" spc="-10" dirty="0">
                <a:latin typeface="Perpetua"/>
                <a:cs typeface="Perpetua"/>
              </a:rPr>
              <a:t> possible.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15" dirty="0">
                <a:latin typeface="Perpetua"/>
                <a:cs typeface="Perpetua"/>
              </a:rPr>
              <a:t>makes </a:t>
            </a:r>
            <a:r>
              <a:rPr sz="2600" spc="-5" dirty="0">
                <a:latin typeface="Perpetua"/>
                <a:cs typeface="Perpetua"/>
              </a:rPr>
              <a:t>sure 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solution </a:t>
            </a:r>
            <a:r>
              <a:rPr sz="2600" spc="-10" dirty="0">
                <a:latin typeface="Perpetua"/>
                <a:cs typeface="Perpetua"/>
              </a:rPr>
              <a:t>has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spc="-20" dirty="0">
                <a:latin typeface="Perpetua"/>
                <a:cs typeface="Perpetua"/>
              </a:rPr>
              <a:t>strayed </a:t>
            </a:r>
            <a:r>
              <a:rPr sz="2600" spc="-5" dirty="0">
                <a:latin typeface="Perpetua"/>
                <a:cs typeface="Perpetua"/>
              </a:rPr>
              <a:t>too </a:t>
            </a:r>
            <a:r>
              <a:rPr sz="2600" spc="5" dirty="0">
                <a:latin typeface="Perpetua"/>
                <a:cs typeface="Perpetua"/>
              </a:rPr>
              <a:t>much </a:t>
            </a:r>
            <a:r>
              <a:rPr sz="2600" spc="-10" dirty="0">
                <a:latin typeface="Perpetua"/>
                <a:cs typeface="Perpetua"/>
              </a:rPr>
              <a:t>from  </a:t>
            </a:r>
            <a:r>
              <a:rPr sz="2600" spc="-5" dirty="0">
                <a:latin typeface="Perpetua"/>
                <a:cs typeface="Perpetua"/>
              </a:rPr>
              <a:t>what </a:t>
            </a:r>
            <a:r>
              <a:rPr sz="2600" spc="-10" dirty="0">
                <a:latin typeface="Perpetua"/>
                <a:cs typeface="Perpetua"/>
              </a:rPr>
              <a:t>was </a:t>
            </a:r>
            <a:r>
              <a:rPr sz="2600" dirty="0">
                <a:latin typeface="Perpetua"/>
                <a:cs typeface="Perpetua"/>
              </a:rPr>
              <a:t>originally </a:t>
            </a:r>
            <a:r>
              <a:rPr sz="2600" spc="-5" dirty="0">
                <a:latin typeface="Perpetua"/>
                <a:cs typeface="Perpetua"/>
              </a:rPr>
              <a:t>required,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0" dirty="0">
                <a:latin typeface="Perpetua"/>
                <a:cs typeface="Perpetua"/>
              </a:rPr>
              <a:t>solves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original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and 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it is </a:t>
            </a:r>
            <a:r>
              <a:rPr sz="2600" spc="-10" dirty="0">
                <a:latin typeface="Perpetua"/>
                <a:cs typeface="Perpetua"/>
              </a:rPr>
              <a:t>suitable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users.</a:t>
            </a:r>
            <a:endParaRPr sz="2600">
              <a:latin typeface="Perpetua"/>
              <a:cs typeface="Perpetua"/>
            </a:endParaRPr>
          </a:p>
          <a:p>
            <a:pPr marL="286385" marR="889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first </a:t>
            </a:r>
            <a:r>
              <a:rPr sz="2600" spc="-5" dirty="0">
                <a:latin typeface="Perpetua"/>
                <a:cs typeface="Perpetua"/>
              </a:rPr>
              <a:t>point </a:t>
            </a:r>
            <a:r>
              <a:rPr sz="2600" dirty="0">
                <a:latin typeface="Perpetua"/>
                <a:cs typeface="Perpetua"/>
              </a:rPr>
              <a:t>in the decomposition considers </a:t>
            </a:r>
            <a:r>
              <a:rPr sz="2600" spc="-10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kind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cake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spc="-20" dirty="0">
                <a:latin typeface="Perpetua"/>
                <a:cs typeface="Perpetua"/>
              </a:rPr>
              <a:t>bake.</a:t>
            </a:r>
            <a:endParaRPr sz="2600">
              <a:latin typeface="Perpetua"/>
              <a:cs typeface="Perpetu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Often, </a:t>
            </a:r>
            <a:r>
              <a:rPr sz="2600" dirty="0">
                <a:latin typeface="Perpetua"/>
                <a:cs typeface="Perpetua"/>
              </a:rPr>
              <a:t>when </a:t>
            </a:r>
            <a:r>
              <a:rPr sz="2600" spc="-5" dirty="0">
                <a:latin typeface="Perpetua"/>
                <a:cs typeface="Perpetua"/>
              </a:rPr>
              <a:t>devising solutions to </a:t>
            </a:r>
            <a:r>
              <a:rPr sz="2600" spc="-10" dirty="0">
                <a:latin typeface="Perpetua"/>
                <a:cs typeface="Perpetua"/>
              </a:rPr>
              <a:t>problems,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specification </a:t>
            </a:r>
            <a:r>
              <a:rPr sz="2600" dirty="0">
                <a:latin typeface="Perpetua"/>
                <a:cs typeface="Perpetua"/>
              </a:rPr>
              <a:t>for the  design is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given.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73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748030"/>
            <a:ext cx="8532495" cy="4843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-15" dirty="0">
                <a:latin typeface="Perpetua"/>
                <a:cs typeface="Perpetua"/>
              </a:rPr>
              <a:t>example,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cake </a:t>
            </a:r>
            <a:r>
              <a:rPr sz="2600" spc="-35" dirty="0">
                <a:latin typeface="Perpetua"/>
                <a:cs typeface="Perpetua"/>
              </a:rPr>
              <a:t>may have </a:t>
            </a:r>
            <a:r>
              <a:rPr sz="2600" spc="-5" dirty="0">
                <a:latin typeface="Perpetua"/>
                <a:cs typeface="Perpetua"/>
              </a:rPr>
              <a:t>to be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chocolate </a:t>
            </a:r>
            <a:r>
              <a:rPr sz="2600" spc="-20" dirty="0">
                <a:latin typeface="Perpetua"/>
                <a:cs typeface="Perpetua"/>
              </a:rPr>
              <a:t>cake,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is still  </a:t>
            </a:r>
            <a:r>
              <a:rPr sz="2600" spc="-5" dirty="0">
                <a:latin typeface="Perpetua"/>
                <a:cs typeface="Perpetua"/>
              </a:rPr>
              <a:t>quite general, or </a:t>
            </a:r>
            <a:r>
              <a:rPr sz="2600" dirty="0">
                <a:latin typeface="Perpetua"/>
                <a:cs typeface="Perpetua"/>
              </a:rPr>
              <a:t>a chocolate </a:t>
            </a:r>
            <a:r>
              <a:rPr sz="2600" spc="-5" dirty="0">
                <a:latin typeface="Perpetua"/>
                <a:cs typeface="Perpetua"/>
              </a:rPr>
              <a:t>fudge </a:t>
            </a:r>
            <a:r>
              <a:rPr sz="2600" spc="-15" dirty="0">
                <a:latin typeface="Perpetua"/>
                <a:cs typeface="Perpetua"/>
              </a:rPr>
              <a:t>cake </a:t>
            </a:r>
            <a:r>
              <a:rPr sz="2600" dirty="0">
                <a:latin typeface="Perpetua"/>
                <a:cs typeface="Perpetua"/>
              </a:rPr>
              <a:t>with chocolate icing and  </a:t>
            </a:r>
            <a:r>
              <a:rPr sz="2600" spc="-10" dirty="0">
                <a:latin typeface="Perpetua"/>
                <a:cs typeface="Perpetua"/>
              </a:rPr>
              <a:t>flakes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spc="-20" dirty="0">
                <a:latin typeface="Perpetua"/>
                <a:cs typeface="Perpetua"/>
              </a:rPr>
              <a:t>top,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more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specific.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6385" marR="8255" indent="-274320" algn="just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meet </a:t>
            </a:r>
            <a:r>
              <a:rPr sz="2600" dirty="0">
                <a:latin typeface="Perpetua"/>
                <a:cs typeface="Perpetua"/>
              </a:rPr>
              <a:t>the design </a:t>
            </a:r>
            <a:r>
              <a:rPr sz="2600" spc="10" dirty="0">
                <a:latin typeface="Perpetua"/>
                <a:cs typeface="Perpetua"/>
              </a:rPr>
              <a:t>criteria, </a:t>
            </a:r>
            <a:r>
              <a:rPr sz="2600" spc="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10" dirty="0">
                <a:latin typeface="Perpetua"/>
                <a:cs typeface="Perpetua"/>
              </a:rPr>
              <a:t>important </a:t>
            </a:r>
            <a:r>
              <a:rPr sz="2600" spc="-5" dirty="0">
                <a:latin typeface="Perpetua"/>
                <a:cs typeface="Perpetua"/>
              </a:rPr>
              <a:t>to ensure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exactly 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dirty="0">
                <a:latin typeface="Perpetua"/>
                <a:cs typeface="Perpetua"/>
              </a:rPr>
              <a:t>kind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cake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baked.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Otherwise the </a:t>
            </a:r>
            <a:r>
              <a:rPr sz="2600" spc="-5" dirty="0">
                <a:latin typeface="Perpetua"/>
                <a:cs typeface="Perpetua"/>
              </a:rPr>
              <a:t>solution </a:t>
            </a:r>
            <a:r>
              <a:rPr sz="2600" spc="-35" dirty="0">
                <a:latin typeface="Perpetua"/>
                <a:cs typeface="Perpetua"/>
              </a:rPr>
              <a:t>may </a:t>
            </a:r>
            <a:r>
              <a:rPr sz="2600" spc="-5" dirty="0">
                <a:latin typeface="Perpetua"/>
                <a:cs typeface="Perpetua"/>
              </a:rPr>
              <a:t>not be </a:t>
            </a:r>
            <a:r>
              <a:rPr sz="2600" dirty="0">
                <a:latin typeface="Perpetua"/>
                <a:cs typeface="Perpetua"/>
              </a:rPr>
              <a:t>fit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purpose.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problem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occurred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here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because the solution did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not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meet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the  original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design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criteria – it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was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not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exactly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was</a:t>
            </a:r>
            <a:r>
              <a:rPr sz="2600" b="1" i="1" spc="-13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requested.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6001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-40" dirty="0">
                <a:latin typeface="Perpetua"/>
                <a:cs typeface="Perpetua"/>
              </a:rPr>
              <a:t>How </a:t>
            </a:r>
            <a:r>
              <a:rPr sz="3600" b="1" i="0" dirty="0">
                <a:latin typeface="Perpetua"/>
                <a:cs typeface="Perpetua"/>
              </a:rPr>
              <a:t>do </a:t>
            </a:r>
            <a:r>
              <a:rPr sz="3600" b="1" i="0" spc="-60" dirty="0">
                <a:latin typeface="Perpetua"/>
                <a:cs typeface="Perpetua"/>
              </a:rPr>
              <a:t>we </a:t>
            </a:r>
            <a:r>
              <a:rPr sz="3600" b="1" i="0" spc="-20" dirty="0">
                <a:latin typeface="Perpetua"/>
                <a:cs typeface="Perpetua"/>
              </a:rPr>
              <a:t>evaluate </a:t>
            </a:r>
            <a:r>
              <a:rPr sz="3600" b="1" i="0" dirty="0">
                <a:latin typeface="Perpetua"/>
                <a:cs typeface="Perpetua"/>
              </a:rPr>
              <a:t>our</a:t>
            </a:r>
            <a:r>
              <a:rPr sz="3600" b="1" i="0" spc="40" dirty="0">
                <a:latin typeface="Perpetua"/>
                <a:cs typeface="Perpetua"/>
              </a:rPr>
              <a:t> </a:t>
            </a:r>
            <a:r>
              <a:rPr sz="3600" b="1" i="0" dirty="0">
                <a:latin typeface="Perpetua"/>
                <a:cs typeface="Perpetua"/>
              </a:rPr>
              <a:t>solution?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825213"/>
            <a:ext cx="8530590" cy="44462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69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There are </a:t>
            </a:r>
            <a:r>
              <a:rPr sz="2600" b="1" i="1" spc="-25" dirty="0">
                <a:solidFill>
                  <a:srgbClr val="C00000"/>
                </a:solidFill>
                <a:latin typeface="Perpetua"/>
                <a:cs typeface="Perpetua"/>
              </a:rPr>
              <a:t>several </a:t>
            </a:r>
            <a:r>
              <a:rPr sz="2600" b="1" i="1" spc="-35" dirty="0">
                <a:solidFill>
                  <a:srgbClr val="C00000"/>
                </a:solidFill>
                <a:latin typeface="Perpetua"/>
                <a:cs typeface="Perpetua"/>
              </a:rPr>
              <a:t>ways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600" b="1" i="1" spc="-25" dirty="0">
                <a:solidFill>
                  <a:srgbClr val="C00000"/>
                </a:solidFill>
                <a:latin typeface="Perpetua"/>
                <a:cs typeface="Perpetua"/>
              </a:rPr>
              <a:t>evaluate</a:t>
            </a:r>
            <a:r>
              <a:rPr sz="2600" b="1" i="1" spc="-4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solutions.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160" dirty="0">
                <a:solidFill>
                  <a:srgbClr val="C00000"/>
                </a:solidFill>
                <a:latin typeface="Perpetua"/>
                <a:cs typeface="Perpetua"/>
              </a:rPr>
              <a:t>To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be certain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that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the solution is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correct,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it is important to</a:t>
            </a:r>
            <a:r>
              <a:rPr sz="2600" b="1" i="1" spc="-2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ask: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50">
              <a:latin typeface="Perpetua"/>
              <a:cs typeface="Perpetua"/>
            </a:endParaRPr>
          </a:p>
          <a:p>
            <a:pPr marL="478155" indent="-466090" algn="just">
              <a:lnSpc>
                <a:spcPct val="100000"/>
              </a:lnSpc>
              <a:buAutoNum type="arabicParenBoth"/>
              <a:tabLst>
                <a:tab pos="478790" algn="l"/>
              </a:tabLst>
            </a:pPr>
            <a:r>
              <a:rPr sz="2600" b="1" dirty="0">
                <a:latin typeface="Perpetua"/>
                <a:cs typeface="Perpetua"/>
              </a:rPr>
              <a:t>Does </a:t>
            </a:r>
            <a:r>
              <a:rPr sz="2600" b="1" spc="-5" dirty="0">
                <a:latin typeface="Perpetua"/>
                <a:cs typeface="Perpetua"/>
              </a:rPr>
              <a:t>the </a:t>
            </a:r>
            <a:r>
              <a:rPr sz="2600" b="1" dirty="0">
                <a:latin typeface="Perpetua"/>
                <a:cs typeface="Perpetua"/>
              </a:rPr>
              <a:t>solution </a:t>
            </a:r>
            <a:r>
              <a:rPr sz="2600" b="1" spc="-15" dirty="0">
                <a:latin typeface="Perpetua"/>
                <a:cs typeface="Perpetua"/>
              </a:rPr>
              <a:t>make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sense?</a:t>
            </a:r>
            <a:endParaRPr sz="2600">
              <a:latin typeface="Perpetua"/>
              <a:cs typeface="Perpetua"/>
            </a:endParaRPr>
          </a:p>
          <a:p>
            <a:pPr marL="561340" lvl="1" indent="-228600" algn="just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Do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spc="-15" dirty="0">
                <a:latin typeface="Perpetua"/>
                <a:cs typeface="Perpetua"/>
              </a:rPr>
              <a:t>fully </a:t>
            </a:r>
            <a:r>
              <a:rPr sz="2600" dirty="0">
                <a:latin typeface="Perpetua"/>
                <a:cs typeface="Perpetua"/>
              </a:rPr>
              <a:t>understand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problem?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 algn="just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636905" algn="l"/>
              </a:tabLst>
            </a:pPr>
            <a:r>
              <a:rPr dirty="0"/>
              <a:t>	</a:t>
            </a: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still </a:t>
            </a:r>
            <a:r>
              <a:rPr sz="2600" spc="-35" dirty="0">
                <a:latin typeface="Perpetua"/>
                <a:cs typeface="Perpetua"/>
              </a:rPr>
              <a:t>don’t </a:t>
            </a:r>
            <a:r>
              <a:rPr sz="2600" spc="-10" dirty="0">
                <a:latin typeface="Perpetua"/>
                <a:cs typeface="Perpetua"/>
              </a:rPr>
              <a:t>clearly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30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to do something to </a:t>
            </a:r>
            <a:r>
              <a:rPr sz="2600" spc="-15" dirty="0">
                <a:latin typeface="Perpetua"/>
                <a:cs typeface="Perpetua"/>
              </a:rPr>
              <a:t>solve </a:t>
            </a:r>
            <a:r>
              <a:rPr sz="2600" spc="-5" dirty="0">
                <a:latin typeface="Perpetua"/>
                <a:cs typeface="Perpetua"/>
              </a:rPr>
              <a:t>our  </a:t>
            </a:r>
            <a:r>
              <a:rPr sz="2600" spc="-10" dirty="0">
                <a:latin typeface="Perpetua"/>
                <a:cs typeface="Perpetua"/>
              </a:rPr>
              <a:t>problem, </a:t>
            </a: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spc="5" dirty="0">
                <a:latin typeface="Perpetua"/>
                <a:cs typeface="Perpetua"/>
              </a:rPr>
              <a:t>back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spc="-10" dirty="0">
                <a:latin typeface="Perpetua"/>
                <a:cs typeface="Perpetua"/>
              </a:rPr>
              <a:t>sure everything </a:t>
            </a:r>
            <a:r>
              <a:rPr sz="2600" dirty="0">
                <a:latin typeface="Perpetua"/>
                <a:cs typeface="Perpetua"/>
              </a:rPr>
              <a:t>has been  </a:t>
            </a:r>
            <a:r>
              <a:rPr sz="2600" spc="-10" dirty="0">
                <a:latin typeface="Perpetua"/>
                <a:cs typeface="Perpetua"/>
              </a:rPr>
              <a:t>properly</a:t>
            </a:r>
            <a:r>
              <a:rPr sz="2600" spc="-30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u="heavy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decomposed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561340" marR="5715" lvl="1" indent="-228600" algn="just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Once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20" dirty="0">
                <a:latin typeface="Perpetua"/>
                <a:cs typeface="Perpetua"/>
              </a:rPr>
              <a:t>know </a:t>
            </a:r>
            <a:r>
              <a:rPr sz="2600" spc="-30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to do </a:t>
            </a:r>
            <a:r>
              <a:rPr sz="2600" spc="-15" dirty="0">
                <a:latin typeface="Perpetua"/>
                <a:cs typeface="Perpetua"/>
              </a:rPr>
              <a:t>everything,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-15" dirty="0">
                <a:latin typeface="Perpetua"/>
                <a:cs typeface="Perpetua"/>
              </a:rPr>
              <a:t>problem </a:t>
            </a:r>
            <a:r>
              <a:rPr sz="2600" dirty="0">
                <a:latin typeface="Perpetua"/>
                <a:cs typeface="Perpetua"/>
              </a:rPr>
              <a:t>is  </a:t>
            </a:r>
            <a:r>
              <a:rPr sz="2600" spc="-10" dirty="0">
                <a:latin typeface="Perpetua"/>
                <a:cs typeface="Perpetua"/>
              </a:rPr>
              <a:t>thoroughly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decomposed.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414274"/>
            <a:ext cx="8529955" cy="561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8790" indent="-466725">
              <a:lnSpc>
                <a:spcPct val="100000"/>
              </a:lnSpc>
              <a:spcBef>
                <a:spcPts val="105"/>
              </a:spcBef>
              <a:buAutoNum type="arabicParenBoth" startAt="2"/>
              <a:tabLst>
                <a:tab pos="479425" algn="l"/>
              </a:tabLst>
            </a:pPr>
            <a:r>
              <a:rPr sz="2600" b="1" dirty="0">
                <a:latin typeface="Perpetua"/>
                <a:cs typeface="Perpetua"/>
              </a:rPr>
              <a:t>Does </a:t>
            </a:r>
            <a:r>
              <a:rPr sz="2600" b="1" spc="-5" dirty="0">
                <a:latin typeface="Perpetua"/>
                <a:cs typeface="Perpetua"/>
              </a:rPr>
              <a:t>the solution </a:t>
            </a:r>
            <a:r>
              <a:rPr sz="2600" b="1" spc="-25" dirty="0">
                <a:latin typeface="Perpetua"/>
                <a:cs typeface="Perpetua"/>
              </a:rPr>
              <a:t>cover </a:t>
            </a:r>
            <a:r>
              <a:rPr sz="2600" b="1" spc="-5" dirty="0">
                <a:latin typeface="Perpetua"/>
                <a:cs typeface="Perpetua"/>
              </a:rPr>
              <a:t>all </a:t>
            </a:r>
            <a:r>
              <a:rPr sz="2600" b="1" spc="15" dirty="0">
                <a:latin typeface="Perpetua"/>
                <a:cs typeface="Perpetua"/>
              </a:rPr>
              <a:t>parts </a:t>
            </a:r>
            <a:r>
              <a:rPr sz="2600" b="1" dirty="0">
                <a:latin typeface="Perpetua"/>
                <a:cs typeface="Perpetua"/>
              </a:rPr>
              <a:t>of </a:t>
            </a:r>
            <a:r>
              <a:rPr sz="2600" b="1" spc="-5" dirty="0">
                <a:latin typeface="Perpetua"/>
                <a:cs typeface="Perpetua"/>
              </a:rPr>
              <a:t>the</a:t>
            </a:r>
            <a:r>
              <a:rPr sz="2600" b="1" spc="15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problem?</a:t>
            </a:r>
            <a:endParaRPr sz="2600">
              <a:latin typeface="Perpetua"/>
              <a:cs typeface="Perpetua"/>
            </a:endParaRPr>
          </a:p>
          <a:p>
            <a:pPr marL="561340" marR="7620" lvl="1" indent="-228600">
              <a:lnSpc>
                <a:spcPts val="2810"/>
              </a:lnSpc>
              <a:spcBef>
                <a:spcPts val="434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  <a:tab pos="1183005" algn="l"/>
                <a:tab pos="2480310" algn="l"/>
                <a:tab pos="2856865" algn="l"/>
                <a:tab pos="4030345" algn="l"/>
                <a:tab pos="4365625" algn="l"/>
                <a:tab pos="5005705" algn="l"/>
                <a:tab pos="5760085" algn="l"/>
                <a:tab pos="6348730" algn="l"/>
                <a:tab pos="7520940" algn="l"/>
              </a:tabLst>
            </a:pPr>
            <a:r>
              <a:rPr sz="2600" spc="-8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or	ex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spc="-5" dirty="0">
                <a:latin typeface="Perpetua"/>
                <a:cs typeface="Perpetua"/>
              </a:rPr>
              <a:t>mp</a:t>
            </a:r>
            <a:r>
              <a:rPr sz="2600" spc="-20" dirty="0">
                <a:latin typeface="Perpetua"/>
                <a:cs typeface="Perpetua"/>
              </a:rPr>
              <a:t>l</a:t>
            </a:r>
            <a:r>
              <a:rPr sz="2600" spc="-50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,	if	dr</a:t>
            </a:r>
            <a:r>
              <a:rPr sz="2600" spc="-10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wing	a	c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t,	d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es	the	</a:t>
            </a:r>
            <a:r>
              <a:rPr sz="2600" spc="-15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ol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tion	des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ibe  </a:t>
            </a:r>
            <a:r>
              <a:rPr sz="2600" spc="-5" dirty="0">
                <a:latin typeface="Perpetua"/>
                <a:cs typeface="Perpetua"/>
              </a:rPr>
              <a:t>everything needed to </a:t>
            </a:r>
            <a:r>
              <a:rPr sz="2600" spc="-25" dirty="0">
                <a:latin typeface="Perpetua"/>
                <a:cs typeface="Perpetua"/>
              </a:rPr>
              <a:t>draw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cat,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just </a:t>
            </a:r>
            <a:r>
              <a:rPr sz="2600" spc="-20" dirty="0">
                <a:latin typeface="Perpetua"/>
                <a:cs typeface="Perpetua"/>
              </a:rPr>
              <a:t>eyes, </a:t>
            </a:r>
            <a:r>
              <a:rPr sz="2600" dirty="0">
                <a:latin typeface="Perpetua"/>
                <a:cs typeface="Perpetua"/>
              </a:rPr>
              <a:t>a tail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7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fur?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ts val="2810"/>
              </a:lnSpc>
              <a:spcBef>
                <a:spcPts val="39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10" dirty="0">
                <a:latin typeface="Perpetua"/>
                <a:cs typeface="Perpetua"/>
              </a:rPr>
              <a:t>not, </a:t>
            </a: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spc="10" dirty="0">
                <a:latin typeface="Perpetua"/>
                <a:cs typeface="Perpetua"/>
              </a:rPr>
              <a:t>back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keeping </a:t>
            </a:r>
            <a:r>
              <a:rPr sz="2600" spc="-5" dirty="0">
                <a:latin typeface="Perpetua"/>
                <a:cs typeface="Perpetua"/>
              </a:rPr>
              <a:t>adding steps 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solution until </a:t>
            </a:r>
            <a:r>
              <a:rPr sz="2600" dirty="0">
                <a:latin typeface="Perpetua"/>
                <a:cs typeface="Perpetua"/>
              </a:rPr>
              <a:t>it is  </a:t>
            </a:r>
            <a:r>
              <a:rPr sz="2600" spc="-10" dirty="0">
                <a:latin typeface="Perpetua"/>
                <a:cs typeface="Perpetua"/>
              </a:rPr>
              <a:t>complete.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150">
              <a:latin typeface="Perpetua"/>
              <a:cs typeface="Perpetua"/>
            </a:endParaRPr>
          </a:p>
          <a:p>
            <a:pPr marL="478790" indent="-466725">
              <a:lnSpc>
                <a:spcPct val="100000"/>
              </a:lnSpc>
              <a:buAutoNum type="arabicParenBoth" startAt="2"/>
              <a:tabLst>
                <a:tab pos="479425" algn="l"/>
              </a:tabLst>
            </a:pPr>
            <a:r>
              <a:rPr sz="2600" b="1" dirty="0">
                <a:latin typeface="Perpetua"/>
                <a:cs typeface="Perpetua"/>
              </a:rPr>
              <a:t>Does </a:t>
            </a:r>
            <a:r>
              <a:rPr sz="2600" b="1" spc="-5" dirty="0">
                <a:latin typeface="Perpetua"/>
                <a:cs typeface="Perpetua"/>
              </a:rPr>
              <a:t>the solution ask </a:t>
            </a:r>
            <a:r>
              <a:rPr sz="2600" b="1" dirty="0">
                <a:latin typeface="Perpetua"/>
                <a:cs typeface="Perpetua"/>
              </a:rPr>
              <a:t>for </a:t>
            </a:r>
            <a:r>
              <a:rPr sz="2600" b="1" spc="-5" dirty="0">
                <a:latin typeface="Perpetua"/>
                <a:cs typeface="Perpetua"/>
              </a:rPr>
              <a:t>tasks </a:t>
            </a:r>
            <a:r>
              <a:rPr sz="2600" b="1" dirty="0">
                <a:latin typeface="Perpetua"/>
                <a:cs typeface="Perpetua"/>
              </a:rPr>
              <a:t>to be</a:t>
            </a:r>
            <a:r>
              <a:rPr sz="2600" b="1" spc="5" dirty="0">
                <a:latin typeface="Perpetua"/>
                <a:cs typeface="Perpetua"/>
              </a:rPr>
              <a:t> </a:t>
            </a:r>
            <a:r>
              <a:rPr sz="2600" b="1" spc="-5" dirty="0">
                <a:latin typeface="Perpetua"/>
                <a:cs typeface="Perpetua"/>
              </a:rPr>
              <a:t>repeated?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20" dirty="0">
                <a:latin typeface="Perpetua"/>
                <a:cs typeface="Perpetua"/>
              </a:rPr>
              <a:t>so,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spc="-5" dirty="0">
                <a:latin typeface="Perpetua"/>
                <a:cs typeface="Perpetua"/>
              </a:rPr>
              <a:t>to reduce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repetition?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ts val="2810"/>
              </a:lnSpc>
              <a:spcBef>
                <a:spcPts val="434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Go </a:t>
            </a:r>
            <a:r>
              <a:rPr sz="2600" spc="5" dirty="0">
                <a:latin typeface="Perpetua"/>
                <a:cs typeface="Perpetua"/>
              </a:rPr>
              <a:t>back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25" dirty="0">
                <a:latin typeface="Perpetua"/>
                <a:cs typeface="Perpetua"/>
              </a:rPr>
              <a:t>remove </a:t>
            </a:r>
            <a:r>
              <a:rPr sz="2600" spc="-5" dirty="0">
                <a:latin typeface="Perpetua"/>
                <a:cs typeface="Perpetua"/>
              </a:rPr>
              <a:t>unnecessary repetition until </a:t>
            </a:r>
            <a:r>
              <a:rPr sz="2600" dirty="0">
                <a:latin typeface="Perpetua"/>
                <a:cs typeface="Perpetua"/>
              </a:rPr>
              <a:t>the solution is  </a:t>
            </a:r>
            <a:r>
              <a:rPr sz="2600" spc="-5" dirty="0">
                <a:latin typeface="Perpetua"/>
                <a:cs typeface="Perpetua"/>
              </a:rPr>
              <a:t>efficient.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300">
              <a:latin typeface="Perpetua"/>
              <a:cs typeface="Perpetua"/>
            </a:endParaRPr>
          </a:p>
          <a:p>
            <a:pPr marL="286385" marR="215900" indent="-274320">
              <a:lnSpc>
                <a:spcPts val="281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Once </a:t>
            </a:r>
            <a:r>
              <a:rPr sz="2600" b="1" i="1" spc="-50" dirty="0">
                <a:solidFill>
                  <a:srgbClr val="C00000"/>
                </a:solidFill>
                <a:latin typeface="Perpetua"/>
                <a:cs typeface="Perpetua"/>
              </a:rPr>
              <a:t>you’re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happy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with a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solution,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ask a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friend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to look</a:t>
            </a:r>
            <a:r>
              <a:rPr sz="2600" b="1" i="1" spc="-2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through 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it.</a:t>
            </a:r>
            <a:endParaRPr sz="2600">
              <a:latin typeface="Perpetua"/>
              <a:cs typeface="Perpetua"/>
            </a:endParaRPr>
          </a:p>
          <a:p>
            <a:pPr marL="344805" indent="-332740">
              <a:lnSpc>
                <a:spcPct val="100000"/>
              </a:lnSpc>
              <a:spcBef>
                <a:spcPts val="245"/>
              </a:spcBef>
              <a:buSzPct val="84615"/>
              <a:buFont typeface="Wingdings"/>
              <a:buChar char=""/>
              <a:tabLst>
                <a:tab pos="345440" algn="l"/>
              </a:tabLst>
            </a:pP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fresh </a:t>
            </a:r>
            <a:r>
              <a:rPr sz="2600" b="1" i="1" spc="-35" dirty="0">
                <a:solidFill>
                  <a:srgbClr val="C00000"/>
                </a:solidFill>
                <a:latin typeface="Perpetua"/>
                <a:cs typeface="Perpetua"/>
              </a:rPr>
              <a:t>eye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is often </a:t>
            </a:r>
            <a:r>
              <a:rPr sz="2600" b="1" i="1" spc="-15" dirty="0">
                <a:solidFill>
                  <a:srgbClr val="C00000"/>
                </a:solidFill>
                <a:latin typeface="Perpetua"/>
                <a:cs typeface="Perpetua"/>
              </a:rPr>
              <a:t>good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for </a:t>
            </a: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spotting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errors.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35026"/>
            <a:ext cx="1757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0" spc="20" dirty="0">
                <a:latin typeface="Perpetua"/>
                <a:cs typeface="Perpetua"/>
              </a:rPr>
              <a:t>Dry</a:t>
            </a:r>
            <a:r>
              <a:rPr sz="3600" b="1" i="0" spc="-75" dirty="0">
                <a:latin typeface="Perpetua"/>
                <a:cs typeface="Perpetua"/>
              </a:rPr>
              <a:t> </a:t>
            </a:r>
            <a:r>
              <a:rPr sz="3600" b="1" i="0" spc="15" dirty="0">
                <a:latin typeface="Perpetua"/>
                <a:cs typeface="Perpetua"/>
              </a:rPr>
              <a:t>runs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205230"/>
            <a:ext cx="8530590" cy="4050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One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best </a:t>
            </a:r>
            <a:r>
              <a:rPr sz="2600" spc="-30" dirty="0">
                <a:latin typeface="Perpetua"/>
                <a:cs typeface="Perpetua"/>
              </a:rPr>
              <a:t>ways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test a </a:t>
            </a:r>
            <a:r>
              <a:rPr sz="2600" spc="-5" dirty="0">
                <a:latin typeface="Perpetua"/>
                <a:cs typeface="Perpetua"/>
              </a:rPr>
              <a:t>solution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perform </a:t>
            </a:r>
            <a:r>
              <a:rPr sz="2600" spc="-45" dirty="0">
                <a:latin typeface="Perpetua"/>
                <a:cs typeface="Perpetua"/>
              </a:rPr>
              <a:t>what’s </a:t>
            </a:r>
            <a:r>
              <a:rPr sz="2600" spc="-15" dirty="0">
                <a:latin typeface="Perpetua"/>
                <a:cs typeface="Perpetua"/>
              </a:rPr>
              <a:t>known </a:t>
            </a:r>
            <a:r>
              <a:rPr sz="2600" spc="-5" dirty="0">
                <a:latin typeface="Perpetua"/>
                <a:cs typeface="Perpetua"/>
              </a:rPr>
              <a:t>as  </a:t>
            </a:r>
            <a:r>
              <a:rPr sz="2600" dirty="0">
                <a:latin typeface="Perpetua"/>
                <a:cs typeface="Perpetua"/>
              </a:rPr>
              <a:t>a ‘dry</a:t>
            </a:r>
            <a:r>
              <a:rPr sz="2600" spc="-254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run’.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With </a:t>
            </a:r>
            <a:r>
              <a:rPr sz="2600" dirty="0">
                <a:latin typeface="Perpetua"/>
                <a:cs typeface="Perpetua"/>
              </a:rPr>
              <a:t>pen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40" dirty="0">
                <a:latin typeface="Perpetua"/>
                <a:cs typeface="Perpetua"/>
              </a:rPr>
              <a:t>paper, </a:t>
            </a:r>
            <a:r>
              <a:rPr sz="2600" spc="-25" dirty="0">
                <a:latin typeface="Perpetua"/>
                <a:cs typeface="Perpetua"/>
              </a:rPr>
              <a:t>work </a:t>
            </a:r>
            <a:r>
              <a:rPr sz="2600" spc="-5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the algorithm </a:t>
            </a:r>
            <a:r>
              <a:rPr sz="2600" spc="-5" dirty="0">
                <a:latin typeface="Perpetua"/>
                <a:cs typeface="Perpetua"/>
              </a:rPr>
              <a:t>and trace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path  </a:t>
            </a:r>
            <a:r>
              <a:rPr sz="2600" spc="-5" dirty="0">
                <a:latin typeface="Perpetua"/>
                <a:cs typeface="Perpetua"/>
              </a:rPr>
              <a:t>through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10" dirty="0">
                <a:latin typeface="Perpetua"/>
                <a:cs typeface="Perpetua"/>
              </a:rPr>
              <a:t>Dry runs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also </a:t>
            </a:r>
            <a:r>
              <a:rPr sz="2600" dirty="0">
                <a:latin typeface="Perpetua"/>
                <a:cs typeface="Perpetua"/>
              </a:rPr>
              <a:t>used with </a:t>
            </a:r>
            <a:r>
              <a:rPr sz="2600" spc="-5" dirty="0">
                <a:latin typeface="Perpetua"/>
                <a:cs typeface="Perpetua"/>
              </a:rPr>
              <a:t>completed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programs.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Programmers </a:t>
            </a:r>
            <a:r>
              <a:rPr sz="2600" dirty="0">
                <a:latin typeface="Perpetua"/>
                <a:cs typeface="Perpetua"/>
              </a:rPr>
              <a:t>use </a:t>
            </a:r>
            <a:r>
              <a:rPr sz="2600" spc="5" dirty="0">
                <a:latin typeface="Perpetua"/>
                <a:cs typeface="Perpetua"/>
              </a:rPr>
              <a:t>dry </a:t>
            </a:r>
            <a:r>
              <a:rPr sz="2600" spc="10" dirty="0">
                <a:latin typeface="Perpetua"/>
                <a:cs typeface="Perpetua"/>
              </a:rPr>
              <a:t>runs </a:t>
            </a:r>
            <a:r>
              <a:rPr sz="2600" spc="-5" dirty="0">
                <a:latin typeface="Perpetua"/>
                <a:cs typeface="Perpetua"/>
              </a:rPr>
              <a:t>to help </a:t>
            </a:r>
            <a:r>
              <a:rPr sz="2600" dirty="0">
                <a:latin typeface="Perpetua"/>
                <a:cs typeface="Perpetua"/>
              </a:rPr>
              <a:t>find </a:t>
            </a:r>
            <a:r>
              <a:rPr sz="2600" spc="10" dirty="0">
                <a:latin typeface="Perpetua"/>
                <a:cs typeface="Perpetua"/>
              </a:rPr>
              <a:t>errors </a:t>
            </a:r>
            <a:r>
              <a:rPr sz="2600" dirty="0">
                <a:latin typeface="Perpetua"/>
                <a:cs typeface="Perpetua"/>
              </a:rPr>
              <a:t>in their program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code.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95630"/>
            <a:ext cx="8531225" cy="568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A simple</a:t>
            </a:r>
            <a:r>
              <a:rPr sz="2600" i="1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600" b="1" i="1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algorithm</a:t>
            </a:r>
            <a:r>
              <a:rPr sz="2600" b="1" i="1" spc="-10" dirty="0">
                <a:solidFill>
                  <a:srgbClr val="CC9900"/>
                </a:solidFill>
                <a:latin typeface="Perpetua"/>
                <a:cs typeface="Perpetua"/>
                <a:hlinkClick r:id="rId2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was </a:t>
            </a:r>
            <a:r>
              <a:rPr sz="2600" i="1" spc="-15" dirty="0">
                <a:latin typeface="Perpetua"/>
                <a:cs typeface="Perpetua"/>
              </a:rPr>
              <a:t>created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dirty="0">
                <a:latin typeface="Perpetua"/>
                <a:cs typeface="Perpetua"/>
              </a:rPr>
              <a:t>ask </a:t>
            </a:r>
            <a:r>
              <a:rPr sz="2600" i="1" spc="-5" dirty="0">
                <a:latin typeface="Perpetua"/>
                <a:cs typeface="Perpetua"/>
              </a:rPr>
              <a:t>someone their </a:t>
            </a:r>
            <a:r>
              <a:rPr sz="2600" i="1" dirty="0">
                <a:latin typeface="Perpetua"/>
                <a:cs typeface="Perpetua"/>
              </a:rPr>
              <a:t>name and </a:t>
            </a:r>
            <a:r>
              <a:rPr sz="2600" i="1" spc="-25" dirty="0">
                <a:latin typeface="Perpetua"/>
                <a:cs typeface="Perpetua"/>
              </a:rPr>
              <a:t>age,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to  make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comment.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9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7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could </a:t>
            </a:r>
            <a:r>
              <a:rPr sz="2600" i="1" dirty="0">
                <a:latin typeface="Perpetua"/>
                <a:cs typeface="Perpetua"/>
              </a:rPr>
              <a:t>try </a:t>
            </a:r>
            <a:r>
              <a:rPr sz="2600" i="1" spc="-5" dirty="0">
                <a:latin typeface="Perpetua"/>
                <a:cs typeface="Perpetua"/>
              </a:rPr>
              <a:t>out this </a:t>
            </a:r>
            <a:r>
              <a:rPr sz="2600" i="1" dirty="0">
                <a:latin typeface="Perpetua"/>
                <a:cs typeface="Perpetua"/>
              </a:rPr>
              <a:t>algorithm – </a:t>
            </a:r>
            <a:r>
              <a:rPr sz="2600" i="1" spc="-10" dirty="0">
                <a:latin typeface="Perpetua"/>
                <a:cs typeface="Perpetua"/>
              </a:rPr>
              <a:t>give </a:t>
            </a: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dry</a:t>
            </a:r>
            <a:r>
              <a:rPr sz="2600" i="1" spc="85" dirty="0">
                <a:latin typeface="Perpetua"/>
                <a:cs typeface="Perpetua"/>
              </a:rPr>
              <a:t> </a:t>
            </a:r>
            <a:r>
              <a:rPr sz="2600" i="1" spc="5" dirty="0">
                <a:latin typeface="Perpetua"/>
                <a:cs typeface="Perpetua"/>
              </a:rPr>
              <a:t>run.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"/>
            </a:pPr>
            <a:endParaRPr sz="355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0" dirty="0">
                <a:latin typeface="Perpetua"/>
                <a:cs typeface="Perpetua"/>
              </a:rPr>
              <a:t>Try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-5" dirty="0">
                <a:latin typeface="Perpetua"/>
                <a:cs typeface="Perpetua"/>
              </a:rPr>
              <a:t>ages, 15 and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75.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When using </a:t>
            </a:r>
            <a:r>
              <a:rPr sz="2600" spc="-5" dirty="0">
                <a:latin typeface="Perpetua"/>
                <a:cs typeface="Perpetua"/>
              </a:rPr>
              <a:t>age 75, where does </a:t>
            </a:r>
            <a:r>
              <a:rPr sz="2600" dirty="0">
                <a:latin typeface="Perpetua"/>
                <a:cs typeface="Perpetua"/>
              </a:rPr>
              <a:t>the algorithm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go?</a:t>
            </a:r>
            <a:endParaRPr sz="2600">
              <a:latin typeface="Perpetua"/>
              <a:cs typeface="Perpetua"/>
            </a:endParaRPr>
          </a:p>
          <a:p>
            <a:pPr marL="835660" lvl="2" indent="-229235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dirty="0">
                <a:latin typeface="Perpetua"/>
                <a:cs typeface="Perpetua"/>
              </a:rPr>
              <a:t>Does it </a:t>
            </a:r>
            <a:r>
              <a:rPr sz="2600" spc="-5" dirty="0">
                <a:latin typeface="Perpetua"/>
                <a:cs typeface="Perpetua"/>
              </a:rPr>
              <a:t>give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output?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use </a:t>
            </a:r>
            <a:r>
              <a:rPr sz="2600" spc="-5" dirty="0">
                <a:latin typeface="Perpetua"/>
                <a:cs typeface="Perpetua"/>
              </a:rPr>
              <a:t>age 15, does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0" dirty="0">
                <a:latin typeface="Perpetua"/>
                <a:cs typeface="Perpetua"/>
              </a:rPr>
              <a:t>take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20" dirty="0">
                <a:latin typeface="Perpetua"/>
                <a:cs typeface="Perpetua"/>
              </a:rPr>
              <a:t>down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different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path?</a:t>
            </a:r>
            <a:endParaRPr sz="2600">
              <a:latin typeface="Perpetua"/>
              <a:cs typeface="Perpetua"/>
            </a:endParaRPr>
          </a:p>
          <a:p>
            <a:pPr marL="835660" lvl="2" indent="-229235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dirty="0">
                <a:latin typeface="Perpetua"/>
                <a:cs typeface="Perpetua"/>
              </a:rPr>
              <a:t>Does it still </a:t>
            </a:r>
            <a:r>
              <a:rPr sz="2600" spc="-5" dirty="0">
                <a:latin typeface="Perpetua"/>
                <a:cs typeface="Perpetua"/>
              </a:rPr>
              <a:t>give </a:t>
            </a:r>
            <a:r>
              <a:rPr sz="2600" dirty="0">
                <a:latin typeface="Perpetua"/>
                <a:cs typeface="Perpetua"/>
              </a:rPr>
              <a:t>the correct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output?</a:t>
            </a:r>
            <a:endParaRPr sz="2600">
              <a:latin typeface="Perpetua"/>
              <a:cs typeface="Perpetua"/>
            </a:endParaRPr>
          </a:p>
          <a:p>
            <a:pPr marL="561340" marR="5715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dry </a:t>
            </a:r>
            <a:r>
              <a:rPr sz="2600" spc="25" dirty="0">
                <a:latin typeface="Perpetua"/>
                <a:cs typeface="Perpetua"/>
              </a:rPr>
              <a:t>run </a:t>
            </a:r>
            <a:r>
              <a:rPr sz="2600" spc="-20" dirty="0">
                <a:latin typeface="Perpetua"/>
                <a:cs typeface="Perpetua"/>
              </a:rPr>
              <a:t>doesn’t </a:t>
            </a:r>
            <a:r>
              <a:rPr sz="2600" spc="-5" dirty="0">
                <a:latin typeface="Perpetua"/>
                <a:cs typeface="Perpetua"/>
              </a:rPr>
              <a:t>give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right </a:t>
            </a:r>
            <a:r>
              <a:rPr sz="2600" spc="-55" dirty="0">
                <a:latin typeface="Perpetua"/>
                <a:cs typeface="Perpetua"/>
              </a:rPr>
              <a:t>answer, </a:t>
            </a:r>
            <a:r>
              <a:rPr sz="2600" spc="-5" dirty="0">
                <a:latin typeface="Perpetua"/>
                <a:cs typeface="Perpetua"/>
              </a:rPr>
              <a:t>there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something  wrong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needs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fixing.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0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Recording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path </a:t>
            </a:r>
            <a:r>
              <a:rPr sz="2600" spc="-10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algorithm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help </a:t>
            </a:r>
            <a:r>
              <a:rPr sz="2600" spc="-25" dirty="0">
                <a:latin typeface="Perpetua"/>
                <a:cs typeface="Perpetua"/>
              </a:rPr>
              <a:t>show </a:t>
            </a:r>
            <a:r>
              <a:rPr sz="2600" spc="-10" dirty="0">
                <a:latin typeface="Perpetua"/>
                <a:cs typeface="Perpetua"/>
              </a:rPr>
              <a:t>where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error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occurs.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t>78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648970"/>
            <a:ext cx="8165465" cy="5306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spc="-10" dirty="0">
                <a:latin typeface="Perpetua"/>
                <a:cs typeface="Perpetua"/>
              </a:rPr>
              <a:t>Abstraction</a:t>
            </a:r>
            <a:r>
              <a:rPr sz="2400" spc="-10" dirty="0">
                <a:latin typeface="Perpetua"/>
                <a:cs typeface="Perpetua"/>
              </a:rPr>
              <a:t>: </a:t>
            </a:r>
            <a:r>
              <a:rPr sz="2400" dirty="0">
                <a:latin typeface="Perpetua"/>
                <a:cs typeface="Perpetua"/>
              </a:rPr>
              <a:t>This is the sentence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will </a:t>
            </a:r>
            <a:r>
              <a:rPr sz="2400" spc="-25" dirty="0">
                <a:latin typeface="Perpetua"/>
                <a:cs typeface="Perpetua"/>
              </a:rPr>
              <a:t>work </a:t>
            </a:r>
            <a:r>
              <a:rPr sz="2400" dirty="0">
                <a:latin typeface="Perpetua"/>
                <a:cs typeface="Perpetua"/>
              </a:rPr>
              <a:t>for </a:t>
            </a:r>
            <a:r>
              <a:rPr sz="2400" spc="-5" dirty="0">
                <a:latin typeface="Perpetua"/>
                <a:cs typeface="Perpetua"/>
              </a:rPr>
              <a:t>all</a:t>
            </a:r>
            <a:r>
              <a:rPr sz="2400" spc="1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monsters.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05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2762885" algn="l"/>
              </a:tabLst>
            </a:pPr>
            <a:r>
              <a:rPr sz="2400" spc="-25" dirty="0">
                <a:latin typeface="Perpetua"/>
                <a:cs typeface="Perpetua"/>
              </a:rPr>
              <a:t>Draw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400" dirty="0">
                <a:latin typeface="Perpetua"/>
                <a:cs typeface="Perpetua"/>
              </a:rPr>
              <a:t>head.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2828290" algn="l"/>
              </a:tabLst>
            </a:pPr>
            <a:r>
              <a:rPr sz="2400" spc="-25" dirty="0">
                <a:latin typeface="Perpetua"/>
                <a:cs typeface="Perpetua"/>
              </a:rPr>
              <a:t>Draw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400" spc="-30" dirty="0">
                <a:latin typeface="Perpetua"/>
                <a:cs typeface="Perpetua"/>
              </a:rPr>
              <a:t>eyes.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25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2762885" algn="l"/>
              </a:tabLst>
            </a:pPr>
            <a:r>
              <a:rPr sz="2400" spc="-25" dirty="0">
                <a:latin typeface="Perpetua"/>
                <a:cs typeface="Perpetua"/>
              </a:rPr>
              <a:t>Draw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400" spc="-5" dirty="0">
                <a:latin typeface="Perpetua"/>
                <a:cs typeface="Perpetua"/>
              </a:rPr>
              <a:t>ears.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05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2762885" algn="l"/>
              </a:tabLst>
            </a:pPr>
            <a:r>
              <a:rPr sz="2400" spc="-25" dirty="0">
                <a:latin typeface="Perpetua"/>
                <a:cs typeface="Perpetua"/>
              </a:rPr>
              <a:t>Draw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400" spc="-10" dirty="0">
                <a:latin typeface="Perpetua"/>
                <a:cs typeface="Perpetua"/>
              </a:rPr>
              <a:t>nose.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2762885" algn="l"/>
              </a:tabLst>
            </a:pPr>
            <a:r>
              <a:rPr sz="2400" spc="-25" dirty="0">
                <a:latin typeface="Perpetua"/>
                <a:cs typeface="Perpetua"/>
              </a:rPr>
              <a:t>Draw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	</a:t>
            </a:r>
            <a:r>
              <a:rPr sz="2400" dirty="0">
                <a:latin typeface="Perpetua"/>
                <a:cs typeface="Perpetua"/>
              </a:rPr>
              <a:t>mouth.</a:t>
            </a:r>
            <a:endParaRPr sz="24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150">
              <a:latin typeface="Perpetua"/>
              <a:cs typeface="Perpetua"/>
            </a:endParaRPr>
          </a:p>
          <a:p>
            <a:pPr marL="286385" marR="5080" indent="-274320">
              <a:lnSpc>
                <a:spcPts val="259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i="1" dirty="0">
                <a:latin typeface="Perpetua"/>
                <a:cs typeface="Perpetua"/>
              </a:rPr>
              <a:t>Algorithm</a:t>
            </a:r>
            <a:r>
              <a:rPr sz="2400" dirty="0">
                <a:latin typeface="Perpetua"/>
                <a:cs typeface="Perpetua"/>
              </a:rPr>
              <a:t>: These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instructions </a:t>
            </a:r>
            <a:r>
              <a:rPr sz="2400" dirty="0">
                <a:latin typeface="Perpetua"/>
                <a:cs typeface="Perpetua"/>
              </a:rPr>
              <a:t>using the </a:t>
            </a:r>
            <a:r>
              <a:rPr sz="2400" spc="-5" dirty="0">
                <a:latin typeface="Perpetua"/>
                <a:cs typeface="Perpetua"/>
              </a:rPr>
              <a:t>abstraction adding </a:t>
            </a:r>
            <a:r>
              <a:rPr sz="2400" dirty="0">
                <a:latin typeface="Perpetua"/>
                <a:cs typeface="Perpetua"/>
              </a:rPr>
              <a:t>in one  </a:t>
            </a:r>
            <a:r>
              <a:rPr sz="2400" spc="-15" dirty="0">
                <a:latin typeface="Perpetua"/>
                <a:cs typeface="Perpetua"/>
              </a:rPr>
              <a:t>variable.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75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2545715" algn="l"/>
              </a:tabLst>
            </a:pPr>
            <a:r>
              <a:rPr sz="2400" spc="-25" dirty="0">
                <a:latin typeface="Perpetua"/>
                <a:cs typeface="Perpetua"/>
              </a:rPr>
              <a:t>Draw</a:t>
            </a:r>
            <a:r>
              <a:rPr sz="2400" dirty="0">
                <a:latin typeface="Perpetua"/>
                <a:cs typeface="Perpetua"/>
              </a:rPr>
              <a:t> a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Happy	</a:t>
            </a:r>
            <a:r>
              <a:rPr sz="2400" dirty="0">
                <a:latin typeface="Perpetua"/>
                <a:cs typeface="Perpetua"/>
              </a:rPr>
              <a:t>head.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400" spc="-25" dirty="0">
                <a:latin typeface="Perpetua"/>
                <a:cs typeface="Perpetua"/>
              </a:rPr>
              <a:t>Draw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35" dirty="0">
                <a:latin typeface="Perpetua"/>
                <a:cs typeface="Perpetua"/>
              </a:rPr>
              <a:t>Vegitas</a:t>
            </a:r>
            <a:r>
              <a:rPr sz="2400" spc="-29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eyes.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20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400" spc="-25" dirty="0">
                <a:latin typeface="Perpetua"/>
                <a:cs typeface="Perpetua"/>
              </a:rPr>
              <a:t>Draw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5" dirty="0">
                <a:latin typeface="Perpetua"/>
                <a:cs typeface="Perpetua"/>
              </a:rPr>
              <a:t>Spritem </a:t>
            </a:r>
            <a:r>
              <a:rPr sz="2400" dirty="0">
                <a:latin typeface="Perpetua"/>
                <a:cs typeface="Perpetua"/>
              </a:rPr>
              <a:t>ears.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05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2646680" algn="l"/>
              </a:tabLst>
            </a:pPr>
            <a:r>
              <a:rPr sz="2400" spc="-25" dirty="0">
                <a:latin typeface="Perpetua"/>
                <a:cs typeface="Perpetua"/>
              </a:rPr>
              <a:t>Draw</a:t>
            </a:r>
            <a:r>
              <a:rPr sz="2400" dirty="0">
                <a:latin typeface="Perpetua"/>
                <a:cs typeface="Perpetua"/>
              </a:rPr>
              <a:t> a</a:t>
            </a:r>
            <a:r>
              <a:rPr sz="2400" spc="-31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Wackus	</a:t>
            </a:r>
            <a:r>
              <a:rPr sz="2400" spc="-10" dirty="0">
                <a:latin typeface="Perpetua"/>
                <a:cs typeface="Perpetua"/>
              </a:rPr>
              <a:t>nose.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400" spc="-25" dirty="0">
                <a:latin typeface="Perpetua"/>
                <a:cs typeface="Perpetua"/>
              </a:rPr>
              <a:t>Draw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35" dirty="0">
                <a:latin typeface="Perpetua"/>
                <a:cs typeface="Perpetua"/>
              </a:rPr>
              <a:t>Wackus</a:t>
            </a:r>
            <a:r>
              <a:rPr sz="2400" spc="-30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mouth.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1286"/>
            <a:ext cx="4138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What </a:t>
            </a:r>
            <a:r>
              <a:rPr sz="4000" spc="-5" dirty="0"/>
              <a:t>has been</a:t>
            </a:r>
            <a:r>
              <a:rPr sz="4000" spc="-40" dirty="0"/>
              <a:t> </a:t>
            </a:r>
            <a:r>
              <a:rPr sz="4000" dirty="0"/>
              <a:t>described?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dirty="0"/>
              <a:t>Algorithms </a:t>
            </a:r>
            <a:r>
              <a:rPr spc="-5" dirty="0"/>
              <a:t>and </a:t>
            </a:r>
            <a:r>
              <a:rPr dirty="0"/>
              <a:t>their</a:t>
            </a:r>
            <a:r>
              <a:rPr spc="5" dirty="0"/>
              <a:t> </a:t>
            </a:r>
            <a:r>
              <a:rPr spc="-5" dirty="0"/>
              <a:t>automation.</a:t>
            </a: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pc="5" dirty="0"/>
              <a:t>Flowcharts </a:t>
            </a:r>
            <a:r>
              <a:rPr spc="-5" dirty="0"/>
              <a:t>as </a:t>
            </a:r>
            <a:r>
              <a:rPr dirty="0"/>
              <a:t>a </a:t>
            </a:r>
            <a:r>
              <a:rPr spc="-15" dirty="0"/>
              <a:t>convenient </a:t>
            </a:r>
            <a:r>
              <a:rPr spc="-40" dirty="0"/>
              <a:t>way </a:t>
            </a:r>
            <a:r>
              <a:rPr spc="-5" dirty="0"/>
              <a:t>of representing</a:t>
            </a:r>
            <a:r>
              <a:rPr spc="40" dirty="0"/>
              <a:t> </a:t>
            </a:r>
            <a:r>
              <a:rPr spc="-5" dirty="0"/>
              <a:t>algorithms.</a:t>
            </a:r>
          </a:p>
          <a:p>
            <a:pPr marL="287020" indent="-274955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pc="-30" dirty="0"/>
              <a:t>Various </a:t>
            </a:r>
            <a:r>
              <a:rPr spc="-5" dirty="0"/>
              <a:t>symbols </a:t>
            </a:r>
            <a:r>
              <a:rPr spc="-10" dirty="0"/>
              <a:t>that </a:t>
            </a:r>
            <a:r>
              <a:rPr spc="-5" dirty="0"/>
              <a:t>appear </a:t>
            </a:r>
            <a:r>
              <a:rPr dirty="0"/>
              <a:t>in a </a:t>
            </a:r>
            <a:r>
              <a:rPr spc="-5" dirty="0"/>
              <a:t>typical</a:t>
            </a:r>
            <a:r>
              <a:rPr spc="65" dirty="0"/>
              <a:t> </a:t>
            </a:r>
            <a:r>
              <a:rPr spc="5" dirty="0"/>
              <a:t>flowchart.</a:t>
            </a:r>
          </a:p>
          <a:p>
            <a:pPr marL="287020" indent="-274955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pc="5" dirty="0"/>
              <a:t>Flowchart </a:t>
            </a:r>
            <a:r>
              <a:rPr spc="-5" dirty="0"/>
              <a:t>control </a:t>
            </a:r>
            <a:r>
              <a:rPr dirty="0"/>
              <a:t>structures viz. </a:t>
            </a:r>
            <a:r>
              <a:rPr spc="-5" dirty="0"/>
              <a:t>sequential, </a:t>
            </a:r>
            <a:r>
              <a:rPr dirty="0"/>
              <a:t>conditional</a:t>
            </a:r>
            <a:r>
              <a:rPr spc="330" dirty="0"/>
              <a:t> </a:t>
            </a:r>
            <a:r>
              <a:rPr spc="-5" dirty="0"/>
              <a:t>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2964" y="3400425"/>
            <a:ext cx="19177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Perpetua"/>
                <a:cs typeface="Perpetua"/>
              </a:rPr>
              <a:t>loop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structures.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304800"/>
            <a:ext cx="533400" cy="5726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3589401"/>
            <a:ext cx="8052053" cy="280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i="1" spc="-10" dirty="0">
                <a:latin typeface="Perpetua"/>
                <a:cs typeface="Perpetua"/>
              </a:rPr>
              <a:t>Credits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20" dirty="0">
                <a:latin typeface="Perpetua"/>
                <a:cs typeface="Perpetua"/>
                <a:hlinkClick r:id="rId3"/>
              </a:rPr>
              <a:t>www.rff.com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5" dirty="0">
                <a:latin typeface="Perpetua"/>
                <a:cs typeface="Perpetua"/>
                <a:hlinkClick r:id="rId4"/>
              </a:rPr>
              <a:t>http://cdn.robotc.net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10" dirty="0">
                <a:latin typeface="Perpetua"/>
                <a:cs typeface="Perpetua"/>
              </a:rPr>
              <a:t>ritterit-programming.wikispaces.com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10" dirty="0">
                <a:latin typeface="Perpetua"/>
                <a:cs typeface="Perpetua"/>
                <a:hlinkClick r:id="rId5"/>
              </a:rPr>
              <a:t>http://www.breezetree.com/flowcharting-</a:t>
            </a:r>
            <a:endParaRPr sz="1400" dirty="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1400" i="1" spc="-10" dirty="0">
                <a:latin typeface="Perpetua"/>
                <a:cs typeface="Perpetua"/>
              </a:rPr>
              <a:t>software/help/split_connector.htm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10" dirty="0">
                <a:latin typeface="Perpetua"/>
                <a:cs typeface="Perpetua"/>
                <a:hlinkClick r:id="rId6"/>
              </a:rPr>
              <a:t>http://www.ftms.edu.my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5" dirty="0">
                <a:latin typeface="Perpetua"/>
                <a:cs typeface="Perpetua"/>
              </a:rPr>
              <a:t>en.wikipedia.org/wiki/Flowchart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5" dirty="0">
                <a:latin typeface="Perpetua"/>
                <a:cs typeface="Perpetua"/>
                <a:hlinkClick r:id="rId7"/>
              </a:rPr>
              <a:t>http://www.cimt.plymouth.ac.uk/projects/mepres/book8/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5" dirty="0">
                <a:latin typeface="Perpetua"/>
                <a:cs typeface="Perpetua"/>
              </a:rPr>
              <a:t>www2.cs.uregina.ca/~hilder/cs115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dirty="0">
                <a:latin typeface="Perpetua"/>
                <a:cs typeface="Perpetua"/>
              </a:rPr>
              <a:t>www3.ntu.edu.sg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spcBef>
                <a:spcPts val="5"/>
              </a:spcBef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10" dirty="0">
                <a:latin typeface="Perpetua"/>
                <a:cs typeface="Perpetua"/>
                <a:hlinkClick r:id="rId8"/>
              </a:rPr>
              <a:t>www.multiwingspan.co.uk</a:t>
            </a:r>
            <a:endParaRPr sz="1400" dirty="0">
              <a:latin typeface="Perpetua"/>
              <a:cs typeface="Perpetua"/>
            </a:endParaRPr>
          </a:p>
          <a:p>
            <a:pPr marL="94615" indent="-82550">
              <a:lnSpc>
                <a:spcPct val="100000"/>
              </a:lnSpc>
              <a:buSzPct val="92857"/>
              <a:buFont typeface="Wingdings"/>
              <a:buChar char=""/>
              <a:tabLst>
                <a:tab pos="95250" algn="l"/>
              </a:tabLst>
            </a:pPr>
            <a:r>
              <a:rPr sz="1400" i="1" spc="-10" dirty="0">
                <a:latin typeface="Perpetua"/>
                <a:cs typeface="Perpetua"/>
              </a:rPr>
              <a:t>google</a:t>
            </a:r>
            <a:r>
              <a:rPr sz="1400" i="1" spc="-20" dirty="0">
                <a:latin typeface="Perpetua"/>
                <a:cs typeface="Perpetua"/>
              </a:rPr>
              <a:t> </a:t>
            </a:r>
            <a:r>
              <a:rPr sz="1400" i="1" spc="-10" dirty="0">
                <a:latin typeface="Perpetua"/>
                <a:cs typeface="Perpetua"/>
              </a:rPr>
              <a:t>images</a:t>
            </a:r>
            <a:endParaRPr sz="1400" dirty="0">
              <a:latin typeface="Perpetua"/>
              <a:cs typeface="Perpet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26D3A4-F2AA-40CE-BCBC-731E81722250}"/>
</file>

<file path=customXml/itemProps2.xml><?xml version="1.0" encoding="utf-8"?>
<ds:datastoreItem xmlns:ds="http://schemas.openxmlformats.org/officeDocument/2006/customXml" ds:itemID="{D2410E09-5FB5-494E-A122-928E0676ED83}"/>
</file>

<file path=customXml/itemProps3.xml><?xml version="1.0" encoding="utf-8"?>
<ds:datastoreItem xmlns:ds="http://schemas.openxmlformats.org/officeDocument/2006/customXml" ds:itemID="{D85641B7-8809-4A40-9AB2-6010E4CAAFC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3846</Words>
  <Application>Microsoft Office PowerPoint</Application>
  <PresentationFormat>On-screen Show (4:3)</PresentationFormat>
  <Paragraphs>535</Paragraphs>
  <Slides>80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Arial</vt:lpstr>
      <vt:lpstr>Calibri</vt:lpstr>
      <vt:lpstr>Perpetua</vt:lpstr>
      <vt:lpstr>Wingdings</vt:lpstr>
      <vt:lpstr>Wingdings 2</vt:lpstr>
      <vt:lpstr>Office Theme</vt:lpstr>
      <vt:lpstr>PowerPoint Presentation</vt:lpstr>
      <vt:lpstr>Algorithm</vt:lpstr>
      <vt:lpstr>Instruct a computer</vt:lpstr>
      <vt:lpstr>Plan for solution</vt:lpstr>
      <vt:lpstr>Representing algorithms</vt:lpstr>
      <vt:lpstr>A sample algorithm</vt:lpstr>
      <vt:lpstr>A sample Pseudocode</vt:lpstr>
      <vt:lpstr>Representing an algorithm: Flowcharts</vt:lpstr>
      <vt:lpstr>Relationship between rules and algorithms</vt:lpstr>
      <vt:lpstr>PowerPoint Presentation</vt:lpstr>
      <vt:lpstr>A simple command like 'spread butter on bread‘</vt:lpstr>
      <vt:lpstr>PowerPoint Presentation</vt:lpstr>
      <vt:lpstr>A simple program could be created to ask someone their  name and age, and to make a comment based on these. This program represented in pseudocode would look like  this:</vt:lpstr>
      <vt:lpstr>PowerPoint Presentation</vt:lpstr>
      <vt:lpstr>An Algorithm for dealing with a non-functioning  bulb</vt:lpstr>
      <vt:lpstr>PowerPoint Presentation</vt:lpstr>
      <vt:lpstr>A simple command like 'spread butter on bread'</vt:lpstr>
      <vt:lpstr>PowerPoint Presentation</vt:lpstr>
      <vt:lpstr>Flowchart for a move in snake-ladder game</vt:lpstr>
      <vt:lpstr>Control Abstraction</vt:lpstr>
      <vt:lpstr>Flowchart structures</vt:lpstr>
      <vt:lpstr>Sequence</vt:lpstr>
      <vt:lpstr>Selection</vt:lpstr>
      <vt:lpstr>Iteration</vt:lpstr>
      <vt:lpstr>Flowchart for classifying angles</vt:lpstr>
      <vt:lpstr>PowerPoint Presentation</vt:lpstr>
      <vt:lpstr>Steps 1to 3 has  subalgorithm</vt:lpstr>
      <vt:lpstr>The following algorithms each use data values. Can you work out which of these is using fixed values and which is using variable values?</vt:lpstr>
      <vt:lpstr>Sequence structure</vt:lpstr>
      <vt:lpstr>Iteration structure</vt:lpstr>
      <vt:lpstr>Iteration structure – inverse condition</vt:lpstr>
      <vt:lpstr>Controlling iteration structure</vt:lpstr>
      <vt:lpstr>Connectors</vt:lpstr>
      <vt:lpstr>Algorithm for accept a number from user and  calculate sum of square:</vt:lpstr>
      <vt:lpstr>PowerPoint Presentation</vt:lpstr>
      <vt:lpstr>Roots of a quadratic equation ax2+bx+c=0, with the  coefficients a, b, and c defined from user input.</vt:lpstr>
      <vt:lpstr>PowerPoint Presentation</vt:lpstr>
      <vt:lpstr>Office Assistant</vt:lpstr>
      <vt:lpstr>Algorithm</vt:lpstr>
      <vt:lpstr>PowerPoint Presentation</vt:lpstr>
      <vt:lpstr>Sieve-of-Eratosthenes-to find prime numbers up to  an integer.</vt:lpstr>
      <vt:lpstr>PowerPoint Presentation</vt:lpstr>
      <vt:lpstr>Complex Flowcharts</vt:lpstr>
      <vt:lpstr>Try it yourself</vt:lpstr>
      <vt:lpstr>PowerPoint Presentation</vt:lpstr>
      <vt:lpstr>Drawing a Off-Road Vehicle</vt:lpstr>
      <vt:lpstr>Drawing a Off-Road Vehicle- Level1</vt:lpstr>
      <vt:lpstr>Drawing a Off-Road Vehicle- Level 2</vt:lpstr>
      <vt:lpstr>PowerPoint Presentation</vt:lpstr>
      <vt:lpstr>PowerPoint Presentation</vt:lpstr>
      <vt:lpstr>Drawing a Off-Road Vehicle- Final algorithm</vt:lpstr>
      <vt:lpstr>PowerPoint Presentation</vt:lpstr>
      <vt:lpstr>PowerPoint Presentation</vt:lpstr>
      <vt:lpstr>PowerPoint Presentation</vt:lpstr>
      <vt:lpstr>PowerPoint Presentation</vt:lpstr>
      <vt:lpstr>Write the detailed algorithm for the following</vt:lpstr>
      <vt:lpstr>Solution</vt:lpstr>
      <vt:lpstr>Evaluating Solutions</vt:lpstr>
      <vt:lpstr>Make sure that the solution is fit for  purpose………………….. How ????</vt:lpstr>
      <vt:lpstr>Evaluate the algorithm</vt:lpstr>
      <vt:lpstr>Why is evaluation important?</vt:lpstr>
      <vt:lpstr>Faulty solutions do not solve the problem</vt:lpstr>
      <vt:lpstr>A faulty solution may include one or more of these errors.</vt:lpstr>
      <vt:lpstr>A study of “Evaluation” in detail</vt:lpstr>
      <vt:lpstr>PowerPoint Presentation</vt:lpstr>
      <vt:lpstr>Equipment Decomposition is incomplete</vt:lpstr>
      <vt:lpstr>PowerPoint Presentation</vt:lpstr>
      <vt:lpstr># 2 Solutions that are incomplete</vt:lpstr>
      <vt:lpstr>PowerPoint Presentation</vt:lpstr>
      <vt:lpstr>#3 Solutions that are inefficient</vt:lpstr>
      <vt:lpstr>PowerPoint Presentation</vt:lpstr>
      <vt:lpstr>PowerPoint Presentation</vt:lpstr>
      <vt:lpstr>PowerPoint Presentation</vt:lpstr>
      <vt:lpstr>PowerPoint Presentation</vt:lpstr>
      <vt:lpstr>How do we evaluate our solution?</vt:lpstr>
      <vt:lpstr>PowerPoint Presentation</vt:lpstr>
      <vt:lpstr>Dry runs</vt:lpstr>
      <vt:lpstr>PowerPoint Presentation</vt:lpstr>
      <vt:lpstr>PowerPoint Presentation</vt:lpstr>
      <vt:lpstr>What has been described?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Dr.R.Prasanna Kumar</cp:lastModifiedBy>
  <cp:revision>3</cp:revision>
  <dcterms:created xsi:type="dcterms:W3CDTF">2020-09-07T06:56:03Z</dcterms:created>
  <dcterms:modified xsi:type="dcterms:W3CDTF">2020-09-07T09:05:02Z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