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152527"/>
            <a:ext cx="852931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77977" y="6482301"/>
            <a:ext cx="204470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xxbgk7/revision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531" y="70103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26"/>
                  </a:lnTo>
                  <a:lnTo>
                    <a:pt x="9009359" y="6410769"/>
                  </a:lnTo>
                  <a:lnTo>
                    <a:pt x="8998968" y="6457290"/>
                  </a:lnTo>
                  <a:lnTo>
                    <a:pt x="8982275" y="6501081"/>
                  </a:lnTo>
                  <a:lnTo>
                    <a:pt x="8959791" y="6541631"/>
                  </a:lnTo>
                  <a:lnTo>
                    <a:pt x="8932024" y="6578430"/>
                  </a:lnTo>
                  <a:lnTo>
                    <a:pt x="8899487" y="6610967"/>
                  </a:lnTo>
                  <a:lnTo>
                    <a:pt x="8862690" y="6638733"/>
                  </a:lnTo>
                  <a:lnTo>
                    <a:pt x="8822144" y="6661216"/>
                  </a:lnTo>
                  <a:lnTo>
                    <a:pt x="8778359" y="6677908"/>
                  </a:lnTo>
                  <a:lnTo>
                    <a:pt x="8731847" y="6688297"/>
                  </a:lnTo>
                  <a:lnTo>
                    <a:pt x="8683117" y="6691873"/>
                  </a:lnTo>
                  <a:lnTo>
                    <a:pt x="329844" y="6691873"/>
                  </a:lnTo>
                  <a:lnTo>
                    <a:pt x="281102" y="6688297"/>
                  </a:lnTo>
                  <a:lnTo>
                    <a:pt x="234580" y="6677908"/>
                  </a:lnTo>
                  <a:lnTo>
                    <a:pt x="190789" y="6661216"/>
                  </a:lnTo>
                  <a:lnTo>
                    <a:pt x="150240" y="6638733"/>
                  </a:lnTo>
                  <a:lnTo>
                    <a:pt x="113441" y="6610967"/>
                  </a:lnTo>
                  <a:lnTo>
                    <a:pt x="80905" y="6578430"/>
                  </a:lnTo>
                  <a:lnTo>
                    <a:pt x="53139" y="6541631"/>
                  </a:lnTo>
                  <a:lnTo>
                    <a:pt x="30656" y="6501081"/>
                  </a:lnTo>
                  <a:lnTo>
                    <a:pt x="13965" y="6457290"/>
                  </a:lnTo>
                  <a:lnTo>
                    <a:pt x="3576" y="6410769"/>
                  </a:lnTo>
                  <a:lnTo>
                    <a:pt x="0" y="6362026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484" y="1395983"/>
              <a:ext cx="9022080" cy="121920"/>
            </a:xfrm>
            <a:custGeom>
              <a:avLst/>
              <a:gdLst/>
              <a:ahLst/>
              <a:cxnLst/>
              <a:rect l="l" t="t" r="r" b="b"/>
              <a:pathLst>
                <a:path w="9022080" h="121919">
                  <a:moveTo>
                    <a:pt x="902208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9022080" y="121920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484" y="2976372"/>
              <a:ext cx="9022080" cy="111760"/>
            </a:xfrm>
            <a:custGeom>
              <a:avLst/>
              <a:gdLst/>
              <a:ahLst/>
              <a:cxnLst/>
              <a:rect l="l" t="t" r="r" b="b"/>
              <a:pathLst>
                <a:path w="9022080" h="111760">
                  <a:moveTo>
                    <a:pt x="902208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9022080" y="111251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400" y="6477000"/>
              <a:ext cx="457200" cy="266700"/>
            </a:xfrm>
            <a:custGeom>
              <a:avLst/>
              <a:gdLst/>
              <a:ahLst/>
              <a:cxnLst/>
              <a:rect l="l" t="t" r="r" b="b"/>
              <a:pathLst>
                <a:path w="457200" h="266700">
                  <a:moveTo>
                    <a:pt x="228600" y="0"/>
                  </a:moveTo>
                  <a:lnTo>
                    <a:pt x="167829" y="4763"/>
                  </a:lnTo>
                  <a:lnTo>
                    <a:pt x="113221" y="18206"/>
                  </a:lnTo>
                  <a:lnTo>
                    <a:pt x="66955" y="39057"/>
                  </a:lnTo>
                  <a:lnTo>
                    <a:pt x="31210" y="66045"/>
                  </a:lnTo>
                  <a:lnTo>
                    <a:pt x="8165" y="97900"/>
                  </a:lnTo>
                  <a:lnTo>
                    <a:pt x="0" y="133350"/>
                  </a:lnTo>
                  <a:lnTo>
                    <a:pt x="8165" y="168799"/>
                  </a:lnTo>
                  <a:lnTo>
                    <a:pt x="31210" y="200654"/>
                  </a:lnTo>
                  <a:lnTo>
                    <a:pt x="66955" y="227642"/>
                  </a:lnTo>
                  <a:lnTo>
                    <a:pt x="113221" y="248492"/>
                  </a:lnTo>
                  <a:lnTo>
                    <a:pt x="167829" y="261935"/>
                  </a:lnTo>
                  <a:lnTo>
                    <a:pt x="228600" y="266698"/>
                  </a:lnTo>
                  <a:lnTo>
                    <a:pt x="289370" y="261935"/>
                  </a:lnTo>
                  <a:lnTo>
                    <a:pt x="343978" y="248492"/>
                  </a:lnTo>
                  <a:lnTo>
                    <a:pt x="390244" y="227642"/>
                  </a:lnTo>
                  <a:lnTo>
                    <a:pt x="425989" y="200654"/>
                  </a:lnTo>
                  <a:lnTo>
                    <a:pt x="449034" y="168799"/>
                  </a:lnTo>
                  <a:lnTo>
                    <a:pt x="457200" y="133350"/>
                  </a:lnTo>
                  <a:lnTo>
                    <a:pt x="449034" y="97900"/>
                  </a:lnTo>
                  <a:lnTo>
                    <a:pt x="425989" y="66045"/>
                  </a:lnTo>
                  <a:lnTo>
                    <a:pt x="390244" y="39057"/>
                  </a:lnTo>
                  <a:lnTo>
                    <a:pt x="343978" y="18206"/>
                  </a:lnTo>
                  <a:lnTo>
                    <a:pt x="289370" y="4763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484" y="1517903"/>
            <a:ext cx="9022080" cy="615553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spc="-10" dirty="0" smtClean="0">
                <a:latin typeface="Perpetua"/>
                <a:cs typeface="Perpetua"/>
              </a:rPr>
              <a:t>Abstraction</a:t>
            </a:r>
            <a:endParaRPr sz="4000" dirty="0">
              <a:latin typeface="Perpetua"/>
              <a:cs typeface="Perpetu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ct val="100000"/>
                </a:lnSpc>
                <a:spcBef>
                  <a:spcPts val="204"/>
                </a:spcBef>
              </a:pPr>
              <a:t>1</a:t>
            </a:fld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86628" y="4858511"/>
            <a:ext cx="2878835" cy="1856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2712" y="443443"/>
            <a:ext cx="1956247" cy="16475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340" y="371983"/>
            <a:ext cx="6297295" cy="5527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Perpetua"/>
                <a:cs typeface="Perpetua"/>
              </a:rPr>
              <a:t>E-</a:t>
            </a:r>
            <a:r>
              <a:rPr sz="2200" b="1" spc="5" dirty="0">
                <a:latin typeface="Perpetua"/>
                <a:cs typeface="Perpetua"/>
              </a:rPr>
              <a:t> </a:t>
            </a:r>
            <a:r>
              <a:rPr sz="2200" b="1" spc="-5" dirty="0">
                <a:latin typeface="Perpetua"/>
                <a:cs typeface="Perpetua"/>
              </a:rPr>
              <a:t>Mail</a:t>
            </a:r>
            <a:endParaRPr sz="22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70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10" dirty="0">
                <a:latin typeface="Perpetua"/>
                <a:cs typeface="Perpetua"/>
              </a:rPr>
              <a:t>Compose, Inbox, Outbox, </a:t>
            </a:r>
            <a:r>
              <a:rPr sz="2200" spc="-5" dirty="0">
                <a:latin typeface="Perpetua"/>
                <a:cs typeface="Perpetua"/>
              </a:rPr>
              <a:t>Sent</a:t>
            </a:r>
            <a:r>
              <a:rPr sz="2200" spc="-18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mails</a:t>
            </a:r>
            <a:endParaRPr sz="22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75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85" dirty="0">
                <a:latin typeface="Perpetua"/>
                <a:cs typeface="Perpetua"/>
              </a:rPr>
              <a:t>You </a:t>
            </a:r>
            <a:r>
              <a:rPr sz="2200" spc="-5" dirty="0">
                <a:latin typeface="Perpetua"/>
                <a:cs typeface="Perpetua"/>
              </a:rPr>
              <a:t>don't </a:t>
            </a:r>
            <a:r>
              <a:rPr sz="2200" spc="-10" dirty="0">
                <a:latin typeface="Perpetua"/>
                <a:cs typeface="Perpetua"/>
              </a:rPr>
              <a:t>know/need </a:t>
            </a:r>
            <a:r>
              <a:rPr sz="2200" dirty="0">
                <a:latin typeface="Perpetua"/>
                <a:cs typeface="Perpetua"/>
              </a:rPr>
              <a:t>information </a:t>
            </a:r>
            <a:r>
              <a:rPr sz="2200" spc="-5" dirty="0">
                <a:latin typeface="Perpetua"/>
                <a:cs typeface="Perpetua"/>
              </a:rPr>
              <a:t>or details of</a:t>
            </a:r>
            <a:r>
              <a:rPr sz="2200" spc="18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the</a:t>
            </a:r>
            <a:endParaRPr sz="2200">
              <a:latin typeface="Perpetua"/>
              <a:cs typeface="Perpetua"/>
            </a:endParaRPr>
          </a:p>
          <a:p>
            <a:pPr marL="329565">
              <a:lnSpc>
                <a:spcPct val="100000"/>
              </a:lnSpc>
              <a:spcBef>
                <a:spcPts val="70"/>
              </a:spcBef>
            </a:pPr>
            <a:r>
              <a:rPr sz="2200" spc="5" dirty="0">
                <a:latin typeface="Perpetua"/>
                <a:cs typeface="Perpetua"/>
              </a:rPr>
              <a:t>internal </a:t>
            </a:r>
            <a:r>
              <a:rPr sz="2200" spc="-15" dirty="0">
                <a:latin typeface="Perpetua"/>
                <a:cs typeface="Perpetua"/>
              </a:rPr>
              <a:t>working </a:t>
            </a:r>
            <a:r>
              <a:rPr sz="2200" spc="-5" dirty="0">
                <a:latin typeface="Perpetua"/>
                <a:cs typeface="Perpetua"/>
              </a:rPr>
              <a:t>to compose mails, send and </a:t>
            </a:r>
            <a:r>
              <a:rPr sz="2200" spc="-15" dirty="0">
                <a:latin typeface="Perpetua"/>
                <a:cs typeface="Perpetua"/>
              </a:rPr>
              <a:t>receive</a:t>
            </a:r>
            <a:r>
              <a:rPr sz="2200" spc="3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mails,</a:t>
            </a:r>
            <a:endParaRPr sz="2200">
              <a:latin typeface="Perpetua"/>
              <a:cs typeface="Perpetua"/>
            </a:endParaRPr>
          </a:p>
          <a:p>
            <a:pPr marL="329565">
              <a:lnSpc>
                <a:spcPct val="100000"/>
              </a:lnSpc>
              <a:spcBef>
                <a:spcPts val="75"/>
              </a:spcBef>
            </a:pPr>
            <a:r>
              <a:rPr sz="2200" spc="-5" dirty="0">
                <a:latin typeface="Perpetua"/>
                <a:cs typeface="Perpetua"/>
              </a:rPr>
              <a:t>manage </a:t>
            </a:r>
            <a:r>
              <a:rPr sz="2200" spc="-10" dirty="0">
                <a:latin typeface="Perpetua"/>
                <a:cs typeface="Perpetua"/>
              </a:rPr>
              <a:t>Inbox </a:t>
            </a:r>
            <a:r>
              <a:rPr sz="2200" spc="-5" dirty="0">
                <a:latin typeface="Perpetua"/>
                <a:cs typeface="Perpetua"/>
              </a:rPr>
              <a:t>and</a:t>
            </a:r>
            <a:r>
              <a:rPr sz="2200" spc="4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Outbox.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spc="-5" dirty="0">
                <a:latin typeface="Perpetua"/>
                <a:cs typeface="Perpetua"/>
              </a:rPr>
              <a:t>Tv Remote</a:t>
            </a:r>
            <a:endParaRPr sz="22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70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5" dirty="0">
                <a:latin typeface="Perpetua"/>
                <a:cs typeface="Perpetua"/>
              </a:rPr>
              <a:t>Remote is a interface </a:t>
            </a:r>
            <a:r>
              <a:rPr sz="2200" spc="-15" dirty="0">
                <a:latin typeface="Perpetua"/>
                <a:cs typeface="Perpetua"/>
              </a:rPr>
              <a:t>between </a:t>
            </a:r>
            <a:r>
              <a:rPr sz="2200" spc="-5" dirty="0">
                <a:latin typeface="Perpetua"/>
                <a:cs typeface="Perpetua"/>
              </a:rPr>
              <a:t>user and</a:t>
            </a:r>
            <a:r>
              <a:rPr sz="2200" spc="-220" dirty="0">
                <a:latin typeface="Perpetua"/>
                <a:cs typeface="Perpetua"/>
              </a:rPr>
              <a:t> </a:t>
            </a:r>
            <a:r>
              <a:rPr sz="2200" spc="-135" dirty="0">
                <a:latin typeface="Perpetua"/>
                <a:cs typeface="Perpetua"/>
              </a:rPr>
              <a:t>TV.</a:t>
            </a:r>
            <a:endParaRPr sz="2200">
              <a:latin typeface="Perpetua"/>
              <a:cs typeface="Perpetua"/>
            </a:endParaRPr>
          </a:p>
          <a:p>
            <a:pPr marL="76200" marR="132080" indent="-64135">
              <a:lnSpc>
                <a:spcPct val="102699"/>
              </a:lnSpc>
              <a:spcBef>
                <a:spcPts val="5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  <a:tab pos="1818639" algn="l"/>
              </a:tabLst>
            </a:pPr>
            <a:r>
              <a:rPr sz="2200" spc="-5" dirty="0">
                <a:latin typeface="Perpetua"/>
                <a:cs typeface="Perpetua"/>
              </a:rPr>
              <a:t>User</a:t>
            </a:r>
            <a:r>
              <a:rPr sz="2200" spc="1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does</a:t>
            </a:r>
            <a:r>
              <a:rPr sz="2200" spc="2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not	need </a:t>
            </a:r>
            <a:r>
              <a:rPr sz="2200" spc="-20" dirty="0">
                <a:latin typeface="Perpetua"/>
                <a:cs typeface="Perpetua"/>
              </a:rPr>
              <a:t>any </a:t>
            </a:r>
            <a:r>
              <a:rPr sz="2200" dirty="0">
                <a:latin typeface="Perpetua"/>
                <a:cs typeface="Perpetua"/>
              </a:rPr>
              <a:t>information </a:t>
            </a:r>
            <a:r>
              <a:rPr sz="2200" spc="-5" dirty="0">
                <a:latin typeface="Perpetua"/>
                <a:cs typeface="Perpetua"/>
              </a:rPr>
              <a:t>about </a:t>
            </a:r>
            <a:r>
              <a:rPr sz="2200" dirty="0">
                <a:latin typeface="Perpetua"/>
                <a:cs typeface="Perpetua"/>
              </a:rPr>
              <a:t>internal </a:t>
            </a:r>
            <a:r>
              <a:rPr sz="2200" spc="-5" dirty="0">
                <a:latin typeface="Perpetua"/>
                <a:cs typeface="Perpetua"/>
              </a:rPr>
              <a:t>circuit  of the </a:t>
            </a:r>
            <a:r>
              <a:rPr sz="2200" spc="-10" dirty="0">
                <a:latin typeface="Perpetua"/>
                <a:cs typeface="Perpetua"/>
              </a:rPr>
              <a:t>remote </a:t>
            </a:r>
            <a:r>
              <a:rPr sz="2200" spc="-5" dirty="0">
                <a:latin typeface="Perpetua"/>
                <a:cs typeface="Perpetua"/>
              </a:rPr>
              <a:t>to use</a:t>
            </a:r>
            <a:r>
              <a:rPr sz="2200" spc="3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it.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latin typeface="Perpetua"/>
                <a:cs typeface="Perpetua"/>
              </a:rPr>
              <a:t>Mobile</a:t>
            </a:r>
            <a:r>
              <a:rPr sz="2200" b="1" dirty="0">
                <a:latin typeface="Perpetua"/>
                <a:cs typeface="Perpetua"/>
              </a:rPr>
              <a:t> </a:t>
            </a:r>
            <a:r>
              <a:rPr sz="2200" b="1" spc="-5" dirty="0">
                <a:latin typeface="Perpetua"/>
                <a:cs typeface="Perpetua"/>
              </a:rPr>
              <a:t>Phone</a:t>
            </a:r>
            <a:endParaRPr sz="22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70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85" dirty="0">
                <a:latin typeface="Perpetua"/>
                <a:cs typeface="Perpetua"/>
              </a:rPr>
              <a:t>You </a:t>
            </a:r>
            <a:r>
              <a:rPr sz="2200" spc="-5" dirty="0">
                <a:latin typeface="Perpetua"/>
                <a:cs typeface="Perpetua"/>
              </a:rPr>
              <a:t>can dial a number using </a:t>
            </a:r>
            <a:r>
              <a:rPr sz="2200" spc="-15" dirty="0">
                <a:latin typeface="Perpetua"/>
                <a:cs typeface="Perpetua"/>
              </a:rPr>
              <a:t>keypad</a:t>
            </a:r>
            <a:r>
              <a:rPr sz="2200" spc="180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buttons.</a:t>
            </a:r>
            <a:endParaRPr sz="2200">
              <a:latin typeface="Perpetua"/>
              <a:cs typeface="Perpetua"/>
            </a:endParaRPr>
          </a:p>
          <a:p>
            <a:pPr marL="286385" marR="1274445" indent="-286385">
              <a:lnSpc>
                <a:spcPct val="102699"/>
              </a:lnSpc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85" dirty="0">
                <a:latin typeface="Perpetua"/>
                <a:cs typeface="Perpetua"/>
              </a:rPr>
              <a:t>You </a:t>
            </a:r>
            <a:r>
              <a:rPr sz="2200" spc="-5" dirty="0">
                <a:latin typeface="Perpetua"/>
                <a:cs typeface="Perpetua"/>
              </a:rPr>
              <a:t>don't </a:t>
            </a:r>
            <a:r>
              <a:rPr sz="2200" spc="-10" dirty="0">
                <a:latin typeface="Perpetua"/>
                <a:cs typeface="Perpetua"/>
              </a:rPr>
              <a:t>know/need </a:t>
            </a:r>
            <a:r>
              <a:rPr sz="2200" dirty="0">
                <a:latin typeface="Perpetua"/>
                <a:cs typeface="Perpetua"/>
              </a:rPr>
              <a:t>information </a:t>
            </a:r>
            <a:r>
              <a:rPr sz="2200" spc="-5" dirty="0">
                <a:latin typeface="Perpetua"/>
                <a:cs typeface="Perpetua"/>
              </a:rPr>
              <a:t>or details of  the </a:t>
            </a:r>
            <a:r>
              <a:rPr sz="2200" dirty="0">
                <a:latin typeface="Perpetua"/>
                <a:cs typeface="Perpetua"/>
              </a:rPr>
              <a:t>internal </a:t>
            </a:r>
            <a:r>
              <a:rPr sz="2200" spc="-15" dirty="0">
                <a:latin typeface="Perpetua"/>
                <a:cs typeface="Perpetua"/>
              </a:rPr>
              <a:t>working </a:t>
            </a:r>
            <a:r>
              <a:rPr sz="2200" spc="-5" dirty="0">
                <a:latin typeface="Perpetua"/>
                <a:cs typeface="Perpetua"/>
              </a:rPr>
              <a:t>to and </a:t>
            </a:r>
            <a:r>
              <a:rPr sz="2200" spc="-15" dirty="0">
                <a:latin typeface="Perpetua"/>
                <a:cs typeface="Perpetua"/>
              </a:rPr>
              <a:t>receive</a:t>
            </a:r>
            <a:r>
              <a:rPr sz="2200" spc="8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calls,</a:t>
            </a:r>
            <a:endParaRPr sz="2200">
              <a:latin typeface="Perpetua"/>
              <a:cs typeface="Perpetua"/>
            </a:endParaRPr>
          </a:p>
          <a:p>
            <a:pPr marL="393700">
              <a:lnSpc>
                <a:spcPct val="100000"/>
              </a:lnSpc>
              <a:spcBef>
                <a:spcPts val="75"/>
              </a:spcBef>
            </a:pPr>
            <a:r>
              <a:rPr sz="2200" spc="-5" dirty="0">
                <a:latin typeface="Perpetua"/>
                <a:cs typeface="Perpetua"/>
              </a:rPr>
              <a:t>send and </a:t>
            </a:r>
            <a:r>
              <a:rPr sz="2200" spc="-15" dirty="0">
                <a:latin typeface="Perpetua"/>
                <a:cs typeface="Perpetua"/>
              </a:rPr>
              <a:t>receive</a:t>
            </a:r>
            <a:r>
              <a:rPr sz="2200" spc="5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messages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01511" y="1999488"/>
            <a:ext cx="2927604" cy="27889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ct val="100000"/>
                </a:lnSpc>
                <a:spcBef>
                  <a:spcPts val="204"/>
                </a:spcBef>
              </a:pPr>
              <a:t>2</a:t>
            </a:fld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934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Abstraction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ct val="100000"/>
                </a:lnSpc>
                <a:spcBef>
                  <a:spcPts val="204"/>
                </a:spcBef>
              </a:pPr>
              <a:t>3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76630"/>
            <a:ext cx="8531860" cy="4766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Once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recognised </a:t>
            </a:r>
            <a:r>
              <a:rPr sz="2600" dirty="0">
                <a:latin typeface="Perpetua"/>
                <a:cs typeface="Perpetua"/>
              </a:rPr>
              <a:t>patterns in </a:t>
            </a:r>
            <a:r>
              <a:rPr sz="2600" spc="-5" dirty="0">
                <a:latin typeface="Perpetua"/>
                <a:cs typeface="Perpetua"/>
              </a:rPr>
              <a:t>our </a:t>
            </a:r>
            <a:r>
              <a:rPr sz="2600" spc="-10" dirty="0">
                <a:latin typeface="Perpetua"/>
                <a:cs typeface="Perpetua"/>
              </a:rPr>
              <a:t>problems, </a:t>
            </a:r>
            <a:r>
              <a:rPr sz="2600" spc="-5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use  </a:t>
            </a:r>
            <a:r>
              <a:rPr sz="2600" spc="-5" dirty="0">
                <a:latin typeface="Perpetua"/>
                <a:cs typeface="Perpetua"/>
              </a:rPr>
              <a:t>abstraction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gather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general </a:t>
            </a:r>
            <a:r>
              <a:rPr sz="2600" spc="5" dirty="0">
                <a:latin typeface="Perpetua"/>
                <a:cs typeface="Perpetua"/>
              </a:rPr>
              <a:t>characteristics </a:t>
            </a:r>
            <a:r>
              <a:rPr sz="2600" dirty="0">
                <a:latin typeface="Perpetua"/>
                <a:cs typeface="Perpetua"/>
              </a:rPr>
              <a:t>and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filter </a:t>
            </a:r>
            <a:r>
              <a:rPr sz="2600" spc="-5" dirty="0">
                <a:latin typeface="Perpetua"/>
                <a:cs typeface="Perpetua"/>
              </a:rPr>
              <a:t>out </a:t>
            </a:r>
            <a:r>
              <a:rPr sz="2600" spc="-10" dirty="0">
                <a:latin typeface="Perpetua"/>
                <a:cs typeface="Perpetua"/>
              </a:rPr>
              <a:t>of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details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do not </a:t>
            </a:r>
            <a:r>
              <a:rPr sz="2600" dirty="0">
                <a:latin typeface="Perpetua"/>
                <a:cs typeface="Perpetua"/>
              </a:rPr>
              <a:t>need in order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solve </a:t>
            </a:r>
            <a:r>
              <a:rPr sz="2600" spc="-5" dirty="0">
                <a:latin typeface="Perpetua"/>
                <a:cs typeface="Perpetua"/>
              </a:rPr>
              <a:t>our</a:t>
            </a:r>
            <a:r>
              <a:rPr sz="2600" spc="4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problem.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Abstraction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one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four </a:t>
            </a:r>
            <a:r>
              <a:rPr sz="2600" spc="5" dirty="0">
                <a:latin typeface="Perpetua"/>
                <a:cs typeface="Perpetua"/>
              </a:rPr>
              <a:t>cornerstones </a:t>
            </a:r>
            <a:r>
              <a:rPr sz="2600" spc="-5" dirty="0">
                <a:latin typeface="Perpetua"/>
                <a:cs typeface="Perpetua"/>
              </a:rPr>
              <a:t>of Computer</a:t>
            </a:r>
            <a:r>
              <a:rPr sz="2600" spc="4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Science.</a:t>
            </a:r>
            <a:endParaRPr sz="2600">
              <a:latin typeface="Perpetua"/>
              <a:cs typeface="Perpetua"/>
            </a:endParaRPr>
          </a:p>
          <a:p>
            <a:pPr marL="286385" marR="6985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1950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spc="-20" dirty="0">
                <a:latin typeface="Perpetua"/>
                <a:cs typeface="Perpetua"/>
              </a:rPr>
              <a:t>involves </a:t>
            </a:r>
            <a:r>
              <a:rPr sz="2600" spc="5" dirty="0">
                <a:latin typeface="Perpetua"/>
                <a:cs typeface="Perpetua"/>
              </a:rPr>
              <a:t>filtering </a:t>
            </a:r>
            <a:r>
              <a:rPr sz="2600" spc="-5" dirty="0">
                <a:latin typeface="Perpetua"/>
                <a:cs typeface="Perpetua"/>
              </a:rPr>
              <a:t>out </a:t>
            </a:r>
            <a:r>
              <a:rPr sz="2600" dirty="0">
                <a:latin typeface="Perpetua"/>
                <a:cs typeface="Perpetua"/>
              </a:rPr>
              <a:t>– </a:t>
            </a:r>
            <a:r>
              <a:rPr sz="2600" spc="-30" dirty="0">
                <a:latin typeface="Perpetua"/>
                <a:cs typeface="Perpetua"/>
              </a:rPr>
              <a:t>essentially, </a:t>
            </a:r>
            <a:r>
              <a:rPr sz="2600" spc="5" dirty="0">
                <a:latin typeface="Perpetua"/>
                <a:cs typeface="Perpetua"/>
              </a:rPr>
              <a:t>ignoring </a:t>
            </a:r>
            <a:r>
              <a:rPr sz="2600" dirty="0">
                <a:latin typeface="Perpetua"/>
                <a:cs typeface="Perpetua"/>
              </a:rPr>
              <a:t>- the </a:t>
            </a:r>
            <a:r>
              <a:rPr sz="2600" spc="5" dirty="0">
                <a:latin typeface="Perpetua"/>
                <a:cs typeface="Perpetua"/>
              </a:rPr>
              <a:t>characteristics 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don't </a:t>
            </a:r>
            <a:r>
              <a:rPr sz="2600" dirty="0">
                <a:latin typeface="Perpetua"/>
                <a:cs typeface="Perpetua"/>
              </a:rPr>
              <a:t>need in order </a:t>
            </a:r>
            <a:r>
              <a:rPr sz="2600" spc="-5" dirty="0">
                <a:latin typeface="Perpetua"/>
                <a:cs typeface="Perpetua"/>
              </a:rPr>
              <a:t>to concentrate on those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0" dirty="0">
                <a:latin typeface="Perpetua"/>
                <a:cs typeface="Perpetua"/>
              </a:rPr>
              <a:t>we</a:t>
            </a:r>
            <a:r>
              <a:rPr sz="2600" spc="60" dirty="0">
                <a:latin typeface="Perpetua"/>
                <a:cs typeface="Perpetua"/>
              </a:rPr>
              <a:t> </a:t>
            </a:r>
            <a:r>
              <a:rPr sz="2600" spc="-50" dirty="0">
                <a:latin typeface="Perpetua"/>
                <a:cs typeface="Perpetua"/>
              </a:rPr>
              <a:t>do.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also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filtering </a:t>
            </a:r>
            <a:r>
              <a:rPr sz="2600" spc="-5" dirty="0">
                <a:latin typeface="Perpetua"/>
                <a:cs typeface="Perpetua"/>
              </a:rPr>
              <a:t>out of specific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details.</a:t>
            </a:r>
            <a:endParaRPr sz="2600">
              <a:latin typeface="Perpetua"/>
              <a:cs typeface="Perpetua"/>
            </a:endParaRPr>
          </a:p>
          <a:p>
            <a:pPr marL="286385" marR="8255" indent="-274320" algn="just">
              <a:lnSpc>
                <a:spcPct val="10000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4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create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representation </a:t>
            </a:r>
            <a:r>
              <a:rPr sz="2600" dirty="0">
                <a:latin typeface="Perpetua"/>
                <a:cs typeface="Perpetua"/>
              </a:rPr>
              <a:t>(idea)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what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5" dirty="0">
                <a:latin typeface="Perpetua"/>
                <a:cs typeface="Perpetua"/>
              </a:rPr>
              <a:t>trying </a:t>
            </a:r>
            <a:r>
              <a:rPr sz="2600" spc="-5" dirty="0">
                <a:latin typeface="Perpetua"/>
                <a:cs typeface="Perpetua"/>
              </a:rPr>
              <a:t>to  </a:t>
            </a:r>
            <a:r>
              <a:rPr sz="2600" spc="-20" dirty="0">
                <a:latin typeface="Perpetua"/>
                <a:cs typeface="Perpetua"/>
              </a:rPr>
              <a:t>solve.</a:t>
            </a:r>
            <a:endParaRPr sz="2600">
              <a:latin typeface="Perpetua"/>
              <a:cs typeface="Perpetua"/>
            </a:endParaRPr>
          </a:p>
          <a:p>
            <a:pPr marL="286385" marR="571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By </a:t>
            </a:r>
            <a:r>
              <a:rPr sz="2600" i="1" spc="-15" dirty="0">
                <a:latin typeface="Perpetua"/>
                <a:cs typeface="Perpetua"/>
              </a:rPr>
              <a:t>abstraction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mean </a:t>
            </a:r>
            <a:r>
              <a:rPr sz="2600" spc="-10" dirty="0">
                <a:latin typeface="Perpetua"/>
                <a:cs typeface="Perpetua"/>
              </a:rPr>
              <a:t>anything </a:t>
            </a:r>
            <a:r>
              <a:rPr sz="2600" dirty="0">
                <a:latin typeface="Perpetua"/>
                <a:cs typeface="Perpetua"/>
              </a:rPr>
              <a:t>with </a:t>
            </a:r>
            <a:r>
              <a:rPr sz="2600" spc="-5" dirty="0">
                <a:latin typeface="Perpetua"/>
                <a:cs typeface="Perpetua"/>
              </a:rPr>
              <a:t>multiple </a:t>
            </a:r>
            <a:r>
              <a:rPr sz="2600" spc="-15" dirty="0">
                <a:latin typeface="Perpetua"/>
                <a:cs typeface="Perpetua"/>
              </a:rPr>
              <a:t>“levels”, </a:t>
            </a:r>
            <a:r>
              <a:rPr sz="2600" spc="-10" dirty="0">
                <a:latin typeface="Perpetua"/>
                <a:cs typeface="Perpetua"/>
              </a:rPr>
              <a:t>where </a:t>
            </a:r>
            <a:r>
              <a:rPr sz="2600" spc="-5" dirty="0">
                <a:latin typeface="Perpetua"/>
                <a:cs typeface="Perpetua"/>
              </a:rPr>
              <a:t>upper  </a:t>
            </a:r>
            <a:r>
              <a:rPr sz="2600" spc="-20" dirty="0">
                <a:latin typeface="Perpetua"/>
                <a:cs typeface="Perpetua"/>
              </a:rPr>
              <a:t>levels </a:t>
            </a:r>
            <a:r>
              <a:rPr sz="2600" dirty="0">
                <a:latin typeface="Perpetua"/>
                <a:cs typeface="Perpetua"/>
              </a:rPr>
              <a:t>hide </a:t>
            </a:r>
            <a:r>
              <a:rPr sz="2600" spc="-5" dirty="0">
                <a:latin typeface="Perpetua"/>
                <a:cs typeface="Perpetua"/>
              </a:rPr>
              <a:t>details of </a:t>
            </a:r>
            <a:r>
              <a:rPr sz="2600" spc="-35" dirty="0">
                <a:latin typeface="Perpetua"/>
                <a:cs typeface="Perpetua"/>
              </a:rPr>
              <a:t>lower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levels.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0528" y="222203"/>
            <a:ext cx="4778375" cy="5188585"/>
            <a:chOff x="3000528" y="222203"/>
            <a:chExt cx="4778375" cy="5188585"/>
          </a:xfrm>
        </p:grpSpPr>
        <p:sp>
          <p:nvSpPr>
            <p:cNvPr id="3" name="object 3"/>
            <p:cNvSpPr/>
            <p:nvPr/>
          </p:nvSpPr>
          <p:spPr>
            <a:xfrm>
              <a:off x="3000528" y="2819399"/>
              <a:ext cx="933798" cy="25908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86188" y="228553"/>
              <a:ext cx="3886835" cy="2880360"/>
            </a:xfrm>
            <a:custGeom>
              <a:avLst/>
              <a:gdLst/>
              <a:ahLst/>
              <a:cxnLst/>
              <a:rect l="l" t="t" r="r" b="b"/>
              <a:pathLst>
                <a:path w="3886834" h="2880360">
                  <a:moveTo>
                    <a:pt x="50303" y="2879771"/>
                  </a:moveTo>
                  <a:lnTo>
                    <a:pt x="778648" y="1720515"/>
                  </a:lnTo>
                  <a:lnTo>
                    <a:pt x="722394" y="1699020"/>
                  </a:lnTo>
                  <a:lnTo>
                    <a:pt x="668175" y="1676717"/>
                  </a:lnTo>
                  <a:lnTo>
                    <a:pt x="616000" y="1653638"/>
                  </a:lnTo>
                  <a:lnTo>
                    <a:pt x="565879" y="1629812"/>
                  </a:lnTo>
                  <a:lnTo>
                    <a:pt x="517819" y="1605269"/>
                  </a:lnTo>
                  <a:lnTo>
                    <a:pt x="471829" y="1580040"/>
                  </a:lnTo>
                  <a:lnTo>
                    <a:pt x="427919" y="1554156"/>
                  </a:lnTo>
                  <a:lnTo>
                    <a:pt x="386097" y="1527645"/>
                  </a:lnTo>
                  <a:lnTo>
                    <a:pt x="346372" y="1500539"/>
                  </a:lnTo>
                  <a:lnTo>
                    <a:pt x="308753" y="1472868"/>
                  </a:lnTo>
                  <a:lnTo>
                    <a:pt x="273249" y="1444661"/>
                  </a:lnTo>
                  <a:lnTo>
                    <a:pt x="239868" y="1415950"/>
                  </a:lnTo>
                  <a:lnTo>
                    <a:pt x="208620" y="1386764"/>
                  </a:lnTo>
                  <a:lnTo>
                    <a:pt x="179513" y="1357133"/>
                  </a:lnTo>
                  <a:lnTo>
                    <a:pt x="152556" y="1327088"/>
                  </a:lnTo>
                  <a:lnTo>
                    <a:pt x="127759" y="1296659"/>
                  </a:lnTo>
                  <a:lnTo>
                    <a:pt x="105128" y="1265876"/>
                  </a:lnTo>
                  <a:lnTo>
                    <a:pt x="66407" y="1203370"/>
                  </a:lnTo>
                  <a:lnTo>
                    <a:pt x="36463" y="1139811"/>
                  </a:lnTo>
                  <a:lnTo>
                    <a:pt x="15366" y="1075440"/>
                  </a:lnTo>
                  <a:lnTo>
                    <a:pt x="3188" y="1010500"/>
                  </a:lnTo>
                  <a:lnTo>
                    <a:pt x="0" y="945232"/>
                  </a:lnTo>
                  <a:lnTo>
                    <a:pt x="1798" y="912551"/>
                  </a:lnTo>
                  <a:lnTo>
                    <a:pt x="12226" y="847245"/>
                  </a:lnTo>
                  <a:lnTo>
                    <a:pt x="31820" y="782215"/>
                  </a:lnTo>
                  <a:lnTo>
                    <a:pt x="60651" y="717703"/>
                  </a:lnTo>
                  <a:lnTo>
                    <a:pt x="98789" y="653951"/>
                  </a:lnTo>
                  <a:lnTo>
                    <a:pt x="121371" y="622436"/>
                  </a:lnTo>
                  <a:lnTo>
                    <a:pt x="146306" y="591201"/>
                  </a:lnTo>
                  <a:lnTo>
                    <a:pt x="173603" y="560277"/>
                  </a:lnTo>
                  <a:lnTo>
                    <a:pt x="203271" y="529694"/>
                  </a:lnTo>
                  <a:lnTo>
                    <a:pt x="235319" y="499482"/>
                  </a:lnTo>
                  <a:lnTo>
                    <a:pt x="269756" y="469672"/>
                  </a:lnTo>
                  <a:lnTo>
                    <a:pt x="306591" y="440293"/>
                  </a:lnTo>
                  <a:lnTo>
                    <a:pt x="345832" y="411376"/>
                  </a:lnTo>
                  <a:lnTo>
                    <a:pt x="387488" y="382951"/>
                  </a:lnTo>
                  <a:lnTo>
                    <a:pt x="421862" y="361031"/>
                  </a:lnTo>
                  <a:lnTo>
                    <a:pt x="457268" y="339733"/>
                  </a:lnTo>
                  <a:lnTo>
                    <a:pt x="493674" y="319060"/>
                  </a:lnTo>
                  <a:lnTo>
                    <a:pt x="531051" y="299014"/>
                  </a:lnTo>
                  <a:lnTo>
                    <a:pt x="569368" y="279598"/>
                  </a:lnTo>
                  <a:lnTo>
                    <a:pt x="608595" y="260813"/>
                  </a:lnTo>
                  <a:lnTo>
                    <a:pt x="648702" y="242663"/>
                  </a:lnTo>
                  <a:lnTo>
                    <a:pt x="689659" y="225148"/>
                  </a:lnTo>
                  <a:lnTo>
                    <a:pt x="731435" y="208271"/>
                  </a:lnTo>
                  <a:lnTo>
                    <a:pt x="774000" y="192034"/>
                  </a:lnTo>
                  <a:lnTo>
                    <a:pt x="817324" y="176439"/>
                  </a:lnTo>
                  <a:lnTo>
                    <a:pt x="861376" y="161489"/>
                  </a:lnTo>
                  <a:lnTo>
                    <a:pt x="906127" y="147186"/>
                  </a:lnTo>
                  <a:lnTo>
                    <a:pt x="951546" y="133531"/>
                  </a:lnTo>
                  <a:lnTo>
                    <a:pt x="997604" y="120528"/>
                  </a:lnTo>
                  <a:lnTo>
                    <a:pt x="1044268" y="108177"/>
                  </a:lnTo>
                  <a:lnTo>
                    <a:pt x="1091511" y="96482"/>
                  </a:lnTo>
                  <a:lnTo>
                    <a:pt x="1139300" y="85444"/>
                  </a:lnTo>
                  <a:lnTo>
                    <a:pt x="1187606" y="75066"/>
                  </a:lnTo>
                  <a:lnTo>
                    <a:pt x="1236400" y="65349"/>
                  </a:lnTo>
                  <a:lnTo>
                    <a:pt x="1285649" y="56296"/>
                  </a:lnTo>
                  <a:lnTo>
                    <a:pt x="1335325" y="47910"/>
                  </a:lnTo>
                  <a:lnTo>
                    <a:pt x="1385397" y="40191"/>
                  </a:lnTo>
                  <a:lnTo>
                    <a:pt x="1435835" y="33143"/>
                  </a:lnTo>
                  <a:lnTo>
                    <a:pt x="1486608" y="26767"/>
                  </a:lnTo>
                  <a:lnTo>
                    <a:pt x="1537687" y="21065"/>
                  </a:lnTo>
                  <a:lnTo>
                    <a:pt x="1589040" y="16041"/>
                  </a:lnTo>
                  <a:lnTo>
                    <a:pt x="1640639" y="11695"/>
                  </a:lnTo>
                  <a:lnTo>
                    <a:pt x="1692452" y="8031"/>
                  </a:lnTo>
                  <a:lnTo>
                    <a:pt x="1744449" y="5050"/>
                  </a:lnTo>
                  <a:lnTo>
                    <a:pt x="1796601" y="2754"/>
                  </a:lnTo>
                  <a:lnTo>
                    <a:pt x="1848876" y="1145"/>
                  </a:lnTo>
                  <a:lnTo>
                    <a:pt x="1901245" y="226"/>
                  </a:lnTo>
                  <a:lnTo>
                    <a:pt x="1953678" y="0"/>
                  </a:lnTo>
                  <a:lnTo>
                    <a:pt x="2006143" y="467"/>
                  </a:lnTo>
                  <a:lnTo>
                    <a:pt x="2058612" y="1630"/>
                  </a:lnTo>
                  <a:lnTo>
                    <a:pt x="2111053" y="3491"/>
                  </a:lnTo>
                  <a:lnTo>
                    <a:pt x="2163437" y="6053"/>
                  </a:lnTo>
                  <a:lnTo>
                    <a:pt x="2215733" y="9318"/>
                  </a:lnTo>
                  <a:lnTo>
                    <a:pt x="2267911" y="13287"/>
                  </a:lnTo>
                  <a:lnTo>
                    <a:pt x="2319940" y="17963"/>
                  </a:lnTo>
                  <a:lnTo>
                    <a:pt x="2371791" y="23348"/>
                  </a:lnTo>
                  <a:lnTo>
                    <a:pt x="2423433" y="29444"/>
                  </a:lnTo>
                  <a:lnTo>
                    <a:pt x="2474837" y="36254"/>
                  </a:lnTo>
                  <a:lnTo>
                    <a:pt x="2525971" y="43779"/>
                  </a:lnTo>
                  <a:lnTo>
                    <a:pt x="2576805" y="52022"/>
                  </a:lnTo>
                  <a:lnTo>
                    <a:pt x="2627310" y="60985"/>
                  </a:lnTo>
                  <a:lnTo>
                    <a:pt x="2677455" y="70669"/>
                  </a:lnTo>
                  <a:lnTo>
                    <a:pt x="2727210" y="81078"/>
                  </a:lnTo>
                  <a:lnTo>
                    <a:pt x="2776545" y="92213"/>
                  </a:lnTo>
                  <a:lnTo>
                    <a:pt x="2825428" y="104076"/>
                  </a:lnTo>
                  <a:lnTo>
                    <a:pt x="2873831" y="116670"/>
                  </a:lnTo>
                  <a:lnTo>
                    <a:pt x="2921723" y="129997"/>
                  </a:lnTo>
                  <a:lnTo>
                    <a:pt x="2969073" y="144058"/>
                  </a:lnTo>
                  <a:lnTo>
                    <a:pt x="3015852" y="158857"/>
                  </a:lnTo>
                  <a:lnTo>
                    <a:pt x="3062029" y="174394"/>
                  </a:lnTo>
                  <a:lnTo>
                    <a:pt x="3107574" y="190673"/>
                  </a:lnTo>
                  <a:lnTo>
                    <a:pt x="3163828" y="212169"/>
                  </a:lnTo>
                  <a:lnTo>
                    <a:pt x="3218046" y="234472"/>
                  </a:lnTo>
                  <a:lnTo>
                    <a:pt x="3270221" y="257551"/>
                  </a:lnTo>
                  <a:lnTo>
                    <a:pt x="3320343" y="281377"/>
                  </a:lnTo>
                  <a:lnTo>
                    <a:pt x="3368403" y="305920"/>
                  </a:lnTo>
                  <a:lnTo>
                    <a:pt x="3414392" y="331148"/>
                  </a:lnTo>
                  <a:lnTo>
                    <a:pt x="3458302" y="357033"/>
                  </a:lnTo>
                  <a:lnTo>
                    <a:pt x="3500124" y="383544"/>
                  </a:lnTo>
                  <a:lnTo>
                    <a:pt x="3539849" y="410650"/>
                  </a:lnTo>
                  <a:lnTo>
                    <a:pt x="3577468" y="438321"/>
                  </a:lnTo>
                  <a:lnTo>
                    <a:pt x="3612972" y="466528"/>
                  </a:lnTo>
                  <a:lnTo>
                    <a:pt x="3646353" y="495239"/>
                  </a:lnTo>
                  <a:lnTo>
                    <a:pt x="3677601" y="524425"/>
                  </a:lnTo>
                  <a:lnTo>
                    <a:pt x="3706708" y="554056"/>
                  </a:lnTo>
                  <a:lnTo>
                    <a:pt x="3733665" y="584101"/>
                  </a:lnTo>
                  <a:lnTo>
                    <a:pt x="3758463" y="614530"/>
                  </a:lnTo>
                  <a:lnTo>
                    <a:pt x="3781093" y="645313"/>
                  </a:lnTo>
                  <a:lnTo>
                    <a:pt x="3819814" y="707819"/>
                  </a:lnTo>
                  <a:lnTo>
                    <a:pt x="3849759" y="771378"/>
                  </a:lnTo>
                  <a:lnTo>
                    <a:pt x="3870855" y="835749"/>
                  </a:lnTo>
                  <a:lnTo>
                    <a:pt x="3883033" y="900689"/>
                  </a:lnTo>
                  <a:lnTo>
                    <a:pt x="3886222" y="965957"/>
                  </a:lnTo>
                  <a:lnTo>
                    <a:pt x="3884423" y="998638"/>
                  </a:lnTo>
                  <a:lnTo>
                    <a:pt x="3873995" y="1063944"/>
                  </a:lnTo>
                  <a:lnTo>
                    <a:pt x="3854401" y="1128974"/>
                  </a:lnTo>
                  <a:lnTo>
                    <a:pt x="3825570" y="1193486"/>
                  </a:lnTo>
                  <a:lnTo>
                    <a:pt x="3787432" y="1257238"/>
                  </a:lnTo>
                  <a:lnTo>
                    <a:pt x="3764851" y="1288753"/>
                  </a:lnTo>
                  <a:lnTo>
                    <a:pt x="3739916" y="1319988"/>
                  </a:lnTo>
                  <a:lnTo>
                    <a:pt x="3712618" y="1350912"/>
                  </a:lnTo>
                  <a:lnTo>
                    <a:pt x="3682950" y="1381495"/>
                  </a:lnTo>
                  <a:lnTo>
                    <a:pt x="3650902" y="1411707"/>
                  </a:lnTo>
                  <a:lnTo>
                    <a:pt x="3616465" y="1441517"/>
                  </a:lnTo>
                  <a:lnTo>
                    <a:pt x="3579631" y="1470896"/>
                  </a:lnTo>
                  <a:lnTo>
                    <a:pt x="3540390" y="1499813"/>
                  </a:lnTo>
                  <a:lnTo>
                    <a:pt x="3498734" y="1528237"/>
                  </a:lnTo>
                  <a:lnTo>
                    <a:pt x="3465071" y="1549709"/>
                  </a:lnTo>
                  <a:lnTo>
                    <a:pt x="3430342" y="1570614"/>
                  </a:lnTo>
                  <a:lnTo>
                    <a:pt x="3394577" y="1590948"/>
                  </a:lnTo>
                  <a:lnTo>
                    <a:pt x="3357804" y="1610707"/>
                  </a:lnTo>
                  <a:lnTo>
                    <a:pt x="3320052" y="1629885"/>
                  </a:lnTo>
                  <a:lnTo>
                    <a:pt x="3281351" y="1648478"/>
                  </a:lnTo>
                  <a:lnTo>
                    <a:pt x="3241728" y="1666480"/>
                  </a:lnTo>
                  <a:lnTo>
                    <a:pt x="3201214" y="1683886"/>
                  </a:lnTo>
                  <a:lnTo>
                    <a:pt x="3159836" y="1700691"/>
                  </a:lnTo>
                  <a:lnTo>
                    <a:pt x="3117625" y="1716892"/>
                  </a:lnTo>
                  <a:lnTo>
                    <a:pt x="3074608" y="1732481"/>
                  </a:lnTo>
                  <a:lnTo>
                    <a:pt x="3030815" y="1747456"/>
                  </a:lnTo>
                  <a:lnTo>
                    <a:pt x="2986275" y="1761810"/>
                  </a:lnTo>
                  <a:lnTo>
                    <a:pt x="2941016" y="1775539"/>
                  </a:lnTo>
                  <a:lnTo>
                    <a:pt x="2895068" y="1788637"/>
                  </a:lnTo>
                  <a:lnTo>
                    <a:pt x="2848460" y="1801100"/>
                  </a:lnTo>
                  <a:lnTo>
                    <a:pt x="2801220" y="1812923"/>
                  </a:lnTo>
                  <a:lnTo>
                    <a:pt x="2753378" y="1824101"/>
                  </a:lnTo>
                  <a:lnTo>
                    <a:pt x="2704962" y="1834629"/>
                  </a:lnTo>
                  <a:lnTo>
                    <a:pt x="2656002" y="1844502"/>
                  </a:lnTo>
                  <a:lnTo>
                    <a:pt x="2606526" y="1853715"/>
                  </a:lnTo>
                  <a:lnTo>
                    <a:pt x="2556563" y="1862263"/>
                  </a:lnTo>
                  <a:lnTo>
                    <a:pt x="2506142" y="1870141"/>
                  </a:lnTo>
                  <a:lnTo>
                    <a:pt x="2455292" y="1877344"/>
                  </a:lnTo>
                  <a:lnTo>
                    <a:pt x="2404043" y="1883867"/>
                  </a:lnTo>
                  <a:lnTo>
                    <a:pt x="2352422" y="1889706"/>
                  </a:lnTo>
                  <a:lnTo>
                    <a:pt x="2300460" y="1894855"/>
                  </a:lnTo>
                  <a:lnTo>
                    <a:pt x="2248184" y="1899309"/>
                  </a:lnTo>
                  <a:lnTo>
                    <a:pt x="2195624" y="1903064"/>
                  </a:lnTo>
                  <a:lnTo>
                    <a:pt x="2142809" y="1906114"/>
                  </a:lnTo>
                  <a:lnTo>
                    <a:pt x="2089768" y="1908454"/>
                  </a:lnTo>
                  <a:lnTo>
                    <a:pt x="2036529" y="1910080"/>
                  </a:lnTo>
                  <a:lnTo>
                    <a:pt x="1983122" y="1910987"/>
                  </a:lnTo>
                  <a:lnTo>
                    <a:pt x="1929576" y="1911169"/>
                  </a:lnTo>
                  <a:lnTo>
                    <a:pt x="1875919" y="1910622"/>
                  </a:lnTo>
                  <a:lnTo>
                    <a:pt x="1822181" y="1909340"/>
                  </a:lnTo>
                  <a:lnTo>
                    <a:pt x="1768389" y="1907319"/>
                  </a:lnTo>
                  <a:lnTo>
                    <a:pt x="1714575" y="1904554"/>
                  </a:lnTo>
                  <a:lnTo>
                    <a:pt x="1660765" y="1901040"/>
                  </a:lnTo>
                  <a:lnTo>
                    <a:pt x="1606990" y="1896772"/>
                  </a:lnTo>
                  <a:lnTo>
                    <a:pt x="1553278" y="1891744"/>
                  </a:lnTo>
                  <a:lnTo>
                    <a:pt x="1499658" y="1885953"/>
                  </a:lnTo>
                  <a:lnTo>
                    <a:pt x="1446160" y="1879392"/>
                  </a:lnTo>
                  <a:lnTo>
                    <a:pt x="50303" y="2879771"/>
                  </a:lnTo>
                  <a:close/>
                </a:path>
              </a:pathLst>
            </a:custGeom>
            <a:ln w="12192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10056" y="395545"/>
              <a:ext cx="1629563" cy="14595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72227" y="361187"/>
              <a:ext cx="1689100" cy="1513840"/>
            </a:xfrm>
            <a:custGeom>
              <a:avLst/>
              <a:gdLst/>
              <a:ahLst/>
              <a:cxnLst/>
              <a:rect l="l" t="t" r="r" b="b"/>
              <a:pathLst>
                <a:path w="1689100" h="1513839">
                  <a:moveTo>
                    <a:pt x="0" y="1513331"/>
                  </a:moveTo>
                  <a:lnTo>
                    <a:pt x="1688592" y="1513331"/>
                  </a:lnTo>
                  <a:lnTo>
                    <a:pt x="1688592" y="0"/>
                  </a:lnTo>
                  <a:lnTo>
                    <a:pt x="0" y="0"/>
                  </a:lnTo>
                  <a:lnTo>
                    <a:pt x="0" y="151333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56428" y="1868804"/>
            <a:ext cx="1594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erpetua"/>
                <a:cs typeface="Perpetua"/>
              </a:rPr>
              <a:t>He is </a:t>
            </a:r>
            <a:r>
              <a:rPr sz="1800" b="1" spc="-40" dirty="0">
                <a:latin typeface="Perpetua"/>
                <a:cs typeface="Perpetua"/>
              </a:rPr>
              <a:t>my</a:t>
            </a:r>
            <a:r>
              <a:rPr sz="1800" b="1" spc="-11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patient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2091" y="603328"/>
            <a:ext cx="3594100" cy="2609215"/>
            <a:chOff x="222091" y="603328"/>
            <a:chExt cx="3594100" cy="2609215"/>
          </a:xfrm>
        </p:grpSpPr>
        <p:sp>
          <p:nvSpPr>
            <p:cNvPr id="9" name="object 9"/>
            <p:cNvSpPr/>
            <p:nvPr/>
          </p:nvSpPr>
          <p:spPr>
            <a:xfrm>
              <a:off x="228187" y="609424"/>
              <a:ext cx="3582035" cy="2597150"/>
            </a:xfrm>
            <a:custGeom>
              <a:avLst/>
              <a:gdLst/>
              <a:ahLst/>
              <a:cxnLst/>
              <a:rect l="l" t="t" r="r" b="b"/>
              <a:pathLst>
                <a:path w="3582035" h="2597150">
                  <a:moveTo>
                    <a:pt x="2898933" y="2596690"/>
                  </a:moveTo>
                  <a:lnTo>
                    <a:pt x="2212752" y="2178860"/>
                  </a:lnTo>
                  <a:lnTo>
                    <a:pt x="2157299" y="2186592"/>
                  </a:lnTo>
                  <a:lnTo>
                    <a:pt x="2101863" y="2193209"/>
                  </a:lnTo>
                  <a:lnTo>
                    <a:pt x="2046475" y="2198722"/>
                  </a:lnTo>
                  <a:lnTo>
                    <a:pt x="1991167" y="2203143"/>
                  </a:lnTo>
                  <a:lnTo>
                    <a:pt x="1935970" y="2206485"/>
                  </a:lnTo>
                  <a:lnTo>
                    <a:pt x="1880917" y="2208759"/>
                  </a:lnTo>
                  <a:lnTo>
                    <a:pt x="1826038" y="2209977"/>
                  </a:lnTo>
                  <a:lnTo>
                    <a:pt x="1771366" y="2210150"/>
                  </a:lnTo>
                  <a:lnTo>
                    <a:pt x="1716932" y="2209292"/>
                  </a:lnTo>
                  <a:lnTo>
                    <a:pt x="1662767" y="2207414"/>
                  </a:lnTo>
                  <a:lnTo>
                    <a:pt x="1608904" y="2204527"/>
                  </a:lnTo>
                  <a:lnTo>
                    <a:pt x="1555374" y="2200644"/>
                  </a:lnTo>
                  <a:lnTo>
                    <a:pt x="1502209" y="2195777"/>
                  </a:lnTo>
                  <a:lnTo>
                    <a:pt x="1449440" y="2189937"/>
                  </a:lnTo>
                  <a:lnTo>
                    <a:pt x="1397099" y="2183137"/>
                  </a:lnTo>
                  <a:lnTo>
                    <a:pt x="1345218" y="2175388"/>
                  </a:lnTo>
                  <a:lnTo>
                    <a:pt x="1293829" y="2166702"/>
                  </a:lnTo>
                  <a:lnTo>
                    <a:pt x="1242962" y="2157092"/>
                  </a:lnTo>
                  <a:lnTo>
                    <a:pt x="1192650" y="2146569"/>
                  </a:lnTo>
                  <a:lnTo>
                    <a:pt x="1142924" y="2135145"/>
                  </a:lnTo>
                  <a:lnTo>
                    <a:pt x="1093817" y="2122832"/>
                  </a:lnTo>
                  <a:lnTo>
                    <a:pt x="1045359" y="2109643"/>
                  </a:lnTo>
                  <a:lnTo>
                    <a:pt x="997582" y="2095588"/>
                  </a:lnTo>
                  <a:lnTo>
                    <a:pt x="950518" y="2080680"/>
                  </a:lnTo>
                  <a:lnTo>
                    <a:pt x="904200" y="2064930"/>
                  </a:lnTo>
                  <a:lnTo>
                    <a:pt x="858657" y="2048352"/>
                  </a:lnTo>
                  <a:lnTo>
                    <a:pt x="813922" y="2030956"/>
                  </a:lnTo>
                  <a:lnTo>
                    <a:pt x="770027" y="2012754"/>
                  </a:lnTo>
                  <a:lnTo>
                    <a:pt x="727003" y="1993759"/>
                  </a:lnTo>
                  <a:lnTo>
                    <a:pt x="684883" y="1973983"/>
                  </a:lnTo>
                  <a:lnTo>
                    <a:pt x="643697" y="1953436"/>
                  </a:lnTo>
                  <a:lnTo>
                    <a:pt x="603477" y="1932132"/>
                  </a:lnTo>
                  <a:lnTo>
                    <a:pt x="564255" y="1910083"/>
                  </a:lnTo>
                  <a:lnTo>
                    <a:pt x="526062" y="1887299"/>
                  </a:lnTo>
                  <a:lnTo>
                    <a:pt x="488931" y="1863793"/>
                  </a:lnTo>
                  <a:lnTo>
                    <a:pt x="452893" y="1839578"/>
                  </a:lnTo>
                  <a:lnTo>
                    <a:pt x="417980" y="1814664"/>
                  </a:lnTo>
                  <a:lnTo>
                    <a:pt x="384222" y="1789064"/>
                  </a:lnTo>
                  <a:lnTo>
                    <a:pt x="351653" y="1762790"/>
                  </a:lnTo>
                  <a:lnTo>
                    <a:pt x="320303" y="1735854"/>
                  </a:lnTo>
                  <a:lnTo>
                    <a:pt x="290204" y="1708267"/>
                  </a:lnTo>
                  <a:lnTo>
                    <a:pt x="261389" y="1680042"/>
                  </a:lnTo>
                  <a:lnTo>
                    <a:pt x="233887" y="1651190"/>
                  </a:lnTo>
                  <a:lnTo>
                    <a:pt x="207732" y="1621723"/>
                  </a:lnTo>
                  <a:lnTo>
                    <a:pt x="182955" y="1591654"/>
                  </a:lnTo>
                  <a:lnTo>
                    <a:pt x="159587" y="1560994"/>
                  </a:lnTo>
                  <a:lnTo>
                    <a:pt x="137661" y="1529756"/>
                  </a:lnTo>
                  <a:lnTo>
                    <a:pt x="98258" y="1465590"/>
                  </a:lnTo>
                  <a:lnTo>
                    <a:pt x="65000" y="1399252"/>
                  </a:lnTo>
                  <a:lnTo>
                    <a:pt x="37268" y="1328228"/>
                  </a:lnTo>
                  <a:lnTo>
                    <a:pt x="25902" y="1291173"/>
                  </a:lnTo>
                  <a:lnTo>
                    <a:pt x="16630" y="1254156"/>
                  </a:lnTo>
                  <a:lnTo>
                    <a:pt x="4272" y="1180338"/>
                  </a:lnTo>
                  <a:lnTo>
                    <a:pt x="0" y="1106974"/>
                  </a:lnTo>
                  <a:lnTo>
                    <a:pt x="834" y="1070523"/>
                  </a:lnTo>
                  <a:lnTo>
                    <a:pt x="8320" y="998211"/>
                  </a:lnTo>
                  <a:lnTo>
                    <a:pt x="23400" y="926848"/>
                  </a:lnTo>
                  <a:lnTo>
                    <a:pt x="45877" y="856634"/>
                  </a:lnTo>
                  <a:lnTo>
                    <a:pt x="75555" y="787768"/>
                  </a:lnTo>
                  <a:lnTo>
                    <a:pt x="93033" y="753902"/>
                  </a:lnTo>
                  <a:lnTo>
                    <a:pt x="112238" y="720447"/>
                  </a:lnTo>
                  <a:lnTo>
                    <a:pt x="133144" y="687429"/>
                  </a:lnTo>
                  <a:lnTo>
                    <a:pt x="155728" y="654871"/>
                  </a:lnTo>
                  <a:lnTo>
                    <a:pt x="179965" y="622800"/>
                  </a:lnTo>
                  <a:lnTo>
                    <a:pt x="205831" y="591239"/>
                  </a:lnTo>
                  <a:lnTo>
                    <a:pt x="233300" y="560214"/>
                  </a:lnTo>
                  <a:lnTo>
                    <a:pt x="262349" y="529749"/>
                  </a:lnTo>
                  <a:lnTo>
                    <a:pt x="292952" y="499869"/>
                  </a:lnTo>
                  <a:lnTo>
                    <a:pt x="325086" y="470600"/>
                  </a:lnTo>
                  <a:lnTo>
                    <a:pt x="358725" y="441965"/>
                  </a:lnTo>
                  <a:lnTo>
                    <a:pt x="393845" y="413990"/>
                  </a:lnTo>
                  <a:lnTo>
                    <a:pt x="430422" y="386700"/>
                  </a:lnTo>
                  <a:lnTo>
                    <a:pt x="468431" y="360119"/>
                  </a:lnTo>
                  <a:lnTo>
                    <a:pt x="507847" y="334272"/>
                  </a:lnTo>
                  <a:lnTo>
                    <a:pt x="548646" y="309185"/>
                  </a:lnTo>
                  <a:lnTo>
                    <a:pt x="590803" y="284881"/>
                  </a:lnTo>
                  <a:lnTo>
                    <a:pt x="634295" y="261386"/>
                  </a:lnTo>
                  <a:lnTo>
                    <a:pt x="679095" y="238725"/>
                  </a:lnTo>
                  <a:lnTo>
                    <a:pt x="725180" y="216922"/>
                  </a:lnTo>
                  <a:lnTo>
                    <a:pt x="772526" y="196003"/>
                  </a:lnTo>
                  <a:lnTo>
                    <a:pt x="821106" y="175991"/>
                  </a:lnTo>
                  <a:lnTo>
                    <a:pt x="870898" y="156913"/>
                  </a:lnTo>
                  <a:lnTo>
                    <a:pt x="921877" y="138793"/>
                  </a:lnTo>
                  <a:lnTo>
                    <a:pt x="974017" y="121655"/>
                  </a:lnTo>
                  <a:lnTo>
                    <a:pt x="1027295" y="105524"/>
                  </a:lnTo>
                  <a:lnTo>
                    <a:pt x="1081685" y="90426"/>
                  </a:lnTo>
                  <a:lnTo>
                    <a:pt x="1137164" y="76385"/>
                  </a:lnTo>
                  <a:lnTo>
                    <a:pt x="1193707" y="63426"/>
                  </a:lnTo>
                  <a:lnTo>
                    <a:pt x="1251289" y="51574"/>
                  </a:lnTo>
                  <a:lnTo>
                    <a:pt x="1309885" y="40854"/>
                  </a:lnTo>
                  <a:lnTo>
                    <a:pt x="1369472" y="31290"/>
                  </a:lnTo>
                  <a:lnTo>
                    <a:pt x="1424924" y="23558"/>
                  </a:lnTo>
                  <a:lnTo>
                    <a:pt x="1480360" y="16941"/>
                  </a:lnTo>
                  <a:lnTo>
                    <a:pt x="1535748" y="11428"/>
                  </a:lnTo>
                  <a:lnTo>
                    <a:pt x="1591056" y="7006"/>
                  </a:lnTo>
                  <a:lnTo>
                    <a:pt x="1646253" y="3665"/>
                  </a:lnTo>
                  <a:lnTo>
                    <a:pt x="1701307" y="1391"/>
                  </a:lnTo>
                  <a:lnTo>
                    <a:pt x="1756186" y="173"/>
                  </a:lnTo>
                  <a:lnTo>
                    <a:pt x="1810858" y="0"/>
                  </a:lnTo>
                  <a:lnTo>
                    <a:pt x="1865293" y="858"/>
                  </a:lnTo>
                  <a:lnTo>
                    <a:pt x="1919457" y="2736"/>
                  </a:lnTo>
                  <a:lnTo>
                    <a:pt x="1973321" y="5623"/>
                  </a:lnTo>
                  <a:lnTo>
                    <a:pt x="2026851" y="9506"/>
                  </a:lnTo>
                  <a:lnTo>
                    <a:pt x="2080017" y="14373"/>
                  </a:lnTo>
                  <a:lnTo>
                    <a:pt x="2132786" y="20213"/>
                  </a:lnTo>
                  <a:lnTo>
                    <a:pt x="2185127" y="27013"/>
                  </a:lnTo>
                  <a:lnTo>
                    <a:pt x="2237009" y="34762"/>
                  </a:lnTo>
                  <a:lnTo>
                    <a:pt x="2288399" y="43448"/>
                  </a:lnTo>
                  <a:lnTo>
                    <a:pt x="2339266" y="53058"/>
                  </a:lnTo>
                  <a:lnTo>
                    <a:pt x="2389579" y="63581"/>
                  </a:lnTo>
                  <a:lnTo>
                    <a:pt x="2439305" y="75005"/>
                  </a:lnTo>
                  <a:lnTo>
                    <a:pt x="2488413" y="87317"/>
                  </a:lnTo>
                  <a:lnTo>
                    <a:pt x="2536872" y="100507"/>
                  </a:lnTo>
                  <a:lnTo>
                    <a:pt x="2584650" y="114562"/>
                  </a:lnTo>
                  <a:lnTo>
                    <a:pt x="2631714" y="129470"/>
                  </a:lnTo>
                  <a:lnTo>
                    <a:pt x="2678034" y="145220"/>
                  </a:lnTo>
                  <a:lnTo>
                    <a:pt x="2723577" y="161798"/>
                  </a:lnTo>
                  <a:lnTo>
                    <a:pt x="2768313" y="179194"/>
                  </a:lnTo>
                  <a:lnTo>
                    <a:pt x="2812209" y="197396"/>
                  </a:lnTo>
                  <a:lnTo>
                    <a:pt x="2855234" y="216391"/>
                  </a:lnTo>
                  <a:lnTo>
                    <a:pt x="2897355" y="236167"/>
                  </a:lnTo>
                  <a:lnTo>
                    <a:pt x="2938543" y="256714"/>
                  </a:lnTo>
                  <a:lnTo>
                    <a:pt x="2978764" y="278017"/>
                  </a:lnTo>
                  <a:lnTo>
                    <a:pt x="3017987" y="300067"/>
                  </a:lnTo>
                  <a:lnTo>
                    <a:pt x="3056180" y="322851"/>
                  </a:lnTo>
                  <a:lnTo>
                    <a:pt x="3093313" y="346356"/>
                  </a:lnTo>
                  <a:lnTo>
                    <a:pt x="3129352" y="370572"/>
                  </a:lnTo>
                  <a:lnTo>
                    <a:pt x="3164267" y="395486"/>
                  </a:lnTo>
                  <a:lnTo>
                    <a:pt x="3198026" y="421086"/>
                  </a:lnTo>
                  <a:lnTo>
                    <a:pt x="3230597" y="447360"/>
                  </a:lnTo>
                  <a:lnTo>
                    <a:pt x="3261948" y="474296"/>
                  </a:lnTo>
                  <a:lnTo>
                    <a:pt x="3292049" y="501883"/>
                  </a:lnTo>
                  <a:lnTo>
                    <a:pt x="3320866" y="530108"/>
                  </a:lnTo>
                  <a:lnTo>
                    <a:pt x="3348369" y="558960"/>
                  </a:lnTo>
                  <a:lnTo>
                    <a:pt x="3374526" y="588427"/>
                  </a:lnTo>
                  <a:lnTo>
                    <a:pt x="3399305" y="618496"/>
                  </a:lnTo>
                  <a:lnTo>
                    <a:pt x="3422674" y="649155"/>
                  </a:lnTo>
                  <a:lnTo>
                    <a:pt x="3444603" y="680394"/>
                  </a:lnTo>
                  <a:lnTo>
                    <a:pt x="3484009" y="744560"/>
                  </a:lnTo>
                  <a:lnTo>
                    <a:pt x="3517272" y="810898"/>
                  </a:lnTo>
                  <a:lnTo>
                    <a:pt x="3545911" y="884700"/>
                  </a:lnTo>
                  <a:lnTo>
                    <a:pt x="3557856" y="924625"/>
                  </a:lnTo>
                  <a:lnTo>
                    <a:pt x="3567378" y="964591"/>
                  </a:lnTo>
                  <a:lnTo>
                    <a:pt x="3574498" y="1004562"/>
                  </a:lnTo>
                  <a:lnTo>
                    <a:pt x="3579238" y="1044501"/>
                  </a:lnTo>
                  <a:lnTo>
                    <a:pt x="3581619" y="1084373"/>
                  </a:lnTo>
                  <a:lnTo>
                    <a:pt x="3581664" y="1124141"/>
                  </a:lnTo>
                  <a:lnTo>
                    <a:pt x="3579394" y="1163770"/>
                  </a:lnTo>
                  <a:lnTo>
                    <a:pt x="3574832" y="1203222"/>
                  </a:lnTo>
                  <a:lnTo>
                    <a:pt x="3567997" y="1242463"/>
                  </a:lnTo>
                  <a:lnTo>
                    <a:pt x="3558914" y="1281454"/>
                  </a:lnTo>
                  <a:lnTo>
                    <a:pt x="3547603" y="1320162"/>
                  </a:lnTo>
                  <a:lnTo>
                    <a:pt x="3534085" y="1358548"/>
                  </a:lnTo>
                  <a:lnTo>
                    <a:pt x="3518384" y="1396578"/>
                  </a:lnTo>
                  <a:lnTo>
                    <a:pt x="3500520" y="1434214"/>
                  </a:lnTo>
                  <a:lnTo>
                    <a:pt x="3480516" y="1471422"/>
                  </a:lnTo>
                  <a:lnTo>
                    <a:pt x="3458393" y="1508164"/>
                  </a:lnTo>
                  <a:lnTo>
                    <a:pt x="3434173" y="1544404"/>
                  </a:lnTo>
                  <a:lnTo>
                    <a:pt x="3407878" y="1580107"/>
                  </a:lnTo>
                  <a:lnTo>
                    <a:pt x="3379529" y="1615235"/>
                  </a:lnTo>
                  <a:lnTo>
                    <a:pt x="3349148" y="1649754"/>
                  </a:lnTo>
                  <a:lnTo>
                    <a:pt x="3316758" y="1683626"/>
                  </a:lnTo>
                  <a:lnTo>
                    <a:pt x="3282379" y="1716816"/>
                  </a:lnTo>
                  <a:lnTo>
                    <a:pt x="3246034" y="1749287"/>
                  </a:lnTo>
                  <a:lnTo>
                    <a:pt x="3207745" y="1781003"/>
                  </a:lnTo>
                  <a:lnTo>
                    <a:pt x="3167532" y="1811928"/>
                  </a:lnTo>
                  <a:lnTo>
                    <a:pt x="3125419" y="1842026"/>
                  </a:lnTo>
                  <a:lnTo>
                    <a:pt x="3081426" y="1871261"/>
                  </a:lnTo>
                  <a:lnTo>
                    <a:pt x="3035576" y="1899596"/>
                  </a:lnTo>
                  <a:lnTo>
                    <a:pt x="2987890" y="1926996"/>
                  </a:lnTo>
                  <a:lnTo>
                    <a:pt x="2938390" y="1953424"/>
                  </a:lnTo>
                  <a:lnTo>
                    <a:pt x="2887098" y="1978843"/>
                  </a:lnTo>
                  <a:lnTo>
                    <a:pt x="2834036" y="2003219"/>
                  </a:lnTo>
                  <a:lnTo>
                    <a:pt x="2898933" y="2596690"/>
                  </a:lnTo>
                  <a:close/>
                </a:path>
              </a:pathLst>
            </a:custGeom>
            <a:ln w="12192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91996" y="688848"/>
              <a:ext cx="1254252" cy="16565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09599" y="2347036"/>
            <a:ext cx="18319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erpetua"/>
                <a:cs typeface="Perpetua"/>
              </a:rPr>
              <a:t>He is </a:t>
            </a:r>
            <a:r>
              <a:rPr sz="1800" b="1" spc="-40" dirty="0">
                <a:latin typeface="Perpetua"/>
                <a:cs typeface="Perpetua"/>
              </a:rPr>
              <a:t>my</a:t>
            </a:r>
            <a:r>
              <a:rPr sz="1800" b="1" spc="-95" dirty="0">
                <a:latin typeface="Perpetua"/>
                <a:cs typeface="Perpetua"/>
              </a:rPr>
              <a:t> </a:t>
            </a:r>
            <a:r>
              <a:rPr sz="1800" b="1" spc="-15" dirty="0">
                <a:latin typeface="Perpetua"/>
                <a:cs typeface="Perpetua"/>
              </a:rPr>
              <a:t>employee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46575" y="2729757"/>
            <a:ext cx="4734560" cy="333375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090930" indent="-240665" algn="just">
              <a:lnSpc>
                <a:spcPct val="100000"/>
              </a:lnSpc>
              <a:spcBef>
                <a:spcPts val="735"/>
              </a:spcBef>
              <a:buSzPct val="95833"/>
              <a:buFont typeface="Wingdings"/>
              <a:buChar char=""/>
              <a:tabLst>
                <a:tab pos="1091565" algn="l"/>
              </a:tabLst>
            </a:pP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It </a:t>
            </a:r>
            <a:r>
              <a:rPr sz="2400" b="1" i="1" spc="-30" dirty="0">
                <a:solidFill>
                  <a:srgbClr val="C00000"/>
                </a:solidFill>
                <a:latin typeface="Perpetua"/>
                <a:cs typeface="Perpetua"/>
              </a:rPr>
              <a:t>involves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filtering</a:t>
            </a:r>
            <a:r>
              <a:rPr sz="2400" b="1" i="1" spc="3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out…..</a:t>
            </a:r>
            <a:endParaRPr sz="2400">
              <a:latin typeface="Perpetua"/>
              <a:cs typeface="Perpetua"/>
            </a:endParaRPr>
          </a:p>
          <a:p>
            <a:pPr marL="12700" marR="6350" algn="just">
              <a:lnSpc>
                <a:spcPct val="100000"/>
              </a:lnSpc>
              <a:spcBef>
                <a:spcPts val="690"/>
              </a:spcBef>
              <a:buSzPct val="96153"/>
              <a:buFont typeface="Arial"/>
              <a:buChar char="•"/>
              <a:tabLst>
                <a:tab pos="129539" algn="l"/>
              </a:tabLst>
            </a:pPr>
            <a:r>
              <a:rPr sz="2600" spc="-5" dirty="0">
                <a:latin typeface="Perpetua"/>
                <a:cs typeface="Perpetua"/>
              </a:rPr>
              <a:t>Doctor </a:t>
            </a:r>
            <a:r>
              <a:rPr sz="2600" spc="-10" dirty="0">
                <a:latin typeface="Perpetua"/>
                <a:cs typeface="Perpetua"/>
              </a:rPr>
              <a:t>views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person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15" dirty="0">
                <a:latin typeface="Perpetua"/>
                <a:cs typeface="Perpetua"/>
              </a:rPr>
              <a:t>weight, </a:t>
            </a:r>
            <a:r>
              <a:rPr sz="2600" spc="5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height, </a:t>
            </a:r>
            <a:r>
              <a:rPr sz="2600" spc="-15" dirty="0">
                <a:latin typeface="Perpetua"/>
                <a:cs typeface="Perpetua"/>
              </a:rPr>
              <a:t>age, blood </a:t>
            </a:r>
            <a:r>
              <a:rPr sz="2600" spc="-10" dirty="0">
                <a:latin typeface="Perpetua"/>
                <a:cs typeface="Perpetua"/>
              </a:rPr>
              <a:t>group, </a:t>
            </a:r>
            <a:r>
              <a:rPr sz="2600" spc="-5" dirty="0">
                <a:latin typeface="Perpetua"/>
                <a:cs typeface="Perpetua"/>
              </a:rPr>
              <a:t>symptoms,  </a:t>
            </a:r>
            <a:r>
              <a:rPr sz="2600" dirty="0">
                <a:latin typeface="Perpetua"/>
                <a:cs typeface="Perpetua"/>
              </a:rPr>
              <a:t>history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disease,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etc.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700">
              <a:latin typeface="Perpetua"/>
              <a:cs typeface="Perpetua"/>
            </a:endParaRPr>
          </a:p>
          <a:p>
            <a:pPr marL="12700" marR="5080" algn="just">
              <a:lnSpc>
                <a:spcPct val="100000"/>
              </a:lnSpc>
              <a:buSzPct val="96153"/>
              <a:buFont typeface="Arial"/>
              <a:buChar char="•"/>
              <a:tabLst>
                <a:tab pos="129539" algn="l"/>
              </a:tabLst>
            </a:pPr>
            <a:r>
              <a:rPr sz="2600" spc="-15" dirty="0">
                <a:latin typeface="Perpetua"/>
                <a:cs typeface="Perpetua"/>
              </a:rPr>
              <a:t>Employee</a:t>
            </a:r>
            <a:r>
              <a:rPr sz="2600" spc="55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views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person </a:t>
            </a:r>
            <a:r>
              <a:rPr sz="2600" spc="-15" dirty="0">
                <a:latin typeface="Perpetua"/>
                <a:cs typeface="Perpetua"/>
              </a:rPr>
              <a:t>name,  age, </a:t>
            </a:r>
            <a:r>
              <a:rPr sz="2600" dirty="0">
                <a:latin typeface="Perpetua"/>
                <a:cs typeface="Perpetua"/>
              </a:rPr>
              <a:t>health, </a:t>
            </a:r>
            <a:r>
              <a:rPr sz="2600" spc="5" dirty="0">
                <a:latin typeface="Perpetua"/>
                <a:cs typeface="Perpetua"/>
              </a:rPr>
              <a:t>degree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55" dirty="0">
                <a:latin typeface="Perpetua"/>
                <a:cs typeface="Perpetua"/>
              </a:rPr>
              <a:t>study, </a:t>
            </a:r>
            <a:r>
              <a:rPr sz="2600" spc="-25" dirty="0">
                <a:latin typeface="Perpetua"/>
                <a:cs typeface="Perpetua"/>
              </a:rPr>
              <a:t>work  </a:t>
            </a:r>
            <a:r>
              <a:rPr sz="2600" dirty="0">
                <a:latin typeface="Perpetua"/>
                <a:cs typeface="Perpetua"/>
              </a:rPr>
              <a:t>experience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etc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090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</a:t>
            </a:r>
            <a:r>
              <a:rPr spc="-15" dirty="0"/>
              <a:t>d</a:t>
            </a:r>
            <a:r>
              <a:rPr dirty="0"/>
              <a:t>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5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76630"/>
            <a:ext cx="8531225" cy="3425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Abstraction </a:t>
            </a:r>
            <a:r>
              <a:rPr sz="2600" spc="-20" dirty="0">
                <a:latin typeface="Perpetua"/>
                <a:cs typeface="Perpetua"/>
              </a:rPr>
              <a:t>allows </a:t>
            </a:r>
            <a:r>
              <a:rPr sz="2600" spc="-5" dirty="0">
                <a:latin typeface="Perpetua"/>
                <a:cs typeface="Perpetua"/>
              </a:rPr>
              <a:t>us to </a:t>
            </a:r>
            <a:r>
              <a:rPr sz="2600" spc="-10" dirty="0">
                <a:latin typeface="Perpetua"/>
                <a:cs typeface="Perpetua"/>
              </a:rPr>
              <a:t>create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general </a:t>
            </a:r>
            <a:r>
              <a:rPr sz="2600" dirty="0">
                <a:latin typeface="Perpetua"/>
                <a:cs typeface="Perpetua"/>
              </a:rPr>
              <a:t>idea </a:t>
            </a:r>
            <a:r>
              <a:rPr sz="2600" spc="-5" dirty="0">
                <a:latin typeface="Perpetua"/>
                <a:cs typeface="Perpetua"/>
              </a:rPr>
              <a:t>of what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problem </a:t>
            </a:r>
            <a:r>
              <a:rPr sz="2600" dirty="0">
                <a:latin typeface="Perpetua"/>
                <a:cs typeface="Perpetua"/>
              </a:rPr>
              <a:t>is 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solve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it.</a:t>
            </a:r>
            <a:endParaRPr sz="2600">
              <a:latin typeface="Perpetua"/>
              <a:cs typeface="Perpetua"/>
            </a:endParaRPr>
          </a:p>
          <a:p>
            <a:pPr marL="286385" marR="6985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925194" algn="l"/>
                <a:tab pos="1978660" algn="l"/>
                <a:tab pos="3180080" algn="l"/>
                <a:tab pos="3609340" algn="l"/>
                <a:tab pos="4030345" algn="l"/>
                <a:tab pos="5093970" algn="l"/>
                <a:tab pos="5546725" algn="l"/>
                <a:tab pos="6600190" algn="l"/>
                <a:tab pos="7514590" algn="l"/>
                <a:tab pos="8112125" algn="l"/>
              </a:tabLst>
            </a:pPr>
            <a:r>
              <a:rPr sz="2600" dirty="0">
                <a:latin typeface="Perpetua"/>
                <a:cs typeface="Perpetua"/>
              </a:rPr>
              <a:t>The	p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ess	inst</a:t>
            </a:r>
            <a:r>
              <a:rPr sz="2600" spc="5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ucts	</a:t>
            </a:r>
            <a:r>
              <a:rPr sz="2600" spc="5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s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em</a:t>
            </a:r>
            <a:r>
              <a:rPr sz="2600" spc="-80" dirty="0">
                <a:latin typeface="Perpetua"/>
                <a:cs typeface="Perpetua"/>
              </a:rPr>
              <a:t>o</a:t>
            </a:r>
            <a:r>
              <a:rPr sz="2600" spc="-55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5" dirty="0">
                <a:latin typeface="Perpetua"/>
                <a:cs typeface="Perpetua"/>
              </a:rPr>
              <a:t>al</a:t>
            </a:r>
            <a:r>
              <a:rPr sz="2600" dirty="0">
                <a:latin typeface="Perpetua"/>
                <a:cs typeface="Perpetua"/>
              </a:rPr>
              <a:t>l	spe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ific	de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spc="-5" dirty="0">
                <a:latin typeface="Perpetua"/>
                <a:cs typeface="Perpetua"/>
              </a:rPr>
              <a:t>ai</a:t>
            </a:r>
            <a:r>
              <a:rPr sz="2600" spc="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,	</a:t>
            </a:r>
            <a:r>
              <a:rPr sz="2600" spc="-5" dirty="0">
                <a:latin typeface="Perpetua"/>
                <a:cs typeface="Perpetua"/>
              </a:rPr>
              <a:t>an</a:t>
            </a:r>
            <a:r>
              <a:rPr sz="2600" dirty="0">
                <a:latin typeface="Perpetua"/>
                <a:cs typeface="Perpetua"/>
              </a:rPr>
              <a:t>d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5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y  patterns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5" dirty="0">
                <a:latin typeface="Perpetua"/>
                <a:cs typeface="Perpetua"/>
              </a:rPr>
              <a:t>not help us </a:t>
            </a:r>
            <a:r>
              <a:rPr sz="2600" spc="-15" dirty="0">
                <a:latin typeface="Perpetua"/>
                <a:cs typeface="Perpetua"/>
              </a:rPr>
              <a:t>solve </a:t>
            </a:r>
            <a:r>
              <a:rPr sz="2600" spc="-5" dirty="0">
                <a:latin typeface="Perpetua"/>
                <a:cs typeface="Perpetua"/>
              </a:rPr>
              <a:t>our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problem.</a:t>
            </a:r>
            <a:endParaRPr sz="2600">
              <a:latin typeface="Perpetua"/>
              <a:cs typeface="Perpetua"/>
            </a:endParaRPr>
          </a:p>
          <a:p>
            <a:pPr marL="286385" marR="635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5" dirty="0">
                <a:latin typeface="Perpetua"/>
                <a:cs typeface="Perpetua"/>
              </a:rPr>
              <a:t>helps </a:t>
            </a:r>
            <a:r>
              <a:rPr sz="2600" spc="-10" dirty="0">
                <a:latin typeface="Perpetua"/>
                <a:cs typeface="Perpetua"/>
              </a:rPr>
              <a:t>us </a:t>
            </a:r>
            <a:r>
              <a:rPr sz="2600" spc="15" dirty="0">
                <a:latin typeface="Perpetua"/>
                <a:cs typeface="Perpetua"/>
              </a:rPr>
              <a:t>form </a:t>
            </a:r>
            <a:r>
              <a:rPr sz="2600" spc="-5" dirty="0">
                <a:latin typeface="Perpetua"/>
                <a:cs typeface="Perpetua"/>
              </a:rPr>
              <a:t>our idea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problem. </a:t>
            </a:r>
            <a:r>
              <a:rPr sz="2600" dirty="0">
                <a:latin typeface="Perpetua"/>
                <a:cs typeface="Perpetua"/>
              </a:rPr>
              <a:t>This idea </a:t>
            </a:r>
            <a:r>
              <a:rPr sz="2600" spc="-5" dirty="0">
                <a:latin typeface="Perpetua"/>
                <a:cs typeface="Perpetua"/>
              </a:rPr>
              <a:t>is </a:t>
            </a:r>
            <a:r>
              <a:rPr sz="2600" spc="-20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5" dirty="0">
                <a:latin typeface="Perpetua"/>
                <a:cs typeface="Perpetua"/>
              </a:rPr>
              <a:t>‘model’.</a:t>
            </a:r>
            <a:endParaRPr sz="2600">
              <a:latin typeface="Perpetua"/>
              <a:cs typeface="Perpetua"/>
            </a:endParaRPr>
          </a:p>
          <a:p>
            <a:pPr marL="286385" marR="5715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35" dirty="0">
                <a:latin typeface="Perpetua"/>
                <a:cs typeface="Perpetua"/>
              </a:rPr>
              <a:t>don’t </a:t>
            </a:r>
            <a:r>
              <a:rPr sz="2600" spc="-5" dirty="0">
                <a:latin typeface="Perpetua"/>
                <a:cs typeface="Perpetua"/>
              </a:rPr>
              <a:t>abstract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dirty="0">
                <a:latin typeface="Perpetua"/>
                <a:cs typeface="Perpetua"/>
              </a:rPr>
              <a:t>end </a:t>
            </a:r>
            <a:r>
              <a:rPr sz="2600" spc="-5" dirty="0">
                <a:latin typeface="Perpetua"/>
                <a:cs typeface="Perpetua"/>
              </a:rPr>
              <a:t>up </a:t>
            </a:r>
            <a:r>
              <a:rPr sz="2600" dirty="0">
                <a:latin typeface="Perpetua"/>
                <a:cs typeface="Perpetua"/>
              </a:rPr>
              <a:t>with the </a:t>
            </a:r>
            <a:r>
              <a:rPr sz="2600" spc="-10" dirty="0">
                <a:latin typeface="Perpetua"/>
                <a:cs typeface="Perpetua"/>
              </a:rPr>
              <a:t>wrong </a:t>
            </a:r>
            <a:r>
              <a:rPr sz="2600" spc="-5" dirty="0">
                <a:latin typeface="Perpetua"/>
                <a:cs typeface="Perpetua"/>
              </a:rPr>
              <a:t>solution to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trying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solve.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19430"/>
            <a:ext cx="8529955" cy="3821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</a:t>
            </a:r>
            <a:r>
              <a:rPr sz="2600" spc="-5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pattern recognition</a:t>
            </a:r>
            <a:r>
              <a:rPr sz="2600" b="1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5" dirty="0">
                <a:latin typeface="Perpetua"/>
                <a:cs typeface="Perpetua"/>
              </a:rPr>
              <a:t>looked 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problem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20" dirty="0">
                <a:latin typeface="Perpetua"/>
                <a:cs typeface="Perpetua"/>
              </a:rPr>
              <a:t>having </a:t>
            </a:r>
            <a:r>
              <a:rPr sz="2600" spc="5" dirty="0">
                <a:latin typeface="Perpetua"/>
                <a:cs typeface="Perpetua"/>
              </a:rPr>
              <a:t>to 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series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cats.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noted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all cats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10" dirty="0">
                <a:latin typeface="Perpetua"/>
                <a:cs typeface="Perpetua"/>
              </a:rPr>
              <a:t>general </a:t>
            </a:r>
            <a:r>
              <a:rPr sz="2600" spc="5" dirty="0">
                <a:latin typeface="Perpetua"/>
                <a:cs typeface="Perpetua"/>
              </a:rPr>
              <a:t>characteristics, </a:t>
            </a:r>
            <a:r>
              <a:rPr sz="2600" spc="10" dirty="0">
                <a:latin typeface="Perpetua"/>
                <a:cs typeface="Perpetua"/>
              </a:rPr>
              <a:t>which </a:t>
            </a:r>
            <a:r>
              <a:rPr sz="2600" spc="-10" dirty="0">
                <a:latin typeface="Perpetua"/>
                <a:cs typeface="Perpetua"/>
              </a:rPr>
              <a:t>are  </a:t>
            </a:r>
            <a:r>
              <a:rPr sz="2600" spc="-5" dirty="0">
                <a:latin typeface="Perpetua"/>
                <a:cs typeface="Perpetua"/>
              </a:rPr>
              <a:t>common to all </a:t>
            </a:r>
            <a:r>
              <a:rPr sz="2600" spc="-10" dirty="0">
                <a:latin typeface="Perpetua"/>
                <a:cs typeface="Perpetua"/>
              </a:rPr>
              <a:t>cats, </a:t>
            </a:r>
            <a:r>
              <a:rPr sz="2600" spc="-5" dirty="0">
                <a:latin typeface="Perpetua"/>
                <a:cs typeface="Perpetua"/>
              </a:rPr>
              <a:t>eg </a:t>
            </a:r>
            <a:r>
              <a:rPr sz="2600" spc="-20" dirty="0">
                <a:latin typeface="Perpetua"/>
                <a:cs typeface="Perpetua"/>
              </a:rPr>
              <a:t>eyes, </a:t>
            </a:r>
            <a:r>
              <a:rPr sz="2600" dirty="0">
                <a:latin typeface="Perpetua"/>
                <a:cs typeface="Perpetua"/>
              </a:rPr>
              <a:t>a tail, </a:t>
            </a:r>
            <a:r>
              <a:rPr sz="2600" spc="-60" dirty="0">
                <a:latin typeface="Perpetua"/>
                <a:cs typeface="Perpetua"/>
              </a:rPr>
              <a:t>fur,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liking for </a:t>
            </a:r>
            <a:r>
              <a:rPr sz="2600" dirty="0">
                <a:latin typeface="Perpetua"/>
                <a:cs typeface="Perpetua"/>
              </a:rPr>
              <a:t>fish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ability  to </a:t>
            </a:r>
            <a:r>
              <a:rPr sz="2600" spc="-15" dirty="0">
                <a:latin typeface="Perpetua"/>
                <a:cs typeface="Perpetua"/>
              </a:rPr>
              <a:t>make meowing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sounds.</a:t>
            </a:r>
            <a:endParaRPr sz="2600">
              <a:latin typeface="Perpetua"/>
              <a:cs typeface="Perpetua"/>
            </a:endParaRPr>
          </a:p>
          <a:p>
            <a:pPr marL="286385" marR="571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 addition,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10" dirty="0">
                <a:latin typeface="Perpetua"/>
                <a:cs typeface="Perpetua"/>
              </a:rPr>
              <a:t>cat </a:t>
            </a:r>
            <a:r>
              <a:rPr sz="2600" dirty="0">
                <a:latin typeface="Perpetua"/>
                <a:cs typeface="Perpetua"/>
              </a:rPr>
              <a:t>has </a:t>
            </a:r>
            <a:r>
              <a:rPr sz="2600" b="1" spc="-5" dirty="0">
                <a:latin typeface="Perpetua"/>
                <a:cs typeface="Perpetua"/>
              </a:rPr>
              <a:t>specific </a:t>
            </a:r>
            <a:r>
              <a:rPr sz="2600" b="1" dirty="0">
                <a:latin typeface="Perpetua"/>
                <a:cs typeface="Perpetua"/>
              </a:rPr>
              <a:t>characteristics</a:t>
            </a:r>
            <a:r>
              <a:rPr sz="2600" dirty="0">
                <a:latin typeface="Perpetua"/>
                <a:cs typeface="Perpetua"/>
              </a:rPr>
              <a:t>, </a:t>
            </a:r>
            <a:r>
              <a:rPr sz="2600" spc="10" dirty="0">
                <a:latin typeface="Perpetua"/>
                <a:cs typeface="Perpetua"/>
              </a:rPr>
              <a:t>such 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b="1" spc="-10" dirty="0">
                <a:latin typeface="Perpetua"/>
                <a:cs typeface="Perpetua"/>
              </a:rPr>
              <a:t>black </a:t>
            </a:r>
            <a:r>
              <a:rPr sz="2600" spc="-55" dirty="0">
                <a:latin typeface="Perpetua"/>
                <a:cs typeface="Perpetua"/>
              </a:rPr>
              <a:t>fur,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b="1" dirty="0">
                <a:latin typeface="Perpetua"/>
                <a:cs typeface="Perpetua"/>
              </a:rPr>
              <a:t>long </a:t>
            </a:r>
            <a:r>
              <a:rPr sz="2600" dirty="0">
                <a:latin typeface="Perpetua"/>
                <a:cs typeface="Perpetua"/>
              </a:rPr>
              <a:t>tail, </a:t>
            </a:r>
            <a:r>
              <a:rPr sz="2600" b="1" spc="10" dirty="0">
                <a:latin typeface="Perpetua"/>
                <a:cs typeface="Perpetua"/>
              </a:rPr>
              <a:t>green </a:t>
            </a:r>
            <a:r>
              <a:rPr sz="2600" spc="-20" dirty="0">
                <a:latin typeface="Perpetua"/>
                <a:cs typeface="Perpetua"/>
              </a:rPr>
              <a:t>eyes,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35" dirty="0">
                <a:latin typeface="Perpetua"/>
                <a:cs typeface="Perpetua"/>
              </a:rPr>
              <a:t>love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b="1" spc="-5" dirty="0">
                <a:latin typeface="Perpetua"/>
                <a:cs typeface="Perpetua"/>
              </a:rPr>
              <a:t>salmon</a:t>
            </a:r>
            <a:r>
              <a:rPr sz="2600" spc="-5" dirty="0">
                <a:latin typeface="Perpetua"/>
                <a:cs typeface="Perpetua"/>
              </a:rPr>
              <a:t>, </a:t>
            </a:r>
            <a:r>
              <a:rPr sz="2600" dirty="0">
                <a:latin typeface="Perpetua"/>
                <a:cs typeface="Perpetua"/>
              </a:rPr>
              <a:t>and  a </a:t>
            </a:r>
            <a:r>
              <a:rPr sz="2600" b="1" dirty="0">
                <a:latin typeface="Perpetua"/>
                <a:cs typeface="Perpetua"/>
              </a:rPr>
              <a:t>loud</a:t>
            </a:r>
            <a:r>
              <a:rPr sz="2600" b="1" spc="-15" dirty="0">
                <a:latin typeface="Perpetua"/>
                <a:cs typeface="Perpetua"/>
              </a:rPr>
              <a:t> </a:t>
            </a:r>
            <a:r>
              <a:rPr sz="2600" spc="-80" dirty="0">
                <a:latin typeface="Perpetua"/>
                <a:cs typeface="Perpetua"/>
              </a:rPr>
              <a:t>meow.</a:t>
            </a:r>
            <a:endParaRPr sz="2600">
              <a:latin typeface="Perpetua"/>
              <a:cs typeface="Perpetua"/>
            </a:endParaRPr>
          </a:p>
          <a:p>
            <a:pPr marL="346075" algn="just">
              <a:lnSpc>
                <a:spcPct val="100000"/>
              </a:lnSpc>
              <a:spcBef>
                <a:spcPts val="600"/>
              </a:spcBef>
            </a:pPr>
            <a:r>
              <a:rPr sz="2600" b="1" dirty="0">
                <a:latin typeface="Perpetua"/>
                <a:cs typeface="Perpetua"/>
              </a:rPr>
              <a:t>These details are </a:t>
            </a:r>
            <a:r>
              <a:rPr sz="2600" b="1" spc="-15" dirty="0">
                <a:latin typeface="Perpetua"/>
                <a:cs typeface="Perpetua"/>
              </a:rPr>
              <a:t>known </a:t>
            </a:r>
            <a:r>
              <a:rPr sz="2600" b="1" spc="-5" dirty="0">
                <a:latin typeface="Perpetua"/>
                <a:cs typeface="Perpetua"/>
              </a:rPr>
              <a:t>as</a:t>
            </a:r>
            <a:r>
              <a:rPr sz="2600" b="1" spc="-15" dirty="0">
                <a:latin typeface="Perpetua"/>
                <a:cs typeface="Perpetua"/>
              </a:rPr>
              <a:t> </a:t>
            </a:r>
            <a:r>
              <a:rPr sz="2600" b="1" spc="-5" dirty="0">
                <a:latin typeface="Perpetua"/>
                <a:cs typeface="Perpetua"/>
              </a:rPr>
              <a:t>specifics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6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469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7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76630"/>
            <a:ext cx="8544560" cy="5391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dirty="0">
                <a:latin typeface="Perpetua"/>
                <a:cs typeface="Perpetua"/>
              </a:rPr>
              <a:t>order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basic </a:t>
            </a:r>
            <a:r>
              <a:rPr sz="2600" spc="-10" dirty="0">
                <a:latin typeface="Perpetua"/>
                <a:cs typeface="Perpetua"/>
              </a:rPr>
              <a:t>cat,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b="1" spc="-5" dirty="0">
                <a:latin typeface="Perpetua"/>
                <a:cs typeface="Perpetua"/>
              </a:rPr>
              <a:t>do </a:t>
            </a:r>
            <a:r>
              <a:rPr sz="2600" dirty="0">
                <a:latin typeface="Perpetua"/>
                <a:cs typeface="Perpetua"/>
              </a:rPr>
              <a:t>need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know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it has a tail,  </a:t>
            </a:r>
            <a:r>
              <a:rPr sz="2600" spc="-5" dirty="0">
                <a:latin typeface="Perpetua"/>
                <a:cs typeface="Perpetua"/>
              </a:rPr>
              <a:t>fur and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eyes.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These </a:t>
            </a:r>
            <a:r>
              <a:rPr sz="2600" spc="5" dirty="0">
                <a:latin typeface="Perpetua"/>
                <a:cs typeface="Perpetua"/>
              </a:rPr>
              <a:t>characteristics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relevant.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b="1" dirty="0">
                <a:latin typeface="Perpetua"/>
                <a:cs typeface="Perpetua"/>
              </a:rPr>
              <a:t>don't </a:t>
            </a:r>
            <a:r>
              <a:rPr sz="2600" dirty="0">
                <a:latin typeface="Perpetua"/>
                <a:cs typeface="Perpetua"/>
              </a:rPr>
              <a:t>need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0" dirty="0">
                <a:latin typeface="Perpetua"/>
                <a:cs typeface="Perpetua"/>
              </a:rPr>
              <a:t>know </a:t>
            </a:r>
            <a:r>
              <a:rPr sz="2600" spc="-5" dirty="0">
                <a:latin typeface="Perpetua"/>
                <a:cs typeface="Perpetua"/>
              </a:rPr>
              <a:t>what sound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cat </a:t>
            </a:r>
            <a:r>
              <a:rPr sz="2600" spc="-10" dirty="0">
                <a:latin typeface="Perpetua"/>
                <a:cs typeface="Perpetua"/>
              </a:rPr>
              <a:t>makes </a:t>
            </a:r>
            <a:r>
              <a:rPr sz="2600" spc="-5" dirty="0">
                <a:latin typeface="Perpetua"/>
                <a:cs typeface="Perpetua"/>
              </a:rPr>
              <a:t>or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10" dirty="0">
                <a:latin typeface="Perpetua"/>
                <a:cs typeface="Perpetua"/>
              </a:rPr>
              <a:t>likes</a:t>
            </a:r>
            <a:r>
              <a:rPr sz="2600" spc="1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fish.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These </a:t>
            </a:r>
            <a:r>
              <a:rPr sz="2600" spc="5" dirty="0">
                <a:latin typeface="Perpetua"/>
                <a:cs typeface="Perpetua"/>
              </a:rPr>
              <a:t>characteristics </a:t>
            </a:r>
            <a:r>
              <a:rPr sz="2600" spc="-10" dirty="0">
                <a:latin typeface="Perpetua"/>
                <a:cs typeface="Perpetua"/>
              </a:rPr>
              <a:t>are irrelevant </a:t>
            </a:r>
            <a:r>
              <a:rPr sz="2600" spc="-5" dirty="0">
                <a:latin typeface="Perpetua"/>
                <a:cs typeface="Perpetua"/>
              </a:rPr>
              <a:t>and can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filtered </a:t>
            </a:r>
            <a:r>
              <a:rPr sz="2600" spc="-10" dirty="0">
                <a:latin typeface="Perpetua"/>
                <a:cs typeface="Perpetua"/>
              </a:rPr>
              <a:t>out.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b="1" spc="-5" dirty="0">
                <a:latin typeface="Perpetua"/>
                <a:cs typeface="Perpetua"/>
              </a:rPr>
              <a:t>do </a:t>
            </a:r>
            <a:r>
              <a:rPr sz="2600" dirty="0">
                <a:latin typeface="Perpetua"/>
                <a:cs typeface="Perpetua"/>
              </a:rPr>
              <a:t>need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0" dirty="0">
                <a:latin typeface="Perpetua"/>
                <a:cs typeface="Perpetua"/>
              </a:rPr>
              <a:t>know </a:t>
            </a:r>
            <a:r>
              <a:rPr sz="2600" spc="-5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cat </a:t>
            </a:r>
            <a:r>
              <a:rPr sz="2600" dirty="0">
                <a:latin typeface="Perpetua"/>
                <a:cs typeface="Perpetua"/>
              </a:rPr>
              <a:t>has a tail, </a:t>
            </a:r>
            <a:r>
              <a:rPr sz="2600" spc="-5" dirty="0">
                <a:latin typeface="Perpetua"/>
                <a:cs typeface="Perpetua"/>
              </a:rPr>
              <a:t>fur and </a:t>
            </a:r>
            <a:r>
              <a:rPr sz="2600" spc="-15" dirty="0">
                <a:latin typeface="Perpetua"/>
                <a:cs typeface="Perpetua"/>
              </a:rPr>
              <a:t>eyes, </a:t>
            </a: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spc="-50" dirty="0">
                <a:latin typeface="Perpetua"/>
                <a:cs typeface="Perpetua"/>
              </a:rPr>
              <a:t>we</a:t>
            </a:r>
            <a:r>
              <a:rPr sz="2600" spc="15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don't</a:t>
            </a:r>
            <a:endParaRPr sz="26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600" dirty="0">
                <a:latin typeface="Perpetua"/>
                <a:cs typeface="Perpetua"/>
              </a:rPr>
              <a:t>need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0" dirty="0">
                <a:latin typeface="Perpetua"/>
                <a:cs typeface="Perpetua"/>
              </a:rPr>
              <a:t>know </a:t>
            </a: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dirty="0">
                <a:latin typeface="Perpetua"/>
                <a:cs typeface="Perpetua"/>
              </a:rPr>
              <a:t>size </a:t>
            </a:r>
            <a:r>
              <a:rPr sz="2600" spc="-5" dirty="0">
                <a:latin typeface="Perpetua"/>
                <a:cs typeface="Perpetua"/>
              </a:rPr>
              <a:t>and colour </a:t>
            </a:r>
            <a:r>
              <a:rPr sz="2600" dirty="0">
                <a:latin typeface="Perpetua"/>
                <a:cs typeface="Perpetua"/>
              </a:rPr>
              <a:t>these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are.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These </a:t>
            </a:r>
            <a:r>
              <a:rPr sz="2600" spc="-5" dirty="0">
                <a:latin typeface="Perpetua"/>
                <a:cs typeface="Perpetua"/>
              </a:rPr>
              <a:t>specifics can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filtered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out.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general </a:t>
            </a:r>
            <a:r>
              <a:rPr sz="2600" spc="5" dirty="0">
                <a:latin typeface="Perpetua"/>
                <a:cs typeface="Perpetua"/>
              </a:rPr>
              <a:t>characteristics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(tail, </a:t>
            </a:r>
            <a:r>
              <a:rPr sz="2600" spc="-60" dirty="0">
                <a:latin typeface="Perpetua"/>
                <a:cs typeface="Perpetua"/>
              </a:rPr>
              <a:t>fur,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eyes)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build </a:t>
            </a:r>
            <a:r>
              <a:rPr sz="2600" dirty="0">
                <a:latin typeface="Perpetua"/>
                <a:cs typeface="Perpetua"/>
              </a:rPr>
              <a:t>a basic idea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cat, </a:t>
            </a:r>
            <a:r>
              <a:rPr sz="2600" dirty="0">
                <a:latin typeface="Perpetua"/>
                <a:cs typeface="Perpetua"/>
              </a:rPr>
              <a:t>ie </a:t>
            </a: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cat </a:t>
            </a:r>
            <a:r>
              <a:rPr sz="2600" spc="-10" dirty="0">
                <a:latin typeface="Perpetua"/>
                <a:cs typeface="Perpetua"/>
              </a:rPr>
              <a:t>basically </a:t>
            </a:r>
            <a:r>
              <a:rPr sz="2600" spc="-5" dirty="0">
                <a:latin typeface="Perpetua"/>
                <a:cs typeface="Perpetua"/>
              </a:rPr>
              <a:t>looks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like.</a:t>
            </a:r>
            <a:endParaRPr sz="2600">
              <a:latin typeface="Perpetua"/>
              <a:cs typeface="Perpetua"/>
            </a:endParaRPr>
          </a:p>
          <a:p>
            <a:pPr marL="286385" marR="19685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Once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20" dirty="0">
                <a:latin typeface="Perpetua"/>
                <a:cs typeface="Perpetua"/>
              </a:rPr>
              <a:t>know </a:t>
            </a: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cat </a:t>
            </a:r>
            <a:r>
              <a:rPr sz="2600" spc="-5" dirty="0">
                <a:latin typeface="Perpetua"/>
                <a:cs typeface="Perpetua"/>
              </a:rPr>
              <a:t>looks </a:t>
            </a:r>
            <a:r>
              <a:rPr sz="2600" spc="-10" dirty="0">
                <a:latin typeface="Perpetua"/>
                <a:cs typeface="Perpetua"/>
              </a:rPr>
              <a:t>like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spc="5" dirty="0">
                <a:latin typeface="Perpetua"/>
                <a:cs typeface="Perpetua"/>
              </a:rPr>
              <a:t>describe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 basic</a:t>
            </a:r>
            <a:r>
              <a:rPr sz="2600" spc="-10" dirty="0">
                <a:latin typeface="Perpetua"/>
                <a:cs typeface="Perpetua"/>
              </a:rPr>
              <a:t> cat.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433525"/>
            <a:ext cx="8528685" cy="3502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With </a:t>
            </a:r>
            <a:r>
              <a:rPr sz="2600" spc="-5" dirty="0">
                <a:latin typeface="Perpetua"/>
                <a:cs typeface="Perpetua"/>
              </a:rPr>
              <a:t>our </a:t>
            </a:r>
            <a:r>
              <a:rPr sz="2600" spc="-10" dirty="0">
                <a:latin typeface="Perpetua"/>
                <a:cs typeface="Perpetua"/>
              </a:rPr>
              <a:t>cat example, </a:t>
            </a: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25" dirty="0">
                <a:latin typeface="Perpetua"/>
                <a:cs typeface="Perpetua"/>
              </a:rPr>
              <a:t>didn’t </a:t>
            </a:r>
            <a:r>
              <a:rPr sz="2600" spc="-5" dirty="0">
                <a:latin typeface="Perpetua"/>
                <a:cs typeface="Perpetua"/>
              </a:rPr>
              <a:t>abstract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might think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all  </a:t>
            </a:r>
            <a:r>
              <a:rPr sz="2600" spc="-10" dirty="0">
                <a:latin typeface="Perpetua"/>
                <a:cs typeface="Perpetua"/>
              </a:rPr>
              <a:t>cats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long </a:t>
            </a:r>
            <a:r>
              <a:rPr sz="2600" dirty="0">
                <a:latin typeface="Perpetua"/>
                <a:cs typeface="Perpetua"/>
              </a:rPr>
              <a:t>tails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15" dirty="0">
                <a:latin typeface="Perpetua"/>
                <a:cs typeface="Perpetua"/>
              </a:rPr>
              <a:t>short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60" dirty="0">
                <a:latin typeface="Perpetua"/>
                <a:cs typeface="Perpetua"/>
              </a:rPr>
              <a:t>fur.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Having </a:t>
            </a:r>
            <a:r>
              <a:rPr sz="2600" spc="-5" dirty="0">
                <a:latin typeface="Perpetua"/>
                <a:cs typeface="Perpetua"/>
              </a:rPr>
              <a:t>abstracted,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20" dirty="0">
                <a:latin typeface="Perpetua"/>
                <a:cs typeface="Perpetua"/>
              </a:rPr>
              <a:t>know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although </a:t>
            </a:r>
            <a:r>
              <a:rPr sz="2600" spc="-10" dirty="0">
                <a:latin typeface="Perpetua"/>
                <a:cs typeface="Perpetua"/>
              </a:rPr>
              <a:t>cats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tails and </a:t>
            </a:r>
            <a:r>
              <a:rPr sz="2600" spc="-60" dirty="0">
                <a:latin typeface="Perpetua"/>
                <a:cs typeface="Perpetua"/>
              </a:rPr>
              <a:t>fur, </a:t>
            </a:r>
            <a:r>
              <a:rPr sz="2600" spc="-5" dirty="0">
                <a:latin typeface="Perpetua"/>
                <a:cs typeface="Perpetua"/>
              </a:rPr>
              <a:t>not  all </a:t>
            </a:r>
            <a:r>
              <a:rPr sz="2600" dirty="0">
                <a:latin typeface="Perpetua"/>
                <a:cs typeface="Perpetua"/>
              </a:rPr>
              <a:t>tails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long and not all fur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15" dirty="0">
                <a:latin typeface="Perpetua"/>
                <a:cs typeface="Perpetua"/>
              </a:rPr>
              <a:t>short.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10" dirty="0">
                <a:latin typeface="Perpetua"/>
                <a:cs typeface="Perpetua"/>
              </a:rPr>
              <a:t>case, </a:t>
            </a:r>
            <a:r>
              <a:rPr sz="2600" spc="-5" dirty="0">
                <a:latin typeface="Perpetua"/>
                <a:cs typeface="Perpetua"/>
              </a:rPr>
              <a:t>abstraction </a:t>
            </a:r>
            <a:r>
              <a:rPr sz="2600" dirty="0">
                <a:latin typeface="Perpetua"/>
                <a:cs typeface="Perpetua"/>
              </a:rPr>
              <a:t>has helped </a:t>
            </a:r>
            <a:r>
              <a:rPr sz="2600" spc="-5" dirty="0">
                <a:latin typeface="Perpetua"/>
                <a:cs typeface="Perpetua"/>
              </a:rPr>
              <a:t>us to </a:t>
            </a:r>
            <a:r>
              <a:rPr sz="2600" spc="15" dirty="0">
                <a:latin typeface="Perpetua"/>
                <a:cs typeface="Perpetua"/>
              </a:rPr>
              <a:t>form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clearer model of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10" dirty="0">
                <a:latin typeface="Perpetua"/>
                <a:cs typeface="Perpetua"/>
              </a:rPr>
              <a:t>cat.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8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4880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How </a:t>
            </a:r>
            <a:r>
              <a:rPr dirty="0"/>
              <a:t>to </a:t>
            </a:r>
            <a:r>
              <a:rPr spc="10" dirty="0"/>
              <a:t>perform</a:t>
            </a:r>
            <a:r>
              <a:rPr spc="-295" dirty="0"/>
              <a:t> </a:t>
            </a:r>
            <a:r>
              <a:rPr spc="-5" dirty="0"/>
              <a:t>Abstraction?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9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76630"/>
            <a:ext cx="8531860" cy="4766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Abstraction </a:t>
            </a:r>
            <a:r>
              <a:rPr sz="2600" dirty="0">
                <a:latin typeface="Perpetua"/>
                <a:cs typeface="Perpetua"/>
              </a:rPr>
              <a:t>is the gathering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general </a:t>
            </a:r>
            <a:r>
              <a:rPr sz="2600" spc="5" dirty="0">
                <a:latin typeface="Perpetua"/>
                <a:cs typeface="Perpetua"/>
              </a:rPr>
              <a:t>characteristics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need  and </a:t>
            </a:r>
            <a:r>
              <a:rPr sz="2600" dirty="0">
                <a:latin typeface="Perpetua"/>
                <a:cs typeface="Perpetua"/>
              </a:rPr>
              <a:t>the filtering </a:t>
            </a:r>
            <a:r>
              <a:rPr sz="2600" spc="-5" dirty="0">
                <a:latin typeface="Perpetua"/>
                <a:cs typeface="Perpetua"/>
              </a:rPr>
              <a:t>out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details </a:t>
            </a:r>
            <a:r>
              <a:rPr sz="2600" spc="-10" dirty="0">
                <a:latin typeface="Perpetua"/>
                <a:cs typeface="Perpetua"/>
              </a:rPr>
              <a:t>and </a:t>
            </a:r>
            <a:r>
              <a:rPr sz="2600" spc="5" dirty="0">
                <a:latin typeface="Perpetua"/>
                <a:cs typeface="Perpetua"/>
              </a:rPr>
              <a:t>characteristics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do </a:t>
            </a:r>
            <a:r>
              <a:rPr sz="2600" spc="-10" dirty="0">
                <a:latin typeface="Perpetua"/>
                <a:cs typeface="Perpetua"/>
              </a:rPr>
              <a:t>not  </a:t>
            </a:r>
            <a:r>
              <a:rPr sz="2600" spc="-5" dirty="0">
                <a:latin typeface="Perpetua"/>
                <a:cs typeface="Perpetua"/>
              </a:rPr>
              <a:t>need.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spc="-5" dirty="0">
                <a:latin typeface="Perpetua"/>
                <a:cs typeface="Perpetua"/>
              </a:rPr>
              <a:t>Example</a:t>
            </a:r>
            <a:endParaRPr sz="2600">
              <a:latin typeface="Perpetua"/>
              <a:cs typeface="Perpetua"/>
            </a:endParaRPr>
          </a:p>
          <a:p>
            <a:pPr marL="286385" marR="6985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When </a:t>
            </a:r>
            <a:r>
              <a:rPr sz="2600" spc="-5" dirty="0">
                <a:latin typeface="Perpetua"/>
                <a:cs typeface="Perpetua"/>
              </a:rPr>
              <a:t>baking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20" dirty="0">
                <a:latin typeface="Perpetua"/>
                <a:cs typeface="Perpetua"/>
              </a:rPr>
              <a:t>cake, </a:t>
            </a:r>
            <a:r>
              <a:rPr sz="2600" spc="-5" dirty="0">
                <a:latin typeface="Perpetua"/>
                <a:cs typeface="Perpetua"/>
              </a:rPr>
              <a:t>there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some general </a:t>
            </a:r>
            <a:r>
              <a:rPr sz="2600" spc="5" dirty="0">
                <a:latin typeface="Perpetua"/>
                <a:cs typeface="Perpetua"/>
              </a:rPr>
              <a:t>characteristics </a:t>
            </a:r>
            <a:r>
              <a:rPr sz="2600" spc="-15" dirty="0">
                <a:latin typeface="Perpetua"/>
                <a:cs typeface="Perpetua"/>
              </a:rPr>
              <a:t>between  </a:t>
            </a:r>
            <a:r>
              <a:rPr sz="2600" spc="-20" dirty="0">
                <a:latin typeface="Perpetua"/>
                <a:cs typeface="Perpetua"/>
              </a:rPr>
              <a:t>cakes.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cake </a:t>
            </a:r>
            <a:r>
              <a:rPr sz="2600" spc="-5" dirty="0">
                <a:latin typeface="Perpetua"/>
                <a:cs typeface="Perpetua"/>
              </a:rPr>
              <a:t>needs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ingredients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ingredient </a:t>
            </a:r>
            <a:r>
              <a:rPr sz="2600" spc="-5" dirty="0">
                <a:latin typeface="Perpetua"/>
                <a:cs typeface="Perpetua"/>
              </a:rPr>
              <a:t>needs </a:t>
            </a:r>
            <a:r>
              <a:rPr sz="2600" dirty="0">
                <a:latin typeface="Perpetua"/>
                <a:cs typeface="Perpetua"/>
              </a:rPr>
              <a:t>a specified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quantity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cake </a:t>
            </a:r>
            <a:r>
              <a:rPr sz="2600" spc="-5" dirty="0">
                <a:latin typeface="Perpetua"/>
                <a:cs typeface="Perpetua"/>
              </a:rPr>
              <a:t>needs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timings</a:t>
            </a:r>
            <a:endParaRPr sz="2600">
              <a:latin typeface="Perpetua"/>
              <a:cs typeface="Perpetua"/>
            </a:endParaRPr>
          </a:p>
          <a:p>
            <a:pPr marL="286385" marR="635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When </a:t>
            </a:r>
            <a:r>
              <a:rPr sz="2600" spc="-10" dirty="0">
                <a:latin typeface="Perpetua"/>
                <a:cs typeface="Perpetua"/>
              </a:rPr>
              <a:t>abstracting,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25" dirty="0">
                <a:latin typeface="Perpetua"/>
                <a:cs typeface="Perpetua"/>
              </a:rPr>
              <a:t>remove </a:t>
            </a:r>
            <a:r>
              <a:rPr sz="2600" spc="-5" dirty="0">
                <a:latin typeface="Perpetua"/>
                <a:cs typeface="Perpetua"/>
              </a:rPr>
              <a:t>specific details and </a:t>
            </a:r>
            <a:r>
              <a:rPr sz="2600" spc="-10" dirty="0">
                <a:latin typeface="Perpetua"/>
                <a:cs typeface="Perpetua"/>
              </a:rPr>
              <a:t>keep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general  </a:t>
            </a:r>
            <a:r>
              <a:rPr sz="2600" spc="-15" dirty="0">
                <a:latin typeface="Perpetua"/>
                <a:cs typeface="Perpetua"/>
              </a:rPr>
              <a:t>relevant </a:t>
            </a:r>
            <a:r>
              <a:rPr sz="2600" spc="-5" dirty="0">
                <a:latin typeface="Perpetua"/>
                <a:cs typeface="Perpetua"/>
              </a:rPr>
              <a:t>patterns.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7248" y="526468"/>
          <a:ext cx="8511540" cy="46479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1145"/>
                <a:gridCol w="4430395"/>
              </a:tblGrid>
              <a:tr h="553935">
                <a:tc>
                  <a:txBody>
                    <a:bodyPr/>
                    <a:lstStyle/>
                    <a:p>
                      <a:pPr marL="1131570">
                        <a:lnSpc>
                          <a:spcPts val="2450"/>
                        </a:lnSpc>
                      </a:pPr>
                      <a:r>
                        <a:rPr sz="2400" b="1" dirty="0">
                          <a:latin typeface="Perpetua"/>
                          <a:cs typeface="Perpetua"/>
                        </a:rPr>
                        <a:t>General</a:t>
                      </a:r>
                      <a:r>
                        <a:rPr sz="2400" b="1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b="1" spc="5" dirty="0">
                          <a:latin typeface="Perpetua"/>
                          <a:cs typeface="Perpetua"/>
                        </a:rPr>
                        <a:t>patterns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7170" algn="ctr">
                        <a:lnSpc>
                          <a:spcPts val="2450"/>
                        </a:lnSpc>
                      </a:pPr>
                      <a:r>
                        <a:rPr sz="2400" b="1" spc="-5" dirty="0">
                          <a:latin typeface="Perpetua"/>
                          <a:cs typeface="Perpetua"/>
                        </a:rPr>
                        <a:t>Specific</a:t>
                      </a:r>
                      <a:r>
                        <a:rPr sz="2400" b="1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b="1" dirty="0">
                          <a:latin typeface="Perpetua"/>
                          <a:cs typeface="Perpetua"/>
                        </a:rPr>
                        <a:t>details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</a:tr>
              <a:tr h="1280922">
                <a:tc>
                  <a:txBody>
                    <a:bodyPr/>
                    <a:lstStyle/>
                    <a:p>
                      <a:pPr marL="127000" marR="375920">
                        <a:lnSpc>
                          <a:spcPct val="114999"/>
                        </a:lnSpc>
                        <a:spcBef>
                          <a:spcPts val="745"/>
                        </a:spcBef>
                      </a:pPr>
                      <a:r>
                        <a:rPr sz="2400" spc="-135" dirty="0">
                          <a:latin typeface="Perpetua"/>
                          <a:cs typeface="Perpetua"/>
                        </a:rPr>
                        <a:t>We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need to </a:t>
                      </a:r>
                      <a:r>
                        <a:rPr sz="2400" spc="-15" dirty="0">
                          <a:latin typeface="Perpetua"/>
                          <a:cs typeface="Perpetua"/>
                        </a:rPr>
                        <a:t>know </a:t>
                      </a:r>
                      <a:r>
                        <a:rPr sz="2400" spc="-5" dirty="0">
                          <a:latin typeface="Perpetua"/>
                          <a:cs typeface="Perpetua"/>
                        </a:rPr>
                        <a:t>that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a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cake </a:t>
                      </a:r>
                      <a:r>
                        <a:rPr sz="2400" spc="-5" dirty="0">
                          <a:latin typeface="Perpetua"/>
                          <a:cs typeface="Perpetua"/>
                        </a:rPr>
                        <a:t>has 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ingredients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94615" marB="0"/>
                </a:tc>
                <a:tc>
                  <a:txBody>
                    <a:bodyPr/>
                    <a:lstStyle/>
                    <a:p>
                      <a:pPr marL="237490" marR="364490">
                        <a:lnSpc>
                          <a:spcPct val="114999"/>
                        </a:lnSpc>
                        <a:spcBef>
                          <a:spcPts val="745"/>
                        </a:spcBef>
                      </a:pPr>
                      <a:r>
                        <a:rPr sz="2400" spc="-135" dirty="0">
                          <a:latin typeface="Perpetua"/>
                          <a:cs typeface="Perpetua"/>
                        </a:rPr>
                        <a:t>We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don't need to </a:t>
                      </a:r>
                      <a:r>
                        <a:rPr sz="2400" spc="-20" dirty="0">
                          <a:latin typeface="Perpetua"/>
                          <a:cs typeface="Perpetua"/>
                        </a:rPr>
                        <a:t>know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what </a:t>
                      </a:r>
                      <a:r>
                        <a:rPr sz="2400" spc="-5" dirty="0">
                          <a:latin typeface="Perpetua"/>
                          <a:cs typeface="Perpetua"/>
                        </a:rPr>
                        <a:t>those 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ingredients</a:t>
                      </a:r>
                      <a:r>
                        <a:rPr sz="2400" spc="-2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are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94615" marB="0"/>
                </a:tc>
              </a:tr>
              <a:tr h="1559687">
                <a:tc>
                  <a:txBody>
                    <a:bodyPr/>
                    <a:lstStyle/>
                    <a:p>
                      <a:pPr marL="127000" marR="229870">
                        <a:lnSpc>
                          <a:spcPct val="114999"/>
                        </a:lnSpc>
                        <a:spcBef>
                          <a:spcPts val="1545"/>
                        </a:spcBef>
                      </a:pPr>
                      <a:r>
                        <a:rPr sz="2400" spc="-135" dirty="0">
                          <a:latin typeface="Perpetua"/>
                          <a:cs typeface="Perpetua"/>
                        </a:rPr>
                        <a:t>We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need to </a:t>
                      </a:r>
                      <a:r>
                        <a:rPr sz="2400" spc="-15" dirty="0">
                          <a:latin typeface="Perpetua"/>
                          <a:cs typeface="Perpetua"/>
                        </a:rPr>
                        <a:t>know </a:t>
                      </a:r>
                      <a:r>
                        <a:rPr sz="2400" spc="-5" dirty="0">
                          <a:latin typeface="Perpetua"/>
                          <a:cs typeface="Perpetua"/>
                        </a:rPr>
                        <a:t>that </a:t>
                      </a:r>
                      <a:r>
                        <a:rPr sz="2400" spc="10" dirty="0">
                          <a:latin typeface="Perpetua"/>
                          <a:cs typeface="Perpetua"/>
                        </a:rPr>
                        <a:t>each 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ingredient has a specified</a:t>
                      </a:r>
                      <a:r>
                        <a:rPr sz="2400" spc="-9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5" dirty="0">
                          <a:latin typeface="Perpetua"/>
                          <a:cs typeface="Perpetua"/>
                        </a:rPr>
                        <a:t>quantity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196215" marB="0"/>
                </a:tc>
                <a:tc>
                  <a:txBody>
                    <a:bodyPr/>
                    <a:lstStyle/>
                    <a:p>
                      <a:pPr marL="237490" marR="508634">
                        <a:lnSpc>
                          <a:spcPct val="114999"/>
                        </a:lnSpc>
                        <a:spcBef>
                          <a:spcPts val="1545"/>
                        </a:spcBef>
                      </a:pPr>
                      <a:r>
                        <a:rPr sz="2400" spc="-135" dirty="0">
                          <a:latin typeface="Perpetua"/>
                          <a:cs typeface="Perpetua"/>
                        </a:rPr>
                        <a:t>We </a:t>
                      </a:r>
                      <a:r>
                        <a:rPr sz="2400" spc="-25" dirty="0">
                          <a:latin typeface="Perpetua"/>
                          <a:cs typeface="Perpetua"/>
                        </a:rPr>
                        <a:t>don’t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need to </a:t>
                      </a:r>
                      <a:r>
                        <a:rPr sz="2400" spc="-20" dirty="0">
                          <a:latin typeface="Perpetua"/>
                          <a:cs typeface="Perpetua"/>
                        </a:rPr>
                        <a:t>know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what that  </a:t>
                      </a:r>
                      <a:r>
                        <a:rPr sz="2400" spc="-5" dirty="0">
                          <a:latin typeface="Perpetua"/>
                          <a:cs typeface="Perpetua"/>
                        </a:rPr>
                        <a:t>quantity</a:t>
                      </a:r>
                      <a:r>
                        <a:rPr sz="2400" spc="-2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is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196215" marB="0"/>
                </a:tc>
              </a:tr>
              <a:tr h="12534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127000" marR="403860">
                        <a:lnSpc>
                          <a:spcPct val="114999"/>
                        </a:lnSpc>
                        <a:spcBef>
                          <a:spcPts val="5"/>
                        </a:spcBef>
                      </a:pPr>
                      <a:r>
                        <a:rPr sz="2400" spc="-135" dirty="0">
                          <a:latin typeface="Perpetua"/>
                          <a:cs typeface="Perpetua"/>
                        </a:rPr>
                        <a:t>We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need to </a:t>
                      </a:r>
                      <a:r>
                        <a:rPr sz="2400" spc="-15" dirty="0">
                          <a:latin typeface="Perpetua"/>
                          <a:cs typeface="Perpetua"/>
                        </a:rPr>
                        <a:t>know </a:t>
                      </a:r>
                      <a:r>
                        <a:rPr sz="2400" spc="-5" dirty="0">
                          <a:latin typeface="Perpetua"/>
                          <a:cs typeface="Perpetua"/>
                        </a:rPr>
                        <a:t>that </a:t>
                      </a:r>
                      <a:r>
                        <a:rPr sz="2400" spc="10" dirty="0">
                          <a:latin typeface="Perpetua"/>
                          <a:cs typeface="Perpetua"/>
                        </a:rPr>
                        <a:t>each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cake 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needs a specified </a:t>
                      </a:r>
                      <a:r>
                        <a:rPr sz="2400" spc="-5" dirty="0">
                          <a:latin typeface="Perpetua"/>
                          <a:cs typeface="Perpetua"/>
                        </a:rPr>
                        <a:t>time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to</a:t>
                      </a:r>
                      <a:r>
                        <a:rPr sz="2400" spc="-2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bake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237490" marR="119380">
                        <a:lnSpc>
                          <a:spcPct val="114999"/>
                        </a:lnSpc>
                        <a:spcBef>
                          <a:spcPts val="5"/>
                        </a:spcBef>
                      </a:pPr>
                      <a:r>
                        <a:rPr sz="2400" spc="-135" dirty="0">
                          <a:latin typeface="Perpetua"/>
                          <a:cs typeface="Perpetua"/>
                        </a:rPr>
                        <a:t>We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don't need to </a:t>
                      </a:r>
                      <a:r>
                        <a:rPr sz="2400" spc="-20" dirty="0">
                          <a:latin typeface="Perpetua"/>
                          <a:cs typeface="Perpetua"/>
                        </a:rPr>
                        <a:t>know </a:t>
                      </a:r>
                      <a:r>
                        <a:rPr sz="2400" spc="-25" dirty="0">
                          <a:latin typeface="Perpetua"/>
                          <a:cs typeface="Perpetua"/>
                        </a:rPr>
                        <a:t>how </a:t>
                      </a:r>
                      <a:r>
                        <a:rPr sz="2400" spc="-5" dirty="0">
                          <a:latin typeface="Perpetua"/>
                          <a:cs typeface="Perpetua"/>
                        </a:rPr>
                        <a:t>long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the  time</a:t>
                      </a:r>
                      <a:r>
                        <a:rPr sz="2400" spc="-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is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635" marB="0"/>
                </a:tc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10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70" dirty="0"/>
              <a:t> </a:t>
            </a:r>
            <a:r>
              <a:rPr spc="-5" dirty="0"/>
              <a:t>CSE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5636158"/>
            <a:ext cx="799592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3360" indent="-201295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"/>
              <a:tabLst>
                <a:tab pos="213995" algn="l"/>
              </a:tabLst>
            </a:pPr>
            <a:r>
              <a:rPr sz="2000" b="1" i="1" spc="-120" dirty="0">
                <a:solidFill>
                  <a:srgbClr val="C00000"/>
                </a:solidFill>
                <a:latin typeface="Perpetua"/>
                <a:cs typeface="Perpetua"/>
              </a:rPr>
              <a:t>To</a:t>
            </a:r>
            <a:r>
              <a:rPr sz="2000" b="1" i="1" spc="6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spc="-20" dirty="0">
                <a:solidFill>
                  <a:srgbClr val="C00000"/>
                </a:solidFill>
                <a:latin typeface="Perpetua"/>
                <a:cs typeface="Perpetua"/>
              </a:rPr>
              <a:t>find</a:t>
            </a:r>
            <a:r>
              <a:rPr sz="2000" b="1" i="1" spc="5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Perpetua"/>
                <a:cs typeface="Perpetua"/>
              </a:rPr>
              <a:t>patterns</a:t>
            </a:r>
            <a:r>
              <a:rPr sz="2000" b="1" i="1" spc="6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Perpetua"/>
                <a:cs typeface="Perpetua"/>
              </a:rPr>
              <a:t>among</a:t>
            </a:r>
            <a:r>
              <a:rPr sz="2000" b="1" i="1" spc="6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Perpetua"/>
                <a:cs typeface="Perpetua"/>
              </a:rPr>
              <a:t>problems</a:t>
            </a:r>
            <a:r>
              <a:rPr sz="2000" b="1" i="1" spc="6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spc="-20" dirty="0">
                <a:solidFill>
                  <a:srgbClr val="C00000"/>
                </a:solidFill>
                <a:latin typeface="Perpetua"/>
                <a:cs typeface="Perpetua"/>
              </a:rPr>
              <a:t>we</a:t>
            </a:r>
            <a:r>
              <a:rPr sz="2000" b="1" i="1" spc="6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Perpetua"/>
                <a:cs typeface="Perpetua"/>
              </a:rPr>
              <a:t>look</a:t>
            </a:r>
            <a:r>
              <a:rPr sz="2000" b="1" i="1" spc="5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spc="-20" dirty="0">
                <a:solidFill>
                  <a:srgbClr val="C00000"/>
                </a:solidFill>
                <a:latin typeface="Perpetua"/>
                <a:cs typeface="Perpetua"/>
              </a:rPr>
              <a:t>for</a:t>
            </a:r>
            <a:r>
              <a:rPr sz="2000" b="1" i="1" spc="5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Perpetua"/>
                <a:cs typeface="Perpetua"/>
              </a:rPr>
              <a:t>things</a:t>
            </a:r>
            <a:r>
              <a:rPr sz="2000" b="1" i="1" spc="6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Perpetua"/>
                <a:cs typeface="Perpetua"/>
              </a:rPr>
              <a:t>that</a:t>
            </a:r>
            <a:r>
              <a:rPr sz="2000" b="1" i="1" spc="6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Perpetua"/>
                <a:cs typeface="Perpetua"/>
              </a:rPr>
              <a:t>are</a:t>
            </a:r>
            <a:r>
              <a:rPr sz="2000" b="1" i="1" spc="6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Perpetua"/>
                <a:cs typeface="Perpetua"/>
              </a:rPr>
              <a:t>the</a:t>
            </a:r>
            <a:r>
              <a:rPr sz="2000" b="1" i="1" spc="7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Perpetua"/>
                <a:cs typeface="Perpetua"/>
              </a:rPr>
              <a:t>same</a:t>
            </a:r>
            <a:r>
              <a:rPr sz="2000" b="1" i="1" spc="6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Perpetua"/>
                <a:cs typeface="Perpetua"/>
              </a:rPr>
              <a:t>(or</a:t>
            </a:r>
            <a:r>
              <a:rPr sz="2000" b="1" i="1" spc="6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i="1" spc="-20" dirty="0">
                <a:solidFill>
                  <a:srgbClr val="C00000"/>
                </a:solidFill>
                <a:latin typeface="Perpetua"/>
                <a:cs typeface="Perpetua"/>
              </a:rPr>
              <a:t>very</a:t>
            </a:r>
            <a:endParaRPr sz="20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000" b="1" i="1" spc="-5" dirty="0">
                <a:solidFill>
                  <a:srgbClr val="C00000"/>
                </a:solidFill>
                <a:latin typeface="Perpetua"/>
                <a:cs typeface="Perpetua"/>
              </a:rPr>
              <a:t>similar) </a:t>
            </a:r>
            <a:r>
              <a:rPr sz="2000" b="1" i="1" spc="-20" dirty="0">
                <a:solidFill>
                  <a:srgbClr val="C00000"/>
                </a:solidFill>
                <a:latin typeface="Perpetua"/>
                <a:cs typeface="Perpetua"/>
              </a:rPr>
              <a:t>for </a:t>
            </a:r>
            <a:r>
              <a:rPr sz="2000" b="1" i="1" dirty="0">
                <a:solidFill>
                  <a:srgbClr val="C00000"/>
                </a:solidFill>
                <a:latin typeface="Perpetua"/>
                <a:cs typeface="Perpetua"/>
              </a:rPr>
              <a:t>each </a:t>
            </a:r>
            <a:r>
              <a:rPr sz="2000" b="1" i="1" spc="-10" dirty="0">
                <a:solidFill>
                  <a:srgbClr val="C00000"/>
                </a:solidFill>
                <a:latin typeface="Perpetua"/>
                <a:cs typeface="Perpetua"/>
              </a:rPr>
              <a:t>problem.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2860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Creating </a:t>
            </a:r>
            <a:r>
              <a:rPr dirty="0"/>
              <a:t>a</a:t>
            </a:r>
            <a:r>
              <a:rPr spc="-95" dirty="0"/>
              <a:t> </a:t>
            </a:r>
            <a:r>
              <a:rPr spc="-5" dirty="0"/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1659" y="5853325"/>
            <a:ext cx="3704590" cy="835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600" dirty="0">
                <a:latin typeface="Perpetua"/>
                <a:cs typeface="Perpetua"/>
              </a:rPr>
              <a:t>patterns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apply </a:t>
            </a:r>
            <a:r>
              <a:rPr sz="2600" spc="-5" dirty="0">
                <a:latin typeface="Perpetua"/>
                <a:cs typeface="Perpetua"/>
              </a:rPr>
              <a:t>to all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cakes.</a:t>
            </a:r>
            <a:endParaRPr sz="2600">
              <a:latin typeface="Perpetua"/>
              <a:cs typeface="Perpetua"/>
            </a:endParaRPr>
          </a:p>
          <a:p>
            <a:pPr marL="195580">
              <a:lnSpc>
                <a:spcPct val="100000"/>
              </a:lnSpc>
              <a:spcBef>
                <a:spcPts val="2255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15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976630"/>
            <a:ext cx="8529955" cy="4843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b="1" dirty="0">
                <a:latin typeface="Perpetua"/>
                <a:cs typeface="Perpetua"/>
              </a:rPr>
              <a:t>A model </a:t>
            </a:r>
            <a:r>
              <a:rPr sz="2600" b="1" spc="-5" dirty="0">
                <a:latin typeface="Perpetua"/>
                <a:cs typeface="Perpetua"/>
              </a:rPr>
              <a:t>is </a:t>
            </a:r>
            <a:r>
              <a:rPr sz="2600" b="1" dirty="0">
                <a:latin typeface="Perpetua"/>
                <a:cs typeface="Perpetua"/>
              </a:rPr>
              <a:t>a general </a:t>
            </a:r>
            <a:r>
              <a:rPr sz="2600" b="1" spc="-5" dirty="0">
                <a:latin typeface="Perpetua"/>
                <a:cs typeface="Perpetua"/>
              </a:rPr>
              <a:t>idea </a:t>
            </a:r>
            <a:r>
              <a:rPr sz="2600" b="1" dirty="0">
                <a:latin typeface="Perpetua"/>
                <a:cs typeface="Perpetua"/>
              </a:rPr>
              <a:t>of </a:t>
            </a:r>
            <a:r>
              <a:rPr sz="2600" b="1" spc="-5" dirty="0">
                <a:latin typeface="Perpetua"/>
                <a:cs typeface="Perpetua"/>
              </a:rPr>
              <a:t>the </a:t>
            </a:r>
            <a:r>
              <a:rPr sz="2600" b="1" spc="-10" dirty="0">
                <a:latin typeface="Perpetua"/>
                <a:cs typeface="Perpetua"/>
              </a:rPr>
              <a:t>problem </a:t>
            </a:r>
            <a:r>
              <a:rPr sz="2600" b="1" spc="-35" dirty="0">
                <a:latin typeface="Perpetua"/>
                <a:cs typeface="Perpetua"/>
              </a:rPr>
              <a:t>we </a:t>
            </a:r>
            <a:r>
              <a:rPr sz="2600" b="1" spc="-5" dirty="0">
                <a:latin typeface="Perpetua"/>
                <a:cs typeface="Perpetua"/>
              </a:rPr>
              <a:t>are </a:t>
            </a:r>
            <a:r>
              <a:rPr sz="2600" b="1" spc="5" dirty="0">
                <a:latin typeface="Perpetua"/>
                <a:cs typeface="Perpetua"/>
              </a:rPr>
              <a:t>trying </a:t>
            </a:r>
            <a:r>
              <a:rPr sz="2600" b="1" spc="-10" dirty="0">
                <a:latin typeface="Perpetua"/>
                <a:cs typeface="Perpetua"/>
              </a:rPr>
              <a:t>to  solve.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spc="-10" dirty="0">
                <a:latin typeface="Perpetua"/>
                <a:cs typeface="Perpetua"/>
              </a:rPr>
              <a:t>example,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model </a:t>
            </a:r>
            <a:r>
              <a:rPr sz="2600" spc="-15" dirty="0">
                <a:latin typeface="Perpetua"/>
                <a:cs typeface="Perpetua"/>
              </a:rPr>
              <a:t>cat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be </a:t>
            </a:r>
            <a:r>
              <a:rPr sz="2600" spc="-20" dirty="0">
                <a:latin typeface="Perpetua"/>
                <a:cs typeface="Perpetua"/>
              </a:rPr>
              <a:t>any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cat.</a:t>
            </a:r>
            <a:endParaRPr sz="2600">
              <a:latin typeface="Perpetua"/>
              <a:cs typeface="Perpetua"/>
            </a:endParaRPr>
          </a:p>
          <a:p>
            <a:pPr marL="286385" marR="5080" indent="74295">
              <a:lnSpc>
                <a:spcPct val="100000"/>
              </a:lnSpc>
              <a:spcBef>
                <a:spcPts val="600"/>
              </a:spcBef>
              <a:tabLst>
                <a:tab pos="980440" algn="l"/>
                <a:tab pos="1251585" algn="l"/>
                <a:tab pos="2280285" algn="l"/>
                <a:tab pos="2771140" algn="l"/>
                <a:tab pos="3462020" algn="l"/>
                <a:tab pos="3733165" algn="l"/>
                <a:tab pos="4402455" algn="l"/>
                <a:tab pos="4925060" algn="l"/>
                <a:tab pos="5497830" algn="l"/>
                <a:tab pos="6269355" algn="l"/>
                <a:tab pos="6771005" algn="l"/>
                <a:tab pos="7025640" algn="l"/>
                <a:tab pos="7630795" algn="l"/>
              </a:tabLst>
            </a:pPr>
            <a:r>
              <a:rPr sz="2600" dirty="0">
                <a:latin typeface="Perpetua"/>
                <a:cs typeface="Perpetua"/>
              </a:rPr>
              <a:t>Not	a	spe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spc="-10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fic	c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	with	a	</a:t>
            </a:r>
            <a:r>
              <a:rPr sz="2600" spc="-5" dirty="0">
                <a:latin typeface="Perpetua"/>
                <a:cs typeface="Perpetua"/>
              </a:rPr>
              <a:t>lo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g	tail	</a:t>
            </a:r>
            <a:r>
              <a:rPr sz="2600" spc="-5" dirty="0">
                <a:latin typeface="Perpetua"/>
                <a:cs typeface="Perpetua"/>
              </a:rPr>
              <a:t>an</a:t>
            </a:r>
            <a:r>
              <a:rPr sz="2600" dirty="0">
                <a:latin typeface="Perpetua"/>
                <a:cs typeface="Perpetua"/>
              </a:rPr>
              <a:t>d	sh</a:t>
            </a:r>
            <a:r>
              <a:rPr sz="2600" spc="-20" dirty="0">
                <a:latin typeface="Perpetua"/>
                <a:cs typeface="Perpetua"/>
              </a:rPr>
              <a:t>o</a:t>
            </a:r>
            <a:r>
              <a:rPr sz="2600" spc="9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t	</a:t>
            </a:r>
            <a:r>
              <a:rPr sz="2600" spc="-5" dirty="0">
                <a:latin typeface="Perpetua"/>
                <a:cs typeface="Perpetua"/>
              </a:rPr>
              <a:t>fu</a:t>
            </a:r>
            <a:r>
              <a:rPr sz="2600" dirty="0">
                <a:latin typeface="Perpetua"/>
                <a:cs typeface="Perpetua"/>
              </a:rPr>
              <a:t>r	-	</a:t>
            </a:r>
            <a:r>
              <a:rPr sz="2600" b="1" spc="-5" dirty="0">
                <a:latin typeface="Perpetua"/>
                <a:cs typeface="Perpetua"/>
              </a:rPr>
              <a:t>th</a:t>
            </a:r>
            <a:r>
              <a:rPr sz="2600" b="1" dirty="0">
                <a:latin typeface="Perpetua"/>
                <a:cs typeface="Perpetua"/>
              </a:rPr>
              <a:t>e	model  </a:t>
            </a:r>
            <a:r>
              <a:rPr sz="2600" b="1" spc="-5" dirty="0">
                <a:latin typeface="Perpetua"/>
                <a:cs typeface="Perpetua"/>
              </a:rPr>
              <a:t>represents all </a:t>
            </a:r>
            <a:r>
              <a:rPr sz="2600" b="1" spc="-10" dirty="0">
                <a:latin typeface="Perpetua"/>
                <a:cs typeface="Perpetua"/>
              </a:rPr>
              <a:t>cats</a:t>
            </a:r>
            <a:r>
              <a:rPr sz="2600" spc="-1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6385" marR="5715" indent="24130">
              <a:lnSpc>
                <a:spcPct val="100000"/>
              </a:lnSpc>
              <a:spcBef>
                <a:spcPts val="600"/>
              </a:spcBef>
            </a:pPr>
            <a:r>
              <a:rPr sz="2600" spc="-5" dirty="0">
                <a:latin typeface="Perpetua"/>
                <a:cs typeface="Perpetua"/>
              </a:rPr>
              <a:t>From our model of cats,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spc="10" dirty="0">
                <a:latin typeface="Perpetua"/>
                <a:cs typeface="Perpetua"/>
              </a:rPr>
              <a:t>learn </a:t>
            </a: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spc="-15" dirty="0">
                <a:latin typeface="Perpetua"/>
                <a:cs typeface="Perpetua"/>
              </a:rPr>
              <a:t>any </a:t>
            </a:r>
            <a:r>
              <a:rPr sz="2600" spc="-10" dirty="0">
                <a:latin typeface="Perpetua"/>
                <a:cs typeface="Perpetua"/>
              </a:rPr>
              <a:t>cat </a:t>
            </a:r>
            <a:r>
              <a:rPr sz="2600" spc="-5" dirty="0">
                <a:latin typeface="Perpetua"/>
                <a:cs typeface="Perpetua"/>
              </a:rPr>
              <a:t>looks </a:t>
            </a:r>
            <a:r>
              <a:rPr sz="2600" spc="-20" dirty="0">
                <a:latin typeface="Perpetua"/>
                <a:cs typeface="Perpetua"/>
              </a:rPr>
              <a:t>like, </a:t>
            </a:r>
            <a:r>
              <a:rPr sz="2600" dirty="0">
                <a:latin typeface="Perpetua"/>
                <a:cs typeface="Perpetua"/>
              </a:rPr>
              <a:t>using  the patterns </a:t>
            </a: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spc="-10" dirty="0">
                <a:latin typeface="Perpetua"/>
                <a:cs typeface="Perpetua"/>
              </a:rPr>
              <a:t>cats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share.</a:t>
            </a:r>
            <a:endParaRPr sz="2600">
              <a:latin typeface="Perpetua"/>
              <a:cs typeface="Perpetua"/>
            </a:endParaRPr>
          </a:p>
          <a:p>
            <a:pPr marL="286385" marR="635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30" dirty="0">
                <a:latin typeface="Perpetua"/>
                <a:cs typeface="Perpetua"/>
              </a:rPr>
              <a:t>Similarly, </a:t>
            </a:r>
            <a:r>
              <a:rPr sz="2600" dirty="0">
                <a:latin typeface="Perpetua"/>
                <a:cs typeface="Perpetua"/>
              </a:rPr>
              <a:t>when baking a </a:t>
            </a:r>
            <a:r>
              <a:rPr sz="2600" spc="-20" dirty="0">
                <a:latin typeface="Perpetua"/>
                <a:cs typeface="Perpetua"/>
              </a:rPr>
              <a:t>cake,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model </a:t>
            </a:r>
            <a:r>
              <a:rPr sz="2600" spc="-10" dirty="0">
                <a:latin typeface="Perpetua"/>
                <a:cs typeface="Perpetua"/>
              </a:rPr>
              <a:t>cake </a:t>
            </a:r>
            <a:r>
              <a:rPr sz="2600" spc="-35" dirty="0">
                <a:latin typeface="Perpetua"/>
                <a:cs typeface="Perpetua"/>
              </a:rPr>
              <a:t>wouldn’t </a:t>
            </a:r>
            <a:r>
              <a:rPr sz="2600" dirty="0">
                <a:latin typeface="Perpetua"/>
                <a:cs typeface="Perpetua"/>
              </a:rPr>
              <a:t>be a </a:t>
            </a:r>
            <a:r>
              <a:rPr sz="2600" spc="-5" dirty="0">
                <a:latin typeface="Perpetua"/>
                <a:cs typeface="Perpetua"/>
              </a:rPr>
              <a:t>specific  </a:t>
            </a:r>
            <a:r>
              <a:rPr sz="2600" spc="-20" dirty="0">
                <a:latin typeface="Perpetua"/>
                <a:cs typeface="Perpetua"/>
              </a:rPr>
              <a:t>cake, </a:t>
            </a:r>
            <a:r>
              <a:rPr sz="2600" spc="-10" dirty="0">
                <a:latin typeface="Perpetua"/>
                <a:cs typeface="Perpetua"/>
              </a:rPr>
              <a:t>like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sponge </a:t>
            </a:r>
            <a:r>
              <a:rPr sz="2600" spc="-15" dirty="0">
                <a:latin typeface="Perpetua"/>
                <a:cs typeface="Perpetua"/>
              </a:rPr>
              <a:t>cake </a:t>
            </a:r>
            <a:r>
              <a:rPr sz="2600" spc="-5" dirty="0">
                <a:latin typeface="Perpetua"/>
                <a:cs typeface="Perpetua"/>
              </a:rPr>
              <a:t>or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0" dirty="0">
                <a:latin typeface="Perpetua"/>
                <a:cs typeface="Perpetua"/>
              </a:rPr>
              <a:t>fruit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cake.</a:t>
            </a:r>
            <a:endParaRPr sz="2600">
              <a:latin typeface="Perpetua"/>
              <a:cs typeface="Perpetua"/>
            </a:endParaRPr>
          </a:p>
          <a:p>
            <a:pPr marL="311150">
              <a:lnSpc>
                <a:spcPct val="100000"/>
              </a:lnSpc>
              <a:spcBef>
                <a:spcPts val="605"/>
              </a:spcBef>
            </a:pPr>
            <a:r>
              <a:rPr sz="2600" spc="-5" dirty="0">
                <a:latin typeface="Perpetua"/>
                <a:cs typeface="Perpetua"/>
              </a:rPr>
              <a:t>Instead,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model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represent all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cakes.</a:t>
            </a:r>
            <a:endParaRPr sz="2600">
              <a:latin typeface="Perpetua"/>
              <a:cs typeface="Perpetua"/>
            </a:endParaRPr>
          </a:p>
          <a:p>
            <a:pPr marL="311150">
              <a:lnSpc>
                <a:spcPct val="100000"/>
              </a:lnSpc>
              <a:spcBef>
                <a:spcPts val="600"/>
              </a:spcBef>
              <a:tabLst>
                <a:tab pos="1106805" algn="l"/>
                <a:tab pos="1671955" algn="l"/>
                <a:tab pos="2570480" algn="l"/>
                <a:tab pos="3058160" algn="l"/>
                <a:tab pos="3600450" algn="l"/>
                <a:tab pos="4353560" algn="l"/>
                <a:tab pos="5007610" algn="l"/>
                <a:tab pos="5398770" algn="l"/>
                <a:tab pos="6084570" algn="l"/>
                <a:tab pos="6632575" algn="l"/>
                <a:tab pos="7376159" algn="l"/>
                <a:tab pos="8140065" algn="l"/>
              </a:tabLst>
            </a:pPr>
            <a:r>
              <a:rPr sz="2600" dirty="0">
                <a:latin typeface="Perpetua"/>
                <a:cs typeface="Perpetua"/>
              </a:rPr>
              <a:t>F</a:t>
            </a:r>
            <a:r>
              <a:rPr sz="2600" spc="-3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om	this	</a:t>
            </a:r>
            <a:r>
              <a:rPr sz="2600" spc="-5" dirty="0">
                <a:latin typeface="Perpetua"/>
                <a:cs typeface="Perpetua"/>
              </a:rPr>
              <a:t>mo</a:t>
            </a:r>
            <a:r>
              <a:rPr sz="2600" spc="-15" dirty="0">
                <a:latin typeface="Perpetua"/>
                <a:cs typeface="Perpetua"/>
              </a:rPr>
              <a:t>d</a:t>
            </a:r>
            <a:r>
              <a:rPr sz="2600" dirty="0">
                <a:latin typeface="Perpetua"/>
                <a:cs typeface="Perpetua"/>
              </a:rPr>
              <a:t>el	</a:t>
            </a:r>
            <a:r>
              <a:rPr sz="2600" spc="-9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e	c</a:t>
            </a:r>
            <a:r>
              <a:rPr sz="2600" spc="-1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n	</a:t>
            </a:r>
            <a:r>
              <a:rPr sz="2600" spc="-5" dirty="0">
                <a:latin typeface="Perpetua"/>
                <a:cs typeface="Perpetua"/>
              </a:rPr>
              <a:t>lea</a:t>
            </a:r>
            <a:r>
              <a:rPr sz="2600" spc="6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n	</a:t>
            </a:r>
            <a:r>
              <a:rPr sz="2600" spc="5" dirty="0">
                <a:latin typeface="Perpetua"/>
                <a:cs typeface="Perpetua"/>
              </a:rPr>
              <a:t>h</a:t>
            </a:r>
            <a:r>
              <a:rPr sz="2600" spc="-8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w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ba</a:t>
            </a:r>
            <a:r>
              <a:rPr sz="2600" spc="-45" dirty="0">
                <a:latin typeface="Perpetua"/>
                <a:cs typeface="Perpetua"/>
              </a:rPr>
              <a:t>k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6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y	c</a:t>
            </a:r>
            <a:r>
              <a:rPr sz="2600" spc="-10" dirty="0">
                <a:latin typeface="Perpetua"/>
                <a:cs typeface="Perpetua"/>
              </a:rPr>
              <a:t>a</a:t>
            </a:r>
            <a:r>
              <a:rPr sz="2600" spc="-40" dirty="0">
                <a:latin typeface="Perpetua"/>
                <a:cs typeface="Perpetua"/>
              </a:rPr>
              <a:t>k</a:t>
            </a:r>
            <a:r>
              <a:rPr sz="2600" spc="-50" dirty="0">
                <a:latin typeface="Perpetua"/>
                <a:cs typeface="Perpetua"/>
              </a:rPr>
              <a:t>e</a:t>
            </a:r>
            <a:r>
              <a:rPr sz="2600" dirty="0">
                <a:latin typeface="Perpetua"/>
                <a:cs typeface="Perpetua"/>
              </a:rPr>
              <a:t>,	usi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g	the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1140" y="622147"/>
            <a:ext cx="7784465" cy="270827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10" dirty="0">
                <a:latin typeface="Perpetua"/>
                <a:cs typeface="Perpetua"/>
              </a:rPr>
              <a:t>Abstraction</a:t>
            </a:r>
            <a:r>
              <a:rPr sz="2600" spc="-10" dirty="0">
                <a:latin typeface="Perpetua"/>
                <a:cs typeface="Perpetua"/>
              </a:rPr>
              <a:t>: </a:t>
            </a:r>
            <a:r>
              <a:rPr sz="2600" dirty="0">
                <a:latin typeface="Perpetua"/>
                <a:cs typeface="Perpetua"/>
              </a:rPr>
              <a:t>This is the </a:t>
            </a:r>
            <a:r>
              <a:rPr sz="2600" spc="-5" dirty="0">
                <a:latin typeface="Perpetua"/>
                <a:cs typeface="Perpetua"/>
              </a:rPr>
              <a:t>sentence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25" dirty="0">
                <a:latin typeface="Perpetua"/>
                <a:cs typeface="Perpetua"/>
              </a:rPr>
              <a:t>work </a:t>
            </a:r>
            <a:r>
              <a:rPr sz="2600" spc="-5" dirty="0">
                <a:latin typeface="Perpetua"/>
                <a:cs typeface="Perpetua"/>
              </a:rPr>
              <a:t>for all</a:t>
            </a:r>
            <a:r>
              <a:rPr sz="2600" spc="-3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monsters.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  <a:tab pos="2930525" algn="l"/>
              </a:tabLst>
            </a:pPr>
            <a:r>
              <a:rPr sz="2600" spc="-25" dirty="0">
                <a:latin typeface="Perpetua"/>
                <a:cs typeface="Perpetua"/>
              </a:rPr>
              <a:t>Draw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	</a:t>
            </a:r>
            <a:r>
              <a:rPr sz="2600" spc="-5" dirty="0">
                <a:latin typeface="Perpetua"/>
                <a:cs typeface="Perpetua"/>
              </a:rPr>
              <a:t>head.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  <a:tab pos="3001010" algn="l"/>
              </a:tabLst>
            </a:pPr>
            <a:r>
              <a:rPr sz="2600" spc="-25" dirty="0">
                <a:latin typeface="Perpetua"/>
                <a:cs typeface="Perpetua"/>
              </a:rPr>
              <a:t>Draw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	</a:t>
            </a:r>
            <a:r>
              <a:rPr sz="2600" spc="-25" dirty="0">
                <a:latin typeface="Perpetua"/>
                <a:cs typeface="Perpetua"/>
              </a:rPr>
              <a:t>eyes.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  <a:tab pos="2930525" algn="l"/>
              </a:tabLst>
            </a:pPr>
            <a:r>
              <a:rPr sz="2600" spc="-25" dirty="0">
                <a:latin typeface="Perpetua"/>
                <a:cs typeface="Perpetua"/>
              </a:rPr>
              <a:t>Draw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	</a:t>
            </a:r>
            <a:r>
              <a:rPr sz="2600" spc="-5" dirty="0">
                <a:latin typeface="Perpetua"/>
                <a:cs typeface="Perpetua"/>
              </a:rPr>
              <a:t>ears.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  <a:tab pos="2930525" algn="l"/>
              </a:tabLst>
            </a:pPr>
            <a:r>
              <a:rPr sz="2600" spc="-25" dirty="0">
                <a:latin typeface="Perpetua"/>
                <a:cs typeface="Perpetua"/>
              </a:rPr>
              <a:t>Draw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	</a:t>
            </a:r>
            <a:r>
              <a:rPr sz="2600" spc="-20" dirty="0">
                <a:latin typeface="Perpetua"/>
                <a:cs typeface="Perpetua"/>
              </a:rPr>
              <a:t>nose.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  <a:tab pos="2930525" algn="l"/>
              </a:tabLst>
            </a:pPr>
            <a:r>
              <a:rPr sz="2600" spc="-25" dirty="0">
                <a:latin typeface="Perpetua"/>
                <a:cs typeface="Perpetua"/>
              </a:rPr>
              <a:t>Draw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	</a:t>
            </a:r>
            <a:r>
              <a:rPr sz="2600" dirty="0">
                <a:latin typeface="Perpetua"/>
                <a:cs typeface="Perpetua"/>
              </a:rPr>
              <a:t>mouth.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99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9F63E7-38C8-44BE-A6B0-C37DE66C5FB2}"/>
</file>

<file path=customXml/itemProps2.xml><?xml version="1.0" encoding="utf-8"?>
<ds:datastoreItem xmlns:ds="http://schemas.openxmlformats.org/officeDocument/2006/customXml" ds:itemID="{4BAC1125-0F56-4A30-B59F-87446DB43E67}"/>
</file>

<file path=customXml/itemProps3.xml><?xml version="1.0" encoding="utf-8"?>
<ds:datastoreItem xmlns:ds="http://schemas.openxmlformats.org/officeDocument/2006/customXml" ds:itemID="{104AB0C2-8D62-4D2D-9C7A-187A0C53C30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697</Words>
  <Application>Microsoft Office PowerPoint</Application>
  <PresentationFormat>On-screen Show (4:3)</PresentationFormat>
  <Paragraphs>108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Abstraction</vt:lpstr>
      <vt:lpstr>Slide 4</vt:lpstr>
      <vt:lpstr>Model</vt:lpstr>
      <vt:lpstr>Slide 6</vt:lpstr>
      <vt:lpstr>Example</vt:lpstr>
      <vt:lpstr>Slide 8</vt:lpstr>
      <vt:lpstr>How to perform Abstraction?</vt:lpstr>
      <vt:lpstr>Slide 10</vt:lpstr>
      <vt:lpstr>Creating a model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user</cp:lastModifiedBy>
  <cp:revision>2</cp:revision>
  <dcterms:created xsi:type="dcterms:W3CDTF">2020-09-07T07:02:17Z</dcterms:created>
  <dcterms:modified xsi:type="dcterms:W3CDTF">2021-10-03T05:48:14Z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