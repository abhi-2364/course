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357886"/>
            <a:ext cx="405002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799" y="1404569"/>
            <a:ext cx="8534400" cy="4447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4540" y="6501753"/>
            <a:ext cx="1444625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1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12700">
              <a:lnSpc>
                <a:spcPts val="1225"/>
              </a:lnSpc>
            </a:pPr>
            <a:r>
              <a:rPr dirty="0"/>
              <a:t>Department of</a:t>
            </a:r>
            <a:r>
              <a:rPr spc="-30" dirty="0"/>
              <a:t> </a:t>
            </a:r>
            <a:r>
              <a:rPr spc="-5" dirty="0"/>
              <a:t>CSE,Coimbatore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hyperlink" Target="http://www.eecs.qmul.ac.uk/~pc/research/education/puzzles/read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5531" y="70103"/>
            <a:ext cx="9012936" cy="6691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1" y="70103"/>
            <a:ext cx="9013190" cy="6692265"/>
          </a:xfrm>
          <a:custGeom>
            <a:avLst/>
            <a:gdLst/>
            <a:ahLst/>
            <a:cxnLst/>
            <a:rect l="l" t="t" r="r" b="b"/>
            <a:pathLst>
              <a:path w="9013190" h="6692265">
                <a:moveTo>
                  <a:pt x="0" y="329819"/>
                </a:moveTo>
                <a:lnTo>
                  <a:pt x="3576" y="281088"/>
                </a:lnTo>
                <a:lnTo>
                  <a:pt x="13965" y="234576"/>
                </a:lnTo>
                <a:lnTo>
                  <a:pt x="30656" y="190791"/>
                </a:lnTo>
                <a:lnTo>
                  <a:pt x="53139" y="150245"/>
                </a:lnTo>
                <a:lnTo>
                  <a:pt x="80905" y="113448"/>
                </a:lnTo>
                <a:lnTo>
                  <a:pt x="113441" y="80911"/>
                </a:lnTo>
                <a:lnTo>
                  <a:pt x="150240" y="53144"/>
                </a:lnTo>
                <a:lnTo>
                  <a:pt x="190789" y="30660"/>
                </a:lnTo>
                <a:lnTo>
                  <a:pt x="234580" y="13967"/>
                </a:lnTo>
                <a:lnTo>
                  <a:pt x="281102" y="3576"/>
                </a:lnTo>
                <a:lnTo>
                  <a:pt x="329844" y="0"/>
                </a:lnTo>
                <a:lnTo>
                  <a:pt x="8683117" y="0"/>
                </a:lnTo>
                <a:lnTo>
                  <a:pt x="8731847" y="3576"/>
                </a:lnTo>
                <a:lnTo>
                  <a:pt x="8778359" y="13967"/>
                </a:lnTo>
                <a:lnTo>
                  <a:pt x="8822144" y="30660"/>
                </a:lnTo>
                <a:lnTo>
                  <a:pt x="8862690" y="53144"/>
                </a:lnTo>
                <a:lnTo>
                  <a:pt x="8899487" y="80911"/>
                </a:lnTo>
                <a:lnTo>
                  <a:pt x="8932024" y="113448"/>
                </a:lnTo>
                <a:lnTo>
                  <a:pt x="8959791" y="150245"/>
                </a:lnTo>
                <a:lnTo>
                  <a:pt x="8982275" y="190791"/>
                </a:lnTo>
                <a:lnTo>
                  <a:pt x="8998968" y="234576"/>
                </a:lnTo>
                <a:lnTo>
                  <a:pt x="9009359" y="281088"/>
                </a:lnTo>
                <a:lnTo>
                  <a:pt x="9012936" y="329819"/>
                </a:lnTo>
                <a:lnTo>
                  <a:pt x="9012936" y="6362026"/>
                </a:lnTo>
                <a:lnTo>
                  <a:pt x="9009359" y="6410769"/>
                </a:lnTo>
                <a:lnTo>
                  <a:pt x="8998968" y="6457290"/>
                </a:lnTo>
                <a:lnTo>
                  <a:pt x="8982275" y="6501081"/>
                </a:lnTo>
                <a:lnTo>
                  <a:pt x="8959791" y="6541631"/>
                </a:lnTo>
                <a:lnTo>
                  <a:pt x="8932024" y="6578430"/>
                </a:lnTo>
                <a:lnTo>
                  <a:pt x="8899487" y="6610967"/>
                </a:lnTo>
                <a:lnTo>
                  <a:pt x="8862690" y="6638733"/>
                </a:lnTo>
                <a:lnTo>
                  <a:pt x="8822144" y="6661216"/>
                </a:lnTo>
                <a:lnTo>
                  <a:pt x="8778359" y="6677908"/>
                </a:lnTo>
                <a:lnTo>
                  <a:pt x="8731847" y="6688297"/>
                </a:lnTo>
                <a:lnTo>
                  <a:pt x="8683117" y="6691873"/>
                </a:lnTo>
                <a:lnTo>
                  <a:pt x="329844" y="6691873"/>
                </a:lnTo>
                <a:lnTo>
                  <a:pt x="281102" y="6688297"/>
                </a:lnTo>
                <a:lnTo>
                  <a:pt x="234580" y="6677908"/>
                </a:lnTo>
                <a:lnTo>
                  <a:pt x="190789" y="6661216"/>
                </a:lnTo>
                <a:lnTo>
                  <a:pt x="150240" y="6638733"/>
                </a:lnTo>
                <a:lnTo>
                  <a:pt x="113441" y="6610967"/>
                </a:lnTo>
                <a:lnTo>
                  <a:pt x="80905" y="6578430"/>
                </a:lnTo>
                <a:lnTo>
                  <a:pt x="53139" y="6541631"/>
                </a:lnTo>
                <a:lnTo>
                  <a:pt x="30656" y="6501081"/>
                </a:lnTo>
                <a:lnTo>
                  <a:pt x="13965" y="6457290"/>
                </a:lnTo>
                <a:lnTo>
                  <a:pt x="3576" y="6410769"/>
                </a:lnTo>
                <a:lnTo>
                  <a:pt x="0" y="6362026"/>
                </a:lnTo>
                <a:lnTo>
                  <a:pt x="0" y="329819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484" y="1395983"/>
            <a:ext cx="9022080" cy="121920"/>
          </a:xfrm>
          <a:custGeom>
            <a:avLst/>
            <a:gdLst/>
            <a:ahLst/>
            <a:cxnLst/>
            <a:rect l="l" t="t" r="r" b="b"/>
            <a:pathLst>
              <a:path w="9022080" h="121919">
                <a:moveTo>
                  <a:pt x="0" y="121920"/>
                </a:moveTo>
                <a:lnTo>
                  <a:pt x="9022080" y="121920"/>
                </a:lnTo>
                <a:lnTo>
                  <a:pt x="9022080" y="0"/>
                </a:lnTo>
                <a:lnTo>
                  <a:pt x="0" y="0"/>
                </a:lnTo>
                <a:lnTo>
                  <a:pt x="0" y="121920"/>
                </a:lnTo>
                <a:close/>
              </a:path>
            </a:pathLst>
          </a:custGeom>
          <a:solidFill>
            <a:srgbClr val="E6B0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484" y="2976372"/>
            <a:ext cx="9022080" cy="111760"/>
          </a:xfrm>
          <a:custGeom>
            <a:avLst/>
            <a:gdLst/>
            <a:ahLst/>
            <a:cxnLst/>
            <a:rect l="l" t="t" r="r" b="b"/>
            <a:pathLst>
              <a:path w="9022080" h="111760">
                <a:moveTo>
                  <a:pt x="0" y="111251"/>
                </a:moveTo>
                <a:lnTo>
                  <a:pt x="9022080" y="111251"/>
                </a:lnTo>
                <a:lnTo>
                  <a:pt x="9022080" y="0"/>
                </a:lnTo>
                <a:lnTo>
                  <a:pt x="0" y="0"/>
                </a:lnTo>
                <a:lnTo>
                  <a:pt x="0" y="111251"/>
                </a:lnTo>
                <a:close/>
              </a:path>
            </a:pathLst>
          </a:custGeom>
          <a:solidFill>
            <a:srgbClr val="9184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00"/>
              </a:lnSpc>
            </a:pPr>
            <a:r>
              <a:rPr sz="4400" spc="-5" dirty="0">
                <a:latin typeface="Perpetua"/>
                <a:cs typeface="Perpetua"/>
              </a:rPr>
              <a:t>2.9</a:t>
            </a: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latin typeface="Perpetua"/>
                <a:cs typeface="Perpetua"/>
              </a:rPr>
              <a:t>Modularization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48181"/>
            <a:ext cx="22777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Perpetua"/>
                <a:cs typeface="Perpetua"/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2345563"/>
            <a:ext cx="7615555" cy="2358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algorithms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modularized.</a:t>
            </a:r>
            <a:endParaRPr sz="2600">
              <a:latin typeface="Perpetua"/>
              <a:cs typeface="Perpetua"/>
            </a:endParaRPr>
          </a:p>
          <a:p>
            <a:pPr marL="287020" marR="5080" indent="-274955">
              <a:lnSpc>
                <a:spcPct val="15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learn </a:t>
            </a:r>
            <a:r>
              <a:rPr sz="2600" spc="-30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smaller </a:t>
            </a:r>
            <a:r>
              <a:rPr sz="2600" spc="-5" dirty="0">
                <a:latin typeface="Perpetua"/>
                <a:cs typeface="Perpetua"/>
              </a:rPr>
              <a:t>units can be made </a:t>
            </a:r>
            <a:r>
              <a:rPr sz="2600" spc="-10" dirty="0">
                <a:latin typeface="Perpetua"/>
                <a:cs typeface="Perpetua"/>
              </a:rPr>
              <a:t>flexible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 use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5" dirty="0">
                <a:latin typeface="Perpetua"/>
                <a:cs typeface="Perpetua"/>
              </a:rPr>
              <a:t>formal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parameters.</a:t>
            </a:r>
            <a:endParaRPr sz="2600">
              <a:latin typeface="Perpetua"/>
              <a:cs typeface="Perpetua"/>
            </a:endParaRPr>
          </a:p>
          <a:p>
            <a:pPr marL="287020" indent="-274955">
              <a:lnSpc>
                <a:spcPct val="100000"/>
              </a:lnSpc>
              <a:spcBef>
                <a:spcPts val="2160"/>
              </a:spcBef>
              <a:buSzPct val="84615"/>
              <a:buFont typeface="Arial"/>
              <a:buChar char="•"/>
              <a:tabLst>
                <a:tab pos="287020" algn="l"/>
                <a:tab pos="287655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 the </a:t>
            </a:r>
            <a:r>
              <a:rPr sz="2600" spc="5" dirty="0">
                <a:latin typeface="Perpetua"/>
                <a:cs typeface="Perpetua"/>
              </a:rPr>
              <a:t>characteristics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10" dirty="0">
                <a:latin typeface="Perpetua"/>
                <a:cs typeface="Perpetua"/>
              </a:rPr>
              <a:t>well-defined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modules.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8400" y="4724400"/>
            <a:ext cx="2363724" cy="1770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4800" y="228600"/>
            <a:ext cx="1426768" cy="10479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677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10" dirty="0"/>
              <a:t>Recipe </a:t>
            </a:r>
            <a:r>
              <a:rPr dirty="0"/>
              <a:t>book for</a:t>
            </a:r>
            <a:r>
              <a:rPr spc="-85" dirty="0"/>
              <a:t> </a:t>
            </a:r>
            <a:r>
              <a:rPr dirty="0"/>
              <a:t>Pizza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4569"/>
            <a:ext cx="8530590" cy="4956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Let </a:t>
            </a:r>
            <a:r>
              <a:rPr sz="2600" spc="-5" dirty="0">
                <a:latin typeface="Perpetua"/>
                <a:cs typeface="Perpetua"/>
              </a:rPr>
              <a:t>us consider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20" dirty="0">
                <a:latin typeface="Perpetua"/>
                <a:cs typeface="Perpetua"/>
              </a:rPr>
              <a:t>short </a:t>
            </a:r>
            <a:r>
              <a:rPr sz="2600" spc="-5" dirty="0">
                <a:latin typeface="Perpetua"/>
                <a:cs typeface="Perpetua"/>
              </a:rPr>
              <a:t>recipe </a:t>
            </a:r>
            <a:r>
              <a:rPr sz="2600" dirty="0">
                <a:latin typeface="Perpetua"/>
                <a:cs typeface="Perpetua"/>
              </a:rPr>
              <a:t>book </a:t>
            </a:r>
            <a:r>
              <a:rPr sz="2600" spc="-5" dirty="0">
                <a:latin typeface="Perpetua"/>
                <a:cs typeface="Perpetua"/>
              </a:rPr>
              <a:t>for</a:t>
            </a:r>
            <a:r>
              <a:rPr sz="2600" spc="-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Pizza.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might </a:t>
            </a:r>
            <a:r>
              <a:rPr sz="2600" spc="15" dirty="0">
                <a:latin typeface="Perpetua"/>
                <a:cs typeface="Perpetua"/>
              </a:rPr>
              <a:t>start </a:t>
            </a:r>
            <a:r>
              <a:rPr sz="2600" dirty="0">
                <a:latin typeface="Perpetua"/>
                <a:cs typeface="Perpetua"/>
              </a:rPr>
              <a:t>with a </a:t>
            </a:r>
            <a:r>
              <a:rPr sz="2600" spc="-5" dirty="0">
                <a:latin typeface="Perpetua"/>
                <a:cs typeface="Perpetua"/>
              </a:rPr>
              <a:t>contents </a:t>
            </a:r>
            <a:r>
              <a:rPr sz="2600" spc="-15" dirty="0">
                <a:latin typeface="Perpetua"/>
                <a:cs typeface="Perpetua"/>
              </a:rPr>
              <a:t>page,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list all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recipes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inside.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500">
              <a:latin typeface="Times New Roman"/>
              <a:cs typeface="Times New Roman"/>
            </a:endParaRPr>
          </a:p>
          <a:p>
            <a:pPr marL="286385" marR="1333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30" dirty="0">
                <a:latin typeface="Perpetua"/>
                <a:cs typeface="Perpetua"/>
              </a:rPr>
              <a:t>may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 recipes, </a:t>
            </a:r>
            <a:r>
              <a:rPr sz="2600" spc="5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having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name, </a:t>
            </a:r>
            <a:r>
              <a:rPr sz="2600" spc="-25" dirty="0">
                <a:latin typeface="Perpetua"/>
                <a:cs typeface="Perpetua"/>
              </a:rPr>
              <a:t>followed </a:t>
            </a:r>
            <a:r>
              <a:rPr sz="2600" spc="-50" dirty="0">
                <a:latin typeface="Perpetua"/>
                <a:cs typeface="Perpetua"/>
              </a:rPr>
              <a:t>by  </a:t>
            </a:r>
            <a:r>
              <a:rPr sz="2600" dirty="0">
                <a:latin typeface="Perpetua"/>
                <a:cs typeface="Perpetua"/>
              </a:rPr>
              <a:t>a set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instructions,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recipe.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Suppose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wish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i="1" spc="-5" dirty="0">
                <a:latin typeface="Perpetua"/>
                <a:cs typeface="Perpetua"/>
              </a:rPr>
              <a:t>Fiorentina Pizza</a:t>
            </a:r>
            <a:r>
              <a:rPr sz="2600" spc="-5" dirty="0">
                <a:latin typeface="Perpetua"/>
                <a:cs typeface="Perpetua"/>
              </a:rPr>
              <a:t>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0" dirty="0">
                <a:latin typeface="Perpetua"/>
                <a:cs typeface="Perpetua"/>
              </a:rPr>
              <a:t>would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spc="-10" dirty="0">
                <a:latin typeface="Perpetua"/>
                <a:cs typeface="Perpetua"/>
              </a:rPr>
              <a:t>where 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find it in the </a:t>
            </a:r>
            <a:r>
              <a:rPr sz="2600" spc="-5" dirty="0">
                <a:latin typeface="Perpetua"/>
                <a:cs typeface="Perpetua"/>
              </a:rPr>
              <a:t>contents, and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20" dirty="0">
                <a:latin typeface="Perpetua"/>
                <a:cs typeface="Perpetua"/>
              </a:rPr>
              <a:t>follow </a:t>
            </a:r>
            <a:r>
              <a:rPr sz="2600" dirty="0">
                <a:latin typeface="Perpetua"/>
                <a:cs typeface="Perpetua"/>
              </a:rPr>
              <a:t>its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instructions.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6385" marR="6350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663575" algn="l"/>
                <a:tab pos="1469390" algn="l"/>
                <a:tab pos="1865630" algn="l"/>
                <a:tab pos="2440305" algn="l"/>
                <a:tab pos="3992245" algn="l"/>
                <a:tab pos="4597400" algn="l"/>
                <a:tab pos="5674995" algn="l"/>
                <a:tab pos="6097270" algn="l"/>
                <a:tab pos="7217409" algn="l"/>
                <a:tab pos="7604759" algn="l"/>
              </a:tabLst>
            </a:pPr>
            <a:r>
              <a:rPr sz="2600" spc="-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	d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ing	so	</a:t>
            </a:r>
            <a:r>
              <a:rPr sz="2600" spc="-45" dirty="0">
                <a:latin typeface="Perpetua"/>
                <a:cs typeface="Perpetua"/>
              </a:rPr>
              <a:t>y</a:t>
            </a:r>
            <a:r>
              <a:rPr sz="2600" dirty="0">
                <a:latin typeface="Perpetua"/>
                <a:cs typeface="Perpetua"/>
              </a:rPr>
              <a:t>ou	</a:t>
            </a:r>
            <a:r>
              <a:rPr sz="2600" spc="-5" dirty="0">
                <a:latin typeface="Perpetua"/>
                <a:cs typeface="Perpetua"/>
              </a:rPr>
              <a:t>mig</a:t>
            </a:r>
            <a:r>
              <a:rPr sz="2600" spc="5" dirty="0">
                <a:latin typeface="Perpetua"/>
                <a:cs typeface="Perpetua"/>
              </a:rPr>
              <a:t>h</a:t>
            </a:r>
            <a:r>
              <a:rPr sz="2600" dirty="0">
                <a:latin typeface="Perpetua"/>
                <a:cs typeface="Perpetua"/>
              </a:rPr>
              <a:t>t,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spc="9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25" dirty="0">
                <a:latin typeface="Perpetua"/>
                <a:cs typeface="Perpetua"/>
              </a:rPr>
              <a:t>w</a:t>
            </a:r>
            <a:r>
              <a:rPr sz="2600" spc="-10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y	th</a:t>
            </a:r>
            <a:r>
              <a:rPr sz="2600" spc="-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gh	</a:t>
            </a:r>
            <a:r>
              <a:rPr sz="2600" spc="-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ed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her  </a:t>
            </a:r>
            <a:r>
              <a:rPr sz="2600" spc="-15" dirty="0">
                <a:latin typeface="Perpetua"/>
                <a:cs typeface="Perpetua"/>
              </a:rPr>
              <a:t>recipe,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i="1" spc="-5" dirty="0">
                <a:latin typeface="Perpetua"/>
                <a:cs typeface="Perpetua"/>
              </a:rPr>
              <a:t>to make the </a:t>
            </a:r>
            <a:r>
              <a:rPr sz="2600" i="1" dirty="0">
                <a:latin typeface="Perpetua"/>
                <a:cs typeface="Perpetua"/>
              </a:rPr>
              <a:t>pizza</a:t>
            </a:r>
            <a:r>
              <a:rPr sz="2600" i="1" spc="-20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dough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152400"/>
            <a:ext cx="2209800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2905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Making of</a:t>
            </a:r>
            <a:r>
              <a:rPr spc="-45" dirty="0"/>
              <a:t> </a:t>
            </a:r>
            <a:r>
              <a:rPr spc="-5" dirty="0"/>
              <a:t>Pizza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058226"/>
            <a:ext cx="8306434" cy="475043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44805" indent="-332740">
              <a:lnSpc>
                <a:spcPct val="100000"/>
              </a:lnSpc>
              <a:spcBef>
                <a:spcPts val="630"/>
              </a:spcBef>
              <a:buSzPct val="107692"/>
              <a:buFont typeface="Perpetua"/>
              <a:buAutoNum type="arabicPeriod"/>
              <a:tabLst>
                <a:tab pos="345440" algn="l"/>
              </a:tabLst>
            </a:pPr>
            <a:r>
              <a:rPr sz="2600" i="1" dirty="0">
                <a:latin typeface="Perpetua"/>
                <a:cs typeface="Perpetua"/>
              </a:rPr>
              <a:t>Pizza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Dough</a:t>
            </a:r>
            <a:endParaRPr sz="26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618490" algn="l"/>
              </a:tabLst>
            </a:pPr>
            <a:r>
              <a:rPr sz="2400" dirty="0">
                <a:latin typeface="Perpetua"/>
                <a:cs typeface="Perpetua"/>
              </a:rPr>
              <a:t>Mix </a:t>
            </a:r>
            <a:r>
              <a:rPr sz="2400" spc="-10" dirty="0">
                <a:latin typeface="Perpetua"/>
                <a:cs typeface="Perpetua"/>
              </a:rPr>
              <a:t>yeast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50" dirty="0">
                <a:latin typeface="Perpetua"/>
                <a:cs typeface="Perpetua"/>
              </a:rPr>
              <a:t>water, </a:t>
            </a:r>
            <a:r>
              <a:rPr sz="2400" spc="-5" dirty="0">
                <a:latin typeface="Perpetua"/>
                <a:cs typeface="Perpetua"/>
              </a:rPr>
              <a:t>add </a:t>
            </a:r>
            <a:r>
              <a:rPr sz="2400" dirty="0">
                <a:latin typeface="Perpetua"/>
                <a:cs typeface="Perpetua"/>
              </a:rPr>
              <a:t>flour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45" dirty="0">
                <a:latin typeface="Perpetua"/>
                <a:cs typeface="Perpetua"/>
              </a:rPr>
              <a:t>stir.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618490" algn="l"/>
              </a:tabLst>
            </a:pPr>
            <a:r>
              <a:rPr sz="2400" spc="-5" dirty="0">
                <a:latin typeface="Perpetua"/>
                <a:cs typeface="Perpetua"/>
              </a:rPr>
              <a:t>Knead </a:t>
            </a:r>
            <a:r>
              <a:rPr sz="2400" dirty="0">
                <a:latin typeface="Perpetua"/>
                <a:cs typeface="Perpetua"/>
              </a:rPr>
              <a:t>for 10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minutes.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618490" algn="l"/>
              </a:tabLst>
            </a:pPr>
            <a:r>
              <a:rPr sz="2400" spc="-30" dirty="0">
                <a:latin typeface="Perpetua"/>
                <a:cs typeface="Perpetua"/>
              </a:rPr>
              <a:t>Leave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10" dirty="0">
                <a:latin typeface="Perpetua"/>
                <a:cs typeface="Perpetua"/>
              </a:rPr>
              <a:t>rise </a:t>
            </a:r>
            <a:r>
              <a:rPr sz="2400" dirty="0">
                <a:latin typeface="Perpetua"/>
                <a:cs typeface="Perpetua"/>
              </a:rPr>
              <a:t>for 30 </a:t>
            </a:r>
            <a:r>
              <a:rPr sz="2400" spc="-10" dirty="0">
                <a:latin typeface="Perpetua"/>
                <a:cs typeface="Perpetua"/>
              </a:rPr>
              <a:t>minutes.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618490" algn="l"/>
              </a:tabLst>
            </a:pPr>
            <a:r>
              <a:rPr sz="2400" spc="-5" dirty="0">
                <a:latin typeface="Perpetua"/>
                <a:cs typeface="Perpetua"/>
              </a:rPr>
              <a:t>Roll </a:t>
            </a:r>
            <a:r>
              <a:rPr sz="2400" dirty="0">
                <a:latin typeface="Perpetua"/>
                <a:cs typeface="Perpetua"/>
              </a:rPr>
              <a:t>out the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dough.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18490" algn="l"/>
              </a:tabLst>
            </a:pPr>
            <a:r>
              <a:rPr sz="2400" dirty="0">
                <a:latin typeface="Perpetua"/>
                <a:cs typeface="Perpetua"/>
              </a:rPr>
              <a:t>Place in a </a:t>
            </a:r>
            <a:r>
              <a:rPr sz="2400" spc="-5" dirty="0">
                <a:latin typeface="Perpetua"/>
                <a:cs typeface="Perpetua"/>
              </a:rPr>
              <a:t>large round pizza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tin.</a:t>
            </a:r>
            <a:endParaRPr sz="24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spcBef>
                <a:spcPts val="580"/>
              </a:spcBef>
              <a:buFont typeface="Perpetua"/>
              <a:buAutoNum type="arabicPeriod"/>
              <a:tabLst>
                <a:tab pos="322580" algn="l"/>
              </a:tabLst>
            </a:pPr>
            <a:r>
              <a:rPr sz="2600" i="1" spc="-5" dirty="0">
                <a:latin typeface="Perpetua"/>
                <a:cs typeface="Perpetua"/>
              </a:rPr>
              <a:t>Fiorentina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Pizza</a:t>
            </a:r>
            <a:endParaRPr sz="2600">
              <a:latin typeface="Perpetua"/>
              <a:cs typeface="Perpetua"/>
            </a:endParaRPr>
          </a:p>
          <a:p>
            <a:pPr marL="562610" lvl="1" indent="-230504">
              <a:lnSpc>
                <a:spcPct val="100000"/>
              </a:lnSpc>
              <a:spcBef>
                <a:spcPts val="425"/>
              </a:spcBef>
              <a:buAutoNum type="arabicPeriod"/>
              <a:tabLst>
                <a:tab pos="563245" algn="l"/>
              </a:tabLst>
            </a:pPr>
            <a:r>
              <a:rPr sz="2400" spc="-10" dirty="0">
                <a:latin typeface="Perpetua"/>
                <a:cs typeface="Perpetua"/>
              </a:rPr>
              <a:t>Make </a:t>
            </a:r>
            <a:r>
              <a:rPr sz="2400" dirty="0">
                <a:latin typeface="Perpetua"/>
                <a:cs typeface="Perpetua"/>
              </a:rPr>
              <a:t>the pizza dough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recipe </a:t>
            </a:r>
            <a:r>
              <a:rPr sz="2400" i="1" dirty="0">
                <a:latin typeface="Perpetua"/>
                <a:cs typeface="Perpetua"/>
              </a:rPr>
              <a:t>Pizza </a:t>
            </a:r>
            <a:r>
              <a:rPr sz="2400" i="1" spc="-5" dirty="0">
                <a:latin typeface="Perpetua"/>
                <a:cs typeface="Perpetua"/>
              </a:rPr>
              <a:t>Dough, </a:t>
            </a:r>
            <a:r>
              <a:rPr sz="2400" spc="-15" dirty="0">
                <a:latin typeface="Perpetua"/>
                <a:cs typeface="Perpetua"/>
              </a:rPr>
              <a:t>leaving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rise.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618490" algn="l"/>
              </a:tabLst>
            </a:pPr>
            <a:r>
              <a:rPr sz="2400" spc="-5" dirty="0">
                <a:latin typeface="Perpetua"/>
                <a:cs typeface="Perpetua"/>
              </a:rPr>
              <a:t>Spread </a:t>
            </a:r>
            <a:r>
              <a:rPr sz="2400" dirty="0">
                <a:latin typeface="Perpetua"/>
                <a:cs typeface="Perpetua"/>
              </a:rPr>
              <a:t>with </a:t>
            </a:r>
            <a:r>
              <a:rPr sz="2400" spc="-5" dirty="0">
                <a:latin typeface="Perpetua"/>
                <a:cs typeface="Perpetua"/>
              </a:rPr>
              <a:t>tomato </a:t>
            </a:r>
            <a:r>
              <a:rPr sz="2400" spc="-15" dirty="0">
                <a:latin typeface="Perpetua"/>
                <a:cs typeface="Perpetua"/>
              </a:rPr>
              <a:t>puree,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5" dirty="0">
                <a:latin typeface="Perpetua"/>
                <a:cs typeface="Perpetua"/>
              </a:rPr>
              <a:t>cheese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spinach.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618490" algn="l"/>
              </a:tabLst>
            </a:pPr>
            <a:r>
              <a:rPr sz="2400" spc="5" dirty="0">
                <a:latin typeface="Perpetua"/>
                <a:cs typeface="Perpetua"/>
              </a:rPr>
              <a:t>Crack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dirty="0">
                <a:latin typeface="Perpetua"/>
                <a:cs typeface="Perpetua"/>
              </a:rPr>
              <a:t>egg into the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middle.</a:t>
            </a:r>
            <a:endParaRPr sz="2400">
              <a:latin typeface="Perpetua"/>
              <a:cs typeface="Perpetua"/>
            </a:endParaRPr>
          </a:p>
          <a:p>
            <a:pPr marL="617855" lvl="1" indent="-285750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618490" algn="l"/>
              </a:tabLst>
            </a:pPr>
            <a:r>
              <a:rPr sz="2400" spc="-10" dirty="0">
                <a:latin typeface="Perpetua"/>
                <a:cs typeface="Perpetua"/>
              </a:rPr>
              <a:t>Bake </a:t>
            </a: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35" dirty="0">
                <a:latin typeface="Perpetua"/>
                <a:cs typeface="Perpetua"/>
              </a:rPr>
              <a:t>oven </a:t>
            </a:r>
            <a:r>
              <a:rPr sz="2400" dirty="0">
                <a:latin typeface="Perpetua"/>
                <a:cs typeface="Perpetua"/>
              </a:rPr>
              <a:t>for 25 </a:t>
            </a:r>
            <a:r>
              <a:rPr sz="2400" spc="-10" dirty="0">
                <a:latin typeface="Perpetua"/>
                <a:cs typeface="Perpetua"/>
              </a:rPr>
              <a:t>minutes.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0" y="609600"/>
            <a:ext cx="2133600" cy="25831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200" y="4724400"/>
            <a:ext cx="1903476" cy="19110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82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Making of Pizza </a:t>
            </a:r>
            <a:r>
              <a:rPr i="1" spc="-5" dirty="0">
                <a:latin typeface="Perpetua"/>
                <a:cs typeface="Perpetua"/>
              </a:rPr>
              <a:t>contd</a:t>
            </a:r>
            <a:r>
              <a:rPr spc="-5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31061"/>
            <a:ext cx="8528050" cy="280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265"/>
              </a:lnSpc>
            </a:pPr>
            <a:r>
              <a:rPr sz="2800" dirty="0">
                <a:latin typeface="Perpetua"/>
                <a:cs typeface="Perpetua"/>
              </a:rPr>
              <a:t>3</a:t>
            </a:r>
            <a:r>
              <a:rPr sz="2600" dirty="0">
                <a:latin typeface="Perpetua"/>
                <a:cs typeface="Perpetua"/>
              </a:rPr>
              <a:t>. </a:t>
            </a:r>
            <a:r>
              <a:rPr sz="2600" i="1" spc="-60" dirty="0">
                <a:latin typeface="Perpetua"/>
                <a:cs typeface="Perpetua"/>
              </a:rPr>
              <a:t>Tomato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Chilli</a:t>
            </a:r>
            <a:r>
              <a:rPr sz="2600" i="1" spc="-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Pizza</a:t>
            </a:r>
            <a:endParaRPr sz="2600">
              <a:latin typeface="Perpetua"/>
              <a:cs typeface="Perpetua"/>
            </a:endParaRPr>
          </a:p>
          <a:p>
            <a:pPr marL="260985" marR="5080" indent="-260985">
              <a:lnSpc>
                <a:spcPct val="100000"/>
              </a:lnSpc>
              <a:spcBef>
                <a:spcPts val="35"/>
              </a:spcBef>
              <a:buSzPct val="96153"/>
              <a:buAutoNum type="arabicPeriod"/>
              <a:tabLst>
                <a:tab pos="260985" algn="l"/>
              </a:tabLst>
            </a:pP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the pizza </a:t>
            </a:r>
            <a:r>
              <a:rPr sz="2600" spc="-5" dirty="0">
                <a:latin typeface="Perpetua"/>
                <a:cs typeface="Perpetua"/>
              </a:rPr>
              <a:t>dough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recipe </a:t>
            </a:r>
            <a:r>
              <a:rPr sz="2600" i="1" spc="-5" dirty="0">
                <a:latin typeface="Perpetua"/>
                <a:cs typeface="Perpetua"/>
              </a:rPr>
              <a:t>Pizza </a:t>
            </a:r>
            <a:r>
              <a:rPr sz="2600" i="1" dirty="0">
                <a:latin typeface="Perpetua"/>
                <a:cs typeface="Perpetua"/>
              </a:rPr>
              <a:t>Dough, </a:t>
            </a:r>
            <a:r>
              <a:rPr sz="2600" spc="-10" dirty="0">
                <a:latin typeface="Perpetua"/>
                <a:cs typeface="Perpetua"/>
              </a:rPr>
              <a:t>leaving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dirty="0">
                <a:latin typeface="Perpetua"/>
                <a:cs typeface="Perpetua"/>
              </a:rPr>
              <a:t>rise.</a:t>
            </a:r>
            <a:endParaRPr sz="2600">
              <a:latin typeface="Perpetua"/>
              <a:cs typeface="Perpetua"/>
            </a:endParaRPr>
          </a:p>
          <a:p>
            <a:pPr marL="260985" marR="5715" indent="-260985">
              <a:lnSpc>
                <a:spcPct val="100000"/>
              </a:lnSpc>
              <a:buSzPct val="96153"/>
              <a:buAutoNum type="arabicPeriod"/>
              <a:tabLst>
                <a:tab pos="260985" algn="l"/>
              </a:tabLst>
            </a:pPr>
            <a:r>
              <a:rPr sz="2600" spc="5" dirty="0">
                <a:latin typeface="Perpetua"/>
                <a:cs typeface="Perpetua"/>
              </a:rPr>
              <a:t>Fry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chilli </a:t>
            </a:r>
            <a:r>
              <a:rPr sz="2600" spc="-5" dirty="0">
                <a:latin typeface="Perpetua"/>
                <a:cs typeface="Perpetua"/>
              </a:rPr>
              <a:t>pepper </a:t>
            </a:r>
            <a:r>
              <a:rPr sz="2600" spc="-10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3 </a:t>
            </a:r>
            <a:r>
              <a:rPr sz="2600" spc="-5" dirty="0">
                <a:latin typeface="Perpetua"/>
                <a:cs typeface="Perpetua"/>
              </a:rPr>
              <a:t>minutes, add onions and garlic and </a:t>
            </a:r>
            <a:r>
              <a:rPr sz="2600" spc="5" dirty="0">
                <a:latin typeface="Perpetua"/>
                <a:cs typeface="Perpetua"/>
              </a:rPr>
              <a:t>fry </a:t>
            </a:r>
            <a:r>
              <a:rPr sz="2600" spc="-5" dirty="0">
                <a:latin typeface="Perpetua"/>
                <a:cs typeface="Perpetua"/>
              </a:rPr>
              <a:t>for  </a:t>
            </a:r>
            <a:r>
              <a:rPr sz="2600" spc="10" dirty="0">
                <a:latin typeface="Perpetua"/>
                <a:cs typeface="Perpetua"/>
              </a:rPr>
              <a:t>further </a:t>
            </a:r>
            <a:r>
              <a:rPr sz="2600" dirty="0">
                <a:latin typeface="Perpetua"/>
                <a:cs typeface="Perpetua"/>
              </a:rPr>
              <a:t>5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minutes.</a:t>
            </a:r>
            <a:endParaRPr sz="2600">
              <a:latin typeface="Perpetua"/>
              <a:cs typeface="Perpetua"/>
            </a:endParaRPr>
          </a:p>
          <a:p>
            <a:pPr marL="295910" indent="-283845">
              <a:lnSpc>
                <a:spcPct val="100000"/>
              </a:lnSpc>
              <a:buSzPct val="96153"/>
              <a:buAutoNum type="arabicPeriod"/>
              <a:tabLst>
                <a:tab pos="296545" algn="l"/>
              </a:tabLst>
            </a:pPr>
            <a:r>
              <a:rPr sz="2600" spc="-5" dirty="0">
                <a:latin typeface="Perpetua"/>
                <a:cs typeface="Perpetua"/>
              </a:rPr>
              <a:t>Add </a:t>
            </a:r>
            <a:r>
              <a:rPr sz="2600" spc="-10" dirty="0">
                <a:latin typeface="Perpetua"/>
                <a:cs typeface="Perpetua"/>
              </a:rPr>
              <a:t>tomatoes </a:t>
            </a:r>
            <a:r>
              <a:rPr sz="2600" spc="-5" dirty="0">
                <a:latin typeface="Perpetua"/>
                <a:cs typeface="Perpetua"/>
              </a:rPr>
              <a:t>and spread </a:t>
            </a:r>
            <a:r>
              <a:rPr sz="2600" spc="-35" dirty="0">
                <a:latin typeface="Perpetua"/>
                <a:cs typeface="Perpetua"/>
              </a:rPr>
              <a:t>over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base.</a:t>
            </a:r>
            <a:endParaRPr sz="2600">
              <a:latin typeface="Perpetua"/>
              <a:cs typeface="Perpetua"/>
            </a:endParaRPr>
          </a:p>
          <a:p>
            <a:pPr marL="321945" indent="-309880">
              <a:lnSpc>
                <a:spcPct val="100000"/>
              </a:lnSpc>
              <a:buSzPct val="96153"/>
              <a:buAutoNum type="arabicPeriod"/>
              <a:tabLst>
                <a:tab pos="322580" algn="l"/>
              </a:tabLst>
            </a:pPr>
            <a:r>
              <a:rPr sz="2600" spc="-10" dirty="0">
                <a:latin typeface="Perpetua"/>
                <a:cs typeface="Perpetua"/>
              </a:rPr>
              <a:t>Bake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35" dirty="0">
                <a:latin typeface="Perpetua"/>
                <a:cs typeface="Perpetua"/>
              </a:rPr>
              <a:t>oven </a:t>
            </a:r>
            <a:r>
              <a:rPr sz="2600" spc="-5" dirty="0">
                <a:latin typeface="Perpetua"/>
                <a:cs typeface="Perpetua"/>
              </a:rPr>
              <a:t>for 25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minutes.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43600" y="3581400"/>
            <a:ext cx="2362200" cy="2362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228600"/>
            <a:ext cx="2338512" cy="15910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7340" y="1906651"/>
            <a:ext cx="8531225" cy="3501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Perhaps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came across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i="1" dirty="0">
                <a:latin typeface="Perpetua"/>
                <a:cs typeface="Perpetua"/>
              </a:rPr>
              <a:t>pizza </a:t>
            </a:r>
            <a:r>
              <a:rPr sz="2600" i="1" spc="-5" dirty="0">
                <a:latin typeface="Perpetua"/>
                <a:cs typeface="Perpetua"/>
              </a:rPr>
              <a:t>dough recipe </a:t>
            </a:r>
            <a:r>
              <a:rPr sz="2600" spc="-10" dirty="0">
                <a:latin typeface="Perpetua"/>
                <a:cs typeface="Perpetua"/>
              </a:rPr>
              <a:t>that was </a:t>
            </a:r>
            <a:r>
              <a:rPr sz="2600" dirty="0">
                <a:latin typeface="Perpetua"/>
                <a:cs typeface="Perpetua"/>
              </a:rPr>
              <a:t>easier </a:t>
            </a:r>
            <a:r>
              <a:rPr sz="2600" spc="-5" dirty="0">
                <a:latin typeface="Perpetua"/>
                <a:cs typeface="Perpetua"/>
              </a:rPr>
              <a:t>to</a:t>
            </a:r>
            <a:r>
              <a:rPr sz="2600" spc="3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make.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320675" algn="l"/>
              </a:tabLst>
            </a:pPr>
            <a:r>
              <a:rPr dirty="0"/>
              <a:t>	</a:t>
            </a: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5" dirty="0">
                <a:latin typeface="Perpetua"/>
                <a:cs typeface="Perpetua"/>
              </a:rPr>
              <a:t>change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instructions </a:t>
            </a:r>
            <a:r>
              <a:rPr sz="2600" dirty="0">
                <a:latin typeface="Perpetua"/>
                <a:cs typeface="Perpetua"/>
              </a:rPr>
              <a:t>in just </a:t>
            </a:r>
            <a:r>
              <a:rPr sz="2600" spc="-5" dirty="0">
                <a:latin typeface="Perpetua"/>
                <a:cs typeface="Perpetua"/>
              </a:rPr>
              <a:t>one place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book and all  </a:t>
            </a:r>
            <a:r>
              <a:rPr sz="2600" dirty="0">
                <a:latin typeface="Perpetua"/>
                <a:cs typeface="Perpetua"/>
              </a:rPr>
              <a:t>the pizza </a:t>
            </a:r>
            <a:r>
              <a:rPr sz="2600" spc="-5" dirty="0">
                <a:latin typeface="Perpetua"/>
                <a:cs typeface="Perpetua"/>
              </a:rPr>
              <a:t>recipes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use it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spc="-5" dirty="0">
                <a:latin typeface="Perpetua"/>
                <a:cs typeface="Perpetua"/>
              </a:rPr>
              <a:t>refer 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new </a:t>
            </a:r>
            <a:r>
              <a:rPr sz="2600" spc="-5" dirty="0">
                <a:latin typeface="Perpetua"/>
                <a:cs typeface="Perpetua"/>
              </a:rPr>
              <a:t>version.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dough </a:t>
            </a:r>
            <a:r>
              <a:rPr sz="2600" dirty="0">
                <a:latin typeface="Perpetua"/>
                <a:cs typeface="Perpetua"/>
              </a:rPr>
              <a:t>instructions had been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spc="-5" dirty="0">
                <a:latin typeface="Perpetua"/>
                <a:cs typeface="Perpetua"/>
              </a:rPr>
              <a:t>out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single recipe 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10" dirty="0">
                <a:latin typeface="Perpetua"/>
                <a:cs typeface="Perpetua"/>
              </a:rPr>
              <a:t>to </a:t>
            </a:r>
            <a:r>
              <a:rPr sz="2600" spc="-15" dirty="0">
                <a:latin typeface="Perpetua"/>
                <a:cs typeface="Perpetua"/>
              </a:rPr>
              <a:t>make</a:t>
            </a:r>
            <a:r>
              <a:rPr sz="2600" spc="5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 changes in </a:t>
            </a:r>
            <a:r>
              <a:rPr sz="2600" spc="-5" dirty="0">
                <a:latin typeface="Perpetua"/>
                <a:cs typeface="Perpetua"/>
              </a:rPr>
              <a:t>all those sets of  instructions.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1175" y="632586"/>
            <a:ext cx="13849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latin typeface="Perpetua"/>
                <a:cs typeface="Perpetua"/>
              </a:rPr>
              <a:t>contd</a:t>
            </a:r>
            <a:r>
              <a:rPr spc="-10" dirty="0"/>
              <a:t>---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0590" cy="3502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Splitting up recipes </a:t>
            </a:r>
            <a:r>
              <a:rPr sz="2600" dirty="0">
                <a:latin typeface="Perpetua"/>
                <a:cs typeface="Perpetua"/>
              </a:rPr>
              <a:t>(or algorithms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matter) </a:t>
            </a:r>
            <a:r>
              <a:rPr sz="2600" dirty="0">
                <a:latin typeface="Perpetua"/>
                <a:cs typeface="Perpetua"/>
              </a:rPr>
              <a:t>in this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dirty="0">
                <a:latin typeface="Perpetua"/>
                <a:cs typeface="Perpetua"/>
              </a:rPr>
              <a:t>can  </a:t>
            </a:r>
            <a:r>
              <a:rPr sz="2600" spc="-5" dirty="0">
                <a:latin typeface="Perpetua"/>
                <a:cs typeface="Perpetua"/>
              </a:rPr>
              <a:t>also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them easier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understand.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715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separate </a:t>
            </a:r>
            <a:r>
              <a:rPr sz="2600" dirty="0">
                <a:latin typeface="Perpetua"/>
                <a:cs typeface="Perpetua"/>
              </a:rPr>
              <a:t>set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instructions in a </a:t>
            </a:r>
            <a:r>
              <a:rPr sz="2600" spc="-5" dirty="0">
                <a:latin typeface="Perpetua"/>
                <a:cs typeface="Perpetua"/>
              </a:rPr>
              <a:t>recipe </a:t>
            </a:r>
            <a:r>
              <a:rPr sz="2600" dirty="0">
                <a:latin typeface="Perpetua"/>
                <a:cs typeface="Perpetua"/>
              </a:rPr>
              <a:t>book is a </a:t>
            </a:r>
            <a:r>
              <a:rPr sz="2600" spc="-5" dirty="0">
                <a:latin typeface="Perpetua"/>
                <a:cs typeface="Perpetua"/>
              </a:rPr>
              <a:t>recipe </a:t>
            </a:r>
            <a:r>
              <a:rPr sz="2600" dirty="0">
                <a:latin typeface="Perpetua"/>
                <a:cs typeface="Perpetua"/>
              </a:rPr>
              <a:t>in its  </a:t>
            </a:r>
            <a:r>
              <a:rPr sz="2600" spc="-25" dirty="0">
                <a:latin typeface="Perpetua"/>
                <a:cs typeface="Perpetua"/>
              </a:rPr>
              <a:t>own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right.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It </a:t>
            </a:r>
            <a:r>
              <a:rPr sz="2600" i="1" dirty="0">
                <a:latin typeface="Perpetua"/>
                <a:cs typeface="Perpetua"/>
              </a:rPr>
              <a:t>is </a:t>
            </a:r>
            <a:r>
              <a:rPr sz="2600" i="1" spc="-5" dirty="0">
                <a:latin typeface="Perpetua"/>
                <a:cs typeface="Perpetua"/>
              </a:rPr>
              <a:t>in </a:t>
            </a:r>
            <a:r>
              <a:rPr sz="2600" i="1" spc="-15" dirty="0">
                <a:latin typeface="Perpetua"/>
                <a:cs typeface="Perpetua"/>
              </a:rPr>
              <a:t>fact </a:t>
            </a:r>
            <a:r>
              <a:rPr sz="2600" i="1" spc="-5" dirty="0">
                <a:latin typeface="Perpetua"/>
                <a:cs typeface="Perpetua"/>
              </a:rPr>
              <a:t>an </a:t>
            </a:r>
            <a:r>
              <a:rPr sz="2600" i="1" dirty="0">
                <a:latin typeface="Perpetua"/>
                <a:cs typeface="Perpetua"/>
              </a:rPr>
              <a:t>algorithm </a:t>
            </a:r>
            <a:r>
              <a:rPr sz="2600" i="1" spc="-5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does </a:t>
            </a:r>
            <a:r>
              <a:rPr sz="2600" i="1" spc="-5" dirty="0">
                <a:latin typeface="Perpetua"/>
                <a:cs typeface="Perpetua"/>
              </a:rPr>
              <a:t>something distinct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worthwhile in its  </a:t>
            </a:r>
            <a:r>
              <a:rPr sz="2600" i="1" spc="-15" dirty="0">
                <a:latin typeface="Perpetua"/>
                <a:cs typeface="Perpetua"/>
              </a:rPr>
              <a:t>own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right.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228600"/>
            <a:ext cx="2133600" cy="1310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812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Advantages </a:t>
            </a:r>
            <a:r>
              <a:rPr spc="-5" dirty="0"/>
              <a:t>of </a:t>
            </a:r>
            <a:r>
              <a:rPr spc="15" dirty="0"/>
              <a:t>such </a:t>
            </a:r>
            <a:r>
              <a:rPr spc="-5" dirty="0"/>
              <a:t>an</a:t>
            </a:r>
            <a:r>
              <a:rPr spc="-85" dirty="0"/>
              <a:t> </a:t>
            </a:r>
            <a:r>
              <a:rPr spc="5" dirty="0"/>
              <a:t>approach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8925" marR="5715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8925" algn="l"/>
                <a:tab pos="289560" algn="l"/>
                <a:tab pos="975360" algn="l"/>
                <a:tab pos="1613535" algn="l"/>
                <a:tab pos="2025014" algn="l"/>
                <a:tab pos="3534410" algn="l"/>
                <a:tab pos="3830320" algn="l"/>
                <a:tab pos="4737100" algn="l"/>
                <a:tab pos="5506720" algn="l"/>
                <a:tab pos="5947410" algn="l"/>
                <a:tab pos="7285355" algn="l"/>
                <a:tab pos="7829550" algn="l"/>
              </a:tabLst>
            </a:pPr>
            <a:r>
              <a:rPr dirty="0"/>
              <a:t>This	</a:t>
            </a:r>
            <a:r>
              <a:rPr spc="-25" dirty="0"/>
              <a:t>w</a:t>
            </a:r>
            <a:r>
              <a:rPr spc="-100" dirty="0"/>
              <a:t>a</a:t>
            </a:r>
            <a:r>
              <a:rPr dirty="0"/>
              <a:t>y	</a:t>
            </a:r>
            <a:r>
              <a:rPr spc="-10" dirty="0"/>
              <a:t>o</a:t>
            </a:r>
            <a:r>
              <a:rPr dirty="0"/>
              <a:t>f	st</a:t>
            </a:r>
            <a:r>
              <a:rPr spc="50" dirty="0"/>
              <a:t>r</a:t>
            </a:r>
            <a:r>
              <a:rPr dirty="0"/>
              <a:t>uct</a:t>
            </a:r>
            <a:r>
              <a:rPr spc="-15" dirty="0"/>
              <a:t>u</a:t>
            </a:r>
            <a:r>
              <a:rPr spc="45" dirty="0"/>
              <a:t>r</a:t>
            </a:r>
            <a:r>
              <a:rPr dirty="0"/>
              <a:t>i</a:t>
            </a:r>
            <a:r>
              <a:rPr spc="5" dirty="0"/>
              <a:t>n</a:t>
            </a:r>
            <a:r>
              <a:rPr dirty="0"/>
              <a:t>g	a	</a:t>
            </a:r>
            <a:r>
              <a:rPr spc="-25" dirty="0"/>
              <a:t>r</a:t>
            </a:r>
            <a:r>
              <a:rPr dirty="0"/>
              <a:t>e</a:t>
            </a:r>
            <a:r>
              <a:rPr spc="-10" dirty="0"/>
              <a:t>c</a:t>
            </a:r>
            <a:r>
              <a:rPr dirty="0"/>
              <a:t>ipe	b</a:t>
            </a:r>
            <a:r>
              <a:rPr spc="-10" dirty="0"/>
              <a:t>o</a:t>
            </a:r>
            <a:r>
              <a:rPr dirty="0"/>
              <a:t>ok	</a:t>
            </a:r>
            <a:r>
              <a:rPr spc="-10" dirty="0"/>
              <a:t>o</a:t>
            </a:r>
            <a:r>
              <a:rPr dirty="0"/>
              <a:t>r	</a:t>
            </a:r>
            <a:r>
              <a:rPr spc="-5" dirty="0"/>
              <a:t>al</a:t>
            </a:r>
            <a:r>
              <a:rPr spc="-15" dirty="0"/>
              <a:t>g</a:t>
            </a:r>
            <a:r>
              <a:rPr dirty="0"/>
              <a:t>o</a:t>
            </a:r>
            <a:r>
              <a:rPr spc="40" dirty="0"/>
              <a:t>r</a:t>
            </a:r>
            <a:r>
              <a:rPr dirty="0"/>
              <a:t>ithm	has	</a:t>
            </a:r>
            <a:r>
              <a:rPr i="1" dirty="0">
                <a:latin typeface="Perpetua"/>
                <a:cs typeface="Perpetua"/>
              </a:rPr>
              <a:t>se</a:t>
            </a:r>
            <a:r>
              <a:rPr i="1" spc="-50" dirty="0">
                <a:latin typeface="Perpetua"/>
                <a:cs typeface="Perpetua"/>
              </a:rPr>
              <a:t>v</a:t>
            </a:r>
            <a:r>
              <a:rPr i="1" spc="-15" dirty="0">
                <a:latin typeface="Perpetua"/>
                <a:cs typeface="Perpetua"/>
              </a:rPr>
              <a:t>e</a:t>
            </a:r>
            <a:r>
              <a:rPr i="1" spc="-75" dirty="0">
                <a:latin typeface="Perpetua"/>
                <a:cs typeface="Perpetua"/>
              </a:rPr>
              <a:t>r</a:t>
            </a:r>
            <a:r>
              <a:rPr i="1" dirty="0">
                <a:latin typeface="Perpetua"/>
                <a:cs typeface="Perpetua"/>
              </a:rPr>
              <a:t>al  </a:t>
            </a:r>
            <a:r>
              <a:rPr i="1" spc="-25" dirty="0">
                <a:latin typeface="Perpetua"/>
                <a:cs typeface="Perpetua"/>
              </a:rPr>
              <a:t>advantages.</a:t>
            </a:r>
          </a:p>
          <a:p>
            <a:pPr marL="2540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8925" marR="825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288925" algn="l"/>
                <a:tab pos="289560" algn="l"/>
              </a:tabLst>
            </a:pPr>
            <a:r>
              <a:rPr spc="-5" dirty="0"/>
              <a:t>It means </a:t>
            </a:r>
            <a:r>
              <a:rPr spc="-10" dirty="0"/>
              <a:t>that </a:t>
            </a:r>
            <a:r>
              <a:rPr dirty="0"/>
              <a:t>the same instructions </a:t>
            </a:r>
            <a:r>
              <a:rPr spc="-5" dirty="0"/>
              <a:t>do not </a:t>
            </a:r>
            <a:r>
              <a:rPr dirty="0"/>
              <a:t>need </a:t>
            </a:r>
            <a:r>
              <a:rPr spc="-5" dirty="0"/>
              <a:t>to be </a:t>
            </a:r>
            <a:r>
              <a:rPr spc="10" dirty="0"/>
              <a:t>written </a:t>
            </a:r>
            <a:r>
              <a:rPr spc="-5" dirty="0"/>
              <a:t>out </a:t>
            </a:r>
            <a:r>
              <a:rPr spc="575" dirty="0"/>
              <a:t> </a:t>
            </a:r>
            <a:r>
              <a:rPr spc="-35" dirty="0"/>
              <a:t>over </a:t>
            </a:r>
            <a:r>
              <a:rPr spc="-5" dirty="0"/>
              <a:t>and </a:t>
            </a:r>
            <a:r>
              <a:rPr spc="-35" dirty="0"/>
              <a:t>over</a:t>
            </a:r>
            <a:r>
              <a:rPr spc="20" dirty="0"/>
              <a:t> </a:t>
            </a:r>
            <a:r>
              <a:rPr spc="-5" dirty="0"/>
              <a:t>again.</a:t>
            </a:r>
          </a:p>
          <a:p>
            <a:pPr marL="2540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8925" marR="5080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324485" algn="l"/>
                <a:tab pos="325120" algn="l"/>
                <a:tab pos="1005840" algn="l"/>
                <a:tab pos="1758314" algn="l"/>
                <a:tab pos="2641600" algn="l"/>
                <a:tab pos="3205480" algn="l"/>
                <a:tab pos="3830320" algn="l"/>
                <a:tab pos="4911090" algn="l"/>
                <a:tab pos="5456555" algn="l"/>
                <a:tab pos="6541770" algn="l"/>
                <a:tab pos="6948805" algn="l"/>
                <a:tab pos="7494270" algn="l"/>
              </a:tabLst>
            </a:pPr>
            <a:r>
              <a:rPr dirty="0"/>
              <a:t>	This	s</a:t>
            </a:r>
            <a:r>
              <a:rPr spc="-75" dirty="0"/>
              <a:t>a</a:t>
            </a:r>
            <a:r>
              <a:rPr spc="-55" dirty="0"/>
              <a:t>v</a:t>
            </a:r>
            <a:r>
              <a:rPr spc="-15" dirty="0"/>
              <a:t>e</a:t>
            </a:r>
            <a:r>
              <a:rPr dirty="0"/>
              <a:t>s	spa</a:t>
            </a:r>
            <a:r>
              <a:rPr spc="-15" dirty="0"/>
              <a:t>c</a:t>
            </a:r>
            <a:r>
              <a:rPr spc="-50" dirty="0"/>
              <a:t>e</a:t>
            </a:r>
            <a:r>
              <a:rPr dirty="0"/>
              <a:t>,	</a:t>
            </a:r>
            <a:r>
              <a:rPr spc="-30" dirty="0"/>
              <a:t>b</a:t>
            </a:r>
            <a:r>
              <a:rPr dirty="0"/>
              <a:t>ut	</a:t>
            </a:r>
            <a:r>
              <a:rPr spc="-5" dirty="0"/>
              <a:t>als</a:t>
            </a:r>
            <a:r>
              <a:rPr dirty="0"/>
              <a:t>o	</a:t>
            </a:r>
            <a:r>
              <a:rPr spc="-25" dirty="0"/>
              <a:t>r</a:t>
            </a:r>
            <a:r>
              <a:rPr dirty="0"/>
              <a:t>ed</a:t>
            </a:r>
            <a:r>
              <a:rPr spc="-10" dirty="0"/>
              <a:t>u</a:t>
            </a:r>
            <a:r>
              <a:rPr dirty="0"/>
              <a:t>ces	the	</a:t>
            </a:r>
            <a:r>
              <a:rPr spc="35" dirty="0"/>
              <a:t>c</a:t>
            </a:r>
            <a:r>
              <a:rPr dirty="0"/>
              <a:t>han</a:t>
            </a:r>
            <a:r>
              <a:rPr spc="-15" dirty="0"/>
              <a:t>c</a:t>
            </a:r>
            <a:r>
              <a:rPr spc="5" dirty="0"/>
              <a:t>e</a:t>
            </a:r>
            <a:r>
              <a:rPr dirty="0"/>
              <a:t>s	</a:t>
            </a:r>
            <a:r>
              <a:rPr spc="-5" dirty="0"/>
              <a:t>o</a:t>
            </a:r>
            <a:r>
              <a:rPr dirty="0"/>
              <a:t>f	the	diffe</a:t>
            </a:r>
            <a:r>
              <a:rPr spc="-25" dirty="0"/>
              <a:t>r</a:t>
            </a:r>
            <a:r>
              <a:rPr dirty="0"/>
              <a:t>ent  </a:t>
            </a:r>
            <a:r>
              <a:rPr spc="-5" dirty="0"/>
              <a:t>versions </a:t>
            </a:r>
            <a:r>
              <a:rPr dirty="0"/>
              <a:t>being</a:t>
            </a:r>
            <a:r>
              <a:rPr spc="-20" dirty="0"/>
              <a:t> </a:t>
            </a:r>
            <a:r>
              <a:rPr spc="-5" dirty="0"/>
              <a:t>different.</a:t>
            </a:r>
          </a:p>
          <a:p>
            <a:pPr marL="2540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50">
              <a:latin typeface="Times New Roman"/>
              <a:cs typeface="Times New Roman"/>
            </a:endParaRPr>
          </a:p>
          <a:p>
            <a:pPr marL="288925" marR="6985" indent="-274320">
              <a:lnSpc>
                <a:spcPts val="2810"/>
              </a:lnSpc>
              <a:buSzPct val="84615"/>
              <a:buFont typeface="Arial"/>
              <a:buChar char="•"/>
              <a:tabLst>
                <a:tab pos="363855" algn="l"/>
                <a:tab pos="364490" algn="l"/>
              </a:tabLst>
            </a:pPr>
            <a:r>
              <a:rPr dirty="0"/>
              <a:t>	</a:t>
            </a:r>
            <a:r>
              <a:rPr spc="-5" dirty="0"/>
              <a:t>It also </a:t>
            </a:r>
            <a:r>
              <a:rPr spc="-10" dirty="0"/>
              <a:t>makes </a:t>
            </a:r>
            <a:r>
              <a:rPr dirty="0"/>
              <a:t>it easy </a:t>
            </a:r>
            <a:r>
              <a:rPr spc="-5" dirty="0"/>
              <a:t>to substitute one </a:t>
            </a:r>
            <a:r>
              <a:rPr spc="-10" dirty="0"/>
              <a:t>recipe </a:t>
            </a:r>
            <a:r>
              <a:rPr spc="-5" dirty="0"/>
              <a:t>or </a:t>
            </a:r>
            <a:r>
              <a:rPr dirty="0"/>
              <a:t>algorithm to </a:t>
            </a:r>
            <a:r>
              <a:rPr spc="-5" dirty="0"/>
              <a:t>do </a:t>
            </a:r>
            <a:r>
              <a:rPr dirty="0"/>
              <a:t>a  </a:t>
            </a:r>
            <a:r>
              <a:rPr spc="5" dirty="0"/>
              <a:t>particular </a:t>
            </a:r>
            <a:r>
              <a:rPr spc="-5" dirty="0"/>
              <a:t>thing </a:t>
            </a:r>
            <a:r>
              <a:rPr dirty="0"/>
              <a:t>in a </a:t>
            </a:r>
            <a:r>
              <a:rPr spc="-5" dirty="0"/>
              <a:t>different </a:t>
            </a:r>
            <a:r>
              <a:rPr spc="-40" dirty="0"/>
              <a:t>way </a:t>
            </a:r>
            <a:r>
              <a:rPr spc="-5" dirty="0"/>
              <a:t>for</a:t>
            </a:r>
            <a:r>
              <a:rPr spc="55" dirty="0"/>
              <a:t> </a:t>
            </a:r>
            <a:r>
              <a:rPr spc="-35" dirty="0"/>
              <a:t>another.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2821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Modularization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6573"/>
            <a:ext cx="8530590" cy="4953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95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dirty="0">
                <a:latin typeface="Perpetua"/>
                <a:cs typeface="Perpetua"/>
              </a:rPr>
              <a:t>Algorithms </a:t>
            </a:r>
            <a:r>
              <a:rPr sz="2500" spc="-5" dirty="0">
                <a:latin typeface="Perpetua"/>
                <a:cs typeface="Perpetua"/>
              </a:rPr>
              <a:t>can be </a:t>
            </a:r>
            <a:r>
              <a:rPr sz="2500" dirty="0">
                <a:latin typeface="Perpetua"/>
                <a:cs typeface="Perpetua"/>
              </a:rPr>
              <a:t>modularized </a:t>
            </a:r>
            <a:r>
              <a:rPr sz="2500" spc="-30" dirty="0">
                <a:latin typeface="Perpetua"/>
                <a:cs typeface="Perpetua"/>
              </a:rPr>
              <a:t>by </a:t>
            </a:r>
            <a:r>
              <a:rPr sz="2500" spc="-5" dirty="0">
                <a:latin typeface="Perpetua"/>
                <a:cs typeface="Perpetua"/>
              </a:rPr>
              <a:t>breaking them into </a:t>
            </a:r>
            <a:r>
              <a:rPr sz="2500" i="1" spc="-10" dirty="0">
                <a:latin typeface="Perpetua"/>
                <a:cs typeface="Perpetua"/>
              </a:rPr>
              <a:t>independent  </a:t>
            </a:r>
            <a:r>
              <a:rPr sz="2500" i="1" spc="-5" dirty="0">
                <a:latin typeface="Perpetua"/>
                <a:cs typeface="Perpetua"/>
              </a:rPr>
              <a:t>subprocesses</a:t>
            </a:r>
            <a:r>
              <a:rPr sz="2500" spc="-5" dirty="0">
                <a:latin typeface="Perpetua"/>
                <a:cs typeface="Perpetua"/>
              </a:rPr>
              <a:t>.</a:t>
            </a:r>
            <a:endParaRPr sz="25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A </a:t>
            </a:r>
            <a:r>
              <a:rPr sz="2500" i="1" spc="-5" dirty="0">
                <a:latin typeface="Perpetua"/>
                <a:cs typeface="Perpetua"/>
              </a:rPr>
              <a:t>module </a:t>
            </a:r>
            <a:r>
              <a:rPr sz="2500" spc="-5" dirty="0">
                <a:latin typeface="Perpetua"/>
                <a:cs typeface="Perpetua"/>
              </a:rPr>
              <a:t>is a named</a:t>
            </a:r>
            <a:r>
              <a:rPr sz="2500" spc="45" dirty="0">
                <a:latin typeface="Perpetua"/>
                <a:cs typeface="Perpetua"/>
              </a:rPr>
              <a:t> </a:t>
            </a:r>
            <a:r>
              <a:rPr sz="2500" spc="-10" dirty="0">
                <a:latin typeface="Perpetua"/>
                <a:cs typeface="Perpetua"/>
              </a:rPr>
              <a:t>subprocess.</a:t>
            </a:r>
            <a:endParaRPr sz="25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spc="-5" dirty="0">
                <a:latin typeface="Perpetua"/>
                <a:cs typeface="Perpetua"/>
              </a:rPr>
              <a:t>It </a:t>
            </a:r>
            <a:r>
              <a:rPr sz="2500" dirty="0">
                <a:latin typeface="Perpetua"/>
                <a:cs typeface="Perpetua"/>
              </a:rPr>
              <a:t>is </a:t>
            </a:r>
            <a:r>
              <a:rPr sz="2500" spc="-5" dirty="0">
                <a:latin typeface="Perpetua"/>
                <a:cs typeface="Perpetua"/>
              </a:rPr>
              <a:t>an </a:t>
            </a:r>
            <a:r>
              <a:rPr sz="2500" dirty="0">
                <a:latin typeface="Perpetua"/>
                <a:cs typeface="Perpetua"/>
              </a:rPr>
              <a:t>individual algorithm </a:t>
            </a: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dirty="0">
                <a:latin typeface="Perpetua"/>
                <a:cs typeface="Perpetua"/>
              </a:rPr>
              <a:t>should do something </a:t>
            </a:r>
            <a:r>
              <a:rPr sz="2500" spc="-5" dirty="0">
                <a:latin typeface="Perpetua"/>
                <a:cs typeface="Perpetua"/>
              </a:rPr>
              <a:t>coherent in its </a:t>
            </a:r>
            <a:r>
              <a:rPr sz="2500" spc="550" dirty="0">
                <a:latin typeface="Perpetua"/>
                <a:cs typeface="Perpetua"/>
              </a:rPr>
              <a:t> </a:t>
            </a:r>
            <a:r>
              <a:rPr sz="2500" spc="-30" dirty="0">
                <a:latin typeface="Perpetua"/>
                <a:cs typeface="Perpetua"/>
              </a:rPr>
              <a:t>own</a:t>
            </a:r>
            <a:r>
              <a:rPr sz="2500" spc="10" dirty="0">
                <a:latin typeface="Perpetua"/>
                <a:cs typeface="Perpetua"/>
              </a:rPr>
              <a:t> </a:t>
            </a:r>
            <a:r>
              <a:rPr sz="2500" spc="5" dirty="0">
                <a:latin typeface="Perpetua"/>
                <a:cs typeface="Perpetua"/>
              </a:rPr>
              <a:t>right.</a:t>
            </a:r>
            <a:endParaRPr sz="2500">
              <a:latin typeface="Perpetua"/>
              <a:cs typeface="Perpetua"/>
            </a:endParaRPr>
          </a:p>
          <a:p>
            <a:pPr marL="561340" marR="6350" lvl="1" indent="-228600" algn="just">
              <a:lnSpc>
                <a:spcPct val="100000"/>
              </a:lnSpc>
              <a:spcBef>
                <a:spcPts val="400"/>
              </a:spcBef>
              <a:buSzPct val="84000"/>
              <a:buFont typeface="Wingdings"/>
              <a:buChar char=""/>
              <a:tabLst>
                <a:tab pos="561340" algn="l"/>
              </a:tabLst>
            </a:pPr>
            <a:r>
              <a:rPr sz="2500" i="1" spc="-80" dirty="0">
                <a:latin typeface="Perpetua"/>
                <a:cs typeface="Perpetua"/>
              </a:rPr>
              <a:t>You </a:t>
            </a:r>
            <a:r>
              <a:rPr sz="2500" i="1" spc="-5" dirty="0">
                <a:latin typeface="Perpetua"/>
                <a:cs typeface="Perpetua"/>
              </a:rPr>
              <a:t>do not just take a </a:t>
            </a:r>
            <a:r>
              <a:rPr sz="2500" i="1" spc="-15" dirty="0">
                <a:latin typeface="Perpetua"/>
                <a:cs typeface="Perpetua"/>
              </a:rPr>
              <a:t>random </a:t>
            </a:r>
            <a:r>
              <a:rPr sz="2500" i="1" spc="-5" dirty="0">
                <a:latin typeface="Perpetua"/>
                <a:cs typeface="Perpetua"/>
              </a:rPr>
              <a:t>set of </a:t>
            </a:r>
            <a:r>
              <a:rPr sz="2500" i="1" dirty="0">
                <a:latin typeface="Perpetua"/>
                <a:cs typeface="Perpetua"/>
              </a:rPr>
              <a:t>instructions </a:t>
            </a:r>
            <a:r>
              <a:rPr sz="2500" i="1" spc="-10" dirty="0">
                <a:latin typeface="Perpetua"/>
                <a:cs typeface="Perpetua"/>
              </a:rPr>
              <a:t>from </a:t>
            </a:r>
            <a:r>
              <a:rPr sz="2500" i="1" spc="-5" dirty="0">
                <a:latin typeface="Perpetua"/>
                <a:cs typeface="Perpetua"/>
              </a:rPr>
              <a:t>an algorithm and </a:t>
            </a:r>
            <a:r>
              <a:rPr sz="2500" i="1" spc="10" dirty="0">
                <a:latin typeface="Perpetua"/>
                <a:cs typeface="Perpetua"/>
              </a:rPr>
              <a:t>turn  </a:t>
            </a:r>
            <a:r>
              <a:rPr sz="2500" i="1" spc="-5" dirty="0">
                <a:latin typeface="Perpetua"/>
                <a:cs typeface="Perpetua"/>
              </a:rPr>
              <a:t>them into a </a:t>
            </a:r>
            <a:r>
              <a:rPr sz="2500" i="1" spc="-20" dirty="0">
                <a:latin typeface="Perpetua"/>
                <a:cs typeface="Perpetua"/>
              </a:rPr>
              <a:t>separate</a:t>
            </a:r>
            <a:r>
              <a:rPr sz="2500" i="1" spc="35" dirty="0">
                <a:latin typeface="Perpetua"/>
                <a:cs typeface="Perpetua"/>
              </a:rPr>
              <a:t> </a:t>
            </a:r>
            <a:r>
              <a:rPr sz="2500" i="1" spc="-5" dirty="0">
                <a:latin typeface="Perpetua"/>
                <a:cs typeface="Perpetua"/>
              </a:rPr>
              <a:t>module.</a:t>
            </a:r>
            <a:endParaRPr sz="25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000"/>
              <a:buFont typeface="Arial"/>
              <a:buChar char="•"/>
              <a:tabLst>
                <a:tab pos="287020" algn="l"/>
              </a:tabLst>
            </a:pPr>
            <a:r>
              <a:rPr sz="2500" i="1" dirty="0">
                <a:latin typeface="Perpetua"/>
                <a:cs typeface="Perpetua"/>
              </a:rPr>
              <a:t>Modularization </a:t>
            </a:r>
            <a:r>
              <a:rPr sz="2500" spc="-5" dirty="0">
                <a:latin typeface="Perpetua"/>
                <a:cs typeface="Perpetua"/>
              </a:rPr>
              <a:t>is a vital element </a:t>
            </a:r>
            <a:r>
              <a:rPr sz="2500" dirty="0">
                <a:latin typeface="Perpetua"/>
                <a:cs typeface="Perpetua"/>
              </a:rPr>
              <a:t>of programming </a:t>
            </a:r>
            <a:r>
              <a:rPr sz="2500" spc="-10" dirty="0">
                <a:latin typeface="Perpetua"/>
                <a:cs typeface="Perpetua"/>
              </a:rPr>
              <a:t>that </a:t>
            </a:r>
            <a:r>
              <a:rPr sz="2500" spc="-20" dirty="0">
                <a:latin typeface="Perpetua"/>
                <a:cs typeface="Perpetua"/>
              </a:rPr>
              <a:t>allows </a:t>
            </a:r>
            <a:r>
              <a:rPr sz="2500" spc="-5" dirty="0">
                <a:latin typeface="Perpetua"/>
                <a:cs typeface="Perpetua"/>
              </a:rPr>
              <a:t>us to  define </a:t>
            </a:r>
            <a:r>
              <a:rPr sz="2500" spc="-20" dirty="0">
                <a:latin typeface="Perpetua"/>
                <a:cs typeface="Perpetua"/>
              </a:rPr>
              <a:t>new </a:t>
            </a:r>
            <a:r>
              <a:rPr sz="2500" spc="-5" dirty="0">
                <a:latin typeface="Perpetua"/>
                <a:cs typeface="Perpetua"/>
              </a:rPr>
              <a:t>computable actions </a:t>
            </a:r>
            <a:r>
              <a:rPr sz="2500" spc="-25" dirty="0">
                <a:latin typeface="Perpetua"/>
                <a:cs typeface="Perpetua"/>
              </a:rPr>
              <a:t>by </a:t>
            </a:r>
            <a:r>
              <a:rPr sz="2500" spc="-5" dirty="0">
                <a:latin typeface="Perpetua"/>
                <a:cs typeface="Perpetua"/>
              </a:rPr>
              <a:t>assigning a name to </a:t>
            </a:r>
            <a:r>
              <a:rPr sz="2500" dirty="0">
                <a:latin typeface="Perpetua"/>
                <a:cs typeface="Perpetua"/>
              </a:rPr>
              <a:t>some  </a:t>
            </a:r>
            <a:r>
              <a:rPr sz="2500" spc="-10" dirty="0">
                <a:latin typeface="Perpetua"/>
                <a:cs typeface="Perpetua"/>
              </a:rPr>
              <a:t>computable</a:t>
            </a:r>
            <a:r>
              <a:rPr sz="2500" spc="25" dirty="0">
                <a:latin typeface="Perpetua"/>
                <a:cs typeface="Perpetua"/>
              </a:rPr>
              <a:t> </a:t>
            </a:r>
            <a:r>
              <a:rPr sz="2500" spc="-15" dirty="0">
                <a:latin typeface="Perpetua"/>
                <a:cs typeface="Perpetua"/>
              </a:rPr>
              <a:t>process.</a:t>
            </a:r>
            <a:endParaRPr sz="2500">
              <a:latin typeface="Perpetua"/>
              <a:cs typeface="Perpetua"/>
            </a:endParaRPr>
          </a:p>
          <a:p>
            <a:pPr marL="286385" marR="7620" indent="-274320" algn="just">
              <a:lnSpc>
                <a:spcPct val="100000"/>
              </a:lnSpc>
              <a:spcBef>
                <a:spcPts val="600"/>
              </a:spcBef>
              <a:buSzPct val="84000"/>
              <a:buFont typeface="Wingdings"/>
              <a:buChar char=""/>
              <a:tabLst>
                <a:tab pos="287020" algn="l"/>
              </a:tabLst>
            </a:pPr>
            <a:r>
              <a:rPr sz="2500" i="1" spc="-5" dirty="0">
                <a:latin typeface="Perpetua"/>
                <a:cs typeface="Perpetua"/>
              </a:rPr>
              <a:t>Modules </a:t>
            </a:r>
            <a:r>
              <a:rPr sz="2500" i="1" spc="-15" dirty="0">
                <a:latin typeface="Perpetua"/>
                <a:cs typeface="Perpetua"/>
              </a:rPr>
              <a:t>are </a:t>
            </a:r>
            <a:r>
              <a:rPr sz="2500" i="1" spc="-5" dirty="0">
                <a:latin typeface="Perpetua"/>
                <a:cs typeface="Perpetua"/>
              </a:rPr>
              <a:t>vital </a:t>
            </a:r>
            <a:r>
              <a:rPr sz="2500" i="1" spc="-15" dirty="0">
                <a:latin typeface="Perpetua"/>
                <a:cs typeface="Perpetua"/>
              </a:rPr>
              <a:t>when </a:t>
            </a:r>
            <a:r>
              <a:rPr sz="2500" i="1" dirty="0">
                <a:latin typeface="Perpetua"/>
                <a:cs typeface="Perpetua"/>
              </a:rPr>
              <a:t>writing </a:t>
            </a:r>
            <a:r>
              <a:rPr sz="2500" i="1" spc="-35" dirty="0">
                <a:latin typeface="Perpetua"/>
                <a:cs typeface="Perpetua"/>
              </a:rPr>
              <a:t>large </a:t>
            </a:r>
            <a:r>
              <a:rPr sz="2500" i="1" dirty="0">
                <a:latin typeface="Perpetua"/>
                <a:cs typeface="Perpetua"/>
              </a:rPr>
              <a:t>algorithms </a:t>
            </a:r>
            <a:r>
              <a:rPr sz="2500" i="1" spc="-10" dirty="0">
                <a:latin typeface="Perpetua"/>
                <a:cs typeface="Perpetua"/>
              </a:rPr>
              <a:t>that </a:t>
            </a:r>
            <a:r>
              <a:rPr sz="2500" i="1" spc="-5" dirty="0">
                <a:latin typeface="Perpetua"/>
                <a:cs typeface="Perpetua"/>
              </a:rPr>
              <a:t>consist of </a:t>
            </a:r>
            <a:r>
              <a:rPr sz="2500" i="1" spc="-20" dirty="0">
                <a:latin typeface="Perpetua"/>
                <a:cs typeface="Perpetua"/>
              </a:rPr>
              <a:t>many </a:t>
            </a:r>
            <a:r>
              <a:rPr sz="2500" i="1" spc="-10" dirty="0">
                <a:latin typeface="Perpetua"/>
                <a:cs typeface="Perpetua"/>
              </a:rPr>
              <a:t>individual  </a:t>
            </a:r>
            <a:r>
              <a:rPr sz="2500" i="1" dirty="0">
                <a:latin typeface="Perpetua"/>
                <a:cs typeface="Perpetua"/>
              </a:rPr>
              <a:t>parts.</a:t>
            </a:r>
            <a:endParaRPr sz="25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81400" y="152400"/>
            <a:ext cx="4648200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235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84680" algn="l"/>
              </a:tabLst>
            </a:pPr>
            <a:r>
              <a:rPr spc="-5" dirty="0"/>
              <a:t>Syntactic	</a:t>
            </a:r>
            <a:r>
              <a:rPr spc="5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895981"/>
            <a:ext cx="8301355" cy="2984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13080" algn="ctr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Perpetua"/>
                <a:cs typeface="Perpetua"/>
              </a:rPr>
              <a:t>Figure:</a:t>
            </a:r>
            <a:r>
              <a:rPr sz="2000" spc="-34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 syntactic pattern - </a:t>
            </a:r>
            <a:r>
              <a:rPr sz="2000" spc="-5" dirty="0">
                <a:latin typeface="Perpetua"/>
                <a:cs typeface="Perpetua"/>
              </a:rPr>
              <a:t>naming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subprocess as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5" dirty="0">
                <a:latin typeface="Perpetua"/>
                <a:cs typeface="Perpetua"/>
              </a:rPr>
              <a:t>module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14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5" dirty="0">
                <a:latin typeface="Perpetua"/>
                <a:cs typeface="Perpetua"/>
              </a:rPr>
              <a:t>Here, </a:t>
            </a:r>
            <a:r>
              <a:rPr sz="2600" i="1" dirty="0">
                <a:latin typeface="Perpetua"/>
                <a:cs typeface="Perpetua"/>
              </a:rPr>
              <a:t>NAME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spc="-5" dirty="0">
                <a:latin typeface="Perpetua"/>
                <a:cs typeface="Perpetua"/>
              </a:rPr>
              <a:t>place holder for </a:t>
            </a:r>
            <a:r>
              <a:rPr sz="2600" dirty="0">
                <a:latin typeface="Perpetua"/>
                <a:cs typeface="Perpetua"/>
              </a:rPr>
              <a:t>the name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dirty="0">
                <a:latin typeface="Perpetua"/>
                <a:cs typeface="Perpetua"/>
              </a:rPr>
              <a:t>(the  </a:t>
            </a:r>
            <a:r>
              <a:rPr sz="2600" spc="-5" dirty="0">
                <a:latin typeface="Perpetua"/>
                <a:cs typeface="Perpetua"/>
              </a:rPr>
              <a:t>subprocess).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844550" algn="l"/>
                <a:tab pos="1320165" algn="l"/>
                <a:tab pos="2261870" algn="l"/>
                <a:tab pos="3431540" algn="l"/>
                <a:tab pos="3743960" algn="l"/>
                <a:tab pos="5038090" algn="l"/>
                <a:tab pos="5394325" algn="l"/>
                <a:tab pos="6104890" algn="l"/>
                <a:tab pos="7099934" algn="l"/>
                <a:tab pos="7577455" algn="l"/>
              </a:tabLst>
            </a:pPr>
            <a:r>
              <a:rPr sz="2600" spc="-8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or	</a:t>
            </a:r>
            <a:r>
              <a:rPr sz="2600" spc="-5" dirty="0">
                <a:latin typeface="Perpetua"/>
                <a:cs typeface="Perpetua"/>
              </a:rPr>
              <a:t>e</a:t>
            </a:r>
            <a:r>
              <a:rPr sz="2600" spc="-235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.	</a:t>
            </a:r>
            <a:r>
              <a:rPr sz="2600" i="1" dirty="0">
                <a:latin typeface="Perpetua"/>
                <a:cs typeface="Perpetua"/>
              </a:rPr>
              <a:t>Mo</a:t>
            </a:r>
            <a:r>
              <a:rPr sz="2600" i="1" spc="-15" dirty="0">
                <a:latin typeface="Perpetua"/>
                <a:cs typeface="Perpetua"/>
              </a:rPr>
              <a:t>d</a:t>
            </a:r>
            <a:r>
              <a:rPr sz="2600" i="1" dirty="0">
                <a:latin typeface="Perpetua"/>
                <a:cs typeface="Perpetua"/>
              </a:rPr>
              <a:t>ule	</a:t>
            </a:r>
            <a:r>
              <a:rPr sz="2600" i="1" spc="-70" dirty="0">
                <a:latin typeface="Perpetua"/>
                <a:cs typeface="Perpetua"/>
              </a:rPr>
              <a:t>a</a:t>
            </a:r>
            <a:r>
              <a:rPr sz="2600" i="1" spc="-55" dirty="0">
                <a:latin typeface="Perpetua"/>
                <a:cs typeface="Perpetua"/>
              </a:rPr>
              <a:t>v</a:t>
            </a:r>
            <a:r>
              <a:rPr sz="2600" i="1" spc="-10" dirty="0">
                <a:latin typeface="Perpetua"/>
                <a:cs typeface="Perpetua"/>
              </a:rPr>
              <a:t>e</a:t>
            </a:r>
            <a:r>
              <a:rPr sz="2600" i="1" spc="-85" dirty="0">
                <a:latin typeface="Perpetua"/>
                <a:cs typeface="Perpetua"/>
              </a:rPr>
              <a:t>r</a:t>
            </a:r>
            <a:r>
              <a:rPr sz="2600" i="1" spc="-45" dirty="0">
                <a:latin typeface="Perpetua"/>
                <a:cs typeface="Perpetua"/>
              </a:rPr>
              <a:t>a</a:t>
            </a:r>
            <a:r>
              <a:rPr sz="2600" i="1" spc="-40" dirty="0">
                <a:latin typeface="Perpetua"/>
                <a:cs typeface="Perpetua"/>
              </a:rPr>
              <a:t>g</a:t>
            </a:r>
            <a:r>
              <a:rPr sz="2600" i="1" dirty="0">
                <a:latin typeface="Perpetua"/>
                <a:cs typeface="Perpetua"/>
              </a:rPr>
              <a:t>e(</a:t>
            </a:r>
            <a:r>
              <a:rPr sz="2600" i="1" spc="-25" dirty="0">
                <a:latin typeface="Perpetua"/>
                <a:cs typeface="Perpetua"/>
              </a:rPr>
              <a:t>)</a:t>
            </a:r>
            <a:r>
              <a:rPr sz="2600" dirty="0">
                <a:latin typeface="Perpetua"/>
                <a:cs typeface="Perpetua"/>
              </a:rPr>
              <a:t>,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s	u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de</a:t>
            </a:r>
            <a:r>
              <a:rPr sz="2600" i="1" spc="1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s</a:t>
            </a:r>
            <a:r>
              <a:rPr sz="2600" i="1" spc="-10" dirty="0">
                <a:latin typeface="Perpetua"/>
                <a:cs typeface="Perpetua"/>
              </a:rPr>
              <a:t>t</a:t>
            </a:r>
            <a:r>
              <a:rPr sz="2600" i="1" spc="-5" dirty="0">
                <a:latin typeface="Perpetua"/>
                <a:cs typeface="Perpetua"/>
              </a:rPr>
              <a:t>oo</a:t>
            </a:r>
            <a:r>
              <a:rPr sz="2600" i="1" dirty="0">
                <a:latin typeface="Perpetua"/>
                <a:cs typeface="Perpetua"/>
              </a:rPr>
              <a:t>d	</a:t>
            </a:r>
            <a:r>
              <a:rPr sz="2600" i="1" spc="-5" dirty="0">
                <a:latin typeface="Perpetua"/>
                <a:cs typeface="Perpetua"/>
              </a:rPr>
              <a:t>t</a:t>
            </a:r>
            <a:r>
              <a:rPr sz="2600" i="1" dirty="0">
                <a:latin typeface="Perpetua"/>
                <a:cs typeface="Perpetua"/>
              </a:rPr>
              <a:t>o	</a:t>
            </a:r>
            <a:r>
              <a:rPr sz="2600" i="1" spc="-5" dirty="0">
                <a:latin typeface="Perpetua"/>
                <a:cs typeface="Perpetua"/>
              </a:rPr>
              <a:t>m</a:t>
            </a:r>
            <a:r>
              <a:rPr sz="2600" i="1" spc="-20" dirty="0">
                <a:latin typeface="Perpetua"/>
                <a:cs typeface="Perpetua"/>
              </a:rPr>
              <a:t>e</a:t>
            </a:r>
            <a:r>
              <a:rPr sz="2600" i="1" dirty="0">
                <a:latin typeface="Perpetua"/>
                <a:cs typeface="Perpetua"/>
              </a:rPr>
              <a:t>an	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spc="-15" dirty="0">
                <a:latin typeface="Perpetua"/>
                <a:cs typeface="Perpetua"/>
              </a:rPr>
              <a:t>e</a:t>
            </a:r>
            <a:r>
              <a:rPr sz="2600" i="1" spc="-35" dirty="0">
                <a:latin typeface="Perpetua"/>
                <a:cs typeface="Perpetua"/>
              </a:rPr>
              <a:t>x</a:t>
            </a:r>
            <a:r>
              <a:rPr sz="2600" i="1" dirty="0">
                <a:latin typeface="Perpetua"/>
                <a:cs typeface="Perpetua"/>
              </a:rPr>
              <a:t>ec</a:t>
            </a:r>
            <a:r>
              <a:rPr sz="2600" i="1" spc="-15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te	</a:t>
            </a:r>
            <a:r>
              <a:rPr sz="2600" i="1" spc="-5" dirty="0">
                <a:latin typeface="Perpetua"/>
                <a:cs typeface="Perpetua"/>
              </a:rPr>
              <a:t>th</a:t>
            </a:r>
            <a:r>
              <a:rPr sz="2600" i="1" dirty="0">
                <a:latin typeface="Perpetua"/>
                <a:cs typeface="Perpetua"/>
              </a:rPr>
              <a:t>e	p</a:t>
            </a:r>
            <a:r>
              <a:rPr sz="2600" i="1" spc="-15" dirty="0">
                <a:latin typeface="Perpetua"/>
                <a:cs typeface="Perpetua"/>
              </a:rPr>
              <a:t>r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spc="-10" dirty="0">
                <a:latin typeface="Perpetua"/>
                <a:cs typeface="Perpetua"/>
              </a:rPr>
              <a:t>c</a:t>
            </a:r>
            <a:r>
              <a:rPr sz="2600" i="1" dirty="0">
                <a:latin typeface="Perpetua"/>
                <a:cs typeface="Perpetua"/>
              </a:rPr>
              <a:t>ess  </a:t>
            </a:r>
            <a:r>
              <a:rPr sz="2600" i="1" spc="-5" dirty="0">
                <a:latin typeface="Perpetua"/>
                <a:cs typeface="Perpetua"/>
              </a:rPr>
              <a:t>named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5" dirty="0">
                <a:latin typeface="Perpetua"/>
                <a:cs typeface="Perpetua"/>
              </a:rPr>
              <a:t>average</a:t>
            </a:r>
            <a:r>
              <a:rPr sz="2600" spc="-55" dirty="0">
                <a:latin typeface="Perpetua"/>
                <a:cs typeface="Perpetua"/>
              </a:rPr>
              <a:t>.”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90800" y="1524000"/>
            <a:ext cx="2971800" cy="1295400"/>
          </a:xfrm>
          <a:prstGeom prst="rect">
            <a:avLst/>
          </a:prstGeom>
          <a:solidFill>
            <a:srgbClr val="E9E4DC"/>
          </a:solidFill>
          <a:ln w="12192">
            <a:solidFill>
              <a:srgbClr val="9B310D"/>
            </a:solidFill>
          </a:ln>
        </p:spPr>
        <p:txBody>
          <a:bodyPr vert="horz" wrap="square" lIns="0" tIns="156210" rIns="0" bIns="0" rtlCol="0">
            <a:spAutoFit/>
          </a:bodyPr>
          <a:lstStyle/>
          <a:p>
            <a:pPr marL="497205" marR="375920" indent="-329565">
              <a:lnSpc>
                <a:spcPct val="100000"/>
              </a:lnSpc>
              <a:spcBef>
                <a:spcPts val="1230"/>
              </a:spcBef>
            </a:pPr>
            <a:r>
              <a:rPr sz="2400" b="1" dirty="0">
                <a:latin typeface="Perpetua"/>
                <a:cs typeface="Perpetua"/>
              </a:rPr>
              <a:t>Module NAME()</a:t>
            </a:r>
            <a:r>
              <a:rPr sz="2400" b="1" spc="-90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is  </a:t>
            </a:r>
            <a:r>
              <a:rPr sz="2400" b="1" spc="-15" dirty="0">
                <a:latin typeface="Perpetua"/>
                <a:cs typeface="Perpetua"/>
              </a:rPr>
              <a:t>ACTIONS</a:t>
            </a:r>
            <a:endParaRPr sz="2400">
              <a:latin typeface="Perpetua"/>
              <a:cs typeface="Perpetua"/>
            </a:endParaRPr>
          </a:p>
          <a:p>
            <a:pPr marL="167640">
              <a:lnSpc>
                <a:spcPct val="100000"/>
              </a:lnSpc>
            </a:pPr>
            <a:r>
              <a:rPr sz="2400" b="1" dirty="0">
                <a:latin typeface="Perpetua"/>
                <a:cs typeface="Perpetua"/>
              </a:rPr>
              <a:t>endmodule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52600" y="1219200"/>
            <a:ext cx="5638800" cy="2590800"/>
          </a:xfrm>
          <a:custGeom>
            <a:avLst/>
            <a:gdLst/>
            <a:ahLst/>
            <a:cxnLst/>
            <a:rect l="l" t="t" r="r" b="b"/>
            <a:pathLst>
              <a:path w="5638800" h="2590800">
                <a:moveTo>
                  <a:pt x="0" y="2590800"/>
                </a:moveTo>
                <a:lnTo>
                  <a:pt x="5638800" y="2590800"/>
                </a:lnTo>
                <a:lnTo>
                  <a:pt x="56388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52600" y="1219200"/>
            <a:ext cx="5638800" cy="2590800"/>
          </a:xfrm>
          <a:custGeom>
            <a:avLst/>
            <a:gdLst/>
            <a:ahLst/>
            <a:cxnLst/>
            <a:rect l="l" t="t" r="r" b="b"/>
            <a:pathLst>
              <a:path w="5638800" h="2590800">
                <a:moveTo>
                  <a:pt x="0" y="2590800"/>
                </a:moveTo>
                <a:lnTo>
                  <a:pt x="5638800" y="2590800"/>
                </a:lnTo>
                <a:lnTo>
                  <a:pt x="5638800" y="0"/>
                </a:lnTo>
                <a:lnTo>
                  <a:pt x="0" y="0"/>
                </a:lnTo>
                <a:lnTo>
                  <a:pt x="0" y="25908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2903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10" dirty="0"/>
              <a:t>Grill </a:t>
            </a:r>
            <a:r>
              <a:rPr spc="-5" dirty="0"/>
              <a:t>a</a:t>
            </a:r>
            <a:r>
              <a:rPr spc="-114" dirty="0"/>
              <a:t> </a:t>
            </a:r>
            <a:r>
              <a:rPr spc="-5" dirty="0"/>
              <a:t>steak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35940" y="1278077"/>
            <a:ext cx="8225155" cy="5010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99285" indent="-51562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899285" algn="l"/>
                <a:tab pos="1899920" algn="l"/>
              </a:tabLst>
            </a:pPr>
            <a:r>
              <a:rPr sz="2800" spc="-5" dirty="0">
                <a:latin typeface="Perpetua"/>
                <a:cs typeface="Perpetua"/>
              </a:rPr>
              <a:t>Module </a:t>
            </a:r>
            <a:r>
              <a:rPr sz="2800" spc="5" dirty="0">
                <a:latin typeface="Perpetua"/>
                <a:cs typeface="Perpetua"/>
              </a:rPr>
              <a:t>grillSteak() </a:t>
            </a:r>
            <a:r>
              <a:rPr sz="2800" spc="-10" dirty="0">
                <a:latin typeface="Perpetua"/>
                <a:cs typeface="Perpetua"/>
              </a:rPr>
              <a:t>is</a:t>
            </a:r>
            <a:endParaRPr sz="2800">
              <a:latin typeface="Perpetua"/>
              <a:cs typeface="Perpetua"/>
            </a:endParaRPr>
          </a:p>
          <a:p>
            <a:pPr marL="1899285" indent="-51562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99285" algn="l"/>
                <a:tab pos="1899920" algn="l"/>
                <a:tab pos="4215130" algn="l"/>
              </a:tabLst>
            </a:pPr>
            <a:r>
              <a:rPr sz="2800" spc="-45" dirty="0">
                <a:latin typeface="Perpetua"/>
                <a:cs typeface="Perpetua"/>
              </a:rPr>
              <a:t>steakTemp	</a:t>
            </a:r>
            <a:r>
              <a:rPr sz="2800" spc="-5" dirty="0">
                <a:latin typeface="Perpetua"/>
                <a:cs typeface="Perpetua"/>
              </a:rPr>
              <a:t>75</a:t>
            </a:r>
            <a:endParaRPr sz="2800">
              <a:latin typeface="Perpetua"/>
              <a:cs typeface="Perpetua"/>
            </a:endParaRPr>
          </a:p>
          <a:p>
            <a:pPr marL="1899285" indent="-515620">
              <a:lnSpc>
                <a:spcPct val="100000"/>
              </a:lnSpc>
              <a:buAutoNum type="arabicPeriod"/>
              <a:tabLst>
                <a:tab pos="1899285" algn="l"/>
                <a:tab pos="1899920" algn="l"/>
              </a:tabLst>
            </a:pPr>
            <a:r>
              <a:rPr sz="2800" spc="-10" dirty="0">
                <a:latin typeface="Perpetua"/>
                <a:cs typeface="Perpetua"/>
              </a:rPr>
              <a:t>while </a:t>
            </a:r>
            <a:r>
              <a:rPr sz="2800" spc="-45" dirty="0">
                <a:latin typeface="Perpetua"/>
                <a:cs typeface="Perpetua"/>
              </a:rPr>
              <a:t>steakTemp </a:t>
            </a:r>
            <a:r>
              <a:rPr sz="2800" spc="-5" dirty="0">
                <a:latin typeface="Perpetua"/>
                <a:cs typeface="Perpetua"/>
              </a:rPr>
              <a:t>&lt; 135</a:t>
            </a:r>
            <a:r>
              <a:rPr sz="2800" spc="6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do</a:t>
            </a:r>
            <a:endParaRPr sz="2800">
              <a:latin typeface="Perpetua"/>
              <a:cs typeface="Perpetua"/>
            </a:endParaRPr>
          </a:p>
          <a:p>
            <a:pPr marL="2178050">
              <a:lnSpc>
                <a:spcPct val="100000"/>
              </a:lnSpc>
              <a:tabLst>
                <a:tab pos="2556510" algn="l"/>
                <a:tab pos="4791075" algn="l"/>
              </a:tabLst>
            </a:pPr>
            <a:r>
              <a:rPr sz="2800" spc="-5" dirty="0">
                <a:latin typeface="Perpetua"/>
                <a:cs typeface="Perpetua"/>
              </a:rPr>
              <a:t>a.	</a:t>
            </a:r>
            <a:r>
              <a:rPr sz="2800" spc="-45" dirty="0">
                <a:latin typeface="Perpetua"/>
                <a:cs typeface="Perpetua"/>
              </a:rPr>
              <a:t>steakTemp	steakTemp </a:t>
            </a:r>
            <a:r>
              <a:rPr sz="2800" spc="-5" dirty="0">
                <a:latin typeface="Perpetua"/>
                <a:cs typeface="Perpetua"/>
              </a:rPr>
              <a:t>+</a:t>
            </a:r>
            <a:r>
              <a:rPr sz="2800" spc="2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13</a:t>
            </a:r>
            <a:endParaRPr sz="2800">
              <a:latin typeface="Perpetua"/>
              <a:cs typeface="Perpetua"/>
            </a:endParaRPr>
          </a:p>
          <a:p>
            <a:pPr marL="1954530" indent="-490855">
              <a:lnSpc>
                <a:spcPct val="100000"/>
              </a:lnSpc>
              <a:buAutoNum type="arabicPeriod" startAt="4"/>
              <a:tabLst>
                <a:tab pos="1953895" algn="l"/>
                <a:tab pos="1954530" algn="l"/>
              </a:tabLst>
            </a:pPr>
            <a:r>
              <a:rPr sz="2800" spc="-15" dirty="0">
                <a:latin typeface="Perpetua"/>
                <a:cs typeface="Perpetua"/>
              </a:rPr>
              <a:t>endwhile</a:t>
            </a:r>
            <a:endParaRPr sz="2800">
              <a:latin typeface="Perpetua"/>
              <a:cs typeface="Perpetua"/>
            </a:endParaRPr>
          </a:p>
          <a:p>
            <a:pPr marL="1716405" indent="-332740">
              <a:lnSpc>
                <a:spcPts val="3245"/>
              </a:lnSpc>
              <a:buAutoNum type="arabicPeriod" startAt="4"/>
              <a:tabLst>
                <a:tab pos="1717039" algn="l"/>
              </a:tabLst>
            </a:pPr>
            <a:r>
              <a:rPr sz="2800" spc="-5" dirty="0">
                <a:latin typeface="Perpetua"/>
                <a:cs typeface="Perpetua"/>
              </a:rPr>
              <a:t>endmodule</a:t>
            </a:r>
            <a:endParaRPr sz="2800">
              <a:latin typeface="Perpetua"/>
              <a:cs typeface="Perpetua"/>
            </a:endParaRPr>
          </a:p>
          <a:p>
            <a:pPr marR="491490" algn="ctr">
              <a:lnSpc>
                <a:spcPts val="2235"/>
              </a:lnSpc>
            </a:pPr>
            <a:r>
              <a:rPr sz="2000" spc="-10" dirty="0">
                <a:latin typeface="Perpetua"/>
                <a:cs typeface="Perpetua"/>
              </a:rPr>
              <a:t>Figure:</a:t>
            </a:r>
            <a:r>
              <a:rPr sz="2000" spc="-33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 </a:t>
            </a:r>
            <a:r>
              <a:rPr sz="2000" i="1" dirty="0">
                <a:latin typeface="Perpetua"/>
                <a:cs typeface="Perpetua"/>
              </a:rPr>
              <a:t>grillSteak </a:t>
            </a:r>
            <a:r>
              <a:rPr sz="2000" spc="-10" dirty="0">
                <a:latin typeface="Perpetua"/>
                <a:cs typeface="Perpetua"/>
              </a:rPr>
              <a:t>module</a:t>
            </a:r>
            <a:endParaRPr sz="2000">
              <a:latin typeface="Perpetua"/>
              <a:cs typeface="Perpetua"/>
            </a:endParaRPr>
          </a:p>
          <a:p>
            <a:pPr marL="286385" marR="5080" indent="-274320">
              <a:lnSpc>
                <a:spcPts val="3120"/>
              </a:lnSpc>
              <a:spcBef>
                <a:spcPts val="5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grillSteak </a:t>
            </a:r>
            <a:r>
              <a:rPr sz="2600" spc="-10" dirty="0">
                <a:latin typeface="Perpetua"/>
                <a:cs typeface="Perpetua"/>
              </a:rPr>
              <a:t>module, </a:t>
            </a:r>
            <a:r>
              <a:rPr sz="2600" spc="-20" dirty="0">
                <a:latin typeface="Perpetua"/>
                <a:cs typeface="Perpetua"/>
              </a:rPr>
              <a:t>shows </a:t>
            </a: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steak </a:t>
            </a: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spc="5" dirty="0">
                <a:latin typeface="Perpetua"/>
                <a:cs typeface="Perpetua"/>
              </a:rPr>
              <a:t>algorithm </a:t>
            </a:r>
            <a:r>
              <a:rPr sz="2600" dirty="0">
                <a:latin typeface="Perpetua"/>
                <a:cs typeface="Perpetua"/>
              </a:rPr>
              <a:t>can  be </a:t>
            </a:r>
            <a:r>
              <a:rPr sz="2600" spc="5" dirty="0">
                <a:latin typeface="Perpetua"/>
                <a:cs typeface="Perpetua"/>
              </a:rPr>
              <a:t>written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5" dirty="0">
                <a:latin typeface="Perpetua"/>
                <a:cs typeface="Perpetua"/>
              </a:rPr>
              <a:t> module.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ct val="100000"/>
              </a:lnSpc>
              <a:spcBef>
                <a:spcPts val="500"/>
              </a:spcBef>
              <a:buSzPct val="84615"/>
              <a:buFont typeface="Wingdings"/>
              <a:buChar char=""/>
              <a:tabLst>
                <a:tab pos="287020" algn="l"/>
                <a:tab pos="892175" algn="l"/>
                <a:tab pos="1675130" algn="l"/>
                <a:tab pos="2856865" algn="l"/>
                <a:tab pos="3176905" algn="l"/>
                <a:tab pos="4495165" algn="l"/>
                <a:tab pos="5172075" algn="l"/>
                <a:tab pos="5687060" algn="l"/>
                <a:tab pos="6708775" algn="l"/>
                <a:tab pos="7084695" algn="l"/>
                <a:tab pos="8089265" algn="l"/>
              </a:tabLst>
            </a:pPr>
            <a:r>
              <a:rPr sz="2600" dirty="0">
                <a:latin typeface="Perpetua"/>
                <a:cs typeface="Perpetua"/>
              </a:rPr>
              <a:t>The	name	</a:t>
            </a:r>
            <a:r>
              <a:rPr sz="2600" i="1" dirty="0">
                <a:latin typeface="Perpetua"/>
                <a:cs typeface="Perpetua"/>
              </a:rPr>
              <a:t>g</a:t>
            </a:r>
            <a:r>
              <a:rPr sz="2600" i="1" spc="60" dirty="0">
                <a:latin typeface="Perpetua"/>
                <a:cs typeface="Perpetua"/>
              </a:rPr>
              <a:t>r</a:t>
            </a:r>
            <a:r>
              <a:rPr sz="2600" i="1" spc="-5" dirty="0">
                <a:latin typeface="Perpetua"/>
                <a:cs typeface="Perpetua"/>
              </a:rPr>
              <a:t>illS</a:t>
            </a:r>
            <a:r>
              <a:rPr sz="2600" i="1" spc="-15" dirty="0">
                <a:latin typeface="Perpetua"/>
                <a:cs typeface="Perpetua"/>
              </a:rPr>
              <a:t>t</a:t>
            </a:r>
            <a:r>
              <a:rPr sz="2600" i="1" dirty="0">
                <a:latin typeface="Perpetua"/>
                <a:cs typeface="Perpetua"/>
              </a:rPr>
              <a:t>eak	</a:t>
            </a:r>
            <a:r>
              <a:rPr sz="2600" dirty="0">
                <a:latin typeface="Perpetua"/>
                <a:cs typeface="Perpetua"/>
              </a:rPr>
              <a:t>is	</a:t>
            </a:r>
            <a:r>
              <a:rPr sz="2600" spc="-2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sso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-2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ted	wi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	the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ess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</a:t>
            </a:r>
            <a:r>
              <a:rPr sz="2600" spc="35" dirty="0">
                <a:latin typeface="Perpetua"/>
                <a:cs typeface="Perpetua"/>
              </a:rPr>
              <a:t>g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illing	a  steak.</a:t>
            </a:r>
            <a:endParaRPr sz="2600">
              <a:latin typeface="Perpetua"/>
              <a:cs typeface="Perpetua"/>
            </a:endParaRPr>
          </a:p>
          <a:p>
            <a:pPr marL="320040" indent="-307975">
              <a:lnSpc>
                <a:spcPct val="100000"/>
              </a:lnSpc>
              <a:spcBef>
                <a:spcPts val="570"/>
              </a:spcBef>
              <a:buSzPct val="84615"/>
              <a:buFont typeface="Wingdings"/>
              <a:buChar char=""/>
              <a:tabLst>
                <a:tab pos="320675" algn="l"/>
              </a:tabLst>
            </a:pPr>
            <a:r>
              <a:rPr sz="2600" spc="-14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0" dirty="0">
                <a:latin typeface="Perpetua"/>
                <a:cs typeface="Perpetua"/>
              </a:rPr>
              <a:t>execute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subprocess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5" dirty="0">
                <a:latin typeface="Perpetua"/>
                <a:cs typeface="Perpetua"/>
              </a:rPr>
              <a:t>writing</a:t>
            </a:r>
            <a:r>
              <a:rPr sz="2600" spc="140" dirty="0">
                <a:latin typeface="Perpetua"/>
                <a:cs typeface="Perpetua"/>
              </a:rPr>
              <a:t> </a:t>
            </a:r>
            <a:r>
              <a:rPr sz="2800" i="1" spc="5" dirty="0">
                <a:latin typeface="Perpetua"/>
                <a:cs typeface="Perpetua"/>
              </a:rPr>
              <a:t>grillSteak().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5561" y="1943354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5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5">
                <a:moveTo>
                  <a:pt x="77766" y="25954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305"/>
                </a:lnTo>
                <a:lnTo>
                  <a:pt x="77766" y="25954"/>
                </a:lnTo>
                <a:close/>
              </a:path>
              <a:path w="457200" h="78105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4"/>
                </a:lnTo>
                <a:lnTo>
                  <a:pt x="64770" y="25908"/>
                </a:lnTo>
                <a:close/>
              </a:path>
              <a:path w="457200" h="78105">
                <a:moveTo>
                  <a:pt x="77766" y="25908"/>
                </a:moveTo>
                <a:lnTo>
                  <a:pt x="64770" y="25908"/>
                </a:lnTo>
                <a:lnTo>
                  <a:pt x="77766" y="25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48961" y="2857754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5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5">
                <a:moveTo>
                  <a:pt x="77766" y="25954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305"/>
                </a:lnTo>
                <a:lnTo>
                  <a:pt x="77766" y="25954"/>
                </a:lnTo>
                <a:close/>
              </a:path>
              <a:path w="457200" h="78105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4"/>
                </a:lnTo>
                <a:lnTo>
                  <a:pt x="64770" y="25908"/>
                </a:lnTo>
                <a:close/>
              </a:path>
              <a:path w="457200" h="78105">
                <a:moveTo>
                  <a:pt x="77766" y="25908"/>
                </a:moveTo>
                <a:lnTo>
                  <a:pt x="64770" y="25908"/>
                </a:lnTo>
                <a:lnTo>
                  <a:pt x="77766" y="25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66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Eg. </a:t>
            </a:r>
            <a:r>
              <a:rPr spc="-5" dirty="0"/>
              <a:t>Making a</a:t>
            </a:r>
            <a:r>
              <a:rPr spc="-90" dirty="0"/>
              <a:t> </a:t>
            </a:r>
            <a:r>
              <a:rPr dirty="0"/>
              <a:t>dinner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509725"/>
            <a:ext cx="8531860" cy="4741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71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30" dirty="0">
                <a:latin typeface="Perpetua"/>
                <a:cs typeface="Perpetua"/>
              </a:rPr>
              <a:t>Consider,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spc="10" dirty="0">
                <a:latin typeface="Perpetua"/>
                <a:cs typeface="Perpetua"/>
              </a:rPr>
              <a:t>chef </a:t>
            </a:r>
            <a:r>
              <a:rPr sz="2600" dirty="0">
                <a:latin typeface="Perpetua"/>
                <a:cs typeface="Perpetua"/>
              </a:rPr>
              <a:t>who is </a:t>
            </a:r>
            <a:r>
              <a:rPr sz="2600" spc="-5" dirty="0">
                <a:latin typeface="Perpetua"/>
                <a:cs typeface="Perpetua"/>
              </a:rPr>
              <a:t>making dinner for </a:t>
            </a:r>
            <a:r>
              <a:rPr sz="2600" dirty="0">
                <a:latin typeface="Perpetua"/>
                <a:cs typeface="Perpetua"/>
              </a:rPr>
              <a:t>a small  </a:t>
            </a:r>
            <a:r>
              <a:rPr sz="2600" spc="-5" dirty="0">
                <a:latin typeface="Perpetua"/>
                <a:cs typeface="Perpetua"/>
              </a:rPr>
              <a:t>private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party.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858519" algn="l"/>
                <a:tab pos="1722755" algn="l"/>
                <a:tab pos="2887345" algn="l"/>
                <a:tab pos="3431540" algn="l"/>
                <a:tab pos="4304665" algn="l"/>
                <a:tab pos="5354955" algn="l"/>
                <a:tab pos="5761990" algn="l"/>
                <a:tab pos="6800215" algn="l"/>
                <a:tab pos="7747634" algn="l"/>
                <a:tab pos="8142605" algn="l"/>
              </a:tabLst>
            </a:pPr>
            <a:r>
              <a:rPr sz="2600" spc="-290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migh</a:t>
            </a:r>
            <a:r>
              <a:rPr sz="2600" dirty="0">
                <a:latin typeface="Perpetua"/>
                <a:cs typeface="Perpetua"/>
              </a:rPr>
              <a:t>t	des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ibe	the	en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-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spc="-1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cess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</a:t>
            </a:r>
            <a:r>
              <a:rPr sz="2600" spc="-5" dirty="0">
                <a:latin typeface="Perpetua"/>
                <a:cs typeface="Perpetua"/>
              </a:rPr>
              <a:t>makin</a:t>
            </a:r>
            <a:r>
              <a:rPr sz="2600" dirty="0">
                <a:latin typeface="Perpetua"/>
                <a:cs typeface="Perpetua"/>
              </a:rPr>
              <a:t>g	din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er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the  </a:t>
            </a:r>
            <a:r>
              <a:rPr sz="2600" spc="-10" dirty="0">
                <a:latin typeface="Perpetua"/>
                <a:cs typeface="Perpetua"/>
              </a:rPr>
              <a:t>execution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series </a:t>
            </a:r>
            <a:r>
              <a:rPr sz="2600" spc="-5" dirty="0">
                <a:latin typeface="Perpetua"/>
                <a:cs typeface="Perpetua"/>
              </a:rPr>
              <a:t>of modules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20" dirty="0">
                <a:latin typeface="Perpetua"/>
                <a:cs typeface="Perpetua"/>
              </a:rPr>
              <a:t>involve: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baking a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cake,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9"/>
              </a:spcBef>
              <a:buSzPct val="80769"/>
              <a:buFont typeface="Wingdings"/>
              <a:buChar char=""/>
              <a:tabLst>
                <a:tab pos="836294" algn="l"/>
              </a:tabLst>
            </a:pPr>
            <a:r>
              <a:rPr sz="2600" dirty="0">
                <a:latin typeface="Perpetua"/>
                <a:cs typeface="Perpetua"/>
              </a:rPr>
              <a:t>fixing a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salad,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836294" algn="l"/>
              </a:tabLst>
            </a:pPr>
            <a:r>
              <a:rPr sz="2600" spc="-5" dirty="0">
                <a:latin typeface="Perpetua"/>
                <a:cs typeface="Perpetua"/>
              </a:rPr>
              <a:t>making </a:t>
            </a:r>
            <a:r>
              <a:rPr sz="2600" spc="-10" dirty="0">
                <a:latin typeface="Perpetua"/>
                <a:cs typeface="Perpetua"/>
              </a:rPr>
              <a:t>lemonade,</a:t>
            </a:r>
            <a:r>
              <a:rPr sz="2600" spc="-1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endParaRPr sz="26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836294" algn="l"/>
              </a:tabLst>
            </a:pP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steak.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Each of these modules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dirty="0">
                <a:latin typeface="Perpetua"/>
                <a:cs typeface="Perpetua"/>
              </a:rPr>
              <a:t>understood as an individual, </a:t>
            </a:r>
            <a:r>
              <a:rPr sz="2600" i="1" spc="-5" dirty="0">
                <a:latin typeface="Perpetua"/>
                <a:cs typeface="Perpetua"/>
              </a:rPr>
              <a:t>algorithemmer-  </a:t>
            </a:r>
            <a:r>
              <a:rPr sz="2600" i="1" dirty="0">
                <a:latin typeface="Perpetua"/>
                <a:cs typeface="Perpetua"/>
              </a:rPr>
              <a:t>defined </a:t>
            </a:r>
            <a:r>
              <a:rPr sz="2600" i="1" spc="-10" dirty="0">
                <a:latin typeface="Perpetua"/>
                <a:cs typeface="Perpetua"/>
              </a:rPr>
              <a:t>computable </a:t>
            </a:r>
            <a:r>
              <a:rPr sz="2600" i="1" spc="-5" dirty="0">
                <a:latin typeface="Perpetua"/>
                <a:cs typeface="Perpetua"/>
              </a:rPr>
              <a:t>action,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these actions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</a:t>
            </a:r>
            <a:r>
              <a:rPr sz="2600" i="1" spc="-20" dirty="0">
                <a:latin typeface="Perpetua"/>
                <a:cs typeface="Perpetua"/>
              </a:rPr>
              <a:t>invoked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10" dirty="0">
                <a:latin typeface="Perpetua"/>
                <a:cs typeface="Perpetua"/>
              </a:rPr>
              <a:t>simply  </a:t>
            </a:r>
            <a:r>
              <a:rPr sz="2600" i="1" spc="5" dirty="0">
                <a:latin typeface="Perpetua"/>
                <a:cs typeface="Perpetua"/>
              </a:rPr>
              <a:t>referring </a:t>
            </a:r>
            <a:r>
              <a:rPr sz="2600" i="1" spc="-5" dirty="0">
                <a:latin typeface="Perpetua"/>
                <a:cs typeface="Perpetua"/>
              </a:rPr>
              <a:t>to them </a:t>
            </a:r>
            <a:r>
              <a:rPr sz="2600" i="1" spc="-35" dirty="0">
                <a:latin typeface="Perpetua"/>
                <a:cs typeface="Perpetua"/>
              </a:rPr>
              <a:t>by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name.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200" y="2819400"/>
            <a:ext cx="1485900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05486"/>
            <a:ext cx="39465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i="1" spc="-5" dirty="0">
                <a:latin typeface="Perpetua"/>
                <a:cs typeface="Perpetua"/>
              </a:rPr>
              <a:t>make dinner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spc="-5" dirty="0"/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406646"/>
            <a:ext cx="5102225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Since </a:t>
            </a:r>
            <a:r>
              <a:rPr sz="2600" i="1" spc="-5" dirty="0">
                <a:latin typeface="Perpetua"/>
                <a:cs typeface="Perpetua"/>
              </a:rPr>
              <a:t>these modules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been </a:t>
            </a:r>
            <a:r>
              <a:rPr sz="2600" i="1" spc="-15" dirty="0">
                <a:latin typeface="Perpetua"/>
                <a:cs typeface="Perpetua"/>
              </a:rPr>
              <a:t>elevated </a:t>
            </a:r>
            <a:r>
              <a:rPr sz="2600" i="1" spc="-5" dirty="0">
                <a:latin typeface="Perpetua"/>
                <a:cs typeface="Perpetua"/>
              </a:rPr>
              <a:t>to the  status of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computable action,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can also  </a:t>
            </a:r>
            <a:r>
              <a:rPr sz="2600" i="1" spc="-10" dirty="0">
                <a:latin typeface="Perpetua"/>
                <a:cs typeface="Perpetua"/>
              </a:rPr>
              <a:t>incorporate </a:t>
            </a:r>
            <a:r>
              <a:rPr sz="2600" i="1" spc="-5" dirty="0">
                <a:latin typeface="Perpetua"/>
                <a:cs typeface="Perpetua"/>
              </a:rPr>
              <a:t>them into our </a:t>
            </a:r>
            <a:r>
              <a:rPr sz="2600" i="1" dirty="0">
                <a:latin typeface="Perpetua"/>
                <a:cs typeface="Perpetua"/>
              </a:rPr>
              <a:t>flowchart  </a:t>
            </a:r>
            <a:r>
              <a:rPr sz="2600" i="1" spc="-10" dirty="0">
                <a:latin typeface="Perpetua"/>
                <a:cs typeface="Perpetua"/>
              </a:rPr>
              <a:t>notation.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24600" y="3048000"/>
            <a:ext cx="2057400" cy="3048000"/>
          </a:xfrm>
          <a:custGeom>
            <a:avLst/>
            <a:gdLst/>
            <a:ahLst/>
            <a:cxnLst/>
            <a:rect l="l" t="t" r="r" b="b"/>
            <a:pathLst>
              <a:path w="2057400" h="3048000">
                <a:moveTo>
                  <a:pt x="0" y="3048000"/>
                </a:moveTo>
                <a:lnTo>
                  <a:pt x="2057400" y="3048000"/>
                </a:lnTo>
                <a:lnTo>
                  <a:pt x="2057400" y="0"/>
                </a:lnTo>
                <a:lnTo>
                  <a:pt x="0" y="0"/>
                </a:lnTo>
                <a:lnTo>
                  <a:pt x="0" y="30480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31789" y="6182055"/>
            <a:ext cx="2822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spc="-10" dirty="0">
                <a:latin typeface="Perpetua"/>
                <a:cs typeface="Perpetua"/>
              </a:rPr>
              <a:t>Make </a:t>
            </a:r>
            <a:r>
              <a:rPr sz="2000" spc="-5" dirty="0">
                <a:latin typeface="Perpetua"/>
                <a:cs typeface="Perpetua"/>
              </a:rPr>
              <a:t>dinner</a:t>
            </a:r>
            <a:r>
              <a:rPr sz="2000" spc="-10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flowchart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3810761"/>
            <a:ext cx="49060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Making a </a:t>
            </a:r>
            <a:r>
              <a:rPr sz="2000" spc="-5" dirty="0">
                <a:latin typeface="Perpetua"/>
                <a:cs typeface="Perpetua"/>
              </a:rPr>
              <a:t>dinner </a:t>
            </a:r>
            <a:r>
              <a:rPr sz="2000" dirty="0">
                <a:latin typeface="Perpetua"/>
                <a:cs typeface="Perpetua"/>
              </a:rPr>
              <a:t>– a sequence of</a:t>
            </a:r>
            <a:r>
              <a:rPr sz="2000" spc="-13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subprocesses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0" y="914400"/>
            <a:ext cx="3733800" cy="2743200"/>
          </a:xfrm>
          <a:prstGeom prst="rect">
            <a:avLst/>
          </a:prstGeom>
          <a:solidFill>
            <a:srgbClr val="E9E4DC"/>
          </a:solidFill>
          <a:ln w="12192">
            <a:solidFill>
              <a:srgbClr val="9B310D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739140" indent="-343535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739775" algn="l"/>
              </a:tabLst>
            </a:pPr>
            <a:r>
              <a:rPr sz="2400" spc="-5" dirty="0">
                <a:latin typeface="Perpetua"/>
                <a:cs typeface="Perpetua"/>
              </a:rPr>
              <a:t>module makeDinner()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943610" indent="-547370">
              <a:lnSpc>
                <a:spcPct val="100000"/>
              </a:lnSpc>
              <a:buAutoNum type="arabicPeriod"/>
              <a:tabLst>
                <a:tab pos="942975" algn="l"/>
                <a:tab pos="943610" algn="l"/>
              </a:tabLst>
            </a:pPr>
            <a:r>
              <a:rPr sz="2400" spc="-10" dirty="0">
                <a:latin typeface="Perpetua"/>
                <a:cs typeface="Perpetua"/>
              </a:rPr>
              <a:t>bakeCake()</a:t>
            </a:r>
            <a:endParaRPr sz="2400">
              <a:latin typeface="Perpetua"/>
              <a:cs typeface="Perpetua"/>
            </a:endParaRPr>
          </a:p>
          <a:p>
            <a:pPr marL="876300" indent="-48069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876300" algn="l"/>
                <a:tab pos="876935" algn="l"/>
              </a:tabLst>
            </a:pPr>
            <a:r>
              <a:rPr sz="2400" dirty="0">
                <a:latin typeface="Perpetua"/>
                <a:cs typeface="Perpetua"/>
              </a:rPr>
              <a:t>fixSalad()</a:t>
            </a:r>
            <a:endParaRPr sz="2400">
              <a:latin typeface="Perpetua"/>
              <a:cs typeface="Perpetua"/>
            </a:endParaRPr>
          </a:p>
          <a:p>
            <a:pPr marL="876300" indent="-480695">
              <a:lnSpc>
                <a:spcPct val="100000"/>
              </a:lnSpc>
              <a:buAutoNum type="arabicPeriod"/>
              <a:tabLst>
                <a:tab pos="876300" algn="l"/>
                <a:tab pos="876935" algn="l"/>
              </a:tabLst>
            </a:pPr>
            <a:r>
              <a:rPr sz="2400" spc="-5" dirty="0">
                <a:latin typeface="Perpetua"/>
                <a:cs typeface="Perpetua"/>
              </a:rPr>
              <a:t>makeLemonade()</a:t>
            </a:r>
            <a:endParaRPr sz="2400">
              <a:latin typeface="Perpetua"/>
              <a:cs typeface="Perpetua"/>
            </a:endParaRPr>
          </a:p>
          <a:p>
            <a:pPr marL="876300" indent="-480695">
              <a:lnSpc>
                <a:spcPct val="100000"/>
              </a:lnSpc>
              <a:buAutoNum type="arabicPeriod"/>
              <a:tabLst>
                <a:tab pos="876300" algn="l"/>
                <a:tab pos="876935" algn="l"/>
              </a:tabLst>
            </a:pPr>
            <a:r>
              <a:rPr sz="2400" spc="5" dirty="0">
                <a:latin typeface="Perpetua"/>
                <a:cs typeface="Perpetua"/>
              </a:rPr>
              <a:t>grillSteak()</a:t>
            </a:r>
            <a:endParaRPr sz="2400">
              <a:latin typeface="Perpetua"/>
              <a:cs typeface="Perpetua"/>
            </a:endParaRPr>
          </a:p>
          <a:p>
            <a:pPr marL="739140" indent="-343535">
              <a:lnSpc>
                <a:spcPct val="100000"/>
              </a:lnSpc>
              <a:buAutoNum type="arabicPeriod"/>
              <a:tabLst>
                <a:tab pos="739775" algn="l"/>
              </a:tabLst>
            </a:pPr>
            <a:r>
              <a:rPr sz="2400" dirty="0">
                <a:latin typeface="Perpetua"/>
                <a:cs typeface="Perpetua"/>
              </a:rPr>
              <a:t>endmodule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255002" y="3246754"/>
            <a:ext cx="120269" cy="241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255002" y="3848734"/>
            <a:ext cx="120269" cy="2414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705600" y="5234940"/>
            <a:ext cx="1295400" cy="424180"/>
          </a:xfrm>
          <a:custGeom>
            <a:avLst/>
            <a:gdLst/>
            <a:ahLst/>
            <a:cxnLst/>
            <a:rect l="l" t="t" r="r" b="b"/>
            <a:pathLst>
              <a:path w="1295400" h="424179">
                <a:moveTo>
                  <a:pt x="0" y="70612"/>
                </a:moveTo>
                <a:lnTo>
                  <a:pt x="5550" y="43130"/>
                </a:lnTo>
                <a:lnTo>
                  <a:pt x="20685" y="20685"/>
                </a:lnTo>
                <a:lnTo>
                  <a:pt x="43130" y="5550"/>
                </a:lnTo>
                <a:lnTo>
                  <a:pt x="70611" y="0"/>
                </a:lnTo>
                <a:lnTo>
                  <a:pt x="1224788" y="0"/>
                </a:lnTo>
                <a:lnTo>
                  <a:pt x="1252269" y="5550"/>
                </a:lnTo>
                <a:lnTo>
                  <a:pt x="1274714" y="20685"/>
                </a:lnTo>
                <a:lnTo>
                  <a:pt x="1289849" y="43130"/>
                </a:lnTo>
                <a:lnTo>
                  <a:pt x="1295400" y="70612"/>
                </a:lnTo>
                <a:lnTo>
                  <a:pt x="1295400" y="353060"/>
                </a:lnTo>
                <a:lnTo>
                  <a:pt x="1289849" y="380546"/>
                </a:lnTo>
                <a:lnTo>
                  <a:pt x="1274714" y="402991"/>
                </a:lnTo>
                <a:lnTo>
                  <a:pt x="1252269" y="418123"/>
                </a:lnTo>
                <a:lnTo>
                  <a:pt x="1224788" y="423672"/>
                </a:lnTo>
                <a:lnTo>
                  <a:pt x="70611" y="423672"/>
                </a:lnTo>
                <a:lnTo>
                  <a:pt x="43130" y="418123"/>
                </a:lnTo>
                <a:lnTo>
                  <a:pt x="20685" y="402991"/>
                </a:lnTo>
                <a:lnTo>
                  <a:pt x="5550" y="380546"/>
                </a:lnTo>
                <a:lnTo>
                  <a:pt x="0" y="353060"/>
                </a:lnTo>
                <a:lnTo>
                  <a:pt x="0" y="70612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324600" y="3048000"/>
            <a:ext cx="2057400" cy="3048000"/>
          </a:xfrm>
          <a:prstGeom prst="rect">
            <a:avLst/>
          </a:prstGeom>
          <a:ln w="12192">
            <a:solidFill>
              <a:srgbClr val="9B310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493395">
              <a:lnSpc>
                <a:spcPct val="100000"/>
              </a:lnSpc>
              <a:spcBef>
                <a:spcPts val="1740"/>
              </a:spcBef>
            </a:pPr>
            <a:r>
              <a:rPr sz="1800" b="1" u="sng" spc="3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r>
              <a:rPr sz="1800" b="1" u="sng" spc="-1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Bake </a:t>
            </a:r>
            <a:r>
              <a:rPr sz="1800" b="1" u="sng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a</a:t>
            </a:r>
            <a:r>
              <a:rPr sz="1800" b="1" u="sng" spc="-10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r>
              <a:rPr sz="1800" b="1" u="sng" spc="-1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cake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395605">
              <a:lnSpc>
                <a:spcPct val="100000"/>
              </a:lnSpc>
            </a:pPr>
            <a:r>
              <a:rPr sz="1800" b="1" u="sng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 </a:t>
            </a:r>
            <a:r>
              <a:rPr sz="1800" b="1" u="sng" spc="-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r>
              <a:rPr sz="1800" b="1" u="sng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Fix a</a:t>
            </a:r>
            <a:r>
              <a:rPr sz="1800" b="1" u="sng" spc="-50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r>
              <a:rPr sz="1800" b="1" u="sng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salad</a:t>
            </a:r>
            <a:r>
              <a:rPr sz="1800" b="1" u="sng" spc="7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endParaRPr sz="1800">
              <a:latin typeface="Perpetua"/>
              <a:cs typeface="Perpetua"/>
            </a:endParaRPr>
          </a:p>
          <a:p>
            <a:pPr marL="473075" marR="184785" indent="-281305">
              <a:lnSpc>
                <a:spcPts val="5050"/>
              </a:lnSpc>
              <a:spcBef>
                <a:spcPts val="350"/>
              </a:spcBef>
            </a:pPr>
            <a:r>
              <a:rPr sz="1800" b="1" u="sng" spc="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 </a:t>
            </a:r>
            <a:r>
              <a:rPr sz="1800" b="1" u="sng" spc="-10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Make </a:t>
            </a:r>
            <a:r>
              <a:rPr sz="1800" b="1" u="sng" spc="-5" dirty="0">
                <a:uFill>
                  <a:solidFill>
                    <a:srgbClr val="9B310D"/>
                  </a:solidFill>
                </a:uFill>
                <a:latin typeface="Perpetua"/>
                <a:cs typeface="Perpetua"/>
              </a:rPr>
              <a:t>lemonade </a:t>
            </a:r>
            <a:r>
              <a:rPr sz="1800" b="1" spc="-5" dirty="0">
                <a:latin typeface="Perpetua"/>
                <a:cs typeface="Perpetua"/>
              </a:rPr>
              <a:t> </a:t>
            </a:r>
            <a:r>
              <a:rPr sz="1800" b="1" spc="5" dirty="0">
                <a:latin typeface="Perpetua"/>
                <a:cs typeface="Perpetua"/>
              </a:rPr>
              <a:t>Grill </a:t>
            </a:r>
            <a:r>
              <a:rPr sz="1800" b="1" dirty="0">
                <a:latin typeface="Perpetua"/>
                <a:cs typeface="Perpetua"/>
              </a:rPr>
              <a:t>a</a:t>
            </a:r>
            <a:r>
              <a:rPr sz="1800" b="1" spc="-60" dirty="0">
                <a:latin typeface="Perpetua"/>
                <a:cs typeface="Perpetua"/>
              </a:rPr>
              <a:t> </a:t>
            </a:r>
            <a:r>
              <a:rPr sz="1800" b="1" spc="-5" dirty="0">
                <a:latin typeface="Perpetua"/>
                <a:cs typeface="Perpetua"/>
              </a:rPr>
              <a:t>steak</a:t>
            </a:r>
            <a:endParaRPr sz="1800">
              <a:latin typeface="Perpetua"/>
              <a:cs typeface="Perpet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2904" y="3118104"/>
            <a:ext cx="164592" cy="1325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39000" y="5899403"/>
            <a:ext cx="152400" cy="120650"/>
          </a:xfrm>
          <a:custGeom>
            <a:avLst/>
            <a:gdLst/>
            <a:ahLst/>
            <a:cxnLst/>
            <a:rect l="l" t="t" r="r" b="b"/>
            <a:pathLst>
              <a:path w="152400" h="120650">
                <a:moveTo>
                  <a:pt x="76200" y="0"/>
                </a:moveTo>
                <a:lnTo>
                  <a:pt x="46559" y="4730"/>
                </a:lnTo>
                <a:lnTo>
                  <a:pt x="22336" y="17630"/>
                </a:lnTo>
                <a:lnTo>
                  <a:pt x="5994" y="36765"/>
                </a:lnTo>
                <a:lnTo>
                  <a:pt x="0" y="60198"/>
                </a:lnTo>
                <a:lnTo>
                  <a:pt x="5994" y="83630"/>
                </a:lnTo>
                <a:lnTo>
                  <a:pt x="22336" y="102765"/>
                </a:lnTo>
                <a:lnTo>
                  <a:pt x="46559" y="115665"/>
                </a:lnTo>
                <a:lnTo>
                  <a:pt x="76200" y="120396"/>
                </a:lnTo>
                <a:lnTo>
                  <a:pt x="105840" y="115665"/>
                </a:lnTo>
                <a:lnTo>
                  <a:pt x="130063" y="102765"/>
                </a:lnTo>
                <a:lnTo>
                  <a:pt x="146405" y="83630"/>
                </a:lnTo>
                <a:lnTo>
                  <a:pt x="152400" y="60198"/>
                </a:lnTo>
                <a:lnTo>
                  <a:pt x="146405" y="36765"/>
                </a:lnTo>
                <a:lnTo>
                  <a:pt x="130063" y="17630"/>
                </a:lnTo>
                <a:lnTo>
                  <a:pt x="105840" y="4730"/>
                </a:lnTo>
                <a:lnTo>
                  <a:pt x="76200" y="0"/>
                </a:lnTo>
                <a:close/>
              </a:path>
            </a:pathLst>
          </a:custGeom>
          <a:solidFill>
            <a:srgbClr val="D24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239000" y="5899403"/>
            <a:ext cx="152400" cy="120650"/>
          </a:xfrm>
          <a:custGeom>
            <a:avLst/>
            <a:gdLst/>
            <a:ahLst/>
            <a:cxnLst/>
            <a:rect l="l" t="t" r="r" b="b"/>
            <a:pathLst>
              <a:path w="152400" h="120650">
                <a:moveTo>
                  <a:pt x="0" y="60198"/>
                </a:moveTo>
                <a:lnTo>
                  <a:pt x="5994" y="36765"/>
                </a:lnTo>
                <a:lnTo>
                  <a:pt x="22336" y="17630"/>
                </a:lnTo>
                <a:lnTo>
                  <a:pt x="46559" y="4730"/>
                </a:lnTo>
                <a:lnTo>
                  <a:pt x="76200" y="0"/>
                </a:lnTo>
                <a:lnTo>
                  <a:pt x="105840" y="4730"/>
                </a:lnTo>
                <a:lnTo>
                  <a:pt x="130063" y="17630"/>
                </a:lnTo>
                <a:lnTo>
                  <a:pt x="146405" y="36765"/>
                </a:lnTo>
                <a:lnTo>
                  <a:pt x="152400" y="60198"/>
                </a:lnTo>
                <a:lnTo>
                  <a:pt x="146405" y="83630"/>
                </a:lnTo>
                <a:lnTo>
                  <a:pt x="130063" y="102765"/>
                </a:lnTo>
                <a:lnTo>
                  <a:pt x="105840" y="115665"/>
                </a:lnTo>
                <a:lnTo>
                  <a:pt x="76200" y="120396"/>
                </a:lnTo>
                <a:lnTo>
                  <a:pt x="46559" y="115665"/>
                </a:lnTo>
                <a:lnTo>
                  <a:pt x="22336" y="102765"/>
                </a:lnTo>
                <a:lnTo>
                  <a:pt x="5994" y="83630"/>
                </a:lnTo>
                <a:lnTo>
                  <a:pt x="0" y="60198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255002" y="4391278"/>
            <a:ext cx="120269" cy="2414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255002" y="5017642"/>
            <a:ext cx="120269" cy="2414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255002" y="5659285"/>
            <a:ext cx="120650" cy="241935"/>
          </a:xfrm>
          <a:custGeom>
            <a:avLst/>
            <a:gdLst/>
            <a:ahLst/>
            <a:cxnLst/>
            <a:rect l="l" t="t" r="r" b="b"/>
            <a:pathLst>
              <a:path w="120650" h="241935">
                <a:moveTo>
                  <a:pt x="14477" y="122923"/>
                </a:moveTo>
                <a:lnTo>
                  <a:pt x="8381" y="126491"/>
                </a:lnTo>
                <a:lnTo>
                  <a:pt x="2158" y="130047"/>
                </a:lnTo>
                <a:lnTo>
                  <a:pt x="0" y="137972"/>
                </a:lnTo>
                <a:lnTo>
                  <a:pt x="59436" y="241452"/>
                </a:lnTo>
                <a:lnTo>
                  <a:pt x="74608" y="215823"/>
                </a:lnTo>
                <a:lnTo>
                  <a:pt x="46608" y="215658"/>
                </a:lnTo>
                <a:lnTo>
                  <a:pt x="46948" y="167650"/>
                </a:lnTo>
                <a:lnTo>
                  <a:pt x="22478" y="125056"/>
                </a:lnTo>
                <a:lnTo>
                  <a:pt x="14477" y="122923"/>
                </a:lnTo>
                <a:close/>
              </a:path>
              <a:path w="120650" h="241935">
                <a:moveTo>
                  <a:pt x="46948" y="167650"/>
                </a:moveTo>
                <a:lnTo>
                  <a:pt x="46608" y="215658"/>
                </a:lnTo>
                <a:lnTo>
                  <a:pt x="72517" y="215823"/>
                </a:lnTo>
                <a:lnTo>
                  <a:pt x="72563" y="209283"/>
                </a:lnTo>
                <a:lnTo>
                  <a:pt x="48514" y="209143"/>
                </a:lnTo>
                <a:lnTo>
                  <a:pt x="59817" y="190052"/>
                </a:lnTo>
                <a:lnTo>
                  <a:pt x="46948" y="167650"/>
                </a:lnTo>
                <a:close/>
              </a:path>
              <a:path w="120650" h="241935">
                <a:moveTo>
                  <a:pt x="105918" y="123520"/>
                </a:moveTo>
                <a:lnTo>
                  <a:pt x="97917" y="125552"/>
                </a:lnTo>
                <a:lnTo>
                  <a:pt x="94361" y="131711"/>
                </a:lnTo>
                <a:lnTo>
                  <a:pt x="72854" y="168034"/>
                </a:lnTo>
                <a:lnTo>
                  <a:pt x="72517" y="215823"/>
                </a:lnTo>
                <a:lnTo>
                  <a:pt x="74608" y="215823"/>
                </a:lnTo>
                <a:lnTo>
                  <a:pt x="116586" y="144919"/>
                </a:lnTo>
                <a:lnTo>
                  <a:pt x="120269" y="138760"/>
                </a:lnTo>
                <a:lnTo>
                  <a:pt x="118237" y="130809"/>
                </a:lnTo>
                <a:lnTo>
                  <a:pt x="112014" y="127165"/>
                </a:lnTo>
                <a:lnTo>
                  <a:pt x="105918" y="123520"/>
                </a:lnTo>
                <a:close/>
              </a:path>
              <a:path w="120650" h="241935">
                <a:moveTo>
                  <a:pt x="59817" y="190052"/>
                </a:moveTo>
                <a:lnTo>
                  <a:pt x="48514" y="209143"/>
                </a:lnTo>
                <a:lnTo>
                  <a:pt x="70866" y="209283"/>
                </a:lnTo>
                <a:lnTo>
                  <a:pt x="59817" y="190052"/>
                </a:lnTo>
                <a:close/>
              </a:path>
              <a:path w="120650" h="241935">
                <a:moveTo>
                  <a:pt x="72854" y="168034"/>
                </a:moveTo>
                <a:lnTo>
                  <a:pt x="59817" y="190052"/>
                </a:lnTo>
                <a:lnTo>
                  <a:pt x="70866" y="209283"/>
                </a:lnTo>
                <a:lnTo>
                  <a:pt x="72563" y="209283"/>
                </a:lnTo>
                <a:lnTo>
                  <a:pt x="72854" y="168034"/>
                </a:lnTo>
                <a:close/>
              </a:path>
              <a:path w="120650" h="241935">
                <a:moveTo>
                  <a:pt x="48132" y="0"/>
                </a:moveTo>
                <a:lnTo>
                  <a:pt x="46948" y="167650"/>
                </a:lnTo>
                <a:lnTo>
                  <a:pt x="59817" y="190052"/>
                </a:lnTo>
                <a:lnTo>
                  <a:pt x="72854" y="168034"/>
                </a:lnTo>
                <a:lnTo>
                  <a:pt x="74041" y="177"/>
                </a:lnTo>
                <a:lnTo>
                  <a:pt x="481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34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Hosting a private</a:t>
            </a:r>
            <a:r>
              <a:rPr spc="-60" dirty="0"/>
              <a:t> </a:t>
            </a:r>
            <a:r>
              <a:rPr spc="25" dirty="0"/>
              <a:t>party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562340" cy="22371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Hosting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private </a:t>
            </a:r>
            <a:r>
              <a:rPr sz="2600" i="1" spc="15" dirty="0">
                <a:latin typeface="Perpetua"/>
                <a:cs typeface="Perpetua"/>
              </a:rPr>
              <a:t>party </a:t>
            </a:r>
            <a:r>
              <a:rPr sz="2600" i="1" spc="-20" dirty="0">
                <a:latin typeface="Perpetua"/>
                <a:cs typeface="Perpetua"/>
              </a:rPr>
              <a:t>involves </a:t>
            </a:r>
            <a:r>
              <a:rPr sz="2600" i="1" spc="-10" dirty="0">
                <a:latin typeface="Perpetua"/>
                <a:cs typeface="Perpetua"/>
              </a:rPr>
              <a:t>more </a:t>
            </a:r>
            <a:r>
              <a:rPr sz="2600" i="1" dirty="0">
                <a:latin typeface="Perpetua"/>
                <a:cs typeface="Perpetua"/>
              </a:rPr>
              <a:t>than </a:t>
            </a:r>
            <a:r>
              <a:rPr sz="2600" i="1" spc="-5" dirty="0">
                <a:latin typeface="Perpetua"/>
                <a:cs typeface="Perpetua"/>
              </a:rPr>
              <a:t>just making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25" dirty="0">
                <a:latin typeface="Perpetua"/>
                <a:cs typeface="Perpetua"/>
              </a:rPr>
              <a:t>dinner.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  <a:tab pos="821690" algn="l"/>
                <a:tab pos="1381125" algn="l"/>
                <a:tab pos="2481580" algn="l"/>
                <a:tab pos="4102100" algn="l"/>
                <a:tab pos="4577715" algn="l"/>
                <a:tab pos="6678295" algn="l"/>
                <a:tab pos="7078980" algn="l"/>
                <a:tab pos="7537450" algn="l"/>
              </a:tabLst>
            </a:pPr>
            <a:r>
              <a:rPr sz="2600" i="1" spc="-5" dirty="0">
                <a:latin typeface="Perpetua"/>
                <a:cs typeface="Perpetua"/>
              </a:rPr>
              <a:t>T</a:t>
            </a:r>
            <a:r>
              <a:rPr sz="2600" i="1" spc="-15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e	h</a:t>
            </a:r>
            <a:r>
              <a:rPr sz="2600" i="1" spc="-10" dirty="0">
                <a:latin typeface="Perpetua"/>
                <a:cs typeface="Perpetua"/>
              </a:rPr>
              <a:t>o</a:t>
            </a:r>
            <a:r>
              <a:rPr sz="2600" i="1" spc="5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t	</a:t>
            </a:r>
            <a:r>
              <a:rPr sz="2600" i="1" spc="-5" dirty="0">
                <a:latin typeface="Perpetua"/>
                <a:cs typeface="Perpetua"/>
              </a:rPr>
              <a:t>m</a:t>
            </a:r>
            <a:r>
              <a:rPr sz="2600" i="1" spc="-15" dirty="0">
                <a:latin typeface="Perpetua"/>
                <a:cs typeface="Perpetua"/>
              </a:rPr>
              <a:t>u</a:t>
            </a:r>
            <a:r>
              <a:rPr sz="2600" i="1" spc="5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t,</a:t>
            </a:r>
            <a:r>
              <a:rPr sz="2600" i="1" spc="190" dirty="0">
                <a:latin typeface="Perpetua"/>
                <a:cs typeface="Perpetua"/>
              </a:rPr>
              <a:t> </a:t>
            </a:r>
            <a:r>
              <a:rPr sz="2600" i="1" spc="-40" dirty="0">
                <a:latin typeface="Perpetua"/>
                <a:cs typeface="Perpetua"/>
              </a:rPr>
              <a:t>f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r	exa</a:t>
            </a:r>
            <a:r>
              <a:rPr sz="2600" i="1" spc="-15" dirty="0">
                <a:latin typeface="Perpetua"/>
                <a:cs typeface="Perpetua"/>
              </a:rPr>
              <a:t>m</a:t>
            </a:r>
            <a:r>
              <a:rPr sz="2600" i="1" dirty="0">
                <a:latin typeface="Perpetua"/>
                <a:cs typeface="Perpetua"/>
              </a:rPr>
              <a:t>pl</a:t>
            </a:r>
            <a:r>
              <a:rPr sz="2600" i="1" spc="-15" dirty="0">
                <a:latin typeface="Perpetua"/>
                <a:cs typeface="Perpetua"/>
              </a:rPr>
              <a:t>e</a:t>
            </a:r>
            <a:r>
              <a:rPr sz="2600" i="1" dirty="0">
                <a:latin typeface="Perpetua"/>
                <a:cs typeface="Perpetua"/>
              </a:rPr>
              <a:t>,</a:t>
            </a:r>
            <a:r>
              <a:rPr sz="2600" i="1" spc="18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se</a:t>
            </a:r>
            <a:r>
              <a:rPr sz="2600" i="1" spc="-10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d	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spc="-10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t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spc="-45" dirty="0">
                <a:latin typeface="Perpetua"/>
                <a:cs typeface="Perpetua"/>
              </a:rPr>
              <a:t>n</a:t>
            </a:r>
            <a:r>
              <a:rPr sz="2600" i="1" spc="-5" dirty="0">
                <a:latin typeface="Perpetua"/>
                <a:cs typeface="Perpetua"/>
              </a:rPr>
              <a:t>vit</a:t>
            </a:r>
            <a:r>
              <a:rPr sz="2600" i="1" spc="-30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ti</a:t>
            </a:r>
            <a:r>
              <a:rPr sz="2600" i="1" spc="-10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n</a:t>
            </a:r>
            <a:r>
              <a:rPr sz="2600" i="1" spc="-70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,</a:t>
            </a:r>
            <a:r>
              <a:rPr sz="2600" i="1" spc="185" dirty="0">
                <a:latin typeface="Perpetua"/>
                <a:cs typeface="Perpetua"/>
              </a:rPr>
              <a:t> </a:t>
            </a:r>
            <a:r>
              <a:rPr sz="2600" i="1" spc="-55" dirty="0">
                <a:latin typeface="Perpetua"/>
                <a:cs typeface="Perpetua"/>
              </a:rPr>
              <a:t>g</a:t>
            </a:r>
            <a:r>
              <a:rPr sz="2600" i="1" spc="-25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t</a:t>
            </a:r>
            <a:r>
              <a:rPr sz="2600" i="1" spc="-10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er	</a:t>
            </a:r>
            <a:r>
              <a:rPr sz="2600" i="1" spc="-10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p	</a:t>
            </a:r>
            <a:r>
              <a:rPr sz="2600" i="1" spc="-5" dirty="0">
                <a:latin typeface="Perpetua"/>
                <a:cs typeface="Perpetua"/>
              </a:rPr>
              <a:t>th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spc="-15" dirty="0">
                <a:latin typeface="Perpetua"/>
                <a:cs typeface="Perpetua"/>
              </a:rPr>
              <a:t>e</a:t>
            </a:r>
            <a:r>
              <a:rPr sz="2600" i="1" dirty="0">
                <a:latin typeface="Perpetua"/>
                <a:cs typeface="Perpetua"/>
              </a:rPr>
              <a:t>spo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se</a:t>
            </a:r>
            <a:r>
              <a:rPr sz="2600" i="1" spc="-55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,  </a:t>
            </a:r>
            <a:r>
              <a:rPr sz="2600" i="1" spc="-5" dirty="0">
                <a:latin typeface="Perpetua"/>
                <a:cs typeface="Perpetua"/>
              </a:rPr>
              <a:t>purchase </a:t>
            </a:r>
            <a:r>
              <a:rPr sz="2600" i="1" spc="-10" dirty="0">
                <a:latin typeface="Perpetua"/>
                <a:cs typeface="Perpetua"/>
              </a:rPr>
              <a:t>food, </a:t>
            </a:r>
            <a:r>
              <a:rPr sz="2600" i="1" dirty="0">
                <a:latin typeface="Perpetua"/>
                <a:cs typeface="Perpetua"/>
              </a:rPr>
              <a:t>clean </a:t>
            </a:r>
            <a:r>
              <a:rPr sz="2600" i="1" spc="-5" dirty="0">
                <a:latin typeface="Perpetua"/>
                <a:cs typeface="Perpetua"/>
              </a:rPr>
              <a:t>the house,</a:t>
            </a:r>
            <a:r>
              <a:rPr sz="2600" i="1" spc="-47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choose background music.</a:t>
            </a:r>
            <a:endParaRPr sz="2600">
              <a:latin typeface="Perpetua"/>
              <a:cs typeface="Perpetua"/>
            </a:endParaRPr>
          </a:p>
          <a:p>
            <a:pPr marL="286385" marR="3873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5" dirty="0">
                <a:latin typeface="Perpetua"/>
                <a:cs typeface="Perpetua"/>
              </a:rPr>
              <a:t>describe </a:t>
            </a:r>
            <a:r>
              <a:rPr sz="2600" i="1" spc="-5" dirty="0">
                <a:latin typeface="Perpetua"/>
                <a:cs typeface="Perpetua"/>
              </a:rPr>
              <a:t>the process of hosting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private </a:t>
            </a:r>
            <a:r>
              <a:rPr sz="2600" i="1" spc="10" dirty="0">
                <a:latin typeface="Perpetua"/>
                <a:cs typeface="Perpetua"/>
              </a:rPr>
              <a:t>party </a:t>
            </a:r>
            <a:r>
              <a:rPr sz="2600" i="1" spc="-5" dirty="0">
                <a:latin typeface="Perpetua"/>
                <a:cs typeface="Perpetua"/>
              </a:rPr>
              <a:t>as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5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composed of these other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submodules.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7375" y="5098745"/>
            <a:ext cx="51701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729" indent="-240665">
              <a:lnSpc>
                <a:spcPct val="100000"/>
              </a:lnSpc>
              <a:spcBef>
                <a:spcPts val="100"/>
              </a:spcBef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5" dirty="0">
                <a:latin typeface="Perpetua"/>
                <a:cs typeface="Perpetua"/>
              </a:rPr>
              <a:t>Write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module </a:t>
            </a: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10" dirty="0">
                <a:latin typeface="Perpetua"/>
                <a:cs typeface="Perpetua"/>
              </a:rPr>
              <a:t>hosting </a:t>
            </a:r>
            <a:r>
              <a:rPr sz="2400" i="1" dirty="0">
                <a:latin typeface="Perpetua"/>
                <a:cs typeface="Perpetua"/>
              </a:rPr>
              <a:t>a </a:t>
            </a:r>
            <a:r>
              <a:rPr sz="2400" i="1" spc="-10" dirty="0">
                <a:latin typeface="Perpetua"/>
                <a:cs typeface="Perpetua"/>
              </a:rPr>
              <a:t>private </a:t>
            </a:r>
            <a:r>
              <a:rPr sz="2400" i="1" spc="-5" dirty="0">
                <a:latin typeface="Perpetua"/>
                <a:cs typeface="Perpetua"/>
              </a:rPr>
              <a:t>dinner</a:t>
            </a:r>
            <a:r>
              <a:rPr sz="2400" i="1" spc="20" dirty="0">
                <a:latin typeface="Perpetua"/>
                <a:cs typeface="Perpetua"/>
              </a:rPr>
              <a:t> </a:t>
            </a:r>
            <a:r>
              <a:rPr sz="2400" i="1" spc="-25" dirty="0">
                <a:latin typeface="Perpetua"/>
                <a:cs typeface="Perpetua"/>
              </a:rPr>
              <a:t>party.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95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262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Well </a:t>
            </a:r>
            <a:r>
              <a:rPr spc="-10" dirty="0"/>
              <a:t>designed</a:t>
            </a:r>
            <a:r>
              <a:rPr spc="95" dirty="0"/>
              <a:t> </a:t>
            </a:r>
            <a:r>
              <a:rPr spc="-5" dirty="0"/>
              <a:t>modules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00160"/>
            <a:ext cx="8529320" cy="3761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347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Well-designed </a:t>
            </a:r>
            <a:r>
              <a:rPr sz="2600" spc="-5" dirty="0">
                <a:latin typeface="Perpetua"/>
                <a:cs typeface="Perpetua"/>
              </a:rPr>
              <a:t>modules should meet </a:t>
            </a:r>
            <a:r>
              <a:rPr sz="2600" spc="-15" dirty="0">
                <a:latin typeface="Perpetua"/>
                <a:cs typeface="Perpetua"/>
              </a:rPr>
              <a:t>several </a:t>
            </a:r>
            <a:r>
              <a:rPr sz="2600" spc="10" dirty="0">
                <a:latin typeface="Perpetua"/>
                <a:cs typeface="Perpetua"/>
              </a:rPr>
              <a:t>criteria. </a:t>
            </a: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10" dirty="0">
                <a:latin typeface="Perpetua"/>
                <a:cs typeface="Perpetua"/>
              </a:rPr>
              <a:t>criteria </a:t>
            </a:r>
            <a:r>
              <a:rPr sz="2600" spc="60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generally </a:t>
            </a:r>
            <a:r>
              <a:rPr sz="2600" spc="-5" dirty="0">
                <a:latin typeface="Perpetua"/>
                <a:cs typeface="Perpetua"/>
              </a:rPr>
              <a:t>ensure</a:t>
            </a:r>
            <a:r>
              <a:rPr sz="2600" spc="-10" dirty="0">
                <a:latin typeface="Perpetua"/>
                <a:cs typeface="Perpetua"/>
              </a:rPr>
              <a:t> that: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8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 module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used in </a:t>
            </a:r>
            <a:r>
              <a:rPr sz="2600" i="1" dirty="0">
                <a:latin typeface="Perpetua"/>
                <a:cs typeface="Perpetua"/>
              </a:rPr>
              <a:t>a wide </a:t>
            </a:r>
            <a:r>
              <a:rPr sz="2600" i="1" spc="-5" dirty="0">
                <a:latin typeface="Perpetua"/>
                <a:cs typeface="Perpetua"/>
              </a:rPr>
              <a:t>variety of </a:t>
            </a:r>
            <a:r>
              <a:rPr sz="2600" i="1" spc="-25" dirty="0">
                <a:latin typeface="Perpetua"/>
                <a:cs typeface="Perpetua"/>
              </a:rPr>
              <a:t>larger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processes.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8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 module is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self-contained.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34600"/>
              </a:lnSpc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20" dirty="0">
                <a:latin typeface="Perpetua"/>
                <a:cs typeface="Perpetua"/>
              </a:rPr>
              <a:t>any </a:t>
            </a:r>
            <a:r>
              <a:rPr sz="2600" i="1" spc="5" dirty="0">
                <a:latin typeface="Perpetua"/>
                <a:cs typeface="Perpetua"/>
              </a:rPr>
              <a:t>errors </a:t>
            </a:r>
            <a:r>
              <a:rPr sz="2600" i="1" spc="-5" dirty="0">
                <a:latin typeface="Perpetua"/>
                <a:cs typeface="Perpetua"/>
              </a:rPr>
              <a:t>caused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limited effect </a:t>
            </a:r>
            <a:r>
              <a:rPr sz="2600" i="1" spc="-5" dirty="0">
                <a:latin typeface="Perpetua"/>
                <a:cs typeface="Perpetua"/>
              </a:rPr>
              <a:t>on </a:t>
            </a:r>
            <a:r>
              <a:rPr sz="2600" i="1" spc="-20" dirty="0">
                <a:latin typeface="Perpetua"/>
                <a:cs typeface="Perpetua"/>
              </a:rPr>
              <a:t>any </a:t>
            </a:r>
            <a:r>
              <a:rPr sz="2600" i="1" spc="-5" dirty="0">
                <a:latin typeface="Perpetua"/>
                <a:cs typeface="Perpetua"/>
              </a:rPr>
              <a:t>system </a:t>
            </a:r>
            <a:r>
              <a:rPr sz="2600" i="1" spc="-10" dirty="0">
                <a:latin typeface="Perpetua"/>
                <a:cs typeface="Perpetua"/>
              </a:rPr>
              <a:t>that  </a:t>
            </a:r>
            <a:r>
              <a:rPr sz="2600" i="1" spc="-5" dirty="0">
                <a:latin typeface="Perpetua"/>
                <a:cs typeface="Perpetua"/>
              </a:rPr>
              <a:t>makes use of the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module.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8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 module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used in </a:t>
            </a:r>
            <a:r>
              <a:rPr sz="2600" i="1" dirty="0">
                <a:latin typeface="Perpetua"/>
                <a:cs typeface="Perpetua"/>
              </a:rPr>
              <a:t>a wide </a:t>
            </a:r>
            <a:r>
              <a:rPr sz="2600" i="1" spc="-5" dirty="0">
                <a:latin typeface="Perpetua"/>
                <a:cs typeface="Perpetua"/>
              </a:rPr>
              <a:t>variety of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contexts.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479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</a:t>
            </a:r>
            <a:r>
              <a:rPr spc="80" dirty="0"/>
              <a:t>r</a:t>
            </a:r>
            <a:r>
              <a:rPr spc="-5" dirty="0"/>
              <a:t>ite</a:t>
            </a:r>
            <a:r>
              <a:rPr spc="70" dirty="0"/>
              <a:t>r</a:t>
            </a:r>
            <a:r>
              <a:rPr spc="-5" dirty="0"/>
              <a:t>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53122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Understandability: </a:t>
            </a:r>
            <a:r>
              <a:rPr sz="2600" spc="-5" dirty="0">
                <a:latin typeface="Perpetua"/>
                <a:cs typeface="Perpetua"/>
              </a:rPr>
              <a:t>Every </a:t>
            </a:r>
            <a:r>
              <a:rPr sz="2600" dirty="0">
                <a:latin typeface="Perpetua"/>
                <a:cs typeface="Perpetua"/>
              </a:rPr>
              <a:t>module is </a:t>
            </a:r>
            <a:r>
              <a:rPr sz="2600" spc="-5" dirty="0">
                <a:latin typeface="Perpetua"/>
                <a:cs typeface="Perpetua"/>
              </a:rPr>
              <a:t>self-contained, </a:t>
            </a: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implies </a:t>
            </a:r>
            <a:r>
              <a:rPr sz="2600" spc="-10" dirty="0">
                <a:latin typeface="Perpetua"/>
                <a:cs typeface="Perpetua"/>
              </a:rPr>
              <a:t>that  </a:t>
            </a:r>
            <a:r>
              <a:rPr sz="2600" dirty="0">
                <a:latin typeface="Perpetua"/>
                <a:cs typeface="Perpetua"/>
              </a:rPr>
              <a:t>it can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5" dirty="0">
                <a:latin typeface="Perpetua"/>
                <a:cs typeface="Perpetua"/>
              </a:rPr>
              <a:t>fully </a:t>
            </a:r>
            <a:r>
              <a:rPr sz="2600" dirty="0">
                <a:latin typeface="Perpetua"/>
                <a:cs typeface="Perpetua"/>
              </a:rPr>
              <a:t>understood without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10" dirty="0">
                <a:latin typeface="Perpetua"/>
                <a:cs typeface="Perpetua"/>
              </a:rPr>
              <a:t>knowledge </a:t>
            </a:r>
            <a:r>
              <a:rPr sz="2600" spc="-5" dirty="0">
                <a:latin typeface="Perpetua"/>
                <a:cs typeface="Perpetua"/>
              </a:rPr>
              <a:t>of actions </a:t>
            </a:r>
            <a:r>
              <a:rPr sz="2600" spc="-10" dirty="0">
                <a:latin typeface="Perpetua"/>
                <a:cs typeface="Perpetua"/>
              </a:rPr>
              <a:t>that take  </a:t>
            </a:r>
            <a:r>
              <a:rPr sz="2600" spc="-5" dirty="0">
                <a:latin typeface="Perpetua"/>
                <a:cs typeface="Perpetua"/>
              </a:rPr>
              <a:t>place outside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module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itself.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5715" indent="-274320" algn="just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Encapsulation</a:t>
            </a:r>
            <a:r>
              <a:rPr sz="2600" spc="-5" dirty="0">
                <a:latin typeface="Perpetua"/>
                <a:cs typeface="Perpetua"/>
              </a:rPr>
              <a:t>: Every module affects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data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contains. </a:t>
            </a:r>
            <a:r>
              <a:rPr sz="2600" spc="-15" dirty="0">
                <a:latin typeface="Perpetua"/>
                <a:cs typeface="Perpetua"/>
              </a:rPr>
              <a:t>Any  </a:t>
            </a:r>
            <a:r>
              <a:rPr sz="2600" spc="10" dirty="0">
                <a:latin typeface="Perpetua"/>
                <a:cs typeface="Perpetua"/>
              </a:rPr>
              <a:t>errors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5" dirty="0">
                <a:latin typeface="Perpetua"/>
                <a:cs typeface="Perpetua"/>
              </a:rPr>
              <a:t>arise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also contained </a:t>
            </a:r>
            <a:r>
              <a:rPr sz="2600" dirty="0">
                <a:latin typeface="Perpetua"/>
                <a:cs typeface="Perpetua"/>
              </a:rPr>
              <a:t>within the  </a:t>
            </a:r>
            <a:r>
              <a:rPr sz="2600" spc="-10" dirty="0">
                <a:latin typeface="Perpetua"/>
                <a:cs typeface="Perpetua"/>
              </a:rPr>
              <a:t>module.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750">
              <a:latin typeface="Times New Roman"/>
              <a:cs typeface="Times New Roman"/>
            </a:endParaRPr>
          </a:p>
          <a:p>
            <a:pPr marL="286385" marR="7620" indent="-274320" algn="just">
              <a:lnSpc>
                <a:spcPct val="1000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Composition</a:t>
            </a:r>
            <a:r>
              <a:rPr sz="2600" spc="-5" dirty="0">
                <a:latin typeface="Perpetua"/>
                <a:cs typeface="Perpetua"/>
              </a:rPr>
              <a:t>: Every module can be </a:t>
            </a:r>
            <a:r>
              <a:rPr sz="2600" dirty="0">
                <a:latin typeface="Perpetua"/>
                <a:cs typeface="Perpetua"/>
              </a:rPr>
              <a:t>incorporated into a larger </a:t>
            </a:r>
            <a:r>
              <a:rPr sz="2600" spc="-5" dirty="0">
                <a:latin typeface="Perpetua"/>
                <a:cs typeface="Perpetua"/>
              </a:rPr>
              <a:t>module  </a:t>
            </a:r>
            <a:r>
              <a:rPr sz="2600" dirty="0">
                <a:latin typeface="Perpetua"/>
                <a:cs typeface="Perpetua"/>
              </a:rPr>
              <a:t>without </a:t>
            </a:r>
            <a:r>
              <a:rPr sz="2600" spc="-5" dirty="0">
                <a:latin typeface="Perpetua"/>
                <a:cs typeface="Perpetua"/>
              </a:rPr>
              <a:t>special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treatment.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1640" y="1424381"/>
            <a:ext cx="4582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Summarizing</a:t>
            </a:r>
            <a:r>
              <a:rPr spc="-55" dirty="0"/>
              <a:t> </a:t>
            </a:r>
            <a:r>
              <a:rPr spc="5" dirty="0"/>
              <a:t>modularity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2043811"/>
            <a:ext cx="8225790" cy="42183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5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5" dirty="0">
                <a:latin typeface="Perpetua"/>
                <a:cs typeface="Perpetua"/>
              </a:rPr>
              <a:t>Modularity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10" dirty="0">
                <a:latin typeface="Perpetua"/>
                <a:cs typeface="Perpetua"/>
              </a:rPr>
              <a:t>extremely powerful </a:t>
            </a:r>
            <a:r>
              <a:rPr sz="2600" i="1" dirty="0">
                <a:latin typeface="Perpetua"/>
                <a:cs typeface="Perpetua"/>
              </a:rPr>
              <a:t>technique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dirty="0">
                <a:latin typeface="Perpetua"/>
                <a:cs typeface="Perpetua"/>
              </a:rPr>
              <a:t>designing complex  </a:t>
            </a:r>
            <a:r>
              <a:rPr sz="2600" i="1" spc="-5" dirty="0">
                <a:latin typeface="Perpetua"/>
                <a:cs typeface="Perpetua"/>
              </a:rPr>
              <a:t>algorithms.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Modules </a:t>
            </a:r>
            <a:r>
              <a:rPr sz="2600" i="1" spc="-10" dirty="0">
                <a:latin typeface="Perpetua"/>
                <a:cs typeface="Perpetua"/>
              </a:rPr>
              <a:t>allow </a:t>
            </a:r>
            <a:r>
              <a:rPr sz="2600" i="1" spc="-5" dirty="0">
                <a:latin typeface="Perpetua"/>
                <a:cs typeface="Perpetua"/>
              </a:rPr>
              <a:t>us to </a:t>
            </a:r>
            <a:r>
              <a:rPr sz="2600" i="1" spc="-10" dirty="0">
                <a:latin typeface="Perpetua"/>
                <a:cs typeface="Perpetua"/>
              </a:rPr>
              <a:t>isolate </a:t>
            </a:r>
            <a:r>
              <a:rPr sz="2600" i="1" dirty="0">
                <a:latin typeface="Perpetua"/>
                <a:cs typeface="Perpetua"/>
              </a:rPr>
              <a:t>smaller </a:t>
            </a:r>
            <a:r>
              <a:rPr sz="2600" i="1" spc="10" dirty="0">
                <a:latin typeface="Perpetua"/>
                <a:cs typeface="Perpetua"/>
              </a:rPr>
              <a:t>parts </a:t>
            </a:r>
            <a:r>
              <a:rPr sz="2600" i="1" spc="-10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30" dirty="0">
                <a:latin typeface="Perpetua"/>
                <a:cs typeface="Perpetua"/>
              </a:rPr>
              <a:t>large </a:t>
            </a:r>
            <a:r>
              <a:rPr sz="2600" i="1" spc="-5" dirty="0">
                <a:latin typeface="Perpetua"/>
                <a:cs typeface="Perpetua"/>
              </a:rPr>
              <a:t>process such that </a:t>
            </a:r>
            <a:r>
              <a:rPr sz="2600" i="1" dirty="0">
                <a:latin typeface="Perpetua"/>
                <a:cs typeface="Perpetua"/>
              </a:rPr>
              <a:t>those  smaller </a:t>
            </a:r>
            <a:r>
              <a:rPr sz="2600" i="1" spc="15" dirty="0">
                <a:latin typeface="Perpetua"/>
                <a:cs typeface="Perpetua"/>
              </a:rPr>
              <a:t>parts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much </a:t>
            </a:r>
            <a:r>
              <a:rPr sz="2600" i="1" dirty="0">
                <a:latin typeface="Perpetua"/>
                <a:cs typeface="Perpetua"/>
              </a:rPr>
              <a:t>easier </a:t>
            </a:r>
            <a:r>
              <a:rPr sz="2600" i="1" spc="-5" dirty="0">
                <a:latin typeface="Perpetua"/>
                <a:cs typeface="Perpetua"/>
              </a:rPr>
              <a:t>to understand </a:t>
            </a:r>
            <a:r>
              <a:rPr sz="2600" i="1" dirty="0">
                <a:latin typeface="Perpetua"/>
                <a:cs typeface="Perpetua"/>
              </a:rPr>
              <a:t>and</a:t>
            </a:r>
            <a:r>
              <a:rPr sz="2600" i="1" spc="-60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manage.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These smaller </a:t>
            </a:r>
            <a:r>
              <a:rPr sz="2600" i="1" spc="10" dirty="0">
                <a:latin typeface="Perpetua"/>
                <a:cs typeface="Perpetua"/>
              </a:rPr>
              <a:t>parts </a:t>
            </a:r>
            <a:r>
              <a:rPr sz="2600" i="1" spc="-15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self-contained, they </a:t>
            </a:r>
            <a:r>
              <a:rPr sz="2600" i="1" dirty="0">
                <a:latin typeface="Perpetua"/>
                <a:cs typeface="Perpetua"/>
              </a:rPr>
              <a:t>can </a:t>
            </a:r>
            <a:r>
              <a:rPr sz="2600" i="1" spc="-5" dirty="0">
                <a:latin typeface="Perpetua"/>
                <a:cs typeface="Perpetua"/>
              </a:rPr>
              <a:t>be easily </a:t>
            </a:r>
            <a:r>
              <a:rPr sz="2600" i="1" spc="5" dirty="0">
                <a:latin typeface="Perpetua"/>
                <a:cs typeface="Perpetua"/>
              </a:rPr>
              <a:t>inserted </a:t>
            </a:r>
            <a:r>
              <a:rPr sz="2600" i="1" spc="-5" dirty="0">
                <a:latin typeface="Perpetua"/>
                <a:cs typeface="Perpetua"/>
              </a:rPr>
              <a:t>into  other complex </a:t>
            </a:r>
            <a:r>
              <a:rPr sz="2600" i="1" dirty="0">
                <a:latin typeface="Perpetua"/>
                <a:cs typeface="Perpetua"/>
              </a:rPr>
              <a:t>algorithms </a:t>
            </a:r>
            <a:r>
              <a:rPr sz="2600" i="1" spc="-5" dirty="0">
                <a:latin typeface="Perpetua"/>
                <a:cs typeface="Perpetua"/>
              </a:rPr>
              <a:t>without </a:t>
            </a:r>
            <a:r>
              <a:rPr sz="2600" i="1" dirty="0">
                <a:latin typeface="Perpetua"/>
                <a:cs typeface="Perpetua"/>
              </a:rPr>
              <a:t>needing </a:t>
            </a:r>
            <a:r>
              <a:rPr sz="2600" i="1" spc="-5" dirty="0">
                <a:latin typeface="Perpetua"/>
                <a:cs typeface="Perpetua"/>
              </a:rPr>
              <a:t>to customize them or </a:t>
            </a:r>
            <a:r>
              <a:rPr sz="2600" i="1" dirty="0">
                <a:latin typeface="Perpetua"/>
                <a:cs typeface="Perpetua"/>
              </a:rPr>
              <a:t>rewrite  </a:t>
            </a:r>
            <a:r>
              <a:rPr sz="2600" i="1" spc="-5" dirty="0">
                <a:latin typeface="Perpetua"/>
                <a:cs typeface="Perpetua"/>
              </a:rPr>
              <a:t>them.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30" dirty="0">
                <a:latin typeface="Perpetua"/>
                <a:cs typeface="Perpetua"/>
              </a:rPr>
              <a:t>Also, </a:t>
            </a:r>
            <a:r>
              <a:rPr sz="2600" i="1" dirty="0">
                <a:latin typeface="Perpetua"/>
                <a:cs typeface="Perpetua"/>
              </a:rPr>
              <a:t>although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must understand </a:t>
            </a:r>
            <a:r>
              <a:rPr sz="2600" i="1" spc="-15" dirty="0">
                <a:latin typeface="Perpetua"/>
                <a:cs typeface="Perpetua"/>
              </a:rPr>
              <a:t>precisely </a:t>
            </a:r>
            <a:r>
              <a:rPr sz="2600" i="1" spc="-20" dirty="0">
                <a:latin typeface="Perpetua"/>
                <a:cs typeface="Perpetua"/>
              </a:rPr>
              <a:t>what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sub module </a:t>
            </a:r>
            <a:r>
              <a:rPr sz="2600" i="1" spc="-15" dirty="0">
                <a:latin typeface="Perpetua"/>
                <a:cs typeface="Perpetua"/>
              </a:rPr>
              <a:t>does,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dirty="0">
                <a:latin typeface="Perpetua"/>
                <a:cs typeface="Perpetua"/>
              </a:rPr>
              <a:t>do 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dirty="0">
                <a:latin typeface="Perpetua"/>
                <a:cs typeface="Perpetua"/>
              </a:rPr>
              <a:t>need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fully </a:t>
            </a:r>
            <a:r>
              <a:rPr sz="2600" i="1" dirty="0">
                <a:latin typeface="Perpetua"/>
                <a:cs typeface="Perpetua"/>
              </a:rPr>
              <a:t>understand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details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15" dirty="0">
                <a:latin typeface="Perpetua"/>
                <a:cs typeface="Perpetua"/>
              </a:rPr>
              <a:t>how </a:t>
            </a:r>
            <a:r>
              <a:rPr sz="2600" i="1" dirty="0">
                <a:latin typeface="Perpetua"/>
                <a:cs typeface="Perpetua"/>
              </a:rPr>
              <a:t>a sub </a:t>
            </a:r>
            <a:r>
              <a:rPr sz="2600" i="1" spc="-5" dirty="0">
                <a:latin typeface="Perpetua"/>
                <a:cs typeface="Perpetua"/>
              </a:rPr>
              <a:t>module actually </a:t>
            </a:r>
            <a:r>
              <a:rPr sz="2600" i="1" spc="575" dirty="0">
                <a:latin typeface="Perpetua"/>
                <a:cs typeface="Perpetua"/>
              </a:rPr>
              <a:t> </a:t>
            </a:r>
            <a:r>
              <a:rPr sz="2600" i="1" spc="-20" dirty="0">
                <a:latin typeface="Perpetua"/>
                <a:cs typeface="Perpetua"/>
              </a:rPr>
              <a:t>works.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152400"/>
            <a:ext cx="8633460" cy="137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3102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Module</a:t>
            </a:r>
            <a:r>
              <a:rPr spc="-30" dirty="0"/>
              <a:t> </a:t>
            </a:r>
            <a:r>
              <a:rPr spc="-5" dirty="0"/>
              <a:t>flexibility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815211"/>
            <a:ext cx="8454390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98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Modules should </a:t>
            </a:r>
            <a:r>
              <a:rPr sz="2600" spc="-10" dirty="0">
                <a:latin typeface="Perpetua"/>
                <a:cs typeface="Perpetua"/>
              </a:rPr>
              <a:t>typically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0" dirty="0">
                <a:latin typeface="Perpetua"/>
                <a:cs typeface="Perpetua"/>
              </a:rPr>
              <a:t>flexible </a:t>
            </a:r>
            <a:r>
              <a:rPr sz="2600" spc="-5" dirty="0">
                <a:latin typeface="Perpetua"/>
                <a:cs typeface="Perpetua"/>
              </a:rPr>
              <a:t>enough to be used </a:t>
            </a:r>
            <a:r>
              <a:rPr sz="2600" dirty="0">
                <a:latin typeface="Perpetua"/>
                <a:cs typeface="Perpetua"/>
              </a:rPr>
              <a:t>in a </a:t>
            </a:r>
            <a:r>
              <a:rPr sz="2600" spc="-5" dirty="0">
                <a:latin typeface="Perpetua"/>
                <a:cs typeface="Perpetua"/>
              </a:rPr>
              <a:t>variety  of </a:t>
            </a:r>
            <a:r>
              <a:rPr sz="2600" spc="-10" dirty="0">
                <a:latin typeface="Perpetua"/>
                <a:cs typeface="Perpetua"/>
              </a:rPr>
              <a:t>conditions.</a:t>
            </a:r>
            <a:endParaRPr sz="2600">
              <a:latin typeface="Perpetua"/>
              <a:cs typeface="Perpetua"/>
            </a:endParaRPr>
          </a:p>
          <a:p>
            <a:pPr marL="286385" marR="6985" indent="-274320">
              <a:lnSpc>
                <a:spcPct val="1000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Modules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made </a:t>
            </a:r>
            <a:r>
              <a:rPr sz="2600" spc="-10" dirty="0">
                <a:latin typeface="Perpetua"/>
                <a:cs typeface="Perpetua"/>
              </a:rPr>
              <a:t>flexible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allowing </a:t>
            </a:r>
            <a:r>
              <a:rPr sz="2600" i="1" dirty="0">
                <a:latin typeface="Perpetua"/>
                <a:cs typeface="Perpetua"/>
              </a:rPr>
              <a:t>users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feed </a:t>
            </a:r>
            <a:r>
              <a:rPr sz="2600" i="1" spc="-5" dirty="0">
                <a:latin typeface="Perpetua"/>
                <a:cs typeface="Perpetua"/>
              </a:rPr>
              <a:t>input </a:t>
            </a:r>
            <a:r>
              <a:rPr sz="2600" i="1" spc="-15" dirty="0">
                <a:latin typeface="Perpetua"/>
                <a:cs typeface="Perpetua"/>
              </a:rPr>
              <a:t>values </a:t>
            </a:r>
            <a:r>
              <a:rPr sz="2600" i="1" dirty="0">
                <a:latin typeface="Perpetua"/>
                <a:cs typeface="Perpetua"/>
              </a:rPr>
              <a:t>into the  algorithm</a:t>
            </a:r>
            <a:r>
              <a:rPr sz="260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  <a:tab pos="829310" algn="l"/>
                <a:tab pos="1731645" algn="l"/>
                <a:tab pos="2240915" algn="l"/>
                <a:tab pos="2846070" algn="l"/>
                <a:tab pos="3782060" algn="l"/>
                <a:tab pos="5001260" algn="l"/>
                <a:tab pos="6221730" algn="l"/>
                <a:tab pos="6619875" algn="l"/>
                <a:tab pos="7087870" algn="l"/>
                <a:tab pos="7800975" algn="l"/>
              </a:tabLst>
            </a:pPr>
            <a:r>
              <a:rPr sz="2600" i="1" spc="-5" dirty="0">
                <a:latin typeface="Perpetua"/>
                <a:cs typeface="Perpetua"/>
              </a:rPr>
              <a:t>T</a:t>
            </a:r>
            <a:r>
              <a:rPr sz="2600" i="1" spc="-15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mod</a:t>
            </a:r>
            <a:r>
              <a:rPr sz="2600" i="1" spc="-15" dirty="0">
                <a:latin typeface="Perpetua"/>
                <a:cs typeface="Perpetua"/>
              </a:rPr>
              <a:t>u</a:t>
            </a:r>
            <a:r>
              <a:rPr sz="2600" i="1" spc="-5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e	can	t</a:t>
            </a:r>
            <a:r>
              <a:rPr sz="2600" i="1" spc="-10" dirty="0">
                <a:latin typeface="Perpetua"/>
                <a:cs typeface="Perpetua"/>
              </a:rPr>
              <a:t>h</a:t>
            </a:r>
            <a:r>
              <a:rPr sz="2600" i="1" spc="10" dirty="0">
                <a:latin typeface="Perpetua"/>
                <a:cs typeface="Perpetua"/>
              </a:rPr>
              <a:t>e</a:t>
            </a:r>
            <a:r>
              <a:rPr sz="2600" i="1" dirty="0">
                <a:latin typeface="Perpetua"/>
                <a:cs typeface="Perpetua"/>
              </a:rPr>
              <a:t>n	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espo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d	dif</a:t>
            </a:r>
            <a:r>
              <a:rPr sz="2600" i="1" spc="-40" dirty="0">
                <a:latin typeface="Perpetua"/>
                <a:cs typeface="Perpetua"/>
              </a:rPr>
              <a:t>f</a:t>
            </a:r>
            <a:r>
              <a:rPr sz="2600" i="1" dirty="0">
                <a:latin typeface="Perpetua"/>
                <a:cs typeface="Perpetua"/>
              </a:rPr>
              <a:t>e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en</a:t>
            </a:r>
            <a:r>
              <a:rPr sz="2600" i="1" spc="-15" dirty="0">
                <a:latin typeface="Perpetua"/>
                <a:cs typeface="Perpetua"/>
              </a:rPr>
              <a:t>t</a:t>
            </a:r>
            <a:r>
              <a:rPr sz="2600" i="1" spc="-40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y	d</a:t>
            </a:r>
            <a:r>
              <a:rPr sz="2600" i="1" spc="-15" dirty="0">
                <a:latin typeface="Perpetua"/>
                <a:cs typeface="Perpetua"/>
              </a:rPr>
              <a:t>e</a:t>
            </a:r>
            <a:r>
              <a:rPr sz="2600" i="1" dirty="0">
                <a:latin typeface="Perpetua"/>
                <a:cs typeface="Perpetua"/>
              </a:rPr>
              <a:t>pendi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g	</a:t>
            </a:r>
            <a:r>
              <a:rPr sz="2600" i="1" spc="-1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n	</a:t>
            </a:r>
            <a:r>
              <a:rPr sz="2600" i="1" spc="-5" dirty="0">
                <a:latin typeface="Perpetua"/>
                <a:cs typeface="Perpetua"/>
              </a:rPr>
              <a:t>th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inp</a:t>
            </a:r>
            <a:r>
              <a:rPr sz="2600" i="1" spc="-15" dirty="0">
                <a:latin typeface="Perpetua"/>
                <a:cs typeface="Perpetua"/>
              </a:rPr>
              <a:t>u</a:t>
            </a:r>
            <a:r>
              <a:rPr sz="2600" i="1" dirty="0">
                <a:latin typeface="Perpetua"/>
                <a:cs typeface="Perpetua"/>
              </a:rPr>
              <a:t>t	</a:t>
            </a:r>
            <a:r>
              <a:rPr sz="2600" i="1" spc="-70" dirty="0">
                <a:latin typeface="Perpetua"/>
                <a:cs typeface="Perpetua"/>
              </a:rPr>
              <a:t>v</a:t>
            </a:r>
            <a:r>
              <a:rPr sz="2600" i="1" dirty="0">
                <a:latin typeface="Perpetua"/>
                <a:cs typeface="Perpetua"/>
              </a:rPr>
              <a:t>alues  </a:t>
            </a:r>
            <a:r>
              <a:rPr sz="2600" i="1" spc="-10" dirty="0">
                <a:latin typeface="Perpetua"/>
                <a:cs typeface="Perpetua"/>
              </a:rPr>
              <a:t>provided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20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user.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 number of inputs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dirty="0">
                <a:latin typeface="Perpetua"/>
                <a:cs typeface="Perpetua"/>
              </a:rPr>
              <a:t>accepts </a:t>
            </a:r>
            <a:r>
              <a:rPr sz="2600" i="1" spc="-5" dirty="0">
                <a:latin typeface="Perpetua"/>
                <a:cs typeface="Perpetua"/>
              </a:rPr>
              <a:t>must be defined </a:t>
            </a:r>
            <a:r>
              <a:rPr sz="2600" i="1" spc="-10" dirty="0">
                <a:latin typeface="Perpetua"/>
                <a:cs typeface="Perpetua"/>
              </a:rPr>
              <a:t>when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module  </a:t>
            </a:r>
            <a:r>
              <a:rPr sz="2600" i="1" spc="-5" dirty="0">
                <a:latin typeface="Perpetua"/>
                <a:cs typeface="Perpetua"/>
              </a:rPr>
              <a:t>is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written.</a:t>
            </a:r>
            <a:endParaRPr sz="2600">
              <a:latin typeface="Perpetua"/>
              <a:cs typeface="Perpetua"/>
            </a:endParaRPr>
          </a:p>
          <a:p>
            <a:pPr marL="286385" marR="13335" indent="-274320">
              <a:lnSpc>
                <a:spcPct val="100000"/>
              </a:lnSpc>
              <a:spcBef>
                <a:spcPts val="59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The modules </a:t>
            </a:r>
            <a:r>
              <a:rPr sz="2600" i="1" spc="-15" dirty="0">
                <a:latin typeface="Perpetua"/>
                <a:cs typeface="Perpetua"/>
              </a:rPr>
              <a:t>behavior </a:t>
            </a:r>
            <a:r>
              <a:rPr sz="2600" i="1" spc="-5" dirty="0">
                <a:latin typeface="Perpetua"/>
                <a:cs typeface="Perpetua"/>
              </a:rPr>
              <a:t>then depends </a:t>
            </a:r>
            <a:r>
              <a:rPr sz="2600" i="1" dirty="0">
                <a:latin typeface="Perpetua"/>
                <a:cs typeface="Perpetua"/>
              </a:rPr>
              <a:t>upon </a:t>
            </a:r>
            <a:r>
              <a:rPr sz="2600" i="1" spc="-10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initial </a:t>
            </a:r>
            <a:r>
              <a:rPr sz="2600" i="1" spc="-15" dirty="0">
                <a:latin typeface="Perpetua"/>
                <a:cs typeface="Perpetua"/>
              </a:rPr>
              <a:t>value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provided </a:t>
            </a:r>
            <a:r>
              <a:rPr sz="2600" i="1" spc="-65" dirty="0">
                <a:latin typeface="Perpetua"/>
                <a:cs typeface="Perpetua"/>
              </a:rPr>
              <a:t>by  </a:t>
            </a:r>
            <a:r>
              <a:rPr sz="2600" i="1" spc="-5" dirty="0">
                <a:latin typeface="Perpetua"/>
                <a:cs typeface="Perpetua"/>
              </a:rPr>
              <a:t>the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35" dirty="0">
                <a:latin typeface="Perpetua"/>
                <a:cs typeface="Perpetua"/>
              </a:rPr>
              <a:t>user.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6200" y="405063"/>
            <a:ext cx="2286000" cy="10948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65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Parameters </a:t>
            </a:r>
            <a:r>
              <a:rPr spc="-5" dirty="0"/>
              <a:t>of a</a:t>
            </a:r>
            <a:r>
              <a:rPr spc="-40" dirty="0"/>
              <a:t> </a:t>
            </a:r>
            <a:r>
              <a:rPr spc="-5" dirty="0"/>
              <a:t>module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8925" marR="5080" indent="-274320">
              <a:lnSpc>
                <a:spcPct val="1443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8925" algn="l"/>
                <a:tab pos="289560" algn="l"/>
              </a:tabLst>
            </a:pPr>
            <a:r>
              <a:rPr dirty="0"/>
              <a:t>The </a:t>
            </a:r>
            <a:r>
              <a:rPr i="1" spc="-5" dirty="0">
                <a:latin typeface="Perpetua"/>
                <a:cs typeface="Perpetua"/>
              </a:rPr>
              <a:t>number of inputs </a:t>
            </a:r>
            <a:r>
              <a:rPr spc="-5" dirty="0"/>
              <a:t>that </a:t>
            </a:r>
            <a:r>
              <a:rPr dirty="0"/>
              <a:t>a </a:t>
            </a:r>
            <a:r>
              <a:rPr spc="-5" dirty="0"/>
              <a:t>module accepts must </a:t>
            </a:r>
            <a:r>
              <a:rPr dirty="0"/>
              <a:t>be </a:t>
            </a:r>
            <a:r>
              <a:rPr spc="-5" dirty="0"/>
              <a:t>defined </a:t>
            </a:r>
            <a:r>
              <a:rPr dirty="0"/>
              <a:t>when a  </a:t>
            </a:r>
            <a:r>
              <a:rPr spc="-5" dirty="0"/>
              <a:t>module </a:t>
            </a:r>
            <a:r>
              <a:rPr dirty="0"/>
              <a:t>is</a:t>
            </a:r>
            <a:r>
              <a:rPr spc="-10" dirty="0"/>
              <a:t> </a:t>
            </a:r>
            <a:r>
              <a:rPr spc="5" dirty="0"/>
              <a:t>written.</a:t>
            </a:r>
          </a:p>
          <a:p>
            <a:pPr marL="289560" indent="-274320">
              <a:lnSpc>
                <a:spcPct val="100000"/>
              </a:lnSpc>
              <a:spcBef>
                <a:spcPts val="1380"/>
              </a:spcBef>
              <a:buSzPct val="84615"/>
              <a:buFont typeface="Arial"/>
              <a:buChar char="•"/>
              <a:tabLst>
                <a:tab pos="288925" algn="l"/>
                <a:tab pos="289560" algn="l"/>
              </a:tabLst>
            </a:pPr>
            <a:r>
              <a:rPr dirty="0"/>
              <a:t>These </a:t>
            </a:r>
            <a:r>
              <a:rPr spc="-10" dirty="0"/>
              <a:t>are </a:t>
            </a:r>
            <a:r>
              <a:rPr spc="-15" dirty="0"/>
              <a:t>known </a:t>
            </a:r>
            <a:r>
              <a:rPr spc="-5" dirty="0"/>
              <a:t>as </a:t>
            </a:r>
            <a:r>
              <a:rPr spc="10" dirty="0"/>
              <a:t>formal</a:t>
            </a:r>
            <a:r>
              <a:rPr spc="-15" dirty="0"/>
              <a:t> </a:t>
            </a:r>
            <a:r>
              <a:rPr spc="-5" dirty="0"/>
              <a:t>parameters.</a:t>
            </a:r>
          </a:p>
          <a:p>
            <a:pPr marL="288925" marR="6350" indent="-274320">
              <a:lnSpc>
                <a:spcPct val="1442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8925" algn="l"/>
                <a:tab pos="289560" algn="l"/>
              </a:tabLst>
            </a:pPr>
            <a:r>
              <a:rPr dirty="0"/>
              <a:t>A </a:t>
            </a:r>
            <a:r>
              <a:rPr i="1" dirty="0">
                <a:latin typeface="Perpetua"/>
                <a:cs typeface="Perpetua"/>
              </a:rPr>
              <a:t>formal </a:t>
            </a:r>
            <a:r>
              <a:rPr i="1" spc="-15" dirty="0">
                <a:latin typeface="Perpetua"/>
                <a:cs typeface="Perpetua"/>
              </a:rPr>
              <a:t>parameter </a:t>
            </a:r>
            <a:r>
              <a:rPr spc="-5" dirty="0"/>
              <a:t>is </a:t>
            </a:r>
            <a:r>
              <a:rPr dirty="0"/>
              <a:t>a </a:t>
            </a:r>
            <a:r>
              <a:rPr spc="-10" dirty="0"/>
              <a:t>variable where </a:t>
            </a:r>
            <a:r>
              <a:rPr dirty="0"/>
              <a:t>the initial </a:t>
            </a:r>
            <a:r>
              <a:rPr spc="-15" dirty="0"/>
              <a:t>value </a:t>
            </a:r>
            <a:r>
              <a:rPr dirty="0"/>
              <a:t>is </a:t>
            </a:r>
            <a:r>
              <a:rPr spc="-5" dirty="0"/>
              <a:t>bound to </a:t>
            </a:r>
            <a:r>
              <a:rPr dirty="0"/>
              <a:t>the  </a:t>
            </a:r>
            <a:r>
              <a:rPr spc="-10" dirty="0"/>
              <a:t>values </a:t>
            </a:r>
            <a:r>
              <a:rPr spc="-15" dirty="0"/>
              <a:t>provided </a:t>
            </a:r>
            <a:r>
              <a:rPr spc="-5" dirty="0"/>
              <a:t>as input to </a:t>
            </a:r>
            <a:r>
              <a:rPr dirty="0"/>
              <a:t>the</a:t>
            </a:r>
            <a:r>
              <a:rPr spc="20" dirty="0"/>
              <a:t> </a:t>
            </a:r>
            <a:r>
              <a:rPr spc="-10" dirty="0"/>
              <a:t>module.</a:t>
            </a:r>
          </a:p>
          <a:p>
            <a:pPr marL="289560" indent="-274320">
              <a:lnSpc>
                <a:spcPct val="100000"/>
              </a:lnSpc>
              <a:spcBef>
                <a:spcPts val="1385"/>
              </a:spcBef>
              <a:buSzPct val="84615"/>
              <a:buFont typeface="Arial"/>
              <a:buChar char="•"/>
              <a:tabLst>
                <a:tab pos="288925" algn="l"/>
                <a:tab pos="289560" algn="l"/>
                <a:tab pos="940435" algn="l"/>
                <a:tab pos="1801495" algn="l"/>
                <a:tab pos="2708275" algn="l"/>
                <a:tab pos="3947160" algn="l"/>
                <a:tab pos="4412615" algn="l"/>
                <a:tab pos="4973320" algn="l"/>
                <a:tab pos="6062980" algn="l"/>
                <a:tab pos="6751955" algn="l"/>
                <a:tab pos="7303770" algn="l"/>
                <a:tab pos="8296275" algn="l"/>
              </a:tabLst>
            </a:pPr>
            <a:r>
              <a:rPr dirty="0"/>
              <a:t>The	initial	</a:t>
            </a:r>
            <a:r>
              <a:rPr spc="-45" dirty="0"/>
              <a:t>v</a:t>
            </a:r>
            <a:r>
              <a:rPr spc="-5" dirty="0"/>
              <a:t>al</a:t>
            </a:r>
            <a:r>
              <a:rPr spc="-10" dirty="0"/>
              <a:t>u</a:t>
            </a:r>
            <a:r>
              <a:rPr dirty="0"/>
              <a:t>es	p</a:t>
            </a:r>
            <a:r>
              <a:rPr spc="-25" dirty="0"/>
              <a:t>r</a:t>
            </a:r>
            <a:r>
              <a:rPr spc="-80" dirty="0"/>
              <a:t>o</a:t>
            </a:r>
            <a:r>
              <a:rPr dirty="0"/>
              <a:t>vid</a:t>
            </a:r>
            <a:r>
              <a:rPr spc="-10" dirty="0"/>
              <a:t>e</a:t>
            </a:r>
            <a:r>
              <a:rPr dirty="0"/>
              <a:t>d	</a:t>
            </a:r>
            <a:r>
              <a:rPr spc="-50" dirty="0"/>
              <a:t>b</a:t>
            </a:r>
            <a:r>
              <a:rPr dirty="0"/>
              <a:t>y	the	</a:t>
            </a:r>
            <a:r>
              <a:rPr spc="-5" dirty="0"/>
              <a:t>mo</a:t>
            </a:r>
            <a:r>
              <a:rPr spc="-15" dirty="0"/>
              <a:t>d</a:t>
            </a:r>
            <a:r>
              <a:rPr dirty="0"/>
              <a:t>ule	user	</a:t>
            </a:r>
            <a:r>
              <a:rPr spc="-5" dirty="0"/>
              <a:t>a</a:t>
            </a:r>
            <a:r>
              <a:rPr spc="-25" dirty="0"/>
              <a:t>r</a:t>
            </a:r>
            <a:r>
              <a:rPr dirty="0"/>
              <a:t>e	k</a:t>
            </a:r>
            <a:r>
              <a:rPr spc="-20" dirty="0"/>
              <a:t>n</a:t>
            </a:r>
            <a:r>
              <a:rPr spc="-90" dirty="0"/>
              <a:t>o</a:t>
            </a:r>
            <a:r>
              <a:rPr dirty="0"/>
              <a:t>wn	</a:t>
            </a:r>
            <a:r>
              <a:rPr spc="-5" dirty="0"/>
              <a:t>as</a:t>
            </a:r>
          </a:p>
          <a:p>
            <a:pPr marL="288925">
              <a:lnSpc>
                <a:spcPct val="100000"/>
              </a:lnSpc>
              <a:spcBef>
                <a:spcPts val="1380"/>
              </a:spcBef>
            </a:pPr>
            <a:r>
              <a:rPr i="1" spc="-15" dirty="0">
                <a:latin typeface="Perpetua"/>
                <a:cs typeface="Perpetua"/>
              </a:rPr>
              <a:t>arguments </a:t>
            </a:r>
            <a:r>
              <a:rPr spc="-5" dirty="0"/>
              <a:t>or </a:t>
            </a:r>
            <a:r>
              <a:rPr i="1" spc="-5" dirty="0">
                <a:latin typeface="Perpetua"/>
                <a:cs typeface="Perpetua"/>
              </a:rPr>
              <a:t>actual</a:t>
            </a:r>
            <a:r>
              <a:rPr i="1" spc="25" dirty="0">
                <a:latin typeface="Perpetua"/>
                <a:cs typeface="Perpetua"/>
              </a:rPr>
              <a:t> </a:t>
            </a:r>
            <a:r>
              <a:rPr i="1" spc="-10" dirty="0">
                <a:latin typeface="Perpetua"/>
                <a:cs typeface="Perpetua"/>
              </a:rPr>
              <a:t>parameter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357886"/>
            <a:ext cx="35013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Formal</a:t>
            </a:r>
            <a:r>
              <a:rPr spc="-30" dirty="0"/>
              <a:t> </a:t>
            </a:r>
            <a:r>
              <a:rPr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337177"/>
            <a:ext cx="8226425" cy="390207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2207260">
              <a:lnSpc>
                <a:spcPct val="100000"/>
              </a:lnSpc>
              <a:spcBef>
                <a:spcPts val="1505"/>
              </a:spcBef>
            </a:pPr>
            <a:r>
              <a:rPr sz="2000" spc="-5" dirty="0">
                <a:latin typeface="Perpetua"/>
                <a:cs typeface="Perpetua"/>
              </a:rPr>
              <a:t>Figure:</a:t>
            </a:r>
            <a:r>
              <a:rPr sz="2000" spc="-39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 syntactic </a:t>
            </a:r>
            <a:r>
              <a:rPr sz="2000" spc="5" dirty="0">
                <a:latin typeface="Perpetua"/>
                <a:cs typeface="Perpetua"/>
              </a:rPr>
              <a:t>pattern </a:t>
            </a:r>
            <a:r>
              <a:rPr sz="2000" dirty="0">
                <a:latin typeface="Perpetua"/>
                <a:cs typeface="Perpetua"/>
              </a:rPr>
              <a:t>- </a:t>
            </a:r>
            <a:r>
              <a:rPr sz="2000" spc="5" dirty="0">
                <a:latin typeface="Perpetua"/>
                <a:cs typeface="Perpetua"/>
              </a:rPr>
              <a:t>formal </a:t>
            </a:r>
            <a:r>
              <a:rPr sz="2000" dirty="0">
                <a:latin typeface="Perpetua"/>
                <a:cs typeface="Perpetua"/>
              </a:rPr>
              <a:t>parameters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L="286385" marR="7620" indent="-274320" algn="just">
              <a:lnSpc>
                <a:spcPts val="250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figure </a:t>
            </a:r>
            <a:r>
              <a:rPr sz="2600" spc="-5" dirty="0">
                <a:latin typeface="Perpetua"/>
                <a:cs typeface="Perpetua"/>
              </a:rPr>
              <a:t>gives an expanded syntactic </a:t>
            </a:r>
            <a:r>
              <a:rPr sz="2600" spc="5" dirty="0">
                <a:latin typeface="Perpetua"/>
                <a:cs typeface="Perpetua"/>
              </a:rPr>
              <a:t>pattern </a:t>
            </a:r>
            <a:r>
              <a:rPr sz="2600" spc="-5" dirty="0">
                <a:latin typeface="Perpetua"/>
                <a:cs typeface="Perpetua"/>
              </a:rPr>
              <a:t>for defining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15" dirty="0">
                <a:latin typeface="Perpetua"/>
                <a:cs typeface="Perpetua"/>
              </a:rPr>
              <a:t>module.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ts val="25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formal parameters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listed </a:t>
            </a:r>
            <a:r>
              <a:rPr sz="2600" dirty="0">
                <a:latin typeface="Perpetua"/>
                <a:cs typeface="Perpetua"/>
              </a:rPr>
              <a:t>within the </a:t>
            </a:r>
            <a:r>
              <a:rPr sz="2600" spc="-5" dirty="0">
                <a:latin typeface="Perpetua"/>
                <a:cs typeface="Perpetua"/>
              </a:rPr>
              <a:t>parentheses associated  </a:t>
            </a:r>
            <a:r>
              <a:rPr sz="2600" dirty="0">
                <a:latin typeface="Perpetua"/>
                <a:cs typeface="Perpetua"/>
              </a:rPr>
              <a:t>with the</a:t>
            </a:r>
            <a:r>
              <a:rPr sz="2600" spc="-15" dirty="0">
                <a:latin typeface="Perpetua"/>
                <a:cs typeface="Perpetua"/>
              </a:rPr>
              <a:t> name.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500"/>
              </a:lnSpc>
              <a:spcBef>
                <a:spcPts val="59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formal </a:t>
            </a:r>
            <a:r>
              <a:rPr sz="2600" spc="-5" dirty="0">
                <a:latin typeface="Perpetua"/>
                <a:cs typeface="Perpetua"/>
              </a:rPr>
              <a:t>parameter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simply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dirty="0">
                <a:latin typeface="Perpetua"/>
                <a:cs typeface="Perpetua"/>
              </a:rPr>
              <a:t>name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35" dirty="0">
                <a:latin typeface="Perpetua"/>
                <a:cs typeface="Perpetua"/>
              </a:rPr>
              <a:t>may  have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10" dirty="0">
                <a:latin typeface="Perpetua"/>
                <a:cs typeface="Perpetua"/>
              </a:rPr>
              <a:t>formal </a:t>
            </a:r>
            <a:r>
              <a:rPr sz="2600" dirty="0">
                <a:latin typeface="Perpetua"/>
                <a:cs typeface="Perpetua"/>
              </a:rPr>
              <a:t>parameters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-15" dirty="0">
                <a:latin typeface="Perpetua"/>
                <a:cs typeface="Perpetua"/>
              </a:rPr>
              <a:t>convenient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module's  function.</a:t>
            </a:r>
            <a:endParaRPr sz="2600">
              <a:latin typeface="Perpetua"/>
              <a:cs typeface="Perpetua"/>
            </a:endParaRPr>
          </a:p>
          <a:p>
            <a:pPr marL="286385" marR="6985" indent="-274320" algn="just">
              <a:lnSpc>
                <a:spcPts val="2500"/>
              </a:lnSpc>
              <a:spcBef>
                <a:spcPts val="58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Of course, 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spc="-30" dirty="0">
                <a:latin typeface="Perpetua"/>
                <a:cs typeface="Perpetua"/>
              </a:rPr>
              <a:t>may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spc="-5" dirty="0">
                <a:latin typeface="Perpetua"/>
                <a:cs typeface="Perpetua"/>
              </a:rPr>
              <a:t>no </a:t>
            </a:r>
            <a:r>
              <a:rPr sz="2600" i="1" dirty="0">
                <a:latin typeface="Perpetua"/>
                <a:cs typeface="Perpetua"/>
              </a:rPr>
              <a:t>formal </a:t>
            </a:r>
            <a:r>
              <a:rPr sz="2600" i="1" spc="-20" dirty="0">
                <a:latin typeface="Perpetua"/>
                <a:cs typeface="Perpetua"/>
              </a:rPr>
              <a:t>parameters, </a:t>
            </a:r>
            <a:r>
              <a:rPr sz="2600" i="1" spc="-5" dirty="0">
                <a:latin typeface="Perpetua"/>
                <a:cs typeface="Perpetua"/>
              </a:rPr>
              <a:t>as </a:t>
            </a:r>
            <a:r>
              <a:rPr sz="2600" i="1" spc="-15" dirty="0">
                <a:latin typeface="Perpetua"/>
                <a:cs typeface="Perpetua"/>
              </a:rPr>
              <a:t>illustrated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all </a:t>
            </a:r>
            <a:r>
              <a:rPr sz="2600" i="1" spc="-20" dirty="0">
                <a:latin typeface="Perpetua"/>
                <a:cs typeface="Perpetua"/>
              </a:rPr>
              <a:t>of  </a:t>
            </a:r>
            <a:r>
              <a:rPr sz="2600" i="1" spc="-5" dirty="0">
                <a:latin typeface="Perpetua"/>
                <a:cs typeface="Perpetua"/>
              </a:rPr>
              <a:t>the modules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30" dirty="0">
                <a:latin typeface="Perpetua"/>
                <a:cs typeface="Perpetua"/>
              </a:rPr>
              <a:t>have </a:t>
            </a:r>
            <a:r>
              <a:rPr sz="2600" i="1" spc="-10" dirty="0">
                <a:latin typeface="Perpetua"/>
                <a:cs typeface="Perpetua"/>
              </a:rPr>
              <a:t>previously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described.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600" y="1143000"/>
            <a:ext cx="4724400" cy="1295400"/>
          </a:xfrm>
          <a:prstGeom prst="rect">
            <a:avLst/>
          </a:prstGeom>
          <a:solidFill>
            <a:srgbClr val="E9E4DC"/>
          </a:solidFill>
          <a:ln w="12192">
            <a:solidFill>
              <a:srgbClr val="9B310D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305435" marR="151130" indent="-61594">
              <a:lnSpc>
                <a:spcPts val="3120"/>
              </a:lnSpc>
              <a:spcBef>
                <a:spcPts val="95"/>
              </a:spcBef>
            </a:pPr>
            <a:r>
              <a:rPr sz="2600" b="1" dirty="0">
                <a:latin typeface="Perpetua"/>
                <a:cs typeface="Perpetua"/>
              </a:rPr>
              <a:t>Module </a:t>
            </a:r>
            <a:r>
              <a:rPr sz="2600" b="1" spc="-5" dirty="0">
                <a:latin typeface="Perpetua"/>
                <a:cs typeface="Perpetua"/>
              </a:rPr>
              <a:t>NAME(V1,V2,….,Vn)is  </a:t>
            </a:r>
            <a:r>
              <a:rPr sz="2600" b="1" spc="-10" dirty="0">
                <a:latin typeface="Perpetua"/>
                <a:cs typeface="Perpetua"/>
              </a:rPr>
              <a:t>ACTIONS</a:t>
            </a:r>
            <a:endParaRPr sz="2600">
              <a:latin typeface="Perpetua"/>
              <a:cs typeface="Perpetua"/>
            </a:endParaRPr>
          </a:p>
          <a:p>
            <a:pPr marL="243840">
              <a:lnSpc>
                <a:spcPts val="3020"/>
              </a:lnSpc>
            </a:pPr>
            <a:r>
              <a:rPr sz="2600" b="1" dirty="0">
                <a:latin typeface="Perpetua"/>
                <a:cs typeface="Perpetua"/>
              </a:rPr>
              <a:t>endmodule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83978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latin typeface="Perpetua"/>
                <a:cs typeface="Perpetua"/>
              </a:rPr>
              <a:t>One </a:t>
            </a:r>
            <a:r>
              <a:rPr sz="3600" i="1" spc="-15" dirty="0">
                <a:latin typeface="Perpetua"/>
                <a:cs typeface="Perpetua"/>
              </a:rPr>
              <a:t>more </a:t>
            </a:r>
            <a:r>
              <a:rPr sz="3600" i="1" spc="-5" dirty="0">
                <a:latin typeface="Perpetua"/>
                <a:cs typeface="Perpetua"/>
              </a:rPr>
              <a:t>look </a:t>
            </a:r>
            <a:r>
              <a:rPr sz="3600" i="1" spc="-20" dirty="0">
                <a:latin typeface="Perpetua"/>
                <a:cs typeface="Perpetua"/>
              </a:rPr>
              <a:t>at </a:t>
            </a:r>
            <a:r>
              <a:rPr sz="3600" i="1" dirty="0">
                <a:latin typeface="Perpetua"/>
                <a:cs typeface="Perpetua"/>
              </a:rPr>
              <a:t>the </a:t>
            </a:r>
            <a:r>
              <a:rPr sz="3600" i="1" spc="10" dirty="0">
                <a:latin typeface="Perpetua"/>
                <a:cs typeface="Perpetua"/>
              </a:rPr>
              <a:t>starting </a:t>
            </a:r>
            <a:r>
              <a:rPr sz="3600" i="1" spc="-20" dirty="0">
                <a:latin typeface="Perpetua"/>
                <a:cs typeface="Perpetua"/>
              </a:rPr>
              <a:t>temperature </a:t>
            </a:r>
            <a:r>
              <a:rPr sz="3600" i="1" spc="-5" dirty="0">
                <a:latin typeface="Perpetua"/>
                <a:cs typeface="Perpetua"/>
              </a:rPr>
              <a:t>of </a:t>
            </a:r>
            <a:r>
              <a:rPr sz="3600" i="1" spc="15" dirty="0">
                <a:latin typeface="Perpetua"/>
                <a:cs typeface="Perpetua"/>
              </a:rPr>
              <a:t>grill </a:t>
            </a:r>
            <a:r>
              <a:rPr sz="3600" i="1" dirty="0">
                <a:latin typeface="Perpetua"/>
                <a:cs typeface="Perpetua"/>
              </a:rPr>
              <a:t>a steak  algorithm</a:t>
            </a:r>
            <a:r>
              <a:rPr sz="3600" i="1" spc="-10" dirty="0">
                <a:latin typeface="Perpetua"/>
                <a:cs typeface="Perpetua"/>
              </a:rPr>
              <a:t> </a:t>
            </a:r>
            <a:r>
              <a:rPr sz="3600" i="1" dirty="0">
                <a:latin typeface="Perpetua"/>
                <a:cs typeface="Perpetua"/>
              </a:rPr>
              <a:t>……..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613128"/>
            <a:ext cx="8530590" cy="439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1109980" indent="-286385">
              <a:lnSpc>
                <a:spcPct val="112700"/>
              </a:lnSpc>
              <a:spcBef>
                <a:spcPts val="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dirty="0">
                <a:latin typeface="Perpetua"/>
                <a:cs typeface="Perpetua"/>
              </a:rPr>
              <a:t>a steak, the steak has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10" dirty="0">
                <a:latin typeface="Perpetua"/>
                <a:cs typeface="Perpetua"/>
              </a:rPr>
              <a:t>temperature.  </a:t>
            </a: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i="1" spc="-40" dirty="0">
                <a:latin typeface="Perpetua"/>
                <a:cs typeface="Perpetua"/>
              </a:rPr>
              <a:t>steakTemp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algorithm.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5" dirty="0">
                <a:latin typeface="Perpetua"/>
                <a:cs typeface="Perpetua"/>
              </a:rPr>
              <a:t>writing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process for </a:t>
            </a: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steak,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  <a:tab pos="905510" algn="l"/>
                <a:tab pos="1555115" algn="l"/>
                <a:tab pos="2606675" algn="l"/>
                <a:tab pos="3379470" algn="l"/>
                <a:tab pos="3997960" algn="l"/>
                <a:tab pos="4504690" algn="l"/>
                <a:tab pos="5188585" algn="l"/>
                <a:tab pos="5598795" algn="l"/>
                <a:tab pos="6420485" algn="l"/>
                <a:tab pos="6960234" algn="l"/>
                <a:tab pos="7740015" algn="l"/>
                <a:tab pos="8141334" algn="l"/>
              </a:tabLst>
            </a:pPr>
            <a:r>
              <a:rPr sz="2600" spc="-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5" dirty="0">
                <a:latin typeface="Perpetua"/>
                <a:cs typeface="Perpetua"/>
              </a:rPr>
              <a:t>m</a:t>
            </a:r>
            <a:r>
              <a:rPr sz="2600" spc="-9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y	in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5" dirty="0">
                <a:latin typeface="Perpetua"/>
                <a:cs typeface="Perpetua"/>
              </a:rPr>
              <a:t>i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55" dirty="0">
                <a:latin typeface="Perpetua"/>
                <a:cs typeface="Perpetua"/>
              </a:rPr>
              <a:t>l</a:t>
            </a:r>
            <a:r>
              <a:rPr sz="2600" dirty="0">
                <a:latin typeface="Perpetua"/>
                <a:cs typeface="Perpetua"/>
              </a:rPr>
              <a:t>y	seem	th</a:t>
            </a:r>
            <a:r>
              <a:rPr sz="2600" spc="-2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	h</a:t>
            </a:r>
            <a:r>
              <a:rPr sz="2600" spc="-80" dirty="0">
                <a:latin typeface="Perpetua"/>
                <a:cs typeface="Perpetua"/>
              </a:rPr>
              <a:t>a</a:t>
            </a:r>
            <a:r>
              <a:rPr sz="2600" spc="-55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kn</a:t>
            </a:r>
            <a:r>
              <a:rPr sz="2600" spc="-8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w	the	</a:t>
            </a:r>
            <a:r>
              <a:rPr sz="2600" spc="-45" dirty="0">
                <a:latin typeface="Perpetua"/>
                <a:cs typeface="Perpetua"/>
              </a:rPr>
              <a:t>v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0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the</a:t>
            </a:r>
            <a:endParaRPr sz="26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</a:pPr>
            <a:r>
              <a:rPr sz="2600" i="1" spc="-35" dirty="0">
                <a:latin typeface="Perpetua"/>
                <a:cs typeface="Perpetua"/>
              </a:rPr>
              <a:t>steakTemp </a:t>
            </a:r>
            <a:r>
              <a:rPr sz="2600" spc="-10" dirty="0">
                <a:latin typeface="Perpetua"/>
                <a:cs typeface="Perpetua"/>
              </a:rPr>
              <a:t>variable.</a:t>
            </a:r>
            <a:endParaRPr sz="2600">
              <a:latin typeface="Perpetua"/>
              <a:cs typeface="Perpetua"/>
            </a:endParaRPr>
          </a:p>
          <a:p>
            <a:pPr marL="561340" marR="6985" indent="-228600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340" algn="l"/>
                <a:tab pos="1161415" algn="l"/>
                <a:tab pos="1717675" algn="l"/>
                <a:tab pos="2329180" algn="l"/>
                <a:tab pos="2678430" algn="l"/>
                <a:tab pos="3364229" algn="l"/>
                <a:tab pos="3812540" algn="l"/>
                <a:tab pos="4391660" algn="l"/>
                <a:tab pos="5054600" algn="l"/>
                <a:tab pos="5359400" algn="l"/>
                <a:tab pos="6647815" algn="l"/>
                <a:tab pos="6996430" algn="l"/>
                <a:tab pos="7411084" algn="l"/>
                <a:tab pos="7685405" algn="l"/>
              </a:tabLst>
            </a:pPr>
            <a:r>
              <a:rPr sz="2600" i="1" spc="-5" dirty="0">
                <a:latin typeface="Perpetua"/>
                <a:cs typeface="Perpetua"/>
              </a:rPr>
              <a:t>Al</a:t>
            </a:r>
            <a:r>
              <a:rPr sz="2600" i="1" dirty="0">
                <a:latin typeface="Perpetua"/>
                <a:cs typeface="Perpetua"/>
              </a:rPr>
              <a:t>l	</a:t>
            </a:r>
            <a:r>
              <a:rPr sz="2600" i="1" spc="-20" dirty="0">
                <a:latin typeface="Perpetua"/>
                <a:cs typeface="Perpetua"/>
              </a:rPr>
              <a:t>w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20" dirty="0">
                <a:latin typeface="Perpetua"/>
                <a:cs typeface="Perpetua"/>
              </a:rPr>
              <a:t>h</a:t>
            </a:r>
            <a:r>
              <a:rPr sz="2600" i="1" spc="-75" dirty="0">
                <a:latin typeface="Perpetua"/>
                <a:cs typeface="Perpetua"/>
              </a:rPr>
              <a:t>a</a:t>
            </a:r>
            <a:r>
              <a:rPr sz="2600" i="1" spc="-60" dirty="0">
                <a:latin typeface="Perpetua"/>
                <a:cs typeface="Perpetua"/>
              </a:rPr>
              <a:t>v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t</a:t>
            </a:r>
            <a:r>
              <a:rPr sz="2600" i="1" dirty="0">
                <a:latin typeface="Perpetua"/>
                <a:cs typeface="Perpetua"/>
              </a:rPr>
              <a:t>o	</a:t>
            </a:r>
            <a:r>
              <a:rPr sz="2600" i="1" spc="-5" dirty="0">
                <a:latin typeface="Perpetua"/>
                <a:cs typeface="Perpetua"/>
              </a:rPr>
              <a:t>k</a:t>
            </a:r>
            <a:r>
              <a:rPr sz="2600" i="1" spc="-10" dirty="0">
                <a:latin typeface="Perpetua"/>
                <a:cs typeface="Perpetua"/>
              </a:rPr>
              <a:t>n</a:t>
            </a:r>
            <a:r>
              <a:rPr sz="2600" i="1" spc="-40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w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s	t</a:t>
            </a:r>
            <a:r>
              <a:rPr sz="2600" i="1" spc="-10" dirty="0">
                <a:latin typeface="Perpetua"/>
                <a:cs typeface="Perpetua"/>
              </a:rPr>
              <a:t>h</a:t>
            </a:r>
            <a:r>
              <a:rPr sz="2600" i="1" spc="-25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t	t</a:t>
            </a:r>
            <a:r>
              <a:rPr sz="2600" i="1" spc="-10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e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s	</a:t>
            </a:r>
            <a:r>
              <a:rPr sz="2600" i="1" spc="-5" dirty="0">
                <a:latin typeface="Perpetua"/>
                <a:cs typeface="Perpetua"/>
              </a:rPr>
              <a:t>in</a:t>
            </a:r>
            <a:r>
              <a:rPr sz="2600" i="1" spc="-15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t</a:t>
            </a:r>
            <a:r>
              <a:rPr sz="2600" i="1" spc="4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u</a:t>
            </a:r>
            <a:r>
              <a:rPr sz="2600" i="1" spc="-15" dirty="0">
                <a:latin typeface="Perpetua"/>
                <a:cs typeface="Perpetua"/>
              </a:rPr>
              <a:t>c</a:t>
            </a:r>
            <a:r>
              <a:rPr sz="2600" i="1" dirty="0">
                <a:latin typeface="Perpetua"/>
                <a:cs typeface="Perpetua"/>
              </a:rPr>
              <a:t>tion	</a:t>
            </a:r>
            <a:r>
              <a:rPr sz="2600" i="1" spc="-5" dirty="0">
                <a:latin typeface="Perpetua"/>
                <a:cs typeface="Perpetua"/>
              </a:rPr>
              <a:t>t</a:t>
            </a:r>
            <a:r>
              <a:rPr sz="2600" i="1" dirty="0">
                <a:latin typeface="Perpetua"/>
                <a:cs typeface="Perpetua"/>
              </a:rPr>
              <a:t>o	set	a	s</a:t>
            </a:r>
            <a:r>
              <a:rPr sz="2600" i="1" spc="-10" dirty="0">
                <a:latin typeface="Perpetua"/>
                <a:cs typeface="Perpetua"/>
              </a:rPr>
              <a:t>t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7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ti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g  </a:t>
            </a:r>
            <a:r>
              <a:rPr sz="2600" i="1" spc="-10" dirty="0">
                <a:latin typeface="Perpetua"/>
                <a:cs typeface="Perpetua"/>
              </a:rPr>
              <a:t>temperature!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/>
              <a:cs typeface="Times New Roman"/>
            </a:endParaRPr>
          </a:p>
          <a:p>
            <a:pPr marL="286385" marR="6350" indent="-274320">
              <a:lnSpc>
                <a:spcPct val="1000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dirty="0">
                <a:latin typeface="Perpetua"/>
                <a:cs typeface="Perpetua"/>
              </a:rPr>
              <a:t>course, </a:t>
            </a:r>
            <a:r>
              <a:rPr sz="2600" i="1" spc="-5" dirty="0">
                <a:latin typeface="Perpetua"/>
                <a:cs typeface="Perpetua"/>
              </a:rPr>
              <a:t>if </a:t>
            </a:r>
            <a:r>
              <a:rPr sz="2600" i="1" spc="-10" dirty="0">
                <a:latin typeface="Perpetua"/>
                <a:cs typeface="Perpetua"/>
              </a:rPr>
              <a:t>we are </a:t>
            </a:r>
            <a:r>
              <a:rPr sz="2600" i="1" spc="-15" dirty="0">
                <a:latin typeface="Perpetua"/>
                <a:cs typeface="Perpetua"/>
              </a:rPr>
              <a:t>ever </a:t>
            </a:r>
            <a:r>
              <a:rPr sz="2600" i="1" spc="-5" dirty="0">
                <a:latin typeface="Perpetua"/>
                <a:cs typeface="Perpetua"/>
              </a:rPr>
              <a:t>asked to </a:t>
            </a:r>
            <a:r>
              <a:rPr sz="2600" i="1" spc="10" dirty="0">
                <a:latin typeface="Perpetua"/>
                <a:cs typeface="Perpetua"/>
              </a:rPr>
              <a:t>grill </a:t>
            </a:r>
            <a:r>
              <a:rPr sz="2600" i="1" dirty="0">
                <a:latin typeface="Perpetua"/>
                <a:cs typeface="Perpetua"/>
              </a:rPr>
              <a:t>an actual </a:t>
            </a:r>
            <a:r>
              <a:rPr sz="2600" i="1" spc="-5" dirty="0">
                <a:latin typeface="Perpetua"/>
                <a:cs typeface="Perpetua"/>
              </a:rPr>
              <a:t>steak, </a:t>
            </a:r>
            <a:r>
              <a:rPr sz="2600" i="1" spc="-1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then </a:t>
            </a:r>
            <a:r>
              <a:rPr sz="2600" i="1" dirty="0">
                <a:latin typeface="Perpetua"/>
                <a:cs typeface="Perpetua"/>
              </a:rPr>
              <a:t>need </a:t>
            </a:r>
            <a:r>
              <a:rPr sz="2600" i="1" spc="-5" dirty="0">
                <a:latin typeface="Perpetua"/>
                <a:cs typeface="Perpetua"/>
              </a:rPr>
              <a:t>to obtain  the </a:t>
            </a:r>
            <a:r>
              <a:rPr sz="2600" i="1" spc="5" dirty="0">
                <a:latin typeface="Perpetua"/>
                <a:cs typeface="Perpetua"/>
              </a:rPr>
              <a:t>starting </a:t>
            </a:r>
            <a:r>
              <a:rPr sz="2600" i="1" spc="-5" dirty="0">
                <a:latin typeface="Perpetua"/>
                <a:cs typeface="Perpetua"/>
              </a:rPr>
              <a:t>steak </a:t>
            </a:r>
            <a:r>
              <a:rPr sz="2600" i="1" spc="-15" dirty="0">
                <a:latin typeface="Perpetua"/>
                <a:cs typeface="Perpetua"/>
              </a:rPr>
              <a:t>temperature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actually </a:t>
            </a:r>
            <a:r>
              <a:rPr sz="2600" i="1" spc="10" dirty="0">
                <a:latin typeface="Perpetua"/>
                <a:cs typeface="Perpetua"/>
              </a:rPr>
              <a:t>carry </a:t>
            </a:r>
            <a:r>
              <a:rPr sz="2600" i="1" spc="-5" dirty="0">
                <a:latin typeface="Perpetua"/>
                <a:cs typeface="Perpetua"/>
              </a:rPr>
              <a:t>out the</a:t>
            </a:r>
            <a:r>
              <a:rPr sz="2600" i="1" spc="3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process.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030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 </a:t>
            </a:r>
            <a:r>
              <a:rPr spc="-10" dirty="0"/>
              <a:t>flexible </a:t>
            </a:r>
            <a:r>
              <a:rPr dirty="0"/>
              <a:t>module </a:t>
            </a:r>
            <a:r>
              <a:rPr spc="-5" dirty="0"/>
              <a:t>for </a:t>
            </a:r>
            <a:r>
              <a:rPr i="1" spc="15" dirty="0">
                <a:latin typeface="Perpetua"/>
                <a:cs typeface="Perpetua"/>
              </a:rPr>
              <a:t>grill </a:t>
            </a:r>
            <a:r>
              <a:rPr i="1" spc="-5" dirty="0">
                <a:latin typeface="Perpetua"/>
                <a:cs typeface="Perpetua"/>
              </a:rPr>
              <a:t>a steak</a:t>
            </a:r>
          </a:p>
        </p:txBody>
      </p:sp>
      <p:sp>
        <p:nvSpPr>
          <p:cNvPr id="3" name="object 3"/>
          <p:cNvSpPr/>
          <p:nvPr/>
        </p:nvSpPr>
        <p:spPr>
          <a:xfrm>
            <a:off x="1828800" y="3581400"/>
            <a:ext cx="5715000" cy="2286000"/>
          </a:xfrm>
          <a:custGeom>
            <a:avLst/>
            <a:gdLst/>
            <a:ahLst/>
            <a:cxnLst/>
            <a:rect l="l" t="t" r="r" b="b"/>
            <a:pathLst>
              <a:path w="5715000" h="2286000">
                <a:moveTo>
                  <a:pt x="0" y="2286000"/>
                </a:moveTo>
                <a:lnTo>
                  <a:pt x="5715000" y="2286000"/>
                </a:lnTo>
                <a:lnTo>
                  <a:pt x="5715000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E9E4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8800" y="3581400"/>
            <a:ext cx="5715000" cy="2286000"/>
          </a:xfrm>
          <a:custGeom>
            <a:avLst/>
            <a:gdLst/>
            <a:ahLst/>
            <a:cxnLst/>
            <a:rect l="l" t="t" r="r" b="b"/>
            <a:pathLst>
              <a:path w="5715000" h="2286000">
                <a:moveTo>
                  <a:pt x="0" y="2286000"/>
                </a:moveTo>
                <a:lnTo>
                  <a:pt x="5715000" y="2286000"/>
                </a:lnTo>
                <a:lnTo>
                  <a:pt x="5715000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ln w="12192">
            <a:solidFill>
              <a:srgbClr val="9B31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7340" y="1433525"/>
            <a:ext cx="8530590" cy="4918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985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Remember </a:t>
            </a:r>
            <a:r>
              <a:rPr sz="2600" i="1" spc="-15" dirty="0">
                <a:latin typeface="Perpetua"/>
                <a:cs typeface="Perpetua"/>
              </a:rPr>
              <a:t>that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spc="-10" dirty="0">
                <a:latin typeface="Perpetua"/>
                <a:cs typeface="Perpetua"/>
              </a:rPr>
              <a:t>simply </a:t>
            </a:r>
            <a:r>
              <a:rPr sz="2600" i="1" spc="-5" dirty="0">
                <a:latin typeface="Perpetua"/>
                <a:cs typeface="Perpetua"/>
              </a:rPr>
              <a:t>defines </a:t>
            </a:r>
            <a:r>
              <a:rPr sz="2600" i="1" spc="-20" dirty="0">
                <a:latin typeface="Perpetua"/>
                <a:cs typeface="Perpetua"/>
              </a:rPr>
              <a:t>what </a:t>
            </a:r>
            <a:r>
              <a:rPr sz="2600" i="1" spc="-5" dirty="0">
                <a:latin typeface="Perpetua"/>
                <a:cs typeface="Perpetua"/>
              </a:rPr>
              <a:t>actions should be </a:t>
            </a:r>
            <a:r>
              <a:rPr sz="2600" i="1" dirty="0">
                <a:latin typeface="Perpetua"/>
                <a:cs typeface="Perpetua"/>
              </a:rPr>
              <a:t>taken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10" dirty="0">
                <a:latin typeface="Perpetua"/>
                <a:cs typeface="Perpetua"/>
              </a:rPr>
              <a:t>grill 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steak.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-15" dirty="0">
                <a:latin typeface="Perpetua"/>
                <a:cs typeface="Perpetua"/>
              </a:rPr>
              <a:t>make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i="1" dirty="0">
                <a:latin typeface="Perpetua"/>
                <a:cs typeface="Perpetua"/>
              </a:rPr>
              <a:t>grillSteak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10" dirty="0">
                <a:latin typeface="Perpetua"/>
                <a:cs typeface="Perpetua"/>
              </a:rPr>
              <a:t>flexible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making the </a:t>
            </a:r>
            <a:r>
              <a:rPr sz="2600" spc="10" dirty="0">
                <a:latin typeface="Perpetua"/>
                <a:cs typeface="Perpetua"/>
              </a:rPr>
              <a:t>starting 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dirty="0">
                <a:latin typeface="Perpetua"/>
                <a:cs typeface="Perpetua"/>
              </a:rPr>
              <a:t>an input </a:t>
            </a:r>
            <a:r>
              <a:rPr sz="2600" spc="-5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controlled from </a:t>
            </a:r>
            <a:r>
              <a:rPr sz="2600" dirty="0">
                <a:latin typeface="Perpetua"/>
                <a:cs typeface="Perpetua"/>
              </a:rPr>
              <a:t>the outside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 </a:t>
            </a:r>
            <a:r>
              <a:rPr sz="2600" spc="-10" dirty="0">
                <a:latin typeface="Perpetua"/>
                <a:cs typeface="Perpetua"/>
              </a:rPr>
              <a:t>module.</a:t>
            </a:r>
            <a:endParaRPr sz="2600">
              <a:latin typeface="Perpetua"/>
              <a:cs typeface="Perpetua"/>
            </a:endParaRPr>
          </a:p>
          <a:p>
            <a:pPr marL="2127885" lvl="1" indent="-515620" algn="just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128520" algn="l"/>
              </a:tabLst>
            </a:pP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15" dirty="0">
                <a:latin typeface="Perpetua"/>
                <a:cs typeface="Perpetua"/>
              </a:rPr>
              <a:t>grillSteak(steakTemp)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is</a:t>
            </a:r>
            <a:endParaRPr sz="2600">
              <a:latin typeface="Perpetua"/>
              <a:cs typeface="Perpetua"/>
            </a:endParaRPr>
          </a:p>
          <a:p>
            <a:pPr marL="2127885" lvl="1" indent="-515620" algn="just">
              <a:lnSpc>
                <a:spcPct val="100000"/>
              </a:lnSpc>
              <a:buAutoNum type="arabicPeriod"/>
              <a:tabLst>
                <a:tab pos="2128520" algn="l"/>
              </a:tabLst>
            </a:pPr>
            <a:r>
              <a:rPr sz="2600" dirty="0">
                <a:latin typeface="Perpetua"/>
                <a:cs typeface="Perpetua"/>
              </a:rPr>
              <a:t>while </a:t>
            </a:r>
            <a:r>
              <a:rPr sz="2600" spc="-40" dirty="0">
                <a:latin typeface="Perpetua"/>
                <a:cs typeface="Perpetua"/>
              </a:rPr>
              <a:t>steakTemp </a:t>
            </a:r>
            <a:r>
              <a:rPr sz="2600" dirty="0">
                <a:latin typeface="Perpetua"/>
                <a:cs typeface="Perpetua"/>
              </a:rPr>
              <a:t>&lt; </a:t>
            </a:r>
            <a:r>
              <a:rPr sz="2600" spc="-5" dirty="0">
                <a:latin typeface="Perpetua"/>
                <a:cs typeface="Perpetua"/>
              </a:rPr>
              <a:t>135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do</a:t>
            </a:r>
            <a:endParaRPr sz="2600">
              <a:latin typeface="Perpetua"/>
              <a:cs typeface="Perpetua"/>
            </a:endParaRPr>
          </a:p>
          <a:p>
            <a:pPr marL="2210435" algn="just">
              <a:lnSpc>
                <a:spcPct val="100000"/>
              </a:lnSpc>
              <a:spcBef>
                <a:spcPts val="5"/>
              </a:spcBef>
              <a:tabLst>
                <a:tab pos="4573270" algn="l"/>
              </a:tabLst>
            </a:pPr>
            <a:r>
              <a:rPr sz="2600" spc="-5" dirty="0">
                <a:latin typeface="Perpetua"/>
                <a:cs typeface="Perpetua"/>
              </a:rPr>
              <a:t>a.</a:t>
            </a:r>
            <a:r>
              <a:rPr sz="2600" spc="-9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steakTemp	steakTemp </a:t>
            </a:r>
            <a:r>
              <a:rPr sz="2600" dirty="0">
                <a:latin typeface="Perpetua"/>
                <a:cs typeface="Perpetua"/>
              </a:rPr>
              <a:t>+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13</a:t>
            </a:r>
            <a:endParaRPr sz="2600">
              <a:latin typeface="Perpetua"/>
              <a:cs typeface="Perpetua"/>
            </a:endParaRPr>
          </a:p>
          <a:p>
            <a:pPr marL="2071370" lvl="1" indent="-459105" algn="just">
              <a:lnSpc>
                <a:spcPct val="100000"/>
              </a:lnSpc>
              <a:buAutoNum type="arabicPeriod" startAt="3"/>
              <a:tabLst>
                <a:tab pos="2072005" algn="l"/>
              </a:tabLst>
            </a:pPr>
            <a:r>
              <a:rPr sz="2600" spc="-10" dirty="0">
                <a:latin typeface="Perpetua"/>
                <a:cs typeface="Perpetua"/>
              </a:rPr>
              <a:t>endwhile</a:t>
            </a:r>
            <a:endParaRPr sz="2600">
              <a:latin typeface="Perpetua"/>
              <a:cs typeface="Perpetua"/>
            </a:endParaRPr>
          </a:p>
          <a:p>
            <a:pPr marL="1922145" lvl="1" indent="-309880" algn="just">
              <a:lnSpc>
                <a:spcPct val="100000"/>
              </a:lnSpc>
              <a:buAutoNum type="arabicPeriod" startAt="3"/>
              <a:tabLst>
                <a:tab pos="1922780" algn="l"/>
              </a:tabLst>
            </a:pPr>
            <a:r>
              <a:rPr sz="2600" spc="-5" dirty="0">
                <a:latin typeface="Perpetua"/>
                <a:cs typeface="Perpetua"/>
              </a:rPr>
              <a:t>endmodule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00">
              <a:latin typeface="Times New Roman"/>
              <a:cs typeface="Times New Roman"/>
            </a:endParaRPr>
          </a:p>
          <a:p>
            <a:pPr marR="160655" algn="ctr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Perpetua"/>
                <a:cs typeface="Perpetua"/>
              </a:rPr>
              <a:t>Figure: </a:t>
            </a:r>
            <a:r>
              <a:rPr sz="2000" dirty="0">
                <a:latin typeface="Perpetua"/>
                <a:cs typeface="Perpetua"/>
              </a:rPr>
              <a:t>A </a:t>
            </a:r>
            <a:r>
              <a:rPr sz="2000" spc="-10" dirty="0">
                <a:latin typeface="Perpetua"/>
                <a:cs typeface="Perpetua"/>
              </a:rPr>
              <a:t>flexible </a:t>
            </a:r>
            <a:r>
              <a:rPr sz="2000" i="1" dirty="0">
                <a:latin typeface="Perpetua"/>
                <a:cs typeface="Perpetua"/>
              </a:rPr>
              <a:t>grillSteak</a:t>
            </a:r>
            <a:r>
              <a:rPr sz="2000" i="1" spc="-229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module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91761" y="4686553"/>
            <a:ext cx="457200" cy="78105"/>
          </a:xfrm>
          <a:custGeom>
            <a:avLst/>
            <a:gdLst/>
            <a:ahLst/>
            <a:cxnLst/>
            <a:rect l="l" t="t" r="r" b="b"/>
            <a:pathLst>
              <a:path w="457200" h="78104">
                <a:moveTo>
                  <a:pt x="77850" y="0"/>
                </a:moveTo>
                <a:lnTo>
                  <a:pt x="0" y="38608"/>
                </a:lnTo>
                <a:lnTo>
                  <a:pt x="77597" y="77724"/>
                </a:lnTo>
                <a:lnTo>
                  <a:pt x="77681" y="51857"/>
                </a:lnTo>
                <a:lnTo>
                  <a:pt x="64770" y="51816"/>
                </a:lnTo>
                <a:lnTo>
                  <a:pt x="64770" y="25908"/>
                </a:lnTo>
                <a:lnTo>
                  <a:pt x="77766" y="25908"/>
                </a:lnTo>
                <a:lnTo>
                  <a:pt x="77850" y="0"/>
                </a:lnTo>
                <a:close/>
              </a:path>
              <a:path w="457200" h="78104">
                <a:moveTo>
                  <a:pt x="77766" y="25954"/>
                </a:moveTo>
                <a:lnTo>
                  <a:pt x="77681" y="51857"/>
                </a:lnTo>
                <a:lnTo>
                  <a:pt x="457200" y="53086"/>
                </a:lnTo>
                <a:lnTo>
                  <a:pt x="457200" y="27305"/>
                </a:lnTo>
                <a:lnTo>
                  <a:pt x="77766" y="25954"/>
                </a:lnTo>
                <a:close/>
              </a:path>
              <a:path w="457200" h="78104">
                <a:moveTo>
                  <a:pt x="64770" y="25908"/>
                </a:moveTo>
                <a:lnTo>
                  <a:pt x="64770" y="51816"/>
                </a:lnTo>
                <a:lnTo>
                  <a:pt x="77681" y="51857"/>
                </a:lnTo>
                <a:lnTo>
                  <a:pt x="77766" y="25954"/>
                </a:lnTo>
                <a:lnTo>
                  <a:pt x="64770" y="25908"/>
                </a:lnTo>
                <a:close/>
              </a:path>
              <a:path w="457200" h="78104">
                <a:moveTo>
                  <a:pt x="77766" y="25908"/>
                </a:moveTo>
                <a:lnTo>
                  <a:pt x="64770" y="25908"/>
                </a:lnTo>
                <a:lnTo>
                  <a:pt x="77766" y="25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05486"/>
            <a:ext cx="8302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Parameters </a:t>
            </a:r>
            <a:r>
              <a:rPr spc="-5" dirty="0"/>
              <a:t>of the </a:t>
            </a:r>
            <a:r>
              <a:rPr spc="-15" dirty="0"/>
              <a:t>flexible </a:t>
            </a:r>
            <a:r>
              <a:rPr i="1" spc="15" dirty="0">
                <a:latin typeface="Perpetua"/>
                <a:cs typeface="Perpetua"/>
              </a:rPr>
              <a:t>grill </a:t>
            </a:r>
            <a:r>
              <a:rPr i="1" spc="-5" dirty="0">
                <a:latin typeface="Perpetua"/>
                <a:cs typeface="Perpetua"/>
              </a:rPr>
              <a:t>a steak</a:t>
            </a:r>
            <a:r>
              <a:rPr i="1" spc="110" dirty="0">
                <a:latin typeface="Perpetua"/>
                <a:cs typeface="Perpetua"/>
              </a:rPr>
              <a:t> </a:t>
            </a:r>
            <a:r>
              <a:rPr spc="-5" dirty="0"/>
              <a:t>module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35845"/>
            <a:ext cx="8531860" cy="5380355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384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rewritten </a:t>
            </a:r>
            <a:r>
              <a:rPr sz="2600" i="1" dirty="0">
                <a:latin typeface="Perpetua"/>
                <a:cs typeface="Perpetua"/>
              </a:rPr>
              <a:t>grillSteak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30" dirty="0">
                <a:latin typeface="Perpetua"/>
                <a:cs typeface="Perpetua"/>
              </a:rPr>
              <a:t>now </a:t>
            </a:r>
            <a:r>
              <a:rPr sz="2600" dirty="0">
                <a:latin typeface="Perpetua"/>
                <a:cs typeface="Perpetua"/>
              </a:rPr>
              <a:t>has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one</a:t>
            </a:r>
            <a:endParaRPr sz="2600">
              <a:latin typeface="Perpetua"/>
              <a:cs typeface="Perpetua"/>
            </a:endParaRPr>
          </a:p>
          <a:p>
            <a:pPr marL="4585335" algn="just">
              <a:lnSpc>
                <a:spcPct val="100000"/>
              </a:lnSpc>
              <a:spcBef>
                <a:spcPts val="285"/>
              </a:spcBef>
            </a:pPr>
            <a:r>
              <a:rPr sz="2600" i="1" dirty="0">
                <a:latin typeface="Perpetua"/>
                <a:cs typeface="Perpetua"/>
              </a:rPr>
              <a:t>formal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parameter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810"/>
              </a:lnSpc>
              <a:spcBef>
                <a:spcPts val="645"/>
              </a:spcBef>
              <a:buSzPct val="84615"/>
              <a:buFont typeface="Arial"/>
              <a:buChar char="•"/>
              <a:tabLst>
                <a:tab pos="32258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This implies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ever </a:t>
            </a:r>
            <a:r>
              <a:rPr sz="2600" dirty="0">
                <a:latin typeface="Perpetua"/>
                <a:cs typeface="Perpetua"/>
              </a:rPr>
              <a:t>need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use this </a:t>
            </a:r>
            <a:r>
              <a:rPr sz="2600" spc="-5" dirty="0">
                <a:latin typeface="Perpetua"/>
                <a:cs typeface="Perpetua"/>
              </a:rPr>
              <a:t>module to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dirty="0">
                <a:latin typeface="Perpetua"/>
                <a:cs typeface="Perpetua"/>
              </a:rPr>
              <a:t>a steak 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must</a:t>
            </a:r>
            <a:r>
              <a:rPr sz="2600" spc="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supply</a:t>
            </a:r>
            <a:endParaRPr sz="2600">
              <a:latin typeface="Perpetua"/>
              <a:cs typeface="Perpetua"/>
            </a:endParaRPr>
          </a:p>
          <a:p>
            <a:pPr marL="2756535" algn="just">
              <a:lnSpc>
                <a:spcPct val="100000"/>
              </a:lnSpc>
              <a:spcBef>
                <a:spcPts val="244"/>
              </a:spcBef>
            </a:pP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i="1" spc="-5" dirty="0">
                <a:latin typeface="Perpetua"/>
                <a:cs typeface="Perpetua"/>
              </a:rPr>
              <a:t>actual </a:t>
            </a:r>
            <a:r>
              <a:rPr sz="2600" i="1" spc="-10" dirty="0">
                <a:latin typeface="Perpetua"/>
                <a:cs typeface="Perpetua"/>
              </a:rPr>
              <a:t>parameter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ts val="2810"/>
              </a:lnSpc>
              <a:spcBef>
                <a:spcPts val="64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actual </a:t>
            </a:r>
            <a:r>
              <a:rPr sz="2600" dirty="0">
                <a:latin typeface="Perpetua"/>
                <a:cs typeface="Perpetua"/>
              </a:rPr>
              <a:t>parameter </a:t>
            </a:r>
            <a:r>
              <a:rPr sz="2600" spc="-5" dirty="0">
                <a:latin typeface="Perpetua"/>
                <a:cs typeface="Perpetua"/>
              </a:rPr>
              <a:t>becomes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5" dirty="0">
                <a:latin typeface="Perpetua"/>
                <a:cs typeface="Perpetua"/>
              </a:rPr>
              <a:t>steak temperature for </a:t>
            </a:r>
            <a:r>
              <a:rPr sz="2600" dirty="0">
                <a:latin typeface="Perpetua"/>
                <a:cs typeface="Perpetua"/>
              </a:rPr>
              <a:t>the  steak </a:t>
            </a:r>
            <a:r>
              <a:rPr sz="2600" spc="10" dirty="0">
                <a:latin typeface="Perpetua"/>
                <a:cs typeface="Perpetua"/>
              </a:rPr>
              <a:t>grilling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subprocess.</a:t>
            </a:r>
            <a:endParaRPr sz="2600">
              <a:latin typeface="Perpetua"/>
              <a:cs typeface="Perpetua"/>
            </a:endParaRPr>
          </a:p>
          <a:p>
            <a:pPr marL="286385" marR="5715" indent="-274320" algn="just">
              <a:lnSpc>
                <a:spcPct val="90000"/>
              </a:lnSpc>
              <a:spcBef>
                <a:spcPts val="5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If, 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want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grill </a:t>
            </a:r>
            <a:r>
              <a:rPr sz="2600" dirty="0">
                <a:latin typeface="Perpetua"/>
                <a:cs typeface="Perpetua"/>
              </a:rPr>
              <a:t>a steak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starting </a:t>
            </a:r>
            <a:r>
              <a:rPr sz="2600" spc="-10" dirty="0">
                <a:latin typeface="Perpetua"/>
                <a:cs typeface="Perpetua"/>
              </a:rPr>
              <a:t>temperature  </a:t>
            </a:r>
            <a:r>
              <a:rPr sz="2600" spc="-5" dirty="0">
                <a:latin typeface="Perpetua"/>
                <a:cs typeface="Perpetua"/>
              </a:rPr>
              <a:t>of 94 </a:t>
            </a:r>
            <a:r>
              <a:rPr sz="2600" dirty="0">
                <a:latin typeface="Perpetua"/>
                <a:cs typeface="Perpetua"/>
              </a:rPr>
              <a:t>degrees </a:t>
            </a:r>
            <a:r>
              <a:rPr sz="2600" spc="-5" dirty="0">
                <a:latin typeface="Perpetua"/>
                <a:cs typeface="Perpetua"/>
              </a:rPr>
              <a:t>because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a scorching hot summer </a:t>
            </a:r>
            <a:r>
              <a:rPr sz="2600" spc="-35" dirty="0">
                <a:latin typeface="Perpetua"/>
                <a:cs typeface="Perpetua"/>
              </a:rPr>
              <a:t>day  </a:t>
            </a:r>
            <a:r>
              <a:rPr sz="2600" spc="-10" dirty="0">
                <a:latin typeface="Perpetua"/>
                <a:cs typeface="Perpetua"/>
              </a:rPr>
              <a:t>from </a:t>
            </a:r>
            <a:r>
              <a:rPr sz="2600" spc="-5" dirty="0">
                <a:latin typeface="Perpetua"/>
                <a:cs typeface="Perpetua"/>
              </a:rPr>
              <a:t>our </a:t>
            </a:r>
            <a:r>
              <a:rPr sz="2600" spc="5" dirty="0">
                <a:latin typeface="Perpetua"/>
                <a:cs typeface="Perpetua"/>
              </a:rPr>
              <a:t>back porch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Phoenix, </a:t>
            </a:r>
            <a:r>
              <a:rPr sz="2600" spc="5" dirty="0">
                <a:latin typeface="Perpetua"/>
                <a:cs typeface="Perpetua"/>
              </a:rPr>
              <a:t>Arizona,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10" dirty="0">
                <a:latin typeface="Perpetua"/>
                <a:cs typeface="Perpetua"/>
              </a:rPr>
              <a:t>write  </a:t>
            </a:r>
            <a:r>
              <a:rPr sz="2600" i="1" dirty="0">
                <a:latin typeface="Perpetua"/>
                <a:cs typeface="Perpetua"/>
              </a:rPr>
              <a:t>grillSteak</a:t>
            </a:r>
            <a:r>
              <a:rPr sz="2600" dirty="0">
                <a:latin typeface="Perpetua"/>
                <a:cs typeface="Perpetua"/>
              </a:rPr>
              <a:t>(94).</a:t>
            </a:r>
            <a:endParaRPr sz="2600">
              <a:latin typeface="Perpetua"/>
              <a:cs typeface="Perpetua"/>
            </a:endParaRPr>
          </a:p>
          <a:p>
            <a:pPr marL="2604135" marR="209550" lvl="1" algn="just">
              <a:lnSpc>
                <a:spcPct val="100000"/>
              </a:lnSpc>
              <a:spcBef>
                <a:spcPts val="1430"/>
              </a:spcBef>
              <a:buSzPct val="96153"/>
              <a:buFont typeface="Wingdings"/>
              <a:buChar char=""/>
              <a:tabLst>
                <a:tab pos="2865120" algn="l"/>
              </a:tabLst>
            </a:pP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spc="-5" dirty="0">
                <a:latin typeface="Perpetua"/>
                <a:cs typeface="Perpetua"/>
              </a:rPr>
              <a:t>think of circumstances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might not hold  in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10" dirty="0">
                <a:latin typeface="Perpetua"/>
                <a:cs typeface="Perpetua"/>
              </a:rPr>
              <a:t>flexible </a:t>
            </a:r>
            <a:r>
              <a:rPr sz="2600" i="1" dirty="0">
                <a:latin typeface="Perpetua"/>
                <a:cs typeface="Perpetua"/>
              </a:rPr>
              <a:t>grillSteak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module?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09721" y="55627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98775" y="6223406"/>
            <a:ext cx="5366385" cy="431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960"/>
              </a:lnSpc>
            </a:pPr>
            <a:r>
              <a:rPr sz="2600" spc="-5" dirty="0">
                <a:latin typeface="Wingdings"/>
                <a:cs typeface="Wingdings"/>
              </a:rPr>
              <a:t></a:t>
            </a:r>
            <a:r>
              <a:rPr sz="2600" i="1" spc="-5" dirty="0">
                <a:latin typeface="Perpetua"/>
                <a:cs typeface="Perpetua"/>
              </a:rPr>
              <a:t>Can </a:t>
            </a:r>
            <a:r>
              <a:rPr sz="2600" i="1" spc="-15" dirty="0">
                <a:latin typeface="Perpetua"/>
                <a:cs typeface="Perpetua"/>
              </a:rPr>
              <a:t>you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include the identified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circumstances?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05867"/>
            <a:ext cx="75552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691765" algn="l"/>
              </a:tabLst>
            </a:pPr>
            <a:r>
              <a:rPr sz="3600" i="1" spc="-5" dirty="0">
                <a:solidFill>
                  <a:srgbClr val="FF0000"/>
                </a:solidFill>
                <a:latin typeface="Perpetua"/>
                <a:cs typeface="Perpetua"/>
              </a:rPr>
              <a:t>Can </a:t>
            </a:r>
            <a:r>
              <a:rPr sz="3600" i="1" spc="-25" dirty="0">
                <a:solidFill>
                  <a:srgbClr val="FF0000"/>
                </a:solidFill>
                <a:latin typeface="Perpetua"/>
                <a:cs typeface="Perpetua"/>
              </a:rPr>
              <a:t>you</a:t>
            </a:r>
            <a:r>
              <a:rPr sz="3600" i="1" dirty="0">
                <a:solidFill>
                  <a:srgbClr val="FF0000"/>
                </a:solidFill>
                <a:latin typeface="Perpetua"/>
                <a:cs typeface="Perpetua"/>
              </a:rPr>
              <a:t> think</a:t>
            </a:r>
            <a:r>
              <a:rPr sz="3600" i="1" spc="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3600" i="1" spc="-5" dirty="0">
                <a:solidFill>
                  <a:srgbClr val="FF0000"/>
                </a:solidFill>
                <a:latin typeface="Perpetua"/>
                <a:cs typeface="Perpetua"/>
              </a:rPr>
              <a:t>of	</a:t>
            </a:r>
            <a:r>
              <a:rPr sz="3600" i="1" spc="-25" dirty="0">
                <a:solidFill>
                  <a:srgbClr val="FF0000"/>
                </a:solidFill>
                <a:latin typeface="Perpetua"/>
                <a:cs typeface="Perpetua"/>
              </a:rPr>
              <a:t>any </a:t>
            </a:r>
            <a:r>
              <a:rPr sz="3600" i="1" dirty="0">
                <a:solidFill>
                  <a:srgbClr val="FF0000"/>
                </a:solidFill>
                <a:latin typeface="Perpetua"/>
                <a:cs typeface="Perpetua"/>
              </a:rPr>
              <a:t>circumstances </a:t>
            </a:r>
            <a:r>
              <a:rPr sz="3600" i="1" spc="-10" dirty="0">
                <a:solidFill>
                  <a:srgbClr val="FF0000"/>
                </a:solidFill>
                <a:latin typeface="Perpetua"/>
                <a:cs typeface="Perpetua"/>
              </a:rPr>
              <a:t>that </a:t>
            </a:r>
            <a:r>
              <a:rPr sz="3600" i="1" spc="-5" dirty="0">
                <a:solidFill>
                  <a:srgbClr val="FF0000"/>
                </a:solidFill>
                <a:latin typeface="Perpetua"/>
                <a:cs typeface="Perpetua"/>
              </a:rPr>
              <a:t>might </a:t>
            </a:r>
            <a:r>
              <a:rPr sz="3600" i="1" dirty="0">
                <a:solidFill>
                  <a:srgbClr val="FF0000"/>
                </a:solidFill>
                <a:latin typeface="Perpetua"/>
                <a:cs typeface="Perpetua"/>
              </a:rPr>
              <a:t>not  hold?</a:t>
            </a:r>
            <a:endParaRPr sz="36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281344"/>
            <a:ext cx="7628890" cy="514350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6385" indent="-274320" algn="just">
              <a:lnSpc>
                <a:spcPct val="100000"/>
              </a:lnSpc>
              <a:spcBef>
                <a:spcPts val="7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There are two </a:t>
            </a:r>
            <a:r>
              <a:rPr sz="2600" i="1" spc="5" dirty="0">
                <a:latin typeface="Perpetua"/>
                <a:cs typeface="Perpetua"/>
              </a:rPr>
              <a:t>further </a:t>
            </a:r>
            <a:r>
              <a:rPr sz="2600" i="1" spc="-5" dirty="0">
                <a:latin typeface="Perpetua"/>
                <a:cs typeface="Perpetua"/>
              </a:rPr>
              <a:t>circumstances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5" dirty="0">
                <a:latin typeface="Perpetua"/>
                <a:cs typeface="Perpetua"/>
              </a:rPr>
              <a:t>might not</a:t>
            </a:r>
            <a:r>
              <a:rPr sz="2600" i="1" spc="6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hold.</a:t>
            </a:r>
            <a:endParaRPr sz="2600">
              <a:latin typeface="Perpetua"/>
              <a:cs typeface="Perpetua"/>
            </a:endParaRPr>
          </a:p>
          <a:p>
            <a:pPr marL="286385" marR="1841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96545" algn="l"/>
              </a:tabLst>
            </a:pPr>
            <a:r>
              <a:rPr sz="2600" i="1" spc="-95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might </a:t>
            </a:r>
            <a:r>
              <a:rPr sz="2600" i="1" dirty="0">
                <a:latin typeface="Perpetua"/>
                <a:cs typeface="Perpetua"/>
              </a:rPr>
              <a:t>sometimes </a:t>
            </a:r>
            <a:r>
              <a:rPr sz="2600" i="1" spc="-20" dirty="0">
                <a:latin typeface="Perpetua"/>
                <a:cs typeface="Perpetua"/>
              </a:rPr>
              <a:t>want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10" dirty="0">
                <a:latin typeface="Perpetua"/>
                <a:cs typeface="Perpetua"/>
              </a:rPr>
              <a:t>grill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30" dirty="0">
                <a:latin typeface="Perpetua"/>
                <a:cs typeface="Perpetua"/>
              </a:rPr>
              <a:t>rare </a:t>
            </a:r>
            <a:r>
              <a:rPr sz="2600" i="1" spc="-5" dirty="0">
                <a:latin typeface="Perpetua"/>
                <a:cs typeface="Perpetua"/>
              </a:rPr>
              <a:t>steak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hence </a:t>
            </a:r>
            <a:r>
              <a:rPr sz="2600" i="1" dirty="0">
                <a:latin typeface="Perpetua"/>
                <a:cs typeface="Perpetua"/>
              </a:rPr>
              <a:t>stop  </a:t>
            </a:r>
            <a:r>
              <a:rPr sz="2600" i="1" spc="5" dirty="0">
                <a:latin typeface="Perpetua"/>
                <a:cs typeface="Perpetua"/>
              </a:rPr>
              <a:t>grilling </a:t>
            </a:r>
            <a:r>
              <a:rPr sz="2600" i="1" spc="-10" dirty="0">
                <a:latin typeface="Perpetua"/>
                <a:cs typeface="Perpetua"/>
              </a:rPr>
              <a:t>when </a:t>
            </a:r>
            <a:r>
              <a:rPr sz="2600" i="1" spc="-5" dirty="0">
                <a:latin typeface="Perpetua"/>
                <a:cs typeface="Perpetua"/>
              </a:rPr>
              <a:t>the steak reaches 130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degrees.</a:t>
            </a:r>
            <a:endParaRPr sz="2600">
              <a:latin typeface="Perpetua"/>
              <a:cs typeface="Perpetua"/>
            </a:endParaRPr>
          </a:p>
          <a:p>
            <a:pPr marL="286385" marR="2095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spc="-5" dirty="0">
                <a:latin typeface="Perpetua"/>
                <a:cs typeface="Perpetua"/>
              </a:rPr>
              <a:t>might </a:t>
            </a:r>
            <a:r>
              <a:rPr sz="2600" i="1" dirty="0">
                <a:latin typeface="Perpetua"/>
                <a:cs typeface="Perpetua"/>
              </a:rPr>
              <a:t>also </a:t>
            </a:r>
            <a:r>
              <a:rPr sz="2600" i="1" spc="-15" dirty="0">
                <a:latin typeface="Perpetua"/>
                <a:cs typeface="Perpetua"/>
              </a:rPr>
              <a:t>want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10" dirty="0">
                <a:latin typeface="Perpetua"/>
                <a:cs typeface="Perpetua"/>
              </a:rPr>
              <a:t>grill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well-done steak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not stop </a:t>
            </a:r>
            <a:r>
              <a:rPr sz="2600" i="1" spc="5" dirty="0">
                <a:latin typeface="Perpetua"/>
                <a:cs typeface="Perpetua"/>
              </a:rPr>
              <a:t>grilling  </a:t>
            </a:r>
            <a:r>
              <a:rPr sz="2600" i="1" spc="-5" dirty="0">
                <a:latin typeface="Perpetua"/>
                <a:cs typeface="Perpetua"/>
              </a:rPr>
              <a:t>until the steak reaches </a:t>
            </a:r>
            <a:r>
              <a:rPr sz="2600" i="1" dirty="0">
                <a:latin typeface="Perpetua"/>
                <a:cs typeface="Perpetua"/>
              </a:rPr>
              <a:t>perhaps </a:t>
            </a:r>
            <a:r>
              <a:rPr sz="2600" i="1" spc="-5" dirty="0">
                <a:latin typeface="Perpetua"/>
                <a:cs typeface="Perpetua"/>
              </a:rPr>
              <a:t>155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degrees.</a:t>
            </a:r>
            <a:endParaRPr sz="2600">
              <a:latin typeface="Perpetua"/>
              <a:cs typeface="Perpetua"/>
            </a:endParaRPr>
          </a:p>
          <a:p>
            <a:pPr marL="286385" marR="17145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spc="-30" dirty="0">
                <a:latin typeface="Perpetua"/>
                <a:cs typeface="Perpetua"/>
              </a:rPr>
              <a:t>Also, </a:t>
            </a:r>
            <a:r>
              <a:rPr sz="2600" i="1" dirty="0">
                <a:latin typeface="Perpetua"/>
                <a:cs typeface="Perpetua"/>
              </a:rPr>
              <a:t>perhaps </a:t>
            </a:r>
            <a:r>
              <a:rPr sz="2600" i="1" spc="-10" dirty="0">
                <a:latin typeface="Perpetua"/>
                <a:cs typeface="Perpetua"/>
              </a:rPr>
              <a:t>it </a:t>
            </a:r>
            <a:r>
              <a:rPr sz="2600" i="1" spc="-5" dirty="0">
                <a:latin typeface="Perpetua"/>
                <a:cs typeface="Perpetua"/>
              </a:rPr>
              <a:t>is the case that </a:t>
            </a:r>
            <a:r>
              <a:rPr sz="2600" i="1" spc="-20" dirty="0">
                <a:latin typeface="Perpetua"/>
                <a:cs typeface="Perpetua"/>
              </a:rPr>
              <a:t>we </a:t>
            </a:r>
            <a:r>
              <a:rPr sz="2600" i="1" spc="-35" dirty="0">
                <a:latin typeface="Perpetua"/>
                <a:cs typeface="Perpetua"/>
              </a:rPr>
              <a:t>have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5" dirty="0">
                <a:latin typeface="Perpetua"/>
                <a:cs typeface="Perpetua"/>
              </a:rPr>
              <a:t>very thick </a:t>
            </a:r>
            <a:r>
              <a:rPr sz="2600" i="1" spc="-5" dirty="0">
                <a:latin typeface="Perpetua"/>
                <a:cs typeface="Perpetua"/>
              </a:rPr>
              <a:t>steak on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10" dirty="0">
                <a:latin typeface="Perpetua"/>
                <a:cs typeface="Perpetua"/>
              </a:rPr>
              <a:t>slow-  </a:t>
            </a:r>
            <a:r>
              <a:rPr sz="2600" i="1" spc="-5" dirty="0">
                <a:latin typeface="Perpetua"/>
                <a:cs typeface="Perpetua"/>
              </a:rPr>
              <a:t>cooking </a:t>
            </a:r>
            <a:r>
              <a:rPr sz="2600" i="1" spc="10" dirty="0">
                <a:latin typeface="Perpetua"/>
                <a:cs typeface="Perpetua"/>
              </a:rPr>
              <a:t>grill </a:t>
            </a:r>
            <a:r>
              <a:rPr sz="2600" i="1" spc="-5" dirty="0">
                <a:latin typeface="Perpetua"/>
                <a:cs typeface="Perpetua"/>
              </a:rPr>
              <a:t>such that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5" dirty="0">
                <a:latin typeface="Perpetua"/>
                <a:cs typeface="Perpetua"/>
              </a:rPr>
              <a:t>steak's </a:t>
            </a:r>
            <a:r>
              <a:rPr sz="2600" i="1" spc="-15" dirty="0">
                <a:latin typeface="Perpetua"/>
                <a:cs typeface="Perpetua"/>
              </a:rPr>
              <a:t>temperature only </a:t>
            </a:r>
            <a:r>
              <a:rPr sz="2600" i="1" spc="-5" dirty="0">
                <a:latin typeface="Perpetua"/>
                <a:cs typeface="Perpetua"/>
              </a:rPr>
              <a:t>increases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2  </a:t>
            </a:r>
            <a:r>
              <a:rPr sz="2600" i="1" spc="-5" dirty="0">
                <a:latin typeface="Perpetua"/>
                <a:cs typeface="Perpetua"/>
              </a:rPr>
              <a:t>degrees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every three </a:t>
            </a:r>
            <a:r>
              <a:rPr sz="2600" i="1" spc="-5" dirty="0">
                <a:latin typeface="Perpetua"/>
                <a:cs typeface="Perpetua"/>
              </a:rPr>
              <a:t>minutes the steak is on the</a:t>
            </a:r>
            <a:r>
              <a:rPr sz="2600" i="1" spc="50" dirty="0">
                <a:latin typeface="Perpetua"/>
                <a:cs typeface="Perpetua"/>
              </a:rPr>
              <a:t> </a:t>
            </a:r>
            <a:r>
              <a:rPr sz="2600" i="1" spc="10" dirty="0">
                <a:latin typeface="Perpetua"/>
                <a:cs typeface="Perpetua"/>
              </a:rPr>
              <a:t>grill.</a:t>
            </a:r>
            <a:endParaRPr sz="2600">
              <a:latin typeface="Perpetua"/>
              <a:cs typeface="Perpetua"/>
            </a:endParaRPr>
          </a:p>
          <a:p>
            <a:pPr marL="286385" marR="1905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b="1" i="1" spc="-5" dirty="0">
                <a:latin typeface="Perpetua"/>
                <a:cs typeface="Perpetua"/>
              </a:rPr>
              <a:t>These </a:t>
            </a:r>
            <a:r>
              <a:rPr sz="2600" b="1" i="1" spc="-15" dirty="0">
                <a:latin typeface="Perpetua"/>
                <a:cs typeface="Perpetua"/>
              </a:rPr>
              <a:t>observations imply</a:t>
            </a:r>
            <a:r>
              <a:rPr sz="2600" b="1" i="1" spc="555" dirty="0">
                <a:latin typeface="Perpetua"/>
                <a:cs typeface="Perpetua"/>
              </a:rPr>
              <a:t> </a:t>
            </a:r>
            <a:r>
              <a:rPr sz="2600" b="1" i="1" spc="-15" dirty="0">
                <a:latin typeface="Perpetua"/>
                <a:cs typeface="Perpetua"/>
              </a:rPr>
              <a:t>that </a:t>
            </a:r>
            <a:r>
              <a:rPr sz="2600" b="1" i="1" spc="-25" dirty="0">
                <a:latin typeface="Perpetua"/>
                <a:cs typeface="Perpetua"/>
              </a:rPr>
              <a:t>we </a:t>
            </a:r>
            <a:r>
              <a:rPr sz="2600" b="1" i="1" spc="-5" dirty="0">
                <a:latin typeface="Perpetua"/>
                <a:cs typeface="Perpetua"/>
              </a:rPr>
              <a:t>can </a:t>
            </a:r>
            <a:r>
              <a:rPr sz="2600" b="1" i="1" spc="-15" dirty="0">
                <a:latin typeface="Perpetua"/>
                <a:cs typeface="Perpetua"/>
              </a:rPr>
              <a:t>optimize  </a:t>
            </a:r>
            <a:r>
              <a:rPr sz="2600" b="1" i="1" spc="-5" dirty="0">
                <a:latin typeface="Perpetua"/>
                <a:cs typeface="Perpetua"/>
              </a:rPr>
              <a:t>the  </a:t>
            </a:r>
            <a:r>
              <a:rPr sz="2600" b="1" i="1" spc="-10" dirty="0">
                <a:latin typeface="Perpetua"/>
                <a:cs typeface="Perpetua"/>
              </a:rPr>
              <a:t>flexibility </a:t>
            </a:r>
            <a:r>
              <a:rPr sz="2600" b="1" i="1" dirty="0">
                <a:latin typeface="Perpetua"/>
                <a:cs typeface="Perpetua"/>
              </a:rPr>
              <a:t>of our </a:t>
            </a:r>
            <a:r>
              <a:rPr sz="2600" b="1" i="1" spc="-5" dirty="0">
                <a:latin typeface="Perpetua"/>
                <a:cs typeface="Perpetua"/>
              </a:rPr>
              <a:t>grillSteak</a:t>
            </a:r>
            <a:r>
              <a:rPr sz="2600" b="1" i="1" spc="-90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module.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"/>
            </a:pPr>
            <a:endParaRPr sz="3200">
              <a:latin typeface="Times New Roman"/>
              <a:cs typeface="Times New Roman"/>
            </a:endParaRPr>
          </a:p>
          <a:p>
            <a:pPr marL="4937760" lvl="1" indent="-201295">
              <a:lnSpc>
                <a:spcPct val="100000"/>
              </a:lnSpc>
              <a:buSzPct val="95000"/>
              <a:buFont typeface="Wingdings"/>
              <a:buChar char=""/>
              <a:tabLst>
                <a:tab pos="4938395" algn="l"/>
              </a:tabLst>
            </a:pPr>
            <a:r>
              <a:rPr sz="2000" i="1" spc="-15" dirty="0">
                <a:latin typeface="Perpetua"/>
                <a:cs typeface="Perpetua"/>
              </a:rPr>
              <a:t>How </a:t>
            </a:r>
            <a:r>
              <a:rPr sz="2000" i="1" dirty="0">
                <a:latin typeface="Perpetua"/>
                <a:cs typeface="Perpetua"/>
              </a:rPr>
              <a:t>do </a:t>
            </a:r>
            <a:r>
              <a:rPr sz="2000" i="1" spc="-15" dirty="0">
                <a:latin typeface="Perpetua"/>
                <a:cs typeface="Perpetua"/>
              </a:rPr>
              <a:t>we </a:t>
            </a:r>
            <a:r>
              <a:rPr sz="2000" i="1" spc="-10" dirty="0">
                <a:latin typeface="Perpetua"/>
                <a:cs typeface="Perpetua"/>
              </a:rPr>
              <a:t>achieve </a:t>
            </a:r>
            <a:r>
              <a:rPr sz="2000" i="1" dirty="0">
                <a:latin typeface="Perpetua"/>
                <a:cs typeface="Perpetua"/>
              </a:rPr>
              <a:t>this</a:t>
            </a:r>
            <a:r>
              <a:rPr sz="2000" i="1" spc="-15" dirty="0">
                <a:latin typeface="Perpetua"/>
                <a:cs typeface="Perpetua"/>
              </a:rPr>
              <a:t> </a:t>
            </a:r>
            <a:r>
              <a:rPr sz="2000" i="1" spc="-5" dirty="0">
                <a:latin typeface="Perpetua"/>
                <a:cs typeface="Perpetua"/>
              </a:rPr>
              <a:t>?..........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05486"/>
            <a:ext cx="6242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How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to </a:t>
            </a:r>
            <a:r>
              <a:rPr i="1" spc="-15" dirty="0">
                <a:solidFill>
                  <a:srgbClr val="FF0000"/>
                </a:solidFill>
                <a:latin typeface="Perpetua"/>
                <a:cs typeface="Perpetua"/>
              </a:rPr>
              <a:t>optimize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the existing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module</a:t>
            </a:r>
            <a:r>
              <a:rPr i="1" spc="60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947674"/>
            <a:ext cx="7010400" cy="159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955">
              <a:lnSpc>
                <a:spcPct val="100000"/>
              </a:lnSpc>
              <a:spcBef>
                <a:spcPts val="105"/>
              </a:spcBef>
              <a:buSzPct val="84615"/>
              <a:buFont typeface="Wingdings"/>
              <a:buChar char=""/>
              <a:tabLst>
                <a:tab pos="287655" algn="l"/>
              </a:tabLst>
            </a:pPr>
            <a:r>
              <a:rPr sz="2600" i="1" dirty="0">
                <a:latin typeface="Perpetua"/>
                <a:cs typeface="Perpetua"/>
              </a:rPr>
              <a:t>By </a:t>
            </a:r>
            <a:r>
              <a:rPr sz="2600" i="1" spc="-5" dirty="0">
                <a:latin typeface="Perpetua"/>
                <a:cs typeface="Perpetua"/>
              </a:rPr>
              <a:t>adding </a:t>
            </a:r>
            <a:r>
              <a:rPr sz="2600" i="1" spc="-10" dirty="0">
                <a:latin typeface="Perpetua"/>
                <a:cs typeface="Perpetua"/>
              </a:rPr>
              <a:t>two </a:t>
            </a:r>
            <a:r>
              <a:rPr sz="2600" i="1" spc="-5" dirty="0">
                <a:latin typeface="Perpetua"/>
                <a:cs typeface="Perpetua"/>
              </a:rPr>
              <a:t>additional </a:t>
            </a:r>
            <a:r>
              <a:rPr sz="2600" i="1" dirty="0">
                <a:latin typeface="Perpetua"/>
                <a:cs typeface="Perpetua"/>
              </a:rPr>
              <a:t>formal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parameters: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80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target </a:t>
            </a:r>
            <a:r>
              <a:rPr sz="2600" dirty="0">
                <a:latin typeface="Perpetua"/>
                <a:cs typeface="Perpetua"/>
              </a:rPr>
              <a:t>steak</a:t>
            </a:r>
            <a:r>
              <a:rPr sz="2600" spc="-10" dirty="0">
                <a:latin typeface="Perpetua"/>
                <a:cs typeface="Perpetua"/>
              </a:rPr>
              <a:t> temperature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ts val="2810"/>
              </a:lnSpc>
              <a:spcBef>
                <a:spcPts val="440"/>
              </a:spcBef>
              <a:buSzPct val="84615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increase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0" dirty="0">
                <a:latin typeface="Perpetua"/>
                <a:cs typeface="Perpetua"/>
              </a:rPr>
              <a:t>temperature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three minutes </a:t>
            </a:r>
            <a:r>
              <a:rPr sz="2600" dirty="0">
                <a:latin typeface="Perpetua"/>
                <a:cs typeface="Perpetua"/>
              </a:rPr>
              <a:t>of  </a:t>
            </a:r>
            <a:r>
              <a:rPr sz="2600" spc="10" dirty="0">
                <a:latin typeface="Perpetua"/>
                <a:cs typeface="Perpetua"/>
              </a:rPr>
              <a:t>grilling </a:t>
            </a:r>
            <a:r>
              <a:rPr sz="2600" spc="-10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4000" y="2819400"/>
            <a:ext cx="6400800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21154" y="5557824"/>
            <a:ext cx="5163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Figure: An optimally flexible </a:t>
            </a:r>
            <a:r>
              <a:rPr sz="2400" i="1" dirty="0">
                <a:latin typeface="Perpetua"/>
                <a:cs typeface="Perpetua"/>
              </a:rPr>
              <a:t>grillSteak</a:t>
            </a:r>
            <a:r>
              <a:rPr sz="2400" i="1" spc="-3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module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57886"/>
            <a:ext cx="5072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25" dirty="0">
                <a:solidFill>
                  <a:srgbClr val="FF0000"/>
                </a:solidFill>
                <a:latin typeface="Perpetua"/>
                <a:cs typeface="Perpetua"/>
              </a:rPr>
              <a:t>How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to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use </a:t>
            </a:r>
            <a:r>
              <a:rPr i="1" spc="-5" dirty="0">
                <a:solidFill>
                  <a:srgbClr val="FF0000"/>
                </a:solidFill>
                <a:latin typeface="Perpetua"/>
                <a:cs typeface="Perpetua"/>
              </a:rPr>
              <a:t>the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revised</a:t>
            </a:r>
            <a:r>
              <a:rPr i="1" spc="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i="1" spc="-10" dirty="0">
                <a:solidFill>
                  <a:srgbClr val="FF0000"/>
                </a:solidFill>
                <a:latin typeface="Perpetua"/>
                <a:cs typeface="Perpetua"/>
              </a:rPr>
              <a:t>module?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977613"/>
            <a:ext cx="7767320" cy="49187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955" algn="just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spc="-5" dirty="0">
                <a:latin typeface="Perpetua"/>
                <a:cs typeface="Perpetua"/>
              </a:rPr>
              <a:t>Three actual </a:t>
            </a:r>
            <a:r>
              <a:rPr sz="2600" spc="5" dirty="0">
                <a:latin typeface="Perpetua"/>
                <a:cs typeface="Perpetua"/>
              </a:rPr>
              <a:t>parameters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for:</a:t>
            </a:r>
            <a:endParaRPr sz="2600">
              <a:latin typeface="Perpetua"/>
              <a:cs typeface="Perpetua"/>
            </a:endParaRPr>
          </a:p>
          <a:p>
            <a:pPr marL="744220" lvl="1" indent="-274955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"/>
              <a:tabLst>
                <a:tab pos="744855" algn="l"/>
              </a:tabLst>
            </a:pPr>
            <a:r>
              <a:rPr sz="2600" i="1" spc="5" dirty="0">
                <a:latin typeface="Perpetua"/>
                <a:cs typeface="Perpetua"/>
              </a:rPr>
              <a:t>starting </a:t>
            </a:r>
            <a:r>
              <a:rPr sz="2600" i="1" spc="-15" dirty="0">
                <a:latin typeface="Perpetua"/>
                <a:cs typeface="Perpetua"/>
              </a:rPr>
              <a:t>temperature</a:t>
            </a:r>
            <a:endParaRPr sz="2600">
              <a:latin typeface="Perpetua"/>
              <a:cs typeface="Perpetua"/>
            </a:endParaRPr>
          </a:p>
          <a:p>
            <a:pPr marL="744220" lvl="1" indent="-274955" algn="just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Wingdings"/>
              <a:buChar char=""/>
              <a:tabLst>
                <a:tab pos="744855" algn="l"/>
              </a:tabLst>
            </a:pPr>
            <a:r>
              <a:rPr sz="2600" i="1" spc="-25" dirty="0">
                <a:latin typeface="Perpetua"/>
                <a:cs typeface="Perpetua"/>
              </a:rPr>
              <a:t>target </a:t>
            </a:r>
            <a:r>
              <a:rPr sz="2600" i="1" spc="-5" dirty="0">
                <a:latin typeface="Perpetua"/>
                <a:cs typeface="Perpetua"/>
              </a:rPr>
              <a:t>steak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temperature</a:t>
            </a:r>
            <a:endParaRPr sz="2600">
              <a:latin typeface="Perpetua"/>
              <a:cs typeface="Perpetua"/>
            </a:endParaRPr>
          </a:p>
          <a:p>
            <a:pPr marL="744220" marR="5080" lvl="1" indent="-274320" algn="just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Wingdings"/>
              <a:buChar char=""/>
              <a:tabLst>
                <a:tab pos="744855" algn="l"/>
              </a:tabLst>
            </a:pPr>
            <a:r>
              <a:rPr sz="2600" i="1" spc="-5" dirty="0">
                <a:latin typeface="Perpetua"/>
                <a:cs typeface="Perpetua"/>
              </a:rPr>
              <a:t>the amount </a:t>
            </a:r>
            <a:r>
              <a:rPr sz="2600" i="1" spc="-30" dirty="0">
                <a:latin typeface="Perpetua"/>
                <a:cs typeface="Perpetua"/>
              </a:rPr>
              <a:t>by </a:t>
            </a:r>
            <a:r>
              <a:rPr sz="2600" i="1" spc="-15" dirty="0">
                <a:latin typeface="Perpetua"/>
                <a:cs typeface="Perpetua"/>
              </a:rPr>
              <a:t>which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temperature </a:t>
            </a:r>
            <a:r>
              <a:rPr sz="2600" i="1" spc="-5" dirty="0">
                <a:latin typeface="Perpetua"/>
                <a:cs typeface="Perpetua"/>
              </a:rPr>
              <a:t>of the steak will increase  </a:t>
            </a:r>
            <a:r>
              <a:rPr sz="2600" i="1" dirty="0">
                <a:latin typeface="Perpetua"/>
                <a:cs typeface="Perpetua"/>
              </a:rPr>
              <a:t>with </a:t>
            </a:r>
            <a:r>
              <a:rPr sz="2600" i="1" spc="-10" dirty="0">
                <a:latin typeface="Perpetua"/>
                <a:cs typeface="Perpetua"/>
              </a:rPr>
              <a:t>every </a:t>
            </a:r>
            <a:r>
              <a:rPr sz="2600" i="1" spc="-5" dirty="0">
                <a:latin typeface="Perpetua"/>
                <a:cs typeface="Perpetua"/>
              </a:rPr>
              <a:t>three minutes left </a:t>
            </a:r>
            <a:r>
              <a:rPr sz="2600" i="1" dirty="0">
                <a:latin typeface="Perpetua"/>
                <a:cs typeface="Perpetua"/>
              </a:rPr>
              <a:t>on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10" dirty="0">
                <a:latin typeface="Perpetua"/>
                <a:cs typeface="Perpetua"/>
              </a:rPr>
              <a:t>grill.</a:t>
            </a:r>
            <a:endParaRPr sz="2600">
              <a:latin typeface="Perpetua"/>
              <a:cs typeface="Perpetua"/>
            </a:endParaRPr>
          </a:p>
          <a:p>
            <a:pPr marL="287020" marR="5715" indent="-274955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655" algn="l"/>
              </a:tabLst>
            </a:pP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spc="-15" dirty="0">
                <a:latin typeface="Perpetua"/>
                <a:cs typeface="Perpetua"/>
              </a:rPr>
              <a:t>shows </a:t>
            </a:r>
            <a:r>
              <a:rPr sz="2600" spc="-30" dirty="0">
                <a:latin typeface="Perpetua"/>
                <a:cs typeface="Perpetua"/>
              </a:rPr>
              <a:t>how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use this </a:t>
            </a:r>
            <a:r>
              <a:rPr sz="2600" i="1" dirty="0">
                <a:latin typeface="Perpetua"/>
                <a:cs typeface="Perpetua"/>
              </a:rPr>
              <a:t>grillSteak  </a:t>
            </a:r>
            <a:r>
              <a:rPr sz="2600" spc="-5" dirty="0">
                <a:latin typeface="Perpetua"/>
                <a:cs typeface="Perpetua"/>
              </a:rPr>
              <a:t>module to </a:t>
            </a:r>
            <a:r>
              <a:rPr sz="2600" spc="-10" dirty="0">
                <a:latin typeface="Perpetua"/>
                <a:cs typeface="Perpetua"/>
              </a:rPr>
              <a:t>achieve </a:t>
            </a:r>
            <a:r>
              <a:rPr sz="2600" spc="-15" dirty="0">
                <a:latin typeface="Perpetua"/>
                <a:cs typeface="Perpetua"/>
              </a:rPr>
              <a:t>very  </a:t>
            </a:r>
            <a:r>
              <a:rPr sz="2600" spc="-5" dirty="0">
                <a:latin typeface="Perpetua"/>
                <a:cs typeface="Perpetua"/>
              </a:rPr>
              <a:t>different outcomes under </a:t>
            </a:r>
            <a:r>
              <a:rPr sz="2600" spc="-10" dirty="0">
                <a:latin typeface="Perpetua"/>
                <a:cs typeface="Perpetua"/>
              </a:rPr>
              <a:t>very  </a:t>
            </a:r>
            <a:r>
              <a:rPr sz="2600" spc="-5" dirty="0">
                <a:latin typeface="Perpetua"/>
                <a:cs typeface="Perpetua"/>
              </a:rPr>
              <a:t>different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circumstances.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0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dirty="0">
                <a:latin typeface="Perpetua"/>
                <a:cs typeface="Perpetua"/>
              </a:rPr>
              <a:t>grillSteak(</a:t>
            </a:r>
            <a:r>
              <a:rPr sz="2600" dirty="0">
                <a:latin typeface="Perpetua"/>
                <a:cs typeface="Perpetua"/>
              </a:rPr>
              <a:t>65, </a:t>
            </a:r>
            <a:r>
              <a:rPr sz="2600" spc="-5" dirty="0">
                <a:latin typeface="Perpetua"/>
                <a:cs typeface="Perpetua"/>
              </a:rPr>
              <a:t>130,</a:t>
            </a:r>
            <a:r>
              <a:rPr sz="2600" spc="-2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2)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5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dirty="0">
                <a:latin typeface="Perpetua"/>
                <a:cs typeface="Perpetua"/>
              </a:rPr>
              <a:t>grillSteak</a:t>
            </a:r>
            <a:r>
              <a:rPr sz="2600" dirty="0">
                <a:latin typeface="Perpetua"/>
                <a:cs typeface="Perpetua"/>
              </a:rPr>
              <a:t>(94, </a:t>
            </a:r>
            <a:r>
              <a:rPr sz="2600" spc="-5" dirty="0">
                <a:latin typeface="Perpetua"/>
                <a:cs typeface="Perpetua"/>
              </a:rPr>
              <a:t>155,</a:t>
            </a:r>
            <a:r>
              <a:rPr sz="2600" spc="-2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13)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dirty="0">
                <a:latin typeface="Perpetua"/>
                <a:cs typeface="Perpetua"/>
              </a:rPr>
              <a:t>grillSteak</a:t>
            </a:r>
            <a:r>
              <a:rPr sz="2600" dirty="0">
                <a:latin typeface="Perpetua"/>
                <a:cs typeface="Perpetua"/>
              </a:rPr>
              <a:t>(94, </a:t>
            </a:r>
            <a:r>
              <a:rPr sz="2600" spc="-5" dirty="0">
                <a:latin typeface="Perpetua"/>
                <a:cs typeface="Perpetua"/>
              </a:rPr>
              <a:t>135,</a:t>
            </a:r>
            <a:r>
              <a:rPr sz="2600" spc="-2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5)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610854"/>
            <a:ext cx="8225790" cy="49650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469900" indent="-457834" algn="just">
              <a:lnSpc>
                <a:spcPct val="100000"/>
              </a:lnSpc>
              <a:spcBef>
                <a:spcPts val="550"/>
              </a:spcBef>
              <a:buSzPct val="83928"/>
              <a:buFont typeface="Wingdings"/>
              <a:buChar char=""/>
              <a:tabLst>
                <a:tab pos="470534" algn="l"/>
              </a:tabLst>
            </a:pPr>
            <a:r>
              <a:rPr sz="2800" i="1" spc="-5" dirty="0">
                <a:latin typeface="Perpetua"/>
                <a:cs typeface="Perpetua"/>
              </a:rPr>
              <a:t>A </a:t>
            </a:r>
            <a:r>
              <a:rPr sz="2800" i="1" spc="5" dirty="0">
                <a:latin typeface="Perpetua"/>
                <a:cs typeface="Perpetua"/>
              </a:rPr>
              <a:t>print</a:t>
            </a:r>
            <a:r>
              <a:rPr sz="2800" i="1" spc="-5" dirty="0">
                <a:latin typeface="Perpetua"/>
                <a:cs typeface="Perpetua"/>
              </a:rPr>
              <a:t> </a:t>
            </a:r>
            <a:r>
              <a:rPr sz="2800" i="1" spc="-10" dirty="0">
                <a:latin typeface="Perpetua"/>
                <a:cs typeface="Perpetua"/>
              </a:rPr>
              <a:t>module</a:t>
            </a:r>
            <a:endParaRPr sz="2800">
              <a:latin typeface="Perpetua"/>
              <a:cs typeface="Perpetua"/>
            </a:endParaRPr>
          </a:p>
          <a:p>
            <a:pPr marL="561340" marR="464184" lvl="1" indent="-229235" algn="just">
              <a:lnSpc>
                <a:spcPct val="100000"/>
              </a:lnSpc>
              <a:spcBef>
                <a:spcPts val="430"/>
              </a:spcBef>
              <a:buSzPct val="84615"/>
              <a:buFont typeface="Arial"/>
              <a:buChar char="•"/>
              <a:tabLst>
                <a:tab pos="561975" algn="l"/>
              </a:tabLst>
            </a:pPr>
            <a:r>
              <a:rPr sz="2600" spc="-5" dirty="0">
                <a:latin typeface="Perpetua"/>
                <a:cs typeface="Perpetua"/>
              </a:rPr>
              <a:t>Assume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“</a:t>
            </a:r>
            <a:r>
              <a:rPr sz="2600" i="1" spc="5" dirty="0">
                <a:latin typeface="Perpetua"/>
                <a:cs typeface="Perpetua"/>
              </a:rPr>
              <a:t>print</a:t>
            </a:r>
            <a:r>
              <a:rPr sz="2600" spc="5" dirty="0">
                <a:latin typeface="Perpetua"/>
                <a:cs typeface="Perpetua"/>
              </a:rPr>
              <a:t>” </a:t>
            </a:r>
            <a:r>
              <a:rPr sz="2600" spc="-5" dirty="0">
                <a:latin typeface="Perpetua"/>
                <a:cs typeface="Perpetua"/>
              </a:rPr>
              <a:t>module </a:t>
            </a:r>
            <a:r>
              <a:rPr sz="2600" spc="-20" dirty="0">
                <a:latin typeface="Perpetua"/>
                <a:cs typeface="Perpetua"/>
              </a:rPr>
              <a:t>allows you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text </a:t>
            </a:r>
            <a:r>
              <a:rPr sz="2600" spc="-5" dirty="0">
                <a:latin typeface="Perpetua"/>
                <a:cs typeface="Perpetua"/>
              </a:rPr>
              <a:t>onto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computer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screen.</a:t>
            </a:r>
            <a:endParaRPr sz="2600">
              <a:latin typeface="Perpetua"/>
              <a:cs typeface="Perpetua"/>
            </a:endParaRPr>
          </a:p>
          <a:p>
            <a:pPr marL="561340" marR="462915" lvl="1" indent="-229235" algn="just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1975" algn="l"/>
              </a:tabLst>
            </a:pPr>
            <a:r>
              <a:rPr sz="2600" spc="-5" dirty="0">
                <a:latin typeface="Perpetua"/>
                <a:cs typeface="Perpetua"/>
              </a:rPr>
              <a:t>If, for </a:t>
            </a:r>
            <a:r>
              <a:rPr sz="2600" spc="-10" dirty="0">
                <a:latin typeface="Perpetua"/>
                <a:cs typeface="Perpetua"/>
              </a:rPr>
              <a:t>example,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wanted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text “</a:t>
            </a:r>
            <a:r>
              <a:rPr sz="2600" i="1" spc="-5" dirty="0">
                <a:latin typeface="Perpetua"/>
                <a:cs typeface="Perpetua"/>
              </a:rPr>
              <a:t>Computational  Thinking</a:t>
            </a:r>
            <a:r>
              <a:rPr sz="2600" spc="-5" dirty="0">
                <a:latin typeface="Perpetua"/>
                <a:cs typeface="Perpetua"/>
              </a:rPr>
              <a:t>” onto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computer screen,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25" dirty="0">
                <a:latin typeface="Perpetua"/>
                <a:cs typeface="Perpetua"/>
              </a:rPr>
              <a:t>would </a:t>
            </a:r>
            <a:r>
              <a:rPr sz="2600" spc="-5" dirty="0">
                <a:latin typeface="Perpetua"/>
                <a:cs typeface="Perpetua"/>
              </a:rPr>
              <a:t>express </a:t>
            </a:r>
            <a:r>
              <a:rPr sz="2600" dirty="0">
                <a:latin typeface="Perpetua"/>
                <a:cs typeface="Perpetua"/>
              </a:rPr>
              <a:t>this  </a:t>
            </a:r>
            <a:r>
              <a:rPr sz="2600" spc="-5" dirty="0">
                <a:latin typeface="Perpetua"/>
                <a:cs typeface="Perpetua"/>
              </a:rPr>
              <a:t>action as </a:t>
            </a:r>
            <a:r>
              <a:rPr sz="2600" i="1" spc="-5" dirty="0">
                <a:latin typeface="Perpetua"/>
                <a:cs typeface="Perpetua"/>
              </a:rPr>
              <a:t>print(Computational</a:t>
            </a:r>
            <a:r>
              <a:rPr sz="2600" i="1" spc="-29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Thinking)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241300" marR="5080">
              <a:lnSpc>
                <a:spcPct val="100000"/>
              </a:lnSpc>
              <a:spcBef>
                <a:spcPts val="5"/>
              </a:spcBef>
              <a:buSzPct val="96153"/>
              <a:buFont typeface="Wingdings"/>
              <a:buChar char=""/>
              <a:tabLst>
                <a:tab pos="502284" algn="l"/>
              </a:tabLst>
            </a:pPr>
            <a:r>
              <a:rPr sz="2600" i="1" spc="-40" dirty="0">
                <a:latin typeface="Perpetua"/>
                <a:cs typeface="Perpetua"/>
              </a:rPr>
              <a:t>Draw </a:t>
            </a:r>
            <a:r>
              <a:rPr sz="2600" i="1" dirty="0">
                <a:latin typeface="Perpetua"/>
                <a:cs typeface="Perpetua"/>
              </a:rPr>
              <a:t>a flowchart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10" dirty="0">
                <a:latin typeface="Perpetua"/>
                <a:cs typeface="Perpetua"/>
              </a:rPr>
              <a:t>print </a:t>
            </a:r>
            <a:r>
              <a:rPr sz="2600" i="1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values </a:t>
            </a:r>
            <a:r>
              <a:rPr sz="2600" i="1" spc="-5" dirty="0">
                <a:latin typeface="Perpetua"/>
                <a:cs typeface="Perpetua"/>
              </a:rPr>
              <a:t>0, 3, 6, 9,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12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5" dirty="0">
                <a:latin typeface="Perpetua"/>
                <a:cs typeface="Perpetua"/>
              </a:rPr>
              <a:t>the computer  </a:t>
            </a:r>
            <a:r>
              <a:rPr sz="2600" i="1" spc="-55" dirty="0">
                <a:latin typeface="Perpetua"/>
                <a:cs typeface="Perpetua"/>
              </a:rPr>
              <a:t>screen.You </a:t>
            </a:r>
            <a:r>
              <a:rPr sz="2600" i="1" spc="-5" dirty="0">
                <a:latin typeface="Perpetua"/>
                <a:cs typeface="Perpetua"/>
              </a:rPr>
              <a:t>must use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6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loop.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700">
              <a:latin typeface="Times New Roman"/>
              <a:cs typeface="Times New Roman"/>
            </a:endParaRPr>
          </a:p>
          <a:p>
            <a:pPr marL="241300" marR="5080">
              <a:lnSpc>
                <a:spcPct val="100000"/>
              </a:lnSpc>
              <a:buSzPct val="96153"/>
              <a:buFont typeface="Wingdings"/>
              <a:buChar char=""/>
              <a:tabLst>
                <a:tab pos="502284" algn="l"/>
              </a:tabLst>
            </a:pPr>
            <a:r>
              <a:rPr sz="2600" i="1" spc="10" dirty="0">
                <a:latin typeface="Perpetua"/>
                <a:cs typeface="Perpetua"/>
              </a:rPr>
              <a:t>Write </a:t>
            </a:r>
            <a:r>
              <a:rPr sz="2600" i="1" dirty="0">
                <a:latin typeface="Perpetua"/>
                <a:cs typeface="Perpetua"/>
              </a:rPr>
              <a:t>a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dirty="0">
                <a:latin typeface="Perpetua"/>
                <a:cs typeface="Perpetua"/>
              </a:rPr>
              <a:t>named </a:t>
            </a:r>
            <a:r>
              <a:rPr sz="2600" i="1" spc="-5" dirty="0">
                <a:latin typeface="Perpetua"/>
                <a:cs typeface="Perpetua"/>
              </a:rPr>
              <a:t>“countBy3” that </a:t>
            </a:r>
            <a:r>
              <a:rPr sz="2600" i="1" spc="5" dirty="0">
                <a:latin typeface="Perpetua"/>
                <a:cs typeface="Perpetua"/>
              </a:rPr>
              <a:t>prints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spc="-15" dirty="0">
                <a:latin typeface="Perpetua"/>
                <a:cs typeface="Perpetua"/>
              </a:rPr>
              <a:t>values </a:t>
            </a:r>
            <a:r>
              <a:rPr sz="2600" i="1" spc="-5" dirty="0">
                <a:latin typeface="Perpetua"/>
                <a:cs typeface="Perpetua"/>
              </a:rPr>
              <a:t>0, </a:t>
            </a:r>
            <a:r>
              <a:rPr sz="2600" i="1" dirty="0">
                <a:latin typeface="Perpetua"/>
                <a:cs typeface="Perpetua"/>
              </a:rPr>
              <a:t>3, </a:t>
            </a:r>
            <a:r>
              <a:rPr sz="2600" i="1" spc="-5" dirty="0">
                <a:latin typeface="Perpetua"/>
                <a:cs typeface="Perpetua"/>
              </a:rPr>
              <a:t>6, 9, </a:t>
            </a:r>
            <a:r>
              <a:rPr sz="2600" i="1" dirty="0">
                <a:latin typeface="Perpetua"/>
                <a:cs typeface="Perpetua"/>
              </a:rPr>
              <a:t>and  </a:t>
            </a:r>
            <a:r>
              <a:rPr sz="2600" i="1" spc="-5" dirty="0">
                <a:latin typeface="Perpetua"/>
                <a:cs typeface="Perpetua"/>
              </a:rPr>
              <a:t>12 to the computer</a:t>
            </a:r>
            <a:r>
              <a:rPr sz="2600" i="1" spc="1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screen</a:t>
            </a:r>
            <a:r>
              <a:rPr sz="2600" spc="-10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72400" y="228600"/>
            <a:ext cx="1152144" cy="1010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8793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Who </a:t>
            </a:r>
            <a:r>
              <a:rPr i="1" dirty="0">
                <a:latin typeface="Perpetua"/>
                <a:cs typeface="Perpetua"/>
              </a:rPr>
              <a:t>uses </a:t>
            </a:r>
            <a:r>
              <a:rPr i="1" spc="-10" dirty="0">
                <a:latin typeface="Perpetua"/>
                <a:cs typeface="Perpetua"/>
              </a:rPr>
              <a:t>modular </a:t>
            </a:r>
            <a:r>
              <a:rPr i="1" spc="-5" dirty="0">
                <a:latin typeface="Perpetua"/>
                <a:cs typeface="Perpetua"/>
              </a:rPr>
              <a:t>approach</a:t>
            </a:r>
            <a:r>
              <a:rPr i="1" spc="35" dirty="0">
                <a:latin typeface="Perpetua"/>
                <a:cs typeface="Perpetua"/>
              </a:rPr>
              <a:t> </a:t>
            </a:r>
            <a:r>
              <a:rPr spc="-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792351"/>
            <a:ext cx="8543290" cy="44443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18415" indent="-274320" algn="just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spc="-35" dirty="0">
                <a:latin typeface="Perpetua"/>
                <a:cs typeface="Perpetua"/>
              </a:rPr>
              <a:t>Typical </a:t>
            </a:r>
            <a:r>
              <a:rPr sz="2400" spc="-5" dirty="0">
                <a:latin typeface="Perpetua"/>
                <a:cs typeface="Perpetua"/>
              </a:rPr>
              <a:t>industry </a:t>
            </a:r>
            <a:r>
              <a:rPr sz="2400" dirty="0">
                <a:latin typeface="Perpetua"/>
                <a:cs typeface="Perpetua"/>
              </a:rPr>
              <a:t>programming </a:t>
            </a:r>
            <a:r>
              <a:rPr sz="2400" spc="-5" dirty="0">
                <a:latin typeface="Perpetua"/>
                <a:cs typeface="Perpetua"/>
              </a:rPr>
              <a:t>projects </a:t>
            </a:r>
            <a:r>
              <a:rPr sz="2400" dirty="0">
                <a:latin typeface="Perpetua"/>
                <a:cs typeface="Perpetua"/>
              </a:rPr>
              <a:t>consist of thousands of </a:t>
            </a:r>
            <a:r>
              <a:rPr sz="2400" spc="-5" dirty="0">
                <a:latin typeface="Perpetua"/>
                <a:cs typeface="Perpetua"/>
              </a:rPr>
              <a:t>lines </a:t>
            </a:r>
            <a:r>
              <a:rPr sz="2400" spc="-10" dirty="0">
                <a:latin typeface="Perpetua"/>
                <a:cs typeface="Perpetua"/>
              </a:rPr>
              <a:t>of  </a:t>
            </a:r>
            <a:r>
              <a:rPr sz="2400" dirty="0">
                <a:latin typeface="Perpetua"/>
                <a:cs typeface="Perpetua"/>
              </a:rPr>
              <a:t>code or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more.</a:t>
            </a:r>
            <a:endParaRPr sz="2400">
              <a:latin typeface="Perpetua"/>
              <a:cs typeface="Perpetua"/>
            </a:endParaRPr>
          </a:p>
          <a:p>
            <a:pPr marL="286385" marR="5080" indent="-274320" algn="just">
              <a:lnSpc>
                <a:spcPts val="2590"/>
              </a:lnSpc>
              <a:spcBef>
                <a:spcPts val="605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One single </a:t>
            </a:r>
            <a:r>
              <a:rPr sz="2400" spc="-5" dirty="0">
                <a:latin typeface="Perpetua"/>
                <a:cs typeface="Perpetua"/>
              </a:rPr>
              <a:t>large block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programming statements </a:t>
            </a:r>
            <a:r>
              <a:rPr sz="2400" spc="-20" dirty="0">
                <a:latin typeface="Perpetua"/>
                <a:cs typeface="Perpetua"/>
              </a:rPr>
              <a:t>would </a:t>
            </a:r>
            <a:r>
              <a:rPr sz="2400" spc="5" dirty="0">
                <a:latin typeface="Perpetua"/>
                <a:cs typeface="Perpetua"/>
              </a:rPr>
              <a:t>be  </a:t>
            </a:r>
            <a:r>
              <a:rPr sz="2400" spc="-15" dirty="0">
                <a:latin typeface="Perpetua"/>
                <a:cs typeface="Perpetua"/>
              </a:rPr>
              <a:t>unmanageable, </a:t>
            </a:r>
            <a:r>
              <a:rPr sz="2400" spc="-10" dirty="0">
                <a:latin typeface="Perpetua"/>
                <a:cs typeface="Perpetua"/>
              </a:rPr>
              <a:t>incomprehensible, </a:t>
            </a:r>
            <a:r>
              <a:rPr sz="2400" dirty="0">
                <a:latin typeface="Perpetua"/>
                <a:cs typeface="Perpetua"/>
              </a:rPr>
              <a:t>difficult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design, </a:t>
            </a:r>
            <a:r>
              <a:rPr sz="2400" spc="-5" dirty="0">
                <a:latin typeface="Perpetua"/>
                <a:cs typeface="Perpetua"/>
              </a:rPr>
              <a:t>write, </a:t>
            </a:r>
            <a:r>
              <a:rPr sz="2400" spc="-10" dirty="0">
                <a:latin typeface="Perpetua"/>
                <a:cs typeface="Perpetua"/>
              </a:rPr>
              <a:t>debug, </a:t>
            </a:r>
            <a:r>
              <a:rPr sz="2400" dirty="0">
                <a:latin typeface="Perpetua"/>
                <a:cs typeface="Perpetua"/>
              </a:rPr>
              <a:t>test,  </a:t>
            </a:r>
            <a:r>
              <a:rPr sz="2400" spc="-10" dirty="0">
                <a:latin typeface="Perpetua"/>
                <a:cs typeface="Perpetua"/>
              </a:rPr>
              <a:t>etc.</a:t>
            </a:r>
            <a:endParaRPr sz="24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8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i="1" spc="-5" dirty="0">
                <a:latin typeface="Perpetua"/>
                <a:cs typeface="Perpetua"/>
              </a:rPr>
              <a:t>Modular </a:t>
            </a:r>
            <a:r>
              <a:rPr sz="2400" i="1" spc="-10" dirty="0">
                <a:latin typeface="Perpetua"/>
                <a:cs typeface="Perpetua"/>
              </a:rPr>
              <a:t>Programming</a:t>
            </a:r>
            <a:r>
              <a:rPr sz="2400" spc="-10" dirty="0">
                <a:latin typeface="Perpetua"/>
                <a:cs typeface="Perpetua"/>
              </a:rPr>
              <a:t>: </a:t>
            </a:r>
            <a:r>
              <a:rPr sz="2400" spc="-5" dirty="0">
                <a:latin typeface="Perpetua"/>
                <a:cs typeface="Perpetua"/>
              </a:rPr>
              <a:t>Divide-and-Conquer </a:t>
            </a:r>
            <a:r>
              <a:rPr sz="2400" dirty="0">
                <a:latin typeface="Perpetua"/>
                <a:cs typeface="Perpetua"/>
              </a:rPr>
              <a:t>approach </a:t>
            </a:r>
            <a:r>
              <a:rPr sz="2400" spc="-5" dirty="0">
                <a:latin typeface="Perpetua"/>
                <a:cs typeface="Perpetua"/>
              </a:rPr>
              <a:t>to</a:t>
            </a:r>
            <a:r>
              <a:rPr sz="2400" spc="-9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programming.</a:t>
            </a:r>
            <a:endParaRPr sz="24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Divide into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sub-problems.</a:t>
            </a:r>
            <a:endParaRPr sz="2400">
              <a:latin typeface="Perpetua"/>
              <a:cs typeface="Perpetua"/>
            </a:endParaRPr>
          </a:p>
          <a:p>
            <a:pPr marL="561340" marR="19050" lvl="1" indent="-228600" algn="just">
              <a:lnSpc>
                <a:spcPts val="2590"/>
              </a:lnSpc>
              <a:spcBef>
                <a:spcPts val="434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Size of </a:t>
            </a:r>
            <a:r>
              <a:rPr sz="2400" spc="-5" dirty="0">
                <a:latin typeface="Perpetua"/>
                <a:cs typeface="Perpetua"/>
              </a:rPr>
              <a:t>modules reduced </a:t>
            </a:r>
            <a:r>
              <a:rPr sz="2400" spc="-10" dirty="0">
                <a:latin typeface="Perpetua"/>
                <a:cs typeface="Perpetua"/>
              </a:rPr>
              <a:t>to humanly comprehensible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10" dirty="0">
                <a:latin typeface="Perpetua"/>
                <a:cs typeface="Perpetua"/>
              </a:rPr>
              <a:t>manageable  </a:t>
            </a:r>
            <a:r>
              <a:rPr sz="2400" spc="-20" dirty="0">
                <a:latin typeface="Perpetua"/>
                <a:cs typeface="Perpetua"/>
              </a:rPr>
              <a:t>level.</a:t>
            </a:r>
            <a:endParaRPr sz="24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28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i="1" spc="-15" dirty="0">
                <a:latin typeface="Perpetua"/>
                <a:cs typeface="Perpetua"/>
              </a:rPr>
              <a:t>Analogous </a:t>
            </a:r>
            <a:r>
              <a:rPr sz="2400" i="1" spc="-5" dirty="0">
                <a:latin typeface="Perpetua"/>
                <a:cs typeface="Perpetua"/>
              </a:rPr>
              <a:t>developments</a:t>
            </a:r>
            <a:r>
              <a:rPr sz="2400" spc="-5" dirty="0">
                <a:latin typeface="Perpetua"/>
                <a:cs typeface="Perpetua"/>
              </a:rPr>
              <a:t>: </a:t>
            </a:r>
            <a:r>
              <a:rPr sz="2400" dirty="0">
                <a:latin typeface="Perpetua"/>
                <a:cs typeface="Perpetua"/>
              </a:rPr>
              <a:t>manufacturing a </a:t>
            </a:r>
            <a:r>
              <a:rPr sz="2400" spc="-5" dirty="0">
                <a:latin typeface="Perpetua"/>
                <a:cs typeface="Perpetua"/>
              </a:rPr>
              <a:t>spacecraft, </a:t>
            </a:r>
            <a:r>
              <a:rPr sz="2400" dirty="0">
                <a:latin typeface="Perpetua"/>
                <a:cs typeface="Perpetua"/>
              </a:rPr>
              <a:t>or a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spc="-55" dirty="0">
                <a:latin typeface="Perpetua"/>
                <a:cs typeface="Perpetua"/>
              </a:rPr>
              <a:t>car.</a:t>
            </a:r>
            <a:endParaRPr sz="24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120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Manufacture </a:t>
            </a:r>
            <a:r>
              <a:rPr sz="2400" dirty="0">
                <a:latin typeface="Perpetua"/>
                <a:cs typeface="Perpetua"/>
              </a:rPr>
              <a:t>individual components, </a:t>
            </a:r>
            <a:r>
              <a:rPr sz="2400" spc="-5" dirty="0">
                <a:latin typeface="Perpetua"/>
                <a:cs typeface="Perpetua"/>
              </a:rPr>
              <a:t>test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spc="-30" dirty="0">
                <a:latin typeface="Perpetua"/>
                <a:cs typeface="Perpetua"/>
              </a:rPr>
              <a:t>separately.</a:t>
            </a:r>
            <a:endParaRPr sz="24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110"/>
              </a:spcBef>
              <a:buSzPct val="85416"/>
              <a:buFont typeface="Arial"/>
              <a:buChar char="•"/>
              <a:tabLst>
                <a:tab pos="561340" algn="l"/>
              </a:tabLst>
            </a:pPr>
            <a:r>
              <a:rPr sz="2400" spc="-5" dirty="0">
                <a:latin typeface="Perpetua"/>
                <a:cs typeface="Perpetua"/>
              </a:rPr>
              <a:t>Assemble </a:t>
            </a:r>
            <a:r>
              <a:rPr sz="2400" dirty="0">
                <a:latin typeface="Perpetua"/>
                <a:cs typeface="Perpetua"/>
              </a:rPr>
              <a:t>into </a:t>
            </a:r>
            <a:r>
              <a:rPr sz="2400" spc="-5" dirty="0">
                <a:latin typeface="Perpetua"/>
                <a:cs typeface="Perpetua"/>
              </a:rPr>
              <a:t>larger </a:t>
            </a:r>
            <a:r>
              <a:rPr sz="2400" dirty="0">
                <a:latin typeface="Perpetua"/>
                <a:cs typeface="Perpetua"/>
              </a:rPr>
              <a:t>components, integrate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test.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38800" y="228600"/>
            <a:ext cx="2714244" cy="1642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1582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Entropy </a:t>
            </a:r>
            <a:r>
              <a:rPr spc="-5" dirty="0"/>
              <a:t>of </a:t>
            </a:r>
            <a:r>
              <a:rPr spc="-10" dirty="0"/>
              <a:t>software</a:t>
            </a:r>
            <a:r>
              <a:rPr spc="-50" dirty="0"/>
              <a:t> </a:t>
            </a:r>
            <a:r>
              <a:rPr spc="-15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2379091"/>
            <a:ext cx="8531225" cy="3898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6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695325" algn="l"/>
                <a:tab pos="2037714" algn="l"/>
                <a:tab pos="3295650" algn="l"/>
                <a:tab pos="3688715" algn="l"/>
                <a:tab pos="4336415" algn="l"/>
                <a:tab pos="5002530" algn="l"/>
                <a:tab pos="5394325" algn="l"/>
                <a:tab pos="5726430" algn="l"/>
                <a:tab pos="6619875" algn="l"/>
                <a:tab pos="7417434" algn="l"/>
                <a:tab pos="8278495" algn="l"/>
              </a:tabLst>
            </a:pPr>
            <a:r>
              <a:rPr sz="2600" dirty="0">
                <a:latin typeface="Perpetua"/>
                <a:cs typeface="Perpetua"/>
              </a:rPr>
              <a:t>A	</a:t>
            </a:r>
            <a:r>
              <a:rPr sz="2600" i="1" spc="-5" dirty="0">
                <a:latin typeface="Perpetua"/>
                <a:cs typeface="Perpetua"/>
              </a:rPr>
              <a:t>mo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spc="-5" dirty="0">
                <a:latin typeface="Perpetua"/>
                <a:cs typeface="Perpetua"/>
              </a:rPr>
              <a:t>olithi</a:t>
            </a:r>
            <a:r>
              <a:rPr sz="2600" i="1" dirty="0">
                <a:latin typeface="Perpetua"/>
                <a:cs typeface="Perpetua"/>
              </a:rPr>
              <a:t>c	al</a:t>
            </a:r>
            <a:r>
              <a:rPr sz="2600" i="1" spc="-35" dirty="0">
                <a:latin typeface="Perpetua"/>
                <a:cs typeface="Perpetua"/>
              </a:rPr>
              <a:t>g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spc="50" dirty="0">
                <a:latin typeface="Perpetua"/>
                <a:cs typeface="Perpetua"/>
              </a:rPr>
              <a:t>r</a:t>
            </a:r>
            <a:r>
              <a:rPr sz="2600" i="1" spc="-5" dirty="0">
                <a:latin typeface="Perpetua"/>
                <a:cs typeface="Perpetua"/>
              </a:rPr>
              <a:t>it</a:t>
            </a:r>
            <a:r>
              <a:rPr sz="2600" i="1" spc="-15" dirty="0">
                <a:latin typeface="Perpetua"/>
                <a:cs typeface="Perpetua"/>
              </a:rPr>
              <a:t>h</a:t>
            </a:r>
            <a:r>
              <a:rPr sz="2600" i="1" dirty="0">
                <a:latin typeface="Perpetua"/>
                <a:cs typeface="Perpetua"/>
              </a:rPr>
              <a:t>m	</a:t>
            </a:r>
            <a:r>
              <a:rPr sz="2600" spc="1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on</a:t>
            </a:r>
            <a:r>
              <a:rPr sz="2600" dirty="0">
                <a:latin typeface="Perpetua"/>
                <a:cs typeface="Perpetua"/>
              </a:rPr>
              <a:t>e	th</a:t>
            </a:r>
            <a:r>
              <a:rPr sz="2600" spc="-2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is	a	single	</a:t>
            </a:r>
            <a:r>
              <a:rPr sz="2600" spc="-5" dirty="0">
                <a:latin typeface="Perpetua"/>
                <a:cs typeface="Perpetua"/>
              </a:rPr>
              <a:t>larg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4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	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instructions.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37185" algn="l"/>
                <a:tab pos="337820" algn="l"/>
                <a:tab pos="757555" algn="l"/>
                <a:tab pos="2111375" algn="l"/>
                <a:tab pos="3204210" algn="l"/>
                <a:tab pos="3606800" algn="l"/>
                <a:tab pos="4266565" algn="l"/>
                <a:tab pos="4944745" algn="l"/>
                <a:tab pos="5348605" algn="l"/>
                <a:tab pos="5693410" algn="l"/>
                <a:tab pos="6598920" algn="l"/>
                <a:tab pos="7407909" algn="l"/>
                <a:tab pos="828167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A	</a:t>
            </a:r>
            <a:r>
              <a:rPr sz="2600" i="1" spc="-5" dirty="0">
                <a:latin typeface="Perpetua"/>
                <a:cs typeface="Perpetua"/>
              </a:rPr>
              <a:t>mo</a:t>
            </a:r>
            <a:r>
              <a:rPr sz="2600" i="1" spc="-15" dirty="0">
                <a:latin typeface="Perpetua"/>
                <a:cs typeface="Perpetua"/>
              </a:rPr>
              <a:t>n</a:t>
            </a:r>
            <a:r>
              <a:rPr sz="2600" i="1" spc="-5" dirty="0">
                <a:latin typeface="Perpetua"/>
                <a:cs typeface="Perpetua"/>
              </a:rPr>
              <a:t>olithi</a:t>
            </a:r>
            <a:r>
              <a:rPr sz="2600" i="1" dirty="0">
                <a:latin typeface="Perpetua"/>
                <a:cs typeface="Perpetua"/>
              </a:rPr>
              <a:t>c	pr</a:t>
            </a:r>
            <a:r>
              <a:rPr sz="2600" i="1" spc="-65" dirty="0">
                <a:latin typeface="Perpetua"/>
                <a:cs typeface="Perpetua"/>
              </a:rPr>
              <a:t>o</a:t>
            </a:r>
            <a:r>
              <a:rPr sz="2600" i="1" dirty="0">
                <a:latin typeface="Perpetua"/>
                <a:cs typeface="Perpetua"/>
              </a:rPr>
              <a:t>g</a:t>
            </a:r>
            <a:r>
              <a:rPr sz="2600" i="1" spc="-6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am	</a:t>
            </a:r>
            <a:r>
              <a:rPr sz="2600" spc="-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s	</a:t>
            </a:r>
            <a:r>
              <a:rPr sz="2600" spc="-5" dirty="0">
                <a:latin typeface="Perpetua"/>
                <a:cs typeface="Perpetua"/>
              </a:rPr>
              <a:t>on</a:t>
            </a:r>
            <a:r>
              <a:rPr sz="2600" dirty="0">
                <a:latin typeface="Perpetua"/>
                <a:cs typeface="Perpetua"/>
              </a:rPr>
              <a:t>e	th</a:t>
            </a:r>
            <a:r>
              <a:rPr sz="2600" spc="-2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is	a	single	</a:t>
            </a:r>
            <a:r>
              <a:rPr sz="2600" spc="-5" dirty="0">
                <a:latin typeface="Perpetua"/>
                <a:cs typeface="Perpetua"/>
              </a:rPr>
              <a:t>larg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40" dirty="0">
                <a:latin typeface="Perpetua"/>
                <a:cs typeface="Perpetua"/>
              </a:rPr>
              <a:t>b</a:t>
            </a:r>
            <a:r>
              <a:rPr sz="2600" spc="-5" dirty="0">
                <a:latin typeface="Perpetua"/>
                <a:cs typeface="Perpetua"/>
              </a:rPr>
              <a:t>l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spc="3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k	</a:t>
            </a:r>
            <a:r>
              <a:rPr sz="2600" spc="-5" dirty="0">
                <a:latin typeface="Perpetua"/>
                <a:cs typeface="Perpetua"/>
              </a:rPr>
              <a:t>of  programming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statements.</a:t>
            </a:r>
            <a:endParaRPr sz="2600">
              <a:latin typeface="Perpetua"/>
              <a:cs typeface="Perpetua"/>
            </a:endParaRPr>
          </a:p>
          <a:p>
            <a:pPr marL="286385" marR="8255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  <a:tab pos="4804410" algn="l"/>
              </a:tabLst>
            </a:pPr>
            <a:r>
              <a:rPr sz="2600" i="1" spc="-10" dirty="0">
                <a:latin typeface="Perpetua"/>
                <a:cs typeface="Perpetua"/>
              </a:rPr>
              <a:t>Where </a:t>
            </a:r>
            <a:r>
              <a:rPr sz="2600" i="1" spc="-40" dirty="0">
                <a:latin typeface="Perpetua"/>
                <a:cs typeface="Perpetua"/>
              </a:rPr>
              <a:t>generally, </a:t>
            </a:r>
            <a:r>
              <a:rPr sz="2600" i="1" dirty="0">
                <a:latin typeface="Perpetua"/>
                <a:cs typeface="Perpetua"/>
              </a:rPr>
              <a:t>fixing </a:t>
            </a:r>
            <a:r>
              <a:rPr sz="2600" i="1" spc="-5" dirty="0">
                <a:latin typeface="Perpetua"/>
                <a:cs typeface="Perpetua"/>
              </a:rPr>
              <a:t>one </a:t>
            </a:r>
            <a:r>
              <a:rPr sz="2600" i="1" spc="-10" dirty="0">
                <a:latin typeface="Perpetua"/>
                <a:cs typeface="Perpetua"/>
              </a:rPr>
              <a:t>bug </a:t>
            </a:r>
            <a:r>
              <a:rPr sz="2600" i="1" spc="18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spc="190" dirty="0">
                <a:latin typeface="Perpetua"/>
                <a:cs typeface="Perpetua"/>
              </a:rPr>
              <a:t> </a:t>
            </a:r>
            <a:r>
              <a:rPr sz="2600" i="1" spc="10" dirty="0">
                <a:latin typeface="Perpetua"/>
                <a:cs typeface="Perpetua"/>
              </a:rPr>
              <a:t>error	</a:t>
            </a:r>
            <a:r>
              <a:rPr sz="2600" i="1" spc="-35" dirty="0">
                <a:latin typeface="Perpetua"/>
                <a:cs typeface="Perpetua"/>
              </a:rPr>
              <a:t>always </a:t>
            </a:r>
            <a:r>
              <a:rPr sz="2600" i="1" dirty="0">
                <a:latin typeface="Perpetua"/>
                <a:cs typeface="Perpetua"/>
              </a:rPr>
              <a:t>seemed </a:t>
            </a:r>
            <a:r>
              <a:rPr sz="2600" i="1" spc="-5" dirty="0">
                <a:latin typeface="Perpetua"/>
                <a:cs typeface="Perpetua"/>
              </a:rPr>
              <a:t>to </a:t>
            </a:r>
            <a:r>
              <a:rPr sz="2600" i="1" spc="-10" dirty="0">
                <a:latin typeface="Perpetua"/>
                <a:cs typeface="Perpetua"/>
              </a:rPr>
              <a:t>create </a:t>
            </a:r>
            <a:r>
              <a:rPr sz="2600" i="1" spc="-5" dirty="0">
                <a:latin typeface="Perpetua"/>
                <a:cs typeface="Perpetua"/>
              </a:rPr>
              <a:t>additional  </a:t>
            </a:r>
            <a:r>
              <a:rPr sz="2600" i="1" dirty="0">
                <a:latin typeface="Perpetua"/>
                <a:cs typeface="Perpetua"/>
              </a:rPr>
              <a:t>new </a:t>
            </a:r>
            <a:r>
              <a:rPr sz="2600" i="1" spc="-10" dirty="0">
                <a:latin typeface="Perpetua"/>
                <a:cs typeface="Perpetua"/>
              </a:rPr>
              <a:t>bugs 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spc="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errors.</a:t>
            </a:r>
            <a:endParaRPr sz="2600">
              <a:latin typeface="Perpetua"/>
              <a:cs typeface="Perpetua"/>
            </a:endParaRPr>
          </a:p>
          <a:p>
            <a:pPr marL="286385" marR="6350" indent="-274320">
              <a:lnSpc>
                <a:spcPct val="100000"/>
              </a:lnSpc>
              <a:spcBef>
                <a:spcPts val="605"/>
              </a:spcBef>
              <a:buSzPct val="84615"/>
              <a:buFont typeface="Wingdings"/>
              <a:buChar char=""/>
              <a:tabLst>
                <a:tab pos="287020" algn="l"/>
                <a:tab pos="594995" algn="l"/>
                <a:tab pos="893444" algn="l"/>
                <a:tab pos="1391920" algn="l"/>
                <a:tab pos="2144395" algn="l"/>
                <a:tab pos="2443480" algn="l"/>
                <a:tab pos="3843020" algn="l"/>
                <a:tab pos="7433945" algn="l"/>
              </a:tabLst>
            </a:pP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t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s	</a:t>
            </a:r>
            <a:r>
              <a:rPr sz="2600" i="1" spc="-5" dirty="0">
                <a:latin typeface="Perpetua"/>
                <a:cs typeface="Perpetua"/>
              </a:rPr>
              <a:t>o</a:t>
            </a:r>
            <a:r>
              <a:rPr sz="2600" i="1" spc="-10" dirty="0">
                <a:latin typeface="Perpetua"/>
                <a:cs typeface="Perpetua"/>
              </a:rPr>
              <a:t>n</a:t>
            </a:r>
            <a:r>
              <a:rPr sz="2600" i="1" dirty="0">
                <a:latin typeface="Perpetua"/>
                <a:cs typeface="Perpetua"/>
              </a:rPr>
              <a:t>e	</a:t>
            </a:r>
            <a:r>
              <a:rPr sz="2600" i="1" spc="-45" dirty="0">
                <a:latin typeface="Perpetua"/>
                <a:cs typeface="Perpetua"/>
              </a:rPr>
              <a:t>w</a:t>
            </a:r>
            <a:r>
              <a:rPr sz="2600" i="1" dirty="0">
                <a:latin typeface="Perpetua"/>
                <a:cs typeface="Perpetua"/>
              </a:rPr>
              <a:t>hi</a:t>
            </a:r>
            <a:r>
              <a:rPr sz="2600" i="1" spc="-15" dirty="0">
                <a:latin typeface="Perpetua"/>
                <a:cs typeface="Perpetua"/>
              </a:rPr>
              <a:t>c</a:t>
            </a:r>
            <a:r>
              <a:rPr sz="2600" i="1" dirty="0">
                <a:latin typeface="Perpetua"/>
                <a:cs typeface="Perpetua"/>
              </a:rPr>
              <a:t>h	</a:t>
            </a:r>
            <a:r>
              <a:rPr sz="2600" i="1" spc="-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s	</a:t>
            </a:r>
            <a:r>
              <a:rPr sz="2600" i="1" spc="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nc</a:t>
            </a:r>
            <a:r>
              <a:rPr sz="2600" i="1" spc="-3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easing</a:t>
            </a:r>
            <a:r>
              <a:rPr sz="2600" i="1" spc="-35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y	</a:t>
            </a:r>
            <a:r>
              <a:rPr sz="2600" i="1" spc="-5" dirty="0">
                <a:latin typeface="Perpetua"/>
                <a:cs typeface="Perpetua"/>
              </a:rPr>
              <a:t>interconne</a:t>
            </a:r>
            <a:r>
              <a:rPr sz="2600" i="1" spc="-15" dirty="0">
                <a:latin typeface="Perpetua"/>
                <a:cs typeface="Perpetua"/>
              </a:rPr>
              <a:t>c</a:t>
            </a:r>
            <a:r>
              <a:rPr sz="2600" i="1" dirty="0">
                <a:latin typeface="Perpetua"/>
                <a:cs typeface="Perpetua"/>
              </a:rPr>
              <a:t>ted,</a:t>
            </a:r>
            <a:r>
              <a:rPr sz="2600" i="1" spc="229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un</a:t>
            </a:r>
            <a:r>
              <a:rPr sz="2600" i="1" spc="-25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</a:t>
            </a:r>
            <a:r>
              <a:rPr sz="2600" i="1" spc="-15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da</a:t>
            </a:r>
            <a:r>
              <a:rPr sz="2600" i="1" spc="-40" dirty="0">
                <a:latin typeface="Perpetua"/>
                <a:cs typeface="Perpetua"/>
              </a:rPr>
              <a:t>b</a:t>
            </a:r>
            <a:r>
              <a:rPr sz="2600" i="1" spc="-15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e,</a:t>
            </a:r>
            <a:r>
              <a:rPr sz="2600" i="1" spc="229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and	ul</a:t>
            </a:r>
            <a:r>
              <a:rPr sz="2600" i="1" spc="-15" dirty="0">
                <a:latin typeface="Perpetua"/>
                <a:cs typeface="Perpetua"/>
              </a:rPr>
              <a:t>t</a:t>
            </a:r>
            <a:r>
              <a:rPr sz="2600" i="1" spc="-5" dirty="0">
                <a:latin typeface="Perpetua"/>
                <a:cs typeface="Perpetua"/>
              </a:rPr>
              <a:t>im</a:t>
            </a:r>
            <a:r>
              <a:rPr sz="2600" i="1" spc="-30" dirty="0">
                <a:latin typeface="Perpetua"/>
                <a:cs typeface="Perpetua"/>
              </a:rPr>
              <a:t>a</a:t>
            </a:r>
            <a:r>
              <a:rPr sz="2600" i="1" dirty="0">
                <a:latin typeface="Perpetua"/>
                <a:cs typeface="Perpetua"/>
              </a:rPr>
              <a:t>te</a:t>
            </a:r>
            <a:r>
              <a:rPr sz="2600" i="1" spc="-45" dirty="0">
                <a:latin typeface="Perpetua"/>
                <a:cs typeface="Perpetua"/>
              </a:rPr>
              <a:t>l</a:t>
            </a:r>
            <a:r>
              <a:rPr sz="2600" i="1" dirty="0">
                <a:latin typeface="Perpetua"/>
                <a:cs typeface="Perpetua"/>
              </a:rPr>
              <a:t>y  </a:t>
            </a:r>
            <a:r>
              <a:rPr sz="2600" i="1" spc="-10" dirty="0">
                <a:latin typeface="Perpetua"/>
                <a:cs typeface="Perpetua"/>
              </a:rPr>
              <a:t>unreliable.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i="1" spc="-10" dirty="0">
                <a:latin typeface="Perpetua"/>
                <a:cs typeface="Perpetua"/>
              </a:rPr>
              <a:t>entropy </a:t>
            </a:r>
            <a:r>
              <a:rPr sz="2600" i="1" spc="-5" dirty="0">
                <a:latin typeface="Perpetua"/>
                <a:cs typeface="Perpetua"/>
              </a:rPr>
              <a:t>of </a:t>
            </a:r>
            <a:r>
              <a:rPr sz="2600" i="1" spc="-15" dirty="0">
                <a:latin typeface="Perpetua"/>
                <a:cs typeface="Perpetua"/>
              </a:rPr>
              <a:t>software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development</a:t>
            </a:r>
            <a:r>
              <a:rPr sz="2600" spc="-5" dirty="0">
                <a:latin typeface="Perpetua"/>
                <a:cs typeface="Perpetua"/>
              </a:rPr>
              <a:t>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200" y="228600"/>
            <a:ext cx="2286000" cy="2290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5276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50820" algn="l"/>
              </a:tabLst>
            </a:pPr>
            <a:r>
              <a:rPr sz="3600" spc="-5" dirty="0"/>
              <a:t>An </a:t>
            </a:r>
            <a:r>
              <a:rPr sz="3600" spc="-15" dirty="0"/>
              <a:t>overview</a:t>
            </a:r>
            <a:r>
              <a:rPr sz="3600" spc="20" dirty="0"/>
              <a:t> </a:t>
            </a:r>
            <a:r>
              <a:rPr sz="3600" spc="-5" dirty="0"/>
              <a:t>of	</a:t>
            </a:r>
            <a:r>
              <a:rPr sz="3600" dirty="0"/>
              <a:t>the</a:t>
            </a:r>
            <a:r>
              <a:rPr sz="3600" spc="-85" dirty="0"/>
              <a:t> </a:t>
            </a:r>
            <a:r>
              <a:rPr sz="3600" spc="-15" dirty="0"/>
              <a:t>development  </a:t>
            </a:r>
            <a:r>
              <a:rPr sz="3600" spc="-10" dirty="0"/>
              <a:t>process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68224" y="1447800"/>
            <a:ext cx="8875776" cy="480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324600" y="152400"/>
            <a:ext cx="2619755" cy="990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962" y="5944361"/>
            <a:ext cx="88900" cy="533400"/>
          </a:xfrm>
          <a:custGeom>
            <a:avLst/>
            <a:gdLst/>
            <a:ahLst/>
            <a:cxnLst/>
            <a:rect l="l" t="t" r="r" b="b"/>
            <a:pathLst>
              <a:path w="88900" h="533400">
                <a:moveTo>
                  <a:pt x="88900" y="533400"/>
                </a:moveTo>
                <a:lnTo>
                  <a:pt x="71598" y="529906"/>
                </a:lnTo>
                <a:lnTo>
                  <a:pt x="57469" y="520380"/>
                </a:lnTo>
                <a:lnTo>
                  <a:pt x="47943" y="506251"/>
                </a:lnTo>
                <a:lnTo>
                  <a:pt x="44450" y="488950"/>
                </a:lnTo>
                <a:lnTo>
                  <a:pt x="44450" y="311150"/>
                </a:lnTo>
                <a:lnTo>
                  <a:pt x="40956" y="293848"/>
                </a:lnTo>
                <a:lnTo>
                  <a:pt x="31430" y="279719"/>
                </a:lnTo>
                <a:lnTo>
                  <a:pt x="17301" y="270193"/>
                </a:lnTo>
                <a:lnTo>
                  <a:pt x="0" y="266700"/>
                </a:lnTo>
                <a:lnTo>
                  <a:pt x="17301" y="263206"/>
                </a:lnTo>
                <a:lnTo>
                  <a:pt x="31430" y="253680"/>
                </a:lnTo>
                <a:lnTo>
                  <a:pt x="40956" y="239551"/>
                </a:lnTo>
                <a:lnTo>
                  <a:pt x="44450" y="222250"/>
                </a:lnTo>
                <a:lnTo>
                  <a:pt x="44450" y="44450"/>
                </a:lnTo>
                <a:lnTo>
                  <a:pt x="47943" y="27148"/>
                </a:lnTo>
                <a:lnTo>
                  <a:pt x="57469" y="13019"/>
                </a:lnTo>
                <a:lnTo>
                  <a:pt x="71598" y="3493"/>
                </a:lnTo>
                <a:lnTo>
                  <a:pt x="88900" y="0"/>
                </a:lnTo>
              </a:path>
            </a:pathLst>
          </a:custGeom>
          <a:ln w="50292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17261" y="5944361"/>
            <a:ext cx="88900" cy="533400"/>
          </a:xfrm>
          <a:custGeom>
            <a:avLst/>
            <a:gdLst/>
            <a:ahLst/>
            <a:cxnLst/>
            <a:rect l="l" t="t" r="r" b="b"/>
            <a:pathLst>
              <a:path w="88900" h="533400">
                <a:moveTo>
                  <a:pt x="0" y="0"/>
                </a:moveTo>
                <a:lnTo>
                  <a:pt x="17285" y="3493"/>
                </a:lnTo>
                <a:lnTo>
                  <a:pt x="31416" y="13019"/>
                </a:lnTo>
                <a:lnTo>
                  <a:pt x="40951" y="27148"/>
                </a:lnTo>
                <a:lnTo>
                  <a:pt x="44450" y="44450"/>
                </a:lnTo>
                <a:lnTo>
                  <a:pt x="44450" y="222250"/>
                </a:lnTo>
                <a:lnTo>
                  <a:pt x="47948" y="239551"/>
                </a:lnTo>
                <a:lnTo>
                  <a:pt x="57483" y="253680"/>
                </a:lnTo>
                <a:lnTo>
                  <a:pt x="71614" y="263206"/>
                </a:lnTo>
                <a:lnTo>
                  <a:pt x="88900" y="266700"/>
                </a:lnTo>
                <a:lnTo>
                  <a:pt x="71614" y="270193"/>
                </a:lnTo>
                <a:lnTo>
                  <a:pt x="57483" y="279719"/>
                </a:lnTo>
                <a:lnTo>
                  <a:pt x="47948" y="293848"/>
                </a:lnTo>
                <a:lnTo>
                  <a:pt x="44450" y="311150"/>
                </a:lnTo>
                <a:lnTo>
                  <a:pt x="44450" y="488950"/>
                </a:lnTo>
                <a:lnTo>
                  <a:pt x="40951" y="506251"/>
                </a:lnTo>
                <a:lnTo>
                  <a:pt x="31416" y="520380"/>
                </a:lnTo>
                <a:lnTo>
                  <a:pt x="17285" y="529906"/>
                </a:lnTo>
                <a:lnTo>
                  <a:pt x="0" y="533400"/>
                </a:lnTo>
              </a:path>
            </a:pathLst>
          </a:custGeom>
          <a:ln w="50292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98194" y="5937910"/>
            <a:ext cx="3023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Perpetua"/>
                <a:cs typeface="Perpetua"/>
              </a:rPr>
              <a:t>Analysis </a:t>
            </a:r>
            <a:r>
              <a:rPr sz="2800" b="1" spc="-5" dirty="0">
                <a:latin typeface="Perpetua"/>
                <a:cs typeface="Perpetua"/>
              </a:rPr>
              <a:t>and</a:t>
            </a:r>
            <a:r>
              <a:rPr sz="2800" b="1" spc="-60" dirty="0">
                <a:latin typeface="Perpetua"/>
                <a:cs typeface="Perpetua"/>
              </a:rPr>
              <a:t> </a:t>
            </a:r>
            <a:r>
              <a:rPr sz="2800" b="1" spc="-10" dirty="0">
                <a:latin typeface="Perpetua"/>
                <a:cs typeface="Perpetua"/>
              </a:rPr>
              <a:t>Design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82361" y="5944361"/>
            <a:ext cx="88900" cy="533400"/>
          </a:xfrm>
          <a:custGeom>
            <a:avLst/>
            <a:gdLst/>
            <a:ahLst/>
            <a:cxnLst/>
            <a:rect l="l" t="t" r="r" b="b"/>
            <a:pathLst>
              <a:path w="88900" h="533400">
                <a:moveTo>
                  <a:pt x="88900" y="533400"/>
                </a:moveTo>
                <a:lnTo>
                  <a:pt x="71614" y="529906"/>
                </a:lnTo>
                <a:lnTo>
                  <a:pt x="57483" y="520380"/>
                </a:lnTo>
                <a:lnTo>
                  <a:pt x="47948" y="506251"/>
                </a:lnTo>
                <a:lnTo>
                  <a:pt x="44450" y="488950"/>
                </a:lnTo>
                <a:lnTo>
                  <a:pt x="44450" y="311150"/>
                </a:lnTo>
                <a:lnTo>
                  <a:pt x="40951" y="293848"/>
                </a:lnTo>
                <a:lnTo>
                  <a:pt x="31416" y="279719"/>
                </a:lnTo>
                <a:lnTo>
                  <a:pt x="17285" y="270193"/>
                </a:lnTo>
                <a:lnTo>
                  <a:pt x="0" y="266700"/>
                </a:lnTo>
                <a:lnTo>
                  <a:pt x="17285" y="263206"/>
                </a:lnTo>
                <a:lnTo>
                  <a:pt x="31416" y="253680"/>
                </a:lnTo>
                <a:lnTo>
                  <a:pt x="40951" y="239551"/>
                </a:lnTo>
                <a:lnTo>
                  <a:pt x="44450" y="222250"/>
                </a:lnTo>
                <a:lnTo>
                  <a:pt x="44450" y="44450"/>
                </a:lnTo>
                <a:lnTo>
                  <a:pt x="47948" y="27148"/>
                </a:lnTo>
                <a:lnTo>
                  <a:pt x="57483" y="13019"/>
                </a:lnTo>
                <a:lnTo>
                  <a:pt x="71614" y="3493"/>
                </a:lnTo>
                <a:lnTo>
                  <a:pt x="88900" y="0"/>
                </a:lnTo>
              </a:path>
            </a:pathLst>
          </a:custGeom>
          <a:ln w="50292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70061" y="5944361"/>
            <a:ext cx="88900" cy="533400"/>
          </a:xfrm>
          <a:custGeom>
            <a:avLst/>
            <a:gdLst/>
            <a:ahLst/>
            <a:cxnLst/>
            <a:rect l="l" t="t" r="r" b="b"/>
            <a:pathLst>
              <a:path w="88900" h="533400">
                <a:moveTo>
                  <a:pt x="0" y="0"/>
                </a:moveTo>
                <a:lnTo>
                  <a:pt x="17285" y="3493"/>
                </a:lnTo>
                <a:lnTo>
                  <a:pt x="31416" y="13019"/>
                </a:lnTo>
                <a:lnTo>
                  <a:pt x="40951" y="27148"/>
                </a:lnTo>
                <a:lnTo>
                  <a:pt x="44450" y="44450"/>
                </a:lnTo>
                <a:lnTo>
                  <a:pt x="44450" y="222250"/>
                </a:lnTo>
                <a:lnTo>
                  <a:pt x="47948" y="239551"/>
                </a:lnTo>
                <a:lnTo>
                  <a:pt x="57483" y="253680"/>
                </a:lnTo>
                <a:lnTo>
                  <a:pt x="71614" y="263206"/>
                </a:lnTo>
                <a:lnTo>
                  <a:pt x="88900" y="266700"/>
                </a:lnTo>
                <a:lnTo>
                  <a:pt x="71614" y="270193"/>
                </a:lnTo>
                <a:lnTo>
                  <a:pt x="57483" y="279719"/>
                </a:lnTo>
                <a:lnTo>
                  <a:pt x="47948" y="293848"/>
                </a:lnTo>
                <a:lnTo>
                  <a:pt x="44450" y="311150"/>
                </a:lnTo>
                <a:lnTo>
                  <a:pt x="44450" y="488950"/>
                </a:lnTo>
                <a:lnTo>
                  <a:pt x="40951" y="506251"/>
                </a:lnTo>
                <a:lnTo>
                  <a:pt x="31416" y="520380"/>
                </a:lnTo>
                <a:lnTo>
                  <a:pt x="17285" y="529906"/>
                </a:lnTo>
                <a:lnTo>
                  <a:pt x="0" y="533400"/>
                </a:lnTo>
              </a:path>
            </a:pathLst>
          </a:custGeom>
          <a:ln w="50292">
            <a:solidFill>
              <a:srgbClr val="AE34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75628" y="5937910"/>
            <a:ext cx="1685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Perpetua"/>
                <a:cs typeface="Perpetua"/>
              </a:rPr>
              <a:t>Implement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184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65" dirty="0"/>
              <a:t>To </a:t>
            </a:r>
            <a:r>
              <a:rPr spc="-5" dirty="0"/>
              <a:t>design and implement a</a:t>
            </a:r>
            <a:r>
              <a:rPr spc="-365" dirty="0"/>
              <a:t> </a:t>
            </a:r>
            <a:r>
              <a:rPr spc="-5" dirty="0"/>
              <a:t>Robot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37659"/>
            <a:ext cx="8542020" cy="423799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33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Robot </a:t>
            </a:r>
            <a:r>
              <a:rPr sz="2600" dirty="0">
                <a:latin typeface="Perpetua"/>
                <a:cs typeface="Perpetua"/>
              </a:rPr>
              <a:t>is based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user input </a:t>
            </a:r>
            <a:r>
              <a:rPr sz="2600" spc="-5" dirty="0">
                <a:latin typeface="Perpetua"/>
                <a:cs typeface="Perpetua"/>
              </a:rPr>
              <a:t>from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keyboard.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2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Requirements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Specification: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5" dirty="0">
                <a:latin typeface="Perpetua"/>
                <a:cs typeface="Perpetua"/>
              </a:rPr>
              <a:t>Develop </a:t>
            </a:r>
            <a:r>
              <a:rPr sz="2600" dirty="0">
                <a:latin typeface="Perpetua"/>
                <a:cs typeface="Perpetua"/>
              </a:rPr>
              <a:t>a program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does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following:</a:t>
            </a:r>
            <a:endParaRPr sz="2600">
              <a:latin typeface="Perpetua"/>
              <a:cs typeface="Perpetua"/>
            </a:endParaRPr>
          </a:p>
          <a:p>
            <a:pPr marL="910590" lvl="2" indent="-304165">
              <a:lnSpc>
                <a:spcPct val="100000"/>
              </a:lnSpc>
              <a:spcBef>
                <a:spcPts val="1035"/>
              </a:spcBef>
              <a:buSzPct val="84615"/>
              <a:buFont typeface="Arial"/>
              <a:buChar char="•"/>
              <a:tabLst>
                <a:tab pos="909955" algn="l"/>
                <a:tab pos="911225" algn="l"/>
              </a:tabLst>
            </a:pPr>
            <a:r>
              <a:rPr sz="2600" spc="-15" dirty="0">
                <a:latin typeface="Perpetua"/>
                <a:cs typeface="Perpetua"/>
              </a:rPr>
              <a:t>Display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menu of </a:t>
            </a:r>
            <a:r>
              <a:rPr sz="2600" spc="5" dirty="0">
                <a:latin typeface="Perpetua"/>
                <a:cs typeface="Perpetua"/>
              </a:rPr>
              <a:t>choices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0" dirty="0">
                <a:latin typeface="Perpetua"/>
                <a:cs typeface="Perpetua"/>
              </a:rPr>
              <a:t>robot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motion.</a:t>
            </a:r>
            <a:endParaRPr sz="2600">
              <a:latin typeface="Perpetua"/>
              <a:cs typeface="Perpetua"/>
            </a:endParaRPr>
          </a:p>
          <a:p>
            <a:pPr marL="910590" lvl="2" indent="-304165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909955" algn="l"/>
                <a:tab pos="911225" algn="l"/>
              </a:tabLst>
            </a:pPr>
            <a:r>
              <a:rPr sz="2600" spc="-5" dirty="0">
                <a:latin typeface="Perpetua"/>
                <a:cs typeface="Perpetua"/>
              </a:rPr>
              <a:t>Read </a:t>
            </a:r>
            <a:r>
              <a:rPr sz="2600" spc="-10" dirty="0">
                <a:latin typeface="Perpetua"/>
                <a:cs typeface="Perpetua"/>
              </a:rPr>
              <a:t>keyboard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input.</a:t>
            </a:r>
            <a:endParaRPr sz="2600">
              <a:latin typeface="Perpetua"/>
              <a:cs typeface="Perpetua"/>
            </a:endParaRPr>
          </a:p>
          <a:p>
            <a:pPr marL="835660" lvl="2" indent="-229235">
              <a:lnSpc>
                <a:spcPct val="100000"/>
              </a:lnSpc>
              <a:spcBef>
                <a:spcPts val="1019"/>
              </a:spcBef>
              <a:buSzPct val="84615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5" dirty="0">
                <a:latin typeface="Perpetua"/>
                <a:cs typeface="Perpetua"/>
              </a:rPr>
              <a:t>Robot </a:t>
            </a:r>
            <a:r>
              <a:rPr sz="2600" dirty="0">
                <a:latin typeface="Perpetua"/>
                <a:cs typeface="Perpetua"/>
              </a:rPr>
              <a:t>based </a:t>
            </a: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spc="-15" dirty="0">
                <a:latin typeface="Perpetua"/>
                <a:cs typeface="Perpetua"/>
              </a:rPr>
              <a:t>keyboard </a:t>
            </a:r>
            <a:r>
              <a:rPr sz="2600" spc="-5" dirty="0">
                <a:latin typeface="Perpetua"/>
                <a:cs typeface="Perpetua"/>
              </a:rPr>
              <a:t>input.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2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Input can be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one of </a:t>
            </a:r>
            <a:r>
              <a:rPr sz="2600" dirty="0">
                <a:latin typeface="Perpetua"/>
                <a:cs typeface="Perpetua"/>
              </a:rPr>
              <a:t>4 </a:t>
            </a:r>
            <a:r>
              <a:rPr sz="2600" spc="-10" dirty="0">
                <a:latin typeface="Perpetua"/>
                <a:cs typeface="Perpetua"/>
              </a:rPr>
              <a:t>arrows </a:t>
            </a:r>
            <a:r>
              <a:rPr sz="2600" spc="-15" dirty="0">
                <a:latin typeface="Perpetua"/>
                <a:cs typeface="Perpetua"/>
              </a:rPr>
              <a:t>showing </a:t>
            </a:r>
            <a:r>
              <a:rPr sz="2600" spc="-20" dirty="0">
                <a:latin typeface="Perpetua"/>
                <a:cs typeface="Perpetua"/>
              </a:rPr>
              <a:t>movement up, down,  </a:t>
            </a:r>
            <a:r>
              <a:rPr sz="2600" spc="-5" dirty="0">
                <a:latin typeface="Perpetua"/>
                <a:cs typeface="Perpetua"/>
              </a:rPr>
              <a:t>left,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right.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64112" y="2057400"/>
            <a:ext cx="1553644" cy="21160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357886"/>
            <a:ext cx="3540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Analysis </a:t>
            </a:r>
            <a:r>
              <a:rPr spc="-5" dirty="0"/>
              <a:t>and</a:t>
            </a:r>
            <a:r>
              <a:rPr spc="-35" dirty="0"/>
              <a:t> </a:t>
            </a:r>
            <a:r>
              <a:rPr spc="-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20212"/>
            <a:ext cx="6396355" cy="4455795"/>
          </a:xfrm>
          <a:prstGeom prst="rect">
            <a:avLst/>
          </a:prstGeom>
        </p:spPr>
        <p:txBody>
          <a:bodyPr vert="horz" wrap="square" lIns="0" tIns="213995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1685"/>
              </a:spcBef>
              <a:buSzPct val="83928"/>
              <a:buFont typeface="Arial"/>
              <a:buChar char="•"/>
              <a:tabLst>
                <a:tab pos="339725" algn="l"/>
                <a:tab pos="340360" algn="l"/>
              </a:tabLst>
            </a:pPr>
            <a:r>
              <a:rPr sz="2800" spc="-15" dirty="0">
                <a:latin typeface="Perpetua"/>
                <a:cs typeface="Perpetua"/>
              </a:rPr>
              <a:t>Analysis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36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Input = A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10" dirty="0">
                <a:latin typeface="Perpetua"/>
                <a:cs typeface="Perpetua"/>
              </a:rPr>
              <a:t>keyboard</a:t>
            </a:r>
            <a:r>
              <a:rPr sz="2400" spc="-2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input.</a:t>
            </a:r>
            <a:endParaRPr sz="24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260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dirty="0">
                <a:latin typeface="Perpetua"/>
                <a:cs typeface="Perpetua"/>
              </a:rPr>
              <a:t>Output = </a:t>
            </a:r>
            <a:r>
              <a:rPr sz="2400" spc="-5" dirty="0">
                <a:latin typeface="Perpetua"/>
                <a:cs typeface="Perpetua"/>
              </a:rPr>
              <a:t>Direction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robot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movement.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520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Design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1365"/>
              </a:spcBef>
              <a:buSzPct val="85416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400" spc="5" dirty="0">
                <a:latin typeface="Perpetua"/>
                <a:cs typeface="Perpetua"/>
              </a:rPr>
              <a:t>Algorithm</a:t>
            </a:r>
            <a:endParaRPr sz="2400">
              <a:latin typeface="Perpetua"/>
              <a:cs typeface="Perpetua"/>
            </a:endParaRPr>
          </a:p>
          <a:p>
            <a:pPr marL="1076325" lvl="2" indent="-515620">
              <a:lnSpc>
                <a:spcPct val="100000"/>
              </a:lnSpc>
              <a:spcBef>
                <a:spcPts val="1260"/>
              </a:spcBef>
              <a:buSzPct val="85416"/>
              <a:buAutoNum type="arabicPeriod"/>
              <a:tabLst>
                <a:tab pos="1076325" algn="l"/>
                <a:tab pos="1076960" algn="l"/>
              </a:tabLst>
            </a:pPr>
            <a:r>
              <a:rPr sz="2400" spc="-15" dirty="0">
                <a:latin typeface="Perpetua"/>
                <a:cs typeface="Perpetua"/>
              </a:rPr>
              <a:t>Display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menu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5" dirty="0">
                <a:latin typeface="Perpetua"/>
                <a:cs typeface="Perpetua"/>
              </a:rPr>
              <a:t>choices </a:t>
            </a:r>
            <a:r>
              <a:rPr sz="2400" dirty="0">
                <a:latin typeface="Perpetua"/>
                <a:cs typeface="Perpetua"/>
              </a:rPr>
              <a:t>for </a:t>
            </a:r>
            <a:r>
              <a:rPr sz="2400" spc="-5" dirty="0">
                <a:latin typeface="Perpetua"/>
                <a:cs typeface="Perpetua"/>
              </a:rPr>
              <a:t>Robot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movement.</a:t>
            </a:r>
            <a:endParaRPr sz="2400">
              <a:latin typeface="Perpetua"/>
              <a:cs typeface="Perpetua"/>
            </a:endParaRPr>
          </a:p>
          <a:p>
            <a:pPr marL="1076325" lvl="2" indent="-515620">
              <a:lnSpc>
                <a:spcPct val="100000"/>
              </a:lnSpc>
              <a:spcBef>
                <a:spcPts val="1260"/>
              </a:spcBef>
              <a:buSzPct val="85416"/>
              <a:buAutoNum type="arabicPeriod"/>
              <a:tabLst>
                <a:tab pos="1076325" algn="l"/>
                <a:tab pos="1076960" algn="l"/>
              </a:tabLst>
            </a:pPr>
            <a:r>
              <a:rPr sz="2400" spc="-5" dirty="0">
                <a:latin typeface="Perpetua"/>
                <a:cs typeface="Perpetua"/>
              </a:rPr>
              <a:t>Read request </a:t>
            </a:r>
            <a:r>
              <a:rPr sz="2400" spc="-10" dirty="0">
                <a:latin typeface="Perpetua"/>
                <a:cs typeface="Perpetua"/>
              </a:rPr>
              <a:t>from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45" dirty="0">
                <a:latin typeface="Perpetua"/>
                <a:cs typeface="Perpetua"/>
              </a:rPr>
              <a:t>user.</a:t>
            </a:r>
            <a:endParaRPr sz="2400">
              <a:latin typeface="Perpetua"/>
              <a:cs typeface="Perpetua"/>
            </a:endParaRPr>
          </a:p>
          <a:p>
            <a:pPr marL="1076325" lvl="2" indent="-515620">
              <a:lnSpc>
                <a:spcPct val="100000"/>
              </a:lnSpc>
              <a:spcBef>
                <a:spcPts val="1275"/>
              </a:spcBef>
              <a:buSzPct val="85416"/>
              <a:buAutoNum type="arabicPeriod"/>
              <a:tabLst>
                <a:tab pos="1076325" algn="l"/>
                <a:tab pos="1076960" algn="l"/>
              </a:tabLst>
            </a:pPr>
            <a:r>
              <a:rPr sz="2400" spc="-35" dirty="0">
                <a:latin typeface="Perpetua"/>
                <a:cs typeface="Perpetua"/>
              </a:rPr>
              <a:t>Move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robot </a:t>
            </a:r>
            <a:r>
              <a:rPr sz="2400" dirty="0">
                <a:latin typeface="Perpetua"/>
                <a:cs typeface="Perpetua"/>
              </a:rPr>
              <a:t>for the</a:t>
            </a:r>
            <a:r>
              <a:rPr sz="2400" spc="-5" dirty="0">
                <a:latin typeface="Perpetua"/>
                <a:cs typeface="Perpetua"/>
              </a:rPr>
              <a:t> request.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57886"/>
            <a:ext cx="46450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Divide into sub</a:t>
            </a:r>
            <a:r>
              <a:rPr spc="-25" dirty="0"/>
              <a:t> </a:t>
            </a:r>
            <a:r>
              <a:rPr spc="-20" dirty="0"/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83440"/>
            <a:ext cx="8528685" cy="438150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81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Algorithm </a:t>
            </a:r>
            <a:r>
              <a:rPr sz="2600" spc="-5" dirty="0">
                <a:latin typeface="Perpetua"/>
                <a:cs typeface="Perpetua"/>
              </a:rPr>
              <a:t>contains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sub-problems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1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spc="10" dirty="0">
                <a:latin typeface="Perpetua"/>
                <a:cs typeface="Perpetua"/>
              </a:rPr>
              <a:t>Print</a:t>
            </a:r>
            <a:r>
              <a:rPr sz="2600" spc="-5" dirty="0">
                <a:latin typeface="Perpetua"/>
                <a:cs typeface="Perpetua"/>
              </a:rPr>
              <a:t> menu.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2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spc="-5" dirty="0">
                <a:latin typeface="Perpetua"/>
                <a:cs typeface="Perpetua"/>
              </a:rPr>
              <a:t>Read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request.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10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spc="-35" dirty="0">
                <a:latin typeface="Perpetua"/>
                <a:cs typeface="Perpetua"/>
              </a:rPr>
              <a:t>Move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Robot.</a:t>
            </a:r>
            <a:endParaRPr sz="2600">
              <a:latin typeface="Perpetua"/>
              <a:cs typeface="Perpetua"/>
            </a:endParaRPr>
          </a:p>
          <a:p>
            <a:pPr marL="361315" indent="-349250">
              <a:lnSpc>
                <a:spcPct val="100000"/>
              </a:lnSpc>
              <a:spcBef>
                <a:spcPts val="915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sz="2600" spc="-5" dirty="0">
                <a:latin typeface="Perpetua"/>
                <a:cs typeface="Perpetua"/>
              </a:rPr>
              <a:t>Perform </a:t>
            </a:r>
            <a:r>
              <a:rPr sz="2600" spc="-15" dirty="0">
                <a:latin typeface="Perpetua"/>
                <a:cs typeface="Perpetua"/>
              </a:rPr>
              <a:t>top-down </a:t>
            </a:r>
            <a:r>
              <a:rPr sz="2600" spc="-5" dirty="0">
                <a:latin typeface="Perpetua"/>
                <a:cs typeface="Perpetua"/>
              </a:rPr>
              <a:t>stepwise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refinement.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0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Define </a:t>
            </a:r>
            <a:r>
              <a:rPr sz="2600" i="1" spc="-5" dirty="0">
                <a:latin typeface="Perpetua"/>
                <a:cs typeface="Perpetua"/>
              </a:rPr>
              <a:t>algorithms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10" dirty="0">
                <a:latin typeface="Perpetua"/>
                <a:cs typeface="Perpetua"/>
              </a:rPr>
              <a:t>sub-problems.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72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Refine them </a:t>
            </a:r>
            <a:r>
              <a:rPr sz="2600" i="1" dirty="0">
                <a:latin typeface="Perpetua"/>
                <a:cs typeface="Perpetua"/>
              </a:rPr>
              <a:t>- </a:t>
            </a:r>
            <a:r>
              <a:rPr sz="2600" i="1" spc="-30" dirty="0">
                <a:latin typeface="Perpetua"/>
                <a:cs typeface="Perpetua"/>
              </a:rPr>
              <a:t>may </a:t>
            </a:r>
            <a:r>
              <a:rPr sz="2600" i="1" dirty="0">
                <a:latin typeface="Perpetua"/>
                <a:cs typeface="Perpetua"/>
              </a:rPr>
              <a:t>need </a:t>
            </a:r>
            <a:r>
              <a:rPr sz="2600" i="1" spc="-5" dirty="0">
                <a:latin typeface="Perpetua"/>
                <a:cs typeface="Perpetua"/>
              </a:rPr>
              <a:t>to be broken </a:t>
            </a:r>
            <a:r>
              <a:rPr sz="2600" i="1" spc="-10" dirty="0">
                <a:latin typeface="Perpetua"/>
                <a:cs typeface="Perpetua"/>
              </a:rPr>
              <a:t>down </a:t>
            </a:r>
            <a:r>
              <a:rPr sz="2600" i="1" spc="-5" dirty="0">
                <a:latin typeface="Perpetua"/>
                <a:cs typeface="Perpetua"/>
              </a:rPr>
              <a:t>into</a:t>
            </a:r>
            <a:r>
              <a:rPr sz="2600" i="1" spc="4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sub-sub-problems.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1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At </a:t>
            </a:r>
            <a:r>
              <a:rPr sz="2600" i="1" spc="-15" dirty="0">
                <a:latin typeface="Perpetua"/>
                <a:cs typeface="Perpetua"/>
              </a:rPr>
              <a:t>lowest level, </a:t>
            </a:r>
            <a:r>
              <a:rPr sz="2600" i="1" spc="-5" dirty="0">
                <a:latin typeface="Perpetua"/>
                <a:cs typeface="Perpetua"/>
              </a:rPr>
              <a:t>assign name to </a:t>
            </a:r>
            <a:r>
              <a:rPr sz="2600" i="1" dirty="0">
                <a:latin typeface="Perpetua"/>
                <a:cs typeface="Perpetua"/>
              </a:rPr>
              <a:t>each </a:t>
            </a:r>
            <a:r>
              <a:rPr sz="2600" i="1" spc="-5" dirty="0">
                <a:latin typeface="Perpetua"/>
                <a:cs typeface="Perpetua"/>
              </a:rPr>
              <a:t>module </a:t>
            </a:r>
            <a:r>
              <a:rPr sz="2600" i="1" dirty="0">
                <a:latin typeface="Perpetua"/>
                <a:cs typeface="Perpetua"/>
              </a:rPr>
              <a:t>and </a:t>
            </a:r>
            <a:r>
              <a:rPr sz="2600" i="1" spc="-5" dirty="0">
                <a:latin typeface="Perpetua"/>
                <a:cs typeface="Perpetua"/>
              </a:rPr>
              <a:t>combine named modules  into higher </a:t>
            </a:r>
            <a:r>
              <a:rPr sz="2600" i="1" spc="-15" dirty="0">
                <a:latin typeface="Perpetua"/>
                <a:cs typeface="Perpetua"/>
              </a:rPr>
              <a:t>level </a:t>
            </a:r>
            <a:r>
              <a:rPr sz="2600" i="1" spc="-5" dirty="0">
                <a:latin typeface="Perpetua"/>
                <a:cs typeface="Perpetua"/>
              </a:rPr>
              <a:t>sub-problem</a:t>
            </a:r>
            <a:r>
              <a:rPr sz="2600" i="1" dirty="0">
                <a:latin typeface="Perpetua"/>
                <a:cs typeface="Perpetua"/>
              </a:rPr>
              <a:t> algorithm.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2301"/>
            <a:ext cx="7207884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Sub </a:t>
            </a:r>
            <a:r>
              <a:rPr spc="-15" dirty="0"/>
              <a:t>problem </a:t>
            </a:r>
            <a:r>
              <a:rPr spc="-10" dirty="0"/>
              <a:t>#1: </a:t>
            </a:r>
            <a:r>
              <a:rPr spc="15" dirty="0"/>
              <a:t>Print </a:t>
            </a:r>
            <a:r>
              <a:rPr spc="-5" dirty="0"/>
              <a:t>Menu and</a:t>
            </a:r>
            <a:r>
              <a:rPr spc="-170" dirty="0"/>
              <a:t> </a:t>
            </a:r>
            <a:r>
              <a:rPr spc="-10" dirty="0"/>
              <a:t>Read  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392897"/>
            <a:ext cx="7042784" cy="501523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725805" indent="-516255">
              <a:lnSpc>
                <a:spcPct val="100000"/>
              </a:lnSpc>
              <a:spcBef>
                <a:spcPts val="425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10" dirty="0">
                <a:latin typeface="Perpetua"/>
                <a:cs typeface="Perpetua"/>
              </a:rPr>
              <a:t>print </a:t>
            </a:r>
            <a:r>
              <a:rPr sz="2600" spc="-5" dirty="0">
                <a:latin typeface="Perpetua"/>
                <a:cs typeface="Perpetua"/>
              </a:rPr>
              <a:t>"</a:t>
            </a:r>
            <a:r>
              <a:rPr sz="2600" i="1" spc="-5" dirty="0">
                <a:latin typeface="Perpetua"/>
                <a:cs typeface="Perpetua"/>
              </a:rPr>
              <a:t>This </a:t>
            </a:r>
            <a:r>
              <a:rPr sz="2600" i="1" spc="-20" dirty="0">
                <a:latin typeface="Perpetua"/>
                <a:cs typeface="Perpetua"/>
              </a:rPr>
              <a:t>program moves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Robot </a:t>
            </a:r>
            <a:r>
              <a:rPr sz="2600" i="1" spc="-5" dirty="0">
                <a:latin typeface="Perpetua"/>
                <a:cs typeface="Perpetua"/>
              </a:rPr>
              <a:t>based </a:t>
            </a:r>
            <a:r>
              <a:rPr sz="2600" i="1" dirty="0">
                <a:latin typeface="Perpetua"/>
                <a:cs typeface="Perpetua"/>
              </a:rPr>
              <a:t>on </a:t>
            </a:r>
            <a:r>
              <a:rPr sz="2600" i="1" spc="-5" dirty="0">
                <a:latin typeface="Perpetua"/>
                <a:cs typeface="Perpetua"/>
              </a:rPr>
              <a:t>user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input.</a:t>
            </a:r>
            <a:r>
              <a:rPr sz="2600" spc="-5" dirty="0">
                <a:latin typeface="Perpetua"/>
                <a:cs typeface="Perpetua"/>
              </a:rPr>
              <a:t>"</a:t>
            </a:r>
            <a:endParaRPr sz="2600">
              <a:latin typeface="Perpetua"/>
              <a:cs typeface="Perpetua"/>
            </a:endParaRPr>
          </a:p>
          <a:p>
            <a:pPr marL="725805" indent="-516255">
              <a:lnSpc>
                <a:spcPct val="100000"/>
              </a:lnSpc>
              <a:spcBef>
                <a:spcPts val="334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5" dirty="0">
                <a:latin typeface="Perpetua"/>
                <a:cs typeface="Perpetua"/>
              </a:rPr>
              <a:t>print 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i="1" dirty="0">
                <a:latin typeface="Perpetua"/>
                <a:cs typeface="Perpetua"/>
              </a:rPr>
              <a:t>Enter </a:t>
            </a:r>
            <a:r>
              <a:rPr sz="2750" i="1" spc="-90" dirty="0">
                <a:latin typeface="Cambria Math"/>
                <a:cs typeface="Cambria Math"/>
              </a:rPr>
              <a:t>⇑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dirty="0">
                <a:latin typeface="Perpetua"/>
                <a:cs typeface="Perpetua"/>
              </a:rPr>
              <a:t>Robot</a:t>
            </a:r>
            <a:r>
              <a:rPr sz="2600" i="1" spc="5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forward</a:t>
            </a:r>
            <a:r>
              <a:rPr sz="2600" spc="-15" dirty="0">
                <a:latin typeface="Perpetua"/>
                <a:cs typeface="Perpetua"/>
              </a:rPr>
              <a:t>"</a:t>
            </a:r>
            <a:endParaRPr sz="2600">
              <a:latin typeface="Perpetua"/>
              <a:cs typeface="Perpetua"/>
            </a:endParaRPr>
          </a:p>
          <a:p>
            <a:pPr marL="725805" indent="-516255">
              <a:lnSpc>
                <a:spcPct val="100000"/>
              </a:lnSpc>
              <a:spcBef>
                <a:spcPts val="215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5" dirty="0">
                <a:latin typeface="Perpetua"/>
                <a:cs typeface="Perpetua"/>
              </a:rPr>
              <a:t>print 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i="1" dirty="0">
                <a:latin typeface="Perpetua"/>
                <a:cs typeface="Perpetua"/>
              </a:rPr>
              <a:t>Enter </a:t>
            </a:r>
            <a:r>
              <a:rPr sz="2750" i="1" spc="-130" dirty="0">
                <a:latin typeface="Cambria Math"/>
                <a:cs typeface="Cambria Math"/>
              </a:rPr>
              <a:t>⇐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dirty="0">
                <a:latin typeface="Perpetua"/>
                <a:cs typeface="Perpetua"/>
              </a:rPr>
              <a:t>Robot</a:t>
            </a:r>
            <a:r>
              <a:rPr sz="2600" i="1" spc="9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left</a:t>
            </a:r>
            <a:r>
              <a:rPr sz="2600" spc="-5" dirty="0">
                <a:latin typeface="Perpetua"/>
                <a:cs typeface="Perpetua"/>
              </a:rPr>
              <a:t>"</a:t>
            </a:r>
            <a:endParaRPr sz="2600">
              <a:latin typeface="Perpetua"/>
              <a:cs typeface="Perpetua"/>
            </a:endParaRPr>
          </a:p>
          <a:p>
            <a:pPr marL="725805" indent="-516255">
              <a:lnSpc>
                <a:spcPct val="100000"/>
              </a:lnSpc>
              <a:spcBef>
                <a:spcPts val="215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10" dirty="0">
                <a:latin typeface="Perpetua"/>
                <a:cs typeface="Perpetua"/>
              </a:rPr>
              <a:t>print 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i="1" dirty="0">
                <a:latin typeface="Perpetua"/>
                <a:cs typeface="Perpetua"/>
              </a:rPr>
              <a:t>Enter </a:t>
            </a:r>
            <a:r>
              <a:rPr sz="2750" i="1" spc="-125" dirty="0">
                <a:latin typeface="Cambria Math"/>
                <a:cs typeface="Cambria Math"/>
              </a:rPr>
              <a:t>⇒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dirty="0">
                <a:latin typeface="Perpetua"/>
                <a:cs typeface="Perpetua"/>
              </a:rPr>
              <a:t>Robot</a:t>
            </a:r>
            <a:r>
              <a:rPr sz="2600" i="1" spc="60" dirty="0">
                <a:latin typeface="Perpetua"/>
                <a:cs typeface="Perpetua"/>
              </a:rPr>
              <a:t> </a:t>
            </a:r>
            <a:r>
              <a:rPr sz="2600" i="1" spc="5" dirty="0">
                <a:latin typeface="Perpetua"/>
                <a:cs typeface="Perpetua"/>
              </a:rPr>
              <a:t>right</a:t>
            </a:r>
            <a:r>
              <a:rPr sz="2600" spc="5" dirty="0">
                <a:latin typeface="Perpetua"/>
                <a:cs typeface="Perpetua"/>
              </a:rPr>
              <a:t>"</a:t>
            </a:r>
            <a:endParaRPr sz="2600">
              <a:latin typeface="Perpetua"/>
              <a:cs typeface="Perpetua"/>
            </a:endParaRPr>
          </a:p>
          <a:p>
            <a:pPr marL="725805" indent="-516255">
              <a:lnSpc>
                <a:spcPct val="100000"/>
              </a:lnSpc>
              <a:spcBef>
                <a:spcPts val="229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5" dirty="0">
                <a:latin typeface="Perpetua"/>
                <a:cs typeface="Perpetua"/>
              </a:rPr>
              <a:t>print </a:t>
            </a:r>
            <a:r>
              <a:rPr sz="2600" dirty="0">
                <a:latin typeface="Perpetua"/>
                <a:cs typeface="Perpetua"/>
              </a:rPr>
              <a:t>"</a:t>
            </a:r>
            <a:r>
              <a:rPr sz="2600" i="1" dirty="0">
                <a:latin typeface="Perpetua"/>
                <a:cs typeface="Perpetua"/>
              </a:rPr>
              <a:t>Enter </a:t>
            </a:r>
            <a:r>
              <a:rPr sz="2750" i="1" spc="-90" dirty="0">
                <a:latin typeface="Cambria Math"/>
                <a:cs typeface="Cambria Math"/>
              </a:rPr>
              <a:t>⇓ </a:t>
            </a:r>
            <a:r>
              <a:rPr sz="2600" i="1" dirty="0">
                <a:latin typeface="Perpetua"/>
                <a:cs typeface="Perpetua"/>
              </a:rPr>
              <a:t>to </a:t>
            </a:r>
            <a:r>
              <a:rPr sz="2600" i="1" spc="-25" dirty="0">
                <a:latin typeface="Perpetua"/>
                <a:cs typeface="Perpetua"/>
              </a:rPr>
              <a:t>move </a:t>
            </a:r>
            <a:r>
              <a:rPr sz="2600" i="1" dirty="0">
                <a:latin typeface="Perpetua"/>
                <a:cs typeface="Perpetua"/>
              </a:rPr>
              <a:t>Robot</a:t>
            </a:r>
            <a:r>
              <a:rPr sz="2600" i="1" spc="55" dirty="0">
                <a:latin typeface="Perpetua"/>
                <a:cs typeface="Perpetua"/>
              </a:rPr>
              <a:t> </a:t>
            </a:r>
            <a:r>
              <a:rPr sz="2600" i="1" spc="-15" dirty="0">
                <a:latin typeface="Perpetua"/>
                <a:cs typeface="Perpetua"/>
              </a:rPr>
              <a:t>backward</a:t>
            </a:r>
            <a:r>
              <a:rPr sz="2600" spc="-15" dirty="0">
                <a:latin typeface="Perpetua"/>
                <a:cs typeface="Perpetua"/>
              </a:rPr>
              <a:t>"</a:t>
            </a:r>
            <a:endParaRPr sz="2600">
              <a:latin typeface="Perpetua"/>
              <a:cs typeface="Perpetua"/>
            </a:endParaRPr>
          </a:p>
          <a:p>
            <a:pPr marL="725805" indent="-516255">
              <a:lnSpc>
                <a:spcPts val="2920"/>
              </a:lnSpc>
              <a:spcBef>
                <a:spcPts val="295"/>
              </a:spcBef>
              <a:buSzPct val="84615"/>
              <a:buAutoNum type="arabicPeriod"/>
              <a:tabLst>
                <a:tab pos="725805" algn="l"/>
                <a:tab pos="726440" algn="l"/>
              </a:tabLst>
            </a:pPr>
            <a:r>
              <a:rPr sz="2600" spc="-5" dirty="0">
                <a:latin typeface="Perpetua"/>
                <a:cs typeface="Perpetua"/>
              </a:rPr>
              <a:t>read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request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ts val="4600"/>
              </a:lnSpc>
            </a:pPr>
            <a:r>
              <a:rPr sz="4000" spc="-5" dirty="0">
                <a:latin typeface="Perpetua"/>
                <a:cs typeface="Perpetua"/>
              </a:rPr>
              <a:t>Sub </a:t>
            </a:r>
            <a:r>
              <a:rPr sz="4000" spc="-15" dirty="0">
                <a:latin typeface="Perpetua"/>
                <a:cs typeface="Perpetua"/>
              </a:rPr>
              <a:t>problem </a:t>
            </a:r>
            <a:r>
              <a:rPr sz="4000" spc="-10" dirty="0">
                <a:latin typeface="Perpetua"/>
                <a:cs typeface="Perpetua"/>
              </a:rPr>
              <a:t>#2: </a:t>
            </a:r>
            <a:r>
              <a:rPr sz="4000" spc="-55" dirty="0">
                <a:latin typeface="Perpetua"/>
                <a:cs typeface="Perpetua"/>
              </a:rPr>
              <a:t>Move</a:t>
            </a:r>
            <a:r>
              <a:rPr sz="4000" spc="-145" dirty="0">
                <a:latin typeface="Perpetua"/>
                <a:cs typeface="Perpetua"/>
              </a:rPr>
              <a:t> </a:t>
            </a:r>
            <a:r>
              <a:rPr sz="4000" dirty="0">
                <a:latin typeface="Perpetua"/>
                <a:cs typeface="Perpetua"/>
              </a:rPr>
              <a:t>Robot</a:t>
            </a:r>
            <a:endParaRPr sz="4000">
              <a:latin typeface="Perpetua"/>
              <a:cs typeface="Perpetua"/>
            </a:endParaRPr>
          </a:p>
          <a:p>
            <a:pPr marL="1000125" lvl="1" indent="-515620">
              <a:lnSpc>
                <a:spcPct val="100000"/>
              </a:lnSpc>
              <a:spcBef>
                <a:spcPts val="155"/>
              </a:spcBef>
              <a:buSzPct val="84615"/>
              <a:buAutoNum type="arabicPeriod"/>
              <a:tabLst>
                <a:tab pos="1000125" algn="l"/>
                <a:tab pos="1000760" algn="l"/>
              </a:tabLst>
            </a:pPr>
            <a:r>
              <a:rPr sz="2600" spc="-5" dirty="0">
                <a:latin typeface="Perpetua"/>
                <a:cs typeface="Perpetua"/>
              </a:rPr>
              <a:t>If request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dirty="0">
                <a:latin typeface="Cambria Math"/>
                <a:cs typeface="Cambria Math"/>
              </a:rPr>
              <a:t>⇑ </a:t>
            </a: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10" dirty="0">
                <a:latin typeface="Perpetua"/>
                <a:cs typeface="Perpetua"/>
              </a:rPr>
              <a:t>robot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forward</a:t>
            </a:r>
            <a:endParaRPr sz="2600">
              <a:latin typeface="Perpetua"/>
              <a:cs typeface="Perpetua"/>
            </a:endParaRPr>
          </a:p>
          <a:p>
            <a:pPr marL="1000125" lvl="1" indent="-515620">
              <a:lnSpc>
                <a:spcPct val="100000"/>
              </a:lnSpc>
              <a:spcBef>
                <a:spcPts val="405"/>
              </a:spcBef>
              <a:buSzPct val="84615"/>
              <a:buAutoNum type="arabicPeriod"/>
              <a:tabLst>
                <a:tab pos="1000125" algn="l"/>
                <a:tab pos="1000760" algn="l"/>
              </a:tabLst>
            </a:pPr>
            <a:r>
              <a:rPr sz="2600" dirty="0">
                <a:latin typeface="Perpetua"/>
                <a:cs typeface="Perpetua"/>
              </a:rPr>
              <a:t>Else if </a:t>
            </a:r>
            <a:r>
              <a:rPr sz="2600" spc="-5" dirty="0">
                <a:latin typeface="Perpetua"/>
                <a:cs typeface="Perpetua"/>
              </a:rPr>
              <a:t>request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dirty="0">
                <a:latin typeface="Cambria Math"/>
                <a:cs typeface="Cambria Math"/>
              </a:rPr>
              <a:t>⇐ </a:t>
            </a: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10" dirty="0">
                <a:latin typeface="Perpetua"/>
                <a:cs typeface="Perpetua"/>
              </a:rPr>
              <a:t>robot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left</a:t>
            </a:r>
            <a:endParaRPr sz="2600">
              <a:latin typeface="Perpetua"/>
              <a:cs typeface="Perpetua"/>
            </a:endParaRPr>
          </a:p>
          <a:p>
            <a:pPr marL="1000125" lvl="1" indent="-515620">
              <a:lnSpc>
                <a:spcPct val="100000"/>
              </a:lnSpc>
              <a:spcBef>
                <a:spcPts val="395"/>
              </a:spcBef>
              <a:buSzPct val="84615"/>
              <a:buAutoNum type="arabicPeriod"/>
              <a:tabLst>
                <a:tab pos="1000125" algn="l"/>
                <a:tab pos="1000760" algn="l"/>
              </a:tabLst>
            </a:pPr>
            <a:r>
              <a:rPr sz="2600" dirty="0">
                <a:latin typeface="Perpetua"/>
                <a:cs typeface="Perpetua"/>
              </a:rPr>
              <a:t>Else if </a:t>
            </a:r>
            <a:r>
              <a:rPr sz="2600" spc="-5" dirty="0">
                <a:latin typeface="Perpetua"/>
                <a:cs typeface="Perpetua"/>
              </a:rPr>
              <a:t>request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5" dirty="0">
                <a:latin typeface="Cambria Math"/>
                <a:cs typeface="Cambria Math"/>
              </a:rPr>
              <a:t>⇒ </a:t>
            </a: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10" dirty="0">
                <a:latin typeface="Perpetua"/>
                <a:cs typeface="Perpetua"/>
              </a:rPr>
              <a:t>robot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right</a:t>
            </a:r>
            <a:endParaRPr sz="2600">
              <a:latin typeface="Perpetua"/>
              <a:cs typeface="Perpetua"/>
            </a:endParaRPr>
          </a:p>
          <a:p>
            <a:pPr marL="1000125" lvl="1" indent="-515620">
              <a:lnSpc>
                <a:spcPct val="100000"/>
              </a:lnSpc>
              <a:spcBef>
                <a:spcPts val="400"/>
              </a:spcBef>
              <a:buSzPct val="84615"/>
              <a:buAutoNum type="arabicPeriod"/>
              <a:tabLst>
                <a:tab pos="1000125" algn="l"/>
                <a:tab pos="1000760" algn="l"/>
              </a:tabLst>
            </a:pPr>
            <a:r>
              <a:rPr sz="2600" dirty="0">
                <a:latin typeface="Perpetua"/>
                <a:cs typeface="Perpetua"/>
              </a:rPr>
              <a:t>Else if </a:t>
            </a:r>
            <a:r>
              <a:rPr sz="2600" spc="-5" dirty="0">
                <a:latin typeface="Perpetua"/>
                <a:cs typeface="Perpetua"/>
              </a:rPr>
              <a:t>request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dirty="0">
                <a:latin typeface="Cambria Math"/>
                <a:cs typeface="Cambria Math"/>
              </a:rPr>
              <a:t>⇓ </a:t>
            </a:r>
            <a:r>
              <a:rPr sz="2600" spc="-35" dirty="0">
                <a:latin typeface="Perpetua"/>
                <a:cs typeface="Perpetua"/>
              </a:rPr>
              <a:t>move </a:t>
            </a:r>
            <a:r>
              <a:rPr sz="2600" spc="-10" dirty="0">
                <a:latin typeface="Perpetua"/>
                <a:cs typeface="Perpetua"/>
              </a:rPr>
              <a:t>robot</a:t>
            </a:r>
            <a:r>
              <a:rPr sz="2600" dirty="0">
                <a:latin typeface="Perpetua"/>
                <a:cs typeface="Perpetua"/>
              </a:rPr>
              <a:t> backward.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5365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Modularization</a:t>
            </a:r>
            <a:r>
              <a:rPr spc="-30" dirty="0"/>
              <a:t> </a:t>
            </a:r>
            <a:r>
              <a:rPr spc="5" dirty="0"/>
              <a:t>characteristics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663420"/>
            <a:ext cx="8529320" cy="4151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1400175" indent="-274320">
              <a:lnSpc>
                <a:spcPct val="1192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5" dirty="0">
                <a:latin typeface="Perpetua"/>
                <a:cs typeface="Perpetua"/>
              </a:rPr>
              <a:t>Manageable</a:t>
            </a:r>
            <a:r>
              <a:rPr sz="2600" spc="-15" dirty="0">
                <a:latin typeface="Perpetua"/>
                <a:cs typeface="Perpetua"/>
              </a:rPr>
              <a:t>: </a:t>
            </a:r>
            <a:r>
              <a:rPr sz="2600" spc="-5" dirty="0">
                <a:latin typeface="Perpetua"/>
                <a:cs typeface="Perpetua"/>
              </a:rPr>
              <a:t>Reduce </a:t>
            </a:r>
            <a:r>
              <a:rPr sz="2600" spc="-10" dirty="0">
                <a:latin typeface="Perpetua"/>
                <a:cs typeface="Perpetua"/>
              </a:rPr>
              <a:t>problem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30" dirty="0">
                <a:latin typeface="Perpetua"/>
                <a:cs typeface="Perpetua"/>
              </a:rPr>
              <a:t>smaller, simpler,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humanly  comprehensible </a:t>
            </a:r>
            <a:r>
              <a:rPr sz="2600" dirty="0">
                <a:latin typeface="Perpetua"/>
                <a:cs typeface="Perpetua"/>
              </a:rPr>
              <a:t>sub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problems.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5" dirty="0">
                <a:latin typeface="Perpetua"/>
                <a:cs typeface="Perpetua"/>
              </a:rPr>
              <a:t>Divisible</a:t>
            </a:r>
            <a:r>
              <a:rPr sz="2600" spc="-5" dirty="0">
                <a:latin typeface="Perpetua"/>
                <a:cs typeface="Perpetua"/>
              </a:rPr>
              <a:t>: Modules can be assigned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different teams/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programmers.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spc="-10" dirty="0">
                <a:latin typeface="Perpetua"/>
                <a:cs typeface="Perpetua"/>
              </a:rPr>
              <a:t>Enables parallel work, </a:t>
            </a:r>
            <a:r>
              <a:rPr sz="2600" i="1" spc="-5" dirty="0">
                <a:latin typeface="Perpetua"/>
                <a:cs typeface="Perpetua"/>
              </a:rPr>
              <a:t>reducing </a:t>
            </a:r>
            <a:r>
              <a:rPr sz="2600" i="1" spc="-20" dirty="0">
                <a:latin typeface="Perpetua"/>
                <a:cs typeface="Perpetua"/>
              </a:rPr>
              <a:t>program </a:t>
            </a:r>
            <a:r>
              <a:rPr sz="2600" i="1" spc="-5" dirty="0">
                <a:latin typeface="Perpetua"/>
                <a:cs typeface="Perpetua"/>
              </a:rPr>
              <a:t>development</a:t>
            </a:r>
            <a:r>
              <a:rPr sz="2600" i="1" spc="-33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time.</a:t>
            </a:r>
            <a:endParaRPr sz="2600">
              <a:latin typeface="Perpetua"/>
              <a:cs typeface="Perpetua"/>
            </a:endParaRPr>
          </a:p>
          <a:p>
            <a:pPr marL="561340" lvl="1" indent="-229235">
              <a:lnSpc>
                <a:spcPct val="100000"/>
              </a:lnSpc>
              <a:spcBef>
                <a:spcPts val="409"/>
              </a:spcBef>
              <a:buSzPct val="80769"/>
              <a:buFont typeface="Wingdings"/>
              <a:buChar char=""/>
              <a:tabLst>
                <a:tab pos="561975" algn="l"/>
              </a:tabLst>
            </a:pPr>
            <a:r>
              <a:rPr sz="2600" i="1" spc="-20" dirty="0">
                <a:latin typeface="Perpetua"/>
                <a:cs typeface="Perpetua"/>
              </a:rPr>
              <a:t>Facilitates </a:t>
            </a:r>
            <a:r>
              <a:rPr sz="2600" i="1" spc="-15" dirty="0">
                <a:latin typeface="Perpetua"/>
                <a:cs typeface="Perpetua"/>
              </a:rPr>
              <a:t>programming,</a:t>
            </a:r>
            <a:r>
              <a:rPr sz="2600" i="1" spc="-27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debugging,</a:t>
            </a:r>
            <a:r>
              <a:rPr sz="2600" i="1" spc="-24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testing,</a:t>
            </a:r>
            <a:r>
              <a:rPr sz="2600" i="1" spc="-2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maintenance.</a:t>
            </a:r>
            <a:endParaRPr sz="2600">
              <a:latin typeface="Perpetua"/>
              <a:cs typeface="Perpetua"/>
            </a:endParaRPr>
          </a:p>
          <a:p>
            <a:pPr marL="286385" marR="1079500" indent="-274320">
              <a:lnSpc>
                <a:spcPts val="3720"/>
              </a:lnSpc>
              <a:spcBef>
                <a:spcPts val="2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i="1" spc="-10" dirty="0">
                <a:latin typeface="Perpetua"/>
                <a:cs typeface="Perpetua"/>
              </a:rPr>
              <a:t>Portable</a:t>
            </a:r>
            <a:r>
              <a:rPr sz="2600" spc="-10" dirty="0">
                <a:latin typeface="Perpetua"/>
                <a:cs typeface="Perpetua"/>
              </a:rPr>
              <a:t>: </a:t>
            </a:r>
            <a:r>
              <a:rPr sz="2600" spc="-5" dirty="0">
                <a:latin typeface="Perpetua"/>
                <a:cs typeface="Perpetua"/>
              </a:rPr>
              <a:t>Individual modules 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modified to </a:t>
            </a:r>
            <a:r>
              <a:rPr sz="2600" spc="20" dirty="0">
                <a:latin typeface="Perpetua"/>
                <a:cs typeface="Perpetua"/>
              </a:rPr>
              <a:t>run </a:t>
            </a:r>
            <a:r>
              <a:rPr sz="2600" spc="-5" dirty="0">
                <a:latin typeface="Perpetua"/>
                <a:cs typeface="Perpetua"/>
              </a:rPr>
              <a:t>on other  platforms.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38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559560" algn="l"/>
                <a:tab pos="2747010" algn="l"/>
                <a:tab pos="3307715" algn="l"/>
                <a:tab pos="3754120" algn="l"/>
                <a:tab pos="4803140" algn="l"/>
                <a:tab pos="5732780" algn="l"/>
                <a:tab pos="6017895" algn="l"/>
                <a:tab pos="7211695" algn="l"/>
                <a:tab pos="7799705" algn="l"/>
              </a:tabLst>
            </a:pPr>
            <a:r>
              <a:rPr sz="2600" i="1" dirty="0">
                <a:latin typeface="Perpetua"/>
                <a:cs typeface="Perpetua"/>
              </a:rPr>
              <a:t>Re-u</a:t>
            </a:r>
            <a:r>
              <a:rPr sz="2600" i="1" spc="-10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-40" dirty="0">
                <a:latin typeface="Perpetua"/>
                <a:cs typeface="Perpetua"/>
              </a:rPr>
              <a:t>b</a:t>
            </a:r>
            <a:r>
              <a:rPr sz="2600" i="1" spc="-5" dirty="0">
                <a:latin typeface="Perpetua"/>
                <a:cs typeface="Perpetua"/>
              </a:rPr>
              <a:t>le</a:t>
            </a:r>
            <a:r>
              <a:rPr sz="2600" dirty="0">
                <a:latin typeface="Perpetua"/>
                <a:cs typeface="Perpetua"/>
              </a:rPr>
              <a:t>:	</a:t>
            </a:r>
            <a:r>
              <a:rPr sz="2600" spc="-20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ules	c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spc="-15" dirty="0">
                <a:latin typeface="Perpetua"/>
                <a:cs typeface="Perpetua"/>
              </a:rPr>
              <a:t>e</a:t>
            </a:r>
            <a:r>
              <a:rPr sz="2600" dirty="0">
                <a:latin typeface="Perpetua"/>
                <a:cs typeface="Perpetua"/>
              </a:rPr>
              <a:t>-u</a:t>
            </a:r>
            <a:r>
              <a:rPr sz="2600" spc="-20" dirty="0">
                <a:latin typeface="Perpetua"/>
                <a:cs typeface="Perpetua"/>
              </a:rPr>
              <a:t>s</a:t>
            </a:r>
            <a:r>
              <a:rPr sz="2600" dirty="0">
                <a:latin typeface="Perpetua"/>
                <a:cs typeface="Perpetua"/>
              </a:rPr>
              <a:t>ed	within	a	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30" dirty="0">
                <a:latin typeface="Perpetua"/>
                <a:cs typeface="Perpetua"/>
              </a:rPr>
              <a:t>g</a:t>
            </a:r>
            <a:r>
              <a:rPr sz="2600" spc="-5" dirty="0">
                <a:latin typeface="Perpetua"/>
                <a:cs typeface="Perpetua"/>
              </a:rPr>
              <a:t>ra</a:t>
            </a:r>
            <a:r>
              <a:rPr sz="2600" dirty="0">
                <a:latin typeface="Perpetua"/>
                <a:cs typeface="Perpetua"/>
              </a:rPr>
              <a:t>m	</a:t>
            </a:r>
            <a:r>
              <a:rPr sz="2600" spc="-5" dirty="0">
                <a:latin typeface="Perpetua"/>
                <a:cs typeface="Perpetua"/>
              </a:rPr>
              <a:t>an</a:t>
            </a:r>
            <a:r>
              <a:rPr sz="2600" dirty="0">
                <a:latin typeface="Perpetua"/>
                <a:cs typeface="Perpetua"/>
              </a:rPr>
              <a:t>d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c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oss  </a:t>
            </a:r>
            <a:r>
              <a:rPr sz="2600" spc="-5" dirty="0">
                <a:latin typeface="Perpetua"/>
                <a:cs typeface="Perpetua"/>
              </a:rPr>
              <a:t>programs.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0" y="0"/>
            <a:ext cx="2362200" cy="1879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6654" y="6071300"/>
            <a:ext cx="2179355" cy="402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75" dirty="0"/>
              <a:t>Value </a:t>
            </a:r>
            <a:r>
              <a:rPr dirty="0"/>
              <a:t>of </a:t>
            </a:r>
            <a:r>
              <a:rPr spc="-5" dirty="0"/>
              <a:t>this</a:t>
            </a:r>
            <a:r>
              <a:rPr spc="-10" dirty="0"/>
              <a:t> </a:t>
            </a:r>
            <a:r>
              <a:rPr spc="5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976630"/>
            <a:ext cx="8531225" cy="51130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7620" indent="-274320" algn="just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Applications are </a:t>
            </a:r>
            <a:r>
              <a:rPr sz="2600" spc="-5" dirty="0">
                <a:latin typeface="Perpetua"/>
                <a:cs typeface="Perpetua"/>
              </a:rPr>
              <a:t>getting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complicated (</a:t>
            </a:r>
            <a:r>
              <a:rPr sz="2600" i="1" spc="-5" dirty="0">
                <a:latin typeface="Perpetua"/>
                <a:cs typeface="Perpetua"/>
              </a:rPr>
              <a:t>growing in </a:t>
            </a:r>
            <a:r>
              <a:rPr sz="2600" i="1" spc="-15" dirty="0">
                <a:latin typeface="Perpetua"/>
                <a:cs typeface="Perpetua"/>
              </a:rPr>
              <a:t>size </a:t>
            </a:r>
            <a:r>
              <a:rPr sz="2600" i="1" spc="55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and</a:t>
            </a:r>
            <a:r>
              <a:rPr sz="2600" i="1" spc="-2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functionality</a:t>
            </a:r>
            <a:r>
              <a:rPr sz="2600" spc="-5" dirty="0">
                <a:latin typeface="Perpetua"/>
                <a:cs typeface="Perpetua"/>
              </a:rPr>
              <a:t>).</a:t>
            </a:r>
            <a:endParaRPr sz="2600">
              <a:latin typeface="Perpetua"/>
              <a:cs typeface="Perpetua"/>
            </a:endParaRPr>
          </a:p>
          <a:p>
            <a:pPr marL="286385" marR="8255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dirty="0">
                <a:latin typeface="Perpetua"/>
                <a:cs typeface="Perpetua"/>
              </a:rPr>
              <a:t>is necessary </a:t>
            </a:r>
            <a:r>
              <a:rPr sz="2600" spc="-5" dirty="0">
                <a:latin typeface="Perpetua"/>
                <a:cs typeface="Perpetua"/>
              </a:rPr>
              <a:t>to separate </a:t>
            </a:r>
            <a:r>
              <a:rPr sz="2600" dirty="0">
                <a:latin typeface="Perpetua"/>
                <a:cs typeface="Perpetua"/>
              </a:rPr>
              <a:t>them into individual pieces (whether </a:t>
            </a:r>
            <a:r>
              <a:rPr sz="2600" spc="-5" dirty="0">
                <a:latin typeface="Perpetua"/>
                <a:cs typeface="Perpetua"/>
              </a:rPr>
              <a:t>as </a:t>
            </a:r>
            <a:r>
              <a:rPr sz="2600" spc="57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“</a:t>
            </a:r>
            <a:r>
              <a:rPr sz="2600" i="1" spc="-20" dirty="0">
                <a:latin typeface="Perpetua"/>
                <a:cs typeface="Perpetua"/>
              </a:rPr>
              <a:t>components</a:t>
            </a:r>
            <a:r>
              <a:rPr sz="2600" spc="-20" dirty="0">
                <a:latin typeface="Perpetua"/>
                <a:cs typeface="Perpetua"/>
              </a:rPr>
              <a:t>,” </a:t>
            </a:r>
            <a:r>
              <a:rPr sz="2600" spc="-25" dirty="0">
                <a:latin typeface="Perpetua"/>
                <a:cs typeface="Perpetua"/>
              </a:rPr>
              <a:t>“</a:t>
            </a:r>
            <a:r>
              <a:rPr sz="2600" i="1" spc="-25" dirty="0">
                <a:latin typeface="Perpetua"/>
                <a:cs typeface="Perpetua"/>
              </a:rPr>
              <a:t>modules</a:t>
            </a:r>
            <a:r>
              <a:rPr sz="2600" spc="-25" dirty="0">
                <a:latin typeface="Perpetua"/>
                <a:cs typeface="Perpetua"/>
              </a:rPr>
              <a:t>,”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36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plugins</a:t>
            </a:r>
            <a:r>
              <a:rPr sz="2600" spc="-5" dirty="0">
                <a:latin typeface="Perpetua"/>
                <a:cs typeface="Perpetua"/>
              </a:rPr>
              <a:t>”).</a:t>
            </a:r>
            <a:endParaRPr sz="2600">
              <a:latin typeface="Perpetua"/>
              <a:cs typeface="Perpetua"/>
            </a:endParaRPr>
          </a:p>
          <a:p>
            <a:pPr marL="561340" marR="7620" lvl="1" indent="-228600" algn="just">
              <a:lnSpc>
                <a:spcPct val="100000"/>
              </a:lnSpc>
              <a:spcBef>
                <a:spcPts val="395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dirty="0">
                <a:latin typeface="Perpetua"/>
                <a:cs typeface="Perpetua"/>
              </a:rPr>
              <a:t>No </a:t>
            </a:r>
            <a:r>
              <a:rPr sz="2600" i="1" spc="-5" dirty="0">
                <a:latin typeface="Perpetua"/>
                <a:cs typeface="Perpetua"/>
              </a:rPr>
              <a:t>one is </a:t>
            </a:r>
            <a:r>
              <a:rPr sz="2600" i="1" spc="5" dirty="0">
                <a:latin typeface="Perpetua"/>
                <a:cs typeface="Perpetua"/>
              </a:rPr>
              <a:t>surprised </a:t>
            </a:r>
            <a:r>
              <a:rPr sz="2600" i="1" spc="-15" dirty="0">
                <a:latin typeface="Perpetua"/>
                <a:cs typeface="Perpetua"/>
              </a:rPr>
              <a:t>anymore </a:t>
            </a:r>
            <a:r>
              <a:rPr sz="2600" i="1" spc="-10" dirty="0">
                <a:latin typeface="Perpetua"/>
                <a:cs typeface="Perpetua"/>
              </a:rPr>
              <a:t>that </a:t>
            </a:r>
            <a:r>
              <a:rPr sz="2600" i="1" spc="-20" dirty="0">
                <a:latin typeface="Perpetua"/>
                <a:cs typeface="Perpetua"/>
              </a:rPr>
              <a:t>operating </a:t>
            </a:r>
            <a:r>
              <a:rPr sz="2600" i="1" spc="-5" dirty="0">
                <a:latin typeface="Perpetua"/>
                <a:cs typeface="Perpetua"/>
              </a:rPr>
              <a:t>systems </a:t>
            </a:r>
            <a:r>
              <a:rPr sz="2600" i="1" spc="-10" dirty="0">
                <a:latin typeface="Perpetua"/>
                <a:cs typeface="Perpetua"/>
              </a:rPr>
              <a:t>are </a:t>
            </a:r>
            <a:r>
              <a:rPr sz="2600" i="1" spc="-5" dirty="0">
                <a:latin typeface="Perpetua"/>
                <a:cs typeface="Perpetua"/>
              </a:rPr>
              <a:t>designed </a:t>
            </a:r>
            <a:r>
              <a:rPr sz="2600" i="1" dirty="0">
                <a:latin typeface="Perpetua"/>
                <a:cs typeface="Perpetua"/>
              </a:rPr>
              <a:t>in a  </a:t>
            </a:r>
            <a:r>
              <a:rPr sz="2600" i="1" spc="-5" dirty="0">
                <a:latin typeface="Perpetua"/>
                <a:cs typeface="Perpetua"/>
              </a:rPr>
              <a:t>modular</a:t>
            </a:r>
            <a:r>
              <a:rPr sz="2600" i="1" spc="-25" dirty="0">
                <a:latin typeface="Perpetua"/>
                <a:cs typeface="Perpetua"/>
              </a:rPr>
              <a:t> </a:t>
            </a:r>
            <a:r>
              <a:rPr sz="2600" i="1" spc="-85" dirty="0"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  <a:p>
            <a:pPr marL="561340" lvl="1" indent="-228600" algn="just">
              <a:lnSpc>
                <a:spcPct val="100000"/>
              </a:lnSpc>
              <a:spcBef>
                <a:spcPts val="409"/>
              </a:spcBef>
              <a:buSzPct val="80769"/>
              <a:buFont typeface="Wingdings"/>
              <a:buChar char=""/>
              <a:tabLst>
                <a:tab pos="561340" algn="l"/>
              </a:tabLst>
            </a:pPr>
            <a:r>
              <a:rPr sz="2600" i="1" spc="-5" dirty="0">
                <a:latin typeface="Perpetua"/>
                <a:cs typeface="Perpetua"/>
              </a:rPr>
              <a:t>The final product is </a:t>
            </a:r>
            <a:r>
              <a:rPr sz="2600" i="1" spc="-10" dirty="0">
                <a:latin typeface="Perpetua"/>
                <a:cs typeface="Perpetua"/>
              </a:rPr>
              <a:t>assembled </a:t>
            </a:r>
            <a:r>
              <a:rPr sz="2600" i="1" spc="-5" dirty="0">
                <a:latin typeface="Perpetua"/>
                <a:cs typeface="Perpetua"/>
              </a:rPr>
              <a:t>from </a:t>
            </a:r>
            <a:r>
              <a:rPr sz="2600" i="1" spc="-10" dirty="0">
                <a:latin typeface="Perpetua"/>
                <a:cs typeface="Perpetua"/>
              </a:rPr>
              <a:t>independently </a:t>
            </a:r>
            <a:r>
              <a:rPr sz="2600" i="1" spc="-5" dirty="0">
                <a:latin typeface="Perpetua"/>
                <a:cs typeface="Perpetua"/>
              </a:rPr>
              <a:t>developed</a:t>
            </a:r>
            <a:r>
              <a:rPr sz="2600" i="1" spc="3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components.</a:t>
            </a:r>
            <a:endParaRPr sz="260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Modularity </a:t>
            </a:r>
            <a:r>
              <a:rPr sz="2600" spc="5" dirty="0">
                <a:latin typeface="Perpetua"/>
                <a:cs typeface="Perpetua"/>
              </a:rPr>
              <a:t>is </a:t>
            </a:r>
            <a:r>
              <a:rPr sz="2600" dirty="0">
                <a:latin typeface="Perpetua"/>
                <a:cs typeface="Perpetua"/>
              </a:rPr>
              <a:t>a mechanism </a:t>
            </a:r>
            <a:r>
              <a:rPr sz="2600" spc="-5" dirty="0">
                <a:latin typeface="Perpetua"/>
                <a:cs typeface="Perpetua"/>
              </a:rPr>
              <a:t>to coordinate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work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spc="-20" dirty="0">
                <a:latin typeface="Perpetua"/>
                <a:cs typeface="Perpetua"/>
              </a:rPr>
              <a:t>many </a:t>
            </a:r>
            <a:r>
              <a:rPr sz="2600" spc="-5" dirty="0">
                <a:latin typeface="Perpetua"/>
                <a:cs typeface="Perpetua"/>
              </a:rPr>
              <a:t>people  </a:t>
            </a:r>
            <a:r>
              <a:rPr sz="2600" spc="-10" dirty="0">
                <a:latin typeface="Perpetua"/>
                <a:cs typeface="Perpetua"/>
              </a:rPr>
              <a:t>around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world, </a:t>
            </a:r>
            <a:r>
              <a:rPr sz="2600" spc="-5" dirty="0">
                <a:latin typeface="Perpetua"/>
                <a:cs typeface="Perpetua"/>
              </a:rPr>
              <a:t>manage interdependencies </a:t>
            </a:r>
            <a:r>
              <a:rPr sz="2600" spc="-15" dirty="0">
                <a:latin typeface="Perpetua"/>
                <a:cs typeface="Perpetua"/>
              </a:rPr>
              <a:t>between </a:t>
            </a:r>
            <a:r>
              <a:rPr sz="2600" dirty="0">
                <a:latin typeface="Perpetua"/>
                <a:cs typeface="Perpetua"/>
              </a:rPr>
              <a:t>their </a:t>
            </a:r>
            <a:r>
              <a:rPr sz="2600" spc="15" dirty="0">
                <a:latin typeface="Perpetua"/>
                <a:cs typeface="Perpetua"/>
              </a:rPr>
              <a:t>parts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project, and </a:t>
            </a:r>
            <a:r>
              <a:rPr sz="2600" spc="-10" dirty="0">
                <a:latin typeface="Perpetua"/>
                <a:cs typeface="Perpetua"/>
              </a:rPr>
              <a:t>assemble very </a:t>
            </a:r>
            <a:r>
              <a:rPr sz="2600" dirty="0">
                <a:latin typeface="Perpetua"/>
                <a:cs typeface="Perpetua"/>
              </a:rPr>
              <a:t>complex systems in a </a:t>
            </a:r>
            <a:r>
              <a:rPr sz="2600" spc="-15" dirty="0">
                <a:latin typeface="Perpetua"/>
                <a:cs typeface="Perpetua"/>
              </a:rPr>
              <a:t>reasonably  </a:t>
            </a:r>
            <a:r>
              <a:rPr sz="2600" spc="-10" dirty="0">
                <a:latin typeface="Perpetua"/>
                <a:cs typeface="Perpetua"/>
              </a:rPr>
              <a:t>reliable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00" dirty="0">
                <a:latin typeface="Perpetua"/>
                <a:cs typeface="Perpetua"/>
              </a:rPr>
              <a:t>way.</a:t>
            </a:r>
            <a:endParaRPr sz="2600">
              <a:latin typeface="Perpetua"/>
              <a:cs typeface="Perpetua"/>
            </a:endParaRPr>
          </a:p>
          <a:p>
            <a:pPr marL="287020" indent="-274320" algn="just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It </a:t>
            </a:r>
            <a:r>
              <a:rPr sz="2600" spc="-10" dirty="0">
                <a:latin typeface="Perpetua"/>
                <a:cs typeface="Perpetua"/>
              </a:rPr>
              <a:t>enables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-10" dirty="0">
                <a:latin typeface="Perpetua"/>
                <a:cs typeface="Perpetua"/>
              </a:rPr>
              <a:t>achieve </a:t>
            </a:r>
            <a:r>
              <a:rPr sz="2600" spc="-5" dirty="0">
                <a:latin typeface="Perpetua"/>
                <a:cs typeface="Perpetua"/>
              </a:rPr>
              <a:t>and manage </a:t>
            </a:r>
            <a:r>
              <a:rPr sz="2600" spc="-10" dirty="0">
                <a:latin typeface="Perpetua"/>
                <a:cs typeface="Perpetua"/>
              </a:rPr>
              <a:t>that</a:t>
            </a:r>
            <a:r>
              <a:rPr sz="2600" spc="4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complexity.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6975" y="6240271"/>
            <a:ext cx="2844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Perpetua"/>
                <a:cs typeface="Perpetua"/>
              </a:rPr>
              <a:t>Not a </a:t>
            </a:r>
            <a:r>
              <a:rPr sz="2400" i="1" spc="-10" dirty="0">
                <a:latin typeface="Perpetua"/>
                <a:cs typeface="Perpetua"/>
              </a:rPr>
              <a:t>silver </a:t>
            </a:r>
            <a:r>
              <a:rPr sz="2400" i="1" spc="-5" dirty="0">
                <a:latin typeface="Perpetua"/>
                <a:cs typeface="Perpetua"/>
              </a:rPr>
              <a:t>bullet</a:t>
            </a:r>
            <a:r>
              <a:rPr sz="2400" i="1" spc="-8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though…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815086"/>
            <a:ext cx="41389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latin typeface="Perpetua"/>
                <a:cs typeface="Perpetua"/>
              </a:rPr>
              <a:t>What </a:t>
            </a:r>
            <a:r>
              <a:rPr i="1" spc="-5" dirty="0">
                <a:latin typeface="Perpetua"/>
                <a:cs typeface="Perpetua"/>
              </a:rPr>
              <a:t>has been</a:t>
            </a:r>
            <a:r>
              <a:rPr i="1" spc="-40" dirty="0">
                <a:latin typeface="Perpetua"/>
                <a:cs typeface="Perpetua"/>
              </a:rPr>
              <a:t> </a:t>
            </a:r>
            <a:r>
              <a:rPr i="1" dirty="0">
                <a:latin typeface="Perpetua"/>
                <a:cs typeface="Perpetua"/>
              </a:rPr>
              <a:t>described?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908175"/>
            <a:ext cx="7846695" cy="29470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7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Modules as </a:t>
            </a:r>
            <a:r>
              <a:rPr sz="2600" spc="-30" dirty="0">
                <a:latin typeface="Perpetua"/>
                <a:cs typeface="Perpetua"/>
              </a:rPr>
              <a:t>ways </a:t>
            </a:r>
            <a:r>
              <a:rPr sz="2600" spc="-5" dirty="0">
                <a:latin typeface="Perpetua"/>
                <a:cs typeface="Perpetua"/>
              </a:rPr>
              <a:t>of expressing </a:t>
            </a:r>
            <a:r>
              <a:rPr sz="2600" spc="5" dirty="0">
                <a:latin typeface="Perpetua"/>
                <a:cs typeface="Perpetua"/>
              </a:rPr>
              <a:t>algorithms </a:t>
            </a:r>
            <a:r>
              <a:rPr sz="2600" spc="-5" dirty="0">
                <a:latin typeface="Perpetua"/>
                <a:cs typeface="Perpetua"/>
              </a:rPr>
              <a:t>and computational  </a:t>
            </a:r>
            <a:r>
              <a:rPr sz="2600" spc="-10" dirty="0">
                <a:latin typeface="Perpetua"/>
                <a:cs typeface="Perpetua"/>
              </a:rPr>
              <a:t>processes.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200">
              <a:latin typeface="Times New Roman"/>
              <a:cs typeface="Times New Roman"/>
            </a:endParaRPr>
          </a:p>
          <a:p>
            <a:pPr marL="286385" marR="8890" indent="-274320">
              <a:lnSpc>
                <a:spcPct val="8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modules </a:t>
            </a:r>
            <a:r>
              <a:rPr sz="2600" spc="-20" dirty="0">
                <a:latin typeface="Perpetua"/>
                <a:cs typeface="Perpetua"/>
              </a:rPr>
              <a:t>allow </a:t>
            </a:r>
            <a:r>
              <a:rPr sz="2600" spc="-5" dirty="0">
                <a:latin typeface="Perpetua"/>
                <a:cs typeface="Perpetua"/>
              </a:rPr>
              <a:t>us to break </a:t>
            </a:r>
            <a:r>
              <a:rPr sz="2600" dirty="0">
                <a:latin typeface="Perpetua"/>
                <a:cs typeface="Perpetua"/>
              </a:rPr>
              <a:t>large </a:t>
            </a:r>
            <a:r>
              <a:rPr sz="2600" spc="-10" dirty="0">
                <a:latin typeface="Perpetua"/>
                <a:cs typeface="Perpetua"/>
              </a:rPr>
              <a:t>problems </a:t>
            </a:r>
            <a:r>
              <a:rPr sz="2600" dirty="0">
                <a:latin typeface="Perpetua"/>
                <a:cs typeface="Perpetua"/>
              </a:rPr>
              <a:t>into smaller  </a:t>
            </a:r>
            <a:r>
              <a:rPr sz="2600" spc="-10" dirty="0">
                <a:latin typeface="Perpetua"/>
                <a:cs typeface="Perpetua"/>
              </a:rPr>
              <a:t>units.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150">
              <a:latin typeface="Times New Roman"/>
              <a:cs typeface="Times New Roman"/>
            </a:endParaRPr>
          </a:p>
          <a:p>
            <a:pPr marL="286385" marR="5715" indent="-274320">
              <a:lnSpc>
                <a:spcPts val="25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How </a:t>
            </a:r>
            <a:r>
              <a:rPr sz="2600" spc="-5" dirty="0">
                <a:latin typeface="Perpetua"/>
                <a:cs typeface="Perpetua"/>
              </a:rPr>
              <a:t>these smaller units can </a:t>
            </a:r>
            <a:r>
              <a:rPr sz="2600" dirty="0">
                <a:latin typeface="Perpetua"/>
                <a:cs typeface="Perpetua"/>
              </a:rPr>
              <a:t>be </a:t>
            </a:r>
            <a:r>
              <a:rPr sz="2600" spc="-5" dirty="0">
                <a:latin typeface="Perpetua"/>
                <a:cs typeface="Perpetua"/>
              </a:rPr>
              <a:t>made </a:t>
            </a:r>
            <a:r>
              <a:rPr sz="2600" spc="-10" dirty="0">
                <a:latin typeface="Perpetua"/>
                <a:cs typeface="Perpetua"/>
              </a:rPr>
              <a:t>flexible </a:t>
            </a:r>
            <a:r>
              <a:rPr sz="2600" spc="-5" dirty="0">
                <a:latin typeface="Perpetua"/>
                <a:cs typeface="Perpetua"/>
              </a:rPr>
              <a:t>through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use  of </a:t>
            </a:r>
            <a:r>
              <a:rPr sz="2600" spc="5" dirty="0">
                <a:latin typeface="Perpetua"/>
                <a:cs typeface="Perpetua"/>
              </a:rPr>
              <a:t>formal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parameters.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5218938"/>
            <a:ext cx="7844790" cy="7397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72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105535" algn="l"/>
                <a:tab pos="2827655" algn="l"/>
                <a:tab pos="3417570" algn="l"/>
                <a:tab pos="4775835" algn="l"/>
                <a:tab pos="6211570" algn="l"/>
                <a:tab pos="6812280" algn="l"/>
              </a:tabLst>
            </a:pPr>
            <a:r>
              <a:rPr sz="2600" dirty="0">
                <a:latin typeface="Perpetua"/>
                <a:cs typeface="Perpetua"/>
              </a:rPr>
              <a:t>The	impo</a:t>
            </a:r>
            <a:r>
              <a:rPr sz="2600" spc="8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ta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ce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</a:t>
            </a:r>
            <a:r>
              <a:rPr sz="2600" spc="-5" dirty="0">
                <a:latin typeface="Perpetua"/>
                <a:cs typeface="Perpetua"/>
              </a:rPr>
              <a:t>mo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ul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r	</a:t>
            </a:r>
            <a:r>
              <a:rPr sz="2600" spc="-5" dirty="0">
                <a:latin typeface="Perpetua"/>
                <a:cs typeface="Perpetua"/>
              </a:rPr>
              <a:t>ap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oa</a:t>
            </a:r>
            <a:r>
              <a:rPr sz="2600" spc="30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so</a:t>
            </a:r>
            <a:r>
              <a:rPr sz="2600" spc="-10" dirty="0">
                <a:latin typeface="Perpetua"/>
                <a:cs typeface="Perpetua"/>
              </a:rPr>
              <a:t>f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30" dirty="0">
                <a:latin typeface="Perpetua"/>
                <a:cs typeface="Perpetua"/>
              </a:rPr>
              <a:t>w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  </a:t>
            </a:r>
            <a:r>
              <a:rPr sz="2600" spc="-10" dirty="0">
                <a:latin typeface="Perpetua"/>
                <a:cs typeface="Perpetua"/>
              </a:rPr>
              <a:t>development.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9828" y="5810808"/>
            <a:ext cx="3266440" cy="986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i="1" spc="-5" dirty="0">
                <a:latin typeface="Perpetua"/>
                <a:cs typeface="Perpetua"/>
              </a:rPr>
              <a:t>Credits</a:t>
            </a:r>
            <a:endParaRPr sz="1050">
              <a:latin typeface="Perpetua"/>
              <a:cs typeface="Perpetua"/>
            </a:endParaRPr>
          </a:p>
          <a:p>
            <a:pPr marL="12700" marR="17145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dirty="0">
                <a:latin typeface="Perpetua"/>
                <a:cs typeface="Perpetua"/>
              </a:rPr>
              <a:t>Computing without computers, Paul </a:t>
            </a:r>
            <a:r>
              <a:rPr sz="1050" i="1" spc="-5" dirty="0">
                <a:latin typeface="Perpetua"/>
                <a:cs typeface="Perpetua"/>
              </a:rPr>
              <a:t>Curzon; </a:t>
            </a:r>
            <a:r>
              <a:rPr sz="1050" i="1" spc="-5" dirty="0">
                <a:latin typeface="Perpetua"/>
                <a:cs typeface="Perpetua"/>
                <a:hlinkClick r:id="rId2"/>
              </a:rPr>
              <a:t> http://www.eecs.qmul.ac.uk/~pc/research/education/puzzles/reading/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web.mit.edu/16.070/www/year2001/Modular_Programming.pdf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The Benefits of ModularProgramming, Copyright </a:t>
            </a:r>
            <a:r>
              <a:rPr sz="1050" i="1" dirty="0">
                <a:latin typeface="Perpetua"/>
                <a:cs typeface="Perpetua"/>
              </a:rPr>
              <a:t>Sun </a:t>
            </a:r>
            <a:r>
              <a:rPr sz="1050" i="1" spc="-5" dirty="0">
                <a:latin typeface="Perpetua"/>
                <a:cs typeface="Perpetua"/>
              </a:rPr>
              <a:t>Microsystems,</a:t>
            </a:r>
            <a:r>
              <a:rPr sz="1050" i="1" spc="-3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2007</a:t>
            </a:r>
            <a:endParaRPr sz="1050">
              <a:latin typeface="Perpetua"/>
              <a:cs typeface="Perpetua"/>
            </a:endParaRPr>
          </a:p>
          <a:p>
            <a:pPr marL="74295" indent="-62230">
              <a:lnSpc>
                <a:spcPct val="100000"/>
              </a:lnSpc>
              <a:buSzPct val="90476"/>
              <a:buFont typeface="Wingdings"/>
              <a:buChar char=""/>
              <a:tabLst>
                <a:tab pos="74930" algn="l"/>
              </a:tabLst>
            </a:pPr>
            <a:r>
              <a:rPr sz="1050" i="1" spc="-5" dirty="0">
                <a:latin typeface="Perpetua"/>
                <a:cs typeface="Perpetua"/>
              </a:rPr>
              <a:t>Google</a:t>
            </a:r>
            <a:r>
              <a:rPr sz="1050" i="1" spc="-15" dirty="0">
                <a:latin typeface="Perpetua"/>
                <a:cs typeface="Perpetua"/>
              </a:rPr>
              <a:t> </a:t>
            </a:r>
            <a:r>
              <a:rPr sz="1050" i="1" spc="-5" dirty="0">
                <a:latin typeface="Perpetua"/>
                <a:cs typeface="Perpetua"/>
              </a:rPr>
              <a:t>images</a:t>
            </a:r>
            <a:endParaRPr sz="105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29200" y="152400"/>
            <a:ext cx="3810000" cy="1905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" y="304800"/>
            <a:ext cx="533400" cy="5740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EA2F63-B0BB-42A5-9237-43A661AE0F7E}"/>
</file>

<file path=customXml/itemProps2.xml><?xml version="1.0" encoding="utf-8"?>
<ds:datastoreItem xmlns:ds="http://schemas.openxmlformats.org/officeDocument/2006/customXml" ds:itemID="{CD74CBDC-C8BF-4A8F-A111-6BE48E2C5EA5}"/>
</file>

<file path=customXml/itemProps3.xml><?xml version="1.0" encoding="utf-8"?>
<ds:datastoreItem xmlns:ds="http://schemas.openxmlformats.org/officeDocument/2006/customXml" ds:itemID="{6DD2B337-1710-4723-B9EB-D3764BEBF91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2072</Words>
  <Application>Microsoft Office PowerPoint</Application>
  <PresentationFormat>On-screen Show (4:3)</PresentationFormat>
  <Paragraphs>284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Objectives</vt:lpstr>
      <vt:lpstr>Eg. Recipe book for Pizza</vt:lpstr>
      <vt:lpstr>Making of Pizza</vt:lpstr>
      <vt:lpstr>Making of Pizza contd---</vt:lpstr>
      <vt:lpstr>Slide 6</vt:lpstr>
      <vt:lpstr>contd---</vt:lpstr>
      <vt:lpstr>Advantages of such an approach</vt:lpstr>
      <vt:lpstr>Modularization</vt:lpstr>
      <vt:lpstr>Syntactic pattern</vt:lpstr>
      <vt:lpstr>Eg. Grill a steak</vt:lpstr>
      <vt:lpstr>Eg. Making a dinner</vt:lpstr>
      <vt:lpstr>A make dinner module</vt:lpstr>
      <vt:lpstr>Hosting a private party</vt:lpstr>
      <vt:lpstr>Well designed modules</vt:lpstr>
      <vt:lpstr>Criteria</vt:lpstr>
      <vt:lpstr>Summarizing modularity</vt:lpstr>
      <vt:lpstr>Module flexibility</vt:lpstr>
      <vt:lpstr>Parameters of a module</vt:lpstr>
      <vt:lpstr>Formal parameters</vt:lpstr>
      <vt:lpstr>One more look at the starting temperature of grill a steak  algorithm ……..</vt:lpstr>
      <vt:lpstr>A flexible module for grill a steak</vt:lpstr>
      <vt:lpstr>Parameters of the flexible grill a steak module</vt:lpstr>
      <vt:lpstr>Can you think of any circumstances that might not  hold?</vt:lpstr>
      <vt:lpstr>How to optimize the existing module ?</vt:lpstr>
      <vt:lpstr>How to use the revised module?</vt:lpstr>
      <vt:lpstr>Slide 27</vt:lpstr>
      <vt:lpstr>Who uses modular approach ?</vt:lpstr>
      <vt:lpstr>Entropy of software development</vt:lpstr>
      <vt:lpstr>An overview of the development  process</vt:lpstr>
      <vt:lpstr>To design and implement a Robot</vt:lpstr>
      <vt:lpstr>Analysis and design</vt:lpstr>
      <vt:lpstr>Divide into sub problems</vt:lpstr>
      <vt:lpstr>Sub problem #1: Print Menu and Read  request</vt:lpstr>
      <vt:lpstr>Modularization characteristics</vt:lpstr>
      <vt:lpstr>Value of this approach</vt:lpstr>
      <vt:lpstr>What has been described?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2020-09-07T06:48:32Z</dcterms:created>
  <dcterms:modified xsi:type="dcterms:W3CDTF">2021-10-03T05:58:12Z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