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9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0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5531" y="70103"/>
            <a:ext cx="9013190" cy="6692265"/>
          </a:xfrm>
          <a:custGeom>
            <a:avLst/>
            <a:gdLst/>
            <a:ahLst/>
            <a:cxnLst/>
            <a:rect l="l" t="t" r="r" b="b"/>
            <a:pathLst>
              <a:path w="9013190" h="6692265">
                <a:moveTo>
                  <a:pt x="0" y="329819"/>
                </a:moveTo>
                <a:lnTo>
                  <a:pt x="3576" y="281088"/>
                </a:lnTo>
                <a:lnTo>
                  <a:pt x="13965" y="234576"/>
                </a:lnTo>
                <a:lnTo>
                  <a:pt x="30656" y="190791"/>
                </a:lnTo>
                <a:lnTo>
                  <a:pt x="53139" y="150245"/>
                </a:lnTo>
                <a:lnTo>
                  <a:pt x="80905" y="113448"/>
                </a:lnTo>
                <a:lnTo>
                  <a:pt x="113441" y="80911"/>
                </a:lnTo>
                <a:lnTo>
                  <a:pt x="150240" y="53144"/>
                </a:lnTo>
                <a:lnTo>
                  <a:pt x="190789" y="30660"/>
                </a:lnTo>
                <a:lnTo>
                  <a:pt x="234580" y="13967"/>
                </a:lnTo>
                <a:lnTo>
                  <a:pt x="281102" y="3576"/>
                </a:lnTo>
                <a:lnTo>
                  <a:pt x="329844" y="0"/>
                </a:lnTo>
                <a:lnTo>
                  <a:pt x="8683117" y="0"/>
                </a:lnTo>
                <a:lnTo>
                  <a:pt x="8731847" y="3576"/>
                </a:lnTo>
                <a:lnTo>
                  <a:pt x="8778359" y="13967"/>
                </a:lnTo>
                <a:lnTo>
                  <a:pt x="8822144" y="30660"/>
                </a:lnTo>
                <a:lnTo>
                  <a:pt x="8862690" y="53144"/>
                </a:lnTo>
                <a:lnTo>
                  <a:pt x="8899487" y="80911"/>
                </a:lnTo>
                <a:lnTo>
                  <a:pt x="8932024" y="113448"/>
                </a:lnTo>
                <a:lnTo>
                  <a:pt x="8959791" y="150245"/>
                </a:lnTo>
                <a:lnTo>
                  <a:pt x="8982275" y="190791"/>
                </a:lnTo>
                <a:lnTo>
                  <a:pt x="8998968" y="234576"/>
                </a:lnTo>
                <a:lnTo>
                  <a:pt x="9009359" y="281088"/>
                </a:lnTo>
                <a:lnTo>
                  <a:pt x="9012936" y="329819"/>
                </a:lnTo>
                <a:lnTo>
                  <a:pt x="9012936" y="6362026"/>
                </a:lnTo>
                <a:lnTo>
                  <a:pt x="9009359" y="6410769"/>
                </a:lnTo>
                <a:lnTo>
                  <a:pt x="8998968" y="6457290"/>
                </a:lnTo>
                <a:lnTo>
                  <a:pt x="8982275" y="6501081"/>
                </a:lnTo>
                <a:lnTo>
                  <a:pt x="8959791" y="6541631"/>
                </a:lnTo>
                <a:lnTo>
                  <a:pt x="8932024" y="6578430"/>
                </a:lnTo>
                <a:lnTo>
                  <a:pt x="8899487" y="6610967"/>
                </a:lnTo>
                <a:lnTo>
                  <a:pt x="8862690" y="6638733"/>
                </a:lnTo>
                <a:lnTo>
                  <a:pt x="8822144" y="6661216"/>
                </a:lnTo>
                <a:lnTo>
                  <a:pt x="8778359" y="6677908"/>
                </a:lnTo>
                <a:lnTo>
                  <a:pt x="8731847" y="6688297"/>
                </a:lnTo>
                <a:lnTo>
                  <a:pt x="8683117" y="6691873"/>
                </a:lnTo>
                <a:lnTo>
                  <a:pt x="329844" y="6691873"/>
                </a:lnTo>
                <a:lnTo>
                  <a:pt x="281102" y="6688297"/>
                </a:lnTo>
                <a:lnTo>
                  <a:pt x="234580" y="6677908"/>
                </a:lnTo>
                <a:lnTo>
                  <a:pt x="190789" y="6661216"/>
                </a:lnTo>
                <a:lnTo>
                  <a:pt x="150240" y="6638733"/>
                </a:lnTo>
                <a:lnTo>
                  <a:pt x="113441" y="6610967"/>
                </a:lnTo>
                <a:lnTo>
                  <a:pt x="80905" y="6578430"/>
                </a:lnTo>
                <a:lnTo>
                  <a:pt x="53139" y="6541631"/>
                </a:lnTo>
                <a:lnTo>
                  <a:pt x="30656" y="6501081"/>
                </a:lnTo>
                <a:lnTo>
                  <a:pt x="13965" y="6457290"/>
                </a:lnTo>
                <a:lnTo>
                  <a:pt x="3576" y="6410769"/>
                </a:lnTo>
                <a:lnTo>
                  <a:pt x="0" y="6362026"/>
                </a:lnTo>
                <a:lnTo>
                  <a:pt x="0" y="329819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2484" y="1395983"/>
            <a:ext cx="9022080" cy="121920"/>
          </a:xfrm>
          <a:custGeom>
            <a:avLst/>
            <a:gdLst/>
            <a:ahLst/>
            <a:cxnLst/>
            <a:rect l="l" t="t" r="r" b="b"/>
            <a:pathLst>
              <a:path w="9022080" h="121919">
                <a:moveTo>
                  <a:pt x="9022080" y="0"/>
                </a:moveTo>
                <a:lnTo>
                  <a:pt x="0" y="0"/>
                </a:lnTo>
                <a:lnTo>
                  <a:pt x="0" y="121920"/>
                </a:lnTo>
                <a:lnTo>
                  <a:pt x="9022080" y="121920"/>
                </a:lnTo>
                <a:lnTo>
                  <a:pt x="9022080" y="0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2484" y="2976372"/>
            <a:ext cx="9022080" cy="111760"/>
          </a:xfrm>
          <a:custGeom>
            <a:avLst/>
            <a:gdLst/>
            <a:ahLst/>
            <a:cxnLst/>
            <a:rect l="l" t="t" r="r" b="b"/>
            <a:pathLst>
              <a:path w="9022080" h="111760">
                <a:moveTo>
                  <a:pt x="9022080" y="0"/>
                </a:moveTo>
                <a:lnTo>
                  <a:pt x="0" y="0"/>
                </a:lnTo>
                <a:lnTo>
                  <a:pt x="0" y="111251"/>
                </a:lnTo>
                <a:lnTo>
                  <a:pt x="9022080" y="111251"/>
                </a:lnTo>
                <a:lnTo>
                  <a:pt x="9022080" y="0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52400" y="6477000"/>
            <a:ext cx="457200" cy="266700"/>
          </a:xfrm>
          <a:custGeom>
            <a:avLst/>
            <a:gdLst/>
            <a:ahLst/>
            <a:cxnLst/>
            <a:rect l="l" t="t" r="r" b="b"/>
            <a:pathLst>
              <a:path w="457200" h="266700">
                <a:moveTo>
                  <a:pt x="228600" y="0"/>
                </a:moveTo>
                <a:lnTo>
                  <a:pt x="167829" y="4763"/>
                </a:lnTo>
                <a:lnTo>
                  <a:pt x="113221" y="18206"/>
                </a:lnTo>
                <a:lnTo>
                  <a:pt x="66955" y="39057"/>
                </a:lnTo>
                <a:lnTo>
                  <a:pt x="31210" y="66045"/>
                </a:lnTo>
                <a:lnTo>
                  <a:pt x="8165" y="97900"/>
                </a:lnTo>
                <a:lnTo>
                  <a:pt x="0" y="133350"/>
                </a:lnTo>
                <a:lnTo>
                  <a:pt x="8165" y="168799"/>
                </a:lnTo>
                <a:lnTo>
                  <a:pt x="31210" y="200654"/>
                </a:lnTo>
                <a:lnTo>
                  <a:pt x="66955" y="227642"/>
                </a:lnTo>
                <a:lnTo>
                  <a:pt x="113221" y="248492"/>
                </a:lnTo>
                <a:lnTo>
                  <a:pt x="167829" y="261935"/>
                </a:lnTo>
                <a:lnTo>
                  <a:pt x="228600" y="266698"/>
                </a:lnTo>
                <a:lnTo>
                  <a:pt x="289370" y="261935"/>
                </a:lnTo>
                <a:lnTo>
                  <a:pt x="343978" y="248492"/>
                </a:lnTo>
                <a:lnTo>
                  <a:pt x="390244" y="227642"/>
                </a:lnTo>
                <a:lnTo>
                  <a:pt x="425989" y="200654"/>
                </a:lnTo>
                <a:lnTo>
                  <a:pt x="449034" y="168799"/>
                </a:lnTo>
                <a:lnTo>
                  <a:pt x="457200" y="133350"/>
                </a:lnTo>
                <a:lnTo>
                  <a:pt x="449034" y="97900"/>
                </a:lnTo>
                <a:lnTo>
                  <a:pt x="425989" y="66045"/>
                </a:lnTo>
                <a:lnTo>
                  <a:pt x="390244" y="39057"/>
                </a:lnTo>
                <a:lnTo>
                  <a:pt x="343978" y="18206"/>
                </a:lnTo>
                <a:lnTo>
                  <a:pt x="289370" y="4763"/>
                </a:lnTo>
                <a:lnTo>
                  <a:pt x="228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435" y="1517903"/>
            <a:ext cx="9025128" cy="1458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60120" y="4174312"/>
            <a:ext cx="8223758" cy="1306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314071"/>
            <a:ext cx="8529319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6704" y="1129030"/>
            <a:ext cx="8530590" cy="1687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77977" y="6482301"/>
            <a:ext cx="204470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p92mp3/revisi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bc.co.uk/education/guides/zqqfyrd/revision/2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bc.co.uk/education/guides/zqqfyrd/revision/3" TargetMode="Externa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xxbgk7/revision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xxbgk7/revision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2484" y="67056"/>
            <a:ext cx="9022080" cy="6697980"/>
            <a:chOff x="62484" y="67056"/>
            <a:chExt cx="9022080" cy="6697980"/>
          </a:xfrm>
        </p:grpSpPr>
        <p:sp>
          <p:nvSpPr>
            <p:cNvPr id="4" name="object 4"/>
            <p:cNvSpPr/>
            <p:nvPr/>
          </p:nvSpPr>
          <p:spPr>
            <a:xfrm>
              <a:off x="65532" y="70104"/>
              <a:ext cx="9012936" cy="669187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532" y="70104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26"/>
                  </a:lnTo>
                  <a:lnTo>
                    <a:pt x="9009359" y="6410769"/>
                  </a:lnTo>
                  <a:lnTo>
                    <a:pt x="8998968" y="6457290"/>
                  </a:lnTo>
                  <a:lnTo>
                    <a:pt x="8982275" y="6501081"/>
                  </a:lnTo>
                  <a:lnTo>
                    <a:pt x="8959791" y="6541631"/>
                  </a:lnTo>
                  <a:lnTo>
                    <a:pt x="8932024" y="6578430"/>
                  </a:lnTo>
                  <a:lnTo>
                    <a:pt x="8899487" y="6610967"/>
                  </a:lnTo>
                  <a:lnTo>
                    <a:pt x="8862690" y="6638733"/>
                  </a:lnTo>
                  <a:lnTo>
                    <a:pt x="8822144" y="6661216"/>
                  </a:lnTo>
                  <a:lnTo>
                    <a:pt x="8778359" y="6677908"/>
                  </a:lnTo>
                  <a:lnTo>
                    <a:pt x="8731847" y="6688297"/>
                  </a:lnTo>
                  <a:lnTo>
                    <a:pt x="8683117" y="6691873"/>
                  </a:lnTo>
                  <a:lnTo>
                    <a:pt x="329844" y="6691873"/>
                  </a:lnTo>
                  <a:lnTo>
                    <a:pt x="281102" y="6688297"/>
                  </a:lnTo>
                  <a:lnTo>
                    <a:pt x="234580" y="6677908"/>
                  </a:lnTo>
                  <a:lnTo>
                    <a:pt x="190789" y="6661216"/>
                  </a:lnTo>
                  <a:lnTo>
                    <a:pt x="150240" y="6638733"/>
                  </a:lnTo>
                  <a:lnTo>
                    <a:pt x="113441" y="6610967"/>
                  </a:lnTo>
                  <a:lnTo>
                    <a:pt x="80905" y="6578430"/>
                  </a:lnTo>
                  <a:lnTo>
                    <a:pt x="53139" y="6541631"/>
                  </a:lnTo>
                  <a:lnTo>
                    <a:pt x="30656" y="6501081"/>
                  </a:lnTo>
                  <a:lnTo>
                    <a:pt x="13965" y="6457290"/>
                  </a:lnTo>
                  <a:lnTo>
                    <a:pt x="3576" y="6410769"/>
                  </a:lnTo>
                  <a:lnTo>
                    <a:pt x="0" y="6362026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484" y="1395983"/>
              <a:ext cx="9022080" cy="121920"/>
            </a:xfrm>
            <a:custGeom>
              <a:avLst/>
              <a:gdLst/>
              <a:ahLst/>
              <a:cxnLst/>
              <a:rect l="l" t="t" r="r" b="b"/>
              <a:pathLst>
                <a:path w="9022080" h="121919">
                  <a:moveTo>
                    <a:pt x="902208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9022080" y="121920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484" y="2976372"/>
              <a:ext cx="9022080" cy="111760"/>
            </a:xfrm>
            <a:custGeom>
              <a:avLst/>
              <a:gdLst/>
              <a:ahLst/>
              <a:cxnLst/>
              <a:rect l="l" t="t" r="r" b="b"/>
              <a:pathLst>
                <a:path w="9022080" h="111760">
                  <a:moveTo>
                    <a:pt x="902208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9022080" y="111251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2400" y="6477000"/>
              <a:ext cx="457200" cy="266700"/>
            </a:xfrm>
            <a:custGeom>
              <a:avLst/>
              <a:gdLst/>
              <a:ahLst/>
              <a:cxnLst/>
              <a:rect l="l" t="t" r="r" b="b"/>
              <a:pathLst>
                <a:path w="457200" h="266700">
                  <a:moveTo>
                    <a:pt x="228600" y="0"/>
                  </a:moveTo>
                  <a:lnTo>
                    <a:pt x="167829" y="4763"/>
                  </a:lnTo>
                  <a:lnTo>
                    <a:pt x="113221" y="18206"/>
                  </a:lnTo>
                  <a:lnTo>
                    <a:pt x="66955" y="39057"/>
                  </a:lnTo>
                  <a:lnTo>
                    <a:pt x="31210" y="66045"/>
                  </a:lnTo>
                  <a:lnTo>
                    <a:pt x="8165" y="97900"/>
                  </a:lnTo>
                  <a:lnTo>
                    <a:pt x="0" y="133350"/>
                  </a:lnTo>
                  <a:lnTo>
                    <a:pt x="8165" y="168799"/>
                  </a:lnTo>
                  <a:lnTo>
                    <a:pt x="31210" y="200654"/>
                  </a:lnTo>
                  <a:lnTo>
                    <a:pt x="66955" y="227642"/>
                  </a:lnTo>
                  <a:lnTo>
                    <a:pt x="113221" y="248492"/>
                  </a:lnTo>
                  <a:lnTo>
                    <a:pt x="167829" y="261935"/>
                  </a:lnTo>
                  <a:lnTo>
                    <a:pt x="228600" y="266698"/>
                  </a:lnTo>
                  <a:lnTo>
                    <a:pt x="289370" y="261935"/>
                  </a:lnTo>
                  <a:lnTo>
                    <a:pt x="343978" y="248492"/>
                  </a:lnTo>
                  <a:lnTo>
                    <a:pt x="390244" y="227642"/>
                  </a:lnTo>
                  <a:lnTo>
                    <a:pt x="425989" y="200654"/>
                  </a:lnTo>
                  <a:lnTo>
                    <a:pt x="449034" y="168799"/>
                  </a:lnTo>
                  <a:lnTo>
                    <a:pt x="457200" y="133350"/>
                  </a:lnTo>
                  <a:lnTo>
                    <a:pt x="449034" y="97900"/>
                  </a:lnTo>
                  <a:lnTo>
                    <a:pt x="425989" y="66045"/>
                  </a:lnTo>
                  <a:lnTo>
                    <a:pt x="390244" y="39057"/>
                  </a:lnTo>
                  <a:lnTo>
                    <a:pt x="343978" y="18206"/>
                  </a:lnTo>
                  <a:lnTo>
                    <a:pt x="289370" y="4763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2484" y="1517903"/>
            <a:ext cx="9022080" cy="615553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spc="-20" dirty="0" smtClean="0">
                <a:latin typeface="Perpetua"/>
                <a:cs typeface="Perpetua"/>
              </a:rPr>
              <a:t>Problem</a:t>
            </a:r>
            <a:r>
              <a:rPr sz="4000" spc="-10" dirty="0" smtClean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Decomposition</a:t>
            </a:r>
            <a:endParaRPr sz="4000" dirty="0">
              <a:latin typeface="Perpetua"/>
              <a:cs typeface="Perpet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9981" y="6482301"/>
            <a:ext cx="140970" cy="224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ct val="100000"/>
                </a:lnSpc>
                <a:spcBef>
                  <a:spcPts val="204"/>
                </a:spcBef>
              </a:pPr>
              <a:t>1</a:t>
            </a:fld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84" y="1517903"/>
            <a:ext cx="9022080" cy="145859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286385" rIns="0" bIns="0" rtlCol="0">
            <a:spAutoFit/>
          </a:bodyPr>
          <a:lstStyle/>
          <a:p>
            <a:pPr marL="937894">
              <a:lnSpc>
                <a:spcPct val="100000"/>
              </a:lnSpc>
              <a:spcBef>
                <a:spcPts val="2255"/>
              </a:spcBef>
            </a:pPr>
            <a:r>
              <a:rPr sz="4400" spc="-5" dirty="0">
                <a:latin typeface="Perpetua"/>
                <a:cs typeface="Perpetua"/>
              </a:rPr>
              <a:t>Computational </a:t>
            </a:r>
            <a:r>
              <a:rPr sz="4400" dirty="0">
                <a:latin typeface="Perpetua"/>
                <a:cs typeface="Perpetua"/>
              </a:rPr>
              <a:t>Thinking in</a:t>
            </a:r>
            <a:r>
              <a:rPr sz="4400" spc="-560" dirty="0">
                <a:latin typeface="Perpetua"/>
                <a:cs typeface="Perpetua"/>
              </a:rPr>
              <a:t> </a:t>
            </a:r>
            <a:r>
              <a:rPr sz="4400" dirty="0">
                <a:latin typeface="Perpetua"/>
                <a:cs typeface="Perpetua"/>
              </a:rPr>
              <a:t>Practice</a:t>
            </a:r>
            <a:endParaRPr sz="44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981" y="6482301"/>
            <a:ext cx="140970" cy="224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ct val="100000"/>
                </a:lnSpc>
                <a:spcBef>
                  <a:spcPts val="204"/>
                </a:spcBef>
              </a:pPr>
              <a:t>2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50594" y="4174312"/>
            <a:ext cx="7233284" cy="130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b="1" i="1" spc="-25" dirty="0">
                <a:solidFill>
                  <a:srgbClr val="C00000"/>
                </a:solidFill>
                <a:latin typeface="Perpetua"/>
                <a:cs typeface="Perpetua"/>
              </a:rPr>
              <a:t>Before </a:t>
            </a:r>
            <a:r>
              <a:rPr sz="2800" b="1" i="1" spc="-15" dirty="0">
                <a:solidFill>
                  <a:srgbClr val="C00000"/>
                </a:solidFill>
                <a:latin typeface="Perpetua"/>
                <a:cs typeface="Perpetua"/>
              </a:rPr>
              <a:t>computers </a:t>
            </a: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can </a:t>
            </a:r>
            <a:r>
              <a:rPr sz="2800" b="1" i="1" spc="-10" dirty="0">
                <a:solidFill>
                  <a:srgbClr val="C00000"/>
                </a:solidFill>
                <a:latin typeface="Perpetua"/>
                <a:cs typeface="Perpetua"/>
              </a:rPr>
              <a:t>solve </a:t>
            </a: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a </a:t>
            </a:r>
            <a:r>
              <a:rPr sz="2800" b="1" i="1" spc="-15" dirty="0">
                <a:solidFill>
                  <a:srgbClr val="C00000"/>
                </a:solidFill>
                <a:latin typeface="Perpetua"/>
                <a:cs typeface="Perpetua"/>
              </a:rPr>
              <a:t>problem, </a:t>
            </a: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800" b="1" i="1" spc="-15" dirty="0">
                <a:solidFill>
                  <a:srgbClr val="C00000"/>
                </a:solidFill>
                <a:latin typeface="Perpetua"/>
                <a:cs typeface="Perpetua"/>
              </a:rPr>
              <a:t>problem </a:t>
            </a:r>
            <a:r>
              <a:rPr sz="2800" b="1" i="1" spc="60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and the </a:t>
            </a:r>
            <a:r>
              <a:rPr sz="2800" b="1" i="1" spc="-40" dirty="0">
                <a:solidFill>
                  <a:srgbClr val="C00000"/>
                </a:solidFill>
                <a:latin typeface="Perpetua"/>
                <a:cs typeface="Perpetua"/>
              </a:rPr>
              <a:t>ways </a:t>
            </a: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in </a:t>
            </a:r>
            <a:r>
              <a:rPr sz="2800" b="1" i="1" spc="-15" dirty="0">
                <a:solidFill>
                  <a:srgbClr val="C00000"/>
                </a:solidFill>
                <a:latin typeface="Perpetua"/>
                <a:cs typeface="Perpetua"/>
              </a:rPr>
              <a:t>which </a:t>
            </a: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it can be </a:t>
            </a:r>
            <a:r>
              <a:rPr sz="2800" b="1" i="1" spc="-15" dirty="0">
                <a:solidFill>
                  <a:srgbClr val="C00000"/>
                </a:solidFill>
                <a:latin typeface="Perpetua"/>
                <a:cs typeface="Perpetua"/>
              </a:rPr>
              <a:t>resolved must </a:t>
            </a:r>
            <a:r>
              <a:rPr sz="2800" b="1" i="1" spc="-10" dirty="0">
                <a:solidFill>
                  <a:srgbClr val="C00000"/>
                </a:solidFill>
                <a:latin typeface="Perpetua"/>
                <a:cs typeface="Perpetua"/>
              </a:rPr>
              <a:t>be  </a:t>
            </a:r>
            <a:r>
              <a:rPr sz="2800" b="1" i="1" spc="-15" dirty="0">
                <a:solidFill>
                  <a:srgbClr val="C00000"/>
                </a:solidFill>
                <a:latin typeface="Perpetua"/>
                <a:cs typeface="Perpetua"/>
              </a:rPr>
              <a:t>understood.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5866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Computational </a:t>
            </a:r>
            <a:r>
              <a:rPr sz="3600" dirty="0"/>
              <a:t>Thinking in</a:t>
            </a:r>
            <a:r>
              <a:rPr sz="3600" spc="-530" dirty="0"/>
              <a:t> </a:t>
            </a:r>
            <a:r>
              <a:rPr sz="3600" dirty="0"/>
              <a:t>Practice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309981" y="6482301"/>
            <a:ext cx="140970" cy="224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ct val="100000"/>
                </a:lnSpc>
                <a:spcBef>
                  <a:spcPts val="204"/>
                </a:spcBef>
              </a:pPr>
              <a:t>3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900430"/>
            <a:ext cx="8542655" cy="5483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5875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complex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one </a:t>
            </a:r>
            <a:r>
              <a:rPr sz="2600" spc="-10" dirty="0">
                <a:latin typeface="Perpetua"/>
                <a:cs typeface="Perpetua"/>
              </a:rPr>
              <a:t>that, at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spc="-10" dirty="0">
                <a:latin typeface="Perpetua"/>
                <a:cs typeface="Perpetua"/>
              </a:rPr>
              <a:t>glance, </a:t>
            </a:r>
            <a:r>
              <a:rPr sz="2600" spc="-4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don't </a:t>
            </a:r>
            <a:r>
              <a:rPr sz="2600" spc="-30" dirty="0">
                <a:latin typeface="Perpetua"/>
                <a:cs typeface="Perpetua"/>
              </a:rPr>
              <a:t>know how 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5" dirty="0">
                <a:latin typeface="Perpetua"/>
                <a:cs typeface="Perpetua"/>
              </a:rPr>
              <a:t>solve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50" dirty="0">
                <a:latin typeface="Perpetua"/>
                <a:cs typeface="Perpetua"/>
              </a:rPr>
              <a:t>easily.</a:t>
            </a:r>
            <a:endParaRPr sz="2600">
              <a:latin typeface="Perpetua"/>
              <a:cs typeface="Perpetua"/>
            </a:endParaRPr>
          </a:p>
          <a:p>
            <a:pPr marL="286385" marR="1651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Computational </a:t>
            </a:r>
            <a:r>
              <a:rPr sz="2600" dirty="0">
                <a:latin typeface="Perpetua"/>
                <a:cs typeface="Perpetua"/>
              </a:rPr>
              <a:t>thinking </a:t>
            </a:r>
            <a:r>
              <a:rPr sz="2600" spc="-20" dirty="0">
                <a:latin typeface="Perpetua"/>
                <a:cs typeface="Perpetua"/>
              </a:rPr>
              <a:t>involves </a:t>
            </a:r>
            <a:r>
              <a:rPr sz="2600" spc="-5" dirty="0">
                <a:latin typeface="Perpetua"/>
                <a:cs typeface="Perpetua"/>
              </a:rPr>
              <a:t>taking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complex </a:t>
            </a:r>
            <a:r>
              <a:rPr sz="2600" spc="-15" dirty="0">
                <a:latin typeface="Perpetua"/>
                <a:cs typeface="Perpetua"/>
              </a:rPr>
              <a:t>problem </a:t>
            </a:r>
            <a:r>
              <a:rPr sz="2600" spc="-5" dirty="0">
                <a:latin typeface="Perpetua"/>
                <a:cs typeface="Perpetua"/>
              </a:rPr>
              <a:t>and  breaking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20" dirty="0">
                <a:latin typeface="Perpetua"/>
                <a:cs typeface="Perpetua"/>
              </a:rPr>
              <a:t>down </a:t>
            </a:r>
            <a:r>
              <a:rPr sz="2600" dirty="0">
                <a:latin typeface="Perpetua"/>
                <a:cs typeface="Perpetua"/>
              </a:rPr>
              <a:t>into a </a:t>
            </a:r>
            <a:r>
              <a:rPr sz="2600" spc="10" dirty="0">
                <a:latin typeface="Perpetua"/>
                <a:cs typeface="Perpetua"/>
              </a:rPr>
              <a:t>series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small, </a:t>
            </a:r>
            <a:r>
              <a:rPr sz="2600" spc="-10" dirty="0">
                <a:latin typeface="Perpetua"/>
                <a:cs typeface="Perpetua"/>
              </a:rPr>
              <a:t>more manageable </a:t>
            </a:r>
            <a:r>
              <a:rPr sz="2600" spc="-15" dirty="0">
                <a:latin typeface="Perpetua"/>
                <a:cs typeface="Perpetua"/>
              </a:rPr>
              <a:t>problems  </a:t>
            </a:r>
            <a:r>
              <a:rPr sz="2600" dirty="0">
                <a:latin typeface="Perpetua"/>
                <a:cs typeface="Perpetua"/>
              </a:rPr>
              <a:t>(</a:t>
            </a:r>
            <a:r>
              <a:rPr sz="2600" b="1" dirty="0">
                <a:latin typeface="Perpetua"/>
                <a:cs typeface="Perpetua"/>
              </a:rPr>
              <a:t>decomposition</a:t>
            </a:r>
            <a:r>
              <a:rPr sz="2600" dirty="0">
                <a:latin typeface="Perpetua"/>
                <a:cs typeface="Perpetua"/>
              </a:rPr>
              <a:t>).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these smaller </a:t>
            </a:r>
            <a:r>
              <a:rPr sz="2600" spc="-10" dirty="0">
                <a:latin typeface="Perpetua"/>
                <a:cs typeface="Perpetua"/>
              </a:rPr>
              <a:t>problems </a:t>
            </a:r>
            <a:r>
              <a:rPr sz="2600" dirty="0">
                <a:latin typeface="Perpetua"/>
                <a:cs typeface="Perpetua"/>
              </a:rPr>
              <a:t>can then </a:t>
            </a:r>
            <a:r>
              <a:rPr sz="2600" spc="-5" dirty="0">
                <a:latin typeface="Perpetua"/>
                <a:cs typeface="Perpetua"/>
              </a:rPr>
              <a:t>be </a:t>
            </a:r>
            <a:r>
              <a:rPr sz="2600" spc="-15" dirty="0">
                <a:latin typeface="Perpetua"/>
                <a:cs typeface="Perpetua"/>
              </a:rPr>
              <a:t>looked at </a:t>
            </a:r>
            <a:r>
              <a:rPr sz="2600" spc="-25" dirty="0">
                <a:latin typeface="Perpetua"/>
                <a:cs typeface="Perpetua"/>
              </a:rPr>
              <a:t>individually,  </a:t>
            </a:r>
            <a:r>
              <a:rPr sz="2600" dirty="0">
                <a:latin typeface="Perpetua"/>
                <a:cs typeface="Perpetua"/>
              </a:rPr>
              <a:t>considering 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spc="-5" dirty="0">
                <a:latin typeface="Perpetua"/>
                <a:cs typeface="Perpetua"/>
              </a:rPr>
              <a:t>similar </a:t>
            </a:r>
            <a:r>
              <a:rPr sz="2600" spc="-10" dirty="0">
                <a:latin typeface="Perpetua"/>
                <a:cs typeface="Perpetua"/>
              </a:rPr>
              <a:t>problems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been </a:t>
            </a:r>
            <a:r>
              <a:rPr sz="2600" spc="-10" dirty="0">
                <a:latin typeface="Perpetua"/>
                <a:cs typeface="Perpetua"/>
              </a:rPr>
              <a:t>solved </a:t>
            </a:r>
            <a:r>
              <a:rPr sz="2600" spc="-15" dirty="0">
                <a:latin typeface="Perpetua"/>
                <a:cs typeface="Perpetua"/>
              </a:rPr>
              <a:t>previously   </a:t>
            </a:r>
            <a:r>
              <a:rPr sz="2600" dirty="0">
                <a:latin typeface="Perpetua"/>
                <a:cs typeface="Perpetua"/>
              </a:rPr>
              <a:t>(</a:t>
            </a:r>
            <a:r>
              <a:rPr sz="2600" b="1" dirty="0">
                <a:latin typeface="Perpetua"/>
                <a:cs typeface="Perpetua"/>
              </a:rPr>
              <a:t>pattern recognition</a:t>
            </a:r>
            <a:r>
              <a:rPr sz="2600" dirty="0">
                <a:latin typeface="Perpetua"/>
                <a:cs typeface="Perpetua"/>
              </a:rPr>
              <a:t>) </a:t>
            </a:r>
            <a:r>
              <a:rPr sz="2600" spc="-5" dirty="0">
                <a:latin typeface="Perpetua"/>
                <a:cs typeface="Perpetua"/>
              </a:rPr>
              <a:t>and focusing </a:t>
            </a:r>
            <a:r>
              <a:rPr sz="2600" spc="-20" dirty="0">
                <a:latin typeface="Perpetua"/>
                <a:cs typeface="Perpetua"/>
              </a:rPr>
              <a:t>only </a:t>
            </a: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important </a:t>
            </a:r>
            <a:r>
              <a:rPr sz="2600" spc="-5" dirty="0">
                <a:latin typeface="Perpetua"/>
                <a:cs typeface="Perpetua"/>
              </a:rPr>
              <a:t>details,  </a:t>
            </a:r>
            <a:r>
              <a:rPr sz="2600" dirty="0">
                <a:latin typeface="Perpetua"/>
                <a:cs typeface="Perpetua"/>
              </a:rPr>
              <a:t>while </a:t>
            </a:r>
            <a:r>
              <a:rPr sz="2600" spc="5" dirty="0">
                <a:latin typeface="Perpetua"/>
                <a:cs typeface="Perpetua"/>
              </a:rPr>
              <a:t>ignoring </a:t>
            </a:r>
            <a:r>
              <a:rPr sz="2600" spc="-10" dirty="0">
                <a:latin typeface="Perpetua"/>
                <a:cs typeface="Perpetua"/>
              </a:rPr>
              <a:t>irrelevant </a:t>
            </a:r>
            <a:r>
              <a:rPr sz="2600" dirty="0">
                <a:latin typeface="Perpetua"/>
                <a:cs typeface="Perpetua"/>
              </a:rPr>
              <a:t>information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(</a:t>
            </a:r>
            <a:r>
              <a:rPr sz="2600" b="1" spc="-5" dirty="0">
                <a:latin typeface="Perpetua"/>
                <a:cs typeface="Perpetua"/>
              </a:rPr>
              <a:t>abstraction</a:t>
            </a:r>
            <a:r>
              <a:rPr sz="2600" spc="-5" dirty="0">
                <a:latin typeface="Perpetua"/>
                <a:cs typeface="Perpetua"/>
              </a:rPr>
              <a:t>).</a:t>
            </a:r>
            <a:endParaRPr sz="2600">
              <a:latin typeface="Perpetua"/>
              <a:cs typeface="Perpetua"/>
            </a:endParaRPr>
          </a:p>
          <a:p>
            <a:pPr marL="286385" marR="17145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Next, simple </a:t>
            </a:r>
            <a:r>
              <a:rPr sz="2600" spc="-5" dirty="0">
                <a:latin typeface="Perpetua"/>
                <a:cs typeface="Perpetua"/>
              </a:rPr>
              <a:t>steps or </a:t>
            </a:r>
            <a:r>
              <a:rPr sz="2600" spc="10" dirty="0">
                <a:latin typeface="Perpetua"/>
                <a:cs typeface="Perpetua"/>
              </a:rPr>
              <a:t>rules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5" dirty="0">
                <a:latin typeface="Perpetua"/>
                <a:cs typeface="Perpetua"/>
              </a:rPr>
              <a:t>solve </a:t>
            </a:r>
            <a:r>
              <a:rPr sz="2600" spc="5" dirty="0">
                <a:latin typeface="Perpetua"/>
                <a:cs typeface="Perpetua"/>
              </a:rPr>
              <a:t>each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smaller </a:t>
            </a:r>
            <a:r>
              <a:rPr sz="2600" spc="-10" dirty="0">
                <a:latin typeface="Perpetua"/>
                <a:cs typeface="Perpetua"/>
              </a:rPr>
              <a:t>problems </a:t>
            </a:r>
            <a:r>
              <a:rPr sz="2600" dirty="0">
                <a:latin typeface="Perpetua"/>
                <a:cs typeface="Perpetua"/>
              </a:rPr>
              <a:t>can  </a:t>
            </a:r>
            <a:r>
              <a:rPr sz="2600" spc="-5" dirty="0">
                <a:latin typeface="Perpetua"/>
                <a:cs typeface="Perpetua"/>
              </a:rPr>
              <a:t>be designed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(</a:t>
            </a:r>
            <a:r>
              <a:rPr sz="2600" b="1" dirty="0">
                <a:latin typeface="Perpetua"/>
                <a:cs typeface="Perpetua"/>
              </a:rPr>
              <a:t>algorithms</a:t>
            </a:r>
            <a:r>
              <a:rPr sz="2600" dirty="0">
                <a:latin typeface="Perpetua"/>
                <a:cs typeface="Perpetua"/>
              </a:rPr>
              <a:t>).</a:t>
            </a:r>
            <a:endParaRPr sz="2600">
              <a:latin typeface="Perpetua"/>
              <a:cs typeface="Perpetua"/>
            </a:endParaRPr>
          </a:p>
          <a:p>
            <a:pPr marL="286385" marR="15875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45" dirty="0">
                <a:latin typeface="Perpetua"/>
                <a:cs typeface="Perpetua"/>
              </a:rPr>
              <a:t>Finally, </a:t>
            </a:r>
            <a:r>
              <a:rPr sz="2600" dirty="0">
                <a:latin typeface="Perpetua"/>
                <a:cs typeface="Perpetua"/>
              </a:rPr>
              <a:t>these simple </a:t>
            </a:r>
            <a:r>
              <a:rPr sz="2600" spc="-5" dirty="0">
                <a:latin typeface="Perpetua"/>
                <a:cs typeface="Perpetua"/>
              </a:rPr>
              <a:t>steps or </a:t>
            </a:r>
            <a:r>
              <a:rPr sz="2600" spc="10" dirty="0">
                <a:latin typeface="Perpetua"/>
                <a:cs typeface="Perpetua"/>
              </a:rPr>
              <a:t>rules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used </a:t>
            </a:r>
            <a:r>
              <a:rPr sz="2600" spc="-5" dirty="0">
                <a:latin typeface="Perpetua"/>
                <a:cs typeface="Perpetua"/>
              </a:rPr>
              <a:t>to</a:t>
            </a:r>
            <a:r>
              <a:rPr sz="2600" spc="-5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b="1" u="heavy" spc="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program</a:t>
            </a:r>
            <a:r>
              <a:rPr sz="2600" b="1" spc="5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computer  to help </a:t>
            </a:r>
            <a:r>
              <a:rPr sz="2600" spc="-15" dirty="0">
                <a:latin typeface="Perpetua"/>
                <a:cs typeface="Perpetua"/>
              </a:rPr>
              <a:t>solve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complex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dirty="0">
                <a:latin typeface="Perpetua"/>
                <a:cs typeface="Perpetua"/>
              </a:rPr>
              <a:t>in the best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00" dirty="0">
                <a:latin typeface="Perpetua"/>
                <a:cs typeface="Perpetua"/>
              </a:rPr>
              <a:t>way.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25533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Decomposition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3089148" y="4539996"/>
            <a:ext cx="2117090" cy="588645"/>
            <a:chOff x="3089148" y="4539996"/>
            <a:chExt cx="2117090" cy="588645"/>
          </a:xfrm>
        </p:grpSpPr>
        <p:sp>
          <p:nvSpPr>
            <p:cNvPr id="4" name="object 4"/>
            <p:cNvSpPr/>
            <p:nvPr/>
          </p:nvSpPr>
          <p:spPr>
            <a:xfrm>
              <a:off x="3089148" y="4539996"/>
              <a:ext cx="2116836" cy="5501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14928" y="4568952"/>
              <a:ext cx="1062227" cy="55930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47822" y="4572762"/>
              <a:ext cx="1999614" cy="433070"/>
            </a:xfrm>
            <a:custGeom>
              <a:avLst/>
              <a:gdLst/>
              <a:ahLst/>
              <a:cxnLst/>
              <a:rect l="l" t="t" r="r" b="b"/>
              <a:pathLst>
                <a:path w="1999614" h="433070">
                  <a:moveTo>
                    <a:pt x="999743" y="0"/>
                  </a:moveTo>
                  <a:lnTo>
                    <a:pt x="925125" y="593"/>
                  </a:lnTo>
                  <a:lnTo>
                    <a:pt x="851997" y="2346"/>
                  </a:lnTo>
                  <a:lnTo>
                    <a:pt x="780552" y="5217"/>
                  </a:lnTo>
                  <a:lnTo>
                    <a:pt x="710985" y="9163"/>
                  </a:lnTo>
                  <a:lnTo>
                    <a:pt x="643488" y="14143"/>
                  </a:lnTo>
                  <a:lnTo>
                    <a:pt x="578254" y="20115"/>
                  </a:lnTo>
                  <a:lnTo>
                    <a:pt x="515477" y="27037"/>
                  </a:lnTo>
                  <a:lnTo>
                    <a:pt x="455349" y="34867"/>
                  </a:lnTo>
                  <a:lnTo>
                    <a:pt x="398065" y="43564"/>
                  </a:lnTo>
                  <a:lnTo>
                    <a:pt x="343817" y="53085"/>
                  </a:lnTo>
                  <a:lnTo>
                    <a:pt x="292798" y="63388"/>
                  </a:lnTo>
                  <a:lnTo>
                    <a:pt x="245202" y="74433"/>
                  </a:lnTo>
                  <a:lnTo>
                    <a:pt x="201222" y="86176"/>
                  </a:lnTo>
                  <a:lnTo>
                    <a:pt x="161051" y="98576"/>
                  </a:lnTo>
                  <a:lnTo>
                    <a:pt x="124883" y="111592"/>
                  </a:lnTo>
                  <a:lnTo>
                    <a:pt x="65326" y="139301"/>
                  </a:lnTo>
                  <a:lnTo>
                    <a:pt x="24097" y="168968"/>
                  </a:lnTo>
                  <a:lnTo>
                    <a:pt x="0" y="216407"/>
                  </a:lnTo>
                  <a:lnTo>
                    <a:pt x="2741" y="232557"/>
                  </a:lnTo>
                  <a:lnTo>
                    <a:pt x="42323" y="278905"/>
                  </a:lnTo>
                  <a:lnTo>
                    <a:pt x="92910" y="307635"/>
                  </a:lnTo>
                  <a:lnTo>
                    <a:pt x="161051" y="334239"/>
                  </a:lnTo>
                  <a:lnTo>
                    <a:pt x="201222" y="346639"/>
                  </a:lnTo>
                  <a:lnTo>
                    <a:pt x="245202" y="358382"/>
                  </a:lnTo>
                  <a:lnTo>
                    <a:pt x="292798" y="369427"/>
                  </a:lnTo>
                  <a:lnTo>
                    <a:pt x="343817" y="379730"/>
                  </a:lnTo>
                  <a:lnTo>
                    <a:pt x="398065" y="389251"/>
                  </a:lnTo>
                  <a:lnTo>
                    <a:pt x="455349" y="397948"/>
                  </a:lnTo>
                  <a:lnTo>
                    <a:pt x="515477" y="405778"/>
                  </a:lnTo>
                  <a:lnTo>
                    <a:pt x="578254" y="412700"/>
                  </a:lnTo>
                  <a:lnTo>
                    <a:pt x="643488" y="418672"/>
                  </a:lnTo>
                  <a:lnTo>
                    <a:pt x="710985" y="423652"/>
                  </a:lnTo>
                  <a:lnTo>
                    <a:pt x="780552" y="427598"/>
                  </a:lnTo>
                  <a:lnTo>
                    <a:pt x="851997" y="430469"/>
                  </a:lnTo>
                  <a:lnTo>
                    <a:pt x="925125" y="432222"/>
                  </a:lnTo>
                  <a:lnTo>
                    <a:pt x="999743" y="432815"/>
                  </a:lnTo>
                  <a:lnTo>
                    <a:pt x="1074362" y="432222"/>
                  </a:lnTo>
                  <a:lnTo>
                    <a:pt x="1147490" y="430469"/>
                  </a:lnTo>
                  <a:lnTo>
                    <a:pt x="1218935" y="427598"/>
                  </a:lnTo>
                  <a:lnTo>
                    <a:pt x="1288502" y="423652"/>
                  </a:lnTo>
                  <a:lnTo>
                    <a:pt x="1355999" y="418672"/>
                  </a:lnTo>
                  <a:lnTo>
                    <a:pt x="1421233" y="412700"/>
                  </a:lnTo>
                  <a:lnTo>
                    <a:pt x="1484010" y="405778"/>
                  </a:lnTo>
                  <a:lnTo>
                    <a:pt x="1544138" y="397948"/>
                  </a:lnTo>
                  <a:lnTo>
                    <a:pt x="1601422" y="389251"/>
                  </a:lnTo>
                  <a:lnTo>
                    <a:pt x="1655670" y="379730"/>
                  </a:lnTo>
                  <a:lnTo>
                    <a:pt x="1706689" y="369427"/>
                  </a:lnTo>
                  <a:lnTo>
                    <a:pt x="1754285" y="358382"/>
                  </a:lnTo>
                  <a:lnTo>
                    <a:pt x="1798265" y="346639"/>
                  </a:lnTo>
                  <a:lnTo>
                    <a:pt x="1838436" y="334239"/>
                  </a:lnTo>
                  <a:lnTo>
                    <a:pt x="1874604" y="321223"/>
                  </a:lnTo>
                  <a:lnTo>
                    <a:pt x="1934161" y="293514"/>
                  </a:lnTo>
                  <a:lnTo>
                    <a:pt x="1975390" y="263847"/>
                  </a:lnTo>
                  <a:lnTo>
                    <a:pt x="1999488" y="216407"/>
                  </a:lnTo>
                  <a:lnTo>
                    <a:pt x="1996746" y="200258"/>
                  </a:lnTo>
                  <a:lnTo>
                    <a:pt x="1957164" y="153910"/>
                  </a:lnTo>
                  <a:lnTo>
                    <a:pt x="1906577" y="125180"/>
                  </a:lnTo>
                  <a:lnTo>
                    <a:pt x="1838436" y="98576"/>
                  </a:lnTo>
                  <a:lnTo>
                    <a:pt x="1798265" y="86176"/>
                  </a:lnTo>
                  <a:lnTo>
                    <a:pt x="1754285" y="74433"/>
                  </a:lnTo>
                  <a:lnTo>
                    <a:pt x="1706689" y="63388"/>
                  </a:lnTo>
                  <a:lnTo>
                    <a:pt x="1655670" y="53085"/>
                  </a:lnTo>
                  <a:lnTo>
                    <a:pt x="1601422" y="43564"/>
                  </a:lnTo>
                  <a:lnTo>
                    <a:pt x="1544138" y="34867"/>
                  </a:lnTo>
                  <a:lnTo>
                    <a:pt x="1484010" y="27037"/>
                  </a:lnTo>
                  <a:lnTo>
                    <a:pt x="1421233" y="20115"/>
                  </a:lnTo>
                  <a:lnTo>
                    <a:pt x="1355999" y="14143"/>
                  </a:lnTo>
                  <a:lnTo>
                    <a:pt x="1288502" y="9163"/>
                  </a:lnTo>
                  <a:lnTo>
                    <a:pt x="1218935" y="5217"/>
                  </a:lnTo>
                  <a:lnTo>
                    <a:pt x="1147490" y="2346"/>
                  </a:lnTo>
                  <a:lnTo>
                    <a:pt x="1074362" y="593"/>
                  </a:lnTo>
                  <a:lnTo>
                    <a:pt x="999743" y="0"/>
                  </a:lnTo>
                  <a:close/>
                </a:path>
              </a:pathLst>
            </a:custGeom>
            <a:solidFill>
              <a:srgbClr val="A18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47822" y="4572762"/>
              <a:ext cx="1999614" cy="433070"/>
            </a:xfrm>
            <a:custGeom>
              <a:avLst/>
              <a:gdLst/>
              <a:ahLst/>
              <a:cxnLst/>
              <a:rect l="l" t="t" r="r" b="b"/>
              <a:pathLst>
                <a:path w="1999614" h="433070">
                  <a:moveTo>
                    <a:pt x="0" y="216407"/>
                  </a:moveTo>
                  <a:lnTo>
                    <a:pt x="24097" y="168968"/>
                  </a:lnTo>
                  <a:lnTo>
                    <a:pt x="65326" y="139301"/>
                  </a:lnTo>
                  <a:lnTo>
                    <a:pt x="124883" y="111592"/>
                  </a:lnTo>
                  <a:lnTo>
                    <a:pt x="161051" y="98576"/>
                  </a:lnTo>
                  <a:lnTo>
                    <a:pt x="201222" y="86176"/>
                  </a:lnTo>
                  <a:lnTo>
                    <a:pt x="245202" y="74433"/>
                  </a:lnTo>
                  <a:lnTo>
                    <a:pt x="292798" y="63388"/>
                  </a:lnTo>
                  <a:lnTo>
                    <a:pt x="343817" y="53085"/>
                  </a:lnTo>
                  <a:lnTo>
                    <a:pt x="398065" y="43564"/>
                  </a:lnTo>
                  <a:lnTo>
                    <a:pt x="455349" y="34867"/>
                  </a:lnTo>
                  <a:lnTo>
                    <a:pt x="515477" y="27037"/>
                  </a:lnTo>
                  <a:lnTo>
                    <a:pt x="578254" y="20115"/>
                  </a:lnTo>
                  <a:lnTo>
                    <a:pt x="643488" y="14143"/>
                  </a:lnTo>
                  <a:lnTo>
                    <a:pt x="710985" y="9163"/>
                  </a:lnTo>
                  <a:lnTo>
                    <a:pt x="780552" y="5217"/>
                  </a:lnTo>
                  <a:lnTo>
                    <a:pt x="851997" y="2346"/>
                  </a:lnTo>
                  <a:lnTo>
                    <a:pt x="925125" y="593"/>
                  </a:lnTo>
                  <a:lnTo>
                    <a:pt x="999743" y="0"/>
                  </a:lnTo>
                  <a:lnTo>
                    <a:pt x="1074362" y="593"/>
                  </a:lnTo>
                  <a:lnTo>
                    <a:pt x="1147490" y="2346"/>
                  </a:lnTo>
                  <a:lnTo>
                    <a:pt x="1218935" y="5217"/>
                  </a:lnTo>
                  <a:lnTo>
                    <a:pt x="1288502" y="9163"/>
                  </a:lnTo>
                  <a:lnTo>
                    <a:pt x="1355999" y="14143"/>
                  </a:lnTo>
                  <a:lnTo>
                    <a:pt x="1421233" y="20115"/>
                  </a:lnTo>
                  <a:lnTo>
                    <a:pt x="1484010" y="27037"/>
                  </a:lnTo>
                  <a:lnTo>
                    <a:pt x="1544138" y="34867"/>
                  </a:lnTo>
                  <a:lnTo>
                    <a:pt x="1601422" y="43564"/>
                  </a:lnTo>
                  <a:lnTo>
                    <a:pt x="1655670" y="53085"/>
                  </a:lnTo>
                  <a:lnTo>
                    <a:pt x="1706689" y="63388"/>
                  </a:lnTo>
                  <a:lnTo>
                    <a:pt x="1754285" y="74433"/>
                  </a:lnTo>
                  <a:lnTo>
                    <a:pt x="1798265" y="86176"/>
                  </a:lnTo>
                  <a:lnTo>
                    <a:pt x="1838436" y="98576"/>
                  </a:lnTo>
                  <a:lnTo>
                    <a:pt x="1874604" y="111592"/>
                  </a:lnTo>
                  <a:lnTo>
                    <a:pt x="1934161" y="139301"/>
                  </a:lnTo>
                  <a:lnTo>
                    <a:pt x="1975390" y="168968"/>
                  </a:lnTo>
                  <a:lnTo>
                    <a:pt x="1999488" y="216407"/>
                  </a:lnTo>
                  <a:lnTo>
                    <a:pt x="1996746" y="232557"/>
                  </a:lnTo>
                  <a:lnTo>
                    <a:pt x="1957164" y="278905"/>
                  </a:lnTo>
                  <a:lnTo>
                    <a:pt x="1906577" y="307635"/>
                  </a:lnTo>
                  <a:lnTo>
                    <a:pt x="1838436" y="334239"/>
                  </a:lnTo>
                  <a:lnTo>
                    <a:pt x="1798265" y="346639"/>
                  </a:lnTo>
                  <a:lnTo>
                    <a:pt x="1754285" y="358382"/>
                  </a:lnTo>
                  <a:lnTo>
                    <a:pt x="1706689" y="369427"/>
                  </a:lnTo>
                  <a:lnTo>
                    <a:pt x="1655670" y="379730"/>
                  </a:lnTo>
                  <a:lnTo>
                    <a:pt x="1601422" y="389251"/>
                  </a:lnTo>
                  <a:lnTo>
                    <a:pt x="1544138" y="397948"/>
                  </a:lnTo>
                  <a:lnTo>
                    <a:pt x="1484010" y="405778"/>
                  </a:lnTo>
                  <a:lnTo>
                    <a:pt x="1421233" y="412700"/>
                  </a:lnTo>
                  <a:lnTo>
                    <a:pt x="1355999" y="418672"/>
                  </a:lnTo>
                  <a:lnTo>
                    <a:pt x="1288502" y="423652"/>
                  </a:lnTo>
                  <a:lnTo>
                    <a:pt x="1218935" y="427598"/>
                  </a:lnTo>
                  <a:lnTo>
                    <a:pt x="1147490" y="430469"/>
                  </a:lnTo>
                  <a:lnTo>
                    <a:pt x="1074362" y="432222"/>
                  </a:lnTo>
                  <a:lnTo>
                    <a:pt x="999743" y="432815"/>
                  </a:lnTo>
                  <a:lnTo>
                    <a:pt x="925125" y="432222"/>
                  </a:lnTo>
                  <a:lnTo>
                    <a:pt x="851997" y="430469"/>
                  </a:lnTo>
                  <a:lnTo>
                    <a:pt x="780552" y="427598"/>
                  </a:lnTo>
                  <a:lnTo>
                    <a:pt x="710985" y="423652"/>
                  </a:lnTo>
                  <a:lnTo>
                    <a:pt x="643488" y="418672"/>
                  </a:lnTo>
                  <a:lnTo>
                    <a:pt x="578254" y="412700"/>
                  </a:lnTo>
                  <a:lnTo>
                    <a:pt x="515477" y="405778"/>
                  </a:lnTo>
                  <a:lnTo>
                    <a:pt x="455349" y="397948"/>
                  </a:lnTo>
                  <a:lnTo>
                    <a:pt x="398065" y="389251"/>
                  </a:lnTo>
                  <a:lnTo>
                    <a:pt x="343817" y="379730"/>
                  </a:lnTo>
                  <a:lnTo>
                    <a:pt x="292798" y="369427"/>
                  </a:lnTo>
                  <a:lnTo>
                    <a:pt x="245202" y="358382"/>
                  </a:lnTo>
                  <a:lnTo>
                    <a:pt x="201222" y="346639"/>
                  </a:lnTo>
                  <a:lnTo>
                    <a:pt x="161051" y="334239"/>
                  </a:lnTo>
                  <a:lnTo>
                    <a:pt x="124883" y="321223"/>
                  </a:lnTo>
                  <a:lnTo>
                    <a:pt x="65326" y="293514"/>
                  </a:lnTo>
                  <a:lnTo>
                    <a:pt x="24097" y="263847"/>
                  </a:lnTo>
                  <a:lnTo>
                    <a:pt x="0" y="216407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7340" y="976630"/>
            <a:ext cx="8529320" cy="3930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Decomposition </a:t>
            </a:r>
            <a:r>
              <a:rPr sz="2600" dirty="0">
                <a:latin typeface="Perpetua"/>
                <a:cs typeface="Perpetua"/>
              </a:rPr>
              <a:t>helps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5" dirty="0">
                <a:latin typeface="Perpetua"/>
                <a:cs typeface="Perpetua"/>
              </a:rPr>
              <a:t>breaking </a:t>
            </a:r>
            <a:r>
              <a:rPr sz="2600" spc="-25" dirty="0">
                <a:latin typeface="Perpetua"/>
                <a:cs typeface="Perpetua"/>
              </a:rPr>
              <a:t>down </a:t>
            </a:r>
            <a:r>
              <a:rPr sz="2600" spc="-5" dirty="0">
                <a:latin typeface="Perpetua"/>
                <a:cs typeface="Perpetua"/>
              </a:rPr>
              <a:t>complex </a:t>
            </a:r>
            <a:r>
              <a:rPr sz="2600" spc="-15" dirty="0">
                <a:latin typeface="Perpetua"/>
                <a:cs typeface="Perpetua"/>
              </a:rPr>
              <a:t>problems </a:t>
            </a:r>
            <a:r>
              <a:rPr sz="2600" dirty="0">
                <a:latin typeface="Perpetua"/>
                <a:cs typeface="Perpetua"/>
              </a:rPr>
              <a:t>into  </a:t>
            </a:r>
            <a:r>
              <a:rPr sz="2600" spc="-10" dirty="0">
                <a:latin typeface="Perpetua"/>
                <a:cs typeface="Perpetua"/>
              </a:rPr>
              <a:t>more manageable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parts.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Decomposition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one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four </a:t>
            </a:r>
            <a:r>
              <a:rPr sz="2600" spc="10" dirty="0">
                <a:latin typeface="Perpetua"/>
                <a:cs typeface="Perpetua"/>
              </a:rPr>
              <a:t>cornerstones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Computer</a:t>
            </a:r>
            <a:r>
              <a:rPr sz="2600" spc="-10" dirty="0">
                <a:latin typeface="Perpetua"/>
                <a:cs typeface="Perpetua"/>
              </a:rPr>
              <a:t> Science.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61950" algn="l"/>
              </a:tabLst>
            </a:pPr>
            <a:r>
              <a:rPr dirty="0"/>
              <a:t>	</a:t>
            </a: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b="1" spc="-25" dirty="0">
                <a:latin typeface="Perpetua"/>
                <a:cs typeface="Perpetua"/>
              </a:rPr>
              <a:t>involves </a:t>
            </a:r>
            <a:r>
              <a:rPr sz="2600" b="1" dirty="0">
                <a:latin typeface="Perpetua"/>
                <a:cs typeface="Perpetua"/>
              </a:rPr>
              <a:t>breaking </a:t>
            </a:r>
            <a:r>
              <a:rPr sz="2600" b="1" spc="-20" dirty="0">
                <a:latin typeface="Perpetua"/>
                <a:cs typeface="Perpetua"/>
              </a:rPr>
              <a:t>down </a:t>
            </a:r>
            <a:r>
              <a:rPr sz="2600" b="1" dirty="0">
                <a:latin typeface="Perpetua"/>
                <a:cs typeface="Perpetua"/>
              </a:rPr>
              <a:t>a </a:t>
            </a:r>
            <a:r>
              <a:rPr sz="2600" b="1" spc="-5" dirty="0">
                <a:latin typeface="Perpetua"/>
                <a:cs typeface="Perpetua"/>
              </a:rPr>
              <a:t>complex problem </a:t>
            </a:r>
            <a:r>
              <a:rPr sz="2600" b="1" dirty="0">
                <a:latin typeface="Perpetua"/>
                <a:cs typeface="Perpetua"/>
              </a:rPr>
              <a:t>or </a:t>
            </a:r>
            <a:r>
              <a:rPr sz="2600" b="1" spc="-5" dirty="0">
                <a:latin typeface="Perpetua"/>
                <a:cs typeface="Perpetua"/>
              </a:rPr>
              <a:t>system  into smaller </a:t>
            </a:r>
            <a:r>
              <a:rPr sz="2600" b="1" spc="15" dirty="0">
                <a:latin typeface="Perpetua"/>
                <a:cs typeface="Perpetua"/>
              </a:rPr>
              <a:t>parts </a:t>
            </a:r>
            <a:r>
              <a:rPr sz="2600" b="1" spc="-10" dirty="0">
                <a:latin typeface="Perpetua"/>
                <a:cs typeface="Perpetua"/>
              </a:rPr>
              <a:t>that </a:t>
            </a:r>
            <a:r>
              <a:rPr sz="2600" b="1" spc="-5" dirty="0">
                <a:latin typeface="Perpetua"/>
                <a:cs typeface="Perpetua"/>
              </a:rPr>
              <a:t>are more </a:t>
            </a:r>
            <a:r>
              <a:rPr sz="2600" b="1" spc="-10" dirty="0">
                <a:latin typeface="Perpetua"/>
                <a:cs typeface="Perpetua"/>
              </a:rPr>
              <a:t>manageable </a:t>
            </a:r>
            <a:r>
              <a:rPr sz="2600" b="1" spc="-5" dirty="0">
                <a:latin typeface="Perpetua"/>
                <a:cs typeface="Perpetua"/>
              </a:rPr>
              <a:t>and easier </a:t>
            </a:r>
            <a:r>
              <a:rPr sz="2600" b="1" dirty="0">
                <a:latin typeface="Perpetua"/>
                <a:cs typeface="Perpetua"/>
              </a:rPr>
              <a:t>to  understand</a:t>
            </a:r>
            <a:r>
              <a:rPr sz="260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322580" algn="l"/>
              </a:tabLst>
            </a:pPr>
            <a:r>
              <a:rPr dirty="0"/>
              <a:t>	</a:t>
            </a:r>
            <a:r>
              <a:rPr sz="2600" dirty="0">
                <a:latin typeface="Perpetua"/>
                <a:cs typeface="Perpetua"/>
              </a:rPr>
              <a:t>The smaller </a:t>
            </a:r>
            <a:r>
              <a:rPr sz="2600" spc="15" dirty="0">
                <a:latin typeface="Perpetua"/>
                <a:cs typeface="Perpetua"/>
              </a:rPr>
              <a:t>parts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then </a:t>
            </a:r>
            <a:r>
              <a:rPr sz="2600" spc="-5" dirty="0">
                <a:latin typeface="Perpetua"/>
                <a:cs typeface="Perpetua"/>
              </a:rPr>
              <a:t>be examined and </a:t>
            </a:r>
            <a:r>
              <a:rPr sz="2600" spc="-10" dirty="0">
                <a:latin typeface="Perpetua"/>
                <a:cs typeface="Perpetua"/>
              </a:rPr>
              <a:t>solved, </a:t>
            </a:r>
            <a:r>
              <a:rPr sz="2600" spc="-5" dirty="0">
                <a:latin typeface="Perpetua"/>
                <a:cs typeface="Perpetua"/>
              </a:rPr>
              <a:t>or designed </a:t>
            </a:r>
            <a:r>
              <a:rPr sz="2600" spc="575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individually,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spc="-10" dirty="0">
                <a:latin typeface="Perpetua"/>
                <a:cs typeface="Perpetua"/>
              </a:rPr>
              <a:t>they are </a:t>
            </a:r>
            <a:r>
              <a:rPr sz="2600" dirty="0">
                <a:latin typeface="Perpetua"/>
                <a:cs typeface="Perpetua"/>
              </a:rPr>
              <a:t>simpler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25" dirty="0">
                <a:latin typeface="Perpetua"/>
                <a:cs typeface="Perpetua"/>
              </a:rPr>
              <a:t>work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with.</a:t>
            </a:r>
            <a:endParaRPr sz="2600">
              <a:latin typeface="Perpetua"/>
              <a:cs typeface="Perpetua"/>
            </a:endParaRPr>
          </a:p>
          <a:p>
            <a:pPr marR="840740" algn="ctr">
              <a:lnSpc>
                <a:spcPct val="100000"/>
              </a:lnSpc>
              <a:spcBef>
                <a:spcPts val="1814"/>
              </a:spcBef>
            </a:pPr>
            <a:r>
              <a:rPr sz="1800" spc="-10" dirty="0">
                <a:latin typeface="Perpetua"/>
                <a:cs typeface="Perpetua"/>
              </a:rPr>
              <a:t>Problem</a:t>
            </a:r>
            <a:endParaRPr sz="1800">
              <a:latin typeface="Perpetua"/>
              <a:cs typeface="Perpetu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80287" y="5669279"/>
            <a:ext cx="1656714" cy="797560"/>
            <a:chOff x="780287" y="5669279"/>
            <a:chExt cx="1656714" cy="797560"/>
          </a:xfrm>
        </p:grpSpPr>
        <p:sp>
          <p:nvSpPr>
            <p:cNvPr id="10" name="object 10"/>
            <p:cNvSpPr/>
            <p:nvPr/>
          </p:nvSpPr>
          <p:spPr>
            <a:xfrm>
              <a:off x="780287" y="5730239"/>
              <a:ext cx="1656588" cy="6035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56131" y="5669279"/>
              <a:ext cx="1118616" cy="79705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8961" y="5763005"/>
              <a:ext cx="1539240" cy="486409"/>
            </a:xfrm>
            <a:custGeom>
              <a:avLst/>
              <a:gdLst/>
              <a:ahLst/>
              <a:cxnLst/>
              <a:rect l="l" t="t" r="r" b="b"/>
              <a:pathLst>
                <a:path w="1539239" h="486410">
                  <a:moveTo>
                    <a:pt x="769619" y="0"/>
                  </a:moveTo>
                  <a:lnTo>
                    <a:pt x="699569" y="993"/>
                  </a:lnTo>
                  <a:lnTo>
                    <a:pt x="631281" y="3916"/>
                  </a:lnTo>
                  <a:lnTo>
                    <a:pt x="565026" y="8682"/>
                  </a:lnTo>
                  <a:lnTo>
                    <a:pt x="501076" y="15207"/>
                  </a:lnTo>
                  <a:lnTo>
                    <a:pt x="439704" y="23403"/>
                  </a:lnTo>
                  <a:lnTo>
                    <a:pt x="381180" y="33186"/>
                  </a:lnTo>
                  <a:lnTo>
                    <a:pt x="325777" y="44469"/>
                  </a:lnTo>
                  <a:lnTo>
                    <a:pt x="273766" y="57167"/>
                  </a:lnTo>
                  <a:lnTo>
                    <a:pt x="225418" y="71194"/>
                  </a:lnTo>
                  <a:lnTo>
                    <a:pt x="181006" y="86464"/>
                  </a:lnTo>
                  <a:lnTo>
                    <a:pt x="140802" y="102891"/>
                  </a:lnTo>
                  <a:lnTo>
                    <a:pt x="105076" y="120390"/>
                  </a:lnTo>
                  <a:lnTo>
                    <a:pt x="48150" y="158258"/>
                  </a:lnTo>
                  <a:lnTo>
                    <a:pt x="12399" y="199383"/>
                  </a:lnTo>
                  <a:lnTo>
                    <a:pt x="0" y="243078"/>
                  </a:lnTo>
                  <a:lnTo>
                    <a:pt x="3145" y="265203"/>
                  </a:lnTo>
                  <a:lnTo>
                    <a:pt x="27491" y="307698"/>
                  </a:lnTo>
                  <a:lnTo>
                    <a:pt x="74102" y="347281"/>
                  </a:lnTo>
                  <a:lnTo>
                    <a:pt x="140802" y="383264"/>
                  </a:lnTo>
                  <a:lnTo>
                    <a:pt x="181006" y="399691"/>
                  </a:lnTo>
                  <a:lnTo>
                    <a:pt x="225418" y="414961"/>
                  </a:lnTo>
                  <a:lnTo>
                    <a:pt x="273766" y="428988"/>
                  </a:lnTo>
                  <a:lnTo>
                    <a:pt x="325777" y="441686"/>
                  </a:lnTo>
                  <a:lnTo>
                    <a:pt x="381180" y="452969"/>
                  </a:lnTo>
                  <a:lnTo>
                    <a:pt x="439704" y="462752"/>
                  </a:lnTo>
                  <a:lnTo>
                    <a:pt x="501076" y="470948"/>
                  </a:lnTo>
                  <a:lnTo>
                    <a:pt x="565026" y="477473"/>
                  </a:lnTo>
                  <a:lnTo>
                    <a:pt x="631281" y="482239"/>
                  </a:lnTo>
                  <a:lnTo>
                    <a:pt x="699569" y="485162"/>
                  </a:lnTo>
                  <a:lnTo>
                    <a:pt x="769619" y="486156"/>
                  </a:lnTo>
                  <a:lnTo>
                    <a:pt x="839674" y="485162"/>
                  </a:lnTo>
                  <a:lnTo>
                    <a:pt x="907965" y="482239"/>
                  </a:lnTo>
                  <a:lnTo>
                    <a:pt x="974222" y="477473"/>
                  </a:lnTo>
                  <a:lnTo>
                    <a:pt x="1038173" y="470948"/>
                  </a:lnTo>
                  <a:lnTo>
                    <a:pt x="1099546" y="462752"/>
                  </a:lnTo>
                  <a:lnTo>
                    <a:pt x="1158070" y="452969"/>
                  </a:lnTo>
                  <a:lnTo>
                    <a:pt x="1213473" y="441686"/>
                  </a:lnTo>
                  <a:lnTo>
                    <a:pt x="1265484" y="428988"/>
                  </a:lnTo>
                  <a:lnTo>
                    <a:pt x="1313830" y="414961"/>
                  </a:lnTo>
                  <a:lnTo>
                    <a:pt x="1358241" y="399691"/>
                  </a:lnTo>
                  <a:lnTo>
                    <a:pt x="1398444" y="383264"/>
                  </a:lnTo>
                  <a:lnTo>
                    <a:pt x="1434168" y="365765"/>
                  </a:lnTo>
                  <a:lnTo>
                    <a:pt x="1491092" y="327897"/>
                  </a:lnTo>
                  <a:lnTo>
                    <a:pt x="1526841" y="286772"/>
                  </a:lnTo>
                  <a:lnTo>
                    <a:pt x="1539239" y="243078"/>
                  </a:lnTo>
                  <a:lnTo>
                    <a:pt x="1536094" y="220952"/>
                  </a:lnTo>
                  <a:lnTo>
                    <a:pt x="1511749" y="178457"/>
                  </a:lnTo>
                  <a:lnTo>
                    <a:pt x="1465141" y="138874"/>
                  </a:lnTo>
                  <a:lnTo>
                    <a:pt x="1398444" y="102891"/>
                  </a:lnTo>
                  <a:lnTo>
                    <a:pt x="1358241" y="86464"/>
                  </a:lnTo>
                  <a:lnTo>
                    <a:pt x="1313830" y="71194"/>
                  </a:lnTo>
                  <a:lnTo>
                    <a:pt x="1265484" y="57167"/>
                  </a:lnTo>
                  <a:lnTo>
                    <a:pt x="1213473" y="44469"/>
                  </a:lnTo>
                  <a:lnTo>
                    <a:pt x="1158070" y="33186"/>
                  </a:lnTo>
                  <a:lnTo>
                    <a:pt x="1099546" y="23403"/>
                  </a:lnTo>
                  <a:lnTo>
                    <a:pt x="1038173" y="15207"/>
                  </a:lnTo>
                  <a:lnTo>
                    <a:pt x="974222" y="8682"/>
                  </a:lnTo>
                  <a:lnTo>
                    <a:pt x="907965" y="3916"/>
                  </a:lnTo>
                  <a:lnTo>
                    <a:pt x="839674" y="993"/>
                  </a:lnTo>
                  <a:lnTo>
                    <a:pt x="769619" y="0"/>
                  </a:lnTo>
                  <a:close/>
                </a:path>
              </a:pathLst>
            </a:custGeom>
            <a:solidFill>
              <a:srgbClr val="A18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8961" y="5763005"/>
              <a:ext cx="1539240" cy="486409"/>
            </a:xfrm>
            <a:custGeom>
              <a:avLst/>
              <a:gdLst/>
              <a:ahLst/>
              <a:cxnLst/>
              <a:rect l="l" t="t" r="r" b="b"/>
              <a:pathLst>
                <a:path w="1539239" h="486410">
                  <a:moveTo>
                    <a:pt x="0" y="243078"/>
                  </a:moveTo>
                  <a:lnTo>
                    <a:pt x="12399" y="199383"/>
                  </a:lnTo>
                  <a:lnTo>
                    <a:pt x="48150" y="158258"/>
                  </a:lnTo>
                  <a:lnTo>
                    <a:pt x="105076" y="120390"/>
                  </a:lnTo>
                  <a:lnTo>
                    <a:pt x="140802" y="102891"/>
                  </a:lnTo>
                  <a:lnTo>
                    <a:pt x="181006" y="86464"/>
                  </a:lnTo>
                  <a:lnTo>
                    <a:pt x="225418" y="71194"/>
                  </a:lnTo>
                  <a:lnTo>
                    <a:pt x="273766" y="57167"/>
                  </a:lnTo>
                  <a:lnTo>
                    <a:pt x="325777" y="44469"/>
                  </a:lnTo>
                  <a:lnTo>
                    <a:pt x="381180" y="33186"/>
                  </a:lnTo>
                  <a:lnTo>
                    <a:pt x="439704" y="23403"/>
                  </a:lnTo>
                  <a:lnTo>
                    <a:pt x="501076" y="15207"/>
                  </a:lnTo>
                  <a:lnTo>
                    <a:pt x="565026" y="8682"/>
                  </a:lnTo>
                  <a:lnTo>
                    <a:pt x="631281" y="3916"/>
                  </a:lnTo>
                  <a:lnTo>
                    <a:pt x="699569" y="993"/>
                  </a:lnTo>
                  <a:lnTo>
                    <a:pt x="769619" y="0"/>
                  </a:lnTo>
                  <a:lnTo>
                    <a:pt x="839674" y="993"/>
                  </a:lnTo>
                  <a:lnTo>
                    <a:pt x="907965" y="3916"/>
                  </a:lnTo>
                  <a:lnTo>
                    <a:pt x="974222" y="8682"/>
                  </a:lnTo>
                  <a:lnTo>
                    <a:pt x="1038173" y="15207"/>
                  </a:lnTo>
                  <a:lnTo>
                    <a:pt x="1099546" y="23403"/>
                  </a:lnTo>
                  <a:lnTo>
                    <a:pt x="1158070" y="33186"/>
                  </a:lnTo>
                  <a:lnTo>
                    <a:pt x="1213473" y="44469"/>
                  </a:lnTo>
                  <a:lnTo>
                    <a:pt x="1265484" y="57167"/>
                  </a:lnTo>
                  <a:lnTo>
                    <a:pt x="1313830" y="71194"/>
                  </a:lnTo>
                  <a:lnTo>
                    <a:pt x="1358241" y="86464"/>
                  </a:lnTo>
                  <a:lnTo>
                    <a:pt x="1398444" y="102891"/>
                  </a:lnTo>
                  <a:lnTo>
                    <a:pt x="1434168" y="120390"/>
                  </a:lnTo>
                  <a:lnTo>
                    <a:pt x="1491092" y="158258"/>
                  </a:lnTo>
                  <a:lnTo>
                    <a:pt x="1526841" y="199383"/>
                  </a:lnTo>
                  <a:lnTo>
                    <a:pt x="1539239" y="243078"/>
                  </a:lnTo>
                  <a:lnTo>
                    <a:pt x="1536094" y="265203"/>
                  </a:lnTo>
                  <a:lnTo>
                    <a:pt x="1511749" y="307698"/>
                  </a:lnTo>
                  <a:lnTo>
                    <a:pt x="1465141" y="347281"/>
                  </a:lnTo>
                  <a:lnTo>
                    <a:pt x="1398444" y="383264"/>
                  </a:lnTo>
                  <a:lnTo>
                    <a:pt x="1358241" y="399691"/>
                  </a:lnTo>
                  <a:lnTo>
                    <a:pt x="1313830" y="414961"/>
                  </a:lnTo>
                  <a:lnTo>
                    <a:pt x="1265484" y="428988"/>
                  </a:lnTo>
                  <a:lnTo>
                    <a:pt x="1213473" y="441686"/>
                  </a:lnTo>
                  <a:lnTo>
                    <a:pt x="1158070" y="452969"/>
                  </a:lnTo>
                  <a:lnTo>
                    <a:pt x="1099546" y="462752"/>
                  </a:lnTo>
                  <a:lnTo>
                    <a:pt x="1038173" y="470948"/>
                  </a:lnTo>
                  <a:lnTo>
                    <a:pt x="974222" y="477473"/>
                  </a:lnTo>
                  <a:lnTo>
                    <a:pt x="907965" y="482239"/>
                  </a:lnTo>
                  <a:lnTo>
                    <a:pt x="839674" y="485162"/>
                  </a:lnTo>
                  <a:lnTo>
                    <a:pt x="769619" y="486156"/>
                  </a:lnTo>
                  <a:lnTo>
                    <a:pt x="699569" y="485162"/>
                  </a:lnTo>
                  <a:lnTo>
                    <a:pt x="631281" y="482239"/>
                  </a:lnTo>
                  <a:lnTo>
                    <a:pt x="565026" y="477473"/>
                  </a:lnTo>
                  <a:lnTo>
                    <a:pt x="501076" y="470948"/>
                  </a:lnTo>
                  <a:lnTo>
                    <a:pt x="439704" y="462752"/>
                  </a:lnTo>
                  <a:lnTo>
                    <a:pt x="381180" y="452969"/>
                  </a:lnTo>
                  <a:lnTo>
                    <a:pt x="325777" y="441686"/>
                  </a:lnTo>
                  <a:lnTo>
                    <a:pt x="273766" y="428988"/>
                  </a:lnTo>
                  <a:lnTo>
                    <a:pt x="225418" y="414961"/>
                  </a:lnTo>
                  <a:lnTo>
                    <a:pt x="181006" y="399691"/>
                  </a:lnTo>
                  <a:lnTo>
                    <a:pt x="140802" y="383264"/>
                  </a:lnTo>
                  <a:lnTo>
                    <a:pt x="105076" y="365765"/>
                  </a:lnTo>
                  <a:lnTo>
                    <a:pt x="48150" y="327897"/>
                  </a:lnTo>
                  <a:lnTo>
                    <a:pt x="12399" y="286772"/>
                  </a:lnTo>
                  <a:lnTo>
                    <a:pt x="0" y="243078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05280" y="5705652"/>
            <a:ext cx="805180" cy="5410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indent="255904">
              <a:lnSpc>
                <a:spcPts val="2100"/>
              </a:lnSpc>
              <a:spcBef>
                <a:spcPts val="15"/>
              </a:spcBef>
            </a:pPr>
            <a:r>
              <a:rPr sz="1600" spc="-5" dirty="0">
                <a:latin typeface="Perpetua"/>
                <a:cs typeface="Perpetua"/>
              </a:rPr>
              <a:t>Sub  </a:t>
            </a:r>
            <a:r>
              <a:rPr sz="1600" spc="-10" dirty="0">
                <a:latin typeface="Perpetua"/>
                <a:cs typeface="Perpetua"/>
              </a:rPr>
              <a:t>Problem</a:t>
            </a:r>
            <a:r>
              <a:rPr sz="1600" spc="-7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1</a:t>
            </a:r>
            <a:endParaRPr sz="1800">
              <a:latin typeface="Perpetua"/>
              <a:cs typeface="Perpetu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607819" y="4998592"/>
            <a:ext cx="6012180" cy="1391920"/>
            <a:chOff x="1607819" y="4998592"/>
            <a:chExt cx="6012180" cy="1391920"/>
          </a:xfrm>
        </p:grpSpPr>
        <p:sp>
          <p:nvSpPr>
            <p:cNvPr id="16" name="object 16"/>
            <p:cNvSpPr/>
            <p:nvPr/>
          </p:nvSpPr>
          <p:spPr>
            <a:xfrm>
              <a:off x="1607820" y="4998592"/>
              <a:ext cx="6012180" cy="788035"/>
            </a:xfrm>
            <a:custGeom>
              <a:avLst/>
              <a:gdLst/>
              <a:ahLst/>
              <a:cxnLst/>
              <a:rect l="l" t="t" r="r" b="b"/>
              <a:pathLst>
                <a:path w="6012180" h="788035">
                  <a:moveTo>
                    <a:pt x="6012053" y="716610"/>
                  </a:moveTo>
                  <a:lnTo>
                    <a:pt x="5938266" y="650532"/>
                  </a:lnTo>
                  <a:lnTo>
                    <a:pt x="5935599" y="648195"/>
                  </a:lnTo>
                  <a:lnTo>
                    <a:pt x="5931662" y="648423"/>
                  </a:lnTo>
                  <a:lnTo>
                    <a:pt x="5929249" y="651027"/>
                  </a:lnTo>
                  <a:lnTo>
                    <a:pt x="5926963" y="653643"/>
                  </a:lnTo>
                  <a:lnTo>
                    <a:pt x="5927090" y="657656"/>
                  </a:lnTo>
                  <a:lnTo>
                    <a:pt x="5929757" y="659993"/>
                  </a:lnTo>
                  <a:lnTo>
                    <a:pt x="5978029" y="703160"/>
                  </a:lnTo>
                  <a:lnTo>
                    <a:pt x="2540254" y="0"/>
                  </a:lnTo>
                  <a:lnTo>
                    <a:pt x="2539085" y="5715"/>
                  </a:lnTo>
                  <a:lnTo>
                    <a:pt x="2537460" y="127"/>
                  </a:lnTo>
                  <a:lnTo>
                    <a:pt x="32689" y="746937"/>
                  </a:lnTo>
                  <a:lnTo>
                    <a:pt x="79375" y="697128"/>
                  </a:lnTo>
                  <a:lnTo>
                    <a:pt x="79248" y="693115"/>
                  </a:lnTo>
                  <a:lnTo>
                    <a:pt x="74168" y="688314"/>
                  </a:lnTo>
                  <a:lnTo>
                    <a:pt x="70104" y="688441"/>
                  </a:lnTo>
                  <a:lnTo>
                    <a:pt x="0" y="763308"/>
                  </a:lnTo>
                  <a:lnTo>
                    <a:pt x="99695" y="787539"/>
                  </a:lnTo>
                  <a:lnTo>
                    <a:pt x="103124" y="785444"/>
                  </a:lnTo>
                  <a:lnTo>
                    <a:pt x="103886" y="782040"/>
                  </a:lnTo>
                  <a:lnTo>
                    <a:pt x="104775" y="778624"/>
                  </a:lnTo>
                  <a:lnTo>
                    <a:pt x="102743" y="775195"/>
                  </a:lnTo>
                  <a:lnTo>
                    <a:pt x="64096" y="765810"/>
                  </a:lnTo>
                  <a:lnTo>
                    <a:pt x="36398" y="759091"/>
                  </a:lnTo>
                  <a:lnTo>
                    <a:pt x="13843" y="765810"/>
                  </a:lnTo>
                  <a:lnTo>
                    <a:pt x="19710" y="764057"/>
                  </a:lnTo>
                  <a:lnTo>
                    <a:pt x="36398" y="759091"/>
                  </a:lnTo>
                  <a:lnTo>
                    <a:pt x="2514333" y="20281"/>
                  </a:lnTo>
                  <a:lnTo>
                    <a:pt x="1715757" y="734529"/>
                  </a:lnTo>
                  <a:lnTo>
                    <a:pt x="1735709" y="672947"/>
                  </a:lnTo>
                  <a:lnTo>
                    <a:pt x="1736852" y="669607"/>
                  </a:lnTo>
                  <a:lnTo>
                    <a:pt x="1734947" y="666026"/>
                  </a:lnTo>
                  <a:lnTo>
                    <a:pt x="1728343" y="663867"/>
                  </a:lnTo>
                  <a:lnTo>
                    <a:pt x="1724787" y="665695"/>
                  </a:lnTo>
                  <a:lnTo>
                    <a:pt x="1723644" y="669036"/>
                  </a:lnTo>
                  <a:lnTo>
                    <a:pt x="1693164" y="763320"/>
                  </a:lnTo>
                  <a:lnTo>
                    <a:pt x="1711032" y="759663"/>
                  </a:lnTo>
                  <a:lnTo>
                    <a:pt x="1793621" y="742772"/>
                  </a:lnTo>
                  <a:lnTo>
                    <a:pt x="1795907" y="739419"/>
                  </a:lnTo>
                  <a:lnTo>
                    <a:pt x="1795145" y="735977"/>
                  </a:lnTo>
                  <a:lnTo>
                    <a:pt x="1794510" y="732548"/>
                  </a:lnTo>
                  <a:lnTo>
                    <a:pt x="1791081" y="730326"/>
                  </a:lnTo>
                  <a:lnTo>
                    <a:pt x="1724253" y="744004"/>
                  </a:lnTo>
                  <a:lnTo>
                    <a:pt x="2541282" y="13182"/>
                  </a:lnTo>
                  <a:lnTo>
                    <a:pt x="5975464" y="715594"/>
                  </a:lnTo>
                  <a:lnTo>
                    <a:pt x="5910834" y="737476"/>
                  </a:lnTo>
                  <a:lnTo>
                    <a:pt x="5909056" y="741070"/>
                  </a:lnTo>
                  <a:lnTo>
                    <a:pt x="5911342" y="747725"/>
                  </a:lnTo>
                  <a:lnTo>
                    <a:pt x="5914898" y="749503"/>
                  </a:lnTo>
                  <a:lnTo>
                    <a:pt x="6001093" y="720318"/>
                  </a:lnTo>
                  <a:lnTo>
                    <a:pt x="6012053" y="716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73452" y="5730239"/>
              <a:ext cx="1656588" cy="6035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1675" y="5724143"/>
              <a:ext cx="1156715" cy="6659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32125" y="5763005"/>
              <a:ext cx="1539240" cy="486409"/>
            </a:xfrm>
            <a:custGeom>
              <a:avLst/>
              <a:gdLst/>
              <a:ahLst/>
              <a:cxnLst/>
              <a:rect l="l" t="t" r="r" b="b"/>
              <a:pathLst>
                <a:path w="1539239" h="486410">
                  <a:moveTo>
                    <a:pt x="769620" y="0"/>
                  </a:moveTo>
                  <a:lnTo>
                    <a:pt x="699565" y="993"/>
                  </a:lnTo>
                  <a:lnTo>
                    <a:pt x="631274" y="3916"/>
                  </a:lnTo>
                  <a:lnTo>
                    <a:pt x="565017" y="8682"/>
                  </a:lnTo>
                  <a:lnTo>
                    <a:pt x="501066" y="15207"/>
                  </a:lnTo>
                  <a:lnTo>
                    <a:pt x="439693" y="23403"/>
                  </a:lnTo>
                  <a:lnTo>
                    <a:pt x="381169" y="33186"/>
                  </a:lnTo>
                  <a:lnTo>
                    <a:pt x="325766" y="44469"/>
                  </a:lnTo>
                  <a:lnTo>
                    <a:pt x="273755" y="57167"/>
                  </a:lnTo>
                  <a:lnTo>
                    <a:pt x="225409" y="71194"/>
                  </a:lnTo>
                  <a:lnTo>
                    <a:pt x="180998" y="86464"/>
                  </a:lnTo>
                  <a:lnTo>
                    <a:pt x="140795" y="102891"/>
                  </a:lnTo>
                  <a:lnTo>
                    <a:pt x="105071" y="120390"/>
                  </a:lnTo>
                  <a:lnTo>
                    <a:pt x="48147" y="158258"/>
                  </a:lnTo>
                  <a:lnTo>
                    <a:pt x="12398" y="199383"/>
                  </a:lnTo>
                  <a:lnTo>
                    <a:pt x="0" y="243078"/>
                  </a:lnTo>
                  <a:lnTo>
                    <a:pt x="3145" y="265203"/>
                  </a:lnTo>
                  <a:lnTo>
                    <a:pt x="27490" y="307698"/>
                  </a:lnTo>
                  <a:lnTo>
                    <a:pt x="74098" y="347281"/>
                  </a:lnTo>
                  <a:lnTo>
                    <a:pt x="140795" y="383264"/>
                  </a:lnTo>
                  <a:lnTo>
                    <a:pt x="180998" y="399691"/>
                  </a:lnTo>
                  <a:lnTo>
                    <a:pt x="225409" y="414961"/>
                  </a:lnTo>
                  <a:lnTo>
                    <a:pt x="273755" y="428988"/>
                  </a:lnTo>
                  <a:lnTo>
                    <a:pt x="325766" y="441686"/>
                  </a:lnTo>
                  <a:lnTo>
                    <a:pt x="381169" y="452969"/>
                  </a:lnTo>
                  <a:lnTo>
                    <a:pt x="439693" y="462752"/>
                  </a:lnTo>
                  <a:lnTo>
                    <a:pt x="501066" y="470948"/>
                  </a:lnTo>
                  <a:lnTo>
                    <a:pt x="565017" y="477473"/>
                  </a:lnTo>
                  <a:lnTo>
                    <a:pt x="631274" y="482239"/>
                  </a:lnTo>
                  <a:lnTo>
                    <a:pt x="699565" y="485162"/>
                  </a:lnTo>
                  <a:lnTo>
                    <a:pt x="769620" y="486156"/>
                  </a:lnTo>
                  <a:lnTo>
                    <a:pt x="839674" y="485162"/>
                  </a:lnTo>
                  <a:lnTo>
                    <a:pt x="907965" y="482239"/>
                  </a:lnTo>
                  <a:lnTo>
                    <a:pt x="974222" y="477473"/>
                  </a:lnTo>
                  <a:lnTo>
                    <a:pt x="1038173" y="470948"/>
                  </a:lnTo>
                  <a:lnTo>
                    <a:pt x="1099546" y="462752"/>
                  </a:lnTo>
                  <a:lnTo>
                    <a:pt x="1158070" y="452969"/>
                  </a:lnTo>
                  <a:lnTo>
                    <a:pt x="1213473" y="441686"/>
                  </a:lnTo>
                  <a:lnTo>
                    <a:pt x="1265484" y="428988"/>
                  </a:lnTo>
                  <a:lnTo>
                    <a:pt x="1313830" y="414961"/>
                  </a:lnTo>
                  <a:lnTo>
                    <a:pt x="1358241" y="399691"/>
                  </a:lnTo>
                  <a:lnTo>
                    <a:pt x="1398444" y="383264"/>
                  </a:lnTo>
                  <a:lnTo>
                    <a:pt x="1434168" y="365765"/>
                  </a:lnTo>
                  <a:lnTo>
                    <a:pt x="1491092" y="327897"/>
                  </a:lnTo>
                  <a:lnTo>
                    <a:pt x="1526841" y="286772"/>
                  </a:lnTo>
                  <a:lnTo>
                    <a:pt x="1539239" y="243078"/>
                  </a:lnTo>
                  <a:lnTo>
                    <a:pt x="1536094" y="220952"/>
                  </a:lnTo>
                  <a:lnTo>
                    <a:pt x="1511749" y="178457"/>
                  </a:lnTo>
                  <a:lnTo>
                    <a:pt x="1465141" y="138874"/>
                  </a:lnTo>
                  <a:lnTo>
                    <a:pt x="1398444" y="102891"/>
                  </a:lnTo>
                  <a:lnTo>
                    <a:pt x="1358241" y="86464"/>
                  </a:lnTo>
                  <a:lnTo>
                    <a:pt x="1313830" y="71194"/>
                  </a:lnTo>
                  <a:lnTo>
                    <a:pt x="1265484" y="57167"/>
                  </a:lnTo>
                  <a:lnTo>
                    <a:pt x="1213473" y="44469"/>
                  </a:lnTo>
                  <a:lnTo>
                    <a:pt x="1158070" y="33186"/>
                  </a:lnTo>
                  <a:lnTo>
                    <a:pt x="1099546" y="23403"/>
                  </a:lnTo>
                  <a:lnTo>
                    <a:pt x="1038173" y="15207"/>
                  </a:lnTo>
                  <a:lnTo>
                    <a:pt x="974222" y="8682"/>
                  </a:lnTo>
                  <a:lnTo>
                    <a:pt x="907965" y="3916"/>
                  </a:lnTo>
                  <a:lnTo>
                    <a:pt x="839674" y="993"/>
                  </a:lnTo>
                  <a:lnTo>
                    <a:pt x="769620" y="0"/>
                  </a:lnTo>
                  <a:close/>
                </a:path>
              </a:pathLst>
            </a:custGeom>
            <a:solidFill>
              <a:srgbClr val="A18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32125" y="5763005"/>
              <a:ext cx="1539240" cy="486409"/>
            </a:xfrm>
            <a:custGeom>
              <a:avLst/>
              <a:gdLst/>
              <a:ahLst/>
              <a:cxnLst/>
              <a:rect l="l" t="t" r="r" b="b"/>
              <a:pathLst>
                <a:path w="1539239" h="486410">
                  <a:moveTo>
                    <a:pt x="0" y="243078"/>
                  </a:moveTo>
                  <a:lnTo>
                    <a:pt x="12398" y="199383"/>
                  </a:lnTo>
                  <a:lnTo>
                    <a:pt x="48147" y="158258"/>
                  </a:lnTo>
                  <a:lnTo>
                    <a:pt x="105071" y="120390"/>
                  </a:lnTo>
                  <a:lnTo>
                    <a:pt x="140795" y="102891"/>
                  </a:lnTo>
                  <a:lnTo>
                    <a:pt x="180998" y="86464"/>
                  </a:lnTo>
                  <a:lnTo>
                    <a:pt x="225409" y="71194"/>
                  </a:lnTo>
                  <a:lnTo>
                    <a:pt x="273755" y="57167"/>
                  </a:lnTo>
                  <a:lnTo>
                    <a:pt x="325766" y="44469"/>
                  </a:lnTo>
                  <a:lnTo>
                    <a:pt x="381169" y="33186"/>
                  </a:lnTo>
                  <a:lnTo>
                    <a:pt x="439693" y="23403"/>
                  </a:lnTo>
                  <a:lnTo>
                    <a:pt x="501066" y="15207"/>
                  </a:lnTo>
                  <a:lnTo>
                    <a:pt x="565017" y="8682"/>
                  </a:lnTo>
                  <a:lnTo>
                    <a:pt x="631274" y="3916"/>
                  </a:lnTo>
                  <a:lnTo>
                    <a:pt x="699565" y="993"/>
                  </a:lnTo>
                  <a:lnTo>
                    <a:pt x="769620" y="0"/>
                  </a:lnTo>
                  <a:lnTo>
                    <a:pt x="839674" y="993"/>
                  </a:lnTo>
                  <a:lnTo>
                    <a:pt x="907965" y="3916"/>
                  </a:lnTo>
                  <a:lnTo>
                    <a:pt x="974222" y="8682"/>
                  </a:lnTo>
                  <a:lnTo>
                    <a:pt x="1038173" y="15207"/>
                  </a:lnTo>
                  <a:lnTo>
                    <a:pt x="1099546" y="23403"/>
                  </a:lnTo>
                  <a:lnTo>
                    <a:pt x="1158070" y="33186"/>
                  </a:lnTo>
                  <a:lnTo>
                    <a:pt x="1213473" y="44469"/>
                  </a:lnTo>
                  <a:lnTo>
                    <a:pt x="1265484" y="57167"/>
                  </a:lnTo>
                  <a:lnTo>
                    <a:pt x="1313830" y="71194"/>
                  </a:lnTo>
                  <a:lnTo>
                    <a:pt x="1358241" y="86464"/>
                  </a:lnTo>
                  <a:lnTo>
                    <a:pt x="1398444" y="102891"/>
                  </a:lnTo>
                  <a:lnTo>
                    <a:pt x="1434168" y="120390"/>
                  </a:lnTo>
                  <a:lnTo>
                    <a:pt x="1491092" y="158258"/>
                  </a:lnTo>
                  <a:lnTo>
                    <a:pt x="1526841" y="199383"/>
                  </a:lnTo>
                  <a:lnTo>
                    <a:pt x="1539239" y="243078"/>
                  </a:lnTo>
                  <a:lnTo>
                    <a:pt x="1536094" y="265203"/>
                  </a:lnTo>
                  <a:lnTo>
                    <a:pt x="1511749" y="307698"/>
                  </a:lnTo>
                  <a:lnTo>
                    <a:pt x="1465141" y="347281"/>
                  </a:lnTo>
                  <a:lnTo>
                    <a:pt x="1398444" y="383264"/>
                  </a:lnTo>
                  <a:lnTo>
                    <a:pt x="1358241" y="399691"/>
                  </a:lnTo>
                  <a:lnTo>
                    <a:pt x="1313830" y="414961"/>
                  </a:lnTo>
                  <a:lnTo>
                    <a:pt x="1265484" y="428988"/>
                  </a:lnTo>
                  <a:lnTo>
                    <a:pt x="1213473" y="441686"/>
                  </a:lnTo>
                  <a:lnTo>
                    <a:pt x="1158070" y="452969"/>
                  </a:lnTo>
                  <a:lnTo>
                    <a:pt x="1099546" y="462752"/>
                  </a:lnTo>
                  <a:lnTo>
                    <a:pt x="1038173" y="470948"/>
                  </a:lnTo>
                  <a:lnTo>
                    <a:pt x="974222" y="477473"/>
                  </a:lnTo>
                  <a:lnTo>
                    <a:pt x="907965" y="482239"/>
                  </a:lnTo>
                  <a:lnTo>
                    <a:pt x="839674" y="485162"/>
                  </a:lnTo>
                  <a:lnTo>
                    <a:pt x="769620" y="486156"/>
                  </a:lnTo>
                  <a:lnTo>
                    <a:pt x="699565" y="485162"/>
                  </a:lnTo>
                  <a:lnTo>
                    <a:pt x="631274" y="482239"/>
                  </a:lnTo>
                  <a:lnTo>
                    <a:pt x="565017" y="477473"/>
                  </a:lnTo>
                  <a:lnTo>
                    <a:pt x="501066" y="470948"/>
                  </a:lnTo>
                  <a:lnTo>
                    <a:pt x="439693" y="462752"/>
                  </a:lnTo>
                  <a:lnTo>
                    <a:pt x="381169" y="452969"/>
                  </a:lnTo>
                  <a:lnTo>
                    <a:pt x="325766" y="441686"/>
                  </a:lnTo>
                  <a:lnTo>
                    <a:pt x="273755" y="428988"/>
                  </a:lnTo>
                  <a:lnTo>
                    <a:pt x="225409" y="414961"/>
                  </a:lnTo>
                  <a:lnTo>
                    <a:pt x="180998" y="399691"/>
                  </a:lnTo>
                  <a:lnTo>
                    <a:pt x="140795" y="383264"/>
                  </a:lnTo>
                  <a:lnTo>
                    <a:pt x="105071" y="365765"/>
                  </a:lnTo>
                  <a:lnTo>
                    <a:pt x="48147" y="327897"/>
                  </a:lnTo>
                  <a:lnTo>
                    <a:pt x="12398" y="286772"/>
                  </a:lnTo>
                  <a:lnTo>
                    <a:pt x="0" y="243078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75533" y="5754420"/>
            <a:ext cx="8496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4175" marR="5080" indent="-37211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Perpetua"/>
                <a:cs typeface="Perpetua"/>
              </a:rPr>
              <a:t>Sub</a:t>
            </a:r>
            <a:r>
              <a:rPr sz="1400" spc="-85" dirty="0">
                <a:latin typeface="Perpetua"/>
                <a:cs typeface="Perpetua"/>
              </a:rPr>
              <a:t> </a:t>
            </a:r>
            <a:r>
              <a:rPr sz="1400" spc="-10" dirty="0">
                <a:latin typeface="Perpetua"/>
                <a:cs typeface="Perpetua"/>
              </a:rPr>
              <a:t>Problem  </a:t>
            </a:r>
            <a:r>
              <a:rPr sz="1400" dirty="0">
                <a:latin typeface="Perpetua"/>
                <a:cs typeface="Perpetua"/>
              </a:rPr>
              <a:t>2</a:t>
            </a:r>
            <a:endParaRPr sz="1400">
              <a:latin typeface="Perpetua"/>
              <a:cs typeface="Perpetu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013447" y="5724144"/>
            <a:ext cx="1732914" cy="666115"/>
            <a:chOff x="7013447" y="5724144"/>
            <a:chExt cx="1732914" cy="666115"/>
          </a:xfrm>
        </p:grpSpPr>
        <p:sp>
          <p:nvSpPr>
            <p:cNvPr id="23" name="object 23"/>
            <p:cNvSpPr/>
            <p:nvPr/>
          </p:nvSpPr>
          <p:spPr>
            <a:xfrm>
              <a:off x="7013447" y="5730240"/>
              <a:ext cx="1732788" cy="60350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19771" y="5724144"/>
              <a:ext cx="1156716" cy="6659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72121" y="5763006"/>
              <a:ext cx="1615440" cy="486409"/>
            </a:xfrm>
            <a:custGeom>
              <a:avLst/>
              <a:gdLst/>
              <a:ahLst/>
              <a:cxnLst/>
              <a:rect l="l" t="t" r="r" b="b"/>
              <a:pathLst>
                <a:path w="1615440" h="486410">
                  <a:moveTo>
                    <a:pt x="807720" y="0"/>
                  </a:moveTo>
                  <a:lnTo>
                    <a:pt x="738018" y="892"/>
                  </a:lnTo>
                  <a:lnTo>
                    <a:pt x="669964" y="3520"/>
                  </a:lnTo>
                  <a:lnTo>
                    <a:pt x="603801" y="7811"/>
                  </a:lnTo>
                  <a:lnTo>
                    <a:pt x="539771" y="13691"/>
                  </a:lnTo>
                  <a:lnTo>
                    <a:pt x="478115" y="21089"/>
                  </a:lnTo>
                  <a:lnTo>
                    <a:pt x="419077" y="29931"/>
                  </a:lnTo>
                  <a:lnTo>
                    <a:pt x="362899" y="40143"/>
                  </a:lnTo>
                  <a:lnTo>
                    <a:pt x="309822" y="51654"/>
                  </a:lnTo>
                  <a:lnTo>
                    <a:pt x="260089" y="64390"/>
                  </a:lnTo>
                  <a:lnTo>
                    <a:pt x="213943" y="78278"/>
                  </a:lnTo>
                  <a:lnTo>
                    <a:pt x="171626" y="93245"/>
                  </a:lnTo>
                  <a:lnTo>
                    <a:pt x="133380" y="109218"/>
                  </a:lnTo>
                  <a:lnTo>
                    <a:pt x="70070" y="143892"/>
                  </a:lnTo>
                  <a:lnTo>
                    <a:pt x="25952" y="181715"/>
                  </a:lnTo>
                  <a:lnTo>
                    <a:pt x="2964" y="222103"/>
                  </a:lnTo>
                  <a:lnTo>
                    <a:pt x="0" y="243078"/>
                  </a:lnTo>
                  <a:lnTo>
                    <a:pt x="2964" y="264052"/>
                  </a:lnTo>
                  <a:lnTo>
                    <a:pt x="25952" y="304440"/>
                  </a:lnTo>
                  <a:lnTo>
                    <a:pt x="70070" y="342263"/>
                  </a:lnTo>
                  <a:lnTo>
                    <a:pt x="133380" y="376937"/>
                  </a:lnTo>
                  <a:lnTo>
                    <a:pt x="171626" y="392910"/>
                  </a:lnTo>
                  <a:lnTo>
                    <a:pt x="213943" y="407877"/>
                  </a:lnTo>
                  <a:lnTo>
                    <a:pt x="260089" y="421765"/>
                  </a:lnTo>
                  <a:lnTo>
                    <a:pt x="309822" y="434501"/>
                  </a:lnTo>
                  <a:lnTo>
                    <a:pt x="362899" y="446012"/>
                  </a:lnTo>
                  <a:lnTo>
                    <a:pt x="419077" y="456224"/>
                  </a:lnTo>
                  <a:lnTo>
                    <a:pt x="478115" y="465066"/>
                  </a:lnTo>
                  <a:lnTo>
                    <a:pt x="539771" y="472464"/>
                  </a:lnTo>
                  <a:lnTo>
                    <a:pt x="603801" y="478344"/>
                  </a:lnTo>
                  <a:lnTo>
                    <a:pt x="669964" y="482635"/>
                  </a:lnTo>
                  <a:lnTo>
                    <a:pt x="738018" y="485263"/>
                  </a:lnTo>
                  <a:lnTo>
                    <a:pt x="807720" y="486156"/>
                  </a:lnTo>
                  <a:lnTo>
                    <a:pt x="877421" y="485263"/>
                  </a:lnTo>
                  <a:lnTo>
                    <a:pt x="945475" y="482635"/>
                  </a:lnTo>
                  <a:lnTo>
                    <a:pt x="1011638" y="478344"/>
                  </a:lnTo>
                  <a:lnTo>
                    <a:pt x="1075668" y="472464"/>
                  </a:lnTo>
                  <a:lnTo>
                    <a:pt x="1137324" y="465066"/>
                  </a:lnTo>
                  <a:lnTo>
                    <a:pt x="1196362" y="456224"/>
                  </a:lnTo>
                  <a:lnTo>
                    <a:pt x="1252540" y="446012"/>
                  </a:lnTo>
                  <a:lnTo>
                    <a:pt x="1305617" y="434501"/>
                  </a:lnTo>
                  <a:lnTo>
                    <a:pt x="1355350" y="421765"/>
                  </a:lnTo>
                  <a:lnTo>
                    <a:pt x="1401496" y="407877"/>
                  </a:lnTo>
                  <a:lnTo>
                    <a:pt x="1443813" y="392910"/>
                  </a:lnTo>
                  <a:lnTo>
                    <a:pt x="1482059" y="376937"/>
                  </a:lnTo>
                  <a:lnTo>
                    <a:pt x="1545369" y="342263"/>
                  </a:lnTo>
                  <a:lnTo>
                    <a:pt x="1589487" y="304440"/>
                  </a:lnTo>
                  <a:lnTo>
                    <a:pt x="1612475" y="264052"/>
                  </a:lnTo>
                  <a:lnTo>
                    <a:pt x="1615439" y="243078"/>
                  </a:lnTo>
                  <a:lnTo>
                    <a:pt x="1612475" y="222103"/>
                  </a:lnTo>
                  <a:lnTo>
                    <a:pt x="1589487" y="181715"/>
                  </a:lnTo>
                  <a:lnTo>
                    <a:pt x="1545369" y="143892"/>
                  </a:lnTo>
                  <a:lnTo>
                    <a:pt x="1482059" y="109218"/>
                  </a:lnTo>
                  <a:lnTo>
                    <a:pt x="1443813" y="93245"/>
                  </a:lnTo>
                  <a:lnTo>
                    <a:pt x="1401496" y="78278"/>
                  </a:lnTo>
                  <a:lnTo>
                    <a:pt x="1355350" y="64390"/>
                  </a:lnTo>
                  <a:lnTo>
                    <a:pt x="1305617" y="51654"/>
                  </a:lnTo>
                  <a:lnTo>
                    <a:pt x="1252540" y="40143"/>
                  </a:lnTo>
                  <a:lnTo>
                    <a:pt x="1196362" y="29931"/>
                  </a:lnTo>
                  <a:lnTo>
                    <a:pt x="1137324" y="21089"/>
                  </a:lnTo>
                  <a:lnTo>
                    <a:pt x="1075668" y="13691"/>
                  </a:lnTo>
                  <a:lnTo>
                    <a:pt x="1011638" y="7811"/>
                  </a:lnTo>
                  <a:lnTo>
                    <a:pt x="945475" y="3520"/>
                  </a:lnTo>
                  <a:lnTo>
                    <a:pt x="877421" y="892"/>
                  </a:lnTo>
                  <a:lnTo>
                    <a:pt x="807720" y="0"/>
                  </a:lnTo>
                  <a:close/>
                </a:path>
              </a:pathLst>
            </a:custGeom>
            <a:solidFill>
              <a:srgbClr val="A18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72121" y="5763006"/>
              <a:ext cx="1615440" cy="486409"/>
            </a:xfrm>
            <a:custGeom>
              <a:avLst/>
              <a:gdLst/>
              <a:ahLst/>
              <a:cxnLst/>
              <a:rect l="l" t="t" r="r" b="b"/>
              <a:pathLst>
                <a:path w="1615440" h="486410">
                  <a:moveTo>
                    <a:pt x="0" y="243078"/>
                  </a:moveTo>
                  <a:lnTo>
                    <a:pt x="11695" y="201625"/>
                  </a:lnTo>
                  <a:lnTo>
                    <a:pt x="45491" y="162446"/>
                  </a:lnTo>
                  <a:lnTo>
                    <a:pt x="99447" y="126125"/>
                  </a:lnTo>
                  <a:lnTo>
                    <a:pt x="171626" y="93245"/>
                  </a:lnTo>
                  <a:lnTo>
                    <a:pt x="213943" y="78278"/>
                  </a:lnTo>
                  <a:lnTo>
                    <a:pt x="260089" y="64390"/>
                  </a:lnTo>
                  <a:lnTo>
                    <a:pt x="309822" y="51654"/>
                  </a:lnTo>
                  <a:lnTo>
                    <a:pt x="362899" y="40143"/>
                  </a:lnTo>
                  <a:lnTo>
                    <a:pt x="419077" y="29931"/>
                  </a:lnTo>
                  <a:lnTo>
                    <a:pt x="478115" y="21089"/>
                  </a:lnTo>
                  <a:lnTo>
                    <a:pt x="539771" y="13691"/>
                  </a:lnTo>
                  <a:lnTo>
                    <a:pt x="603801" y="7811"/>
                  </a:lnTo>
                  <a:lnTo>
                    <a:pt x="669964" y="3520"/>
                  </a:lnTo>
                  <a:lnTo>
                    <a:pt x="738018" y="892"/>
                  </a:lnTo>
                  <a:lnTo>
                    <a:pt x="807720" y="0"/>
                  </a:lnTo>
                  <a:lnTo>
                    <a:pt x="877421" y="892"/>
                  </a:lnTo>
                  <a:lnTo>
                    <a:pt x="945475" y="3520"/>
                  </a:lnTo>
                  <a:lnTo>
                    <a:pt x="1011638" y="7811"/>
                  </a:lnTo>
                  <a:lnTo>
                    <a:pt x="1075668" y="13691"/>
                  </a:lnTo>
                  <a:lnTo>
                    <a:pt x="1137324" y="21089"/>
                  </a:lnTo>
                  <a:lnTo>
                    <a:pt x="1196362" y="29931"/>
                  </a:lnTo>
                  <a:lnTo>
                    <a:pt x="1252540" y="40143"/>
                  </a:lnTo>
                  <a:lnTo>
                    <a:pt x="1305617" y="51654"/>
                  </a:lnTo>
                  <a:lnTo>
                    <a:pt x="1355350" y="64390"/>
                  </a:lnTo>
                  <a:lnTo>
                    <a:pt x="1401496" y="78278"/>
                  </a:lnTo>
                  <a:lnTo>
                    <a:pt x="1443813" y="93245"/>
                  </a:lnTo>
                  <a:lnTo>
                    <a:pt x="1482059" y="109218"/>
                  </a:lnTo>
                  <a:lnTo>
                    <a:pt x="1545369" y="143892"/>
                  </a:lnTo>
                  <a:lnTo>
                    <a:pt x="1589487" y="181715"/>
                  </a:lnTo>
                  <a:lnTo>
                    <a:pt x="1612475" y="222103"/>
                  </a:lnTo>
                  <a:lnTo>
                    <a:pt x="1615439" y="243078"/>
                  </a:lnTo>
                  <a:lnTo>
                    <a:pt x="1612475" y="264052"/>
                  </a:lnTo>
                  <a:lnTo>
                    <a:pt x="1589487" y="304440"/>
                  </a:lnTo>
                  <a:lnTo>
                    <a:pt x="1545369" y="342263"/>
                  </a:lnTo>
                  <a:lnTo>
                    <a:pt x="1482059" y="376937"/>
                  </a:lnTo>
                  <a:lnTo>
                    <a:pt x="1443813" y="392910"/>
                  </a:lnTo>
                  <a:lnTo>
                    <a:pt x="1401496" y="407877"/>
                  </a:lnTo>
                  <a:lnTo>
                    <a:pt x="1355350" y="421765"/>
                  </a:lnTo>
                  <a:lnTo>
                    <a:pt x="1305617" y="434501"/>
                  </a:lnTo>
                  <a:lnTo>
                    <a:pt x="1252540" y="446012"/>
                  </a:lnTo>
                  <a:lnTo>
                    <a:pt x="1196362" y="456224"/>
                  </a:lnTo>
                  <a:lnTo>
                    <a:pt x="1137324" y="465066"/>
                  </a:lnTo>
                  <a:lnTo>
                    <a:pt x="1075668" y="472464"/>
                  </a:lnTo>
                  <a:lnTo>
                    <a:pt x="1011638" y="478344"/>
                  </a:lnTo>
                  <a:lnTo>
                    <a:pt x="945475" y="482635"/>
                  </a:lnTo>
                  <a:lnTo>
                    <a:pt x="877421" y="485263"/>
                  </a:lnTo>
                  <a:lnTo>
                    <a:pt x="807720" y="486156"/>
                  </a:lnTo>
                  <a:lnTo>
                    <a:pt x="738018" y="485263"/>
                  </a:lnTo>
                  <a:lnTo>
                    <a:pt x="669964" y="482635"/>
                  </a:lnTo>
                  <a:lnTo>
                    <a:pt x="603801" y="478344"/>
                  </a:lnTo>
                  <a:lnTo>
                    <a:pt x="539771" y="472464"/>
                  </a:lnTo>
                  <a:lnTo>
                    <a:pt x="478115" y="465066"/>
                  </a:lnTo>
                  <a:lnTo>
                    <a:pt x="419077" y="456224"/>
                  </a:lnTo>
                  <a:lnTo>
                    <a:pt x="362899" y="446012"/>
                  </a:lnTo>
                  <a:lnTo>
                    <a:pt x="309822" y="434501"/>
                  </a:lnTo>
                  <a:lnTo>
                    <a:pt x="260089" y="421765"/>
                  </a:lnTo>
                  <a:lnTo>
                    <a:pt x="213943" y="407877"/>
                  </a:lnTo>
                  <a:lnTo>
                    <a:pt x="171626" y="392910"/>
                  </a:lnTo>
                  <a:lnTo>
                    <a:pt x="133380" y="376937"/>
                  </a:lnTo>
                  <a:lnTo>
                    <a:pt x="70070" y="342263"/>
                  </a:lnTo>
                  <a:lnTo>
                    <a:pt x="25952" y="304440"/>
                  </a:lnTo>
                  <a:lnTo>
                    <a:pt x="2964" y="264052"/>
                  </a:lnTo>
                  <a:lnTo>
                    <a:pt x="0" y="243078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454900" y="5754420"/>
            <a:ext cx="85216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4490" marR="5080" indent="-35242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Perpetua"/>
                <a:cs typeface="Perpetua"/>
              </a:rPr>
              <a:t>Sub</a:t>
            </a:r>
            <a:r>
              <a:rPr sz="1400" spc="-100" dirty="0">
                <a:latin typeface="Perpetua"/>
                <a:cs typeface="Perpetua"/>
              </a:rPr>
              <a:t> </a:t>
            </a:r>
            <a:r>
              <a:rPr sz="1400" spc="-5" dirty="0">
                <a:latin typeface="Perpetua"/>
                <a:cs typeface="Perpetua"/>
              </a:rPr>
              <a:t>Problem  </a:t>
            </a:r>
            <a:r>
              <a:rPr sz="1400" dirty="0">
                <a:latin typeface="Perpetua"/>
                <a:cs typeface="Perpetua"/>
              </a:rPr>
              <a:t>N</a:t>
            </a:r>
            <a:endParaRPr sz="1400">
              <a:latin typeface="Perpetua"/>
              <a:cs typeface="Perpetu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140708" y="5972555"/>
            <a:ext cx="2705100" cy="66040"/>
            <a:chOff x="4140708" y="5972555"/>
            <a:chExt cx="2705100" cy="66040"/>
          </a:xfrm>
        </p:grpSpPr>
        <p:sp>
          <p:nvSpPr>
            <p:cNvPr id="29" name="object 29"/>
            <p:cNvSpPr/>
            <p:nvPr/>
          </p:nvSpPr>
          <p:spPr>
            <a:xfrm>
              <a:off x="4140708" y="5972555"/>
              <a:ext cx="89916" cy="6553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48556" y="5972555"/>
              <a:ext cx="89916" cy="6553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86528" y="5972555"/>
              <a:ext cx="89916" cy="6553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10072" y="5972555"/>
              <a:ext cx="89916" cy="6553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757416" y="5972555"/>
              <a:ext cx="88392" cy="6553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09981" y="6482301"/>
            <a:ext cx="140970" cy="224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ct val="100000"/>
                </a:lnSpc>
                <a:spcBef>
                  <a:spcPts val="204"/>
                </a:spcBef>
              </a:pPr>
              <a:t>4</a:t>
            </a:fld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5721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Why </a:t>
            </a:r>
            <a:r>
              <a:rPr sz="3600" dirty="0"/>
              <a:t>is </a:t>
            </a:r>
            <a:r>
              <a:rPr sz="3600" spc="-5" dirty="0"/>
              <a:t>Decomposition</a:t>
            </a:r>
            <a:r>
              <a:rPr sz="3600" spc="-15" dirty="0"/>
              <a:t> </a:t>
            </a:r>
            <a:r>
              <a:rPr sz="3600" spc="10" dirty="0"/>
              <a:t>important?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309981" y="6482301"/>
            <a:ext cx="140970" cy="224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ct val="100000"/>
                </a:lnSpc>
                <a:spcBef>
                  <a:spcPts val="204"/>
                </a:spcBef>
              </a:pPr>
              <a:t>5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977613"/>
            <a:ext cx="8531860" cy="52387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69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not decomposed, </a:t>
            </a:r>
            <a:r>
              <a:rPr sz="2600" dirty="0">
                <a:latin typeface="Perpetua"/>
                <a:cs typeface="Perpetua"/>
              </a:rPr>
              <a:t>it is much harder </a:t>
            </a:r>
            <a:r>
              <a:rPr sz="2600" spc="-5" dirty="0">
                <a:latin typeface="Perpetua"/>
                <a:cs typeface="Perpetua"/>
              </a:rPr>
              <a:t>to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solve.</a:t>
            </a:r>
            <a:endParaRPr sz="2600">
              <a:latin typeface="Perpetua"/>
              <a:cs typeface="Perpetua"/>
            </a:endParaRPr>
          </a:p>
          <a:p>
            <a:pPr marL="286385" marR="5715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Dealing with </a:t>
            </a:r>
            <a:r>
              <a:rPr sz="2600" spc="-20" dirty="0">
                <a:latin typeface="Perpetua"/>
                <a:cs typeface="Perpetua"/>
              </a:rPr>
              <a:t>many </a:t>
            </a:r>
            <a:r>
              <a:rPr sz="2600" spc="-5" dirty="0">
                <a:latin typeface="Perpetua"/>
                <a:cs typeface="Perpetua"/>
              </a:rPr>
              <a:t>different stages all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spc="-5" dirty="0">
                <a:latin typeface="Perpetua"/>
                <a:cs typeface="Perpetua"/>
              </a:rPr>
              <a:t>once </a:t>
            </a:r>
            <a:r>
              <a:rPr sz="2600" dirty="0">
                <a:latin typeface="Perpetua"/>
                <a:cs typeface="Perpetua"/>
              </a:rPr>
              <a:t>is much </a:t>
            </a:r>
            <a:r>
              <a:rPr sz="2600" spc="-10" dirty="0">
                <a:latin typeface="Perpetua"/>
                <a:cs typeface="Perpetua"/>
              </a:rPr>
              <a:t>more </a:t>
            </a:r>
            <a:r>
              <a:rPr sz="2600" spc="-5" dirty="0">
                <a:latin typeface="Perpetua"/>
                <a:cs typeface="Perpetua"/>
              </a:rPr>
              <a:t>difficult  </a:t>
            </a:r>
            <a:r>
              <a:rPr sz="2600" dirty="0">
                <a:latin typeface="Perpetua"/>
                <a:cs typeface="Perpetua"/>
              </a:rPr>
              <a:t>than </a:t>
            </a:r>
            <a:r>
              <a:rPr sz="2600" spc="-5" dirty="0">
                <a:latin typeface="Perpetua"/>
                <a:cs typeface="Perpetua"/>
              </a:rPr>
              <a:t>breaking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spc="-20" dirty="0">
                <a:latin typeface="Perpetua"/>
                <a:cs typeface="Perpetua"/>
              </a:rPr>
              <a:t>down </a:t>
            </a:r>
            <a:r>
              <a:rPr sz="2600" dirty="0">
                <a:latin typeface="Perpetua"/>
                <a:cs typeface="Perpetua"/>
              </a:rPr>
              <a:t>into a </a:t>
            </a:r>
            <a:r>
              <a:rPr sz="2600" spc="-5" dirty="0">
                <a:latin typeface="Perpetua"/>
                <a:cs typeface="Perpetua"/>
              </a:rPr>
              <a:t>number of </a:t>
            </a:r>
            <a:r>
              <a:rPr sz="2600" dirty="0">
                <a:latin typeface="Perpetua"/>
                <a:cs typeface="Perpetua"/>
              </a:rPr>
              <a:t>smaller </a:t>
            </a:r>
            <a:r>
              <a:rPr sz="2600" spc="-15" dirty="0">
                <a:latin typeface="Perpetua"/>
                <a:cs typeface="Perpetua"/>
              </a:rPr>
              <a:t>problems  </a:t>
            </a:r>
            <a:r>
              <a:rPr sz="2600" spc="-5" dirty="0">
                <a:latin typeface="Perpetua"/>
                <a:cs typeface="Perpetua"/>
              </a:rPr>
              <a:t>and solving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15" dirty="0">
                <a:latin typeface="Perpetua"/>
                <a:cs typeface="Perpetua"/>
              </a:rPr>
              <a:t>one, </a:t>
            </a:r>
            <a:r>
              <a:rPr sz="2600" spc="-5" dirty="0">
                <a:latin typeface="Perpetua"/>
                <a:cs typeface="Perpetua"/>
              </a:rPr>
              <a:t>one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time.</a:t>
            </a:r>
            <a:endParaRPr sz="2600">
              <a:latin typeface="Perpetua"/>
              <a:cs typeface="Perpetua"/>
            </a:endParaRPr>
          </a:p>
          <a:p>
            <a:pPr marL="286385" marR="5715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361315" algn="l"/>
                <a:tab pos="361950" algn="l"/>
                <a:tab pos="1560830" algn="l"/>
                <a:tab pos="2089785" algn="l"/>
                <a:tab pos="3249930" algn="l"/>
                <a:tab pos="4069715" algn="l"/>
                <a:tab pos="4697730" algn="l"/>
                <a:tab pos="5720715" algn="l"/>
                <a:tab pos="6473825" algn="l"/>
                <a:tab pos="7376159" algn="l"/>
                <a:tab pos="7985759" algn="l"/>
              </a:tabLst>
            </a:pPr>
            <a:r>
              <a:rPr dirty="0"/>
              <a:t>	</a:t>
            </a:r>
            <a:r>
              <a:rPr sz="2600" dirty="0">
                <a:latin typeface="Perpetua"/>
                <a:cs typeface="Perpetua"/>
              </a:rPr>
              <a:t>B</a:t>
            </a:r>
            <a:r>
              <a:rPr sz="2600" spc="-2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eaki</a:t>
            </a:r>
            <a:r>
              <a:rPr sz="2600" spc="-1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g	t</a:t>
            </a:r>
            <a:r>
              <a:rPr sz="2600" spc="-20" dirty="0">
                <a:latin typeface="Perpetua"/>
                <a:cs typeface="Perpetua"/>
              </a:rPr>
              <a:t>h</a:t>
            </a:r>
            <a:r>
              <a:rPr sz="2600" dirty="0">
                <a:latin typeface="Perpetua"/>
                <a:cs typeface="Perpetua"/>
              </a:rPr>
              <a:t>e	p</a:t>
            </a:r>
            <a:r>
              <a:rPr sz="2600" spc="-30" dirty="0">
                <a:latin typeface="Perpetua"/>
                <a:cs typeface="Perpetua"/>
              </a:rPr>
              <a:t>r</a:t>
            </a:r>
            <a:r>
              <a:rPr sz="2600" spc="-20" dirty="0">
                <a:latin typeface="Perpetua"/>
                <a:cs typeface="Perpetua"/>
              </a:rPr>
              <a:t>o</a:t>
            </a:r>
            <a:r>
              <a:rPr sz="2600" spc="-40" dirty="0">
                <a:latin typeface="Perpetua"/>
                <a:cs typeface="Perpetua"/>
              </a:rPr>
              <a:t>b</a:t>
            </a:r>
            <a:r>
              <a:rPr sz="2600" spc="-5" dirty="0">
                <a:latin typeface="Perpetua"/>
                <a:cs typeface="Perpetua"/>
              </a:rPr>
              <a:t>le</a:t>
            </a:r>
            <a:r>
              <a:rPr sz="2600" dirty="0">
                <a:latin typeface="Perpetua"/>
                <a:cs typeface="Perpetua"/>
              </a:rPr>
              <a:t>m	d</a:t>
            </a:r>
            <a:r>
              <a:rPr sz="2600" spc="-8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wn	into	</a:t>
            </a:r>
            <a:r>
              <a:rPr sz="2600" spc="-15" dirty="0">
                <a:latin typeface="Perpetua"/>
                <a:cs typeface="Perpetua"/>
              </a:rPr>
              <a:t>s</a:t>
            </a:r>
            <a:r>
              <a:rPr sz="2600" spc="-5" dirty="0">
                <a:latin typeface="Perpetua"/>
                <a:cs typeface="Perpetua"/>
              </a:rPr>
              <a:t>mal</a:t>
            </a:r>
            <a:r>
              <a:rPr sz="2600" spc="-10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er	p</a:t>
            </a:r>
            <a:r>
              <a:rPr sz="2600" spc="-10" dirty="0">
                <a:latin typeface="Perpetua"/>
                <a:cs typeface="Perpetua"/>
              </a:rPr>
              <a:t>a</a:t>
            </a:r>
            <a:r>
              <a:rPr sz="2600" spc="9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ts	</a:t>
            </a:r>
            <a:r>
              <a:rPr sz="2600" spc="-5" dirty="0">
                <a:latin typeface="Perpetua"/>
                <a:cs typeface="Perpetua"/>
              </a:rPr>
              <a:t>mea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s	th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	ea</a:t>
            </a:r>
            <a:r>
              <a:rPr sz="2600" spc="30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h  smaller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spc="-5" dirty="0">
                <a:latin typeface="Perpetua"/>
                <a:cs typeface="Perpetua"/>
              </a:rPr>
              <a:t>can be examined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10" dirty="0">
                <a:latin typeface="Perpetua"/>
                <a:cs typeface="Perpetua"/>
              </a:rPr>
              <a:t>more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detail.</a:t>
            </a:r>
            <a:endParaRPr sz="2600">
              <a:latin typeface="Perpetua"/>
              <a:cs typeface="Perpetua"/>
            </a:endParaRPr>
          </a:p>
          <a:p>
            <a:pPr marL="286385" marR="5715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30" dirty="0">
                <a:latin typeface="Perpetua"/>
                <a:cs typeface="Perpetua"/>
              </a:rPr>
              <a:t>Similarly, </a:t>
            </a:r>
            <a:r>
              <a:rPr sz="2600" spc="5" dirty="0">
                <a:latin typeface="Perpetua"/>
                <a:cs typeface="Perpetua"/>
              </a:rPr>
              <a:t>trying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understand 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complex </a:t>
            </a:r>
            <a:r>
              <a:rPr sz="2600" dirty="0">
                <a:latin typeface="Perpetua"/>
                <a:cs typeface="Perpetua"/>
              </a:rPr>
              <a:t>system </a:t>
            </a:r>
            <a:r>
              <a:rPr sz="2600" spc="-20" dirty="0">
                <a:latin typeface="Perpetua"/>
                <a:cs typeface="Perpetua"/>
              </a:rPr>
              <a:t>works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easier  </a:t>
            </a:r>
            <a:r>
              <a:rPr sz="2600" dirty="0">
                <a:latin typeface="Perpetua"/>
                <a:cs typeface="Perpetua"/>
              </a:rPr>
              <a:t>using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decomposition.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600" spc="-25" dirty="0">
                <a:latin typeface="Perpetua"/>
                <a:cs typeface="Perpetua"/>
              </a:rPr>
              <a:t>For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example:</a:t>
            </a:r>
            <a:endParaRPr sz="2600">
              <a:latin typeface="Perpetua"/>
              <a:cs typeface="Perpetua"/>
            </a:endParaRPr>
          </a:p>
          <a:p>
            <a:pPr marL="286385" marR="5080" indent="74295" algn="just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Perpetua"/>
                <a:cs typeface="Perpetua"/>
              </a:rPr>
              <a:t>understanding 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bicycle </a:t>
            </a:r>
            <a:r>
              <a:rPr sz="2600" spc="-20" dirty="0">
                <a:latin typeface="Perpetua"/>
                <a:cs typeface="Perpetua"/>
              </a:rPr>
              <a:t>works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more </a:t>
            </a:r>
            <a:r>
              <a:rPr sz="2600" spc="-5" dirty="0">
                <a:latin typeface="Perpetua"/>
                <a:cs typeface="Perpetua"/>
              </a:rPr>
              <a:t>straightforward </a:t>
            </a:r>
            <a:r>
              <a:rPr sz="2600" dirty="0">
                <a:latin typeface="Perpetua"/>
                <a:cs typeface="Perpetua"/>
              </a:rPr>
              <a:t>if the  whole </a:t>
            </a:r>
            <a:r>
              <a:rPr sz="2600" spc="-15" dirty="0">
                <a:latin typeface="Perpetua"/>
                <a:cs typeface="Perpetua"/>
              </a:rPr>
              <a:t>bike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separated </a:t>
            </a:r>
            <a:r>
              <a:rPr sz="2600" dirty="0">
                <a:latin typeface="Perpetua"/>
                <a:cs typeface="Perpetua"/>
              </a:rPr>
              <a:t>into smaller </a:t>
            </a:r>
            <a:r>
              <a:rPr sz="2600" spc="15" dirty="0">
                <a:latin typeface="Perpetua"/>
                <a:cs typeface="Perpetua"/>
              </a:rPr>
              <a:t>parts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5" dirty="0">
                <a:latin typeface="Perpetua"/>
                <a:cs typeface="Perpetua"/>
              </a:rPr>
              <a:t>each </a:t>
            </a:r>
            <a:r>
              <a:rPr sz="2600" spc="20" dirty="0">
                <a:latin typeface="Perpetua"/>
                <a:cs typeface="Perpetua"/>
              </a:rPr>
              <a:t>part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examined  to </a:t>
            </a:r>
            <a:r>
              <a:rPr sz="2600" dirty="0">
                <a:latin typeface="Perpetua"/>
                <a:cs typeface="Perpetua"/>
              </a:rPr>
              <a:t>see 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20" dirty="0">
                <a:latin typeface="Perpetua"/>
                <a:cs typeface="Perpetua"/>
              </a:rPr>
              <a:t>works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10" dirty="0">
                <a:latin typeface="Perpetua"/>
                <a:cs typeface="Perpetua"/>
              </a:rPr>
              <a:t>more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detail.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21907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Example #</a:t>
            </a:r>
            <a:r>
              <a:rPr sz="3600" spc="-100" dirty="0"/>
              <a:t> </a:t>
            </a:r>
            <a:r>
              <a:rPr sz="3600" dirty="0"/>
              <a:t>1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309981" y="6482301"/>
            <a:ext cx="140970" cy="224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ct val="100000"/>
                </a:lnSpc>
                <a:spcBef>
                  <a:spcPts val="204"/>
                </a:spcBef>
              </a:pPr>
              <a:t>6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052830"/>
            <a:ext cx="8528685" cy="3475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do </a:t>
            </a:r>
            <a:r>
              <a:rPr sz="2600" spc="-20" dirty="0">
                <a:latin typeface="Perpetua"/>
                <a:cs typeface="Perpetua"/>
              </a:rPr>
              <a:t>many </a:t>
            </a:r>
            <a:r>
              <a:rPr sz="2600" dirty="0">
                <a:latin typeface="Perpetua"/>
                <a:cs typeface="Perpetua"/>
              </a:rPr>
              <a:t>tasks </a:t>
            </a: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daily </a:t>
            </a:r>
            <a:r>
              <a:rPr sz="2600" dirty="0">
                <a:latin typeface="Perpetua"/>
                <a:cs typeface="Perpetua"/>
              </a:rPr>
              <a:t>basis without </a:t>
            </a:r>
            <a:r>
              <a:rPr sz="2600" spc="-25" dirty="0">
                <a:latin typeface="Perpetua"/>
                <a:cs typeface="Perpetua"/>
              </a:rPr>
              <a:t>even </a:t>
            </a:r>
            <a:r>
              <a:rPr sz="2600" dirty="0">
                <a:latin typeface="Perpetua"/>
                <a:cs typeface="Perpetua"/>
              </a:rPr>
              <a:t>thinking </a:t>
            </a:r>
            <a:r>
              <a:rPr sz="2600" spc="-5" dirty="0">
                <a:latin typeface="Perpetua"/>
                <a:cs typeface="Perpetua"/>
              </a:rPr>
              <a:t>about </a:t>
            </a:r>
            <a:r>
              <a:rPr sz="2600" dirty="0">
                <a:latin typeface="Perpetua"/>
                <a:cs typeface="Perpetua"/>
              </a:rPr>
              <a:t>– </a:t>
            </a:r>
            <a:r>
              <a:rPr sz="2600" spc="-5" dirty="0">
                <a:latin typeface="Perpetua"/>
                <a:cs typeface="Perpetua"/>
              </a:rPr>
              <a:t>or  decomposing </a:t>
            </a:r>
            <a:r>
              <a:rPr sz="2600" dirty="0">
                <a:latin typeface="Perpetua"/>
                <a:cs typeface="Perpetua"/>
              </a:rPr>
              <a:t>– </a:t>
            </a:r>
            <a:r>
              <a:rPr sz="2600" spc="-5" dirty="0">
                <a:latin typeface="Perpetua"/>
                <a:cs typeface="Perpetua"/>
              </a:rPr>
              <a:t>them, </a:t>
            </a:r>
            <a:r>
              <a:rPr sz="2600" spc="10" dirty="0">
                <a:latin typeface="Perpetua"/>
                <a:cs typeface="Perpetua"/>
              </a:rPr>
              <a:t>such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spc="5" dirty="0">
                <a:latin typeface="Perpetua"/>
                <a:cs typeface="Perpetua"/>
              </a:rPr>
              <a:t>brushing </a:t>
            </a:r>
            <a:r>
              <a:rPr sz="2600" spc="-5" dirty="0">
                <a:latin typeface="Perpetua"/>
                <a:cs typeface="Perpetua"/>
              </a:rPr>
              <a:t>our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teeth.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decompose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problem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30" dirty="0">
                <a:latin typeface="Perpetua"/>
                <a:cs typeface="Perpetua"/>
              </a:rPr>
              <a:t>how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10" dirty="0">
                <a:latin typeface="Perpetua"/>
                <a:cs typeface="Perpetua"/>
              </a:rPr>
              <a:t>brush </a:t>
            </a:r>
            <a:r>
              <a:rPr sz="2600" spc="-10" dirty="0">
                <a:latin typeface="Perpetua"/>
                <a:cs typeface="Perpetua"/>
              </a:rPr>
              <a:t>our </a:t>
            </a:r>
            <a:r>
              <a:rPr sz="2600" spc="-5" dirty="0">
                <a:latin typeface="Perpetua"/>
                <a:cs typeface="Perpetua"/>
              </a:rPr>
              <a:t>teeth,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25" dirty="0">
                <a:latin typeface="Perpetua"/>
                <a:cs typeface="Perpetua"/>
              </a:rPr>
              <a:t>would  </a:t>
            </a:r>
            <a:r>
              <a:rPr sz="2600" dirty="0">
                <a:latin typeface="Perpetua"/>
                <a:cs typeface="Perpetua"/>
              </a:rPr>
              <a:t>need </a:t>
            </a:r>
            <a:r>
              <a:rPr sz="2600" spc="-5" dirty="0">
                <a:latin typeface="Perpetua"/>
                <a:cs typeface="Perpetua"/>
              </a:rPr>
              <a:t>to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consider: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10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toothbrush </a:t>
            </a:r>
            <a:r>
              <a:rPr sz="2600" spc="-5" dirty="0">
                <a:latin typeface="Perpetua"/>
                <a:cs typeface="Perpetua"/>
              </a:rPr>
              <a:t>to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use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spc="-5" dirty="0">
                <a:latin typeface="Perpetua"/>
                <a:cs typeface="Perpetua"/>
              </a:rPr>
              <a:t>long to </a:t>
            </a:r>
            <a:r>
              <a:rPr sz="2600" spc="10" dirty="0">
                <a:latin typeface="Perpetua"/>
                <a:cs typeface="Perpetua"/>
              </a:rPr>
              <a:t>brush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for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dirty="0">
                <a:latin typeface="Perpetua"/>
                <a:cs typeface="Perpetua"/>
              </a:rPr>
              <a:t>hard </a:t>
            </a:r>
            <a:r>
              <a:rPr sz="2600" spc="-5" dirty="0">
                <a:latin typeface="Perpetua"/>
                <a:cs typeface="Perpetua"/>
              </a:rPr>
              <a:t>to press on our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teeth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what toothpaste to </a:t>
            </a:r>
            <a:r>
              <a:rPr sz="2600" dirty="0">
                <a:latin typeface="Perpetua"/>
                <a:cs typeface="Perpetua"/>
              </a:rPr>
              <a:t>use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2301"/>
            <a:ext cx="24307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Example #</a:t>
            </a:r>
            <a:r>
              <a:rPr sz="4000" spc="-65" dirty="0"/>
              <a:t> </a:t>
            </a:r>
            <a:r>
              <a:rPr sz="4000" spc="-5" dirty="0"/>
              <a:t>2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2761488" y="1415796"/>
            <a:ext cx="2098675" cy="723900"/>
            <a:chOff x="2761488" y="1415796"/>
            <a:chExt cx="2098675" cy="723900"/>
          </a:xfrm>
        </p:grpSpPr>
        <p:sp>
          <p:nvSpPr>
            <p:cNvPr id="5" name="object 5"/>
            <p:cNvSpPr/>
            <p:nvPr/>
          </p:nvSpPr>
          <p:spPr>
            <a:xfrm>
              <a:off x="2761488" y="1415796"/>
              <a:ext cx="2098548" cy="7239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74492" y="1531620"/>
              <a:ext cx="1271016" cy="5593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20162" y="1448562"/>
              <a:ext cx="1981200" cy="607060"/>
            </a:xfrm>
            <a:custGeom>
              <a:avLst/>
              <a:gdLst/>
              <a:ahLst/>
              <a:cxnLst/>
              <a:rect l="l" t="t" r="r" b="b"/>
              <a:pathLst>
                <a:path w="1981200" h="607060">
                  <a:moveTo>
                    <a:pt x="990600" y="0"/>
                  </a:moveTo>
                  <a:lnTo>
                    <a:pt x="919852" y="761"/>
                  </a:lnTo>
                  <a:lnTo>
                    <a:pt x="850448" y="3011"/>
                  </a:lnTo>
                  <a:lnTo>
                    <a:pt x="782554" y="6698"/>
                  </a:lnTo>
                  <a:lnTo>
                    <a:pt x="716339" y="11771"/>
                  </a:lnTo>
                  <a:lnTo>
                    <a:pt x="651969" y="18179"/>
                  </a:lnTo>
                  <a:lnTo>
                    <a:pt x="589613" y="25870"/>
                  </a:lnTo>
                  <a:lnTo>
                    <a:pt x="529437" y="34793"/>
                  </a:lnTo>
                  <a:lnTo>
                    <a:pt x="471610" y="44898"/>
                  </a:lnTo>
                  <a:lnTo>
                    <a:pt x="416300" y="56131"/>
                  </a:lnTo>
                  <a:lnTo>
                    <a:pt x="363673" y="68443"/>
                  </a:lnTo>
                  <a:lnTo>
                    <a:pt x="313897" y="81782"/>
                  </a:lnTo>
                  <a:lnTo>
                    <a:pt x="267141" y="96096"/>
                  </a:lnTo>
                  <a:lnTo>
                    <a:pt x="223570" y="111335"/>
                  </a:lnTo>
                  <a:lnTo>
                    <a:pt x="183354" y="127446"/>
                  </a:lnTo>
                  <a:lnTo>
                    <a:pt x="146660" y="144380"/>
                  </a:lnTo>
                  <a:lnTo>
                    <a:pt x="84507" y="180507"/>
                  </a:lnTo>
                  <a:lnTo>
                    <a:pt x="38452" y="219305"/>
                  </a:lnTo>
                  <a:lnTo>
                    <a:pt x="9836" y="260365"/>
                  </a:lnTo>
                  <a:lnTo>
                    <a:pt x="0" y="303275"/>
                  </a:lnTo>
                  <a:lnTo>
                    <a:pt x="2487" y="324936"/>
                  </a:lnTo>
                  <a:lnTo>
                    <a:pt x="21881" y="366973"/>
                  </a:lnTo>
                  <a:lnTo>
                    <a:pt x="59384" y="406953"/>
                  </a:lnTo>
                  <a:lnTo>
                    <a:pt x="113655" y="444467"/>
                  </a:lnTo>
                  <a:lnTo>
                    <a:pt x="183354" y="479105"/>
                  </a:lnTo>
                  <a:lnTo>
                    <a:pt x="223570" y="495216"/>
                  </a:lnTo>
                  <a:lnTo>
                    <a:pt x="267141" y="510455"/>
                  </a:lnTo>
                  <a:lnTo>
                    <a:pt x="313897" y="524769"/>
                  </a:lnTo>
                  <a:lnTo>
                    <a:pt x="363673" y="538108"/>
                  </a:lnTo>
                  <a:lnTo>
                    <a:pt x="416300" y="550420"/>
                  </a:lnTo>
                  <a:lnTo>
                    <a:pt x="471610" y="561653"/>
                  </a:lnTo>
                  <a:lnTo>
                    <a:pt x="529437" y="571758"/>
                  </a:lnTo>
                  <a:lnTo>
                    <a:pt x="589613" y="580681"/>
                  </a:lnTo>
                  <a:lnTo>
                    <a:pt x="651969" y="588372"/>
                  </a:lnTo>
                  <a:lnTo>
                    <a:pt x="716339" y="594780"/>
                  </a:lnTo>
                  <a:lnTo>
                    <a:pt x="782554" y="599853"/>
                  </a:lnTo>
                  <a:lnTo>
                    <a:pt x="850448" y="603540"/>
                  </a:lnTo>
                  <a:lnTo>
                    <a:pt x="919852" y="605790"/>
                  </a:lnTo>
                  <a:lnTo>
                    <a:pt x="990600" y="606551"/>
                  </a:lnTo>
                  <a:lnTo>
                    <a:pt x="1061347" y="605790"/>
                  </a:lnTo>
                  <a:lnTo>
                    <a:pt x="1130751" y="603540"/>
                  </a:lnTo>
                  <a:lnTo>
                    <a:pt x="1198645" y="599853"/>
                  </a:lnTo>
                  <a:lnTo>
                    <a:pt x="1264860" y="594780"/>
                  </a:lnTo>
                  <a:lnTo>
                    <a:pt x="1329230" y="588372"/>
                  </a:lnTo>
                  <a:lnTo>
                    <a:pt x="1391586" y="580681"/>
                  </a:lnTo>
                  <a:lnTo>
                    <a:pt x="1451762" y="571758"/>
                  </a:lnTo>
                  <a:lnTo>
                    <a:pt x="1509589" y="561653"/>
                  </a:lnTo>
                  <a:lnTo>
                    <a:pt x="1564899" y="550420"/>
                  </a:lnTo>
                  <a:lnTo>
                    <a:pt x="1617526" y="538108"/>
                  </a:lnTo>
                  <a:lnTo>
                    <a:pt x="1667302" y="524769"/>
                  </a:lnTo>
                  <a:lnTo>
                    <a:pt x="1714058" y="510455"/>
                  </a:lnTo>
                  <a:lnTo>
                    <a:pt x="1757629" y="495216"/>
                  </a:lnTo>
                  <a:lnTo>
                    <a:pt x="1797845" y="479105"/>
                  </a:lnTo>
                  <a:lnTo>
                    <a:pt x="1834539" y="462171"/>
                  </a:lnTo>
                  <a:lnTo>
                    <a:pt x="1896692" y="426044"/>
                  </a:lnTo>
                  <a:lnTo>
                    <a:pt x="1942747" y="387246"/>
                  </a:lnTo>
                  <a:lnTo>
                    <a:pt x="1971363" y="346186"/>
                  </a:lnTo>
                  <a:lnTo>
                    <a:pt x="1981200" y="303275"/>
                  </a:lnTo>
                  <a:lnTo>
                    <a:pt x="1978712" y="281615"/>
                  </a:lnTo>
                  <a:lnTo>
                    <a:pt x="1959318" y="239578"/>
                  </a:lnTo>
                  <a:lnTo>
                    <a:pt x="1921815" y="199598"/>
                  </a:lnTo>
                  <a:lnTo>
                    <a:pt x="1867544" y="162084"/>
                  </a:lnTo>
                  <a:lnTo>
                    <a:pt x="1797845" y="127446"/>
                  </a:lnTo>
                  <a:lnTo>
                    <a:pt x="1757629" y="111335"/>
                  </a:lnTo>
                  <a:lnTo>
                    <a:pt x="1714058" y="96096"/>
                  </a:lnTo>
                  <a:lnTo>
                    <a:pt x="1667302" y="81782"/>
                  </a:lnTo>
                  <a:lnTo>
                    <a:pt x="1617526" y="68443"/>
                  </a:lnTo>
                  <a:lnTo>
                    <a:pt x="1564899" y="56131"/>
                  </a:lnTo>
                  <a:lnTo>
                    <a:pt x="1509589" y="44898"/>
                  </a:lnTo>
                  <a:lnTo>
                    <a:pt x="1451762" y="34793"/>
                  </a:lnTo>
                  <a:lnTo>
                    <a:pt x="1391586" y="25870"/>
                  </a:lnTo>
                  <a:lnTo>
                    <a:pt x="1329230" y="18179"/>
                  </a:lnTo>
                  <a:lnTo>
                    <a:pt x="1264860" y="11771"/>
                  </a:lnTo>
                  <a:lnTo>
                    <a:pt x="1198645" y="6698"/>
                  </a:lnTo>
                  <a:lnTo>
                    <a:pt x="1130751" y="3011"/>
                  </a:lnTo>
                  <a:lnTo>
                    <a:pt x="1061347" y="761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A18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20162" y="1448562"/>
              <a:ext cx="1981200" cy="607060"/>
            </a:xfrm>
            <a:custGeom>
              <a:avLst/>
              <a:gdLst/>
              <a:ahLst/>
              <a:cxnLst/>
              <a:rect l="l" t="t" r="r" b="b"/>
              <a:pathLst>
                <a:path w="1981200" h="607060">
                  <a:moveTo>
                    <a:pt x="0" y="303275"/>
                  </a:moveTo>
                  <a:lnTo>
                    <a:pt x="9836" y="260365"/>
                  </a:lnTo>
                  <a:lnTo>
                    <a:pt x="38452" y="219305"/>
                  </a:lnTo>
                  <a:lnTo>
                    <a:pt x="84507" y="180507"/>
                  </a:lnTo>
                  <a:lnTo>
                    <a:pt x="146660" y="144380"/>
                  </a:lnTo>
                  <a:lnTo>
                    <a:pt x="183354" y="127446"/>
                  </a:lnTo>
                  <a:lnTo>
                    <a:pt x="223570" y="111335"/>
                  </a:lnTo>
                  <a:lnTo>
                    <a:pt x="267141" y="96096"/>
                  </a:lnTo>
                  <a:lnTo>
                    <a:pt x="313897" y="81782"/>
                  </a:lnTo>
                  <a:lnTo>
                    <a:pt x="363673" y="68443"/>
                  </a:lnTo>
                  <a:lnTo>
                    <a:pt x="416300" y="56131"/>
                  </a:lnTo>
                  <a:lnTo>
                    <a:pt x="471610" y="44898"/>
                  </a:lnTo>
                  <a:lnTo>
                    <a:pt x="529437" y="34793"/>
                  </a:lnTo>
                  <a:lnTo>
                    <a:pt x="589613" y="25870"/>
                  </a:lnTo>
                  <a:lnTo>
                    <a:pt x="651969" y="18179"/>
                  </a:lnTo>
                  <a:lnTo>
                    <a:pt x="716339" y="11771"/>
                  </a:lnTo>
                  <a:lnTo>
                    <a:pt x="782554" y="6698"/>
                  </a:lnTo>
                  <a:lnTo>
                    <a:pt x="850448" y="3011"/>
                  </a:lnTo>
                  <a:lnTo>
                    <a:pt x="919852" y="761"/>
                  </a:lnTo>
                  <a:lnTo>
                    <a:pt x="990600" y="0"/>
                  </a:lnTo>
                  <a:lnTo>
                    <a:pt x="1061347" y="761"/>
                  </a:lnTo>
                  <a:lnTo>
                    <a:pt x="1130751" y="3011"/>
                  </a:lnTo>
                  <a:lnTo>
                    <a:pt x="1198645" y="6698"/>
                  </a:lnTo>
                  <a:lnTo>
                    <a:pt x="1264860" y="11771"/>
                  </a:lnTo>
                  <a:lnTo>
                    <a:pt x="1329230" y="18179"/>
                  </a:lnTo>
                  <a:lnTo>
                    <a:pt x="1391586" y="25870"/>
                  </a:lnTo>
                  <a:lnTo>
                    <a:pt x="1451762" y="34793"/>
                  </a:lnTo>
                  <a:lnTo>
                    <a:pt x="1509589" y="44898"/>
                  </a:lnTo>
                  <a:lnTo>
                    <a:pt x="1564899" y="56131"/>
                  </a:lnTo>
                  <a:lnTo>
                    <a:pt x="1617526" y="68443"/>
                  </a:lnTo>
                  <a:lnTo>
                    <a:pt x="1667302" y="81782"/>
                  </a:lnTo>
                  <a:lnTo>
                    <a:pt x="1714058" y="96096"/>
                  </a:lnTo>
                  <a:lnTo>
                    <a:pt x="1757629" y="111335"/>
                  </a:lnTo>
                  <a:lnTo>
                    <a:pt x="1797845" y="127446"/>
                  </a:lnTo>
                  <a:lnTo>
                    <a:pt x="1834539" y="144380"/>
                  </a:lnTo>
                  <a:lnTo>
                    <a:pt x="1896692" y="180507"/>
                  </a:lnTo>
                  <a:lnTo>
                    <a:pt x="1942747" y="219305"/>
                  </a:lnTo>
                  <a:lnTo>
                    <a:pt x="1971363" y="260365"/>
                  </a:lnTo>
                  <a:lnTo>
                    <a:pt x="1981200" y="303275"/>
                  </a:lnTo>
                  <a:lnTo>
                    <a:pt x="1978712" y="324936"/>
                  </a:lnTo>
                  <a:lnTo>
                    <a:pt x="1959318" y="366973"/>
                  </a:lnTo>
                  <a:lnTo>
                    <a:pt x="1921815" y="406953"/>
                  </a:lnTo>
                  <a:lnTo>
                    <a:pt x="1867544" y="444467"/>
                  </a:lnTo>
                  <a:lnTo>
                    <a:pt x="1797845" y="479105"/>
                  </a:lnTo>
                  <a:lnTo>
                    <a:pt x="1757629" y="495216"/>
                  </a:lnTo>
                  <a:lnTo>
                    <a:pt x="1714058" y="510455"/>
                  </a:lnTo>
                  <a:lnTo>
                    <a:pt x="1667302" y="524769"/>
                  </a:lnTo>
                  <a:lnTo>
                    <a:pt x="1617526" y="538108"/>
                  </a:lnTo>
                  <a:lnTo>
                    <a:pt x="1564899" y="550420"/>
                  </a:lnTo>
                  <a:lnTo>
                    <a:pt x="1509589" y="561653"/>
                  </a:lnTo>
                  <a:lnTo>
                    <a:pt x="1451762" y="571758"/>
                  </a:lnTo>
                  <a:lnTo>
                    <a:pt x="1391586" y="580681"/>
                  </a:lnTo>
                  <a:lnTo>
                    <a:pt x="1329230" y="588372"/>
                  </a:lnTo>
                  <a:lnTo>
                    <a:pt x="1264860" y="594780"/>
                  </a:lnTo>
                  <a:lnTo>
                    <a:pt x="1198645" y="599853"/>
                  </a:lnTo>
                  <a:lnTo>
                    <a:pt x="1130751" y="603540"/>
                  </a:lnTo>
                  <a:lnTo>
                    <a:pt x="1061347" y="605790"/>
                  </a:lnTo>
                  <a:lnTo>
                    <a:pt x="990600" y="606551"/>
                  </a:lnTo>
                  <a:lnTo>
                    <a:pt x="919852" y="605790"/>
                  </a:lnTo>
                  <a:lnTo>
                    <a:pt x="850448" y="603540"/>
                  </a:lnTo>
                  <a:lnTo>
                    <a:pt x="782554" y="599853"/>
                  </a:lnTo>
                  <a:lnTo>
                    <a:pt x="716339" y="594780"/>
                  </a:lnTo>
                  <a:lnTo>
                    <a:pt x="651969" y="588372"/>
                  </a:lnTo>
                  <a:lnTo>
                    <a:pt x="589613" y="580681"/>
                  </a:lnTo>
                  <a:lnTo>
                    <a:pt x="529437" y="571758"/>
                  </a:lnTo>
                  <a:lnTo>
                    <a:pt x="471610" y="561653"/>
                  </a:lnTo>
                  <a:lnTo>
                    <a:pt x="416300" y="550420"/>
                  </a:lnTo>
                  <a:lnTo>
                    <a:pt x="363673" y="538108"/>
                  </a:lnTo>
                  <a:lnTo>
                    <a:pt x="313897" y="524769"/>
                  </a:lnTo>
                  <a:lnTo>
                    <a:pt x="267141" y="510455"/>
                  </a:lnTo>
                  <a:lnTo>
                    <a:pt x="223570" y="495216"/>
                  </a:lnTo>
                  <a:lnTo>
                    <a:pt x="183354" y="479105"/>
                  </a:lnTo>
                  <a:lnTo>
                    <a:pt x="146660" y="462171"/>
                  </a:lnTo>
                  <a:lnTo>
                    <a:pt x="84507" y="426044"/>
                  </a:lnTo>
                  <a:lnTo>
                    <a:pt x="38452" y="387246"/>
                  </a:lnTo>
                  <a:lnTo>
                    <a:pt x="9836" y="346186"/>
                  </a:lnTo>
                  <a:lnTo>
                    <a:pt x="0" y="303275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7340" y="824230"/>
            <a:ext cx="7860030" cy="10458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process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-5" dirty="0">
                <a:latin typeface="Perpetua"/>
                <a:cs typeface="Perpetua"/>
              </a:rPr>
              <a:t>making </a:t>
            </a:r>
            <a:r>
              <a:rPr sz="2600" dirty="0">
                <a:latin typeface="Perpetua"/>
                <a:cs typeface="Perpetua"/>
              </a:rPr>
              <a:t>pizza can be split </a:t>
            </a:r>
            <a:r>
              <a:rPr sz="2600" spc="-5" dirty="0">
                <a:latin typeface="Perpetua"/>
                <a:cs typeface="Perpetua"/>
              </a:rPr>
              <a:t>into </a:t>
            </a:r>
            <a:r>
              <a:rPr sz="2600" dirty="0">
                <a:latin typeface="Perpetua"/>
                <a:cs typeface="Perpetua"/>
              </a:rPr>
              <a:t>six </a:t>
            </a:r>
            <a:r>
              <a:rPr sz="2600" spc="-5" dirty="0">
                <a:latin typeface="Perpetua"/>
                <a:cs typeface="Perpetua"/>
              </a:rPr>
              <a:t>sub-problems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: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50">
              <a:latin typeface="Perpetua"/>
              <a:cs typeface="Perpetua"/>
            </a:endParaRPr>
          </a:p>
          <a:p>
            <a:pPr marR="847725" algn="ctr">
              <a:lnSpc>
                <a:spcPct val="100000"/>
              </a:lnSpc>
            </a:pPr>
            <a:r>
              <a:rPr sz="1800" spc="-5" dirty="0">
                <a:latin typeface="Perpetua"/>
                <a:cs typeface="Perpetua"/>
              </a:rPr>
              <a:t>Make</a:t>
            </a:r>
            <a:r>
              <a:rPr sz="1800" spc="-3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Pizza</a:t>
            </a:r>
            <a:endParaRPr sz="1800">
              <a:latin typeface="Perpetua"/>
              <a:cs typeface="Perpetu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75487" y="3086100"/>
            <a:ext cx="1412875" cy="887094"/>
            <a:chOff x="475487" y="3086100"/>
            <a:chExt cx="1412875" cy="887094"/>
          </a:xfrm>
        </p:grpSpPr>
        <p:sp>
          <p:nvSpPr>
            <p:cNvPr id="11" name="object 11"/>
            <p:cNvSpPr/>
            <p:nvPr/>
          </p:nvSpPr>
          <p:spPr>
            <a:xfrm>
              <a:off x="475487" y="3086100"/>
              <a:ext cx="1412748" cy="876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9619" y="3139439"/>
              <a:ext cx="862584" cy="83362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4161" y="3118865"/>
              <a:ext cx="1295400" cy="759460"/>
            </a:xfrm>
            <a:custGeom>
              <a:avLst/>
              <a:gdLst/>
              <a:ahLst/>
              <a:cxnLst/>
              <a:rect l="l" t="t" r="r" b="b"/>
              <a:pathLst>
                <a:path w="1295400" h="759460">
                  <a:moveTo>
                    <a:pt x="647700" y="0"/>
                  </a:moveTo>
                  <a:lnTo>
                    <a:pt x="588745" y="1551"/>
                  </a:lnTo>
                  <a:lnTo>
                    <a:pt x="531273" y="6114"/>
                  </a:lnTo>
                  <a:lnTo>
                    <a:pt x="475513" y="13557"/>
                  </a:lnTo>
                  <a:lnTo>
                    <a:pt x="421694" y="23744"/>
                  </a:lnTo>
                  <a:lnTo>
                    <a:pt x="370043" y="36541"/>
                  </a:lnTo>
                  <a:lnTo>
                    <a:pt x="320790" y="51816"/>
                  </a:lnTo>
                  <a:lnTo>
                    <a:pt x="274164" y="69432"/>
                  </a:lnTo>
                  <a:lnTo>
                    <a:pt x="230392" y="89257"/>
                  </a:lnTo>
                  <a:lnTo>
                    <a:pt x="189704" y="111156"/>
                  </a:lnTo>
                  <a:lnTo>
                    <a:pt x="152328" y="134996"/>
                  </a:lnTo>
                  <a:lnTo>
                    <a:pt x="118494" y="160642"/>
                  </a:lnTo>
                  <a:lnTo>
                    <a:pt x="88428" y="187960"/>
                  </a:lnTo>
                  <a:lnTo>
                    <a:pt x="62361" y="216816"/>
                  </a:lnTo>
                  <a:lnTo>
                    <a:pt x="23136" y="278606"/>
                  </a:lnTo>
                  <a:lnTo>
                    <a:pt x="2646" y="344940"/>
                  </a:lnTo>
                  <a:lnTo>
                    <a:pt x="0" y="379475"/>
                  </a:lnTo>
                  <a:lnTo>
                    <a:pt x="2646" y="414011"/>
                  </a:lnTo>
                  <a:lnTo>
                    <a:pt x="23136" y="480345"/>
                  </a:lnTo>
                  <a:lnTo>
                    <a:pt x="62361" y="542135"/>
                  </a:lnTo>
                  <a:lnTo>
                    <a:pt x="88428" y="570992"/>
                  </a:lnTo>
                  <a:lnTo>
                    <a:pt x="118494" y="598309"/>
                  </a:lnTo>
                  <a:lnTo>
                    <a:pt x="152328" y="623955"/>
                  </a:lnTo>
                  <a:lnTo>
                    <a:pt x="189704" y="647795"/>
                  </a:lnTo>
                  <a:lnTo>
                    <a:pt x="230392" y="669694"/>
                  </a:lnTo>
                  <a:lnTo>
                    <a:pt x="274164" y="689519"/>
                  </a:lnTo>
                  <a:lnTo>
                    <a:pt x="320790" y="707136"/>
                  </a:lnTo>
                  <a:lnTo>
                    <a:pt x="370043" y="722410"/>
                  </a:lnTo>
                  <a:lnTo>
                    <a:pt x="421694" y="735207"/>
                  </a:lnTo>
                  <a:lnTo>
                    <a:pt x="475513" y="745394"/>
                  </a:lnTo>
                  <a:lnTo>
                    <a:pt x="531273" y="752837"/>
                  </a:lnTo>
                  <a:lnTo>
                    <a:pt x="588745" y="757400"/>
                  </a:lnTo>
                  <a:lnTo>
                    <a:pt x="647700" y="758952"/>
                  </a:lnTo>
                  <a:lnTo>
                    <a:pt x="706660" y="757400"/>
                  </a:lnTo>
                  <a:lnTo>
                    <a:pt x="764136" y="752837"/>
                  </a:lnTo>
                  <a:lnTo>
                    <a:pt x="819899" y="745394"/>
                  </a:lnTo>
                  <a:lnTo>
                    <a:pt x="873721" y="735207"/>
                  </a:lnTo>
                  <a:lnTo>
                    <a:pt x="925373" y="722410"/>
                  </a:lnTo>
                  <a:lnTo>
                    <a:pt x="974626" y="707136"/>
                  </a:lnTo>
                  <a:lnTo>
                    <a:pt x="1021252" y="689519"/>
                  </a:lnTo>
                  <a:lnTo>
                    <a:pt x="1065023" y="669694"/>
                  </a:lnTo>
                  <a:lnTo>
                    <a:pt x="1105709" y="647795"/>
                  </a:lnTo>
                  <a:lnTo>
                    <a:pt x="1143083" y="623955"/>
                  </a:lnTo>
                  <a:lnTo>
                    <a:pt x="1176916" y="598309"/>
                  </a:lnTo>
                  <a:lnTo>
                    <a:pt x="1206979" y="570991"/>
                  </a:lnTo>
                  <a:lnTo>
                    <a:pt x="1233044" y="542135"/>
                  </a:lnTo>
                  <a:lnTo>
                    <a:pt x="1272266" y="480345"/>
                  </a:lnTo>
                  <a:lnTo>
                    <a:pt x="1292753" y="414011"/>
                  </a:lnTo>
                  <a:lnTo>
                    <a:pt x="1295400" y="379475"/>
                  </a:lnTo>
                  <a:lnTo>
                    <a:pt x="1292753" y="344940"/>
                  </a:lnTo>
                  <a:lnTo>
                    <a:pt x="1272266" y="278606"/>
                  </a:lnTo>
                  <a:lnTo>
                    <a:pt x="1233044" y="216816"/>
                  </a:lnTo>
                  <a:lnTo>
                    <a:pt x="1206979" y="187960"/>
                  </a:lnTo>
                  <a:lnTo>
                    <a:pt x="1176916" y="160642"/>
                  </a:lnTo>
                  <a:lnTo>
                    <a:pt x="1143083" y="134996"/>
                  </a:lnTo>
                  <a:lnTo>
                    <a:pt x="1105709" y="111156"/>
                  </a:lnTo>
                  <a:lnTo>
                    <a:pt x="1065023" y="89257"/>
                  </a:lnTo>
                  <a:lnTo>
                    <a:pt x="1021252" y="69432"/>
                  </a:lnTo>
                  <a:lnTo>
                    <a:pt x="974626" y="51816"/>
                  </a:lnTo>
                  <a:lnTo>
                    <a:pt x="925373" y="36541"/>
                  </a:lnTo>
                  <a:lnTo>
                    <a:pt x="873721" y="23744"/>
                  </a:lnTo>
                  <a:lnTo>
                    <a:pt x="819899" y="13557"/>
                  </a:lnTo>
                  <a:lnTo>
                    <a:pt x="764136" y="6114"/>
                  </a:lnTo>
                  <a:lnTo>
                    <a:pt x="706660" y="1551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A18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4161" y="3118865"/>
              <a:ext cx="1295400" cy="759460"/>
            </a:xfrm>
            <a:custGeom>
              <a:avLst/>
              <a:gdLst/>
              <a:ahLst/>
              <a:cxnLst/>
              <a:rect l="l" t="t" r="r" b="b"/>
              <a:pathLst>
                <a:path w="1295400" h="759460">
                  <a:moveTo>
                    <a:pt x="0" y="379475"/>
                  </a:moveTo>
                  <a:lnTo>
                    <a:pt x="10435" y="311272"/>
                  </a:lnTo>
                  <a:lnTo>
                    <a:pt x="40521" y="247076"/>
                  </a:lnTo>
                  <a:lnTo>
                    <a:pt x="88428" y="187960"/>
                  </a:lnTo>
                  <a:lnTo>
                    <a:pt x="118494" y="160642"/>
                  </a:lnTo>
                  <a:lnTo>
                    <a:pt x="152328" y="134996"/>
                  </a:lnTo>
                  <a:lnTo>
                    <a:pt x="189704" y="111156"/>
                  </a:lnTo>
                  <a:lnTo>
                    <a:pt x="230392" y="89257"/>
                  </a:lnTo>
                  <a:lnTo>
                    <a:pt x="274164" y="69432"/>
                  </a:lnTo>
                  <a:lnTo>
                    <a:pt x="320790" y="51816"/>
                  </a:lnTo>
                  <a:lnTo>
                    <a:pt x="370043" y="36541"/>
                  </a:lnTo>
                  <a:lnTo>
                    <a:pt x="421694" y="23744"/>
                  </a:lnTo>
                  <a:lnTo>
                    <a:pt x="475513" y="13557"/>
                  </a:lnTo>
                  <a:lnTo>
                    <a:pt x="531273" y="6114"/>
                  </a:lnTo>
                  <a:lnTo>
                    <a:pt x="588745" y="1551"/>
                  </a:lnTo>
                  <a:lnTo>
                    <a:pt x="647700" y="0"/>
                  </a:lnTo>
                  <a:lnTo>
                    <a:pt x="706660" y="1551"/>
                  </a:lnTo>
                  <a:lnTo>
                    <a:pt x="764136" y="6114"/>
                  </a:lnTo>
                  <a:lnTo>
                    <a:pt x="819899" y="13557"/>
                  </a:lnTo>
                  <a:lnTo>
                    <a:pt x="873721" y="23744"/>
                  </a:lnTo>
                  <a:lnTo>
                    <a:pt x="925373" y="36541"/>
                  </a:lnTo>
                  <a:lnTo>
                    <a:pt x="974626" y="51816"/>
                  </a:lnTo>
                  <a:lnTo>
                    <a:pt x="1021252" y="69432"/>
                  </a:lnTo>
                  <a:lnTo>
                    <a:pt x="1065023" y="89257"/>
                  </a:lnTo>
                  <a:lnTo>
                    <a:pt x="1105709" y="111156"/>
                  </a:lnTo>
                  <a:lnTo>
                    <a:pt x="1143083" y="134996"/>
                  </a:lnTo>
                  <a:lnTo>
                    <a:pt x="1176916" y="160642"/>
                  </a:lnTo>
                  <a:lnTo>
                    <a:pt x="1206979" y="187960"/>
                  </a:lnTo>
                  <a:lnTo>
                    <a:pt x="1233044" y="216816"/>
                  </a:lnTo>
                  <a:lnTo>
                    <a:pt x="1272266" y="278606"/>
                  </a:lnTo>
                  <a:lnTo>
                    <a:pt x="1292753" y="344940"/>
                  </a:lnTo>
                  <a:lnTo>
                    <a:pt x="1295400" y="379475"/>
                  </a:lnTo>
                  <a:lnTo>
                    <a:pt x="1292753" y="414011"/>
                  </a:lnTo>
                  <a:lnTo>
                    <a:pt x="1272266" y="480345"/>
                  </a:lnTo>
                  <a:lnTo>
                    <a:pt x="1233044" y="542135"/>
                  </a:lnTo>
                  <a:lnTo>
                    <a:pt x="1206979" y="570991"/>
                  </a:lnTo>
                  <a:lnTo>
                    <a:pt x="1176916" y="598309"/>
                  </a:lnTo>
                  <a:lnTo>
                    <a:pt x="1143083" y="623955"/>
                  </a:lnTo>
                  <a:lnTo>
                    <a:pt x="1105709" y="647795"/>
                  </a:lnTo>
                  <a:lnTo>
                    <a:pt x="1065023" y="669694"/>
                  </a:lnTo>
                  <a:lnTo>
                    <a:pt x="1021252" y="689519"/>
                  </a:lnTo>
                  <a:lnTo>
                    <a:pt x="974626" y="707136"/>
                  </a:lnTo>
                  <a:lnTo>
                    <a:pt x="925373" y="722410"/>
                  </a:lnTo>
                  <a:lnTo>
                    <a:pt x="873721" y="735207"/>
                  </a:lnTo>
                  <a:lnTo>
                    <a:pt x="819899" y="745394"/>
                  </a:lnTo>
                  <a:lnTo>
                    <a:pt x="764136" y="752837"/>
                  </a:lnTo>
                  <a:lnTo>
                    <a:pt x="706660" y="757400"/>
                  </a:lnTo>
                  <a:lnTo>
                    <a:pt x="647700" y="758952"/>
                  </a:lnTo>
                  <a:lnTo>
                    <a:pt x="588745" y="757400"/>
                  </a:lnTo>
                  <a:lnTo>
                    <a:pt x="531273" y="752837"/>
                  </a:lnTo>
                  <a:lnTo>
                    <a:pt x="475513" y="745394"/>
                  </a:lnTo>
                  <a:lnTo>
                    <a:pt x="421694" y="735207"/>
                  </a:lnTo>
                  <a:lnTo>
                    <a:pt x="370043" y="722410"/>
                  </a:lnTo>
                  <a:lnTo>
                    <a:pt x="320790" y="707136"/>
                  </a:lnTo>
                  <a:lnTo>
                    <a:pt x="274164" y="689519"/>
                  </a:lnTo>
                  <a:lnTo>
                    <a:pt x="230392" y="669694"/>
                  </a:lnTo>
                  <a:lnTo>
                    <a:pt x="189704" y="647795"/>
                  </a:lnTo>
                  <a:lnTo>
                    <a:pt x="152328" y="623955"/>
                  </a:lnTo>
                  <a:lnTo>
                    <a:pt x="118494" y="598309"/>
                  </a:lnTo>
                  <a:lnTo>
                    <a:pt x="88428" y="570992"/>
                  </a:lnTo>
                  <a:lnTo>
                    <a:pt x="62361" y="542135"/>
                  </a:lnTo>
                  <a:lnTo>
                    <a:pt x="23136" y="480345"/>
                  </a:lnTo>
                  <a:lnTo>
                    <a:pt x="2646" y="414011"/>
                  </a:lnTo>
                  <a:lnTo>
                    <a:pt x="0" y="379475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33703" y="3178555"/>
            <a:ext cx="4940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9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M</a:t>
            </a:r>
            <a:r>
              <a:rPr sz="1800" spc="5" dirty="0">
                <a:latin typeface="Perpetua"/>
                <a:cs typeface="Perpetua"/>
              </a:rPr>
              <a:t>a</a:t>
            </a:r>
            <a:r>
              <a:rPr sz="1800" spc="-20" dirty="0">
                <a:latin typeface="Perpetua"/>
                <a:cs typeface="Perpetua"/>
              </a:rPr>
              <a:t>k</a:t>
            </a:r>
            <a:r>
              <a:rPr sz="1800" dirty="0">
                <a:latin typeface="Perpetua"/>
                <a:cs typeface="Perpetua"/>
              </a:rPr>
              <a:t>e  </a:t>
            </a:r>
            <a:r>
              <a:rPr sz="1800" spc="-5" dirty="0">
                <a:latin typeface="Perpetua"/>
                <a:cs typeface="Perpetua"/>
              </a:rPr>
              <a:t>C</a:t>
            </a:r>
            <a:r>
              <a:rPr sz="1800" spc="45" dirty="0">
                <a:latin typeface="Perpetua"/>
                <a:cs typeface="Perpetua"/>
              </a:rPr>
              <a:t>r</a:t>
            </a:r>
            <a:r>
              <a:rPr sz="1800" dirty="0">
                <a:latin typeface="Perpetua"/>
                <a:cs typeface="Perpetua"/>
              </a:rPr>
              <a:t>ust</a:t>
            </a:r>
            <a:endParaRPr sz="1800">
              <a:latin typeface="Perpetua"/>
              <a:cs typeface="Perpetu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81074" y="2048255"/>
            <a:ext cx="6896734" cy="2181225"/>
            <a:chOff x="1181074" y="2048255"/>
            <a:chExt cx="6896734" cy="2181225"/>
          </a:xfrm>
        </p:grpSpPr>
        <p:sp>
          <p:nvSpPr>
            <p:cNvPr id="17" name="object 17"/>
            <p:cNvSpPr/>
            <p:nvPr/>
          </p:nvSpPr>
          <p:spPr>
            <a:xfrm>
              <a:off x="1181074" y="2048255"/>
              <a:ext cx="6896734" cy="1171575"/>
            </a:xfrm>
            <a:custGeom>
              <a:avLst/>
              <a:gdLst/>
              <a:ahLst/>
              <a:cxnLst/>
              <a:rect l="l" t="t" r="r" b="b"/>
              <a:pathLst>
                <a:path w="6896734" h="1171575">
                  <a:moveTo>
                    <a:pt x="6896125" y="1144524"/>
                  </a:moveTo>
                  <a:lnTo>
                    <a:pt x="6826275" y="1074166"/>
                  </a:lnTo>
                  <a:lnTo>
                    <a:pt x="6823862" y="1071626"/>
                  </a:lnTo>
                  <a:lnTo>
                    <a:pt x="6819798" y="1071626"/>
                  </a:lnTo>
                  <a:lnTo>
                    <a:pt x="6817385" y="1074166"/>
                  </a:lnTo>
                  <a:lnTo>
                    <a:pt x="6814845" y="1076579"/>
                  </a:lnTo>
                  <a:lnTo>
                    <a:pt x="6814845" y="1080643"/>
                  </a:lnTo>
                  <a:lnTo>
                    <a:pt x="6817258" y="1083183"/>
                  </a:lnTo>
                  <a:lnTo>
                    <a:pt x="6862978" y="1129106"/>
                  </a:lnTo>
                  <a:lnTo>
                    <a:pt x="2630576" y="0"/>
                  </a:lnTo>
                  <a:lnTo>
                    <a:pt x="2628925" y="6096"/>
                  </a:lnTo>
                  <a:lnTo>
                    <a:pt x="2626512" y="254"/>
                  </a:lnTo>
                  <a:lnTo>
                    <a:pt x="31076" y="1049223"/>
                  </a:lnTo>
                  <a:lnTo>
                    <a:pt x="72847" y="995172"/>
                  </a:lnTo>
                  <a:lnTo>
                    <a:pt x="72339" y="991235"/>
                  </a:lnTo>
                  <a:lnTo>
                    <a:pt x="66789" y="986917"/>
                  </a:lnTo>
                  <a:lnTo>
                    <a:pt x="62801" y="987425"/>
                  </a:lnTo>
                  <a:lnTo>
                    <a:pt x="0" y="1068578"/>
                  </a:lnTo>
                  <a:lnTo>
                    <a:pt x="101498" y="1083310"/>
                  </a:lnTo>
                  <a:lnTo>
                    <a:pt x="104800" y="1080897"/>
                  </a:lnTo>
                  <a:lnTo>
                    <a:pt x="105816" y="1073912"/>
                  </a:lnTo>
                  <a:lnTo>
                    <a:pt x="103403" y="1070737"/>
                  </a:lnTo>
                  <a:lnTo>
                    <a:pt x="96418" y="1069721"/>
                  </a:lnTo>
                  <a:lnTo>
                    <a:pt x="35814" y="1060907"/>
                  </a:lnTo>
                  <a:lnTo>
                    <a:pt x="2604757" y="22682"/>
                  </a:lnTo>
                  <a:lnTo>
                    <a:pt x="1582102" y="1113828"/>
                  </a:lnTo>
                  <a:lnTo>
                    <a:pt x="1596542" y="1050671"/>
                  </a:lnTo>
                  <a:lnTo>
                    <a:pt x="1597304" y="1047242"/>
                  </a:lnTo>
                  <a:lnTo>
                    <a:pt x="1595272" y="1043940"/>
                  </a:lnTo>
                  <a:lnTo>
                    <a:pt x="1591843" y="1043178"/>
                  </a:lnTo>
                  <a:lnTo>
                    <a:pt x="1588414" y="1042289"/>
                  </a:lnTo>
                  <a:lnTo>
                    <a:pt x="1584985" y="1044448"/>
                  </a:lnTo>
                  <a:lnTo>
                    <a:pt x="1584223" y="1047877"/>
                  </a:lnTo>
                  <a:lnTo>
                    <a:pt x="1562125" y="1144524"/>
                  </a:lnTo>
                  <a:lnTo>
                    <a:pt x="1578305" y="1139698"/>
                  </a:lnTo>
                  <a:lnTo>
                    <a:pt x="1660423" y="1115187"/>
                  </a:lnTo>
                  <a:lnTo>
                    <a:pt x="1662328" y="1111631"/>
                  </a:lnTo>
                  <a:lnTo>
                    <a:pt x="1661312" y="1108329"/>
                  </a:lnTo>
                  <a:lnTo>
                    <a:pt x="1660296" y="1104900"/>
                  </a:lnTo>
                  <a:lnTo>
                    <a:pt x="1656867" y="1102995"/>
                  </a:lnTo>
                  <a:lnTo>
                    <a:pt x="1591513" y="1122426"/>
                  </a:lnTo>
                  <a:lnTo>
                    <a:pt x="2630919" y="13169"/>
                  </a:lnTo>
                  <a:lnTo>
                    <a:pt x="6859689" y="1141298"/>
                  </a:lnTo>
                  <a:lnTo>
                    <a:pt x="6797192" y="1158367"/>
                  </a:lnTo>
                  <a:lnTo>
                    <a:pt x="6793890" y="1159383"/>
                  </a:lnTo>
                  <a:lnTo>
                    <a:pt x="6791858" y="1162812"/>
                  </a:lnTo>
                  <a:lnTo>
                    <a:pt x="6792747" y="1166241"/>
                  </a:lnTo>
                  <a:lnTo>
                    <a:pt x="6793636" y="1169543"/>
                  </a:lnTo>
                  <a:lnTo>
                    <a:pt x="6797192" y="1171575"/>
                  </a:lnTo>
                  <a:lnTo>
                    <a:pt x="6800621" y="1170686"/>
                  </a:lnTo>
                  <a:lnTo>
                    <a:pt x="6885914" y="1147318"/>
                  </a:lnTo>
                  <a:lnTo>
                    <a:pt x="6896125" y="1144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47088" y="3160775"/>
              <a:ext cx="1793748" cy="9631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68652" y="3121152"/>
              <a:ext cx="1197864" cy="11079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05762" y="3193541"/>
              <a:ext cx="1676400" cy="845819"/>
            </a:xfrm>
            <a:custGeom>
              <a:avLst/>
              <a:gdLst/>
              <a:ahLst/>
              <a:cxnLst/>
              <a:rect l="l" t="t" r="r" b="b"/>
              <a:pathLst>
                <a:path w="1676400" h="845820">
                  <a:moveTo>
                    <a:pt x="838200" y="0"/>
                  </a:moveTo>
                  <a:lnTo>
                    <a:pt x="775645" y="1160"/>
                  </a:lnTo>
                  <a:lnTo>
                    <a:pt x="714339" y="4585"/>
                  </a:lnTo>
                  <a:lnTo>
                    <a:pt x="654443" y="10195"/>
                  </a:lnTo>
                  <a:lnTo>
                    <a:pt x="596120" y="17906"/>
                  </a:lnTo>
                  <a:lnTo>
                    <a:pt x="539532" y="27638"/>
                  </a:lnTo>
                  <a:lnTo>
                    <a:pt x="484840" y="39308"/>
                  </a:lnTo>
                  <a:lnTo>
                    <a:pt x="432207" y="52835"/>
                  </a:lnTo>
                  <a:lnTo>
                    <a:pt x="381795" y="68136"/>
                  </a:lnTo>
                  <a:lnTo>
                    <a:pt x="333766" y="85131"/>
                  </a:lnTo>
                  <a:lnTo>
                    <a:pt x="288283" y="103737"/>
                  </a:lnTo>
                  <a:lnTo>
                    <a:pt x="245506" y="123872"/>
                  </a:lnTo>
                  <a:lnTo>
                    <a:pt x="205599" y="145455"/>
                  </a:lnTo>
                  <a:lnTo>
                    <a:pt x="168723" y="168404"/>
                  </a:lnTo>
                  <a:lnTo>
                    <a:pt x="135041" y="192637"/>
                  </a:lnTo>
                  <a:lnTo>
                    <a:pt x="104715" y="218072"/>
                  </a:lnTo>
                  <a:lnTo>
                    <a:pt x="54776" y="272221"/>
                  </a:lnTo>
                  <a:lnTo>
                    <a:pt x="20205" y="330199"/>
                  </a:lnTo>
                  <a:lnTo>
                    <a:pt x="2299" y="391349"/>
                  </a:lnTo>
                  <a:lnTo>
                    <a:pt x="0" y="422910"/>
                  </a:lnTo>
                  <a:lnTo>
                    <a:pt x="2299" y="454470"/>
                  </a:lnTo>
                  <a:lnTo>
                    <a:pt x="20205" y="515620"/>
                  </a:lnTo>
                  <a:lnTo>
                    <a:pt x="54776" y="573598"/>
                  </a:lnTo>
                  <a:lnTo>
                    <a:pt x="104715" y="627747"/>
                  </a:lnTo>
                  <a:lnTo>
                    <a:pt x="135041" y="653182"/>
                  </a:lnTo>
                  <a:lnTo>
                    <a:pt x="168723" y="677415"/>
                  </a:lnTo>
                  <a:lnTo>
                    <a:pt x="205599" y="700364"/>
                  </a:lnTo>
                  <a:lnTo>
                    <a:pt x="245506" y="721947"/>
                  </a:lnTo>
                  <a:lnTo>
                    <a:pt x="288283" y="742082"/>
                  </a:lnTo>
                  <a:lnTo>
                    <a:pt x="333766" y="760688"/>
                  </a:lnTo>
                  <a:lnTo>
                    <a:pt x="381795" y="777683"/>
                  </a:lnTo>
                  <a:lnTo>
                    <a:pt x="432207" y="792984"/>
                  </a:lnTo>
                  <a:lnTo>
                    <a:pt x="484840" y="806511"/>
                  </a:lnTo>
                  <a:lnTo>
                    <a:pt x="539532" y="818181"/>
                  </a:lnTo>
                  <a:lnTo>
                    <a:pt x="596120" y="827913"/>
                  </a:lnTo>
                  <a:lnTo>
                    <a:pt x="654443" y="835624"/>
                  </a:lnTo>
                  <a:lnTo>
                    <a:pt x="714339" y="841234"/>
                  </a:lnTo>
                  <a:lnTo>
                    <a:pt x="775645" y="844659"/>
                  </a:lnTo>
                  <a:lnTo>
                    <a:pt x="838200" y="845820"/>
                  </a:lnTo>
                  <a:lnTo>
                    <a:pt x="900754" y="844659"/>
                  </a:lnTo>
                  <a:lnTo>
                    <a:pt x="962060" y="841234"/>
                  </a:lnTo>
                  <a:lnTo>
                    <a:pt x="1021956" y="835624"/>
                  </a:lnTo>
                  <a:lnTo>
                    <a:pt x="1080279" y="827913"/>
                  </a:lnTo>
                  <a:lnTo>
                    <a:pt x="1136867" y="818181"/>
                  </a:lnTo>
                  <a:lnTo>
                    <a:pt x="1191559" y="806511"/>
                  </a:lnTo>
                  <a:lnTo>
                    <a:pt x="1244192" y="792984"/>
                  </a:lnTo>
                  <a:lnTo>
                    <a:pt x="1294604" y="777683"/>
                  </a:lnTo>
                  <a:lnTo>
                    <a:pt x="1342633" y="760688"/>
                  </a:lnTo>
                  <a:lnTo>
                    <a:pt x="1388116" y="742082"/>
                  </a:lnTo>
                  <a:lnTo>
                    <a:pt x="1430893" y="721947"/>
                  </a:lnTo>
                  <a:lnTo>
                    <a:pt x="1470800" y="700364"/>
                  </a:lnTo>
                  <a:lnTo>
                    <a:pt x="1507676" y="677415"/>
                  </a:lnTo>
                  <a:lnTo>
                    <a:pt x="1541358" y="653182"/>
                  </a:lnTo>
                  <a:lnTo>
                    <a:pt x="1571684" y="627747"/>
                  </a:lnTo>
                  <a:lnTo>
                    <a:pt x="1621623" y="573598"/>
                  </a:lnTo>
                  <a:lnTo>
                    <a:pt x="1656194" y="515620"/>
                  </a:lnTo>
                  <a:lnTo>
                    <a:pt x="1674100" y="454470"/>
                  </a:lnTo>
                  <a:lnTo>
                    <a:pt x="1676400" y="422910"/>
                  </a:lnTo>
                  <a:lnTo>
                    <a:pt x="1674100" y="391349"/>
                  </a:lnTo>
                  <a:lnTo>
                    <a:pt x="1656194" y="330199"/>
                  </a:lnTo>
                  <a:lnTo>
                    <a:pt x="1621623" y="272221"/>
                  </a:lnTo>
                  <a:lnTo>
                    <a:pt x="1571684" y="218072"/>
                  </a:lnTo>
                  <a:lnTo>
                    <a:pt x="1541358" y="192637"/>
                  </a:lnTo>
                  <a:lnTo>
                    <a:pt x="1507676" y="168404"/>
                  </a:lnTo>
                  <a:lnTo>
                    <a:pt x="1470800" y="145455"/>
                  </a:lnTo>
                  <a:lnTo>
                    <a:pt x="1430893" y="123872"/>
                  </a:lnTo>
                  <a:lnTo>
                    <a:pt x="1388116" y="103737"/>
                  </a:lnTo>
                  <a:lnTo>
                    <a:pt x="1342633" y="85131"/>
                  </a:lnTo>
                  <a:lnTo>
                    <a:pt x="1294604" y="68136"/>
                  </a:lnTo>
                  <a:lnTo>
                    <a:pt x="1244192" y="52835"/>
                  </a:lnTo>
                  <a:lnTo>
                    <a:pt x="1191559" y="39308"/>
                  </a:lnTo>
                  <a:lnTo>
                    <a:pt x="1136867" y="27638"/>
                  </a:lnTo>
                  <a:lnTo>
                    <a:pt x="1080279" y="17906"/>
                  </a:lnTo>
                  <a:lnTo>
                    <a:pt x="1021956" y="10195"/>
                  </a:lnTo>
                  <a:lnTo>
                    <a:pt x="962060" y="4585"/>
                  </a:lnTo>
                  <a:lnTo>
                    <a:pt x="900754" y="116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A18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05762" y="3193541"/>
              <a:ext cx="1676400" cy="845819"/>
            </a:xfrm>
            <a:custGeom>
              <a:avLst/>
              <a:gdLst/>
              <a:ahLst/>
              <a:cxnLst/>
              <a:rect l="l" t="t" r="r" b="b"/>
              <a:pathLst>
                <a:path w="1676400" h="845820">
                  <a:moveTo>
                    <a:pt x="0" y="422910"/>
                  </a:moveTo>
                  <a:lnTo>
                    <a:pt x="9088" y="360418"/>
                  </a:lnTo>
                  <a:lnTo>
                    <a:pt x="35489" y="300773"/>
                  </a:lnTo>
                  <a:lnTo>
                    <a:pt x="77906" y="244627"/>
                  </a:lnTo>
                  <a:lnTo>
                    <a:pt x="135041" y="192637"/>
                  </a:lnTo>
                  <a:lnTo>
                    <a:pt x="168723" y="168404"/>
                  </a:lnTo>
                  <a:lnTo>
                    <a:pt x="205599" y="145455"/>
                  </a:lnTo>
                  <a:lnTo>
                    <a:pt x="245506" y="123872"/>
                  </a:lnTo>
                  <a:lnTo>
                    <a:pt x="288283" y="103737"/>
                  </a:lnTo>
                  <a:lnTo>
                    <a:pt x="333766" y="85131"/>
                  </a:lnTo>
                  <a:lnTo>
                    <a:pt x="381795" y="68136"/>
                  </a:lnTo>
                  <a:lnTo>
                    <a:pt x="432207" y="52835"/>
                  </a:lnTo>
                  <a:lnTo>
                    <a:pt x="484840" y="39308"/>
                  </a:lnTo>
                  <a:lnTo>
                    <a:pt x="539532" y="27638"/>
                  </a:lnTo>
                  <a:lnTo>
                    <a:pt x="596120" y="17906"/>
                  </a:lnTo>
                  <a:lnTo>
                    <a:pt x="654443" y="10195"/>
                  </a:lnTo>
                  <a:lnTo>
                    <a:pt x="714339" y="4585"/>
                  </a:lnTo>
                  <a:lnTo>
                    <a:pt x="775645" y="1160"/>
                  </a:lnTo>
                  <a:lnTo>
                    <a:pt x="838200" y="0"/>
                  </a:lnTo>
                  <a:lnTo>
                    <a:pt x="900754" y="1160"/>
                  </a:lnTo>
                  <a:lnTo>
                    <a:pt x="962060" y="4585"/>
                  </a:lnTo>
                  <a:lnTo>
                    <a:pt x="1021956" y="10195"/>
                  </a:lnTo>
                  <a:lnTo>
                    <a:pt x="1080279" y="17906"/>
                  </a:lnTo>
                  <a:lnTo>
                    <a:pt x="1136867" y="27638"/>
                  </a:lnTo>
                  <a:lnTo>
                    <a:pt x="1191559" y="39308"/>
                  </a:lnTo>
                  <a:lnTo>
                    <a:pt x="1244192" y="52835"/>
                  </a:lnTo>
                  <a:lnTo>
                    <a:pt x="1294604" y="68136"/>
                  </a:lnTo>
                  <a:lnTo>
                    <a:pt x="1342633" y="85131"/>
                  </a:lnTo>
                  <a:lnTo>
                    <a:pt x="1388116" y="103737"/>
                  </a:lnTo>
                  <a:lnTo>
                    <a:pt x="1430893" y="123872"/>
                  </a:lnTo>
                  <a:lnTo>
                    <a:pt x="1470800" y="145455"/>
                  </a:lnTo>
                  <a:lnTo>
                    <a:pt x="1507676" y="168404"/>
                  </a:lnTo>
                  <a:lnTo>
                    <a:pt x="1541358" y="192637"/>
                  </a:lnTo>
                  <a:lnTo>
                    <a:pt x="1571684" y="218072"/>
                  </a:lnTo>
                  <a:lnTo>
                    <a:pt x="1621623" y="272221"/>
                  </a:lnTo>
                  <a:lnTo>
                    <a:pt x="1656194" y="330199"/>
                  </a:lnTo>
                  <a:lnTo>
                    <a:pt x="1674100" y="391349"/>
                  </a:lnTo>
                  <a:lnTo>
                    <a:pt x="1676400" y="422910"/>
                  </a:lnTo>
                  <a:lnTo>
                    <a:pt x="1674100" y="454470"/>
                  </a:lnTo>
                  <a:lnTo>
                    <a:pt x="1656194" y="515620"/>
                  </a:lnTo>
                  <a:lnTo>
                    <a:pt x="1621623" y="573598"/>
                  </a:lnTo>
                  <a:lnTo>
                    <a:pt x="1571684" y="627747"/>
                  </a:lnTo>
                  <a:lnTo>
                    <a:pt x="1541358" y="653182"/>
                  </a:lnTo>
                  <a:lnTo>
                    <a:pt x="1507676" y="677415"/>
                  </a:lnTo>
                  <a:lnTo>
                    <a:pt x="1470800" y="700364"/>
                  </a:lnTo>
                  <a:lnTo>
                    <a:pt x="1430893" y="721947"/>
                  </a:lnTo>
                  <a:lnTo>
                    <a:pt x="1388116" y="742082"/>
                  </a:lnTo>
                  <a:lnTo>
                    <a:pt x="1342633" y="760688"/>
                  </a:lnTo>
                  <a:lnTo>
                    <a:pt x="1294604" y="777683"/>
                  </a:lnTo>
                  <a:lnTo>
                    <a:pt x="1244192" y="792984"/>
                  </a:lnTo>
                  <a:lnTo>
                    <a:pt x="1191559" y="806511"/>
                  </a:lnTo>
                  <a:lnTo>
                    <a:pt x="1136867" y="818181"/>
                  </a:lnTo>
                  <a:lnTo>
                    <a:pt x="1080279" y="827913"/>
                  </a:lnTo>
                  <a:lnTo>
                    <a:pt x="1021956" y="835624"/>
                  </a:lnTo>
                  <a:lnTo>
                    <a:pt x="962060" y="841234"/>
                  </a:lnTo>
                  <a:lnTo>
                    <a:pt x="900754" y="844659"/>
                  </a:lnTo>
                  <a:lnTo>
                    <a:pt x="838200" y="845820"/>
                  </a:lnTo>
                  <a:lnTo>
                    <a:pt x="775645" y="844659"/>
                  </a:lnTo>
                  <a:lnTo>
                    <a:pt x="714339" y="841234"/>
                  </a:lnTo>
                  <a:lnTo>
                    <a:pt x="654443" y="835624"/>
                  </a:lnTo>
                  <a:lnTo>
                    <a:pt x="596120" y="827913"/>
                  </a:lnTo>
                  <a:lnTo>
                    <a:pt x="539532" y="818181"/>
                  </a:lnTo>
                  <a:lnTo>
                    <a:pt x="484840" y="806511"/>
                  </a:lnTo>
                  <a:lnTo>
                    <a:pt x="432207" y="792984"/>
                  </a:lnTo>
                  <a:lnTo>
                    <a:pt x="381795" y="777683"/>
                  </a:lnTo>
                  <a:lnTo>
                    <a:pt x="333766" y="760688"/>
                  </a:lnTo>
                  <a:lnTo>
                    <a:pt x="288283" y="742082"/>
                  </a:lnTo>
                  <a:lnTo>
                    <a:pt x="245506" y="721947"/>
                  </a:lnTo>
                  <a:lnTo>
                    <a:pt x="205599" y="700364"/>
                  </a:lnTo>
                  <a:lnTo>
                    <a:pt x="168723" y="677415"/>
                  </a:lnTo>
                  <a:lnTo>
                    <a:pt x="135041" y="653182"/>
                  </a:lnTo>
                  <a:lnTo>
                    <a:pt x="104715" y="627747"/>
                  </a:lnTo>
                  <a:lnTo>
                    <a:pt x="54776" y="573598"/>
                  </a:lnTo>
                  <a:lnTo>
                    <a:pt x="20205" y="515620"/>
                  </a:lnTo>
                  <a:lnTo>
                    <a:pt x="2299" y="454470"/>
                  </a:lnTo>
                  <a:lnTo>
                    <a:pt x="0" y="42291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333625" y="3160521"/>
            <a:ext cx="81915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Perpetua"/>
                <a:cs typeface="Perpetua"/>
              </a:rPr>
              <a:t>Make</a:t>
            </a:r>
            <a:r>
              <a:rPr sz="1800" spc="-114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and  </a:t>
            </a:r>
            <a:r>
              <a:rPr sz="1800" spc="-5" dirty="0">
                <a:latin typeface="Perpetua"/>
                <a:cs typeface="Perpetua"/>
              </a:rPr>
              <a:t>Spread  </a:t>
            </a:r>
            <a:r>
              <a:rPr sz="1800" dirty="0">
                <a:latin typeface="Perpetua"/>
                <a:cs typeface="Perpetua"/>
              </a:rPr>
              <a:t>Sauce</a:t>
            </a:r>
            <a:endParaRPr sz="1800">
              <a:latin typeface="Perpetua"/>
              <a:cs typeface="Perpetu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485888" y="3160776"/>
            <a:ext cx="1184275" cy="802005"/>
            <a:chOff x="7485888" y="3160776"/>
            <a:chExt cx="1184275" cy="802005"/>
          </a:xfrm>
        </p:grpSpPr>
        <p:sp>
          <p:nvSpPr>
            <p:cNvPr id="24" name="object 24"/>
            <p:cNvSpPr/>
            <p:nvPr/>
          </p:nvSpPr>
          <p:spPr>
            <a:xfrm>
              <a:off x="7485888" y="3160776"/>
              <a:ext cx="1184148" cy="8016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708392" y="3314700"/>
              <a:ext cx="737616" cy="55930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44562" y="3193542"/>
              <a:ext cx="1066800" cy="684530"/>
            </a:xfrm>
            <a:custGeom>
              <a:avLst/>
              <a:gdLst/>
              <a:ahLst/>
              <a:cxnLst/>
              <a:rect l="l" t="t" r="r" b="b"/>
              <a:pathLst>
                <a:path w="1066800" h="684529">
                  <a:moveTo>
                    <a:pt x="533400" y="0"/>
                  </a:moveTo>
                  <a:lnTo>
                    <a:pt x="475271" y="2007"/>
                  </a:lnTo>
                  <a:lnTo>
                    <a:pt x="418957" y="7890"/>
                  </a:lnTo>
                  <a:lnTo>
                    <a:pt x="364784" y="17440"/>
                  </a:lnTo>
                  <a:lnTo>
                    <a:pt x="313077" y="30449"/>
                  </a:lnTo>
                  <a:lnTo>
                    <a:pt x="264160" y="46707"/>
                  </a:lnTo>
                  <a:lnTo>
                    <a:pt x="218358" y="66007"/>
                  </a:lnTo>
                  <a:lnTo>
                    <a:pt x="175998" y="88139"/>
                  </a:lnTo>
                  <a:lnTo>
                    <a:pt x="137403" y="112896"/>
                  </a:lnTo>
                  <a:lnTo>
                    <a:pt x="102900" y="140067"/>
                  </a:lnTo>
                  <a:lnTo>
                    <a:pt x="72813" y="169446"/>
                  </a:lnTo>
                  <a:lnTo>
                    <a:pt x="47467" y="200822"/>
                  </a:lnTo>
                  <a:lnTo>
                    <a:pt x="27188" y="233988"/>
                  </a:lnTo>
                  <a:lnTo>
                    <a:pt x="3129" y="304855"/>
                  </a:lnTo>
                  <a:lnTo>
                    <a:pt x="0" y="342138"/>
                  </a:lnTo>
                  <a:lnTo>
                    <a:pt x="3129" y="379420"/>
                  </a:lnTo>
                  <a:lnTo>
                    <a:pt x="27188" y="450287"/>
                  </a:lnTo>
                  <a:lnTo>
                    <a:pt x="47467" y="483453"/>
                  </a:lnTo>
                  <a:lnTo>
                    <a:pt x="72813" y="514829"/>
                  </a:lnTo>
                  <a:lnTo>
                    <a:pt x="102900" y="544208"/>
                  </a:lnTo>
                  <a:lnTo>
                    <a:pt x="137403" y="571379"/>
                  </a:lnTo>
                  <a:lnTo>
                    <a:pt x="175998" y="596136"/>
                  </a:lnTo>
                  <a:lnTo>
                    <a:pt x="218358" y="618268"/>
                  </a:lnTo>
                  <a:lnTo>
                    <a:pt x="264160" y="637568"/>
                  </a:lnTo>
                  <a:lnTo>
                    <a:pt x="313077" y="653826"/>
                  </a:lnTo>
                  <a:lnTo>
                    <a:pt x="364784" y="666835"/>
                  </a:lnTo>
                  <a:lnTo>
                    <a:pt x="418957" y="676385"/>
                  </a:lnTo>
                  <a:lnTo>
                    <a:pt x="475271" y="682268"/>
                  </a:lnTo>
                  <a:lnTo>
                    <a:pt x="533400" y="684276"/>
                  </a:lnTo>
                  <a:lnTo>
                    <a:pt x="591528" y="682268"/>
                  </a:lnTo>
                  <a:lnTo>
                    <a:pt x="647842" y="676385"/>
                  </a:lnTo>
                  <a:lnTo>
                    <a:pt x="702015" y="666835"/>
                  </a:lnTo>
                  <a:lnTo>
                    <a:pt x="753722" y="653826"/>
                  </a:lnTo>
                  <a:lnTo>
                    <a:pt x="802639" y="637568"/>
                  </a:lnTo>
                  <a:lnTo>
                    <a:pt x="848441" y="618268"/>
                  </a:lnTo>
                  <a:lnTo>
                    <a:pt x="890801" y="596136"/>
                  </a:lnTo>
                  <a:lnTo>
                    <a:pt x="929396" y="571379"/>
                  </a:lnTo>
                  <a:lnTo>
                    <a:pt x="963899" y="544208"/>
                  </a:lnTo>
                  <a:lnTo>
                    <a:pt x="993986" y="514829"/>
                  </a:lnTo>
                  <a:lnTo>
                    <a:pt x="1019332" y="483453"/>
                  </a:lnTo>
                  <a:lnTo>
                    <a:pt x="1039611" y="450287"/>
                  </a:lnTo>
                  <a:lnTo>
                    <a:pt x="1063670" y="379420"/>
                  </a:lnTo>
                  <a:lnTo>
                    <a:pt x="1066800" y="342138"/>
                  </a:lnTo>
                  <a:lnTo>
                    <a:pt x="1063670" y="304855"/>
                  </a:lnTo>
                  <a:lnTo>
                    <a:pt x="1039611" y="233988"/>
                  </a:lnTo>
                  <a:lnTo>
                    <a:pt x="1019332" y="200822"/>
                  </a:lnTo>
                  <a:lnTo>
                    <a:pt x="993986" y="169446"/>
                  </a:lnTo>
                  <a:lnTo>
                    <a:pt x="963899" y="140067"/>
                  </a:lnTo>
                  <a:lnTo>
                    <a:pt x="929396" y="112896"/>
                  </a:lnTo>
                  <a:lnTo>
                    <a:pt x="890801" y="88139"/>
                  </a:lnTo>
                  <a:lnTo>
                    <a:pt x="848441" y="66007"/>
                  </a:lnTo>
                  <a:lnTo>
                    <a:pt x="802639" y="46707"/>
                  </a:lnTo>
                  <a:lnTo>
                    <a:pt x="753722" y="30449"/>
                  </a:lnTo>
                  <a:lnTo>
                    <a:pt x="702015" y="17440"/>
                  </a:lnTo>
                  <a:lnTo>
                    <a:pt x="647842" y="7890"/>
                  </a:lnTo>
                  <a:lnTo>
                    <a:pt x="591528" y="2007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A18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44562" y="3193542"/>
              <a:ext cx="1066800" cy="684530"/>
            </a:xfrm>
            <a:custGeom>
              <a:avLst/>
              <a:gdLst/>
              <a:ahLst/>
              <a:cxnLst/>
              <a:rect l="l" t="t" r="r" b="b"/>
              <a:pathLst>
                <a:path w="1066800" h="684529">
                  <a:moveTo>
                    <a:pt x="0" y="342138"/>
                  </a:moveTo>
                  <a:lnTo>
                    <a:pt x="12300" y="268735"/>
                  </a:lnTo>
                  <a:lnTo>
                    <a:pt x="47467" y="200822"/>
                  </a:lnTo>
                  <a:lnTo>
                    <a:pt x="72813" y="169446"/>
                  </a:lnTo>
                  <a:lnTo>
                    <a:pt x="102900" y="140067"/>
                  </a:lnTo>
                  <a:lnTo>
                    <a:pt x="137403" y="112896"/>
                  </a:lnTo>
                  <a:lnTo>
                    <a:pt x="175998" y="88139"/>
                  </a:lnTo>
                  <a:lnTo>
                    <a:pt x="218358" y="66007"/>
                  </a:lnTo>
                  <a:lnTo>
                    <a:pt x="264160" y="46707"/>
                  </a:lnTo>
                  <a:lnTo>
                    <a:pt x="313077" y="30449"/>
                  </a:lnTo>
                  <a:lnTo>
                    <a:pt x="364784" y="17440"/>
                  </a:lnTo>
                  <a:lnTo>
                    <a:pt x="418957" y="7890"/>
                  </a:lnTo>
                  <a:lnTo>
                    <a:pt x="475271" y="2007"/>
                  </a:lnTo>
                  <a:lnTo>
                    <a:pt x="533400" y="0"/>
                  </a:lnTo>
                  <a:lnTo>
                    <a:pt x="591528" y="2007"/>
                  </a:lnTo>
                  <a:lnTo>
                    <a:pt x="647842" y="7890"/>
                  </a:lnTo>
                  <a:lnTo>
                    <a:pt x="702015" y="17440"/>
                  </a:lnTo>
                  <a:lnTo>
                    <a:pt x="753722" y="30449"/>
                  </a:lnTo>
                  <a:lnTo>
                    <a:pt x="802639" y="46707"/>
                  </a:lnTo>
                  <a:lnTo>
                    <a:pt x="848441" y="66007"/>
                  </a:lnTo>
                  <a:lnTo>
                    <a:pt x="890801" y="88139"/>
                  </a:lnTo>
                  <a:lnTo>
                    <a:pt x="929396" y="112896"/>
                  </a:lnTo>
                  <a:lnTo>
                    <a:pt x="963899" y="140067"/>
                  </a:lnTo>
                  <a:lnTo>
                    <a:pt x="993986" y="169446"/>
                  </a:lnTo>
                  <a:lnTo>
                    <a:pt x="1019332" y="200822"/>
                  </a:lnTo>
                  <a:lnTo>
                    <a:pt x="1039611" y="233988"/>
                  </a:lnTo>
                  <a:lnTo>
                    <a:pt x="1063670" y="304855"/>
                  </a:lnTo>
                  <a:lnTo>
                    <a:pt x="1066800" y="342138"/>
                  </a:lnTo>
                  <a:lnTo>
                    <a:pt x="1063670" y="379420"/>
                  </a:lnTo>
                  <a:lnTo>
                    <a:pt x="1039611" y="450287"/>
                  </a:lnTo>
                  <a:lnTo>
                    <a:pt x="1019332" y="483453"/>
                  </a:lnTo>
                  <a:lnTo>
                    <a:pt x="993986" y="514829"/>
                  </a:lnTo>
                  <a:lnTo>
                    <a:pt x="963899" y="544208"/>
                  </a:lnTo>
                  <a:lnTo>
                    <a:pt x="929396" y="571379"/>
                  </a:lnTo>
                  <a:lnTo>
                    <a:pt x="890801" y="596136"/>
                  </a:lnTo>
                  <a:lnTo>
                    <a:pt x="848441" y="618268"/>
                  </a:lnTo>
                  <a:lnTo>
                    <a:pt x="802639" y="637568"/>
                  </a:lnTo>
                  <a:lnTo>
                    <a:pt x="753722" y="653826"/>
                  </a:lnTo>
                  <a:lnTo>
                    <a:pt x="702015" y="666835"/>
                  </a:lnTo>
                  <a:lnTo>
                    <a:pt x="647842" y="676385"/>
                  </a:lnTo>
                  <a:lnTo>
                    <a:pt x="591528" y="682268"/>
                  </a:lnTo>
                  <a:lnTo>
                    <a:pt x="533400" y="684276"/>
                  </a:lnTo>
                  <a:lnTo>
                    <a:pt x="475271" y="682268"/>
                  </a:lnTo>
                  <a:lnTo>
                    <a:pt x="418957" y="676385"/>
                  </a:lnTo>
                  <a:lnTo>
                    <a:pt x="364784" y="666835"/>
                  </a:lnTo>
                  <a:lnTo>
                    <a:pt x="313077" y="653826"/>
                  </a:lnTo>
                  <a:lnTo>
                    <a:pt x="264160" y="637568"/>
                  </a:lnTo>
                  <a:lnTo>
                    <a:pt x="218358" y="618268"/>
                  </a:lnTo>
                  <a:lnTo>
                    <a:pt x="175998" y="596136"/>
                  </a:lnTo>
                  <a:lnTo>
                    <a:pt x="137403" y="571379"/>
                  </a:lnTo>
                  <a:lnTo>
                    <a:pt x="102900" y="544208"/>
                  </a:lnTo>
                  <a:lnTo>
                    <a:pt x="72813" y="514829"/>
                  </a:lnTo>
                  <a:lnTo>
                    <a:pt x="47467" y="483453"/>
                  </a:lnTo>
                  <a:lnTo>
                    <a:pt x="27188" y="450287"/>
                  </a:lnTo>
                  <a:lnTo>
                    <a:pt x="3129" y="379420"/>
                  </a:lnTo>
                  <a:lnTo>
                    <a:pt x="0" y="342138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873745" y="3353815"/>
            <a:ext cx="408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Slice</a:t>
            </a:r>
            <a:endParaRPr sz="1800">
              <a:latin typeface="Perpetua"/>
              <a:cs typeface="Perpetu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99688" y="3160776"/>
            <a:ext cx="1412875" cy="889000"/>
            <a:chOff x="3599688" y="3160776"/>
            <a:chExt cx="1412875" cy="889000"/>
          </a:xfrm>
        </p:grpSpPr>
        <p:sp>
          <p:nvSpPr>
            <p:cNvPr id="30" name="object 30"/>
            <p:cNvSpPr/>
            <p:nvPr/>
          </p:nvSpPr>
          <p:spPr>
            <a:xfrm>
              <a:off x="3599688" y="3160776"/>
              <a:ext cx="1412748" cy="876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32860" y="3215640"/>
              <a:ext cx="978408" cy="83362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58362" y="3193542"/>
              <a:ext cx="1295400" cy="759460"/>
            </a:xfrm>
            <a:custGeom>
              <a:avLst/>
              <a:gdLst/>
              <a:ahLst/>
              <a:cxnLst/>
              <a:rect l="l" t="t" r="r" b="b"/>
              <a:pathLst>
                <a:path w="1295400" h="759460">
                  <a:moveTo>
                    <a:pt x="647700" y="0"/>
                  </a:moveTo>
                  <a:lnTo>
                    <a:pt x="588739" y="1551"/>
                  </a:lnTo>
                  <a:lnTo>
                    <a:pt x="531263" y="6114"/>
                  </a:lnTo>
                  <a:lnTo>
                    <a:pt x="475500" y="13557"/>
                  </a:lnTo>
                  <a:lnTo>
                    <a:pt x="421678" y="23744"/>
                  </a:lnTo>
                  <a:lnTo>
                    <a:pt x="370026" y="36541"/>
                  </a:lnTo>
                  <a:lnTo>
                    <a:pt x="320773" y="51816"/>
                  </a:lnTo>
                  <a:lnTo>
                    <a:pt x="274147" y="69432"/>
                  </a:lnTo>
                  <a:lnTo>
                    <a:pt x="230376" y="89257"/>
                  </a:lnTo>
                  <a:lnTo>
                    <a:pt x="189690" y="111156"/>
                  </a:lnTo>
                  <a:lnTo>
                    <a:pt x="152316" y="134996"/>
                  </a:lnTo>
                  <a:lnTo>
                    <a:pt x="118483" y="160642"/>
                  </a:lnTo>
                  <a:lnTo>
                    <a:pt x="88420" y="187960"/>
                  </a:lnTo>
                  <a:lnTo>
                    <a:pt x="62355" y="216816"/>
                  </a:lnTo>
                  <a:lnTo>
                    <a:pt x="23133" y="278606"/>
                  </a:lnTo>
                  <a:lnTo>
                    <a:pt x="2646" y="344940"/>
                  </a:lnTo>
                  <a:lnTo>
                    <a:pt x="0" y="379475"/>
                  </a:lnTo>
                  <a:lnTo>
                    <a:pt x="2646" y="414011"/>
                  </a:lnTo>
                  <a:lnTo>
                    <a:pt x="23133" y="480345"/>
                  </a:lnTo>
                  <a:lnTo>
                    <a:pt x="62355" y="542135"/>
                  </a:lnTo>
                  <a:lnTo>
                    <a:pt x="88420" y="570992"/>
                  </a:lnTo>
                  <a:lnTo>
                    <a:pt x="118483" y="598309"/>
                  </a:lnTo>
                  <a:lnTo>
                    <a:pt x="152316" y="623955"/>
                  </a:lnTo>
                  <a:lnTo>
                    <a:pt x="189690" y="647795"/>
                  </a:lnTo>
                  <a:lnTo>
                    <a:pt x="230376" y="669694"/>
                  </a:lnTo>
                  <a:lnTo>
                    <a:pt x="274147" y="689519"/>
                  </a:lnTo>
                  <a:lnTo>
                    <a:pt x="320773" y="707136"/>
                  </a:lnTo>
                  <a:lnTo>
                    <a:pt x="370026" y="722410"/>
                  </a:lnTo>
                  <a:lnTo>
                    <a:pt x="421678" y="735207"/>
                  </a:lnTo>
                  <a:lnTo>
                    <a:pt x="475500" y="745394"/>
                  </a:lnTo>
                  <a:lnTo>
                    <a:pt x="531263" y="752837"/>
                  </a:lnTo>
                  <a:lnTo>
                    <a:pt x="588739" y="757400"/>
                  </a:lnTo>
                  <a:lnTo>
                    <a:pt x="647700" y="758952"/>
                  </a:lnTo>
                  <a:lnTo>
                    <a:pt x="706660" y="757400"/>
                  </a:lnTo>
                  <a:lnTo>
                    <a:pt x="764136" y="752837"/>
                  </a:lnTo>
                  <a:lnTo>
                    <a:pt x="819899" y="745394"/>
                  </a:lnTo>
                  <a:lnTo>
                    <a:pt x="873721" y="735207"/>
                  </a:lnTo>
                  <a:lnTo>
                    <a:pt x="925373" y="722410"/>
                  </a:lnTo>
                  <a:lnTo>
                    <a:pt x="974626" y="707136"/>
                  </a:lnTo>
                  <a:lnTo>
                    <a:pt x="1021252" y="689519"/>
                  </a:lnTo>
                  <a:lnTo>
                    <a:pt x="1065023" y="669694"/>
                  </a:lnTo>
                  <a:lnTo>
                    <a:pt x="1105709" y="647795"/>
                  </a:lnTo>
                  <a:lnTo>
                    <a:pt x="1143083" y="623955"/>
                  </a:lnTo>
                  <a:lnTo>
                    <a:pt x="1176916" y="598309"/>
                  </a:lnTo>
                  <a:lnTo>
                    <a:pt x="1206979" y="570992"/>
                  </a:lnTo>
                  <a:lnTo>
                    <a:pt x="1233044" y="542135"/>
                  </a:lnTo>
                  <a:lnTo>
                    <a:pt x="1272266" y="480345"/>
                  </a:lnTo>
                  <a:lnTo>
                    <a:pt x="1292753" y="414011"/>
                  </a:lnTo>
                  <a:lnTo>
                    <a:pt x="1295400" y="379475"/>
                  </a:lnTo>
                  <a:lnTo>
                    <a:pt x="1292753" y="344940"/>
                  </a:lnTo>
                  <a:lnTo>
                    <a:pt x="1272266" y="278606"/>
                  </a:lnTo>
                  <a:lnTo>
                    <a:pt x="1233044" y="216816"/>
                  </a:lnTo>
                  <a:lnTo>
                    <a:pt x="1206979" y="187960"/>
                  </a:lnTo>
                  <a:lnTo>
                    <a:pt x="1176916" y="160642"/>
                  </a:lnTo>
                  <a:lnTo>
                    <a:pt x="1143083" y="134996"/>
                  </a:lnTo>
                  <a:lnTo>
                    <a:pt x="1105709" y="111156"/>
                  </a:lnTo>
                  <a:lnTo>
                    <a:pt x="1065023" y="89257"/>
                  </a:lnTo>
                  <a:lnTo>
                    <a:pt x="1021252" y="69432"/>
                  </a:lnTo>
                  <a:lnTo>
                    <a:pt x="974626" y="51816"/>
                  </a:lnTo>
                  <a:lnTo>
                    <a:pt x="925373" y="36541"/>
                  </a:lnTo>
                  <a:lnTo>
                    <a:pt x="873721" y="23744"/>
                  </a:lnTo>
                  <a:lnTo>
                    <a:pt x="819899" y="13557"/>
                  </a:lnTo>
                  <a:lnTo>
                    <a:pt x="764136" y="6114"/>
                  </a:lnTo>
                  <a:lnTo>
                    <a:pt x="706660" y="1551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A18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58362" y="3193542"/>
              <a:ext cx="1295400" cy="759460"/>
            </a:xfrm>
            <a:custGeom>
              <a:avLst/>
              <a:gdLst/>
              <a:ahLst/>
              <a:cxnLst/>
              <a:rect l="l" t="t" r="r" b="b"/>
              <a:pathLst>
                <a:path w="1295400" h="759460">
                  <a:moveTo>
                    <a:pt x="0" y="379475"/>
                  </a:moveTo>
                  <a:lnTo>
                    <a:pt x="10433" y="311272"/>
                  </a:lnTo>
                  <a:lnTo>
                    <a:pt x="40516" y="247076"/>
                  </a:lnTo>
                  <a:lnTo>
                    <a:pt x="88420" y="187960"/>
                  </a:lnTo>
                  <a:lnTo>
                    <a:pt x="118483" y="160642"/>
                  </a:lnTo>
                  <a:lnTo>
                    <a:pt x="152316" y="134996"/>
                  </a:lnTo>
                  <a:lnTo>
                    <a:pt x="189690" y="111156"/>
                  </a:lnTo>
                  <a:lnTo>
                    <a:pt x="230376" y="89257"/>
                  </a:lnTo>
                  <a:lnTo>
                    <a:pt x="274147" y="69432"/>
                  </a:lnTo>
                  <a:lnTo>
                    <a:pt x="320773" y="51816"/>
                  </a:lnTo>
                  <a:lnTo>
                    <a:pt x="370026" y="36541"/>
                  </a:lnTo>
                  <a:lnTo>
                    <a:pt x="421678" y="23744"/>
                  </a:lnTo>
                  <a:lnTo>
                    <a:pt x="475500" y="13557"/>
                  </a:lnTo>
                  <a:lnTo>
                    <a:pt x="531263" y="6114"/>
                  </a:lnTo>
                  <a:lnTo>
                    <a:pt x="588739" y="1551"/>
                  </a:lnTo>
                  <a:lnTo>
                    <a:pt x="647700" y="0"/>
                  </a:lnTo>
                  <a:lnTo>
                    <a:pt x="706660" y="1551"/>
                  </a:lnTo>
                  <a:lnTo>
                    <a:pt x="764136" y="6114"/>
                  </a:lnTo>
                  <a:lnTo>
                    <a:pt x="819899" y="13557"/>
                  </a:lnTo>
                  <a:lnTo>
                    <a:pt x="873721" y="23744"/>
                  </a:lnTo>
                  <a:lnTo>
                    <a:pt x="925373" y="36541"/>
                  </a:lnTo>
                  <a:lnTo>
                    <a:pt x="974626" y="51816"/>
                  </a:lnTo>
                  <a:lnTo>
                    <a:pt x="1021252" y="69432"/>
                  </a:lnTo>
                  <a:lnTo>
                    <a:pt x="1065023" y="89257"/>
                  </a:lnTo>
                  <a:lnTo>
                    <a:pt x="1105709" y="111156"/>
                  </a:lnTo>
                  <a:lnTo>
                    <a:pt x="1143083" y="134996"/>
                  </a:lnTo>
                  <a:lnTo>
                    <a:pt x="1176916" y="160642"/>
                  </a:lnTo>
                  <a:lnTo>
                    <a:pt x="1206979" y="187960"/>
                  </a:lnTo>
                  <a:lnTo>
                    <a:pt x="1233044" y="216816"/>
                  </a:lnTo>
                  <a:lnTo>
                    <a:pt x="1272266" y="278606"/>
                  </a:lnTo>
                  <a:lnTo>
                    <a:pt x="1292753" y="344940"/>
                  </a:lnTo>
                  <a:lnTo>
                    <a:pt x="1295400" y="379475"/>
                  </a:lnTo>
                  <a:lnTo>
                    <a:pt x="1292753" y="414011"/>
                  </a:lnTo>
                  <a:lnTo>
                    <a:pt x="1272266" y="480345"/>
                  </a:lnTo>
                  <a:lnTo>
                    <a:pt x="1233044" y="542135"/>
                  </a:lnTo>
                  <a:lnTo>
                    <a:pt x="1206979" y="570992"/>
                  </a:lnTo>
                  <a:lnTo>
                    <a:pt x="1176916" y="598309"/>
                  </a:lnTo>
                  <a:lnTo>
                    <a:pt x="1143083" y="623955"/>
                  </a:lnTo>
                  <a:lnTo>
                    <a:pt x="1105709" y="647795"/>
                  </a:lnTo>
                  <a:lnTo>
                    <a:pt x="1065023" y="669694"/>
                  </a:lnTo>
                  <a:lnTo>
                    <a:pt x="1021252" y="689519"/>
                  </a:lnTo>
                  <a:lnTo>
                    <a:pt x="974626" y="707136"/>
                  </a:lnTo>
                  <a:lnTo>
                    <a:pt x="925373" y="722410"/>
                  </a:lnTo>
                  <a:lnTo>
                    <a:pt x="873721" y="735207"/>
                  </a:lnTo>
                  <a:lnTo>
                    <a:pt x="819899" y="745394"/>
                  </a:lnTo>
                  <a:lnTo>
                    <a:pt x="764136" y="752837"/>
                  </a:lnTo>
                  <a:lnTo>
                    <a:pt x="706660" y="757400"/>
                  </a:lnTo>
                  <a:lnTo>
                    <a:pt x="647700" y="758952"/>
                  </a:lnTo>
                  <a:lnTo>
                    <a:pt x="588739" y="757400"/>
                  </a:lnTo>
                  <a:lnTo>
                    <a:pt x="531263" y="752837"/>
                  </a:lnTo>
                  <a:lnTo>
                    <a:pt x="475500" y="745394"/>
                  </a:lnTo>
                  <a:lnTo>
                    <a:pt x="421678" y="735207"/>
                  </a:lnTo>
                  <a:lnTo>
                    <a:pt x="370026" y="722410"/>
                  </a:lnTo>
                  <a:lnTo>
                    <a:pt x="320773" y="707136"/>
                  </a:lnTo>
                  <a:lnTo>
                    <a:pt x="274147" y="689519"/>
                  </a:lnTo>
                  <a:lnTo>
                    <a:pt x="230376" y="669694"/>
                  </a:lnTo>
                  <a:lnTo>
                    <a:pt x="189690" y="647795"/>
                  </a:lnTo>
                  <a:lnTo>
                    <a:pt x="152316" y="623955"/>
                  </a:lnTo>
                  <a:lnTo>
                    <a:pt x="118483" y="598309"/>
                  </a:lnTo>
                  <a:lnTo>
                    <a:pt x="88420" y="570992"/>
                  </a:lnTo>
                  <a:lnTo>
                    <a:pt x="62355" y="542135"/>
                  </a:lnTo>
                  <a:lnTo>
                    <a:pt x="23133" y="480345"/>
                  </a:lnTo>
                  <a:lnTo>
                    <a:pt x="2646" y="414011"/>
                  </a:lnTo>
                  <a:lnTo>
                    <a:pt x="0" y="379475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997578" y="3254197"/>
            <a:ext cx="6159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Spread</a:t>
            </a:r>
            <a:endParaRPr sz="1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Perpetua"/>
                <a:cs typeface="Perpetua"/>
              </a:rPr>
              <a:t>Cheese</a:t>
            </a:r>
            <a:endParaRPr sz="1800">
              <a:latin typeface="Perpetua"/>
              <a:cs typeface="Perpetu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971288" y="3160776"/>
            <a:ext cx="1489075" cy="889000"/>
            <a:chOff x="4971288" y="3160776"/>
            <a:chExt cx="1489075" cy="889000"/>
          </a:xfrm>
        </p:grpSpPr>
        <p:sp>
          <p:nvSpPr>
            <p:cNvPr id="36" name="object 36"/>
            <p:cNvSpPr/>
            <p:nvPr/>
          </p:nvSpPr>
          <p:spPr>
            <a:xfrm>
              <a:off x="4971288" y="3160776"/>
              <a:ext cx="1488948" cy="8763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67884" y="3215640"/>
              <a:ext cx="1092708" cy="83362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29962" y="3193542"/>
              <a:ext cx="1371600" cy="759460"/>
            </a:xfrm>
            <a:custGeom>
              <a:avLst/>
              <a:gdLst/>
              <a:ahLst/>
              <a:cxnLst/>
              <a:rect l="l" t="t" r="r" b="b"/>
              <a:pathLst>
                <a:path w="1371600" h="759460">
                  <a:moveTo>
                    <a:pt x="685800" y="0"/>
                  </a:moveTo>
                  <a:lnTo>
                    <a:pt x="623384" y="1551"/>
                  </a:lnTo>
                  <a:lnTo>
                    <a:pt x="562537" y="6114"/>
                  </a:lnTo>
                  <a:lnTo>
                    <a:pt x="503502" y="13557"/>
                  </a:lnTo>
                  <a:lnTo>
                    <a:pt x="446519" y="23744"/>
                  </a:lnTo>
                  <a:lnTo>
                    <a:pt x="391832" y="36541"/>
                  </a:lnTo>
                  <a:lnTo>
                    <a:pt x="339682" y="51816"/>
                  </a:lnTo>
                  <a:lnTo>
                    <a:pt x="290312" y="69432"/>
                  </a:lnTo>
                  <a:lnTo>
                    <a:pt x="243965" y="89257"/>
                  </a:lnTo>
                  <a:lnTo>
                    <a:pt x="200882" y="111156"/>
                  </a:lnTo>
                  <a:lnTo>
                    <a:pt x="161305" y="134996"/>
                  </a:lnTo>
                  <a:lnTo>
                    <a:pt x="125477" y="160642"/>
                  </a:lnTo>
                  <a:lnTo>
                    <a:pt x="93641" y="187960"/>
                  </a:lnTo>
                  <a:lnTo>
                    <a:pt x="66038" y="216816"/>
                  </a:lnTo>
                  <a:lnTo>
                    <a:pt x="24500" y="278606"/>
                  </a:lnTo>
                  <a:lnTo>
                    <a:pt x="2803" y="344940"/>
                  </a:lnTo>
                  <a:lnTo>
                    <a:pt x="0" y="379475"/>
                  </a:lnTo>
                  <a:lnTo>
                    <a:pt x="2803" y="414011"/>
                  </a:lnTo>
                  <a:lnTo>
                    <a:pt x="24500" y="480345"/>
                  </a:lnTo>
                  <a:lnTo>
                    <a:pt x="66038" y="542135"/>
                  </a:lnTo>
                  <a:lnTo>
                    <a:pt x="93641" y="570992"/>
                  </a:lnTo>
                  <a:lnTo>
                    <a:pt x="125477" y="598309"/>
                  </a:lnTo>
                  <a:lnTo>
                    <a:pt x="161305" y="623955"/>
                  </a:lnTo>
                  <a:lnTo>
                    <a:pt x="200882" y="647795"/>
                  </a:lnTo>
                  <a:lnTo>
                    <a:pt x="243965" y="669694"/>
                  </a:lnTo>
                  <a:lnTo>
                    <a:pt x="290312" y="689519"/>
                  </a:lnTo>
                  <a:lnTo>
                    <a:pt x="339682" y="707136"/>
                  </a:lnTo>
                  <a:lnTo>
                    <a:pt x="391832" y="722410"/>
                  </a:lnTo>
                  <a:lnTo>
                    <a:pt x="446519" y="735207"/>
                  </a:lnTo>
                  <a:lnTo>
                    <a:pt x="503502" y="745394"/>
                  </a:lnTo>
                  <a:lnTo>
                    <a:pt x="562537" y="752837"/>
                  </a:lnTo>
                  <a:lnTo>
                    <a:pt x="623384" y="757400"/>
                  </a:lnTo>
                  <a:lnTo>
                    <a:pt x="685800" y="758952"/>
                  </a:lnTo>
                  <a:lnTo>
                    <a:pt x="748215" y="757400"/>
                  </a:lnTo>
                  <a:lnTo>
                    <a:pt x="809062" y="752837"/>
                  </a:lnTo>
                  <a:lnTo>
                    <a:pt x="868097" y="745394"/>
                  </a:lnTo>
                  <a:lnTo>
                    <a:pt x="925080" y="735207"/>
                  </a:lnTo>
                  <a:lnTo>
                    <a:pt x="979767" y="722410"/>
                  </a:lnTo>
                  <a:lnTo>
                    <a:pt x="1031917" y="707136"/>
                  </a:lnTo>
                  <a:lnTo>
                    <a:pt x="1081287" y="689519"/>
                  </a:lnTo>
                  <a:lnTo>
                    <a:pt x="1127634" y="669694"/>
                  </a:lnTo>
                  <a:lnTo>
                    <a:pt x="1170717" y="647795"/>
                  </a:lnTo>
                  <a:lnTo>
                    <a:pt x="1210294" y="623955"/>
                  </a:lnTo>
                  <a:lnTo>
                    <a:pt x="1246122" y="598309"/>
                  </a:lnTo>
                  <a:lnTo>
                    <a:pt x="1277958" y="570992"/>
                  </a:lnTo>
                  <a:lnTo>
                    <a:pt x="1305561" y="542135"/>
                  </a:lnTo>
                  <a:lnTo>
                    <a:pt x="1347099" y="480345"/>
                  </a:lnTo>
                  <a:lnTo>
                    <a:pt x="1368796" y="414011"/>
                  </a:lnTo>
                  <a:lnTo>
                    <a:pt x="1371600" y="379475"/>
                  </a:lnTo>
                  <a:lnTo>
                    <a:pt x="1368796" y="344940"/>
                  </a:lnTo>
                  <a:lnTo>
                    <a:pt x="1347099" y="278606"/>
                  </a:lnTo>
                  <a:lnTo>
                    <a:pt x="1305561" y="216816"/>
                  </a:lnTo>
                  <a:lnTo>
                    <a:pt x="1277958" y="187960"/>
                  </a:lnTo>
                  <a:lnTo>
                    <a:pt x="1246122" y="160642"/>
                  </a:lnTo>
                  <a:lnTo>
                    <a:pt x="1210294" y="134996"/>
                  </a:lnTo>
                  <a:lnTo>
                    <a:pt x="1170717" y="111156"/>
                  </a:lnTo>
                  <a:lnTo>
                    <a:pt x="1127634" y="89257"/>
                  </a:lnTo>
                  <a:lnTo>
                    <a:pt x="1081287" y="69432"/>
                  </a:lnTo>
                  <a:lnTo>
                    <a:pt x="1031917" y="51816"/>
                  </a:lnTo>
                  <a:lnTo>
                    <a:pt x="979767" y="36541"/>
                  </a:lnTo>
                  <a:lnTo>
                    <a:pt x="925080" y="23744"/>
                  </a:lnTo>
                  <a:lnTo>
                    <a:pt x="868097" y="13557"/>
                  </a:lnTo>
                  <a:lnTo>
                    <a:pt x="809062" y="6114"/>
                  </a:lnTo>
                  <a:lnTo>
                    <a:pt x="748215" y="1551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18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29962" y="3193542"/>
              <a:ext cx="1371600" cy="759460"/>
            </a:xfrm>
            <a:custGeom>
              <a:avLst/>
              <a:gdLst/>
              <a:ahLst/>
              <a:cxnLst/>
              <a:rect l="l" t="t" r="r" b="b"/>
              <a:pathLst>
                <a:path w="1371600" h="759460">
                  <a:moveTo>
                    <a:pt x="0" y="379475"/>
                  </a:moveTo>
                  <a:lnTo>
                    <a:pt x="11050" y="311272"/>
                  </a:lnTo>
                  <a:lnTo>
                    <a:pt x="42910" y="247076"/>
                  </a:lnTo>
                  <a:lnTo>
                    <a:pt x="93641" y="187960"/>
                  </a:lnTo>
                  <a:lnTo>
                    <a:pt x="125477" y="160642"/>
                  </a:lnTo>
                  <a:lnTo>
                    <a:pt x="161305" y="134996"/>
                  </a:lnTo>
                  <a:lnTo>
                    <a:pt x="200882" y="111156"/>
                  </a:lnTo>
                  <a:lnTo>
                    <a:pt x="243965" y="89257"/>
                  </a:lnTo>
                  <a:lnTo>
                    <a:pt x="290312" y="69432"/>
                  </a:lnTo>
                  <a:lnTo>
                    <a:pt x="339682" y="51816"/>
                  </a:lnTo>
                  <a:lnTo>
                    <a:pt x="391832" y="36541"/>
                  </a:lnTo>
                  <a:lnTo>
                    <a:pt x="446519" y="23744"/>
                  </a:lnTo>
                  <a:lnTo>
                    <a:pt x="503502" y="13557"/>
                  </a:lnTo>
                  <a:lnTo>
                    <a:pt x="562537" y="6114"/>
                  </a:lnTo>
                  <a:lnTo>
                    <a:pt x="623384" y="1551"/>
                  </a:lnTo>
                  <a:lnTo>
                    <a:pt x="685800" y="0"/>
                  </a:lnTo>
                  <a:lnTo>
                    <a:pt x="748215" y="1551"/>
                  </a:lnTo>
                  <a:lnTo>
                    <a:pt x="809062" y="6114"/>
                  </a:lnTo>
                  <a:lnTo>
                    <a:pt x="868097" y="13557"/>
                  </a:lnTo>
                  <a:lnTo>
                    <a:pt x="925080" y="23744"/>
                  </a:lnTo>
                  <a:lnTo>
                    <a:pt x="979767" y="36541"/>
                  </a:lnTo>
                  <a:lnTo>
                    <a:pt x="1031917" y="51816"/>
                  </a:lnTo>
                  <a:lnTo>
                    <a:pt x="1081287" y="69432"/>
                  </a:lnTo>
                  <a:lnTo>
                    <a:pt x="1127634" y="89257"/>
                  </a:lnTo>
                  <a:lnTo>
                    <a:pt x="1170717" y="111156"/>
                  </a:lnTo>
                  <a:lnTo>
                    <a:pt x="1210294" y="134996"/>
                  </a:lnTo>
                  <a:lnTo>
                    <a:pt x="1246122" y="160642"/>
                  </a:lnTo>
                  <a:lnTo>
                    <a:pt x="1277958" y="187960"/>
                  </a:lnTo>
                  <a:lnTo>
                    <a:pt x="1305561" y="216816"/>
                  </a:lnTo>
                  <a:lnTo>
                    <a:pt x="1347099" y="278606"/>
                  </a:lnTo>
                  <a:lnTo>
                    <a:pt x="1368796" y="344940"/>
                  </a:lnTo>
                  <a:lnTo>
                    <a:pt x="1371600" y="379475"/>
                  </a:lnTo>
                  <a:lnTo>
                    <a:pt x="1368796" y="414011"/>
                  </a:lnTo>
                  <a:lnTo>
                    <a:pt x="1347099" y="480345"/>
                  </a:lnTo>
                  <a:lnTo>
                    <a:pt x="1305561" y="542135"/>
                  </a:lnTo>
                  <a:lnTo>
                    <a:pt x="1277958" y="570992"/>
                  </a:lnTo>
                  <a:lnTo>
                    <a:pt x="1246122" y="598309"/>
                  </a:lnTo>
                  <a:lnTo>
                    <a:pt x="1210294" y="623955"/>
                  </a:lnTo>
                  <a:lnTo>
                    <a:pt x="1170717" y="647795"/>
                  </a:lnTo>
                  <a:lnTo>
                    <a:pt x="1127634" y="669694"/>
                  </a:lnTo>
                  <a:lnTo>
                    <a:pt x="1081287" y="689519"/>
                  </a:lnTo>
                  <a:lnTo>
                    <a:pt x="1031917" y="707136"/>
                  </a:lnTo>
                  <a:lnTo>
                    <a:pt x="979767" y="722410"/>
                  </a:lnTo>
                  <a:lnTo>
                    <a:pt x="925080" y="735207"/>
                  </a:lnTo>
                  <a:lnTo>
                    <a:pt x="868097" y="745394"/>
                  </a:lnTo>
                  <a:lnTo>
                    <a:pt x="809062" y="752837"/>
                  </a:lnTo>
                  <a:lnTo>
                    <a:pt x="748215" y="757400"/>
                  </a:lnTo>
                  <a:lnTo>
                    <a:pt x="685800" y="758952"/>
                  </a:lnTo>
                  <a:lnTo>
                    <a:pt x="623384" y="757400"/>
                  </a:lnTo>
                  <a:lnTo>
                    <a:pt x="562537" y="752837"/>
                  </a:lnTo>
                  <a:lnTo>
                    <a:pt x="503502" y="745394"/>
                  </a:lnTo>
                  <a:lnTo>
                    <a:pt x="446519" y="735207"/>
                  </a:lnTo>
                  <a:lnTo>
                    <a:pt x="391832" y="722410"/>
                  </a:lnTo>
                  <a:lnTo>
                    <a:pt x="339682" y="707136"/>
                  </a:lnTo>
                  <a:lnTo>
                    <a:pt x="290312" y="689519"/>
                  </a:lnTo>
                  <a:lnTo>
                    <a:pt x="243965" y="669694"/>
                  </a:lnTo>
                  <a:lnTo>
                    <a:pt x="200882" y="647795"/>
                  </a:lnTo>
                  <a:lnTo>
                    <a:pt x="161305" y="623955"/>
                  </a:lnTo>
                  <a:lnTo>
                    <a:pt x="125477" y="598309"/>
                  </a:lnTo>
                  <a:lnTo>
                    <a:pt x="93641" y="570992"/>
                  </a:lnTo>
                  <a:lnTo>
                    <a:pt x="66038" y="542135"/>
                  </a:lnTo>
                  <a:lnTo>
                    <a:pt x="24500" y="480345"/>
                  </a:lnTo>
                  <a:lnTo>
                    <a:pt x="2803" y="414011"/>
                  </a:lnTo>
                  <a:lnTo>
                    <a:pt x="0" y="379475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333238" y="3254197"/>
            <a:ext cx="7645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Spread</a:t>
            </a:r>
            <a:endParaRPr sz="1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235" dirty="0">
                <a:latin typeface="Perpetua"/>
                <a:cs typeface="Perpetua"/>
              </a:rPr>
              <a:t>T</a:t>
            </a:r>
            <a:r>
              <a:rPr sz="1800" dirty="0">
                <a:latin typeface="Perpetua"/>
                <a:cs typeface="Perpetua"/>
              </a:rPr>
              <a:t>o</a:t>
            </a:r>
            <a:r>
              <a:rPr sz="1800" spc="5" dirty="0">
                <a:latin typeface="Perpetua"/>
                <a:cs typeface="Perpetua"/>
              </a:rPr>
              <a:t>p</a:t>
            </a:r>
            <a:r>
              <a:rPr sz="1800" dirty="0">
                <a:latin typeface="Perpetua"/>
                <a:cs typeface="Perpetua"/>
              </a:rPr>
              <a:t>pin</a:t>
            </a:r>
            <a:r>
              <a:rPr sz="1800" spc="5" dirty="0">
                <a:latin typeface="Perpetua"/>
                <a:cs typeface="Perpetua"/>
              </a:rPr>
              <a:t>g</a:t>
            </a:r>
            <a:r>
              <a:rPr sz="1800" dirty="0">
                <a:latin typeface="Perpetua"/>
                <a:cs typeface="Perpetua"/>
              </a:rPr>
              <a:t>s</a:t>
            </a:r>
            <a:endParaRPr sz="1800">
              <a:latin typeface="Perpetua"/>
              <a:cs typeface="Perpetu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419088" y="3160776"/>
            <a:ext cx="1184275" cy="876300"/>
            <a:chOff x="6419088" y="3160776"/>
            <a:chExt cx="1184275" cy="876300"/>
          </a:xfrm>
        </p:grpSpPr>
        <p:sp>
          <p:nvSpPr>
            <p:cNvPr id="42" name="object 42"/>
            <p:cNvSpPr/>
            <p:nvPr/>
          </p:nvSpPr>
          <p:spPr>
            <a:xfrm>
              <a:off x="6419088" y="3160776"/>
              <a:ext cx="1184147" cy="87630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638544" y="3352800"/>
              <a:ext cx="743711" cy="5593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477762" y="3193542"/>
              <a:ext cx="1066800" cy="759460"/>
            </a:xfrm>
            <a:custGeom>
              <a:avLst/>
              <a:gdLst/>
              <a:ahLst/>
              <a:cxnLst/>
              <a:rect l="l" t="t" r="r" b="b"/>
              <a:pathLst>
                <a:path w="1066800" h="759460">
                  <a:moveTo>
                    <a:pt x="533399" y="0"/>
                  </a:moveTo>
                  <a:lnTo>
                    <a:pt x="478854" y="1959"/>
                  </a:lnTo>
                  <a:lnTo>
                    <a:pt x="425886" y="7710"/>
                  </a:lnTo>
                  <a:lnTo>
                    <a:pt x="374764" y="17062"/>
                  </a:lnTo>
                  <a:lnTo>
                    <a:pt x="325755" y="29825"/>
                  </a:lnTo>
                  <a:lnTo>
                    <a:pt x="279127" y="45806"/>
                  </a:lnTo>
                  <a:lnTo>
                    <a:pt x="235148" y="64816"/>
                  </a:lnTo>
                  <a:lnTo>
                    <a:pt x="194086" y="86663"/>
                  </a:lnTo>
                  <a:lnTo>
                    <a:pt x="156210" y="111156"/>
                  </a:lnTo>
                  <a:lnTo>
                    <a:pt x="121786" y="138105"/>
                  </a:lnTo>
                  <a:lnTo>
                    <a:pt x="91082" y="167320"/>
                  </a:lnTo>
                  <a:lnTo>
                    <a:pt x="64368" y="198607"/>
                  </a:lnTo>
                  <a:lnTo>
                    <a:pt x="41910" y="231778"/>
                  </a:lnTo>
                  <a:lnTo>
                    <a:pt x="23976" y="266642"/>
                  </a:lnTo>
                  <a:lnTo>
                    <a:pt x="10834" y="303006"/>
                  </a:lnTo>
                  <a:lnTo>
                    <a:pt x="2753" y="340681"/>
                  </a:lnTo>
                  <a:lnTo>
                    <a:pt x="0" y="379475"/>
                  </a:lnTo>
                  <a:lnTo>
                    <a:pt x="2753" y="418270"/>
                  </a:lnTo>
                  <a:lnTo>
                    <a:pt x="10834" y="455945"/>
                  </a:lnTo>
                  <a:lnTo>
                    <a:pt x="23976" y="492309"/>
                  </a:lnTo>
                  <a:lnTo>
                    <a:pt x="41909" y="527173"/>
                  </a:lnTo>
                  <a:lnTo>
                    <a:pt x="64368" y="560344"/>
                  </a:lnTo>
                  <a:lnTo>
                    <a:pt x="91082" y="591631"/>
                  </a:lnTo>
                  <a:lnTo>
                    <a:pt x="121786" y="620846"/>
                  </a:lnTo>
                  <a:lnTo>
                    <a:pt x="156209" y="647795"/>
                  </a:lnTo>
                  <a:lnTo>
                    <a:pt x="194086" y="672288"/>
                  </a:lnTo>
                  <a:lnTo>
                    <a:pt x="235148" y="694135"/>
                  </a:lnTo>
                  <a:lnTo>
                    <a:pt x="279127" y="713145"/>
                  </a:lnTo>
                  <a:lnTo>
                    <a:pt x="325754" y="729126"/>
                  </a:lnTo>
                  <a:lnTo>
                    <a:pt x="374764" y="741889"/>
                  </a:lnTo>
                  <a:lnTo>
                    <a:pt x="425886" y="751241"/>
                  </a:lnTo>
                  <a:lnTo>
                    <a:pt x="478854" y="756992"/>
                  </a:lnTo>
                  <a:lnTo>
                    <a:pt x="533399" y="758952"/>
                  </a:lnTo>
                  <a:lnTo>
                    <a:pt x="587945" y="756992"/>
                  </a:lnTo>
                  <a:lnTo>
                    <a:pt x="640913" y="751241"/>
                  </a:lnTo>
                  <a:lnTo>
                    <a:pt x="692035" y="741889"/>
                  </a:lnTo>
                  <a:lnTo>
                    <a:pt x="741044" y="729126"/>
                  </a:lnTo>
                  <a:lnTo>
                    <a:pt x="787672" y="713145"/>
                  </a:lnTo>
                  <a:lnTo>
                    <a:pt x="831651" y="694135"/>
                  </a:lnTo>
                  <a:lnTo>
                    <a:pt x="872713" y="672288"/>
                  </a:lnTo>
                  <a:lnTo>
                    <a:pt x="910589" y="647795"/>
                  </a:lnTo>
                  <a:lnTo>
                    <a:pt x="945013" y="620846"/>
                  </a:lnTo>
                  <a:lnTo>
                    <a:pt x="975717" y="591631"/>
                  </a:lnTo>
                  <a:lnTo>
                    <a:pt x="1002431" y="560344"/>
                  </a:lnTo>
                  <a:lnTo>
                    <a:pt x="1024889" y="527173"/>
                  </a:lnTo>
                  <a:lnTo>
                    <a:pt x="1042823" y="492309"/>
                  </a:lnTo>
                  <a:lnTo>
                    <a:pt x="1055965" y="455945"/>
                  </a:lnTo>
                  <a:lnTo>
                    <a:pt x="1064046" y="418270"/>
                  </a:lnTo>
                  <a:lnTo>
                    <a:pt x="1066799" y="379475"/>
                  </a:lnTo>
                  <a:lnTo>
                    <a:pt x="1064046" y="340681"/>
                  </a:lnTo>
                  <a:lnTo>
                    <a:pt x="1055965" y="303006"/>
                  </a:lnTo>
                  <a:lnTo>
                    <a:pt x="1042823" y="266642"/>
                  </a:lnTo>
                  <a:lnTo>
                    <a:pt x="1024889" y="231778"/>
                  </a:lnTo>
                  <a:lnTo>
                    <a:pt x="1002431" y="198607"/>
                  </a:lnTo>
                  <a:lnTo>
                    <a:pt x="975717" y="167320"/>
                  </a:lnTo>
                  <a:lnTo>
                    <a:pt x="945013" y="138105"/>
                  </a:lnTo>
                  <a:lnTo>
                    <a:pt x="910589" y="111156"/>
                  </a:lnTo>
                  <a:lnTo>
                    <a:pt x="872713" y="86663"/>
                  </a:lnTo>
                  <a:lnTo>
                    <a:pt x="831651" y="64816"/>
                  </a:lnTo>
                  <a:lnTo>
                    <a:pt x="787672" y="45806"/>
                  </a:lnTo>
                  <a:lnTo>
                    <a:pt x="741044" y="29825"/>
                  </a:lnTo>
                  <a:lnTo>
                    <a:pt x="692035" y="17062"/>
                  </a:lnTo>
                  <a:lnTo>
                    <a:pt x="640913" y="7710"/>
                  </a:lnTo>
                  <a:lnTo>
                    <a:pt x="587945" y="1959"/>
                  </a:lnTo>
                  <a:lnTo>
                    <a:pt x="533399" y="0"/>
                  </a:lnTo>
                  <a:close/>
                </a:path>
              </a:pathLst>
            </a:custGeom>
            <a:solidFill>
              <a:srgbClr val="A18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477762" y="3193542"/>
              <a:ext cx="1066800" cy="759460"/>
            </a:xfrm>
            <a:custGeom>
              <a:avLst/>
              <a:gdLst/>
              <a:ahLst/>
              <a:cxnLst/>
              <a:rect l="l" t="t" r="r" b="b"/>
              <a:pathLst>
                <a:path w="1066800" h="759460">
                  <a:moveTo>
                    <a:pt x="0" y="379475"/>
                  </a:moveTo>
                  <a:lnTo>
                    <a:pt x="2753" y="340681"/>
                  </a:lnTo>
                  <a:lnTo>
                    <a:pt x="10834" y="303006"/>
                  </a:lnTo>
                  <a:lnTo>
                    <a:pt x="23976" y="266642"/>
                  </a:lnTo>
                  <a:lnTo>
                    <a:pt x="41910" y="231778"/>
                  </a:lnTo>
                  <a:lnTo>
                    <a:pt x="64368" y="198607"/>
                  </a:lnTo>
                  <a:lnTo>
                    <a:pt x="91082" y="167320"/>
                  </a:lnTo>
                  <a:lnTo>
                    <a:pt x="121786" y="138105"/>
                  </a:lnTo>
                  <a:lnTo>
                    <a:pt x="156210" y="111156"/>
                  </a:lnTo>
                  <a:lnTo>
                    <a:pt x="194086" y="86663"/>
                  </a:lnTo>
                  <a:lnTo>
                    <a:pt x="235148" y="64816"/>
                  </a:lnTo>
                  <a:lnTo>
                    <a:pt x="279127" y="45806"/>
                  </a:lnTo>
                  <a:lnTo>
                    <a:pt x="325755" y="29825"/>
                  </a:lnTo>
                  <a:lnTo>
                    <a:pt x="374764" y="17062"/>
                  </a:lnTo>
                  <a:lnTo>
                    <a:pt x="425886" y="7710"/>
                  </a:lnTo>
                  <a:lnTo>
                    <a:pt x="478854" y="1959"/>
                  </a:lnTo>
                  <a:lnTo>
                    <a:pt x="533399" y="0"/>
                  </a:lnTo>
                  <a:lnTo>
                    <a:pt x="587945" y="1959"/>
                  </a:lnTo>
                  <a:lnTo>
                    <a:pt x="640913" y="7710"/>
                  </a:lnTo>
                  <a:lnTo>
                    <a:pt x="692035" y="17062"/>
                  </a:lnTo>
                  <a:lnTo>
                    <a:pt x="741044" y="29825"/>
                  </a:lnTo>
                  <a:lnTo>
                    <a:pt x="787672" y="45806"/>
                  </a:lnTo>
                  <a:lnTo>
                    <a:pt x="831651" y="64816"/>
                  </a:lnTo>
                  <a:lnTo>
                    <a:pt x="872713" y="86663"/>
                  </a:lnTo>
                  <a:lnTo>
                    <a:pt x="910589" y="111156"/>
                  </a:lnTo>
                  <a:lnTo>
                    <a:pt x="945013" y="138105"/>
                  </a:lnTo>
                  <a:lnTo>
                    <a:pt x="975717" y="167320"/>
                  </a:lnTo>
                  <a:lnTo>
                    <a:pt x="1002431" y="198607"/>
                  </a:lnTo>
                  <a:lnTo>
                    <a:pt x="1024889" y="231778"/>
                  </a:lnTo>
                  <a:lnTo>
                    <a:pt x="1042823" y="266642"/>
                  </a:lnTo>
                  <a:lnTo>
                    <a:pt x="1055965" y="303006"/>
                  </a:lnTo>
                  <a:lnTo>
                    <a:pt x="1064046" y="340681"/>
                  </a:lnTo>
                  <a:lnTo>
                    <a:pt x="1066799" y="379475"/>
                  </a:lnTo>
                  <a:lnTo>
                    <a:pt x="1064046" y="418270"/>
                  </a:lnTo>
                  <a:lnTo>
                    <a:pt x="1055965" y="455945"/>
                  </a:lnTo>
                  <a:lnTo>
                    <a:pt x="1042823" y="492309"/>
                  </a:lnTo>
                  <a:lnTo>
                    <a:pt x="1024889" y="527173"/>
                  </a:lnTo>
                  <a:lnTo>
                    <a:pt x="1002431" y="560344"/>
                  </a:lnTo>
                  <a:lnTo>
                    <a:pt x="975717" y="591631"/>
                  </a:lnTo>
                  <a:lnTo>
                    <a:pt x="945013" y="620846"/>
                  </a:lnTo>
                  <a:lnTo>
                    <a:pt x="910589" y="647795"/>
                  </a:lnTo>
                  <a:lnTo>
                    <a:pt x="872713" y="672288"/>
                  </a:lnTo>
                  <a:lnTo>
                    <a:pt x="831651" y="694135"/>
                  </a:lnTo>
                  <a:lnTo>
                    <a:pt x="787672" y="713145"/>
                  </a:lnTo>
                  <a:lnTo>
                    <a:pt x="741044" y="729126"/>
                  </a:lnTo>
                  <a:lnTo>
                    <a:pt x="692035" y="741889"/>
                  </a:lnTo>
                  <a:lnTo>
                    <a:pt x="640913" y="751241"/>
                  </a:lnTo>
                  <a:lnTo>
                    <a:pt x="587945" y="756992"/>
                  </a:lnTo>
                  <a:lnTo>
                    <a:pt x="533399" y="758952"/>
                  </a:lnTo>
                  <a:lnTo>
                    <a:pt x="478854" y="756992"/>
                  </a:lnTo>
                  <a:lnTo>
                    <a:pt x="425886" y="751241"/>
                  </a:lnTo>
                  <a:lnTo>
                    <a:pt x="374764" y="741889"/>
                  </a:lnTo>
                  <a:lnTo>
                    <a:pt x="325754" y="729126"/>
                  </a:lnTo>
                  <a:lnTo>
                    <a:pt x="279127" y="713145"/>
                  </a:lnTo>
                  <a:lnTo>
                    <a:pt x="235148" y="694135"/>
                  </a:lnTo>
                  <a:lnTo>
                    <a:pt x="194086" y="672288"/>
                  </a:lnTo>
                  <a:lnTo>
                    <a:pt x="156209" y="647795"/>
                  </a:lnTo>
                  <a:lnTo>
                    <a:pt x="121786" y="620846"/>
                  </a:lnTo>
                  <a:lnTo>
                    <a:pt x="91082" y="591631"/>
                  </a:lnTo>
                  <a:lnTo>
                    <a:pt x="64368" y="560344"/>
                  </a:lnTo>
                  <a:lnTo>
                    <a:pt x="41909" y="527173"/>
                  </a:lnTo>
                  <a:lnTo>
                    <a:pt x="23976" y="492309"/>
                  </a:lnTo>
                  <a:lnTo>
                    <a:pt x="10834" y="455945"/>
                  </a:lnTo>
                  <a:lnTo>
                    <a:pt x="2753" y="418270"/>
                  </a:lnTo>
                  <a:lnTo>
                    <a:pt x="0" y="379475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803897" y="3391357"/>
            <a:ext cx="4159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Perpetua"/>
                <a:cs typeface="Perpetua"/>
              </a:rPr>
              <a:t>B</a:t>
            </a:r>
            <a:r>
              <a:rPr sz="1800" spc="-5" dirty="0">
                <a:latin typeface="Perpetua"/>
                <a:cs typeface="Perpetua"/>
              </a:rPr>
              <a:t>a</a:t>
            </a:r>
            <a:r>
              <a:rPr sz="1800" spc="-25" dirty="0">
                <a:latin typeface="Perpetua"/>
                <a:cs typeface="Perpetua"/>
              </a:rPr>
              <a:t>k</a:t>
            </a:r>
            <a:r>
              <a:rPr sz="1800" dirty="0">
                <a:latin typeface="Perpetua"/>
                <a:cs typeface="Perpetua"/>
              </a:rPr>
              <a:t>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804158" y="2048382"/>
            <a:ext cx="3206750" cy="1163320"/>
          </a:xfrm>
          <a:custGeom>
            <a:avLst/>
            <a:gdLst/>
            <a:ahLst/>
            <a:cxnLst/>
            <a:rect l="l" t="t" r="r" b="b"/>
            <a:pathLst>
              <a:path w="3206750" h="1163320">
                <a:moveTo>
                  <a:pt x="3206242" y="1144397"/>
                </a:moveTo>
                <a:lnTo>
                  <a:pt x="3142361" y="1068578"/>
                </a:lnTo>
                <a:lnTo>
                  <a:pt x="3140075" y="1065911"/>
                </a:lnTo>
                <a:lnTo>
                  <a:pt x="3136138" y="1065657"/>
                </a:lnTo>
                <a:lnTo>
                  <a:pt x="3133344" y="1067816"/>
                </a:lnTo>
                <a:lnTo>
                  <a:pt x="3130677" y="1070102"/>
                </a:lnTo>
                <a:lnTo>
                  <a:pt x="3130423" y="1074166"/>
                </a:lnTo>
                <a:lnTo>
                  <a:pt x="3132582" y="1076833"/>
                </a:lnTo>
                <a:lnTo>
                  <a:pt x="3174466" y="1126375"/>
                </a:lnTo>
                <a:lnTo>
                  <a:pt x="8001" y="0"/>
                </a:lnTo>
                <a:lnTo>
                  <a:pt x="5842" y="5969"/>
                </a:lnTo>
                <a:lnTo>
                  <a:pt x="0" y="8509"/>
                </a:lnTo>
                <a:lnTo>
                  <a:pt x="480999" y="1113917"/>
                </a:lnTo>
                <a:lnTo>
                  <a:pt x="428752" y="1075563"/>
                </a:lnTo>
                <a:lnTo>
                  <a:pt x="425831" y="1073531"/>
                </a:lnTo>
                <a:lnTo>
                  <a:pt x="421894" y="1074039"/>
                </a:lnTo>
                <a:lnTo>
                  <a:pt x="419862" y="1076960"/>
                </a:lnTo>
                <a:lnTo>
                  <a:pt x="417830" y="1079754"/>
                </a:lnTo>
                <a:lnTo>
                  <a:pt x="418338" y="1083691"/>
                </a:lnTo>
                <a:lnTo>
                  <a:pt x="501142" y="1144397"/>
                </a:lnTo>
                <a:lnTo>
                  <a:pt x="502208" y="1135380"/>
                </a:lnTo>
                <a:lnTo>
                  <a:pt x="512826" y="1045972"/>
                </a:lnTo>
                <a:lnTo>
                  <a:pt x="513207" y="1042416"/>
                </a:lnTo>
                <a:lnTo>
                  <a:pt x="510667" y="1039368"/>
                </a:lnTo>
                <a:lnTo>
                  <a:pt x="507238" y="1038860"/>
                </a:lnTo>
                <a:lnTo>
                  <a:pt x="503809" y="1038479"/>
                </a:lnTo>
                <a:lnTo>
                  <a:pt x="500634" y="1041019"/>
                </a:lnTo>
                <a:lnTo>
                  <a:pt x="500126" y="1044448"/>
                </a:lnTo>
                <a:lnTo>
                  <a:pt x="492556" y="1108849"/>
                </a:lnTo>
                <a:lnTo>
                  <a:pt x="19596" y="21628"/>
                </a:lnTo>
                <a:lnTo>
                  <a:pt x="1876577" y="1131341"/>
                </a:lnTo>
                <a:lnTo>
                  <a:pt x="1811909" y="1130681"/>
                </a:lnTo>
                <a:lnTo>
                  <a:pt x="1808353" y="1130554"/>
                </a:lnTo>
                <a:lnTo>
                  <a:pt x="1805559" y="1133348"/>
                </a:lnTo>
                <a:lnTo>
                  <a:pt x="1805432" y="1140460"/>
                </a:lnTo>
                <a:lnTo>
                  <a:pt x="1808226" y="1143254"/>
                </a:lnTo>
                <a:lnTo>
                  <a:pt x="1811782" y="1143381"/>
                </a:lnTo>
                <a:lnTo>
                  <a:pt x="1910842" y="1144397"/>
                </a:lnTo>
                <a:lnTo>
                  <a:pt x="1910270" y="1143381"/>
                </a:lnTo>
                <a:lnTo>
                  <a:pt x="1862963" y="1057529"/>
                </a:lnTo>
                <a:lnTo>
                  <a:pt x="1861312" y="1054481"/>
                </a:lnTo>
                <a:lnTo>
                  <a:pt x="1857502" y="1053465"/>
                </a:lnTo>
                <a:lnTo>
                  <a:pt x="1854327" y="1055116"/>
                </a:lnTo>
                <a:lnTo>
                  <a:pt x="1851279" y="1056767"/>
                </a:lnTo>
                <a:lnTo>
                  <a:pt x="1850136" y="1060704"/>
                </a:lnTo>
                <a:lnTo>
                  <a:pt x="1851914" y="1063752"/>
                </a:lnTo>
                <a:lnTo>
                  <a:pt x="1883092" y="1120368"/>
                </a:lnTo>
                <a:lnTo>
                  <a:pt x="64427" y="33553"/>
                </a:lnTo>
                <a:lnTo>
                  <a:pt x="3169970" y="1138250"/>
                </a:lnTo>
                <a:lnTo>
                  <a:pt x="3103118" y="1150874"/>
                </a:lnTo>
                <a:lnTo>
                  <a:pt x="3100832" y="1154176"/>
                </a:lnTo>
                <a:lnTo>
                  <a:pt x="3102102" y="1161161"/>
                </a:lnTo>
                <a:lnTo>
                  <a:pt x="3105404" y="1163320"/>
                </a:lnTo>
                <a:lnTo>
                  <a:pt x="3196767" y="1146175"/>
                </a:lnTo>
                <a:lnTo>
                  <a:pt x="3206242" y="11443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40739" y="4330446"/>
            <a:ext cx="7842884" cy="19202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indent="-1911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03835" algn="l"/>
              </a:tabLst>
            </a:pP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dirty="0">
                <a:latin typeface="Perpetua"/>
                <a:cs typeface="Perpetua"/>
              </a:rPr>
              <a:t>sub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20" dirty="0">
                <a:latin typeface="Perpetua"/>
                <a:cs typeface="Perpetua"/>
              </a:rPr>
              <a:t>at </a:t>
            </a:r>
            <a:r>
              <a:rPr sz="2600" spc="-10" dirty="0">
                <a:latin typeface="Perpetua"/>
                <a:cs typeface="Perpetua"/>
              </a:rPr>
              <a:t>(roughly) </a:t>
            </a:r>
            <a:r>
              <a:rPr sz="2600" dirty="0">
                <a:latin typeface="Perpetua"/>
                <a:cs typeface="Perpetua"/>
              </a:rPr>
              <a:t>the same </a:t>
            </a:r>
            <a:r>
              <a:rPr sz="2600" spc="-20" dirty="0">
                <a:latin typeface="Perpetua"/>
                <a:cs typeface="Perpetua"/>
              </a:rPr>
              <a:t>level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detail.</a:t>
            </a:r>
            <a:endParaRPr sz="2600">
              <a:latin typeface="Perpetua"/>
              <a:cs typeface="Perpetua"/>
            </a:endParaRPr>
          </a:p>
          <a:p>
            <a:pPr marL="203200" indent="-191135">
              <a:lnSpc>
                <a:spcPct val="100000"/>
              </a:lnSpc>
              <a:buFont typeface="Arial"/>
              <a:buChar char="•"/>
              <a:tabLst>
                <a:tab pos="203835" algn="l"/>
              </a:tabLst>
            </a:pP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dirty="0">
                <a:latin typeface="Perpetua"/>
                <a:cs typeface="Perpetua"/>
              </a:rPr>
              <a:t>sub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10" dirty="0">
                <a:latin typeface="Perpetua"/>
                <a:cs typeface="Perpetua"/>
              </a:rPr>
              <a:t>solved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independently.</a:t>
            </a:r>
            <a:endParaRPr sz="2600">
              <a:latin typeface="Perpetua"/>
              <a:cs typeface="Perpetua"/>
            </a:endParaRPr>
          </a:p>
          <a:p>
            <a:pPr marL="12700" marR="116839">
              <a:lnSpc>
                <a:spcPct val="100000"/>
              </a:lnSpc>
              <a:buFont typeface="Arial"/>
              <a:buChar char="•"/>
              <a:tabLst>
                <a:tab pos="164465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solutions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the </a:t>
            </a:r>
            <a:r>
              <a:rPr sz="2600" dirty="0">
                <a:latin typeface="Perpetua"/>
                <a:cs typeface="Perpetua"/>
              </a:rPr>
              <a:t>sub </a:t>
            </a:r>
            <a:r>
              <a:rPr sz="2600" spc="-15" dirty="0">
                <a:latin typeface="Perpetua"/>
                <a:cs typeface="Perpetua"/>
              </a:rPr>
              <a:t>problems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combined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solve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10" dirty="0">
                <a:latin typeface="Perpetua"/>
                <a:cs typeface="Perpetua"/>
              </a:rPr>
              <a:t>original </a:t>
            </a:r>
            <a:r>
              <a:rPr sz="2600" spc="-10" dirty="0">
                <a:latin typeface="Perpetua"/>
                <a:cs typeface="Perpetua"/>
              </a:rPr>
              <a:t>problem.</a:t>
            </a:r>
            <a:endParaRPr sz="2600">
              <a:latin typeface="Perpetua"/>
              <a:cs typeface="Perpetua"/>
            </a:endParaRPr>
          </a:p>
          <a:p>
            <a:pPr marL="3200400" lvl="1" indent="-240665">
              <a:lnSpc>
                <a:spcPts val="2435"/>
              </a:lnSpc>
              <a:buSzPct val="95833"/>
              <a:buFont typeface="Wingdings"/>
              <a:buChar char=""/>
              <a:tabLst>
                <a:tab pos="3201035" algn="l"/>
              </a:tabLst>
            </a:pP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Do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you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see decomposition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in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your life?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 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840348" y="6225032"/>
            <a:ext cx="2844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If </a:t>
            </a:r>
            <a:r>
              <a:rPr sz="2400" b="1" i="1" spc="-20" dirty="0">
                <a:solidFill>
                  <a:srgbClr val="C00000"/>
                </a:solidFill>
                <a:latin typeface="Perpetua"/>
                <a:cs typeface="Perpetua"/>
              </a:rPr>
              <a:t>yes, what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are</a:t>
            </a:r>
            <a:r>
              <a:rPr sz="2400" b="1" i="1" spc="-254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they??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43110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Decomposition </a:t>
            </a:r>
            <a:r>
              <a:rPr sz="3600" dirty="0"/>
              <a:t>in </a:t>
            </a:r>
            <a:r>
              <a:rPr sz="3600" spc="-10" dirty="0"/>
              <a:t>real</a:t>
            </a:r>
            <a:r>
              <a:rPr sz="3600" spc="-45" dirty="0"/>
              <a:t> </a:t>
            </a:r>
            <a:r>
              <a:rPr sz="3600" spc="-5" dirty="0"/>
              <a:t>life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7340" y="901413"/>
            <a:ext cx="8032750" cy="467487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600" dirty="0">
                <a:latin typeface="Perpetua"/>
                <a:cs typeface="Perpetua"/>
              </a:rPr>
              <a:t>General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dirty="0">
                <a:latin typeface="Perpetua"/>
                <a:cs typeface="Perpetua"/>
              </a:rPr>
              <a:t>----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sub-problems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solidFill>
                  <a:srgbClr val="C00000"/>
                </a:solidFill>
                <a:latin typeface="Perpetua"/>
                <a:cs typeface="Perpetua"/>
              </a:rPr>
              <a:t>Human </a:t>
            </a:r>
            <a:r>
              <a:rPr sz="2600" spc="-15" dirty="0">
                <a:solidFill>
                  <a:srgbClr val="C00000"/>
                </a:solidFill>
                <a:latin typeface="Perpetua"/>
                <a:cs typeface="Perpetua"/>
              </a:rPr>
              <a:t>body </a:t>
            </a:r>
            <a:r>
              <a:rPr sz="2600" dirty="0">
                <a:solidFill>
                  <a:srgbClr val="C00000"/>
                </a:solidFill>
                <a:latin typeface="Perpetua"/>
                <a:cs typeface="Perpetua"/>
              </a:rPr>
              <a:t>---------- </a:t>
            </a:r>
            <a:r>
              <a:rPr sz="2600" spc="15" dirty="0">
                <a:solidFill>
                  <a:srgbClr val="C00000"/>
                </a:solidFill>
                <a:latin typeface="Perpetua"/>
                <a:cs typeface="Perpetua"/>
              </a:rPr>
              <a:t>parts </a:t>
            </a:r>
            <a:r>
              <a:rPr sz="2600" spc="-5" dirty="0">
                <a:solidFill>
                  <a:srgbClr val="C00000"/>
                </a:solidFill>
                <a:latin typeface="Perpetua"/>
                <a:cs typeface="Perpetua"/>
              </a:rPr>
              <a:t>and </a:t>
            </a:r>
            <a:r>
              <a:rPr sz="2600" dirty="0">
                <a:solidFill>
                  <a:srgbClr val="C00000"/>
                </a:solidFill>
                <a:latin typeface="Perpetua"/>
                <a:cs typeface="Perpetua"/>
              </a:rPr>
              <a:t>its</a:t>
            </a:r>
            <a:r>
              <a:rPr sz="2600" spc="-3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Perpetua"/>
                <a:cs typeface="Perpetua"/>
              </a:rPr>
              <a:t>role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1224280" algn="l"/>
              </a:tabLst>
            </a:pPr>
            <a:r>
              <a:rPr sz="2600" spc="-25" dirty="0">
                <a:solidFill>
                  <a:srgbClr val="C00000"/>
                </a:solidFill>
                <a:latin typeface="Perpetua"/>
                <a:cs typeface="Perpetua"/>
              </a:rPr>
              <a:t>Family	</a:t>
            </a:r>
            <a:r>
              <a:rPr sz="2600" dirty="0">
                <a:solidFill>
                  <a:srgbClr val="C00000"/>
                </a:solidFill>
                <a:latin typeface="Perpetua"/>
                <a:cs typeface="Perpetua"/>
              </a:rPr>
              <a:t>------- individual</a:t>
            </a:r>
            <a:r>
              <a:rPr sz="2600" spc="-3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spc="-5" dirty="0">
                <a:solidFill>
                  <a:srgbClr val="C00000"/>
                </a:solidFill>
                <a:latin typeface="Perpetua"/>
                <a:cs typeface="Perpetua"/>
              </a:rPr>
              <a:t>responsibilities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solidFill>
                  <a:srgbClr val="C00000"/>
                </a:solidFill>
                <a:latin typeface="Perpetua"/>
                <a:cs typeface="Perpetua"/>
              </a:rPr>
              <a:t>Organization</a:t>
            </a:r>
            <a:r>
              <a:rPr sz="2600" spc="1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dirty="0">
                <a:solidFill>
                  <a:srgbClr val="C00000"/>
                </a:solidFill>
                <a:latin typeface="Perpetua"/>
                <a:cs typeface="Perpetua"/>
              </a:rPr>
              <a:t>-------departments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solidFill>
                  <a:srgbClr val="C00000"/>
                </a:solidFill>
                <a:latin typeface="Perpetua"/>
                <a:cs typeface="Perpetua"/>
              </a:rPr>
              <a:t>Chemicals compounds </a:t>
            </a:r>
            <a:r>
              <a:rPr sz="2600" dirty="0">
                <a:solidFill>
                  <a:srgbClr val="C00000"/>
                </a:solidFill>
                <a:latin typeface="Perpetua"/>
                <a:cs typeface="Perpetua"/>
              </a:rPr>
              <a:t>----- </a:t>
            </a:r>
            <a:r>
              <a:rPr sz="2600" spc="-10" dirty="0">
                <a:solidFill>
                  <a:srgbClr val="C00000"/>
                </a:solidFill>
                <a:latin typeface="Perpetua"/>
                <a:cs typeface="Perpetua"/>
              </a:rPr>
              <a:t>product </a:t>
            </a:r>
            <a:r>
              <a:rPr sz="2600" spc="-5" dirty="0">
                <a:solidFill>
                  <a:srgbClr val="C00000"/>
                </a:solidFill>
                <a:latin typeface="Perpetua"/>
                <a:cs typeface="Perpetua"/>
              </a:rPr>
              <a:t>molecules/elements/simple  compounds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5" dirty="0">
                <a:solidFill>
                  <a:srgbClr val="C00000"/>
                </a:solidFill>
                <a:latin typeface="Perpetua"/>
                <a:cs typeface="Perpetua"/>
              </a:rPr>
              <a:t>Numbers </a:t>
            </a:r>
            <a:r>
              <a:rPr sz="2600" dirty="0">
                <a:solidFill>
                  <a:srgbClr val="C00000"/>
                </a:solidFill>
                <a:latin typeface="Perpetua"/>
                <a:cs typeface="Perpetua"/>
              </a:rPr>
              <a:t>--- </a:t>
            </a:r>
            <a:r>
              <a:rPr sz="2600" spc="5" dirty="0">
                <a:solidFill>
                  <a:srgbClr val="C00000"/>
                </a:solidFill>
                <a:latin typeface="Perpetua"/>
                <a:cs typeface="Perpetua"/>
              </a:rPr>
              <a:t>digits </a:t>
            </a:r>
            <a:r>
              <a:rPr sz="2600" spc="-5" dirty="0">
                <a:solidFill>
                  <a:srgbClr val="C00000"/>
                </a:solidFill>
                <a:latin typeface="Perpetua"/>
                <a:cs typeface="Perpetua"/>
              </a:rPr>
              <a:t>and </a:t>
            </a:r>
            <a:r>
              <a:rPr sz="2600" dirty="0">
                <a:solidFill>
                  <a:srgbClr val="C00000"/>
                </a:solidFill>
                <a:latin typeface="Perpetua"/>
                <a:cs typeface="Perpetua"/>
              </a:rPr>
              <a:t>its</a:t>
            </a:r>
            <a:r>
              <a:rPr sz="2600" spc="-2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dirty="0">
                <a:solidFill>
                  <a:srgbClr val="C00000"/>
                </a:solidFill>
                <a:latin typeface="Perpetua"/>
                <a:cs typeface="Perpetua"/>
              </a:rPr>
              <a:t>position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1397635" algn="l"/>
              </a:tabLst>
            </a:pPr>
            <a:r>
              <a:rPr sz="2600" spc="-40" dirty="0">
                <a:solidFill>
                  <a:srgbClr val="C00000"/>
                </a:solidFill>
                <a:latin typeface="Perpetua"/>
                <a:cs typeface="Perpetua"/>
              </a:rPr>
              <a:t>Velocity	</a:t>
            </a:r>
            <a:r>
              <a:rPr sz="2600" dirty="0">
                <a:solidFill>
                  <a:srgbClr val="C00000"/>
                </a:solidFill>
                <a:latin typeface="Perpetua"/>
                <a:cs typeface="Perpetua"/>
              </a:rPr>
              <a:t>---</a:t>
            </a:r>
            <a:r>
              <a:rPr sz="2600" spc="-1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spc="-5" dirty="0">
                <a:solidFill>
                  <a:srgbClr val="C00000"/>
                </a:solidFill>
                <a:latin typeface="Perpetua"/>
                <a:cs typeface="Perpetua"/>
              </a:rPr>
              <a:t>directions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solidFill>
                  <a:srgbClr val="C00000"/>
                </a:solidFill>
                <a:latin typeface="Perpetua"/>
                <a:cs typeface="Perpetua"/>
              </a:rPr>
              <a:t>Daily </a:t>
            </a:r>
            <a:r>
              <a:rPr sz="2600" spc="-5" dirty="0">
                <a:solidFill>
                  <a:srgbClr val="C00000"/>
                </a:solidFill>
                <a:latin typeface="Perpetua"/>
                <a:cs typeface="Perpetua"/>
              </a:rPr>
              <a:t>dish </a:t>
            </a:r>
            <a:r>
              <a:rPr sz="2600" dirty="0">
                <a:solidFill>
                  <a:srgbClr val="C00000"/>
                </a:solidFill>
                <a:latin typeface="Perpetua"/>
                <a:cs typeface="Perpetua"/>
              </a:rPr>
              <a:t>-------</a:t>
            </a:r>
            <a:r>
              <a:rPr sz="2600" spc="-1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dirty="0">
                <a:solidFill>
                  <a:srgbClr val="C00000"/>
                </a:solidFill>
                <a:latin typeface="Perpetua"/>
                <a:cs typeface="Perpetua"/>
              </a:rPr>
              <a:t>ingredients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solidFill>
                  <a:srgbClr val="C00000"/>
                </a:solidFill>
                <a:latin typeface="Perpetua"/>
                <a:cs typeface="Perpetua"/>
              </a:rPr>
              <a:t>So</a:t>
            </a:r>
            <a:r>
              <a:rPr sz="2600" spc="-5" dirty="0">
                <a:solidFill>
                  <a:srgbClr val="C00000"/>
                </a:solidFill>
                <a:latin typeface="Perpetua"/>
                <a:cs typeface="Perpetua"/>
              </a:rPr>
              <a:t> on…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00200" y="2667000"/>
            <a:ext cx="6324600" cy="388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540" y="600202"/>
            <a:ext cx="826960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Perpetua"/>
                <a:cs typeface="Perpetua"/>
              </a:rPr>
              <a:t>It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spc="-15" dirty="0">
                <a:latin typeface="Perpetua"/>
                <a:cs typeface="Perpetua"/>
              </a:rPr>
              <a:t>only </a:t>
            </a:r>
            <a:r>
              <a:rPr sz="2400" i="1" dirty="0">
                <a:latin typeface="Perpetua"/>
                <a:cs typeface="Perpetua"/>
              </a:rPr>
              <a:t>normally </a:t>
            </a:r>
            <a:r>
              <a:rPr sz="2400" i="1" spc="-15" dirty="0">
                <a:latin typeface="Perpetua"/>
                <a:cs typeface="Perpetua"/>
              </a:rPr>
              <a:t>when we </a:t>
            </a:r>
            <a:r>
              <a:rPr sz="2400" i="1" spc="-10" dirty="0">
                <a:latin typeface="Perpetua"/>
                <a:cs typeface="Perpetua"/>
              </a:rPr>
              <a:t>are </a:t>
            </a:r>
            <a:r>
              <a:rPr sz="2400" i="1" dirty="0">
                <a:latin typeface="Perpetua"/>
                <a:cs typeface="Perpetua"/>
              </a:rPr>
              <a:t>asked to do a </a:t>
            </a:r>
            <a:r>
              <a:rPr sz="2400" i="1" spc="-5" dirty="0">
                <a:latin typeface="Perpetua"/>
                <a:cs typeface="Perpetua"/>
              </a:rPr>
              <a:t>new or </a:t>
            </a:r>
            <a:r>
              <a:rPr sz="2400" i="1" spc="-10" dirty="0">
                <a:latin typeface="Perpetua"/>
                <a:cs typeface="Perpetua"/>
              </a:rPr>
              <a:t>more </a:t>
            </a:r>
            <a:r>
              <a:rPr sz="2400" i="1" dirty="0">
                <a:latin typeface="Perpetua"/>
                <a:cs typeface="Perpetua"/>
              </a:rPr>
              <a:t>complex task </a:t>
            </a:r>
            <a:r>
              <a:rPr sz="2400" i="1" spc="-10" dirty="0">
                <a:latin typeface="Perpetua"/>
                <a:cs typeface="Perpetua"/>
              </a:rPr>
              <a:t>that </a:t>
            </a:r>
            <a:r>
              <a:rPr sz="2400" i="1" spc="-15" dirty="0">
                <a:latin typeface="Perpetua"/>
                <a:cs typeface="Perpetua"/>
              </a:rPr>
              <a:t>we </a:t>
            </a:r>
            <a:r>
              <a:rPr sz="2400" i="1" spc="10" dirty="0">
                <a:latin typeface="Perpetua"/>
                <a:cs typeface="Perpetua"/>
              </a:rPr>
              <a:t>start  </a:t>
            </a:r>
            <a:r>
              <a:rPr sz="2400" i="1" dirty="0">
                <a:latin typeface="Perpetua"/>
                <a:cs typeface="Perpetua"/>
              </a:rPr>
              <a:t>to </a:t>
            </a:r>
            <a:r>
              <a:rPr sz="2400" i="1" spc="-5" dirty="0">
                <a:latin typeface="Perpetua"/>
                <a:cs typeface="Perpetua"/>
              </a:rPr>
              <a:t>think about it in </a:t>
            </a:r>
            <a:r>
              <a:rPr sz="2400" i="1" dirty="0">
                <a:latin typeface="Perpetua"/>
                <a:cs typeface="Perpetua"/>
              </a:rPr>
              <a:t>detail – to </a:t>
            </a:r>
            <a:r>
              <a:rPr sz="2400" b="1" i="1" u="heavy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3"/>
              </a:rPr>
              <a:t>decompose</a:t>
            </a:r>
            <a:r>
              <a:rPr sz="2400" b="1" i="1" spc="-5" dirty="0">
                <a:solidFill>
                  <a:srgbClr val="CC9900"/>
                </a:solidFill>
                <a:latin typeface="Perpetua"/>
                <a:cs typeface="Perpetua"/>
                <a:hlinkClick r:id="rId3"/>
              </a:rPr>
              <a:t>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-3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task.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400" spc="5" dirty="0">
                <a:latin typeface="Perpetua"/>
                <a:cs typeface="Perpetua"/>
              </a:rPr>
              <a:t>Imagine </a:t>
            </a:r>
            <a:r>
              <a:rPr sz="2400" spc="-5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5" dirty="0">
                <a:latin typeface="Perpetua"/>
                <a:cs typeface="Perpetua"/>
              </a:rPr>
              <a:t>crime </a:t>
            </a:r>
            <a:r>
              <a:rPr sz="2400" spc="-5" dirty="0">
                <a:latin typeface="Perpetua"/>
                <a:cs typeface="Perpetua"/>
              </a:rPr>
              <a:t>has </a:t>
            </a:r>
            <a:r>
              <a:rPr sz="2400" dirty="0">
                <a:latin typeface="Perpetua"/>
                <a:cs typeface="Perpetua"/>
              </a:rPr>
              <a:t>been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committed.</a:t>
            </a:r>
            <a:endParaRPr sz="2400">
              <a:latin typeface="Perpetua"/>
              <a:cs typeface="Perpetua"/>
            </a:endParaRPr>
          </a:p>
          <a:p>
            <a:pPr marL="12700" marR="48895">
              <a:lnSpc>
                <a:spcPct val="100000"/>
              </a:lnSpc>
            </a:pPr>
            <a:r>
              <a:rPr sz="2400" dirty="0">
                <a:latin typeface="Perpetua"/>
                <a:cs typeface="Perpetua"/>
              </a:rPr>
              <a:t>Solving a </a:t>
            </a:r>
            <a:r>
              <a:rPr sz="2400" spc="5" dirty="0">
                <a:latin typeface="Perpetua"/>
                <a:cs typeface="Perpetua"/>
              </a:rPr>
              <a:t>crime </a:t>
            </a:r>
            <a:r>
              <a:rPr sz="2400" dirty="0">
                <a:latin typeface="Perpetua"/>
                <a:cs typeface="Perpetua"/>
              </a:rPr>
              <a:t>can be a </a:t>
            </a:r>
            <a:r>
              <a:rPr sz="2400" spc="-10" dirty="0">
                <a:latin typeface="Perpetua"/>
                <a:cs typeface="Perpetua"/>
              </a:rPr>
              <a:t>very </a:t>
            </a:r>
            <a:r>
              <a:rPr sz="2400" spc="-5" dirty="0">
                <a:latin typeface="Perpetua"/>
                <a:cs typeface="Perpetua"/>
              </a:rPr>
              <a:t>complex </a:t>
            </a:r>
            <a:r>
              <a:rPr sz="2400" spc="-10" dirty="0">
                <a:latin typeface="Perpetua"/>
                <a:cs typeface="Perpetua"/>
              </a:rPr>
              <a:t>problem </a:t>
            </a:r>
            <a:r>
              <a:rPr sz="2400" spc="-5" dirty="0">
                <a:latin typeface="Perpetua"/>
                <a:cs typeface="Perpetua"/>
              </a:rPr>
              <a:t>as there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spc="-15" dirty="0">
                <a:latin typeface="Perpetua"/>
                <a:cs typeface="Perpetua"/>
              </a:rPr>
              <a:t>many </a:t>
            </a:r>
            <a:r>
              <a:rPr sz="2400" spc="-5" dirty="0">
                <a:latin typeface="Perpetua"/>
                <a:cs typeface="Perpetua"/>
              </a:rPr>
              <a:t>things </a:t>
            </a:r>
            <a:r>
              <a:rPr sz="2400" dirty="0">
                <a:latin typeface="Perpetua"/>
                <a:cs typeface="Perpetua"/>
              </a:rPr>
              <a:t>to  </a:t>
            </a:r>
            <a:r>
              <a:rPr sz="2400" spc="-25" dirty="0">
                <a:latin typeface="Perpetua"/>
                <a:cs typeface="Perpetua"/>
              </a:rPr>
              <a:t>consider.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9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2087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Example</a:t>
            </a:r>
            <a:r>
              <a:rPr sz="3600" spc="-90" dirty="0"/>
              <a:t> </a:t>
            </a:r>
            <a:r>
              <a:rPr sz="3600" dirty="0"/>
              <a:t>#3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976630"/>
            <a:ext cx="8531225" cy="4766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457834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spc="-10" dirty="0">
                <a:latin typeface="Perpetua"/>
                <a:cs typeface="Perpetua"/>
              </a:rPr>
              <a:t>example,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police officer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5" dirty="0">
                <a:latin typeface="Perpetua"/>
                <a:cs typeface="Perpetua"/>
              </a:rPr>
              <a:t>need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20" dirty="0">
                <a:latin typeface="Perpetua"/>
                <a:cs typeface="Perpetua"/>
              </a:rPr>
              <a:t>know </a:t>
            </a:r>
            <a:r>
              <a:rPr sz="2600" spc="-5" dirty="0">
                <a:latin typeface="Perpetua"/>
                <a:cs typeface="Perpetua"/>
              </a:rPr>
              <a:t>the </a:t>
            </a:r>
            <a:r>
              <a:rPr sz="2600" spc="-30" dirty="0">
                <a:latin typeface="Perpetua"/>
                <a:cs typeface="Perpetua"/>
              </a:rPr>
              <a:t>answer </a:t>
            </a:r>
            <a:r>
              <a:rPr sz="2600" spc="-1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a  </a:t>
            </a:r>
            <a:r>
              <a:rPr sz="2600" spc="5" dirty="0">
                <a:latin typeface="Perpetua"/>
                <a:cs typeface="Perpetua"/>
              </a:rPr>
              <a:t>series </a:t>
            </a:r>
            <a:r>
              <a:rPr sz="2600" dirty="0">
                <a:latin typeface="Perpetua"/>
                <a:cs typeface="Perpetua"/>
              </a:rPr>
              <a:t>of smaller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problems: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what </a:t>
            </a:r>
            <a:r>
              <a:rPr sz="2600" spc="5" dirty="0">
                <a:latin typeface="Perpetua"/>
                <a:cs typeface="Perpetua"/>
              </a:rPr>
              <a:t>crime </a:t>
            </a:r>
            <a:r>
              <a:rPr sz="2600" spc="-10" dirty="0">
                <a:latin typeface="Perpetua"/>
                <a:cs typeface="Perpetua"/>
              </a:rPr>
              <a:t>was </a:t>
            </a:r>
            <a:r>
              <a:rPr sz="2600" spc="-5" dirty="0">
                <a:latin typeface="Perpetua"/>
                <a:cs typeface="Perpetua"/>
              </a:rPr>
              <a:t>committed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when the </a:t>
            </a:r>
            <a:r>
              <a:rPr sz="2600" spc="5" dirty="0">
                <a:latin typeface="Perpetua"/>
                <a:cs typeface="Perpetua"/>
              </a:rPr>
              <a:t>crime </a:t>
            </a:r>
            <a:r>
              <a:rPr sz="2600" spc="-10" dirty="0">
                <a:latin typeface="Perpetua"/>
                <a:cs typeface="Perpetua"/>
              </a:rPr>
              <a:t>was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committed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where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crime </a:t>
            </a:r>
            <a:r>
              <a:rPr sz="2600" spc="-10" dirty="0">
                <a:latin typeface="Perpetua"/>
                <a:cs typeface="Perpetua"/>
              </a:rPr>
              <a:t>was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committed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what </a:t>
            </a:r>
            <a:r>
              <a:rPr sz="2600" spc="-10" dirty="0">
                <a:latin typeface="Perpetua"/>
                <a:cs typeface="Perpetua"/>
              </a:rPr>
              <a:t>evidence </a:t>
            </a:r>
            <a:r>
              <a:rPr sz="2600" spc="-5" dirty="0">
                <a:latin typeface="Perpetua"/>
                <a:cs typeface="Perpetua"/>
              </a:rPr>
              <a:t>there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5" dirty="0">
                <a:latin typeface="Perpetua"/>
                <a:cs typeface="Perpetua"/>
              </a:rPr>
              <a:t>there </a:t>
            </a:r>
            <a:r>
              <a:rPr sz="2600" spc="-30" dirty="0">
                <a:latin typeface="Perpetua"/>
                <a:cs typeface="Perpetua"/>
              </a:rPr>
              <a:t>were </a:t>
            </a:r>
            <a:r>
              <a:rPr sz="2600" spc="-20" dirty="0">
                <a:latin typeface="Perpetua"/>
                <a:cs typeface="Perpetua"/>
              </a:rPr>
              <a:t>any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witnesses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5" dirty="0">
                <a:latin typeface="Perpetua"/>
                <a:cs typeface="Perpetua"/>
              </a:rPr>
              <a:t>there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15" dirty="0">
                <a:latin typeface="Perpetua"/>
                <a:cs typeface="Perpetua"/>
              </a:rPr>
              <a:t>recently </a:t>
            </a:r>
            <a:r>
              <a:rPr sz="2600" dirty="0">
                <a:latin typeface="Perpetua"/>
                <a:cs typeface="Perpetua"/>
              </a:rPr>
              <a:t>been </a:t>
            </a:r>
            <a:r>
              <a:rPr sz="2600" spc="-20" dirty="0">
                <a:latin typeface="Perpetua"/>
                <a:cs typeface="Perpetua"/>
              </a:rPr>
              <a:t>any </a:t>
            </a:r>
            <a:r>
              <a:rPr sz="2600" dirty="0">
                <a:latin typeface="Perpetua"/>
                <a:cs typeface="Perpetua"/>
              </a:rPr>
              <a:t>similar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crimes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complex </a:t>
            </a:r>
            <a:r>
              <a:rPr sz="2600" spc="-10" dirty="0">
                <a:latin typeface="Perpetua"/>
                <a:cs typeface="Perpetua"/>
              </a:rPr>
              <a:t>problem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committed </a:t>
            </a:r>
            <a:r>
              <a:rPr sz="2600" spc="5" dirty="0">
                <a:latin typeface="Perpetua"/>
                <a:cs typeface="Perpetua"/>
              </a:rPr>
              <a:t>crime </a:t>
            </a:r>
            <a:r>
              <a:rPr sz="2600" dirty="0">
                <a:latin typeface="Perpetua"/>
                <a:cs typeface="Perpetua"/>
              </a:rPr>
              <a:t>has </a:t>
            </a:r>
            <a:r>
              <a:rPr sz="2600" spc="-30" dirty="0">
                <a:latin typeface="Perpetua"/>
                <a:cs typeface="Perpetua"/>
              </a:rPr>
              <a:t>now </a:t>
            </a:r>
            <a:r>
              <a:rPr sz="2600" spc="-5" dirty="0">
                <a:latin typeface="Perpetua"/>
                <a:cs typeface="Perpetua"/>
              </a:rPr>
              <a:t>been </a:t>
            </a:r>
            <a:r>
              <a:rPr sz="2600" spc="-15" dirty="0">
                <a:latin typeface="Perpetua"/>
                <a:cs typeface="Perpetua"/>
              </a:rPr>
              <a:t>broken  </a:t>
            </a:r>
            <a:r>
              <a:rPr sz="2600" spc="-20" dirty="0">
                <a:latin typeface="Perpetua"/>
                <a:cs typeface="Perpetua"/>
              </a:rPr>
              <a:t>down </a:t>
            </a:r>
            <a:r>
              <a:rPr sz="2600" dirty="0">
                <a:latin typeface="Perpetua"/>
                <a:cs typeface="Perpetua"/>
              </a:rPr>
              <a:t>into </a:t>
            </a:r>
            <a:r>
              <a:rPr sz="2600" spc="-5" dirty="0">
                <a:latin typeface="Perpetua"/>
                <a:cs typeface="Perpetua"/>
              </a:rPr>
              <a:t>simpler </a:t>
            </a:r>
            <a:r>
              <a:rPr sz="2600" spc="-10" dirty="0">
                <a:latin typeface="Perpetua"/>
                <a:cs typeface="Perpetua"/>
              </a:rPr>
              <a:t>problems that </a:t>
            </a:r>
            <a:r>
              <a:rPr sz="2600" dirty="0">
                <a:latin typeface="Perpetua"/>
                <a:cs typeface="Perpetua"/>
              </a:rPr>
              <a:t>can </a:t>
            </a:r>
            <a:r>
              <a:rPr sz="2600" spc="-5" dirty="0">
                <a:latin typeface="Perpetua"/>
                <a:cs typeface="Perpetua"/>
              </a:rPr>
              <a:t>be examined </a:t>
            </a:r>
            <a:r>
              <a:rPr sz="2600" spc="-25" dirty="0">
                <a:latin typeface="Perpetua"/>
                <a:cs typeface="Perpetua"/>
              </a:rPr>
              <a:t>individually, </a:t>
            </a:r>
            <a:r>
              <a:rPr sz="2600" dirty="0">
                <a:latin typeface="Perpetua"/>
                <a:cs typeface="Perpetua"/>
              </a:rPr>
              <a:t>in  </a:t>
            </a:r>
            <a:r>
              <a:rPr sz="2600" spc="-5" dirty="0">
                <a:latin typeface="Perpetua"/>
                <a:cs typeface="Perpetua"/>
              </a:rPr>
              <a:t>detail.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076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Perpetua"/>
                <a:cs typeface="Perpetua"/>
              </a:rPr>
              <a:t>Imagine </a:t>
            </a:r>
            <a:r>
              <a:rPr sz="2800" b="1" spc="-15" dirty="0">
                <a:latin typeface="Perpetua"/>
                <a:cs typeface="Perpetua"/>
              </a:rPr>
              <a:t>that </a:t>
            </a:r>
            <a:r>
              <a:rPr sz="2800" b="1" spc="-30" dirty="0">
                <a:latin typeface="Perpetua"/>
                <a:cs typeface="Perpetua"/>
              </a:rPr>
              <a:t>you </a:t>
            </a:r>
            <a:r>
              <a:rPr sz="2800" b="1" spc="-10" dirty="0">
                <a:latin typeface="Perpetua"/>
                <a:cs typeface="Perpetua"/>
              </a:rPr>
              <a:t>want </a:t>
            </a:r>
            <a:r>
              <a:rPr sz="2800" b="1" spc="-5" dirty="0">
                <a:latin typeface="Perpetua"/>
                <a:cs typeface="Perpetua"/>
              </a:rPr>
              <a:t>to </a:t>
            </a:r>
            <a:r>
              <a:rPr sz="2800" b="1" spc="-15" dirty="0">
                <a:latin typeface="Perpetua"/>
                <a:cs typeface="Perpetua"/>
              </a:rPr>
              <a:t>create </a:t>
            </a:r>
            <a:r>
              <a:rPr sz="2800" b="1" spc="-25" dirty="0">
                <a:latin typeface="Perpetua"/>
                <a:cs typeface="Perpetua"/>
              </a:rPr>
              <a:t>your </a:t>
            </a:r>
            <a:r>
              <a:rPr sz="2800" b="1" dirty="0">
                <a:latin typeface="Perpetua"/>
                <a:cs typeface="Perpetua"/>
              </a:rPr>
              <a:t>first </a:t>
            </a:r>
            <a:r>
              <a:rPr sz="2800" b="1" spc="-40" dirty="0">
                <a:latin typeface="Perpetua"/>
                <a:cs typeface="Perpetua"/>
              </a:rPr>
              <a:t>app. </a:t>
            </a:r>
            <a:r>
              <a:rPr sz="2800" b="1" spc="-5" dirty="0">
                <a:latin typeface="Perpetua"/>
                <a:cs typeface="Perpetua"/>
              </a:rPr>
              <a:t>This is</a:t>
            </a:r>
            <a:r>
              <a:rPr sz="2800" b="1" spc="-305" dirty="0">
                <a:latin typeface="Perpetua"/>
                <a:cs typeface="Perpetua"/>
              </a:rPr>
              <a:t> </a:t>
            </a:r>
            <a:r>
              <a:rPr sz="2800" b="1" spc="-5" dirty="0">
                <a:latin typeface="Perpetua"/>
                <a:cs typeface="Perpetua"/>
              </a:rPr>
              <a:t>a  </a:t>
            </a:r>
            <a:r>
              <a:rPr sz="2800" b="1" spc="-10" dirty="0">
                <a:latin typeface="Perpetua"/>
                <a:cs typeface="Perpetua"/>
              </a:rPr>
              <a:t>complex problem </a:t>
            </a:r>
            <a:r>
              <a:rPr sz="2800" b="1" spc="-5" dirty="0">
                <a:latin typeface="Perpetua"/>
                <a:cs typeface="Perpetua"/>
              </a:rPr>
              <a:t>- </a:t>
            </a:r>
            <a:r>
              <a:rPr sz="2800" b="1" spc="-10" dirty="0">
                <a:latin typeface="Perpetua"/>
                <a:cs typeface="Perpetua"/>
              </a:rPr>
              <a:t>there </a:t>
            </a:r>
            <a:r>
              <a:rPr sz="2800" b="1" spc="-5" dirty="0">
                <a:latin typeface="Perpetua"/>
                <a:cs typeface="Perpetua"/>
              </a:rPr>
              <a:t>are lots of things </a:t>
            </a:r>
            <a:r>
              <a:rPr sz="2800" b="1" spc="-10" dirty="0">
                <a:latin typeface="Perpetua"/>
                <a:cs typeface="Perpetua"/>
              </a:rPr>
              <a:t>to</a:t>
            </a:r>
            <a:r>
              <a:rPr sz="2800" b="1" spc="75" dirty="0">
                <a:latin typeface="Perpetua"/>
                <a:cs typeface="Perpetua"/>
              </a:rPr>
              <a:t> </a:t>
            </a:r>
            <a:r>
              <a:rPr sz="2800" b="1" spc="-30" dirty="0">
                <a:latin typeface="Perpetua"/>
                <a:cs typeface="Perpetua"/>
              </a:rPr>
              <a:t>consider.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370681"/>
            <a:ext cx="8389620" cy="45872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1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25" dirty="0">
                <a:latin typeface="Perpetua"/>
                <a:cs typeface="Perpetua"/>
              </a:rPr>
              <a:t>How </a:t>
            </a:r>
            <a:r>
              <a:rPr sz="2400" spc="-20" dirty="0">
                <a:latin typeface="Perpetua"/>
                <a:cs typeface="Perpetua"/>
              </a:rPr>
              <a:t>would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decompose the </a:t>
            </a:r>
            <a:r>
              <a:rPr sz="2400" spc="-10" dirty="0">
                <a:latin typeface="Perpetua"/>
                <a:cs typeface="Perpetua"/>
              </a:rPr>
              <a:t>task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10" dirty="0">
                <a:latin typeface="Perpetua"/>
                <a:cs typeface="Perpetua"/>
              </a:rPr>
              <a:t>creating </a:t>
            </a:r>
            <a:r>
              <a:rPr sz="2400" spc="-5" dirty="0">
                <a:latin typeface="Perpetua"/>
                <a:cs typeface="Perpetua"/>
              </a:rPr>
              <a:t>an</a:t>
            </a:r>
            <a:r>
              <a:rPr sz="2400" spc="1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app?</a:t>
            </a:r>
            <a:endParaRPr sz="2400">
              <a:latin typeface="Perpetua"/>
              <a:cs typeface="Perpetua"/>
            </a:endParaRPr>
          </a:p>
          <a:p>
            <a:pPr marL="286385" marR="5080" indent="-274320">
              <a:lnSpc>
                <a:spcPts val="2590"/>
              </a:lnSpc>
              <a:spcBef>
                <a:spcPts val="64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5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decompose this task,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spc="-20" dirty="0">
                <a:latin typeface="Perpetua"/>
                <a:cs typeface="Perpetua"/>
              </a:rPr>
              <a:t>would </a:t>
            </a:r>
            <a:r>
              <a:rPr sz="2400" dirty="0">
                <a:latin typeface="Perpetua"/>
                <a:cs typeface="Perpetua"/>
              </a:rPr>
              <a:t>need to </a:t>
            </a:r>
            <a:r>
              <a:rPr sz="2400" spc="-20" dirty="0">
                <a:latin typeface="Perpetua"/>
                <a:cs typeface="Perpetua"/>
              </a:rPr>
              <a:t>know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25" dirty="0">
                <a:latin typeface="Perpetua"/>
                <a:cs typeface="Perpetua"/>
              </a:rPr>
              <a:t>answer </a:t>
            </a:r>
            <a:r>
              <a:rPr sz="2400" dirty="0">
                <a:latin typeface="Perpetua"/>
                <a:cs typeface="Perpetua"/>
              </a:rPr>
              <a:t>to a </a:t>
            </a:r>
            <a:r>
              <a:rPr sz="2400" spc="5" dirty="0">
                <a:latin typeface="Perpetua"/>
                <a:cs typeface="Perpetua"/>
              </a:rPr>
              <a:t>series </a:t>
            </a:r>
            <a:r>
              <a:rPr sz="2400" dirty="0">
                <a:latin typeface="Perpetua"/>
                <a:cs typeface="Perpetua"/>
              </a:rPr>
              <a:t>of  </a:t>
            </a:r>
            <a:r>
              <a:rPr sz="2400" spc="-5" dirty="0">
                <a:latin typeface="Perpetua"/>
                <a:cs typeface="Perpetua"/>
              </a:rPr>
              <a:t>smaller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problems: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7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what </a:t>
            </a:r>
            <a:r>
              <a:rPr sz="2400" dirty="0">
                <a:latin typeface="Perpetua"/>
                <a:cs typeface="Perpetua"/>
              </a:rPr>
              <a:t>kind of app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spc="-10" dirty="0">
                <a:latin typeface="Perpetua"/>
                <a:cs typeface="Perpetua"/>
              </a:rPr>
              <a:t>want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create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1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what </a:t>
            </a:r>
            <a:r>
              <a:rPr sz="2400" spc="-10" dirty="0">
                <a:latin typeface="Perpetua"/>
                <a:cs typeface="Perpetua"/>
              </a:rPr>
              <a:t>your </a:t>
            </a:r>
            <a:r>
              <a:rPr sz="2400" spc="-5" dirty="0">
                <a:latin typeface="Perpetua"/>
                <a:cs typeface="Perpetua"/>
              </a:rPr>
              <a:t>app </a:t>
            </a:r>
            <a:r>
              <a:rPr sz="2400" dirty="0">
                <a:latin typeface="Perpetua"/>
                <a:cs typeface="Perpetua"/>
              </a:rPr>
              <a:t>will look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like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2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who the target audience for </a:t>
            </a:r>
            <a:r>
              <a:rPr sz="2400" spc="-10" dirty="0">
                <a:latin typeface="Perpetua"/>
                <a:cs typeface="Perpetua"/>
              </a:rPr>
              <a:t>your </a:t>
            </a:r>
            <a:r>
              <a:rPr sz="2400" spc="-5" dirty="0">
                <a:latin typeface="Perpetua"/>
                <a:cs typeface="Perpetua"/>
              </a:rPr>
              <a:t>app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1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what </a:t>
            </a:r>
            <a:r>
              <a:rPr sz="2400" spc="-10" dirty="0">
                <a:latin typeface="Perpetua"/>
                <a:cs typeface="Perpetua"/>
              </a:rPr>
              <a:t>your </a:t>
            </a:r>
            <a:r>
              <a:rPr sz="2400" spc="5" dirty="0">
                <a:latin typeface="Perpetua"/>
                <a:cs typeface="Perpetua"/>
              </a:rPr>
              <a:t>graphics </a:t>
            </a:r>
            <a:r>
              <a:rPr sz="2400" dirty="0">
                <a:latin typeface="Perpetua"/>
                <a:cs typeface="Perpetua"/>
              </a:rPr>
              <a:t>will look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like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0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what audio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will</a:t>
            </a:r>
            <a:r>
              <a:rPr sz="2400" spc="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include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2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what </a:t>
            </a:r>
            <a:r>
              <a:rPr sz="2400" spc="-10" dirty="0">
                <a:latin typeface="Perpetua"/>
                <a:cs typeface="Perpetua"/>
              </a:rPr>
              <a:t>software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will use to </a:t>
            </a:r>
            <a:r>
              <a:rPr sz="2400" spc="-5" dirty="0">
                <a:latin typeface="Perpetua"/>
                <a:cs typeface="Perpetua"/>
              </a:rPr>
              <a:t>build </a:t>
            </a:r>
            <a:r>
              <a:rPr sz="2400" spc="-10" dirty="0">
                <a:latin typeface="Perpetua"/>
                <a:cs typeface="Perpetua"/>
              </a:rPr>
              <a:t>your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app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1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20" dirty="0">
                <a:latin typeface="Perpetua"/>
                <a:cs typeface="Perpetua"/>
              </a:rPr>
              <a:t>how </a:t>
            </a:r>
            <a:r>
              <a:rPr sz="2400" dirty="0">
                <a:latin typeface="Perpetua"/>
                <a:cs typeface="Perpetua"/>
              </a:rPr>
              <a:t>the user </a:t>
            </a:r>
            <a:r>
              <a:rPr sz="2400" spc="-5" dirty="0">
                <a:latin typeface="Perpetua"/>
                <a:cs typeface="Perpetua"/>
              </a:rPr>
              <a:t>will </a:t>
            </a:r>
            <a:r>
              <a:rPr sz="2400" spc="-15" dirty="0">
                <a:latin typeface="Perpetua"/>
                <a:cs typeface="Perpetua"/>
              </a:rPr>
              <a:t>navigate </a:t>
            </a:r>
            <a:r>
              <a:rPr sz="2400" spc="-10" dirty="0">
                <a:latin typeface="Perpetua"/>
                <a:cs typeface="Perpetua"/>
              </a:rPr>
              <a:t>your</a:t>
            </a:r>
            <a:r>
              <a:rPr sz="2400" spc="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app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0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20" dirty="0">
                <a:latin typeface="Perpetua"/>
                <a:cs typeface="Perpetua"/>
              </a:rPr>
              <a:t>how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will test </a:t>
            </a:r>
            <a:r>
              <a:rPr sz="2400" spc="-10" dirty="0">
                <a:latin typeface="Perpetua"/>
                <a:cs typeface="Perpetua"/>
              </a:rPr>
              <a:t>your</a:t>
            </a:r>
            <a:r>
              <a:rPr sz="2400" spc="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app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2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where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will sell </a:t>
            </a:r>
            <a:r>
              <a:rPr sz="2400" spc="-10" dirty="0">
                <a:latin typeface="Perpetua"/>
                <a:cs typeface="Perpetua"/>
              </a:rPr>
              <a:t>your</a:t>
            </a:r>
            <a:r>
              <a:rPr sz="2400" spc="1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app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Imagine </a:t>
            </a:r>
            <a:r>
              <a:rPr spc="-20" dirty="0"/>
              <a:t>you </a:t>
            </a:r>
            <a:r>
              <a:rPr spc="-15" dirty="0"/>
              <a:t>want </a:t>
            </a:r>
            <a:r>
              <a:rPr spc="-5" dirty="0"/>
              <a:t>to organize all </a:t>
            </a:r>
            <a:r>
              <a:rPr spc="-15" dirty="0"/>
              <a:t>your </a:t>
            </a:r>
            <a:r>
              <a:rPr spc="-65" dirty="0"/>
              <a:t>DVDs </a:t>
            </a:r>
            <a:r>
              <a:rPr spc="-5" dirty="0"/>
              <a:t>alphabetically  and </a:t>
            </a:r>
            <a:r>
              <a:rPr spc="-20" dirty="0"/>
              <a:t>you </a:t>
            </a:r>
            <a:r>
              <a:rPr spc="-40" dirty="0"/>
              <a:t>have </a:t>
            </a:r>
            <a:r>
              <a:rPr spc="-5" dirty="0"/>
              <a:t>a lot of them! </a:t>
            </a:r>
            <a:r>
              <a:rPr spc="-10" dirty="0"/>
              <a:t>Where </a:t>
            </a:r>
            <a:r>
              <a:rPr spc="-25" dirty="0"/>
              <a:t>would </a:t>
            </a:r>
            <a:r>
              <a:rPr spc="-20" dirty="0"/>
              <a:t>you</a:t>
            </a:r>
            <a:r>
              <a:rPr spc="-215" dirty="0"/>
              <a:t> </a:t>
            </a:r>
            <a:r>
              <a:rPr spc="20" dirty="0"/>
              <a:t>start?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3368420"/>
            <a:ext cx="7850505" cy="2528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0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might decompose the </a:t>
            </a:r>
            <a:r>
              <a:rPr sz="2400" spc="-5" dirty="0">
                <a:latin typeface="Perpetua"/>
                <a:cs typeface="Perpetua"/>
              </a:rPr>
              <a:t>task </a:t>
            </a:r>
            <a:r>
              <a:rPr sz="2400" dirty="0">
                <a:latin typeface="Perpetua"/>
                <a:cs typeface="Perpetua"/>
              </a:rPr>
              <a:t>into the </a:t>
            </a:r>
            <a:r>
              <a:rPr sz="2400" spc="-10" dirty="0">
                <a:latin typeface="Perpetua"/>
                <a:cs typeface="Perpetua"/>
              </a:rPr>
              <a:t>following</a:t>
            </a:r>
            <a:r>
              <a:rPr sz="2400" spc="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steps:</a:t>
            </a:r>
            <a:endParaRPr sz="2400">
              <a:latin typeface="Perpetua"/>
              <a:cs typeface="Perpetua"/>
            </a:endParaRPr>
          </a:p>
          <a:p>
            <a:pPr marL="260985" indent="-248920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261620" algn="l"/>
              </a:tabLst>
            </a:pPr>
            <a:r>
              <a:rPr sz="2400" spc="-75" dirty="0">
                <a:latin typeface="Perpetua"/>
                <a:cs typeface="Perpetua"/>
              </a:rPr>
              <a:t>Take </a:t>
            </a: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0" dirty="0">
                <a:latin typeface="Perpetua"/>
                <a:cs typeface="Perpetua"/>
              </a:rPr>
              <a:t>DVDs </a:t>
            </a:r>
            <a:r>
              <a:rPr sz="2400" dirty="0">
                <a:latin typeface="Perpetua"/>
                <a:cs typeface="Perpetua"/>
              </a:rPr>
              <a:t>off </a:t>
            </a:r>
            <a:r>
              <a:rPr sz="2400" spc="-10" dirty="0">
                <a:latin typeface="Perpetua"/>
                <a:cs typeface="Perpetua"/>
              </a:rPr>
              <a:t>your</a:t>
            </a:r>
            <a:r>
              <a:rPr sz="2400" spc="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shelf.</a:t>
            </a:r>
            <a:endParaRPr sz="2400">
              <a:latin typeface="Perpetua"/>
              <a:cs typeface="Perpetua"/>
            </a:endParaRPr>
          </a:p>
          <a:p>
            <a:pPr marL="297180" indent="-28511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297815" algn="l"/>
              </a:tabLst>
            </a:pPr>
            <a:r>
              <a:rPr sz="2400" spc="20" dirty="0">
                <a:latin typeface="Perpetua"/>
                <a:cs typeface="Perpetua"/>
              </a:rPr>
              <a:t>Sort </a:t>
            </a:r>
            <a:r>
              <a:rPr sz="2400" spc="-5" dirty="0">
                <a:latin typeface="Perpetua"/>
                <a:cs typeface="Perpetua"/>
              </a:rPr>
              <a:t>the </a:t>
            </a:r>
            <a:r>
              <a:rPr sz="2400" spc="-50" dirty="0">
                <a:latin typeface="Perpetua"/>
                <a:cs typeface="Perpetua"/>
              </a:rPr>
              <a:t>DVDs </a:t>
            </a:r>
            <a:r>
              <a:rPr sz="2400" dirty="0">
                <a:latin typeface="Perpetua"/>
                <a:cs typeface="Perpetua"/>
              </a:rPr>
              <a:t>into </a:t>
            </a:r>
            <a:r>
              <a:rPr sz="2400" spc="-5" dirty="0">
                <a:latin typeface="Perpetua"/>
                <a:cs typeface="Perpetua"/>
              </a:rPr>
              <a:t>piles </a:t>
            </a:r>
            <a:r>
              <a:rPr sz="2400" dirty="0">
                <a:latin typeface="Perpetua"/>
                <a:cs typeface="Perpetua"/>
              </a:rPr>
              <a:t>based on the </a:t>
            </a:r>
            <a:r>
              <a:rPr sz="2400" spc="5" dirty="0">
                <a:latin typeface="Perpetua"/>
                <a:cs typeface="Perpetua"/>
              </a:rPr>
              <a:t>first </a:t>
            </a:r>
            <a:r>
              <a:rPr sz="2400" spc="-5" dirty="0">
                <a:latin typeface="Perpetua"/>
                <a:cs typeface="Perpetua"/>
              </a:rPr>
              <a:t>letter </a:t>
            </a:r>
            <a:r>
              <a:rPr sz="2400" dirty="0">
                <a:latin typeface="Perpetua"/>
                <a:cs typeface="Perpetua"/>
              </a:rPr>
              <a:t>of the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title.</a:t>
            </a:r>
            <a:endParaRPr sz="2400">
              <a:latin typeface="Perpetua"/>
              <a:cs typeface="Perpetua"/>
            </a:endParaRPr>
          </a:p>
          <a:p>
            <a:pPr marL="297815" marR="5080" indent="-297815">
              <a:lnSpc>
                <a:spcPct val="80000"/>
              </a:lnSpc>
              <a:spcBef>
                <a:spcPts val="605"/>
              </a:spcBef>
              <a:buAutoNum type="arabicPeriod"/>
              <a:tabLst>
                <a:tab pos="297815" algn="l"/>
              </a:tabLst>
            </a:pPr>
            <a:r>
              <a:rPr sz="2400" spc="10" dirty="0">
                <a:latin typeface="Perpetua"/>
                <a:cs typeface="Perpetua"/>
              </a:rPr>
              <a:t>Start </a:t>
            </a:r>
            <a:r>
              <a:rPr sz="2400" spc="-5" dirty="0">
                <a:latin typeface="Perpetua"/>
                <a:cs typeface="Perpetua"/>
              </a:rPr>
              <a:t>with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'A' </a:t>
            </a:r>
            <a:r>
              <a:rPr sz="2400" spc="-10" dirty="0">
                <a:latin typeface="Perpetua"/>
                <a:cs typeface="Perpetua"/>
              </a:rPr>
              <a:t>pile. </a:t>
            </a:r>
            <a:r>
              <a:rPr sz="2400" spc="-5" dirty="0">
                <a:latin typeface="Perpetua"/>
                <a:cs typeface="Perpetua"/>
              </a:rPr>
              <a:t>Organize </a:t>
            </a:r>
            <a:r>
              <a:rPr sz="2400" dirty="0">
                <a:latin typeface="Perpetua"/>
                <a:cs typeface="Perpetua"/>
              </a:rPr>
              <a:t>this group into </a:t>
            </a:r>
            <a:r>
              <a:rPr sz="2400" spc="-5" dirty="0">
                <a:latin typeface="Perpetua"/>
                <a:cs typeface="Perpetua"/>
              </a:rPr>
              <a:t>alphabetical </a:t>
            </a:r>
            <a:r>
              <a:rPr sz="2400" dirty="0">
                <a:latin typeface="Perpetua"/>
                <a:cs typeface="Perpetua"/>
              </a:rPr>
              <a:t>order</a:t>
            </a:r>
            <a:r>
              <a:rPr sz="2400" spc="-165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by  </a:t>
            </a:r>
            <a:r>
              <a:rPr sz="2400" dirty="0">
                <a:latin typeface="Perpetua"/>
                <a:cs typeface="Perpetua"/>
              </a:rPr>
              <a:t>second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third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letters.</a:t>
            </a:r>
            <a:endParaRPr sz="2400">
              <a:latin typeface="Perpetua"/>
              <a:cs typeface="Perpetua"/>
            </a:endParaRPr>
          </a:p>
          <a:p>
            <a:pPr marL="297180" indent="-28511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297815" algn="l"/>
              </a:tabLst>
            </a:pPr>
            <a:r>
              <a:rPr sz="2400" dirty="0">
                <a:latin typeface="Perpetua"/>
                <a:cs typeface="Perpetua"/>
              </a:rPr>
              <a:t>Place </a:t>
            </a:r>
            <a:r>
              <a:rPr sz="2400" spc="-5" dirty="0">
                <a:latin typeface="Perpetua"/>
                <a:cs typeface="Perpetua"/>
              </a:rPr>
              <a:t>them </a:t>
            </a:r>
            <a:r>
              <a:rPr sz="2400" dirty="0">
                <a:latin typeface="Perpetua"/>
                <a:cs typeface="Perpetua"/>
              </a:rPr>
              <a:t>on the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shelf.</a:t>
            </a:r>
            <a:endParaRPr sz="2400">
              <a:latin typeface="Perpetua"/>
              <a:cs typeface="Perpetua"/>
            </a:endParaRPr>
          </a:p>
          <a:p>
            <a:pPr marL="297180" indent="-28511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297815" algn="l"/>
              </a:tabLst>
            </a:pPr>
            <a:r>
              <a:rPr sz="2400" spc="-10" dirty="0">
                <a:latin typeface="Perpetua"/>
                <a:cs typeface="Perpetua"/>
              </a:rPr>
              <a:t>Repeat </a:t>
            </a:r>
            <a:r>
              <a:rPr sz="2400" dirty="0">
                <a:latin typeface="Perpetua"/>
                <a:cs typeface="Perpetua"/>
              </a:rPr>
              <a:t>for the </a:t>
            </a:r>
            <a:r>
              <a:rPr sz="2400" spc="-10" dirty="0">
                <a:latin typeface="Perpetua"/>
                <a:cs typeface="Perpetua"/>
              </a:rPr>
              <a:t>rest </a:t>
            </a:r>
            <a:r>
              <a:rPr sz="2400" dirty="0">
                <a:latin typeface="Perpetua"/>
                <a:cs typeface="Perpetua"/>
              </a:rPr>
              <a:t>of the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alphabet.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2600" y="1417319"/>
            <a:ext cx="3733800" cy="19537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12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565785"/>
            <a:ext cx="8079740" cy="4456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Perpetua"/>
                <a:cs typeface="Perpetua"/>
              </a:rPr>
              <a:t>Imagine </a:t>
            </a:r>
            <a:r>
              <a:rPr sz="2800" b="1" spc="-30" dirty="0">
                <a:latin typeface="Perpetua"/>
                <a:cs typeface="Perpetua"/>
              </a:rPr>
              <a:t>you </a:t>
            </a:r>
            <a:r>
              <a:rPr sz="2800" b="1" spc="-10" dirty="0">
                <a:latin typeface="Perpetua"/>
                <a:cs typeface="Perpetua"/>
              </a:rPr>
              <a:t>want </a:t>
            </a:r>
            <a:r>
              <a:rPr sz="2800" b="1" spc="-5" dirty="0">
                <a:latin typeface="Perpetua"/>
                <a:cs typeface="Perpetua"/>
              </a:rPr>
              <a:t>to </a:t>
            </a:r>
            <a:r>
              <a:rPr sz="2800" b="1" spc="-15" dirty="0">
                <a:latin typeface="Perpetua"/>
                <a:cs typeface="Perpetua"/>
              </a:rPr>
              <a:t>create </a:t>
            </a:r>
            <a:r>
              <a:rPr sz="2800" b="1" spc="-5" dirty="0">
                <a:latin typeface="Perpetua"/>
                <a:cs typeface="Perpetua"/>
              </a:rPr>
              <a:t>a</a:t>
            </a:r>
            <a:r>
              <a:rPr sz="2800" b="1" spc="30" dirty="0">
                <a:latin typeface="Perpetua"/>
                <a:cs typeface="Perpetua"/>
              </a:rPr>
              <a:t> </a:t>
            </a:r>
            <a:r>
              <a:rPr sz="2800" b="1" spc="-10" dirty="0">
                <a:latin typeface="Perpetua"/>
                <a:cs typeface="Perpetua"/>
              </a:rPr>
              <a:t>Computer</a:t>
            </a:r>
            <a:endParaRPr sz="2800">
              <a:latin typeface="Perpetua"/>
              <a:cs typeface="Perpetua"/>
            </a:endParaRPr>
          </a:p>
          <a:p>
            <a:pPr marL="12700" marR="5080" indent="36195">
              <a:lnSpc>
                <a:spcPct val="100000"/>
              </a:lnSpc>
              <a:spcBef>
                <a:spcPts val="5"/>
              </a:spcBef>
            </a:pPr>
            <a:r>
              <a:rPr sz="2800" b="1" spc="-5" dirty="0">
                <a:latin typeface="Perpetua"/>
                <a:cs typeface="Perpetua"/>
              </a:rPr>
              <a:t>This is a </a:t>
            </a:r>
            <a:r>
              <a:rPr sz="2800" b="1" spc="-10" dirty="0">
                <a:latin typeface="Perpetua"/>
                <a:cs typeface="Perpetua"/>
              </a:rPr>
              <a:t>complex problem </a:t>
            </a:r>
            <a:r>
              <a:rPr sz="2800" b="1" spc="-5" dirty="0">
                <a:latin typeface="Perpetua"/>
                <a:cs typeface="Perpetua"/>
              </a:rPr>
              <a:t>- </a:t>
            </a:r>
            <a:r>
              <a:rPr sz="2800" b="1" spc="-10" dirty="0">
                <a:latin typeface="Perpetua"/>
                <a:cs typeface="Perpetua"/>
              </a:rPr>
              <a:t>there </a:t>
            </a:r>
            <a:r>
              <a:rPr sz="2800" b="1" dirty="0">
                <a:latin typeface="Perpetua"/>
                <a:cs typeface="Perpetua"/>
              </a:rPr>
              <a:t>are </a:t>
            </a:r>
            <a:r>
              <a:rPr sz="2800" b="1" spc="-5" dirty="0">
                <a:latin typeface="Perpetua"/>
                <a:cs typeface="Perpetua"/>
              </a:rPr>
              <a:t>lots of </a:t>
            </a:r>
            <a:r>
              <a:rPr sz="2800" b="1" spc="-10" dirty="0">
                <a:latin typeface="Perpetua"/>
                <a:cs typeface="Perpetua"/>
              </a:rPr>
              <a:t>things to  </a:t>
            </a:r>
            <a:r>
              <a:rPr sz="2800" b="1" spc="-30" dirty="0">
                <a:latin typeface="Perpetua"/>
                <a:cs typeface="Perpetua"/>
              </a:rPr>
              <a:t>consider.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1639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110" dirty="0">
                <a:latin typeface="Perpetua"/>
                <a:cs typeface="Perpetua"/>
              </a:rPr>
              <a:t>You </a:t>
            </a:r>
            <a:r>
              <a:rPr sz="2800" spc="-10" dirty="0">
                <a:latin typeface="Perpetua"/>
                <a:cs typeface="Perpetua"/>
              </a:rPr>
              <a:t>might </a:t>
            </a:r>
            <a:r>
              <a:rPr sz="2800" spc="-5" dirty="0">
                <a:latin typeface="Perpetua"/>
                <a:cs typeface="Perpetua"/>
              </a:rPr>
              <a:t>decompose the task into the </a:t>
            </a:r>
            <a:r>
              <a:rPr sz="2800" spc="-15" dirty="0">
                <a:latin typeface="Perpetua"/>
                <a:cs typeface="Perpetua"/>
              </a:rPr>
              <a:t>following</a:t>
            </a:r>
            <a:r>
              <a:rPr sz="2800" spc="15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steps: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10" dirty="0">
                <a:latin typeface="Perpetua"/>
                <a:cs typeface="Perpetua"/>
              </a:rPr>
              <a:t>Come </a:t>
            </a:r>
            <a:r>
              <a:rPr sz="2800" dirty="0">
                <a:latin typeface="Perpetua"/>
                <a:cs typeface="Perpetua"/>
              </a:rPr>
              <a:t>up </a:t>
            </a:r>
            <a:r>
              <a:rPr sz="2800" spc="-10" dirty="0">
                <a:latin typeface="Perpetua"/>
                <a:cs typeface="Perpetua"/>
              </a:rPr>
              <a:t>with </a:t>
            </a:r>
            <a:r>
              <a:rPr sz="2800" spc="-5" dirty="0">
                <a:latin typeface="Perpetua"/>
                <a:cs typeface="Perpetua"/>
              </a:rPr>
              <a:t>the idea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15" dirty="0">
                <a:latin typeface="Perpetua"/>
                <a:cs typeface="Perpetua"/>
              </a:rPr>
              <a:t>Create</a:t>
            </a:r>
            <a:r>
              <a:rPr sz="2800" spc="-1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graphics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dirty="0">
                <a:latin typeface="Perpetua"/>
                <a:cs typeface="Perpetua"/>
              </a:rPr>
              <a:t>Program </a:t>
            </a:r>
            <a:r>
              <a:rPr sz="2800" spc="10" dirty="0">
                <a:latin typeface="Perpetua"/>
                <a:cs typeface="Perpetua"/>
              </a:rPr>
              <a:t>each </a:t>
            </a:r>
            <a:r>
              <a:rPr sz="2800" spc="5" dirty="0">
                <a:latin typeface="Perpetua"/>
                <a:cs typeface="Perpetua"/>
              </a:rPr>
              <a:t>sprite </a:t>
            </a:r>
            <a:r>
              <a:rPr sz="2800" spc="-5" dirty="0">
                <a:latin typeface="Perpetua"/>
                <a:cs typeface="Perpetua"/>
              </a:rPr>
              <a:t>one </a:t>
            </a:r>
            <a:r>
              <a:rPr sz="2800" spc="-20" dirty="0">
                <a:latin typeface="Perpetua"/>
                <a:cs typeface="Perpetua"/>
              </a:rPr>
              <a:t>at </a:t>
            </a:r>
            <a:r>
              <a:rPr sz="2800" spc="-5" dirty="0">
                <a:latin typeface="Perpetua"/>
                <a:cs typeface="Perpetua"/>
              </a:rPr>
              <a:t>a</a:t>
            </a:r>
            <a:r>
              <a:rPr sz="2800" spc="-3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time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95" dirty="0">
                <a:latin typeface="Perpetua"/>
                <a:cs typeface="Perpetua"/>
              </a:rPr>
              <a:t>Test </a:t>
            </a:r>
            <a:r>
              <a:rPr sz="2800" spc="-20" dirty="0">
                <a:latin typeface="Perpetua"/>
                <a:cs typeface="Perpetua"/>
              </a:rPr>
              <a:t>your</a:t>
            </a:r>
            <a:r>
              <a:rPr sz="2800" spc="9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game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10" dirty="0">
                <a:latin typeface="Perpetua"/>
                <a:cs typeface="Perpetua"/>
              </a:rPr>
              <a:t>Debug </a:t>
            </a:r>
            <a:r>
              <a:rPr sz="2800" spc="-5" dirty="0">
                <a:latin typeface="Perpetua"/>
                <a:cs typeface="Perpetua"/>
              </a:rPr>
              <a:t>and </a:t>
            </a:r>
            <a:r>
              <a:rPr sz="2800" spc="-20" dirty="0">
                <a:latin typeface="Perpetua"/>
                <a:cs typeface="Perpetua"/>
              </a:rPr>
              <a:t>make</a:t>
            </a:r>
            <a:r>
              <a:rPr sz="2800" spc="10" dirty="0">
                <a:latin typeface="Perpetua"/>
                <a:cs typeface="Perpetua"/>
              </a:rPr>
              <a:t> </a:t>
            </a:r>
            <a:r>
              <a:rPr sz="2800" spc="-20" dirty="0">
                <a:latin typeface="Perpetua"/>
                <a:cs typeface="Perpetua"/>
              </a:rPr>
              <a:t>improvements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13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701166"/>
            <a:ext cx="8126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The game </a:t>
            </a:r>
            <a:r>
              <a:rPr sz="3600" spc="-20" dirty="0"/>
              <a:t>problem </a:t>
            </a:r>
            <a:r>
              <a:rPr sz="3600" dirty="0"/>
              <a:t>is </a:t>
            </a:r>
            <a:r>
              <a:rPr sz="3600" spc="-5" dirty="0"/>
              <a:t>decomposed </a:t>
            </a:r>
            <a:r>
              <a:rPr sz="3600" dirty="0"/>
              <a:t>into small</a:t>
            </a:r>
            <a:r>
              <a:rPr sz="3600" spc="-40" dirty="0"/>
              <a:t> </a:t>
            </a:r>
            <a:r>
              <a:rPr sz="3600" dirty="0"/>
              <a:t>task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524255" y="1447800"/>
            <a:ext cx="8095488" cy="502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14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7411084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Steps in </a:t>
            </a:r>
            <a:r>
              <a:rPr sz="3600" spc="-5" dirty="0"/>
              <a:t>decomposing </a:t>
            </a:r>
            <a:r>
              <a:rPr sz="3600" dirty="0"/>
              <a:t>the </a:t>
            </a:r>
            <a:r>
              <a:rPr sz="3600" spc="-5" dirty="0"/>
              <a:t>equation of </a:t>
            </a:r>
            <a:r>
              <a:rPr sz="3600" dirty="0"/>
              <a:t>finding  </a:t>
            </a:r>
            <a:r>
              <a:rPr sz="3600" spc="-10" dirty="0"/>
              <a:t>square roots </a:t>
            </a:r>
            <a:r>
              <a:rPr sz="3600" spc="-5" dirty="0"/>
              <a:t>of </a:t>
            </a:r>
            <a:r>
              <a:rPr sz="3600" dirty="0"/>
              <a:t>a </a:t>
            </a:r>
            <a:r>
              <a:rPr sz="3600" spc="-5" dirty="0"/>
              <a:t>quadratic</a:t>
            </a:r>
            <a:r>
              <a:rPr sz="3600" spc="-10" dirty="0"/>
              <a:t> </a:t>
            </a:r>
            <a:r>
              <a:rPr sz="3600" spc="-5" dirty="0"/>
              <a:t>equation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52400" y="1417318"/>
            <a:ext cx="8763000" cy="53263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15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6611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Decomposition </a:t>
            </a:r>
            <a:r>
              <a:rPr sz="3600" dirty="0"/>
              <a:t>– A </a:t>
            </a:r>
            <a:r>
              <a:rPr sz="3600" spc="-160" dirty="0"/>
              <a:t>Top </a:t>
            </a:r>
            <a:r>
              <a:rPr sz="3600" spc="-30" dirty="0"/>
              <a:t>Down</a:t>
            </a:r>
            <a:r>
              <a:rPr sz="3600" spc="-570" dirty="0"/>
              <a:t> </a:t>
            </a:r>
            <a:r>
              <a:rPr sz="3600" dirty="0"/>
              <a:t>approach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5857776" y="1482064"/>
            <a:ext cx="2829502" cy="397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1000" y="1219200"/>
            <a:ext cx="4910842" cy="43783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1281430"/>
            <a:ext cx="8607425" cy="405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5" dirty="0">
                <a:latin typeface="Perpetua"/>
                <a:cs typeface="Perpetua"/>
              </a:rPr>
              <a:t>Imagine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want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create </a:t>
            </a:r>
            <a:r>
              <a:rPr sz="2600" spc="-15" dirty="0">
                <a:latin typeface="Perpetua"/>
                <a:cs typeface="Perpetua"/>
              </a:rPr>
              <a:t>your </a:t>
            </a:r>
            <a:r>
              <a:rPr sz="2600" spc="10" dirty="0">
                <a:latin typeface="Perpetua"/>
                <a:cs typeface="Perpetua"/>
              </a:rPr>
              <a:t>first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app.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321945" indent="-30988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600" dirty="0">
                <a:latin typeface="Perpetua"/>
                <a:cs typeface="Perpetua"/>
              </a:rPr>
              <a:t>This is a </a:t>
            </a:r>
            <a:r>
              <a:rPr sz="2600" spc="-5" dirty="0">
                <a:latin typeface="Perpetua"/>
                <a:cs typeface="Perpetua"/>
              </a:rPr>
              <a:t>complex </a:t>
            </a:r>
            <a:r>
              <a:rPr sz="2600" spc="-15" dirty="0">
                <a:latin typeface="Perpetua"/>
                <a:cs typeface="Perpetua"/>
              </a:rPr>
              <a:t>problem </a:t>
            </a:r>
            <a:r>
              <a:rPr sz="2600" dirty="0">
                <a:latin typeface="Perpetua"/>
                <a:cs typeface="Perpetua"/>
              </a:rPr>
              <a:t>- </a:t>
            </a:r>
            <a:r>
              <a:rPr sz="2600" spc="-5" dirty="0">
                <a:latin typeface="Perpetua"/>
                <a:cs typeface="Perpetua"/>
              </a:rPr>
              <a:t>there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lots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-5" dirty="0">
                <a:latin typeface="Perpetua"/>
                <a:cs typeface="Perpetua"/>
              </a:rPr>
              <a:t>things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consider.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75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Once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decomposed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complex </a:t>
            </a:r>
            <a:r>
              <a:rPr sz="2600" spc="-10" dirty="0">
                <a:latin typeface="Perpetua"/>
                <a:cs typeface="Perpetua"/>
              </a:rPr>
              <a:t>problem, </a:t>
            </a:r>
            <a:r>
              <a:rPr sz="2600" dirty="0">
                <a:latin typeface="Perpetua"/>
                <a:cs typeface="Perpetua"/>
              </a:rPr>
              <a:t>it helps </a:t>
            </a:r>
            <a:r>
              <a:rPr sz="2600" spc="-5" dirty="0">
                <a:latin typeface="Perpetua"/>
                <a:cs typeface="Perpetua"/>
              </a:rPr>
              <a:t>to examine  </a:t>
            </a:r>
            <a:r>
              <a:rPr sz="2600" dirty="0">
                <a:latin typeface="Perpetua"/>
                <a:cs typeface="Perpetua"/>
              </a:rPr>
              <a:t>the small </a:t>
            </a:r>
            <a:r>
              <a:rPr sz="2600" spc="-10" dirty="0">
                <a:latin typeface="Perpetua"/>
                <a:cs typeface="Perpetua"/>
              </a:rPr>
              <a:t>problems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similarities </a:t>
            </a:r>
            <a:r>
              <a:rPr sz="2600" spc="-5" dirty="0">
                <a:latin typeface="Perpetua"/>
                <a:cs typeface="Perpetua"/>
              </a:rPr>
              <a:t>or</a:t>
            </a:r>
            <a:r>
              <a:rPr sz="2600" spc="-2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‘patterns’.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"/>
            </a:pPr>
            <a:endParaRPr sz="375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5"/>
              </a:spcBef>
              <a:buSzPct val="84615"/>
              <a:buFont typeface="Wingdings"/>
              <a:buChar char=""/>
              <a:tabLst>
                <a:tab pos="287020" algn="l"/>
                <a:tab pos="1193800" algn="l"/>
                <a:tab pos="2371725" algn="l"/>
                <a:tab pos="2975610" algn="l"/>
                <a:tab pos="3690620" algn="l"/>
                <a:tab pos="4150360" algn="l"/>
                <a:tab pos="4603750" algn="l"/>
                <a:tab pos="5408295" algn="l"/>
                <a:tab pos="6644640" algn="l"/>
                <a:tab pos="7959725" algn="l"/>
              </a:tabLst>
            </a:pP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0" dirty="0">
                <a:latin typeface="Perpetua"/>
                <a:cs typeface="Perpetua"/>
              </a:rPr>
              <a:t>s</a:t>
            </a:r>
            <a:r>
              <a:rPr sz="2600" dirty="0">
                <a:latin typeface="Perpetua"/>
                <a:cs typeface="Perpetua"/>
              </a:rPr>
              <a:t>e	p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-1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7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ns	c</a:t>
            </a:r>
            <a:r>
              <a:rPr sz="2600" spc="-1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n	</a:t>
            </a:r>
            <a:r>
              <a:rPr sz="2600" spc="-5" dirty="0">
                <a:latin typeface="Perpetua"/>
                <a:cs typeface="Perpetua"/>
              </a:rPr>
              <a:t>hel</a:t>
            </a:r>
            <a:r>
              <a:rPr sz="2600" dirty="0">
                <a:latin typeface="Perpetua"/>
                <a:cs typeface="Perpetua"/>
              </a:rPr>
              <a:t>p	</a:t>
            </a:r>
            <a:r>
              <a:rPr sz="2600" spc="-5" dirty="0">
                <a:latin typeface="Perpetua"/>
                <a:cs typeface="Perpetua"/>
              </a:rPr>
              <a:t>u</a:t>
            </a:r>
            <a:r>
              <a:rPr sz="2600" dirty="0">
                <a:latin typeface="Perpetua"/>
                <a:cs typeface="Perpetua"/>
              </a:rPr>
              <a:t>s	</a:t>
            </a:r>
            <a:r>
              <a:rPr sz="2600" spc="-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sol</a:t>
            </a:r>
            <a:r>
              <a:rPr sz="2600" spc="-60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e	c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spc="-5" dirty="0">
                <a:latin typeface="Perpetua"/>
                <a:cs typeface="Perpetua"/>
              </a:rPr>
              <a:t>mple</a:t>
            </a:r>
            <a:r>
              <a:rPr sz="2600" dirty="0">
                <a:latin typeface="Perpetua"/>
                <a:cs typeface="Perpetua"/>
              </a:rPr>
              <a:t>x	p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-45" dirty="0">
                <a:latin typeface="Perpetua"/>
                <a:cs typeface="Perpetua"/>
              </a:rPr>
              <a:t>b</a:t>
            </a:r>
            <a:r>
              <a:rPr sz="2600" spc="-5" dirty="0">
                <a:latin typeface="Perpetua"/>
                <a:cs typeface="Perpetua"/>
              </a:rPr>
              <a:t>lem</a:t>
            </a:r>
            <a:r>
              <a:rPr sz="2600" dirty="0">
                <a:latin typeface="Perpetua"/>
                <a:cs typeface="Perpetua"/>
              </a:rPr>
              <a:t>s	</a:t>
            </a:r>
            <a:r>
              <a:rPr sz="2600" spc="-5" dirty="0">
                <a:latin typeface="Perpetua"/>
                <a:cs typeface="Perpetua"/>
              </a:rPr>
              <a:t>mo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  </a:t>
            </a:r>
            <a:r>
              <a:rPr sz="2600" spc="-30" dirty="0">
                <a:latin typeface="Perpetua"/>
                <a:cs typeface="Perpetua"/>
              </a:rPr>
              <a:t>efficiently.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17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182626"/>
            <a:ext cx="30899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Perpetua"/>
                <a:cs typeface="Perpetua"/>
              </a:rPr>
              <a:t>Creating </a:t>
            </a:r>
            <a:r>
              <a:rPr sz="3600" b="1" spc="-5" dirty="0">
                <a:latin typeface="Perpetua"/>
                <a:cs typeface="Perpetua"/>
              </a:rPr>
              <a:t>an</a:t>
            </a:r>
            <a:r>
              <a:rPr sz="3600" b="1" spc="-60" dirty="0">
                <a:latin typeface="Perpetua"/>
                <a:cs typeface="Perpetua"/>
              </a:rPr>
              <a:t> </a:t>
            </a:r>
            <a:r>
              <a:rPr sz="3600" b="1" spc="-25" dirty="0">
                <a:latin typeface="Perpetua"/>
                <a:cs typeface="Perpetua"/>
              </a:rPr>
              <a:t>app</a:t>
            </a:r>
            <a:endParaRPr sz="3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629158"/>
            <a:ext cx="8604885" cy="5683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Perpetua"/>
                <a:cs typeface="Perpetua"/>
              </a:rPr>
              <a:t>Solution:</a:t>
            </a:r>
            <a:endParaRPr sz="2200">
              <a:latin typeface="Perpetua"/>
              <a:cs typeface="Perpetua"/>
            </a:endParaRPr>
          </a:p>
          <a:p>
            <a:pPr marL="286385" marR="5715" indent="-274320">
              <a:lnSpc>
                <a:spcPct val="80000"/>
              </a:lnSpc>
              <a:spcBef>
                <a:spcPts val="600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150" dirty="0">
                <a:latin typeface="Perpetua"/>
                <a:cs typeface="Perpetua"/>
              </a:rPr>
              <a:t>To</a:t>
            </a:r>
            <a:r>
              <a:rPr sz="2200" spc="-150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200" b="1" u="heavy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3"/>
              </a:rPr>
              <a:t>decompose</a:t>
            </a:r>
            <a:r>
              <a:rPr sz="2200" b="1" spc="-5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this task, </a:t>
            </a:r>
            <a:r>
              <a:rPr sz="2200" spc="-15" dirty="0">
                <a:latin typeface="Perpetua"/>
                <a:cs typeface="Perpetua"/>
              </a:rPr>
              <a:t>you </a:t>
            </a:r>
            <a:r>
              <a:rPr sz="2200" spc="-20" dirty="0">
                <a:latin typeface="Perpetua"/>
                <a:cs typeface="Perpetua"/>
              </a:rPr>
              <a:t>would </a:t>
            </a:r>
            <a:r>
              <a:rPr sz="2200" dirty="0">
                <a:latin typeface="Perpetua"/>
                <a:cs typeface="Perpetua"/>
              </a:rPr>
              <a:t>need to </a:t>
            </a:r>
            <a:r>
              <a:rPr sz="2200" spc="-20" dirty="0">
                <a:latin typeface="Perpetua"/>
                <a:cs typeface="Perpetua"/>
              </a:rPr>
              <a:t>know </a:t>
            </a:r>
            <a:r>
              <a:rPr sz="2200" spc="-5" dirty="0">
                <a:latin typeface="Perpetua"/>
                <a:cs typeface="Perpetua"/>
              </a:rPr>
              <a:t>the </a:t>
            </a:r>
            <a:r>
              <a:rPr sz="2200" spc="-25" dirty="0">
                <a:latin typeface="Perpetua"/>
                <a:cs typeface="Perpetua"/>
              </a:rPr>
              <a:t>answer </a:t>
            </a:r>
            <a:r>
              <a:rPr sz="2200" spc="-10" dirty="0">
                <a:latin typeface="Perpetua"/>
                <a:cs typeface="Perpetua"/>
              </a:rPr>
              <a:t>to </a:t>
            </a:r>
            <a:r>
              <a:rPr sz="2200" spc="-5" dirty="0">
                <a:latin typeface="Perpetua"/>
                <a:cs typeface="Perpetua"/>
              </a:rPr>
              <a:t>a </a:t>
            </a:r>
            <a:r>
              <a:rPr sz="2200" spc="5" dirty="0">
                <a:latin typeface="Perpetua"/>
                <a:cs typeface="Perpetua"/>
              </a:rPr>
              <a:t>series </a:t>
            </a:r>
            <a:r>
              <a:rPr sz="2200" spc="-5" dirty="0">
                <a:latin typeface="Perpetua"/>
                <a:cs typeface="Perpetua"/>
              </a:rPr>
              <a:t>of  smaller</a:t>
            </a:r>
            <a:r>
              <a:rPr sz="2200" spc="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problems:</a:t>
            </a:r>
            <a:endParaRPr sz="2200">
              <a:latin typeface="Perpetua"/>
              <a:cs typeface="Perpetua"/>
            </a:endParaRPr>
          </a:p>
          <a:p>
            <a:pPr marL="561340" lvl="1" indent="-228600">
              <a:lnSpc>
                <a:spcPts val="2455"/>
              </a:lnSpc>
              <a:buSzPct val="84090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200" spc="-10" dirty="0">
                <a:latin typeface="Perpetua"/>
                <a:cs typeface="Perpetua"/>
              </a:rPr>
              <a:t>what </a:t>
            </a:r>
            <a:r>
              <a:rPr sz="2200" spc="-5" dirty="0">
                <a:latin typeface="Perpetua"/>
                <a:cs typeface="Perpetua"/>
              </a:rPr>
              <a:t>kind of app </a:t>
            </a:r>
            <a:r>
              <a:rPr sz="2200" spc="-20" dirty="0">
                <a:latin typeface="Perpetua"/>
                <a:cs typeface="Perpetua"/>
              </a:rPr>
              <a:t>you </a:t>
            </a:r>
            <a:r>
              <a:rPr sz="2200" spc="-15" dirty="0">
                <a:latin typeface="Perpetua"/>
                <a:cs typeface="Perpetua"/>
              </a:rPr>
              <a:t>want </a:t>
            </a:r>
            <a:r>
              <a:rPr sz="2200" spc="-10" dirty="0">
                <a:latin typeface="Perpetua"/>
                <a:cs typeface="Perpetua"/>
              </a:rPr>
              <a:t>to</a:t>
            </a:r>
            <a:r>
              <a:rPr sz="2200" spc="114" dirty="0">
                <a:latin typeface="Perpetua"/>
                <a:cs typeface="Perpetua"/>
              </a:rPr>
              <a:t> </a:t>
            </a:r>
            <a:r>
              <a:rPr sz="2200" spc="-15" dirty="0">
                <a:latin typeface="Perpetua"/>
                <a:cs typeface="Perpetua"/>
              </a:rPr>
              <a:t>create</a:t>
            </a:r>
            <a:endParaRPr sz="2200">
              <a:latin typeface="Perpetua"/>
              <a:cs typeface="Perpetua"/>
            </a:endParaRPr>
          </a:p>
          <a:p>
            <a:pPr marL="561340" lvl="1" indent="-228600">
              <a:lnSpc>
                <a:spcPts val="2510"/>
              </a:lnSpc>
              <a:buSzPct val="84090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200" spc="-10" dirty="0">
                <a:latin typeface="Perpetua"/>
                <a:cs typeface="Perpetua"/>
              </a:rPr>
              <a:t>what </a:t>
            </a:r>
            <a:r>
              <a:rPr sz="2200" spc="-15" dirty="0">
                <a:latin typeface="Perpetua"/>
                <a:cs typeface="Perpetua"/>
              </a:rPr>
              <a:t>your </a:t>
            </a:r>
            <a:r>
              <a:rPr sz="2200" spc="-5" dirty="0">
                <a:latin typeface="Perpetua"/>
                <a:cs typeface="Perpetua"/>
              </a:rPr>
              <a:t>app will look</a:t>
            </a:r>
            <a:r>
              <a:rPr sz="2200" spc="60" dirty="0">
                <a:latin typeface="Perpetua"/>
                <a:cs typeface="Perpetua"/>
              </a:rPr>
              <a:t> </a:t>
            </a:r>
            <a:r>
              <a:rPr sz="2200" spc="-15" dirty="0">
                <a:latin typeface="Perpetua"/>
                <a:cs typeface="Perpetua"/>
              </a:rPr>
              <a:t>like</a:t>
            </a:r>
            <a:endParaRPr sz="2200">
              <a:latin typeface="Perpetua"/>
              <a:cs typeface="Perpetua"/>
            </a:endParaRPr>
          </a:p>
          <a:p>
            <a:pPr marL="561340" lvl="1" indent="-228600">
              <a:lnSpc>
                <a:spcPts val="2515"/>
              </a:lnSpc>
              <a:buSzPct val="84090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200" spc="-5" dirty="0">
                <a:latin typeface="Perpetua"/>
                <a:cs typeface="Perpetua"/>
              </a:rPr>
              <a:t>who the target audience for </a:t>
            </a:r>
            <a:r>
              <a:rPr sz="2200" spc="-15" dirty="0">
                <a:latin typeface="Perpetua"/>
                <a:cs typeface="Perpetua"/>
              </a:rPr>
              <a:t>your </a:t>
            </a:r>
            <a:r>
              <a:rPr sz="2200" spc="-5" dirty="0">
                <a:latin typeface="Perpetua"/>
                <a:cs typeface="Perpetua"/>
              </a:rPr>
              <a:t>app</a:t>
            </a:r>
            <a:r>
              <a:rPr sz="2200" spc="12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is</a:t>
            </a:r>
            <a:endParaRPr sz="2200">
              <a:latin typeface="Perpetua"/>
              <a:cs typeface="Perpetua"/>
            </a:endParaRPr>
          </a:p>
          <a:p>
            <a:pPr marL="561340" lvl="1" indent="-228600">
              <a:lnSpc>
                <a:spcPts val="2515"/>
              </a:lnSpc>
              <a:buSzPct val="84090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200" spc="-10" dirty="0">
                <a:latin typeface="Perpetua"/>
                <a:cs typeface="Perpetua"/>
              </a:rPr>
              <a:t>what </a:t>
            </a:r>
            <a:r>
              <a:rPr sz="2200" spc="-15" dirty="0">
                <a:latin typeface="Perpetua"/>
                <a:cs typeface="Perpetua"/>
              </a:rPr>
              <a:t>your </a:t>
            </a:r>
            <a:r>
              <a:rPr sz="2200" spc="-5" dirty="0">
                <a:latin typeface="Perpetua"/>
                <a:cs typeface="Perpetua"/>
              </a:rPr>
              <a:t>graphics will </a:t>
            </a:r>
            <a:r>
              <a:rPr sz="2200" spc="-10" dirty="0">
                <a:latin typeface="Perpetua"/>
                <a:cs typeface="Perpetua"/>
              </a:rPr>
              <a:t>look</a:t>
            </a:r>
            <a:r>
              <a:rPr sz="2200" spc="75" dirty="0">
                <a:latin typeface="Perpetua"/>
                <a:cs typeface="Perpetua"/>
              </a:rPr>
              <a:t> </a:t>
            </a:r>
            <a:r>
              <a:rPr sz="2200" spc="-15" dirty="0">
                <a:latin typeface="Perpetua"/>
                <a:cs typeface="Perpetua"/>
              </a:rPr>
              <a:t>like</a:t>
            </a:r>
            <a:endParaRPr sz="2200">
              <a:latin typeface="Perpetua"/>
              <a:cs typeface="Perpetua"/>
            </a:endParaRPr>
          </a:p>
          <a:p>
            <a:pPr marL="561340" lvl="1" indent="-228600">
              <a:lnSpc>
                <a:spcPts val="2510"/>
              </a:lnSpc>
              <a:buSzPct val="84090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200" spc="-10" dirty="0">
                <a:latin typeface="Perpetua"/>
                <a:cs typeface="Perpetua"/>
              </a:rPr>
              <a:t>what </a:t>
            </a:r>
            <a:r>
              <a:rPr sz="2200" spc="-5" dirty="0">
                <a:latin typeface="Perpetua"/>
                <a:cs typeface="Perpetua"/>
              </a:rPr>
              <a:t>audio </a:t>
            </a:r>
            <a:r>
              <a:rPr sz="2200" spc="-20" dirty="0">
                <a:latin typeface="Perpetua"/>
                <a:cs typeface="Perpetua"/>
              </a:rPr>
              <a:t>you </a:t>
            </a:r>
            <a:r>
              <a:rPr sz="2200" spc="-5" dirty="0">
                <a:latin typeface="Perpetua"/>
                <a:cs typeface="Perpetua"/>
              </a:rPr>
              <a:t>will</a:t>
            </a:r>
            <a:r>
              <a:rPr sz="2200" spc="4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include</a:t>
            </a:r>
            <a:endParaRPr sz="2200">
              <a:latin typeface="Perpetua"/>
              <a:cs typeface="Perpetua"/>
            </a:endParaRPr>
          </a:p>
          <a:p>
            <a:pPr marL="561340" lvl="1" indent="-228600">
              <a:lnSpc>
                <a:spcPts val="2515"/>
              </a:lnSpc>
              <a:buSzPct val="84090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200" spc="-10" dirty="0">
                <a:latin typeface="Perpetua"/>
                <a:cs typeface="Perpetua"/>
              </a:rPr>
              <a:t>what software </a:t>
            </a:r>
            <a:r>
              <a:rPr sz="2200" spc="-20" dirty="0">
                <a:latin typeface="Perpetua"/>
                <a:cs typeface="Perpetua"/>
              </a:rPr>
              <a:t>you </a:t>
            </a:r>
            <a:r>
              <a:rPr sz="2200" spc="-5" dirty="0">
                <a:latin typeface="Perpetua"/>
                <a:cs typeface="Perpetua"/>
              </a:rPr>
              <a:t>will use </a:t>
            </a:r>
            <a:r>
              <a:rPr sz="2200" spc="-10" dirty="0">
                <a:latin typeface="Perpetua"/>
                <a:cs typeface="Perpetua"/>
              </a:rPr>
              <a:t>to build </a:t>
            </a:r>
            <a:r>
              <a:rPr sz="2200" spc="-15" dirty="0">
                <a:latin typeface="Perpetua"/>
                <a:cs typeface="Perpetua"/>
              </a:rPr>
              <a:t>your</a:t>
            </a:r>
            <a:r>
              <a:rPr sz="2200" spc="14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app</a:t>
            </a:r>
            <a:endParaRPr sz="2200">
              <a:latin typeface="Perpetua"/>
              <a:cs typeface="Perpetua"/>
            </a:endParaRPr>
          </a:p>
          <a:p>
            <a:pPr marL="561340" lvl="1" indent="-228600">
              <a:lnSpc>
                <a:spcPts val="2515"/>
              </a:lnSpc>
              <a:buSzPct val="84090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200" spc="-25" dirty="0">
                <a:latin typeface="Perpetua"/>
                <a:cs typeface="Perpetua"/>
              </a:rPr>
              <a:t>how </a:t>
            </a:r>
            <a:r>
              <a:rPr sz="2200" spc="-5" dirty="0">
                <a:latin typeface="Perpetua"/>
                <a:cs typeface="Perpetua"/>
              </a:rPr>
              <a:t>the user will </a:t>
            </a:r>
            <a:r>
              <a:rPr sz="2200" spc="-15" dirty="0">
                <a:latin typeface="Perpetua"/>
                <a:cs typeface="Perpetua"/>
              </a:rPr>
              <a:t>navigate your</a:t>
            </a:r>
            <a:r>
              <a:rPr sz="2200" spc="7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app</a:t>
            </a:r>
            <a:endParaRPr sz="2200">
              <a:latin typeface="Perpetua"/>
              <a:cs typeface="Perpetua"/>
            </a:endParaRPr>
          </a:p>
          <a:p>
            <a:pPr marL="561340" lvl="1" indent="-228600">
              <a:lnSpc>
                <a:spcPts val="2510"/>
              </a:lnSpc>
              <a:buSzPct val="84090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200" spc="-25" dirty="0">
                <a:latin typeface="Perpetua"/>
                <a:cs typeface="Perpetua"/>
              </a:rPr>
              <a:t>how </a:t>
            </a:r>
            <a:r>
              <a:rPr sz="2200" spc="-20" dirty="0">
                <a:latin typeface="Perpetua"/>
                <a:cs typeface="Perpetua"/>
              </a:rPr>
              <a:t>you </a:t>
            </a:r>
            <a:r>
              <a:rPr sz="2200" spc="-5" dirty="0">
                <a:latin typeface="Perpetua"/>
                <a:cs typeface="Perpetua"/>
              </a:rPr>
              <a:t>will test </a:t>
            </a:r>
            <a:r>
              <a:rPr sz="2200" spc="-15" dirty="0">
                <a:latin typeface="Perpetua"/>
                <a:cs typeface="Perpetua"/>
              </a:rPr>
              <a:t>your</a:t>
            </a:r>
            <a:r>
              <a:rPr sz="2200" spc="8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app</a:t>
            </a:r>
            <a:endParaRPr sz="2200">
              <a:latin typeface="Perpetua"/>
              <a:cs typeface="Perpetua"/>
            </a:endParaRPr>
          </a:p>
          <a:p>
            <a:pPr marL="561340" lvl="1" indent="-228600">
              <a:lnSpc>
                <a:spcPts val="2575"/>
              </a:lnSpc>
              <a:buSzPct val="84090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200" spc="-10" dirty="0">
                <a:latin typeface="Perpetua"/>
                <a:cs typeface="Perpetua"/>
              </a:rPr>
              <a:t>where </a:t>
            </a:r>
            <a:r>
              <a:rPr sz="2200" spc="-20" dirty="0">
                <a:latin typeface="Perpetua"/>
                <a:cs typeface="Perpetua"/>
              </a:rPr>
              <a:t>you </a:t>
            </a:r>
            <a:r>
              <a:rPr sz="2200" spc="-5" dirty="0">
                <a:latin typeface="Perpetua"/>
                <a:cs typeface="Perpetua"/>
              </a:rPr>
              <a:t>will sell </a:t>
            </a:r>
            <a:r>
              <a:rPr sz="2200" spc="-15" dirty="0">
                <a:latin typeface="Perpetua"/>
                <a:cs typeface="Perpetua"/>
              </a:rPr>
              <a:t>your</a:t>
            </a:r>
            <a:r>
              <a:rPr sz="2200" spc="6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app</a:t>
            </a:r>
            <a:endParaRPr sz="2200">
              <a:latin typeface="Perpetua"/>
              <a:cs typeface="Perpetua"/>
            </a:endParaRPr>
          </a:p>
          <a:p>
            <a:pPr marL="286385" marR="5715" indent="-274320">
              <a:lnSpc>
                <a:spcPct val="80000"/>
              </a:lnSpc>
              <a:spcBef>
                <a:spcPts val="605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5" dirty="0">
                <a:latin typeface="Perpetua"/>
                <a:cs typeface="Perpetua"/>
              </a:rPr>
              <a:t>This list has </a:t>
            </a:r>
            <a:r>
              <a:rPr sz="2200" spc="-10" dirty="0">
                <a:latin typeface="Perpetua"/>
                <a:cs typeface="Perpetua"/>
              </a:rPr>
              <a:t>broken </a:t>
            </a:r>
            <a:r>
              <a:rPr sz="2200" spc="-15" dirty="0">
                <a:latin typeface="Perpetua"/>
                <a:cs typeface="Perpetua"/>
              </a:rPr>
              <a:t>down </a:t>
            </a:r>
            <a:r>
              <a:rPr sz="2200" spc="-5" dirty="0">
                <a:latin typeface="Perpetua"/>
                <a:cs typeface="Perpetua"/>
              </a:rPr>
              <a:t>the complex </a:t>
            </a:r>
            <a:r>
              <a:rPr sz="2200" spc="-10" dirty="0">
                <a:latin typeface="Perpetua"/>
                <a:cs typeface="Perpetua"/>
              </a:rPr>
              <a:t>problem </a:t>
            </a:r>
            <a:r>
              <a:rPr sz="2200" spc="-5" dirty="0">
                <a:latin typeface="Perpetua"/>
                <a:cs typeface="Perpetua"/>
              </a:rPr>
              <a:t>of </a:t>
            </a:r>
            <a:r>
              <a:rPr sz="2200" spc="-10" dirty="0">
                <a:latin typeface="Perpetua"/>
                <a:cs typeface="Perpetua"/>
              </a:rPr>
              <a:t>creating </a:t>
            </a:r>
            <a:r>
              <a:rPr sz="2200" spc="-5" dirty="0">
                <a:latin typeface="Perpetua"/>
                <a:cs typeface="Perpetua"/>
              </a:rPr>
              <a:t>an app </a:t>
            </a:r>
            <a:r>
              <a:rPr sz="2200" dirty="0">
                <a:latin typeface="Perpetua"/>
                <a:cs typeface="Perpetua"/>
              </a:rPr>
              <a:t>into much  </a:t>
            </a:r>
            <a:r>
              <a:rPr sz="2200" spc="-5" dirty="0">
                <a:latin typeface="Perpetua"/>
                <a:cs typeface="Perpetua"/>
              </a:rPr>
              <a:t>simpler </a:t>
            </a:r>
            <a:r>
              <a:rPr sz="2200" spc="-15" dirty="0">
                <a:latin typeface="Perpetua"/>
                <a:cs typeface="Perpetua"/>
              </a:rPr>
              <a:t>problems that </a:t>
            </a:r>
            <a:r>
              <a:rPr sz="2200" spc="-5" dirty="0">
                <a:latin typeface="Perpetua"/>
                <a:cs typeface="Perpetua"/>
              </a:rPr>
              <a:t>can </a:t>
            </a:r>
            <a:r>
              <a:rPr sz="2200" spc="-25" dirty="0">
                <a:latin typeface="Perpetua"/>
                <a:cs typeface="Perpetua"/>
              </a:rPr>
              <a:t>now </a:t>
            </a:r>
            <a:r>
              <a:rPr sz="2200" spc="-5" dirty="0">
                <a:latin typeface="Perpetua"/>
                <a:cs typeface="Perpetua"/>
              </a:rPr>
              <a:t>be </a:t>
            </a:r>
            <a:r>
              <a:rPr sz="2200" spc="-25" dirty="0">
                <a:latin typeface="Perpetua"/>
                <a:cs typeface="Perpetua"/>
              </a:rPr>
              <a:t>worked</a:t>
            </a:r>
            <a:r>
              <a:rPr sz="2200" spc="16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out.</a:t>
            </a:r>
            <a:endParaRPr sz="2200">
              <a:latin typeface="Perpetua"/>
              <a:cs typeface="Perpetua"/>
            </a:endParaRPr>
          </a:p>
          <a:p>
            <a:pPr marL="286385" marR="5080" indent="-274320">
              <a:lnSpc>
                <a:spcPct val="80000"/>
              </a:lnSpc>
              <a:spcBef>
                <a:spcPts val="600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85" dirty="0">
                <a:latin typeface="Perpetua"/>
                <a:cs typeface="Perpetua"/>
              </a:rPr>
              <a:t>You </a:t>
            </a:r>
            <a:r>
              <a:rPr sz="2200" spc="-30" dirty="0">
                <a:latin typeface="Perpetua"/>
                <a:cs typeface="Perpetua"/>
              </a:rPr>
              <a:t>may </a:t>
            </a:r>
            <a:r>
              <a:rPr sz="2200" spc="-5" dirty="0">
                <a:latin typeface="Perpetua"/>
                <a:cs typeface="Perpetua"/>
              </a:rPr>
              <a:t>also be </a:t>
            </a:r>
            <a:r>
              <a:rPr sz="2200" spc="-15" dirty="0">
                <a:latin typeface="Perpetua"/>
                <a:cs typeface="Perpetua"/>
              </a:rPr>
              <a:t>able </a:t>
            </a:r>
            <a:r>
              <a:rPr sz="2200" dirty="0">
                <a:latin typeface="Perpetua"/>
                <a:cs typeface="Perpetua"/>
              </a:rPr>
              <a:t>to </a:t>
            </a:r>
            <a:r>
              <a:rPr sz="2200" spc="-5" dirty="0">
                <a:latin typeface="Perpetua"/>
                <a:cs typeface="Perpetua"/>
              </a:rPr>
              <a:t>get other people </a:t>
            </a:r>
            <a:r>
              <a:rPr sz="2200" spc="-10" dirty="0">
                <a:latin typeface="Perpetua"/>
                <a:cs typeface="Perpetua"/>
              </a:rPr>
              <a:t>to </a:t>
            </a:r>
            <a:r>
              <a:rPr sz="2200" spc="-5" dirty="0">
                <a:latin typeface="Perpetua"/>
                <a:cs typeface="Perpetua"/>
              </a:rPr>
              <a:t>help </a:t>
            </a:r>
            <a:r>
              <a:rPr sz="2200" spc="-15" dirty="0">
                <a:latin typeface="Perpetua"/>
                <a:cs typeface="Perpetua"/>
              </a:rPr>
              <a:t>you </a:t>
            </a:r>
            <a:r>
              <a:rPr sz="2200" dirty="0">
                <a:latin typeface="Perpetua"/>
                <a:cs typeface="Perpetua"/>
              </a:rPr>
              <a:t>with </a:t>
            </a:r>
            <a:r>
              <a:rPr sz="2200" spc="-5" dirty="0">
                <a:latin typeface="Perpetua"/>
                <a:cs typeface="Perpetua"/>
              </a:rPr>
              <a:t>different individual  </a:t>
            </a:r>
            <a:r>
              <a:rPr sz="2200" spc="10" dirty="0">
                <a:latin typeface="Perpetua"/>
                <a:cs typeface="Perpetua"/>
              </a:rPr>
              <a:t>parts </a:t>
            </a:r>
            <a:r>
              <a:rPr sz="2200" spc="-5" dirty="0">
                <a:latin typeface="Perpetua"/>
                <a:cs typeface="Perpetua"/>
              </a:rPr>
              <a:t>of the</a:t>
            </a:r>
            <a:r>
              <a:rPr sz="2200" spc="20" dirty="0">
                <a:latin typeface="Perpetua"/>
                <a:cs typeface="Perpetua"/>
              </a:rPr>
              <a:t> </a:t>
            </a:r>
            <a:r>
              <a:rPr sz="2200" spc="-30" dirty="0">
                <a:latin typeface="Perpetua"/>
                <a:cs typeface="Perpetua"/>
              </a:rPr>
              <a:t>app.</a:t>
            </a:r>
            <a:endParaRPr sz="2200">
              <a:latin typeface="Perpetua"/>
              <a:cs typeface="Perpetua"/>
            </a:endParaRPr>
          </a:p>
          <a:p>
            <a:pPr marL="287020" indent="-274320">
              <a:lnSpc>
                <a:spcPts val="2375"/>
              </a:lnSpc>
              <a:spcBef>
                <a:spcPts val="70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25" dirty="0">
                <a:latin typeface="Perpetua"/>
                <a:cs typeface="Perpetua"/>
              </a:rPr>
              <a:t>For</a:t>
            </a:r>
            <a:r>
              <a:rPr sz="2200" spc="229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example,</a:t>
            </a:r>
            <a:r>
              <a:rPr sz="2200" spc="135" dirty="0">
                <a:latin typeface="Perpetua"/>
                <a:cs typeface="Perpetua"/>
              </a:rPr>
              <a:t> </a:t>
            </a:r>
            <a:r>
              <a:rPr sz="2200" spc="-15" dirty="0">
                <a:latin typeface="Perpetua"/>
                <a:cs typeface="Perpetua"/>
              </a:rPr>
              <a:t>you</a:t>
            </a:r>
            <a:r>
              <a:rPr sz="2200" spc="229" dirty="0">
                <a:latin typeface="Perpetua"/>
                <a:cs typeface="Perpetua"/>
              </a:rPr>
              <a:t> </a:t>
            </a:r>
            <a:r>
              <a:rPr sz="2200" spc="-30" dirty="0">
                <a:latin typeface="Perpetua"/>
                <a:cs typeface="Perpetua"/>
              </a:rPr>
              <a:t>may</a:t>
            </a:r>
            <a:r>
              <a:rPr sz="2200" spc="225" dirty="0">
                <a:latin typeface="Perpetua"/>
                <a:cs typeface="Perpetua"/>
              </a:rPr>
              <a:t> </a:t>
            </a:r>
            <a:r>
              <a:rPr sz="2200" spc="-35" dirty="0">
                <a:latin typeface="Perpetua"/>
                <a:cs typeface="Perpetua"/>
              </a:rPr>
              <a:t>have</a:t>
            </a:r>
            <a:r>
              <a:rPr sz="2200" spc="229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a</a:t>
            </a:r>
            <a:r>
              <a:rPr sz="2200" spc="240" dirty="0">
                <a:latin typeface="Perpetua"/>
                <a:cs typeface="Perpetua"/>
              </a:rPr>
              <a:t> </a:t>
            </a:r>
            <a:r>
              <a:rPr sz="2200" spc="5" dirty="0">
                <a:latin typeface="Perpetua"/>
                <a:cs typeface="Perpetua"/>
              </a:rPr>
              <a:t>friend</a:t>
            </a:r>
            <a:r>
              <a:rPr sz="2200" spc="22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who</a:t>
            </a:r>
            <a:r>
              <a:rPr sz="2200" spc="25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can</a:t>
            </a:r>
            <a:r>
              <a:rPr sz="2200" spc="235" dirty="0">
                <a:latin typeface="Perpetua"/>
                <a:cs typeface="Perpetua"/>
              </a:rPr>
              <a:t> </a:t>
            </a:r>
            <a:r>
              <a:rPr sz="2200" spc="-15" dirty="0">
                <a:latin typeface="Perpetua"/>
                <a:cs typeface="Perpetua"/>
              </a:rPr>
              <a:t>create</a:t>
            </a:r>
            <a:r>
              <a:rPr sz="2200" spc="22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the</a:t>
            </a:r>
            <a:r>
              <a:rPr sz="2200" spc="2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graphics,</a:t>
            </a:r>
            <a:r>
              <a:rPr sz="2200" spc="15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while</a:t>
            </a:r>
            <a:r>
              <a:rPr sz="2200" spc="2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another</a:t>
            </a:r>
            <a:endParaRPr sz="2200">
              <a:latin typeface="Perpetua"/>
              <a:cs typeface="Perpetua"/>
            </a:endParaRPr>
          </a:p>
          <a:p>
            <a:pPr marL="286385">
              <a:lnSpc>
                <a:spcPts val="2375"/>
              </a:lnSpc>
            </a:pPr>
            <a:r>
              <a:rPr sz="2200" spc="-5" dirty="0">
                <a:latin typeface="Perpetua"/>
                <a:cs typeface="Perpetua"/>
              </a:rPr>
              <a:t>will be </a:t>
            </a:r>
            <a:r>
              <a:rPr sz="2200" spc="-15" dirty="0">
                <a:latin typeface="Perpetua"/>
                <a:cs typeface="Perpetua"/>
              </a:rPr>
              <a:t>your</a:t>
            </a:r>
            <a:r>
              <a:rPr sz="2200" spc="30" dirty="0">
                <a:latin typeface="Perpetua"/>
                <a:cs typeface="Perpetua"/>
              </a:rPr>
              <a:t> </a:t>
            </a:r>
            <a:r>
              <a:rPr sz="2200" spc="-35" dirty="0">
                <a:latin typeface="Perpetua"/>
                <a:cs typeface="Perpetua"/>
              </a:rPr>
              <a:t>tester.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18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3342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Pattern</a:t>
            </a:r>
            <a:r>
              <a:rPr sz="3600" spc="-80" dirty="0"/>
              <a:t> </a:t>
            </a:r>
            <a:r>
              <a:rPr sz="3600" spc="-5" dirty="0"/>
              <a:t>Recognition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947674"/>
            <a:ext cx="8542020" cy="508381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15875" indent="-274320" algn="just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Once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decomposed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complex </a:t>
            </a:r>
            <a:r>
              <a:rPr sz="2600" spc="-10" dirty="0">
                <a:latin typeface="Perpetua"/>
                <a:cs typeface="Perpetua"/>
              </a:rPr>
              <a:t>problem, </a:t>
            </a:r>
            <a:r>
              <a:rPr sz="2600" dirty="0">
                <a:latin typeface="Perpetua"/>
                <a:cs typeface="Perpetua"/>
              </a:rPr>
              <a:t>it helps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examine  the small </a:t>
            </a:r>
            <a:r>
              <a:rPr sz="2600" spc="-10" dirty="0">
                <a:latin typeface="Perpetua"/>
                <a:cs typeface="Perpetua"/>
              </a:rPr>
              <a:t>problems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5" dirty="0">
                <a:latin typeface="Perpetua"/>
                <a:cs typeface="Perpetua"/>
              </a:rPr>
              <a:t>similarities </a:t>
            </a:r>
            <a:r>
              <a:rPr sz="2600" spc="-5" dirty="0">
                <a:latin typeface="Perpetua"/>
                <a:cs typeface="Perpetua"/>
              </a:rPr>
              <a:t>or</a:t>
            </a:r>
            <a:r>
              <a:rPr sz="2600" spc="-2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‘patterns’.</a:t>
            </a:r>
            <a:endParaRPr sz="2600">
              <a:latin typeface="Perpetua"/>
              <a:cs typeface="Perpetua"/>
            </a:endParaRPr>
          </a:p>
          <a:p>
            <a:pPr marL="286385" marR="19050" indent="-274320" algn="just">
              <a:lnSpc>
                <a:spcPts val="281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These </a:t>
            </a:r>
            <a:r>
              <a:rPr sz="2600" dirty="0">
                <a:latin typeface="Perpetua"/>
                <a:cs typeface="Perpetua"/>
              </a:rPr>
              <a:t>patterns can help </a:t>
            </a:r>
            <a:r>
              <a:rPr sz="2600" spc="-5" dirty="0">
                <a:latin typeface="Perpetua"/>
                <a:cs typeface="Perpetua"/>
              </a:rPr>
              <a:t>us to </a:t>
            </a:r>
            <a:r>
              <a:rPr sz="2600" spc="-15" dirty="0">
                <a:latin typeface="Perpetua"/>
                <a:cs typeface="Perpetua"/>
              </a:rPr>
              <a:t>solve</a:t>
            </a:r>
            <a:r>
              <a:rPr sz="2600" spc="55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complex </a:t>
            </a:r>
            <a:r>
              <a:rPr sz="2600" spc="-10" dirty="0">
                <a:latin typeface="Perpetua"/>
                <a:cs typeface="Perpetua"/>
              </a:rPr>
              <a:t>problems more  </a:t>
            </a:r>
            <a:r>
              <a:rPr sz="2600" spc="-30" dirty="0">
                <a:latin typeface="Perpetua"/>
                <a:cs typeface="Perpetua"/>
              </a:rPr>
              <a:t>efficiently.</a:t>
            </a:r>
            <a:endParaRPr sz="2600">
              <a:latin typeface="Perpetua"/>
              <a:cs typeface="Perpetua"/>
            </a:endParaRPr>
          </a:p>
          <a:p>
            <a:pPr marL="286385" marR="18415" indent="-274320" algn="just">
              <a:lnSpc>
                <a:spcPts val="281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When </a:t>
            </a:r>
            <a:r>
              <a:rPr sz="2600" spc="-50" dirty="0">
                <a:latin typeface="Perpetua"/>
                <a:cs typeface="Perpetua"/>
              </a:rPr>
              <a:t>we</a:t>
            </a:r>
            <a:r>
              <a:rPr sz="2600" spc="-50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u="heavy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decompose</a:t>
            </a:r>
            <a:r>
              <a:rPr sz="2600" spc="-5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complex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often find patterns  </a:t>
            </a:r>
            <a:r>
              <a:rPr sz="2600" spc="-5" dirty="0">
                <a:latin typeface="Perpetua"/>
                <a:cs typeface="Perpetua"/>
              </a:rPr>
              <a:t>among </a:t>
            </a:r>
            <a:r>
              <a:rPr sz="2600" dirty="0">
                <a:latin typeface="Perpetua"/>
                <a:cs typeface="Perpetua"/>
              </a:rPr>
              <a:t>the smaller </a:t>
            </a:r>
            <a:r>
              <a:rPr sz="2600" spc="-10" dirty="0">
                <a:latin typeface="Perpetua"/>
                <a:cs typeface="Perpetua"/>
              </a:rPr>
              <a:t>problems </a:t>
            </a:r>
            <a:r>
              <a:rPr sz="2600" spc="-45" dirty="0">
                <a:latin typeface="Perpetua"/>
                <a:cs typeface="Perpetua"/>
              </a:rPr>
              <a:t>we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create.</a:t>
            </a:r>
            <a:endParaRPr sz="2600">
              <a:latin typeface="Perpetua"/>
              <a:cs typeface="Perpetua"/>
            </a:endParaRPr>
          </a:p>
          <a:p>
            <a:pPr marL="286385" marR="16510" indent="-274320" algn="just">
              <a:lnSpc>
                <a:spcPts val="281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patterns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similarities </a:t>
            </a:r>
            <a:r>
              <a:rPr sz="2600" spc="-5" dirty="0">
                <a:latin typeface="Perpetua"/>
                <a:cs typeface="Perpetua"/>
              </a:rPr>
              <a:t>or </a:t>
            </a:r>
            <a:r>
              <a:rPr sz="2600" spc="5" dirty="0">
                <a:latin typeface="Perpetua"/>
                <a:cs typeface="Perpetua"/>
              </a:rPr>
              <a:t>characteristics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some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10" dirty="0">
                <a:latin typeface="Perpetua"/>
                <a:cs typeface="Perpetua"/>
              </a:rPr>
              <a:t>problems</a:t>
            </a:r>
            <a:r>
              <a:rPr sz="2600" spc="-15" dirty="0">
                <a:latin typeface="Perpetua"/>
                <a:cs typeface="Perpetua"/>
              </a:rPr>
              <a:t> share.</a:t>
            </a:r>
            <a:endParaRPr sz="2600">
              <a:latin typeface="Perpetua"/>
              <a:cs typeface="Perpetua"/>
            </a:endParaRPr>
          </a:p>
          <a:p>
            <a:pPr marL="286385" marR="17145" indent="-274320" algn="just">
              <a:lnSpc>
                <a:spcPts val="281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Pattern recognition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one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four </a:t>
            </a:r>
            <a:r>
              <a:rPr sz="2600" spc="5" dirty="0">
                <a:latin typeface="Perpetua"/>
                <a:cs typeface="Perpetua"/>
              </a:rPr>
              <a:t>cornerstones </a:t>
            </a:r>
            <a:r>
              <a:rPr sz="2600" spc="-5" dirty="0">
                <a:latin typeface="Perpetua"/>
                <a:cs typeface="Perpetua"/>
              </a:rPr>
              <a:t>of Computer  </a:t>
            </a:r>
            <a:r>
              <a:rPr sz="2600" spc="-10" dirty="0">
                <a:latin typeface="Perpetua"/>
                <a:cs typeface="Perpetua"/>
              </a:rPr>
              <a:t>Science.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ts val="281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b="1" spc="-25" dirty="0">
                <a:latin typeface="Perpetua"/>
                <a:cs typeface="Perpetua"/>
              </a:rPr>
              <a:t>involves </a:t>
            </a:r>
            <a:r>
              <a:rPr sz="2600" b="1" spc="-5" dirty="0">
                <a:latin typeface="Perpetua"/>
                <a:cs typeface="Perpetua"/>
              </a:rPr>
              <a:t>finding the </a:t>
            </a:r>
            <a:r>
              <a:rPr sz="2600" b="1" dirty="0">
                <a:latin typeface="Perpetua"/>
                <a:cs typeface="Perpetua"/>
              </a:rPr>
              <a:t>similarities or patterns among </a:t>
            </a:r>
            <a:r>
              <a:rPr sz="2600" b="1" spc="-5" dirty="0">
                <a:latin typeface="Perpetua"/>
                <a:cs typeface="Perpetua"/>
              </a:rPr>
              <a:t>small,  </a:t>
            </a:r>
            <a:r>
              <a:rPr sz="2600" b="1" dirty="0">
                <a:latin typeface="Perpetua"/>
                <a:cs typeface="Perpetua"/>
              </a:rPr>
              <a:t>decomposed </a:t>
            </a:r>
            <a:r>
              <a:rPr sz="2600" b="1" spc="-5" dirty="0">
                <a:latin typeface="Perpetua"/>
                <a:cs typeface="Perpetua"/>
              </a:rPr>
              <a:t>problems </a:t>
            </a:r>
            <a:r>
              <a:rPr sz="2600" b="1" spc="-10" dirty="0">
                <a:latin typeface="Perpetua"/>
                <a:cs typeface="Perpetua"/>
              </a:rPr>
              <a:t>that </a:t>
            </a:r>
            <a:r>
              <a:rPr sz="2600" b="1" spc="-5" dirty="0">
                <a:latin typeface="Perpetua"/>
                <a:cs typeface="Perpetua"/>
              </a:rPr>
              <a:t>can </a:t>
            </a:r>
            <a:r>
              <a:rPr sz="2600" b="1" dirty="0">
                <a:latin typeface="Perpetua"/>
                <a:cs typeface="Perpetua"/>
              </a:rPr>
              <a:t>help </a:t>
            </a:r>
            <a:r>
              <a:rPr sz="2600" b="1" spc="-5" dirty="0">
                <a:latin typeface="Perpetua"/>
                <a:cs typeface="Perpetua"/>
              </a:rPr>
              <a:t>us </a:t>
            </a:r>
            <a:r>
              <a:rPr sz="2600" b="1" spc="-15" dirty="0">
                <a:latin typeface="Perpetua"/>
                <a:cs typeface="Perpetua"/>
              </a:rPr>
              <a:t>solve </a:t>
            </a:r>
            <a:r>
              <a:rPr sz="2600" b="1" dirty="0">
                <a:latin typeface="Perpetua"/>
                <a:cs typeface="Perpetua"/>
              </a:rPr>
              <a:t>more  </a:t>
            </a:r>
            <a:r>
              <a:rPr sz="2600" b="1" spc="-5" dirty="0">
                <a:latin typeface="Perpetua"/>
                <a:cs typeface="Perpetua"/>
              </a:rPr>
              <a:t>complex problems </a:t>
            </a:r>
            <a:r>
              <a:rPr sz="2600" b="1" dirty="0">
                <a:latin typeface="Perpetua"/>
                <a:cs typeface="Perpetua"/>
              </a:rPr>
              <a:t>more </a:t>
            </a:r>
            <a:r>
              <a:rPr sz="2600" b="1" spc="-10" dirty="0">
                <a:latin typeface="Perpetua"/>
                <a:cs typeface="Perpetua"/>
              </a:rPr>
              <a:t>efficiently</a:t>
            </a:r>
            <a:r>
              <a:rPr sz="2600" spc="-1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3143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What </a:t>
            </a:r>
            <a:r>
              <a:rPr sz="3600" spc="-15" dirty="0"/>
              <a:t>are</a:t>
            </a:r>
            <a:r>
              <a:rPr sz="3600" spc="-70" dirty="0"/>
              <a:t> </a:t>
            </a:r>
            <a:r>
              <a:rPr sz="3600" spc="5" dirty="0"/>
              <a:t>patterns?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825213"/>
            <a:ext cx="8531860" cy="405002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600" spc="5" dirty="0">
                <a:latin typeface="Perpetua"/>
                <a:cs typeface="Perpetua"/>
              </a:rPr>
              <a:t>Imagine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want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series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10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cats.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spc="-10" dirty="0">
                <a:latin typeface="Perpetua"/>
                <a:cs typeface="Perpetua"/>
              </a:rPr>
              <a:t>cats </a:t>
            </a:r>
            <a:r>
              <a:rPr sz="2600" spc="-5" dirty="0">
                <a:latin typeface="Perpetua"/>
                <a:cs typeface="Perpetua"/>
              </a:rPr>
              <a:t>share common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characteristics.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Among other things </a:t>
            </a:r>
            <a:r>
              <a:rPr sz="2600" b="1" spc="-10" dirty="0">
                <a:latin typeface="Perpetua"/>
                <a:cs typeface="Perpetua"/>
              </a:rPr>
              <a:t>they </a:t>
            </a:r>
            <a:r>
              <a:rPr sz="2600" b="1" spc="-5" dirty="0">
                <a:latin typeface="Perpetua"/>
                <a:cs typeface="Perpetua"/>
              </a:rPr>
              <a:t>all </a:t>
            </a:r>
            <a:r>
              <a:rPr sz="2600" b="1" spc="-40" dirty="0">
                <a:latin typeface="Perpetua"/>
                <a:cs typeface="Perpetua"/>
              </a:rPr>
              <a:t>have </a:t>
            </a:r>
            <a:r>
              <a:rPr sz="2600" b="1" spc="-25" dirty="0">
                <a:latin typeface="Perpetua"/>
                <a:cs typeface="Perpetua"/>
              </a:rPr>
              <a:t>eyes, </a:t>
            </a:r>
            <a:r>
              <a:rPr sz="2600" b="1" spc="-5" dirty="0">
                <a:latin typeface="Perpetua"/>
                <a:cs typeface="Perpetua"/>
              </a:rPr>
              <a:t>tails </a:t>
            </a:r>
            <a:r>
              <a:rPr sz="2600" b="1" dirty="0">
                <a:latin typeface="Perpetua"/>
                <a:cs typeface="Perpetua"/>
              </a:rPr>
              <a:t>and</a:t>
            </a:r>
            <a:r>
              <a:rPr sz="2600" b="1" spc="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fur</a:t>
            </a:r>
            <a:r>
              <a:rPr sz="260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-5" dirty="0">
                <a:latin typeface="Perpetua"/>
                <a:cs typeface="Perpetua"/>
              </a:rPr>
              <a:t>also </a:t>
            </a:r>
            <a:r>
              <a:rPr sz="2600" spc="-10" dirty="0">
                <a:latin typeface="Perpetua"/>
                <a:cs typeface="Perpetua"/>
              </a:rPr>
              <a:t>like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eat </a:t>
            </a:r>
            <a:r>
              <a:rPr sz="2600" dirty="0">
                <a:latin typeface="Perpetua"/>
                <a:cs typeface="Perpetua"/>
              </a:rPr>
              <a:t>fish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5" dirty="0">
                <a:latin typeface="Perpetua"/>
                <a:cs typeface="Perpetua"/>
              </a:rPr>
              <a:t>make meowing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sounds.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Because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20" dirty="0">
                <a:latin typeface="Perpetua"/>
                <a:cs typeface="Perpetua"/>
              </a:rPr>
              <a:t>know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spc="-10" dirty="0">
                <a:latin typeface="Perpetua"/>
                <a:cs typeface="Perpetua"/>
              </a:rPr>
              <a:t>cats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20" dirty="0">
                <a:latin typeface="Perpetua"/>
                <a:cs typeface="Perpetua"/>
              </a:rPr>
              <a:t>eyes, </a:t>
            </a:r>
            <a:r>
              <a:rPr sz="2600" spc="-5" dirty="0">
                <a:latin typeface="Perpetua"/>
                <a:cs typeface="Perpetua"/>
              </a:rPr>
              <a:t>tails and </a:t>
            </a:r>
            <a:r>
              <a:rPr sz="2600" spc="-60" dirty="0">
                <a:latin typeface="Perpetua"/>
                <a:cs typeface="Perpetua"/>
              </a:rPr>
              <a:t>fur,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spc="-15" dirty="0">
                <a:latin typeface="Perpetua"/>
                <a:cs typeface="Perpetua"/>
              </a:rPr>
              <a:t>make </a:t>
            </a:r>
            <a:r>
              <a:rPr sz="2600" dirty="0">
                <a:latin typeface="Perpetua"/>
                <a:cs typeface="Perpetua"/>
              </a:rPr>
              <a:t>a  </a:t>
            </a:r>
            <a:r>
              <a:rPr sz="2600" spc="-5" dirty="0">
                <a:latin typeface="Perpetua"/>
                <a:cs typeface="Perpetua"/>
              </a:rPr>
              <a:t>good attempt </a:t>
            </a:r>
            <a:r>
              <a:rPr sz="2600" spc="-15" dirty="0">
                <a:latin typeface="Perpetua"/>
                <a:cs typeface="Perpetua"/>
              </a:rPr>
              <a:t>at drawing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cat, </a:t>
            </a:r>
            <a:r>
              <a:rPr sz="2600" spc="-10" dirty="0">
                <a:latin typeface="Perpetua"/>
                <a:cs typeface="Perpetua"/>
              </a:rPr>
              <a:t>simply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including these </a:t>
            </a:r>
            <a:r>
              <a:rPr sz="2600" spc="-5" dirty="0">
                <a:latin typeface="Perpetua"/>
                <a:cs typeface="Perpetua"/>
              </a:rPr>
              <a:t>common  </a:t>
            </a:r>
            <a:r>
              <a:rPr sz="2600" dirty="0">
                <a:latin typeface="Perpetua"/>
                <a:cs typeface="Perpetua"/>
              </a:rPr>
              <a:t>characteristics.</a:t>
            </a:r>
            <a:endParaRPr sz="2600">
              <a:latin typeface="Perpetua"/>
              <a:cs typeface="Perpetua"/>
            </a:endParaRPr>
          </a:p>
          <a:p>
            <a:pPr marL="286385" marR="762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In</a:t>
            </a:r>
            <a:r>
              <a:rPr sz="2600" spc="-5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u="heavy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computational thinking</a:t>
            </a:r>
            <a:r>
              <a:rPr sz="2600" spc="-5" dirty="0">
                <a:latin typeface="Perpetua"/>
                <a:cs typeface="Perpetua"/>
              </a:rPr>
              <a:t>, </a:t>
            </a:r>
            <a:r>
              <a:rPr sz="2600" dirty="0">
                <a:latin typeface="Perpetua"/>
                <a:cs typeface="Perpetua"/>
              </a:rPr>
              <a:t>these </a:t>
            </a:r>
            <a:r>
              <a:rPr sz="2600" spc="5" dirty="0">
                <a:latin typeface="Perpetua"/>
                <a:cs typeface="Perpetua"/>
              </a:rPr>
              <a:t>characteristics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20" dirty="0">
                <a:latin typeface="Perpetua"/>
                <a:cs typeface="Perpetua"/>
              </a:rPr>
              <a:t>known </a:t>
            </a:r>
            <a:r>
              <a:rPr sz="2600" spc="-5" dirty="0">
                <a:latin typeface="Perpetua"/>
                <a:cs typeface="Perpetua"/>
              </a:rPr>
              <a:t>as  patterns.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519430"/>
            <a:ext cx="8527415" cy="2186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b="1" spc="-5" dirty="0">
                <a:latin typeface="Perpetua"/>
                <a:cs typeface="Perpetua"/>
              </a:rPr>
              <a:t>Once </a:t>
            </a:r>
            <a:r>
              <a:rPr sz="2600" b="1" spc="-35" dirty="0">
                <a:latin typeface="Perpetua"/>
                <a:cs typeface="Perpetua"/>
              </a:rPr>
              <a:t>we </a:t>
            </a:r>
            <a:r>
              <a:rPr sz="2600" b="1" spc="-25" dirty="0">
                <a:latin typeface="Perpetua"/>
                <a:cs typeface="Perpetua"/>
              </a:rPr>
              <a:t>know </a:t>
            </a:r>
            <a:r>
              <a:rPr sz="2600" b="1" spc="-30" dirty="0">
                <a:latin typeface="Perpetua"/>
                <a:cs typeface="Perpetua"/>
              </a:rPr>
              <a:t>how </a:t>
            </a:r>
            <a:r>
              <a:rPr sz="2600" b="1" dirty="0">
                <a:latin typeface="Perpetua"/>
                <a:cs typeface="Perpetua"/>
              </a:rPr>
              <a:t>to </a:t>
            </a:r>
            <a:r>
              <a:rPr sz="2600" b="1" spc="5" dirty="0">
                <a:latin typeface="Perpetua"/>
                <a:cs typeface="Perpetua"/>
              </a:rPr>
              <a:t>describe </a:t>
            </a:r>
            <a:r>
              <a:rPr sz="2600" b="1" dirty="0">
                <a:latin typeface="Perpetua"/>
                <a:cs typeface="Perpetua"/>
              </a:rPr>
              <a:t>one </a:t>
            </a:r>
            <a:r>
              <a:rPr sz="2600" b="1" spc="-10" dirty="0">
                <a:latin typeface="Perpetua"/>
                <a:cs typeface="Perpetua"/>
              </a:rPr>
              <a:t>cat </a:t>
            </a:r>
            <a:r>
              <a:rPr sz="2600" b="1" spc="-35" dirty="0">
                <a:latin typeface="Perpetua"/>
                <a:cs typeface="Perpetua"/>
              </a:rPr>
              <a:t>we </a:t>
            </a:r>
            <a:r>
              <a:rPr sz="2600" b="1" spc="-5" dirty="0">
                <a:latin typeface="Perpetua"/>
                <a:cs typeface="Perpetua"/>
              </a:rPr>
              <a:t>can </a:t>
            </a:r>
            <a:r>
              <a:rPr sz="2600" b="1" dirty="0">
                <a:latin typeface="Perpetua"/>
                <a:cs typeface="Perpetua"/>
              </a:rPr>
              <a:t>describe  others, </a:t>
            </a:r>
            <a:r>
              <a:rPr sz="2600" b="1" spc="-15" dirty="0">
                <a:latin typeface="Perpetua"/>
                <a:cs typeface="Perpetua"/>
              </a:rPr>
              <a:t>simply </a:t>
            </a:r>
            <a:r>
              <a:rPr sz="2600" b="1" spc="-25" dirty="0">
                <a:latin typeface="Perpetua"/>
                <a:cs typeface="Perpetua"/>
              </a:rPr>
              <a:t>by </a:t>
            </a:r>
            <a:r>
              <a:rPr sz="2600" b="1" spc="-10" dirty="0">
                <a:latin typeface="Perpetua"/>
                <a:cs typeface="Perpetua"/>
              </a:rPr>
              <a:t>following </a:t>
            </a:r>
            <a:r>
              <a:rPr sz="2600" b="1" spc="-5" dirty="0">
                <a:latin typeface="Perpetua"/>
                <a:cs typeface="Perpetua"/>
              </a:rPr>
              <a:t>this</a:t>
            </a:r>
            <a:r>
              <a:rPr sz="2600" b="1" spc="-5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pattern.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only </a:t>
            </a:r>
            <a:r>
              <a:rPr sz="2600" spc="-5" dirty="0">
                <a:latin typeface="Perpetua"/>
                <a:cs typeface="Perpetua"/>
              </a:rPr>
              <a:t>things </a:t>
            </a:r>
            <a:r>
              <a:rPr sz="2600" spc="-10" dirty="0">
                <a:latin typeface="Perpetua"/>
                <a:cs typeface="Perpetua"/>
              </a:rPr>
              <a:t>that are </a:t>
            </a:r>
            <a:r>
              <a:rPr sz="2600" spc="-5" dirty="0">
                <a:latin typeface="Perpetua"/>
                <a:cs typeface="Perpetua"/>
              </a:rPr>
              <a:t>different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specifics: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one </a:t>
            </a:r>
            <a:r>
              <a:rPr sz="2600" spc="-15" dirty="0">
                <a:latin typeface="Perpetua"/>
                <a:cs typeface="Perpetua"/>
              </a:rPr>
              <a:t>cat </a:t>
            </a:r>
            <a:r>
              <a:rPr sz="2600" spc="-35" dirty="0">
                <a:latin typeface="Perpetua"/>
                <a:cs typeface="Perpetua"/>
              </a:rPr>
              <a:t>may have </a:t>
            </a:r>
            <a:r>
              <a:rPr sz="2600" dirty="0">
                <a:latin typeface="Perpetua"/>
                <a:cs typeface="Perpetua"/>
              </a:rPr>
              <a:t>green </a:t>
            </a:r>
            <a:r>
              <a:rPr sz="2600" b="1" spc="-25" dirty="0">
                <a:latin typeface="Perpetua"/>
                <a:cs typeface="Perpetua"/>
              </a:rPr>
              <a:t>eyes</a:t>
            </a:r>
            <a:r>
              <a:rPr sz="2600" spc="-25" dirty="0">
                <a:latin typeface="Perpetua"/>
                <a:cs typeface="Perpetua"/>
              </a:rPr>
              <a:t>,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long </a:t>
            </a:r>
            <a:r>
              <a:rPr sz="2600" b="1" spc="-5" dirty="0">
                <a:latin typeface="Perpetua"/>
                <a:cs typeface="Perpetua"/>
              </a:rPr>
              <a:t>tail </a:t>
            </a:r>
            <a:r>
              <a:rPr sz="2600" spc="-5" dirty="0">
                <a:latin typeface="Perpetua"/>
                <a:cs typeface="Perpetua"/>
              </a:rPr>
              <a:t>and black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fur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another </a:t>
            </a:r>
            <a:r>
              <a:rPr sz="2600" spc="-15" dirty="0">
                <a:latin typeface="Perpetua"/>
                <a:cs typeface="Perpetua"/>
              </a:rPr>
              <a:t>cat </a:t>
            </a:r>
            <a:r>
              <a:rPr sz="2600" spc="-35" dirty="0">
                <a:latin typeface="Perpetua"/>
                <a:cs typeface="Perpetua"/>
              </a:rPr>
              <a:t>may have </a:t>
            </a:r>
            <a:r>
              <a:rPr sz="2600" spc="-20" dirty="0">
                <a:latin typeface="Perpetua"/>
                <a:cs typeface="Perpetua"/>
              </a:rPr>
              <a:t>yellow </a:t>
            </a:r>
            <a:r>
              <a:rPr sz="2600" b="1" spc="-25" dirty="0">
                <a:latin typeface="Perpetua"/>
                <a:cs typeface="Perpetua"/>
              </a:rPr>
              <a:t>eyes</a:t>
            </a:r>
            <a:r>
              <a:rPr sz="2600" spc="-25" dirty="0">
                <a:latin typeface="Perpetua"/>
                <a:cs typeface="Perpetua"/>
              </a:rPr>
              <a:t>,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15" dirty="0">
                <a:latin typeface="Perpetua"/>
                <a:cs typeface="Perpetua"/>
              </a:rPr>
              <a:t>short </a:t>
            </a:r>
            <a:r>
              <a:rPr sz="2600" b="1" spc="-5" dirty="0">
                <a:latin typeface="Perpetua"/>
                <a:cs typeface="Perpetua"/>
              </a:rPr>
              <a:t>tail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5" dirty="0">
                <a:latin typeface="Perpetua"/>
                <a:cs typeface="Perpetua"/>
              </a:rPr>
              <a:t>striped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fur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5037" y="2971800"/>
            <a:ext cx="6452694" cy="3421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70375" y="6246367"/>
            <a:ext cx="41922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725" indent="-200660">
              <a:lnSpc>
                <a:spcPct val="100000"/>
              </a:lnSpc>
              <a:spcBef>
                <a:spcPts val="100"/>
              </a:spcBef>
              <a:buSzPct val="95000"/>
              <a:buFont typeface="Wingdings"/>
              <a:buChar char=""/>
              <a:tabLst>
                <a:tab pos="213360" algn="l"/>
              </a:tabLst>
            </a:pPr>
            <a:r>
              <a:rPr sz="2000" b="1" i="1" dirty="0">
                <a:solidFill>
                  <a:srgbClr val="C00000"/>
                </a:solidFill>
                <a:latin typeface="Perpetua"/>
                <a:cs typeface="Perpetua"/>
              </a:rPr>
              <a:t>Finding </a:t>
            </a:r>
            <a:r>
              <a:rPr sz="2000" b="1" i="1" spc="-5" dirty="0">
                <a:solidFill>
                  <a:srgbClr val="C00000"/>
                </a:solidFill>
                <a:latin typeface="Perpetua"/>
                <a:cs typeface="Perpetua"/>
              </a:rPr>
              <a:t>patterns </a:t>
            </a:r>
            <a:r>
              <a:rPr sz="2000" b="1" i="1" dirty="0">
                <a:solidFill>
                  <a:srgbClr val="C00000"/>
                </a:solidFill>
                <a:latin typeface="Perpetua"/>
                <a:cs typeface="Perpetua"/>
              </a:rPr>
              <a:t>is </a:t>
            </a:r>
            <a:r>
              <a:rPr sz="2000" b="1" i="1" spc="-10" dirty="0">
                <a:solidFill>
                  <a:srgbClr val="C00000"/>
                </a:solidFill>
                <a:latin typeface="Perpetua"/>
                <a:cs typeface="Perpetua"/>
              </a:rPr>
              <a:t>extremely</a:t>
            </a:r>
            <a:r>
              <a:rPr sz="2000" b="1" i="1" spc="-7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Perpetua"/>
                <a:cs typeface="Perpetua"/>
              </a:rPr>
              <a:t>important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21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6049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Why </a:t>
            </a:r>
            <a:r>
              <a:rPr sz="3600" spc="-15" dirty="0"/>
              <a:t>are </a:t>
            </a:r>
            <a:r>
              <a:rPr sz="3600" spc="-5" dirty="0"/>
              <a:t>finding </a:t>
            </a:r>
            <a:r>
              <a:rPr sz="3600" spc="5" dirty="0"/>
              <a:t>patterns</a:t>
            </a:r>
            <a:r>
              <a:rPr sz="3600" spc="15" dirty="0"/>
              <a:t> </a:t>
            </a:r>
            <a:r>
              <a:rPr sz="3600" spc="10" dirty="0"/>
              <a:t>important?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825213"/>
            <a:ext cx="8531860" cy="563499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69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Patterns </a:t>
            </a:r>
            <a:r>
              <a:rPr sz="2600" spc="-15" dirty="0">
                <a:latin typeface="Perpetua"/>
                <a:cs typeface="Perpetua"/>
              </a:rPr>
              <a:t>make </a:t>
            </a:r>
            <a:r>
              <a:rPr sz="2600" spc="-5" dirty="0">
                <a:latin typeface="Perpetua"/>
                <a:cs typeface="Perpetua"/>
              </a:rPr>
              <a:t>our </a:t>
            </a:r>
            <a:r>
              <a:rPr sz="2600" dirty="0">
                <a:latin typeface="Perpetua"/>
                <a:cs typeface="Perpetua"/>
              </a:rPr>
              <a:t>task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simpler.</a:t>
            </a:r>
            <a:endParaRPr sz="2600">
              <a:latin typeface="Perpetua"/>
              <a:cs typeface="Perpetua"/>
            </a:endParaRPr>
          </a:p>
          <a:p>
            <a:pPr marL="286385" marR="8255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Problems </a:t>
            </a:r>
            <a:r>
              <a:rPr sz="2600" spc="-15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easier to </a:t>
            </a:r>
            <a:r>
              <a:rPr sz="2600" spc="-15" dirty="0">
                <a:latin typeface="Perpetua"/>
                <a:cs typeface="Perpetua"/>
              </a:rPr>
              <a:t>solve </a:t>
            </a:r>
            <a:r>
              <a:rPr sz="2600" dirty="0">
                <a:latin typeface="Perpetua"/>
                <a:cs typeface="Perpetua"/>
              </a:rPr>
              <a:t>when </a:t>
            </a:r>
            <a:r>
              <a:rPr sz="2600" spc="-15" dirty="0">
                <a:latin typeface="Perpetua"/>
                <a:cs typeface="Perpetua"/>
              </a:rPr>
              <a:t>they </a:t>
            </a:r>
            <a:r>
              <a:rPr sz="2600" spc="-5" dirty="0">
                <a:latin typeface="Perpetua"/>
                <a:cs typeface="Perpetua"/>
              </a:rPr>
              <a:t>share </a:t>
            </a:r>
            <a:r>
              <a:rPr sz="2600" dirty="0">
                <a:latin typeface="Perpetua"/>
                <a:cs typeface="Perpetua"/>
              </a:rPr>
              <a:t>patterns, </a:t>
            </a:r>
            <a:r>
              <a:rPr sz="2600" spc="-5" dirty="0">
                <a:latin typeface="Perpetua"/>
                <a:cs typeface="Perpetua"/>
              </a:rPr>
              <a:t>because </a:t>
            </a:r>
            <a:r>
              <a:rPr sz="2600" spc="-95" dirty="0">
                <a:latin typeface="Perpetua"/>
                <a:cs typeface="Perpetua"/>
              </a:rPr>
              <a:t>we 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use the same </a:t>
            </a:r>
            <a:r>
              <a:rPr sz="2600" spc="-10" dirty="0">
                <a:latin typeface="Perpetua"/>
                <a:cs typeface="Perpetua"/>
              </a:rPr>
              <a:t>problem-solving </a:t>
            </a:r>
            <a:r>
              <a:rPr sz="2600" spc="-5" dirty="0">
                <a:latin typeface="Perpetua"/>
                <a:cs typeface="Perpetua"/>
              </a:rPr>
              <a:t>solution </a:t>
            </a:r>
            <a:r>
              <a:rPr sz="2600" spc="-15" dirty="0">
                <a:latin typeface="Perpetua"/>
                <a:cs typeface="Perpetua"/>
              </a:rPr>
              <a:t>wherever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pattern  </a:t>
            </a:r>
            <a:r>
              <a:rPr sz="2600" spc="-10" dirty="0">
                <a:latin typeface="Perpetua"/>
                <a:cs typeface="Perpetua"/>
              </a:rPr>
              <a:t>exists.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more </a:t>
            </a:r>
            <a:r>
              <a:rPr sz="2600" dirty="0">
                <a:latin typeface="Perpetua"/>
                <a:cs typeface="Perpetua"/>
              </a:rPr>
              <a:t>patterns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can find, the easier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quicker </a:t>
            </a:r>
            <a:r>
              <a:rPr sz="2600" spc="-5" dirty="0">
                <a:latin typeface="Perpetua"/>
                <a:cs typeface="Perpetua"/>
              </a:rPr>
              <a:t>our </a:t>
            </a:r>
            <a:r>
              <a:rPr sz="2600" spc="-20" dirty="0">
                <a:latin typeface="Perpetua"/>
                <a:cs typeface="Perpetua"/>
              </a:rPr>
              <a:t>overall  </a:t>
            </a:r>
            <a:r>
              <a:rPr sz="2600" dirty="0">
                <a:latin typeface="Perpetua"/>
                <a:cs typeface="Perpetua"/>
              </a:rPr>
              <a:t>task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spc="-5" dirty="0">
                <a:latin typeface="Perpetua"/>
                <a:cs typeface="Perpetua"/>
              </a:rPr>
              <a:t>solving </a:t>
            </a:r>
            <a:r>
              <a:rPr sz="2600" dirty="0">
                <a:latin typeface="Perpetua"/>
                <a:cs typeface="Perpetua"/>
              </a:rPr>
              <a:t>will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be.</a:t>
            </a:r>
            <a:endParaRPr sz="2600">
              <a:latin typeface="Perpetua"/>
              <a:cs typeface="Perpetua"/>
            </a:endParaRPr>
          </a:p>
          <a:p>
            <a:pPr marL="286385" marR="635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want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number of </a:t>
            </a:r>
            <a:r>
              <a:rPr sz="2600" spc="-10" dirty="0">
                <a:latin typeface="Perpetua"/>
                <a:cs typeface="Perpetua"/>
              </a:rPr>
              <a:t>cats, </a:t>
            </a:r>
            <a:r>
              <a:rPr sz="2600" dirty="0">
                <a:latin typeface="Perpetua"/>
                <a:cs typeface="Perpetua"/>
              </a:rPr>
              <a:t>finding a </a:t>
            </a:r>
            <a:r>
              <a:rPr sz="2600" spc="5" dirty="0">
                <a:latin typeface="Perpetua"/>
                <a:cs typeface="Perpetua"/>
              </a:rPr>
              <a:t>pattern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5" dirty="0">
                <a:latin typeface="Perpetua"/>
                <a:cs typeface="Perpetua"/>
              </a:rPr>
              <a:t>describe  </a:t>
            </a:r>
            <a:r>
              <a:rPr sz="2600" spc="-10" dirty="0">
                <a:latin typeface="Perpetua"/>
                <a:cs typeface="Perpetua"/>
              </a:rPr>
              <a:t>cats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general, eg </a:t>
            </a: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15" dirty="0">
                <a:latin typeface="Perpetua"/>
                <a:cs typeface="Perpetua"/>
              </a:rPr>
              <a:t>eyes, </a:t>
            </a:r>
            <a:r>
              <a:rPr sz="2600" dirty="0">
                <a:latin typeface="Perpetua"/>
                <a:cs typeface="Perpetua"/>
              </a:rPr>
              <a:t>tails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55" dirty="0">
                <a:latin typeface="Perpetua"/>
                <a:cs typeface="Perpetua"/>
              </a:rPr>
              <a:t>fur, </a:t>
            </a:r>
            <a:r>
              <a:rPr sz="2600" spc="-10" dirty="0">
                <a:latin typeface="Perpetua"/>
                <a:cs typeface="Perpetua"/>
              </a:rPr>
              <a:t>makes </a:t>
            </a:r>
            <a:r>
              <a:rPr sz="2600" spc="-5" dirty="0">
                <a:latin typeface="Perpetua"/>
                <a:cs typeface="Perpetua"/>
              </a:rPr>
              <a:t>this </a:t>
            </a:r>
            <a:r>
              <a:rPr sz="2600" dirty="0">
                <a:latin typeface="Perpetua"/>
                <a:cs typeface="Perpetua"/>
              </a:rPr>
              <a:t>task  quicker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easier.</a:t>
            </a:r>
            <a:endParaRPr sz="2600">
              <a:latin typeface="Perpetua"/>
              <a:cs typeface="Perpetua"/>
            </a:endParaRPr>
          </a:p>
          <a:p>
            <a:pPr marL="286385" marR="5715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20" dirty="0">
                <a:latin typeface="Perpetua"/>
                <a:cs typeface="Perpetua"/>
              </a:rPr>
              <a:t>know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all cats </a:t>
            </a:r>
            <a:r>
              <a:rPr sz="2600" spc="-20" dirty="0">
                <a:latin typeface="Perpetua"/>
                <a:cs typeface="Perpetua"/>
              </a:rPr>
              <a:t>follow </a:t>
            </a:r>
            <a:r>
              <a:rPr sz="2600" dirty="0">
                <a:latin typeface="Perpetua"/>
                <a:cs typeface="Perpetua"/>
              </a:rPr>
              <a:t>this pattern, so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35" dirty="0">
                <a:latin typeface="Perpetua"/>
                <a:cs typeface="Perpetua"/>
              </a:rPr>
              <a:t>don’t have </a:t>
            </a:r>
            <a:r>
              <a:rPr sz="2600" dirty="0">
                <a:latin typeface="Perpetua"/>
                <a:cs typeface="Perpetua"/>
              </a:rPr>
              <a:t>to stop 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dirty="0">
                <a:latin typeface="Perpetua"/>
                <a:cs typeface="Perpetua"/>
              </a:rPr>
              <a:t>time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15" dirty="0">
                <a:latin typeface="Perpetua"/>
                <a:cs typeface="Perpetua"/>
              </a:rPr>
              <a:t>start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5" dirty="0">
                <a:latin typeface="Perpetua"/>
                <a:cs typeface="Perpetua"/>
              </a:rPr>
              <a:t>new </a:t>
            </a:r>
            <a:r>
              <a:rPr sz="2600" spc="-10" dirty="0">
                <a:latin typeface="Perpetua"/>
                <a:cs typeface="Perpetua"/>
              </a:rPr>
              <a:t>cat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25" dirty="0">
                <a:latin typeface="Perpetua"/>
                <a:cs typeface="Perpetua"/>
              </a:rPr>
              <a:t>work </a:t>
            </a:r>
            <a:r>
              <a:rPr sz="2600" dirty="0">
                <a:latin typeface="Perpetua"/>
                <a:cs typeface="Perpetua"/>
              </a:rPr>
              <a:t>this</a:t>
            </a:r>
            <a:r>
              <a:rPr sz="2600" spc="114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out.</a:t>
            </a:r>
            <a:endParaRPr sz="2600">
              <a:latin typeface="Perpetua"/>
              <a:cs typeface="Perpetua"/>
            </a:endParaRPr>
          </a:p>
          <a:p>
            <a:pPr marL="286385" marR="6350" indent="-274320" algn="just">
              <a:lnSpc>
                <a:spcPct val="10000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the patterns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20" dirty="0">
                <a:latin typeface="Perpetua"/>
                <a:cs typeface="Perpetua"/>
              </a:rPr>
              <a:t>know </a:t>
            </a:r>
            <a:r>
              <a:rPr sz="2600" spc="-10" dirty="0">
                <a:latin typeface="Perpetua"/>
                <a:cs typeface="Perpetua"/>
              </a:rPr>
              <a:t>cats </a:t>
            </a:r>
            <a:r>
              <a:rPr sz="2600" spc="-55" dirty="0">
                <a:latin typeface="Perpetua"/>
                <a:cs typeface="Perpetua"/>
              </a:rPr>
              <a:t>follow,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quickly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15" dirty="0">
                <a:latin typeface="Perpetua"/>
                <a:cs typeface="Perpetua"/>
              </a:rPr>
              <a:t>several </a:t>
            </a:r>
            <a:r>
              <a:rPr sz="2600" spc="55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cats.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80543"/>
            <a:ext cx="82854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5" dirty="0">
                <a:latin typeface="Perpetua"/>
                <a:cs typeface="Perpetua"/>
              </a:rPr>
              <a:t>What </a:t>
            </a:r>
            <a:r>
              <a:rPr sz="3200" b="1" spc="-10" dirty="0">
                <a:latin typeface="Perpetua"/>
                <a:cs typeface="Perpetua"/>
              </a:rPr>
              <a:t>happens </a:t>
            </a:r>
            <a:r>
              <a:rPr sz="3200" b="1" spc="-20" dirty="0">
                <a:latin typeface="Perpetua"/>
                <a:cs typeface="Perpetua"/>
              </a:rPr>
              <a:t>when </a:t>
            </a:r>
            <a:r>
              <a:rPr sz="3200" b="1" spc="-50" dirty="0">
                <a:latin typeface="Perpetua"/>
                <a:cs typeface="Perpetua"/>
              </a:rPr>
              <a:t>we </a:t>
            </a:r>
            <a:r>
              <a:rPr sz="3200" b="1" spc="-15" dirty="0">
                <a:latin typeface="Perpetua"/>
                <a:cs typeface="Perpetua"/>
              </a:rPr>
              <a:t>don’t </a:t>
            </a:r>
            <a:r>
              <a:rPr sz="3200" b="1" dirty="0">
                <a:latin typeface="Perpetua"/>
                <a:cs typeface="Perpetua"/>
              </a:rPr>
              <a:t>look for</a:t>
            </a:r>
            <a:r>
              <a:rPr sz="3200" b="1" spc="135" dirty="0">
                <a:latin typeface="Perpetua"/>
                <a:cs typeface="Perpetua"/>
              </a:rPr>
              <a:t> </a:t>
            </a:r>
            <a:r>
              <a:rPr sz="3200" b="1" dirty="0">
                <a:latin typeface="Perpetua"/>
                <a:cs typeface="Perpetua"/>
              </a:rPr>
              <a:t>patterns?</a:t>
            </a:r>
            <a:endParaRPr sz="32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1064445"/>
            <a:ext cx="8531860" cy="527240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2600" spc="-5" dirty="0">
                <a:latin typeface="Perpetua"/>
                <a:cs typeface="Perpetua"/>
              </a:rPr>
              <a:t>Suppose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25" dirty="0">
                <a:latin typeface="Perpetua"/>
                <a:cs typeface="Perpetua"/>
              </a:rPr>
              <a:t>hadn’t </a:t>
            </a:r>
            <a:r>
              <a:rPr sz="2600" spc="-10" dirty="0">
                <a:latin typeface="Perpetua"/>
                <a:cs typeface="Perpetua"/>
              </a:rPr>
              <a:t>looked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patterns in</a:t>
            </a:r>
            <a:r>
              <a:rPr sz="2600" spc="8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cats,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ts val="2810"/>
              </a:lnSpc>
              <a:spcBef>
                <a:spcPts val="640"/>
              </a:spcBef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dirty="0"/>
              <a:t>	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dirty="0">
                <a:latin typeface="Perpetua"/>
                <a:cs typeface="Perpetua"/>
              </a:rPr>
              <a:t>time </a:t>
            </a:r>
            <a:r>
              <a:rPr sz="2600" spc="-4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wanted to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cat,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to stop and </a:t>
            </a:r>
            <a:r>
              <a:rPr sz="2600" spc="-25" dirty="0">
                <a:latin typeface="Perpetua"/>
                <a:cs typeface="Perpetua"/>
              </a:rPr>
              <a:t>work  </a:t>
            </a:r>
            <a:r>
              <a:rPr sz="2600" spc="-5" dirty="0">
                <a:latin typeface="Perpetua"/>
                <a:cs typeface="Perpetua"/>
              </a:rPr>
              <a:t>out what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5" dirty="0">
                <a:latin typeface="Perpetua"/>
                <a:cs typeface="Perpetua"/>
              </a:rPr>
              <a:t>cat </a:t>
            </a:r>
            <a:r>
              <a:rPr sz="2600" spc="-10" dirty="0">
                <a:latin typeface="Perpetua"/>
                <a:cs typeface="Perpetua"/>
              </a:rPr>
              <a:t>looked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like.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4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20" dirty="0">
                <a:latin typeface="Perpetua"/>
                <a:cs typeface="Perpetua"/>
              </a:rPr>
              <a:t>slow </a:t>
            </a:r>
            <a:r>
              <a:rPr sz="2600" spc="-5" dirty="0">
                <a:latin typeface="Perpetua"/>
                <a:cs typeface="Perpetua"/>
              </a:rPr>
              <a:t>us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down.</a:t>
            </a:r>
            <a:endParaRPr sz="2600">
              <a:latin typeface="Perpetua"/>
              <a:cs typeface="Perpetua"/>
            </a:endParaRPr>
          </a:p>
          <a:p>
            <a:pPr marL="286385" marR="6985" indent="-274320">
              <a:lnSpc>
                <a:spcPts val="2810"/>
              </a:lnSpc>
              <a:spcBef>
                <a:spcPts val="64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could still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5" dirty="0">
                <a:latin typeface="Perpetua"/>
                <a:cs typeface="Perpetua"/>
              </a:rPr>
              <a:t>our </a:t>
            </a:r>
            <a:r>
              <a:rPr sz="2600" spc="-10" dirty="0">
                <a:latin typeface="Perpetua"/>
                <a:cs typeface="Perpetua"/>
              </a:rPr>
              <a:t>cats </a:t>
            </a:r>
            <a:r>
              <a:rPr sz="2600" dirty="0">
                <a:latin typeface="Perpetua"/>
                <a:cs typeface="Perpetua"/>
              </a:rPr>
              <a:t>-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5" dirty="0">
                <a:latin typeface="Perpetua"/>
                <a:cs typeface="Perpetua"/>
              </a:rPr>
              <a:t>they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5" dirty="0">
                <a:latin typeface="Perpetua"/>
                <a:cs typeface="Perpetua"/>
              </a:rPr>
              <a:t>look </a:t>
            </a:r>
            <a:r>
              <a:rPr sz="2600" spc="-15" dirty="0">
                <a:latin typeface="Perpetua"/>
                <a:cs typeface="Perpetua"/>
              </a:rPr>
              <a:t>like </a:t>
            </a:r>
            <a:r>
              <a:rPr sz="2600" spc="-10" dirty="0">
                <a:latin typeface="Perpetua"/>
                <a:cs typeface="Perpetua"/>
              </a:rPr>
              <a:t>cats </a:t>
            </a:r>
            <a:r>
              <a:rPr sz="2600" dirty="0">
                <a:latin typeface="Perpetua"/>
                <a:cs typeface="Perpetua"/>
              </a:rPr>
              <a:t>- </a:t>
            </a:r>
            <a:r>
              <a:rPr sz="2600" spc="-15" dirty="0">
                <a:latin typeface="Perpetua"/>
                <a:cs typeface="Perpetua"/>
              </a:rPr>
              <a:t>but 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15" dirty="0">
                <a:latin typeface="Perpetua"/>
                <a:cs typeface="Perpetua"/>
              </a:rPr>
              <a:t>cat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10" dirty="0">
                <a:latin typeface="Perpetua"/>
                <a:cs typeface="Perpetua"/>
              </a:rPr>
              <a:t>take far </a:t>
            </a:r>
            <a:r>
              <a:rPr sz="2600" spc="-5" dirty="0">
                <a:latin typeface="Perpetua"/>
                <a:cs typeface="Perpetua"/>
              </a:rPr>
              <a:t>longer to</a:t>
            </a:r>
            <a:r>
              <a:rPr sz="2600" spc="70" dirty="0">
                <a:latin typeface="Perpetua"/>
                <a:cs typeface="Perpetua"/>
              </a:rPr>
              <a:t> </a:t>
            </a:r>
            <a:r>
              <a:rPr sz="2600" spc="-85" dirty="0">
                <a:latin typeface="Perpetua"/>
                <a:cs typeface="Perpetua"/>
              </a:rPr>
              <a:t>draw.</a:t>
            </a:r>
            <a:endParaRPr sz="2600">
              <a:latin typeface="Perpetua"/>
              <a:cs typeface="Perpetua"/>
            </a:endParaRPr>
          </a:p>
          <a:p>
            <a:pPr marL="286385" marR="8255" indent="-274320">
              <a:lnSpc>
                <a:spcPts val="281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5" dirty="0">
                <a:latin typeface="Perpetua"/>
                <a:cs typeface="Perpetua"/>
              </a:rPr>
              <a:t>be </a:t>
            </a:r>
            <a:r>
              <a:rPr sz="2600" spc="-10" dirty="0">
                <a:latin typeface="Perpetua"/>
                <a:cs typeface="Perpetua"/>
              </a:rPr>
              <a:t>very </a:t>
            </a:r>
            <a:r>
              <a:rPr sz="2600" dirty="0">
                <a:latin typeface="Perpetua"/>
                <a:cs typeface="Perpetua"/>
              </a:rPr>
              <a:t>inefficient,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poor </a:t>
            </a:r>
            <a:r>
              <a:rPr sz="2600" spc="-40" dirty="0">
                <a:latin typeface="Perpetua"/>
                <a:cs typeface="Perpetua"/>
              </a:rPr>
              <a:t>way </a:t>
            </a:r>
            <a:r>
              <a:rPr sz="2600" spc="5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go about </a:t>
            </a:r>
            <a:r>
              <a:rPr sz="2600" dirty="0">
                <a:latin typeface="Perpetua"/>
                <a:cs typeface="Perpetua"/>
              </a:rPr>
              <a:t>solving  the </a:t>
            </a:r>
            <a:r>
              <a:rPr sz="2600" spc="-15" dirty="0">
                <a:latin typeface="Perpetua"/>
                <a:cs typeface="Perpetua"/>
              </a:rPr>
              <a:t>cat-drawing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task.</a:t>
            </a:r>
            <a:endParaRPr sz="2600">
              <a:latin typeface="Perpetua"/>
              <a:cs typeface="Perpetua"/>
            </a:endParaRPr>
          </a:p>
          <a:p>
            <a:pPr marL="286385" marR="8255" indent="-274320">
              <a:lnSpc>
                <a:spcPts val="281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In addition, </a:t>
            </a:r>
            <a:r>
              <a:rPr sz="2600" spc="5" dirty="0">
                <a:latin typeface="Perpetua"/>
                <a:cs typeface="Perpetua"/>
              </a:rPr>
              <a:t>if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30" dirty="0">
                <a:latin typeface="Perpetua"/>
                <a:cs typeface="Perpetua"/>
              </a:rPr>
              <a:t>don’t </a:t>
            </a:r>
            <a:r>
              <a:rPr sz="2600" spc="-5" dirty="0">
                <a:latin typeface="Perpetua"/>
                <a:cs typeface="Perpetua"/>
              </a:rPr>
              <a:t>look for </a:t>
            </a:r>
            <a:r>
              <a:rPr sz="2600" dirty="0">
                <a:latin typeface="Perpetua"/>
                <a:cs typeface="Perpetua"/>
              </a:rPr>
              <a:t>patterns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might not realise </a:t>
            </a:r>
            <a:r>
              <a:rPr sz="2600" spc="-15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all  </a:t>
            </a:r>
            <a:r>
              <a:rPr sz="2600" spc="-10" dirty="0">
                <a:latin typeface="Perpetua"/>
                <a:cs typeface="Perpetua"/>
              </a:rPr>
              <a:t>cats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20" dirty="0">
                <a:latin typeface="Perpetua"/>
                <a:cs typeface="Perpetua"/>
              </a:rPr>
              <a:t>eyes, </a:t>
            </a:r>
            <a:r>
              <a:rPr sz="2600" dirty="0">
                <a:latin typeface="Perpetua"/>
                <a:cs typeface="Perpetua"/>
              </a:rPr>
              <a:t>tails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spc="-60" dirty="0">
                <a:latin typeface="Perpetua"/>
                <a:cs typeface="Perpetua"/>
              </a:rPr>
              <a:t>fur.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4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When </a:t>
            </a:r>
            <a:r>
              <a:rPr sz="2600" spc="-15" dirty="0">
                <a:latin typeface="Perpetua"/>
                <a:cs typeface="Perpetua"/>
              </a:rPr>
              <a:t>drawn, </a:t>
            </a:r>
            <a:r>
              <a:rPr sz="2600" spc="-5" dirty="0">
                <a:latin typeface="Perpetua"/>
                <a:cs typeface="Perpetua"/>
              </a:rPr>
              <a:t>our </a:t>
            </a:r>
            <a:r>
              <a:rPr sz="2600" spc="-10" dirty="0">
                <a:latin typeface="Perpetua"/>
                <a:cs typeface="Perpetua"/>
              </a:rPr>
              <a:t>cats </a:t>
            </a:r>
            <a:r>
              <a:rPr sz="2600" spc="-5" dirty="0">
                <a:latin typeface="Perpetua"/>
                <a:cs typeface="Perpetua"/>
              </a:rPr>
              <a:t>might not </a:t>
            </a:r>
            <a:r>
              <a:rPr sz="2600" spc="-25" dirty="0">
                <a:latin typeface="Perpetua"/>
                <a:cs typeface="Perpetua"/>
              </a:rPr>
              <a:t>even </a:t>
            </a:r>
            <a:r>
              <a:rPr sz="2600" spc="-5" dirty="0">
                <a:latin typeface="Perpetua"/>
                <a:cs typeface="Perpetua"/>
              </a:rPr>
              <a:t>look </a:t>
            </a:r>
            <a:r>
              <a:rPr sz="2600" spc="-10" dirty="0">
                <a:latin typeface="Perpetua"/>
                <a:cs typeface="Perpetua"/>
              </a:rPr>
              <a:t>like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cats.</a:t>
            </a:r>
            <a:endParaRPr sz="2600">
              <a:latin typeface="Perpetua"/>
              <a:cs typeface="Perpetua"/>
            </a:endParaRPr>
          </a:p>
          <a:p>
            <a:pPr marL="286385" marR="5715" indent="-274320">
              <a:lnSpc>
                <a:spcPts val="2810"/>
              </a:lnSpc>
              <a:spcBef>
                <a:spcPts val="640"/>
              </a:spcBef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dirty="0"/>
              <a:t>	</a:t>
            </a:r>
            <a:r>
              <a:rPr sz="2600" spc="-5" dirty="0">
                <a:latin typeface="Perpetua"/>
                <a:cs typeface="Perpetua"/>
              </a:rPr>
              <a:t>In </a:t>
            </a: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10" dirty="0">
                <a:latin typeface="Perpetua"/>
                <a:cs typeface="Perpetua"/>
              </a:rPr>
              <a:t>case, </a:t>
            </a:r>
            <a:r>
              <a:rPr sz="2600" spc="-5" dirty="0">
                <a:latin typeface="Perpetua"/>
                <a:cs typeface="Perpetua"/>
              </a:rPr>
              <a:t>because </a:t>
            </a:r>
            <a:r>
              <a:rPr sz="2600" spc="-55" dirty="0">
                <a:latin typeface="Perpetua"/>
                <a:cs typeface="Perpetua"/>
              </a:rPr>
              <a:t>we </a:t>
            </a:r>
            <a:r>
              <a:rPr sz="2600" spc="-25" dirty="0">
                <a:latin typeface="Perpetua"/>
                <a:cs typeface="Perpetua"/>
              </a:rPr>
              <a:t>didn’t </a:t>
            </a:r>
            <a:r>
              <a:rPr sz="2600" spc="-5" dirty="0">
                <a:latin typeface="Perpetua"/>
                <a:cs typeface="Perpetua"/>
              </a:rPr>
              <a:t>recognise </a:t>
            </a:r>
            <a:r>
              <a:rPr sz="2600" dirty="0">
                <a:latin typeface="Perpetua"/>
                <a:cs typeface="Perpetua"/>
              </a:rPr>
              <a:t>the pattern,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20" dirty="0">
                <a:latin typeface="Perpetua"/>
                <a:cs typeface="Perpetua"/>
              </a:rPr>
              <a:t>would </a:t>
            </a:r>
            <a:r>
              <a:rPr sz="2600" spc="-5" dirty="0">
                <a:latin typeface="Perpetua"/>
                <a:cs typeface="Perpetua"/>
              </a:rPr>
              <a:t>be  solving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spc="-30" dirty="0">
                <a:latin typeface="Perpetua"/>
                <a:cs typeface="Perpetua"/>
              </a:rPr>
              <a:t>incorrectly.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34817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Recognising</a:t>
            </a:r>
            <a:r>
              <a:rPr sz="3600" spc="-30" dirty="0"/>
              <a:t> </a:t>
            </a:r>
            <a:r>
              <a:rPr sz="3600" spc="-5" dirty="0"/>
              <a:t>Patterns</a:t>
            </a:r>
            <a:endParaRPr sz="36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24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pc="-170" dirty="0"/>
              <a:t>To </a:t>
            </a:r>
            <a:r>
              <a:rPr dirty="0"/>
              <a:t>find </a:t>
            </a:r>
            <a:r>
              <a:rPr spc="5" dirty="0"/>
              <a:t>patterns </a:t>
            </a:r>
            <a:r>
              <a:rPr dirty="0"/>
              <a:t>in </a:t>
            </a:r>
            <a:r>
              <a:rPr spc="-15" dirty="0"/>
              <a:t>problems </a:t>
            </a:r>
            <a:r>
              <a:rPr spc="-50" dirty="0"/>
              <a:t>we </a:t>
            </a:r>
            <a:r>
              <a:rPr spc="-5" dirty="0"/>
              <a:t>look for things </a:t>
            </a:r>
            <a:r>
              <a:rPr spc="-10" dirty="0"/>
              <a:t>that are </a:t>
            </a:r>
            <a:r>
              <a:rPr dirty="0"/>
              <a:t>the same (or  </a:t>
            </a:r>
            <a:r>
              <a:rPr spc="-10" dirty="0"/>
              <a:t>very </a:t>
            </a:r>
            <a:r>
              <a:rPr dirty="0"/>
              <a:t>similar) in </a:t>
            </a:r>
            <a:r>
              <a:rPr spc="10" dirty="0"/>
              <a:t>each</a:t>
            </a:r>
            <a:r>
              <a:rPr dirty="0"/>
              <a:t> </a:t>
            </a:r>
            <a:r>
              <a:rPr spc="-10" dirty="0"/>
              <a:t>problem.</a:t>
            </a:r>
          </a:p>
          <a:p>
            <a:pPr marL="287020" marR="635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  <a:tab pos="665480" algn="l"/>
                <a:tab pos="1348105" algn="l"/>
                <a:tab pos="2068830" algn="l"/>
                <a:tab pos="2665095" algn="l"/>
                <a:tab pos="3317875" algn="l"/>
                <a:tab pos="3815715" algn="l"/>
                <a:tab pos="5069205" algn="l"/>
                <a:tab pos="6958965" algn="l"/>
                <a:tab pos="7717790" algn="l"/>
              </a:tabLst>
            </a:pPr>
            <a:r>
              <a:rPr spc="-5" dirty="0"/>
              <a:t>I</a:t>
            </a:r>
            <a:r>
              <a:rPr dirty="0"/>
              <a:t>t	</a:t>
            </a:r>
            <a:r>
              <a:rPr spc="5" dirty="0"/>
              <a:t>m</a:t>
            </a:r>
            <a:r>
              <a:rPr spc="-100" dirty="0"/>
              <a:t>a</a:t>
            </a:r>
            <a:r>
              <a:rPr dirty="0"/>
              <a:t>y	tu</a:t>
            </a:r>
            <a:r>
              <a:rPr spc="85" dirty="0"/>
              <a:t>r</a:t>
            </a:r>
            <a:r>
              <a:rPr dirty="0"/>
              <a:t>n	</a:t>
            </a:r>
            <a:r>
              <a:rPr spc="-5" dirty="0"/>
              <a:t>ou</a:t>
            </a:r>
            <a:r>
              <a:rPr dirty="0"/>
              <a:t>t	th</a:t>
            </a:r>
            <a:r>
              <a:rPr spc="-35" dirty="0"/>
              <a:t>a</a:t>
            </a:r>
            <a:r>
              <a:rPr dirty="0"/>
              <a:t>t	</a:t>
            </a:r>
            <a:r>
              <a:rPr spc="-5" dirty="0"/>
              <a:t>n</a:t>
            </a:r>
            <a:r>
              <a:rPr dirty="0"/>
              <a:t>o	c</a:t>
            </a:r>
            <a:r>
              <a:rPr spc="-10" dirty="0"/>
              <a:t>o</a:t>
            </a:r>
            <a:r>
              <a:rPr spc="-5" dirty="0"/>
              <a:t>m</a:t>
            </a:r>
            <a:r>
              <a:rPr spc="5" dirty="0"/>
              <a:t>m</a:t>
            </a:r>
            <a:r>
              <a:rPr dirty="0"/>
              <a:t>on	</a:t>
            </a:r>
            <a:r>
              <a:rPr spc="35" dirty="0"/>
              <a:t>c</a:t>
            </a:r>
            <a:r>
              <a:rPr dirty="0"/>
              <a:t>haracte</a:t>
            </a:r>
            <a:r>
              <a:rPr spc="45" dirty="0"/>
              <a:t>r</a:t>
            </a:r>
            <a:r>
              <a:rPr dirty="0"/>
              <a:t>istics	exist	</a:t>
            </a:r>
            <a:r>
              <a:rPr spc="-5" dirty="0"/>
              <a:t>amo</a:t>
            </a:r>
            <a:r>
              <a:rPr spc="-15" dirty="0"/>
              <a:t>n</a:t>
            </a:r>
            <a:r>
              <a:rPr dirty="0"/>
              <a:t>g  </a:t>
            </a:r>
            <a:r>
              <a:rPr spc="-10" dirty="0"/>
              <a:t>problems, but </a:t>
            </a:r>
            <a:r>
              <a:rPr spc="-50" dirty="0"/>
              <a:t>we </a:t>
            </a:r>
            <a:r>
              <a:rPr dirty="0"/>
              <a:t>should still</a:t>
            </a:r>
            <a:r>
              <a:rPr spc="-85" dirty="0"/>
              <a:t> </a:t>
            </a:r>
            <a:r>
              <a:rPr spc="-5" dirty="0"/>
              <a:t>look.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88434" y="2866466"/>
            <a:ext cx="484886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53210" algn="l"/>
                <a:tab pos="3176905" algn="l"/>
                <a:tab pos="3905250" algn="l"/>
              </a:tabLst>
            </a:pPr>
            <a:r>
              <a:rPr sz="2600" b="1" dirty="0">
                <a:latin typeface="Perpetua"/>
                <a:cs typeface="Perpetua"/>
              </a:rPr>
              <a:t>d</a:t>
            </a:r>
            <a:r>
              <a:rPr sz="2600" b="1" spc="-10" dirty="0">
                <a:latin typeface="Perpetua"/>
                <a:cs typeface="Perpetua"/>
              </a:rPr>
              <a:t>i</a:t>
            </a:r>
            <a:r>
              <a:rPr sz="2600" b="1" dirty="0">
                <a:latin typeface="Perpetua"/>
                <a:cs typeface="Perpetua"/>
              </a:rPr>
              <a:t>ffer</a:t>
            </a:r>
            <a:r>
              <a:rPr sz="2600" b="1" spc="-15" dirty="0">
                <a:latin typeface="Perpetua"/>
                <a:cs typeface="Perpetua"/>
              </a:rPr>
              <a:t>e</a:t>
            </a:r>
            <a:r>
              <a:rPr sz="2600" b="1" dirty="0">
                <a:latin typeface="Perpetua"/>
                <a:cs typeface="Perpetua"/>
              </a:rPr>
              <a:t>nt	pro</a:t>
            </a:r>
            <a:r>
              <a:rPr sz="2600" b="1" spc="-40" dirty="0">
                <a:latin typeface="Perpetua"/>
                <a:cs typeface="Perpetua"/>
              </a:rPr>
              <a:t>b</a:t>
            </a:r>
            <a:r>
              <a:rPr sz="2600" b="1" dirty="0">
                <a:latin typeface="Perpetua"/>
                <a:cs typeface="Perpetua"/>
              </a:rPr>
              <a:t>lems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-1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	</a:t>
            </a:r>
            <a:r>
              <a:rPr sz="2600" b="1" dirty="0">
                <a:latin typeface="Perpetua"/>
                <a:cs typeface="Perpetua"/>
              </a:rPr>
              <a:t>with</a:t>
            </a:r>
            <a:r>
              <a:rPr sz="2600" b="1" spc="-10" dirty="0">
                <a:latin typeface="Perpetua"/>
                <a:cs typeface="Perpetua"/>
              </a:rPr>
              <a:t>i</a:t>
            </a:r>
            <a:r>
              <a:rPr sz="2600" b="1" dirty="0">
                <a:latin typeface="Perpetua"/>
                <a:cs typeface="Perpetua"/>
              </a:rPr>
              <a:t>n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2866466"/>
            <a:ext cx="3402329" cy="1291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1571625" algn="l"/>
                <a:tab pos="2437130" algn="l"/>
              </a:tabLst>
            </a:pPr>
            <a:r>
              <a:rPr sz="2600" spc="-55" dirty="0">
                <a:latin typeface="Perpetua"/>
                <a:cs typeface="Perpetua"/>
              </a:rPr>
              <a:t>P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-1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7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ns	e</a:t>
            </a:r>
            <a:r>
              <a:rPr sz="2600" spc="-10" dirty="0">
                <a:latin typeface="Perpetua"/>
                <a:cs typeface="Perpetua"/>
              </a:rPr>
              <a:t>x</a:t>
            </a:r>
            <a:r>
              <a:rPr sz="2600" dirty="0">
                <a:latin typeface="Perpetua"/>
                <a:cs typeface="Perpetua"/>
              </a:rPr>
              <a:t>ist	</a:t>
            </a:r>
            <a:r>
              <a:rPr sz="2600" b="1" dirty="0">
                <a:latin typeface="Perpetua"/>
                <a:cs typeface="Perpetua"/>
              </a:rPr>
              <a:t>among  </a:t>
            </a:r>
            <a:r>
              <a:rPr sz="2600" b="1" spc="-10" dirty="0">
                <a:latin typeface="Perpetua"/>
                <a:cs typeface="Perpetua"/>
              </a:rPr>
              <a:t>individual</a:t>
            </a:r>
            <a:r>
              <a:rPr sz="2600" b="1" dirty="0">
                <a:latin typeface="Perpetua"/>
                <a:cs typeface="Perpetua"/>
              </a:rPr>
              <a:t> </a:t>
            </a:r>
            <a:r>
              <a:rPr sz="2600" b="1" spc="-5" dirty="0">
                <a:latin typeface="Perpetua"/>
                <a:cs typeface="Perpetua"/>
              </a:rPr>
              <a:t>problems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need </a:t>
            </a:r>
            <a:r>
              <a:rPr sz="2600" spc="-5" dirty="0">
                <a:latin typeface="Perpetua"/>
                <a:cs typeface="Perpetua"/>
              </a:rPr>
              <a:t>to look for</a:t>
            </a:r>
            <a:r>
              <a:rPr sz="2600" spc="8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both.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545947"/>
            <a:ext cx="8528685" cy="312928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600" spc="-25" dirty="0">
                <a:latin typeface="Perpetua"/>
                <a:cs typeface="Perpetua"/>
              </a:rPr>
              <a:t>For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example:</a:t>
            </a:r>
            <a:endParaRPr sz="2600">
              <a:latin typeface="Perpetua"/>
              <a:cs typeface="Perpetua"/>
            </a:endParaRPr>
          </a:p>
          <a:p>
            <a:pPr marL="561340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15" dirty="0">
                <a:latin typeface="Perpetua"/>
                <a:cs typeface="Perpetua"/>
              </a:rPr>
              <a:t>cake </a:t>
            </a:r>
            <a:r>
              <a:rPr sz="2600" dirty="0">
                <a:latin typeface="Perpetua"/>
                <a:cs typeface="Perpetua"/>
              </a:rPr>
              <a:t>will need a </a:t>
            </a:r>
            <a:r>
              <a:rPr sz="2600" spc="-5" dirty="0">
                <a:latin typeface="Perpetua"/>
                <a:cs typeface="Perpetua"/>
              </a:rPr>
              <a:t>precise </a:t>
            </a:r>
            <a:r>
              <a:rPr sz="2600" b="1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quantity</a:t>
            </a:r>
            <a:r>
              <a:rPr sz="2600" b="1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of specific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ingredients</a:t>
            </a:r>
            <a:endParaRPr sz="2600">
              <a:latin typeface="Perpetua"/>
              <a:cs typeface="Perpetua"/>
            </a:endParaRPr>
          </a:p>
          <a:p>
            <a:pPr marL="561340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ingredients will </a:t>
            </a:r>
            <a:r>
              <a:rPr sz="2600" spc="-5" dirty="0">
                <a:latin typeface="Perpetua"/>
                <a:cs typeface="Perpetua"/>
              </a:rPr>
              <a:t>get added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specific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b="1" u="heavy" spc="-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time</a:t>
            </a:r>
            <a:endParaRPr sz="2600">
              <a:latin typeface="Perpetua"/>
              <a:cs typeface="Perpetua"/>
            </a:endParaRPr>
          </a:p>
          <a:p>
            <a:pPr marL="561340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15" dirty="0">
                <a:latin typeface="Perpetua"/>
                <a:cs typeface="Perpetua"/>
              </a:rPr>
              <a:t>cake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10" dirty="0">
                <a:latin typeface="Perpetua"/>
                <a:cs typeface="Perpetua"/>
              </a:rPr>
              <a:t>bake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specific </a:t>
            </a:r>
            <a:r>
              <a:rPr sz="2600" spc="5" dirty="0">
                <a:latin typeface="Perpetua"/>
                <a:cs typeface="Perpetua"/>
              </a:rPr>
              <a:t>period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time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5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Once </a:t>
            </a:r>
            <a:r>
              <a:rPr sz="2600" b="1" i="1" spc="-30" dirty="0">
                <a:solidFill>
                  <a:srgbClr val="C00000"/>
                </a:solidFill>
                <a:latin typeface="Perpetua"/>
                <a:cs typeface="Perpetua"/>
              </a:rPr>
              <a:t>we </a:t>
            </a:r>
            <a:r>
              <a:rPr sz="2600" b="1" i="1" spc="-35" dirty="0">
                <a:solidFill>
                  <a:srgbClr val="C00000"/>
                </a:solidFill>
                <a:latin typeface="Perpetua"/>
                <a:cs typeface="Perpetua"/>
              </a:rPr>
              <a:t>have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the patterns identified, </a:t>
            </a:r>
            <a:r>
              <a:rPr sz="2600" b="1" i="1" spc="-30" dirty="0">
                <a:solidFill>
                  <a:srgbClr val="C00000"/>
                </a:solidFill>
                <a:latin typeface="Perpetua"/>
                <a:cs typeface="Perpetua"/>
              </a:rPr>
              <a:t>we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can </a:t>
            </a:r>
            <a:r>
              <a:rPr sz="2600" b="1" i="1" spc="-15" dirty="0">
                <a:solidFill>
                  <a:srgbClr val="C00000"/>
                </a:solidFill>
                <a:latin typeface="Perpetua"/>
                <a:cs typeface="Perpetua"/>
              </a:rPr>
              <a:t>work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on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common 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solutions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between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the</a:t>
            </a:r>
            <a:r>
              <a:rPr sz="2600" b="1" i="1" spc="-6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problems.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25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3175" y="6074155"/>
            <a:ext cx="3845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Perpetua"/>
                <a:cs typeface="Perpetua"/>
              </a:rPr>
              <a:t>Case </a:t>
            </a:r>
            <a:r>
              <a:rPr sz="4000" spc="-15" dirty="0">
                <a:latin typeface="Perpetua"/>
                <a:cs typeface="Perpetua"/>
              </a:rPr>
              <a:t>study </a:t>
            </a:r>
            <a:r>
              <a:rPr sz="4000" spc="-10" dirty="0">
                <a:latin typeface="Perpetua"/>
                <a:cs typeface="Perpetua"/>
              </a:rPr>
              <a:t>time</a:t>
            </a:r>
            <a:r>
              <a:rPr sz="4000" spc="-2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…..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26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381000"/>
            <a:ext cx="3733800" cy="4985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1281430"/>
            <a:ext cx="8407400" cy="1215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Given following </a:t>
            </a:r>
            <a:r>
              <a:rPr sz="2600" spc="-5" dirty="0">
                <a:latin typeface="Perpetua"/>
                <a:cs typeface="Perpetua"/>
              </a:rPr>
              <a:t>monster </a:t>
            </a:r>
            <a:r>
              <a:rPr sz="2600" dirty="0">
                <a:latin typeface="Perpetua"/>
                <a:cs typeface="Perpetua"/>
              </a:rPr>
              <a:t>head(first </a:t>
            </a:r>
            <a:r>
              <a:rPr sz="2600" spc="-5" dirty="0">
                <a:latin typeface="Perpetua"/>
                <a:cs typeface="Perpetua"/>
              </a:rPr>
              <a:t>name) </a:t>
            </a:r>
            <a:r>
              <a:rPr sz="2600" dirty="0">
                <a:latin typeface="Perpetua"/>
                <a:cs typeface="Perpetua"/>
              </a:rPr>
              <a:t>with </a:t>
            </a:r>
            <a:r>
              <a:rPr sz="2600" spc="-5" dirty="0">
                <a:latin typeface="Perpetua"/>
                <a:cs typeface="Perpetua"/>
              </a:rPr>
              <a:t>features(last name).  </a:t>
            </a: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spc="-10" dirty="0">
                <a:latin typeface="Perpetua"/>
                <a:cs typeface="Perpetua"/>
              </a:rPr>
              <a:t>we </a:t>
            </a:r>
            <a:r>
              <a:rPr sz="2600" i="1" spc="10" dirty="0">
                <a:latin typeface="Perpetua"/>
                <a:cs typeface="Perpetua"/>
              </a:rPr>
              <a:t>write </a:t>
            </a:r>
            <a:r>
              <a:rPr sz="2600" i="1" dirty="0">
                <a:latin typeface="Perpetua"/>
                <a:cs typeface="Perpetua"/>
              </a:rPr>
              <a:t>a set </a:t>
            </a:r>
            <a:r>
              <a:rPr sz="2600" i="1" spc="-5" dirty="0">
                <a:latin typeface="Perpetua"/>
                <a:cs typeface="Perpetua"/>
              </a:rPr>
              <a:t>of instructions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computer in order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35" dirty="0">
                <a:latin typeface="Perpetua"/>
                <a:cs typeface="Perpetua"/>
              </a:rPr>
              <a:t>draw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30" dirty="0">
                <a:latin typeface="Perpetua"/>
                <a:cs typeface="Perpetua"/>
              </a:rPr>
              <a:t>monster’s  </a:t>
            </a:r>
            <a:r>
              <a:rPr sz="2600" i="1" dirty="0">
                <a:latin typeface="Perpetua"/>
                <a:cs typeface="Perpetua"/>
              </a:rPr>
              <a:t>head with </a:t>
            </a:r>
            <a:r>
              <a:rPr sz="2600" i="1" spc="-10" dirty="0">
                <a:latin typeface="Perpetua"/>
                <a:cs typeface="Perpetua"/>
              </a:rPr>
              <a:t>creating </a:t>
            </a:r>
            <a:r>
              <a:rPr sz="2600" i="1" dirty="0">
                <a:latin typeface="Perpetua"/>
                <a:cs typeface="Perpetua"/>
              </a:rPr>
              <a:t>new </a:t>
            </a:r>
            <a:r>
              <a:rPr sz="2600" i="1" spc="-5" dirty="0">
                <a:latin typeface="Perpetua"/>
                <a:cs typeface="Perpetua"/>
              </a:rPr>
              <a:t>monster</a:t>
            </a:r>
            <a:r>
              <a:rPr sz="2600" i="1" spc="-10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catalogue?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182626"/>
            <a:ext cx="2707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Draw </a:t>
            </a:r>
            <a:r>
              <a:rPr sz="3600" dirty="0"/>
              <a:t>a</a:t>
            </a:r>
            <a:r>
              <a:rPr sz="3600" spc="-35" dirty="0"/>
              <a:t> </a:t>
            </a:r>
            <a:r>
              <a:rPr sz="3600" spc="-5" dirty="0"/>
              <a:t>Monster</a:t>
            </a:r>
            <a:endParaRPr sz="3600"/>
          </a:p>
        </p:txBody>
      </p:sp>
      <p:sp>
        <p:nvSpPr>
          <p:cNvPr id="5" name="object 5"/>
          <p:cNvSpPr/>
          <p:nvPr/>
        </p:nvSpPr>
        <p:spPr>
          <a:xfrm>
            <a:off x="914400" y="3124200"/>
            <a:ext cx="1676400" cy="15361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3444" y="4792217"/>
            <a:ext cx="1722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Perpetua"/>
                <a:cs typeface="Perpetua"/>
              </a:rPr>
              <a:t>Zombus</a:t>
            </a:r>
            <a:r>
              <a:rPr sz="2400" spc="-375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Vegitas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05200" y="3048000"/>
            <a:ext cx="1598676" cy="1676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08375" y="4868417"/>
            <a:ext cx="167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Frankn</a:t>
            </a:r>
            <a:r>
              <a:rPr sz="2400" spc="-375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Wackus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19800" y="3048000"/>
            <a:ext cx="1981200" cy="17084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51828" y="4868417"/>
            <a:ext cx="1689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Perpetua"/>
                <a:cs typeface="Perpetua"/>
              </a:rPr>
              <a:t>Happy</a:t>
            </a:r>
            <a:r>
              <a:rPr sz="2400" spc="-80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Spritem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469747"/>
            <a:ext cx="8304530" cy="552640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Decomposition: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Break </a:t>
            </a:r>
            <a:r>
              <a:rPr sz="2600" spc="-15" dirty="0">
                <a:latin typeface="Perpetua"/>
                <a:cs typeface="Perpetua"/>
              </a:rPr>
              <a:t>drawing </a:t>
            </a:r>
            <a:r>
              <a:rPr sz="2600" spc="-5" dirty="0">
                <a:latin typeface="Perpetua"/>
                <a:cs typeface="Perpetua"/>
              </a:rPr>
              <a:t>process </a:t>
            </a:r>
            <a:r>
              <a:rPr sz="2600" dirty="0">
                <a:latin typeface="Perpetua"/>
                <a:cs typeface="Perpetua"/>
              </a:rPr>
              <a:t>into smaller</a:t>
            </a:r>
            <a:r>
              <a:rPr sz="2600" spc="5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tasks.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Create </a:t>
            </a:r>
            <a:r>
              <a:rPr sz="2600" dirty="0">
                <a:latin typeface="Perpetua"/>
                <a:cs typeface="Perpetua"/>
              </a:rPr>
              <a:t>a list of things needed to be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done.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Use </a:t>
            </a:r>
            <a:r>
              <a:rPr sz="2600" spc="-5" dirty="0">
                <a:latin typeface="Perpetua"/>
                <a:cs typeface="Perpetua"/>
              </a:rPr>
              <a:t>the </a:t>
            </a:r>
            <a:r>
              <a:rPr sz="2600" dirty="0">
                <a:latin typeface="Perpetua"/>
                <a:cs typeface="Perpetua"/>
              </a:rPr>
              <a:t>list </a:t>
            </a:r>
            <a:r>
              <a:rPr sz="2600" spc="-15" dirty="0">
                <a:latin typeface="Perpetua"/>
                <a:cs typeface="Perpetua"/>
              </a:rPr>
              <a:t>below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15" dirty="0">
                <a:latin typeface="Perpetua"/>
                <a:cs typeface="Perpetua"/>
              </a:rPr>
              <a:t>start. </a:t>
            </a:r>
            <a:r>
              <a:rPr sz="2600" dirty="0">
                <a:latin typeface="Perpetua"/>
                <a:cs typeface="Perpetua"/>
              </a:rPr>
              <a:t>Can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dirty="0">
                <a:latin typeface="Perpetua"/>
                <a:cs typeface="Perpetua"/>
              </a:rPr>
              <a:t>think of other tasks to </a:t>
            </a:r>
            <a:r>
              <a:rPr sz="2600" spc="-5" dirty="0">
                <a:latin typeface="Perpetua"/>
                <a:cs typeface="Perpetua"/>
              </a:rPr>
              <a:t>add </a:t>
            </a:r>
            <a:r>
              <a:rPr sz="2600" dirty="0">
                <a:latin typeface="Perpetua"/>
                <a:cs typeface="Perpetua"/>
              </a:rPr>
              <a:t>to  the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list?</a:t>
            </a:r>
            <a:endParaRPr sz="2600">
              <a:latin typeface="Perpetua"/>
              <a:cs typeface="Perpetua"/>
            </a:endParaRPr>
          </a:p>
          <a:p>
            <a:pPr marL="835660" lvl="2" indent="-229235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dirty="0">
                <a:latin typeface="Perpetua"/>
                <a:cs typeface="Perpetua"/>
              </a:rPr>
              <a:t>Example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List</a:t>
            </a:r>
            <a:endParaRPr sz="2600">
              <a:latin typeface="Perpetua"/>
              <a:cs typeface="Perpetua"/>
            </a:endParaRPr>
          </a:p>
          <a:p>
            <a:pPr marL="1658620" lvl="3" indent="-229235">
              <a:lnSpc>
                <a:spcPct val="100000"/>
              </a:lnSpc>
              <a:spcBef>
                <a:spcPts val="430"/>
              </a:spcBef>
              <a:buClr>
                <a:srgbClr val="A18E6A"/>
              </a:buClr>
              <a:buChar char="•"/>
              <a:tabLst>
                <a:tab pos="1659255" algn="l"/>
              </a:tabLst>
            </a:pPr>
            <a:r>
              <a:rPr sz="2400" spc="-10" dirty="0">
                <a:latin typeface="Perpetua"/>
                <a:cs typeface="Perpetua"/>
              </a:rPr>
              <a:t>Create three </a:t>
            </a:r>
            <a:r>
              <a:rPr sz="2400" spc="-5" dirty="0">
                <a:latin typeface="Perpetua"/>
                <a:cs typeface="Perpetua"/>
              </a:rPr>
              <a:t>different</a:t>
            </a:r>
            <a:r>
              <a:rPr sz="2400" spc="1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monsters.</a:t>
            </a:r>
            <a:endParaRPr sz="2400">
              <a:latin typeface="Perpetua"/>
              <a:cs typeface="Perpetua"/>
            </a:endParaRPr>
          </a:p>
          <a:p>
            <a:pPr marL="1658620" lvl="3" indent="-229235">
              <a:lnSpc>
                <a:spcPct val="100000"/>
              </a:lnSpc>
              <a:spcBef>
                <a:spcPts val="405"/>
              </a:spcBef>
              <a:buClr>
                <a:srgbClr val="A18E6A"/>
              </a:buClr>
              <a:buChar char="•"/>
              <a:tabLst>
                <a:tab pos="1659255" algn="l"/>
              </a:tabLst>
            </a:pPr>
            <a:r>
              <a:rPr sz="2400" spc="20" dirty="0">
                <a:latin typeface="Perpetua"/>
                <a:cs typeface="Perpetua"/>
              </a:rPr>
              <a:t>Sort </a:t>
            </a:r>
            <a:r>
              <a:rPr sz="2400" dirty="0">
                <a:latin typeface="Perpetua"/>
                <a:cs typeface="Perpetua"/>
              </a:rPr>
              <a:t>monsters </a:t>
            </a: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spc="-10" dirty="0">
                <a:latin typeface="Perpetua"/>
                <a:cs typeface="Perpetua"/>
              </a:rPr>
              <a:t>face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shape.</a:t>
            </a:r>
            <a:endParaRPr sz="2400">
              <a:latin typeface="Perpetua"/>
              <a:cs typeface="Perpetua"/>
            </a:endParaRPr>
          </a:p>
          <a:p>
            <a:pPr marL="1658620" lvl="3" indent="-229235">
              <a:lnSpc>
                <a:spcPct val="100000"/>
              </a:lnSpc>
              <a:spcBef>
                <a:spcPts val="395"/>
              </a:spcBef>
              <a:buClr>
                <a:srgbClr val="A18E6A"/>
              </a:buClr>
              <a:buChar char="•"/>
              <a:tabLst>
                <a:tab pos="1659255" algn="l"/>
              </a:tabLst>
            </a:pPr>
            <a:r>
              <a:rPr sz="2400" dirty="0">
                <a:latin typeface="Perpetua"/>
                <a:cs typeface="Perpetua"/>
              </a:rPr>
              <a:t>Look for similarities in </a:t>
            </a:r>
            <a:r>
              <a:rPr sz="2400" spc="-5" dirty="0">
                <a:latin typeface="Perpetua"/>
                <a:cs typeface="Perpetua"/>
              </a:rPr>
              <a:t>those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monsters.</a:t>
            </a:r>
            <a:endParaRPr sz="2400">
              <a:latin typeface="Perpetua"/>
              <a:cs typeface="Perpetua"/>
            </a:endParaRPr>
          </a:p>
          <a:p>
            <a:pPr marL="1658620" lvl="3" indent="-229235">
              <a:lnSpc>
                <a:spcPct val="100000"/>
              </a:lnSpc>
              <a:spcBef>
                <a:spcPts val="400"/>
              </a:spcBef>
              <a:buClr>
                <a:srgbClr val="A18E6A"/>
              </a:buClr>
              <a:buChar char="•"/>
              <a:tabLst>
                <a:tab pos="1659255" algn="l"/>
              </a:tabLst>
            </a:pPr>
            <a:r>
              <a:rPr sz="2400" spc="-10" dirty="0">
                <a:latin typeface="Perpetua"/>
                <a:cs typeface="Perpetua"/>
              </a:rPr>
              <a:t>Make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5" dirty="0">
                <a:latin typeface="Perpetua"/>
                <a:cs typeface="Perpetua"/>
              </a:rPr>
              <a:t>list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10" dirty="0">
                <a:latin typeface="Perpetua"/>
                <a:cs typeface="Perpetua"/>
              </a:rPr>
              <a:t>features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30" dirty="0">
                <a:latin typeface="Perpetua"/>
                <a:cs typeface="Perpetua"/>
              </a:rPr>
              <a:t>identify.</a:t>
            </a:r>
            <a:endParaRPr sz="2400">
              <a:latin typeface="Perpetua"/>
              <a:cs typeface="Perpetua"/>
            </a:endParaRPr>
          </a:p>
          <a:p>
            <a:pPr marL="1658620" lvl="3" indent="-229235">
              <a:lnSpc>
                <a:spcPct val="100000"/>
              </a:lnSpc>
              <a:spcBef>
                <a:spcPts val="409"/>
              </a:spcBef>
              <a:buClr>
                <a:srgbClr val="A18E6A"/>
              </a:buClr>
              <a:buChar char="•"/>
              <a:tabLst>
                <a:tab pos="1659255" algn="l"/>
              </a:tabLst>
            </a:pPr>
            <a:r>
              <a:rPr sz="2400" dirty="0">
                <a:latin typeface="Perpetua"/>
                <a:cs typeface="Perpetua"/>
              </a:rPr>
              <a:t>Use identified </a:t>
            </a:r>
            <a:r>
              <a:rPr sz="2400" spc="-10" dirty="0">
                <a:latin typeface="Perpetua"/>
                <a:cs typeface="Perpetua"/>
              </a:rPr>
              <a:t>features </a:t>
            </a:r>
            <a:r>
              <a:rPr sz="2400" dirty="0">
                <a:latin typeface="Perpetua"/>
                <a:cs typeface="Perpetua"/>
              </a:rPr>
              <a:t>to </a:t>
            </a:r>
            <a:r>
              <a:rPr sz="2400" spc="-10" dirty="0">
                <a:latin typeface="Perpetua"/>
                <a:cs typeface="Perpetua"/>
              </a:rPr>
              <a:t>create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15" dirty="0">
                <a:latin typeface="Perpetua"/>
                <a:cs typeface="Perpetua"/>
              </a:rPr>
              <a:t>new</a:t>
            </a:r>
            <a:r>
              <a:rPr sz="2400" spc="-70" dirty="0">
                <a:latin typeface="Perpetua"/>
                <a:cs typeface="Perpetua"/>
              </a:rPr>
              <a:t> </a:t>
            </a:r>
            <a:r>
              <a:rPr sz="2400" spc="-30" dirty="0">
                <a:latin typeface="Perpetua"/>
                <a:cs typeface="Perpetua"/>
              </a:rPr>
              <a:t>monster.</a:t>
            </a:r>
            <a:endParaRPr sz="2400">
              <a:latin typeface="Perpetua"/>
              <a:cs typeface="Perpetua"/>
            </a:endParaRPr>
          </a:p>
          <a:p>
            <a:pPr marL="1658620" marR="31115" lvl="3" indent="-228600">
              <a:lnSpc>
                <a:spcPct val="100000"/>
              </a:lnSpc>
              <a:spcBef>
                <a:spcPts val="395"/>
              </a:spcBef>
              <a:buClr>
                <a:srgbClr val="A18E6A"/>
              </a:buClr>
              <a:buChar char="•"/>
              <a:tabLst>
                <a:tab pos="1659255" algn="l"/>
              </a:tabLst>
            </a:pPr>
            <a:r>
              <a:rPr sz="2400" spc="5" dirty="0">
                <a:latin typeface="Perpetua"/>
                <a:cs typeface="Perpetua"/>
              </a:rPr>
              <a:t>Describe </a:t>
            </a:r>
            <a:r>
              <a:rPr sz="2400" spc="-10" dirty="0">
                <a:latin typeface="Perpetua"/>
                <a:cs typeface="Perpetua"/>
              </a:rPr>
              <a:t>your </a:t>
            </a:r>
            <a:r>
              <a:rPr sz="2400" spc="-15" dirty="0">
                <a:latin typeface="Perpetua"/>
                <a:cs typeface="Perpetua"/>
              </a:rPr>
              <a:t>new </a:t>
            </a:r>
            <a:r>
              <a:rPr sz="2400" spc="-5" dirty="0">
                <a:latin typeface="Perpetua"/>
                <a:cs typeface="Perpetua"/>
              </a:rPr>
              <a:t>monster </a:t>
            </a:r>
            <a:r>
              <a:rPr sz="2400" dirty="0">
                <a:latin typeface="Perpetua"/>
                <a:cs typeface="Perpetua"/>
              </a:rPr>
              <a:t>to </a:t>
            </a:r>
            <a:r>
              <a:rPr sz="2400" spc="-10" dirty="0">
                <a:latin typeface="Perpetua"/>
                <a:cs typeface="Perpetua"/>
              </a:rPr>
              <a:t>your </a:t>
            </a:r>
            <a:r>
              <a:rPr sz="2400" spc="-5" dirty="0">
                <a:latin typeface="Perpetua"/>
                <a:cs typeface="Perpetua"/>
              </a:rPr>
              <a:t>teammates </a:t>
            </a:r>
            <a:r>
              <a:rPr sz="2400" dirty="0">
                <a:latin typeface="Perpetua"/>
                <a:cs typeface="Perpetua"/>
              </a:rPr>
              <a:t>in a</a:t>
            </a:r>
            <a:r>
              <a:rPr sz="2400" spc="-9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step-by-  </a:t>
            </a:r>
            <a:r>
              <a:rPr sz="2400" dirty="0">
                <a:latin typeface="Perpetua"/>
                <a:cs typeface="Perpetua"/>
              </a:rPr>
              <a:t>step </a:t>
            </a:r>
            <a:r>
              <a:rPr sz="2400" spc="-40" dirty="0">
                <a:latin typeface="Perpetua"/>
                <a:cs typeface="Perpetua"/>
              </a:rPr>
              <a:t>way </a:t>
            </a:r>
            <a:r>
              <a:rPr sz="2400" spc="-5" dirty="0">
                <a:latin typeface="Perpetua"/>
                <a:cs typeface="Perpetua"/>
              </a:rPr>
              <a:t>and let </a:t>
            </a:r>
            <a:r>
              <a:rPr sz="2400" dirty="0">
                <a:latin typeface="Perpetua"/>
                <a:cs typeface="Perpetua"/>
              </a:rPr>
              <a:t>them try </a:t>
            </a:r>
            <a:r>
              <a:rPr sz="2400" spc="-10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put it</a:t>
            </a:r>
            <a:r>
              <a:rPr sz="2400" spc="15" dirty="0">
                <a:latin typeface="Perpetua"/>
                <a:cs typeface="Perpetua"/>
              </a:rPr>
              <a:t> </a:t>
            </a:r>
            <a:r>
              <a:rPr sz="2400" spc="-30" dirty="0">
                <a:latin typeface="Perpetua"/>
                <a:cs typeface="Perpetua"/>
              </a:rPr>
              <a:t>together.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595630"/>
            <a:ext cx="8404225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dirty="0"/>
              <a:t>	</a:t>
            </a:r>
            <a:r>
              <a:rPr sz="2600" i="1" spc="-20" dirty="0">
                <a:latin typeface="Perpetua"/>
                <a:cs typeface="Perpetua"/>
              </a:rPr>
              <a:t>Pattern Location</a:t>
            </a:r>
            <a:r>
              <a:rPr sz="2600" spc="-20" dirty="0">
                <a:latin typeface="Perpetua"/>
                <a:cs typeface="Perpetua"/>
              </a:rPr>
              <a:t>:We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see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dirty="0">
                <a:latin typeface="Perpetua"/>
                <a:cs typeface="Perpetua"/>
              </a:rPr>
              <a:t>monsters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head, </a:t>
            </a:r>
            <a:r>
              <a:rPr sz="2600" spc="-15" dirty="0">
                <a:latin typeface="Perpetua"/>
                <a:cs typeface="Perpetua"/>
              </a:rPr>
              <a:t>eyes, </a:t>
            </a:r>
            <a:r>
              <a:rPr sz="2600" spc="10" dirty="0">
                <a:latin typeface="Perpetua"/>
                <a:cs typeface="Perpetua"/>
              </a:rPr>
              <a:t>ears,  </a:t>
            </a:r>
            <a:r>
              <a:rPr sz="2600" spc="-5" dirty="0">
                <a:latin typeface="Perpetua"/>
                <a:cs typeface="Perpetua"/>
              </a:rPr>
              <a:t>nose and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mouth.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83708" y="1913160"/>
            <a:ext cx="6411038" cy="15389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517394" y="3402838"/>
            <a:ext cx="926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Z</a:t>
            </a:r>
            <a:r>
              <a:rPr sz="2400" spc="5" dirty="0">
                <a:latin typeface="Perpetua"/>
                <a:cs typeface="Perpetua"/>
              </a:rPr>
              <a:t>o</a:t>
            </a:r>
            <a:r>
              <a:rPr sz="2400" spc="-5" dirty="0">
                <a:latin typeface="Perpetua"/>
                <a:cs typeface="Perpetua"/>
              </a:rPr>
              <a:t>m</a:t>
            </a:r>
            <a:r>
              <a:rPr sz="2400" spc="-20" dirty="0">
                <a:latin typeface="Perpetua"/>
                <a:cs typeface="Perpetua"/>
              </a:rPr>
              <a:t>b</a:t>
            </a:r>
            <a:r>
              <a:rPr sz="2400" dirty="0">
                <a:latin typeface="Perpetua"/>
                <a:cs typeface="Perpetua"/>
              </a:rPr>
              <a:t>us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46575" y="3489705"/>
            <a:ext cx="795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Fran</a:t>
            </a:r>
            <a:r>
              <a:rPr sz="2400" spc="5" dirty="0">
                <a:latin typeface="Perpetua"/>
                <a:cs typeface="Perpetua"/>
              </a:rPr>
              <a:t>k</a:t>
            </a:r>
            <a:r>
              <a:rPr sz="2400" dirty="0">
                <a:latin typeface="Perpetua"/>
                <a:cs typeface="Perpetua"/>
              </a:rPr>
              <a:t>n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0828" y="3489705"/>
            <a:ext cx="741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Hap</a:t>
            </a:r>
            <a:r>
              <a:rPr sz="2400" spc="-45" dirty="0">
                <a:latin typeface="Perpetua"/>
                <a:cs typeface="Perpetua"/>
              </a:rPr>
              <a:t>p</a:t>
            </a:r>
            <a:r>
              <a:rPr sz="2400" dirty="0">
                <a:latin typeface="Perpetua"/>
                <a:cs typeface="Perpetua"/>
              </a:rPr>
              <a:t>y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3719" y="4192523"/>
            <a:ext cx="6708680" cy="974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17394" y="5399023"/>
            <a:ext cx="795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65" dirty="0">
                <a:latin typeface="Perpetua"/>
                <a:cs typeface="Perpetua"/>
              </a:rPr>
              <a:t>V</a:t>
            </a:r>
            <a:r>
              <a:rPr sz="2400" dirty="0">
                <a:latin typeface="Perpetua"/>
                <a:cs typeface="Perpetua"/>
              </a:rPr>
              <a:t>e</a:t>
            </a:r>
            <a:r>
              <a:rPr sz="2400" spc="35" dirty="0">
                <a:latin typeface="Perpetua"/>
                <a:cs typeface="Perpetua"/>
              </a:rPr>
              <a:t>g</a:t>
            </a:r>
            <a:r>
              <a:rPr sz="2400" dirty="0">
                <a:latin typeface="Perpetua"/>
                <a:cs typeface="Perpetua"/>
              </a:rPr>
              <a:t>itas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8975" y="5485891"/>
            <a:ext cx="878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45" dirty="0">
                <a:latin typeface="Perpetua"/>
                <a:cs typeface="Perpetua"/>
              </a:rPr>
              <a:t>W</a:t>
            </a:r>
            <a:r>
              <a:rPr sz="2400" spc="-5" dirty="0">
                <a:latin typeface="Perpetua"/>
                <a:cs typeface="Perpetua"/>
              </a:rPr>
              <a:t>a</a:t>
            </a:r>
            <a:r>
              <a:rPr sz="2400" spc="45" dirty="0">
                <a:latin typeface="Perpetua"/>
                <a:cs typeface="Perpetua"/>
              </a:rPr>
              <a:t>c</a:t>
            </a:r>
            <a:r>
              <a:rPr sz="2400" dirty="0">
                <a:latin typeface="Perpetua"/>
                <a:cs typeface="Perpetua"/>
              </a:rPr>
              <a:t>k</a:t>
            </a:r>
            <a:r>
              <a:rPr sz="2400" spc="5" dirty="0">
                <a:latin typeface="Perpetua"/>
                <a:cs typeface="Perpetua"/>
              </a:rPr>
              <a:t>u</a:t>
            </a:r>
            <a:r>
              <a:rPr sz="2400" dirty="0">
                <a:latin typeface="Perpetua"/>
                <a:cs typeface="Perpetua"/>
              </a:rPr>
              <a:t>s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80428" y="5485891"/>
            <a:ext cx="9061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Sp</a:t>
            </a:r>
            <a:r>
              <a:rPr sz="2400" spc="55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item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" y="381115"/>
            <a:ext cx="8305800" cy="1963420"/>
            <a:chOff x="609600" y="381115"/>
            <a:chExt cx="8305800" cy="1963420"/>
          </a:xfrm>
        </p:grpSpPr>
        <p:sp>
          <p:nvSpPr>
            <p:cNvPr id="3" name="object 3"/>
            <p:cNvSpPr/>
            <p:nvPr/>
          </p:nvSpPr>
          <p:spPr>
            <a:xfrm>
              <a:off x="7781921" y="381115"/>
              <a:ext cx="1133100" cy="8483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9600" y="914400"/>
              <a:ext cx="8001000" cy="14295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84575" y="2246198"/>
            <a:ext cx="85979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90" dirty="0"/>
              <a:t>V</a:t>
            </a:r>
            <a:r>
              <a:rPr sz="2600" dirty="0"/>
              <a:t>e</a:t>
            </a:r>
            <a:r>
              <a:rPr sz="2600" spc="35" dirty="0"/>
              <a:t>g</a:t>
            </a:r>
            <a:r>
              <a:rPr sz="2600" dirty="0"/>
              <a:t>itas</a:t>
            </a:r>
            <a:endParaRPr sz="2600"/>
          </a:p>
        </p:txBody>
      </p:sp>
      <p:sp>
        <p:nvSpPr>
          <p:cNvPr id="6" name="object 6"/>
          <p:cNvSpPr txBox="1"/>
          <p:nvPr/>
        </p:nvSpPr>
        <p:spPr>
          <a:xfrm>
            <a:off x="5566028" y="2330272"/>
            <a:ext cx="94805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65" dirty="0">
                <a:latin typeface="Perpetua"/>
                <a:cs typeface="Perpetua"/>
              </a:rPr>
              <a:t>W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30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kus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47609" y="2330272"/>
            <a:ext cx="97853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Perpetua"/>
                <a:cs typeface="Perpetua"/>
              </a:rPr>
              <a:t>S</a:t>
            </a:r>
            <a:r>
              <a:rPr sz="2600" spc="-15" dirty="0">
                <a:latin typeface="Perpetua"/>
                <a:cs typeface="Perpetua"/>
              </a:rPr>
              <a:t>p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item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2000" y="2764535"/>
            <a:ext cx="7696200" cy="17129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35599" y="5037600"/>
            <a:ext cx="7474000" cy="77512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898775" y="4349877"/>
            <a:ext cx="85979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90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35" dirty="0">
                <a:latin typeface="Perpetua"/>
                <a:cs typeface="Perpetua"/>
              </a:rPr>
              <a:t>g</a:t>
            </a:r>
            <a:r>
              <a:rPr sz="2600" dirty="0">
                <a:latin typeface="Perpetua"/>
                <a:cs typeface="Perpetua"/>
              </a:rPr>
              <a:t>itas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80228" y="4434077"/>
            <a:ext cx="94805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65" dirty="0">
                <a:latin typeface="Perpetua"/>
                <a:cs typeface="Perpetua"/>
              </a:rPr>
              <a:t>W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3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kus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61809" y="4434077"/>
            <a:ext cx="97790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Perpetua"/>
                <a:cs typeface="Perpetua"/>
              </a:rPr>
              <a:t>S</a:t>
            </a:r>
            <a:r>
              <a:rPr sz="2600" spc="-15" dirty="0">
                <a:latin typeface="Perpetua"/>
                <a:cs typeface="Perpetua"/>
              </a:rPr>
              <a:t>p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item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8775" y="5864148"/>
            <a:ext cx="85979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90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35" dirty="0">
                <a:latin typeface="Perpetua"/>
                <a:cs typeface="Perpetua"/>
              </a:rPr>
              <a:t>g</a:t>
            </a:r>
            <a:r>
              <a:rPr sz="2600" dirty="0">
                <a:latin typeface="Perpetua"/>
                <a:cs typeface="Perpetua"/>
              </a:rPr>
              <a:t>itas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80228" y="5948273"/>
            <a:ext cx="94805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65" dirty="0">
                <a:latin typeface="Perpetua"/>
                <a:cs typeface="Perpetua"/>
              </a:rPr>
              <a:t>W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3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kus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61809" y="5948273"/>
            <a:ext cx="97790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Perpetua"/>
                <a:cs typeface="Perpetua"/>
              </a:rPr>
              <a:t>S</a:t>
            </a:r>
            <a:r>
              <a:rPr sz="2600" spc="-15" dirty="0">
                <a:latin typeface="Perpetua"/>
                <a:cs typeface="Perpetua"/>
              </a:rPr>
              <a:t>p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item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99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196D1F7F73754F88450F2D99E4F7B5" ma:contentTypeVersion="2" ma:contentTypeDescription="Create a new document." ma:contentTypeScope="" ma:versionID="377713a6ec07779513477d2db2fdf306">
  <xsd:schema xmlns:xsd="http://www.w3.org/2001/XMLSchema" xmlns:xs="http://www.w3.org/2001/XMLSchema" xmlns:p="http://schemas.microsoft.com/office/2006/metadata/properties" xmlns:ns2="97fcc8e9-f7dc-4663-b115-0b99de842f01" targetNamespace="http://schemas.microsoft.com/office/2006/metadata/properties" ma:root="true" ma:fieldsID="6b5254e67f1be017f500236611855803" ns2:_="">
    <xsd:import namespace="97fcc8e9-f7dc-4663-b115-0b99de842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cc8e9-f7dc-4663-b115-0b99de842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FF1D6C0-5095-4C98-9922-DAD9F948CC3F}"/>
</file>

<file path=customXml/itemProps2.xml><?xml version="1.0" encoding="utf-8"?>
<ds:datastoreItem xmlns:ds="http://schemas.openxmlformats.org/officeDocument/2006/customXml" ds:itemID="{64FAC554-6424-4975-8047-3EA00452A6DD}"/>
</file>

<file path=customXml/itemProps3.xml><?xml version="1.0" encoding="utf-8"?>
<ds:datastoreItem xmlns:ds="http://schemas.openxmlformats.org/officeDocument/2006/customXml" ds:itemID="{55D210B2-55D4-4745-9A6A-8A99FA2C443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1665</Words>
  <Application>Microsoft Office PowerPoint</Application>
  <PresentationFormat>On-screen Show (4:3)</PresentationFormat>
  <Paragraphs>227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Slide 1</vt:lpstr>
      <vt:lpstr>Slide 2</vt:lpstr>
      <vt:lpstr>Computational Thinking in Practice</vt:lpstr>
      <vt:lpstr>Decomposition</vt:lpstr>
      <vt:lpstr>Why is Decomposition important?</vt:lpstr>
      <vt:lpstr>Example # 1</vt:lpstr>
      <vt:lpstr>Example # 2</vt:lpstr>
      <vt:lpstr>Decomposition in real life</vt:lpstr>
      <vt:lpstr>Slide 9</vt:lpstr>
      <vt:lpstr>Example #3</vt:lpstr>
      <vt:lpstr>Imagine that you want to create your first app. This is a  complex problem - there are lots of things to consider.</vt:lpstr>
      <vt:lpstr>Imagine you want to organize all your DVDs alphabetically  and you have a lot of them! Where would you start?</vt:lpstr>
      <vt:lpstr>Slide 13</vt:lpstr>
      <vt:lpstr>The game problem is decomposed into small task</vt:lpstr>
      <vt:lpstr>Steps in decomposing the equation of finding  square roots of a quadratic equation</vt:lpstr>
      <vt:lpstr>Decomposition – A Top Down approach</vt:lpstr>
      <vt:lpstr>Creating an app</vt:lpstr>
      <vt:lpstr>Slide 18</vt:lpstr>
      <vt:lpstr>Pattern Recognition</vt:lpstr>
      <vt:lpstr>What are patterns?</vt:lpstr>
      <vt:lpstr>Slide 21</vt:lpstr>
      <vt:lpstr>Why are finding patterns important?</vt:lpstr>
      <vt:lpstr>What happens when we don’t look for patterns?</vt:lpstr>
      <vt:lpstr>Recognising Patterns</vt:lpstr>
      <vt:lpstr>Slide 25</vt:lpstr>
      <vt:lpstr>Slide 26</vt:lpstr>
      <vt:lpstr>Draw a Monster</vt:lpstr>
      <vt:lpstr>Slide 28</vt:lpstr>
      <vt:lpstr>Slide 29</vt:lpstr>
      <vt:lpstr>Vegitas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</dc:title>
  <dc:creator>admins</dc:creator>
  <cp:lastModifiedBy>user</cp:lastModifiedBy>
  <cp:revision>3</cp:revision>
  <dcterms:created xsi:type="dcterms:W3CDTF">2020-09-07T07:03:23Z</dcterms:created>
  <dcterms:modified xsi:type="dcterms:W3CDTF">2021-10-03T06:01:34Z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2020-09-07T00:00:00Z</vt:filetime>
  </property>
  <property fmtid="{D5CDD505-2E9C-101B-9397-08002B2CF9AE}" pid="5" name="ContentTypeId">
    <vt:lpwstr>0x01010093196D1F7F73754F88450F2D99E4F7B5</vt:lpwstr>
  </property>
</Properties>
</file>