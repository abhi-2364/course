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99"/>
    <a:srgbClr val="3B0AC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3443" y="842898"/>
            <a:ext cx="8097113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1">
                <a:solidFill>
                  <a:srgbClr val="C00000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1">
                <a:solidFill>
                  <a:srgbClr val="C00000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1">
                <a:solidFill>
                  <a:srgbClr val="C00000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701166"/>
            <a:ext cx="79724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1">
                <a:solidFill>
                  <a:srgbClr val="C00000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138420"/>
            <a:ext cx="8249920" cy="4420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1444625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bc.co.uk/education/guides/zp92mp3/revision" TargetMode="Externa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urses.cs.vt.edu/cs2104/Summer201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31" y="70103"/>
            <a:ext cx="9012936" cy="6691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1" y="70103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26"/>
                </a:lnTo>
                <a:lnTo>
                  <a:pt x="9009359" y="6410769"/>
                </a:lnTo>
                <a:lnTo>
                  <a:pt x="8998968" y="6457290"/>
                </a:lnTo>
                <a:lnTo>
                  <a:pt x="8982275" y="6501081"/>
                </a:lnTo>
                <a:lnTo>
                  <a:pt x="8959791" y="6541631"/>
                </a:lnTo>
                <a:lnTo>
                  <a:pt x="8932024" y="6578430"/>
                </a:lnTo>
                <a:lnTo>
                  <a:pt x="8899487" y="6610967"/>
                </a:lnTo>
                <a:lnTo>
                  <a:pt x="8862690" y="6638733"/>
                </a:lnTo>
                <a:lnTo>
                  <a:pt x="8822144" y="6661216"/>
                </a:lnTo>
                <a:lnTo>
                  <a:pt x="8778359" y="6677908"/>
                </a:lnTo>
                <a:lnTo>
                  <a:pt x="8731847" y="6688297"/>
                </a:lnTo>
                <a:lnTo>
                  <a:pt x="8683117" y="6691873"/>
                </a:lnTo>
                <a:lnTo>
                  <a:pt x="329844" y="6691873"/>
                </a:lnTo>
                <a:lnTo>
                  <a:pt x="281102" y="6688297"/>
                </a:lnTo>
                <a:lnTo>
                  <a:pt x="234580" y="6677908"/>
                </a:lnTo>
                <a:lnTo>
                  <a:pt x="190789" y="6661216"/>
                </a:lnTo>
                <a:lnTo>
                  <a:pt x="150240" y="6638733"/>
                </a:lnTo>
                <a:lnTo>
                  <a:pt x="113441" y="6610967"/>
                </a:lnTo>
                <a:lnTo>
                  <a:pt x="80905" y="6578430"/>
                </a:lnTo>
                <a:lnTo>
                  <a:pt x="53139" y="6541631"/>
                </a:lnTo>
                <a:lnTo>
                  <a:pt x="30656" y="6501081"/>
                </a:lnTo>
                <a:lnTo>
                  <a:pt x="13965" y="6457290"/>
                </a:lnTo>
                <a:lnTo>
                  <a:pt x="3576" y="6410769"/>
                </a:lnTo>
                <a:lnTo>
                  <a:pt x="0" y="6362026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484" y="1395983"/>
            <a:ext cx="9022080" cy="121920"/>
          </a:xfrm>
          <a:custGeom>
            <a:avLst/>
            <a:gdLst/>
            <a:ahLst/>
            <a:cxnLst/>
            <a:rect l="l" t="t" r="r" b="b"/>
            <a:pathLst>
              <a:path w="9022080" h="121919">
                <a:moveTo>
                  <a:pt x="0" y="121920"/>
                </a:moveTo>
                <a:lnTo>
                  <a:pt x="9022080" y="121920"/>
                </a:lnTo>
                <a:lnTo>
                  <a:pt x="9022080" y="0"/>
                </a:lnTo>
                <a:lnTo>
                  <a:pt x="0" y="0"/>
                </a:lnTo>
                <a:lnTo>
                  <a:pt x="0" y="12192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" y="2976372"/>
            <a:ext cx="9022080" cy="111760"/>
          </a:xfrm>
          <a:custGeom>
            <a:avLst/>
            <a:gdLst/>
            <a:ahLst/>
            <a:cxnLst/>
            <a:rect l="l" t="t" r="r" b="b"/>
            <a:pathLst>
              <a:path w="9022080" h="111760">
                <a:moveTo>
                  <a:pt x="0" y="111251"/>
                </a:moveTo>
                <a:lnTo>
                  <a:pt x="9022080" y="111251"/>
                </a:lnTo>
                <a:lnTo>
                  <a:pt x="9022080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484" y="1517903"/>
            <a:ext cx="9022080" cy="677108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marL="123189" algn="ctr">
              <a:lnSpc>
                <a:spcPct val="100000"/>
              </a:lnSpc>
            </a:pPr>
            <a:r>
              <a:rPr sz="4400" spc="-20" dirty="0" smtClean="0">
                <a:latin typeface="Perpetua"/>
                <a:cs typeface="Perpetua"/>
              </a:rPr>
              <a:t>Problem</a:t>
            </a:r>
            <a:r>
              <a:rPr sz="4400" spc="-10" dirty="0" smtClean="0">
                <a:latin typeface="Perpetua"/>
                <a:cs typeface="Perpetua"/>
              </a:rPr>
              <a:t> </a:t>
            </a:r>
            <a:r>
              <a:rPr sz="4400" dirty="0">
                <a:latin typeface="Perpetua"/>
                <a:cs typeface="Perpetua"/>
              </a:rPr>
              <a:t>Solving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143000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sz="3200" b="1" dirty="0" smtClean="0">
                <a:solidFill>
                  <a:srgbClr val="7030A0"/>
                </a:solidFill>
              </a:rPr>
              <a:t>Four strategies for Problem Solving</a:t>
            </a:r>
          </a:p>
          <a:p>
            <a:pPr marL="342900" indent="-342900"/>
            <a:endParaRPr lang="en-US" sz="32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AutoNum type="arabicPeriod"/>
            </a:pPr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Problem Definition</a:t>
            </a:r>
          </a:p>
          <a:p>
            <a:pPr marL="342900" indent="-342900"/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pPr marL="342900" indent="-342900"/>
            <a:r>
              <a:rPr lang="en-US" sz="32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2.   Logical Reasoning</a:t>
            </a:r>
          </a:p>
          <a:p>
            <a:pPr marL="342900" indent="-342900"/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pPr marL="342900" indent="-342900"/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3.   Decomposition</a:t>
            </a:r>
          </a:p>
          <a:p>
            <a:pPr marL="342900" indent="-342900"/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pPr marL="342900" indent="-342900"/>
            <a:r>
              <a:rPr lang="en-US" sz="32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4.   Abstraction</a:t>
            </a:r>
            <a:endParaRPr lang="en-US" sz="32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34264"/>
            <a:ext cx="89916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 smtClean="0">
                <a:solidFill>
                  <a:srgbClr val="00B050"/>
                </a:solidFill>
              </a:rPr>
              <a:t>PROBLEM </a:t>
            </a:r>
            <a:r>
              <a:rPr lang="en-US" sz="4000" dirty="0" smtClean="0">
                <a:solidFill>
                  <a:srgbClr val="00B050"/>
                </a:solidFill>
              </a:rPr>
              <a:t>DEFINITION:  </a:t>
            </a:r>
            <a:r>
              <a:rPr sz="4000" i="0" spc="-5" dirty="0" smtClean="0">
                <a:solidFill>
                  <a:srgbClr val="00B050"/>
                </a:solidFill>
                <a:latin typeface="Perpetua"/>
                <a:cs typeface="Perpetua"/>
              </a:rPr>
              <a:t>A </a:t>
            </a:r>
            <a:r>
              <a:rPr sz="4000" i="0" spc="-10" dirty="0">
                <a:solidFill>
                  <a:srgbClr val="00B050"/>
                </a:solidFill>
                <a:latin typeface="Perpetua"/>
                <a:cs typeface="Perpetua"/>
              </a:rPr>
              <a:t>software</a:t>
            </a:r>
            <a:r>
              <a:rPr sz="4000" i="0" spc="-80" dirty="0">
                <a:solidFill>
                  <a:srgbClr val="00B050"/>
                </a:solidFill>
                <a:latin typeface="Perpetua"/>
                <a:cs typeface="Perpetua"/>
              </a:rPr>
              <a:t> </a:t>
            </a:r>
            <a:r>
              <a:rPr sz="4000" i="0" spc="-5" dirty="0">
                <a:solidFill>
                  <a:srgbClr val="00B050"/>
                </a:solidFill>
                <a:latin typeface="Perpetua"/>
                <a:cs typeface="Perpetua"/>
              </a:rPr>
              <a:t>perspective</a:t>
            </a:r>
            <a:endParaRPr sz="4000" dirty="0">
              <a:solidFill>
                <a:srgbClr val="00B050"/>
              </a:solidFill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749013"/>
            <a:ext cx="8257540" cy="45726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15" dirty="0">
                <a:solidFill>
                  <a:srgbClr val="FF0000"/>
                </a:solidFill>
                <a:latin typeface="Perpetua"/>
                <a:cs typeface="Perpetua"/>
              </a:rPr>
              <a:t>Software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development </a:t>
            </a:r>
            <a:r>
              <a:rPr sz="2600" i="1" spc="-15" dirty="0">
                <a:solidFill>
                  <a:srgbClr val="FF0000"/>
                </a:solidFill>
                <a:latin typeface="Perpetua"/>
                <a:cs typeface="Perpetua"/>
              </a:rPr>
              <a:t>follows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a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similar style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as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the </a:t>
            </a:r>
            <a:r>
              <a:rPr sz="2600" i="1" spc="-20" dirty="0">
                <a:solidFill>
                  <a:srgbClr val="FF0000"/>
                </a:solidFill>
                <a:latin typeface="Perpetua"/>
                <a:cs typeface="Perpetua"/>
              </a:rPr>
              <a:t>general </a:t>
            </a:r>
            <a:r>
              <a:rPr sz="2600" i="1" spc="-10" dirty="0">
                <a:solidFill>
                  <a:srgbClr val="FF0000"/>
                </a:solidFill>
                <a:latin typeface="Perpetua"/>
                <a:cs typeface="Perpetua"/>
              </a:rPr>
              <a:t>problem</a:t>
            </a:r>
            <a:r>
              <a:rPr sz="2600" i="1" spc="6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solving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.</a:t>
            </a:r>
            <a:endParaRPr sz="260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solidFill>
                  <a:srgbClr val="000099"/>
                </a:solidFill>
                <a:latin typeface="Perpetua"/>
                <a:cs typeface="Perpetua"/>
              </a:rPr>
              <a:t>Three major steps of </a:t>
            </a:r>
            <a:r>
              <a:rPr sz="2600" spc="-10" dirty="0">
                <a:solidFill>
                  <a:srgbClr val="000099"/>
                </a:solidFill>
                <a:latin typeface="Perpetua"/>
                <a:cs typeface="Perpetua"/>
              </a:rPr>
              <a:t>software development.</a:t>
            </a:r>
            <a:endParaRPr sz="2600" dirty="0">
              <a:solidFill>
                <a:srgbClr val="000099"/>
              </a:solidFill>
              <a:latin typeface="Perpetua"/>
              <a:cs typeface="Perpetua"/>
            </a:endParaRPr>
          </a:p>
          <a:p>
            <a:pPr marL="1164590" lvl="1" indent="-283845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1165225" algn="l"/>
              </a:tabLst>
            </a:pPr>
            <a:r>
              <a:rPr sz="2600" spc="-10" dirty="0">
                <a:solidFill>
                  <a:srgbClr val="000099"/>
                </a:solidFill>
                <a:latin typeface="Perpetua"/>
                <a:cs typeface="Perpetua"/>
              </a:rPr>
              <a:t>Analysis,</a:t>
            </a:r>
            <a:endParaRPr sz="2600" dirty="0">
              <a:solidFill>
                <a:srgbClr val="000099"/>
              </a:solidFill>
              <a:latin typeface="Perpetua"/>
              <a:cs typeface="Perpetua"/>
            </a:endParaRPr>
          </a:p>
          <a:p>
            <a:pPr marL="1190625" lvl="1" indent="-30988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1191260" algn="l"/>
              </a:tabLst>
            </a:pPr>
            <a:r>
              <a:rPr sz="2600" dirty="0">
                <a:solidFill>
                  <a:srgbClr val="000099"/>
                </a:solidFill>
                <a:latin typeface="Perpetua"/>
                <a:cs typeface="Perpetua"/>
              </a:rPr>
              <a:t>Design</a:t>
            </a:r>
            <a:r>
              <a:rPr sz="2600" spc="-20" dirty="0">
                <a:solidFill>
                  <a:srgbClr val="000099"/>
                </a:solidFill>
                <a:latin typeface="Perpetua"/>
                <a:cs typeface="Perpetua"/>
              </a:rPr>
              <a:t> </a:t>
            </a:r>
            <a:r>
              <a:rPr sz="2600" spc="-5" dirty="0">
                <a:solidFill>
                  <a:srgbClr val="000099"/>
                </a:solidFill>
                <a:latin typeface="Perpetua"/>
                <a:cs typeface="Perpetua"/>
              </a:rPr>
              <a:t>and</a:t>
            </a:r>
            <a:endParaRPr sz="2600" dirty="0">
              <a:solidFill>
                <a:srgbClr val="000099"/>
              </a:solidFill>
              <a:latin typeface="Perpetua"/>
              <a:cs typeface="Perpetua"/>
            </a:endParaRPr>
          </a:p>
          <a:p>
            <a:pPr marL="1190625" lvl="1" indent="-30988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1191260" algn="l"/>
              </a:tabLst>
            </a:pPr>
            <a:r>
              <a:rPr sz="2600" spc="-5" dirty="0">
                <a:solidFill>
                  <a:srgbClr val="000099"/>
                </a:solidFill>
                <a:latin typeface="Perpetua"/>
                <a:cs typeface="Perpetua"/>
              </a:rPr>
              <a:t>Implementation.</a:t>
            </a:r>
            <a:endParaRPr sz="2600" dirty="0">
              <a:solidFill>
                <a:srgbClr val="000099"/>
              </a:solidFill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solidFill>
                  <a:srgbClr val="3B0AC6"/>
                </a:solidFill>
                <a:latin typeface="Perpetua"/>
                <a:cs typeface="Perpetua"/>
              </a:rPr>
              <a:t>The stakeholders </a:t>
            </a:r>
            <a:r>
              <a:rPr sz="2600" spc="-5" dirty="0">
                <a:solidFill>
                  <a:srgbClr val="3B0AC6"/>
                </a:solidFill>
                <a:latin typeface="Perpetua"/>
                <a:cs typeface="Perpetua"/>
              </a:rPr>
              <a:t>of </a:t>
            </a:r>
            <a:r>
              <a:rPr sz="2600" dirty="0">
                <a:solidFill>
                  <a:srgbClr val="3B0AC6"/>
                </a:solidFill>
                <a:latin typeface="Perpetua"/>
                <a:cs typeface="Perpetua"/>
              </a:rPr>
              <a:t>a </a:t>
            </a:r>
            <a:r>
              <a:rPr sz="2600" spc="-10" dirty="0">
                <a:solidFill>
                  <a:srgbClr val="3B0AC6"/>
                </a:solidFill>
                <a:latin typeface="Perpetua"/>
                <a:cs typeface="Perpetua"/>
              </a:rPr>
              <a:t>software</a:t>
            </a:r>
            <a:r>
              <a:rPr sz="2600" spc="-40" dirty="0">
                <a:solidFill>
                  <a:srgbClr val="3B0AC6"/>
                </a:solidFill>
                <a:latin typeface="Perpetua"/>
                <a:cs typeface="Perpetua"/>
              </a:rPr>
              <a:t> </a:t>
            </a:r>
            <a:r>
              <a:rPr sz="2600" spc="-10" dirty="0">
                <a:solidFill>
                  <a:srgbClr val="3B0AC6"/>
                </a:solidFill>
                <a:latin typeface="Perpetua"/>
                <a:cs typeface="Perpetua"/>
              </a:rPr>
              <a:t>include,</a:t>
            </a:r>
            <a:endParaRPr sz="2600" dirty="0">
              <a:solidFill>
                <a:srgbClr val="3B0AC6"/>
              </a:solidFill>
              <a:latin typeface="Perpetua"/>
              <a:cs typeface="Perpetua"/>
            </a:endParaRPr>
          </a:p>
          <a:p>
            <a:pPr marL="561340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solidFill>
                  <a:srgbClr val="00B050"/>
                </a:solidFill>
                <a:latin typeface="Perpetua"/>
                <a:cs typeface="Perpetua"/>
              </a:rPr>
              <a:t>Customer</a:t>
            </a:r>
          </a:p>
          <a:p>
            <a:pPr marL="927100">
              <a:lnSpc>
                <a:spcPct val="100000"/>
              </a:lnSpc>
              <a:spcBef>
                <a:spcPts val="409"/>
              </a:spcBef>
            </a:pPr>
            <a:r>
              <a:rPr sz="2600" spc="-5" dirty="0">
                <a:solidFill>
                  <a:srgbClr val="00B050"/>
                </a:solidFill>
                <a:latin typeface="Perpetua"/>
                <a:cs typeface="Perpetua"/>
              </a:rPr>
              <a:t>request for </a:t>
            </a:r>
            <a:r>
              <a:rPr sz="2600" spc="-10" dirty="0">
                <a:solidFill>
                  <a:srgbClr val="00B050"/>
                </a:solidFill>
                <a:latin typeface="Perpetua"/>
                <a:cs typeface="Perpetua"/>
              </a:rPr>
              <a:t>software </a:t>
            </a:r>
            <a:r>
              <a:rPr sz="2600" spc="-5" dirty="0">
                <a:solidFill>
                  <a:srgbClr val="00B050"/>
                </a:solidFill>
                <a:latin typeface="Perpetua"/>
                <a:cs typeface="Perpetua"/>
              </a:rPr>
              <a:t>to</a:t>
            </a:r>
            <a:r>
              <a:rPr sz="2600" spc="-10" dirty="0">
                <a:solidFill>
                  <a:srgbClr val="00B050"/>
                </a:solidFill>
                <a:latin typeface="Perpetua"/>
                <a:cs typeface="Perpetua"/>
              </a:rPr>
              <a:t> developed.</a:t>
            </a:r>
            <a:endParaRPr sz="2600" dirty="0">
              <a:solidFill>
                <a:srgbClr val="00B050"/>
              </a:solidFill>
              <a:latin typeface="Perpetua"/>
              <a:cs typeface="Perpetua"/>
            </a:endParaRPr>
          </a:p>
          <a:p>
            <a:pPr marL="561340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Software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developer</a:t>
            </a:r>
            <a:endParaRPr sz="260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395"/>
              </a:spcBef>
            </a:pP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usually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a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team to build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the</a:t>
            </a:r>
            <a:r>
              <a:rPr sz="2600" spc="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software.</a:t>
            </a:r>
            <a:endParaRPr sz="2600" dirty="0">
              <a:solidFill>
                <a:srgbClr val="FF0000"/>
              </a:solidFill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380" y="5296625"/>
            <a:ext cx="5027295" cy="9194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0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solidFill>
                  <a:srgbClr val="7030A0"/>
                </a:solidFill>
                <a:latin typeface="Perpetua"/>
                <a:cs typeface="Perpetua"/>
              </a:rPr>
              <a:t>User</a:t>
            </a:r>
          </a:p>
          <a:p>
            <a:pPr marL="515620">
              <a:lnSpc>
                <a:spcPct val="100000"/>
              </a:lnSpc>
              <a:spcBef>
                <a:spcPts val="395"/>
              </a:spcBef>
            </a:pPr>
            <a:r>
              <a:rPr sz="2600" dirty="0">
                <a:solidFill>
                  <a:srgbClr val="7030A0"/>
                </a:solidFill>
                <a:latin typeface="Perpetua"/>
                <a:cs typeface="Perpetua"/>
              </a:rPr>
              <a:t>who will </a:t>
            </a:r>
            <a:r>
              <a:rPr sz="2600" spc="-5" dirty="0">
                <a:solidFill>
                  <a:srgbClr val="7030A0"/>
                </a:solidFill>
                <a:latin typeface="Perpetua"/>
                <a:cs typeface="Perpetua"/>
              </a:rPr>
              <a:t>be </a:t>
            </a:r>
            <a:r>
              <a:rPr sz="2600" dirty="0">
                <a:solidFill>
                  <a:srgbClr val="7030A0"/>
                </a:solidFill>
                <a:latin typeface="Perpetua"/>
                <a:cs typeface="Perpetua"/>
              </a:rPr>
              <a:t>using the </a:t>
            </a:r>
            <a:r>
              <a:rPr sz="2600" spc="-10" dirty="0">
                <a:solidFill>
                  <a:srgbClr val="7030A0"/>
                </a:solidFill>
                <a:latin typeface="Perpetua"/>
                <a:cs typeface="Perpetua"/>
              </a:rPr>
              <a:t>software</a:t>
            </a:r>
            <a:r>
              <a:rPr sz="2600" spc="-45" dirty="0">
                <a:solidFill>
                  <a:srgbClr val="7030A0"/>
                </a:solidFill>
                <a:latin typeface="Perpetua"/>
                <a:cs typeface="Perpetua"/>
              </a:rPr>
              <a:t> finally.</a:t>
            </a:r>
            <a:endParaRPr sz="2600" dirty="0">
              <a:solidFill>
                <a:srgbClr val="7030A0"/>
              </a:solidFill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0" y="1600200"/>
            <a:ext cx="3429000" cy="3920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29200" y="5546158"/>
            <a:ext cx="41148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spc="-5" dirty="0">
                <a:latin typeface="Perpetua"/>
                <a:cs typeface="Perpetua"/>
              </a:rPr>
              <a:t>stakeholders</a:t>
            </a:r>
            <a:r>
              <a:rPr sz="2000" spc="-85" dirty="0">
                <a:latin typeface="Perpetua"/>
                <a:cs typeface="Perpetua"/>
              </a:rPr>
              <a:t> </a:t>
            </a:r>
            <a:r>
              <a:rPr sz="2000" spc="-5" dirty="0" smtClean="0">
                <a:latin typeface="Perpetua"/>
                <a:cs typeface="Perpetua"/>
              </a:rPr>
              <a:t>of</a:t>
            </a:r>
            <a:r>
              <a:rPr lang="en-US" sz="2000" dirty="0" smtClean="0">
                <a:latin typeface="Perpetua"/>
                <a:cs typeface="Perpetua"/>
              </a:rPr>
              <a:t> </a:t>
            </a:r>
            <a:r>
              <a:rPr sz="2000" spc="-10" dirty="0" smtClean="0">
                <a:latin typeface="Perpetua"/>
                <a:cs typeface="Perpetua"/>
              </a:rPr>
              <a:t>software</a:t>
            </a:r>
            <a:endParaRPr sz="2000" dirty="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2106295"/>
            <a:ext cx="8458200" cy="2129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5"/>
              </a:spcBef>
              <a:buSzPct val="78846"/>
              <a:buAutoNum type="arabicPeriod"/>
              <a:tabLst>
                <a:tab pos="527685" algn="l"/>
                <a:tab pos="528320" algn="l"/>
              </a:tabLst>
            </a:pPr>
            <a:r>
              <a:rPr sz="2600" i="1" spc="-15" dirty="0">
                <a:solidFill>
                  <a:srgbClr val="000099"/>
                </a:solidFill>
                <a:latin typeface="Perpetua"/>
                <a:cs typeface="Perpetua"/>
              </a:rPr>
              <a:t>Software </a:t>
            </a:r>
            <a:r>
              <a:rPr sz="2600" i="1" spc="-10" dirty="0">
                <a:solidFill>
                  <a:srgbClr val="000099"/>
                </a:solidFill>
                <a:latin typeface="Perpetua"/>
                <a:cs typeface="Perpetua"/>
              </a:rPr>
              <a:t>Analysis </a:t>
            </a:r>
            <a:r>
              <a:rPr sz="2600" i="1" dirty="0">
                <a:solidFill>
                  <a:srgbClr val="000099"/>
                </a:solidFill>
                <a:latin typeface="Perpetua"/>
                <a:cs typeface="Perpetua"/>
              </a:rPr>
              <a:t>== </a:t>
            </a:r>
            <a:r>
              <a:rPr sz="2600" i="1" spc="-10" dirty="0">
                <a:solidFill>
                  <a:srgbClr val="000099"/>
                </a:solidFill>
                <a:latin typeface="Perpetua"/>
                <a:cs typeface="Perpetua"/>
              </a:rPr>
              <a:t>Problem</a:t>
            </a:r>
            <a:r>
              <a:rPr sz="2600" i="1" spc="-165" dirty="0">
                <a:solidFill>
                  <a:srgbClr val="000099"/>
                </a:solidFill>
                <a:latin typeface="Perpetua"/>
                <a:cs typeface="Perpetua"/>
              </a:rPr>
              <a:t> </a:t>
            </a:r>
            <a:r>
              <a:rPr sz="2600" i="1" spc="-5" dirty="0">
                <a:solidFill>
                  <a:srgbClr val="000099"/>
                </a:solidFill>
                <a:latin typeface="Perpetua"/>
                <a:cs typeface="Perpetua"/>
              </a:rPr>
              <a:t>Definition</a:t>
            </a:r>
            <a:r>
              <a:rPr sz="2600" i="1" spc="-5" dirty="0" smtClean="0">
                <a:solidFill>
                  <a:srgbClr val="000099"/>
                </a:solidFill>
                <a:latin typeface="Perpetua"/>
                <a:cs typeface="Perpetua"/>
              </a:rPr>
              <a:t>.</a:t>
            </a:r>
            <a:endParaRPr lang="en-US" sz="2600" i="1" spc="-5" dirty="0" smtClean="0">
              <a:solidFill>
                <a:srgbClr val="000099"/>
              </a:solidFill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105"/>
              </a:spcBef>
              <a:buSzPct val="78846"/>
              <a:buAutoNum type="arabicPeriod"/>
              <a:tabLst>
                <a:tab pos="527685" algn="l"/>
                <a:tab pos="528320" algn="l"/>
              </a:tabLst>
            </a:pPr>
            <a:endParaRPr sz="2600" dirty="0">
              <a:latin typeface="Perpetua"/>
              <a:cs typeface="Perpetua"/>
            </a:endParaRPr>
          </a:p>
          <a:p>
            <a:pPr marL="527685" marR="5080" indent="-515620">
              <a:lnSpc>
                <a:spcPct val="150100"/>
              </a:lnSpc>
              <a:spcBef>
                <a:spcPts val="390"/>
              </a:spcBef>
              <a:buSzPct val="78846"/>
              <a:buAutoNum type="arabicPeriod"/>
              <a:tabLst>
                <a:tab pos="527685" algn="l"/>
                <a:tab pos="528320" algn="l"/>
              </a:tabLst>
            </a:pP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Design +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Implementation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== </a:t>
            </a:r>
            <a:r>
              <a:rPr sz="2600" i="1" spc="-10" dirty="0">
                <a:solidFill>
                  <a:srgbClr val="FF0000"/>
                </a:solidFill>
                <a:latin typeface="Perpetua"/>
                <a:cs typeface="Perpetua"/>
              </a:rPr>
              <a:t>Problem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Solution </a:t>
            </a:r>
            <a:endParaRPr lang="en-US" sz="2600" i="1" spc="-5" dirty="0" smtClean="0">
              <a:solidFill>
                <a:srgbClr val="FF0000"/>
              </a:solidFill>
              <a:latin typeface="Perpetua"/>
              <a:cs typeface="Perpetua"/>
            </a:endParaRPr>
          </a:p>
          <a:p>
            <a:pPr marL="527685" marR="5080" indent="-515620">
              <a:lnSpc>
                <a:spcPct val="150100"/>
              </a:lnSpc>
              <a:spcBef>
                <a:spcPts val="390"/>
              </a:spcBef>
              <a:buSzPct val="78846"/>
              <a:tabLst>
                <a:tab pos="527685" algn="l"/>
                <a:tab pos="528320" algn="l"/>
              </a:tabLst>
            </a:pPr>
            <a:r>
              <a:rPr sz="2600" i="1" spc="-10" dirty="0" smtClean="0">
                <a:solidFill>
                  <a:srgbClr val="FF0000"/>
                </a:solidFill>
                <a:latin typeface="Perpetua"/>
                <a:cs typeface="Perpetua"/>
              </a:rPr>
              <a:t>(</a:t>
            </a:r>
            <a:r>
              <a:rPr sz="2600" i="1" spc="-10" dirty="0">
                <a:solidFill>
                  <a:srgbClr val="FF0000"/>
                </a:solidFill>
                <a:latin typeface="Perpetua"/>
                <a:cs typeface="Perpetua"/>
              </a:rPr>
              <a:t>Logical 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Reasoning,</a:t>
            </a:r>
            <a:r>
              <a:rPr sz="2600" i="1" spc="-26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Decomposition,</a:t>
            </a:r>
            <a:r>
              <a:rPr sz="2600" i="1" spc="-39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i="1" spc="-5" dirty="0">
                <a:solidFill>
                  <a:srgbClr val="FF0000"/>
                </a:solidFill>
                <a:latin typeface="Perpetua"/>
                <a:cs typeface="Perpetua"/>
              </a:rPr>
              <a:t>Algorithm</a:t>
            </a:r>
            <a:r>
              <a:rPr sz="2600" i="1" spc="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i="1" dirty="0">
                <a:solidFill>
                  <a:srgbClr val="FF0000"/>
                </a:solidFill>
                <a:latin typeface="Perpetua"/>
                <a:cs typeface="Perpetua"/>
              </a:rPr>
              <a:t>and</a:t>
            </a:r>
            <a:r>
              <a:rPr sz="2600" i="1" spc="-13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i="1" spc="-10" dirty="0">
                <a:solidFill>
                  <a:srgbClr val="FF0000"/>
                </a:solidFill>
                <a:latin typeface="Perpetua"/>
                <a:cs typeface="Perpetua"/>
              </a:rPr>
              <a:t>Abstraction).</a:t>
            </a:r>
            <a:endParaRPr sz="2600" dirty="0">
              <a:solidFill>
                <a:srgbClr val="FF0000"/>
              </a:solidFill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9598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i="0" spc="-5" dirty="0">
                <a:solidFill>
                  <a:srgbClr val="00B050"/>
                </a:solidFill>
                <a:latin typeface="Perpetua"/>
                <a:cs typeface="Perpetua"/>
              </a:rPr>
              <a:t>The</a:t>
            </a:r>
            <a:r>
              <a:rPr sz="4000" b="1" i="0" spc="-50" dirty="0">
                <a:solidFill>
                  <a:srgbClr val="00B050"/>
                </a:solidFill>
                <a:latin typeface="Perpetua"/>
                <a:cs typeface="Perpetua"/>
              </a:rPr>
              <a:t> </a:t>
            </a:r>
            <a:r>
              <a:rPr sz="4000" b="1" i="0" spc="-10" dirty="0">
                <a:solidFill>
                  <a:srgbClr val="00B050"/>
                </a:solidFill>
                <a:latin typeface="Perpetua"/>
                <a:cs typeface="Perpetua"/>
              </a:rPr>
              <a:t>relationship</a:t>
            </a:r>
            <a:endParaRPr sz="4000" b="1" dirty="0">
              <a:solidFill>
                <a:srgbClr val="00B050"/>
              </a:solidFill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6325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solidFill>
                  <a:srgbClr val="92D050"/>
                </a:solidFill>
                <a:latin typeface="Perpetua"/>
                <a:cs typeface="Perpetua"/>
              </a:rPr>
              <a:t>Significance of </a:t>
            </a:r>
            <a:r>
              <a:rPr sz="4000" i="0" spc="-15" dirty="0">
                <a:solidFill>
                  <a:srgbClr val="92D050"/>
                </a:solidFill>
                <a:latin typeface="Perpetua"/>
                <a:cs typeface="Perpetua"/>
              </a:rPr>
              <a:t>Problem</a:t>
            </a:r>
            <a:r>
              <a:rPr sz="4000" i="0" spc="-25" dirty="0">
                <a:solidFill>
                  <a:srgbClr val="92D050"/>
                </a:solidFill>
                <a:latin typeface="Perpetua"/>
                <a:cs typeface="Perpetua"/>
              </a:rPr>
              <a:t> </a:t>
            </a:r>
            <a:r>
              <a:rPr sz="4000" i="0" spc="-5" dirty="0">
                <a:solidFill>
                  <a:srgbClr val="92D050"/>
                </a:solidFill>
                <a:latin typeface="Perpetua"/>
                <a:cs typeface="Perpetua"/>
              </a:rPr>
              <a:t>Definition</a:t>
            </a:r>
            <a:endParaRPr sz="4000" dirty="0">
              <a:solidFill>
                <a:srgbClr val="92D050"/>
              </a:solidFill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26792" y="1463039"/>
            <a:ext cx="5657215" cy="2400300"/>
          </a:xfrm>
          <a:custGeom>
            <a:avLst/>
            <a:gdLst/>
            <a:ahLst/>
            <a:cxnLst/>
            <a:rect l="l" t="t" r="r" b="b"/>
            <a:pathLst>
              <a:path w="5657215" h="2400300">
                <a:moveTo>
                  <a:pt x="0" y="2400300"/>
                </a:moveTo>
                <a:lnTo>
                  <a:pt x="5657087" y="2400300"/>
                </a:lnTo>
                <a:lnTo>
                  <a:pt x="5657087" y="0"/>
                </a:lnTo>
                <a:lnTo>
                  <a:pt x="0" y="0"/>
                </a:lnTo>
                <a:lnTo>
                  <a:pt x="0" y="24003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05532" y="1448257"/>
            <a:ext cx="5499735" cy="1920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349375" algn="l"/>
                <a:tab pos="2759075" algn="l"/>
                <a:tab pos="4064000" algn="l"/>
              </a:tabLst>
            </a:pP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S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o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f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t</a:t>
            </a:r>
            <a:r>
              <a:rPr sz="2600" spc="-25" dirty="0">
                <a:solidFill>
                  <a:srgbClr val="FF0000"/>
                </a:solidFill>
                <a:latin typeface="Perpetua"/>
                <a:cs typeface="Perpetua"/>
              </a:rPr>
              <a:t>w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2600" spc="-25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e	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An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2600" spc="-55" dirty="0">
                <a:solidFill>
                  <a:srgbClr val="FF0000"/>
                </a:solidFill>
                <a:latin typeface="Perpetua"/>
                <a:cs typeface="Perpetua"/>
              </a:rPr>
              <a:t>l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ysis/	P</a:t>
            </a:r>
            <a:r>
              <a:rPr sz="2600" spc="-30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o</a:t>
            </a:r>
            <a:r>
              <a:rPr sz="2600" spc="-45" dirty="0">
                <a:solidFill>
                  <a:srgbClr val="FF0000"/>
                </a:solidFill>
                <a:latin typeface="Perpetua"/>
                <a:cs typeface="Perpetua"/>
              </a:rPr>
              <a:t>b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le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m	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D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e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fi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niti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o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n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-- 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specifies</a:t>
            </a:r>
            <a:endParaRPr sz="260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469900" marR="5080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Arial"/>
              <a:buChar char="•"/>
              <a:tabLst>
                <a:tab pos="607060" algn="l"/>
              </a:tabLst>
            </a:pPr>
            <a:r>
              <a:rPr sz="2400" spc="-55" dirty="0">
                <a:solidFill>
                  <a:srgbClr val="FF0000"/>
                </a:solidFill>
                <a:latin typeface="Perpetua"/>
                <a:cs typeface="Perpetua"/>
              </a:rPr>
              <a:t>WHAT </a:t>
            </a:r>
            <a:r>
              <a:rPr sz="2400" i="1" dirty="0">
                <a:solidFill>
                  <a:srgbClr val="FF0000"/>
                </a:solidFill>
                <a:latin typeface="Perpetua"/>
                <a:cs typeface="Perpetua"/>
              </a:rPr>
              <a:t>task(s) 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are 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to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be </a:t>
            </a:r>
            <a:r>
              <a:rPr sz="2400" spc="5" dirty="0">
                <a:solidFill>
                  <a:srgbClr val="FF0000"/>
                </a:solidFill>
                <a:latin typeface="Perpetua"/>
                <a:cs typeface="Perpetua"/>
              </a:rPr>
              <a:t>performed </a:t>
            </a:r>
            <a:r>
              <a:rPr sz="2400" spc="-25" dirty="0">
                <a:solidFill>
                  <a:srgbClr val="FF0000"/>
                </a:solidFill>
                <a:latin typeface="Perpetua"/>
                <a:cs typeface="Perpetua"/>
              </a:rPr>
              <a:t>by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the  program/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 software</a:t>
            </a:r>
            <a:endParaRPr sz="240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645160" indent="-175260">
              <a:lnSpc>
                <a:spcPct val="100000"/>
              </a:lnSpc>
              <a:buFont typeface="Arial"/>
              <a:buChar char="•"/>
              <a:tabLst>
                <a:tab pos="645160" algn="l"/>
              </a:tabLst>
            </a:pPr>
            <a:r>
              <a:rPr sz="2400" spc="5" dirty="0">
                <a:solidFill>
                  <a:srgbClr val="FF0000"/>
                </a:solidFill>
                <a:latin typeface="Perpetua"/>
                <a:cs typeface="Perpetua"/>
              </a:rPr>
              <a:t>serves 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as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the 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software developer's</a:t>
            </a:r>
            <a:r>
              <a:rPr sz="2400" spc="-4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Perpetua"/>
                <a:cs typeface="Perpetua"/>
              </a:rPr>
              <a:t>goal</a:t>
            </a:r>
            <a:endParaRPr sz="2400" dirty="0">
              <a:solidFill>
                <a:srgbClr val="FF0000"/>
              </a:solidFill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7416" y="4053840"/>
            <a:ext cx="5230495" cy="7418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92075" marR="205104">
              <a:lnSpc>
                <a:spcPct val="100000"/>
              </a:lnSpc>
              <a:spcBef>
                <a:spcPts val="25"/>
              </a:spcBef>
              <a:tabLst>
                <a:tab pos="2209165" algn="l"/>
                <a:tab pos="2236470" algn="l"/>
                <a:tab pos="2549525" algn="l"/>
                <a:tab pos="2576830" algn="l"/>
              </a:tabLst>
            </a:pPr>
            <a:r>
              <a:rPr sz="2400" b="1" i="1" spc="-15" dirty="0">
                <a:solidFill>
                  <a:srgbClr val="00B050"/>
                </a:solidFill>
                <a:latin typeface="Perpetua"/>
                <a:cs typeface="Perpetua"/>
              </a:rPr>
              <a:t>Problem</a:t>
            </a:r>
            <a:r>
              <a:rPr sz="2400" b="1" i="1" dirty="0">
                <a:solidFill>
                  <a:srgbClr val="00B050"/>
                </a:solidFill>
                <a:latin typeface="Perpetua"/>
                <a:cs typeface="Perpetua"/>
              </a:rPr>
              <a:t> </a:t>
            </a:r>
            <a:r>
              <a:rPr sz="2400" b="1" i="1" spc="-5" dirty="0">
                <a:solidFill>
                  <a:srgbClr val="00B050"/>
                </a:solidFill>
                <a:latin typeface="Perpetua"/>
                <a:cs typeface="Perpetua"/>
              </a:rPr>
              <a:t>solution		</a:t>
            </a:r>
            <a:r>
              <a:rPr sz="2400" b="1" i="1" dirty="0">
                <a:solidFill>
                  <a:srgbClr val="00B050"/>
                </a:solidFill>
                <a:latin typeface="Perpetua"/>
                <a:cs typeface="Perpetua"/>
              </a:rPr>
              <a:t>=		</a:t>
            </a:r>
            <a:r>
              <a:rPr sz="2400" b="1" i="1" spc="-5" dirty="0">
                <a:solidFill>
                  <a:srgbClr val="00B050"/>
                </a:solidFill>
                <a:latin typeface="Perpetua"/>
                <a:cs typeface="Perpetua"/>
              </a:rPr>
              <a:t>Design---</a:t>
            </a:r>
            <a:r>
              <a:rPr sz="2400" b="1" i="1" spc="-175" dirty="0">
                <a:solidFill>
                  <a:srgbClr val="00B050"/>
                </a:solidFill>
                <a:latin typeface="Perpetua"/>
                <a:cs typeface="Perpetua"/>
              </a:rPr>
              <a:t> </a:t>
            </a:r>
            <a:r>
              <a:rPr sz="2400" b="1" i="1" spc="-10" dirty="0">
                <a:solidFill>
                  <a:srgbClr val="00B050"/>
                </a:solidFill>
                <a:latin typeface="Perpetua"/>
                <a:cs typeface="Perpetua"/>
              </a:rPr>
              <a:t>Algorithm  </a:t>
            </a:r>
            <a:r>
              <a:rPr sz="2400" b="1" i="1" spc="-5" dirty="0">
                <a:solidFill>
                  <a:srgbClr val="00B050"/>
                </a:solidFill>
                <a:latin typeface="Perpetua"/>
                <a:cs typeface="Perpetua"/>
              </a:rPr>
              <a:t>Implementation	</a:t>
            </a:r>
            <a:r>
              <a:rPr sz="2400" b="1" i="1" dirty="0">
                <a:solidFill>
                  <a:srgbClr val="00B050"/>
                </a:solidFill>
                <a:latin typeface="Perpetua"/>
                <a:cs typeface="Perpetua"/>
              </a:rPr>
              <a:t>=	</a:t>
            </a:r>
            <a:r>
              <a:rPr sz="2400" b="1" i="1" spc="-30" dirty="0">
                <a:solidFill>
                  <a:srgbClr val="00B050"/>
                </a:solidFill>
                <a:latin typeface="Perpetua"/>
                <a:cs typeface="Perpetua"/>
              </a:rPr>
              <a:t>Program/</a:t>
            </a:r>
            <a:r>
              <a:rPr sz="2400" b="1" i="1" spc="-35" dirty="0">
                <a:solidFill>
                  <a:srgbClr val="00B050"/>
                </a:solidFill>
                <a:latin typeface="Perpetua"/>
                <a:cs typeface="Perpetua"/>
              </a:rPr>
              <a:t> </a:t>
            </a:r>
            <a:r>
              <a:rPr sz="2400" b="1" i="1" spc="-15" dirty="0">
                <a:solidFill>
                  <a:srgbClr val="00B050"/>
                </a:solidFill>
                <a:latin typeface="Perpetua"/>
                <a:cs typeface="Perpetua"/>
              </a:rPr>
              <a:t>Software</a:t>
            </a:r>
            <a:endParaRPr sz="2400" dirty="0">
              <a:solidFill>
                <a:srgbClr val="00B050"/>
              </a:solidFill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85288" y="5359908"/>
            <a:ext cx="5455920" cy="88293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2185670" marR="499109" indent="-1681480">
              <a:lnSpc>
                <a:spcPts val="3360"/>
              </a:lnSpc>
              <a:spcBef>
                <a:spcPts val="85"/>
              </a:spcBef>
              <a:tabLst>
                <a:tab pos="3977004" algn="l"/>
              </a:tabLst>
            </a:pPr>
            <a:r>
              <a:rPr sz="2800" i="1" spc="-280" dirty="0">
                <a:solidFill>
                  <a:srgbClr val="3B0AC6"/>
                </a:solidFill>
                <a:latin typeface="Perpetua"/>
                <a:cs typeface="Perpetua"/>
              </a:rPr>
              <a:t>V</a:t>
            </a:r>
            <a:r>
              <a:rPr sz="2800" i="1" spc="-5" dirty="0">
                <a:solidFill>
                  <a:srgbClr val="3B0AC6"/>
                </a:solidFill>
                <a:latin typeface="Perpetua"/>
                <a:cs typeface="Perpetua"/>
              </a:rPr>
              <a:t>e</a:t>
            </a:r>
            <a:r>
              <a:rPr sz="2800" i="1" spc="55" dirty="0">
                <a:solidFill>
                  <a:srgbClr val="3B0AC6"/>
                </a:solidFill>
                <a:latin typeface="Perpetua"/>
                <a:cs typeface="Perpetua"/>
              </a:rPr>
              <a:t>r</a:t>
            </a:r>
            <a:r>
              <a:rPr sz="2800" i="1" spc="-10" dirty="0">
                <a:solidFill>
                  <a:srgbClr val="3B0AC6"/>
                </a:solidFill>
                <a:latin typeface="Perpetua"/>
                <a:cs typeface="Perpetua"/>
              </a:rPr>
              <a:t>ific</a:t>
            </a:r>
            <a:r>
              <a:rPr sz="2800" i="1" spc="-35" dirty="0">
                <a:solidFill>
                  <a:srgbClr val="3B0AC6"/>
                </a:solidFill>
                <a:latin typeface="Perpetua"/>
                <a:cs typeface="Perpetua"/>
              </a:rPr>
              <a:t>a</a:t>
            </a:r>
            <a:r>
              <a:rPr sz="2800" i="1" spc="-5" dirty="0">
                <a:solidFill>
                  <a:srgbClr val="3B0AC6"/>
                </a:solidFill>
                <a:latin typeface="Perpetua"/>
                <a:cs typeface="Perpetua"/>
              </a:rPr>
              <a:t>tion</a:t>
            </a:r>
            <a:r>
              <a:rPr sz="2800" i="1" spc="5" dirty="0">
                <a:solidFill>
                  <a:srgbClr val="3B0AC6"/>
                </a:solidFill>
                <a:latin typeface="Perpetua"/>
                <a:cs typeface="Perpetua"/>
              </a:rPr>
              <a:t> </a:t>
            </a:r>
            <a:r>
              <a:rPr sz="2800" i="1" spc="-10" dirty="0">
                <a:solidFill>
                  <a:srgbClr val="3B0AC6"/>
                </a:solidFill>
                <a:latin typeface="Perpetua"/>
                <a:cs typeface="Perpetua"/>
              </a:rPr>
              <a:t>o</a:t>
            </a:r>
            <a:r>
              <a:rPr sz="2800" i="1" spc="-5" dirty="0">
                <a:solidFill>
                  <a:srgbClr val="3B0AC6"/>
                </a:solidFill>
                <a:latin typeface="Perpetua"/>
                <a:cs typeface="Perpetua"/>
              </a:rPr>
              <a:t>f </a:t>
            </a:r>
            <a:r>
              <a:rPr sz="2800" i="1" dirty="0">
                <a:solidFill>
                  <a:srgbClr val="3B0AC6"/>
                </a:solidFill>
                <a:latin typeface="Perpetua"/>
                <a:cs typeface="Perpetua"/>
              </a:rPr>
              <a:t>t</a:t>
            </a:r>
            <a:r>
              <a:rPr sz="2800" i="1" spc="-5" dirty="0">
                <a:solidFill>
                  <a:srgbClr val="3B0AC6"/>
                </a:solidFill>
                <a:latin typeface="Perpetua"/>
                <a:cs typeface="Perpetua"/>
              </a:rPr>
              <a:t>he Pr</a:t>
            </a:r>
            <a:r>
              <a:rPr sz="2800" i="1" spc="-85" dirty="0">
                <a:solidFill>
                  <a:srgbClr val="3B0AC6"/>
                </a:solidFill>
                <a:latin typeface="Perpetua"/>
                <a:cs typeface="Perpetua"/>
              </a:rPr>
              <a:t>o</a:t>
            </a:r>
            <a:r>
              <a:rPr sz="2800" i="1" spc="20" dirty="0">
                <a:solidFill>
                  <a:srgbClr val="3B0AC6"/>
                </a:solidFill>
                <a:latin typeface="Perpetua"/>
                <a:cs typeface="Perpetua"/>
              </a:rPr>
              <a:t>g</a:t>
            </a:r>
            <a:r>
              <a:rPr sz="2800" i="1" spc="-95" dirty="0">
                <a:solidFill>
                  <a:srgbClr val="3B0AC6"/>
                </a:solidFill>
                <a:latin typeface="Perpetua"/>
                <a:cs typeface="Perpetua"/>
              </a:rPr>
              <a:t>r</a:t>
            </a:r>
            <a:r>
              <a:rPr sz="2800" i="1" spc="-5" dirty="0">
                <a:solidFill>
                  <a:srgbClr val="3B0AC6"/>
                </a:solidFill>
                <a:latin typeface="Perpetua"/>
                <a:cs typeface="Perpetua"/>
              </a:rPr>
              <a:t>am</a:t>
            </a:r>
            <a:r>
              <a:rPr sz="2800" i="1" dirty="0">
                <a:solidFill>
                  <a:srgbClr val="3B0AC6"/>
                </a:solidFill>
                <a:latin typeface="Perpetua"/>
                <a:cs typeface="Perpetua"/>
              </a:rPr>
              <a:t> </a:t>
            </a:r>
            <a:r>
              <a:rPr sz="2800" i="1" spc="-5" dirty="0">
                <a:solidFill>
                  <a:srgbClr val="3B0AC6"/>
                </a:solidFill>
                <a:latin typeface="Perpetua"/>
                <a:cs typeface="Perpetua"/>
              </a:rPr>
              <a:t>/</a:t>
            </a:r>
            <a:r>
              <a:rPr sz="2800" i="1" dirty="0">
                <a:solidFill>
                  <a:srgbClr val="3B0AC6"/>
                </a:solidFill>
                <a:latin typeface="Perpetua"/>
                <a:cs typeface="Perpetua"/>
              </a:rPr>
              <a:t>	</a:t>
            </a:r>
            <a:r>
              <a:rPr sz="2800" i="1" spc="-5" dirty="0">
                <a:solidFill>
                  <a:srgbClr val="3B0AC6"/>
                </a:solidFill>
                <a:latin typeface="Perpetua"/>
                <a:cs typeface="Perpetua"/>
              </a:rPr>
              <a:t>Soft</a:t>
            </a:r>
            <a:r>
              <a:rPr sz="2800" i="1" spc="-70" dirty="0">
                <a:solidFill>
                  <a:srgbClr val="3B0AC6"/>
                </a:solidFill>
                <a:latin typeface="Perpetua"/>
                <a:cs typeface="Perpetua"/>
              </a:rPr>
              <a:t>w</a:t>
            </a:r>
            <a:r>
              <a:rPr sz="2800" i="1" spc="-5" dirty="0">
                <a:solidFill>
                  <a:srgbClr val="3B0AC6"/>
                </a:solidFill>
                <a:latin typeface="Perpetua"/>
                <a:cs typeface="Perpetua"/>
              </a:rPr>
              <a:t>a</a:t>
            </a:r>
            <a:r>
              <a:rPr sz="2800" i="1" spc="-40" dirty="0">
                <a:solidFill>
                  <a:srgbClr val="3B0AC6"/>
                </a:solidFill>
                <a:latin typeface="Perpetua"/>
                <a:cs typeface="Perpetua"/>
              </a:rPr>
              <a:t>r</a:t>
            </a:r>
            <a:r>
              <a:rPr sz="2800" i="1" spc="-5" dirty="0">
                <a:solidFill>
                  <a:srgbClr val="3B0AC6"/>
                </a:solidFill>
                <a:latin typeface="Perpetua"/>
                <a:cs typeface="Perpetua"/>
              </a:rPr>
              <a:t>e  </a:t>
            </a:r>
            <a:r>
              <a:rPr sz="2800" i="1" spc="-10" dirty="0">
                <a:solidFill>
                  <a:srgbClr val="3B0AC6"/>
                </a:solidFill>
                <a:latin typeface="Perpetua"/>
                <a:cs typeface="Perpetua"/>
              </a:rPr>
              <a:t>developed</a:t>
            </a:r>
            <a:endParaRPr sz="2800" dirty="0">
              <a:solidFill>
                <a:srgbClr val="3B0AC6"/>
              </a:solidFill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34484" y="3521964"/>
            <a:ext cx="394970" cy="497205"/>
          </a:xfrm>
          <a:custGeom>
            <a:avLst/>
            <a:gdLst/>
            <a:ahLst/>
            <a:cxnLst/>
            <a:rect l="l" t="t" r="r" b="b"/>
            <a:pathLst>
              <a:path w="394970" h="497204">
                <a:moveTo>
                  <a:pt x="394715" y="299466"/>
                </a:moveTo>
                <a:lnTo>
                  <a:pt x="0" y="299466"/>
                </a:lnTo>
                <a:lnTo>
                  <a:pt x="197357" y="496824"/>
                </a:lnTo>
                <a:lnTo>
                  <a:pt x="394715" y="299466"/>
                </a:lnTo>
                <a:close/>
              </a:path>
              <a:path w="394970" h="497204">
                <a:moveTo>
                  <a:pt x="296037" y="0"/>
                </a:moveTo>
                <a:lnTo>
                  <a:pt x="98678" y="0"/>
                </a:lnTo>
                <a:lnTo>
                  <a:pt x="98678" y="299466"/>
                </a:lnTo>
                <a:lnTo>
                  <a:pt x="296037" y="299466"/>
                </a:lnTo>
                <a:lnTo>
                  <a:pt x="2960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34484" y="3521964"/>
            <a:ext cx="394970" cy="497205"/>
          </a:xfrm>
          <a:custGeom>
            <a:avLst/>
            <a:gdLst/>
            <a:ahLst/>
            <a:cxnLst/>
            <a:rect l="l" t="t" r="r" b="b"/>
            <a:pathLst>
              <a:path w="394970" h="497204">
                <a:moveTo>
                  <a:pt x="0" y="299466"/>
                </a:moveTo>
                <a:lnTo>
                  <a:pt x="98678" y="299466"/>
                </a:lnTo>
                <a:lnTo>
                  <a:pt x="98678" y="0"/>
                </a:lnTo>
                <a:lnTo>
                  <a:pt x="296037" y="0"/>
                </a:lnTo>
                <a:lnTo>
                  <a:pt x="296037" y="299466"/>
                </a:lnTo>
                <a:lnTo>
                  <a:pt x="394715" y="299466"/>
                </a:lnTo>
                <a:lnTo>
                  <a:pt x="197357" y="496824"/>
                </a:lnTo>
                <a:lnTo>
                  <a:pt x="0" y="299466"/>
                </a:lnTo>
                <a:close/>
              </a:path>
            </a:pathLst>
          </a:custGeom>
          <a:ln w="12191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06111" y="4875276"/>
            <a:ext cx="394970" cy="497205"/>
          </a:xfrm>
          <a:custGeom>
            <a:avLst/>
            <a:gdLst/>
            <a:ahLst/>
            <a:cxnLst/>
            <a:rect l="l" t="t" r="r" b="b"/>
            <a:pathLst>
              <a:path w="394970" h="497204">
                <a:moveTo>
                  <a:pt x="394715" y="299466"/>
                </a:moveTo>
                <a:lnTo>
                  <a:pt x="0" y="299466"/>
                </a:lnTo>
                <a:lnTo>
                  <a:pt x="197358" y="496824"/>
                </a:lnTo>
                <a:lnTo>
                  <a:pt x="394715" y="299466"/>
                </a:lnTo>
                <a:close/>
              </a:path>
              <a:path w="394970" h="497204">
                <a:moveTo>
                  <a:pt x="296037" y="0"/>
                </a:moveTo>
                <a:lnTo>
                  <a:pt x="98678" y="0"/>
                </a:lnTo>
                <a:lnTo>
                  <a:pt x="98678" y="299466"/>
                </a:lnTo>
                <a:lnTo>
                  <a:pt x="296037" y="299466"/>
                </a:lnTo>
                <a:lnTo>
                  <a:pt x="2960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6111" y="4875276"/>
            <a:ext cx="394970" cy="497205"/>
          </a:xfrm>
          <a:custGeom>
            <a:avLst/>
            <a:gdLst/>
            <a:ahLst/>
            <a:cxnLst/>
            <a:rect l="l" t="t" r="r" b="b"/>
            <a:pathLst>
              <a:path w="394970" h="497204">
                <a:moveTo>
                  <a:pt x="0" y="299466"/>
                </a:moveTo>
                <a:lnTo>
                  <a:pt x="98678" y="299466"/>
                </a:lnTo>
                <a:lnTo>
                  <a:pt x="98678" y="0"/>
                </a:lnTo>
                <a:lnTo>
                  <a:pt x="296037" y="0"/>
                </a:lnTo>
                <a:lnTo>
                  <a:pt x="296037" y="299466"/>
                </a:lnTo>
                <a:lnTo>
                  <a:pt x="394715" y="299466"/>
                </a:lnTo>
                <a:lnTo>
                  <a:pt x="197358" y="496824"/>
                </a:lnTo>
                <a:lnTo>
                  <a:pt x="0" y="299466"/>
                </a:lnTo>
                <a:close/>
              </a:path>
            </a:pathLst>
          </a:custGeom>
          <a:ln w="12191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4772" y="1798827"/>
            <a:ext cx="1053465" cy="1991995"/>
          </a:xfrm>
          <a:custGeom>
            <a:avLst/>
            <a:gdLst/>
            <a:ahLst/>
            <a:cxnLst/>
            <a:rect l="l" t="t" r="r" b="b"/>
            <a:pathLst>
              <a:path w="1053464" h="1991995">
                <a:moveTo>
                  <a:pt x="789813" y="0"/>
                </a:moveTo>
                <a:lnTo>
                  <a:pt x="789813" y="131699"/>
                </a:lnTo>
                <a:lnTo>
                  <a:pt x="754327" y="147075"/>
                </a:lnTo>
                <a:lnTo>
                  <a:pt x="719412" y="164262"/>
                </a:lnTo>
                <a:lnTo>
                  <a:pt x="685088" y="183223"/>
                </a:lnTo>
                <a:lnTo>
                  <a:pt x="651372" y="203919"/>
                </a:lnTo>
                <a:lnTo>
                  <a:pt x="618283" y="226312"/>
                </a:lnTo>
                <a:lnTo>
                  <a:pt x="585841" y="250366"/>
                </a:lnTo>
                <a:lnTo>
                  <a:pt x="554063" y="276041"/>
                </a:lnTo>
                <a:lnTo>
                  <a:pt x="522969" y="303301"/>
                </a:lnTo>
                <a:lnTo>
                  <a:pt x="492577" y="332107"/>
                </a:lnTo>
                <a:lnTo>
                  <a:pt x="462905" y="362423"/>
                </a:lnTo>
                <a:lnTo>
                  <a:pt x="433974" y="394209"/>
                </a:lnTo>
                <a:lnTo>
                  <a:pt x="405717" y="427533"/>
                </a:lnTo>
                <a:lnTo>
                  <a:pt x="378403" y="462044"/>
                </a:lnTo>
                <a:lnTo>
                  <a:pt x="351802" y="498018"/>
                </a:lnTo>
                <a:lnTo>
                  <a:pt x="326015" y="535311"/>
                </a:lnTo>
                <a:lnTo>
                  <a:pt x="301061" y="573886"/>
                </a:lnTo>
                <a:lnTo>
                  <a:pt x="276958" y="613707"/>
                </a:lnTo>
                <a:lnTo>
                  <a:pt x="253726" y="654734"/>
                </a:lnTo>
                <a:lnTo>
                  <a:pt x="231383" y="696930"/>
                </a:lnTo>
                <a:lnTo>
                  <a:pt x="209948" y="740257"/>
                </a:lnTo>
                <a:lnTo>
                  <a:pt x="189439" y="784678"/>
                </a:lnTo>
                <a:lnTo>
                  <a:pt x="169875" y="830155"/>
                </a:lnTo>
                <a:lnTo>
                  <a:pt x="151153" y="876978"/>
                </a:lnTo>
                <a:lnTo>
                  <a:pt x="133657" y="924125"/>
                </a:lnTo>
                <a:lnTo>
                  <a:pt x="117041" y="972543"/>
                </a:lnTo>
                <a:lnTo>
                  <a:pt x="101444" y="1021865"/>
                </a:lnTo>
                <a:lnTo>
                  <a:pt x="86886" y="1072055"/>
                </a:lnTo>
                <a:lnTo>
                  <a:pt x="73385" y="1123073"/>
                </a:lnTo>
                <a:lnTo>
                  <a:pt x="60961" y="1174884"/>
                </a:lnTo>
                <a:lnTo>
                  <a:pt x="49630" y="1227448"/>
                </a:lnTo>
                <a:lnTo>
                  <a:pt x="39413" y="1280728"/>
                </a:lnTo>
                <a:lnTo>
                  <a:pt x="30328" y="1334686"/>
                </a:lnTo>
                <a:lnTo>
                  <a:pt x="22394" y="1389285"/>
                </a:lnTo>
                <a:lnTo>
                  <a:pt x="15629" y="1444487"/>
                </a:lnTo>
                <a:lnTo>
                  <a:pt x="10052" y="1500254"/>
                </a:lnTo>
                <a:lnTo>
                  <a:pt x="5682" y="1556548"/>
                </a:lnTo>
                <a:lnTo>
                  <a:pt x="2538" y="1613331"/>
                </a:lnTo>
                <a:lnTo>
                  <a:pt x="637" y="1670566"/>
                </a:lnTo>
                <a:lnTo>
                  <a:pt x="0" y="1728216"/>
                </a:lnTo>
                <a:lnTo>
                  <a:pt x="0" y="1991487"/>
                </a:lnTo>
                <a:lnTo>
                  <a:pt x="637" y="1933837"/>
                </a:lnTo>
                <a:lnTo>
                  <a:pt x="2538" y="1876602"/>
                </a:lnTo>
                <a:lnTo>
                  <a:pt x="5682" y="1819819"/>
                </a:lnTo>
                <a:lnTo>
                  <a:pt x="10052" y="1763525"/>
                </a:lnTo>
                <a:lnTo>
                  <a:pt x="15629" y="1707758"/>
                </a:lnTo>
                <a:lnTo>
                  <a:pt x="22394" y="1652556"/>
                </a:lnTo>
                <a:lnTo>
                  <a:pt x="30328" y="1597957"/>
                </a:lnTo>
                <a:lnTo>
                  <a:pt x="39413" y="1543999"/>
                </a:lnTo>
                <a:lnTo>
                  <a:pt x="49630" y="1490719"/>
                </a:lnTo>
                <a:lnTo>
                  <a:pt x="60961" y="1438155"/>
                </a:lnTo>
                <a:lnTo>
                  <a:pt x="73385" y="1386344"/>
                </a:lnTo>
                <a:lnTo>
                  <a:pt x="86886" y="1335326"/>
                </a:lnTo>
                <a:lnTo>
                  <a:pt x="101444" y="1285136"/>
                </a:lnTo>
                <a:lnTo>
                  <a:pt x="117041" y="1235814"/>
                </a:lnTo>
                <a:lnTo>
                  <a:pt x="133657" y="1187396"/>
                </a:lnTo>
                <a:lnTo>
                  <a:pt x="151275" y="1139921"/>
                </a:lnTo>
                <a:lnTo>
                  <a:pt x="169875" y="1093426"/>
                </a:lnTo>
                <a:lnTo>
                  <a:pt x="189439" y="1047949"/>
                </a:lnTo>
                <a:lnTo>
                  <a:pt x="209948" y="1003528"/>
                </a:lnTo>
                <a:lnTo>
                  <a:pt x="231383" y="960201"/>
                </a:lnTo>
                <a:lnTo>
                  <a:pt x="253726" y="918005"/>
                </a:lnTo>
                <a:lnTo>
                  <a:pt x="276958" y="876978"/>
                </a:lnTo>
                <a:lnTo>
                  <a:pt x="301061" y="837157"/>
                </a:lnTo>
                <a:lnTo>
                  <a:pt x="326015" y="798582"/>
                </a:lnTo>
                <a:lnTo>
                  <a:pt x="351802" y="761289"/>
                </a:lnTo>
                <a:lnTo>
                  <a:pt x="378403" y="725315"/>
                </a:lnTo>
                <a:lnTo>
                  <a:pt x="405800" y="690700"/>
                </a:lnTo>
                <a:lnTo>
                  <a:pt x="433974" y="657480"/>
                </a:lnTo>
                <a:lnTo>
                  <a:pt x="462905" y="625694"/>
                </a:lnTo>
                <a:lnTo>
                  <a:pt x="492577" y="595378"/>
                </a:lnTo>
                <a:lnTo>
                  <a:pt x="522969" y="566572"/>
                </a:lnTo>
                <a:lnTo>
                  <a:pt x="554063" y="539312"/>
                </a:lnTo>
                <a:lnTo>
                  <a:pt x="585841" y="513637"/>
                </a:lnTo>
                <a:lnTo>
                  <a:pt x="618283" y="489583"/>
                </a:lnTo>
                <a:lnTo>
                  <a:pt x="651372" y="467190"/>
                </a:lnTo>
                <a:lnTo>
                  <a:pt x="685088" y="446494"/>
                </a:lnTo>
                <a:lnTo>
                  <a:pt x="719412" y="427533"/>
                </a:lnTo>
                <a:lnTo>
                  <a:pt x="754327" y="410346"/>
                </a:lnTo>
                <a:lnTo>
                  <a:pt x="789813" y="394970"/>
                </a:lnTo>
                <a:lnTo>
                  <a:pt x="899571" y="394970"/>
                </a:lnTo>
                <a:lnTo>
                  <a:pt x="1053084" y="210947"/>
                </a:lnTo>
                <a:lnTo>
                  <a:pt x="789813" y="0"/>
                </a:lnTo>
                <a:close/>
              </a:path>
              <a:path w="1053464" h="1991995">
                <a:moveTo>
                  <a:pt x="899571" y="394970"/>
                </a:moveTo>
                <a:lnTo>
                  <a:pt x="789813" y="394970"/>
                </a:lnTo>
                <a:lnTo>
                  <a:pt x="789813" y="526542"/>
                </a:lnTo>
                <a:lnTo>
                  <a:pt x="899571" y="394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4772" y="3658615"/>
            <a:ext cx="1053465" cy="1780539"/>
          </a:xfrm>
          <a:custGeom>
            <a:avLst/>
            <a:gdLst/>
            <a:ahLst/>
            <a:cxnLst/>
            <a:rect l="l" t="t" r="r" b="b"/>
            <a:pathLst>
              <a:path w="1053464" h="1780539">
                <a:moveTo>
                  <a:pt x="3302" y="0"/>
                </a:moveTo>
                <a:lnTo>
                  <a:pt x="1875" y="32883"/>
                </a:lnTo>
                <a:lnTo>
                  <a:pt x="841" y="65801"/>
                </a:lnTo>
                <a:lnTo>
                  <a:pt x="212" y="98744"/>
                </a:lnTo>
                <a:lnTo>
                  <a:pt x="0" y="131698"/>
                </a:lnTo>
                <a:lnTo>
                  <a:pt x="636" y="189582"/>
                </a:lnTo>
                <a:lnTo>
                  <a:pt x="2533" y="246964"/>
                </a:lnTo>
                <a:lnTo>
                  <a:pt x="5668" y="303813"/>
                </a:lnTo>
                <a:lnTo>
                  <a:pt x="10021" y="360096"/>
                </a:lnTo>
                <a:lnTo>
                  <a:pt x="15570" y="415780"/>
                </a:lnTo>
                <a:lnTo>
                  <a:pt x="22296" y="470832"/>
                </a:lnTo>
                <a:lnTo>
                  <a:pt x="30178" y="525220"/>
                </a:lnTo>
                <a:lnTo>
                  <a:pt x="39193" y="578911"/>
                </a:lnTo>
                <a:lnTo>
                  <a:pt x="49322" y="631872"/>
                </a:lnTo>
                <a:lnTo>
                  <a:pt x="60544" y="684070"/>
                </a:lnTo>
                <a:lnTo>
                  <a:pt x="72837" y="735474"/>
                </a:lnTo>
                <a:lnTo>
                  <a:pt x="86181" y="786050"/>
                </a:lnTo>
                <a:lnTo>
                  <a:pt x="100556" y="835765"/>
                </a:lnTo>
                <a:lnTo>
                  <a:pt x="115939" y="884587"/>
                </a:lnTo>
                <a:lnTo>
                  <a:pt x="132310" y="932482"/>
                </a:lnTo>
                <a:lnTo>
                  <a:pt x="149649" y="979420"/>
                </a:lnTo>
                <a:lnTo>
                  <a:pt x="167935" y="1025366"/>
                </a:lnTo>
                <a:lnTo>
                  <a:pt x="187146" y="1070287"/>
                </a:lnTo>
                <a:lnTo>
                  <a:pt x="207262" y="1114152"/>
                </a:lnTo>
                <a:lnTo>
                  <a:pt x="228261" y="1156928"/>
                </a:lnTo>
                <a:lnTo>
                  <a:pt x="250124" y="1198581"/>
                </a:lnTo>
                <a:lnTo>
                  <a:pt x="272829" y="1239080"/>
                </a:lnTo>
                <a:lnTo>
                  <a:pt x="296355" y="1278390"/>
                </a:lnTo>
                <a:lnTo>
                  <a:pt x="320681" y="1316481"/>
                </a:lnTo>
                <a:lnTo>
                  <a:pt x="345787" y="1353318"/>
                </a:lnTo>
                <a:lnTo>
                  <a:pt x="371651" y="1388870"/>
                </a:lnTo>
                <a:lnTo>
                  <a:pt x="398254" y="1423104"/>
                </a:lnTo>
                <a:lnTo>
                  <a:pt x="425573" y="1455986"/>
                </a:lnTo>
                <a:lnTo>
                  <a:pt x="453588" y="1487484"/>
                </a:lnTo>
                <a:lnTo>
                  <a:pt x="482278" y="1517566"/>
                </a:lnTo>
                <a:lnTo>
                  <a:pt x="511623" y="1546199"/>
                </a:lnTo>
                <a:lnTo>
                  <a:pt x="541601" y="1573350"/>
                </a:lnTo>
                <a:lnTo>
                  <a:pt x="572191" y="1598986"/>
                </a:lnTo>
                <a:lnTo>
                  <a:pt x="603373" y="1623075"/>
                </a:lnTo>
                <a:lnTo>
                  <a:pt x="635126" y="1645583"/>
                </a:lnTo>
                <a:lnTo>
                  <a:pt x="667429" y="1666479"/>
                </a:lnTo>
                <a:lnTo>
                  <a:pt x="733601" y="1703302"/>
                </a:lnTo>
                <a:lnTo>
                  <a:pt x="801722" y="1733281"/>
                </a:lnTo>
                <a:lnTo>
                  <a:pt x="871625" y="1756156"/>
                </a:lnTo>
                <a:lnTo>
                  <a:pt x="943143" y="1771663"/>
                </a:lnTo>
                <a:lnTo>
                  <a:pt x="1016109" y="1779542"/>
                </a:lnTo>
                <a:lnTo>
                  <a:pt x="1053084" y="1780539"/>
                </a:lnTo>
                <a:lnTo>
                  <a:pt x="1053084" y="1517268"/>
                </a:lnTo>
                <a:lnTo>
                  <a:pt x="1015797" y="1516251"/>
                </a:lnTo>
                <a:lnTo>
                  <a:pt x="978819" y="1513219"/>
                </a:lnTo>
                <a:lnTo>
                  <a:pt x="905877" y="1501244"/>
                </a:lnTo>
                <a:lnTo>
                  <a:pt x="834441" y="1481604"/>
                </a:lnTo>
                <a:lnTo>
                  <a:pt x="764689" y="1454563"/>
                </a:lnTo>
                <a:lnTo>
                  <a:pt x="696803" y="1420380"/>
                </a:lnTo>
                <a:lnTo>
                  <a:pt x="663616" y="1400692"/>
                </a:lnTo>
                <a:lnTo>
                  <a:pt x="630964" y="1379318"/>
                </a:lnTo>
                <a:lnTo>
                  <a:pt x="598868" y="1356288"/>
                </a:lnTo>
                <a:lnTo>
                  <a:pt x="567351" y="1331637"/>
                </a:lnTo>
                <a:lnTo>
                  <a:pt x="536437" y="1305396"/>
                </a:lnTo>
                <a:lnTo>
                  <a:pt x="506147" y="1277599"/>
                </a:lnTo>
                <a:lnTo>
                  <a:pt x="476504" y="1248278"/>
                </a:lnTo>
                <a:lnTo>
                  <a:pt x="447531" y="1217466"/>
                </a:lnTo>
                <a:lnTo>
                  <a:pt x="419250" y="1185196"/>
                </a:lnTo>
                <a:lnTo>
                  <a:pt x="391684" y="1151499"/>
                </a:lnTo>
                <a:lnTo>
                  <a:pt x="364856" y="1116410"/>
                </a:lnTo>
                <a:lnTo>
                  <a:pt x="338788" y="1079960"/>
                </a:lnTo>
                <a:lnTo>
                  <a:pt x="313502" y="1042182"/>
                </a:lnTo>
                <a:lnTo>
                  <a:pt x="289022" y="1003109"/>
                </a:lnTo>
                <a:lnTo>
                  <a:pt x="265369" y="962774"/>
                </a:lnTo>
                <a:lnTo>
                  <a:pt x="242567" y="921209"/>
                </a:lnTo>
                <a:lnTo>
                  <a:pt x="220638" y="878446"/>
                </a:lnTo>
                <a:lnTo>
                  <a:pt x="199605" y="834520"/>
                </a:lnTo>
                <a:lnTo>
                  <a:pt x="179489" y="789461"/>
                </a:lnTo>
                <a:lnTo>
                  <a:pt x="160315" y="743304"/>
                </a:lnTo>
                <a:lnTo>
                  <a:pt x="142104" y="696080"/>
                </a:lnTo>
                <a:lnTo>
                  <a:pt x="124879" y="647823"/>
                </a:lnTo>
                <a:lnTo>
                  <a:pt x="108662" y="598564"/>
                </a:lnTo>
                <a:lnTo>
                  <a:pt x="93476" y="548338"/>
                </a:lnTo>
                <a:lnTo>
                  <a:pt x="79344" y="497175"/>
                </a:lnTo>
                <a:lnTo>
                  <a:pt x="66289" y="445110"/>
                </a:lnTo>
                <a:lnTo>
                  <a:pt x="54332" y="392174"/>
                </a:lnTo>
                <a:lnTo>
                  <a:pt x="43497" y="338400"/>
                </a:lnTo>
                <a:lnTo>
                  <a:pt x="33806" y="283822"/>
                </a:lnTo>
                <a:lnTo>
                  <a:pt x="25281" y="228471"/>
                </a:lnTo>
                <a:lnTo>
                  <a:pt x="17946" y="172381"/>
                </a:lnTo>
                <a:lnTo>
                  <a:pt x="11823" y="115584"/>
                </a:lnTo>
                <a:lnTo>
                  <a:pt x="6934" y="58112"/>
                </a:lnTo>
                <a:lnTo>
                  <a:pt x="3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4772" y="1798827"/>
            <a:ext cx="1053465" cy="3640454"/>
          </a:xfrm>
          <a:custGeom>
            <a:avLst/>
            <a:gdLst/>
            <a:ahLst/>
            <a:cxnLst/>
            <a:rect l="l" t="t" r="r" b="b"/>
            <a:pathLst>
              <a:path w="1053464" h="3640454">
                <a:moveTo>
                  <a:pt x="3302" y="1859788"/>
                </a:moveTo>
                <a:lnTo>
                  <a:pt x="6934" y="1917900"/>
                </a:lnTo>
                <a:lnTo>
                  <a:pt x="11823" y="1975372"/>
                </a:lnTo>
                <a:lnTo>
                  <a:pt x="17946" y="2032169"/>
                </a:lnTo>
                <a:lnTo>
                  <a:pt x="25281" y="2088259"/>
                </a:lnTo>
                <a:lnTo>
                  <a:pt x="33806" y="2143610"/>
                </a:lnTo>
                <a:lnTo>
                  <a:pt x="43497" y="2198188"/>
                </a:lnTo>
                <a:lnTo>
                  <a:pt x="54332" y="2251962"/>
                </a:lnTo>
                <a:lnTo>
                  <a:pt x="66289" y="2304898"/>
                </a:lnTo>
                <a:lnTo>
                  <a:pt x="79344" y="2356963"/>
                </a:lnTo>
                <a:lnTo>
                  <a:pt x="93476" y="2408126"/>
                </a:lnTo>
                <a:lnTo>
                  <a:pt x="108662" y="2458352"/>
                </a:lnTo>
                <a:lnTo>
                  <a:pt x="124879" y="2507611"/>
                </a:lnTo>
                <a:lnTo>
                  <a:pt x="142104" y="2555868"/>
                </a:lnTo>
                <a:lnTo>
                  <a:pt x="160315" y="2603092"/>
                </a:lnTo>
                <a:lnTo>
                  <a:pt x="179489" y="2649249"/>
                </a:lnTo>
                <a:lnTo>
                  <a:pt x="199605" y="2694308"/>
                </a:lnTo>
                <a:lnTo>
                  <a:pt x="220638" y="2738234"/>
                </a:lnTo>
                <a:lnTo>
                  <a:pt x="242567" y="2780997"/>
                </a:lnTo>
                <a:lnTo>
                  <a:pt x="265369" y="2822562"/>
                </a:lnTo>
                <a:lnTo>
                  <a:pt x="289022" y="2862897"/>
                </a:lnTo>
                <a:lnTo>
                  <a:pt x="313502" y="2901970"/>
                </a:lnTo>
                <a:lnTo>
                  <a:pt x="338788" y="2939748"/>
                </a:lnTo>
                <a:lnTo>
                  <a:pt x="364856" y="2976198"/>
                </a:lnTo>
                <a:lnTo>
                  <a:pt x="391684" y="3011287"/>
                </a:lnTo>
                <a:lnTo>
                  <a:pt x="419250" y="3044984"/>
                </a:lnTo>
                <a:lnTo>
                  <a:pt x="447531" y="3077254"/>
                </a:lnTo>
                <a:lnTo>
                  <a:pt x="476504" y="3108066"/>
                </a:lnTo>
                <a:lnTo>
                  <a:pt x="506147" y="3137387"/>
                </a:lnTo>
                <a:lnTo>
                  <a:pt x="536437" y="3165184"/>
                </a:lnTo>
                <a:lnTo>
                  <a:pt x="567351" y="3191425"/>
                </a:lnTo>
                <a:lnTo>
                  <a:pt x="598868" y="3216076"/>
                </a:lnTo>
                <a:lnTo>
                  <a:pt x="630964" y="3239106"/>
                </a:lnTo>
                <a:lnTo>
                  <a:pt x="663616" y="3260480"/>
                </a:lnTo>
                <a:lnTo>
                  <a:pt x="696803" y="3280168"/>
                </a:lnTo>
                <a:lnTo>
                  <a:pt x="730501" y="3298136"/>
                </a:lnTo>
                <a:lnTo>
                  <a:pt x="799343" y="3328781"/>
                </a:lnTo>
                <a:lnTo>
                  <a:pt x="869960" y="3352154"/>
                </a:lnTo>
                <a:lnTo>
                  <a:pt x="942171" y="3367993"/>
                </a:lnTo>
                <a:lnTo>
                  <a:pt x="1015797" y="3376039"/>
                </a:lnTo>
                <a:lnTo>
                  <a:pt x="1053084" y="3377057"/>
                </a:lnTo>
                <a:lnTo>
                  <a:pt x="1053084" y="3640328"/>
                </a:lnTo>
                <a:lnTo>
                  <a:pt x="979456" y="3636361"/>
                </a:lnTo>
                <a:lnTo>
                  <a:pt x="907193" y="3624635"/>
                </a:lnTo>
                <a:lnTo>
                  <a:pt x="836461" y="3605411"/>
                </a:lnTo>
                <a:lnTo>
                  <a:pt x="767428" y="3578952"/>
                </a:lnTo>
                <a:lnTo>
                  <a:pt x="700261" y="3545518"/>
                </a:lnTo>
                <a:lnTo>
                  <a:pt x="635126" y="3505371"/>
                </a:lnTo>
                <a:lnTo>
                  <a:pt x="603373" y="3482863"/>
                </a:lnTo>
                <a:lnTo>
                  <a:pt x="572191" y="3458774"/>
                </a:lnTo>
                <a:lnTo>
                  <a:pt x="541601" y="3433138"/>
                </a:lnTo>
                <a:lnTo>
                  <a:pt x="511623" y="3405987"/>
                </a:lnTo>
                <a:lnTo>
                  <a:pt x="482278" y="3377354"/>
                </a:lnTo>
                <a:lnTo>
                  <a:pt x="453588" y="3347272"/>
                </a:lnTo>
                <a:lnTo>
                  <a:pt x="425573" y="3315774"/>
                </a:lnTo>
                <a:lnTo>
                  <a:pt x="398254" y="3282892"/>
                </a:lnTo>
                <a:lnTo>
                  <a:pt x="371651" y="3248658"/>
                </a:lnTo>
                <a:lnTo>
                  <a:pt x="345787" y="3213106"/>
                </a:lnTo>
                <a:lnTo>
                  <a:pt x="320681" y="3176269"/>
                </a:lnTo>
                <a:lnTo>
                  <a:pt x="296355" y="3138178"/>
                </a:lnTo>
                <a:lnTo>
                  <a:pt x="272829" y="3098868"/>
                </a:lnTo>
                <a:lnTo>
                  <a:pt x="250124" y="3058369"/>
                </a:lnTo>
                <a:lnTo>
                  <a:pt x="228261" y="3016716"/>
                </a:lnTo>
                <a:lnTo>
                  <a:pt x="207262" y="2973940"/>
                </a:lnTo>
                <a:lnTo>
                  <a:pt x="187146" y="2930075"/>
                </a:lnTo>
                <a:lnTo>
                  <a:pt x="167935" y="2885154"/>
                </a:lnTo>
                <a:lnTo>
                  <a:pt x="149649" y="2839208"/>
                </a:lnTo>
                <a:lnTo>
                  <a:pt x="132310" y="2792270"/>
                </a:lnTo>
                <a:lnTo>
                  <a:pt x="115939" y="2744375"/>
                </a:lnTo>
                <a:lnTo>
                  <a:pt x="100556" y="2695553"/>
                </a:lnTo>
                <a:lnTo>
                  <a:pt x="86181" y="2645838"/>
                </a:lnTo>
                <a:lnTo>
                  <a:pt x="72837" y="2595262"/>
                </a:lnTo>
                <a:lnTo>
                  <a:pt x="60544" y="2543858"/>
                </a:lnTo>
                <a:lnTo>
                  <a:pt x="49322" y="2491660"/>
                </a:lnTo>
                <a:lnTo>
                  <a:pt x="39193" y="2438699"/>
                </a:lnTo>
                <a:lnTo>
                  <a:pt x="30178" y="2385008"/>
                </a:lnTo>
                <a:lnTo>
                  <a:pt x="22296" y="2330620"/>
                </a:lnTo>
                <a:lnTo>
                  <a:pt x="15570" y="2275568"/>
                </a:lnTo>
                <a:lnTo>
                  <a:pt x="10021" y="2219884"/>
                </a:lnTo>
                <a:lnTo>
                  <a:pt x="5668" y="2163601"/>
                </a:lnTo>
                <a:lnTo>
                  <a:pt x="2533" y="2106752"/>
                </a:lnTo>
                <a:lnTo>
                  <a:pt x="636" y="2049370"/>
                </a:lnTo>
                <a:lnTo>
                  <a:pt x="0" y="1991487"/>
                </a:lnTo>
                <a:lnTo>
                  <a:pt x="0" y="1728216"/>
                </a:lnTo>
                <a:lnTo>
                  <a:pt x="637" y="1670566"/>
                </a:lnTo>
                <a:lnTo>
                  <a:pt x="2538" y="1613331"/>
                </a:lnTo>
                <a:lnTo>
                  <a:pt x="5682" y="1556548"/>
                </a:lnTo>
                <a:lnTo>
                  <a:pt x="10052" y="1500254"/>
                </a:lnTo>
                <a:lnTo>
                  <a:pt x="15629" y="1444487"/>
                </a:lnTo>
                <a:lnTo>
                  <a:pt x="22394" y="1389285"/>
                </a:lnTo>
                <a:lnTo>
                  <a:pt x="30328" y="1334686"/>
                </a:lnTo>
                <a:lnTo>
                  <a:pt x="39413" y="1280728"/>
                </a:lnTo>
                <a:lnTo>
                  <a:pt x="49630" y="1227448"/>
                </a:lnTo>
                <a:lnTo>
                  <a:pt x="60961" y="1174884"/>
                </a:lnTo>
                <a:lnTo>
                  <a:pt x="73385" y="1123073"/>
                </a:lnTo>
                <a:lnTo>
                  <a:pt x="86886" y="1072055"/>
                </a:lnTo>
                <a:lnTo>
                  <a:pt x="101444" y="1021865"/>
                </a:lnTo>
                <a:lnTo>
                  <a:pt x="117041" y="972543"/>
                </a:lnTo>
                <a:lnTo>
                  <a:pt x="133657" y="924125"/>
                </a:lnTo>
                <a:lnTo>
                  <a:pt x="151275" y="876650"/>
                </a:lnTo>
                <a:lnTo>
                  <a:pt x="169875" y="830155"/>
                </a:lnTo>
                <a:lnTo>
                  <a:pt x="189439" y="784678"/>
                </a:lnTo>
                <a:lnTo>
                  <a:pt x="209948" y="740257"/>
                </a:lnTo>
                <a:lnTo>
                  <a:pt x="231383" y="696930"/>
                </a:lnTo>
                <a:lnTo>
                  <a:pt x="253726" y="654734"/>
                </a:lnTo>
                <a:lnTo>
                  <a:pt x="276958" y="613707"/>
                </a:lnTo>
                <a:lnTo>
                  <a:pt x="301061" y="573886"/>
                </a:lnTo>
                <a:lnTo>
                  <a:pt x="326015" y="535311"/>
                </a:lnTo>
                <a:lnTo>
                  <a:pt x="351802" y="498018"/>
                </a:lnTo>
                <a:lnTo>
                  <a:pt x="378403" y="462044"/>
                </a:lnTo>
                <a:lnTo>
                  <a:pt x="405800" y="427429"/>
                </a:lnTo>
                <a:lnTo>
                  <a:pt x="433974" y="394209"/>
                </a:lnTo>
                <a:lnTo>
                  <a:pt x="462905" y="362423"/>
                </a:lnTo>
                <a:lnTo>
                  <a:pt x="492577" y="332107"/>
                </a:lnTo>
                <a:lnTo>
                  <a:pt x="522969" y="303301"/>
                </a:lnTo>
                <a:lnTo>
                  <a:pt x="554063" y="276041"/>
                </a:lnTo>
                <a:lnTo>
                  <a:pt x="585841" y="250366"/>
                </a:lnTo>
                <a:lnTo>
                  <a:pt x="618283" y="226312"/>
                </a:lnTo>
                <a:lnTo>
                  <a:pt x="651372" y="203919"/>
                </a:lnTo>
                <a:lnTo>
                  <a:pt x="685088" y="183223"/>
                </a:lnTo>
                <a:lnTo>
                  <a:pt x="719412" y="164262"/>
                </a:lnTo>
                <a:lnTo>
                  <a:pt x="754327" y="147075"/>
                </a:lnTo>
                <a:lnTo>
                  <a:pt x="789813" y="131699"/>
                </a:lnTo>
                <a:lnTo>
                  <a:pt x="789813" y="0"/>
                </a:lnTo>
                <a:lnTo>
                  <a:pt x="1053084" y="210947"/>
                </a:lnTo>
                <a:lnTo>
                  <a:pt x="789813" y="526542"/>
                </a:lnTo>
                <a:lnTo>
                  <a:pt x="789813" y="394970"/>
                </a:lnTo>
                <a:lnTo>
                  <a:pt x="754327" y="410346"/>
                </a:lnTo>
                <a:lnTo>
                  <a:pt x="719412" y="427533"/>
                </a:lnTo>
                <a:lnTo>
                  <a:pt x="685088" y="446494"/>
                </a:lnTo>
                <a:lnTo>
                  <a:pt x="651372" y="467190"/>
                </a:lnTo>
                <a:lnTo>
                  <a:pt x="618283" y="489583"/>
                </a:lnTo>
                <a:lnTo>
                  <a:pt x="585841" y="513637"/>
                </a:lnTo>
                <a:lnTo>
                  <a:pt x="554063" y="539312"/>
                </a:lnTo>
                <a:lnTo>
                  <a:pt x="522969" y="566572"/>
                </a:lnTo>
                <a:lnTo>
                  <a:pt x="492577" y="595378"/>
                </a:lnTo>
                <a:lnTo>
                  <a:pt x="462905" y="625694"/>
                </a:lnTo>
                <a:lnTo>
                  <a:pt x="433974" y="657480"/>
                </a:lnTo>
                <a:lnTo>
                  <a:pt x="405800" y="690700"/>
                </a:lnTo>
                <a:lnTo>
                  <a:pt x="378403" y="725315"/>
                </a:lnTo>
                <a:lnTo>
                  <a:pt x="351802" y="761289"/>
                </a:lnTo>
                <a:lnTo>
                  <a:pt x="326015" y="798582"/>
                </a:lnTo>
                <a:lnTo>
                  <a:pt x="301061" y="837157"/>
                </a:lnTo>
                <a:lnTo>
                  <a:pt x="276958" y="876978"/>
                </a:lnTo>
                <a:lnTo>
                  <a:pt x="253726" y="918005"/>
                </a:lnTo>
                <a:lnTo>
                  <a:pt x="231383" y="960201"/>
                </a:lnTo>
                <a:lnTo>
                  <a:pt x="209948" y="1003528"/>
                </a:lnTo>
                <a:lnTo>
                  <a:pt x="189439" y="1047949"/>
                </a:lnTo>
                <a:lnTo>
                  <a:pt x="169875" y="1093426"/>
                </a:lnTo>
                <a:lnTo>
                  <a:pt x="151275" y="1139921"/>
                </a:lnTo>
                <a:lnTo>
                  <a:pt x="133657" y="1187396"/>
                </a:lnTo>
                <a:lnTo>
                  <a:pt x="117041" y="1235814"/>
                </a:lnTo>
                <a:lnTo>
                  <a:pt x="101444" y="1285136"/>
                </a:lnTo>
                <a:lnTo>
                  <a:pt x="86886" y="1335326"/>
                </a:lnTo>
                <a:lnTo>
                  <a:pt x="73385" y="1386344"/>
                </a:lnTo>
                <a:lnTo>
                  <a:pt x="60961" y="1438155"/>
                </a:lnTo>
                <a:lnTo>
                  <a:pt x="49630" y="1490719"/>
                </a:lnTo>
                <a:lnTo>
                  <a:pt x="39413" y="1543999"/>
                </a:lnTo>
                <a:lnTo>
                  <a:pt x="30328" y="1597957"/>
                </a:lnTo>
                <a:lnTo>
                  <a:pt x="22394" y="1652556"/>
                </a:lnTo>
                <a:lnTo>
                  <a:pt x="15629" y="1707758"/>
                </a:lnTo>
                <a:lnTo>
                  <a:pt x="10052" y="1763525"/>
                </a:lnTo>
                <a:lnTo>
                  <a:pt x="5682" y="1819819"/>
                </a:lnTo>
                <a:lnTo>
                  <a:pt x="2538" y="1876602"/>
                </a:lnTo>
                <a:lnTo>
                  <a:pt x="637" y="1933837"/>
                </a:lnTo>
                <a:lnTo>
                  <a:pt x="0" y="1991487"/>
                </a:lnTo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28600" y="685800"/>
            <a:ext cx="396240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400" b="1" i="1" spc="-10" dirty="0">
                <a:solidFill>
                  <a:srgbClr val="FF0000"/>
                </a:solidFill>
                <a:latin typeface="Perpetua"/>
                <a:cs typeface="Perpetua"/>
              </a:rPr>
              <a:t>References Problem  </a:t>
            </a:r>
            <a:r>
              <a:rPr sz="2400" b="1" i="1" spc="-5" dirty="0">
                <a:solidFill>
                  <a:srgbClr val="FF0000"/>
                </a:solidFill>
                <a:latin typeface="Perpetua"/>
                <a:cs typeface="Perpetua"/>
              </a:rPr>
              <a:t>Definition</a:t>
            </a:r>
            <a:endParaRPr sz="2400" b="1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12700" marR="506095">
              <a:lnSpc>
                <a:spcPct val="100000"/>
              </a:lnSpc>
            </a:pPr>
            <a:r>
              <a:rPr sz="2400" b="1" i="1" dirty="0">
                <a:solidFill>
                  <a:srgbClr val="FF0000"/>
                </a:solidFill>
                <a:latin typeface="Perpetua"/>
                <a:cs typeface="Perpetua"/>
              </a:rPr>
              <a:t>( </a:t>
            </a:r>
            <a:r>
              <a:rPr sz="2400" b="1" i="1" spc="-65" dirty="0">
                <a:solidFill>
                  <a:srgbClr val="FF0000"/>
                </a:solidFill>
                <a:latin typeface="Perpetua"/>
                <a:cs typeface="Perpetua"/>
              </a:rPr>
              <a:t>Task </a:t>
            </a:r>
            <a:r>
              <a:rPr sz="2400" b="1" i="1" dirty="0">
                <a:solidFill>
                  <a:srgbClr val="FF0000"/>
                </a:solidFill>
                <a:latin typeface="Perpetua"/>
                <a:cs typeface="Perpetua"/>
              </a:rPr>
              <a:t>+</a:t>
            </a:r>
            <a:r>
              <a:rPr sz="2400" b="1" i="1" spc="-28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Perpetua"/>
                <a:cs typeface="Perpetua"/>
              </a:rPr>
              <a:t>goal </a:t>
            </a:r>
            <a:r>
              <a:rPr lang="en-US" sz="2400" b="1" i="1" spc="-10" dirty="0" smtClean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400" b="1" i="1" dirty="0" smtClean="0">
                <a:solidFill>
                  <a:srgbClr val="FF0000"/>
                </a:solidFill>
                <a:latin typeface="Perpetua"/>
                <a:cs typeface="Perpetua"/>
              </a:rPr>
              <a:t>spe</a:t>
            </a:r>
            <a:r>
              <a:rPr sz="2400" b="1" i="1" spc="-10" dirty="0" smtClean="0">
                <a:solidFill>
                  <a:srgbClr val="FF0000"/>
                </a:solidFill>
                <a:latin typeface="Perpetua"/>
                <a:cs typeface="Perpetua"/>
              </a:rPr>
              <a:t>c</a:t>
            </a:r>
            <a:r>
              <a:rPr sz="2400" b="1" i="1" spc="-5" dirty="0" smtClean="0">
                <a:solidFill>
                  <a:srgbClr val="FF0000"/>
                </a:solidFill>
                <a:latin typeface="Perpetua"/>
                <a:cs typeface="Perpetua"/>
              </a:rPr>
              <a:t>ifi</a:t>
            </a:r>
            <a:r>
              <a:rPr sz="2400" b="1" i="1" spc="-10" dirty="0" smtClean="0">
                <a:solidFill>
                  <a:srgbClr val="FF0000"/>
                </a:solidFill>
                <a:latin typeface="Perpetua"/>
                <a:cs typeface="Perpetua"/>
              </a:rPr>
              <a:t>c</a:t>
            </a:r>
            <a:r>
              <a:rPr sz="2400" b="1" i="1" spc="-30" dirty="0" smtClean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2400" b="1" i="1" dirty="0" smtClean="0">
                <a:solidFill>
                  <a:srgbClr val="FF0000"/>
                </a:solidFill>
                <a:latin typeface="Perpetua"/>
                <a:cs typeface="Perpetua"/>
              </a:rPr>
              <a:t>tion</a:t>
            </a:r>
            <a:r>
              <a:rPr sz="2400" b="1" i="1" dirty="0">
                <a:solidFill>
                  <a:srgbClr val="FF0000"/>
                </a:solidFill>
                <a:latin typeface="Perpetua"/>
                <a:cs typeface="Perpetua"/>
              </a:rPr>
              <a:t>)</a:t>
            </a:r>
            <a:endParaRPr sz="2400" b="1" dirty="0">
              <a:solidFill>
                <a:srgbClr val="FF0000"/>
              </a:solidFill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305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20" dirty="0">
                <a:solidFill>
                  <a:srgbClr val="FF0000"/>
                </a:solidFill>
                <a:latin typeface="Perpetua"/>
                <a:cs typeface="Perpetua"/>
              </a:rPr>
              <a:t>Problem </a:t>
            </a:r>
            <a:r>
              <a:rPr i="0" spc="-5" dirty="0">
                <a:solidFill>
                  <a:srgbClr val="FF0000"/>
                </a:solidFill>
                <a:latin typeface="Perpetua"/>
                <a:cs typeface="Perpetua"/>
              </a:rPr>
              <a:t>definition </a:t>
            </a:r>
            <a:r>
              <a:rPr i="0" dirty="0">
                <a:solidFill>
                  <a:srgbClr val="FF0000"/>
                </a:solidFill>
                <a:latin typeface="Perpetua"/>
                <a:cs typeface="Perpetua"/>
              </a:rPr>
              <a:t>/ </a:t>
            </a:r>
            <a:r>
              <a:rPr i="0" spc="-10" dirty="0">
                <a:solidFill>
                  <a:srgbClr val="FF0000"/>
                </a:solidFill>
                <a:latin typeface="Perpetua"/>
                <a:cs typeface="Perpetua"/>
              </a:rPr>
              <a:t>software</a:t>
            </a:r>
            <a:r>
              <a:rPr i="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0" spc="-15" dirty="0">
                <a:solidFill>
                  <a:srgbClr val="FF0000"/>
                </a:solidFill>
                <a:latin typeface="Perpetua"/>
                <a:cs typeface="Perpetua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877570"/>
            <a:ext cx="8604885" cy="52755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5080" indent="-274320">
              <a:lnSpc>
                <a:spcPts val="2590"/>
              </a:lnSpc>
              <a:spcBef>
                <a:spcPts val="4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995680" algn="l"/>
                <a:tab pos="1669414" algn="l"/>
                <a:tab pos="2195195" algn="l"/>
                <a:tab pos="2803525" algn="l"/>
                <a:tab pos="3201035" algn="l"/>
                <a:tab pos="5069840" algn="l"/>
                <a:tab pos="5743575" algn="l"/>
                <a:tab pos="7052945" algn="l"/>
                <a:tab pos="7621270" algn="l"/>
                <a:tab pos="8363584" algn="l"/>
              </a:tabLst>
            </a:pP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S</a:t>
            </a:r>
            <a:r>
              <a:rPr sz="2400" spc="-10" dirty="0">
                <a:solidFill>
                  <a:srgbClr val="3B0AC6"/>
                </a:solidFill>
                <a:latin typeface="Perpetua"/>
                <a:cs typeface="Perpetua"/>
              </a:rPr>
              <a:t>t</a:t>
            </a:r>
            <a:r>
              <a:rPr sz="2400" spc="-5" dirty="0">
                <a:solidFill>
                  <a:srgbClr val="3B0AC6"/>
                </a:solidFill>
                <a:latin typeface="Perpetua"/>
                <a:cs typeface="Perpetua"/>
              </a:rPr>
              <a:t>a</a:t>
            </a:r>
            <a:r>
              <a:rPr sz="2400" spc="80" dirty="0">
                <a:solidFill>
                  <a:srgbClr val="3B0AC6"/>
                </a:solidFill>
                <a:latin typeface="Perpetua"/>
                <a:cs typeface="Perpetua"/>
              </a:rPr>
              <a:t>r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t	with	the	task	of	</a:t>
            </a:r>
            <a:r>
              <a:rPr sz="2400" spc="-15" dirty="0">
                <a:solidFill>
                  <a:srgbClr val="3B0AC6"/>
                </a:solidFill>
                <a:latin typeface="Perpetua"/>
                <a:cs typeface="Perpetua"/>
              </a:rPr>
              <a:t>c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om</a:t>
            </a:r>
            <a:r>
              <a:rPr sz="2400" spc="-15" dirty="0">
                <a:solidFill>
                  <a:srgbClr val="3B0AC6"/>
                </a:solidFill>
                <a:latin typeface="Perpetua"/>
                <a:cs typeface="Perpetua"/>
              </a:rPr>
              <a:t>m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unic</a:t>
            </a:r>
            <a:r>
              <a:rPr sz="2400" spc="-25" dirty="0">
                <a:solidFill>
                  <a:srgbClr val="3B0AC6"/>
                </a:solidFill>
                <a:latin typeface="Perpetua"/>
                <a:cs typeface="Perpetua"/>
              </a:rPr>
              <a:t>a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ti</a:t>
            </a:r>
            <a:r>
              <a:rPr sz="2400" spc="-10" dirty="0">
                <a:solidFill>
                  <a:srgbClr val="3B0AC6"/>
                </a:solidFill>
                <a:latin typeface="Perpetua"/>
                <a:cs typeface="Perpetua"/>
              </a:rPr>
              <a:t>n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g	with	cu</a:t>
            </a:r>
            <a:r>
              <a:rPr sz="2400" spc="5" dirty="0">
                <a:solidFill>
                  <a:srgbClr val="3B0AC6"/>
                </a:solidFill>
                <a:latin typeface="Perpetua"/>
                <a:cs typeface="Perpetua"/>
              </a:rPr>
              <a:t>s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t</a:t>
            </a:r>
            <a:r>
              <a:rPr sz="2400" spc="-15" dirty="0">
                <a:solidFill>
                  <a:srgbClr val="3B0AC6"/>
                </a:solidFill>
                <a:latin typeface="Perpetua"/>
                <a:cs typeface="Perpetua"/>
              </a:rPr>
              <a:t>o</a:t>
            </a:r>
            <a:r>
              <a:rPr sz="2400" spc="-5" dirty="0">
                <a:solidFill>
                  <a:srgbClr val="3B0AC6"/>
                </a:solidFill>
                <a:latin typeface="Perpetua"/>
                <a:cs typeface="Perpetua"/>
              </a:rPr>
              <a:t>me</a:t>
            </a:r>
            <a:r>
              <a:rPr sz="2400" spc="45" dirty="0">
                <a:solidFill>
                  <a:srgbClr val="3B0AC6"/>
                </a:solidFill>
                <a:latin typeface="Perpetua"/>
                <a:cs typeface="Perpetua"/>
              </a:rPr>
              <a:t>r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s	</a:t>
            </a:r>
            <a:r>
              <a:rPr sz="2400" spc="-5" dirty="0">
                <a:solidFill>
                  <a:srgbClr val="3B0AC6"/>
                </a:solidFill>
                <a:latin typeface="Perpetua"/>
                <a:cs typeface="Perpetua"/>
              </a:rPr>
              <a:t>an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d	u</a:t>
            </a:r>
            <a:r>
              <a:rPr sz="2400" spc="-15" dirty="0">
                <a:solidFill>
                  <a:srgbClr val="3B0AC6"/>
                </a:solidFill>
                <a:latin typeface="Perpetua"/>
                <a:cs typeface="Perpetua"/>
              </a:rPr>
              <a:t>s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e</a:t>
            </a:r>
            <a:r>
              <a:rPr sz="2400" spc="45" dirty="0">
                <a:solidFill>
                  <a:srgbClr val="3B0AC6"/>
                </a:solidFill>
                <a:latin typeface="Perpetua"/>
                <a:cs typeface="Perpetua"/>
              </a:rPr>
              <a:t>r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s	</a:t>
            </a:r>
            <a:r>
              <a:rPr sz="2400" spc="-5" dirty="0">
                <a:solidFill>
                  <a:srgbClr val="3B0AC6"/>
                </a:solidFill>
                <a:latin typeface="Perpetua"/>
                <a:cs typeface="Perpetua"/>
              </a:rPr>
              <a:t>to  </a:t>
            </a:r>
            <a:r>
              <a:rPr sz="2400" spc="5" dirty="0">
                <a:solidFill>
                  <a:srgbClr val="3B0AC6"/>
                </a:solidFill>
                <a:latin typeface="Perpetua"/>
                <a:cs typeface="Perpetua"/>
              </a:rPr>
              <a:t>determine </a:t>
            </a:r>
            <a:r>
              <a:rPr sz="2400" spc="-10" dirty="0">
                <a:solidFill>
                  <a:srgbClr val="3B0AC6"/>
                </a:solidFill>
                <a:latin typeface="Perpetua"/>
                <a:cs typeface="Perpetua"/>
              </a:rPr>
              <a:t>what </a:t>
            </a: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their </a:t>
            </a:r>
            <a:r>
              <a:rPr sz="2400" spc="-5" dirty="0">
                <a:solidFill>
                  <a:srgbClr val="3B0AC6"/>
                </a:solidFill>
                <a:latin typeface="Perpetua"/>
                <a:cs typeface="Perpetua"/>
              </a:rPr>
              <a:t>requirements</a:t>
            </a:r>
            <a:r>
              <a:rPr sz="2400" spc="-40" dirty="0">
                <a:solidFill>
                  <a:srgbClr val="3B0AC6"/>
                </a:solidFill>
                <a:latin typeface="Perpetua"/>
                <a:cs typeface="Perpetua"/>
              </a:rPr>
              <a:t> </a:t>
            </a:r>
            <a:r>
              <a:rPr sz="2400" spc="-10" dirty="0">
                <a:solidFill>
                  <a:srgbClr val="3B0AC6"/>
                </a:solidFill>
                <a:latin typeface="Perpetua"/>
                <a:cs typeface="Perpetua"/>
              </a:rPr>
              <a:t>are</a:t>
            </a:r>
            <a:endParaRPr sz="2400" dirty="0">
              <a:solidFill>
                <a:srgbClr val="3B0AC6"/>
              </a:solidFill>
              <a:latin typeface="Perpetua"/>
              <a:cs typeface="Perpetua"/>
            </a:endParaRPr>
          </a:p>
          <a:p>
            <a:pPr marL="1109980" lvl="1" indent="-229235">
              <a:lnSpc>
                <a:spcPct val="100000"/>
              </a:lnSpc>
              <a:spcBef>
                <a:spcPts val="75"/>
              </a:spcBef>
              <a:buSzPct val="79166"/>
              <a:buFont typeface="Arial"/>
              <a:buChar char="•"/>
              <a:tabLst>
                <a:tab pos="1109980" algn="l"/>
                <a:tab pos="1110615" algn="l"/>
              </a:tabLst>
            </a:pPr>
            <a:r>
              <a:rPr sz="2400" dirty="0">
                <a:solidFill>
                  <a:srgbClr val="3B0AC6"/>
                </a:solidFill>
                <a:latin typeface="Perpetua"/>
                <a:cs typeface="Perpetua"/>
              </a:rPr>
              <a:t>This is formally called </a:t>
            </a:r>
            <a:r>
              <a:rPr sz="2400" spc="-5" dirty="0">
                <a:solidFill>
                  <a:srgbClr val="3B0AC6"/>
                </a:solidFill>
                <a:latin typeface="Perpetua"/>
                <a:cs typeface="Perpetua"/>
              </a:rPr>
              <a:t>as </a:t>
            </a:r>
            <a:r>
              <a:rPr sz="2400" i="1" spc="-5" dirty="0">
                <a:solidFill>
                  <a:srgbClr val="3B0AC6"/>
                </a:solidFill>
                <a:latin typeface="Perpetua"/>
                <a:cs typeface="Perpetua"/>
              </a:rPr>
              <a:t>requirements</a:t>
            </a:r>
            <a:r>
              <a:rPr sz="2400" i="1" spc="-80" dirty="0">
                <a:solidFill>
                  <a:srgbClr val="3B0AC6"/>
                </a:solidFill>
                <a:latin typeface="Perpetua"/>
                <a:cs typeface="Perpetua"/>
              </a:rPr>
              <a:t> </a:t>
            </a:r>
            <a:r>
              <a:rPr sz="2400" i="1" spc="-5" dirty="0">
                <a:solidFill>
                  <a:srgbClr val="3B0AC6"/>
                </a:solidFill>
                <a:latin typeface="Perpetua"/>
                <a:cs typeface="Perpetua"/>
              </a:rPr>
              <a:t>gathering</a:t>
            </a:r>
            <a:r>
              <a:rPr sz="2400" spc="-5" dirty="0">
                <a:solidFill>
                  <a:srgbClr val="3B0AC6"/>
                </a:solidFill>
                <a:latin typeface="Perpetua"/>
                <a:cs typeface="Perpetua"/>
              </a:rPr>
              <a:t>.</a:t>
            </a:r>
            <a:endParaRPr sz="2400" dirty="0">
              <a:solidFill>
                <a:srgbClr val="3B0AC6"/>
              </a:solidFill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i="1" spc="-10" dirty="0">
                <a:solidFill>
                  <a:srgbClr val="00B050"/>
                </a:solidFill>
                <a:latin typeface="Perpetua"/>
                <a:cs typeface="Perpetua"/>
              </a:rPr>
              <a:t>What are</a:t>
            </a:r>
            <a:r>
              <a:rPr sz="2400" i="1" spc="5" dirty="0">
                <a:solidFill>
                  <a:srgbClr val="00B050"/>
                </a:solidFill>
                <a:latin typeface="Perpetua"/>
                <a:cs typeface="Perpetua"/>
              </a:rPr>
              <a:t> </a:t>
            </a:r>
            <a:r>
              <a:rPr sz="2400" i="1" spc="-5" dirty="0">
                <a:solidFill>
                  <a:srgbClr val="00B050"/>
                </a:solidFill>
                <a:latin typeface="Perpetua"/>
                <a:cs typeface="Perpetua"/>
              </a:rPr>
              <a:t>requirements</a:t>
            </a:r>
            <a:r>
              <a:rPr sz="2400" spc="-5" dirty="0">
                <a:solidFill>
                  <a:srgbClr val="00B050"/>
                </a:solidFill>
                <a:latin typeface="Perpetua"/>
                <a:cs typeface="Perpetua"/>
              </a:rPr>
              <a:t>?</a:t>
            </a:r>
            <a:endParaRPr sz="2400" dirty="0">
              <a:solidFill>
                <a:srgbClr val="00B050"/>
              </a:solidFill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solidFill>
                  <a:srgbClr val="00B050"/>
                </a:solidFill>
                <a:latin typeface="Perpetua"/>
                <a:cs typeface="Perpetua"/>
              </a:rPr>
              <a:t>The </a:t>
            </a:r>
            <a:r>
              <a:rPr sz="2400" spc="-10" dirty="0">
                <a:solidFill>
                  <a:srgbClr val="00B050"/>
                </a:solidFill>
                <a:latin typeface="Perpetua"/>
                <a:cs typeface="Perpetua"/>
              </a:rPr>
              <a:t>features </a:t>
            </a:r>
            <a:r>
              <a:rPr sz="2400" dirty="0">
                <a:solidFill>
                  <a:srgbClr val="00B050"/>
                </a:solidFill>
                <a:latin typeface="Perpetua"/>
                <a:cs typeface="Perpetua"/>
              </a:rPr>
              <a:t>of system or system</a:t>
            </a:r>
            <a:r>
              <a:rPr sz="2400" spc="-65" dirty="0">
                <a:solidFill>
                  <a:srgbClr val="00B050"/>
                </a:solidFill>
                <a:latin typeface="Perpetua"/>
                <a:cs typeface="Perpetua"/>
              </a:rPr>
              <a:t> </a:t>
            </a:r>
            <a:r>
              <a:rPr sz="2400" dirty="0">
                <a:solidFill>
                  <a:srgbClr val="00B050"/>
                </a:solidFill>
                <a:latin typeface="Perpetua"/>
                <a:cs typeface="Perpetua"/>
              </a:rPr>
              <a:t>function</a:t>
            </a:r>
          </a:p>
          <a:p>
            <a:pPr marL="561340" lvl="1" indent="-228600">
              <a:lnSpc>
                <a:spcPct val="100000"/>
              </a:lnSpc>
              <a:spcBef>
                <a:spcPts val="12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10" dirty="0">
                <a:solidFill>
                  <a:srgbClr val="00B050"/>
                </a:solidFill>
                <a:latin typeface="Perpetua"/>
                <a:cs typeface="Perpetua"/>
              </a:rPr>
              <a:t>They </a:t>
            </a:r>
            <a:r>
              <a:rPr sz="2400" dirty="0">
                <a:solidFill>
                  <a:srgbClr val="00B050"/>
                </a:solidFill>
                <a:latin typeface="Perpetua"/>
                <a:cs typeface="Perpetua"/>
              </a:rPr>
              <a:t>fulfill system</a:t>
            </a:r>
            <a:r>
              <a:rPr sz="2400" spc="-45" dirty="0">
                <a:solidFill>
                  <a:srgbClr val="00B050"/>
                </a:solidFill>
                <a:latin typeface="Perpetua"/>
                <a:cs typeface="Perpetua"/>
              </a:rPr>
              <a:t> </a:t>
            </a:r>
            <a:r>
              <a:rPr sz="2400" spc="5" dirty="0">
                <a:solidFill>
                  <a:srgbClr val="00B050"/>
                </a:solidFill>
                <a:latin typeface="Perpetua"/>
                <a:cs typeface="Perpetua"/>
              </a:rPr>
              <a:t>purpose(s).</a:t>
            </a:r>
            <a:endParaRPr sz="2400" dirty="0">
              <a:solidFill>
                <a:srgbClr val="00B050"/>
              </a:solidFill>
              <a:latin typeface="Perpetua"/>
              <a:cs typeface="Perpetua"/>
            </a:endParaRPr>
          </a:p>
          <a:p>
            <a:pPr marL="287020" indent="-274320">
              <a:lnSpc>
                <a:spcPts val="2825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Steps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of defining a 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problem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in</a:t>
            </a:r>
            <a:r>
              <a:rPr sz="2400" spc="-4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software</a:t>
            </a:r>
            <a:endParaRPr sz="240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802005" indent="-516255">
              <a:lnSpc>
                <a:spcPts val="2735"/>
              </a:lnSpc>
              <a:buSzPct val="85416"/>
              <a:buAutoNum type="arabicPeriod"/>
              <a:tabLst>
                <a:tab pos="802005" algn="l"/>
                <a:tab pos="802640" algn="l"/>
              </a:tabLst>
            </a:pPr>
            <a:r>
              <a:rPr sz="2400" i="1" spc="-10" dirty="0">
                <a:solidFill>
                  <a:srgbClr val="FF0000"/>
                </a:solidFill>
                <a:latin typeface="Perpetua"/>
                <a:cs typeface="Perpetua"/>
              </a:rPr>
              <a:t>Gather </a:t>
            </a:r>
            <a:r>
              <a:rPr sz="2400" i="1" spc="-5" dirty="0">
                <a:solidFill>
                  <a:srgbClr val="FF0000"/>
                </a:solidFill>
                <a:latin typeface="Perpetua"/>
                <a:cs typeface="Perpetua"/>
              </a:rPr>
              <a:t>requirements</a:t>
            </a:r>
            <a:endParaRPr sz="240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802005" indent="-516255">
              <a:lnSpc>
                <a:spcPts val="2705"/>
              </a:lnSpc>
              <a:buSzPct val="85416"/>
              <a:buAutoNum type="arabicPeriod"/>
              <a:tabLst>
                <a:tab pos="802005" algn="l"/>
                <a:tab pos="802640" algn="l"/>
              </a:tabLst>
            </a:pPr>
            <a:r>
              <a:rPr sz="2400" i="1" spc="-15" dirty="0">
                <a:solidFill>
                  <a:srgbClr val="FF0000"/>
                </a:solidFill>
                <a:latin typeface="Perpetua"/>
                <a:cs typeface="Perpetua"/>
              </a:rPr>
              <a:t>Analyze </a:t>
            </a:r>
            <a:r>
              <a:rPr sz="2400" i="1" spc="-5" dirty="0">
                <a:solidFill>
                  <a:srgbClr val="FF0000"/>
                </a:solidFill>
                <a:latin typeface="Perpetua"/>
                <a:cs typeface="Perpetua"/>
              </a:rPr>
              <a:t>requirements</a:t>
            </a:r>
            <a:endParaRPr sz="240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927100" marR="1735455">
              <a:lnSpc>
                <a:spcPct val="80100"/>
              </a:lnSpc>
              <a:spcBef>
                <a:spcPts val="490"/>
              </a:spcBef>
            </a:pPr>
            <a:r>
              <a:rPr sz="2400" spc="5" dirty="0">
                <a:solidFill>
                  <a:srgbClr val="FF0000"/>
                </a:solidFill>
                <a:latin typeface="Perpetua"/>
                <a:cs typeface="Perpetua"/>
              </a:rPr>
              <a:t>determining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whether the 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stated 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requirements 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are  </a:t>
            </a:r>
            <a:r>
              <a:rPr sz="2400" spc="-30" dirty="0">
                <a:solidFill>
                  <a:srgbClr val="FF0000"/>
                </a:solidFill>
                <a:latin typeface="Perpetua"/>
                <a:cs typeface="Perpetua"/>
              </a:rPr>
              <a:t>unclear, 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incomplete, 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ambiguous,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or </a:t>
            </a:r>
            <a:r>
              <a:rPr sz="2400" spc="-20" dirty="0">
                <a:solidFill>
                  <a:srgbClr val="FF0000"/>
                </a:solidFill>
                <a:latin typeface="Perpetua"/>
                <a:cs typeface="Perpetua"/>
              </a:rPr>
              <a:t>contradictory,</a:t>
            </a:r>
            <a:r>
              <a:rPr sz="2400" spc="-33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and 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then 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resolving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these</a:t>
            </a:r>
            <a:r>
              <a:rPr sz="2400" spc="-2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issues.</a:t>
            </a:r>
            <a:endParaRPr sz="240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802005" indent="-516255">
              <a:lnSpc>
                <a:spcPts val="2610"/>
              </a:lnSpc>
              <a:buSzPct val="85416"/>
              <a:buAutoNum type="arabicPeriod" startAt="3"/>
              <a:tabLst>
                <a:tab pos="802005" algn="l"/>
                <a:tab pos="802640" algn="l"/>
              </a:tabLst>
            </a:pPr>
            <a:r>
              <a:rPr sz="2400" i="1" spc="-5" dirty="0">
                <a:solidFill>
                  <a:srgbClr val="FF0000"/>
                </a:solidFill>
                <a:latin typeface="Perpetua"/>
                <a:cs typeface="Perpetua"/>
              </a:rPr>
              <a:t>Recording</a:t>
            </a:r>
            <a:r>
              <a:rPr sz="2400" i="1" spc="-6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Perpetua"/>
                <a:cs typeface="Perpetua"/>
              </a:rPr>
              <a:t>requirements</a:t>
            </a:r>
            <a:endParaRPr sz="240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927100">
              <a:lnSpc>
                <a:spcPts val="2505"/>
              </a:lnSpc>
              <a:tabLst>
                <a:tab pos="2548890" algn="l"/>
                <a:tab pos="3342640" algn="l"/>
                <a:tab pos="3760470" algn="l"/>
                <a:tab pos="5289550" algn="l"/>
                <a:tab pos="5655310" algn="l"/>
                <a:tab pos="6600190" algn="l"/>
                <a:tab pos="7479665" algn="l"/>
                <a:tab pos="8388350" algn="l"/>
              </a:tabLst>
            </a:pPr>
            <a:r>
              <a:rPr sz="2400" spc="-25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equi</a:t>
            </a:r>
            <a:r>
              <a:rPr sz="2400" spc="-20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emen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t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s	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migh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t	be	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d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ocument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e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d	</a:t>
            </a:r>
            <a:r>
              <a:rPr sz="2400" spc="-15" dirty="0">
                <a:solidFill>
                  <a:srgbClr val="FF0000"/>
                </a:solidFill>
                <a:latin typeface="Perpetua"/>
                <a:cs typeface="Perpetua"/>
              </a:rPr>
              <a:t>i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n	</a:t>
            </a:r>
            <a:r>
              <a:rPr sz="2400" spc="-45" dirty="0">
                <a:solidFill>
                  <a:srgbClr val="FF0000"/>
                </a:solidFill>
                <a:latin typeface="Perpetua"/>
                <a:cs typeface="Perpetua"/>
              </a:rPr>
              <a:t>v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2400" spc="45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ious	f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o</a:t>
            </a:r>
            <a:r>
              <a:rPr sz="2400" spc="70" dirty="0">
                <a:solidFill>
                  <a:srgbClr val="FF0000"/>
                </a:solidFill>
                <a:latin typeface="Perpetua"/>
                <a:cs typeface="Perpetua"/>
              </a:rPr>
              <a:t>r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ms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,	us</a:t>
            </a:r>
            <a:r>
              <a:rPr sz="2400" spc="-10" dirty="0">
                <a:solidFill>
                  <a:srgbClr val="FF0000"/>
                </a:solidFill>
                <a:latin typeface="Perpetua"/>
                <a:cs typeface="Perpetua"/>
              </a:rPr>
              <a:t>u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al</a:t>
            </a:r>
            <a:r>
              <a:rPr sz="2400" spc="-55" dirty="0">
                <a:solidFill>
                  <a:srgbClr val="FF0000"/>
                </a:solidFill>
                <a:latin typeface="Perpetua"/>
                <a:cs typeface="Perpetua"/>
              </a:rPr>
              <a:t>l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y	</a:t>
            </a:r>
            <a:r>
              <a:rPr sz="2400" spc="-15" dirty="0">
                <a:solidFill>
                  <a:srgbClr val="FF0000"/>
                </a:solidFill>
                <a:latin typeface="Perpetua"/>
                <a:cs typeface="Perpetua"/>
              </a:rPr>
              <a:t>as</a:t>
            </a:r>
            <a:endParaRPr sz="2400" dirty="0">
              <a:solidFill>
                <a:srgbClr val="FF0000"/>
              </a:solidFill>
              <a:latin typeface="Perpetua"/>
              <a:cs typeface="Perpetua"/>
            </a:endParaRPr>
          </a:p>
          <a:p>
            <a:pPr marL="286385">
              <a:lnSpc>
                <a:spcPts val="2595"/>
              </a:lnSpc>
            </a:pP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standard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document</a:t>
            </a:r>
            <a:r>
              <a:rPr sz="2400" spc="-2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formats.</a:t>
            </a:r>
            <a:endParaRPr sz="2400" dirty="0">
              <a:solidFill>
                <a:srgbClr val="FF0000"/>
              </a:solidFill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74833" y="3352800"/>
            <a:ext cx="8541249" cy="30222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3000" y="760298"/>
            <a:ext cx="8001000" cy="211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marR="106045" indent="-22860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Analysis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needs customer and 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developer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interaction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-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to  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prepare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legal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agreement.</a:t>
            </a:r>
          </a:p>
          <a:p>
            <a:pPr marL="240665" marR="139700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5" dirty="0">
                <a:solidFill>
                  <a:srgbClr val="3B0AC6"/>
                </a:solidFill>
                <a:latin typeface="Perpetua"/>
                <a:cs typeface="Perpetua"/>
              </a:rPr>
              <a:t>Requirements document </a:t>
            </a:r>
            <a:r>
              <a:rPr sz="2600" dirty="0">
                <a:solidFill>
                  <a:srgbClr val="3B0AC6"/>
                </a:solidFill>
                <a:latin typeface="Perpetua"/>
                <a:cs typeface="Perpetua"/>
              </a:rPr>
              <a:t>- </a:t>
            </a:r>
            <a:r>
              <a:rPr sz="2600" spc="-10" dirty="0">
                <a:solidFill>
                  <a:srgbClr val="3B0AC6"/>
                </a:solidFill>
                <a:latin typeface="Perpetua"/>
                <a:cs typeface="Perpetua"/>
              </a:rPr>
              <a:t>records </a:t>
            </a:r>
            <a:r>
              <a:rPr sz="2600" spc="-5" dirty="0">
                <a:solidFill>
                  <a:srgbClr val="3B0AC6"/>
                </a:solidFill>
                <a:latin typeface="Perpetua"/>
                <a:cs typeface="Perpetua"/>
              </a:rPr>
              <a:t>“what” </a:t>
            </a:r>
            <a:r>
              <a:rPr sz="2600" dirty="0">
                <a:solidFill>
                  <a:srgbClr val="3B0AC6"/>
                </a:solidFill>
                <a:latin typeface="Perpetua"/>
                <a:cs typeface="Perpetua"/>
              </a:rPr>
              <a:t>is to be</a:t>
            </a:r>
            <a:r>
              <a:rPr sz="2600" spc="-235" dirty="0">
                <a:solidFill>
                  <a:srgbClr val="3B0AC6"/>
                </a:solidFill>
                <a:latin typeface="Perpetua"/>
                <a:cs typeface="Perpetua"/>
              </a:rPr>
              <a:t> </a:t>
            </a:r>
            <a:r>
              <a:rPr sz="2600" spc="-5" dirty="0">
                <a:solidFill>
                  <a:srgbClr val="3B0AC6"/>
                </a:solidFill>
                <a:latin typeface="Perpetua"/>
                <a:cs typeface="Perpetua"/>
              </a:rPr>
              <a:t>built  </a:t>
            </a:r>
            <a:r>
              <a:rPr sz="2600" spc="-35" dirty="0">
                <a:solidFill>
                  <a:srgbClr val="3B0AC6"/>
                </a:solidFill>
                <a:latin typeface="Perpetua"/>
                <a:cs typeface="Perpetua"/>
              </a:rPr>
              <a:t>NOT </a:t>
            </a:r>
            <a:r>
              <a:rPr sz="2600" spc="-15" dirty="0">
                <a:solidFill>
                  <a:srgbClr val="3B0AC6"/>
                </a:solidFill>
                <a:latin typeface="Perpetua"/>
                <a:cs typeface="Perpetua"/>
              </a:rPr>
              <a:t>“how” </a:t>
            </a:r>
            <a:r>
              <a:rPr sz="2600" dirty="0">
                <a:solidFill>
                  <a:srgbClr val="3B0AC6"/>
                </a:solidFill>
                <a:latin typeface="Perpetua"/>
                <a:cs typeface="Perpetua"/>
              </a:rPr>
              <a:t>it is to be</a:t>
            </a:r>
            <a:r>
              <a:rPr sz="2600" spc="-190" dirty="0">
                <a:solidFill>
                  <a:srgbClr val="3B0AC6"/>
                </a:solidFill>
                <a:latin typeface="Perpetua"/>
                <a:cs typeface="Perpetua"/>
              </a:rPr>
              <a:t> </a:t>
            </a:r>
            <a:r>
              <a:rPr sz="2600" spc="-5" dirty="0">
                <a:solidFill>
                  <a:srgbClr val="3B0AC6"/>
                </a:solidFill>
                <a:latin typeface="Perpetua"/>
                <a:cs typeface="Perpetua"/>
              </a:rPr>
              <a:t>built.</a:t>
            </a:r>
            <a:endParaRPr sz="2600" dirty="0">
              <a:solidFill>
                <a:srgbClr val="3B0AC6"/>
              </a:solidFill>
              <a:latin typeface="Perpetua"/>
              <a:cs typeface="Perpetua"/>
            </a:endParaRPr>
          </a:p>
          <a:p>
            <a:pPr marL="240665" marR="5080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Successful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design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and implementation rests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on 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adequate  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analysis.</a:t>
            </a:r>
            <a:endParaRPr sz="2600" dirty="0">
              <a:solidFill>
                <a:srgbClr val="FF0000"/>
              </a:solidFill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420" y="114300"/>
            <a:ext cx="1033998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42" y="426465"/>
            <a:ext cx="839835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60" dirty="0">
                <a:latin typeface="Arial" pitchFamily="34" charset="0"/>
                <a:cs typeface="Arial" pitchFamily="34" charset="0"/>
              </a:rPr>
              <a:t>Vanilla </a:t>
            </a:r>
            <a:r>
              <a:rPr sz="3200" dirty="0">
                <a:latin typeface="Arial" pitchFamily="34" charset="0"/>
                <a:cs typeface="Arial" pitchFamily="34" charset="0"/>
              </a:rPr>
              <a:t>Ice </a:t>
            </a:r>
            <a:r>
              <a:rPr sz="3200" spc="-10" dirty="0">
                <a:latin typeface="Arial" pitchFamily="34" charset="0"/>
                <a:cs typeface="Arial" pitchFamily="34" charset="0"/>
              </a:rPr>
              <a:t>cream that </a:t>
            </a:r>
            <a:r>
              <a:rPr sz="3200" spc="-5" dirty="0">
                <a:latin typeface="Arial" pitchFamily="34" charset="0"/>
                <a:cs typeface="Arial" pitchFamily="34" charset="0"/>
              </a:rPr>
              <a:t>puzzles </a:t>
            </a:r>
            <a:r>
              <a:rPr sz="3200" spc="-20" dirty="0">
                <a:latin typeface="Arial" pitchFamily="34" charset="0"/>
                <a:cs typeface="Arial" pitchFamily="34" charset="0"/>
              </a:rPr>
              <a:t>General</a:t>
            </a:r>
            <a:r>
              <a:rPr sz="3200" spc="35" dirty="0">
                <a:latin typeface="Arial" pitchFamily="34" charset="0"/>
                <a:cs typeface="Arial" pitchFamily="34" charset="0"/>
              </a:rPr>
              <a:t> </a:t>
            </a:r>
            <a:r>
              <a:rPr sz="3200" dirty="0">
                <a:latin typeface="Arial" pitchFamily="34" charset="0"/>
                <a:cs typeface="Arial" pitchFamily="34" charset="0"/>
              </a:rPr>
              <a:t>Motors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1416380"/>
            <a:ext cx="8608060" cy="3752566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05"/>
              </a:spcBef>
              <a:buSzPct val="84090"/>
              <a:buFont typeface="Segoe UI Symbol"/>
              <a:buChar char="❑"/>
              <a:tabLst>
                <a:tab pos="287020" algn="l"/>
              </a:tabLst>
            </a:pPr>
            <a:r>
              <a:rPr sz="2200" i="1" spc="-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This</a:t>
            </a:r>
            <a:r>
              <a:rPr sz="2200" i="1" spc="16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spc="-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is</a:t>
            </a:r>
            <a:r>
              <a:rPr sz="2200" i="1" spc="18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sz="2200" i="1" spc="18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spc="-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real</a:t>
            </a:r>
            <a:r>
              <a:rPr sz="2200" i="1" spc="17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story</a:t>
            </a:r>
            <a:r>
              <a:rPr sz="2200" i="1" spc="18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that</a:t>
            </a:r>
            <a:r>
              <a:rPr sz="2200" i="1" spc="17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spc="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happened</a:t>
            </a:r>
            <a:r>
              <a:rPr sz="2200" i="1" spc="18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spc="-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between</a:t>
            </a:r>
            <a:r>
              <a:rPr sz="2200" i="1" spc="18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the</a:t>
            </a:r>
            <a:r>
              <a:rPr sz="2200" i="1" spc="17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b="1" i="1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customer</a:t>
            </a:r>
            <a:r>
              <a:rPr sz="2200" b="1" i="1" spc="18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spc="-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of</a:t>
            </a:r>
            <a:r>
              <a:rPr sz="2200" i="1" spc="16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spc="-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General</a:t>
            </a:r>
            <a:r>
              <a:rPr sz="2200" i="1" spc="17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spc="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Motors</a:t>
            </a:r>
            <a:r>
              <a:rPr sz="2200" i="1" spc="18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spc="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and</a:t>
            </a:r>
            <a:r>
              <a:rPr sz="2200" i="1" spc="17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spc="-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its</a:t>
            </a:r>
            <a:endParaRPr sz="2200" dirty="0">
              <a:solidFill>
                <a:srgbClr val="3B0AC6"/>
              </a:solidFill>
              <a:latin typeface="Arial" pitchFamily="34" charset="0"/>
              <a:cs typeface="Arial" pitchFamily="34" charset="0"/>
            </a:endParaRPr>
          </a:p>
          <a:p>
            <a:pPr marL="286385">
              <a:lnSpc>
                <a:spcPct val="100000"/>
              </a:lnSpc>
              <a:spcBef>
                <a:spcPts val="805"/>
              </a:spcBef>
            </a:pPr>
            <a:r>
              <a:rPr sz="2200" b="1" i="1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Customer-Care</a:t>
            </a:r>
            <a:r>
              <a:rPr sz="2200" b="1" i="1" spc="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b="1" i="1" spc="-1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Executive</a:t>
            </a:r>
            <a:endParaRPr sz="2200" dirty="0">
              <a:solidFill>
                <a:srgbClr val="3B0AC6"/>
              </a:solidFill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200" i="1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A complaint </a:t>
            </a:r>
            <a:r>
              <a:rPr sz="2200" i="1" spc="-2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was </a:t>
            </a:r>
            <a:r>
              <a:rPr sz="2200" i="1" spc="-1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received </a:t>
            </a:r>
            <a:r>
              <a:rPr sz="2200" i="1" spc="-30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by </a:t>
            </a:r>
            <a:r>
              <a:rPr sz="2200" i="1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z="2200" i="1" spc="-1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Pontiac </a:t>
            </a:r>
            <a:r>
              <a:rPr sz="2200" i="1" spc="-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Division of General</a:t>
            </a:r>
            <a:r>
              <a:rPr sz="2200" i="1" spc="10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i="1" spc="5" dirty="0">
                <a:solidFill>
                  <a:srgbClr val="3B0AC6"/>
                </a:solidFill>
                <a:latin typeface="Arial" pitchFamily="34" charset="0"/>
                <a:cs typeface="Arial" pitchFamily="34" charset="0"/>
              </a:rPr>
              <a:t>Motors</a:t>
            </a:r>
            <a:endParaRPr sz="2200" dirty="0">
              <a:solidFill>
                <a:srgbClr val="3B0AC6"/>
              </a:solidFill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22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Complaint:</a:t>
            </a:r>
            <a:endParaRPr sz="2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12700" marR="8255">
              <a:lnSpc>
                <a:spcPct val="130500"/>
              </a:lnSpc>
              <a:spcBef>
                <a:spcPts val="600"/>
              </a:spcBef>
            </a:pP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“This </a:t>
            </a:r>
            <a:r>
              <a:rPr sz="2200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 </a:t>
            </a:r>
            <a:r>
              <a:rPr sz="2200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second time I </a:t>
            </a:r>
            <a:r>
              <a:rPr sz="2200" spc="-2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have </a:t>
            </a:r>
            <a:r>
              <a:rPr sz="2200"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written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z="2200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you,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and I </a:t>
            </a:r>
            <a:r>
              <a:rPr sz="2200" spc="-2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don’t </a:t>
            </a:r>
            <a:r>
              <a:rPr sz="2200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blame </a:t>
            </a:r>
            <a:r>
              <a:rPr sz="2200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you </a:t>
            </a:r>
            <a:r>
              <a:rPr sz="2200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for </a:t>
            </a:r>
            <a:r>
              <a:rPr sz="2200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not  </a:t>
            </a:r>
            <a:r>
              <a:rPr sz="2200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answering </a:t>
            </a:r>
            <a:r>
              <a:rPr sz="2200" spc="-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me,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because I sounded</a:t>
            </a:r>
            <a:r>
              <a:rPr sz="2200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spc="-3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crazy.</a:t>
            </a:r>
            <a:endParaRPr sz="2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It seems </a:t>
            </a:r>
            <a:r>
              <a:rPr sz="2200" spc="-4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my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car has a </a:t>
            </a:r>
            <a:r>
              <a:rPr sz="2200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problem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with </a:t>
            </a:r>
            <a:r>
              <a:rPr sz="2200" spc="-3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Vanilla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Icecream</a:t>
            </a:r>
            <a:r>
              <a:rPr sz="2200" spc="-10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!!!!!”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7240" y="6517713"/>
            <a:ext cx="197040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100" i="1" dirty="0">
                <a:latin typeface="Arial"/>
                <a:cs typeface="Arial"/>
              </a:rPr>
              <a:t>Department of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CSE,Coimbatore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5323332"/>
            <a:ext cx="2674620" cy="1382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80152" y="5218664"/>
            <a:ext cx="1602117" cy="15916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3370" y="5800140"/>
            <a:ext cx="474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5" dirty="0">
                <a:latin typeface="Perpetua"/>
                <a:cs typeface="Perpetua"/>
              </a:rPr>
              <a:t>Vs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7863" y="618744"/>
            <a:ext cx="5603747" cy="5858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87960"/>
            <a:ext cx="7972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Vanilla </a:t>
            </a:r>
            <a:r>
              <a:rPr dirty="0"/>
              <a:t>Ice </a:t>
            </a:r>
            <a:r>
              <a:rPr spc="-10" dirty="0"/>
              <a:t>cream that </a:t>
            </a:r>
            <a:r>
              <a:rPr spc="-5" dirty="0"/>
              <a:t>puzzles </a:t>
            </a:r>
            <a:r>
              <a:rPr spc="-20" dirty="0"/>
              <a:t>General </a:t>
            </a:r>
            <a:r>
              <a:rPr dirty="0"/>
              <a:t>Motors</a:t>
            </a:r>
            <a:r>
              <a:rPr spc="50" dirty="0"/>
              <a:t> </a:t>
            </a:r>
            <a:r>
              <a:rPr dirty="0"/>
              <a:t>(Contd)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0" y="685800"/>
            <a:ext cx="8915400" cy="5453159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85"/>
              </a:spcBef>
            </a:pPr>
            <a:r>
              <a:rPr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Detailed</a:t>
            </a:r>
            <a:r>
              <a:rPr sz="2400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Description:</a:t>
            </a:r>
            <a:endParaRPr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469900" marR="5080" indent="-228600" algn="just">
              <a:lnSpc>
                <a:spcPct val="130500"/>
              </a:lnSpc>
              <a:spcBef>
                <a:spcPts val="600"/>
              </a:spcBef>
              <a:buFont typeface="Arial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“It </a:t>
            </a:r>
            <a:r>
              <a:rPr sz="2400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is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sz="2400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fact that </a:t>
            </a:r>
            <a:r>
              <a:rPr sz="2400" spc="-3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we </a:t>
            </a:r>
            <a:r>
              <a:rPr sz="2400" spc="-2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have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 tradition in </a:t>
            </a:r>
            <a:r>
              <a:rPr sz="2400" spc="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our </a:t>
            </a:r>
            <a:r>
              <a:rPr sz="2400" spc="-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family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z="2400" spc="-2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have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Ice-Cream for  </a:t>
            </a:r>
            <a:r>
              <a:rPr sz="2400" spc="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dessert </a:t>
            </a:r>
            <a:r>
              <a:rPr sz="2400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after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dinner </a:t>
            </a:r>
            <a:r>
              <a:rPr sz="2400" spc="1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each</a:t>
            </a:r>
            <a:r>
              <a:rPr sz="2400" spc="3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night</a:t>
            </a:r>
            <a:r>
              <a:rPr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400" dirty="0" smtClean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  <a:p>
            <a:pPr marL="469900" marR="5080" indent="-228600" algn="just">
              <a:lnSpc>
                <a:spcPct val="130500"/>
              </a:lnSpc>
              <a:spcBef>
                <a:spcPts val="600"/>
              </a:spcBef>
              <a:buFont typeface="Arial"/>
              <a:buChar char="•"/>
              <a:tabLst>
                <a:tab pos="469900" algn="l"/>
              </a:tabLst>
            </a:pPr>
            <a:endParaRPr sz="2400" dirty="0">
              <a:latin typeface="Arial" pitchFamily="34" charset="0"/>
              <a:cs typeface="Arial" pitchFamily="34" charset="0"/>
            </a:endParaRPr>
          </a:p>
          <a:p>
            <a:pPr marL="469900" indent="-228600" algn="just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But the kind of ice </a:t>
            </a:r>
            <a:r>
              <a:rPr sz="2400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cream </a:t>
            </a:r>
            <a:r>
              <a:rPr sz="2400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varies </a:t>
            </a:r>
            <a:r>
              <a:rPr sz="2400" spc="-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so, </a:t>
            </a:r>
            <a:r>
              <a:rPr sz="2400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every </a:t>
            </a:r>
            <a:r>
              <a:rPr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night, </a:t>
            </a:r>
            <a:r>
              <a:rPr sz="2400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after </a:t>
            </a:r>
            <a:r>
              <a:rPr sz="2400" spc="-4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we’ve </a:t>
            </a:r>
            <a:r>
              <a:rPr sz="2400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eaten,</a:t>
            </a:r>
            <a:r>
              <a:rPr sz="2400" spc="8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whole </a:t>
            </a:r>
            <a:r>
              <a:rPr sz="2400" spc="-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family </a:t>
            </a:r>
            <a:r>
              <a:rPr sz="2400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votes </a:t>
            </a:r>
            <a:r>
              <a:rPr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on </a:t>
            </a:r>
            <a:r>
              <a:rPr sz="2400"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which </a:t>
            </a:r>
            <a:r>
              <a:rPr sz="2400" b="1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kind </a:t>
            </a:r>
            <a:r>
              <a:rPr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of ice </a:t>
            </a:r>
            <a:r>
              <a:rPr sz="24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cream </a:t>
            </a:r>
            <a:r>
              <a:rPr sz="2400" spc="-3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we </a:t>
            </a:r>
            <a:r>
              <a:rPr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should</a:t>
            </a:r>
            <a:r>
              <a:rPr sz="2400" spc="14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-25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have</a:t>
            </a:r>
            <a:endParaRPr lang="en-US" sz="2400" spc="-25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469900" algn="just">
              <a:lnSpc>
                <a:spcPct val="100000"/>
              </a:lnSpc>
              <a:spcBef>
                <a:spcPts val="810"/>
              </a:spcBef>
            </a:pPr>
            <a:endParaRPr sz="2400" dirty="0">
              <a:latin typeface="Arial" pitchFamily="34" charset="0"/>
              <a:cs typeface="Arial" pitchFamily="34" charset="0"/>
            </a:endParaRPr>
          </a:p>
          <a:p>
            <a:pPr marL="469900" marR="5715" indent="-228600" algn="just">
              <a:lnSpc>
                <a:spcPct val="130700"/>
              </a:lnSpc>
              <a:spcBef>
                <a:spcPts val="590"/>
              </a:spcBef>
              <a:buFont typeface="Arial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sz="2400" spc="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…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 drive </a:t>
            </a:r>
            <a:r>
              <a:rPr sz="2400" spc="-1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down </a:t>
            </a:r>
            <a:r>
              <a:rPr sz="2400" spc="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z="2400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store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z="2400" spc="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get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it. </a:t>
            </a:r>
            <a:r>
              <a:rPr sz="2400" spc="-5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It’s </a:t>
            </a:r>
            <a:r>
              <a:rPr sz="2400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also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 fact that I  </a:t>
            </a:r>
            <a:r>
              <a:rPr sz="2400" spc="-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recently </a:t>
            </a:r>
            <a:r>
              <a:rPr sz="2400" spc="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purchased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sz="2400" spc="-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new </a:t>
            </a:r>
            <a:r>
              <a:rPr sz="2400" spc="-1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Pontiac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and since </a:t>
            </a:r>
            <a:r>
              <a:rPr sz="2400" spc="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then </a:t>
            </a:r>
            <a:r>
              <a:rPr sz="2400" spc="-4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my </a:t>
            </a:r>
            <a:r>
              <a:rPr sz="2400" spc="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trips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to the </a:t>
            </a:r>
            <a:r>
              <a:rPr sz="2400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store  </a:t>
            </a:r>
            <a:r>
              <a:rPr sz="2400" spc="-2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have </a:t>
            </a:r>
            <a:r>
              <a:rPr sz="2400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created </a:t>
            </a:r>
            <a:r>
              <a:rPr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sz="2400" spc="7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-2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problem….”</a:t>
            </a:r>
            <a:endParaRPr sz="24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01166"/>
            <a:ext cx="9144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60" dirty="0">
                <a:latin typeface="Arial" pitchFamily="34" charset="0"/>
                <a:cs typeface="Arial" pitchFamily="34" charset="0"/>
              </a:rPr>
              <a:t>Vanilla </a:t>
            </a:r>
            <a:r>
              <a:rPr sz="2800" dirty="0">
                <a:latin typeface="Arial" pitchFamily="34" charset="0"/>
                <a:cs typeface="Arial" pitchFamily="34" charset="0"/>
              </a:rPr>
              <a:t>Ice </a:t>
            </a:r>
            <a:r>
              <a:rPr sz="2800" spc="-10" dirty="0">
                <a:latin typeface="Arial" pitchFamily="34" charset="0"/>
                <a:cs typeface="Arial" pitchFamily="34" charset="0"/>
              </a:rPr>
              <a:t>cream that </a:t>
            </a:r>
            <a:r>
              <a:rPr sz="2800" spc="-5" dirty="0">
                <a:latin typeface="Arial" pitchFamily="34" charset="0"/>
                <a:cs typeface="Arial" pitchFamily="34" charset="0"/>
              </a:rPr>
              <a:t>puzzles </a:t>
            </a:r>
            <a:r>
              <a:rPr sz="2800" spc="-20" dirty="0">
                <a:latin typeface="Arial" pitchFamily="34" charset="0"/>
                <a:cs typeface="Arial" pitchFamily="34" charset="0"/>
              </a:rPr>
              <a:t>General </a:t>
            </a:r>
            <a:r>
              <a:rPr sz="2800" dirty="0">
                <a:latin typeface="Arial" pitchFamily="34" charset="0"/>
                <a:cs typeface="Arial" pitchFamily="34" charset="0"/>
              </a:rPr>
              <a:t>Motors</a:t>
            </a:r>
            <a:r>
              <a:rPr sz="2800" spc="50" dirty="0">
                <a:latin typeface="Arial" pitchFamily="34" charset="0"/>
                <a:cs typeface="Arial" pitchFamily="34" charset="0"/>
              </a:rPr>
              <a:t> </a:t>
            </a:r>
            <a:r>
              <a:rPr sz="2800" dirty="0">
                <a:latin typeface="Arial" pitchFamily="34" charset="0"/>
                <a:cs typeface="Arial" pitchFamily="34" charset="0"/>
              </a:rPr>
              <a:t>(Contd)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1959178"/>
            <a:ext cx="9144000" cy="36034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9525" indent="-228600" algn="just">
              <a:lnSpc>
                <a:spcPct val="1306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75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You </a:t>
            </a:r>
            <a:r>
              <a:rPr sz="2200" spc="-1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see, </a:t>
            </a:r>
            <a:r>
              <a:rPr sz="2200" b="1" spc="-5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every </a:t>
            </a:r>
            <a:r>
              <a:rPr sz="22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time I </a:t>
            </a:r>
            <a:r>
              <a:rPr sz="2200" b="1" spc="-5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buy </a:t>
            </a:r>
            <a:r>
              <a:rPr sz="22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sz="2200" b="1" spc="-5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vanilla </a:t>
            </a:r>
            <a:r>
              <a:rPr sz="22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ice-cream</a:t>
            </a:r>
            <a:r>
              <a:rPr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sz="2200" spc="5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when </a:t>
            </a:r>
            <a:r>
              <a:rPr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I </a:t>
            </a:r>
            <a:r>
              <a:rPr sz="2200" spc="15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start  </a:t>
            </a:r>
            <a:r>
              <a:rPr sz="2200" spc="1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back </a:t>
            </a:r>
            <a:r>
              <a:rPr sz="2200" spc="-5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from </a:t>
            </a:r>
            <a:r>
              <a:rPr sz="22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z="2200" spc="-5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store </a:t>
            </a:r>
            <a:r>
              <a:rPr sz="2200" b="1" spc="-35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my </a:t>
            </a:r>
            <a:r>
              <a:rPr sz="22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car </a:t>
            </a:r>
            <a:r>
              <a:rPr sz="2200" b="1" spc="-2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won’t</a:t>
            </a:r>
            <a:r>
              <a:rPr sz="2200" b="1" spc="7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b="1" spc="1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start</a:t>
            </a:r>
            <a:r>
              <a:rPr sz="2200" b="1" spc="10" dirty="0" smtClean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200" b="1" spc="10" dirty="0" smtClean="0">
              <a:solidFill>
                <a:srgbClr val="000099"/>
              </a:solidFill>
              <a:latin typeface="Arial" pitchFamily="34" charset="0"/>
              <a:cs typeface="Arial" pitchFamily="34" charset="0"/>
            </a:endParaRPr>
          </a:p>
          <a:p>
            <a:pPr marL="241300" marR="9525" indent="-228600" algn="just">
              <a:lnSpc>
                <a:spcPct val="1306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endParaRPr sz="2200" dirty="0">
              <a:latin typeface="Arial" pitchFamily="34" charset="0"/>
              <a:cs typeface="Arial" pitchFamily="34" charset="0"/>
            </a:endParaRPr>
          </a:p>
          <a:p>
            <a:pPr marL="241300" marR="5080" indent="-228600" algn="just">
              <a:lnSpc>
                <a:spcPct val="130700"/>
              </a:lnSpc>
              <a:spcBef>
                <a:spcPts val="595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If </a:t>
            </a:r>
            <a:r>
              <a:rPr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 </a:t>
            </a:r>
            <a:r>
              <a:rPr sz="2200" b="1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get </a:t>
            </a:r>
            <a:r>
              <a:rPr sz="2200" b="1" spc="-2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any </a:t>
            </a:r>
            <a:r>
              <a:rPr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other </a:t>
            </a:r>
            <a:r>
              <a:rPr sz="2200" b="1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kind </a:t>
            </a:r>
            <a:r>
              <a:rPr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of ice cream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the car </a:t>
            </a:r>
            <a:r>
              <a:rPr sz="2200" spc="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starts </a:t>
            </a:r>
            <a:r>
              <a:rPr sz="2200" b="1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just </a:t>
            </a:r>
            <a:r>
              <a:rPr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fine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I  </a:t>
            </a:r>
            <a:r>
              <a:rPr sz="2200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want </a:t>
            </a:r>
            <a:r>
              <a:rPr sz="2200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you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z="2200" spc="-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know </a:t>
            </a:r>
            <a:r>
              <a:rPr sz="2200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I’m serious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about this question, </a:t>
            </a:r>
            <a:r>
              <a:rPr sz="2200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matter </a:t>
            </a:r>
            <a:r>
              <a:rPr sz="2200" spc="-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how  </a:t>
            </a:r>
            <a:r>
              <a:rPr sz="2200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silly </a:t>
            </a:r>
            <a:r>
              <a:rPr sz="2200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it </a:t>
            </a:r>
            <a:r>
              <a:rPr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sounds </a:t>
            </a:r>
            <a:r>
              <a:rPr sz="2200" b="1" spc="-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“What </a:t>
            </a:r>
            <a:r>
              <a:rPr sz="2200" b="1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is there </a:t>
            </a:r>
            <a:r>
              <a:rPr sz="2200" b="1" spc="-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about </a:t>
            </a:r>
            <a:r>
              <a:rPr sz="2200" b="1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sz="2200" b="1" spc="-10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Pontiac </a:t>
            </a:r>
            <a:r>
              <a:rPr sz="2200" b="1" spc="-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that makes </a:t>
            </a:r>
            <a:r>
              <a:rPr sz="2200" b="1" spc="1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it  </a:t>
            </a:r>
            <a:r>
              <a:rPr sz="2200" b="1" spc="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not </a:t>
            </a:r>
            <a:r>
              <a:rPr sz="2200" b="1" spc="1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start </a:t>
            </a:r>
            <a:r>
              <a:rPr sz="2200" b="1" spc="-10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when </a:t>
            </a:r>
            <a:r>
              <a:rPr sz="2200" b="1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I </a:t>
            </a:r>
            <a:r>
              <a:rPr sz="2200" b="1" spc="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get </a:t>
            </a:r>
            <a:r>
              <a:rPr sz="2200" b="1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vanilla </a:t>
            </a:r>
            <a:r>
              <a:rPr sz="2200" b="1" spc="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ice </a:t>
            </a:r>
            <a:r>
              <a:rPr sz="2200" b="1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cream, and </a:t>
            </a:r>
            <a:r>
              <a:rPr sz="2200" b="1" spc="-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easy </a:t>
            </a:r>
            <a:r>
              <a:rPr sz="2200" b="1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z="2200" b="1" spc="1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start  </a:t>
            </a:r>
            <a:r>
              <a:rPr sz="2200" b="1" spc="-1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whenever </a:t>
            </a:r>
            <a:r>
              <a:rPr sz="2200" b="1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I get </a:t>
            </a:r>
            <a:r>
              <a:rPr sz="2200" b="1" spc="-25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any </a:t>
            </a:r>
            <a:r>
              <a:rPr sz="2200" b="1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other</a:t>
            </a:r>
            <a:r>
              <a:rPr sz="2200" b="1" spc="80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b="1" dirty="0">
                <a:solidFill>
                  <a:srgbClr val="9900FF"/>
                </a:solidFill>
                <a:latin typeface="Arial" pitchFamily="34" charset="0"/>
                <a:cs typeface="Arial" pitchFamily="34" charset="0"/>
              </a:rPr>
              <a:t>kind?”</a:t>
            </a:r>
            <a:endParaRPr sz="2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2092579"/>
            <a:ext cx="891540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</a:pPr>
            <a:r>
              <a:rPr sz="2600" b="1" i="1" spc="-5" dirty="0">
                <a:solidFill>
                  <a:srgbClr val="CC0000"/>
                </a:solidFill>
                <a:latin typeface="Perpetua"/>
                <a:cs typeface="Perpetua"/>
              </a:rPr>
              <a:t>If </a:t>
            </a:r>
            <a:r>
              <a:rPr sz="2600" b="1" i="1" spc="-40" dirty="0">
                <a:solidFill>
                  <a:srgbClr val="CC0000"/>
                </a:solidFill>
                <a:latin typeface="Perpetua"/>
                <a:cs typeface="Perpetua"/>
              </a:rPr>
              <a:t>YOU </a:t>
            </a:r>
            <a:r>
              <a:rPr sz="2600" b="1" i="1" spc="-25" dirty="0">
                <a:solidFill>
                  <a:srgbClr val="CC0000"/>
                </a:solidFill>
                <a:latin typeface="Perpetua"/>
                <a:cs typeface="Perpetua"/>
              </a:rPr>
              <a:t>were </a:t>
            </a:r>
            <a:r>
              <a:rPr sz="2600" b="1" i="1" spc="-5" dirty="0">
                <a:solidFill>
                  <a:srgbClr val="CC0000"/>
                </a:solidFill>
                <a:latin typeface="Perpetua"/>
                <a:cs typeface="Perpetua"/>
              </a:rPr>
              <a:t>that </a:t>
            </a:r>
            <a:r>
              <a:rPr sz="2600" b="1" i="1" spc="-25" dirty="0">
                <a:solidFill>
                  <a:srgbClr val="CC0000"/>
                </a:solidFill>
                <a:latin typeface="Perpetua"/>
                <a:cs typeface="Perpetua"/>
              </a:rPr>
              <a:t>engineer, </a:t>
            </a:r>
            <a:r>
              <a:rPr sz="2600" b="1" i="1" spc="-15" dirty="0">
                <a:solidFill>
                  <a:srgbClr val="CC0000"/>
                </a:solidFill>
                <a:latin typeface="Perpetua"/>
                <a:cs typeface="Perpetua"/>
              </a:rPr>
              <a:t>what </a:t>
            </a:r>
            <a:r>
              <a:rPr sz="2600" b="1" i="1" dirty="0">
                <a:solidFill>
                  <a:srgbClr val="CC0000"/>
                </a:solidFill>
                <a:latin typeface="Perpetua"/>
                <a:cs typeface="Perpetua"/>
              </a:rPr>
              <a:t>kind of </a:t>
            </a:r>
            <a:r>
              <a:rPr sz="2600" b="1" i="1" spc="-5" dirty="0">
                <a:solidFill>
                  <a:srgbClr val="CC0000"/>
                </a:solidFill>
                <a:latin typeface="Perpetua"/>
                <a:cs typeface="Perpetua"/>
              </a:rPr>
              <a:t>approach </a:t>
            </a:r>
            <a:r>
              <a:rPr sz="2600" b="1" i="1" dirty="0">
                <a:solidFill>
                  <a:srgbClr val="CC0000"/>
                </a:solidFill>
                <a:latin typeface="Perpetua"/>
                <a:cs typeface="Perpetua"/>
              </a:rPr>
              <a:t>will</a:t>
            </a:r>
            <a:r>
              <a:rPr sz="2600" b="1" i="1" spc="-200" dirty="0">
                <a:solidFill>
                  <a:srgbClr val="CC0000"/>
                </a:solidFill>
                <a:latin typeface="Perpetua"/>
                <a:cs typeface="Perpetua"/>
              </a:rPr>
              <a:t> </a:t>
            </a:r>
            <a:r>
              <a:rPr sz="2600" b="1" i="1" spc="-15" dirty="0">
                <a:solidFill>
                  <a:srgbClr val="CC0000"/>
                </a:solidFill>
                <a:latin typeface="Perpetua"/>
                <a:cs typeface="Perpetua"/>
              </a:rPr>
              <a:t>you  </a:t>
            </a:r>
            <a:r>
              <a:rPr sz="2600" b="1" i="1" dirty="0">
                <a:solidFill>
                  <a:srgbClr val="CC0000"/>
                </a:solidFill>
                <a:latin typeface="Perpetua"/>
                <a:cs typeface="Perpetua"/>
              </a:rPr>
              <a:t>take </a:t>
            </a:r>
            <a:r>
              <a:rPr sz="2600" b="1" i="1" spc="-20" dirty="0">
                <a:solidFill>
                  <a:srgbClr val="CC0000"/>
                </a:solidFill>
                <a:latin typeface="Perpetua"/>
                <a:cs typeface="Perpetua"/>
              </a:rPr>
              <a:t>for </a:t>
            </a:r>
            <a:r>
              <a:rPr sz="2600" b="1" i="1" spc="-10" dirty="0">
                <a:solidFill>
                  <a:srgbClr val="CC0000"/>
                </a:solidFill>
                <a:latin typeface="Perpetua"/>
                <a:cs typeface="Perpetua"/>
              </a:rPr>
              <a:t>arriving at </a:t>
            </a:r>
            <a:r>
              <a:rPr sz="2600" b="1" i="1" dirty="0">
                <a:solidFill>
                  <a:srgbClr val="CC0000"/>
                </a:solidFill>
                <a:latin typeface="Perpetua"/>
                <a:cs typeface="Perpetua"/>
              </a:rPr>
              <a:t>the </a:t>
            </a:r>
            <a:r>
              <a:rPr sz="2600" b="1" i="1" spc="-10" dirty="0">
                <a:solidFill>
                  <a:srgbClr val="CC0000"/>
                </a:solidFill>
                <a:latin typeface="Perpetua"/>
                <a:cs typeface="Perpetua"/>
              </a:rPr>
              <a:t>exact </a:t>
            </a:r>
            <a:r>
              <a:rPr sz="2600" b="1" i="1" spc="-15" dirty="0">
                <a:solidFill>
                  <a:srgbClr val="CC0000"/>
                </a:solidFill>
                <a:latin typeface="Perpetua"/>
                <a:cs typeface="Perpetua"/>
              </a:rPr>
              <a:t>problem</a:t>
            </a:r>
            <a:r>
              <a:rPr sz="2600" b="1" i="1" spc="-70" dirty="0">
                <a:solidFill>
                  <a:srgbClr val="CC0000"/>
                </a:solidFill>
                <a:latin typeface="Perpetua"/>
                <a:cs typeface="Perpetua"/>
              </a:rPr>
              <a:t> </a:t>
            </a:r>
            <a:r>
              <a:rPr sz="2600" b="1" i="1" dirty="0">
                <a:solidFill>
                  <a:srgbClr val="CC0000"/>
                </a:solidFill>
                <a:latin typeface="Perpetua"/>
                <a:cs typeface="Perpetua"/>
              </a:rPr>
              <a:t>?</a:t>
            </a:r>
            <a:endParaRPr sz="2600" dirty="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66159" y="3707891"/>
            <a:ext cx="2011680" cy="2159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3443" y="842898"/>
            <a:ext cx="7972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60" dirty="0">
                <a:solidFill>
                  <a:srgbClr val="C00000"/>
                </a:solidFill>
                <a:latin typeface="Perpetua"/>
                <a:cs typeface="Perpetua"/>
              </a:rPr>
              <a:t>Vanilla </a:t>
            </a:r>
            <a:r>
              <a:rPr sz="3600" i="1" dirty="0">
                <a:solidFill>
                  <a:srgbClr val="C00000"/>
                </a:solidFill>
                <a:latin typeface="Perpetua"/>
                <a:cs typeface="Perpetua"/>
              </a:rPr>
              <a:t>Ice </a:t>
            </a:r>
            <a:r>
              <a:rPr sz="3600" i="1" spc="-10" dirty="0">
                <a:solidFill>
                  <a:srgbClr val="C00000"/>
                </a:solidFill>
                <a:latin typeface="Perpetua"/>
                <a:cs typeface="Perpetua"/>
              </a:rPr>
              <a:t>cream that </a:t>
            </a:r>
            <a:r>
              <a:rPr sz="3600" i="1" spc="-5" dirty="0">
                <a:solidFill>
                  <a:srgbClr val="C00000"/>
                </a:solidFill>
                <a:latin typeface="Perpetua"/>
                <a:cs typeface="Perpetua"/>
              </a:rPr>
              <a:t>puzzles </a:t>
            </a:r>
            <a:r>
              <a:rPr sz="3600" i="1" spc="-20" dirty="0">
                <a:solidFill>
                  <a:srgbClr val="C00000"/>
                </a:solidFill>
                <a:latin typeface="Perpetua"/>
                <a:cs typeface="Perpetua"/>
              </a:rPr>
              <a:t>General </a:t>
            </a:r>
            <a:r>
              <a:rPr sz="3600" i="1" dirty="0">
                <a:solidFill>
                  <a:srgbClr val="C00000"/>
                </a:solidFill>
                <a:latin typeface="Perpetua"/>
                <a:cs typeface="Perpetua"/>
              </a:rPr>
              <a:t>Motors</a:t>
            </a:r>
            <a:r>
              <a:rPr sz="3600" i="1" spc="5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3600" i="1" dirty="0">
                <a:solidFill>
                  <a:srgbClr val="C00000"/>
                </a:solidFill>
                <a:latin typeface="Perpetua"/>
                <a:cs typeface="Perpetua"/>
              </a:rPr>
              <a:t>(Contd)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33400"/>
            <a:ext cx="7972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Vanilla </a:t>
            </a:r>
            <a:r>
              <a:rPr dirty="0"/>
              <a:t>Ice </a:t>
            </a:r>
            <a:r>
              <a:rPr spc="-10" dirty="0"/>
              <a:t>cream that </a:t>
            </a:r>
            <a:r>
              <a:rPr spc="-5" dirty="0"/>
              <a:t>puzzles </a:t>
            </a:r>
            <a:r>
              <a:rPr spc="-20" dirty="0"/>
              <a:t>General </a:t>
            </a:r>
            <a:r>
              <a:rPr dirty="0"/>
              <a:t>Motors</a:t>
            </a:r>
            <a:r>
              <a:rPr spc="50" dirty="0"/>
              <a:t> </a:t>
            </a:r>
            <a:r>
              <a:rPr dirty="0"/>
              <a:t>(Contd)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1213484"/>
            <a:ext cx="8915400" cy="49977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Engineer </a:t>
            </a:r>
            <a:r>
              <a:rPr sz="2100" b="1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was </a:t>
            </a:r>
            <a:r>
              <a:rPr sz="2100" b="1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surprised </a:t>
            </a:r>
            <a:r>
              <a:rPr sz="21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 be </a:t>
            </a:r>
            <a:r>
              <a:rPr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greeted </a:t>
            </a:r>
            <a:r>
              <a:rPr sz="2100" b="1" spc="-2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by </a:t>
            </a:r>
            <a:r>
              <a:rPr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successful, </a:t>
            </a:r>
            <a:r>
              <a:rPr sz="2100" b="1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obviously </a:t>
            </a:r>
            <a:r>
              <a:rPr sz="2100" b="1" spc="-2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well  </a:t>
            </a:r>
            <a:r>
              <a:rPr sz="21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educated </a:t>
            </a:r>
            <a:r>
              <a:rPr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man </a:t>
            </a:r>
            <a:r>
              <a:rPr sz="21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 </a:t>
            </a:r>
            <a:r>
              <a:rPr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sz="21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fine</a:t>
            </a:r>
            <a:r>
              <a:rPr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1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neighborhood</a:t>
            </a:r>
            <a:r>
              <a:rPr sz="2100" b="1" spc="-5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100" b="1" spc="-5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endParaRPr sz="21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41300" marR="5080" indent="-228600" algn="just">
              <a:lnSpc>
                <a:spcPct val="130000"/>
              </a:lnSpc>
              <a:spcBef>
                <a:spcPts val="600"/>
              </a:spcBef>
              <a:buFont typeface="Arial"/>
              <a:buChar char="•"/>
              <a:tabLst>
                <a:tab pos="241300" algn="l"/>
              </a:tabLst>
            </a:pP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He had arranged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to meet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the man just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after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dinner </a:t>
            </a:r>
            <a:r>
              <a:rPr sz="2100" b="1" spc="-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time, </a:t>
            </a:r>
            <a:r>
              <a:rPr sz="2100" b="1" spc="-2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two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hopped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into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the car 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sz="2100" b="1" spc="-3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drove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the ice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cream </a:t>
            </a:r>
            <a:r>
              <a:rPr sz="2100" b="1" spc="-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store.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It </a:t>
            </a:r>
            <a:r>
              <a:rPr sz="2100" b="1" spc="-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was vanilla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ice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cream that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night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and, sure 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enough,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after </a:t>
            </a:r>
            <a:r>
              <a:rPr sz="2100" b="1" spc="-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they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came </a:t>
            </a:r>
            <a:r>
              <a:rPr sz="2100" b="1" spc="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back </a:t>
            </a:r>
            <a:r>
              <a:rPr sz="2100" b="1" spc="-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z="2100" b="1" spc="-5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car, </a:t>
            </a:r>
            <a:r>
              <a:rPr sz="21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it </a:t>
            </a:r>
            <a:r>
              <a:rPr sz="2100" b="1" spc="-2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wouldn’t</a:t>
            </a:r>
            <a:r>
              <a:rPr sz="2100" b="1" spc="-65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100" b="1" spc="1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start.</a:t>
            </a:r>
            <a:endParaRPr sz="2100" b="1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  <a:p>
            <a:pPr marL="241300" indent="-228600" algn="just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z="2200" b="1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Engineer returned </a:t>
            </a:r>
            <a:r>
              <a:rPr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for </a:t>
            </a:r>
            <a:r>
              <a:rPr sz="22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three </a:t>
            </a:r>
            <a:r>
              <a:rPr sz="2200" b="1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more</a:t>
            </a:r>
            <a:r>
              <a:rPr sz="2200" b="1" spc="7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nights.</a:t>
            </a:r>
            <a:endParaRPr sz="2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136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first </a:t>
            </a:r>
            <a:r>
              <a:rPr sz="20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night, </a:t>
            </a:r>
            <a:r>
              <a:rPr sz="2000" b="1" spc="-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they </a:t>
            </a: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got </a:t>
            </a:r>
            <a:r>
              <a:rPr sz="2000" b="1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chocolate.The </a:t>
            </a: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car</a:t>
            </a:r>
            <a:r>
              <a:rPr sz="2000" b="1" spc="-6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started.</a:t>
            </a:r>
            <a:endParaRPr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132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z="20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second </a:t>
            </a: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night, </a:t>
            </a:r>
            <a:r>
              <a:rPr sz="2000" b="1" spc="-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they </a:t>
            </a: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got </a:t>
            </a:r>
            <a:r>
              <a:rPr sz="2000" b="1"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strawberry.The </a:t>
            </a: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car</a:t>
            </a:r>
            <a:r>
              <a:rPr sz="2000" b="1" spc="-12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started.</a:t>
            </a:r>
            <a:endParaRPr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13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z="20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third night </a:t>
            </a:r>
            <a:r>
              <a:rPr sz="2000" b="1" spc="-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they </a:t>
            </a: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ordered </a:t>
            </a:r>
            <a:r>
              <a:rPr sz="2000" b="1"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vanilla. </a:t>
            </a: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car </a:t>
            </a:r>
            <a:r>
              <a:rPr sz="2000" b="1"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failed </a:t>
            </a:r>
            <a:r>
              <a:rPr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</a:t>
            </a:r>
            <a:r>
              <a:rPr sz="2000" b="1" spc="-24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start.</a:t>
            </a:r>
            <a:endParaRPr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Vanilla </a:t>
            </a:r>
            <a:r>
              <a:rPr dirty="0"/>
              <a:t>Ice </a:t>
            </a:r>
            <a:r>
              <a:rPr spc="-10" dirty="0"/>
              <a:t>cream that </a:t>
            </a:r>
            <a:r>
              <a:rPr spc="-5" dirty="0"/>
              <a:t>puzzles </a:t>
            </a:r>
            <a:r>
              <a:rPr spc="-20" dirty="0"/>
              <a:t>General </a:t>
            </a:r>
            <a:r>
              <a:rPr dirty="0"/>
              <a:t>Motors</a:t>
            </a:r>
            <a:r>
              <a:rPr spc="50" dirty="0"/>
              <a:t> </a:t>
            </a:r>
            <a:r>
              <a:rPr dirty="0"/>
              <a:t>(Contd)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2070"/>
            <a:ext cx="8020684" cy="375666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latin typeface="Perpetua"/>
                <a:cs typeface="Perpetua"/>
              </a:rPr>
              <a:t>Now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70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engineer,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being</a:t>
            </a:r>
            <a:r>
              <a:rPr sz="2200" spc="8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spc="5" dirty="0">
                <a:latin typeface="Perpetua"/>
                <a:cs typeface="Perpetua"/>
              </a:rPr>
              <a:t>logical</a:t>
            </a:r>
            <a:r>
              <a:rPr sz="2200" spc="6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man,</a:t>
            </a:r>
            <a:r>
              <a:rPr sz="220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refused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believe</a:t>
            </a:r>
            <a:r>
              <a:rPr sz="2200" spc="8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that</a:t>
            </a:r>
            <a:r>
              <a:rPr sz="2200" spc="7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this</a:t>
            </a:r>
            <a:r>
              <a:rPr sz="2200" spc="70" dirty="0">
                <a:latin typeface="Perpetua"/>
                <a:cs typeface="Perpetua"/>
              </a:rPr>
              <a:t> </a:t>
            </a:r>
            <a:r>
              <a:rPr sz="2200" spc="-45" dirty="0">
                <a:latin typeface="Perpetua"/>
                <a:cs typeface="Perpetua"/>
              </a:rPr>
              <a:t>man’s</a:t>
            </a:r>
            <a:r>
              <a:rPr sz="2200" spc="7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car</a:t>
            </a:r>
            <a:endParaRPr sz="2200">
              <a:latin typeface="Perpetua"/>
              <a:cs typeface="Perpetua"/>
            </a:endParaRPr>
          </a:p>
          <a:p>
            <a:pPr marL="241300">
              <a:lnSpc>
                <a:spcPct val="100000"/>
              </a:lnSpc>
              <a:spcBef>
                <a:spcPts val="800"/>
              </a:spcBef>
            </a:pPr>
            <a:r>
              <a:rPr sz="2200" spc="-5" dirty="0">
                <a:latin typeface="Perpetua"/>
                <a:cs typeface="Perpetua"/>
              </a:rPr>
              <a:t>was </a:t>
            </a:r>
            <a:r>
              <a:rPr sz="2200" spc="5" dirty="0">
                <a:latin typeface="Perpetua"/>
                <a:cs typeface="Perpetua"/>
              </a:rPr>
              <a:t>allergic </a:t>
            </a:r>
            <a:r>
              <a:rPr sz="2200" dirty="0">
                <a:latin typeface="Perpetua"/>
                <a:cs typeface="Perpetua"/>
              </a:rPr>
              <a:t>to </a:t>
            </a:r>
            <a:r>
              <a:rPr sz="2200" spc="-10" dirty="0">
                <a:latin typeface="Perpetua"/>
                <a:cs typeface="Perpetua"/>
              </a:rPr>
              <a:t>vanilla </a:t>
            </a:r>
            <a:r>
              <a:rPr sz="2200" dirty="0">
                <a:latin typeface="Perpetua"/>
                <a:cs typeface="Perpetua"/>
              </a:rPr>
              <a:t>ice</a:t>
            </a:r>
            <a:r>
              <a:rPr sz="2200" spc="3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cream.</a:t>
            </a:r>
            <a:endParaRPr sz="2200">
              <a:latin typeface="Perpetua"/>
              <a:cs typeface="Perpetua"/>
            </a:endParaRPr>
          </a:p>
          <a:p>
            <a:pPr marL="241300" marR="5715" indent="-228600">
              <a:lnSpc>
                <a:spcPct val="130900"/>
              </a:lnSpc>
              <a:spcBef>
                <a:spcPts val="5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5" dirty="0">
                <a:latin typeface="Perpetua"/>
                <a:cs typeface="Perpetua"/>
              </a:rPr>
              <a:t>He arranged, </a:t>
            </a:r>
            <a:r>
              <a:rPr sz="2200" spc="-10" dirty="0">
                <a:latin typeface="Perpetua"/>
                <a:cs typeface="Perpetua"/>
              </a:rPr>
              <a:t>therefore, </a:t>
            </a:r>
            <a:r>
              <a:rPr sz="2200" spc="10" dirty="0">
                <a:latin typeface="Perpetua"/>
                <a:cs typeface="Perpetua"/>
              </a:rPr>
              <a:t>to </a:t>
            </a:r>
            <a:r>
              <a:rPr sz="2200" dirty="0">
                <a:latin typeface="Perpetua"/>
                <a:cs typeface="Perpetua"/>
              </a:rPr>
              <a:t>continue his </a:t>
            </a:r>
            <a:r>
              <a:rPr sz="2200" spc="-5" dirty="0">
                <a:latin typeface="Perpetua"/>
                <a:cs typeface="Perpetua"/>
              </a:rPr>
              <a:t>visits </a:t>
            </a:r>
            <a:r>
              <a:rPr sz="2200" dirty="0">
                <a:latin typeface="Perpetua"/>
                <a:cs typeface="Perpetua"/>
              </a:rPr>
              <a:t>for as </a:t>
            </a:r>
            <a:r>
              <a:rPr sz="2200" spc="-5" dirty="0">
                <a:latin typeface="Perpetua"/>
                <a:cs typeface="Perpetua"/>
              </a:rPr>
              <a:t>long </a:t>
            </a:r>
            <a:r>
              <a:rPr sz="2200" dirty="0">
                <a:latin typeface="Perpetua"/>
                <a:cs typeface="Perpetua"/>
              </a:rPr>
              <a:t>as </a:t>
            </a:r>
            <a:r>
              <a:rPr sz="2200" spc="-5" dirty="0">
                <a:latin typeface="Perpetua"/>
                <a:cs typeface="Perpetua"/>
              </a:rPr>
              <a:t>it </a:t>
            </a:r>
            <a:r>
              <a:rPr sz="2200" dirty="0">
                <a:latin typeface="Perpetua"/>
                <a:cs typeface="Perpetua"/>
              </a:rPr>
              <a:t>took to </a:t>
            </a:r>
            <a:r>
              <a:rPr sz="2200" spc="-5" dirty="0">
                <a:latin typeface="Perpetua"/>
                <a:cs typeface="Perpetua"/>
              </a:rPr>
              <a:t>solve  </a:t>
            </a:r>
            <a:r>
              <a:rPr sz="2200" dirty="0">
                <a:latin typeface="Perpetua"/>
                <a:cs typeface="Perpetua"/>
              </a:rPr>
              <a:t>the </a:t>
            </a:r>
            <a:r>
              <a:rPr sz="2200" spc="-10" dirty="0">
                <a:latin typeface="Perpetua"/>
                <a:cs typeface="Perpetua"/>
              </a:rPr>
              <a:t>problem. </a:t>
            </a:r>
            <a:r>
              <a:rPr sz="2200" dirty="0">
                <a:latin typeface="Perpetua"/>
                <a:cs typeface="Perpetua"/>
              </a:rPr>
              <a:t>And </a:t>
            </a:r>
            <a:r>
              <a:rPr sz="2200" spc="-15" dirty="0">
                <a:latin typeface="Perpetua"/>
                <a:cs typeface="Perpetua"/>
              </a:rPr>
              <a:t>toward </a:t>
            </a:r>
            <a:r>
              <a:rPr sz="2200" dirty="0">
                <a:latin typeface="Perpetua"/>
                <a:cs typeface="Perpetua"/>
              </a:rPr>
              <a:t>this end he began to </a:t>
            </a:r>
            <a:r>
              <a:rPr sz="2200" spc="-5" dirty="0">
                <a:latin typeface="Perpetua"/>
                <a:cs typeface="Perpetua"/>
              </a:rPr>
              <a:t>take</a:t>
            </a:r>
            <a:r>
              <a:rPr sz="2200" spc="-1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notes:</a:t>
            </a:r>
            <a:endParaRPr sz="22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5" dirty="0">
                <a:latin typeface="Perpetua"/>
                <a:cs typeface="Perpetua"/>
              </a:rPr>
              <a:t>He</a:t>
            </a:r>
            <a:r>
              <a:rPr sz="2200" spc="1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jotted</a:t>
            </a:r>
            <a:r>
              <a:rPr sz="2200" spc="105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down</a:t>
            </a:r>
            <a:r>
              <a:rPr sz="2200" spc="9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all</a:t>
            </a:r>
            <a:r>
              <a:rPr sz="2200" spc="95" dirty="0">
                <a:latin typeface="Perpetua"/>
                <a:cs typeface="Perpetua"/>
              </a:rPr>
              <a:t> </a:t>
            </a:r>
            <a:r>
              <a:rPr sz="2200" spc="15" dirty="0">
                <a:latin typeface="Perpetua"/>
                <a:cs typeface="Perpetua"/>
              </a:rPr>
              <a:t>sorts</a:t>
            </a:r>
            <a:r>
              <a:rPr sz="2200" spc="10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9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data:</a:t>
            </a:r>
            <a:r>
              <a:rPr sz="2200" spc="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time</a:t>
            </a:r>
            <a:r>
              <a:rPr sz="2200" spc="1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95" dirty="0">
                <a:latin typeface="Perpetua"/>
                <a:cs typeface="Perpetua"/>
              </a:rPr>
              <a:t> </a:t>
            </a:r>
            <a:r>
              <a:rPr sz="2200" spc="-70" dirty="0">
                <a:latin typeface="Perpetua"/>
                <a:cs typeface="Perpetua"/>
              </a:rPr>
              <a:t>day,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type</a:t>
            </a:r>
            <a:r>
              <a:rPr sz="2200" spc="1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114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gas</a:t>
            </a:r>
            <a:r>
              <a:rPr sz="2200" spc="1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uses,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time</a:t>
            </a:r>
            <a:r>
              <a:rPr sz="2200" spc="1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drive</a:t>
            </a:r>
            <a:endParaRPr sz="2200">
              <a:latin typeface="Perpetua"/>
              <a:cs typeface="Perpetua"/>
            </a:endParaRPr>
          </a:p>
          <a:p>
            <a:pPr marL="241300">
              <a:lnSpc>
                <a:spcPct val="100000"/>
              </a:lnSpc>
              <a:spcBef>
                <a:spcPts val="810"/>
              </a:spcBef>
            </a:pPr>
            <a:r>
              <a:rPr sz="2200" spc="10" dirty="0">
                <a:latin typeface="Perpetua"/>
                <a:cs typeface="Perpetua"/>
              </a:rPr>
              <a:t>back </a:t>
            </a:r>
            <a:r>
              <a:rPr sz="2200" dirty="0">
                <a:latin typeface="Perpetua"/>
                <a:cs typeface="Perpetua"/>
              </a:rPr>
              <a:t>and </a:t>
            </a:r>
            <a:r>
              <a:rPr sz="2200" spc="10" dirty="0">
                <a:latin typeface="Perpetua"/>
                <a:cs typeface="Perpetua"/>
              </a:rPr>
              <a:t>forth</a:t>
            </a:r>
            <a:r>
              <a:rPr sz="2200" spc="2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etc.</a:t>
            </a:r>
            <a:endParaRPr sz="22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Perpetua"/>
                <a:cs typeface="Perpetua"/>
              </a:rPr>
              <a:t>In a </a:t>
            </a:r>
            <a:r>
              <a:rPr sz="2200" spc="15" dirty="0">
                <a:latin typeface="Perpetua"/>
                <a:cs typeface="Perpetua"/>
              </a:rPr>
              <a:t>short </a:t>
            </a:r>
            <a:r>
              <a:rPr sz="2200" spc="-5" dirty="0">
                <a:latin typeface="Perpetua"/>
                <a:cs typeface="Perpetua"/>
              </a:rPr>
              <a:t>time, </a:t>
            </a:r>
            <a:r>
              <a:rPr sz="2200" dirty="0">
                <a:latin typeface="Perpetua"/>
                <a:cs typeface="Perpetua"/>
              </a:rPr>
              <a:t>he had a clue:</a:t>
            </a:r>
            <a:r>
              <a:rPr sz="2200" spc="229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 man </a:t>
            </a:r>
            <a:r>
              <a:rPr sz="2200" spc="5" dirty="0">
                <a:latin typeface="Perpetua"/>
                <a:cs typeface="Perpetua"/>
              </a:rPr>
              <a:t>took </a:t>
            </a:r>
            <a:r>
              <a:rPr sz="2200" spc="-5" dirty="0">
                <a:latin typeface="Perpetua"/>
                <a:cs typeface="Perpetua"/>
              </a:rPr>
              <a:t>less </a:t>
            </a:r>
            <a:r>
              <a:rPr sz="2200" dirty="0">
                <a:latin typeface="Perpetua"/>
                <a:cs typeface="Perpetua"/>
              </a:rPr>
              <a:t>time </a:t>
            </a:r>
            <a:r>
              <a:rPr sz="2200" spc="10" dirty="0">
                <a:latin typeface="Perpetua"/>
                <a:cs typeface="Perpetua"/>
              </a:rPr>
              <a:t>to </a:t>
            </a:r>
            <a:r>
              <a:rPr sz="2200" spc="-5" dirty="0">
                <a:latin typeface="Perpetua"/>
                <a:cs typeface="Perpetua"/>
              </a:rPr>
              <a:t>buy vanilla </a:t>
            </a:r>
            <a:r>
              <a:rPr sz="2200" dirty="0">
                <a:latin typeface="Perpetua"/>
                <a:cs typeface="Perpetua"/>
              </a:rPr>
              <a:t>than </a:t>
            </a:r>
            <a:r>
              <a:rPr sz="2200" spc="-15" dirty="0">
                <a:latin typeface="Perpetua"/>
                <a:cs typeface="Perpetua"/>
              </a:rPr>
              <a:t>any</a:t>
            </a:r>
            <a:endParaRPr sz="2200">
              <a:latin typeface="Perpetua"/>
              <a:cs typeface="Perpetua"/>
            </a:endParaRPr>
          </a:p>
          <a:p>
            <a:pPr marL="241300">
              <a:lnSpc>
                <a:spcPct val="100000"/>
              </a:lnSpc>
              <a:spcBef>
                <a:spcPts val="805"/>
              </a:spcBef>
            </a:pPr>
            <a:r>
              <a:rPr sz="2200" dirty="0">
                <a:latin typeface="Perpetua"/>
                <a:cs typeface="Perpetua"/>
              </a:rPr>
              <a:t>other</a:t>
            </a:r>
            <a:r>
              <a:rPr sz="2200" spc="5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flavor.Why?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5933033"/>
            <a:ext cx="55880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spc="-5" dirty="0">
                <a:solidFill>
                  <a:srgbClr val="9B2C1F"/>
                </a:solidFill>
                <a:latin typeface="Arial"/>
                <a:cs typeface="Arial"/>
              </a:rPr>
              <a:t>The </a:t>
            </a:r>
            <a:r>
              <a:rPr sz="2200" b="1" spc="5" dirty="0">
                <a:solidFill>
                  <a:srgbClr val="9B2C1F"/>
                </a:solidFill>
                <a:latin typeface="Arial"/>
                <a:cs typeface="Arial"/>
              </a:rPr>
              <a:t>answer </a:t>
            </a:r>
            <a:r>
              <a:rPr sz="2200" b="1" spc="10" dirty="0">
                <a:solidFill>
                  <a:srgbClr val="9B2C1F"/>
                </a:solidFill>
                <a:latin typeface="Arial"/>
                <a:cs typeface="Arial"/>
              </a:rPr>
              <a:t>was </a:t>
            </a:r>
            <a:r>
              <a:rPr sz="2200" b="1" dirty="0">
                <a:solidFill>
                  <a:srgbClr val="9B2C1F"/>
                </a:solidFill>
                <a:latin typeface="Arial"/>
                <a:cs typeface="Arial"/>
              </a:rPr>
              <a:t>in the </a:t>
            </a:r>
            <a:r>
              <a:rPr sz="2200" b="1" spc="-5" dirty="0">
                <a:solidFill>
                  <a:srgbClr val="9B2C1F"/>
                </a:solidFill>
                <a:latin typeface="Arial"/>
                <a:cs typeface="Arial"/>
              </a:rPr>
              <a:t>layout </a:t>
            </a:r>
            <a:r>
              <a:rPr sz="2200" b="1" dirty="0">
                <a:solidFill>
                  <a:srgbClr val="9B2C1F"/>
                </a:solidFill>
                <a:latin typeface="Arial"/>
                <a:cs typeface="Arial"/>
              </a:rPr>
              <a:t>of the</a:t>
            </a:r>
            <a:r>
              <a:rPr sz="2200" b="1" spc="-2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9B2C1F"/>
                </a:solidFill>
                <a:latin typeface="Arial"/>
                <a:cs typeface="Arial"/>
              </a:rPr>
              <a:t>store.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9957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Vanilla </a:t>
            </a:r>
            <a:r>
              <a:rPr dirty="0"/>
              <a:t>Ice </a:t>
            </a:r>
            <a:r>
              <a:rPr spc="-10" dirty="0"/>
              <a:t>cream that </a:t>
            </a:r>
            <a:r>
              <a:rPr spc="-5" dirty="0"/>
              <a:t>puzzles </a:t>
            </a:r>
            <a:r>
              <a:rPr spc="-20" dirty="0"/>
              <a:t>General </a:t>
            </a:r>
            <a:r>
              <a:rPr dirty="0"/>
              <a:t>Motors -  </a:t>
            </a:r>
            <a:r>
              <a:rPr i="1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731" y="1138420"/>
            <a:ext cx="8162925" cy="4191635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381000" indent="-368935" algn="just">
              <a:lnSpc>
                <a:spcPct val="100000"/>
              </a:lnSpc>
              <a:spcBef>
                <a:spcPts val="1480"/>
              </a:spcBef>
              <a:buAutoNum type="arabicPeriod"/>
              <a:tabLst>
                <a:tab pos="381635" algn="l"/>
              </a:tabLst>
            </a:pPr>
            <a:r>
              <a:rPr sz="2200" dirty="0">
                <a:latin typeface="Perpetua"/>
                <a:cs typeface="Perpetua"/>
              </a:rPr>
              <a:t>The </a:t>
            </a:r>
            <a:r>
              <a:rPr sz="2200" spc="-20" dirty="0">
                <a:latin typeface="Perpetua"/>
                <a:cs typeface="Perpetua"/>
              </a:rPr>
              <a:t>answer </a:t>
            </a:r>
            <a:r>
              <a:rPr sz="2200" spc="-5" dirty="0">
                <a:latin typeface="Perpetua"/>
                <a:cs typeface="Perpetua"/>
              </a:rPr>
              <a:t>was </a:t>
            </a:r>
            <a:r>
              <a:rPr sz="2200" dirty="0">
                <a:latin typeface="Perpetua"/>
                <a:cs typeface="Perpetua"/>
              </a:rPr>
              <a:t>in the </a:t>
            </a:r>
            <a:r>
              <a:rPr sz="2200" spc="-20" dirty="0">
                <a:latin typeface="Perpetua"/>
                <a:cs typeface="Perpetua"/>
              </a:rPr>
              <a:t>layout </a:t>
            </a:r>
            <a:r>
              <a:rPr sz="2200" dirty="0">
                <a:latin typeface="Perpetua"/>
                <a:cs typeface="Perpetua"/>
              </a:rPr>
              <a:t>of the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store.</a:t>
            </a:r>
            <a:endParaRPr sz="2200">
              <a:latin typeface="Perpetua"/>
              <a:cs typeface="Perpetua"/>
            </a:endParaRPr>
          </a:p>
          <a:p>
            <a:pPr marL="838835" marR="6985" lvl="1" indent="-369570" algn="just">
              <a:lnSpc>
                <a:spcPct val="130600"/>
              </a:lnSpc>
              <a:spcBef>
                <a:spcPts val="595"/>
              </a:spcBef>
              <a:buAutoNum type="alphaLcPeriod"/>
              <a:tabLst>
                <a:tab pos="839469" algn="l"/>
              </a:tabLst>
            </a:pPr>
            <a:r>
              <a:rPr sz="2200" spc="-30" dirty="0">
                <a:latin typeface="Perpetua"/>
                <a:cs typeface="Perpetua"/>
              </a:rPr>
              <a:t>Vanilla, </a:t>
            </a:r>
            <a:r>
              <a:rPr sz="2200" dirty="0">
                <a:latin typeface="Perpetua"/>
                <a:cs typeface="Perpetua"/>
              </a:rPr>
              <a:t>being </a:t>
            </a:r>
            <a:r>
              <a:rPr sz="2200" spc="5" dirty="0">
                <a:latin typeface="Perpetua"/>
                <a:cs typeface="Perpetua"/>
              </a:rPr>
              <a:t>the </a:t>
            </a:r>
            <a:r>
              <a:rPr sz="2200" dirty="0">
                <a:latin typeface="Perpetua"/>
                <a:cs typeface="Perpetua"/>
              </a:rPr>
              <a:t>most popular </a:t>
            </a:r>
            <a:r>
              <a:rPr sz="2200" spc="-40" dirty="0">
                <a:latin typeface="Perpetua"/>
                <a:cs typeface="Perpetua"/>
              </a:rPr>
              <a:t>flavor, </a:t>
            </a:r>
            <a:r>
              <a:rPr sz="2200" dirty="0">
                <a:latin typeface="Perpetua"/>
                <a:cs typeface="Perpetua"/>
              </a:rPr>
              <a:t>was in a separate case </a:t>
            </a:r>
            <a:r>
              <a:rPr sz="2200" spc="-15" dirty="0">
                <a:latin typeface="Perpetua"/>
                <a:cs typeface="Perpetua"/>
              </a:rPr>
              <a:t>at </a:t>
            </a:r>
            <a:r>
              <a:rPr sz="2200" dirty="0">
                <a:latin typeface="Perpetua"/>
                <a:cs typeface="Perpetua"/>
              </a:rPr>
              <a:t>the  </a:t>
            </a:r>
            <a:r>
              <a:rPr sz="2200" b="1" spc="5" dirty="0">
                <a:latin typeface="Perpetua"/>
                <a:cs typeface="Perpetua"/>
              </a:rPr>
              <a:t>front </a:t>
            </a:r>
            <a:r>
              <a:rPr sz="2200" b="1" dirty="0">
                <a:latin typeface="Perpetua"/>
                <a:cs typeface="Perpetua"/>
              </a:rPr>
              <a:t>of the store </a:t>
            </a:r>
            <a:r>
              <a:rPr sz="2200" dirty="0">
                <a:latin typeface="Perpetua"/>
                <a:cs typeface="Perpetua"/>
              </a:rPr>
              <a:t>for </a:t>
            </a:r>
            <a:r>
              <a:rPr sz="2200" spc="10" dirty="0">
                <a:latin typeface="Perpetua"/>
                <a:cs typeface="Perpetua"/>
              </a:rPr>
              <a:t>quick </a:t>
            </a:r>
            <a:r>
              <a:rPr sz="2200" spc="-10" dirty="0">
                <a:latin typeface="Perpetua"/>
                <a:cs typeface="Perpetua"/>
              </a:rPr>
              <a:t>pickup. </a:t>
            </a:r>
            <a:r>
              <a:rPr sz="2200" spc="-5" dirty="0">
                <a:latin typeface="Perpetua"/>
                <a:cs typeface="Perpetua"/>
              </a:rPr>
              <a:t>All </a:t>
            </a:r>
            <a:r>
              <a:rPr sz="2200" dirty="0">
                <a:latin typeface="Perpetua"/>
                <a:cs typeface="Perpetua"/>
              </a:rPr>
              <a:t>the other </a:t>
            </a:r>
            <a:r>
              <a:rPr sz="2200" spc="-10" dirty="0">
                <a:latin typeface="Perpetua"/>
                <a:cs typeface="Perpetua"/>
              </a:rPr>
              <a:t>flavors </a:t>
            </a:r>
            <a:r>
              <a:rPr sz="2200" spc="-25" dirty="0">
                <a:latin typeface="Perpetua"/>
                <a:cs typeface="Perpetua"/>
              </a:rPr>
              <a:t>were </a:t>
            </a:r>
            <a:r>
              <a:rPr sz="2200" spc="-10" dirty="0">
                <a:latin typeface="Perpetua"/>
                <a:cs typeface="Perpetua"/>
              </a:rPr>
              <a:t>kept </a:t>
            </a:r>
            <a:r>
              <a:rPr sz="2200" spc="-5" dirty="0">
                <a:latin typeface="Perpetua"/>
                <a:cs typeface="Perpetua"/>
              </a:rPr>
              <a:t>in  </a:t>
            </a:r>
            <a:r>
              <a:rPr sz="2200" dirty="0">
                <a:latin typeface="Perpetua"/>
                <a:cs typeface="Perpetua"/>
              </a:rPr>
              <a:t>the </a:t>
            </a:r>
            <a:r>
              <a:rPr sz="2200" b="1" dirty="0">
                <a:latin typeface="Perpetua"/>
                <a:cs typeface="Perpetua"/>
              </a:rPr>
              <a:t>back of </a:t>
            </a:r>
            <a:r>
              <a:rPr sz="2200" b="1" spc="5" dirty="0">
                <a:latin typeface="Perpetua"/>
                <a:cs typeface="Perpetua"/>
              </a:rPr>
              <a:t>the </a:t>
            </a:r>
            <a:r>
              <a:rPr sz="2200" b="1" dirty="0">
                <a:latin typeface="Perpetua"/>
                <a:cs typeface="Perpetua"/>
              </a:rPr>
              <a:t>store </a:t>
            </a:r>
            <a:r>
              <a:rPr sz="2200" spc="-15" dirty="0">
                <a:latin typeface="Perpetua"/>
                <a:cs typeface="Perpetua"/>
              </a:rPr>
              <a:t>at </a:t>
            </a:r>
            <a:r>
              <a:rPr sz="2200" dirty="0">
                <a:latin typeface="Perpetua"/>
                <a:cs typeface="Perpetua"/>
              </a:rPr>
              <a:t>a different counter </a:t>
            </a:r>
            <a:r>
              <a:rPr sz="2200" spc="-5" dirty="0">
                <a:latin typeface="Perpetua"/>
                <a:cs typeface="Perpetua"/>
              </a:rPr>
              <a:t>where it </a:t>
            </a:r>
            <a:r>
              <a:rPr sz="2200" dirty="0">
                <a:latin typeface="Perpetua"/>
                <a:cs typeface="Perpetua"/>
              </a:rPr>
              <a:t>took  </a:t>
            </a:r>
            <a:r>
              <a:rPr sz="2200" spc="-10" dirty="0">
                <a:latin typeface="Perpetua"/>
                <a:cs typeface="Perpetua"/>
              </a:rPr>
              <a:t>considerably </a:t>
            </a:r>
            <a:r>
              <a:rPr sz="2200" dirty="0">
                <a:latin typeface="Perpetua"/>
                <a:cs typeface="Perpetua"/>
              </a:rPr>
              <a:t>longer to </a:t>
            </a:r>
            <a:r>
              <a:rPr sz="2200" spc="20" dirty="0">
                <a:latin typeface="Perpetua"/>
                <a:cs typeface="Perpetua"/>
              </a:rPr>
              <a:t>check </a:t>
            </a:r>
            <a:r>
              <a:rPr sz="2200" dirty="0">
                <a:latin typeface="Perpetua"/>
                <a:cs typeface="Perpetua"/>
              </a:rPr>
              <a:t>out the</a:t>
            </a:r>
            <a:r>
              <a:rPr sz="2200" spc="35" dirty="0">
                <a:latin typeface="Perpetua"/>
                <a:cs typeface="Perpetua"/>
              </a:rPr>
              <a:t> </a:t>
            </a:r>
            <a:r>
              <a:rPr sz="2200" spc="-45" dirty="0">
                <a:latin typeface="Perpetua"/>
                <a:cs typeface="Perpetua"/>
              </a:rPr>
              <a:t>flavor.</a:t>
            </a:r>
            <a:endParaRPr sz="2200">
              <a:latin typeface="Perpetua"/>
              <a:cs typeface="Perpetua"/>
            </a:endParaRPr>
          </a:p>
          <a:p>
            <a:pPr marL="381000" marR="5080" indent="-368935" algn="just">
              <a:lnSpc>
                <a:spcPct val="130600"/>
              </a:lnSpc>
              <a:spcBef>
                <a:spcPts val="595"/>
              </a:spcBef>
              <a:buFont typeface="Perpetua"/>
              <a:buAutoNum type="arabicPeriod"/>
              <a:tabLst>
                <a:tab pos="444500" algn="l"/>
              </a:tabLst>
            </a:pPr>
            <a:r>
              <a:rPr dirty="0"/>
              <a:t>	</a:t>
            </a:r>
            <a:r>
              <a:rPr sz="2200" spc="-80" dirty="0">
                <a:latin typeface="Perpetua"/>
                <a:cs typeface="Perpetua"/>
              </a:rPr>
              <a:t>Now, </a:t>
            </a:r>
            <a:r>
              <a:rPr sz="2200" dirty="0">
                <a:latin typeface="Perpetua"/>
                <a:cs typeface="Perpetua"/>
              </a:rPr>
              <a:t>the question for the </a:t>
            </a:r>
            <a:r>
              <a:rPr sz="2200" spc="5" dirty="0">
                <a:latin typeface="Perpetua"/>
                <a:cs typeface="Perpetua"/>
              </a:rPr>
              <a:t>Engineer </a:t>
            </a:r>
            <a:r>
              <a:rPr sz="2200" spc="-5" dirty="0">
                <a:latin typeface="Perpetua"/>
                <a:cs typeface="Perpetua"/>
              </a:rPr>
              <a:t>was </a:t>
            </a:r>
            <a:r>
              <a:rPr sz="2200" spc="-10" dirty="0">
                <a:solidFill>
                  <a:srgbClr val="CC0000"/>
                </a:solidFill>
                <a:latin typeface="Perpetua"/>
                <a:cs typeface="Perpetua"/>
              </a:rPr>
              <a:t>why </a:t>
            </a:r>
            <a:r>
              <a:rPr sz="2200" dirty="0">
                <a:solidFill>
                  <a:srgbClr val="CC0000"/>
                </a:solidFill>
                <a:latin typeface="Perpetua"/>
                <a:cs typeface="Perpetua"/>
              </a:rPr>
              <a:t>the car </a:t>
            </a:r>
            <a:r>
              <a:rPr sz="2200" spc="-20" dirty="0">
                <a:solidFill>
                  <a:srgbClr val="CC0000"/>
                </a:solidFill>
                <a:latin typeface="Perpetua"/>
                <a:cs typeface="Perpetua"/>
              </a:rPr>
              <a:t>wouldn’t </a:t>
            </a:r>
            <a:r>
              <a:rPr sz="2200" spc="15" dirty="0">
                <a:solidFill>
                  <a:srgbClr val="CC0000"/>
                </a:solidFill>
                <a:latin typeface="Perpetua"/>
                <a:cs typeface="Perpetua"/>
              </a:rPr>
              <a:t>start </a:t>
            </a:r>
            <a:r>
              <a:rPr sz="2200" spc="5" dirty="0">
                <a:solidFill>
                  <a:srgbClr val="CC0000"/>
                </a:solidFill>
                <a:latin typeface="Perpetua"/>
                <a:cs typeface="Perpetua"/>
              </a:rPr>
              <a:t>when </a:t>
            </a:r>
            <a:r>
              <a:rPr sz="2200" spc="-5" dirty="0">
                <a:solidFill>
                  <a:srgbClr val="CC0000"/>
                </a:solidFill>
                <a:latin typeface="Perpetua"/>
                <a:cs typeface="Perpetua"/>
              </a:rPr>
              <a:t>it  </a:t>
            </a:r>
            <a:r>
              <a:rPr sz="2200" dirty="0">
                <a:solidFill>
                  <a:srgbClr val="CC0000"/>
                </a:solidFill>
                <a:latin typeface="Perpetua"/>
                <a:cs typeface="Perpetua"/>
              </a:rPr>
              <a:t>took </a:t>
            </a:r>
            <a:r>
              <a:rPr sz="2200" spc="-5" dirty="0">
                <a:solidFill>
                  <a:srgbClr val="CC0000"/>
                </a:solidFill>
                <a:latin typeface="Perpetua"/>
                <a:cs typeface="Perpetua"/>
              </a:rPr>
              <a:t>less </a:t>
            </a:r>
            <a:r>
              <a:rPr sz="2200" spc="-10" dirty="0">
                <a:solidFill>
                  <a:srgbClr val="CC0000"/>
                </a:solidFill>
                <a:latin typeface="Perpetua"/>
                <a:cs typeface="Perpetua"/>
              </a:rPr>
              <a:t>time. </a:t>
            </a:r>
            <a:r>
              <a:rPr sz="2200" dirty="0">
                <a:latin typeface="Perpetua"/>
                <a:cs typeface="Perpetua"/>
              </a:rPr>
              <a:t>Eureka – </a:t>
            </a:r>
            <a:r>
              <a:rPr sz="2200" b="1" spc="5" dirty="0">
                <a:solidFill>
                  <a:srgbClr val="00AF50"/>
                </a:solidFill>
                <a:latin typeface="Perpetua"/>
                <a:cs typeface="Perpetua"/>
              </a:rPr>
              <a:t>Time </a:t>
            </a:r>
            <a:r>
              <a:rPr sz="2200" b="1" spc="-5" dirty="0">
                <a:solidFill>
                  <a:srgbClr val="00AF50"/>
                </a:solidFill>
                <a:latin typeface="Perpetua"/>
                <a:cs typeface="Perpetua"/>
              </a:rPr>
              <a:t>was </a:t>
            </a:r>
            <a:r>
              <a:rPr sz="2200" b="1" spc="-15" dirty="0">
                <a:solidFill>
                  <a:srgbClr val="00AF50"/>
                </a:solidFill>
                <a:latin typeface="Perpetua"/>
                <a:cs typeface="Perpetua"/>
              </a:rPr>
              <a:t>now </a:t>
            </a:r>
            <a:r>
              <a:rPr sz="2200" b="1" dirty="0">
                <a:solidFill>
                  <a:srgbClr val="00AF50"/>
                </a:solidFill>
                <a:latin typeface="Perpetua"/>
                <a:cs typeface="Perpetua"/>
              </a:rPr>
              <a:t>the problem </a:t>
            </a:r>
            <a:r>
              <a:rPr sz="2200" dirty="0">
                <a:latin typeface="Perpetua"/>
                <a:cs typeface="Perpetua"/>
              </a:rPr>
              <a:t>– not the </a:t>
            </a:r>
            <a:r>
              <a:rPr sz="2200" spc="-10" dirty="0">
                <a:latin typeface="Perpetua"/>
                <a:cs typeface="Perpetua"/>
              </a:rPr>
              <a:t>vanilla  </a:t>
            </a:r>
            <a:r>
              <a:rPr sz="2200" dirty="0">
                <a:latin typeface="Perpetua"/>
                <a:cs typeface="Perpetua"/>
              </a:rPr>
              <a:t>ice cream!!!! The </a:t>
            </a:r>
            <a:r>
              <a:rPr sz="2200" spc="10" dirty="0">
                <a:latin typeface="Perpetua"/>
                <a:cs typeface="Perpetua"/>
              </a:rPr>
              <a:t>engineer </a:t>
            </a:r>
            <a:r>
              <a:rPr sz="2200" dirty="0">
                <a:latin typeface="Perpetua"/>
                <a:cs typeface="Perpetua"/>
              </a:rPr>
              <a:t>quickly came up with the </a:t>
            </a:r>
            <a:r>
              <a:rPr sz="2200" spc="-20" dirty="0">
                <a:latin typeface="Perpetua"/>
                <a:cs typeface="Perpetua"/>
              </a:rPr>
              <a:t>answer: </a:t>
            </a:r>
            <a:r>
              <a:rPr sz="2200" b="1" spc="-10" dirty="0">
                <a:solidFill>
                  <a:srgbClr val="006FC0"/>
                </a:solidFill>
                <a:latin typeface="Perpetua"/>
                <a:cs typeface="Perpetua"/>
              </a:rPr>
              <a:t>“vapor  </a:t>
            </a:r>
            <a:r>
              <a:rPr sz="2200" b="1" dirty="0">
                <a:solidFill>
                  <a:srgbClr val="006FC0"/>
                </a:solidFill>
                <a:latin typeface="Perpetua"/>
                <a:cs typeface="Perpetua"/>
              </a:rPr>
              <a:t>lock”.</a:t>
            </a:r>
            <a:endParaRPr sz="22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79844"/>
            <a:ext cx="85318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latin typeface="Arial" pitchFamily="34" charset="0"/>
                <a:cs typeface="Arial" pitchFamily="34" charset="0"/>
              </a:rPr>
              <a:t>Vanilla </a:t>
            </a:r>
            <a:r>
              <a:rPr sz="2400" dirty="0">
                <a:latin typeface="Arial" pitchFamily="34" charset="0"/>
                <a:cs typeface="Arial" pitchFamily="34" charset="0"/>
              </a:rPr>
              <a:t>Ice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cream that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puzzles </a:t>
            </a:r>
            <a:r>
              <a:rPr sz="2400" spc="-20" dirty="0">
                <a:latin typeface="Arial" pitchFamily="34" charset="0"/>
                <a:cs typeface="Arial" pitchFamily="34" charset="0"/>
              </a:rPr>
              <a:t>General </a:t>
            </a:r>
            <a:r>
              <a:rPr sz="2400" dirty="0">
                <a:latin typeface="Arial" pitchFamily="34" charset="0"/>
                <a:cs typeface="Arial" pitchFamily="34" charset="0"/>
              </a:rPr>
              <a:t>Motors -  </a:t>
            </a:r>
            <a:r>
              <a:rPr sz="2400" i="1" dirty="0">
                <a:latin typeface="Arial" pitchFamily="34" charset="0"/>
                <a:cs typeface="Arial" pitchFamily="34" charset="0"/>
              </a:rPr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8600" y="1138420"/>
            <a:ext cx="8915400" cy="5415329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Why </a:t>
            </a:r>
            <a:r>
              <a:rPr spc="-4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Vapor </a:t>
            </a:r>
            <a:r>
              <a:rPr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Lock</a:t>
            </a:r>
            <a:r>
              <a:rPr spc="-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Happened?</a:t>
            </a:r>
          </a:p>
          <a:p>
            <a:pPr marL="469900" indent="-228600" algn="just">
              <a:lnSpc>
                <a:spcPct val="100000"/>
              </a:lnSpc>
              <a:spcBef>
                <a:spcPts val="1400"/>
              </a:spcBef>
              <a:buFont typeface="Arial"/>
              <a:buChar char="•"/>
              <a:tabLst>
                <a:tab pos="469900" algn="l"/>
              </a:tabLst>
            </a:pP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It </a:t>
            </a:r>
            <a:r>
              <a:rPr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was </a:t>
            </a: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happening </a:t>
            </a:r>
            <a:r>
              <a:rPr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every</a:t>
            </a:r>
            <a:r>
              <a:rPr spc="5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night;</a:t>
            </a:r>
          </a:p>
          <a:p>
            <a:pPr marL="469900" marR="5080" indent="-228600" algn="just">
              <a:lnSpc>
                <a:spcPct val="130700"/>
              </a:lnSpc>
              <a:spcBef>
                <a:spcPts val="600"/>
              </a:spcBef>
              <a:buFont typeface="Arial"/>
              <a:buChar char="•"/>
              <a:tabLst>
                <a:tab pos="469900" algn="l"/>
              </a:tabLst>
            </a:pP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But the extra </a:t>
            </a:r>
            <a:r>
              <a:rPr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time </a:t>
            </a:r>
            <a:r>
              <a:rPr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taken </a:t>
            </a:r>
            <a:r>
              <a:rPr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get </a:t>
            </a: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other </a:t>
            </a:r>
            <a:r>
              <a:rPr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flavors </a:t>
            </a:r>
            <a:r>
              <a:rPr spc="-2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allowed </a:t>
            </a:r>
            <a:r>
              <a:rPr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engine </a:t>
            </a: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cool  </a:t>
            </a:r>
            <a:r>
              <a:rPr spc="-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down </a:t>
            </a:r>
            <a:r>
              <a:rPr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sufficiently </a:t>
            </a: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spc="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start. </a:t>
            </a:r>
            <a:r>
              <a:rPr spc="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When </a:t>
            </a: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man got </a:t>
            </a:r>
            <a:r>
              <a:rPr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vanilla, </a:t>
            </a: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engine </a:t>
            </a:r>
            <a:r>
              <a:rPr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was </a:t>
            </a: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still too  hot for the </a:t>
            </a:r>
            <a:r>
              <a:rPr spc="-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vapor </a:t>
            </a:r>
            <a:r>
              <a:rPr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lock </a:t>
            </a:r>
            <a:r>
              <a:rPr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</a:t>
            </a:r>
            <a:r>
              <a:rPr spc="3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dissipate.</a:t>
            </a:r>
          </a:p>
          <a:p>
            <a:pPr marL="12700" marR="6350">
              <a:lnSpc>
                <a:spcPct val="130900"/>
              </a:lnSpc>
              <a:spcBef>
                <a:spcPts val="590"/>
              </a:spcBef>
            </a:pPr>
            <a:r>
              <a:rPr b="1" i="1" spc="-10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Crazy </a:t>
            </a:r>
            <a:r>
              <a:rPr b="1" i="1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looking </a:t>
            </a:r>
            <a:r>
              <a:rPr b="1" i="1" spc="-10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problems </a:t>
            </a:r>
            <a:r>
              <a:rPr b="1" i="1" spc="-5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are </a:t>
            </a:r>
            <a:r>
              <a:rPr b="1" i="1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sometimes </a:t>
            </a:r>
            <a:r>
              <a:rPr b="1" i="1" spc="-5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real </a:t>
            </a:r>
            <a:r>
              <a:rPr b="1" i="1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and all </a:t>
            </a:r>
            <a:r>
              <a:rPr b="1" i="1" spc="-10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problems </a:t>
            </a:r>
            <a:r>
              <a:rPr b="1" i="1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seem to </a:t>
            </a:r>
            <a:r>
              <a:rPr b="1" i="1" spc="-5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be  simple only </a:t>
            </a:r>
            <a:r>
              <a:rPr b="1" i="1" spc="-10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when </a:t>
            </a:r>
            <a:r>
              <a:rPr b="1" i="1" spc="-25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we </a:t>
            </a:r>
            <a:r>
              <a:rPr b="1" i="1" spc="-15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find </a:t>
            </a:r>
            <a:r>
              <a:rPr b="1" i="1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the solution, with computational</a:t>
            </a:r>
            <a:r>
              <a:rPr b="1" i="1" spc="-75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b="1" i="1" spc="-5" dirty="0">
                <a:solidFill>
                  <a:srgbClr val="9A340F"/>
                </a:solidFill>
                <a:latin typeface="Arial" pitchFamily="34" charset="0"/>
                <a:cs typeface="Arial" pitchFamily="34" charset="0"/>
              </a:rPr>
              <a:t>thinking.</a:t>
            </a:r>
          </a:p>
          <a:p>
            <a:pPr marL="12700" marR="4501515">
              <a:lnSpc>
                <a:spcPct val="153200"/>
              </a:lnSpc>
            </a:pPr>
            <a:r>
              <a:rPr b="1" i="1" spc="-5" dirty="0">
                <a:solidFill>
                  <a:srgbClr val="741B46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b="1" i="1" spc="-5" dirty="0">
                <a:solidFill>
                  <a:srgbClr val="00AFEF"/>
                </a:solidFill>
                <a:latin typeface="Arial" pitchFamily="34" charset="0"/>
                <a:cs typeface="Arial" pitchFamily="34" charset="0"/>
              </a:rPr>
              <a:t>It </a:t>
            </a:r>
            <a:r>
              <a:rPr b="1" i="1" dirty="0">
                <a:solidFill>
                  <a:srgbClr val="00AFEF"/>
                </a:solidFill>
                <a:latin typeface="Arial" pitchFamily="34" charset="0"/>
                <a:cs typeface="Arial" pitchFamily="34" charset="0"/>
              </a:rPr>
              <a:t>is </a:t>
            </a:r>
            <a:r>
              <a:rPr b="1" i="1" spc="5" dirty="0">
                <a:solidFill>
                  <a:srgbClr val="00AFEF"/>
                </a:solidFill>
                <a:latin typeface="Arial" pitchFamily="34" charset="0"/>
                <a:cs typeface="Arial" pitchFamily="34" charset="0"/>
              </a:rPr>
              <a:t>not </a:t>
            </a:r>
            <a:r>
              <a:rPr b="1" i="1" spc="-5" dirty="0">
                <a:solidFill>
                  <a:srgbClr val="00AFEF"/>
                </a:solidFill>
                <a:latin typeface="Arial" pitchFamily="34" charset="0"/>
                <a:cs typeface="Arial" pitchFamily="34" charset="0"/>
              </a:rPr>
              <a:t>Ice cream </a:t>
            </a:r>
            <a:r>
              <a:rPr b="1" i="1" spc="-10" dirty="0">
                <a:solidFill>
                  <a:srgbClr val="00AFEF"/>
                </a:solidFill>
                <a:latin typeface="Arial" pitchFamily="34" charset="0"/>
                <a:cs typeface="Arial" pitchFamily="34" charset="0"/>
              </a:rPr>
              <a:t>Problem, </a:t>
            </a:r>
            <a:r>
              <a:rPr b="1" i="1" spc="-25" dirty="0">
                <a:solidFill>
                  <a:srgbClr val="00AFEF"/>
                </a:solidFill>
                <a:latin typeface="Arial" pitchFamily="34" charset="0"/>
                <a:cs typeface="Arial" pitchFamily="34" charset="0"/>
              </a:rPr>
              <a:t>BUT  </a:t>
            </a:r>
            <a:r>
              <a:rPr b="1" i="1" dirty="0">
                <a:solidFill>
                  <a:srgbClr val="00AFEF"/>
                </a:solidFill>
                <a:latin typeface="Arial" pitchFamily="34" charset="0"/>
                <a:cs typeface="Arial" pitchFamily="34" charset="0"/>
              </a:rPr>
              <a:t>Computational thinking</a:t>
            </a:r>
            <a:r>
              <a:rPr b="1" i="1" spc="-20" dirty="0">
                <a:solidFill>
                  <a:srgbClr val="00AFE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b="1" i="1" spc="-10" dirty="0">
                <a:solidFill>
                  <a:srgbClr val="00AFEF"/>
                </a:solidFill>
                <a:latin typeface="Arial" pitchFamily="34" charset="0"/>
                <a:cs typeface="Arial" pitchFamily="34" charset="0"/>
              </a:rPr>
              <a:t>problem</a:t>
            </a:r>
            <a:r>
              <a:rPr b="1" i="1" spc="-10" dirty="0">
                <a:solidFill>
                  <a:srgbClr val="741B46"/>
                </a:solidFill>
                <a:latin typeface="Arial" pitchFamily="34" charset="0"/>
                <a:cs typeface="Arial" pitchFamily="34" charset="0"/>
              </a:rPr>
              <a:t>”</a:t>
            </a:r>
          </a:p>
        </p:txBody>
      </p:sp>
      <p:sp>
        <p:nvSpPr>
          <p:cNvPr id="4" name="object 4"/>
          <p:cNvSpPr/>
          <p:nvPr/>
        </p:nvSpPr>
        <p:spPr>
          <a:xfrm>
            <a:off x="5201564" y="5017356"/>
            <a:ext cx="2302110" cy="15647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077" y="6495001"/>
            <a:ext cx="1330960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  <a:tabLst>
                <a:tab pos="461009" algn="l"/>
              </a:tabLst>
            </a:pPr>
            <a:r>
              <a:rPr sz="1650" baseline="7575" dirty="0">
                <a:latin typeface="Perpetua"/>
                <a:cs typeface="Perpetua"/>
              </a:rPr>
              <a:t>15	</a:t>
            </a: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8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152400"/>
            <a:ext cx="8610600" cy="655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538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15" dirty="0">
                <a:solidFill>
                  <a:srgbClr val="000000"/>
                </a:solidFill>
                <a:latin typeface="Perpetua"/>
                <a:cs typeface="Perpetua"/>
              </a:rPr>
              <a:t>Video </a:t>
            </a:r>
            <a:r>
              <a:rPr sz="4000" i="0" spc="-35" dirty="0">
                <a:solidFill>
                  <a:srgbClr val="000000"/>
                </a:solidFill>
                <a:latin typeface="Perpetua"/>
                <a:cs typeface="Perpetua"/>
              </a:rPr>
              <a:t>Player</a:t>
            </a:r>
            <a:r>
              <a:rPr sz="4000" i="0" spc="-3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4000" i="0" spc="-10" dirty="0">
                <a:solidFill>
                  <a:srgbClr val="000000"/>
                </a:solidFill>
                <a:latin typeface="Perpetua"/>
                <a:cs typeface="Perpetua"/>
              </a:rPr>
              <a:t>Application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376023"/>
            <a:ext cx="8782685" cy="4436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256540" indent="-274320" algn="just">
              <a:lnSpc>
                <a:spcPct val="150100"/>
              </a:lnSpc>
              <a:spcBef>
                <a:spcPts val="100"/>
              </a:spcBef>
              <a:buSzPct val="83928"/>
              <a:buFont typeface="Arial"/>
              <a:buChar char="•"/>
              <a:tabLst>
                <a:tab pos="339090" algn="l"/>
              </a:tabLst>
            </a:pPr>
            <a:r>
              <a:rPr dirty="0"/>
              <a:t>	</a:t>
            </a:r>
            <a:r>
              <a:rPr sz="2800" spc="-5" dirty="0">
                <a:latin typeface="Perpetua"/>
                <a:cs typeface="Perpetua"/>
              </a:rPr>
              <a:t>A </a:t>
            </a:r>
            <a:r>
              <a:rPr sz="2800" spc="5" dirty="0">
                <a:latin typeface="Perpetua"/>
                <a:cs typeface="Perpetua"/>
              </a:rPr>
              <a:t>informal </a:t>
            </a:r>
            <a:r>
              <a:rPr sz="2800" dirty="0">
                <a:latin typeface="Perpetua"/>
                <a:cs typeface="Perpetua"/>
              </a:rPr>
              <a:t>description </a:t>
            </a:r>
            <a:r>
              <a:rPr sz="2800" spc="-5" dirty="0">
                <a:latin typeface="Perpetua"/>
                <a:cs typeface="Perpetua"/>
              </a:rPr>
              <a:t>of a </a:t>
            </a:r>
            <a:r>
              <a:rPr sz="2800" spc="-15" dirty="0">
                <a:latin typeface="Perpetua"/>
                <a:cs typeface="Perpetua"/>
              </a:rPr>
              <a:t>Video </a:t>
            </a:r>
            <a:r>
              <a:rPr sz="2800" spc="-30" dirty="0">
                <a:latin typeface="Perpetua"/>
                <a:cs typeface="Perpetua"/>
              </a:rPr>
              <a:t>Player </a:t>
            </a:r>
            <a:r>
              <a:rPr sz="2800" spc="-10" dirty="0">
                <a:latin typeface="Perpetua"/>
                <a:cs typeface="Perpetua"/>
              </a:rPr>
              <a:t>Application </a:t>
            </a:r>
            <a:r>
              <a:rPr sz="2800" spc="-5" dirty="0">
                <a:latin typeface="Perpetua"/>
                <a:cs typeface="Perpetua"/>
              </a:rPr>
              <a:t>is </a:t>
            </a:r>
            <a:r>
              <a:rPr sz="2800" spc="-10" dirty="0">
                <a:latin typeface="Perpetua"/>
                <a:cs typeface="Perpetua"/>
              </a:rPr>
              <a:t>as  </a:t>
            </a:r>
            <a:r>
              <a:rPr sz="2800" spc="-15" dirty="0">
                <a:latin typeface="Perpetua"/>
                <a:cs typeface="Perpetua"/>
              </a:rPr>
              <a:t>follows:</a:t>
            </a:r>
            <a:endParaRPr sz="2800">
              <a:latin typeface="Perpetua"/>
              <a:cs typeface="Perpetua"/>
            </a:endParaRPr>
          </a:p>
          <a:p>
            <a:pPr marL="12700" marR="257810" indent="1466215" algn="just">
              <a:lnSpc>
                <a:spcPct val="150000"/>
              </a:lnSpc>
              <a:spcBef>
                <a:spcPts val="600"/>
              </a:spcBef>
            </a:pPr>
            <a:r>
              <a:rPr sz="2800" i="1" spc="-5" dirty="0">
                <a:latin typeface="Perpetua"/>
                <a:cs typeface="Perpetua"/>
              </a:rPr>
              <a:t>The application </a:t>
            </a:r>
            <a:r>
              <a:rPr sz="2800" i="1" spc="-20" dirty="0">
                <a:latin typeface="Perpetua"/>
                <a:cs typeface="Perpetua"/>
              </a:rPr>
              <a:t>plays </a:t>
            </a:r>
            <a:r>
              <a:rPr sz="2800" i="1" spc="-5" dirty="0">
                <a:latin typeface="Perpetua"/>
                <a:cs typeface="Perpetua"/>
              </a:rPr>
              <a:t>a video with buttons </a:t>
            </a:r>
            <a:r>
              <a:rPr sz="2800" i="1" spc="-10" dirty="0">
                <a:latin typeface="Perpetua"/>
                <a:cs typeface="Perpetua"/>
              </a:rPr>
              <a:t>that </a:t>
            </a:r>
            <a:r>
              <a:rPr sz="2800" i="1" spc="-15" dirty="0">
                <a:latin typeface="Perpetua"/>
                <a:cs typeface="Perpetua"/>
              </a:rPr>
              <a:t>allow </a:t>
            </a:r>
            <a:r>
              <a:rPr sz="2800" i="1" spc="-5" dirty="0">
                <a:latin typeface="Perpetua"/>
                <a:cs typeface="Perpetua"/>
              </a:rPr>
              <a:t>the  user </a:t>
            </a:r>
            <a:r>
              <a:rPr sz="2800" i="1" dirty="0">
                <a:latin typeface="Perpetua"/>
                <a:cs typeface="Perpetua"/>
              </a:rPr>
              <a:t>to </a:t>
            </a:r>
            <a:r>
              <a:rPr sz="2800" i="1" spc="-25" dirty="0">
                <a:latin typeface="Perpetua"/>
                <a:cs typeface="Perpetua"/>
              </a:rPr>
              <a:t>play </a:t>
            </a:r>
            <a:r>
              <a:rPr sz="2800" i="1" spc="-5" dirty="0">
                <a:latin typeface="Perpetua"/>
                <a:cs typeface="Perpetua"/>
              </a:rPr>
              <a:t>or pause the </a:t>
            </a:r>
            <a:r>
              <a:rPr sz="2800" i="1" spc="-30" dirty="0">
                <a:latin typeface="Perpetua"/>
                <a:cs typeface="Perpetua"/>
              </a:rPr>
              <a:t>video, </a:t>
            </a:r>
            <a:r>
              <a:rPr sz="2800" i="1" spc="-5" dirty="0">
                <a:latin typeface="Perpetua"/>
                <a:cs typeface="Perpetua"/>
              </a:rPr>
              <a:t>as </a:t>
            </a:r>
            <a:r>
              <a:rPr sz="2800" i="1" spc="-10" dirty="0">
                <a:latin typeface="Perpetua"/>
                <a:cs typeface="Perpetua"/>
              </a:rPr>
              <a:t>well </a:t>
            </a:r>
            <a:r>
              <a:rPr sz="2800" i="1" spc="-5" dirty="0">
                <a:latin typeface="Perpetua"/>
                <a:cs typeface="Perpetua"/>
              </a:rPr>
              <a:t>as </a:t>
            </a:r>
            <a:r>
              <a:rPr sz="2800" i="1" dirty="0">
                <a:latin typeface="Perpetua"/>
                <a:cs typeface="Perpetua"/>
              </a:rPr>
              <a:t>to </a:t>
            </a:r>
            <a:r>
              <a:rPr sz="2800" i="1" spc="-25" dirty="0">
                <a:latin typeface="Perpetua"/>
                <a:cs typeface="Perpetua"/>
              </a:rPr>
              <a:t>raise </a:t>
            </a:r>
            <a:r>
              <a:rPr sz="2800" i="1" spc="-5" dirty="0">
                <a:latin typeface="Perpetua"/>
                <a:cs typeface="Perpetua"/>
              </a:rPr>
              <a:t>or </a:t>
            </a:r>
            <a:r>
              <a:rPr sz="2800" i="1" spc="-15" dirty="0">
                <a:latin typeface="Perpetua"/>
                <a:cs typeface="Perpetua"/>
              </a:rPr>
              <a:t>lower </a:t>
            </a:r>
            <a:r>
              <a:rPr sz="2800" i="1" spc="-5" dirty="0">
                <a:latin typeface="Perpetua"/>
                <a:cs typeface="Perpetua"/>
              </a:rPr>
              <a:t>the sound  </a:t>
            </a:r>
            <a:r>
              <a:rPr sz="2800" i="1" spc="-15" dirty="0">
                <a:latin typeface="Perpetua"/>
                <a:cs typeface="Perpetua"/>
              </a:rPr>
              <a:t>volume.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815340" lvl="1" indent="-240665">
              <a:lnSpc>
                <a:spcPct val="100000"/>
              </a:lnSpc>
              <a:spcBef>
                <a:spcPts val="2360"/>
              </a:spcBef>
              <a:buSzPct val="95833"/>
              <a:buFont typeface="Wingdings"/>
              <a:buChar char=""/>
              <a:tabLst>
                <a:tab pos="815975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list the </a:t>
            </a:r>
            <a:r>
              <a:rPr sz="2400" i="1" spc="-15" dirty="0">
                <a:latin typeface="Perpetua"/>
                <a:cs typeface="Perpetua"/>
              </a:rPr>
              <a:t>software </a:t>
            </a:r>
            <a:r>
              <a:rPr sz="2400" i="1" spc="-5" dirty="0">
                <a:latin typeface="Perpetua"/>
                <a:cs typeface="Perpetua"/>
              </a:rPr>
              <a:t>requirements </a:t>
            </a:r>
            <a:r>
              <a:rPr sz="2400" i="1" dirty="0">
                <a:latin typeface="Perpetua"/>
                <a:cs typeface="Perpetua"/>
              </a:rPr>
              <a:t>( system </a:t>
            </a:r>
            <a:r>
              <a:rPr sz="2400" i="1" spc="-15" dirty="0">
                <a:latin typeface="Perpetua"/>
                <a:cs typeface="Perpetua"/>
              </a:rPr>
              <a:t>features </a:t>
            </a:r>
            <a:r>
              <a:rPr sz="2400" i="1" dirty="0">
                <a:latin typeface="Perpetua"/>
                <a:cs typeface="Perpetua"/>
              </a:rPr>
              <a:t>/ </a:t>
            </a:r>
            <a:r>
              <a:rPr sz="2400" i="1" spc="-5" dirty="0">
                <a:latin typeface="Perpetua"/>
                <a:cs typeface="Perpetua"/>
              </a:rPr>
              <a:t>functionalities) </a:t>
            </a:r>
            <a:r>
              <a:rPr sz="2400" i="1" spc="-15" dirty="0">
                <a:latin typeface="Perpetua"/>
                <a:cs typeface="Perpetua"/>
              </a:rPr>
              <a:t>for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this?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65472" y="5981843"/>
            <a:ext cx="989214" cy="738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64007"/>
            <a:ext cx="17094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solidFill>
                  <a:srgbClr val="000000"/>
                </a:solidFill>
                <a:latin typeface="Perpetua"/>
                <a:cs typeface="Perpetua"/>
              </a:rPr>
              <a:t>Solution</a:t>
            </a:r>
            <a:endParaRPr sz="44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83476"/>
            <a:ext cx="5298440" cy="40506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The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list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software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requirements</a:t>
            </a:r>
            <a:r>
              <a:rPr sz="2600" spc="-5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include: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20" dirty="0">
                <a:solidFill>
                  <a:srgbClr val="FF0000"/>
                </a:solidFill>
                <a:latin typeface="Perpetua"/>
                <a:cs typeface="Perpetua"/>
              </a:rPr>
              <a:t>Play/ 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Pause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 video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Increase/Decrease</a:t>
            </a:r>
            <a:r>
              <a:rPr sz="2600" spc="-35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50" dirty="0">
                <a:solidFill>
                  <a:srgbClr val="FF0000"/>
                </a:solidFill>
                <a:latin typeface="Perpetua"/>
                <a:cs typeface="Perpetua"/>
              </a:rPr>
              <a:t>Volume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Run and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exit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 application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Maximize or Minimize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 window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Measure screen 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refresh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time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Rate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failure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Time to </a:t>
            </a:r>
            <a:r>
              <a:rPr sz="2600" spc="10" dirty="0">
                <a:solidFill>
                  <a:srgbClr val="FF0000"/>
                </a:solidFill>
                <a:latin typeface="Perpetua"/>
                <a:cs typeface="Perpetua"/>
              </a:rPr>
              <a:t>restart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after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 failure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Percentage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events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causing</a:t>
            </a:r>
            <a:r>
              <a:rPr sz="2600" spc="2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failure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4105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85" dirty="0">
                <a:solidFill>
                  <a:srgbClr val="000000"/>
                </a:solidFill>
                <a:latin typeface="Perpetua"/>
                <a:cs typeface="Perpetua"/>
              </a:rPr>
              <a:t>Types </a:t>
            </a:r>
            <a:r>
              <a:rPr sz="4000" i="0" spc="-5" dirty="0">
                <a:solidFill>
                  <a:srgbClr val="000000"/>
                </a:solidFill>
                <a:latin typeface="Perpetua"/>
                <a:cs typeface="Perpetua"/>
              </a:rPr>
              <a:t>of</a:t>
            </a:r>
            <a:r>
              <a:rPr sz="4000" i="0" spc="4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4000" i="0" spc="-10" dirty="0">
                <a:solidFill>
                  <a:srgbClr val="000000"/>
                </a:solidFill>
                <a:latin typeface="Perpetua"/>
                <a:cs typeface="Perpetua"/>
              </a:rPr>
              <a:t>requirements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202182"/>
            <a:ext cx="8527415" cy="4656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spc="-5" dirty="0">
                <a:latin typeface="Perpetua"/>
                <a:cs typeface="Perpetua"/>
              </a:rPr>
              <a:t>major types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requirements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define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problem:</a:t>
            </a:r>
            <a:endParaRPr sz="2600">
              <a:latin typeface="Perpetua"/>
              <a:cs typeface="Perpetua"/>
            </a:endParaRPr>
          </a:p>
          <a:p>
            <a:pPr marL="561340" marR="188595" lvl="1" indent="-228600">
              <a:lnSpc>
                <a:spcPct val="15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Functional </a:t>
            </a:r>
            <a:r>
              <a:rPr sz="2600" i="1" spc="-10" dirty="0">
                <a:latin typeface="Perpetua"/>
                <a:cs typeface="Perpetua"/>
              </a:rPr>
              <a:t>requirements</a:t>
            </a:r>
            <a:r>
              <a:rPr sz="2600" spc="-10" dirty="0">
                <a:latin typeface="Perpetua"/>
                <a:cs typeface="Perpetua"/>
              </a:rPr>
              <a:t>: </a:t>
            </a:r>
            <a:r>
              <a:rPr sz="2600" spc="-5" dirty="0">
                <a:latin typeface="Perpetua"/>
                <a:cs typeface="Perpetua"/>
              </a:rPr>
              <a:t>specifies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particular </a:t>
            </a:r>
            <a:r>
              <a:rPr sz="2600" dirty="0">
                <a:latin typeface="Perpetua"/>
                <a:cs typeface="Perpetua"/>
              </a:rPr>
              <a:t>task(s) the </a:t>
            </a:r>
            <a:r>
              <a:rPr sz="2600" spc="-10" dirty="0">
                <a:latin typeface="Perpetua"/>
                <a:cs typeface="Perpetua"/>
              </a:rPr>
              <a:t>software 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spc="5" dirty="0">
                <a:latin typeface="Perpetua"/>
                <a:cs typeface="Perpetua"/>
              </a:rPr>
              <a:t>perform.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561340" marR="933450" lvl="1" indent="-228600">
              <a:lnSpc>
                <a:spcPct val="150100"/>
              </a:lnSpc>
              <a:spcBef>
                <a:spcPts val="203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Non-functional </a:t>
            </a:r>
            <a:r>
              <a:rPr sz="2600" i="1" spc="-10" dirty="0">
                <a:latin typeface="Perpetua"/>
                <a:cs typeface="Perpetua"/>
              </a:rPr>
              <a:t>requirements</a:t>
            </a:r>
            <a:r>
              <a:rPr sz="2600" spc="-10" dirty="0">
                <a:latin typeface="Perpetua"/>
                <a:cs typeface="Perpetua"/>
              </a:rPr>
              <a:t>: </a:t>
            </a:r>
            <a:r>
              <a:rPr sz="2600" spc="-5" dirty="0">
                <a:latin typeface="Perpetua"/>
                <a:cs typeface="Perpetua"/>
              </a:rPr>
              <a:t>defines other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spc="-5" dirty="0">
                <a:latin typeface="Perpetua"/>
                <a:cs typeface="Perpetua"/>
              </a:rPr>
              <a:t>and  constraints related </a:t>
            </a:r>
            <a:r>
              <a:rPr sz="2600" dirty="0">
                <a:latin typeface="Perpetua"/>
                <a:cs typeface="Perpetua"/>
              </a:rPr>
              <a:t>to the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software.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2552700" lvl="2" indent="-240665">
              <a:lnSpc>
                <a:spcPct val="100000"/>
              </a:lnSpc>
              <a:spcBef>
                <a:spcPts val="2400"/>
              </a:spcBef>
              <a:buSzPct val="95833"/>
              <a:buFont typeface="Wingdings"/>
              <a:buChar char=""/>
              <a:tabLst>
                <a:tab pos="2553335" algn="l"/>
              </a:tabLst>
            </a:pPr>
            <a:r>
              <a:rPr sz="2400" i="1" spc="-15" dirty="0">
                <a:latin typeface="Perpetua"/>
                <a:cs typeface="Perpetua"/>
              </a:rPr>
              <a:t>Now </a:t>
            </a:r>
            <a:r>
              <a:rPr sz="2400" i="1" spc="-5" dirty="0">
                <a:latin typeface="Perpetua"/>
                <a:cs typeface="Perpetua"/>
              </a:rPr>
              <a:t>inVideo </a:t>
            </a:r>
            <a:r>
              <a:rPr sz="2400" i="1" spc="-20" dirty="0">
                <a:latin typeface="Perpetua"/>
                <a:cs typeface="Perpetua"/>
              </a:rPr>
              <a:t>Player app, </a:t>
            </a:r>
            <a:r>
              <a:rPr sz="2400" i="1" spc="-10" dirty="0">
                <a:latin typeface="Perpetua"/>
                <a:cs typeface="Perpetua"/>
              </a:rPr>
              <a:t>categorize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5" dirty="0">
                <a:latin typeface="Perpetua"/>
                <a:cs typeface="Perpetua"/>
              </a:rPr>
              <a:t>software</a:t>
            </a:r>
            <a:r>
              <a:rPr sz="2400" i="1" spc="-18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requirements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9956" y="6075266"/>
            <a:ext cx="899285" cy="6730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555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solidFill>
                  <a:srgbClr val="000000"/>
                </a:solidFill>
                <a:latin typeface="Perpetua"/>
                <a:cs typeface="Perpetua"/>
              </a:rPr>
              <a:t>Solution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83476"/>
            <a:ext cx="6025515" cy="452310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The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list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functional requirements</a:t>
            </a:r>
            <a:r>
              <a:rPr sz="2600" spc="-4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include: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20" dirty="0">
                <a:solidFill>
                  <a:srgbClr val="FF0000"/>
                </a:solidFill>
                <a:latin typeface="Perpetua"/>
                <a:cs typeface="Perpetua"/>
              </a:rPr>
              <a:t>Play/ 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Pause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 video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Increase/Decrease</a:t>
            </a:r>
            <a:r>
              <a:rPr sz="2600" spc="-35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50" dirty="0">
                <a:solidFill>
                  <a:srgbClr val="FF0000"/>
                </a:solidFill>
                <a:latin typeface="Perpetua"/>
                <a:cs typeface="Perpetua"/>
              </a:rPr>
              <a:t>Volume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Run and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exit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 application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Maximize or Minimize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window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The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list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non-functional requirements</a:t>
            </a:r>
            <a:r>
              <a:rPr sz="2600" spc="-3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include: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Measure screen refresh</a:t>
            </a:r>
            <a:r>
              <a:rPr sz="2600" spc="-2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time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Rate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of</a:t>
            </a:r>
            <a:r>
              <a:rPr sz="2600" spc="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failure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Time to </a:t>
            </a:r>
            <a:r>
              <a:rPr sz="2600" spc="10" dirty="0">
                <a:solidFill>
                  <a:srgbClr val="FF0000"/>
                </a:solidFill>
                <a:latin typeface="Perpetua"/>
                <a:cs typeface="Perpetua"/>
              </a:rPr>
              <a:t>restart </a:t>
            </a:r>
            <a:r>
              <a:rPr sz="2600" spc="-5" dirty="0">
                <a:solidFill>
                  <a:srgbClr val="FF0000"/>
                </a:solidFill>
                <a:latin typeface="Perpetua"/>
                <a:cs typeface="Perpetua"/>
              </a:rPr>
              <a:t>after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 failure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Percentage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sz="2600" spc="-15" dirty="0">
                <a:solidFill>
                  <a:srgbClr val="FF0000"/>
                </a:solidFill>
                <a:latin typeface="Perpetua"/>
                <a:cs typeface="Perpetua"/>
              </a:rPr>
              <a:t>events </a:t>
            </a:r>
            <a:r>
              <a:rPr sz="2600" dirty="0">
                <a:solidFill>
                  <a:srgbClr val="FF0000"/>
                </a:solidFill>
                <a:latin typeface="Perpetua"/>
                <a:cs typeface="Perpetua"/>
              </a:rPr>
              <a:t>causing</a:t>
            </a:r>
            <a:r>
              <a:rPr sz="2600" spc="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Perpetua"/>
                <a:cs typeface="Perpetua"/>
              </a:rPr>
              <a:t>failure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41194" y="1556969"/>
            <a:ext cx="4744720" cy="4523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functional requirements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include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5" dirty="0">
                <a:latin typeface="Perpetua"/>
                <a:cs typeface="Perpetua"/>
              </a:rPr>
              <a:t>Input/output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5" dirty="0">
                <a:latin typeface="Perpetua"/>
                <a:cs typeface="Perpetua"/>
              </a:rPr>
              <a:t>Processing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9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5" dirty="0">
                <a:latin typeface="Perpetua"/>
                <a:cs typeface="Perpetua"/>
              </a:rPr>
              <a:t>Error</a:t>
            </a:r>
            <a:r>
              <a:rPr sz="2600" spc="-5" dirty="0">
                <a:latin typeface="Perpetua"/>
                <a:cs typeface="Perpetua"/>
              </a:rPr>
              <a:t> handling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non-functional requirements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include: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5" dirty="0">
                <a:latin typeface="Perpetua"/>
                <a:cs typeface="Perpetua"/>
              </a:rPr>
              <a:t>Reliability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5" dirty="0">
                <a:latin typeface="Perpetua"/>
                <a:cs typeface="Perpetua"/>
              </a:rPr>
              <a:t>Safety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dirty="0">
                <a:latin typeface="Perpetua"/>
                <a:cs typeface="Perpetua"/>
              </a:rPr>
              <a:t>Security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5" dirty="0">
                <a:latin typeface="Perpetua"/>
                <a:cs typeface="Perpetua"/>
              </a:rPr>
              <a:t>Performance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80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5" dirty="0">
                <a:latin typeface="Perpetua"/>
                <a:cs typeface="Perpetua"/>
              </a:rPr>
              <a:t>Delivery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9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dirty="0">
                <a:latin typeface="Perpetua"/>
                <a:cs typeface="Perpetua"/>
              </a:rPr>
              <a:t>Help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facilities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8976" y="35051"/>
            <a:ext cx="1066800" cy="1749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34769" y="866394"/>
            <a:ext cx="16002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dirty="0">
                <a:solidFill>
                  <a:srgbClr val="000000"/>
                </a:solidFill>
                <a:latin typeface="Perpetua"/>
                <a:cs typeface="Perpetua"/>
              </a:rPr>
              <a:t>In</a:t>
            </a:r>
            <a:r>
              <a:rPr sz="3200" i="0" spc="-8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3200" i="0" dirty="0">
                <a:solidFill>
                  <a:srgbClr val="000000"/>
                </a:solidFill>
                <a:latin typeface="Perpetua"/>
                <a:cs typeface="Perpetua"/>
              </a:rPr>
              <a:t>general,</a:t>
            </a:r>
            <a:endParaRPr sz="32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36550" y="909319"/>
          <a:ext cx="8610599" cy="56344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8665"/>
                <a:gridCol w="748665"/>
                <a:gridCol w="941069"/>
                <a:gridCol w="6172200"/>
              </a:tblGrid>
              <a:tr h="7880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Icon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Index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092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r>
                        <a:rPr sz="1800" spc="5" dirty="0">
                          <a:latin typeface="Perpetua"/>
                          <a:cs typeface="Perpetua"/>
                        </a:rPr>
                        <a:t>u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n</a:t>
                      </a:r>
                      <a:r>
                        <a:rPr sz="1800" spc="5" dirty="0">
                          <a:latin typeface="Perpetua"/>
                          <a:cs typeface="Perpetua"/>
                        </a:rPr>
                        <a:t>c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tion  Name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Description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3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i="1" dirty="0">
                          <a:latin typeface="Perpetua"/>
                          <a:cs typeface="Perpetua"/>
                        </a:rPr>
                        <a:t>V1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15" dirty="0">
                          <a:latin typeface="Perpetua"/>
                          <a:cs typeface="Perpetua"/>
                        </a:rPr>
                        <a:t>Play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720" indent="-81280">
                        <a:lnSpc>
                          <a:spcPct val="100000"/>
                        </a:lnSpc>
                        <a:spcBef>
                          <a:spcPts val="110"/>
                        </a:spcBef>
                        <a:buSzPct val="94444"/>
                        <a:buFont typeface="Arial"/>
                        <a:buChar char="•"/>
                        <a:tabLst>
                          <a:tab pos="17335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Clicking the </a:t>
                      </a:r>
                      <a:r>
                        <a:rPr sz="1800" spc="-15" dirty="0">
                          <a:latin typeface="Perpetua"/>
                          <a:cs typeface="Perpetua"/>
                        </a:rPr>
                        <a:t>play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causes the video to </a:t>
                      </a:r>
                      <a:r>
                        <a:rPr sz="1800" spc="5" dirty="0">
                          <a:latin typeface="Perpetua"/>
                          <a:cs typeface="Perpetua"/>
                        </a:rPr>
                        <a:t>begin</a:t>
                      </a:r>
                      <a:r>
                        <a:rPr sz="1800" spc="-1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playing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  <a:buFont typeface="Arial"/>
                        <a:buChar char="•"/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92075" marR="551180">
                        <a:lnSpc>
                          <a:spcPct val="100000"/>
                        </a:lnSpc>
                        <a:buSzPct val="94444"/>
                        <a:buFont typeface="Arial"/>
                        <a:buChar char="•"/>
                        <a:tabLst>
                          <a:tab pos="22161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If the video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was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just paused, then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playing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the</a:t>
                      </a:r>
                      <a:r>
                        <a:rPr sz="1800" spc="-29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video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resumes at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the  point of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pausing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  <a:buFont typeface="Arial"/>
                        <a:buChar char="•"/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21615" indent="-129539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4444"/>
                        <a:buFont typeface="Arial"/>
                        <a:buChar char="•"/>
                        <a:tabLst>
                          <a:tab pos="22161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If the video has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yet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to </a:t>
                      </a:r>
                      <a:r>
                        <a:rPr sz="1800" spc="10" dirty="0">
                          <a:latin typeface="Perpetua"/>
                          <a:cs typeface="Perpetua"/>
                        </a:rPr>
                        <a:t>start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playing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then a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new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computer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window</a:t>
                      </a:r>
                      <a:r>
                        <a:rPr sz="1800" spc="-21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is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Perpetua"/>
                          <a:cs typeface="Perpetua"/>
                        </a:rPr>
                        <a:t>created and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video </a:t>
                      </a:r>
                      <a:r>
                        <a:rPr sz="1800" spc="5" dirty="0">
                          <a:latin typeface="Perpetua"/>
                          <a:cs typeface="Perpetua"/>
                        </a:rPr>
                        <a:t>begins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playing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in the</a:t>
                      </a:r>
                      <a:r>
                        <a:rPr sz="1800" spc="-10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window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92075" marR="551180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4444"/>
                        <a:buFont typeface="Arial"/>
                        <a:buChar char="•"/>
                        <a:tabLst>
                          <a:tab pos="17335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So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long as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the video is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playing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the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pause/play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functions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as</a:t>
                      </a:r>
                      <a:r>
                        <a:rPr sz="1800" spc="-15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  pause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displaying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 pause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</a:t>
                      </a:r>
                      <a:r>
                        <a:rPr sz="1800" spc="-9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image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117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400" i="1" dirty="0">
                          <a:latin typeface="Perpetua"/>
                          <a:cs typeface="Perpetua"/>
                        </a:rPr>
                        <a:t>V2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spc="-15" dirty="0">
                          <a:latin typeface="Perpetua"/>
                          <a:cs typeface="Perpetua"/>
                        </a:rPr>
                        <a:t>Pause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615" indent="-129539">
                        <a:lnSpc>
                          <a:spcPct val="100000"/>
                        </a:lnSpc>
                        <a:spcBef>
                          <a:spcPts val="114"/>
                        </a:spcBef>
                        <a:buFont typeface="Arial"/>
                        <a:buChar char="•"/>
                        <a:tabLst>
                          <a:tab pos="22161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Clicking the pause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causes the video to pause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at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the </a:t>
                      </a:r>
                      <a:r>
                        <a:rPr sz="1800" spc="5" dirty="0">
                          <a:latin typeface="Perpetua"/>
                          <a:cs typeface="Perpetua"/>
                        </a:rPr>
                        <a:t>current</a:t>
                      </a:r>
                      <a:r>
                        <a:rPr sz="1800" spc="-19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5" dirty="0">
                          <a:latin typeface="Perpetua"/>
                          <a:cs typeface="Perpetua"/>
                        </a:rPr>
                        <a:t>play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Perpetua"/>
                          <a:cs typeface="Perpetua"/>
                        </a:rPr>
                        <a:t>location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72720" indent="-8128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17335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If the video has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already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finished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playing,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then this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has no</a:t>
                      </a:r>
                      <a:r>
                        <a:rPr sz="1800" spc="-28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effect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  <a:buFont typeface="Arial"/>
                        <a:buChar char="•"/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72720" indent="-8128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17335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Clicking the pause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causes the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pause/play button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to function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as</a:t>
                      </a:r>
                      <a:r>
                        <a:rPr sz="1800" spc="-18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5" dirty="0">
                          <a:latin typeface="Perpetua"/>
                          <a:cs typeface="Perpetua"/>
                        </a:rPr>
                        <a:t>play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button,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displaying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 </a:t>
                      </a:r>
                      <a:r>
                        <a:rPr sz="1800" spc="-15" dirty="0">
                          <a:latin typeface="Perpetua"/>
                          <a:cs typeface="Perpetua"/>
                        </a:rPr>
                        <a:t>play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</a:t>
                      </a:r>
                      <a:r>
                        <a:rPr sz="1800" spc="-114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image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14527" y="1752600"/>
            <a:ext cx="542544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4527" y="4572000"/>
            <a:ext cx="551688" cy="448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834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A detailed </a:t>
            </a:r>
            <a:r>
              <a:rPr i="0" spc="-10" dirty="0">
                <a:solidFill>
                  <a:srgbClr val="000000"/>
                </a:solidFill>
                <a:latin typeface="Perpetua"/>
                <a:cs typeface="Perpetua"/>
              </a:rPr>
              <a:t>look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into </a:t>
            </a:r>
            <a:r>
              <a:rPr i="0" spc="-10" dirty="0">
                <a:solidFill>
                  <a:srgbClr val="000000"/>
                </a:solidFill>
                <a:latin typeface="Perpetua"/>
                <a:cs typeface="Perpetua"/>
              </a:rPr>
              <a:t>requirements </a:t>
            </a:r>
            <a:r>
              <a:rPr i="0" spc="-5" dirty="0">
                <a:solidFill>
                  <a:srgbClr val="000000"/>
                </a:solidFill>
                <a:latin typeface="Perpetua"/>
                <a:cs typeface="Perpetua"/>
              </a:rPr>
              <a:t>of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the video</a:t>
            </a:r>
            <a:r>
              <a:rPr i="0" spc="-2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spc="-5" dirty="0">
                <a:solidFill>
                  <a:srgbClr val="000000"/>
                </a:solidFill>
                <a:latin typeface="Perpetua"/>
                <a:cs typeface="Perpetua"/>
              </a:rPr>
              <a:t>app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2250" y="1136650"/>
          <a:ext cx="8610599" cy="4138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8665"/>
                <a:gridCol w="748665"/>
                <a:gridCol w="941069"/>
                <a:gridCol w="6172200"/>
              </a:tblGrid>
              <a:tr h="6635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Icon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Index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092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r>
                        <a:rPr sz="1800" spc="5" dirty="0">
                          <a:latin typeface="Perpetua"/>
                          <a:cs typeface="Perpetua"/>
                        </a:rPr>
                        <a:t>u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n</a:t>
                      </a:r>
                      <a:r>
                        <a:rPr sz="1800" spc="5" dirty="0">
                          <a:latin typeface="Perpetua"/>
                          <a:cs typeface="Perpetua"/>
                        </a:rPr>
                        <a:t>c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tion  Name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Description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400" i="1" dirty="0">
                          <a:latin typeface="Perpetua"/>
                          <a:cs typeface="Perpetua"/>
                        </a:rPr>
                        <a:t>V3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695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In</a:t>
                      </a:r>
                      <a:r>
                        <a:rPr sz="1800" spc="5" dirty="0">
                          <a:latin typeface="Perpetua"/>
                          <a:cs typeface="Perpetua"/>
                        </a:rPr>
                        <a:t>c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r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ease  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Volume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69595">
                        <a:lnSpc>
                          <a:spcPct val="100000"/>
                        </a:lnSpc>
                        <a:spcBef>
                          <a:spcPts val="110"/>
                        </a:spcBef>
                        <a:buFont typeface="Arial"/>
                        <a:buChar char="•"/>
                        <a:tabLst>
                          <a:tab pos="22161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Clicking the increase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volume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while the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volume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is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less</a:t>
                      </a:r>
                      <a:r>
                        <a:rPr sz="1800" spc="-1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than  maximum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80 dB </a:t>
                      </a:r>
                      <a:r>
                        <a:rPr sz="1800" spc="-15" dirty="0">
                          <a:latin typeface="Perpetua"/>
                          <a:cs typeface="Perpetua"/>
                        </a:rPr>
                        <a:t>level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causes the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volume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to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increase </a:t>
                      </a:r>
                      <a:r>
                        <a:rPr sz="1800" spc="-20" dirty="0">
                          <a:latin typeface="Perpetua"/>
                          <a:cs typeface="Perpetua"/>
                        </a:rPr>
                        <a:t>by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5</a:t>
                      </a:r>
                      <a:r>
                        <a:rPr sz="1800" spc="-10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dB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  <a:buFont typeface="Arial"/>
                        <a:buChar char="•"/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21615" indent="-13017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22161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Clicking the increase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volume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while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volume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is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at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80 dB</a:t>
                      </a:r>
                      <a:r>
                        <a:rPr sz="1800" spc="-1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5" dirty="0">
                          <a:latin typeface="Perpetua"/>
                          <a:cs typeface="Perpetua"/>
                        </a:rPr>
                        <a:t>level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does</a:t>
                      </a:r>
                      <a:r>
                        <a:rPr sz="1800" spc="-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nothing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7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400" i="1" dirty="0">
                          <a:latin typeface="Perpetua"/>
                          <a:cs typeface="Perpetua"/>
                        </a:rPr>
                        <a:t>V4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890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Decrease  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Volume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31775">
                        <a:lnSpc>
                          <a:spcPct val="100000"/>
                        </a:lnSpc>
                        <a:spcBef>
                          <a:spcPts val="115"/>
                        </a:spcBef>
                        <a:buFont typeface="Arial"/>
                        <a:buChar char="•"/>
                        <a:tabLst>
                          <a:tab pos="22161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Clicking the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decrease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volume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while the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volume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is greater</a:t>
                      </a:r>
                      <a:r>
                        <a:rPr sz="1800" spc="-1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than 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silent (0 dB) </a:t>
                      </a:r>
                      <a:r>
                        <a:rPr sz="1800" spc="-15" dirty="0">
                          <a:latin typeface="Perpetua"/>
                          <a:cs typeface="Perpetua"/>
                        </a:rPr>
                        <a:t>level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causes the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volume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to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decrease </a:t>
                      </a:r>
                      <a:r>
                        <a:rPr sz="1800" spc="-20" dirty="0">
                          <a:latin typeface="Perpetua"/>
                          <a:cs typeface="Perpetua"/>
                        </a:rPr>
                        <a:t>by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5</a:t>
                      </a:r>
                      <a:r>
                        <a:rPr sz="1800" spc="-1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dB</a:t>
                      </a:r>
                      <a:endParaRPr sz="1800">
                        <a:latin typeface="Perpetua"/>
                        <a:cs typeface="Perpetu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  <a:buFont typeface="Arial"/>
                        <a:buChar char="•"/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91440" marR="45847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"/>
                        <a:buChar char="•"/>
                        <a:tabLst>
                          <a:tab pos="221615" algn="l"/>
                        </a:tabLst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Clicking the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decrease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volume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button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while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volume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is </a:t>
                      </a:r>
                      <a:r>
                        <a:rPr sz="1800" spc="-5" dirty="0">
                          <a:latin typeface="Perpetua"/>
                          <a:cs typeface="Perpetua"/>
                        </a:rPr>
                        <a:t>at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silent</a:t>
                      </a:r>
                      <a:r>
                        <a:rPr sz="1800" spc="-9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5" dirty="0">
                          <a:latin typeface="Perpetua"/>
                          <a:cs typeface="Perpetua"/>
                        </a:rPr>
                        <a:t>level 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does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nothing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75843" y="1905000"/>
            <a:ext cx="513588" cy="4099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5843" y="3666744"/>
            <a:ext cx="562356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242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solidFill>
                  <a:srgbClr val="000000"/>
                </a:solidFill>
                <a:latin typeface="Perpetua"/>
                <a:cs typeface="Perpetua"/>
              </a:rPr>
              <a:t>Functional </a:t>
            </a:r>
            <a:r>
              <a:rPr sz="4000" i="0" spc="-10" dirty="0">
                <a:solidFill>
                  <a:srgbClr val="000000"/>
                </a:solidFill>
                <a:latin typeface="Perpetua"/>
                <a:cs typeface="Perpetua"/>
              </a:rPr>
              <a:t>requirement</a:t>
            </a:r>
            <a:r>
              <a:rPr sz="4000" i="0" spc="1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4000" i="0" spc="-15" dirty="0">
                <a:solidFill>
                  <a:srgbClr val="000000"/>
                </a:solidFill>
                <a:latin typeface="Perpetua"/>
                <a:cs typeface="Perpetua"/>
              </a:rPr>
              <a:t>validation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47415" y="2040763"/>
            <a:ext cx="2178050" cy="3417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i="1" spc="-90" dirty="0">
                <a:latin typeface="Perpetua"/>
                <a:cs typeface="Perpetua"/>
              </a:rPr>
              <a:t>We </a:t>
            </a:r>
            <a:r>
              <a:rPr sz="2600" i="1" dirty="0">
                <a:latin typeface="Perpetua"/>
                <a:cs typeface="Perpetua"/>
              </a:rPr>
              <a:t>ask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questions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00">
              <a:latin typeface="Times New Roman"/>
              <a:cs typeface="Times New Roman"/>
            </a:endParaRPr>
          </a:p>
          <a:p>
            <a:pPr marL="612775" indent="-326390">
              <a:lnSpc>
                <a:spcPct val="100000"/>
              </a:lnSpc>
              <a:buSzPct val="68750"/>
              <a:buFont typeface="Wingdings"/>
              <a:buChar char=""/>
              <a:tabLst>
                <a:tab pos="613410" algn="l"/>
              </a:tabLst>
            </a:pPr>
            <a:r>
              <a:rPr sz="3200" i="1" spc="5" dirty="0">
                <a:solidFill>
                  <a:srgbClr val="C00000"/>
                </a:solidFill>
                <a:latin typeface="Perpetua"/>
                <a:cs typeface="Perpetua"/>
              </a:rPr>
              <a:t>Correct?</a:t>
            </a:r>
            <a:endParaRPr sz="3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"/>
            </a:pPr>
            <a:endParaRPr sz="3650">
              <a:latin typeface="Times New Roman"/>
              <a:cs typeface="Times New Roman"/>
            </a:endParaRPr>
          </a:p>
          <a:p>
            <a:pPr marL="685800" indent="-399415">
              <a:lnSpc>
                <a:spcPct val="100000"/>
              </a:lnSpc>
              <a:buSzPct val="84375"/>
              <a:buFont typeface="Wingdings"/>
              <a:buChar char=""/>
              <a:tabLst>
                <a:tab pos="686435" algn="l"/>
              </a:tabLst>
            </a:pPr>
            <a:r>
              <a:rPr sz="3200" i="1" spc="-5" dirty="0">
                <a:solidFill>
                  <a:srgbClr val="C00000"/>
                </a:solidFill>
                <a:latin typeface="Perpetua"/>
                <a:cs typeface="Perpetua"/>
              </a:rPr>
              <a:t>Consistent?</a:t>
            </a:r>
            <a:endParaRPr sz="3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"/>
            </a:pPr>
            <a:endParaRPr sz="3650">
              <a:latin typeface="Times New Roman"/>
              <a:cs typeface="Times New Roman"/>
            </a:endParaRPr>
          </a:p>
          <a:p>
            <a:pPr marL="685800" indent="-399415">
              <a:lnSpc>
                <a:spcPct val="100000"/>
              </a:lnSpc>
              <a:buSzPct val="84375"/>
              <a:buFont typeface="Wingdings"/>
              <a:buChar char=""/>
              <a:tabLst>
                <a:tab pos="686435" algn="l"/>
              </a:tabLst>
            </a:pPr>
            <a:r>
              <a:rPr sz="3200" i="1" spc="-5" dirty="0">
                <a:solidFill>
                  <a:srgbClr val="C00000"/>
                </a:solidFill>
                <a:latin typeface="Perpetua"/>
                <a:cs typeface="Perpetua"/>
              </a:rPr>
              <a:t>Complete?</a:t>
            </a:r>
            <a:endParaRPr sz="32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45947"/>
            <a:ext cx="8277859" cy="21596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5"/>
              </a:spcBef>
              <a:buSzPct val="84615"/>
              <a:buFont typeface="Wingdings"/>
              <a:buChar char=""/>
              <a:tabLst>
                <a:tab pos="287020" algn="l"/>
              </a:tabLst>
            </a:pP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Correctness</a:t>
            </a:r>
            <a:endParaRPr sz="2600">
              <a:latin typeface="Perpetua"/>
              <a:cs typeface="Perpetua"/>
            </a:endParaRPr>
          </a:p>
          <a:p>
            <a:pPr marL="561340" marR="196850" lvl="1" indent="-229235">
              <a:lnSpc>
                <a:spcPct val="100000"/>
              </a:lnSpc>
              <a:spcBef>
                <a:spcPts val="395"/>
              </a:spcBef>
              <a:buSzPct val="84615"/>
              <a:buFont typeface="Wingdings"/>
              <a:buChar char=""/>
              <a:tabLst>
                <a:tab pos="635635" algn="l"/>
                <a:tab pos="636905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means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customers, </a:t>
            </a:r>
            <a:r>
              <a:rPr sz="2600" spc="5" dirty="0">
                <a:latin typeface="Perpetua"/>
                <a:cs typeface="Perpetua"/>
              </a:rPr>
              <a:t>users, </a:t>
            </a:r>
            <a:r>
              <a:rPr sz="2600" spc="-5" dirty="0">
                <a:latin typeface="Perpetua"/>
                <a:cs typeface="Perpetua"/>
              </a:rPr>
              <a:t>and developers </a:t>
            </a:r>
            <a:r>
              <a:rPr sz="2600" dirty="0">
                <a:latin typeface="Perpetua"/>
                <a:cs typeface="Perpetua"/>
              </a:rPr>
              <a:t>understand in</a:t>
            </a:r>
            <a:r>
              <a:rPr sz="2600" spc="-2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 specified </a:t>
            </a:r>
            <a:r>
              <a:rPr sz="2600" spc="-5" dirty="0">
                <a:latin typeface="Perpetua"/>
                <a:cs typeface="Perpetua"/>
              </a:rPr>
              <a:t>requirements </a:t>
            </a:r>
            <a:r>
              <a:rPr sz="2600" dirty="0">
                <a:latin typeface="Perpetua"/>
                <a:cs typeface="Perpetua"/>
              </a:rPr>
              <a:t>in the same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45" dirty="0">
                <a:latin typeface="Perpetua"/>
                <a:cs typeface="Perpetua"/>
              </a:rPr>
              <a:t>way</a:t>
            </a:r>
            <a:endParaRPr sz="2600">
              <a:latin typeface="Perpetua"/>
              <a:cs typeface="Perpetua"/>
            </a:endParaRPr>
          </a:p>
          <a:p>
            <a:pPr marL="561340" marR="5080" lvl="1" indent="-229235">
              <a:lnSpc>
                <a:spcPct val="100000"/>
              </a:lnSpc>
              <a:spcBef>
                <a:spcPts val="409"/>
              </a:spcBef>
              <a:buSzPct val="84615"/>
              <a:buFont typeface="Wingdings"/>
              <a:buChar char=""/>
              <a:tabLst>
                <a:tab pos="56197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15" dirty="0">
                <a:latin typeface="Perpetua"/>
                <a:cs typeface="Perpetua"/>
              </a:rPr>
              <a:t>check </a:t>
            </a:r>
            <a:r>
              <a:rPr sz="2600" dirty="0">
                <a:latin typeface="Perpetua"/>
                <a:cs typeface="Perpetua"/>
              </a:rPr>
              <a:t>correctness, </a:t>
            </a:r>
            <a:r>
              <a:rPr sz="2600" i="1" spc="-5" dirty="0">
                <a:latin typeface="Perpetua"/>
                <a:cs typeface="Perpetua"/>
              </a:rPr>
              <a:t>functional </a:t>
            </a:r>
            <a:r>
              <a:rPr sz="2600" i="1" spc="-10" dirty="0">
                <a:latin typeface="Perpetua"/>
                <a:cs typeface="Perpetua"/>
              </a:rPr>
              <a:t>requirements </a:t>
            </a:r>
            <a:r>
              <a:rPr sz="2600" i="1" dirty="0">
                <a:latin typeface="Perpetua"/>
                <a:cs typeface="Perpetua"/>
              </a:rPr>
              <a:t>can </a:t>
            </a:r>
            <a:r>
              <a:rPr sz="2600" i="1" spc="-5" dirty="0">
                <a:latin typeface="Perpetua"/>
                <a:cs typeface="Perpetua"/>
              </a:rPr>
              <a:t>be </a:t>
            </a:r>
            <a:r>
              <a:rPr sz="2600" i="1" spc="-15" dirty="0">
                <a:latin typeface="Perpetua"/>
                <a:cs typeface="Perpetua"/>
              </a:rPr>
              <a:t>translated </a:t>
            </a:r>
            <a:r>
              <a:rPr sz="2600" i="1" spc="-5" dirty="0">
                <a:latin typeface="Perpetua"/>
                <a:cs typeface="Perpetua"/>
              </a:rPr>
              <a:t>into </a:t>
            </a:r>
            <a:r>
              <a:rPr sz="2600" i="1" dirty="0">
                <a:latin typeface="Perpetua"/>
                <a:cs typeface="Perpetua"/>
              </a:rPr>
              <a:t>a  </a:t>
            </a:r>
            <a:r>
              <a:rPr sz="2600" i="1" spc="-10" dirty="0">
                <a:latin typeface="Perpetua"/>
                <a:cs typeface="Perpetua"/>
              </a:rPr>
              <a:t>logical </a:t>
            </a:r>
            <a:r>
              <a:rPr sz="2600" i="1" spc="-5" dirty="0">
                <a:latin typeface="Perpetua"/>
                <a:cs typeface="Perpetua"/>
              </a:rPr>
              <a:t>proposition.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779598"/>
            <a:ext cx="12382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2679384"/>
            <a:ext cx="7842250" cy="310515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46505" marR="5080" indent="-302260" algn="just">
              <a:lnSpc>
                <a:spcPct val="106400"/>
              </a:lnSpc>
              <a:spcBef>
                <a:spcPts val="300"/>
              </a:spcBef>
            </a:pPr>
            <a:r>
              <a:rPr sz="2600" spc="-5" dirty="0">
                <a:latin typeface="Perpetua"/>
                <a:cs typeface="Perpetua"/>
              </a:rPr>
              <a:t>V2(pause)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expressed 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logical </a:t>
            </a:r>
            <a:r>
              <a:rPr sz="2600" spc="-5" dirty="0">
                <a:latin typeface="Perpetua"/>
                <a:cs typeface="Perpetua"/>
              </a:rPr>
              <a:t>expression as </a:t>
            </a:r>
            <a:r>
              <a:rPr sz="2600" spc="-15" dirty="0">
                <a:latin typeface="Perpetua"/>
                <a:cs typeface="Perpetua"/>
              </a:rPr>
              <a:t>follows </a:t>
            </a:r>
            <a:r>
              <a:rPr sz="2600" dirty="0">
                <a:latin typeface="Perpetua"/>
                <a:cs typeface="Perpetua"/>
              </a:rPr>
              <a:t>:  “</a:t>
            </a:r>
            <a:r>
              <a:rPr sz="2600" i="1" dirty="0">
                <a:latin typeface="Perpetua"/>
                <a:cs typeface="Perpetua"/>
              </a:rPr>
              <a:t>If </a:t>
            </a:r>
            <a:r>
              <a:rPr sz="2600" i="1" spc="-5" dirty="0">
                <a:latin typeface="Perpetua"/>
                <a:cs typeface="Perpetua"/>
              </a:rPr>
              <a:t>the video has </a:t>
            </a:r>
            <a:r>
              <a:rPr sz="2600" i="1" spc="-10" dirty="0">
                <a:latin typeface="Perpetua"/>
                <a:cs typeface="Perpetua"/>
              </a:rPr>
              <a:t>already </a:t>
            </a:r>
            <a:r>
              <a:rPr sz="2600" i="1" spc="-5" dirty="0">
                <a:latin typeface="Perpetua"/>
                <a:cs typeface="Perpetua"/>
              </a:rPr>
              <a:t>finished </a:t>
            </a:r>
            <a:r>
              <a:rPr sz="2600" i="1" spc="-15" dirty="0">
                <a:latin typeface="Perpetua"/>
                <a:cs typeface="Perpetua"/>
              </a:rPr>
              <a:t>playing, </a:t>
            </a:r>
            <a:r>
              <a:rPr sz="2600" i="1" spc="-5" dirty="0">
                <a:latin typeface="Perpetua"/>
                <a:cs typeface="Perpetua"/>
              </a:rPr>
              <a:t>then this </a:t>
            </a:r>
            <a:r>
              <a:rPr sz="2600" i="1" spc="-10" dirty="0">
                <a:latin typeface="Perpetua"/>
                <a:cs typeface="Perpetua"/>
              </a:rPr>
              <a:t>button</a:t>
            </a:r>
            <a:r>
              <a:rPr sz="2600" i="1" spc="-18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has  no</a:t>
            </a:r>
            <a:r>
              <a:rPr sz="2600" i="1" spc="-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effect</a:t>
            </a:r>
            <a:r>
              <a:rPr sz="2600" spc="-10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241300" indent="-228600" algn="just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Perpetua"/>
                <a:cs typeface="Perpetua"/>
              </a:rPr>
              <a:t>Symbolically </a:t>
            </a:r>
            <a:r>
              <a:rPr sz="2600" spc="-45" dirty="0">
                <a:latin typeface="Perpetua"/>
                <a:cs typeface="Perpetua"/>
              </a:rPr>
              <a:t>we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have,</a:t>
            </a:r>
            <a:endParaRPr sz="2600">
              <a:latin typeface="Perpetua"/>
              <a:cs typeface="Perpetua"/>
            </a:endParaRPr>
          </a:p>
          <a:p>
            <a:pPr marL="514984" lvl="1" indent="-229235">
              <a:lnSpc>
                <a:spcPct val="100000"/>
              </a:lnSpc>
              <a:spcBef>
                <a:spcPts val="400"/>
              </a:spcBef>
              <a:buSzPct val="78846"/>
              <a:buFont typeface="Arial"/>
              <a:buChar char="•"/>
              <a:tabLst>
                <a:tab pos="514984" algn="l"/>
                <a:tab pos="515620" algn="l"/>
                <a:tab pos="899160" algn="l"/>
              </a:tabLst>
            </a:pPr>
            <a:r>
              <a:rPr sz="2600" spc="-5" dirty="0">
                <a:latin typeface="Perpetua"/>
                <a:cs typeface="Perpetua"/>
              </a:rPr>
              <a:t>F:	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video </a:t>
            </a:r>
            <a:r>
              <a:rPr sz="2600" dirty="0">
                <a:latin typeface="Perpetua"/>
                <a:cs typeface="Perpetua"/>
              </a:rPr>
              <a:t>has finished</a:t>
            </a:r>
            <a:r>
              <a:rPr sz="2600" spc="-45" dirty="0">
                <a:latin typeface="Perpetua"/>
                <a:cs typeface="Perpetua"/>
              </a:rPr>
              <a:t> playing.</a:t>
            </a:r>
            <a:endParaRPr sz="2600">
              <a:latin typeface="Perpetua"/>
              <a:cs typeface="Perpetua"/>
            </a:endParaRPr>
          </a:p>
          <a:p>
            <a:pPr marL="514984" lvl="1" indent="-229235">
              <a:lnSpc>
                <a:spcPct val="100000"/>
              </a:lnSpc>
              <a:spcBef>
                <a:spcPts val="395"/>
              </a:spcBef>
              <a:buSzPct val="78846"/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2600" dirty="0">
                <a:latin typeface="Perpetua"/>
                <a:cs typeface="Perpetua"/>
              </a:rPr>
              <a:t>N : </a:t>
            </a:r>
            <a:r>
              <a:rPr sz="2600" spc="-5" dirty="0">
                <a:latin typeface="Perpetua"/>
                <a:cs typeface="Perpetua"/>
              </a:rPr>
              <a:t>no </a:t>
            </a:r>
            <a:r>
              <a:rPr sz="2600" spc="5" dirty="0">
                <a:latin typeface="Perpetua"/>
                <a:cs typeface="Perpetua"/>
              </a:rPr>
              <a:t>change </a:t>
            </a:r>
            <a:r>
              <a:rPr sz="2600" dirty="0">
                <a:latin typeface="Perpetua"/>
                <a:cs typeface="Perpetua"/>
              </a:rPr>
              <a:t>kind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action.</a:t>
            </a:r>
            <a:endParaRPr sz="2600">
              <a:latin typeface="Perpetua"/>
              <a:cs typeface="Perpetua"/>
            </a:endParaRPr>
          </a:p>
          <a:p>
            <a:pPr marL="514984" lvl="1" indent="-229235">
              <a:lnSpc>
                <a:spcPct val="100000"/>
              </a:lnSpc>
              <a:spcBef>
                <a:spcPts val="409"/>
              </a:spcBef>
              <a:buSzPct val="78846"/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2600" dirty="0">
                <a:latin typeface="Perpetua"/>
                <a:cs typeface="Perpetua"/>
              </a:rPr>
              <a:t>F implies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19200" y="2743200"/>
            <a:ext cx="553212" cy="448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469138"/>
            <a:ext cx="558736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Consistency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Wingdings"/>
              <a:buChar char=""/>
              <a:tabLst>
                <a:tab pos="286385" algn="l"/>
                <a:tab pos="287020" algn="l"/>
                <a:tab pos="3027680" algn="l"/>
              </a:tabLst>
            </a:pPr>
            <a:r>
              <a:rPr sz="2400" spc="-5" dirty="0">
                <a:latin typeface="Perpetua"/>
                <a:cs typeface="Perpetua"/>
              </a:rPr>
              <a:t>means </a:t>
            </a:r>
            <a:r>
              <a:rPr sz="2400" dirty="0">
                <a:latin typeface="Perpetua"/>
                <a:cs typeface="Perpetua"/>
              </a:rPr>
              <a:t>no </a:t>
            </a:r>
            <a:r>
              <a:rPr sz="2400" spc="-35" dirty="0">
                <a:latin typeface="Perpetua"/>
                <a:cs typeface="Perpetua"/>
              </a:rPr>
              <a:t>two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functions	contradict </a:t>
            </a:r>
            <a:r>
              <a:rPr sz="2200" spc="5" dirty="0">
                <a:latin typeface="Perpetua"/>
                <a:cs typeface="Perpetua"/>
              </a:rPr>
              <a:t>each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another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3809" y="2580259"/>
            <a:ext cx="729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Perpetua"/>
                <a:cs typeface="Perpetua"/>
              </a:rPr>
              <a:t>restarts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059" y="1549349"/>
            <a:ext cx="7065645" cy="2745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Consider adding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15" dirty="0">
                <a:latin typeface="Perpetua"/>
                <a:cs typeface="Perpetua"/>
              </a:rPr>
              <a:t>new </a:t>
            </a:r>
            <a:r>
              <a:rPr sz="2400" dirty="0">
                <a:latin typeface="Perpetua"/>
                <a:cs typeface="Perpetua"/>
              </a:rPr>
              <a:t>function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the video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app</a:t>
            </a:r>
            <a:endParaRPr sz="2400">
              <a:latin typeface="Perpetua"/>
              <a:cs typeface="Perpetua"/>
            </a:endParaRPr>
          </a:p>
          <a:p>
            <a:pPr marL="515620" indent="-229235">
              <a:lnSpc>
                <a:spcPts val="2710"/>
              </a:lnSpc>
              <a:buSzPct val="85416"/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2400" dirty="0">
                <a:latin typeface="Perpetua"/>
                <a:cs typeface="Perpetua"/>
              </a:rPr>
              <a:t>Let V5 be the </a:t>
            </a:r>
            <a:r>
              <a:rPr sz="2400" spc="-5" dirty="0">
                <a:latin typeface="Perpetua"/>
                <a:cs typeface="Perpetua"/>
              </a:rPr>
              <a:t>requirement to </a:t>
            </a:r>
            <a:r>
              <a:rPr sz="2400" spc="5" dirty="0">
                <a:latin typeface="Perpetua"/>
                <a:cs typeface="Perpetua"/>
              </a:rPr>
              <a:t>restart</a:t>
            </a:r>
            <a:r>
              <a:rPr sz="2400" spc="-3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video</a:t>
            </a:r>
            <a:endParaRPr sz="2400">
              <a:latin typeface="Perpetua"/>
              <a:cs typeface="Perpetua"/>
            </a:endParaRPr>
          </a:p>
          <a:p>
            <a:pPr marL="515620" indent="-229235">
              <a:lnSpc>
                <a:spcPts val="2705"/>
              </a:lnSpc>
              <a:buSzPct val="85416"/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2400" dirty="0">
                <a:latin typeface="Perpetua"/>
                <a:cs typeface="Perpetua"/>
              </a:rPr>
              <a:t>Its description is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:</a:t>
            </a:r>
            <a:endParaRPr sz="2400">
              <a:latin typeface="Perpetua"/>
              <a:cs typeface="Perpetua"/>
            </a:endParaRPr>
          </a:p>
          <a:p>
            <a:pPr marL="286385" marR="53340" indent="594360">
              <a:lnSpc>
                <a:spcPct val="80000"/>
              </a:lnSpc>
              <a:spcBef>
                <a:spcPts val="484"/>
              </a:spcBef>
            </a:pPr>
            <a:r>
              <a:rPr sz="2400" dirty="0">
                <a:latin typeface="Perpetua"/>
                <a:cs typeface="Perpetua"/>
              </a:rPr>
              <a:t>“</a:t>
            </a:r>
            <a:r>
              <a:rPr sz="2400" i="1" dirty="0">
                <a:latin typeface="Perpetua"/>
                <a:cs typeface="Perpetua"/>
              </a:rPr>
              <a:t>When the </a:t>
            </a:r>
            <a:r>
              <a:rPr sz="2400" i="1" spc="-5" dirty="0">
                <a:latin typeface="Perpetua"/>
                <a:cs typeface="Perpetua"/>
              </a:rPr>
              <a:t>video is </a:t>
            </a:r>
            <a:r>
              <a:rPr sz="2400" i="1" spc="-15" dirty="0">
                <a:latin typeface="Perpetua"/>
                <a:cs typeface="Perpetua"/>
              </a:rPr>
              <a:t>playing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-10" dirty="0">
                <a:latin typeface="Perpetua"/>
                <a:cs typeface="Perpetua"/>
              </a:rPr>
              <a:t>reaches </a:t>
            </a:r>
            <a:r>
              <a:rPr sz="2400" i="1" dirty="0">
                <a:latin typeface="Perpetua"/>
                <a:cs typeface="Perpetua"/>
              </a:rPr>
              <a:t>the end, </a:t>
            </a:r>
            <a:r>
              <a:rPr sz="2400" i="1" spc="-5" dirty="0">
                <a:latin typeface="Perpetua"/>
                <a:cs typeface="Perpetua"/>
              </a:rPr>
              <a:t>it</a:t>
            </a:r>
            <a:r>
              <a:rPr sz="2400" i="1" spc="-24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immediately  </a:t>
            </a:r>
            <a:r>
              <a:rPr sz="2400" i="1" spc="-15" dirty="0">
                <a:latin typeface="Perpetua"/>
                <a:cs typeface="Perpetua"/>
              </a:rPr>
              <a:t>playing </a:t>
            </a:r>
            <a:r>
              <a:rPr sz="2400" i="1" spc="-5" dirty="0">
                <a:latin typeface="Perpetua"/>
                <a:cs typeface="Perpetua"/>
              </a:rPr>
              <a:t>with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5" dirty="0">
                <a:latin typeface="Perpetua"/>
                <a:cs typeface="Perpetua"/>
              </a:rPr>
              <a:t>play/pause </a:t>
            </a:r>
            <a:r>
              <a:rPr sz="2400" i="1" spc="-5" dirty="0">
                <a:latin typeface="Perpetua"/>
                <a:cs typeface="Perpetua"/>
              </a:rPr>
              <a:t>button functioning as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20" dirty="0">
                <a:latin typeface="Perpetua"/>
                <a:cs typeface="Perpetua"/>
              </a:rPr>
              <a:t>play</a:t>
            </a:r>
            <a:r>
              <a:rPr sz="2400" i="1" spc="30" dirty="0">
                <a:latin typeface="Perpetua"/>
                <a:cs typeface="Perpetua"/>
              </a:rPr>
              <a:t> </a:t>
            </a:r>
            <a:r>
              <a:rPr sz="2400" i="1" spc="-30" dirty="0">
                <a:latin typeface="Perpetua"/>
                <a:cs typeface="Perpetua"/>
              </a:rPr>
              <a:t>button</a:t>
            </a:r>
            <a:r>
              <a:rPr sz="2400" spc="-30" dirty="0">
                <a:latin typeface="Perpetua"/>
                <a:cs typeface="Perpetua"/>
              </a:rPr>
              <a:t>.”</a:t>
            </a:r>
            <a:endParaRPr sz="2400">
              <a:latin typeface="Perpetua"/>
              <a:cs typeface="Perpetua"/>
            </a:endParaRPr>
          </a:p>
          <a:p>
            <a:pPr marL="515620" indent="-229235">
              <a:lnSpc>
                <a:spcPts val="2700"/>
              </a:lnSpc>
              <a:buSzPct val="85416"/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2400" dirty="0">
                <a:latin typeface="Perpetua"/>
                <a:cs typeface="Perpetua"/>
              </a:rPr>
              <a:t>Does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this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contradict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with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any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requirements</a:t>
            </a:r>
            <a:r>
              <a:rPr sz="2400" spc="-3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V1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-30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V4?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789940" lvl="1" indent="-229235">
              <a:lnSpc>
                <a:spcPct val="100000"/>
              </a:lnSpc>
              <a:buSzPct val="85416"/>
              <a:buFont typeface="Arial"/>
              <a:buChar char="•"/>
              <a:tabLst>
                <a:tab pos="789940" algn="l"/>
                <a:tab pos="790575" algn="l"/>
                <a:tab pos="5214620" algn="l"/>
              </a:tabLst>
            </a:pPr>
            <a:r>
              <a:rPr sz="2400" spc="-65" dirty="0">
                <a:latin typeface="Perpetua"/>
                <a:cs typeface="Perpetua"/>
              </a:rPr>
              <a:t>Yes, </a:t>
            </a:r>
            <a:r>
              <a:rPr sz="2400" dirty="0">
                <a:latin typeface="Perpetua"/>
                <a:cs typeface="Perpetua"/>
              </a:rPr>
              <a:t>this </a:t>
            </a:r>
            <a:r>
              <a:rPr sz="2400" spc="-20" dirty="0">
                <a:latin typeface="Perpetua"/>
                <a:cs typeface="Perpetua"/>
              </a:rPr>
              <a:t>would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contradict</a:t>
            </a:r>
            <a:r>
              <a:rPr sz="2400" spc="23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V1(play)	</a:t>
            </a:r>
            <a:r>
              <a:rPr sz="2400" spc="-5" dirty="0">
                <a:latin typeface="Perpetua"/>
                <a:cs typeface="Perpetua"/>
              </a:rPr>
              <a:t>specification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4591050"/>
            <a:ext cx="7935595" cy="16624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675"/>
              </a:spcBef>
              <a:buSzPct val="85416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400" dirty="0">
                <a:latin typeface="Perpetua"/>
                <a:cs typeface="Perpetua"/>
              </a:rPr>
              <a:t>V1 </a:t>
            </a:r>
            <a:r>
              <a:rPr sz="2400" spc="-5" dirty="0">
                <a:latin typeface="Perpetua"/>
                <a:cs typeface="Perpetua"/>
              </a:rPr>
              <a:t>states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i="1" dirty="0">
                <a:latin typeface="Perpetua"/>
                <a:cs typeface="Perpetua"/>
              </a:rPr>
              <a:t>, the </a:t>
            </a:r>
            <a:r>
              <a:rPr sz="2400" i="1" spc="-15" dirty="0">
                <a:latin typeface="Perpetua"/>
                <a:cs typeface="Perpetua"/>
              </a:rPr>
              <a:t>play/pause </a:t>
            </a:r>
            <a:r>
              <a:rPr sz="2400" i="1" spc="-5" dirty="0">
                <a:latin typeface="Perpetua"/>
                <a:cs typeface="Perpetua"/>
              </a:rPr>
              <a:t>button </a:t>
            </a:r>
            <a:r>
              <a:rPr sz="2400" i="1" dirty="0">
                <a:latin typeface="Perpetua"/>
                <a:cs typeface="Perpetua"/>
              </a:rPr>
              <a:t>should </a:t>
            </a:r>
            <a:r>
              <a:rPr sz="2400" i="1" spc="-5" dirty="0">
                <a:latin typeface="Perpetua"/>
                <a:cs typeface="Perpetua"/>
              </a:rPr>
              <a:t>function as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pause button  </a:t>
            </a:r>
            <a:r>
              <a:rPr sz="2400" i="1" spc="-15" dirty="0">
                <a:latin typeface="Perpetua"/>
                <a:cs typeface="Perpetua"/>
              </a:rPr>
              <a:t>when </a:t>
            </a:r>
            <a:r>
              <a:rPr sz="2400" i="1" spc="-5" dirty="0">
                <a:latin typeface="Perpetua"/>
                <a:cs typeface="Perpetua"/>
              </a:rPr>
              <a:t>videos </a:t>
            </a:r>
            <a:r>
              <a:rPr sz="2400" i="1" spc="-10" dirty="0">
                <a:latin typeface="Perpetua"/>
                <a:cs typeface="Perpetua"/>
              </a:rPr>
              <a:t>are</a:t>
            </a:r>
            <a:r>
              <a:rPr sz="2400" i="1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playing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150">
              <a:latin typeface="Times New Roman"/>
              <a:cs typeface="Times New Roman"/>
            </a:endParaRPr>
          </a:p>
          <a:p>
            <a:pPr marL="241300" indent="-228600">
              <a:lnSpc>
                <a:spcPts val="2595"/>
              </a:lnSpc>
              <a:buSzPct val="85416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400" spc="-5" dirty="0">
                <a:latin typeface="Perpetua"/>
                <a:cs typeface="Perpetua"/>
              </a:rPr>
              <a:t>Whereas</a:t>
            </a:r>
            <a:r>
              <a:rPr sz="2400" spc="28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V5</a:t>
            </a:r>
            <a:r>
              <a:rPr sz="2400" spc="27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states</a:t>
            </a:r>
            <a:r>
              <a:rPr sz="2400" spc="30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</a:t>
            </a:r>
            <a:r>
              <a:rPr sz="2400" spc="28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27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play/pause</a:t>
            </a:r>
            <a:r>
              <a:rPr sz="2400" i="1" spc="29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button</a:t>
            </a:r>
            <a:r>
              <a:rPr sz="2400" i="1" spc="28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should</a:t>
            </a:r>
            <a:r>
              <a:rPr sz="2400" i="1" spc="28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function</a:t>
            </a:r>
            <a:r>
              <a:rPr sz="2400" i="1" spc="28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as</a:t>
            </a:r>
            <a:r>
              <a:rPr sz="2400" i="1" spc="29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</a:t>
            </a:r>
            <a:r>
              <a:rPr sz="2400" i="1" spc="285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play</a:t>
            </a:r>
            <a:endParaRPr sz="2400">
              <a:latin typeface="Perpetua"/>
              <a:cs typeface="Perpetua"/>
            </a:endParaRPr>
          </a:p>
          <a:p>
            <a:pPr marL="241300">
              <a:lnSpc>
                <a:spcPts val="2595"/>
              </a:lnSpc>
            </a:pPr>
            <a:r>
              <a:rPr sz="2400" i="1" spc="-5" dirty="0">
                <a:latin typeface="Perpetua"/>
                <a:cs typeface="Perpetua"/>
              </a:rPr>
              <a:t>button </a:t>
            </a:r>
            <a:r>
              <a:rPr sz="2400" i="1" spc="-15" dirty="0">
                <a:latin typeface="Perpetua"/>
                <a:cs typeface="Perpetua"/>
              </a:rPr>
              <a:t>when </a:t>
            </a:r>
            <a:r>
              <a:rPr sz="2400" i="1" spc="-5" dirty="0">
                <a:latin typeface="Perpetua"/>
                <a:cs typeface="Perpetua"/>
              </a:rPr>
              <a:t>videos </a:t>
            </a:r>
            <a:r>
              <a:rPr sz="2400" i="1" spc="-10" dirty="0">
                <a:latin typeface="Perpetua"/>
                <a:cs typeface="Perpetua"/>
              </a:rPr>
              <a:t>are</a:t>
            </a:r>
            <a:r>
              <a:rPr sz="2400" i="1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playing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29200" y="3962400"/>
            <a:ext cx="417575" cy="38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45947"/>
            <a:ext cx="8532495" cy="518668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Completeness</a:t>
            </a:r>
            <a:endParaRPr sz="2600">
              <a:latin typeface="Perpetua"/>
              <a:cs typeface="Perpetua"/>
            </a:endParaRPr>
          </a:p>
          <a:p>
            <a:pPr marL="561340" marR="7620" indent="-228600" algn="just">
              <a:lnSpc>
                <a:spcPct val="100000"/>
              </a:lnSpc>
              <a:spcBef>
                <a:spcPts val="395"/>
              </a:spcBef>
              <a:buSzPct val="84615"/>
              <a:buFont typeface="Wingdings"/>
              <a:buChar char=""/>
              <a:tabLst>
                <a:tab pos="561340" algn="l"/>
              </a:tabLst>
            </a:pPr>
            <a:r>
              <a:rPr sz="2600" spc="-10" dirty="0">
                <a:latin typeface="Perpetua"/>
                <a:cs typeface="Perpetua"/>
              </a:rPr>
              <a:t>takes </a:t>
            </a:r>
            <a:r>
              <a:rPr sz="2600" spc="-5" dirty="0">
                <a:latin typeface="Perpetua"/>
                <a:cs typeface="Perpetua"/>
              </a:rPr>
              <a:t>careful consideration to be </a:t>
            </a:r>
            <a:r>
              <a:rPr sz="2600" spc="10" dirty="0">
                <a:latin typeface="Perpetua"/>
                <a:cs typeface="Perpetua"/>
              </a:rPr>
              <a:t>certain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every  </a:t>
            </a:r>
            <a:r>
              <a:rPr sz="2600" spc="-10" dirty="0">
                <a:latin typeface="Perpetua"/>
                <a:cs typeface="Perpetua"/>
              </a:rPr>
              <a:t>possible  </a:t>
            </a:r>
            <a:r>
              <a:rPr sz="2600" spc="5" dirty="0">
                <a:latin typeface="Perpetua"/>
                <a:cs typeface="Perpetua"/>
              </a:rPr>
              <a:t>scenario </a:t>
            </a:r>
            <a:r>
              <a:rPr sz="2600" dirty="0">
                <a:latin typeface="Perpetua"/>
                <a:cs typeface="Perpetua"/>
              </a:rPr>
              <a:t>has been </a:t>
            </a:r>
            <a:r>
              <a:rPr sz="2600" spc="-5" dirty="0">
                <a:latin typeface="Perpetua"/>
                <a:cs typeface="Perpetua"/>
              </a:rPr>
              <a:t>considered and explained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one or </a:t>
            </a:r>
            <a:r>
              <a:rPr sz="2600" spc="-10" dirty="0">
                <a:latin typeface="Perpetua"/>
                <a:cs typeface="Perpetua"/>
              </a:rPr>
              <a:t>more  </a:t>
            </a:r>
            <a:r>
              <a:rPr sz="2600" spc="-5" dirty="0">
                <a:latin typeface="Perpetua"/>
                <a:cs typeface="Perpetua"/>
              </a:rPr>
              <a:t>requirement(s)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7020" indent="-274320" algn="just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spc="-30" dirty="0">
                <a:latin typeface="Perpetua"/>
                <a:cs typeface="Perpetua"/>
              </a:rPr>
              <a:t>ways </a:t>
            </a:r>
            <a:r>
              <a:rPr sz="2600" spc="-1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ensure completeness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:</a:t>
            </a:r>
            <a:endParaRPr sz="2600">
              <a:latin typeface="Perpetua"/>
              <a:cs typeface="Perpetua"/>
            </a:endParaRPr>
          </a:p>
          <a:p>
            <a:pPr marL="1122045" lvl="1" indent="-515620" algn="just">
              <a:lnSpc>
                <a:spcPct val="100000"/>
              </a:lnSpc>
              <a:spcBef>
                <a:spcPts val="409"/>
              </a:spcBef>
              <a:buSzPct val="84615"/>
              <a:buAutoNum type="arabicPeriod"/>
              <a:tabLst>
                <a:tab pos="1122680" algn="l"/>
              </a:tabLst>
            </a:pPr>
            <a:r>
              <a:rPr sz="2600" spc="-10" dirty="0">
                <a:latin typeface="Perpetua"/>
                <a:cs typeface="Perpetua"/>
              </a:rPr>
              <a:t>Manually </a:t>
            </a:r>
            <a:r>
              <a:rPr sz="2600" spc="15" dirty="0">
                <a:latin typeface="Perpetua"/>
                <a:cs typeface="Perpetua"/>
              </a:rPr>
              <a:t>check </a:t>
            </a:r>
            <a:r>
              <a:rPr sz="2600" spc="-5" dirty="0">
                <a:latin typeface="Perpetua"/>
                <a:cs typeface="Perpetua"/>
              </a:rPr>
              <a:t>and add functions </a:t>
            </a:r>
            <a:r>
              <a:rPr sz="2600" dirty="0">
                <a:latin typeface="Perpetua"/>
                <a:cs typeface="Perpetua"/>
              </a:rPr>
              <a:t>if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required</a:t>
            </a:r>
            <a:endParaRPr sz="2600">
              <a:latin typeface="Perpetua"/>
              <a:cs typeface="Perpetua"/>
            </a:endParaRPr>
          </a:p>
          <a:p>
            <a:pPr marL="1122045" marR="423545" lvl="1" indent="-515620" algn="just">
              <a:lnSpc>
                <a:spcPct val="100000"/>
              </a:lnSpc>
              <a:spcBef>
                <a:spcPts val="395"/>
              </a:spcBef>
              <a:buSzPct val="84615"/>
              <a:buAutoNum type="arabicPeriod"/>
              <a:tabLst>
                <a:tab pos="112268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rather </a:t>
            </a:r>
            <a:r>
              <a:rPr sz="2600" spc="5" dirty="0">
                <a:latin typeface="Perpetua"/>
                <a:cs typeface="Perpetua"/>
              </a:rPr>
              <a:t>formal </a:t>
            </a:r>
            <a:r>
              <a:rPr sz="2600" spc="-40" dirty="0">
                <a:latin typeface="Perpetua"/>
                <a:cs typeface="Perpetua"/>
              </a:rPr>
              <a:t>way </a:t>
            </a:r>
            <a:r>
              <a:rPr sz="2600" dirty="0">
                <a:latin typeface="Perpetua"/>
                <a:cs typeface="Perpetua"/>
              </a:rPr>
              <a:t>is to </a:t>
            </a:r>
            <a:r>
              <a:rPr sz="2600" spc="15" dirty="0">
                <a:latin typeface="Perpetua"/>
                <a:cs typeface="Perpetua"/>
              </a:rPr>
              <a:t>check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10" dirty="0">
                <a:latin typeface="Perpetua"/>
                <a:cs typeface="Perpetua"/>
              </a:rPr>
              <a:t>possible </a:t>
            </a:r>
            <a:r>
              <a:rPr sz="2600" spc="-5" dirty="0">
                <a:latin typeface="Perpetua"/>
                <a:cs typeface="Perpetua"/>
              </a:rPr>
              <a:t>combination </a:t>
            </a:r>
            <a:r>
              <a:rPr sz="2600" dirty="0">
                <a:latin typeface="Perpetua"/>
                <a:cs typeface="Perpetua"/>
              </a:rPr>
              <a:t>of  </a:t>
            </a:r>
            <a:r>
              <a:rPr sz="2600" spc="-5" dirty="0">
                <a:latin typeface="Perpetua"/>
                <a:cs typeface="Perpetua"/>
              </a:rPr>
              <a:t>situations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constructing </a:t>
            </a:r>
            <a:r>
              <a:rPr sz="2600" b="1" i="1" spc="-5" dirty="0">
                <a:solidFill>
                  <a:srgbClr val="00AF50"/>
                </a:solidFill>
                <a:latin typeface="Perpetua"/>
                <a:cs typeface="Perpetua"/>
              </a:rPr>
              <a:t>State-activity </a:t>
            </a:r>
            <a:r>
              <a:rPr sz="2600" b="1" i="1" spc="-20" dirty="0">
                <a:solidFill>
                  <a:srgbClr val="00AF50"/>
                </a:solidFill>
                <a:latin typeface="Perpetua"/>
                <a:cs typeface="Perpetua"/>
              </a:rPr>
              <a:t>table</a:t>
            </a:r>
            <a:endParaRPr sz="2600">
              <a:latin typeface="Perpetua"/>
              <a:cs typeface="Perpetua"/>
            </a:endParaRPr>
          </a:p>
          <a:p>
            <a:pPr marL="1384300" marR="5080" lvl="2" indent="-228600" algn="just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1459230" algn="l"/>
              </a:tabLst>
            </a:pPr>
            <a:r>
              <a:rPr dirty="0"/>
              <a:t>	</a:t>
            </a: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complete </a:t>
            </a:r>
            <a:r>
              <a:rPr sz="2600" dirty="0">
                <a:latin typeface="Perpetua"/>
                <a:cs typeface="Perpetua"/>
              </a:rPr>
              <a:t>set </a:t>
            </a:r>
            <a:r>
              <a:rPr sz="2600" spc="-5" dirty="0">
                <a:latin typeface="Perpetua"/>
                <a:cs typeface="Perpetua"/>
              </a:rPr>
              <a:t>of functional requirements,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state  </a:t>
            </a:r>
            <a:r>
              <a:rPr sz="2600" dirty="0">
                <a:latin typeface="Perpetua"/>
                <a:cs typeface="Perpetua"/>
              </a:rPr>
              <a:t>activity </a:t>
            </a:r>
            <a:r>
              <a:rPr sz="2600" spc="-10" dirty="0">
                <a:latin typeface="Perpetua"/>
                <a:cs typeface="Perpetua"/>
              </a:rPr>
              <a:t>table </a:t>
            </a:r>
            <a:r>
              <a:rPr sz="2600" spc="-5" dirty="0">
                <a:latin typeface="Perpetua"/>
                <a:cs typeface="Perpetua"/>
              </a:rPr>
              <a:t>contains requirements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dirty="0">
                <a:latin typeface="Perpetua"/>
                <a:cs typeface="Perpetua"/>
              </a:rPr>
              <a:t>cell </a:t>
            </a:r>
            <a:r>
              <a:rPr sz="2600" spc="-5" dirty="0">
                <a:latin typeface="Perpetua"/>
                <a:cs typeface="Perpetua"/>
              </a:rPr>
              <a:t>except  those </a:t>
            </a:r>
            <a:r>
              <a:rPr sz="2600" spc="-10" dirty="0">
                <a:latin typeface="Perpetua"/>
                <a:cs typeface="Perpetua"/>
              </a:rPr>
              <a:t>that are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impossible.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5187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65" dirty="0">
                <a:solidFill>
                  <a:srgbClr val="000000"/>
                </a:solidFill>
                <a:latin typeface="Perpetua"/>
                <a:cs typeface="Perpetua"/>
              </a:rPr>
              <a:t>Template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for </a:t>
            </a:r>
            <a:r>
              <a:rPr i="0" spc="-10" dirty="0">
                <a:solidFill>
                  <a:srgbClr val="000000"/>
                </a:solidFill>
                <a:latin typeface="Perpetua"/>
                <a:cs typeface="Perpetua"/>
              </a:rPr>
              <a:t>state </a:t>
            </a:r>
            <a:r>
              <a:rPr i="0" spc="-5" dirty="0">
                <a:solidFill>
                  <a:srgbClr val="000000"/>
                </a:solidFill>
                <a:latin typeface="Perpetua"/>
                <a:cs typeface="Perpetua"/>
              </a:rPr>
              <a:t>activity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spc="-15" dirty="0">
                <a:solidFill>
                  <a:srgbClr val="000000"/>
                </a:solidFill>
                <a:latin typeface="Perpetua"/>
                <a:cs typeface="Perpetua"/>
              </a:rPr>
              <a:t>table</a:t>
            </a:r>
          </a:p>
        </p:txBody>
      </p:sp>
      <p:sp>
        <p:nvSpPr>
          <p:cNvPr id="3" name="object 3"/>
          <p:cNvSpPr/>
          <p:nvPr/>
        </p:nvSpPr>
        <p:spPr>
          <a:xfrm>
            <a:off x="495300" y="134505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4925" y="134505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14550" y="134505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24175" y="134505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33800" y="134505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43425" y="134505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53050" y="134505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62675" y="134505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5300" y="176352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4925" y="176352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14550" y="176352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24175" y="176352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33800" y="176352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43425" y="176352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53050" y="176352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62675" y="176352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5300" y="218198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04925" y="218198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14550" y="218198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24175" y="218198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33800" y="218198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43425" y="218198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353050" y="218198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62675" y="218198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5300" y="260045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04925" y="260045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14550" y="260045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24175" y="260045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733800" y="260045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43425" y="260045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53050" y="260045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62675" y="260045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5300" y="301891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04925" y="301891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14550" y="301891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24175" y="301891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733800" y="301891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43425" y="301891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353050" y="301891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162675" y="3018917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95300" y="343738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304925" y="343738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14550" y="343738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924175" y="343738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733800" y="343738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543425" y="343738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353050" y="343738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162675" y="3437382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95300" y="385584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304925" y="385584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114550" y="385584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24175" y="385584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33800" y="385584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543425" y="385584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353050" y="385584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162675" y="3855846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95300" y="427431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304925" y="427431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114550" y="427431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924175" y="427431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733800" y="427431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543425" y="427431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53050" y="427431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162675" y="4274311"/>
            <a:ext cx="809625" cy="418465"/>
          </a:xfrm>
          <a:custGeom>
            <a:avLst/>
            <a:gdLst/>
            <a:ahLst/>
            <a:cxnLst/>
            <a:rect l="l" t="t" r="r" b="b"/>
            <a:pathLst>
              <a:path w="809625" h="418464">
                <a:moveTo>
                  <a:pt x="0" y="418464"/>
                </a:moveTo>
                <a:lnTo>
                  <a:pt x="809625" y="418464"/>
                </a:lnTo>
                <a:lnTo>
                  <a:pt x="809625" y="0"/>
                </a:lnTo>
                <a:lnTo>
                  <a:pt x="0" y="0"/>
                </a:lnTo>
                <a:lnTo>
                  <a:pt x="0" y="418464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304925" y="1338707"/>
            <a:ext cx="0" cy="3360420"/>
          </a:xfrm>
          <a:custGeom>
            <a:avLst/>
            <a:gdLst/>
            <a:ahLst/>
            <a:cxnLst/>
            <a:rect l="l" t="t" r="r" b="b"/>
            <a:pathLst>
              <a:path h="3360420">
                <a:moveTo>
                  <a:pt x="0" y="0"/>
                </a:moveTo>
                <a:lnTo>
                  <a:pt x="0" y="33604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114550" y="1338707"/>
            <a:ext cx="0" cy="3360420"/>
          </a:xfrm>
          <a:custGeom>
            <a:avLst/>
            <a:gdLst/>
            <a:ahLst/>
            <a:cxnLst/>
            <a:rect l="l" t="t" r="r" b="b"/>
            <a:pathLst>
              <a:path h="3360420">
                <a:moveTo>
                  <a:pt x="0" y="0"/>
                </a:moveTo>
                <a:lnTo>
                  <a:pt x="0" y="33604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924175" y="1338707"/>
            <a:ext cx="0" cy="3360420"/>
          </a:xfrm>
          <a:custGeom>
            <a:avLst/>
            <a:gdLst/>
            <a:ahLst/>
            <a:cxnLst/>
            <a:rect l="l" t="t" r="r" b="b"/>
            <a:pathLst>
              <a:path h="3360420">
                <a:moveTo>
                  <a:pt x="0" y="0"/>
                </a:moveTo>
                <a:lnTo>
                  <a:pt x="0" y="33604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733800" y="1338707"/>
            <a:ext cx="0" cy="3360420"/>
          </a:xfrm>
          <a:custGeom>
            <a:avLst/>
            <a:gdLst/>
            <a:ahLst/>
            <a:cxnLst/>
            <a:rect l="l" t="t" r="r" b="b"/>
            <a:pathLst>
              <a:path h="3360420">
                <a:moveTo>
                  <a:pt x="0" y="0"/>
                </a:moveTo>
                <a:lnTo>
                  <a:pt x="0" y="33604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543425" y="1338707"/>
            <a:ext cx="0" cy="3360420"/>
          </a:xfrm>
          <a:custGeom>
            <a:avLst/>
            <a:gdLst/>
            <a:ahLst/>
            <a:cxnLst/>
            <a:rect l="l" t="t" r="r" b="b"/>
            <a:pathLst>
              <a:path h="3360420">
                <a:moveTo>
                  <a:pt x="0" y="0"/>
                </a:moveTo>
                <a:lnTo>
                  <a:pt x="0" y="33604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353050" y="1338707"/>
            <a:ext cx="0" cy="3360420"/>
          </a:xfrm>
          <a:custGeom>
            <a:avLst/>
            <a:gdLst/>
            <a:ahLst/>
            <a:cxnLst/>
            <a:rect l="l" t="t" r="r" b="b"/>
            <a:pathLst>
              <a:path h="3360420">
                <a:moveTo>
                  <a:pt x="0" y="0"/>
                </a:moveTo>
                <a:lnTo>
                  <a:pt x="0" y="33604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162675" y="1338707"/>
            <a:ext cx="0" cy="3360420"/>
          </a:xfrm>
          <a:custGeom>
            <a:avLst/>
            <a:gdLst/>
            <a:ahLst/>
            <a:cxnLst/>
            <a:rect l="l" t="t" r="r" b="b"/>
            <a:pathLst>
              <a:path h="3360420">
                <a:moveTo>
                  <a:pt x="0" y="0"/>
                </a:moveTo>
                <a:lnTo>
                  <a:pt x="0" y="33604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8950" y="1763522"/>
            <a:ext cx="6489700" cy="0"/>
          </a:xfrm>
          <a:custGeom>
            <a:avLst/>
            <a:gdLst/>
            <a:ahLst/>
            <a:cxnLst/>
            <a:rect l="l" t="t" r="r" b="b"/>
            <a:pathLst>
              <a:path w="6489700">
                <a:moveTo>
                  <a:pt x="0" y="0"/>
                </a:moveTo>
                <a:lnTo>
                  <a:pt x="64897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88950" y="2181986"/>
            <a:ext cx="6489700" cy="0"/>
          </a:xfrm>
          <a:custGeom>
            <a:avLst/>
            <a:gdLst/>
            <a:ahLst/>
            <a:cxnLst/>
            <a:rect l="l" t="t" r="r" b="b"/>
            <a:pathLst>
              <a:path w="6489700">
                <a:moveTo>
                  <a:pt x="0" y="0"/>
                </a:moveTo>
                <a:lnTo>
                  <a:pt x="64897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88950" y="2600451"/>
            <a:ext cx="6489700" cy="0"/>
          </a:xfrm>
          <a:custGeom>
            <a:avLst/>
            <a:gdLst/>
            <a:ahLst/>
            <a:cxnLst/>
            <a:rect l="l" t="t" r="r" b="b"/>
            <a:pathLst>
              <a:path w="6489700">
                <a:moveTo>
                  <a:pt x="0" y="0"/>
                </a:moveTo>
                <a:lnTo>
                  <a:pt x="64897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8950" y="3018917"/>
            <a:ext cx="6489700" cy="0"/>
          </a:xfrm>
          <a:custGeom>
            <a:avLst/>
            <a:gdLst/>
            <a:ahLst/>
            <a:cxnLst/>
            <a:rect l="l" t="t" r="r" b="b"/>
            <a:pathLst>
              <a:path w="6489700">
                <a:moveTo>
                  <a:pt x="0" y="0"/>
                </a:moveTo>
                <a:lnTo>
                  <a:pt x="64897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8950" y="3437382"/>
            <a:ext cx="6489700" cy="0"/>
          </a:xfrm>
          <a:custGeom>
            <a:avLst/>
            <a:gdLst/>
            <a:ahLst/>
            <a:cxnLst/>
            <a:rect l="l" t="t" r="r" b="b"/>
            <a:pathLst>
              <a:path w="6489700">
                <a:moveTo>
                  <a:pt x="0" y="0"/>
                </a:moveTo>
                <a:lnTo>
                  <a:pt x="64897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88950" y="3855846"/>
            <a:ext cx="6489700" cy="0"/>
          </a:xfrm>
          <a:custGeom>
            <a:avLst/>
            <a:gdLst/>
            <a:ahLst/>
            <a:cxnLst/>
            <a:rect l="l" t="t" r="r" b="b"/>
            <a:pathLst>
              <a:path w="6489700">
                <a:moveTo>
                  <a:pt x="0" y="0"/>
                </a:moveTo>
                <a:lnTo>
                  <a:pt x="64897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88950" y="4274311"/>
            <a:ext cx="6489700" cy="0"/>
          </a:xfrm>
          <a:custGeom>
            <a:avLst/>
            <a:gdLst/>
            <a:ahLst/>
            <a:cxnLst/>
            <a:rect l="l" t="t" r="r" b="b"/>
            <a:pathLst>
              <a:path w="6489700">
                <a:moveTo>
                  <a:pt x="0" y="0"/>
                </a:moveTo>
                <a:lnTo>
                  <a:pt x="64897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95300" y="1338707"/>
            <a:ext cx="0" cy="3360420"/>
          </a:xfrm>
          <a:custGeom>
            <a:avLst/>
            <a:gdLst/>
            <a:ahLst/>
            <a:cxnLst/>
            <a:rect l="l" t="t" r="r" b="b"/>
            <a:pathLst>
              <a:path h="3360420">
                <a:moveTo>
                  <a:pt x="0" y="0"/>
                </a:moveTo>
                <a:lnTo>
                  <a:pt x="0" y="33604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972300" y="1338707"/>
            <a:ext cx="0" cy="3360420"/>
          </a:xfrm>
          <a:custGeom>
            <a:avLst/>
            <a:gdLst/>
            <a:ahLst/>
            <a:cxnLst/>
            <a:rect l="l" t="t" r="r" b="b"/>
            <a:pathLst>
              <a:path h="3360420">
                <a:moveTo>
                  <a:pt x="0" y="0"/>
                </a:moveTo>
                <a:lnTo>
                  <a:pt x="0" y="33604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88950" y="1345057"/>
            <a:ext cx="6489700" cy="0"/>
          </a:xfrm>
          <a:custGeom>
            <a:avLst/>
            <a:gdLst/>
            <a:ahLst/>
            <a:cxnLst/>
            <a:rect l="l" t="t" r="r" b="b"/>
            <a:pathLst>
              <a:path w="6489700">
                <a:moveTo>
                  <a:pt x="0" y="0"/>
                </a:moveTo>
                <a:lnTo>
                  <a:pt x="64897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88950" y="4692777"/>
            <a:ext cx="6489700" cy="0"/>
          </a:xfrm>
          <a:custGeom>
            <a:avLst/>
            <a:gdLst/>
            <a:ahLst/>
            <a:cxnLst/>
            <a:rect l="l" t="t" r="r" b="b"/>
            <a:pathLst>
              <a:path w="6489700">
                <a:moveTo>
                  <a:pt x="0" y="0"/>
                </a:moveTo>
                <a:lnTo>
                  <a:pt x="64897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27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914247" y="1443227"/>
            <a:ext cx="6554470" cy="318770"/>
          </a:xfrm>
          <a:custGeom>
            <a:avLst/>
            <a:gdLst/>
            <a:ahLst/>
            <a:cxnLst/>
            <a:rect l="l" t="t" r="r" b="b"/>
            <a:pathLst>
              <a:path w="6554470" h="318769">
                <a:moveTo>
                  <a:pt x="6241440" y="3048"/>
                </a:moveTo>
                <a:lnTo>
                  <a:pt x="6239619" y="108180"/>
                </a:lnTo>
                <a:lnTo>
                  <a:pt x="6292240" y="109093"/>
                </a:lnTo>
                <a:lnTo>
                  <a:pt x="6290335" y="214249"/>
                </a:lnTo>
                <a:lnTo>
                  <a:pt x="6237782" y="214249"/>
                </a:lnTo>
                <a:lnTo>
                  <a:pt x="6235979" y="318388"/>
                </a:lnTo>
                <a:lnTo>
                  <a:pt x="6453734" y="214249"/>
                </a:lnTo>
                <a:lnTo>
                  <a:pt x="6290335" y="214249"/>
                </a:lnTo>
                <a:lnTo>
                  <a:pt x="6237798" y="213337"/>
                </a:lnTo>
                <a:lnTo>
                  <a:pt x="6455639" y="213337"/>
                </a:lnTo>
                <a:lnTo>
                  <a:pt x="6554114" y="166243"/>
                </a:lnTo>
                <a:lnTo>
                  <a:pt x="6241440" y="3048"/>
                </a:lnTo>
                <a:close/>
              </a:path>
              <a:path w="6554470" h="318769">
                <a:moveTo>
                  <a:pt x="6239619" y="108180"/>
                </a:moveTo>
                <a:lnTo>
                  <a:pt x="6237798" y="213337"/>
                </a:lnTo>
                <a:lnTo>
                  <a:pt x="6290335" y="214249"/>
                </a:lnTo>
                <a:lnTo>
                  <a:pt x="6292240" y="109093"/>
                </a:lnTo>
                <a:lnTo>
                  <a:pt x="6239619" y="108180"/>
                </a:lnTo>
                <a:close/>
              </a:path>
              <a:path w="6554470" h="318769">
                <a:moveTo>
                  <a:pt x="1828" y="0"/>
                </a:moveTo>
                <a:lnTo>
                  <a:pt x="0" y="105156"/>
                </a:lnTo>
                <a:lnTo>
                  <a:pt x="6237798" y="213337"/>
                </a:lnTo>
                <a:lnTo>
                  <a:pt x="6239619" y="108180"/>
                </a:lnTo>
                <a:lnTo>
                  <a:pt x="182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63612" y="1906777"/>
            <a:ext cx="297180" cy="3352165"/>
          </a:xfrm>
          <a:custGeom>
            <a:avLst/>
            <a:gdLst/>
            <a:ahLst/>
            <a:cxnLst/>
            <a:rect l="l" t="t" r="r" b="b"/>
            <a:pathLst>
              <a:path w="297180" h="3352165">
                <a:moveTo>
                  <a:pt x="99058" y="3055196"/>
                </a:moveTo>
                <a:lnTo>
                  <a:pt x="0" y="3056128"/>
                </a:lnTo>
                <a:lnTo>
                  <a:pt x="151409" y="3351911"/>
                </a:lnTo>
                <a:lnTo>
                  <a:pt x="272058" y="3104769"/>
                </a:lnTo>
                <a:lnTo>
                  <a:pt x="99529" y="3104769"/>
                </a:lnTo>
                <a:lnTo>
                  <a:pt x="99058" y="3055196"/>
                </a:lnTo>
                <a:close/>
              </a:path>
              <a:path w="297180" h="3352165">
                <a:moveTo>
                  <a:pt x="297167" y="3053334"/>
                </a:moveTo>
                <a:lnTo>
                  <a:pt x="99058" y="3055196"/>
                </a:lnTo>
                <a:lnTo>
                  <a:pt x="99529" y="3104769"/>
                </a:lnTo>
                <a:lnTo>
                  <a:pt x="198577" y="3103753"/>
                </a:lnTo>
                <a:lnTo>
                  <a:pt x="198106" y="3054265"/>
                </a:lnTo>
                <a:lnTo>
                  <a:pt x="296712" y="3054265"/>
                </a:lnTo>
                <a:lnTo>
                  <a:pt x="297167" y="3053334"/>
                </a:lnTo>
                <a:close/>
              </a:path>
              <a:path w="297180" h="3352165">
                <a:moveTo>
                  <a:pt x="296712" y="3054265"/>
                </a:moveTo>
                <a:lnTo>
                  <a:pt x="198106" y="3054265"/>
                </a:lnTo>
                <a:lnTo>
                  <a:pt x="198577" y="3103753"/>
                </a:lnTo>
                <a:lnTo>
                  <a:pt x="99529" y="3104769"/>
                </a:lnTo>
                <a:lnTo>
                  <a:pt x="272058" y="3104769"/>
                </a:lnTo>
                <a:lnTo>
                  <a:pt x="296712" y="3054265"/>
                </a:lnTo>
                <a:close/>
              </a:path>
              <a:path w="297180" h="3352165">
                <a:moveTo>
                  <a:pt x="169075" y="0"/>
                </a:moveTo>
                <a:lnTo>
                  <a:pt x="70015" y="1016"/>
                </a:lnTo>
                <a:lnTo>
                  <a:pt x="99058" y="3055196"/>
                </a:lnTo>
                <a:lnTo>
                  <a:pt x="198106" y="3054265"/>
                </a:lnTo>
                <a:lnTo>
                  <a:pt x="169075" y="0"/>
                </a:lnTo>
                <a:close/>
              </a:path>
            </a:pathLst>
          </a:custGeom>
          <a:solidFill>
            <a:srgbClr val="742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253091" y="2407015"/>
            <a:ext cx="2319020" cy="2852420"/>
          </a:xfrm>
          <a:custGeom>
            <a:avLst/>
            <a:gdLst/>
            <a:ahLst/>
            <a:cxnLst/>
            <a:rect l="l" t="t" r="r" b="b"/>
            <a:pathLst>
              <a:path w="2319020" h="2852420">
                <a:moveTo>
                  <a:pt x="201799" y="165870"/>
                </a:moveTo>
                <a:lnTo>
                  <a:pt x="177942" y="194579"/>
                </a:lnTo>
                <a:lnTo>
                  <a:pt x="144825" y="211757"/>
                </a:lnTo>
                <a:lnTo>
                  <a:pt x="264175" y="359933"/>
                </a:lnTo>
                <a:lnTo>
                  <a:pt x="321198" y="314086"/>
                </a:lnTo>
                <a:lnTo>
                  <a:pt x="201799" y="165870"/>
                </a:lnTo>
                <a:close/>
              </a:path>
              <a:path w="2319020" h="2852420">
                <a:moveTo>
                  <a:pt x="120856" y="0"/>
                </a:moveTo>
                <a:lnTo>
                  <a:pt x="78958" y="3573"/>
                </a:lnTo>
                <a:lnTo>
                  <a:pt x="40274" y="23637"/>
                </a:lnTo>
                <a:lnTo>
                  <a:pt x="12404" y="57124"/>
                </a:lnTo>
                <a:lnTo>
                  <a:pt x="0" y="97313"/>
                </a:lnTo>
                <a:lnTo>
                  <a:pt x="3573" y="139241"/>
                </a:lnTo>
                <a:lnTo>
                  <a:pt x="23637" y="177942"/>
                </a:lnTo>
                <a:lnTo>
                  <a:pt x="57177" y="205813"/>
                </a:lnTo>
                <a:lnTo>
                  <a:pt x="97361" y="218217"/>
                </a:lnTo>
                <a:lnTo>
                  <a:pt x="139259" y="214643"/>
                </a:lnTo>
                <a:lnTo>
                  <a:pt x="144825" y="211757"/>
                </a:lnTo>
                <a:lnTo>
                  <a:pt x="80660" y="132095"/>
                </a:lnTo>
                <a:lnTo>
                  <a:pt x="137556" y="86121"/>
                </a:lnTo>
                <a:lnTo>
                  <a:pt x="215254" y="86121"/>
                </a:lnTo>
                <a:lnTo>
                  <a:pt x="214643" y="78958"/>
                </a:lnTo>
                <a:lnTo>
                  <a:pt x="194579" y="40274"/>
                </a:lnTo>
                <a:lnTo>
                  <a:pt x="161039" y="12404"/>
                </a:lnTo>
                <a:lnTo>
                  <a:pt x="120856" y="0"/>
                </a:lnTo>
                <a:close/>
              </a:path>
              <a:path w="2319020" h="2852420">
                <a:moveTo>
                  <a:pt x="137556" y="86121"/>
                </a:moveTo>
                <a:lnTo>
                  <a:pt x="80660" y="132095"/>
                </a:lnTo>
                <a:lnTo>
                  <a:pt x="144825" y="211757"/>
                </a:lnTo>
                <a:lnTo>
                  <a:pt x="177942" y="194579"/>
                </a:lnTo>
                <a:lnTo>
                  <a:pt x="201799" y="165870"/>
                </a:lnTo>
                <a:lnTo>
                  <a:pt x="137556" y="86121"/>
                </a:lnTo>
                <a:close/>
              </a:path>
              <a:path w="2319020" h="2852420">
                <a:moveTo>
                  <a:pt x="215254" y="86121"/>
                </a:moveTo>
                <a:lnTo>
                  <a:pt x="137556" y="86121"/>
                </a:lnTo>
                <a:lnTo>
                  <a:pt x="201799" y="165870"/>
                </a:lnTo>
                <a:lnTo>
                  <a:pt x="205813" y="161039"/>
                </a:lnTo>
                <a:lnTo>
                  <a:pt x="218217" y="120856"/>
                </a:lnTo>
                <a:lnTo>
                  <a:pt x="215254" y="86121"/>
                </a:lnTo>
                <a:close/>
              </a:path>
              <a:path w="2319020" h="2852420">
                <a:moveTo>
                  <a:pt x="458866" y="484901"/>
                </a:moveTo>
                <a:lnTo>
                  <a:pt x="401843" y="530875"/>
                </a:lnTo>
                <a:lnTo>
                  <a:pt x="585358" y="758713"/>
                </a:lnTo>
                <a:lnTo>
                  <a:pt x="642381" y="712866"/>
                </a:lnTo>
                <a:lnTo>
                  <a:pt x="458866" y="484901"/>
                </a:lnTo>
                <a:close/>
              </a:path>
              <a:path w="2319020" h="2852420">
                <a:moveTo>
                  <a:pt x="780049" y="883681"/>
                </a:moveTo>
                <a:lnTo>
                  <a:pt x="723026" y="929655"/>
                </a:lnTo>
                <a:lnTo>
                  <a:pt x="906668" y="1157493"/>
                </a:lnTo>
                <a:lnTo>
                  <a:pt x="963564" y="1111519"/>
                </a:lnTo>
                <a:lnTo>
                  <a:pt x="780049" y="883681"/>
                </a:lnTo>
                <a:close/>
              </a:path>
              <a:path w="2319020" h="2852420">
                <a:moveTo>
                  <a:pt x="1101232" y="1282461"/>
                </a:moveTo>
                <a:lnTo>
                  <a:pt x="1044336" y="1328308"/>
                </a:lnTo>
                <a:lnTo>
                  <a:pt x="1227851" y="1556273"/>
                </a:lnTo>
                <a:lnTo>
                  <a:pt x="1284874" y="1510299"/>
                </a:lnTo>
                <a:lnTo>
                  <a:pt x="1101232" y="1282461"/>
                </a:lnTo>
                <a:close/>
              </a:path>
              <a:path w="2319020" h="2852420">
                <a:moveTo>
                  <a:pt x="1422542" y="1681241"/>
                </a:moveTo>
                <a:lnTo>
                  <a:pt x="1365519" y="1727088"/>
                </a:lnTo>
                <a:lnTo>
                  <a:pt x="1549161" y="1955053"/>
                </a:lnTo>
                <a:lnTo>
                  <a:pt x="1606057" y="1909079"/>
                </a:lnTo>
                <a:lnTo>
                  <a:pt x="1422542" y="1681241"/>
                </a:lnTo>
                <a:close/>
              </a:path>
              <a:path w="2319020" h="2852420">
                <a:moveTo>
                  <a:pt x="1743725" y="2080021"/>
                </a:moveTo>
                <a:lnTo>
                  <a:pt x="1686829" y="2125868"/>
                </a:lnTo>
                <a:lnTo>
                  <a:pt x="1870344" y="2353833"/>
                </a:lnTo>
                <a:lnTo>
                  <a:pt x="1927367" y="2307859"/>
                </a:lnTo>
                <a:lnTo>
                  <a:pt x="1743725" y="2080021"/>
                </a:lnTo>
                <a:close/>
              </a:path>
              <a:path w="2319020" h="2852420">
                <a:moveTo>
                  <a:pt x="2183251" y="2742332"/>
                </a:moveTo>
                <a:lnTo>
                  <a:pt x="2095769" y="2750200"/>
                </a:lnTo>
                <a:lnTo>
                  <a:pt x="2318908" y="2852308"/>
                </a:lnTo>
                <a:lnTo>
                  <a:pt x="2297206" y="2752613"/>
                </a:lnTo>
                <a:lnTo>
                  <a:pt x="2191527" y="2752613"/>
                </a:lnTo>
                <a:lnTo>
                  <a:pt x="2183251" y="2742332"/>
                </a:lnTo>
                <a:close/>
              </a:path>
              <a:path w="2319020" h="2852420">
                <a:moveTo>
                  <a:pt x="2206920" y="2740203"/>
                </a:moveTo>
                <a:lnTo>
                  <a:pt x="2183251" y="2742332"/>
                </a:lnTo>
                <a:lnTo>
                  <a:pt x="2191527" y="2752613"/>
                </a:lnTo>
                <a:lnTo>
                  <a:pt x="2206920" y="2740203"/>
                </a:lnTo>
                <a:close/>
              </a:path>
              <a:path w="2319020" h="2852420">
                <a:moveTo>
                  <a:pt x="2266711" y="2612532"/>
                </a:moveTo>
                <a:lnTo>
                  <a:pt x="2240306" y="2696404"/>
                </a:lnTo>
                <a:lnTo>
                  <a:pt x="2248550" y="2706639"/>
                </a:lnTo>
                <a:lnTo>
                  <a:pt x="2233183" y="2719030"/>
                </a:lnTo>
                <a:lnTo>
                  <a:pt x="2227087" y="2738389"/>
                </a:lnTo>
                <a:lnTo>
                  <a:pt x="2206920" y="2740203"/>
                </a:lnTo>
                <a:lnTo>
                  <a:pt x="2191527" y="2752613"/>
                </a:lnTo>
                <a:lnTo>
                  <a:pt x="2297206" y="2752613"/>
                </a:lnTo>
                <a:lnTo>
                  <a:pt x="2266711" y="2612532"/>
                </a:lnTo>
                <a:close/>
              </a:path>
              <a:path w="2319020" h="2852420">
                <a:moveTo>
                  <a:pt x="2065035" y="2478801"/>
                </a:moveTo>
                <a:lnTo>
                  <a:pt x="2008012" y="2524648"/>
                </a:lnTo>
                <a:lnTo>
                  <a:pt x="2183251" y="2742332"/>
                </a:lnTo>
                <a:lnTo>
                  <a:pt x="2206920" y="2740203"/>
                </a:lnTo>
                <a:lnTo>
                  <a:pt x="2233183" y="2719030"/>
                </a:lnTo>
                <a:lnTo>
                  <a:pt x="2240306" y="2696404"/>
                </a:lnTo>
                <a:lnTo>
                  <a:pt x="2065035" y="2478801"/>
                </a:lnTo>
                <a:close/>
              </a:path>
              <a:path w="2319020" h="2852420">
                <a:moveTo>
                  <a:pt x="2240306" y="2696404"/>
                </a:moveTo>
                <a:lnTo>
                  <a:pt x="2233183" y="2719030"/>
                </a:lnTo>
                <a:lnTo>
                  <a:pt x="2248550" y="2706639"/>
                </a:lnTo>
                <a:lnTo>
                  <a:pt x="2240306" y="269640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7471409" y="1292174"/>
            <a:ext cx="13119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Perpetua"/>
                <a:cs typeface="Perpetua"/>
              </a:rPr>
              <a:t>Application</a:t>
            </a:r>
            <a:endParaRPr sz="20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Perpetua"/>
                <a:cs typeface="Perpetua"/>
              </a:rPr>
              <a:t>states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05713" y="5255514"/>
            <a:ext cx="93218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Perpetua"/>
                <a:cs typeface="Perpetua"/>
              </a:rPr>
              <a:t>User  </a:t>
            </a:r>
            <a:r>
              <a:rPr sz="2000" b="1" spc="-10" dirty="0">
                <a:latin typeface="Perpetua"/>
                <a:cs typeface="Perpetua"/>
              </a:rPr>
              <a:t>a</a:t>
            </a:r>
            <a:r>
              <a:rPr sz="2000" b="1" spc="-5" dirty="0">
                <a:latin typeface="Perpetua"/>
                <a:cs typeface="Perpetua"/>
              </a:rPr>
              <a:t>c</a:t>
            </a:r>
            <a:r>
              <a:rPr sz="2000" b="1" spc="-15" dirty="0">
                <a:latin typeface="Perpetua"/>
                <a:cs typeface="Perpetua"/>
              </a:rPr>
              <a:t>t</a:t>
            </a:r>
            <a:r>
              <a:rPr sz="2000" b="1" dirty="0">
                <a:latin typeface="Perpetua"/>
                <a:cs typeface="Perpetua"/>
              </a:rPr>
              <a:t>ions/  </a:t>
            </a:r>
            <a:r>
              <a:rPr sz="2000" b="1" spc="-10" dirty="0">
                <a:latin typeface="Perpetua"/>
                <a:cs typeface="Perpetua"/>
              </a:rPr>
              <a:t>activity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294126" y="5247589"/>
            <a:ext cx="276860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Perpetua"/>
                <a:cs typeface="Perpetua"/>
              </a:rPr>
              <a:t>A requirement </a:t>
            </a:r>
            <a:r>
              <a:rPr sz="2000" b="1" spc="-10" dirty="0">
                <a:latin typeface="Perpetua"/>
                <a:cs typeface="Perpetua"/>
              </a:rPr>
              <a:t>that  </a:t>
            </a:r>
            <a:r>
              <a:rPr sz="2000" b="1" spc="5" dirty="0">
                <a:latin typeface="Perpetua"/>
                <a:cs typeface="Perpetua"/>
              </a:rPr>
              <a:t>describes </a:t>
            </a:r>
            <a:r>
              <a:rPr sz="2000" b="1" spc="-5" dirty="0">
                <a:latin typeface="Perpetua"/>
                <a:cs typeface="Perpetua"/>
              </a:rPr>
              <a:t>the</a:t>
            </a:r>
            <a:r>
              <a:rPr sz="2000" b="1" spc="-75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state-action  </a:t>
            </a:r>
            <a:r>
              <a:rPr sz="2000" b="1" spc="-5" dirty="0">
                <a:latin typeface="Perpetua"/>
                <a:cs typeface="Perpetua"/>
              </a:rPr>
              <a:t>combination </a:t>
            </a:r>
            <a:r>
              <a:rPr sz="2000" b="1" dirty="0">
                <a:latin typeface="Perpetua"/>
                <a:cs typeface="Perpetua"/>
              </a:rPr>
              <a:t>is</a:t>
            </a:r>
            <a:r>
              <a:rPr sz="2000" b="1" spc="-3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noted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758866" y="2407590"/>
            <a:ext cx="1937385" cy="3097530"/>
          </a:xfrm>
          <a:custGeom>
            <a:avLst/>
            <a:gdLst/>
            <a:ahLst/>
            <a:cxnLst/>
            <a:rect l="l" t="t" r="r" b="b"/>
            <a:pathLst>
              <a:path w="1937384" h="3097529">
                <a:moveTo>
                  <a:pt x="193153" y="176743"/>
                </a:moveTo>
                <a:lnTo>
                  <a:pt x="165810" y="202132"/>
                </a:lnTo>
                <a:lnTo>
                  <a:pt x="130737" y="214928"/>
                </a:lnTo>
                <a:lnTo>
                  <a:pt x="230072" y="377265"/>
                </a:lnTo>
                <a:lnTo>
                  <a:pt x="292429" y="339038"/>
                </a:lnTo>
                <a:lnTo>
                  <a:pt x="193153" y="176743"/>
                </a:lnTo>
                <a:close/>
              </a:path>
              <a:path w="1937384" h="3097529">
                <a:moveTo>
                  <a:pt x="92190" y="0"/>
                </a:moveTo>
                <a:lnTo>
                  <a:pt x="51256" y="14934"/>
                </a:lnTo>
                <a:lnTo>
                  <a:pt x="19327" y="44580"/>
                </a:lnTo>
                <a:lnTo>
                  <a:pt x="1853" y="82847"/>
                </a:lnTo>
                <a:lnTo>
                  <a:pt x="0" y="124876"/>
                </a:lnTo>
                <a:lnTo>
                  <a:pt x="14934" y="165810"/>
                </a:lnTo>
                <a:lnTo>
                  <a:pt x="44580" y="197738"/>
                </a:lnTo>
                <a:lnTo>
                  <a:pt x="82847" y="215213"/>
                </a:lnTo>
                <a:lnTo>
                  <a:pt x="124876" y="217066"/>
                </a:lnTo>
                <a:lnTo>
                  <a:pt x="130737" y="214928"/>
                </a:lnTo>
                <a:lnTo>
                  <a:pt x="77291" y="127583"/>
                </a:lnTo>
                <a:lnTo>
                  <a:pt x="139775" y="89483"/>
                </a:lnTo>
                <a:lnTo>
                  <a:pt x="216079" y="89483"/>
                </a:lnTo>
                <a:lnTo>
                  <a:pt x="202132" y="51256"/>
                </a:lnTo>
                <a:lnTo>
                  <a:pt x="172485" y="19327"/>
                </a:lnTo>
                <a:lnTo>
                  <a:pt x="134219" y="1853"/>
                </a:lnTo>
                <a:lnTo>
                  <a:pt x="92190" y="0"/>
                </a:lnTo>
                <a:close/>
              </a:path>
              <a:path w="1937384" h="3097529">
                <a:moveTo>
                  <a:pt x="139775" y="89483"/>
                </a:moveTo>
                <a:lnTo>
                  <a:pt x="77291" y="127583"/>
                </a:lnTo>
                <a:lnTo>
                  <a:pt x="130737" y="214928"/>
                </a:lnTo>
                <a:lnTo>
                  <a:pt x="165810" y="202132"/>
                </a:lnTo>
                <a:lnTo>
                  <a:pt x="193153" y="176743"/>
                </a:lnTo>
                <a:lnTo>
                  <a:pt x="139775" y="89483"/>
                </a:lnTo>
                <a:close/>
              </a:path>
              <a:path w="1937384" h="3097529">
                <a:moveTo>
                  <a:pt x="216079" y="89483"/>
                </a:moveTo>
                <a:lnTo>
                  <a:pt x="139775" y="89483"/>
                </a:lnTo>
                <a:lnTo>
                  <a:pt x="193153" y="176743"/>
                </a:lnTo>
                <a:lnTo>
                  <a:pt x="197738" y="172485"/>
                </a:lnTo>
                <a:lnTo>
                  <a:pt x="215213" y="134219"/>
                </a:lnTo>
                <a:lnTo>
                  <a:pt x="217066" y="92190"/>
                </a:lnTo>
                <a:lnTo>
                  <a:pt x="216079" y="89483"/>
                </a:lnTo>
                <a:close/>
              </a:path>
              <a:path w="1937384" h="3097529">
                <a:moveTo>
                  <a:pt x="406983" y="526236"/>
                </a:moveTo>
                <a:lnTo>
                  <a:pt x="344626" y="564463"/>
                </a:lnTo>
                <a:lnTo>
                  <a:pt x="497280" y="814018"/>
                </a:lnTo>
                <a:lnTo>
                  <a:pt x="559764" y="775791"/>
                </a:lnTo>
                <a:lnTo>
                  <a:pt x="406983" y="526236"/>
                </a:lnTo>
                <a:close/>
              </a:path>
              <a:path w="1937384" h="3097529">
                <a:moveTo>
                  <a:pt x="674318" y="962989"/>
                </a:moveTo>
                <a:lnTo>
                  <a:pt x="611834" y="1001216"/>
                </a:lnTo>
                <a:lnTo>
                  <a:pt x="764615" y="1250771"/>
                </a:lnTo>
                <a:lnTo>
                  <a:pt x="826972" y="1212544"/>
                </a:lnTo>
                <a:lnTo>
                  <a:pt x="674318" y="962989"/>
                </a:lnTo>
                <a:close/>
              </a:path>
              <a:path w="1937384" h="3097529">
                <a:moveTo>
                  <a:pt x="941526" y="1399742"/>
                </a:moveTo>
                <a:lnTo>
                  <a:pt x="879169" y="1437969"/>
                </a:lnTo>
                <a:lnTo>
                  <a:pt x="1031823" y="1687524"/>
                </a:lnTo>
                <a:lnTo>
                  <a:pt x="1094307" y="1649424"/>
                </a:lnTo>
                <a:lnTo>
                  <a:pt x="941526" y="1399742"/>
                </a:lnTo>
                <a:close/>
              </a:path>
              <a:path w="1937384" h="3097529">
                <a:moveTo>
                  <a:pt x="1208734" y="1836622"/>
                </a:moveTo>
                <a:lnTo>
                  <a:pt x="1146377" y="1874722"/>
                </a:lnTo>
                <a:lnTo>
                  <a:pt x="1299158" y="2124277"/>
                </a:lnTo>
                <a:lnTo>
                  <a:pt x="1361515" y="2086177"/>
                </a:lnTo>
                <a:lnTo>
                  <a:pt x="1208734" y="1836622"/>
                </a:lnTo>
                <a:close/>
              </a:path>
              <a:path w="1937384" h="3097529">
                <a:moveTo>
                  <a:pt x="1476069" y="2273375"/>
                </a:moveTo>
                <a:lnTo>
                  <a:pt x="1413712" y="2311475"/>
                </a:lnTo>
                <a:lnTo>
                  <a:pt x="1566366" y="2561157"/>
                </a:lnTo>
                <a:lnTo>
                  <a:pt x="1628723" y="2522930"/>
                </a:lnTo>
                <a:lnTo>
                  <a:pt x="1476069" y="2273375"/>
                </a:lnTo>
                <a:close/>
              </a:path>
              <a:path w="1937384" h="3097529">
                <a:moveTo>
                  <a:pt x="1729180" y="2967303"/>
                </a:moveTo>
                <a:lnTo>
                  <a:pt x="1937333" y="3097224"/>
                </a:lnTo>
                <a:lnTo>
                  <a:pt x="1928276" y="2991560"/>
                </a:lnTo>
                <a:lnTo>
                  <a:pt x="1829764" y="2991560"/>
                </a:lnTo>
                <a:lnTo>
                  <a:pt x="1817042" y="2970773"/>
                </a:lnTo>
                <a:lnTo>
                  <a:pt x="1729180" y="2967303"/>
                </a:lnTo>
                <a:close/>
              </a:path>
              <a:path w="1937384" h="3097529">
                <a:moveTo>
                  <a:pt x="1817042" y="2970773"/>
                </a:moveTo>
                <a:lnTo>
                  <a:pt x="1829764" y="2991560"/>
                </a:lnTo>
                <a:lnTo>
                  <a:pt x="1860849" y="2972504"/>
                </a:lnTo>
                <a:lnTo>
                  <a:pt x="1817042" y="2970773"/>
                </a:lnTo>
                <a:close/>
              </a:path>
              <a:path w="1937384" h="3097529">
                <a:moveTo>
                  <a:pt x="1916378" y="2852749"/>
                </a:moveTo>
                <a:lnTo>
                  <a:pt x="1879447" y="2932624"/>
                </a:lnTo>
                <a:lnTo>
                  <a:pt x="1892121" y="2953333"/>
                </a:lnTo>
                <a:lnTo>
                  <a:pt x="1861072" y="2972367"/>
                </a:lnTo>
                <a:lnTo>
                  <a:pt x="1861006" y="2972510"/>
                </a:lnTo>
                <a:lnTo>
                  <a:pt x="1860839" y="2972510"/>
                </a:lnTo>
                <a:lnTo>
                  <a:pt x="1829764" y="2991560"/>
                </a:lnTo>
                <a:lnTo>
                  <a:pt x="1928276" y="2991560"/>
                </a:lnTo>
                <a:lnTo>
                  <a:pt x="1926643" y="2972510"/>
                </a:lnTo>
                <a:lnTo>
                  <a:pt x="1860849" y="2972504"/>
                </a:lnTo>
                <a:lnTo>
                  <a:pt x="1926643" y="2972504"/>
                </a:lnTo>
                <a:lnTo>
                  <a:pt x="1916378" y="2852749"/>
                </a:lnTo>
                <a:close/>
              </a:path>
              <a:path w="1937384" h="3097529">
                <a:moveTo>
                  <a:pt x="1743277" y="2710128"/>
                </a:moveTo>
                <a:lnTo>
                  <a:pt x="1680920" y="2748355"/>
                </a:lnTo>
                <a:lnTo>
                  <a:pt x="1817042" y="2970773"/>
                </a:lnTo>
                <a:lnTo>
                  <a:pt x="1860849" y="2972504"/>
                </a:lnTo>
                <a:lnTo>
                  <a:pt x="1861072" y="2972367"/>
                </a:lnTo>
                <a:lnTo>
                  <a:pt x="1879447" y="2932624"/>
                </a:lnTo>
                <a:lnTo>
                  <a:pt x="1743277" y="2710128"/>
                </a:lnTo>
                <a:close/>
              </a:path>
              <a:path w="1937384" h="3097529">
                <a:moveTo>
                  <a:pt x="1879447" y="2932624"/>
                </a:moveTo>
                <a:lnTo>
                  <a:pt x="1861072" y="2972367"/>
                </a:lnTo>
                <a:lnTo>
                  <a:pt x="1892121" y="2953333"/>
                </a:lnTo>
                <a:lnTo>
                  <a:pt x="1879447" y="293262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6709409" y="5460288"/>
            <a:ext cx="162369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Perpetua"/>
                <a:cs typeface="Perpetua"/>
              </a:rPr>
              <a:t>An </a:t>
            </a:r>
            <a:r>
              <a:rPr sz="2000" b="1" spc="-5" dirty="0">
                <a:latin typeface="Perpetua"/>
                <a:cs typeface="Perpetua"/>
              </a:rPr>
              <a:t>impossible  </a:t>
            </a:r>
            <a:r>
              <a:rPr sz="2000" b="1" spc="-10" dirty="0">
                <a:latin typeface="Perpetua"/>
                <a:cs typeface="Perpetua"/>
              </a:rPr>
              <a:t>state-action  </a:t>
            </a:r>
            <a:r>
              <a:rPr sz="2000" b="1" spc="-5" dirty="0">
                <a:latin typeface="Perpetua"/>
                <a:cs typeface="Perpetua"/>
              </a:rPr>
              <a:t>combination</a:t>
            </a:r>
            <a:r>
              <a:rPr sz="2000" b="1" spc="-10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is  left</a:t>
            </a:r>
            <a:r>
              <a:rPr sz="2000" b="1" spc="-20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blank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80981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45" dirty="0">
                <a:solidFill>
                  <a:srgbClr val="000000"/>
                </a:solidFill>
                <a:latin typeface="Perpetua"/>
                <a:cs typeface="Perpetua"/>
              </a:rPr>
              <a:t>Validating </a:t>
            </a:r>
            <a:r>
              <a:rPr sz="4000" i="0" spc="-5" dirty="0">
                <a:solidFill>
                  <a:srgbClr val="000000"/>
                </a:solidFill>
                <a:latin typeface="Perpetua"/>
                <a:cs typeface="Perpetua"/>
              </a:rPr>
              <a:t>for completeness in the video</a:t>
            </a:r>
            <a:r>
              <a:rPr sz="4000" i="0" spc="11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4000" i="0" spc="-10" dirty="0">
                <a:solidFill>
                  <a:srgbClr val="000000"/>
                </a:solidFill>
                <a:latin typeface="Perpetua"/>
                <a:cs typeface="Perpetua"/>
              </a:rPr>
              <a:t>app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24230"/>
            <a:ext cx="757555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722120" algn="l"/>
              </a:tabLst>
            </a:pPr>
            <a:r>
              <a:rPr sz="2600" i="1" spc="-5" dirty="0">
                <a:latin typeface="Perpetua"/>
                <a:cs typeface="Perpetua"/>
              </a:rPr>
              <a:t>Consider the </a:t>
            </a:r>
            <a:r>
              <a:rPr sz="2600" i="1" spc="-10" dirty="0">
                <a:latin typeface="Perpetua"/>
                <a:cs typeface="Perpetua"/>
              </a:rPr>
              <a:t>two </a:t>
            </a:r>
            <a:r>
              <a:rPr sz="2600" i="1" spc="-5" dirty="0">
                <a:latin typeface="Perpetua"/>
                <a:cs typeface="Perpetua"/>
              </a:rPr>
              <a:t>non </a:t>
            </a:r>
            <a:r>
              <a:rPr sz="2600" i="1" spc="-10" dirty="0">
                <a:latin typeface="Perpetua"/>
                <a:cs typeface="Perpetua"/>
              </a:rPr>
              <a:t>contradicting </a:t>
            </a:r>
            <a:r>
              <a:rPr sz="2600" i="1" spc="-5" dirty="0">
                <a:latin typeface="Perpetua"/>
                <a:cs typeface="Perpetua"/>
              </a:rPr>
              <a:t>additional requirementsV5 </a:t>
            </a:r>
            <a:r>
              <a:rPr sz="2600" i="1" dirty="0">
                <a:latin typeface="Perpetua"/>
                <a:cs typeface="Perpetua"/>
              </a:rPr>
              <a:t>( Run  </a:t>
            </a:r>
            <a:r>
              <a:rPr sz="2600" i="1" spc="-5" dirty="0">
                <a:latin typeface="Perpetua"/>
                <a:cs typeface="Perpetua"/>
              </a:rPr>
              <a:t>application)	</a:t>
            </a:r>
            <a:r>
              <a:rPr sz="2600" i="1" dirty="0">
                <a:latin typeface="Perpetua"/>
                <a:cs typeface="Perpetua"/>
              </a:rPr>
              <a:t>and V6 </a:t>
            </a:r>
            <a:r>
              <a:rPr sz="2600" i="1" spc="-5" dirty="0">
                <a:latin typeface="Perpetua"/>
                <a:cs typeface="Perpetua"/>
              </a:rPr>
              <a:t>(Quit</a:t>
            </a:r>
            <a:r>
              <a:rPr sz="2600" i="1" spc="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application)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1610867"/>
            <a:ext cx="8229600" cy="4972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845819"/>
            <a:ext cx="5887211" cy="4899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93773" y="5887008"/>
            <a:ext cx="46583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State-activity </a:t>
            </a:r>
            <a:r>
              <a:rPr sz="2000" spc="-10" dirty="0">
                <a:latin typeface="Perpetua"/>
                <a:cs typeface="Perpetua"/>
              </a:rPr>
              <a:t>table </a:t>
            </a:r>
            <a:r>
              <a:rPr sz="2000" spc="-5" dirty="0">
                <a:latin typeface="Perpetua"/>
                <a:cs typeface="Perpetua"/>
              </a:rPr>
              <a:t>for </a:t>
            </a:r>
            <a:r>
              <a:rPr sz="2000" dirty="0">
                <a:latin typeface="Perpetua"/>
                <a:cs typeface="Perpetua"/>
              </a:rPr>
              <a:t>the video </a:t>
            </a:r>
            <a:r>
              <a:rPr sz="2000" spc="-20" dirty="0">
                <a:latin typeface="Perpetua"/>
                <a:cs typeface="Perpetua"/>
              </a:rPr>
              <a:t>player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app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152527"/>
            <a:ext cx="71989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10" dirty="0">
                <a:solidFill>
                  <a:srgbClr val="000000"/>
                </a:solidFill>
                <a:latin typeface="Perpetua"/>
                <a:cs typeface="Perpetua"/>
              </a:rPr>
              <a:t>State</a:t>
            </a:r>
            <a:r>
              <a:rPr i="0" spc="-2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spc="-5" dirty="0">
                <a:solidFill>
                  <a:srgbClr val="000000"/>
                </a:solidFill>
                <a:latin typeface="Perpetua"/>
                <a:cs typeface="Perpetua"/>
              </a:rPr>
              <a:t>activity</a:t>
            </a:r>
            <a:r>
              <a:rPr i="0" spc="-2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spc="-15" dirty="0">
                <a:solidFill>
                  <a:srgbClr val="000000"/>
                </a:solidFill>
                <a:latin typeface="Perpetua"/>
                <a:cs typeface="Perpetua"/>
              </a:rPr>
              <a:t>table</a:t>
            </a:r>
            <a:r>
              <a:rPr i="0" spc="-1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for</a:t>
            </a:r>
            <a:r>
              <a:rPr i="0" spc="-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video</a:t>
            </a:r>
            <a:r>
              <a:rPr i="0" spc="-1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app</a:t>
            </a:r>
            <a:r>
              <a:rPr i="0" spc="-1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(</a:t>
            </a:r>
            <a:r>
              <a:rPr i="0" spc="-45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spc="-5" dirty="0">
                <a:solidFill>
                  <a:srgbClr val="000000"/>
                </a:solidFill>
                <a:latin typeface="Perpetua"/>
                <a:cs typeface="Perpetua"/>
              </a:rPr>
              <a:t>V1</a:t>
            </a:r>
            <a:r>
              <a:rPr i="0" spc="-1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spc="5" dirty="0">
                <a:solidFill>
                  <a:srgbClr val="000000"/>
                </a:solidFill>
                <a:latin typeface="Perpetua"/>
                <a:cs typeface="Perpetua"/>
              </a:rPr>
              <a:t>to</a:t>
            </a:r>
            <a:r>
              <a:rPr i="0" spc="-45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spc="-5" dirty="0">
                <a:solidFill>
                  <a:srgbClr val="000000"/>
                </a:solidFill>
                <a:latin typeface="Perpetua"/>
                <a:cs typeface="Perpetua"/>
              </a:rPr>
              <a:t>V6)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2527"/>
            <a:ext cx="81883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10" dirty="0">
                <a:solidFill>
                  <a:srgbClr val="000000"/>
                </a:solidFill>
                <a:latin typeface="Perpetua"/>
                <a:cs typeface="Perpetua"/>
              </a:rPr>
              <a:t>Impossible </a:t>
            </a:r>
            <a:r>
              <a:rPr i="0" spc="-5" dirty="0">
                <a:solidFill>
                  <a:srgbClr val="000000"/>
                </a:solidFill>
                <a:latin typeface="Perpetua"/>
                <a:cs typeface="Perpetua"/>
              </a:rPr>
              <a:t>state-action combinations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in video</a:t>
            </a:r>
            <a:r>
              <a:rPr i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240" y="976121"/>
            <a:ext cx="876998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3970" indent="-274320">
              <a:lnSpc>
                <a:spcPct val="100000"/>
              </a:lnSpc>
              <a:spcBef>
                <a:spcPts val="105"/>
              </a:spcBef>
              <a:buSzPct val="85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000" spc="-5" dirty="0">
                <a:latin typeface="Perpetua"/>
                <a:cs typeface="Perpetua"/>
              </a:rPr>
              <a:t>It is impossible </a:t>
            </a:r>
            <a:r>
              <a:rPr sz="2000" dirty="0">
                <a:latin typeface="Perpetua"/>
                <a:cs typeface="Perpetua"/>
              </a:rPr>
              <a:t>for the user to </a:t>
            </a:r>
            <a:r>
              <a:rPr sz="2000" spc="5" dirty="0">
                <a:latin typeface="Perpetua"/>
                <a:cs typeface="Perpetua"/>
              </a:rPr>
              <a:t>click </a:t>
            </a:r>
            <a:r>
              <a:rPr sz="2000" spc="-15" dirty="0">
                <a:latin typeface="Perpetua"/>
                <a:cs typeface="Perpetua"/>
              </a:rPr>
              <a:t>any </a:t>
            </a:r>
            <a:r>
              <a:rPr sz="2000" spc="-5" dirty="0">
                <a:latin typeface="Perpetua"/>
                <a:cs typeface="Perpetua"/>
              </a:rPr>
              <a:t>of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buttons of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control panel while in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10" dirty="0">
                <a:latin typeface="Perpetua"/>
                <a:cs typeface="Perpetua"/>
              </a:rPr>
              <a:t>App  </a:t>
            </a:r>
            <a:r>
              <a:rPr sz="2000" spc="-5" dirty="0">
                <a:latin typeface="Perpetua"/>
                <a:cs typeface="Perpetua"/>
              </a:rPr>
              <a:t>Not Executing</a:t>
            </a:r>
            <a:r>
              <a:rPr sz="2000" spc="2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state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5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000" spc="-5" dirty="0">
                <a:latin typeface="Perpetua"/>
                <a:cs typeface="Perpetua"/>
              </a:rPr>
              <a:t>Requirement </a:t>
            </a:r>
            <a:r>
              <a:rPr sz="2000" spc="-15" dirty="0">
                <a:latin typeface="Perpetua"/>
                <a:cs typeface="Perpetua"/>
              </a:rPr>
              <a:t>V1(play) </a:t>
            </a:r>
            <a:r>
              <a:rPr sz="2000" dirty="0">
                <a:latin typeface="Perpetua"/>
                <a:cs typeface="Perpetua"/>
              </a:rPr>
              <a:t>specifies </a:t>
            </a:r>
            <a:r>
              <a:rPr sz="2000" spc="-5" dirty="0">
                <a:latin typeface="Perpetua"/>
                <a:cs typeface="Perpetua"/>
              </a:rPr>
              <a:t>that when </a:t>
            </a:r>
            <a:r>
              <a:rPr sz="2000" dirty="0">
                <a:latin typeface="Perpetua"/>
                <a:cs typeface="Perpetua"/>
              </a:rPr>
              <a:t>a video </a:t>
            </a:r>
            <a:r>
              <a:rPr sz="2000" spc="-5" dirty="0">
                <a:latin typeface="Perpetua"/>
                <a:cs typeface="Perpetua"/>
              </a:rPr>
              <a:t>is </a:t>
            </a:r>
            <a:r>
              <a:rPr sz="2000" spc="-15" dirty="0">
                <a:latin typeface="Perpetua"/>
                <a:cs typeface="Perpetua"/>
              </a:rPr>
              <a:t>playing </a:t>
            </a:r>
            <a:r>
              <a:rPr sz="2000" spc="-5" dirty="0">
                <a:latin typeface="Perpetua"/>
                <a:cs typeface="Perpetua"/>
              </a:rPr>
              <a:t>the pause function is </a:t>
            </a:r>
            <a:r>
              <a:rPr sz="2000" spc="-15" dirty="0">
                <a:latin typeface="Perpetua"/>
                <a:cs typeface="Perpetua"/>
              </a:rPr>
              <a:t>active,  </a:t>
            </a:r>
            <a:r>
              <a:rPr sz="2000" spc="-5" dirty="0">
                <a:latin typeface="Perpetua"/>
                <a:cs typeface="Perpetua"/>
              </a:rPr>
              <a:t>making it </a:t>
            </a:r>
            <a:r>
              <a:rPr sz="2000" spc="-10" dirty="0">
                <a:latin typeface="Perpetua"/>
                <a:cs typeface="Perpetua"/>
              </a:rPr>
              <a:t>impossible </a:t>
            </a:r>
            <a:r>
              <a:rPr sz="2000" dirty="0">
                <a:latin typeface="Perpetua"/>
                <a:cs typeface="Perpetua"/>
              </a:rPr>
              <a:t>to </a:t>
            </a:r>
            <a:r>
              <a:rPr sz="2000" spc="5" dirty="0">
                <a:latin typeface="Perpetua"/>
                <a:cs typeface="Perpetua"/>
              </a:rPr>
              <a:t>click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20" dirty="0">
                <a:latin typeface="Perpetua"/>
                <a:cs typeface="Perpetua"/>
              </a:rPr>
              <a:t>play</a:t>
            </a:r>
            <a:r>
              <a:rPr sz="2000" spc="1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button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286385" marR="15240" indent="-274320">
              <a:lnSpc>
                <a:spcPct val="100000"/>
              </a:lnSpc>
              <a:buSzPct val="85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000" spc="-5" dirty="0">
                <a:latin typeface="Perpetua"/>
                <a:cs typeface="Perpetua"/>
              </a:rPr>
              <a:t>Requirement V2(pause) states </a:t>
            </a:r>
            <a:r>
              <a:rPr sz="2000" spc="-10" dirty="0">
                <a:latin typeface="Perpetua"/>
                <a:cs typeface="Perpetua"/>
              </a:rPr>
              <a:t>that </a:t>
            </a:r>
            <a:r>
              <a:rPr sz="2000" dirty="0">
                <a:latin typeface="Perpetua"/>
                <a:cs typeface="Perpetua"/>
              </a:rPr>
              <a:t>clicking the </a:t>
            </a:r>
            <a:r>
              <a:rPr sz="2000" spc="-5" dirty="0">
                <a:latin typeface="Perpetua"/>
                <a:cs typeface="Perpetua"/>
              </a:rPr>
              <a:t>pause button </a:t>
            </a:r>
            <a:r>
              <a:rPr sz="2000" dirty="0">
                <a:latin typeface="Perpetua"/>
                <a:cs typeface="Perpetua"/>
              </a:rPr>
              <a:t>causes the </a:t>
            </a:r>
            <a:r>
              <a:rPr sz="2000" spc="-5" dirty="0">
                <a:latin typeface="Perpetua"/>
                <a:cs typeface="Perpetua"/>
              </a:rPr>
              <a:t>control panel </a:t>
            </a:r>
            <a:r>
              <a:rPr sz="2000" spc="-10" dirty="0">
                <a:latin typeface="Perpetua"/>
                <a:cs typeface="Perpetua"/>
              </a:rPr>
              <a:t>to  </a:t>
            </a:r>
            <a:r>
              <a:rPr sz="2000" spc="-15" dirty="0">
                <a:latin typeface="Perpetua"/>
                <a:cs typeface="Perpetua"/>
              </a:rPr>
              <a:t>display </a:t>
            </a:r>
            <a:r>
              <a:rPr sz="2000" spc="-5" dirty="0">
                <a:latin typeface="Perpetua"/>
                <a:cs typeface="Perpetua"/>
              </a:rPr>
              <a:t>on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20" dirty="0">
                <a:latin typeface="Perpetua"/>
                <a:cs typeface="Perpetua"/>
              </a:rPr>
              <a:t>play </a:t>
            </a:r>
            <a:r>
              <a:rPr sz="2000" spc="-5" dirty="0">
                <a:latin typeface="Perpetua"/>
                <a:cs typeface="Perpetua"/>
              </a:rPr>
              <a:t>button, making another </a:t>
            </a:r>
            <a:r>
              <a:rPr sz="2000" spc="5" dirty="0">
                <a:latin typeface="Perpetua"/>
                <a:cs typeface="Perpetua"/>
              </a:rPr>
              <a:t>click </a:t>
            </a:r>
            <a:r>
              <a:rPr sz="2000" spc="-5" dirty="0">
                <a:latin typeface="Perpetua"/>
                <a:cs typeface="Perpetua"/>
              </a:rPr>
              <a:t>of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pause</a:t>
            </a:r>
            <a:r>
              <a:rPr sz="2000" spc="-4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impossible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9978" y="6514454"/>
            <a:ext cx="226695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100" i="1" spc="-10" dirty="0">
                <a:latin typeface="Perpetua"/>
                <a:cs typeface="Perpetua"/>
              </a:rPr>
              <a:t>a</a:t>
            </a:r>
            <a:r>
              <a:rPr sz="1100" i="1" dirty="0">
                <a:latin typeface="Perpetua"/>
                <a:cs typeface="Perpetua"/>
              </a:rPr>
              <a:t>tore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81199" y="3799258"/>
            <a:ext cx="5620871" cy="29144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95955" y="1408184"/>
            <a:ext cx="1277066" cy="3502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00600" y="2421635"/>
            <a:ext cx="1292352" cy="3596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16952" y="3505200"/>
            <a:ext cx="1292352" cy="359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0738"/>
            <a:ext cx="7026275" cy="112141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135"/>
              </a:spcBef>
            </a:pPr>
            <a:r>
              <a:rPr i="0" spc="5" dirty="0">
                <a:solidFill>
                  <a:srgbClr val="000000"/>
                </a:solidFill>
                <a:latin typeface="Perpetua"/>
                <a:cs typeface="Perpetua"/>
              </a:rPr>
              <a:t>Check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for </a:t>
            </a:r>
            <a:r>
              <a:rPr i="0" spc="-5" dirty="0">
                <a:solidFill>
                  <a:srgbClr val="000000"/>
                </a:solidFill>
                <a:latin typeface="Perpetua"/>
                <a:cs typeface="Perpetua"/>
              </a:rPr>
              <a:t>completeness </a:t>
            </a:r>
            <a:r>
              <a:rPr i="0" dirty="0">
                <a:solidFill>
                  <a:srgbClr val="000000"/>
                </a:solidFill>
                <a:latin typeface="Perpetua"/>
                <a:cs typeface="Perpetua"/>
              </a:rPr>
              <a:t>in the video</a:t>
            </a:r>
            <a:r>
              <a:rPr i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i="0" spc="-5" dirty="0">
                <a:solidFill>
                  <a:srgbClr val="000000"/>
                </a:solidFill>
                <a:latin typeface="Perpetua"/>
                <a:cs typeface="Perpetua"/>
              </a:rPr>
              <a:t>app</a:t>
            </a: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200" dirty="0">
                <a:solidFill>
                  <a:srgbClr val="000000"/>
                </a:solidFill>
              </a:rPr>
              <a:t>Is </a:t>
            </a:r>
            <a:r>
              <a:rPr sz="2200" spc="-5" dirty="0">
                <a:solidFill>
                  <a:srgbClr val="000000"/>
                </a:solidFill>
              </a:rPr>
              <a:t>the </a:t>
            </a:r>
            <a:r>
              <a:rPr sz="2200" spc="-10" dirty="0">
                <a:solidFill>
                  <a:srgbClr val="000000"/>
                </a:solidFill>
              </a:rPr>
              <a:t>state </a:t>
            </a:r>
            <a:r>
              <a:rPr sz="2200" spc="-5" dirty="0">
                <a:solidFill>
                  <a:srgbClr val="000000"/>
                </a:solidFill>
              </a:rPr>
              <a:t>activity </a:t>
            </a:r>
            <a:r>
              <a:rPr sz="2200" spc="-10" dirty="0">
                <a:solidFill>
                  <a:srgbClr val="000000"/>
                </a:solidFill>
              </a:rPr>
              <a:t>table</a:t>
            </a:r>
            <a:r>
              <a:rPr sz="2200" spc="70" dirty="0">
                <a:solidFill>
                  <a:srgbClr val="000000"/>
                </a:solidFill>
              </a:rPr>
              <a:t> </a:t>
            </a:r>
            <a:r>
              <a:rPr sz="2200" spc="-5" dirty="0">
                <a:solidFill>
                  <a:srgbClr val="000000"/>
                </a:solidFill>
              </a:rPr>
              <a:t>complete?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78739" y="1470101"/>
            <a:ext cx="4109720" cy="4891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ts val="2380"/>
              </a:lnSpc>
              <a:spcBef>
                <a:spcPts val="9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20" dirty="0">
                <a:latin typeface="Perpetua"/>
                <a:cs typeface="Perpetua"/>
              </a:rPr>
              <a:t>No,</a:t>
            </a:r>
            <a:r>
              <a:rPr sz="2200" spc="2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there</a:t>
            </a:r>
            <a:r>
              <a:rPr sz="2200" spc="114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is</a:t>
            </a:r>
            <a:r>
              <a:rPr sz="2200" spc="11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an</a:t>
            </a:r>
            <a:r>
              <a:rPr sz="2200" spc="12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unfilled</a:t>
            </a:r>
            <a:r>
              <a:rPr sz="2200" spc="13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cell</a:t>
            </a:r>
            <a:r>
              <a:rPr sz="2200" spc="1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on</a:t>
            </a:r>
            <a:r>
              <a:rPr sz="2200" spc="114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upper</a:t>
            </a:r>
            <a:endParaRPr sz="2200">
              <a:latin typeface="Perpetua"/>
              <a:cs typeface="Perpetua"/>
            </a:endParaRPr>
          </a:p>
          <a:p>
            <a:pPr marL="287020">
              <a:lnSpc>
                <a:spcPts val="2380"/>
              </a:lnSpc>
            </a:pPr>
            <a:r>
              <a:rPr sz="2200" dirty="0">
                <a:latin typeface="Perpetua"/>
                <a:cs typeface="Perpetua"/>
              </a:rPr>
              <a:t>right.</a:t>
            </a:r>
            <a:endParaRPr sz="2200">
              <a:latin typeface="Perpetua"/>
              <a:cs typeface="Perpetua"/>
            </a:endParaRPr>
          </a:p>
          <a:p>
            <a:pPr marL="287020" marR="5715" indent="-274320" algn="just">
              <a:lnSpc>
                <a:spcPct val="80000"/>
              </a:lnSpc>
              <a:spcBef>
                <a:spcPts val="600"/>
              </a:spcBef>
              <a:buSzPct val="84090"/>
              <a:buFont typeface="Arial"/>
              <a:buChar char="•"/>
              <a:tabLst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The requirements </a:t>
            </a:r>
            <a:r>
              <a:rPr sz="2200" spc="5" dirty="0">
                <a:latin typeface="Perpetua"/>
                <a:cs typeface="Perpetua"/>
              </a:rPr>
              <a:t>V1 </a:t>
            </a:r>
            <a:r>
              <a:rPr sz="2200" dirty="0">
                <a:latin typeface="Perpetua"/>
                <a:cs typeface="Perpetua"/>
              </a:rPr>
              <a:t>to </a:t>
            </a:r>
            <a:r>
              <a:rPr sz="2200" spc="5" dirty="0">
                <a:latin typeface="Perpetua"/>
                <a:cs typeface="Perpetua"/>
              </a:rPr>
              <a:t>V6 </a:t>
            </a:r>
            <a:r>
              <a:rPr sz="2200" spc="-5" dirty="0">
                <a:latin typeface="Perpetua"/>
                <a:cs typeface="Perpetua"/>
              </a:rPr>
              <a:t>do </a:t>
            </a:r>
            <a:r>
              <a:rPr sz="2200" dirty="0">
                <a:latin typeface="Perpetua"/>
                <a:cs typeface="Perpetua"/>
              </a:rPr>
              <a:t>not  </a:t>
            </a:r>
            <a:r>
              <a:rPr sz="2200" spc="-15" dirty="0">
                <a:latin typeface="Perpetua"/>
                <a:cs typeface="Perpetua"/>
              </a:rPr>
              <a:t>really </a:t>
            </a:r>
            <a:r>
              <a:rPr sz="2200" spc="-5" dirty="0">
                <a:latin typeface="Perpetua"/>
                <a:cs typeface="Perpetua"/>
              </a:rPr>
              <a:t>explain </a:t>
            </a:r>
            <a:r>
              <a:rPr sz="2200" spc="-10" dirty="0">
                <a:latin typeface="Perpetua"/>
                <a:cs typeface="Perpetua"/>
              </a:rPr>
              <a:t>what </a:t>
            </a:r>
            <a:r>
              <a:rPr sz="2200" spc="5" dirty="0">
                <a:latin typeface="Perpetua"/>
                <a:cs typeface="Perpetua"/>
              </a:rPr>
              <a:t>occurs </a:t>
            </a:r>
            <a:r>
              <a:rPr sz="2200" spc="-5" dirty="0">
                <a:latin typeface="Perpetua"/>
                <a:cs typeface="Perpetua"/>
              </a:rPr>
              <a:t>when the  video has </a:t>
            </a:r>
            <a:r>
              <a:rPr sz="2200" spc="-20" dirty="0">
                <a:latin typeface="Perpetua"/>
                <a:cs typeface="Perpetua"/>
              </a:rPr>
              <a:t>played </a:t>
            </a:r>
            <a:r>
              <a:rPr sz="2200" dirty="0">
                <a:latin typeface="Perpetua"/>
                <a:cs typeface="Perpetua"/>
              </a:rPr>
              <a:t>to </a:t>
            </a:r>
            <a:r>
              <a:rPr sz="2200" spc="-5" dirty="0">
                <a:latin typeface="Perpetua"/>
                <a:cs typeface="Perpetua"/>
              </a:rPr>
              <a:t>completion </a:t>
            </a:r>
            <a:r>
              <a:rPr sz="2200" dirty="0">
                <a:latin typeface="Perpetua"/>
                <a:cs typeface="Perpetua"/>
              </a:rPr>
              <a:t>and  </a:t>
            </a:r>
            <a:r>
              <a:rPr sz="2200" spc="-5" dirty="0">
                <a:latin typeface="Perpetua"/>
                <a:cs typeface="Perpetua"/>
              </a:rPr>
              <a:t>the user </a:t>
            </a:r>
            <a:r>
              <a:rPr sz="2200" dirty="0">
                <a:latin typeface="Perpetua"/>
                <a:cs typeface="Perpetua"/>
              </a:rPr>
              <a:t>clicks </a:t>
            </a: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spc="-20" dirty="0">
                <a:latin typeface="Perpetua"/>
                <a:cs typeface="Perpetua"/>
              </a:rPr>
              <a:t>play</a:t>
            </a:r>
            <a:r>
              <a:rPr sz="2200" spc="3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button.</a:t>
            </a:r>
            <a:endParaRPr sz="2200">
              <a:latin typeface="Perpetua"/>
              <a:cs typeface="Perpetua"/>
            </a:endParaRPr>
          </a:p>
          <a:p>
            <a:pPr marL="560705" marR="5080" lvl="1" indent="-228600" algn="just">
              <a:lnSpc>
                <a:spcPct val="130000"/>
              </a:lnSpc>
              <a:spcBef>
                <a:spcPts val="75"/>
              </a:spcBef>
              <a:buSzPct val="84090"/>
              <a:buFont typeface="Arial"/>
              <a:buChar char="•"/>
              <a:tabLst>
                <a:tab pos="561340" algn="l"/>
              </a:tabLst>
            </a:pPr>
            <a:r>
              <a:rPr sz="2200" spc="-20" dirty="0">
                <a:latin typeface="Perpetua"/>
                <a:cs typeface="Perpetua"/>
              </a:rPr>
              <a:t>Pause </a:t>
            </a:r>
            <a:r>
              <a:rPr sz="2200" spc="-10" dirty="0">
                <a:latin typeface="Perpetua"/>
                <a:cs typeface="Perpetua"/>
              </a:rPr>
              <a:t>button </a:t>
            </a:r>
            <a:r>
              <a:rPr sz="2200" spc="-5" dirty="0">
                <a:latin typeface="Perpetua"/>
                <a:cs typeface="Perpetua"/>
              </a:rPr>
              <a:t>being clicked when  video finished </a:t>
            </a:r>
            <a:r>
              <a:rPr sz="2200" spc="-15" dirty="0">
                <a:latin typeface="Perpetua"/>
                <a:cs typeface="Perpetua"/>
              </a:rPr>
              <a:t>playing </a:t>
            </a:r>
            <a:r>
              <a:rPr sz="2200" spc="-5" dirty="0">
                <a:latin typeface="Perpetua"/>
                <a:cs typeface="Perpetua"/>
              </a:rPr>
              <a:t>causes the  </a:t>
            </a:r>
            <a:r>
              <a:rPr sz="2200" spc="-20" dirty="0">
                <a:latin typeface="Perpetua"/>
                <a:cs typeface="Perpetua"/>
              </a:rPr>
              <a:t>play </a:t>
            </a:r>
            <a:r>
              <a:rPr sz="2200" spc="-5" dirty="0">
                <a:latin typeface="Perpetua"/>
                <a:cs typeface="Perpetua"/>
              </a:rPr>
              <a:t>button </a:t>
            </a:r>
            <a:r>
              <a:rPr sz="2200" dirty="0">
                <a:latin typeface="Perpetua"/>
                <a:cs typeface="Perpetua"/>
              </a:rPr>
              <a:t>to </a:t>
            </a:r>
            <a:r>
              <a:rPr sz="2200" spc="-5" dirty="0">
                <a:latin typeface="Perpetua"/>
                <a:cs typeface="Perpetua"/>
              </a:rPr>
              <a:t>be ON </a:t>
            </a:r>
            <a:r>
              <a:rPr sz="2200" spc="-10" dirty="0">
                <a:latin typeface="Perpetua"/>
                <a:cs typeface="Perpetua"/>
              </a:rPr>
              <a:t>but </a:t>
            </a:r>
            <a:r>
              <a:rPr sz="2200" i="1" spc="-15" dirty="0">
                <a:latin typeface="Perpetua"/>
                <a:cs typeface="Perpetua"/>
              </a:rPr>
              <a:t>how </a:t>
            </a:r>
            <a:r>
              <a:rPr sz="2200" i="1" spc="-10" dirty="0">
                <a:latin typeface="Perpetua"/>
                <a:cs typeface="Perpetua"/>
              </a:rPr>
              <a:t>is  </a:t>
            </a:r>
            <a:r>
              <a:rPr sz="2200" i="1" spc="-5" dirty="0">
                <a:latin typeface="Perpetua"/>
                <a:cs typeface="Perpetua"/>
              </a:rPr>
              <a:t>this </a:t>
            </a:r>
            <a:r>
              <a:rPr sz="2200" i="1" spc="-10" dirty="0">
                <a:latin typeface="Perpetua"/>
                <a:cs typeface="Perpetua"/>
              </a:rPr>
              <a:t>handled?</a:t>
            </a:r>
            <a:endParaRPr sz="2200">
              <a:latin typeface="Perpetua"/>
              <a:cs typeface="Perpetua"/>
            </a:endParaRPr>
          </a:p>
          <a:p>
            <a:pPr marL="835660" marR="5080" lvl="2" indent="-229235" algn="just">
              <a:lnSpc>
                <a:spcPct val="130000"/>
              </a:lnSpc>
              <a:spcBef>
                <a:spcPts val="409"/>
              </a:spcBef>
              <a:buSzPct val="84090"/>
              <a:buFont typeface="Arial"/>
              <a:buChar char="•"/>
              <a:tabLst>
                <a:tab pos="836294" algn="l"/>
              </a:tabLst>
            </a:pPr>
            <a:r>
              <a:rPr sz="2200" spc="-15" dirty="0">
                <a:latin typeface="Perpetua"/>
                <a:cs typeface="Perpetua"/>
              </a:rPr>
              <a:t>Perhaps </a:t>
            </a:r>
            <a:r>
              <a:rPr sz="2200" spc="-20" dirty="0">
                <a:latin typeface="Perpetua"/>
                <a:cs typeface="Perpetua"/>
              </a:rPr>
              <a:t>play </a:t>
            </a:r>
            <a:r>
              <a:rPr sz="2200" spc="-5" dirty="0">
                <a:latin typeface="Perpetua"/>
                <a:cs typeface="Perpetua"/>
              </a:rPr>
              <a:t>should </a:t>
            </a:r>
            <a:r>
              <a:rPr sz="2200" dirty="0">
                <a:latin typeface="Perpetua"/>
                <a:cs typeface="Perpetua"/>
              </a:rPr>
              <a:t>restart  </a:t>
            </a:r>
            <a:r>
              <a:rPr sz="2200" spc="-5" dirty="0">
                <a:latin typeface="Perpetua"/>
                <a:cs typeface="Perpetua"/>
              </a:rPr>
              <a:t>video </a:t>
            </a:r>
            <a:r>
              <a:rPr sz="2200" dirty="0">
                <a:latin typeface="Perpetua"/>
                <a:cs typeface="Perpetua"/>
              </a:rPr>
              <a:t>or </a:t>
            </a:r>
            <a:r>
              <a:rPr sz="2200" spc="5" dirty="0">
                <a:latin typeface="Perpetua"/>
                <a:cs typeface="Perpetua"/>
              </a:rPr>
              <a:t>terminate </a:t>
            </a:r>
            <a:r>
              <a:rPr sz="2200" spc="-5" dirty="0">
                <a:latin typeface="Perpetua"/>
                <a:cs typeface="Perpetua"/>
              </a:rPr>
              <a:t>app or do  nothing --- </a:t>
            </a:r>
            <a:r>
              <a:rPr sz="2200" b="1" spc="-15" dirty="0">
                <a:solidFill>
                  <a:srgbClr val="00AF50"/>
                </a:solidFill>
                <a:latin typeface="Perpetua"/>
                <a:cs typeface="Perpetua"/>
              </a:rPr>
              <a:t>but </a:t>
            </a:r>
            <a:r>
              <a:rPr sz="2200" b="1" spc="-5" dirty="0">
                <a:solidFill>
                  <a:srgbClr val="00AF50"/>
                </a:solidFill>
                <a:latin typeface="Perpetua"/>
                <a:cs typeface="Perpetua"/>
              </a:rPr>
              <a:t>define</a:t>
            </a:r>
            <a:r>
              <a:rPr sz="2200" b="1" spc="65" dirty="0">
                <a:solidFill>
                  <a:srgbClr val="00AF50"/>
                </a:solidFill>
                <a:latin typeface="Perpetua"/>
                <a:cs typeface="Perpetua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Perpetua"/>
                <a:cs typeface="Perpetua"/>
              </a:rPr>
              <a:t>it</a:t>
            </a:r>
            <a:r>
              <a:rPr sz="2200" spc="-5" dirty="0">
                <a:latin typeface="Perpetua"/>
                <a:cs typeface="Perpetua"/>
              </a:rPr>
              <a:t>.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4400" y="1447800"/>
            <a:ext cx="4111752" cy="487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81400" y="1805432"/>
            <a:ext cx="4906010" cy="1957705"/>
          </a:xfrm>
          <a:custGeom>
            <a:avLst/>
            <a:gdLst/>
            <a:ahLst/>
            <a:cxnLst/>
            <a:rect l="l" t="t" r="r" b="b"/>
            <a:pathLst>
              <a:path w="4906009" h="1957704">
                <a:moveTo>
                  <a:pt x="4696433" y="1850005"/>
                </a:moveTo>
                <a:lnTo>
                  <a:pt x="4704619" y="1895205"/>
                </a:lnTo>
                <a:lnTo>
                  <a:pt x="4727840" y="1928163"/>
                </a:lnTo>
                <a:lnTo>
                  <a:pt x="4763134" y="1950465"/>
                </a:lnTo>
                <a:lnTo>
                  <a:pt x="4804368" y="1957320"/>
                </a:lnTo>
                <a:lnTo>
                  <a:pt x="4843637" y="1948148"/>
                </a:lnTo>
                <a:lnTo>
                  <a:pt x="4876595" y="1924927"/>
                </a:lnTo>
                <a:lnTo>
                  <a:pt x="4898898" y="1889632"/>
                </a:lnTo>
                <a:lnTo>
                  <a:pt x="4899679" y="1884933"/>
                </a:lnTo>
                <a:lnTo>
                  <a:pt x="4788154" y="1884933"/>
                </a:lnTo>
                <a:lnTo>
                  <a:pt x="4696433" y="1850005"/>
                </a:lnTo>
                <a:close/>
              </a:path>
              <a:path w="4906009" h="1957704">
                <a:moveTo>
                  <a:pt x="4721397" y="1784484"/>
                </a:moveTo>
                <a:lnTo>
                  <a:pt x="4702302" y="1814702"/>
                </a:lnTo>
                <a:lnTo>
                  <a:pt x="4696433" y="1850005"/>
                </a:lnTo>
                <a:lnTo>
                  <a:pt x="4788154" y="1884933"/>
                </a:lnTo>
                <a:lnTo>
                  <a:pt x="4813046" y="1819401"/>
                </a:lnTo>
                <a:lnTo>
                  <a:pt x="4721397" y="1784484"/>
                </a:lnTo>
                <a:close/>
              </a:path>
              <a:path w="4906009" h="1957704">
                <a:moveTo>
                  <a:pt x="4796831" y="1747015"/>
                </a:moveTo>
                <a:lnTo>
                  <a:pt x="4757562" y="1756187"/>
                </a:lnTo>
                <a:lnTo>
                  <a:pt x="4724604" y="1779408"/>
                </a:lnTo>
                <a:lnTo>
                  <a:pt x="4721397" y="1784484"/>
                </a:lnTo>
                <a:lnTo>
                  <a:pt x="4813046" y="1819401"/>
                </a:lnTo>
                <a:lnTo>
                  <a:pt x="4788154" y="1884933"/>
                </a:lnTo>
                <a:lnTo>
                  <a:pt x="4899679" y="1884933"/>
                </a:lnTo>
                <a:lnTo>
                  <a:pt x="4905752" y="1848399"/>
                </a:lnTo>
                <a:lnTo>
                  <a:pt x="4896580" y="1809130"/>
                </a:lnTo>
                <a:lnTo>
                  <a:pt x="4873359" y="1776172"/>
                </a:lnTo>
                <a:lnTo>
                  <a:pt x="4838065" y="1753869"/>
                </a:lnTo>
                <a:lnTo>
                  <a:pt x="4796831" y="1747015"/>
                </a:lnTo>
                <a:close/>
              </a:path>
              <a:path w="4906009" h="1957704">
                <a:moveTo>
                  <a:pt x="4551045" y="1719579"/>
                </a:moveTo>
                <a:lnTo>
                  <a:pt x="4526026" y="1785112"/>
                </a:lnTo>
                <a:lnTo>
                  <a:pt x="4696433" y="1850005"/>
                </a:lnTo>
                <a:lnTo>
                  <a:pt x="4702302" y="1814702"/>
                </a:lnTo>
                <a:lnTo>
                  <a:pt x="4721397" y="1784484"/>
                </a:lnTo>
                <a:lnTo>
                  <a:pt x="4551045" y="1719579"/>
                </a:lnTo>
                <a:close/>
              </a:path>
              <a:path w="4906009" h="1957704">
                <a:moveTo>
                  <a:pt x="4092448" y="1544827"/>
                </a:moveTo>
                <a:lnTo>
                  <a:pt x="4067555" y="1610359"/>
                </a:lnTo>
                <a:lnTo>
                  <a:pt x="4329557" y="1710181"/>
                </a:lnTo>
                <a:lnTo>
                  <a:pt x="4354449" y="1644777"/>
                </a:lnTo>
                <a:lnTo>
                  <a:pt x="4092448" y="1544827"/>
                </a:lnTo>
                <a:close/>
              </a:path>
              <a:path w="4906009" h="1957704">
                <a:moveTo>
                  <a:pt x="3633851" y="1370202"/>
                </a:moveTo>
                <a:lnTo>
                  <a:pt x="3608958" y="1435734"/>
                </a:lnTo>
                <a:lnTo>
                  <a:pt x="3870959" y="1535556"/>
                </a:lnTo>
                <a:lnTo>
                  <a:pt x="3895979" y="1470025"/>
                </a:lnTo>
                <a:lnTo>
                  <a:pt x="3633851" y="1370202"/>
                </a:lnTo>
                <a:close/>
              </a:path>
              <a:path w="4906009" h="1957704">
                <a:moveTo>
                  <a:pt x="3175254" y="1195451"/>
                </a:moveTo>
                <a:lnTo>
                  <a:pt x="3150361" y="1260982"/>
                </a:lnTo>
                <a:lnTo>
                  <a:pt x="3412363" y="1360804"/>
                </a:lnTo>
                <a:lnTo>
                  <a:pt x="3437381" y="1295272"/>
                </a:lnTo>
                <a:lnTo>
                  <a:pt x="3175254" y="1195451"/>
                </a:lnTo>
                <a:close/>
              </a:path>
              <a:path w="4906009" h="1957704">
                <a:moveTo>
                  <a:pt x="2716657" y="1020826"/>
                </a:moveTo>
                <a:lnTo>
                  <a:pt x="2691765" y="1086357"/>
                </a:lnTo>
                <a:lnTo>
                  <a:pt x="2953766" y="1186179"/>
                </a:lnTo>
                <a:lnTo>
                  <a:pt x="2978784" y="1120647"/>
                </a:lnTo>
                <a:lnTo>
                  <a:pt x="2716657" y="1020826"/>
                </a:lnTo>
                <a:close/>
              </a:path>
              <a:path w="4906009" h="1957704">
                <a:moveTo>
                  <a:pt x="2258187" y="846073"/>
                </a:moveTo>
                <a:lnTo>
                  <a:pt x="2233167" y="911605"/>
                </a:lnTo>
                <a:lnTo>
                  <a:pt x="2495169" y="1011427"/>
                </a:lnTo>
                <a:lnTo>
                  <a:pt x="2520188" y="945895"/>
                </a:lnTo>
                <a:lnTo>
                  <a:pt x="2258187" y="846073"/>
                </a:lnTo>
                <a:close/>
              </a:path>
              <a:path w="4906009" h="1957704">
                <a:moveTo>
                  <a:pt x="1799589" y="671448"/>
                </a:moveTo>
                <a:lnTo>
                  <a:pt x="1774571" y="736853"/>
                </a:lnTo>
                <a:lnTo>
                  <a:pt x="2036699" y="836802"/>
                </a:lnTo>
                <a:lnTo>
                  <a:pt x="2061590" y="771270"/>
                </a:lnTo>
                <a:lnTo>
                  <a:pt x="1799589" y="671448"/>
                </a:lnTo>
                <a:close/>
              </a:path>
              <a:path w="4906009" h="1957704">
                <a:moveTo>
                  <a:pt x="1340992" y="496696"/>
                </a:moveTo>
                <a:lnTo>
                  <a:pt x="1315974" y="562228"/>
                </a:lnTo>
                <a:lnTo>
                  <a:pt x="1578102" y="662051"/>
                </a:lnTo>
                <a:lnTo>
                  <a:pt x="1602994" y="596518"/>
                </a:lnTo>
                <a:lnTo>
                  <a:pt x="1340992" y="496696"/>
                </a:lnTo>
                <a:close/>
              </a:path>
              <a:path w="4906009" h="1957704">
                <a:moveTo>
                  <a:pt x="882396" y="322071"/>
                </a:moveTo>
                <a:lnTo>
                  <a:pt x="857503" y="387476"/>
                </a:lnTo>
                <a:lnTo>
                  <a:pt x="1119504" y="487298"/>
                </a:lnTo>
                <a:lnTo>
                  <a:pt x="1144397" y="421893"/>
                </a:lnTo>
                <a:lnTo>
                  <a:pt x="882396" y="322071"/>
                </a:lnTo>
                <a:close/>
              </a:path>
              <a:path w="4906009" h="1957704">
                <a:moveTo>
                  <a:pt x="423799" y="147319"/>
                </a:moveTo>
                <a:lnTo>
                  <a:pt x="398907" y="212851"/>
                </a:lnTo>
                <a:lnTo>
                  <a:pt x="660908" y="312673"/>
                </a:lnTo>
                <a:lnTo>
                  <a:pt x="685926" y="247141"/>
                </a:lnTo>
                <a:lnTo>
                  <a:pt x="423799" y="147319"/>
                </a:lnTo>
                <a:close/>
              </a:path>
              <a:path w="4906009" h="1957704">
                <a:moveTo>
                  <a:pt x="233934" y="0"/>
                </a:moveTo>
                <a:lnTo>
                  <a:pt x="0" y="23367"/>
                </a:lnTo>
                <a:lnTo>
                  <a:pt x="159130" y="196468"/>
                </a:lnTo>
                <a:lnTo>
                  <a:pt x="184065" y="130977"/>
                </a:lnTo>
                <a:lnTo>
                  <a:pt x="151257" y="118490"/>
                </a:lnTo>
                <a:lnTo>
                  <a:pt x="176275" y="52958"/>
                </a:lnTo>
                <a:lnTo>
                  <a:pt x="213770" y="52958"/>
                </a:lnTo>
                <a:lnTo>
                  <a:pt x="233934" y="0"/>
                </a:lnTo>
                <a:close/>
              </a:path>
              <a:path w="4906009" h="1957704">
                <a:moveTo>
                  <a:pt x="209024" y="65423"/>
                </a:moveTo>
                <a:lnTo>
                  <a:pt x="184065" y="130977"/>
                </a:lnTo>
                <a:lnTo>
                  <a:pt x="202311" y="137921"/>
                </a:lnTo>
                <a:lnTo>
                  <a:pt x="227329" y="72389"/>
                </a:lnTo>
                <a:lnTo>
                  <a:pt x="209024" y="65423"/>
                </a:lnTo>
                <a:close/>
              </a:path>
              <a:path w="4906009" h="1957704">
                <a:moveTo>
                  <a:pt x="176275" y="52958"/>
                </a:moveTo>
                <a:lnTo>
                  <a:pt x="151257" y="118490"/>
                </a:lnTo>
                <a:lnTo>
                  <a:pt x="184065" y="130977"/>
                </a:lnTo>
                <a:lnTo>
                  <a:pt x="209024" y="65423"/>
                </a:lnTo>
                <a:lnTo>
                  <a:pt x="176275" y="52958"/>
                </a:lnTo>
                <a:close/>
              </a:path>
              <a:path w="4906009" h="1957704">
                <a:moveTo>
                  <a:pt x="213770" y="52958"/>
                </a:moveTo>
                <a:lnTo>
                  <a:pt x="176275" y="52958"/>
                </a:lnTo>
                <a:lnTo>
                  <a:pt x="209024" y="65423"/>
                </a:lnTo>
                <a:lnTo>
                  <a:pt x="213770" y="52958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582877"/>
            <a:ext cx="8124825" cy="3029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Construction of </a:t>
            </a:r>
            <a:r>
              <a:rPr sz="2600" spc="-5" dirty="0">
                <a:latin typeface="Perpetua"/>
                <a:cs typeface="Perpetua"/>
              </a:rPr>
              <a:t>functional</a:t>
            </a:r>
            <a:r>
              <a:rPr sz="2600" spc="-10" dirty="0">
                <a:latin typeface="Perpetua"/>
                <a:cs typeface="Perpetua"/>
              </a:rPr>
              <a:t> requirements.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5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Checking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uniform </a:t>
            </a:r>
            <a:r>
              <a:rPr sz="2600" dirty="0">
                <a:latin typeface="Perpetua"/>
                <a:cs typeface="Perpetua"/>
              </a:rPr>
              <a:t>understanding of the </a:t>
            </a:r>
            <a:r>
              <a:rPr sz="2600" spc="-5" dirty="0">
                <a:latin typeface="Perpetua"/>
                <a:cs typeface="Perpetua"/>
              </a:rPr>
              <a:t>functions </a:t>
            </a:r>
            <a:r>
              <a:rPr sz="2600" dirty="0">
                <a:latin typeface="Perpetua"/>
                <a:cs typeface="Perpetua"/>
              </a:rPr>
              <a:t>identified in  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problem.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16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Checking </a:t>
            </a:r>
            <a:r>
              <a:rPr sz="2600" spc="-5" dirty="0">
                <a:latin typeface="Perpetua"/>
                <a:cs typeface="Perpetua"/>
              </a:rPr>
              <a:t>contradictions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functional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descriptions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16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5" dirty="0">
                <a:latin typeface="Perpetua"/>
                <a:cs typeface="Perpetua"/>
              </a:rPr>
              <a:t>Checking </a:t>
            </a:r>
            <a:r>
              <a:rPr sz="2600" spc="-5" dirty="0">
                <a:latin typeface="Perpetua"/>
                <a:cs typeface="Perpetua"/>
              </a:rPr>
              <a:t>for completeness </a:t>
            </a:r>
            <a:r>
              <a:rPr sz="2600" dirty="0">
                <a:latin typeface="Perpetua"/>
                <a:cs typeface="Perpetua"/>
              </a:rPr>
              <a:t>using </a:t>
            </a:r>
            <a:r>
              <a:rPr sz="2600" spc="-10" dirty="0">
                <a:latin typeface="Perpetua"/>
                <a:cs typeface="Perpetua"/>
              </a:rPr>
              <a:t>state </a:t>
            </a:r>
            <a:r>
              <a:rPr sz="2600" spc="-5" dirty="0">
                <a:latin typeface="Perpetua"/>
                <a:cs typeface="Perpetua"/>
              </a:rPr>
              <a:t>activity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table.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738886"/>
            <a:ext cx="4138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000000"/>
                </a:solidFill>
              </a:rPr>
              <a:t>What </a:t>
            </a:r>
            <a:r>
              <a:rPr sz="4000" spc="-5" dirty="0">
                <a:solidFill>
                  <a:srgbClr val="000000"/>
                </a:solidFill>
              </a:rPr>
              <a:t>has been</a:t>
            </a:r>
            <a:r>
              <a:rPr sz="4000" spc="-4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described?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381000" y="228600"/>
            <a:ext cx="533400" cy="5740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08828" y="5958332"/>
            <a:ext cx="2744470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5" dirty="0">
                <a:latin typeface="Perpetua"/>
                <a:cs typeface="Perpetua"/>
              </a:rPr>
              <a:t>Credits</a:t>
            </a:r>
            <a:r>
              <a:rPr sz="1050" i="1" spc="-5" dirty="0">
                <a:latin typeface="Perpetua"/>
                <a:cs typeface="Perpetua"/>
              </a:rPr>
              <a:t>:</a:t>
            </a:r>
            <a:endParaRPr sz="1050">
              <a:latin typeface="Perpetua"/>
              <a:cs typeface="Perpetua"/>
            </a:endParaRPr>
          </a:p>
          <a:p>
            <a:pPr marL="59690" indent="-47625">
              <a:lnSpc>
                <a:spcPct val="100000"/>
              </a:lnSpc>
              <a:buSzPct val="90476"/>
              <a:buFont typeface="Arial"/>
              <a:buChar char="•"/>
              <a:tabLst>
                <a:tab pos="60325" algn="l"/>
              </a:tabLst>
            </a:pPr>
            <a:r>
              <a:rPr sz="1050" i="1" spc="-5" dirty="0">
                <a:latin typeface="Perpetua"/>
                <a:cs typeface="Perpetua"/>
                <a:hlinkClick r:id="rId3"/>
              </a:rPr>
              <a:t>http://www.bbc.co.uk/education/guides/zp92mp3/revision</a:t>
            </a:r>
            <a:endParaRPr sz="1050">
              <a:latin typeface="Perpetua"/>
              <a:cs typeface="Perpetua"/>
            </a:endParaRPr>
          </a:p>
          <a:p>
            <a:pPr marL="59690" indent="-47625">
              <a:lnSpc>
                <a:spcPct val="100000"/>
              </a:lnSpc>
              <a:buSzPct val="90476"/>
              <a:buFont typeface="Arial"/>
              <a:buChar char="•"/>
              <a:tabLst>
                <a:tab pos="60325" algn="l"/>
              </a:tabLst>
            </a:pPr>
            <a:r>
              <a:rPr sz="1050" i="1" spc="-5" dirty="0">
                <a:latin typeface="Perpetua"/>
                <a:cs typeface="Perpetua"/>
                <a:hlinkClick r:id="rId4"/>
              </a:rPr>
              <a:t>http://courses.cs.vt.edu/cs2104/Summer2014/</a:t>
            </a:r>
            <a:endParaRPr sz="105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7BC578-7AF5-4D7E-A049-810ECB23293D}"/>
</file>

<file path=customXml/itemProps2.xml><?xml version="1.0" encoding="utf-8"?>
<ds:datastoreItem xmlns:ds="http://schemas.openxmlformats.org/officeDocument/2006/customXml" ds:itemID="{036ACDA3-133A-44DF-9B1E-190F87D7A29E}"/>
</file>

<file path=customXml/itemProps3.xml><?xml version="1.0" encoding="utf-8"?>
<ds:datastoreItem xmlns:ds="http://schemas.openxmlformats.org/officeDocument/2006/customXml" ds:itemID="{2B614790-4B2D-4075-9E75-44D4D45860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1757</Words>
  <Application>Microsoft Office PowerPoint</Application>
  <PresentationFormat>On-screen Show (4:3)</PresentationFormat>
  <Paragraphs>258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Slide 1</vt:lpstr>
      <vt:lpstr>Slide 2</vt:lpstr>
      <vt:lpstr>PROBLEM DEFINITION:  A software perspective</vt:lpstr>
      <vt:lpstr>The relationship</vt:lpstr>
      <vt:lpstr>Significance of Problem Definition</vt:lpstr>
      <vt:lpstr>Problem definition / software analysis</vt:lpstr>
      <vt:lpstr>Slide 7</vt:lpstr>
      <vt:lpstr>Vanilla Ice cream that puzzles General Motors</vt:lpstr>
      <vt:lpstr>Vanilla Ice cream that puzzles General Motors (Contd)</vt:lpstr>
      <vt:lpstr>Vanilla Ice cream that puzzles General Motors (Contd)</vt:lpstr>
      <vt:lpstr>Slide 11</vt:lpstr>
      <vt:lpstr>Vanilla Ice cream that puzzles General Motors (Contd)</vt:lpstr>
      <vt:lpstr>Vanilla Ice cream that puzzles General Motors (Contd)</vt:lpstr>
      <vt:lpstr>Vanilla Ice cream that puzzles General Motors -  SOLUTION</vt:lpstr>
      <vt:lpstr>Vanilla Ice cream that puzzles General Motors -  SOLUTION</vt:lpstr>
      <vt:lpstr>Slide 16</vt:lpstr>
      <vt:lpstr>Video Player Application</vt:lpstr>
      <vt:lpstr>Solution</vt:lpstr>
      <vt:lpstr>Types of requirements</vt:lpstr>
      <vt:lpstr>Solution</vt:lpstr>
      <vt:lpstr>In general,</vt:lpstr>
      <vt:lpstr>A detailed look into requirements of the video app</vt:lpstr>
      <vt:lpstr>Slide 23</vt:lpstr>
      <vt:lpstr>Functional requirement validation</vt:lpstr>
      <vt:lpstr>Slide 25</vt:lpstr>
      <vt:lpstr>Slide 26</vt:lpstr>
      <vt:lpstr>Slide 27</vt:lpstr>
      <vt:lpstr>Template for state activity table</vt:lpstr>
      <vt:lpstr>Validating for completeness in the video app</vt:lpstr>
      <vt:lpstr>State activity table for video app ( V1 to V6)</vt:lpstr>
      <vt:lpstr>Impossible state-action combinations in video app</vt:lpstr>
      <vt:lpstr>Check for completeness in the video app Is the state activity table complete?</vt:lpstr>
      <vt:lpstr>What has been described?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12</cp:revision>
  <dcterms:created xsi:type="dcterms:W3CDTF">2020-09-07T07:05:59Z</dcterms:created>
  <dcterms:modified xsi:type="dcterms:W3CDTF">2021-10-08T03:25:54Z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