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7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3540" y="1179258"/>
            <a:ext cx="3805554" cy="415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80228" y="1255458"/>
            <a:ext cx="3653790" cy="423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22301"/>
            <a:ext cx="8529319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434" y="1384864"/>
            <a:ext cx="8533130" cy="441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tu.edu/people/stevearmstrong/.../Chapter%205%20Malik.ppt" TargetMode="External"/><Relationship Id="rId2" Type="http://schemas.openxmlformats.org/officeDocument/2006/relationships/hyperlink" Target="http://www.eecs.qmul.ac.uk/~pc/research/education/puzzles/read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hyperlink" Target="http://www.engr.sjsu.edu/bjfurman/courses/.../lecture_4_repetition_structures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-5" dirty="0" smtClean="0">
                <a:latin typeface="Perpetua"/>
                <a:cs typeface="Perpetua"/>
              </a:rPr>
              <a:t>Repetition</a:t>
            </a:r>
            <a:endParaRPr sz="44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195781"/>
            <a:ext cx="2277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Perpetua"/>
                <a:cs typeface="Perpetua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2455"/>
            <a:ext cx="8072755" cy="36569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727075" algn="l"/>
                <a:tab pos="2202815" algn="l"/>
                <a:tab pos="2803525" algn="l"/>
                <a:tab pos="4219575" algn="l"/>
                <a:tab pos="4984750" algn="l"/>
                <a:tab pos="5977890" algn="l"/>
                <a:tab pos="6499860" algn="l"/>
                <a:tab pos="7822565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de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th</a:t>
            </a:r>
            <a:r>
              <a:rPr sz="2600" spc="-2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lgo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ithms	often	i</a:t>
            </a:r>
            <a:r>
              <a:rPr sz="2600" spc="-50" dirty="0">
                <a:latin typeface="Perpetua"/>
                <a:cs typeface="Perpetua"/>
              </a:rPr>
              <a:t>n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ol</a:t>
            </a:r>
            <a:r>
              <a:rPr sz="2600" spc="-60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the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epe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ition	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spc="-10" dirty="0">
                <a:latin typeface="Perpetua"/>
                <a:cs typeface="Perpetua"/>
              </a:rPr>
              <a:t>statements.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test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termination in</a:t>
            </a:r>
            <a:r>
              <a:rPr sz="2600" spc="-26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looping.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and function of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for  repetition.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10" dirty="0">
                <a:latin typeface="Perpetua"/>
                <a:cs typeface="Perpetua"/>
              </a:rPr>
              <a:t>computational </a:t>
            </a:r>
            <a:r>
              <a:rPr sz="2600" spc="-5" dirty="0">
                <a:latin typeface="Perpetua"/>
                <a:cs typeface="Perpetua"/>
              </a:rPr>
              <a:t>state of repetition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use </a:t>
            </a:r>
            <a:r>
              <a:rPr sz="2600" spc="-5" dirty="0">
                <a:latin typeface="Perpetua"/>
                <a:cs typeface="Perpetua"/>
              </a:rPr>
              <a:t>of counter and </a:t>
            </a:r>
            <a:r>
              <a:rPr sz="2600" dirty="0">
                <a:latin typeface="Perpetua"/>
                <a:cs typeface="Perpetua"/>
              </a:rPr>
              <a:t>sentinels in</a:t>
            </a:r>
            <a:r>
              <a:rPr sz="2600" spc="-29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loops.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760730" algn="l"/>
                <a:tab pos="1548765" algn="l"/>
                <a:tab pos="1976755" algn="l"/>
                <a:tab pos="2804795" algn="l"/>
                <a:tab pos="4253230" algn="l"/>
                <a:tab pos="5051425" algn="l"/>
                <a:tab pos="5949315" algn="l"/>
                <a:tab pos="6355080" algn="l"/>
                <a:tab pos="7036434" algn="l"/>
                <a:tab pos="7440295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lea</a:t>
            </a:r>
            <a:r>
              <a:rPr sz="2600" spc="6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w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ite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ithms	using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ps,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ell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u</a:t>
            </a:r>
            <a:r>
              <a:rPr sz="2600" spc="-2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ing  selection </a:t>
            </a:r>
            <a:r>
              <a:rPr sz="2600" spc="-5" dirty="0">
                <a:latin typeface="Perpetua"/>
                <a:cs typeface="Perpetua"/>
              </a:rPr>
              <a:t>statements </a:t>
            </a:r>
            <a:r>
              <a:rPr sz="2600" dirty="0">
                <a:latin typeface="Perpetua"/>
                <a:cs typeface="Perpetua"/>
              </a:rPr>
              <a:t>within</a:t>
            </a:r>
            <a:r>
              <a:rPr sz="2600" spc="-15" dirty="0">
                <a:latin typeface="Perpetua"/>
                <a:cs typeface="Perpetua"/>
              </a:rPr>
              <a:t> loops.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60599" y="5335804"/>
            <a:ext cx="3036000" cy="1314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000" y="228600"/>
            <a:ext cx="1426768" cy="1047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173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5" dirty="0"/>
              <a:t>Repetitive</a:t>
            </a:r>
            <a:r>
              <a:rPr spc="-550" dirty="0"/>
              <a:t> </a:t>
            </a:r>
            <a:r>
              <a:rPr spc="-114" dirty="0"/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860" cy="4741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889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spc="-20" dirty="0">
                <a:latin typeface="Perpetua"/>
                <a:cs typeface="Perpetua"/>
              </a:rPr>
              <a:t>everyday </a:t>
            </a:r>
            <a:r>
              <a:rPr sz="2600" i="1" spc="-15" dirty="0">
                <a:latin typeface="Perpetua"/>
                <a:cs typeface="Perpetua"/>
              </a:rPr>
              <a:t>life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must often </a:t>
            </a:r>
            <a:r>
              <a:rPr sz="2600" i="1" spc="-10" dirty="0">
                <a:latin typeface="Perpetua"/>
                <a:cs typeface="Perpetua"/>
              </a:rPr>
              <a:t>repeat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sequence of actions </a:t>
            </a:r>
            <a:r>
              <a:rPr sz="2600" i="1" dirty="0">
                <a:latin typeface="Perpetua"/>
                <a:cs typeface="Perpetua"/>
              </a:rPr>
              <a:t>in </a:t>
            </a:r>
            <a:r>
              <a:rPr sz="2600" i="1" spc="-5" dirty="0">
                <a:latin typeface="Perpetua"/>
                <a:cs typeface="Perpetua"/>
              </a:rPr>
              <a:t>order to </a:t>
            </a:r>
            <a:r>
              <a:rPr sz="2600" i="1" spc="-10" dirty="0">
                <a:latin typeface="Perpetua"/>
                <a:cs typeface="Perpetua"/>
              </a:rPr>
              <a:t>achieve  </a:t>
            </a:r>
            <a:r>
              <a:rPr sz="2600" i="1" spc="-5" dirty="0">
                <a:latin typeface="Perpetua"/>
                <a:cs typeface="Perpetua"/>
              </a:rPr>
              <a:t>some greater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outcome.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3550">
              <a:latin typeface="Times New Roman"/>
              <a:cs typeface="Times New Roman"/>
            </a:endParaRPr>
          </a:p>
          <a:p>
            <a:pPr marL="561340" marR="6350" lvl="1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paint a </a:t>
            </a:r>
            <a:r>
              <a:rPr sz="2600" i="1" spc="-15" dirty="0">
                <a:latin typeface="Perpetua"/>
                <a:cs typeface="Perpetua"/>
              </a:rPr>
              <a:t>wall</a:t>
            </a:r>
            <a:r>
              <a:rPr sz="2600" spc="-15" dirty="0">
                <a:latin typeface="Perpetua"/>
                <a:cs typeface="Perpetua"/>
              </a:rPr>
              <a:t>,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5" dirty="0">
                <a:latin typeface="Perpetua"/>
                <a:cs typeface="Perpetua"/>
              </a:rPr>
              <a:t>dipping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spc="10" dirty="0">
                <a:latin typeface="Perpetua"/>
                <a:cs typeface="Perpetua"/>
              </a:rPr>
              <a:t>brush </a:t>
            </a:r>
            <a:r>
              <a:rPr sz="2600" dirty="0">
                <a:latin typeface="Perpetua"/>
                <a:cs typeface="Perpetua"/>
              </a:rPr>
              <a:t>into the paint  can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applying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paint to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wall.</a:t>
            </a:r>
            <a:endParaRPr sz="2600">
              <a:latin typeface="Perpetua"/>
              <a:cs typeface="Perpetua"/>
            </a:endParaRPr>
          </a:p>
          <a:p>
            <a:pPr marL="561340" marR="8255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construct a </a:t>
            </a:r>
            <a:r>
              <a:rPr sz="2600" i="1" spc="-10" dirty="0">
                <a:latin typeface="Perpetua"/>
                <a:cs typeface="Perpetua"/>
              </a:rPr>
              <a:t>fence</a:t>
            </a:r>
            <a:r>
              <a:rPr sz="2600" spc="-10" dirty="0">
                <a:latin typeface="Perpetua"/>
                <a:cs typeface="Perpetua"/>
              </a:rPr>
              <a:t>,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dirty="0">
                <a:latin typeface="Perpetua"/>
                <a:cs typeface="Perpetua"/>
              </a:rPr>
              <a:t>digging a hole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10" dirty="0">
                <a:latin typeface="Perpetua"/>
                <a:cs typeface="Perpetua"/>
              </a:rPr>
              <a:t>inserting </a:t>
            </a:r>
            <a:r>
              <a:rPr sz="2600" dirty="0">
                <a:latin typeface="Perpetua"/>
                <a:cs typeface="Perpetua"/>
              </a:rPr>
              <a:t>a  fence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post.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25" dirty="0">
                <a:latin typeface="Perpetua"/>
                <a:cs typeface="Perpetua"/>
              </a:rPr>
              <a:t>even </a:t>
            </a:r>
            <a:r>
              <a:rPr sz="2600" i="1" spc="-5" dirty="0">
                <a:latin typeface="Perpetua"/>
                <a:cs typeface="Perpetua"/>
              </a:rPr>
              <a:t>sing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song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5" dirty="0">
                <a:latin typeface="Perpetua"/>
                <a:cs typeface="Perpetua"/>
              </a:rPr>
              <a:t>singing </a:t>
            </a:r>
            <a:r>
              <a:rPr sz="2600" dirty="0">
                <a:latin typeface="Perpetua"/>
                <a:cs typeface="Perpetua"/>
              </a:rPr>
              <a:t>a verse </a:t>
            </a:r>
            <a:r>
              <a:rPr sz="2600" spc="-25" dirty="0">
                <a:latin typeface="Perpetua"/>
                <a:cs typeface="Perpetua"/>
              </a:rPr>
              <a:t>followed by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5" dirty="0">
                <a:latin typeface="Perpetua"/>
                <a:cs typeface="Perpetua"/>
              </a:rPr>
              <a:t>chorus.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repetitive </a:t>
            </a:r>
            <a:r>
              <a:rPr sz="2600" i="1" dirty="0">
                <a:latin typeface="Perpetua"/>
                <a:cs typeface="Perpetua"/>
              </a:rPr>
              <a:t>task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actions/instructions.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20740" y="152400"/>
            <a:ext cx="2999232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42646"/>
            <a:ext cx="5951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10" dirty="0"/>
              <a:t>Read </a:t>
            </a:r>
            <a:r>
              <a:rPr dirty="0"/>
              <a:t>books </a:t>
            </a:r>
            <a:r>
              <a:rPr spc="-5" dirty="0"/>
              <a:t>on the</a:t>
            </a:r>
            <a:r>
              <a:rPr spc="-70" dirty="0"/>
              <a:t> </a:t>
            </a:r>
            <a:r>
              <a:rPr dirty="0"/>
              <a:t>bookshelf</a:t>
            </a:r>
          </a:p>
        </p:txBody>
      </p:sp>
      <p:sp>
        <p:nvSpPr>
          <p:cNvPr id="3" name="object 3"/>
          <p:cNvSpPr/>
          <p:nvPr/>
        </p:nvSpPr>
        <p:spPr>
          <a:xfrm>
            <a:off x="6864752" y="225423"/>
            <a:ext cx="936870" cy="1173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85531" y="1190244"/>
            <a:ext cx="1001268" cy="1019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1357544"/>
            <a:ext cx="8224520" cy="492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1004569" indent="-287020">
              <a:lnSpc>
                <a:spcPct val="1193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This is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situation </a:t>
            </a:r>
            <a:r>
              <a:rPr sz="2600" i="1" spc="-15" dirty="0">
                <a:latin typeface="Perpetua"/>
                <a:cs typeface="Perpetua"/>
              </a:rPr>
              <a:t>where </a:t>
            </a:r>
            <a:r>
              <a:rPr sz="2600" i="1" dirty="0">
                <a:latin typeface="Perpetua"/>
                <a:cs typeface="Perpetua"/>
              </a:rPr>
              <a:t>I am </a:t>
            </a:r>
            <a:r>
              <a:rPr sz="2600" i="1" spc="-5" dirty="0">
                <a:latin typeface="Perpetua"/>
                <a:cs typeface="Perpetua"/>
              </a:rPr>
              <a:t>doing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similar thing </a:t>
            </a:r>
            <a:r>
              <a:rPr sz="2600" i="1" spc="-20" dirty="0">
                <a:latin typeface="Perpetua"/>
                <a:cs typeface="Perpetua"/>
              </a:rPr>
              <a:t>over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20" dirty="0">
                <a:latin typeface="Perpetua"/>
                <a:cs typeface="Perpetua"/>
              </a:rPr>
              <a:t>over  again.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repetitive </a:t>
            </a:r>
            <a:r>
              <a:rPr sz="2600" dirty="0">
                <a:latin typeface="Perpetua"/>
                <a:cs typeface="Perpetua"/>
              </a:rPr>
              <a:t>task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 marL="916305" lvl="1" indent="-30988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916940" algn="l"/>
              </a:tabLst>
            </a:pPr>
            <a:r>
              <a:rPr sz="2600" spc="10" dirty="0">
                <a:latin typeface="Perpetua"/>
                <a:cs typeface="Perpetua"/>
              </a:rPr>
              <a:t>Pick </a:t>
            </a:r>
            <a:r>
              <a:rPr sz="2600" dirty="0">
                <a:latin typeface="Perpetua"/>
                <a:cs typeface="Perpetua"/>
              </a:rPr>
              <a:t>a book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read.</a:t>
            </a:r>
            <a:endParaRPr sz="2600">
              <a:latin typeface="Perpetua"/>
              <a:cs typeface="Perpetua"/>
            </a:endParaRPr>
          </a:p>
          <a:p>
            <a:pPr marL="916305" lvl="1" indent="-30988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916940" algn="l"/>
              </a:tabLst>
            </a:pPr>
            <a:r>
              <a:rPr sz="2600" spc="-5" dirty="0">
                <a:latin typeface="Perpetua"/>
                <a:cs typeface="Perpetua"/>
              </a:rPr>
              <a:t>Read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book.</a:t>
            </a:r>
            <a:endParaRPr sz="2600">
              <a:latin typeface="Perpetua"/>
              <a:cs typeface="Perpetua"/>
            </a:endParaRPr>
          </a:p>
          <a:p>
            <a:pPr marL="916305" lvl="1" indent="-30988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916940" algn="l"/>
              </a:tabLst>
            </a:pPr>
            <a:r>
              <a:rPr sz="2600" dirty="0">
                <a:latin typeface="Perpetua"/>
                <a:cs typeface="Perpetua"/>
              </a:rPr>
              <a:t>Put the </a:t>
            </a:r>
            <a:r>
              <a:rPr sz="2600" spc="-5" dirty="0">
                <a:latin typeface="Perpetua"/>
                <a:cs typeface="Perpetua"/>
              </a:rPr>
              <a:t>book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back.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Perpetua"/>
              <a:buAutoNum type="arabicPeriod"/>
            </a:pPr>
            <a:endParaRPr sz="3000">
              <a:latin typeface="Times New Roman"/>
              <a:cs typeface="Times New Roman"/>
            </a:endParaRPr>
          </a:p>
          <a:p>
            <a:pPr marL="2996565" lvl="2" indent="-240665">
              <a:lnSpc>
                <a:spcPct val="100000"/>
              </a:lnSpc>
              <a:spcBef>
                <a:spcPts val="1865"/>
              </a:spcBef>
              <a:buSzPct val="95833"/>
              <a:buFont typeface="Wingdings"/>
              <a:buChar char=""/>
              <a:tabLst>
                <a:tab pos="2997200" algn="l"/>
              </a:tabLst>
            </a:pP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think </a:t>
            </a:r>
            <a:r>
              <a:rPr sz="2400" i="1" dirty="0">
                <a:latin typeface="Perpetua"/>
                <a:cs typeface="Perpetua"/>
              </a:rPr>
              <a:t>the description </a:t>
            </a:r>
            <a:r>
              <a:rPr sz="2400" i="1" spc="-5" dirty="0">
                <a:latin typeface="Perpetua"/>
                <a:cs typeface="Perpetua"/>
              </a:rPr>
              <a:t>is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complete?</a:t>
            </a:r>
            <a:endParaRPr sz="2400">
              <a:latin typeface="Perpetua"/>
              <a:cs typeface="Perpetua"/>
            </a:endParaRPr>
          </a:p>
          <a:p>
            <a:pPr lvl="2">
              <a:lnSpc>
                <a:spcPct val="100000"/>
              </a:lnSpc>
              <a:buFont typeface="Wingdings"/>
              <a:buChar char=""/>
            </a:pPr>
            <a:endParaRPr sz="2500">
              <a:latin typeface="Times New Roman"/>
              <a:cs typeface="Times New Roman"/>
            </a:endParaRPr>
          </a:p>
          <a:p>
            <a:pPr marL="2996565" lvl="2" indent="-24066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2997200" algn="l"/>
              </a:tabLst>
            </a:pPr>
            <a:r>
              <a:rPr sz="2400" i="1" dirty="0">
                <a:latin typeface="Perpetua"/>
                <a:cs typeface="Perpetua"/>
              </a:rPr>
              <a:t>Does the description </a:t>
            </a:r>
            <a:r>
              <a:rPr sz="2400" i="1" spc="-10" dirty="0">
                <a:latin typeface="Perpetua"/>
                <a:cs typeface="Perpetua"/>
              </a:rPr>
              <a:t>include when 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should</a:t>
            </a:r>
            <a:r>
              <a:rPr sz="2400" i="1" spc="1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continue</a:t>
            </a:r>
            <a:endParaRPr sz="2400">
              <a:latin typeface="Perpetua"/>
              <a:cs typeface="Perpetua"/>
            </a:endParaRPr>
          </a:p>
          <a:p>
            <a:pPr marL="2756535">
              <a:lnSpc>
                <a:spcPct val="100000"/>
              </a:lnSpc>
            </a:pP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15" dirty="0">
                <a:latin typeface="Perpetua"/>
                <a:cs typeface="Perpetua"/>
              </a:rPr>
              <a:t>when 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should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stop?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27241" y="4038715"/>
            <a:ext cx="1432862" cy="848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05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-45" dirty="0"/>
              <a:t>Termination</a:t>
            </a:r>
            <a:r>
              <a:rPr spc="-509" dirty="0"/>
              <a:t> </a:t>
            </a:r>
            <a:r>
              <a:rPr spc="-5" dirty="0"/>
              <a:t>Condition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8925" indent="-274320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8925" algn="l"/>
              </a:tabLst>
            </a:pPr>
            <a:r>
              <a:rPr i="1" spc="-5" dirty="0">
                <a:latin typeface="Perpetua"/>
                <a:cs typeface="Perpetua"/>
              </a:rPr>
              <a:t>It </a:t>
            </a:r>
            <a:r>
              <a:rPr i="1" dirty="0">
                <a:latin typeface="Perpetua"/>
                <a:cs typeface="Perpetua"/>
              </a:rPr>
              <a:t>is </a:t>
            </a:r>
            <a:r>
              <a:rPr i="1" spc="-5" dirty="0">
                <a:latin typeface="Perpetua"/>
                <a:cs typeface="Perpetua"/>
              </a:rPr>
              <a:t>not enough to </a:t>
            </a:r>
            <a:r>
              <a:rPr i="1" spc="-10" dirty="0">
                <a:latin typeface="Perpetua"/>
                <a:cs typeface="Perpetua"/>
              </a:rPr>
              <a:t>give </a:t>
            </a:r>
            <a:r>
              <a:rPr i="1" spc="-5" dirty="0">
                <a:latin typeface="Perpetua"/>
                <a:cs typeface="Perpetua"/>
              </a:rPr>
              <a:t>the instructions to be</a:t>
            </a:r>
            <a:r>
              <a:rPr i="1" spc="114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repeated.</a:t>
            </a:r>
          </a:p>
          <a:p>
            <a:pPr marL="288290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dirty="0"/>
              <a:t>The instructions </a:t>
            </a:r>
            <a:r>
              <a:rPr spc="-5" dirty="0"/>
              <a:t>on </a:t>
            </a:r>
            <a:r>
              <a:rPr dirty="0"/>
              <a:t>when </a:t>
            </a:r>
            <a:r>
              <a:rPr spc="-5" dirty="0"/>
              <a:t>to stop </a:t>
            </a:r>
            <a:r>
              <a:rPr dirty="0"/>
              <a:t>(</a:t>
            </a:r>
            <a:r>
              <a:rPr i="1" dirty="0">
                <a:latin typeface="Perpetua"/>
                <a:cs typeface="Perpetua"/>
              </a:rPr>
              <a:t>the termination </a:t>
            </a:r>
            <a:r>
              <a:rPr i="1" spc="-5" dirty="0">
                <a:latin typeface="Perpetua"/>
                <a:cs typeface="Perpetua"/>
              </a:rPr>
              <a:t>condition</a:t>
            </a:r>
            <a:r>
              <a:rPr spc="-5" dirty="0"/>
              <a:t>) </a:t>
            </a:r>
            <a:r>
              <a:rPr dirty="0"/>
              <a:t>should </a:t>
            </a:r>
            <a:r>
              <a:rPr spc="-5" dirty="0"/>
              <a:t>be  given.</a:t>
            </a:r>
          </a:p>
          <a:p>
            <a:pPr marL="288290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  <a:tab pos="825500" algn="l"/>
                <a:tab pos="1549400" algn="l"/>
                <a:tab pos="2950210" algn="l"/>
                <a:tab pos="3853815" algn="l"/>
                <a:tab pos="4410075" algn="l"/>
                <a:tab pos="5554980" algn="l"/>
                <a:tab pos="6065520" algn="l"/>
                <a:tab pos="6841490" algn="l"/>
                <a:tab pos="7440295" algn="l"/>
                <a:tab pos="8291195" algn="l"/>
              </a:tabLst>
            </a:pPr>
            <a:r>
              <a:rPr spc="-285" dirty="0"/>
              <a:t>W</a:t>
            </a:r>
            <a:r>
              <a:rPr dirty="0"/>
              <a:t>e	</a:t>
            </a:r>
            <a:r>
              <a:rPr spc="-5" dirty="0"/>
              <a:t>mos</a:t>
            </a:r>
            <a:r>
              <a:rPr dirty="0"/>
              <a:t>t	c</a:t>
            </a:r>
            <a:r>
              <a:rPr spc="-15" dirty="0"/>
              <a:t>o</a:t>
            </a:r>
            <a:r>
              <a:rPr spc="-5" dirty="0"/>
              <a:t>mm</a:t>
            </a:r>
            <a:r>
              <a:rPr spc="-15" dirty="0"/>
              <a:t>o</a:t>
            </a:r>
            <a:r>
              <a:rPr dirty="0"/>
              <a:t>n</a:t>
            </a:r>
            <a:r>
              <a:rPr spc="-55" dirty="0"/>
              <a:t>l</a:t>
            </a:r>
            <a:r>
              <a:rPr dirty="0"/>
              <a:t>y	phrase	this	q</a:t>
            </a:r>
            <a:r>
              <a:rPr spc="-10" dirty="0"/>
              <a:t>u</a:t>
            </a:r>
            <a:r>
              <a:rPr spc="-15" dirty="0"/>
              <a:t>e</a:t>
            </a:r>
            <a:r>
              <a:rPr dirty="0"/>
              <a:t>stion	the	o</a:t>
            </a:r>
            <a:r>
              <a:rPr spc="-15" dirty="0"/>
              <a:t>t</a:t>
            </a:r>
            <a:r>
              <a:rPr dirty="0"/>
              <a:t>her	</a:t>
            </a:r>
            <a:r>
              <a:rPr spc="-25" dirty="0"/>
              <a:t>w</a:t>
            </a:r>
            <a:r>
              <a:rPr spc="-100" dirty="0"/>
              <a:t>a</a:t>
            </a:r>
            <a:r>
              <a:rPr dirty="0"/>
              <a:t>y	</a:t>
            </a:r>
            <a:r>
              <a:rPr spc="-25" dirty="0"/>
              <a:t>r</a:t>
            </a:r>
            <a:r>
              <a:rPr dirty="0"/>
              <a:t>o</a:t>
            </a:r>
            <a:r>
              <a:rPr spc="-15" dirty="0"/>
              <a:t>u</a:t>
            </a:r>
            <a:r>
              <a:rPr dirty="0"/>
              <a:t>nd	in  </a:t>
            </a:r>
            <a:r>
              <a:rPr spc="-10" dirty="0"/>
              <a:t>computing,</a:t>
            </a:r>
          </a:p>
          <a:p>
            <a:pPr marL="837565" lvl="1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837565" algn="l"/>
                <a:tab pos="838200" algn="l"/>
              </a:tabLst>
            </a:pP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5" dirty="0">
                <a:latin typeface="Perpetua"/>
                <a:cs typeface="Perpetua"/>
              </a:rPr>
              <a:t>describe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situations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should keep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going.</a:t>
            </a:r>
            <a:endParaRPr sz="2600">
              <a:latin typeface="Perpetua"/>
              <a:cs typeface="Perpetua"/>
            </a:endParaRPr>
          </a:p>
          <a:p>
            <a:pPr marL="28892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spc="-25" dirty="0"/>
              <a:t>For </a:t>
            </a:r>
            <a:r>
              <a:rPr dirty="0"/>
              <a:t>the </a:t>
            </a:r>
            <a:r>
              <a:rPr spc="-5" dirty="0"/>
              <a:t>example </a:t>
            </a:r>
            <a:r>
              <a:rPr spc="-15" dirty="0"/>
              <a:t>here, </a:t>
            </a:r>
            <a:r>
              <a:rPr dirty="0"/>
              <a:t>the termination </a:t>
            </a:r>
            <a:r>
              <a:rPr spc="-5" dirty="0"/>
              <a:t>condition</a:t>
            </a:r>
            <a:r>
              <a:rPr spc="-114" dirty="0"/>
              <a:t> </a:t>
            </a:r>
            <a:r>
              <a:rPr dirty="0"/>
              <a:t>is:</a:t>
            </a:r>
          </a:p>
          <a:p>
            <a:pPr marL="929005">
              <a:lnSpc>
                <a:spcPct val="100000"/>
              </a:lnSpc>
              <a:spcBef>
                <a:spcPts val="580"/>
              </a:spcBef>
            </a:pPr>
            <a:r>
              <a:rPr sz="2800" i="1" spc="-10" dirty="0">
                <a:latin typeface="Perpetua"/>
                <a:cs typeface="Perpetua"/>
              </a:rPr>
              <a:t>Continue </a:t>
            </a:r>
            <a:r>
              <a:rPr sz="2800" i="1" spc="-15" dirty="0">
                <a:latin typeface="Perpetua"/>
                <a:cs typeface="Perpetua"/>
              </a:rPr>
              <a:t>provided </a:t>
            </a:r>
            <a:r>
              <a:rPr sz="2800" i="1" spc="-10" dirty="0">
                <a:latin typeface="Perpetua"/>
                <a:cs typeface="Perpetua"/>
              </a:rPr>
              <a:t>there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10" dirty="0">
                <a:latin typeface="Perpetua"/>
                <a:cs typeface="Perpetua"/>
              </a:rPr>
              <a:t>books </a:t>
            </a:r>
            <a:r>
              <a:rPr sz="2800" i="1" spc="-5" dirty="0">
                <a:latin typeface="Perpetua"/>
                <a:cs typeface="Perpetua"/>
              </a:rPr>
              <a:t>on the shelf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45" dirty="0">
                <a:latin typeface="Perpetua"/>
                <a:cs typeface="Perpetua"/>
              </a:rPr>
              <a:t>have </a:t>
            </a:r>
            <a:r>
              <a:rPr sz="2800" i="1" spc="-5" dirty="0">
                <a:latin typeface="Perpetua"/>
                <a:cs typeface="Perpetua"/>
              </a:rPr>
              <a:t>not</a:t>
            </a:r>
            <a:r>
              <a:rPr sz="2800" i="1" spc="229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read.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7975" y="6087871"/>
            <a:ext cx="456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put these </a:t>
            </a:r>
            <a:r>
              <a:rPr sz="2400" i="1" spc="-15" dirty="0">
                <a:latin typeface="Perpetua"/>
                <a:cs typeface="Perpetua"/>
              </a:rPr>
              <a:t>together </a:t>
            </a:r>
            <a:r>
              <a:rPr sz="2400" i="1" dirty="0">
                <a:latin typeface="Perpetua"/>
                <a:cs typeface="Perpetua"/>
              </a:rPr>
              <a:t>as an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algorithm?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195" y="5483524"/>
            <a:ext cx="1498809" cy="8317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62686"/>
            <a:ext cx="3178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The </a:t>
            </a:r>
            <a:r>
              <a:rPr spc="5" dirty="0">
                <a:solidFill>
                  <a:srgbClr val="FF0000"/>
                </a:solidFill>
              </a:rPr>
              <a:t>algorithm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505681"/>
            <a:ext cx="6800215" cy="29686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00" b="1" spc="-20" dirty="0">
                <a:latin typeface="Perpetua"/>
                <a:cs typeface="Perpetua"/>
              </a:rPr>
              <a:t>while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800" spc="-10" dirty="0">
                <a:latin typeface="Perpetua"/>
                <a:cs typeface="Perpetua"/>
              </a:rPr>
              <a:t>there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books on the shelf </a:t>
            </a:r>
            <a:r>
              <a:rPr sz="2800" spc="-25" dirty="0">
                <a:latin typeface="Perpetua"/>
                <a:cs typeface="Perpetua"/>
              </a:rPr>
              <a:t>you </a:t>
            </a:r>
            <a:r>
              <a:rPr sz="2800" spc="-40" dirty="0">
                <a:latin typeface="Perpetua"/>
                <a:cs typeface="Perpetua"/>
              </a:rPr>
              <a:t>have </a:t>
            </a: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spc="10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read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Perpetua"/>
                <a:cs typeface="Perpetua"/>
              </a:rPr>
              <a:t>do </a:t>
            </a:r>
            <a:r>
              <a:rPr sz="2800" b="1" spc="-10" dirty="0">
                <a:latin typeface="Perpetua"/>
                <a:cs typeface="Perpetua"/>
              </a:rPr>
              <a:t>the </a:t>
            </a:r>
            <a:r>
              <a:rPr sz="2800" b="1" spc="-15" dirty="0">
                <a:latin typeface="Perpetua"/>
                <a:cs typeface="Perpetua"/>
              </a:rPr>
              <a:t>following</a:t>
            </a:r>
            <a:r>
              <a:rPr sz="2800" b="1" spc="5" dirty="0">
                <a:latin typeface="Perpetua"/>
                <a:cs typeface="Perpetua"/>
              </a:rPr>
              <a:t> </a:t>
            </a:r>
            <a:r>
              <a:rPr sz="2800" b="1" spc="-15" dirty="0">
                <a:latin typeface="Perpetua"/>
                <a:cs typeface="Perpetua"/>
              </a:rPr>
              <a:t>repeatedly</a:t>
            </a:r>
            <a:endParaRPr sz="2800">
              <a:latin typeface="Perpetua"/>
              <a:cs typeface="Perpetua"/>
            </a:endParaRPr>
          </a:p>
          <a:p>
            <a:pPr marL="1180465" indent="-299720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1181100" algn="l"/>
              </a:tabLst>
            </a:pPr>
            <a:r>
              <a:rPr sz="2800" spc="10" dirty="0">
                <a:latin typeface="Perpetua"/>
                <a:cs typeface="Perpetua"/>
              </a:rPr>
              <a:t>Pick </a:t>
            </a:r>
            <a:r>
              <a:rPr sz="2800" spc="-5" dirty="0">
                <a:latin typeface="Perpetua"/>
                <a:cs typeface="Perpetua"/>
              </a:rPr>
              <a:t>a book </a:t>
            </a:r>
            <a:r>
              <a:rPr sz="2800" spc="-10" dirty="0">
                <a:latin typeface="Perpetua"/>
                <a:cs typeface="Perpetua"/>
              </a:rPr>
              <a:t>that </a:t>
            </a:r>
            <a:r>
              <a:rPr sz="2800" spc="-25" dirty="0">
                <a:latin typeface="Perpetua"/>
                <a:cs typeface="Perpetua"/>
              </a:rPr>
              <a:t>you </a:t>
            </a:r>
            <a:r>
              <a:rPr sz="2800" spc="-40" dirty="0">
                <a:latin typeface="Perpetua"/>
                <a:cs typeface="Perpetua"/>
              </a:rPr>
              <a:t>have </a:t>
            </a: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spc="3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read.</a:t>
            </a:r>
            <a:endParaRPr sz="2800">
              <a:latin typeface="Perpetua"/>
              <a:cs typeface="Perpetua"/>
            </a:endParaRPr>
          </a:p>
          <a:p>
            <a:pPr marL="1188085" indent="-30734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1188720" algn="l"/>
              </a:tabLst>
            </a:pPr>
            <a:r>
              <a:rPr sz="2800" spc="-10" dirty="0">
                <a:latin typeface="Perpetua"/>
                <a:cs typeface="Perpetua"/>
              </a:rPr>
              <a:t>Read </a:t>
            </a:r>
            <a:r>
              <a:rPr sz="2800" spc="-5" dirty="0">
                <a:latin typeface="Perpetua"/>
                <a:cs typeface="Perpetua"/>
              </a:rPr>
              <a:t>the book.</a:t>
            </a:r>
            <a:endParaRPr sz="2800">
              <a:latin typeface="Perpetua"/>
              <a:cs typeface="Perpetua"/>
            </a:endParaRPr>
          </a:p>
          <a:p>
            <a:pPr marL="1183005" indent="-30226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1183640" algn="l"/>
              </a:tabLst>
            </a:pPr>
            <a:r>
              <a:rPr sz="2800" spc="-5" dirty="0">
                <a:latin typeface="Perpetua"/>
                <a:cs typeface="Perpetua"/>
              </a:rPr>
              <a:t>Put the book</a:t>
            </a:r>
            <a:r>
              <a:rPr sz="2800" spc="-15" dirty="0">
                <a:latin typeface="Perpetua"/>
                <a:cs typeface="Perpetua"/>
              </a:rPr>
              <a:t> </a:t>
            </a:r>
            <a:r>
              <a:rPr sz="2800" spc="5" dirty="0">
                <a:latin typeface="Perpetua"/>
                <a:cs typeface="Perpetua"/>
              </a:rPr>
              <a:t>back.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693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/>
              <a:t>Search </a:t>
            </a:r>
            <a:r>
              <a:rPr spc="-5" dirty="0"/>
              <a:t>for an </a:t>
            </a:r>
            <a:r>
              <a:rPr spc="15" dirty="0"/>
              <a:t>article </a:t>
            </a:r>
            <a:r>
              <a:rPr spc="-5" dirty="0"/>
              <a:t>in a </a:t>
            </a:r>
            <a:r>
              <a:rPr spc="-10" dirty="0"/>
              <a:t>pile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magazines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18241" y="6514454"/>
            <a:ext cx="27813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dirty="0">
                <a:latin typeface="Perpetua"/>
                <a:cs typeface="Perpetua"/>
              </a:rPr>
              <a:t>b</a:t>
            </a:r>
            <a:r>
              <a:rPr sz="1100" i="1" spc="-10" dirty="0">
                <a:latin typeface="Perpetua"/>
                <a:cs typeface="Perpetua"/>
              </a:rPr>
              <a:t>a</a:t>
            </a:r>
            <a:r>
              <a:rPr sz="1100" i="1" dirty="0">
                <a:latin typeface="Perpetua"/>
                <a:cs typeface="Perpetua"/>
              </a:rPr>
              <a:t>tore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316177"/>
            <a:ext cx="8377555" cy="522414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6385" marR="5080" indent="-274320">
              <a:lnSpc>
                <a:spcPts val="3240"/>
              </a:lnSpc>
              <a:spcBef>
                <a:spcPts val="509"/>
              </a:spcBef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000" i="1" dirty="0">
                <a:latin typeface="Perpetua"/>
                <a:cs typeface="Perpetua"/>
              </a:rPr>
              <a:t>I wish to find </a:t>
            </a:r>
            <a:r>
              <a:rPr sz="3000" i="1" spc="-5" dirty="0">
                <a:latin typeface="Perpetua"/>
                <a:cs typeface="Perpetua"/>
              </a:rPr>
              <a:t>an </a:t>
            </a:r>
            <a:r>
              <a:rPr sz="3000" i="1" spc="10" dirty="0">
                <a:latin typeface="Perpetua"/>
                <a:cs typeface="Perpetua"/>
              </a:rPr>
              <a:t>article </a:t>
            </a:r>
            <a:r>
              <a:rPr sz="3000" i="1" dirty="0">
                <a:latin typeface="Perpetua"/>
                <a:cs typeface="Perpetua"/>
              </a:rPr>
              <a:t>I </a:t>
            </a:r>
            <a:r>
              <a:rPr sz="3000" i="1" spc="-5" dirty="0">
                <a:latin typeface="Perpetua"/>
                <a:cs typeface="Perpetua"/>
              </a:rPr>
              <a:t>remember reading about “Sabre-tooth  </a:t>
            </a:r>
            <a:r>
              <a:rPr sz="3000" i="1" spc="-30" dirty="0">
                <a:latin typeface="Perpetua"/>
                <a:cs typeface="Perpetua"/>
              </a:rPr>
              <a:t>Wombats”.</a:t>
            </a:r>
            <a:endParaRPr sz="3000">
              <a:latin typeface="Perpetua"/>
              <a:cs typeface="Perpetua"/>
            </a:endParaRPr>
          </a:p>
          <a:p>
            <a:pPr marL="286385" marR="5715" indent="-274320">
              <a:lnSpc>
                <a:spcPts val="3240"/>
              </a:lnSpc>
              <a:spcBef>
                <a:spcPts val="600"/>
              </a:spcBef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000" i="1" dirty="0">
                <a:latin typeface="Perpetua"/>
                <a:cs typeface="Perpetua"/>
              </a:rPr>
              <a:t>I think the </a:t>
            </a:r>
            <a:r>
              <a:rPr sz="3000" i="1" spc="10" dirty="0">
                <a:latin typeface="Perpetua"/>
                <a:cs typeface="Perpetua"/>
              </a:rPr>
              <a:t>article </a:t>
            </a:r>
            <a:r>
              <a:rPr sz="3000" i="1" spc="-30" dirty="0">
                <a:latin typeface="Perpetua"/>
                <a:cs typeface="Perpetua"/>
              </a:rPr>
              <a:t>was </a:t>
            </a:r>
            <a:r>
              <a:rPr sz="3000" i="1" spc="-5" dirty="0">
                <a:latin typeface="Perpetua"/>
                <a:cs typeface="Perpetua"/>
              </a:rPr>
              <a:t>in </a:t>
            </a:r>
            <a:r>
              <a:rPr sz="3000" i="1" dirty="0">
                <a:latin typeface="Perpetua"/>
                <a:cs typeface="Perpetua"/>
              </a:rPr>
              <a:t>the </a:t>
            </a:r>
            <a:r>
              <a:rPr sz="3000" i="1" spc="-20" dirty="0">
                <a:latin typeface="Perpetua"/>
                <a:cs typeface="Perpetua"/>
              </a:rPr>
              <a:t>magazine </a:t>
            </a:r>
            <a:r>
              <a:rPr sz="3000" i="1" spc="-5" dirty="0">
                <a:latin typeface="Perpetua"/>
                <a:cs typeface="Perpetua"/>
              </a:rPr>
              <a:t>Dinosaurs </a:t>
            </a:r>
            <a:r>
              <a:rPr sz="3000" i="1" spc="-114" dirty="0">
                <a:latin typeface="Perpetua"/>
                <a:cs typeface="Perpetua"/>
              </a:rPr>
              <a:t>Today, </a:t>
            </a:r>
            <a:r>
              <a:rPr sz="3000" i="1" spc="-15" dirty="0">
                <a:latin typeface="Perpetua"/>
                <a:cs typeface="Perpetua"/>
              </a:rPr>
              <a:t>but </a:t>
            </a:r>
            <a:r>
              <a:rPr sz="3000" i="1" dirty="0">
                <a:latin typeface="Perpetua"/>
                <a:cs typeface="Perpetua"/>
              </a:rPr>
              <a:t>am  </a:t>
            </a:r>
            <a:r>
              <a:rPr sz="3000" i="1" spc="-5" dirty="0">
                <a:latin typeface="Perpetua"/>
                <a:cs typeface="Perpetua"/>
              </a:rPr>
              <a:t>not</a:t>
            </a:r>
            <a:r>
              <a:rPr sz="3000" i="1" spc="5" dirty="0">
                <a:latin typeface="Perpetua"/>
                <a:cs typeface="Perpetua"/>
              </a:rPr>
              <a:t> </a:t>
            </a:r>
            <a:r>
              <a:rPr sz="3000" i="1" spc="-5" dirty="0">
                <a:latin typeface="Perpetua"/>
                <a:cs typeface="Perpetua"/>
              </a:rPr>
              <a:t>sure.</a:t>
            </a:r>
            <a:endParaRPr sz="3000">
              <a:latin typeface="Perpetua"/>
              <a:cs typeface="Perpetua"/>
            </a:endParaRPr>
          </a:p>
          <a:p>
            <a:pPr marL="286385" marR="5080" indent="-274320">
              <a:lnSpc>
                <a:spcPts val="3240"/>
              </a:lnSpc>
              <a:spcBef>
                <a:spcPts val="605"/>
              </a:spcBef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000" i="1" dirty="0">
                <a:latin typeface="Perpetua"/>
                <a:cs typeface="Perpetua"/>
              </a:rPr>
              <a:t>If </a:t>
            </a:r>
            <a:r>
              <a:rPr sz="3000" i="1" spc="-5" dirty="0">
                <a:latin typeface="Perpetua"/>
                <a:cs typeface="Perpetua"/>
              </a:rPr>
              <a:t>it </a:t>
            </a:r>
            <a:r>
              <a:rPr sz="3000" i="1" spc="-40" dirty="0">
                <a:latin typeface="Perpetua"/>
                <a:cs typeface="Perpetua"/>
              </a:rPr>
              <a:t>was, </a:t>
            </a:r>
            <a:r>
              <a:rPr sz="3000" i="1" dirty="0">
                <a:latin typeface="Perpetua"/>
                <a:cs typeface="Perpetua"/>
              </a:rPr>
              <a:t>then </a:t>
            </a:r>
            <a:r>
              <a:rPr sz="3000" i="1" spc="-5" dirty="0">
                <a:latin typeface="Perpetua"/>
                <a:cs typeface="Perpetua"/>
              </a:rPr>
              <a:t>it </a:t>
            </a:r>
            <a:r>
              <a:rPr sz="3000" i="1" dirty="0">
                <a:latin typeface="Perpetua"/>
                <a:cs typeface="Perpetua"/>
              </a:rPr>
              <a:t>will </a:t>
            </a:r>
            <a:r>
              <a:rPr sz="3000" i="1" spc="-5" dirty="0">
                <a:latin typeface="Perpetua"/>
                <a:cs typeface="Perpetua"/>
              </a:rPr>
              <a:t>be in </a:t>
            </a:r>
            <a:r>
              <a:rPr sz="3000" i="1" dirty="0">
                <a:latin typeface="Perpetua"/>
                <a:cs typeface="Perpetua"/>
              </a:rPr>
              <a:t>the </a:t>
            </a:r>
            <a:r>
              <a:rPr sz="3000" i="1" spc="-5" dirty="0">
                <a:latin typeface="Perpetua"/>
                <a:cs typeface="Perpetua"/>
              </a:rPr>
              <a:t>pile </a:t>
            </a:r>
            <a:r>
              <a:rPr sz="3000" i="1" dirty="0">
                <a:latin typeface="Perpetua"/>
                <a:cs typeface="Perpetua"/>
              </a:rPr>
              <a:t>of </a:t>
            </a:r>
            <a:r>
              <a:rPr sz="3000" i="1" spc="-5" dirty="0">
                <a:latin typeface="Perpetua"/>
                <a:cs typeface="Perpetua"/>
              </a:rPr>
              <a:t>Dinosaurs </a:t>
            </a:r>
            <a:r>
              <a:rPr sz="3000" i="1" spc="-95" dirty="0">
                <a:latin typeface="Perpetua"/>
                <a:cs typeface="Perpetua"/>
              </a:rPr>
              <a:t>Today </a:t>
            </a:r>
            <a:r>
              <a:rPr sz="3000" i="1" spc="5" dirty="0">
                <a:latin typeface="Perpetua"/>
                <a:cs typeface="Perpetua"/>
              </a:rPr>
              <a:t>in </a:t>
            </a:r>
            <a:r>
              <a:rPr sz="3000" i="1" spc="-40" dirty="0">
                <a:latin typeface="Perpetua"/>
                <a:cs typeface="Perpetua"/>
              </a:rPr>
              <a:t>my </a:t>
            </a:r>
            <a:r>
              <a:rPr sz="3000" i="1" spc="-5" dirty="0">
                <a:latin typeface="Perpetua"/>
                <a:cs typeface="Perpetua"/>
              </a:rPr>
              <a:t>loft  </a:t>
            </a:r>
            <a:r>
              <a:rPr sz="3000" i="1" dirty="0">
                <a:latin typeface="Perpetua"/>
                <a:cs typeface="Perpetua"/>
              </a:rPr>
              <a:t>(I </a:t>
            </a:r>
            <a:r>
              <a:rPr sz="3000" i="1" spc="-40" dirty="0">
                <a:latin typeface="Perpetua"/>
                <a:cs typeface="Perpetua"/>
              </a:rPr>
              <a:t>have </a:t>
            </a:r>
            <a:r>
              <a:rPr sz="3000" i="1" spc="-15" dirty="0">
                <a:latin typeface="Perpetua"/>
                <a:cs typeface="Perpetua"/>
              </a:rPr>
              <a:t>every</a:t>
            </a:r>
            <a:r>
              <a:rPr sz="3000" i="1" spc="20" dirty="0">
                <a:latin typeface="Perpetua"/>
                <a:cs typeface="Perpetua"/>
              </a:rPr>
              <a:t> </a:t>
            </a:r>
            <a:r>
              <a:rPr sz="3000" i="1" spc="-5" dirty="0">
                <a:latin typeface="Perpetua"/>
                <a:cs typeface="Perpetua"/>
              </a:rPr>
              <a:t>one).</a:t>
            </a:r>
            <a:endParaRPr sz="3000">
              <a:latin typeface="Perpetua"/>
              <a:cs typeface="Perpetua"/>
            </a:endParaRPr>
          </a:p>
          <a:p>
            <a:pPr marL="287020" indent="-274320">
              <a:lnSpc>
                <a:spcPts val="2965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repetitive </a:t>
            </a:r>
            <a:r>
              <a:rPr sz="2600" spc="-5" dirty="0">
                <a:latin typeface="Perpetua"/>
                <a:cs typeface="Perpetua"/>
              </a:rPr>
              <a:t>task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 marL="739775" lvl="1" indent="-270510">
              <a:lnSpc>
                <a:spcPts val="2810"/>
              </a:lnSpc>
              <a:buAutoNum type="arabicPeriod"/>
              <a:tabLst>
                <a:tab pos="740410" algn="l"/>
              </a:tabLst>
            </a:pPr>
            <a:r>
              <a:rPr sz="2600" spc="-80" dirty="0">
                <a:latin typeface="Perpetua"/>
                <a:cs typeface="Perpetua"/>
              </a:rPr>
              <a:t>Take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next </a:t>
            </a:r>
            <a:r>
              <a:rPr sz="2600" i="1" dirty="0">
                <a:latin typeface="Perpetua"/>
                <a:cs typeface="Perpetua"/>
              </a:rPr>
              <a:t>Dinosaurs </a:t>
            </a:r>
            <a:r>
              <a:rPr sz="2600" i="1" spc="-80" dirty="0">
                <a:latin typeface="Perpetua"/>
                <a:cs typeface="Perpetua"/>
              </a:rPr>
              <a:t>Today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pile.</a:t>
            </a:r>
            <a:endParaRPr sz="2600">
              <a:latin typeface="Perpetua"/>
              <a:cs typeface="Perpetua"/>
            </a:endParaRPr>
          </a:p>
          <a:p>
            <a:pPr marL="779145" lvl="1" indent="-309880">
              <a:lnSpc>
                <a:spcPts val="2810"/>
              </a:lnSpc>
              <a:buAutoNum type="arabicPeriod"/>
              <a:tabLst>
                <a:tab pos="779780" algn="l"/>
              </a:tabLst>
            </a:pPr>
            <a:r>
              <a:rPr sz="2600" spc="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whether the </a:t>
            </a:r>
            <a:r>
              <a:rPr sz="2600" spc="10" dirty="0">
                <a:latin typeface="Perpetua"/>
                <a:cs typeface="Perpetua"/>
              </a:rPr>
              <a:t>article </a:t>
            </a:r>
            <a:r>
              <a:rPr sz="2600" dirty="0">
                <a:latin typeface="Perpetua"/>
                <a:cs typeface="Perpetua"/>
              </a:rPr>
              <a:t>is in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it.</a:t>
            </a:r>
            <a:endParaRPr sz="2600">
              <a:latin typeface="Perpetua"/>
              <a:cs typeface="Perpetua"/>
            </a:endParaRPr>
          </a:p>
          <a:p>
            <a:pPr marL="753110" lvl="1" indent="-283845">
              <a:lnSpc>
                <a:spcPts val="2965"/>
              </a:lnSpc>
              <a:buAutoNum type="arabicPeriod"/>
              <a:tabLst>
                <a:tab pos="753745" algn="l"/>
              </a:tabLst>
            </a:pP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discard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pile.</a:t>
            </a:r>
            <a:endParaRPr sz="2600">
              <a:latin typeface="Perpetua"/>
              <a:cs typeface="Perpetua"/>
            </a:endParaRPr>
          </a:p>
          <a:p>
            <a:pPr marL="3453765" lvl="2" indent="-240665">
              <a:lnSpc>
                <a:spcPct val="100000"/>
              </a:lnSpc>
              <a:spcBef>
                <a:spcPts val="2280"/>
              </a:spcBef>
              <a:buSzPct val="95833"/>
              <a:buFont typeface="Wingdings"/>
              <a:buChar char=""/>
              <a:tabLst>
                <a:tab pos="3454400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condition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10" dirty="0">
                <a:latin typeface="Perpetua"/>
                <a:cs typeface="Perpetua"/>
              </a:rPr>
              <a:t>continuing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3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search?</a:t>
            </a:r>
            <a:endParaRPr sz="2400">
              <a:latin typeface="Perpetua"/>
              <a:cs typeface="Perpetua"/>
            </a:endParaRPr>
          </a:p>
          <a:p>
            <a:pPr marL="3453765" lvl="2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3454400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algorithm </a:t>
            </a:r>
            <a:r>
              <a:rPr sz="2400" i="1" spc="-5" dirty="0">
                <a:latin typeface="Perpetua"/>
                <a:cs typeface="Perpetua"/>
              </a:rPr>
              <a:t>putting </a:t>
            </a:r>
            <a:r>
              <a:rPr sz="2400" i="1" dirty="0">
                <a:latin typeface="Perpetua"/>
                <a:cs typeface="Perpetua"/>
              </a:rPr>
              <a:t>all this</a:t>
            </a:r>
            <a:r>
              <a:rPr sz="2400" i="1" spc="-50" dirty="0">
                <a:latin typeface="Perpetua"/>
                <a:cs typeface="Perpetua"/>
              </a:rPr>
              <a:t> </a:t>
            </a:r>
            <a:r>
              <a:rPr sz="2400" i="1" spc="-30" dirty="0">
                <a:latin typeface="Perpetua"/>
                <a:cs typeface="Perpetua"/>
              </a:rPr>
              <a:t>together.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24600" y="3810000"/>
            <a:ext cx="25527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5000" y="5715000"/>
            <a:ext cx="1371600" cy="101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81686"/>
            <a:ext cx="76682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is the condition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for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continuing to</a:t>
            </a:r>
            <a:r>
              <a:rPr i="1" spc="5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search?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01486"/>
            <a:ext cx="7687945" cy="339661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51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dirty="0">
                <a:latin typeface="Perpetua"/>
                <a:cs typeface="Perpetua"/>
              </a:rPr>
              <a:t>termination </a:t>
            </a:r>
            <a:r>
              <a:rPr sz="2800" spc="-5" dirty="0">
                <a:latin typeface="Perpetua"/>
                <a:cs typeface="Perpetua"/>
              </a:rPr>
              <a:t>condition </a:t>
            </a:r>
            <a:r>
              <a:rPr sz="2800" spc="-25" dirty="0">
                <a:latin typeface="Perpetua"/>
                <a:cs typeface="Perpetua"/>
              </a:rPr>
              <a:t>would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be:</a:t>
            </a:r>
            <a:endParaRPr sz="28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  <a:spcBef>
                <a:spcPts val="409"/>
              </a:spcBef>
            </a:pPr>
            <a:r>
              <a:rPr sz="2800" i="1" spc="-5" dirty="0">
                <a:latin typeface="Perpetua"/>
                <a:cs typeface="Perpetua"/>
              </a:rPr>
              <a:t>I am not </a:t>
            </a:r>
            <a:r>
              <a:rPr sz="2800" i="1" spc="-20" dirty="0">
                <a:latin typeface="Perpetua"/>
                <a:cs typeface="Perpetua"/>
              </a:rPr>
              <a:t>at </a:t>
            </a:r>
            <a:r>
              <a:rPr sz="2800" i="1" spc="-5" dirty="0">
                <a:latin typeface="Perpetua"/>
                <a:cs typeface="Perpetua"/>
              </a:rPr>
              <a:t>the bottom of the pile and I </a:t>
            </a:r>
            <a:r>
              <a:rPr sz="2800" i="1" spc="-45" dirty="0">
                <a:latin typeface="Perpetua"/>
                <a:cs typeface="Perpetua"/>
              </a:rPr>
              <a:t>have </a:t>
            </a:r>
            <a:r>
              <a:rPr sz="2800" i="1" spc="-5" dirty="0">
                <a:latin typeface="Perpetua"/>
                <a:cs typeface="Perpetua"/>
              </a:rPr>
              <a:t>not </a:t>
            </a:r>
            <a:r>
              <a:rPr sz="2800" i="1" spc="-15" dirty="0">
                <a:latin typeface="Perpetua"/>
                <a:cs typeface="Perpetua"/>
              </a:rPr>
              <a:t>found </a:t>
            </a:r>
            <a:r>
              <a:rPr sz="2800" i="1" spc="-5" dirty="0">
                <a:latin typeface="Perpetua"/>
                <a:cs typeface="Perpetua"/>
              </a:rPr>
              <a:t>it</a:t>
            </a:r>
            <a:r>
              <a:rPr sz="2800" i="1" spc="110" dirty="0">
                <a:latin typeface="Perpetua"/>
                <a:cs typeface="Perpetua"/>
              </a:rPr>
              <a:t> </a:t>
            </a:r>
            <a:r>
              <a:rPr sz="2800" i="1" spc="-15" dirty="0">
                <a:latin typeface="Perpetua"/>
                <a:cs typeface="Perpetua"/>
              </a:rPr>
              <a:t>yet</a:t>
            </a:r>
            <a:r>
              <a:rPr sz="2800" spc="-15" dirty="0">
                <a:latin typeface="Perpetua"/>
                <a:cs typeface="Perpetua"/>
              </a:rPr>
              <a:t>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When either of the </a:t>
            </a:r>
            <a:r>
              <a:rPr sz="2800" spc="-35" dirty="0">
                <a:latin typeface="Perpetua"/>
                <a:cs typeface="Perpetua"/>
              </a:rPr>
              <a:t>above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not </a:t>
            </a:r>
            <a:r>
              <a:rPr sz="2800" spc="10" dirty="0">
                <a:latin typeface="Perpetua"/>
                <a:cs typeface="Perpetua"/>
              </a:rPr>
              <a:t>true </a:t>
            </a:r>
            <a:r>
              <a:rPr sz="2800" spc="-5" dirty="0">
                <a:latin typeface="Perpetua"/>
                <a:cs typeface="Perpetua"/>
              </a:rPr>
              <a:t>I </a:t>
            </a:r>
            <a:r>
              <a:rPr sz="2800" spc="-25" dirty="0">
                <a:latin typeface="Perpetua"/>
                <a:cs typeface="Perpetua"/>
              </a:rPr>
              <a:t>would</a:t>
            </a:r>
            <a:r>
              <a:rPr sz="2800" spc="50" dirty="0">
                <a:latin typeface="Perpetua"/>
                <a:cs typeface="Perpetua"/>
              </a:rPr>
              <a:t> </a:t>
            </a:r>
            <a:r>
              <a:rPr sz="2800" spc="-30" dirty="0">
                <a:latin typeface="Perpetua"/>
                <a:cs typeface="Perpetua"/>
              </a:rPr>
              <a:t>stop.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buSzPct val="83928"/>
              <a:buFont typeface="Arial"/>
              <a:buChar char="•"/>
              <a:tabLst>
                <a:tab pos="287020" algn="l"/>
                <a:tab pos="287655" algn="l"/>
                <a:tab pos="1191895" algn="l"/>
                <a:tab pos="1854835" algn="l"/>
                <a:tab pos="2481580" algn="l"/>
                <a:tab pos="2849245" algn="l"/>
                <a:tab pos="3484879" algn="l"/>
                <a:tab pos="4131310" algn="l"/>
                <a:tab pos="4562475" algn="l"/>
                <a:tab pos="5187315" algn="l"/>
                <a:tab pos="6645909" algn="l"/>
              </a:tabLst>
            </a:pP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spc="-65" dirty="0">
                <a:latin typeface="Perpetua"/>
                <a:cs typeface="Perpetua"/>
              </a:rPr>
              <a:t>e</a:t>
            </a:r>
            <a:r>
              <a:rPr sz="2800" spc="-5" dirty="0">
                <a:latin typeface="Perpetua"/>
                <a:cs typeface="Perpetua"/>
              </a:rPr>
              <a:t>,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th</a:t>
            </a:r>
            <a:r>
              <a:rPr sz="2800" spc="-35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this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i</a:t>
            </a:r>
            <a:r>
              <a:rPr sz="2800" spc="-5" dirty="0">
                <a:latin typeface="Perpetua"/>
                <a:cs typeface="Perpetua"/>
              </a:rPr>
              <a:t>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ju</a:t>
            </a:r>
            <a:r>
              <a:rPr sz="2800" dirty="0">
                <a:latin typeface="Perpetua"/>
                <a:cs typeface="Perpetua"/>
              </a:rPr>
              <a:t>s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one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of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5" dirty="0">
                <a:latin typeface="Perpetua"/>
                <a:cs typeface="Perpetua"/>
              </a:rPr>
              <a:t>o</a:t>
            </a:r>
            <a:r>
              <a:rPr sz="2800" spc="-5" dirty="0">
                <a:latin typeface="Perpetua"/>
                <a:cs typeface="Perpetua"/>
              </a:rPr>
              <a:t>ur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spc="60" dirty="0">
                <a:latin typeface="Perpetua"/>
                <a:cs typeface="Perpetua"/>
              </a:rPr>
              <a:t>r</a:t>
            </a:r>
            <a:r>
              <a:rPr sz="2800" spc="-5" dirty="0">
                <a:latin typeface="Perpetua"/>
                <a:cs typeface="Perpetua"/>
              </a:rPr>
              <a:t>ue</a:t>
            </a:r>
            <a:r>
              <a:rPr sz="2800" spc="5" dirty="0">
                <a:latin typeface="Perpetua"/>
                <a:cs typeface="Perpetua"/>
              </a:rPr>
              <a:t>/</a:t>
            </a:r>
            <a:r>
              <a:rPr sz="2800" spc="-5" dirty="0">
                <a:latin typeface="Perpetua"/>
                <a:cs typeface="Perpetua"/>
              </a:rPr>
              <a:t>false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Bo</a:t>
            </a:r>
            <a:r>
              <a:rPr sz="2800" dirty="0">
                <a:latin typeface="Perpetua"/>
                <a:cs typeface="Perpetua"/>
              </a:rPr>
              <a:t>o</a:t>
            </a:r>
            <a:r>
              <a:rPr sz="2800" spc="-10" dirty="0">
                <a:latin typeface="Perpetua"/>
                <a:cs typeface="Perpetua"/>
              </a:rPr>
              <a:t>lean  questions.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4086"/>
            <a:ext cx="7289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Putting them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together </a:t>
            </a:r>
            <a:r>
              <a:rPr i="1" spc="-20" dirty="0">
                <a:solidFill>
                  <a:srgbClr val="FF0000"/>
                </a:solidFill>
                <a:latin typeface="Perpetua"/>
                <a:cs typeface="Perpetua"/>
              </a:rPr>
              <a:t>we </a:t>
            </a:r>
            <a:r>
              <a:rPr i="1" spc="-55" dirty="0">
                <a:solidFill>
                  <a:srgbClr val="FF0000"/>
                </a:solidFill>
                <a:latin typeface="Perpetua"/>
                <a:cs typeface="Perpetua"/>
              </a:rPr>
              <a:t>have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the</a:t>
            </a:r>
            <a:r>
              <a:rPr i="1" spc="6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following: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5364" y="1505681"/>
            <a:ext cx="7340600" cy="33953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00" b="1" spc="-20" dirty="0">
                <a:latin typeface="Perpetua"/>
                <a:cs typeface="Perpetua"/>
              </a:rPr>
              <a:t>while</a:t>
            </a:r>
            <a:endParaRPr sz="2800">
              <a:latin typeface="Perpetua"/>
              <a:cs typeface="Perpetua"/>
            </a:endParaRPr>
          </a:p>
          <a:p>
            <a:pPr marL="652145" marR="5080">
              <a:lnSpc>
                <a:spcPct val="100000"/>
              </a:lnSpc>
              <a:spcBef>
                <a:spcPts val="605"/>
              </a:spcBef>
              <a:tabLst>
                <a:tab pos="871855" algn="l"/>
                <a:tab pos="1383665" algn="l"/>
                <a:tab pos="2825750" algn="l"/>
                <a:tab pos="3898900" algn="l"/>
                <a:tab pos="4810760" algn="l"/>
                <a:tab pos="5409565" algn="l"/>
                <a:tab pos="5991860" algn="l"/>
                <a:tab pos="6211570" algn="l"/>
              </a:tabLst>
            </a:pPr>
            <a:r>
              <a:rPr sz="2800" spc="-5" dirty="0">
                <a:latin typeface="Perpetua"/>
                <a:cs typeface="Perpetua"/>
              </a:rPr>
              <a:t>I	am	not</a:t>
            </a:r>
            <a:r>
              <a:rPr sz="2800" spc="37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at</a:t>
            </a:r>
            <a:r>
              <a:rPr sz="2800" spc="35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the	bottom	of</a:t>
            </a:r>
            <a:r>
              <a:rPr sz="2800" spc="36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the	</a:t>
            </a:r>
            <a:r>
              <a:rPr sz="2800" spc="-10" dirty="0">
                <a:latin typeface="Perpetua"/>
                <a:cs typeface="Perpetua"/>
              </a:rPr>
              <a:t>pile	</a:t>
            </a:r>
            <a:r>
              <a:rPr sz="2800" spc="-5" dirty="0">
                <a:latin typeface="Perpetua"/>
                <a:cs typeface="Perpetua"/>
              </a:rPr>
              <a:t>and	I	</a:t>
            </a:r>
            <a:r>
              <a:rPr sz="2800" spc="-40" dirty="0">
                <a:latin typeface="Perpetua"/>
                <a:cs typeface="Perpetua"/>
              </a:rPr>
              <a:t>have </a:t>
            </a:r>
            <a:r>
              <a:rPr sz="2800" spc="-5" dirty="0">
                <a:latin typeface="Perpetua"/>
                <a:cs typeface="Perpetua"/>
              </a:rPr>
              <a:t>not  found it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yet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b="1" spc="-10" dirty="0">
                <a:latin typeface="Perpetua"/>
                <a:cs typeface="Perpetua"/>
              </a:rPr>
              <a:t>do the </a:t>
            </a:r>
            <a:r>
              <a:rPr sz="2800" b="1" spc="-15" dirty="0">
                <a:latin typeface="Perpetua"/>
                <a:cs typeface="Perpetua"/>
              </a:rPr>
              <a:t>following</a:t>
            </a:r>
            <a:r>
              <a:rPr sz="2800" b="1" spc="-5" dirty="0">
                <a:latin typeface="Perpetua"/>
                <a:cs typeface="Perpetua"/>
              </a:rPr>
              <a:t> </a:t>
            </a:r>
            <a:r>
              <a:rPr sz="2800" b="1" spc="-15" dirty="0">
                <a:latin typeface="Perpetua"/>
                <a:cs typeface="Perpetua"/>
              </a:rPr>
              <a:t>repeatedly</a:t>
            </a:r>
            <a:endParaRPr sz="2800">
              <a:latin typeface="Perpetua"/>
              <a:cs typeface="Perpetua"/>
            </a:endParaRPr>
          </a:p>
          <a:p>
            <a:pPr marL="588645" indent="-257175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589280" algn="l"/>
              </a:tabLst>
            </a:pPr>
            <a:r>
              <a:rPr sz="2800" spc="-95" dirty="0">
                <a:latin typeface="Perpetua"/>
                <a:cs typeface="Perpetua"/>
              </a:rPr>
              <a:t>Take </a:t>
            </a:r>
            <a:r>
              <a:rPr sz="2800" spc="-5" dirty="0">
                <a:latin typeface="Perpetua"/>
                <a:cs typeface="Perpetua"/>
              </a:rPr>
              <a:t>the next </a:t>
            </a:r>
            <a:r>
              <a:rPr sz="2800" i="1" spc="-5" dirty="0">
                <a:latin typeface="Perpetua"/>
                <a:cs typeface="Perpetua"/>
              </a:rPr>
              <a:t>Dinosaurs </a:t>
            </a:r>
            <a:r>
              <a:rPr sz="2800" i="1" spc="-95" dirty="0">
                <a:latin typeface="Perpetua"/>
                <a:cs typeface="Perpetua"/>
              </a:rPr>
              <a:t>Today </a:t>
            </a:r>
            <a:r>
              <a:rPr sz="2800" spc="-10" dirty="0">
                <a:latin typeface="Perpetua"/>
                <a:cs typeface="Perpetua"/>
              </a:rPr>
              <a:t>from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-8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pile.</a:t>
            </a:r>
            <a:endParaRPr sz="2800">
              <a:latin typeface="Perpetua"/>
              <a:cs typeface="Perpetua"/>
            </a:endParaRPr>
          </a:p>
          <a:p>
            <a:pPr marL="638810" indent="-30734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639445" algn="l"/>
              </a:tabLst>
            </a:pPr>
            <a:r>
              <a:rPr sz="2800" spc="5" dirty="0">
                <a:latin typeface="Perpetua"/>
                <a:cs typeface="Perpetua"/>
              </a:rPr>
              <a:t>Check </a:t>
            </a:r>
            <a:r>
              <a:rPr sz="2800" dirty="0">
                <a:latin typeface="Perpetua"/>
                <a:cs typeface="Perpetua"/>
              </a:rPr>
              <a:t>whether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10" dirty="0">
                <a:latin typeface="Perpetua"/>
                <a:cs typeface="Perpetua"/>
              </a:rPr>
              <a:t>article </a:t>
            </a:r>
            <a:r>
              <a:rPr sz="2800" spc="-5" dirty="0">
                <a:latin typeface="Perpetua"/>
                <a:cs typeface="Perpetua"/>
              </a:rPr>
              <a:t>is in</a:t>
            </a:r>
            <a:r>
              <a:rPr sz="2800" spc="-6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it.</a:t>
            </a:r>
            <a:endParaRPr sz="2800">
              <a:latin typeface="Perpetua"/>
              <a:cs typeface="Perpetua"/>
            </a:endParaRPr>
          </a:p>
          <a:p>
            <a:pPr marL="606425" indent="-274955">
              <a:lnSpc>
                <a:spcPct val="100000"/>
              </a:lnSpc>
              <a:spcBef>
                <a:spcPts val="400"/>
              </a:spcBef>
              <a:buAutoNum type="alphaLcPeriod"/>
              <a:tabLst>
                <a:tab pos="607060" algn="l"/>
              </a:tabLst>
            </a:pPr>
            <a:r>
              <a:rPr sz="2800" spc="-10" dirty="0">
                <a:latin typeface="Perpetua"/>
                <a:cs typeface="Perpetua"/>
              </a:rPr>
              <a:t>Add </a:t>
            </a:r>
            <a:r>
              <a:rPr sz="2800" spc="-5" dirty="0">
                <a:latin typeface="Perpetua"/>
                <a:cs typeface="Perpetua"/>
              </a:rPr>
              <a:t>it to a discard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pile.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5274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question: </a:t>
            </a:r>
            <a:r>
              <a:rPr i="1" spc="-5" dirty="0">
                <a:latin typeface="Perpetua"/>
                <a:cs typeface="Perpetua"/>
              </a:rPr>
              <a:t>“Do I</a:t>
            </a:r>
            <a:r>
              <a:rPr i="1" spc="-380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continue?”</a:t>
            </a:r>
          </a:p>
        </p:txBody>
      </p:sp>
      <p:sp>
        <p:nvSpPr>
          <p:cNvPr id="3" name="object 3"/>
          <p:cNvSpPr/>
          <p:nvPr/>
        </p:nvSpPr>
        <p:spPr>
          <a:xfrm>
            <a:off x="6946165" y="2362315"/>
            <a:ext cx="1423869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1129030"/>
            <a:ext cx="8606790" cy="541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8001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termination condition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tells </a:t>
            </a:r>
            <a:r>
              <a:rPr sz="2600" spc="-5" dirty="0">
                <a:latin typeface="Perpetua"/>
                <a:cs typeface="Perpetua"/>
              </a:rPr>
              <a:t>us when to </a:t>
            </a:r>
            <a:r>
              <a:rPr sz="2600" dirty="0">
                <a:latin typeface="Perpetua"/>
                <a:cs typeface="Perpetua"/>
              </a:rPr>
              <a:t>continue </a:t>
            </a:r>
            <a:r>
              <a:rPr sz="2600" spc="-5" dirty="0">
                <a:latin typeface="Perpetua"/>
                <a:cs typeface="Perpetua"/>
              </a:rPr>
              <a:t>and when  to stop can thus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thought of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question meaning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Do I</a:t>
            </a:r>
            <a:r>
              <a:rPr sz="2600" i="1" spc="-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continue</a:t>
            </a:r>
            <a:r>
              <a:rPr sz="2600" spc="-5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the question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spc="-10" dirty="0">
                <a:latin typeface="Perpetua"/>
                <a:cs typeface="Perpetua"/>
              </a:rPr>
              <a:t>“</a:t>
            </a:r>
            <a:r>
              <a:rPr sz="2600" i="1" spc="-10" dirty="0">
                <a:latin typeface="Perpetua"/>
                <a:cs typeface="Perpetua"/>
              </a:rPr>
              <a:t>Are there </a:t>
            </a:r>
            <a:r>
              <a:rPr sz="2600" i="1" spc="-5" dirty="0">
                <a:latin typeface="Perpetua"/>
                <a:cs typeface="Perpetua"/>
              </a:rPr>
              <a:t>still books on the shelf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</a:t>
            </a:r>
            <a:r>
              <a:rPr sz="2600" i="1" spc="8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read?</a:t>
            </a:r>
            <a:r>
              <a:rPr sz="2600" spc="-5" dirty="0">
                <a:latin typeface="Perpetua"/>
                <a:cs typeface="Perpetua"/>
              </a:rPr>
              <a:t>”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answer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question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i="1" spc="-75" dirty="0">
                <a:latin typeface="Perpetua"/>
                <a:cs typeface="Perpetua"/>
              </a:rPr>
              <a:t>Yes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R="4877435" algn="ctr">
              <a:lnSpc>
                <a:spcPct val="100000"/>
              </a:lnSpc>
              <a:spcBef>
                <a:spcPts val="409"/>
              </a:spcBef>
            </a:pP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5" dirty="0">
                <a:latin typeface="Perpetua"/>
                <a:cs typeface="Perpetua"/>
              </a:rPr>
              <a:t>must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continue.</a:t>
            </a:r>
            <a:endParaRPr sz="2600">
              <a:latin typeface="Perpetua"/>
              <a:cs typeface="Perpetua"/>
            </a:endParaRPr>
          </a:p>
          <a:p>
            <a:pPr marL="227965" marR="4933315" lvl="1" indent="-22796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2796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answer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i="1" dirty="0">
                <a:latin typeface="Perpetua"/>
                <a:cs typeface="Perpetua"/>
              </a:rPr>
              <a:t>No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R="6095365" algn="ctr">
              <a:lnSpc>
                <a:spcPct val="100000"/>
              </a:lnSpc>
              <a:spcBef>
                <a:spcPts val="395"/>
              </a:spcBef>
            </a:pPr>
            <a:r>
              <a:rPr sz="2600" i="1" dirty="0">
                <a:latin typeface="Perpetua"/>
                <a:cs typeface="Perpetua"/>
              </a:rPr>
              <a:t>I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Similarly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second example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asking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question: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Am I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5" dirty="0">
                <a:latin typeface="Perpetua"/>
                <a:cs typeface="Perpetua"/>
              </a:rPr>
              <a:t>yet at </a:t>
            </a:r>
            <a:r>
              <a:rPr sz="2600" i="1" spc="-5" dirty="0">
                <a:latin typeface="Perpetua"/>
                <a:cs typeface="Perpetua"/>
              </a:rPr>
              <a:t>the bottom of the </a:t>
            </a:r>
            <a:r>
              <a:rPr sz="2600" i="1" dirty="0">
                <a:latin typeface="Perpetua"/>
                <a:cs typeface="Perpetua"/>
              </a:rPr>
              <a:t>pile and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5" dirty="0">
                <a:latin typeface="Perpetua"/>
                <a:cs typeface="Perpetua"/>
              </a:rPr>
              <a:t>yet </a:t>
            </a:r>
            <a:r>
              <a:rPr sz="2600" i="1" spc="-10" dirty="0">
                <a:latin typeface="Perpetua"/>
                <a:cs typeface="Perpetua"/>
              </a:rPr>
              <a:t>found</a:t>
            </a:r>
            <a:r>
              <a:rPr sz="2600" i="1" spc="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it</a:t>
            </a:r>
            <a:r>
              <a:rPr sz="2600" spc="-5" dirty="0">
                <a:latin typeface="Perpetua"/>
                <a:cs typeface="Perpetua"/>
              </a:rPr>
              <a:t>?”</a:t>
            </a:r>
            <a:endParaRPr sz="2600">
              <a:latin typeface="Perpetua"/>
              <a:cs typeface="Perpetua"/>
            </a:endParaRPr>
          </a:p>
          <a:p>
            <a:pPr marL="1612900" marR="5080">
              <a:lnSpc>
                <a:spcPct val="100000"/>
              </a:lnSpc>
              <a:spcBef>
                <a:spcPts val="1440"/>
              </a:spcBef>
              <a:buSzPct val="95833"/>
              <a:buFont typeface="Wingdings"/>
              <a:buChar char=""/>
              <a:tabLst>
                <a:tab pos="1853564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ask this question - “Do I </a:t>
            </a:r>
            <a:r>
              <a:rPr sz="2400" i="1" spc="-5" dirty="0">
                <a:latin typeface="Perpetua"/>
                <a:cs typeface="Perpetua"/>
              </a:rPr>
              <a:t>continue?” </a:t>
            </a:r>
            <a:r>
              <a:rPr sz="2400" i="1" dirty="0">
                <a:latin typeface="Perpetua"/>
                <a:cs typeface="Perpetua"/>
              </a:rPr>
              <a:t>- </a:t>
            </a:r>
            <a:r>
              <a:rPr sz="2400" i="1" spc="-5" dirty="0">
                <a:latin typeface="Perpetua"/>
                <a:cs typeface="Perpetua"/>
              </a:rPr>
              <a:t>once </a:t>
            </a:r>
            <a:r>
              <a:rPr sz="2400" i="1" spc="-10" dirty="0">
                <a:latin typeface="Perpetua"/>
                <a:cs typeface="Perpetua"/>
              </a:rPr>
              <a:t>every </a:t>
            </a:r>
            <a:r>
              <a:rPr sz="2400" i="1" spc="-5" dirty="0">
                <a:latin typeface="Perpetua"/>
                <a:cs typeface="Perpetua"/>
              </a:rPr>
              <a:t>time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35" dirty="0">
                <a:latin typeface="Perpetua"/>
                <a:cs typeface="Perpetua"/>
              </a:rPr>
              <a:t>have  </a:t>
            </a:r>
            <a:r>
              <a:rPr sz="2400" i="1" spc="-5" dirty="0">
                <a:latin typeface="Perpetua"/>
                <a:cs typeface="Perpetua"/>
              </a:rPr>
              <a:t>done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repetitive </a:t>
            </a:r>
            <a:r>
              <a:rPr sz="2400" i="1" dirty="0">
                <a:latin typeface="Perpetua"/>
                <a:cs typeface="Perpetua"/>
              </a:rPr>
              <a:t>task, to see </a:t>
            </a: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need to </a:t>
            </a:r>
            <a:r>
              <a:rPr sz="2400" i="1" spc="-5" dirty="0">
                <a:latin typeface="Perpetua"/>
                <a:cs typeface="Perpetua"/>
              </a:rPr>
              <a:t>do </a:t>
            </a:r>
            <a:r>
              <a:rPr sz="2400" i="1" dirty="0">
                <a:latin typeface="Perpetua"/>
                <a:cs typeface="Perpetua"/>
              </a:rPr>
              <a:t>it</a:t>
            </a:r>
            <a:r>
              <a:rPr sz="2400" i="1" spc="-30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again.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2600" y="92964"/>
            <a:ext cx="1219200" cy="1126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695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An </a:t>
            </a:r>
            <a:r>
              <a:rPr spc="5" dirty="0"/>
              <a:t>algorithm </a:t>
            </a:r>
            <a:r>
              <a:rPr spc="-5" dirty="0"/>
              <a:t>for </a:t>
            </a:r>
            <a:r>
              <a:rPr spc="-10" dirty="0"/>
              <a:t>treating </a:t>
            </a:r>
            <a:r>
              <a:rPr spc="25" dirty="0"/>
              <a:t>heart</a:t>
            </a:r>
            <a:r>
              <a:rPr spc="-65" dirty="0"/>
              <a:t> </a:t>
            </a:r>
            <a:r>
              <a:rPr spc="-20" dirty="0"/>
              <a:t>stroke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472483"/>
            <a:ext cx="8636635" cy="6052820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2155"/>
              </a:spcBef>
            </a:pPr>
            <a:r>
              <a:rPr sz="3200" dirty="0">
                <a:latin typeface="Perpetua"/>
                <a:cs typeface="Perpetua"/>
              </a:rPr>
              <a:t>(BMA,</a:t>
            </a:r>
            <a:r>
              <a:rPr sz="3200" spc="-15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1990)</a:t>
            </a:r>
            <a:endParaRPr sz="32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1675"/>
              </a:spcBef>
              <a:buAutoNum type="arabicPeriod"/>
              <a:tabLst>
                <a:tab pos="322580" algn="l"/>
              </a:tabLst>
            </a:pP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victim 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cool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place.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22580" algn="l"/>
              </a:tabLst>
            </a:pPr>
            <a:r>
              <a:rPr sz="2600" spc="-25" dirty="0">
                <a:latin typeface="Perpetua"/>
                <a:cs typeface="Perpetua"/>
              </a:rPr>
              <a:t>Remove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clothing.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Place the </a:t>
            </a:r>
            <a:r>
              <a:rPr sz="2600" spc="-5" dirty="0">
                <a:latin typeface="Perpetua"/>
                <a:cs typeface="Perpetua"/>
              </a:rPr>
              <a:t>victim </a:t>
            </a:r>
            <a:r>
              <a:rPr sz="2600" dirty="0">
                <a:latin typeface="Perpetua"/>
                <a:cs typeface="Perpetua"/>
              </a:rPr>
              <a:t>in the sitting </a:t>
            </a:r>
            <a:r>
              <a:rPr sz="2600" spc="-5" dirty="0">
                <a:latin typeface="Perpetua"/>
                <a:cs typeface="Perpetua"/>
              </a:rPr>
              <a:t>position.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2580" algn="l"/>
              </a:tabLst>
            </a:pPr>
            <a:r>
              <a:rPr sz="2600" spc="10" dirty="0">
                <a:latin typeface="Perpetua"/>
                <a:cs typeface="Perpetua"/>
              </a:rPr>
              <a:t>Support </a:t>
            </a:r>
            <a:r>
              <a:rPr sz="2600" dirty="0">
                <a:latin typeface="Perpetua"/>
                <a:cs typeface="Perpetua"/>
              </a:rPr>
              <a:t>the head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shoulders using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pillows.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2580" algn="l"/>
              </a:tabLst>
            </a:pPr>
            <a:r>
              <a:rPr sz="2600" spc="-30" dirty="0">
                <a:latin typeface="Perpetua"/>
                <a:cs typeface="Perpetua"/>
              </a:rPr>
              <a:t>Cover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victim </a:t>
            </a:r>
            <a:r>
              <a:rPr sz="2600" dirty="0">
                <a:latin typeface="Perpetua"/>
                <a:cs typeface="Perpetua"/>
              </a:rPr>
              <a:t>with a </a:t>
            </a:r>
            <a:r>
              <a:rPr sz="2600" spc="-30" dirty="0">
                <a:latin typeface="Perpetua"/>
                <a:cs typeface="Perpetua"/>
              </a:rPr>
              <a:t>wet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sheet.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2580" algn="l"/>
              </a:tabLst>
            </a:pPr>
            <a:r>
              <a:rPr sz="2600" spc="-25" dirty="0">
                <a:latin typeface="Perpetua"/>
                <a:cs typeface="Perpetua"/>
              </a:rPr>
              <a:t>Fan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victim </a:t>
            </a:r>
            <a:r>
              <a:rPr sz="2600" dirty="0">
                <a:latin typeface="Perpetua"/>
                <a:cs typeface="Perpetua"/>
              </a:rPr>
              <a:t>with a </a:t>
            </a:r>
            <a:r>
              <a:rPr sz="2600" spc="-5" dirty="0">
                <a:latin typeface="Perpetua"/>
                <a:cs typeface="Perpetua"/>
              </a:rPr>
              <a:t>magazine until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temperature drops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38C.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Seek </a:t>
            </a:r>
            <a:r>
              <a:rPr sz="2600" spc="-5" dirty="0">
                <a:latin typeface="Perpetua"/>
                <a:cs typeface="Perpetua"/>
              </a:rPr>
              <a:t>medical help</a:t>
            </a:r>
            <a:r>
              <a:rPr sz="2600" spc="-30" dirty="0">
                <a:latin typeface="Perpetua"/>
                <a:cs typeface="Perpetua"/>
              </a:rPr>
              <a:t> immediately.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Perpetua"/>
              <a:buAutoNum type="arabicPeriod"/>
            </a:pPr>
            <a:endParaRPr sz="3000">
              <a:latin typeface="Times New Roman"/>
              <a:cs typeface="Times New Roman"/>
            </a:endParaRPr>
          </a:p>
          <a:p>
            <a:pPr marL="2386330" lvl="1" indent="-240665">
              <a:lnSpc>
                <a:spcPct val="100000"/>
              </a:lnSpc>
              <a:spcBef>
                <a:spcPts val="2345"/>
              </a:spcBef>
              <a:buSzPct val="95833"/>
              <a:buFont typeface="Wingdings"/>
              <a:buChar char=""/>
              <a:tabLst>
                <a:tab pos="23869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identify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loop in it and </a:t>
            </a:r>
            <a:r>
              <a:rPr sz="2400" i="1" spc="-30" dirty="0">
                <a:latin typeface="Perpetua"/>
                <a:cs typeface="Perpetua"/>
              </a:rPr>
              <a:t>say </a:t>
            </a:r>
            <a:r>
              <a:rPr sz="2400" i="1" spc="-2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repeated</a:t>
            </a:r>
            <a:r>
              <a:rPr sz="2400" i="1" spc="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action</a:t>
            </a:r>
            <a:endParaRPr sz="2400">
              <a:latin typeface="Perpetua"/>
              <a:cs typeface="Perpetua"/>
            </a:endParaRPr>
          </a:p>
          <a:p>
            <a:pPr marL="241935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Perpetua"/>
                <a:cs typeface="Perpetua"/>
              </a:rPr>
              <a:t>is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25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the termination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condition?</a:t>
            </a:r>
            <a:endParaRPr sz="2400">
              <a:latin typeface="Perpetua"/>
              <a:cs typeface="Perpetua"/>
            </a:endParaRPr>
          </a:p>
          <a:p>
            <a:pPr marL="2386330" lvl="1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3869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rewrite the algorithm </a:t>
            </a:r>
            <a:r>
              <a:rPr sz="2400" i="1" spc="-5" dirty="0">
                <a:latin typeface="Perpetua"/>
                <a:cs typeface="Perpetua"/>
              </a:rPr>
              <a:t>using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loop?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685800"/>
            <a:ext cx="1703831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040" y="5638915"/>
            <a:ext cx="1432862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8826"/>
            <a:ext cx="7101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</a:rPr>
              <a:t>The </a:t>
            </a:r>
            <a:r>
              <a:rPr sz="3600" spc="-5" dirty="0">
                <a:solidFill>
                  <a:srgbClr val="FF0000"/>
                </a:solidFill>
              </a:rPr>
              <a:t>loop </a:t>
            </a:r>
            <a:r>
              <a:rPr sz="3600" dirty="0">
                <a:solidFill>
                  <a:srgbClr val="FF0000"/>
                </a:solidFill>
              </a:rPr>
              <a:t>in </a:t>
            </a:r>
            <a:r>
              <a:rPr sz="3600" spc="-45" dirty="0">
                <a:solidFill>
                  <a:srgbClr val="FF0000"/>
                </a:solidFill>
              </a:rPr>
              <a:t>Treating </a:t>
            </a:r>
            <a:r>
              <a:rPr sz="3600" spc="-15" dirty="0">
                <a:solidFill>
                  <a:srgbClr val="FF0000"/>
                </a:solidFill>
              </a:rPr>
              <a:t>heatstroke </a:t>
            </a:r>
            <a:r>
              <a:rPr sz="3600" dirty="0">
                <a:solidFill>
                  <a:srgbClr val="FF0000"/>
                </a:solidFill>
              </a:rPr>
              <a:t>-</a:t>
            </a:r>
            <a:r>
              <a:rPr sz="3600" spc="-385" dirty="0">
                <a:solidFill>
                  <a:srgbClr val="FF0000"/>
                </a:solidFill>
              </a:rPr>
              <a:t> </a:t>
            </a:r>
            <a:r>
              <a:rPr sz="3600" dirty="0">
                <a:solidFill>
                  <a:srgbClr val="FF0000"/>
                </a:solidFill>
              </a:rPr>
              <a:t>algorithm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0739" y="1048791"/>
            <a:ext cx="7628890" cy="54070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00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loop </a:t>
            </a:r>
            <a:r>
              <a:rPr sz="2800" spc="-5" dirty="0">
                <a:latin typeface="Perpetua"/>
                <a:cs typeface="Perpetua"/>
              </a:rPr>
              <a:t>is in </a:t>
            </a:r>
            <a:r>
              <a:rPr sz="2800" spc="-10" dirty="0">
                <a:latin typeface="Perpetua"/>
                <a:cs typeface="Perpetua"/>
              </a:rPr>
              <a:t>line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6.</a:t>
            </a:r>
            <a:endParaRPr sz="2800">
              <a:latin typeface="Perpetua"/>
              <a:cs typeface="Perpetua"/>
            </a:endParaRPr>
          </a:p>
          <a:p>
            <a:pPr marL="321945" marR="2783840" indent="-321945">
              <a:lnSpc>
                <a:spcPct val="117900"/>
              </a:lnSpc>
              <a:spcBef>
                <a:spcPts val="5"/>
              </a:spcBef>
              <a:buSzPct val="83928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0" dirty="0">
                <a:latin typeface="Perpetua"/>
                <a:cs typeface="Perpetua"/>
              </a:rPr>
              <a:t>What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spc="-5" dirty="0">
                <a:latin typeface="Perpetua"/>
                <a:cs typeface="Perpetua"/>
              </a:rPr>
              <a:t>told to do </a:t>
            </a:r>
            <a:r>
              <a:rPr sz="2800" spc="-15" dirty="0">
                <a:latin typeface="Perpetua"/>
                <a:cs typeface="Perpetua"/>
              </a:rPr>
              <a:t>repeatedly?  </a:t>
            </a:r>
            <a:r>
              <a:rPr sz="2800" spc="-50" dirty="0">
                <a:latin typeface="Perpetua"/>
                <a:cs typeface="Perpetua"/>
              </a:rPr>
              <a:t>“</a:t>
            </a:r>
            <a:r>
              <a:rPr sz="2800" i="1" spc="-50" dirty="0">
                <a:latin typeface="Perpetua"/>
                <a:cs typeface="Perpetua"/>
              </a:rPr>
              <a:t>Fan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victim </a:t>
            </a:r>
            <a:r>
              <a:rPr sz="2800" i="1" spc="-5" dirty="0">
                <a:latin typeface="Perpetua"/>
                <a:cs typeface="Perpetua"/>
              </a:rPr>
              <a:t>with a</a:t>
            </a:r>
            <a:r>
              <a:rPr sz="2800" i="1" spc="10" dirty="0">
                <a:latin typeface="Perpetua"/>
                <a:cs typeface="Perpetua"/>
              </a:rPr>
              <a:t> </a:t>
            </a:r>
            <a:r>
              <a:rPr sz="2800" i="1" spc="-15" dirty="0">
                <a:latin typeface="Perpetua"/>
                <a:cs typeface="Perpetua"/>
              </a:rPr>
              <a:t>magazine</a:t>
            </a:r>
            <a:r>
              <a:rPr sz="2800" spc="-15" dirty="0">
                <a:latin typeface="Perpetua"/>
                <a:cs typeface="Perpetua"/>
              </a:rPr>
              <a:t>”.</a:t>
            </a:r>
            <a:endParaRPr sz="2800">
              <a:latin typeface="Perpetua"/>
              <a:cs typeface="Perpetua"/>
            </a:endParaRPr>
          </a:p>
          <a:p>
            <a:pPr marL="287020" marR="895985" indent="-274955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10" dirty="0">
                <a:latin typeface="Perpetua"/>
                <a:cs typeface="Perpetua"/>
              </a:rPr>
              <a:t>What is </a:t>
            </a:r>
            <a:r>
              <a:rPr sz="2800" spc="-5" dirty="0">
                <a:latin typeface="Perpetua"/>
                <a:cs typeface="Perpetua"/>
              </a:rPr>
              <a:t>the condition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spc="-40" dirty="0">
                <a:latin typeface="Perpetua"/>
                <a:cs typeface="Perpetua"/>
              </a:rPr>
              <a:t>have </a:t>
            </a:r>
            <a:r>
              <a:rPr sz="2800" spc="-5" dirty="0">
                <a:latin typeface="Perpetua"/>
                <a:cs typeface="Perpetua"/>
              </a:rPr>
              <a:t>to </a:t>
            </a:r>
            <a:r>
              <a:rPr sz="2800" spc="-15" dirty="0">
                <a:latin typeface="Perpetua"/>
                <a:cs typeface="Perpetua"/>
              </a:rPr>
              <a:t>keep </a:t>
            </a:r>
            <a:r>
              <a:rPr sz="2800" spc="15" dirty="0">
                <a:latin typeface="Perpetua"/>
                <a:cs typeface="Perpetua"/>
              </a:rPr>
              <a:t>checking </a:t>
            </a:r>
            <a:r>
              <a:rPr sz="2800" spc="-5" dirty="0">
                <a:latin typeface="Perpetua"/>
                <a:cs typeface="Perpetua"/>
              </a:rPr>
              <a:t>to  </a:t>
            </a:r>
            <a:r>
              <a:rPr sz="2800" spc="5" dirty="0">
                <a:latin typeface="Perpetua"/>
                <a:cs typeface="Perpetua"/>
              </a:rPr>
              <a:t>determine </a:t>
            </a:r>
            <a:r>
              <a:rPr sz="2800" spc="-10" dirty="0">
                <a:latin typeface="Perpetua"/>
                <a:cs typeface="Perpetua"/>
              </a:rPr>
              <a:t>if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spc="-5" dirty="0">
                <a:latin typeface="Perpetua"/>
                <a:cs typeface="Perpetua"/>
              </a:rPr>
              <a:t>can</a:t>
            </a:r>
            <a:r>
              <a:rPr sz="2800" spc="5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stop?</a:t>
            </a:r>
            <a:endParaRPr sz="2800">
              <a:latin typeface="Perpetua"/>
              <a:cs typeface="Perpetua"/>
            </a:endParaRPr>
          </a:p>
          <a:p>
            <a:pPr marL="992505">
              <a:lnSpc>
                <a:spcPct val="100000"/>
              </a:lnSpc>
              <a:spcBef>
                <a:spcPts val="600"/>
              </a:spcBef>
            </a:pPr>
            <a:r>
              <a:rPr sz="2800" spc="-5" dirty="0">
                <a:latin typeface="Perpetua"/>
                <a:cs typeface="Perpetua"/>
              </a:rPr>
              <a:t>“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5" dirty="0">
                <a:latin typeface="Perpetua"/>
                <a:cs typeface="Perpetua"/>
              </a:rPr>
              <a:t>temperature </a:t>
            </a:r>
            <a:r>
              <a:rPr sz="2800" i="1" spc="-10" dirty="0">
                <a:latin typeface="Perpetua"/>
                <a:cs typeface="Perpetua"/>
              </a:rPr>
              <a:t>drops </a:t>
            </a:r>
            <a:r>
              <a:rPr sz="2800" i="1" spc="-5" dirty="0">
                <a:latin typeface="Perpetua"/>
                <a:cs typeface="Perpetua"/>
              </a:rPr>
              <a:t>to</a:t>
            </a:r>
            <a:r>
              <a:rPr sz="2800" i="1" spc="25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38C</a:t>
            </a:r>
            <a:r>
              <a:rPr sz="2800" dirty="0">
                <a:latin typeface="Perpetua"/>
                <a:cs typeface="Perpetua"/>
              </a:rPr>
              <a:t>”.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3928"/>
              <a:buFont typeface="Wingdings"/>
              <a:buChar char=""/>
              <a:tabLst>
                <a:tab pos="287655" algn="l"/>
              </a:tabLst>
            </a:pPr>
            <a:r>
              <a:rPr sz="2800" i="1" dirty="0">
                <a:latin typeface="Perpetua"/>
                <a:cs typeface="Perpetua"/>
              </a:rPr>
              <a:t>Rewriting </a:t>
            </a:r>
            <a:r>
              <a:rPr sz="2800" i="1" spc="-5" dirty="0">
                <a:latin typeface="Perpetua"/>
                <a:cs typeface="Perpetua"/>
              </a:rPr>
              <a:t>line 6 </a:t>
            </a:r>
            <a:r>
              <a:rPr sz="2800" i="1" spc="-20" dirty="0">
                <a:latin typeface="Perpetua"/>
                <a:cs typeface="Perpetua"/>
              </a:rPr>
              <a:t>we</a:t>
            </a:r>
            <a:r>
              <a:rPr sz="2800" i="1" spc="-15" dirty="0">
                <a:latin typeface="Perpetua"/>
                <a:cs typeface="Perpetua"/>
              </a:rPr>
              <a:t> get.</a:t>
            </a:r>
            <a:endParaRPr sz="2800">
              <a:latin typeface="Perpetua"/>
              <a:cs typeface="Perpetua"/>
            </a:endParaRPr>
          </a:p>
          <a:p>
            <a:pPr marL="287020" marR="508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Perpetua"/>
                <a:cs typeface="Perpetua"/>
              </a:rPr>
              <a:t>While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temperature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spc="-35" dirty="0">
                <a:latin typeface="Perpetua"/>
                <a:cs typeface="Perpetua"/>
              </a:rPr>
              <a:t>above </a:t>
            </a:r>
            <a:r>
              <a:rPr sz="2800" spc="-5" dirty="0">
                <a:latin typeface="Perpetua"/>
                <a:cs typeface="Perpetua"/>
              </a:rPr>
              <a:t>38C </a:t>
            </a:r>
            <a:r>
              <a:rPr sz="2800" b="1" spc="-5" dirty="0">
                <a:latin typeface="Perpetua"/>
                <a:cs typeface="Perpetua"/>
              </a:rPr>
              <a:t>do </a:t>
            </a:r>
            <a:r>
              <a:rPr sz="2800" b="1" spc="-10" dirty="0">
                <a:latin typeface="Perpetua"/>
                <a:cs typeface="Perpetua"/>
              </a:rPr>
              <a:t>the </a:t>
            </a:r>
            <a:r>
              <a:rPr sz="2800" b="1" spc="-15" dirty="0">
                <a:latin typeface="Perpetua"/>
                <a:cs typeface="Perpetua"/>
              </a:rPr>
              <a:t>following  repeatedly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800" spc="-30" dirty="0">
                <a:latin typeface="Perpetua"/>
                <a:cs typeface="Perpetua"/>
              </a:rPr>
              <a:t>Fan </a:t>
            </a:r>
            <a:r>
              <a:rPr sz="2800" spc="-5" dirty="0">
                <a:latin typeface="Perpetua"/>
                <a:cs typeface="Perpetua"/>
              </a:rPr>
              <a:t>the victim with a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magazine.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0706"/>
            <a:ext cx="4043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35" dirty="0"/>
              <a:t>Eg. </a:t>
            </a:r>
            <a:r>
              <a:rPr sz="4400" dirty="0"/>
              <a:t>A </a:t>
            </a:r>
            <a:r>
              <a:rPr sz="4400" spc="-5" dirty="0"/>
              <a:t>maze</a:t>
            </a:r>
            <a:r>
              <a:rPr sz="4400" spc="-440" dirty="0"/>
              <a:t> </a:t>
            </a:r>
            <a:r>
              <a:rPr sz="4400" spc="-20" dirty="0"/>
              <a:t>problem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443671" y="893370"/>
            <a:ext cx="5848028" cy="443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9194" y="5349580"/>
            <a:ext cx="6518909" cy="119062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5" dirty="0">
                <a:latin typeface="Perpetua"/>
                <a:cs typeface="Perpetua"/>
              </a:rPr>
              <a:t>Original</a:t>
            </a:r>
            <a:r>
              <a:rPr sz="2000" spc="-7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Maze</a:t>
            </a:r>
            <a:endParaRPr sz="2000">
              <a:latin typeface="Perpetua"/>
              <a:cs typeface="Perpetua"/>
            </a:endParaRPr>
          </a:p>
          <a:p>
            <a:pPr marL="2298700" marR="5080">
              <a:lnSpc>
                <a:spcPct val="100000"/>
              </a:lnSpc>
              <a:spcBef>
                <a:spcPts val="550"/>
              </a:spcBef>
              <a:buSzPct val="95833"/>
              <a:buFont typeface="Wingdings"/>
              <a:buChar char=""/>
              <a:tabLst>
                <a:tab pos="25393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an algorithm to </a:t>
            </a:r>
            <a:r>
              <a:rPr sz="2400" i="1" spc="-15" dirty="0">
                <a:latin typeface="Perpetua"/>
                <a:cs typeface="Perpetua"/>
              </a:rPr>
              <a:t>get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  </a:t>
            </a:r>
            <a:r>
              <a:rPr sz="2400" i="1" spc="-10" dirty="0">
                <a:latin typeface="Perpetua"/>
                <a:cs typeface="Perpetua"/>
              </a:rPr>
              <a:t>centre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maze?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15676" y="3715972"/>
            <a:ext cx="1199047" cy="7485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57009" y="2505583"/>
            <a:ext cx="19862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10" dirty="0">
                <a:latin typeface="Perpetua"/>
                <a:cs typeface="Perpetua"/>
              </a:rPr>
              <a:t>Solve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maze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by  </a:t>
            </a:r>
            <a:r>
              <a:rPr sz="2400" i="1" spc="-20" dirty="0">
                <a:latin typeface="Perpetua"/>
                <a:cs typeface="Perpetua"/>
              </a:rPr>
              <a:t>drawing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line.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5046"/>
            <a:ext cx="5842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>
                <a:solidFill>
                  <a:srgbClr val="FF0000"/>
                </a:solidFill>
              </a:rPr>
              <a:t>To </a:t>
            </a:r>
            <a:r>
              <a:rPr spc="-5" dirty="0">
                <a:solidFill>
                  <a:srgbClr val="FF0000"/>
                </a:solidFill>
              </a:rPr>
              <a:t>get to the </a:t>
            </a:r>
            <a:r>
              <a:rPr spc="-10" dirty="0">
                <a:solidFill>
                  <a:srgbClr val="FF0000"/>
                </a:solidFill>
              </a:rPr>
              <a:t>centre </a:t>
            </a:r>
            <a:r>
              <a:rPr dirty="0">
                <a:solidFill>
                  <a:srgbClr val="FF0000"/>
                </a:solidFill>
              </a:rPr>
              <a:t>of </a:t>
            </a:r>
            <a:r>
              <a:rPr spc="-5" dirty="0">
                <a:solidFill>
                  <a:srgbClr val="FF0000"/>
                </a:solidFill>
              </a:rPr>
              <a:t>the</a:t>
            </a:r>
            <a:r>
              <a:rPr spc="-39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maze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29481"/>
            <a:ext cx="7561580" cy="30448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44805" indent="-33274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Enter the maze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gate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301625" indent="-28956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02260" algn="l"/>
              </a:tabLst>
            </a:pPr>
            <a:r>
              <a:rPr sz="2800" spc="-5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left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Go straight </a:t>
            </a:r>
            <a:r>
              <a:rPr sz="2800" spc="-10" dirty="0">
                <a:latin typeface="Perpetua"/>
                <a:cs typeface="Perpetua"/>
              </a:rPr>
              <a:t>across </a:t>
            </a:r>
            <a:r>
              <a:rPr sz="2800" spc="-5" dirty="0">
                <a:latin typeface="Perpetua"/>
                <a:cs typeface="Perpetua"/>
              </a:rPr>
              <a:t>the junction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5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301625" indent="-28956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02260" algn="l"/>
              </a:tabLst>
            </a:pPr>
            <a:r>
              <a:rPr sz="2800" spc="-5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left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Go straight </a:t>
            </a:r>
            <a:r>
              <a:rPr sz="2800" spc="-10" dirty="0">
                <a:latin typeface="Perpetua"/>
                <a:cs typeface="Perpetua"/>
              </a:rPr>
              <a:t>across </a:t>
            </a:r>
            <a:r>
              <a:rPr sz="2800" spc="-5" dirty="0">
                <a:latin typeface="Perpetua"/>
                <a:cs typeface="Perpetua"/>
              </a:rPr>
              <a:t>the junction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5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Stop </a:t>
            </a:r>
            <a:r>
              <a:rPr sz="2800" spc="-20" dirty="0">
                <a:latin typeface="Perpetua"/>
                <a:cs typeface="Perpetua"/>
              </a:rPr>
              <a:t>at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cross.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375" y="5401462"/>
            <a:ext cx="50406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20" dirty="0">
                <a:latin typeface="Perpetua"/>
                <a:cs typeface="Perpetua"/>
              </a:rPr>
              <a:t>Why </a:t>
            </a: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same </a:t>
            </a:r>
            <a:r>
              <a:rPr sz="2400" i="1" spc="-5" dirty="0">
                <a:latin typeface="Perpetua"/>
                <a:cs typeface="Perpetua"/>
              </a:rPr>
              <a:t>instructions out </a:t>
            </a:r>
            <a:r>
              <a:rPr sz="2400" i="1" spc="-20" dirty="0">
                <a:latin typeface="Perpetua"/>
                <a:cs typeface="Perpetua"/>
              </a:rPr>
              <a:t>several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times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can </a:t>
            </a:r>
            <a:r>
              <a:rPr sz="2400" i="1" spc="-30" dirty="0">
                <a:latin typeface="Perpetua"/>
                <a:cs typeface="Perpetua"/>
              </a:rPr>
              <a:t>avoid </a:t>
            </a:r>
            <a:r>
              <a:rPr sz="2400" i="1" spc="-5" dirty="0">
                <a:latin typeface="Perpetua"/>
                <a:cs typeface="Perpetua"/>
              </a:rPr>
              <a:t>it?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…………..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80543"/>
            <a:ext cx="694817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Perpetua"/>
                <a:cs typeface="Perpetua"/>
              </a:rPr>
              <a:t>Is </a:t>
            </a:r>
            <a:r>
              <a:rPr sz="3200" i="1" spc="-5" dirty="0">
                <a:latin typeface="Perpetua"/>
                <a:cs typeface="Perpetua"/>
              </a:rPr>
              <a:t>it worthwhile </a:t>
            </a:r>
            <a:r>
              <a:rPr sz="3200" i="1" spc="-25" dirty="0">
                <a:latin typeface="Perpetua"/>
                <a:cs typeface="Perpetua"/>
              </a:rPr>
              <a:t>avoiding </a:t>
            </a:r>
            <a:r>
              <a:rPr sz="3200" i="1" spc="-10" dirty="0">
                <a:latin typeface="Perpetua"/>
                <a:cs typeface="Perpetua"/>
              </a:rPr>
              <a:t>repeatedly </a:t>
            </a:r>
            <a:r>
              <a:rPr sz="3200" i="1" spc="5" dirty="0">
                <a:latin typeface="Perpetua"/>
                <a:cs typeface="Perpetua"/>
              </a:rPr>
              <a:t>writing </a:t>
            </a:r>
            <a:r>
              <a:rPr sz="3200" i="1" dirty="0">
                <a:latin typeface="Perpetua"/>
                <a:cs typeface="Perpetua"/>
              </a:rPr>
              <a:t>the same  instructions</a:t>
            </a:r>
            <a:r>
              <a:rPr sz="3200" dirty="0"/>
              <a:t>?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42020" cy="432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24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maze </a:t>
            </a:r>
            <a:r>
              <a:rPr sz="2600" dirty="0">
                <a:latin typeface="Perpetua"/>
                <a:cs typeface="Perpetua"/>
              </a:rPr>
              <a:t>is small so the </a:t>
            </a:r>
            <a:r>
              <a:rPr sz="2600" spc="-5" dirty="0">
                <a:latin typeface="Perpetua"/>
                <a:cs typeface="Perpetua"/>
              </a:rPr>
              <a:t>amount of repetition </a:t>
            </a:r>
            <a:r>
              <a:rPr sz="2600" dirty="0">
                <a:latin typeface="Perpetua"/>
                <a:cs typeface="Perpetua"/>
              </a:rPr>
              <a:t>in the instructions is  </a:t>
            </a:r>
            <a:r>
              <a:rPr sz="2600" spc="-5" dirty="0">
                <a:latin typeface="Perpetua"/>
                <a:cs typeface="Perpetua"/>
              </a:rPr>
              <a:t>not great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–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5" dirty="0">
                <a:latin typeface="Perpetua"/>
                <a:cs typeface="Perpetua"/>
              </a:rPr>
              <a:t>imagine </a:t>
            </a:r>
            <a:r>
              <a:rPr sz="2600" dirty="0">
                <a:latin typeface="Perpetua"/>
                <a:cs typeface="Perpetua"/>
              </a:rPr>
              <a:t>if the </a:t>
            </a:r>
            <a:r>
              <a:rPr sz="2600" spc="-5" dirty="0">
                <a:latin typeface="Perpetua"/>
                <a:cs typeface="Perpetua"/>
              </a:rPr>
              <a:t>maze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dirty="0">
                <a:latin typeface="Perpetua"/>
                <a:cs typeface="Perpetua"/>
              </a:rPr>
              <a:t>much </a:t>
            </a:r>
            <a:r>
              <a:rPr sz="2600" spc="-5" dirty="0">
                <a:latin typeface="Perpetua"/>
                <a:cs typeface="Perpetua"/>
              </a:rPr>
              <a:t>bigger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junctions,  </a:t>
            </a:r>
            <a:r>
              <a:rPr sz="2600" dirty="0">
                <a:latin typeface="Perpetua"/>
                <a:cs typeface="Perpetua"/>
              </a:rPr>
              <a:t>then if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spc="-5" dirty="0">
                <a:latin typeface="Perpetua"/>
                <a:cs typeface="Perpetua"/>
              </a:rPr>
              <a:t>repetition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very </a:t>
            </a:r>
            <a:r>
              <a:rPr sz="2600" dirty="0">
                <a:latin typeface="Perpetua"/>
                <a:cs typeface="Perpetua"/>
              </a:rPr>
              <a:t>worthwhile </a:t>
            </a:r>
            <a:r>
              <a:rPr sz="2600" spc="-20" dirty="0">
                <a:latin typeface="Perpetua"/>
                <a:cs typeface="Perpetua"/>
              </a:rPr>
              <a:t>avoiding  </a:t>
            </a:r>
            <a:r>
              <a:rPr sz="2600" spc="-10" dirty="0">
                <a:latin typeface="Perpetua"/>
                <a:cs typeface="Perpetua"/>
              </a:rPr>
              <a:t>repeatedly </a:t>
            </a:r>
            <a:r>
              <a:rPr sz="2600" spc="5" dirty="0">
                <a:latin typeface="Perpetua"/>
                <a:cs typeface="Perpetua"/>
              </a:rPr>
              <a:t>writing </a:t>
            </a:r>
            <a:r>
              <a:rPr sz="2600" dirty="0">
                <a:latin typeface="Perpetua"/>
                <a:cs typeface="Perpetua"/>
              </a:rPr>
              <a:t>the same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instructions.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6385" marR="1524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learning </a:t>
            </a:r>
            <a:r>
              <a:rPr sz="2600" dirty="0">
                <a:latin typeface="Perpetua"/>
                <a:cs typeface="Perpetua"/>
              </a:rPr>
              <a:t>them for a </a:t>
            </a:r>
            <a:r>
              <a:rPr sz="2600" spc="-15" dirty="0">
                <a:latin typeface="Perpetua"/>
                <a:cs typeface="Perpetua"/>
              </a:rPr>
              <a:t>race, </a:t>
            </a:r>
            <a:r>
              <a:rPr sz="2600" dirty="0">
                <a:latin typeface="Perpetua"/>
                <a:cs typeface="Perpetua"/>
              </a:rPr>
              <a:t>it will be </a:t>
            </a:r>
            <a:r>
              <a:rPr sz="2600" spc="-5" dirty="0">
                <a:latin typeface="Perpetua"/>
                <a:cs typeface="Perpetua"/>
              </a:rPr>
              <a:t>easier to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the instructions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simpler.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can simplify 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5" dirty="0">
                <a:latin typeface="Perpetua"/>
                <a:cs typeface="Perpetua"/>
              </a:rPr>
              <a:t>using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8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loop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3327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A simple</a:t>
            </a:r>
            <a:r>
              <a:rPr spc="-405" dirty="0"/>
              <a:t> </a:t>
            </a:r>
            <a:r>
              <a:rPr spc="-5" dirty="0"/>
              <a:t>maze</a:t>
            </a:r>
          </a:p>
        </p:txBody>
      </p:sp>
      <p:sp>
        <p:nvSpPr>
          <p:cNvPr id="3" name="object 3"/>
          <p:cNvSpPr/>
          <p:nvPr/>
        </p:nvSpPr>
        <p:spPr>
          <a:xfrm>
            <a:off x="228599" y="762007"/>
            <a:ext cx="5105441" cy="5028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61228" y="592581"/>
            <a:ext cx="3423285" cy="4743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sz="2800" spc="-185" dirty="0">
                <a:latin typeface="Perpetua"/>
                <a:cs typeface="Perpetua"/>
              </a:rPr>
              <a:t>To </a:t>
            </a:r>
            <a:r>
              <a:rPr sz="2800" spc="-5" dirty="0">
                <a:latin typeface="Perpetua"/>
                <a:cs typeface="Perpetua"/>
              </a:rPr>
              <a:t>get to </a:t>
            </a:r>
            <a:r>
              <a:rPr sz="2800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centre </a:t>
            </a:r>
            <a:r>
              <a:rPr sz="2800" spc="-5" dirty="0">
                <a:latin typeface="Perpetua"/>
                <a:cs typeface="Perpetua"/>
              </a:rPr>
              <a:t>of </a:t>
            </a:r>
            <a:r>
              <a:rPr sz="2800" spc="-10" dirty="0">
                <a:latin typeface="Perpetua"/>
                <a:cs typeface="Perpetua"/>
              </a:rPr>
              <a:t>the  </a:t>
            </a:r>
            <a:r>
              <a:rPr sz="2800" spc="-5" dirty="0">
                <a:latin typeface="Perpetua"/>
                <a:cs typeface="Perpetua"/>
              </a:rPr>
              <a:t>maze:</a:t>
            </a:r>
            <a:endParaRPr sz="2800">
              <a:latin typeface="Perpetua"/>
              <a:cs typeface="Perpetua"/>
            </a:endParaRPr>
          </a:p>
          <a:p>
            <a:pPr marL="329565" indent="-317500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330200" algn="l"/>
              </a:tabLst>
            </a:pPr>
            <a:r>
              <a:rPr sz="2400" dirty="0">
                <a:latin typeface="Perpetua"/>
                <a:cs typeface="Perpetua"/>
              </a:rPr>
              <a:t>Enter the  </a:t>
            </a:r>
            <a:r>
              <a:rPr sz="2400" spc="-5" dirty="0">
                <a:latin typeface="Perpetua"/>
                <a:cs typeface="Perpetua"/>
              </a:rPr>
              <a:t>maze 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1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gate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path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  <a:buAutoNum type="arabicPeriod" startAt="2"/>
              <a:tabLst>
                <a:tab pos="299720" algn="l"/>
              </a:tabLst>
            </a:pPr>
            <a:r>
              <a:rPr sz="2400" spc="-45" dirty="0">
                <a:latin typeface="Perpetua"/>
                <a:cs typeface="Perpetua"/>
              </a:rPr>
              <a:t>Turn </a:t>
            </a:r>
            <a:r>
              <a:rPr sz="2400" dirty="0">
                <a:latin typeface="Perpetua"/>
                <a:cs typeface="Perpetua"/>
              </a:rPr>
              <a:t>Left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path  ahead.</a:t>
            </a:r>
            <a:endParaRPr sz="2400">
              <a:latin typeface="Perpetua"/>
              <a:cs typeface="Perpetua"/>
            </a:endParaRPr>
          </a:p>
          <a:p>
            <a:pPr marL="299085" indent="-287020">
              <a:lnSpc>
                <a:spcPct val="100000"/>
              </a:lnSpc>
              <a:buAutoNum type="arabicPeriod" startAt="2"/>
              <a:tabLst>
                <a:tab pos="299720" algn="l"/>
              </a:tabLst>
            </a:pPr>
            <a:r>
              <a:rPr sz="2400" spc="-45" dirty="0">
                <a:latin typeface="Perpetua"/>
                <a:cs typeface="Perpetua"/>
              </a:rPr>
              <a:t>Turn </a:t>
            </a:r>
            <a:r>
              <a:rPr sz="2400" dirty="0">
                <a:latin typeface="Perpetua"/>
                <a:cs typeface="Perpetua"/>
              </a:rPr>
              <a:t>Left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path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  <a:buAutoNum type="arabicPeriod" startAt="4"/>
              <a:tabLst>
                <a:tab pos="299720" algn="l"/>
              </a:tabLst>
            </a:pPr>
            <a:r>
              <a:rPr sz="2400" spc="-45" dirty="0">
                <a:latin typeface="Perpetua"/>
                <a:cs typeface="Perpetua"/>
              </a:rPr>
              <a:t>Turn </a:t>
            </a:r>
            <a:r>
              <a:rPr sz="2400" dirty="0">
                <a:latin typeface="Perpetua"/>
                <a:cs typeface="Perpetua"/>
              </a:rPr>
              <a:t>Left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path  ahead.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buAutoNum type="arabicPeriod" startAt="4"/>
              <a:tabLst>
                <a:tab pos="297815" algn="l"/>
              </a:tabLst>
            </a:pPr>
            <a:r>
              <a:rPr sz="2400" spc="-5" dirty="0">
                <a:latin typeface="Perpetua"/>
                <a:cs typeface="Perpetua"/>
              </a:rPr>
              <a:t>Stop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cross.</a:t>
            </a:r>
            <a:endParaRPr sz="2400">
              <a:latin typeface="Perpetua"/>
              <a:cs typeface="Perpetua"/>
            </a:endParaRPr>
          </a:p>
          <a:p>
            <a:pPr marL="1319530" lvl="1" indent="-24066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"/>
              <a:tabLst>
                <a:tab pos="1320165" algn="l"/>
              </a:tabLst>
            </a:pPr>
            <a:r>
              <a:rPr sz="2400" i="1" dirty="0">
                <a:latin typeface="Perpetua"/>
                <a:cs typeface="Perpetua"/>
              </a:rPr>
              <a:t>Notice </a:t>
            </a:r>
            <a:r>
              <a:rPr sz="2400" i="1" spc="-20" dirty="0">
                <a:latin typeface="Perpetua"/>
                <a:cs typeface="Perpetua"/>
              </a:rPr>
              <a:t>any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pattern?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9194" y="5789167"/>
            <a:ext cx="1903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Simple</a:t>
            </a:r>
            <a:r>
              <a:rPr sz="2000" spc="-14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Maze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05400" y="4800600"/>
            <a:ext cx="1152144" cy="101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70375" y="5706871"/>
            <a:ext cx="4264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At </a:t>
            </a:r>
            <a:r>
              <a:rPr sz="2400" i="1" spc="-10" dirty="0">
                <a:latin typeface="Perpetua"/>
                <a:cs typeface="Perpetua"/>
              </a:rPr>
              <a:t>every </a:t>
            </a:r>
            <a:r>
              <a:rPr sz="2400" i="1" spc="-5" dirty="0">
                <a:latin typeface="Perpetua"/>
                <a:cs typeface="Perpetua"/>
              </a:rPr>
              <a:t>junction 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must </a:t>
            </a:r>
            <a:r>
              <a:rPr sz="2400" i="1" spc="10" dirty="0">
                <a:latin typeface="Perpetua"/>
                <a:cs typeface="Perpetua"/>
              </a:rPr>
              <a:t>turn </a:t>
            </a:r>
            <a:r>
              <a:rPr sz="2400" i="1" spc="-5" dirty="0">
                <a:latin typeface="Perpetua"/>
                <a:cs typeface="Perpetua"/>
              </a:rPr>
              <a:t>left and then  </a:t>
            </a:r>
            <a:r>
              <a:rPr sz="2400" i="1" spc="-20" dirty="0">
                <a:latin typeface="Perpetua"/>
                <a:cs typeface="Perpetua"/>
              </a:rPr>
              <a:t>follow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path</a:t>
            </a:r>
            <a:r>
              <a:rPr sz="2400" i="1" dirty="0">
                <a:latin typeface="Perpetua"/>
                <a:cs typeface="Perpetua"/>
              </a:rPr>
              <a:t> ahead</a:t>
            </a:r>
            <a:r>
              <a:rPr sz="2400" dirty="0">
                <a:latin typeface="Perpetua"/>
                <a:cs typeface="Perpetua"/>
              </a:rPr>
              <a:t>”----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47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3720" algn="l"/>
              </a:tabLst>
            </a:pPr>
            <a:r>
              <a:rPr spc="-10" dirty="0"/>
              <a:t>Devising	</a:t>
            </a:r>
            <a:r>
              <a:rPr spc="-5" dirty="0"/>
              <a:t>the</a:t>
            </a:r>
            <a:r>
              <a:rPr spc="-80" dirty="0"/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61500"/>
            <a:ext cx="8401050" cy="51181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140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must </a:t>
            </a:r>
            <a:r>
              <a:rPr sz="2400" spc="-5" dirty="0">
                <a:latin typeface="Perpetua"/>
                <a:cs typeface="Perpetua"/>
              </a:rPr>
              <a:t>ask ourselves </a:t>
            </a:r>
            <a:r>
              <a:rPr sz="2400" i="1" spc="-10" dirty="0">
                <a:latin typeface="Perpetua"/>
                <a:cs typeface="Perpetua"/>
              </a:rPr>
              <a:t>two </a:t>
            </a:r>
            <a:r>
              <a:rPr sz="2400" i="1" spc="-5" dirty="0">
                <a:latin typeface="Perpetua"/>
                <a:cs typeface="Perpetua"/>
              </a:rPr>
              <a:t>questions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devise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2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loop:</a:t>
            </a:r>
            <a:endParaRPr sz="2400">
              <a:latin typeface="Perpetua"/>
              <a:cs typeface="Perpetua"/>
            </a:endParaRPr>
          </a:p>
          <a:p>
            <a:pPr marL="342900" indent="-330835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42900" algn="l"/>
                <a:tab pos="343535" algn="l"/>
              </a:tabLst>
            </a:pPr>
            <a:r>
              <a:rPr sz="2400" spc="-10" dirty="0">
                <a:latin typeface="Perpetua"/>
                <a:cs typeface="Perpetua"/>
              </a:rPr>
              <a:t>“</a:t>
            </a:r>
            <a:r>
              <a:rPr sz="2400" i="1" spc="-10" dirty="0">
                <a:latin typeface="Perpetua"/>
                <a:cs typeface="Perpetua"/>
              </a:rPr>
              <a:t>How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we know when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continue</a:t>
            </a:r>
            <a:r>
              <a:rPr sz="2400" spc="-5" dirty="0">
                <a:latin typeface="Perpetua"/>
                <a:cs typeface="Perpetua"/>
              </a:rPr>
              <a:t>?”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continue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long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-28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cross.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“</a:t>
            </a:r>
            <a:r>
              <a:rPr sz="2400" i="1" spc="-5" dirty="0">
                <a:latin typeface="Perpetua"/>
                <a:cs typeface="Perpetua"/>
              </a:rPr>
              <a:t>What in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0" dirty="0">
                <a:latin typeface="Perpetua"/>
                <a:cs typeface="Perpetua"/>
              </a:rPr>
              <a:t>above </a:t>
            </a:r>
            <a:r>
              <a:rPr sz="2400" i="1" spc="-5" dirty="0">
                <a:latin typeface="Perpetua"/>
                <a:cs typeface="Perpetua"/>
              </a:rPr>
              <a:t>is being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repeated</a:t>
            </a:r>
            <a:r>
              <a:rPr sz="2400" spc="-10" dirty="0">
                <a:latin typeface="Perpetua"/>
                <a:cs typeface="Perpetua"/>
              </a:rPr>
              <a:t>?”</a:t>
            </a:r>
            <a:endParaRPr sz="2400">
              <a:latin typeface="Perpetua"/>
              <a:cs typeface="Perpetua"/>
            </a:endParaRPr>
          </a:p>
          <a:p>
            <a:pPr marL="831215" marR="1939289" indent="95885">
              <a:lnSpc>
                <a:spcPct val="1208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It is the instruction:1.Turn Left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path 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317500" indent="-30480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316865" algn="l"/>
                <a:tab pos="317500" algn="l"/>
              </a:tabLst>
            </a:pPr>
            <a:r>
              <a:rPr sz="2400" spc="-14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can </a:t>
            </a:r>
            <a:r>
              <a:rPr sz="2400" spc="5" dirty="0">
                <a:latin typeface="Perpetua"/>
                <a:cs typeface="Perpetua"/>
              </a:rPr>
              <a:t>write </a:t>
            </a:r>
            <a:r>
              <a:rPr sz="2400" dirty="0">
                <a:latin typeface="Perpetua"/>
                <a:cs typeface="Perpetua"/>
              </a:rPr>
              <a:t>the algorithm for </a:t>
            </a:r>
            <a:r>
              <a:rPr sz="2400" i="1" dirty="0">
                <a:latin typeface="Perpetua"/>
                <a:cs typeface="Perpetua"/>
              </a:rPr>
              <a:t>simple </a:t>
            </a:r>
            <a:r>
              <a:rPr sz="2400" i="1" spc="-15" dirty="0">
                <a:latin typeface="Perpetua"/>
                <a:cs typeface="Perpetua"/>
              </a:rPr>
              <a:t>maze </a:t>
            </a:r>
            <a:r>
              <a:rPr sz="2400" dirty="0">
                <a:latin typeface="Perpetua"/>
                <a:cs typeface="Perpetua"/>
              </a:rPr>
              <a:t>using </a:t>
            </a:r>
            <a:r>
              <a:rPr sz="2400" spc="-5" dirty="0">
                <a:latin typeface="Perpetua"/>
                <a:cs typeface="Perpetua"/>
              </a:rPr>
              <a:t>loop</a:t>
            </a:r>
            <a:r>
              <a:rPr sz="2400" spc="-3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as:</a:t>
            </a:r>
            <a:endParaRPr sz="2400">
              <a:latin typeface="Perpetua"/>
              <a:cs typeface="Perpetua"/>
            </a:endParaRPr>
          </a:p>
          <a:p>
            <a:pPr marL="927100" marR="482600" lvl="1">
              <a:lnSpc>
                <a:spcPts val="3720"/>
              </a:lnSpc>
              <a:spcBef>
                <a:spcPts val="195"/>
              </a:spcBef>
              <a:buAutoNum type="arabicPeriod"/>
              <a:tabLst>
                <a:tab pos="1236980" algn="l"/>
              </a:tabLst>
            </a:pPr>
            <a:r>
              <a:rPr sz="2600" dirty="0">
                <a:latin typeface="Perpetua"/>
                <a:cs typeface="Perpetua"/>
              </a:rPr>
              <a:t>Enter the </a:t>
            </a:r>
            <a:r>
              <a:rPr sz="2600" spc="-5" dirty="0">
                <a:latin typeface="Perpetua"/>
                <a:cs typeface="Perpetua"/>
              </a:rPr>
              <a:t>maze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gate 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path </a:t>
            </a:r>
            <a:r>
              <a:rPr sz="2600" spc="-5" dirty="0">
                <a:latin typeface="Perpetua"/>
                <a:cs typeface="Perpetua"/>
              </a:rPr>
              <a:t>ahead.  2.</a:t>
            </a:r>
            <a:r>
              <a:rPr sz="2600" b="1" spc="-5" dirty="0">
                <a:latin typeface="Perpetua"/>
                <a:cs typeface="Perpetua"/>
              </a:rPr>
              <a:t>While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cross </a:t>
            </a:r>
            <a:r>
              <a:rPr sz="2600" b="1" spc="-5" dirty="0">
                <a:latin typeface="Perpetua"/>
                <a:cs typeface="Perpetua"/>
              </a:rPr>
              <a:t>do the </a:t>
            </a:r>
            <a:r>
              <a:rPr sz="2600" b="1" spc="-10" dirty="0">
                <a:latin typeface="Perpetua"/>
                <a:cs typeface="Perpetua"/>
              </a:rPr>
              <a:t>following</a:t>
            </a:r>
            <a:r>
              <a:rPr sz="2600" b="1" spc="42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repeatedly</a:t>
            </a:r>
            <a:endParaRPr sz="2600">
              <a:latin typeface="Perpetua"/>
              <a:cs typeface="Perpetua"/>
            </a:endParaRPr>
          </a:p>
          <a:p>
            <a:pPr marL="2267585" lvl="1" indent="-426720">
              <a:lnSpc>
                <a:spcPct val="100000"/>
              </a:lnSpc>
              <a:spcBef>
                <a:spcPts val="375"/>
              </a:spcBef>
              <a:buSzPct val="96153"/>
              <a:buAutoNum type="alphaUcPeriod" startAt="20"/>
              <a:tabLst>
                <a:tab pos="2268220" algn="l"/>
              </a:tabLst>
            </a:pPr>
            <a:r>
              <a:rPr sz="2600" spc="20" dirty="0">
                <a:latin typeface="Perpetua"/>
                <a:cs typeface="Perpetua"/>
              </a:rPr>
              <a:t>urn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path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ahead.</a:t>
            </a:r>
            <a:endParaRPr sz="2600">
              <a:latin typeface="Perpetua"/>
              <a:cs typeface="Perpetua"/>
            </a:endParaRPr>
          </a:p>
          <a:p>
            <a:pPr marL="5511165" lvl="2" indent="-240665">
              <a:lnSpc>
                <a:spcPct val="100000"/>
              </a:lnSpc>
              <a:spcBef>
                <a:spcPts val="1714"/>
              </a:spcBef>
              <a:buSzPct val="95833"/>
              <a:buFont typeface="Wingdings"/>
              <a:buChar char=""/>
              <a:tabLst>
                <a:tab pos="5511800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does the algorithm</a:t>
            </a:r>
            <a:r>
              <a:rPr sz="2400" i="1" spc="-80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say?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96716" y="6061609"/>
            <a:ext cx="1251506" cy="656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0286"/>
            <a:ext cx="482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does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the algorithm</a:t>
            </a:r>
            <a:r>
              <a:rPr i="1" spc="-6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35" dirty="0">
                <a:solidFill>
                  <a:srgbClr val="FF0000"/>
                </a:solidFill>
                <a:latin typeface="Perpetua"/>
                <a:cs typeface="Perpetua"/>
              </a:rPr>
              <a:t>say?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54277"/>
            <a:ext cx="7489190" cy="37452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It </a:t>
            </a:r>
            <a:r>
              <a:rPr sz="2800" spc="-30" dirty="0">
                <a:latin typeface="Perpetua"/>
                <a:cs typeface="Perpetua"/>
              </a:rPr>
              <a:t>says </a:t>
            </a:r>
            <a:r>
              <a:rPr sz="2800" spc="-10" dirty="0">
                <a:latin typeface="Perpetua"/>
                <a:cs typeface="Perpetua"/>
              </a:rPr>
              <a:t>that </a:t>
            </a:r>
            <a:r>
              <a:rPr sz="2800" spc="-15" dirty="0">
                <a:latin typeface="Perpetua"/>
                <a:cs typeface="Perpetua"/>
              </a:rPr>
              <a:t>what </a:t>
            </a:r>
            <a:r>
              <a:rPr sz="2800" spc="-60" dirty="0">
                <a:latin typeface="Perpetua"/>
                <a:cs typeface="Perpetua"/>
              </a:rPr>
              <a:t>we </a:t>
            </a:r>
            <a:r>
              <a:rPr sz="2800" spc="-5" dirty="0">
                <a:latin typeface="Perpetua"/>
                <a:cs typeface="Perpetua"/>
              </a:rPr>
              <a:t>should do is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dirty="0">
                <a:latin typeface="Perpetua"/>
                <a:cs typeface="Perpetua"/>
              </a:rPr>
              <a:t>enter </a:t>
            </a:r>
            <a:r>
              <a:rPr sz="2800" spc="-5" dirty="0">
                <a:latin typeface="Perpetua"/>
                <a:cs typeface="Perpetua"/>
              </a:rPr>
              <a:t>the maze </a:t>
            </a:r>
            <a:r>
              <a:rPr sz="2800" spc="-10" dirty="0">
                <a:latin typeface="Perpetua"/>
                <a:cs typeface="Perpetua"/>
              </a:rPr>
              <a:t>and  </a:t>
            </a:r>
            <a:r>
              <a:rPr sz="2800" spc="-20" dirty="0">
                <a:latin typeface="Perpetua"/>
                <a:cs typeface="Perpetua"/>
              </a:rPr>
              <a:t>follow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160" dirty="0">
                <a:latin typeface="Perpetua"/>
                <a:cs typeface="Perpetua"/>
              </a:rPr>
              <a:t>We </a:t>
            </a:r>
            <a:r>
              <a:rPr sz="2800" spc="-5" dirty="0">
                <a:latin typeface="Perpetua"/>
                <a:cs typeface="Perpetua"/>
              </a:rPr>
              <a:t>then </a:t>
            </a:r>
            <a:r>
              <a:rPr sz="2800" spc="-10" dirty="0">
                <a:latin typeface="Perpetua"/>
                <a:cs typeface="Perpetua"/>
              </a:rPr>
              <a:t>must </a:t>
            </a:r>
            <a:r>
              <a:rPr sz="2800" spc="-20" dirty="0">
                <a:latin typeface="Perpetua"/>
                <a:cs typeface="Perpetua"/>
              </a:rPr>
              <a:t>follow </a:t>
            </a:r>
            <a:r>
              <a:rPr sz="2800" spc="-5" dirty="0">
                <a:latin typeface="Perpetua"/>
                <a:cs typeface="Perpetua"/>
              </a:rPr>
              <a:t>the loop</a:t>
            </a:r>
            <a:r>
              <a:rPr sz="2800" spc="-30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instruction.</a:t>
            </a:r>
            <a:endParaRPr sz="2800">
              <a:latin typeface="Perpetua"/>
              <a:cs typeface="Perpetua"/>
            </a:endParaRPr>
          </a:p>
          <a:p>
            <a:pPr marL="287020" marR="311785" indent="-274955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If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spc="-15" dirty="0">
                <a:latin typeface="Perpetua"/>
                <a:cs typeface="Perpetua"/>
              </a:rPr>
              <a:t>follow </a:t>
            </a:r>
            <a:r>
              <a:rPr sz="2800" spc="-5" dirty="0">
                <a:latin typeface="Perpetua"/>
                <a:cs typeface="Perpetua"/>
              </a:rPr>
              <a:t>this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dirty="0">
                <a:latin typeface="Perpetua"/>
                <a:cs typeface="Perpetua"/>
              </a:rPr>
              <a:t>expect </a:t>
            </a:r>
            <a:r>
              <a:rPr sz="2800" spc="-5" dirty="0">
                <a:latin typeface="Perpetua"/>
                <a:cs typeface="Perpetua"/>
              </a:rPr>
              <a:t>to </a:t>
            </a:r>
            <a:r>
              <a:rPr sz="2800" spc="-15" dirty="0">
                <a:latin typeface="Perpetua"/>
                <a:cs typeface="Perpetua"/>
              </a:rPr>
              <a:t>repeatedly </a:t>
            </a:r>
            <a:r>
              <a:rPr sz="2800" spc="1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left </a:t>
            </a:r>
            <a:r>
              <a:rPr sz="2800" spc="-10" dirty="0">
                <a:latin typeface="Perpetua"/>
                <a:cs typeface="Perpetua"/>
              </a:rPr>
              <a:t>and  </a:t>
            </a:r>
            <a:r>
              <a:rPr sz="2800" spc="-20" dirty="0">
                <a:latin typeface="Perpetua"/>
                <a:cs typeface="Perpetua"/>
              </a:rPr>
              <a:t>follow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 marL="287020" marR="106680" indent="-274955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0" dirty="0">
                <a:latin typeface="Perpetua"/>
                <a:cs typeface="Perpetua"/>
              </a:rPr>
              <a:t>However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5" dirty="0">
                <a:latin typeface="Perpetua"/>
                <a:cs typeface="Perpetua"/>
              </a:rPr>
              <a:t>thing it tells us to do is to </a:t>
            </a:r>
            <a:r>
              <a:rPr sz="2800" spc="20" dirty="0">
                <a:latin typeface="Perpetua"/>
                <a:cs typeface="Perpetua"/>
              </a:rPr>
              <a:t>check </a:t>
            </a:r>
            <a:r>
              <a:rPr sz="2800" spc="-5" dirty="0">
                <a:latin typeface="Perpetua"/>
                <a:cs typeface="Perpetua"/>
              </a:rPr>
              <a:t>if </a:t>
            </a:r>
            <a:r>
              <a:rPr sz="2800" spc="-55" dirty="0">
                <a:latin typeface="Perpetua"/>
                <a:cs typeface="Perpetua"/>
              </a:rPr>
              <a:t>we 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20" dirty="0">
                <a:latin typeface="Perpetua"/>
                <a:cs typeface="Perpetua"/>
              </a:rPr>
              <a:t>at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cross </a:t>
            </a:r>
            <a:r>
              <a:rPr sz="2800" spc="-5" dirty="0">
                <a:latin typeface="Perpetua"/>
                <a:cs typeface="Perpetua"/>
              </a:rPr>
              <a:t>because </a:t>
            </a:r>
            <a:r>
              <a:rPr sz="2800" spc="-10" dirty="0">
                <a:latin typeface="Perpetua"/>
                <a:cs typeface="Perpetua"/>
              </a:rPr>
              <a:t>if </a:t>
            </a:r>
            <a:r>
              <a:rPr sz="2800" spc="-5" dirty="0">
                <a:latin typeface="Perpetua"/>
                <a:cs typeface="Perpetua"/>
              </a:rPr>
              <a:t>so </a:t>
            </a:r>
            <a:r>
              <a:rPr sz="2800" spc="-60" dirty="0">
                <a:latin typeface="Perpetua"/>
                <a:cs typeface="Perpetua"/>
              </a:rPr>
              <a:t>we </a:t>
            </a:r>
            <a:r>
              <a:rPr sz="2800" spc="-40" dirty="0">
                <a:latin typeface="Perpetua"/>
                <a:cs typeface="Perpetua"/>
              </a:rPr>
              <a:t>have</a:t>
            </a:r>
            <a:r>
              <a:rPr sz="2800" spc="114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finished.</a:t>
            </a:r>
            <a:endParaRPr sz="28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If not then </a:t>
            </a:r>
            <a:r>
              <a:rPr sz="2800" spc="-60" dirty="0">
                <a:latin typeface="Perpetua"/>
                <a:cs typeface="Perpetua"/>
              </a:rPr>
              <a:t>we </a:t>
            </a:r>
            <a:r>
              <a:rPr sz="2800" spc="1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left and </a:t>
            </a:r>
            <a:r>
              <a:rPr sz="2800" spc="-20" dirty="0">
                <a:latin typeface="Perpetua"/>
                <a:cs typeface="Perpetua"/>
              </a:rPr>
              <a:t>follow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7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10286"/>
            <a:ext cx="6784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not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cross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of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maze,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then</a:t>
            </a:r>
            <a:r>
              <a:rPr i="1" spc="-37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30" dirty="0">
                <a:solidFill>
                  <a:srgbClr val="FF0000"/>
                </a:solidFill>
                <a:latin typeface="Perpetua"/>
                <a:cs typeface="Perpetua"/>
              </a:rPr>
              <a:t>what?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33525"/>
            <a:ext cx="7616825" cy="3822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6985" indent="-274955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If not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will need </a:t>
            </a:r>
            <a:r>
              <a:rPr sz="2600" spc="-5" dirty="0">
                <a:latin typeface="Perpetua"/>
                <a:cs typeface="Perpetua"/>
              </a:rPr>
              <a:t>to continue and </a:t>
            </a:r>
            <a:r>
              <a:rPr sz="2600" spc="-15" dirty="0">
                <a:latin typeface="Perpetua"/>
                <a:cs typeface="Perpetua"/>
              </a:rPr>
              <a:t>follow </a:t>
            </a:r>
            <a:r>
              <a:rPr sz="2600" dirty="0">
                <a:latin typeface="Perpetua"/>
                <a:cs typeface="Perpetua"/>
              </a:rPr>
              <a:t>the instructions in  the </a:t>
            </a:r>
            <a:r>
              <a:rPr sz="2600" spc="-5" dirty="0">
                <a:latin typeface="Perpetua"/>
                <a:cs typeface="Perpetua"/>
              </a:rPr>
              <a:t>loop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again.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therefore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cross to decide whether 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finished –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top 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  <a:p>
            <a:pPr marL="287020" marR="6985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cross do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10" dirty="0">
                <a:latin typeface="Perpetua"/>
                <a:cs typeface="Perpetua"/>
              </a:rPr>
              <a:t>carry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10" dirty="0">
                <a:latin typeface="Perpetua"/>
                <a:cs typeface="Perpetua"/>
              </a:rPr>
              <a:t>rest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This algorithm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get us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centre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maze where 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20" dirty="0">
                <a:latin typeface="Perpetua"/>
                <a:cs typeface="Perpetua"/>
              </a:rPr>
              <a:t>turn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junction, irrespective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number  of</a:t>
            </a:r>
            <a:r>
              <a:rPr sz="2600" spc="-10" dirty="0">
                <a:latin typeface="Perpetua"/>
                <a:cs typeface="Perpetua"/>
              </a:rPr>
              <a:t> junctions.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32586"/>
            <a:ext cx="4473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2035" algn="l"/>
              </a:tabLst>
            </a:pPr>
            <a:r>
              <a:rPr spc="-5" dirty="0"/>
              <a:t>Sequencing	</a:t>
            </a:r>
            <a:r>
              <a:rPr dirty="0"/>
              <a:t>and</a:t>
            </a:r>
            <a:r>
              <a:rPr spc="-60" dirty="0"/>
              <a:t> </a:t>
            </a:r>
            <a:r>
              <a:rPr spc="-5" dirty="0"/>
              <a:t>looping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404569"/>
            <a:ext cx="6245225" cy="7797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sequencing,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just </a:t>
            </a:r>
            <a:r>
              <a:rPr sz="2600" spc="-15" dirty="0">
                <a:latin typeface="Perpetua"/>
                <a:cs typeface="Perpetua"/>
              </a:rPr>
              <a:t>follow </a:t>
            </a:r>
            <a:r>
              <a:rPr sz="2600" dirty="0">
                <a:latin typeface="Perpetua"/>
                <a:cs typeface="Perpetua"/>
              </a:rPr>
              <a:t>instructions </a:t>
            </a:r>
            <a:r>
              <a:rPr sz="2600" spc="-20" dirty="0">
                <a:latin typeface="Perpetua"/>
                <a:cs typeface="Perpetua"/>
              </a:rPr>
              <a:t>down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page, </a:t>
            </a:r>
            <a:r>
              <a:rPr sz="2600" spc="-5" dirty="0">
                <a:latin typeface="Perpetua"/>
                <a:cs typeface="Perpetua"/>
              </a:rPr>
              <a:t>stopping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get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last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one.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2627502"/>
            <a:ext cx="6242050" cy="32486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With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5" dirty="0">
                <a:latin typeface="Perpetua"/>
                <a:cs typeface="Perpetua"/>
              </a:rPr>
              <a:t>do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instruction </a:t>
            </a:r>
            <a:r>
              <a:rPr sz="2600" spc="-5" dirty="0">
                <a:latin typeface="Perpetua"/>
                <a:cs typeface="Perpetua"/>
              </a:rPr>
              <a:t>that  </a:t>
            </a:r>
            <a:r>
              <a:rPr sz="2600" dirty="0">
                <a:latin typeface="Perpetua"/>
                <a:cs typeface="Perpetua"/>
              </a:rPr>
              <a:t>is inside 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case:</a:t>
            </a:r>
            <a:endParaRPr sz="2600">
              <a:latin typeface="Perpetua"/>
              <a:cs typeface="Perpetua"/>
            </a:endParaRPr>
          </a:p>
          <a:p>
            <a:pPr marL="622300" lvl="1" indent="-29019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sz="2600" spc="-55" dirty="0">
                <a:latin typeface="Perpetua"/>
                <a:cs typeface="Perpetua"/>
              </a:rPr>
              <a:t>“</a:t>
            </a:r>
            <a:r>
              <a:rPr sz="2600" i="1" spc="-55" dirty="0">
                <a:latin typeface="Perpetua"/>
                <a:cs typeface="Perpetua"/>
              </a:rPr>
              <a:t>Turn </a:t>
            </a:r>
            <a:r>
              <a:rPr sz="2600" i="1" spc="-5" dirty="0">
                <a:latin typeface="Perpetua"/>
                <a:cs typeface="Perpetua"/>
              </a:rPr>
              <a:t>left </a:t>
            </a:r>
            <a:r>
              <a:rPr sz="2600" i="1" spc="-10" dirty="0">
                <a:latin typeface="Perpetua"/>
                <a:cs typeface="Perpetua"/>
              </a:rPr>
              <a:t>following </a:t>
            </a:r>
            <a:r>
              <a:rPr sz="2600" i="1" spc="-5" dirty="0">
                <a:latin typeface="Perpetua"/>
                <a:cs typeface="Perpetua"/>
              </a:rPr>
              <a:t>the path</a:t>
            </a:r>
            <a:r>
              <a:rPr sz="2600" i="1" spc="6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ahead</a:t>
            </a:r>
            <a:r>
              <a:rPr sz="260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636270" lvl="1" indent="-304165">
              <a:lnSpc>
                <a:spcPct val="100000"/>
              </a:lnSpc>
              <a:spcBef>
                <a:spcPts val="85"/>
              </a:spcBef>
              <a:buSzPct val="84615"/>
              <a:buFont typeface="Arial"/>
              <a:buChar char="•"/>
              <a:tabLst>
                <a:tab pos="635635" algn="l"/>
                <a:tab pos="636905" algn="l"/>
              </a:tabLst>
            </a:pPr>
            <a:r>
              <a:rPr sz="2600" dirty="0">
                <a:latin typeface="Perpetua"/>
                <a:cs typeface="Perpetua"/>
              </a:rPr>
              <a:t>On </a:t>
            </a:r>
            <a:r>
              <a:rPr sz="2600" spc="-5" dirty="0">
                <a:latin typeface="Perpetua"/>
                <a:cs typeface="Perpetua"/>
              </a:rPr>
              <a:t>getting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bottom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95" dirty="0">
                <a:latin typeface="Perpetua"/>
                <a:cs typeface="Perpetua"/>
              </a:rPr>
              <a:t>we</a:t>
            </a:r>
            <a:endParaRPr sz="2600">
              <a:latin typeface="Perpetua"/>
              <a:cs typeface="Perpetua"/>
            </a:endParaRPr>
          </a:p>
          <a:p>
            <a:pPr marL="70612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top and ask </a:t>
            </a:r>
            <a:r>
              <a:rPr sz="2600" dirty="0">
                <a:latin typeface="Perpetua"/>
                <a:cs typeface="Perpetua"/>
              </a:rPr>
              <a:t>the question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again.</a:t>
            </a:r>
            <a:endParaRPr sz="2600">
              <a:latin typeface="Perpetua"/>
              <a:cs typeface="Perpetua"/>
            </a:endParaRPr>
          </a:p>
          <a:p>
            <a:pPr marL="556895" marR="833119" lvl="1" indent="-224790">
              <a:lnSpc>
                <a:spcPct val="102699"/>
              </a:lnSpc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spc="-15" dirty="0">
                <a:latin typeface="Perpetua"/>
                <a:cs typeface="Perpetua"/>
              </a:rPr>
              <a:t>Perhaps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cross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5" dirty="0">
                <a:latin typeface="Perpetua"/>
                <a:cs typeface="Perpetua"/>
              </a:rPr>
              <a:t>case 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could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30452" y="312665"/>
            <a:ext cx="1379621" cy="3144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7000" y="3657600"/>
            <a:ext cx="2348483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02016" y="4621148"/>
            <a:ext cx="577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Action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5158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spc="15" dirty="0"/>
              <a:t>Original </a:t>
            </a:r>
            <a:r>
              <a:rPr dirty="0"/>
              <a:t>Maze</a:t>
            </a:r>
            <a:r>
              <a:rPr spc="-65" dirty="0"/>
              <a:t> </a:t>
            </a:r>
            <a:r>
              <a:rPr spc="-15" dirty="0"/>
              <a:t>revisited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3813"/>
            <a:ext cx="8529955" cy="49339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sometimes had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turn </a:t>
            </a:r>
            <a:r>
              <a:rPr sz="2600" spc="-5" dirty="0">
                <a:latin typeface="Perpetua"/>
                <a:cs typeface="Perpetua"/>
              </a:rPr>
              <a:t>left and </a:t>
            </a:r>
            <a:r>
              <a:rPr sz="2600" dirty="0">
                <a:latin typeface="Perpetua"/>
                <a:cs typeface="Perpetua"/>
              </a:rPr>
              <a:t>sometimes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dirty="0">
                <a:latin typeface="Perpetua"/>
                <a:cs typeface="Perpetua"/>
              </a:rPr>
              <a:t>straight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What is the thing </a:t>
            </a:r>
            <a:r>
              <a:rPr sz="2600" i="1" spc="-10" dirty="0">
                <a:latin typeface="Perpetua"/>
                <a:cs typeface="Perpetua"/>
              </a:rPr>
              <a:t>that we </a:t>
            </a:r>
            <a:r>
              <a:rPr sz="2600" i="1" spc="-15" dirty="0">
                <a:latin typeface="Perpetua"/>
                <a:cs typeface="Perpetua"/>
              </a:rPr>
              <a:t>want </a:t>
            </a:r>
            <a:r>
              <a:rPr sz="2600" i="1" spc="-5" dirty="0">
                <a:latin typeface="Perpetua"/>
                <a:cs typeface="Perpetua"/>
              </a:rPr>
              <a:t>to do</a:t>
            </a:r>
            <a:r>
              <a:rPr sz="2600" i="1" spc="2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repeatedly?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3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This time it is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5" dirty="0">
                <a:latin typeface="Perpetua"/>
                <a:cs typeface="Perpetua"/>
              </a:rPr>
              <a:t>instructions: turning </a:t>
            </a:r>
            <a:r>
              <a:rPr sz="2400" spc="-5" dirty="0">
                <a:latin typeface="Perpetua"/>
                <a:cs typeface="Perpetua"/>
              </a:rPr>
              <a:t>left </a:t>
            </a:r>
            <a:r>
              <a:rPr sz="2400" dirty="0">
                <a:latin typeface="Perpetua"/>
                <a:cs typeface="Perpetua"/>
              </a:rPr>
              <a:t>then going straight on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dirty="0">
                <a:latin typeface="Perpetua"/>
                <a:cs typeface="Perpetua"/>
              </a:rPr>
              <a:t>the  next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junction.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7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When </a:t>
            </a:r>
            <a:r>
              <a:rPr sz="2600" i="1" spc="-5" dirty="0">
                <a:latin typeface="Perpetua"/>
                <a:cs typeface="Perpetua"/>
              </a:rPr>
              <a:t>do </a:t>
            </a:r>
            <a:r>
              <a:rPr sz="2600" i="1" spc="-10" dirty="0">
                <a:latin typeface="Perpetua"/>
                <a:cs typeface="Perpetua"/>
              </a:rPr>
              <a:t>we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stop</a:t>
            </a:r>
            <a:r>
              <a:rPr sz="2600" spc="-5" dirty="0">
                <a:latin typeface="Perpetua"/>
                <a:cs typeface="Perpetua"/>
              </a:rPr>
              <a:t>?</a:t>
            </a:r>
            <a:endParaRPr sz="2600">
              <a:latin typeface="Perpetua"/>
              <a:cs typeface="Perpetua"/>
            </a:endParaRPr>
          </a:p>
          <a:p>
            <a:pPr marL="629920" lvl="1" indent="-297815">
              <a:lnSpc>
                <a:spcPct val="100000"/>
              </a:lnSpc>
              <a:spcBef>
                <a:spcPts val="430"/>
              </a:spcBef>
              <a:buSzPct val="85416"/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cross.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4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dirty="0">
                <a:latin typeface="Perpetua"/>
                <a:cs typeface="Perpetua"/>
              </a:rPr>
              <a:t>algorithm </a:t>
            </a:r>
            <a:r>
              <a:rPr sz="2800" spc="-5" dirty="0">
                <a:latin typeface="Perpetua"/>
                <a:cs typeface="Perpetua"/>
              </a:rPr>
              <a:t>using </a:t>
            </a:r>
            <a:r>
              <a:rPr sz="2800" i="1" spc="-10" dirty="0">
                <a:latin typeface="Perpetua"/>
                <a:cs typeface="Perpetua"/>
              </a:rPr>
              <a:t>loop</a:t>
            </a:r>
            <a:r>
              <a:rPr sz="2800" i="1" spc="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is:</a:t>
            </a:r>
            <a:endParaRPr sz="2800">
              <a:latin typeface="Perpetua"/>
              <a:cs typeface="Perpetua"/>
            </a:endParaRPr>
          </a:p>
          <a:p>
            <a:pPr marL="641985" indent="-30988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642620" algn="l"/>
              </a:tabLst>
            </a:pPr>
            <a:r>
              <a:rPr sz="2600" dirty="0">
                <a:latin typeface="Perpetua"/>
                <a:cs typeface="Perpetua"/>
              </a:rPr>
              <a:t>Enter the </a:t>
            </a:r>
            <a:r>
              <a:rPr sz="2600" spc="-5" dirty="0">
                <a:latin typeface="Perpetua"/>
                <a:cs typeface="Perpetua"/>
              </a:rPr>
              <a:t>maze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gate 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path </a:t>
            </a:r>
            <a:r>
              <a:rPr sz="2600" spc="-5" dirty="0">
                <a:latin typeface="Perpetua"/>
                <a:cs typeface="Perpetua"/>
              </a:rPr>
              <a:t>ahead.</a:t>
            </a:r>
            <a:endParaRPr sz="2600">
              <a:latin typeface="Perpetua"/>
              <a:cs typeface="Perpetua"/>
            </a:endParaRPr>
          </a:p>
          <a:p>
            <a:pPr marL="641985" indent="-309880">
              <a:lnSpc>
                <a:spcPct val="100000"/>
              </a:lnSpc>
              <a:spcBef>
                <a:spcPts val="400"/>
              </a:spcBef>
              <a:buFont typeface="Perpetua"/>
              <a:buAutoNum type="arabicPeriod"/>
              <a:tabLst>
                <a:tab pos="642620" algn="l"/>
              </a:tabLst>
            </a:pPr>
            <a:r>
              <a:rPr sz="2600" b="1" dirty="0">
                <a:latin typeface="Perpetua"/>
                <a:cs typeface="Perpetua"/>
              </a:rPr>
              <a:t>While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cross </a:t>
            </a:r>
            <a:r>
              <a:rPr sz="2600" b="1" spc="-5" dirty="0">
                <a:latin typeface="Perpetua"/>
                <a:cs typeface="Perpetua"/>
              </a:rPr>
              <a:t>do the </a:t>
            </a:r>
            <a:r>
              <a:rPr sz="2600" b="1" spc="-10" dirty="0">
                <a:latin typeface="Perpetua"/>
                <a:cs typeface="Perpetua"/>
              </a:rPr>
              <a:t>following</a:t>
            </a:r>
            <a:r>
              <a:rPr sz="2600" b="1" spc="25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repeatedly</a:t>
            </a:r>
            <a:endParaRPr sz="2600">
              <a:latin typeface="Perpetua"/>
              <a:cs typeface="Perpetua"/>
            </a:endParaRPr>
          </a:p>
          <a:p>
            <a:pPr marL="846455" indent="-240029">
              <a:lnSpc>
                <a:spcPct val="100000"/>
              </a:lnSpc>
              <a:spcBef>
                <a:spcPts val="405"/>
              </a:spcBef>
              <a:buAutoNum type="alphaLcPeriod"/>
              <a:tabLst>
                <a:tab pos="847090" algn="l"/>
              </a:tabLst>
            </a:pPr>
            <a:r>
              <a:rPr sz="2600" spc="-50" dirty="0">
                <a:latin typeface="Perpetua"/>
                <a:cs typeface="Perpetua"/>
              </a:rPr>
              <a:t>Turn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path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ahead.</a:t>
            </a:r>
            <a:endParaRPr sz="2600">
              <a:latin typeface="Perpetua"/>
              <a:cs typeface="Perpetua"/>
            </a:endParaRPr>
          </a:p>
          <a:p>
            <a:pPr marL="893444" indent="-28702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894080" algn="l"/>
              </a:tabLst>
            </a:pP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dirty="0">
                <a:latin typeface="Perpetua"/>
                <a:cs typeface="Perpetua"/>
              </a:rPr>
              <a:t>straight </a:t>
            </a:r>
            <a:r>
              <a:rPr sz="2600" spc="-10" dirty="0">
                <a:latin typeface="Perpetua"/>
                <a:cs typeface="Perpetua"/>
              </a:rPr>
              <a:t>across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junction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path </a:t>
            </a:r>
            <a:r>
              <a:rPr sz="2600" spc="-5" dirty="0">
                <a:latin typeface="Perpetua"/>
                <a:cs typeface="Perpetua"/>
              </a:rPr>
              <a:t>ahead.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22044" y="5636158"/>
            <a:ext cx="2186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</a:t>
            </a:r>
            <a:r>
              <a:rPr sz="2000" spc="-315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T-junction </a:t>
            </a:r>
            <a:r>
              <a:rPr sz="2000" dirty="0">
                <a:latin typeface="Perpetua"/>
                <a:cs typeface="Perpetua"/>
              </a:rPr>
              <a:t>Maze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4340" y="367030"/>
            <a:ext cx="8376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600" spc="-202" baseline="22727" dirty="0"/>
              <a:t>Eg.</a:t>
            </a:r>
            <a:r>
              <a:rPr sz="6600" spc="-772" baseline="22727" dirty="0"/>
              <a:t> </a:t>
            </a:r>
            <a:r>
              <a:rPr sz="6600" baseline="22727" dirty="0"/>
              <a:t>A</a:t>
            </a:r>
            <a:r>
              <a:rPr sz="6600" spc="-802" baseline="22727" dirty="0"/>
              <a:t> </a:t>
            </a:r>
            <a:r>
              <a:rPr sz="6600" spc="-89" baseline="22727" dirty="0"/>
              <a:t>T-junction</a:t>
            </a:r>
            <a:r>
              <a:rPr sz="6600" spc="-60" baseline="22727" dirty="0"/>
              <a:t> </a:t>
            </a:r>
            <a:r>
              <a:rPr sz="6600" spc="-7" baseline="22727" dirty="0"/>
              <a:t>maze</a:t>
            </a:r>
            <a:r>
              <a:rPr sz="6600" spc="-247" baseline="22727" dirty="0"/>
              <a:t> </a:t>
            </a:r>
            <a:r>
              <a:rPr sz="2600" spc="-170" dirty="0"/>
              <a:t>To</a:t>
            </a:r>
            <a:r>
              <a:rPr sz="2600" dirty="0"/>
              <a:t> get</a:t>
            </a:r>
            <a:r>
              <a:rPr sz="2600" spc="-10" dirty="0"/>
              <a:t> </a:t>
            </a:r>
            <a:r>
              <a:rPr sz="2600" spc="-5" dirty="0"/>
              <a:t>to</a:t>
            </a:r>
            <a:r>
              <a:rPr sz="2600" spc="10" dirty="0"/>
              <a:t> </a:t>
            </a:r>
            <a:r>
              <a:rPr sz="2600" dirty="0"/>
              <a:t>the</a:t>
            </a:r>
            <a:r>
              <a:rPr sz="2600" spc="-5" dirty="0"/>
              <a:t> centre</a:t>
            </a:r>
            <a:r>
              <a:rPr sz="2600" spc="-25" dirty="0"/>
              <a:t> </a:t>
            </a:r>
            <a:r>
              <a:rPr sz="2600" spc="-5" dirty="0"/>
              <a:t>of </a:t>
            </a:r>
            <a:r>
              <a:rPr sz="2600" dirty="0"/>
              <a:t>the </a:t>
            </a:r>
            <a:r>
              <a:rPr sz="2600" spc="-5" dirty="0"/>
              <a:t>maze:</a:t>
            </a:r>
            <a:endParaRPr sz="2600"/>
          </a:p>
        </p:txBody>
      </p:sp>
      <p:sp>
        <p:nvSpPr>
          <p:cNvPr id="5" name="object 5"/>
          <p:cNvSpPr txBox="1"/>
          <p:nvPr/>
        </p:nvSpPr>
        <p:spPr>
          <a:xfrm>
            <a:off x="4880228" y="996441"/>
            <a:ext cx="40322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94105" algn="l"/>
                <a:tab pos="1681480" algn="l"/>
                <a:tab pos="2487930" algn="l"/>
                <a:tab pos="2984500" algn="l"/>
                <a:tab pos="3571240" algn="l"/>
              </a:tabLst>
            </a:pPr>
            <a:r>
              <a:rPr sz="2400" dirty="0">
                <a:latin typeface="Perpetua"/>
                <a:cs typeface="Perpetua"/>
              </a:rPr>
              <a:t>1</a:t>
            </a:r>
            <a:r>
              <a:rPr sz="2400" spc="-5" dirty="0">
                <a:latin typeface="Perpetua"/>
                <a:cs typeface="Perpetua"/>
              </a:rPr>
              <a:t>.</a:t>
            </a:r>
            <a:r>
              <a:rPr sz="2400" dirty="0">
                <a:latin typeface="Perpetua"/>
                <a:cs typeface="Perpetua"/>
              </a:rPr>
              <a:t>Enter	the	</a:t>
            </a:r>
            <a:r>
              <a:rPr sz="2400" spc="-5" dirty="0">
                <a:latin typeface="Perpetua"/>
                <a:cs typeface="Perpetua"/>
              </a:rPr>
              <a:t>maz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45" dirty="0">
                <a:latin typeface="Perpetua"/>
                <a:cs typeface="Perpetua"/>
              </a:rPr>
              <a:t>b</a:t>
            </a:r>
            <a:r>
              <a:rPr sz="2400" dirty="0">
                <a:latin typeface="Perpetua"/>
                <a:cs typeface="Perpetua"/>
              </a:rPr>
              <a:t>y	the	g</a:t>
            </a:r>
            <a:r>
              <a:rPr sz="2400" spc="-30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te 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path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7613" y="1728342"/>
            <a:ext cx="28663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5470" algn="l"/>
                <a:tab pos="1829435" algn="l"/>
                <a:tab pos="2384425" algn="l"/>
              </a:tabLst>
            </a:pPr>
            <a:r>
              <a:rPr sz="2400" spc="-5" dirty="0">
                <a:latin typeface="Perpetua"/>
                <a:cs typeface="Perpetua"/>
              </a:rPr>
              <a:t>lef</a:t>
            </a:r>
            <a:r>
              <a:rPr sz="2400" dirty="0">
                <a:latin typeface="Perpetua"/>
                <a:cs typeface="Perpetua"/>
              </a:rPr>
              <a:t>t	foll</a:t>
            </a:r>
            <a:r>
              <a:rPr sz="2400" spc="-6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wing	the	p</a:t>
            </a:r>
            <a:r>
              <a:rPr sz="2400" spc="-20" dirty="0">
                <a:latin typeface="Perpetua"/>
                <a:cs typeface="Perpetua"/>
              </a:rPr>
              <a:t>at</a:t>
            </a:r>
            <a:r>
              <a:rPr sz="2400" dirty="0">
                <a:latin typeface="Perpetua"/>
                <a:cs typeface="Perpetua"/>
              </a:rPr>
              <a:t>h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85470" algn="l"/>
                <a:tab pos="1829435" algn="l"/>
                <a:tab pos="2384425" algn="l"/>
              </a:tabLst>
            </a:pPr>
            <a:r>
              <a:rPr sz="2400" spc="-5" dirty="0">
                <a:latin typeface="Perpetua"/>
                <a:cs typeface="Perpetua"/>
              </a:rPr>
              <a:t>lef</a:t>
            </a:r>
            <a:r>
              <a:rPr sz="2400" dirty="0">
                <a:latin typeface="Perpetua"/>
                <a:cs typeface="Perpetua"/>
              </a:rPr>
              <a:t>t	foll</a:t>
            </a:r>
            <a:r>
              <a:rPr sz="2400" spc="-6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wing	the	p</a:t>
            </a:r>
            <a:r>
              <a:rPr sz="2400" spc="-20" dirty="0">
                <a:latin typeface="Perpetua"/>
                <a:cs typeface="Perpetua"/>
              </a:rPr>
              <a:t>at</a:t>
            </a:r>
            <a:r>
              <a:rPr sz="2400" dirty="0">
                <a:latin typeface="Perpetua"/>
                <a:cs typeface="Perpetua"/>
              </a:rPr>
              <a:t>h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0228" y="1728342"/>
            <a:ext cx="9848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37515" algn="l"/>
                <a:tab pos="438150" algn="l"/>
              </a:tabLst>
            </a:pPr>
            <a:r>
              <a:rPr sz="2400" spc="-24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u</a:t>
            </a:r>
            <a:r>
              <a:rPr sz="2400" spc="6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n 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  <a:buAutoNum type="arabicPeriod" startAt="2"/>
              <a:tabLst>
                <a:tab pos="437515" algn="l"/>
                <a:tab pos="438150" algn="l"/>
              </a:tabLst>
            </a:pPr>
            <a:r>
              <a:rPr sz="2400" spc="-24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u</a:t>
            </a:r>
            <a:r>
              <a:rPr sz="2400" spc="6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n 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0228" y="3191636"/>
            <a:ext cx="4033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57555" algn="l"/>
                <a:tab pos="1753235" algn="l"/>
                <a:tab pos="2592705" algn="l"/>
                <a:tab pos="3114040" algn="l"/>
              </a:tabLst>
            </a:pPr>
            <a:r>
              <a:rPr sz="2400" dirty="0">
                <a:latin typeface="Perpetua"/>
                <a:cs typeface="Perpetua"/>
              </a:rPr>
              <a:t>4</a:t>
            </a:r>
            <a:r>
              <a:rPr sz="2400" spc="-5" dirty="0">
                <a:latin typeface="Perpetua"/>
                <a:cs typeface="Perpetua"/>
              </a:rPr>
              <a:t>.G</a:t>
            </a:r>
            <a:r>
              <a:rPr sz="2400" dirty="0">
                <a:latin typeface="Perpetua"/>
                <a:cs typeface="Perpetua"/>
              </a:rPr>
              <a:t>o	straig</a:t>
            </a:r>
            <a:r>
              <a:rPr sz="2400" spc="-10" dirty="0">
                <a:latin typeface="Perpetua"/>
                <a:cs typeface="Perpetua"/>
              </a:rPr>
              <a:t>h</a:t>
            </a:r>
            <a:r>
              <a:rPr sz="2400" dirty="0">
                <a:latin typeface="Perpetua"/>
                <a:cs typeface="Perpetua"/>
              </a:rPr>
              <a:t>t	</a:t>
            </a:r>
            <a:r>
              <a:rPr sz="2400" spc="-5" dirty="0">
                <a:latin typeface="Perpetua"/>
                <a:cs typeface="Perpetua"/>
              </a:rPr>
              <a:t>ac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o</a:t>
            </a:r>
            <a:r>
              <a:rPr sz="2400" spc="5" dirty="0">
                <a:latin typeface="Perpetua"/>
                <a:cs typeface="Perpetua"/>
              </a:rPr>
              <a:t>s</a:t>
            </a:r>
            <a:r>
              <a:rPr sz="2400" dirty="0">
                <a:latin typeface="Perpetua"/>
                <a:cs typeface="Perpetua"/>
              </a:rPr>
              <a:t>s	the	ju</a:t>
            </a:r>
            <a:r>
              <a:rPr sz="2400" spc="5" dirty="0">
                <a:latin typeface="Perpetua"/>
                <a:cs typeface="Perpetua"/>
              </a:rPr>
              <a:t>n</a:t>
            </a:r>
            <a:r>
              <a:rPr sz="2400" dirty="0">
                <a:latin typeface="Perpetua"/>
                <a:cs typeface="Perpetua"/>
              </a:rPr>
              <a:t>ction 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path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9592" y="3923157"/>
            <a:ext cx="49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p</a:t>
            </a:r>
            <a:r>
              <a:rPr sz="2400" spc="-20" dirty="0">
                <a:latin typeface="Perpetua"/>
                <a:cs typeface="Perpetua"/>
              </a:rPr>
              <a:t>at</a:t>
            </a:r>
            <a:r>
              <a:rPr sz="2400" dirty="0">
                <a:latin typeface="Perpetua"/>
                <a:cs typeface="Perpetua"/>
              </a:rPr>
              <a:t>h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399" y="761976"/>
            <a:ext cx="4648235" cy="4952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22775" y="3923157"/>
            <a:ext cx="3813810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894715" algn="l"/>
                <a:tab pos="895350" algn="l"/>
                <a:tab pos="1637030" algn="l"/>
                <a:tab pos="2210435" algn="l"/>
                <a:tab pos="3454400" algn="l"/>
              </a:tabLst>
            </a:pPr>
            <a:r>
              <a:rPr sz="2400" spc="-24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u</a:t>
            </a:r>
            <a:r>
              <a:rPr sz="2400" spc="6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n	</a:t>
            </a:r>
            <a:r>
              <a:rPr sz="2400" spc="-5" dirty="0">
                <a:latin typeface="Perpetua"/>
                <a:cs typeface="Perpetua"/>
              </a:rPr>
              <a:t>lef</a:t>
            </a:r>
            <a:r>
              <a:rPr sz="2400" dirty="0">
                <a:latin typeface="Perpetua"/>
                <a:cs typeface="Perpetua"/>
              </a:rPr>
              <a:t>t	foll</a:t>
            </a:r>
            <a:r>
              <a:rPr sz="2400" spc="-6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wing	the 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755015" indent="-285750">
              <a:lnSpc>
                <a:spcPct val="100000"/>
              </a:lnSpc>
              <a:buAutoNum type="arabicPeriod" startAt="5"/>
              <a:tabLst>
                <a:tab pos="755650" algn="l"/>
              </a:tabLst>
            </a:pPr>
            <a:r>
              <a:rPr sz="2400" spc="-5" dirty="0">
                <a:latin typeface="Perpetua"/>
                <a:cs typeface="Perpetua"/>
              </a:rPr>
              <a:t>Stop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cross.</a:t>
            </a:r>
            <a:endParaRPr sz="24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spcBef>
                <a:spcPts val="12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observe?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2775" y="5904991"/>
            <a:ext cx="39217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use </a:t>
            </a:r>
            <a:r>
              <a:rPr sz="2400" i="1" spc="-5" dirty="0">
                <a:latin typeface="Perpetua"/>
                <a:cs typeface="Perpetua"/>
              </a:rPr>
              <a:t>this </a:t>
            </a:r>
            <a:r>
              <a:rPr sz="2400" i="1" spc="-15" dirty="0">
                <a:latin typeface="Perpetua"/>
                <a:cs typeface="Perpetua"/>
              </a:rPr>
              <a:t>observation </a:t>
            </a:r>
            <a:r>
              <a:rPr sz="2400" i="1" dirty="0">
                <a:latin typeface="Perpetua"/>
                <a:cs typeface="Perpetua"/>
              </a:rPr>
              <a:t>to rewrite  the </a:t>
            </a:r>
            <a:r>
              <a:rPr sz="2400" i="1" spc="-5" dirty="0">
                <a:latin typeface="Perpetua"/>
                <a:cs typeface="Perpetua"/>
              </a:rPr>
              <a:t>instructions </a:t>
            </a:r>
            <a:r>
              <a:rPr sz="2400" i="1" dirty="0">
                <a:latin typeface="Perpetua"/>
                <a:cs typeface="Perpetua"/>
              </a:rPr>
              <a:t>using the </a:t>
            </a:r>
            <a:r>
              <a:rPr sz="2400" i="1" spc="-5" dirty="0">
                <a:latin typeface="Perpetua"/>
                <a:cs typeface="Perpetua"/>
              </a:rPr>
              <a:t>if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statement?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43800" y="5029200"/>
            <a:ext cx="1380744" cy="101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2140" y="1129030"/>
            <a:ext cx="49371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  <a:tab pos="2130425" algn="l"/>
              </a:tabLst>
            </a:pPr>
            <a:r>
              <a:rPr sz="2600" i="1" spc="-5" dirty="0">
                <a:latin typeface="Perpetua"/>
                <a:cs typeface="Perpetua"/>
              </a:rPr>
              <a:t>Algorithm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using	the if-control structure is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" y="1901779"/>
            <a:ext cx="7432675" cy="0"/>
          </a:xfrm>
          <a:custGeom>
            <a:avLst/>
            <a:gdLst/>
            <a:ahLst/>
            <a:cxnLst/>
            <a:rect l="l" t="t" r="r" b="b"/>
            <a:pathLst>
              <a:path w="7432675">
                <a:moveTo>
                  <a:pt x="0" y="0"/>
                </a:moveTo>
                <a:lnTo>
                  <a:pt x="7432561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4840" y="229836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6870" y="229836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88901" y="2298369"/>
            <a:ext cx="6769734" cy="0"/>
          </a:xfrm>
          <a:custGeom>
            <a:avLst/>
            <a:gdLst/>
            <a:ahLst/>
            <a:cxnLst/>
            <a:rect l="l" t="t" r="r" b="b"/>
            <a:pathLst>
              <a:path w="6769734">
                <a:moveTo>
                  <a:pt x="0" y="0"/>
                </a:moveTo>
                <a:lnTo>
                  <a:pt x="6769593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4840" y="269460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6870" y="269460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88901" y="2694609"/>
            <a:ext cx="6769734" cy="0"/>
          </a:xfrm>
          <a:custGeom>
            <a:avLst/>
            <a:gdLst/>
            <a:ahLst/>
            <a:cxnLst/>
            <a:rect l="l" t="t" r="r" b="b"/>
            <a:pathLst>
              <a:path w="6769734">
                <a:moveTo>
                  <a:pt x="0" y="0"/>
                </a:moveTo>
                <a:lnTo>
                  <a:pt x="6769593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4840" y="3090880"/>
            <a:ext cx="7432675" cy="0"/>
          </a:xfrm>
          <a:custGeom>
            <a:avLst/>
            <a:gdLst/>
            <a:ahLst/>
            <a:cxnLst/>
            <a:rect l="l" t="t" r="r" b="b"/>
            <a:pathLst>
              <a:path w="7432675">
                <a:moveTo>
                  <a:pt x="0" y="0"/>
                </a:moveTo>
                <a:lnTo>
                  <a:pt x="7432561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4840" y="348734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6870" y="348734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88901" y="3487343"/>
            <a:ext cx="1321435" cy="0"/>
          </a:xfrm>
          <a:custGeom>
            <a:avLst/>
            <a:gdLst/>
            <a:ahLst/>
            <a:cxnLst/>
            <a:rect l="l" t="t" r="r" b="b"/>
            <a:pathLst>
              <a:path w="1321435">
                <a:moveTo>
                  <a:pt x="0" y="0"/>
                </a:moveTo>
                <a:lnTo>
                  <a:pt x="132117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2140" y="3903345"/>
            <a:ext cx="64446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0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spc="-5" dirty="0">
                <a:latin typeface="Perpetua"/>
                <a:cs typeface="Perpetua"/>
              </a:rPr>
              <a:t>Notice </a:t>
            </a:r>
            <a:r>
              <a:rPr sz="2600" i="1" spc="-20" dirty="0">
                <a:latin typeface="Perpetua"/>
                <a:cs typeface="Perpetua"/>
              </a:rPr>
              <a:t>any </a:t>
            </a:r>
            <a:r>
              <a:rPr sz="2600" i="1" dirty="0">
                <a:latin typeface="Perpetua"/>
                <a:cs typeface="Perpetua"/>
              </a:rPr>
              <a:t>pattern? </a:t>
            </a:r>
            <a:r>
              <a:rPr sz="2600" i="1" spc="-60" dirty="0">
                <a:latin typeface="Perpetua"/>
                <a:cs typeface="Perpetua"/>
              </a:rPr>
              <a:t>Now, </a:t>
            </a:r>
            <a:r>
              <a:rPr sz="2600" i="1" spc="-15" dirty="0">
                <a:latin typeface="Perpetua"/>
                <a:cs typeface="Perpetua"/>
              </a:rPr>
              <a:t>go for </a:t>
            </a:r>
            <a:r>
              <a:rPr sz="2600" i="1" spc="-5" dirty="0">
                <a:latin typeface="Perpetua"/>
                <a:cs typeface="Perpetua"/>
              </a:rPr>
              <a:t>the if statement in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6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4840" y="4676094"/>
            <a:ext cx="7432675" cy="0"/>
          </a:xfrm>
          <a:custGeom>
            <a:avLst/>
            <a:gdLst/>
            <a:ahLst/>
            <a:cxnLst/>
            <a:rect l="l" t="t" r="r" b="b"/>
            <a:pathLst>
              <a:path w="7432675">
                <a:moveTo>
                  <a:pt x="0" y="0"/>
                </a:moveTo>
                <a:lnTo>
                  <a:pt x="7432561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840" y="507268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6870" y="507268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88901" y="5072684"/>
            <a:ext cx="6769734" cy="0"/>
          </a:xfrm>
          <a:custGeom>
            <a:avLst/>
            <a:gdLst/>
            <a:ahLst/>
            <a:cxnLst/>
            <a:rect l="l" t="t" r="r" b="b"/>
            <a:pathLst>
              <a:path w="6769734">
                <a:moveTo>
                  <a:pt x="0" y="0"/>
                </a:moveTo>
                <a:lnTo>
                  <a:pt x="6769593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840" y="54689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6870" y="54689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88901" y="5468924"/>
            <a:ext cx="6769734" cy="0"/>
          </a:xfrm>
          <a:custGeom>
            <a:avLst/>
            <a:gdLst/>
            <a:ahLst/>
            <a:cxnLst/>
            <a:rect l="l" t="t" r="r" b="b"/>
            <a:pathLst>
              <a:path w="6769734">
                <a:moveTo>
                  <a:pt x="0" y="0"/>
                </a:moveTo>
                <a:lnTo>
                  <a:pt x="6769593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4840" y="5865144"/>
            <a:ext cx="7432675" cy="0"/>
          </a:xfrm>
          <a:custGeom>
            <a:avLst/>
            <a:gdLst/>
            <a:ahLst/>
            <a:cxnLst/>
            <a:rect l="l" t="t" r="r" b="b"/>
            <a:pathLst>
              <a:path w="7432675">
                <a:moveTo>
                  <a:pt x="0" y="0"/>
                </a:moveTo>
                <a:lnTo>
                  <a:pt x="7432561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4840" y="626165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6870" y="626165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88901" y="6261658"/>
            <a:ext cx="1321435" cy="0"/>
          </a:xfrm>
          <a:custGeom>
            <a:avLst/>
            <a:gdLst/>
            <a:ahLst/>
            <a:cxnLst/>
            <a:rect l="l" t="t" r="r" b="b"/>
            <a:pathLst>
              <a:path w="1321435">
                <a:moveTo>
                  <a:pt x="0" y="0"/>
                </a:moveTo>
                <a:lnTo>
                  <a:pt x="132117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23624" y="457315"/>
            <a:ext cx="157375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586486"/>
            <a:ext cx="35102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do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you</a:t>
            </a:r>
            <a:r>
              <a:rPr i="1" spc="-7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observe?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509725"/>
            <a:ext cx="7843520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obvious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repetition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is.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marR="5080" indent="-274955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secret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maze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whenever you </a:t>
            </a:r>
            <a:r>
              <a:rPr sz="2600" dirty="0">
                <a:latin typeface="Perpetua"/>
                <a:cs typeface="Perpetua"/>
              </a:rPr>
              <a:t>get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5" dirty="0">
                <a:latin typeface="Perpetua"/>
                <a:cs typeface="Perpetua"/>
              </a:rPr>
              <a:t>T-junction 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5" dirty="0">
                <a:latin typeface="Perpetua"/>
                <a:cs typeface="Perpetua"/>
              </a:rPr>
              <a:t>turn </a:t>
            </a:r>
            <a:r>
              <a:rPr sz="2600" spc="-5" dirty="0">
                <a:latin typeface="Perpetua"/>
                <a:cs typeface="Perpetua"/>
              </a:rPr>
              <a:t>left and </a:t>
            </a:r>
            <a:r>
              <a:rPr sz="2600" spc="-15" dirty="0">
                <a:latin typeface="Perpetua"/>
                <a:cs typeface="Perpetua"/>
              </a:rPr>
              <a:t>whenever you </a:t>
            </a:r>
            <a:r>
              <a:rPr sz="2600" spc="-10" dirty="0">
                <a:latin typeface="Perpetua"/>
                <a:cs typeface="Perpetua"/>
              </a:rPr>
              <a:t>get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crossroads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go  </a:t>
            </a:r>
            <a:r>
              <a:rPr sz="2600" dirty="0">
                <a:latin typeface="Perpetua"/>
                <a:cs typeface="Perpetua"/>
              </a:rPr>
              <a:t>straight</a:t>
            </a:r>
            <a:r>
              <a:rPr sz="2600" spc="-5" dirty="0">
                <a:latin typeface="Perpetua"/>
                <a:cs typeface="Perpetua"/>
              </a:rPr>
              <a:t> on.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marR="6350" indent="-274955" algn="just">
              <a:lnSpc>
                <a:spcPct val="100000"/>
              </a:lnSpc>
              <a:buSzPct val="84615"/>
              <a:buFont typeface="Arial"/>
              <a:buChar char="•"/>
              <a:tabLst>
                <a:tab pos="362585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other </a:t>
            </a:r>
            <a:r>
              <a:rPr sz="2600" spc="-20" dirty="0">
                <a:latin typeface="Perpetua"/>
                <a:cs typeface="Perpetua"/>
              </a:rPr>
              <a:t>words,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40" dirty="0">
                <a:latin typeface="Perpetua"/>
                <a:cs typeface="Perpetua"/>
              </a:rPr>
              <a:t>T-junction </a:t>
            </a:r>
            <a:r>
              <a:rPr sz="2600" spc="15" dirty="0">
                <a:latin typeface="Perpetua"/>
                <a:cs typeface="Perpetua"/>
              </a:rPr>
              <a:t>turn </a:t>
            </a:r>
            <a:r>
              <a:rPr sz="2600" spc="-5" dirty="0">
                <a:latin typeface="Perpetua"/>
                <a:cs typeface="Perpetua"/>
              </a:rPr>
              <a:t>left else </a:t>
            </a:r>
            <a:r>
              <a:rPr sz="2600" spc="-10" dirty="0">
                <a:latin typeface="Perpetua"/>
                <a:cs typeface="Perpetua"/>
              </a:rPr>
              <a:t>go  </a:t>
            </a:r>
            <a:r>
              <a:rPr sz="2600" dirty="0">
                <a:latin typeface="Perpetua"/>
                <a:cs typeface="Perpetua"/>
              </a:rPr>
              <a:t>straight</a:t>
            </a:r>
            <a:r>
              <a:rPr sz="2600" spc="-5" dirty="0">
                <a:latin typeface="Perpetua"/>
                <a:cs typeface="Perpetua"/>
              </a:rPr>
              <a:t> on.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10286"/>
            <a:ext cx="65633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7660" algn="l"/>
              </a:tabLst>
            </a:pP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Algorithm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using	the if-control</a:t>
            </a:r>
            <a:r>
              <a:rPr i="1" spc="1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2577"/>
            <a:ext cx="7545070" cy="5004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0190" indent="-23812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50825" algn="l"/>
              </a:tabLst>
            </a:pPr>
            <a:r>
              <a:rPr sz="2000" dirty="0">
                <a:latin typeface="Perpetua"/>
                <a:cs typeface="Perpetua"/>
              </a:rPr>
              <a:t>Enter the </a:t>
            </a:r>
            <a:r>
              <a:rPr sz="2000" spc="-5" dirty="0">
                <a:latin typeface="Perpetua"/>
                <a:cs typeface="Perpetua"/>
              </a:rPr>
              <a:t>maze </a:t>
            </a:r>
            <a:r>
              <a:rPr sz="2000" spc="-20" dirty="0">
                <a:latin typeface="Perpetua"/>
                <a:cs typeface="Perpetua"/>
              </a:rPr>
              <a:t>by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gate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path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ahead.</a:t>
            </a:r>
            <a:endParaRPr sz="2000">
              <a:latin typeface="Perpetua"/>
              <a:cs typeface="Perpetua"/>
            </a:endParaRPr>
          </a:p>
          <a:p>
            <a:pPr marL="250190" indent="-238125">
              <a:lnSpc>
                <a:spcPct val="100000"/>
              </a:lnSpc>
              <a:spcBef>
                <a:spcPts val="120"/>
              </a:spcBef>
              <a:buFont typeface="Perpetua"/>
              <a:buAutoNum type="arabicPeriod"/>
              <a:tabLst>
                <a:tab pos="250825" algn="l"/>
              </a:tabLst>
            </a:pPr>
            <a:r>
              <a:rPr sz="2000" b="1" dirty="0">
                <a:latin typeface="Perpetua"/>
                <a:cs typeface="Perpetua"/>
              </a:rPr>
              <a:t>If </a:t>
            </a:r>
            <a:r>
              <a:rPr sz="2000" spc="-15" dirty="0">
                <a:latin typeface="Perpetua"/>
                <a:cs typeface="Perpetua"/>
              </a:rPr>
              <a:t>at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60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T-junction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then </a:t>
            </a:r>
            <a:r>
              <a:rPr sz="2000" spc="10" dirty="0">
                <a:latin typeface="Perpetua"/>
                <a:cs typeface="Perpetua"/>
              </a:rPr>
              <a:t>turn </a:t>
            </a:r>
            <a:r>
              <a:rPr sz="2000" spc="-5" dirty="0">
                <a:latin typeface="Perpetua"/>
                <a:cs typeface="Perpetua"/>
              </a:rPr>
              <a:t>left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 </a:t>
            </a:r>
            <a:r>
              <a:rPr sz="2000" spc="-5" dirty="0">
                <a:latin typeface="Perpetua"/>
                <a:cs typeface="Perpetua"/>
              </a:rPr>
              <a:t>ahead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else </a:t>
            </a:r>
            <a:r>
              <a:rPr sz="2000" dirty="0">
                <a:latin typeface="Perpetua"/>
                <a:cs typeface="Perpetua"/>
              </a:rPr>
              <a:t>go straight </a:t>
            </a:r>
            <a:r>
              <a:rPr sz="2000" spc="-10" dirty="0">
                <a:latin typeface="Perpetua"/>
                <a:cs typeface="Perpetua"/>
              </a:rPr>
              <a:t>across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junction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ahead.</a:t>
            </a:r>
            <a:endParaRPr sz="2000">
              <a:latin typeface="Perpetua"/>
              <a:cs typeface="Perpetua"/>
            </a:endParaRPr>
          </a:p>
          <a:p>
            <a:pPr marL="250190" indent="-238125">
              <a:lnSpc>
                <a:spcPct val="100000"/>
              </a:lnSpc>
              <a:spcBef>
                <a:spcPts val="120"/>
              </a:spcBef>
              <a:buFont typeface="Perpetua"/>
              <a:buAutoNum type="arabicPeriod" startAt="3"/>
              <a:tabLst>
                <a:tab pos="250825" algn="l"/>
              </a:tabLst>
            </a:pPr>
            <a:r>
              <a:rPr sz="2000" b="1" dirty="0">
                <a:latin typeface="Perpetua"/>
                <a:cs typeface="Perpetua"/>
              </a:rPr>
              <a:t>If </a:t>
            </a:r>
            <a:r>
              <a:rPr sz="2000" spc="-15" dirty="0">
                <a:latin typeface="Perpetua"/>
                <a:cs typeface="Perpetua"/>
              </a:rPr>
              <a:t>at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54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T-junction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then </a:t>
            </a:r>
            <a:r>
              <a:rPr sz="2000" spc="10" dirty="0">
                <a:latin typeface="Perpetua"/>
                <a:cs typeface="Perpetua"/>
              </a:rPr>
              <a:t>turn </a:t>
            </a:r>
            <a:r>
              <a:rPr sz="2000" spc="-5" dirty="0">
                <a:latin typeface="Perpetua"/>
                <a:cs typeface="Perpetua"/>
              </a:rPr>
              <a:t>left </a:t>
            </a:r>
            <a:r>
              <a:rPr sz="2000" spc="-15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 </a:t>
            </a:r>
            <a:r>
              <a:rPr sz="2000" spc="-5" dirty="0">
                <a:latin typeface="Perpetua"/>
                <a:cs typeface="Perpetua"/>
              </a:rPr>
              <a:t>ahead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latin typeface="Perpetua"/>
                <a:cs typeface="Perpetua"/>
              </a:rPr>
              <a:t>else </a:t>
            </a:r>
            <a:r>
              <a:rPr sz="2000" dirty="0">
                <a:latin typeface="Perpetua"/>
                <a:cs typeface="Perpetua"/>
              </a:rPr>
              <a:t>go straight </a:t>
            </a:r>
            <a:r>
              <a:rPr sz="2000" spc="-10" dirty="0">
                <a:latin typeface="Perpetua"/>
                <a:cs typeface="Perpetua"/>
              </a:rPr>
              <a:t>across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junction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ahead.</a:t>
            </a:r>
            <a:endParaRPr sz="2000">
              <a:latin typeface="Perpetua"/>
              <a:cs typeface="Perpetua"/>
            </a:endParaRPr>
          </a:p>
          <a:p>
            <a:pPr marL="250190" indent="-238125">
              <a:lnSpc>
                <a:spcPct val="100000"/>
              </a:lnSpc>
              <a:spcBef>
                <a:spcPts val="120"/>
              </a:spcBef>
              <a:buFont typeface="Perpetua"/>
              <a:buAutoNum type="arabicPeriod" startAt="4"/>
              <a:tabLst>
                <a:tab pos="250825" algn="l"/>
              </a:tabLst>
            </a:pPr>
            <a:r>
              <a:rPr sz="2000" b="1" dirty="0">
                <a:latin typeface="Perpetua"/>
                <a:cs typeface="Perpetua"/>
              </a:rPr>
              <a:t>If </a:t>
            </a:r>
            <a:r>
              <a:rPr sz="2000" spc="-15" dirty="0">
                <a:latin typeface="Perpetua"/>
                <a:cs typeface="Perpetua"/>
              </a:rPr>
              <a:t>at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54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T-junction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then </a:t>
            </a:r>
            <a:r>
              <a:rPr sz="2000" spc="10" dirty="0">
                <a:latin typeface="Perpetua"/>
                <a:cs typeface="Perpetua"/>
              </a:rPr>
              <a:t>turn </a:t>
            </a:r>
            <a:r>
              <a:rPr sz="2000" spc="-5" dirty="0">
                <a:latin typeface="Perpetua"/>
                <a:cs typeface="Perpetua"/>
              </a:rPr>
              <a:t>left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 </a:t>
            </a:r>
            <a:r>
              <a:rPr sz="2000" spc="-5" dirty="0">
                <a:latin typeface="Perpetua"/>
                <a:cs typeface="Perpetua"/>
              </a:rPr>
              <a:t>ahead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else </a:t>
            </a:r>
            <a:r>
              <a:rPr sz="2000" dirty="0">
                <a:latin typeface="Perpetua"/>
                <a:cs typeface="Perpetua"/>
              </a:rPr>
              <a:t>go </a:t>
            </a:r>
            <a:r>
              <a:rPr sz="2000" spc="-5" dirty="0">
                <a:latin typeface="Perpetua"/>
                <a:cs typeface="Perpetua"/>
              </a:rPr>
              <a:t>straight </a:t>
            </a:r>
            <a:r>
              <a:rPr sz="2000" spc="-10" dirty="0">
                <a:latin typeface="Perpetua"/>
                <a:cs typeface="Perpetua"/>
              </a:rPr>
              <a:t>across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junction </a:t>
            </a:r>
            <a:r>
              <a:rPr sz="2000" spc="-15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</a:t>
            </a:r>
            <a:r>
              <a:rPr sz="2000" spc="3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ahead.</a:t>
            </a:r>
            <a:endParaRPr sz="2000">
              <a:latin typeface="Perpetua"/>
              <a:cs typeface="Perpetua"/>
            </a:endParaRPr>
          </a:p>
          <a:p>
            <a:pPr marL="250190" indent="-238125">
              <a:lnSpc>
                <a:spcPct val="100000"/>
              </a:lnSpc>
              <a:spcBef>
                <a:spcPts val="120"/>
              </a:spcBef>
              <a:buFont typeface="Perpetua"/>
              <a:buAutoNum type="arabicPeriod" startAt="5"/>
              <a:tabLst>
                <a:tab pos="250825" algn="l"/>
              </a:tabLst>
            </a:pPr>
            <a:r>
              <a:rPr sz="2000" b="1" dirty="0">
                <a:latin typeface="Perpetua"/>
                <a:cs typeface="Perpetua"/>
              </a:rPr>
              <a:t>If </a:t>
            </a:r>
            <a:r>
              <a:rPr sz="2000" spc="-15" dirty="0">
                <a:latin typeface="Perpetua"/>
                <a:cs typeface="Perpetua"/>
              </a:rPr>
              <a:t>at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54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T-junction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then </a:t>
            </a:r>
            <a:r>
              <a:rPr sz="2000" spc="10" dirty="0">
                <a:latin typeface="Perpetua"/>
                <a:cs typeface="Perpetua"/>
              </a:rPr>
              <a:t>turn </a:t>
            </a:r>
            <a:r>
              <a:rPr sz="2000" spc="-5" dirty="0">
                <a:latin typeface="Perpetua"/>
                <a:cs typeface="Perpetua"/>
              </a:rPr>
              <a:t>left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 </a:t>
            </a:r>
            <a:r>
              <a:rPr sz="2000" spc="-5" dirty="0">
                <a:latin typeface="Perpetua"/>
                <a:cs typeface="Perpetua"/>
              </a:rPr>
              <a:t>ahead</a:t>
            </a:r>
            <a:endParaRPr sz="20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20"/>
              </a:spcBef>
            </a:pPr>
            <a:r>
              <a:rPr sz="2000" b="1" spc="-5" dirty="0">
                <a:latin typeface="Perpetua"/>
                <a:cs typeface="Perpetua"/>
              </a:rPr>
              <a:t>else </a:t>
            </a:r>
            <a:r>
              <a:rPr sz="2000" dirty="0">
                <a:latin typeface="Perpetua"/>
                <a:cs typeface="Perpetua"/>
              </a:rPr>
              <a:t>go straight </a:t>
            </a:r>
            <a:r>
              <a:rPr sz="2000" spc="-10" dirty="0">
                <a:latin typeface="Perpetua"/>
                <a:cs typeface="Perpetua"/>
              </a:rPr>
              <a:t>across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junction </a:t>
            </a:r>
            <a:r>
              <a:rPr sz="2000" spc="-10" dirty="0">
                <a:latin typeface="Perpetua"/>
                <a:cs typeface="Perpetua"/>
              </a:rPr>
              <a:t>following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10" dirty="0">
                <a:latin typeface="Perpetua"/>
                <a:cs typeface="Perpetua"/>
              </a:rPr>
              <a:t>path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ahead.</a:t>
            </a:r>
            <a:endParaRPr sz="2000">
              <a:latin typeface="Perpetua"/>
              <a:cs typeface="Perpetua"/>
            </a:endParaRPr>
          </a:p>
          <a:p>
            <a:pPr marL="250190" indent="-238125">
              <a:lnSpc>
                <a:spcPct val="100000"/>
              </a:lnSpc>
              <a:spcBef>
                <a:spcPts val="120"/>
              </a:spcBef>
              <a:buAutoNum type="arabicPeriod" startAt="6"/>
              <a:tabLst>
                <a:tab pos="250825" algn="l"/>
              </a:tabLst>
            </a:pPr>
            <a:r>
              <a:rPr sz="2000" dirty="0">
                <a:latin typeface="Perpetua"/>
                <a:cs typeface="Perpetua"/>
              </a:rPr>
              <a:t>Stop </a:t>
            </a:r>
            <a:r>
              <a:rPr sz="2000" spc="-15" dirty="0">
                <a:latin typeface="Perpetua"/>
                <a:cs typeface="Perpetua"/>
              </a:rPr>
              <a:t>at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15" dirty="0">
                <a:latin typeface="Perpetua"/>
                <a:cs typeface="Perpetua"/>
              </a:rPr>
              <a:t> cross.</a:t>
            </a:r>
            <a:endParaRPr sz="2000">
              <a:latin typeface="Perpetua"/>
              <a:cs typeface="Perpetua"/>
            </a:endParaRPr>
          </a:p>
          <a:p>
            <a:pPr marL="4977765" lvl="1" indent="-240665">
              <a:lnSpc>
                <a:spcPct val="100000"/>
              </a:lnSpc>
              <a:spcBef>
                <a:spcPts val="1150"/>
              </a:spcBef>
              <a:buSzPct val="95833"/>
              <a:buFont typeface="Wingdings"/>
              <a:buChar char=""/>
              <a:tabLst>
                <a:tab pos="4978400" algn="l"/>
              </a:tabLst>
            </a:pPr>
            <a:r>
              <a:rPr sz="2400" i="1" dirty="0">
                <a:latin typeface="Perpetua"/>
                <a:cs typeface="Perpetua"/>
              </a:rPr>
              <a:t>Notice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dirty="0">
                <a:latin typeface="Perpetua"/>
                <a:cs typeface="Perpetua"/>
              </a:rPr>
              <a:t>pattern?</a:t>
            </a:r>
            <a:r>
              <a:rPr sz="2400" i="1" spc="-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.......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0286"/>
            <a:ext cx="6598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>
                <a:solidFill>
                  <a:srgbClr val="FF0000"/>
                </a:solidFill>
              </a:rPr>
              <a:t>Now, </a:t>
            </a:r>
            <a:r>
              <a:rPr spc="-5" dirty="0">
                <a:solidFill>
                  <a:srgbClr val="FF0000"/>
                </a:solidFill>
              </a:rPr>
              <a:t>go for </a:t>
            </a:r>
            <a:r>
              <a:rPr spc="-10" dirty="0">
                <a:solidFill>
                  <a:srgbClr val="FF0000"/>
                </a:solidFill>
              </a:rPr>
              <a:t>the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if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statement </a:t>
            </a:r>
            <a:r>
              <a:rPr spc="-5" dirty="0">
                <a:solidFill>
                  <a:srgbClr val="FF0000"/>
                </a:solidFill>
              </a:rPr>
              <a:t>in a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366469"/>
            <a:ext cx="7692390" cy="503301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32740" marR="6350">
              <a:lnSpc>
                <a:spcPts val="3100"/>
              </a:lnSpc>
              <a:spcBef>
                <a:spcPts val="415"/>
              </a:spcBef>
              <a:tabLst>
                <a:tab pos="1748155" algn="l"/>
                <a:tab pos="2494280" algn="l"/>
                <a:tab pos="3039745" algn="l"/>
                <a:tab pos="3759200" algn="l"/>
                <a:tab pos="4716145" algn="l"/>
                <a:tab pos="5426710" algn="l"/>
                <a:tab pos="6231255" algn="l"/>
              </a:tabLst>
            </a:pPr>
            <a:r>
              <a:rPr sz="2800" spc="-5" dirty="0">
                <a:latin typeface="Perpetua"/>
                <a:cs typeface="Perpetua"/>
              </a:rPr>
              <a:t>1. Enter the maze </a:t>
            </a:r>
            <a:r>
              <a:rPr sz="2800" spc="-35" dirty="0">
                <a:latin typeface="Perpetua"/>
                <a:cs typeface="Perpetua"/>
              </a:rPr>
              <a:t>by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gate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 </a:t>
            </a:r>
            <a:r>
              <a:rPr sz="2800" spc="-5" dirty="0">
                <a:latin typeface="Perpetua"/>
                <a:cs typeface="Perpetua"/>
              </a:rPr>
              <a:t>ahead.  2</a:t>
            </a:r>
            <a:r>
              <a:rPr sz="2800" spc="-10" dirty="0">
                <a:latin typeface="Perpetua"/>
                <a:cs typeface="Perpetua"/>
              </a:rPr>
              <a:t>.</a:t>
            </a:r>
            <a:r>
              <a:rPr sz="2800" b="1" spc="-80" dirty="0">
                <a:latin typeface="Perpetua"/>
                <a:cs typeface="Perpetua"/>
              </a:rPr>
              <a:t>w</a:t>
            </a:r>
            <a:r>
              <a:rPr sz="2800" b="1" spc="-5" dirty="0">
                <a:latin typeface="Perpetua"/>
                <a:cs typeface="Perpetua"/>
              </a:rPr>
              <a:t>hile</a:t>
            </a:r>
            <a:r>
              <a:rPr sz="2800" b="1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35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th</a:t>
            </a:r>
            <a:r>
              <a:rPr sz="2800" spc="-5" dirty="0">
                <a:latin typeface="Perpetua"/>
                <a:cs typeface="Perpetua"/>
              </a:rPr>
              <a:t>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c</a:t>
            </a:r>
            <a:r>
              <a:rPr sz="2800" spc="-25" dirty="0">
                <a:latin typeface="Perpetua"/>
                <a:cs typeface="Perpetua"/>
              </a:rPr>
              <a:t>r</a:t>
            </a:r>
            <a:r>
              <a:rPr sz="2800" spc="-5" dirty="0">
                <a:latin typeface="Perpetua"/>
                <a:cs typeface="Perpetua"/>
              </a:rPr>
              <a:t>o</a:t>
            </a:r>
            <a:r>
              <a:rPr sz="2800" dirty="0">
                <a:latin typeface="Perpetua"/>
                <a:cs typeface="Perpetua"/>
              </a:rPr>
              <a:t>s</a:t>
            </a:r>
            <a:r>
              <a:rPr sz="2800" spc="-5" dirty="0">
                <a:latin typeface="Perpetua"/>
                <a:cs typeface="Perpetua"/>
              </a:rPr>
              <a:t>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b="1" spc="-15" dirty="0">
                <a:latin typeface="Perpetua"/>
                <a:cs typeface="Perpetua"/>
              </a:rPr>
              <a:t>d</a:t>
            </a:r>
            <a:r>
              <a:rPr sz="2800" b="1" spc="-5" dirty="0">
                <a:latin typeface="Perpetua"/>
                <a:cs typeface="Perpetua"/>
              </a:rPr>
              <a:t>o</a:t>
            </a:r>
            <a:r>
              <a:rPr sz="2800" b="1" dirty="0">
                <a:latin typeface="Perpetua"/>
                <a:cs typeface="Perpetua"/>
              </a:rPr>
              <a:t>	</a:t>
            </a:r>
            <a:r>
              <a:rPr sz="2800" b="1" spc="-10" dirty="0">
                <a:latin typeface="Perpetua"/>
                <a:cs typeface="Perpetua"/>
              </a:rPr>
              <a:t>th</a:t>
            </a:r>
            <a:r>
              <a:rPr sz="2800" b="1" spc="-5" dirty="0">
                <a:latin typeface="Perpetua"/>
                <a:cs typeface="Perpetua"/>
              </a:rPr>
              <a:t>e</a:t>
            </a:r>
            <a:r>
              <a:rPr sz="2800" b="1" dirty="0">
                <a:latin typeface="Perpetua"/>
                <a:cs typeface="Perpetua"/>
              </a:rPr>
              <a:t>	</a:t>
            </a:r>
            <a:r>
              <a:rPr sz="2800" b="1" spc="-5" dirty="0">
                <a:latin typeface="Perpetua"/>
                <a:cs typeface="Perpetua"/>
              </a:rPr>
              <a:t>foll</a:t>
            </a:r>
            <a:r>
              <a:rPr sz="2800" b="1" spc="-100" dirty="0">
                <a:latin typeface="Perpetua"/>
                <a:cs typeface="Perpetua"/>
              </a:rPr>
              <a:t>o</a:t>
            </a:r>
            <a:r>
              <a:rPr sz="2800" b="1" spc="-5" dirty="0">
                <a:latin typeface="Perpetua"/>
                <a:cs typeface="Perpetua"/>
              </a:rPr>
              <a:t>wing</a:t>
            </a:r>
            <a:endParaRPr sz="2800">
              <a:latin typeface="Perpetua"/>
              <a:cs typeface="Perpetua"/>
            </a:endParaRPr>
          </a:p>
          <a:p>
            <a:pPr marL="561340">
              <a:lnSpc>
                <a:spcPts val="2490"/>
              </a:lnSpc>
            </a:pPr>
            <a:r>
              <a:rPr sz="2800" b="1" spc="-15" dirty="0">
                <a:latin typeface="Perpetua"/>
                <a:cs typeface="Perpetua"/>
              </a:rPr>
              <a:t>repeatedly</a:t>
            </a:r>
            <a:endParaRPr sz="2800">
              <a:latin typeface="Perpetua"/>
              <a:cs typeface="Perpetua"/>
            </a:endParaRPr>
          </a:p>
          <a:p>
            <a:pPr marL="561340">
              <a:lnSpc>
                <a:spcPts val="3085"/>
              </a:lnSpc>
            </a:pPr>
            <a:r>
              <a:rPr sz="2800" b="1" spc="-5" dirty="0">
                <a:latin typeface="Perpetua"/>
                <a:cs typeface="Perpetua"/>
              </a:rPr>
              <a:t>if </a:t>
            </a:r>
            <a:r>
              <a:rPr sz="2800" spc="-20" dirty="0">
                <a:latin typeface="Perpetua"/>
                <a:cs typeface="Perpetua"/>
              </a:rPr>
              <a:t>at </a:t>
            </a:r>
            <a:r>
              <a:rPr sz="2800" spc="-5" dirty="0">
                <a:latin typeface="Perpetua"/>
                <a:cs typeface="Perpetua"/>
              </a:rPr>
              <a:t>a</a:t>
            </a:r>
            <a:r>
              <a:rPr sz="2800" spc="-345" dirty="0">
                <a:latin typeface="Perpetua"/>
                <a:cs typeface="Perpetua"/>
              </a:rPr>
              <a:t> </a:t>
            </a:r>
            <a:r>
              <a:rPr sz="2800" spc="-40" dirty="0">
                <a:latin typeface="Perpetua"/>
                <a:cs typeface="Perpetua"/>
              </a:rPr>
              <a:t>T-junction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ts val="3090"/>
              </a:lnSpc>
            </a:pPr>
            <a:r>
              <a:rPr sz="2800" b="1" spc="-10" dirty="0">
                <a:latin typeface="Perpetua"/>
                <a:cs typeface="Perpetua"/>
              </a:rPr>
              <a:t>then </a:t>
            </a:r>
            <a:r>
              <a:rPr sz="2800" spc="15" dirty="0">
                <a:latin typeface="Perpetua"/>
                <a:cs typeface="Perpetua"/>
              </a:rPr>
              <a:t>turn </a:t>
            </a:r>
            <a:r>
              <a:rPr sz="2800" spc="-5" dirty="0">
                <a:latin typeface="Perpetua"/>
                <a:cs typeface="Perpetua"/>
              </a:rPr>
              <a:t>left </a:t>
            </a:r>
            <a:r>
              <a:rPr sz="2800" spc="-15" dirty="0">
                <a:latin typeface="Perpetua"/>
                <a:cs typeface="Perpetua"/>
              </a:rPr>
              <a:t>following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path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ahead</a:t>
            </a:r>
            <a:endParaRPr sz="2800">
              <a:latin typeface="Perpetua"/>
              <a:cs typeface="Perpetua"/>
            </a:endParaRPr>
          </a:p>
          <a:p>
            <a:pPr marL="927100" marR="5715">
              <a:lnSpc>
                <a:spcPts val="2690"/>
              </a:lnSpc>
              <a:spcBef>
                <a:spcPts val="520"/>
              </a:spcBef>
              <a:tabLst>
                <a:tab pos="1646555" algn="l"/>
                <a:tab pos="2111375" algn="l"/>
                <a:tab pos="3220720" algn="l"/>
                <a:tab pos="4146550" algn="l"/>
                <a:tab pos="4704080" algn="l"/>
                <a:tab pos="5911215" algn="l"/>
                <a:tab pos="7275195" algn="l"/>
              </a:tabLst>
            </a:pPr>
            <a:r>
              <a:rPr sz="2800" b="1" spc="-10" dirty="0">
                <a:latin typeface="Perpetua"/>
                <a:cs typeface="Perpetua"/>
              </a:rPr>
              <a:t>els</a:t>
            </a:r>
            <a:r>
              <a:rPr sz="2800" b="1" spc="-5" dirty="0">
                <a:latin typeface="Perpetua"/>
                <a:cs typeface="Perpetua"/>
              </a:rPr>
              <a:t>e</a:t>
            </a:r>
            <a:r>
              <a:rPr sz="2800" b="1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g</a:t>
            </a:r>
            <a:r>
              <a:rPr sz="2800" spc="-5" dirty="0">
                <a:latin typeface="Perpetua"/>
                <a:cs typeface="Perpetua"/>
              </a:rPr>
              <a:t>o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st</a:t>
            </a:r>
            <a:r>
              <a:rPr sz="2800" dirty="0">
                <a:latin typeface="Perpetua"/>
                <a:cs typeface="Perpetua"/>
              </a:rPr>
              <a:t>r</a:t>
            </a:r>
            <a:r>
              <a:rPr sz="2800" spc="-10" dirty="0">
                <a:latin typeface="Perpetua"/>
                <a:cs typeface="Perpetua"/>
              </a:rPr>
              <a:t>aigh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ac</a:t>
            </a:r>
            <a:r>
              <a:rPr sz="2800" spc="-30" dirty="0">
                <a:latin typeface="Perpetua"/>
                <a:cs typeface="Perpetua"/>
              </a:rPr>
              <a:t>r</a:t>
            </a:r>
            <a:r>
              <a:rPr sz="2800" spc="-5" dirty="0">
                <a:latin typeface="Perpetua"/>
                <a:cs typeface="Perpetua"/>
              </a:rPr>
              <a:t>oss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th</a:t>
            </a:r>
            <a:r>
              <a:rPr sz="2800" spc="-5" dirty="0">
                <a:latin typeface="Perpetua"/>
                <a:cs typeface="Perpetua"/>
              </a:rPr>
              <a:t>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junct</a:t>
            </a:r>
            <a:r>
              <a:rPr sz="2800" spc="-20" dirty="0">
                <a:latin typeface="Perpetua"/>
                <a:cs typeface="Perpetua"/>
              </a:rPr>
              <a:t>i</a:t>
            </a:r>
            <a:r>
              <a:rPr sz="2800" spc="-5" dirty="0">
                <a:latin typeface="Perpetua"/>
                <a:cs typeface="Perpetua"/>
              </a:rPr>
              <a:t>on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f</a:t>
            </a:r>
            <a:r>
              <a:rPr sz="2800" dirty="0">
                <a:latin typeface="Perpetua"/>
                <a:cs typeface="Perpetua"/>
              </a:rPr>
              <a:t>o</a:t>
            </a:r>
            <a:r>
              <a:rPr sz="2800" spc="-10" dirty="0">
                <a:latin typeface="Perpetua"/>
                <a:cs typeface="Perpetua"/>
              </a:rPr>
              <a:t>ll</a:t>
            </a:r>
            <a:r>
              <a:rPr sz="2800" spc="-85" dirty="0">
                <a:latin typeface="Perpetua"/>
                <a:cs typeface="Perpetua"/>
              </a:rPr>
              <a:t>o</a:t>
            </a:r>
            <a:r>
              <a:rPr sz="2800" spc="-5" dirty="0">
                <a:latin typeface="Perpetua"/>
                <a:cs typeface="Perpetua"/>
              </a:rPr>
              <a:t>wi</a:t>
            </a:r>
            <a:r>
              <a:rPr sz="2800" spc="10" dirty="0">
                <a:latin typeface="Perpetua"/>
                <a:cs typeface="Perpetua"/>
              </a:rPr>
              <a:t>n</a:t>
            </a:r>
            <a:r>
              <a:rPr sz="2800" spc="-5" dirty="0">
                <a:latin typeface="Perpetua"/>
                <a:cs typeface="Perpetua"/>
              </a:rPr>
              <a:t>g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the  path</a:t>
            </a:r>
            <a:r>
              <a:rPr sz="2800" spc="-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ahead.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Times New Roman"/>
              <a:cs typeface="Times New Roman"/>
            </a:endParaRPr>
          </a:p>
          <a:p>
            <a:pPr marL="287020" marR="6350" indent="-274955">
              <a:lnSpc>
                <a:spcPct val="80000"/>
              </a:lnSpc>
              <a:buSzPct val="83928"/>
              <a:buFont typeface="Wingdings"/>
              <a:buChar char=""/>
              <a:tabLst>
                <a:tab pos="374650" algn="l"/>
              </a:tabLst>
            </a:pPr>
            <a:r>
              <a:rPr dirty="0"/>
              <a:t>	</a:t>
            </a:r>
            <a:r>
              <a:rPr sz="2800" i="1" spc="-85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check </a:t>
            </a:r>
            <a:r>
              <a:rPr sz="2800" i="1" spc="-5" dirty="0">
                <a:latin typeface="Perpetua"/>
                <a:cs typeface="Perpetua"/>
              </a:rPr>
              <a:t>if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5" dirty="0">
                <a:latin typeface="Perpetua"/>
                <a:cs typeface="Perpetua"/>
              </a:rPr>
              <a:t>the cross </a:t>
            </a:r>
            <a:r>
              <a:rPr sz="2800" i="1" dirty="0">
                <a:latin typeface="Perpetua"/>
                <a:cs typeface="Perpetua"/>
              </a:rPr>
              <a:t>and if not </a:t>
            </a:r>
            <a:r>
              <a:rPr sz="2800" i="1" spc="-15" dirty="0">
                <a:latin typeface="Perpetua"/>
                <a:cs typeface="Perpetua"/>
              </a:rPr>
              <a:t>check </a:t>
            </a:r>
            <a:r>
              <a:rPr sz="2800" i="1" spc="-5" dirty="0">
                <a:latin typeface="Perpetua"/>
                <a:cs typeface="Perpetua"/>
              </a:rPr>
              <a:t>if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20" dirty="0">
                <a:latin typeface="Perpetua"/>
                <a:cs typeface="Perpetua"/>
              </a:rPr>
              <a:t>at </a:t>
            </a:r>
            <a:r>
              <a:rPr sz="2800" i="1" spc="-5" dirty="0">
                <a:latin typeface="Perpetua"/>
                <a:cs typeface="Perpetua"/>
              </a:rPr>
              <a:t>a </a:t>
            </a:r>
            <a:r>
              <a:rPr sz="2800" i="1" spc="-215" dirty="0">
                <a:latin typeface="Perpetua"/>
                <a:cs typeface="Perpetua"/>
              </a:rPr>
              <a:t>T-  </a:t>
            </a:r>
            <a:r>
              <a:rPr sz="2800" i="1" spc="-10" dirty="0">
                <a:latin typeface="Perpetua"/>
                <a:cs typeface="Perpetua"/>
              </a:rPr>
              <a:t>junction </a:t>
            </a:r>
            <a:r>
              <a:rPr sz="2800" i="1" spc="-5" dirty="0">
                <a:latin typeface="Perpetua"/>
                <a:cs typeface="Perpetua"/>
              </a:rPr>
              <a:t>taken the specified action depending on the</a:t>
            </a:r>
            <a:r>
              <a:rPr sz="2800" i="1" spc="70" dirty="0">
                <a:latin typeface="Perpetua"/>
                <a:cs typeface="Perpetua"/>
              </a:rPr>
              <a:t> </a:t>
            </a:r>
            <a:r>
              <a:rPr sz="2800" i="1" spc="-40" dirty="0">
                <a:latin typeface="Perpetua"/>
                <a:cs typeface="Perpetua"/>
              </a:rPr>
              <a:t>answer.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350">
              <a:latin typeface="Times New Roman"/>
              <a:cs typeface="Times New Roman"/>
            </a:endParaRPr>
          </a:p>
          <a:p>
            <a:pPr marL="287020" marR="5080" indent="-274955">
              <a:lnSpc>
                <a:spcPts val="2690"/>
              </a:lnSpc>
              <a:spcBef>
                <a:spcPts val="5"/>
              </a:spcBef>
              <a:buSzPct val="83928"/>
              <a:buFont typeface="Wingdings"/>
              <a:buChar char=""/>
              <a:tabLst>
                <a:tab pos="324485" algn="l"/>
              </a:tabLst>
            </a:pPr>
            <a:r>
              <a:rPr dirty="0"/>
              <a:t>	</a:t>
            </a:r>
            <a:r>
              <a:rPr sz="2800" i="1" spc="-5" dirty="0">
                <a:latin typeface="Perpetua"/>
                <a:cs typeface="Perpetua"/>
              </a:rPr>
              <a:t>Then </a:t>
            </a:r>
            <a:r>
              <a:rPr sz="2800" i="1" spc="-25" dirty="0">
                <a:latin typeface="Perpetua"/>
                <a:cs typeface="Perpetua"/>
              </a:rPr>
              <a:t>you </a:t>
            </a:r>
            <a:r>
              <a:rPr sz="2800" i="1" spc="-5" dirty="0">
                <a:latin typeface="Perpetua"/>
                <a:cs typeface="Perpetua"/>
              </a:rPr>
              <a:t>do it all </a:t>
            </a:r>
            <a:r>
              <a:rPr sz="2800" i="1" spc="-25" dirty="0">
                <a:latin typeface="Perpetua"/>
                <a:cs typeface="Perpetua"/>
              </a:rPr>
              <a:t>again, </a:t>
            </a:r>
            <a:r>
              <a:rPr sz="2800" i="1" dirty="0">
                <a:latin typeface="Perpetua"/>
                <a:cs typeface="Perpetua"/>
              </a:rPr>
              <a:t>stopping </a:t>
            </a:r>
            <a:r>
              <a:rPr sz="2800" i="1" spc="-5" dirty="0">
                <a:latin typeface="Perpetua"/>
                <a:cs typeface="Perpetua"/>
              </a:rPr>
              <a:t>if </a:t>
            </a:r>
            <a:r>
              <a:rPr sz="2800" i="1" spc="-20" dirty="0">
                <a:latin typeface="Perpetua"/>
                <a:cs typeface="Perpetua"/>
              </a:rPr>
              <a:t>you </a:t>
            </a:r>
            <a:r>
              <a:rPr sz="2800" i="1" spc="-15" dirty="0">
                <a:latin typeface="Perpetua"/>
                <a:cs typeface="Perpetua"/>
              </a:rPr>
              <a:t>are </a:t>
            </a:r>
            <a:r>
              <a:rPr sz="2800" i="1" spc="-20" dirty="0">
                <a:latin typeface="Perpetua"/>
                <a:cs typeface="Perpetua"/>
              </a:rPr>
              <a:t>at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centre </a:t>
            </a:r>
            <a:r>
              <a:rPr sz="2800" i="1" spc="-5" dirty="0">
                <a:latin typeface="Perpetua"/>
                <a:cs typeface="Perpetua"/>
              </a:rPr>
              <a:t>of the  </a:t>
            </a:r>
            <a:r>
              <a:rPr sz="2800" i="1" spc="-15" dirty="0">
                <a:latin typeface="Perpetua"/>
                <a:cs typeface="Perpetua"/>
              </a:rPr>
              <a:t>maze.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2651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i="1" spc="-20" dirty="0">
                <a:latin typeface="Perpetua"/>
                <a:cs typeface="Perpetua"/>
              </a:rPr>
              <a:t>while</a:t>
            </a:r>
            <a:r>
              <a:rPr i="1" spc="-60" dirty="0">
                <a:latin typeface="Perpetua"/>
                <a:cs typeface="Perpetua"/>
              </a:rPr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86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Just as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real-life </a:t>
            </a:r>
            <a:r>
              <a:rPr sz="2600" dirty="0">
                <a:latin typeface="Perpetua"/>
                <a:cs typeface="Perpetua"/>
              </a:rPr>
              <a:t>activities </a:t>
            </a:r>
            <a:r>
              <a:rPr sz="2600" spc="-5" dirty="0">
                <a:latin typeface="Perpetua"/>
                <a:cs typeface="Perpetua"/>
              </a:rPr>
              <a:t>require </a:t>
            </a:r>
            <a:r>
              <a:rPr sz="2600" i="1" spc="-10" dirty="0">
                <a:latin typeface="Perpetua"/>
                <a:cs typeface="Perpetua"/>
              </a:rPr>
              <a:t>repetition</a:t>
            </a:r>
            <a:r>
              <a:rPr sz="2600" spc="-10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computers </a:t>
            </a:r>
            <a:r>
              <a:rPr sz="2600" spc="-5" dirty="0">
                <a:latin typeface="Perpetua"/>
                <a:cs typeface="Perpetua"/>
              </a:rPr>
              <a:t>often  must also </a:t>
            </a:r>
            <a:r>
              <a:rPr sz="2600" spc="-10" dirty="0">
                <a:latin typeface="Perpetua"/>
                <a:cs typeface="Perpetua"/>
              </a:rPr>
              <a:t>execute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sequence of actions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dirty="0">
                <a:latin typeface="Perpetua"/>
                <a:cs typeface="Perpetua"/>
              </a:rPr>
              <a:t>in order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spc="-10" dirty="0">
                <a:latin typeface="Perpetua"/>
                <a:cs typeface="Perpetua"/>
              </a:rPr>
              <a:t>achieve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5" dirty="0">
                <a:latin typeface="Perpetua"/>
                <a:cs typeface="Perpetua"/>
              </a:rPr>
              <a:t>greater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outcome.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control </a:t>
            </a:r>
            <a:r>
              <a:rPr sz="2600" dirty="0">
                <a:latin typeface="Perpetua"/>
                <a:cs typeface="Perpetua"/>
              </a:rPr>
              <a:t>structure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10" dirty="0">
                <a:latin typeface="Perpetua"/>
                <a:cs typeface="Perpetua"/>
              </a:rPr>
              <a:t>executes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sequence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spc="-10" dirty="0">
                <a:latin typeface="Perpetua"/>
                <a:cs typeface="Perpetua"/>
              </a:rPr>
              <a:t>actions.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while </a:t>
            </a:r>
            <a:r>
              <a:rPr sz="2600" i="1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type of loop where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sequence of actions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repeated  </a:t>
            </a:r>
            <a:r>
              <a:rPr sz="2600" spc="-5" dirty="0">
                <a:latin typeface="Perpetua"/>
                <a:cs typeface="Perpetua"/>
              </a:rPr>
              <a:t>as long as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i="1" spc="-10" dirty="0">
                <a:latin typeface="Perpetua"/>
                <a:cs typeface="Perpetua"/>
              </a:rPr>
              <a:t>logical </a:t>
            </a:r>
            <a:r>
              <a:rPr sz="2600" i="1" spc="-5" dirty="0">
                <a:latin typeface="Perpetua"/>
                <a:cs typeface="Perpetua"/>
              </a:rPr>
              <a:t>condition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holds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3962400"/>
            <a:ext cx="5029200" cy="2107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8682" y="6120790"/>
            <a:ext cx="3933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Flowchart structure </a:t>
            </a:r>
            <a:r>
              <a:rPr sz="2000" spc="-5" dirty="0">
                <a:latin typeface="Perpetua"/>
                <a:cs typeface="Perpetua"/>
              </a:rPr>
              <a:t>for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i="1" spc="-10" dirty="0">
                <a:latin typeface="Perpetua"/>
                <a:cs typeface="Perpetua"/>
              </a:rPr>
              <a:t>while</a:t>
            </a:r>
            <a:r>
              <a:rPr sz="2000" i="1" spc="-95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loop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875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Reading the </a:t>
            </a:r>
            <a:r>
              <a:rPr spc="10" dirty="0"/>
              <a:t>flowchart</a:t>
            </a:r>
            <a:r>
              <a:rPr spc="-75" dirty="0"/>
              <a:t> </a:t>
            </a:r>
            <a:r>
              <a:rPr spc="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43925" cy="3822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714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the </a:t>
            </a:r>
            <a:r>
              <a:rPr sz="2600" i="1" spc="-15" dirty="0">
                <a:latin typeface="Perpetua"/>
                <a:cs typeface="Perpetua"/>
              </a:rPr>
              <a:t>while </a:t>
            </a:r>
            <a:r>
              <a:rPr sz="2600" i="1" spc="-5" dirty="0">
                <a:latin typeface="Perpetua"/>
                <a:cs typeface="Perpetua"/>
              </a:rPr>
              <a:t>loop is </a:t>
            </a:r>
            <a:r>
              <a:rPr sz="2600" i="1" dirty="0">
                <a:latin typeface="Perpetua"/>
                <a:cs typeface="Perpetua"/>
              </a:rPr>
              <a:t>first </a:t>
            </a:r>
            <a:r>
              <a:rPr sz="2600" i="1" spc="-5" dirty="0">
                <a:latin typeface="Perpetua"/>
                <a:cs typeface="Perpetua"/>
              </a:rPr>
              <a:t>encountered</a:t>
            </a:r>
            <a:r>
              <a:rPr sz="2600" spc="-5" dirty="0">
                <a:latin typeface="Perpetua"/>
                <a:cs typeface="Perpetua"/>
              </a:rPr>
              <a:t>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5" dirty="0">
                <a:latin typeface="Perpetua"/>
                <a:cs typeface="Perpetua"/>
              </a:rPr>
              <a:t>determine </a:t>
            </a:r>
            <a:r>
              <a:rPr sz="2600" spc="-5" dirty="0">
                <a:latin typeface="Perpetua"/>
                <a:cs typeface="Perpetua"/>
              </a:rPr>
              <a:t>whether  to </a:t>
            </a:r>
            <a:r>
              <a:rPr sz="2600" spc="5" dirty="0">
                <a:latin typeface="Perpetua"/>
                <a:cs typeface="Perpetua"/>
              </a:rPr>
              <a:t>perform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5" dirty="0">
                <a:latin typeface="Perpetua"/>
                <a:cs typeface="Perpetua"/>
              </a:rPr>
              <a:t>action or sequence of actions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least one (more) 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decision is </a:t>
            </a:r>
            <a:r>
              <a:rPr sz="2600" spc="-5" dirty="0">
                <a:latin typeface="Perpetua"/>
                <a:cs typeface="Perpetua"/>
              </a:rPr>
              <a:t>made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asking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yes/no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question.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question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5" dirty="0">
                <a:latin typeface="Perpetua"/>
                <a:cs typeface="Perpetua"/>
              </a:rPr>
              <a:t>answered </a:t>
            </a:r>
            <a:r>
              <a:rPr sz="2600" i="1" spc="-10" dirty="0">
                <a:latin typeface="Perpetua"/>
                <a:cs typeface="Perpetua"/>
              </a:rPr>
              <a:t>affirmatively</a:t>
            </a:r>
            <a:r>
              <a:rPr sz="2600" spc="-10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then the </a:t>
            </a:r>
            <a:r>
              <a:rPr sz="2600" spc="-5" dirty="0">
                <a:latin typeface="Perpetua"/>
                <a:cs typeface="Perpetua"/>
              </a:rPr>
              <a:t>actions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performed  </a:t>
            </a: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again ask </a:t>
            </a:r>
            <a:r>
              <a:rPr sz="2600" dirty="0">
                <a:latin typeface="Perpetua"/>
                <a:cs typeface="Perpetua"/>
              </a:rPr>
              <a:t>whether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15" dirty="0">
                <a:latin typeface="Perpetua"/>
                <a:cs typeface="Perpetua"/>
              </a:rPr>
              <a:t>repeat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sequence </a:t>
            </a:r>
            <a:r>
              <a:rPr sz="2600" spc="-30" dirty="0">
                <a:latin typeface="Perpetua"/>
                <a:cs typeface="Perpetua"/>
              </a:rPr>
              <a:t>at  </a:t>
            </a:r>
            <a:r>
              <a:rPr sz="2600" spc="-5" dirty="0">
                <a:latin typeface="Perpetua"/>
                <a:cs typeface="Perpetua"/>
              </a:rPr>
              <a:t>least one </a:t>
            </a:r>
            <a:r>
              <a:rPr sz="2600" spc="-10" dirty="0">
                <a:latin typeface="Perpetua"/>
                <a:cs typeface="Perpetua"/>
              </a:rPr>
              <a:t>more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2258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repeating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highlighted </a:t>
            </a:r>
            <a:r>
              <a:rPr sz="2600" spc="-20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red arrow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Figure: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structure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while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14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Syntactic </a:t>
            </a:r>
            <a:r>
              <a:rPr spc="5" dirty="0"/>
              <a:t>pattern </a:t>
            </a:r>
            <a:r>
              <a:rPr dirty="0"/>
              <a:t>of </a:t>
            </a:r>
            <a:r>
              <a:rPr i="1" spc="-20" dirty="0">
                <a:latin typeface="Perpetua"/>
                <a:cs typeface="Perpetua"/>
              </a:rPr>
              <a:t>while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5080" indent="-274320">
              <a:lnSpc>
                <a:spcPct val="1501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  <a:tab pos="884555" algn="l"/>
                <a:tab pos="2004695" algn="l"/>
                <a:tab pos="2558415" algn="l"/>
                <a:tab pos="3064510" algn="l"/>
                <a:tab pos="3928745" algn="l"/>
                <a:tab pos="4934585" algn="l"/>
                <a:tab pos="6134100" algn="l"/>
                <a:tab pos="6719570" algn="l"/>
                <a:tab pos="7482840" algn="l"/>
                <a:tab pos="7987665" algn="l"/>
              </a:tabLst>
            </a:pPr>
            <a:r>
              <a:rPr dirty="0"/>
              <a:t>The	</a:t>
            </a:r>
            <a:r>
              <a:rPr i="1" dirty="0">
                <a:latin typeface="Perpetua"/>
                <a:cs typeface="Perpetua"/>
              </a:rPr>
              <a:t>c</a:t>
            </a:r>
            <a:r>
              <a:rPr i="1" spc="-10" dirty="0">
                <a:latin typeface="Perpetua"/>
                <a:cs typeface="Perpetua"/>
              </a:rPr>
              <a:t>o</a:t>
            </a:r>
            <a:r>
              <a:rPr i="1" dirty="0">
                <a:latin typeface="Perpetua"/>
                <a:cs typeface="Perpetua"/>
              </a:rPr>
              <a:t>nd</a:t>
            </a:r>
            <a:r>
              <a:rPr i="1" spc="-10" dirty="0">
                <a:latin typeface="Perpetua"/>
                <a:cs typeface="Perpetua"/>
              </a:rPr>
              <a:t>i</a:t>
            </a:r>
            <a:r>
              <a:rPr i="1" dirty="0">
                <a:latin typeface="Perpetua"/>
                <a:cs typeface="Perpetua"/>
              </a:rPr>
              <a:t>ti</a:t>
            </a:r>
            <a:r>
              <a:rPr i="1" spc="-10" dirty="0">
                <a:latin typeface="Perpetua"/>
                <a:cs typeface="Perpetua"/>
              </a:rPr>
              <a:t>o</a:t>
            </a:r>
            <a:r>
              <a:rPr i="1" dirty="0">
                <a:latin typeface="Perpetua"/>
                <a:cs typeface="Perpetua"/>
              </a:rPr>
              <a:t>n	</a:t>
            </a:r>
            <a:r>
              <a:rPr spc="-5" dirty="0"/>
              <a:t>a</a:t>
            </a:r>
            <a:r>
              <a:rPr spc="-10" dirty="0"/>
              <a:t>n</a:t>
            </a:r>
            <a:r>
              <a:rPr dirty="0"/>
              <a:t>d	the	</a:t>
            </a:r>
            <a:r>
              <a:rPr i="1" dirty="0">
                <a:latin typeface="Perpetua"/>
                <a:cs typeface="Perpetua"/>
              </a:rPr>
              <a:t>a</a:t>
            </a:r>
            <a:r>
              <a:rPr i="1" spc="-20" dirty="0">
                <a:latin typeface="Perpetua"/>
                <a:cs typeface="Perpetua"/>
              </a:rPr>
              <a:t>c</a:t>
            </a:r>
            <a:r>
              <a:rPr i="1" dirty="0">
                <a:latin typeface="Perpetua"/>
                <a:cs typeface="Perpetua"/>
              </a:rPr>
              <a:t>ti</a:t>
            </a:r>
            <a:r>
              <a:rPr i="1" spc="-10" dirty="0">
                <a:latin typeface="Perpetua"/>
                <a:cs typeface="Perpetua"/>
              </a:rPr>
              <a:t>o</a:t>
            </a:r>
            <a:r>
              <a:rPr i="1" dirty="0">
                <a:latin typeface="Perpetua"/>
                <a:cs typeface="Perpetua"/>
              </a:rPr>
              <a:t>ns	</a:t>
            </a:r>
            <a:r>
              <a:rPr dirty="0"/>
              <a:t>c</a:t>
            </a:r>
            <a:r>
              <a:rPr spc="-15" dirty="0"/>
              <a:t>o</a:t>
            </a:r>
            <a:r>
              <a:rPr dirty="0"/>
              <a:t>ntain	ele</a:t>
            </a:r>
            <a:r>
              <a:rPr spc="-25" dirty="0"/>
              <a:t>m</a:t>
            </a:r>
            <a:r>
              <a:rPr dirty="0"/>
              <a:t>e</a:t>
            </a:r>
            <a:r>
              <a:rPr spc="-10" dirty="0"/>
              <a:t>n</a:t>
            </a:r>
            <a:r>
              <a:rPr dirty="0"/>
              <a:t>ts	th</a:t>
            </a:r>
            <a:r>
              <a:rPr spc="-30" dirty="0"/>
              <a:t>a</a:t>
            </a:r>
            <a:r>
              <a:rPr dirty="0"/>
              <a:t>t	</a:t>
            </a:r>
            <a:r>
              <a:rPr spc="-5" dirty="0"/>
              <a:t>ma</a:t>
            </a:r>
            <a:r>
              <a:rPr spc="-45" dirty="0"/>
              <a:t>k</a:t>
            </a:r>
            <a:r>
              <a:rPr dirty="0"/>
              <a:t>e	t</a:t>
            </a:r>
            <a:r>
              <a:rPr spc="-20" dirty="0"/>
              <a:t>h</a:t>
            </a:r>
            <a:r>
              <a:rPr dirty="0"/>
              <a:t>e	</a:t>
            </a:r>
            <a:r>
              <a:rPr spc="-5" dirty="0"/>
              <a:t>lo</a:t>
            </a:r>
            <a:r>
              <a:rPr spc="-15" dirty="0"/>
              <a:t>o</a:t>
            </a:r>
            <a:r>
              <a:rPr dirty="0"/>
              <a:t>p  </a:t>
            </a:r>
            <a:r>
              <a:rPr spc="-5" dirty="0"/>
              <a:t>meaningful.</a:t>
            </a:r>
          </a:p>
          <a:p>
            <a:pPr marL="288290" marR="6350" indent="-274320">
              <a:lnSpc>
                <a:spcPct val="1501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3220" algn="l"/>
                <a:tab pos="363855" algn="l"/>
                <a:tab pos="727710" algn="l"/>
                <a:tab pos="2574925" algn="l"/>
                <a:tab pos="4817110" algn="l"/>
                <a:tab pos="5216525" algn="l"/>
                <a:tab pos="6608445" algn="l"/>
                <a:tab pos="7190740" algn="l"/>
                <a:tab pos="8397875" algn="l"/>
              </a:tabLst>
            </a:pPr>
            <a:r>
              <a:rPr dirty="0"/>
              <a:t>	</a:t>
            </a:r>
            <a:r>
              <a:rPr spc="-5" dirty="0"/>
              <a:t>I</a:t>
            </a:r>
            <a:r>
              <a:rPr dirty="0"/>
              <a:t>n	p</a:t>
            </a:r>
            <a:r>
              <a:rPr spc="-10" dirty="0"/>
              <a:t>a</a:t>
            </a:r>
            <a:r>
              <a:rPr spc="95" dirty="0"/>
              <a:t>r</a:t>
            </a:r>
            <a:r>
              <a:rPr dirty="0"/>
              <a:t>ti</a:t>
            </a:r>
            <a:r>
              <a:rPr spc="-15" dirty="0"/>
              <a:t>c</a:t>
            </a:r>
            <a:r>
              <a:rPr dirty="0"/>
              <a:t>ula</a:t>
            </a:r>
            <a:r>
              <a:rPr spc="-225" dirty="0"/>
              <a:t>r</a:t>
            </a:r>
            <a:r>
              <a:rPr dirty="0"/>
              <a:t>, </a:t>
            </a:r>
            <a:r>
              <a:rPr spc="-275" dirty="0"/>
              <a:t> </a:t>
            </a:r>
            <a:r>
              <a:rPr dirty="0"/>
              <a:t>the	</a:t>
            </a:r>
            <a:r>
              <a:rPr i="1" dirty="0">
                <a:latin typeface="Perpetua"/>
                <a:cs typeface="Perpetua"/>
              </a:rPr>
              <a:t>c</a:t>
            </a:r>
            <a:r>
              <a:rPr i="1" spc="-10" dirty="0">
                <a:latin typeface="Perpetua"/>
                <a:cs typeface="Perpetua"/>
              </a:rPr>
              <a:t>o</a:t>
            </a:r>
            <a:r>
              <a:rPr i="1" dirty="0">
                <a:latin typeface="Perpetua"/>
                <a:cs typeface="Perpetua"/>
              </a:rPr>
              <a:t>nd</a:t>
            </a:r>
            <a:r>
              <a:rPr i="1" spc="-10" dirty="0">
                <a:latin typeface="Perpetua"/>
                <a:cs typeface="Perpetua"/>
              </a:rPr>
              <a:t>i</a:t>
            </a:r>
            <a:r>
              <a:rPr i="1" dirty="0">
                <a:latin typeface="Perpetua"/>
                <a:cs typeface="Perpetua"/>
              </a:rPr>
              <a:t>tion </a:t>
            </a:r>
            <a:r>
              <a:rPr i="1" spc="-175" dirty="0">
                <a:latin typeface="Perpetua"/>
                <a:cs typeface="Perpetua"/>
              </a:rPr>
              <a:t> </a:t>
            </a:r>
            <a:r>
              <a:rPr spc="-30" dirty="0"/>
              <a:t>m</a:t>
            </a:r>
            <a:r>
              <a:rPr dirty="0"/>
              <a:t>ust </a:t>
            </a:r>
            <a:r>
              <a:rPr spc="-175" dirty="0"/>
              <a:t> </a:t>
            </a:r>
            <a:r>
              <a:rPr spc="-5" dirty="0"/>
              <a:t>b</a:t>
            </a:r>
            <a:r>
              <a:rPr dirty="0"/>
              <a:t>e	</a:t>
            </a:r>
            <a:r>
              <a:rPr spc="-5" dirty="0"/>
              <a:t>a</a:t>
            </a:r>
            <a:r>
              <a:rPr dirty="0"/>
              <a:t>n	e</a:t>
            </a:r>
            <a:r>
              <a:rPr spc="-10" dirty="0"/>
              <a:t>x</a:t>
            </a:r>
            <a:r>
              <a:rPr dirty="0"/>
              <a:t>p</a:t>
            </a:r>
            <a:r>
              <a:rPr spc="-30" dirty="0"/>
              <a:t>r</a:t>
            </a:r>
            <a:r>
              <a:rPr spc="-15" dirty="0"/>
              <a:t>e</a:t>
            </a:r>
            <a:r>
              <a:rPr dirty="0"/>
              <a:t>ssi</a:t>
            </a:r>
            <a:r>
              <a:rPr spc="-15" dirty="0"/>
              <a:t>o</a:t>
            </a:r>
            <a:r>
              <a:rPr dirty="0"/>
              <a:t>n	th</a:t>
            </a:r>
            <a:r>
              <a:rPr spc="-35" dirty="0"/>
              <a:t>a</a:t>
            </a:r>
            <a:r>
              <a:rPr dirty="0"/>
              <a:t>t	p</a:t>
            </a:r>
            <a:r>
              <a:rPr spc="-30" dirty="0"/>
              <a:t>r</a:t>
            </a:r>
            <a:r>
              <a:rPr dirty="0"/>
              <a:t>o</a:t>
            </a:r>
            <a:r>
              <a:rPr spc="-15" dirty="0"/>
              <a:t>d</a:t>
            </a:r>
            <a:r>
              <a:rPr dirty="0"/>
              <a:t>u</a:t>
            </a:r>
            <a:r>
              <a:rPr spc="-15" dirty="0"/>
              <a:t>c</a:t>
            </a:r>
            <a:r>
              <a:rPr dirty="0"/>
              <a:t>es	a  logical </a:t>
            </a:r>
            <a:r>
              <a:rPr spc="-15" dirty="0"/>
              <a:t>value </a:t>
            </a:r>
            <a:r>
              <a:rPr spc="-5" dirty="0"/>
              <a:t>and </a:t>
            </a:r>
            <a:r>
              <a:rPr dirty="0"/>
              <a:t>the </a:t>
            </a:r>
            <a:r>
              <a:rPr i="1" spc="-5" dirty="0">
                <a:latin typeface="Perpetua"/>
                <a:cs typeface="Perpetua"/>
              </a:rPr>
              <a:t>actions </a:t>
            </a:r>
            <a:r>
              <a:rPr dirty="0"/>
              <a:t>is a </a:t>
            </a:r>
            <a:r>
              <a:rPr spc="-5" dirty="0"/>
              <a:t>meaningful sequence of</a:t>
            </a:r>
            <a:r>
              <a:rPr spc="65" dirty="0"/>
              <a:t> </a:t>
            </a:r>
            <a:r>
              <a:rPr spc="-10" dirty="0"/>
              <a:t>actions.</a:t>
            </a:r>
          </a:p>
          <a:p>
            <a:pPr marL="288925" indent="-274320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dirty="0"/>
              <a:t>The </a:t>
            </a:r>
            <a:r>
              <a:rPr spc="-5" dirty="0"/>
              <a:t>sequence of actions of </a:t>
            </a:r>
            <a:r>
              <a:rPr dirty="0"/>
              <a:t>a </a:t>
            </a:r>
            <a:r>
              <a:rPr spc="-5" dirty="0"/>
              <a:t>loop </a:t>
            </a:r>
            <a:r>
              <a:rPr dirty="0"/>
              <a:t>is </a:t>
            </a:r>
            <a:r>
              <a:rPr spc="-5" dirty="0"/>
              <a:t>often </a:t>
            </a:r>
            <a:r>
              <a:rPr dirty="0"/>
              <a:t>referred </a:t>
            </a:r>
            <a:r>
              <a:rPr spc="-5" dirty="0"/>
              <a:t>to as </a:t>
            </a:r>
            <a:r>
              <a:rPr dirty="0"/>
              <a:t>the </a:t>
            </a:r>
            <a:r>
              <a:rPr i="1" spc="-5" dirty="0">
                <a:latin typeface="Perpetua"/>
                <a:cs typeface="Perpetua"/>
              </a:rPr>
              <a:t>loop </a:t>
            </a:r>
            <a:r>
              <a:rPr i="1" spc="-10" dirty="0">
                <a:latin typeface="Perpetua"/>
                <a:cs typeface="Perpetua"/>
              </a:rPr>
              <a:t>body</a:t>
            </a:r>
            <a:r>
              <a:rPr spc="-10" dirty="0"/>
              <a:t>.</a:t>
            </a:r>
          </a:p>
          <a:p>
            <a:pPr marL="288290" marR="6350" indent="-274320">
              <a:lnSpc>
                <a:spcPct val="15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dirty="0"/>
              <a:t>The </a:t>
            </a:r>
            <a:r>
              <a:rPr spc="-5" dirty="0"/>
              <a:t>condition controls </a:t>
            </a:r>
            <a:r>
              <a:rPr spc="-25" dirty="0"/>
              <a:t>how </a:t>
            </a:r>
            <a:r>
              <a:rPr spc="-20" dirty="0"/>
              <a:t>many </a:t>
            </a:r>
            <a:r>
              <a:rPr dirty="0"/>
              <a:t>times the </a:t>
            </a:r>
            <a:r>
              <a:rPr spc="-5" dirty="0"/>
              <a:t>loop </a:t>
            </a:r>
            <a:r>
              <a:rPr spc="-15" dirty="0"/>
              <a:t>body </a:t>
            </a:r>
            <a:r>
              <a:rPr spc="-5" dirty="0"/>
              <a:t>actions </a:t>
            </a:r>
            <a:r>
              <a:rPr dirty="0"/>
              <a:t>will  be</a:t>
            </a:r>
            <a:r>
              <a:rPr spc="-15" dirty="0"/>
              <a:t> </a:t>
            </a:r>
            <a:r>
              <a:rPr spc="-10" dirty="0"/>
              <a:t>executed.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2903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10" dirty="0"/>
              <a:t>Grill </a:t>
            </a:r>
            <a:r>
              <a:rPr spc="-5" dirty="0"/>
              <a:t>a</a:t>
            </a:r>
            <a:r>
              <a:rPr spc="-114" dirty="0"/>
              <a:t> </a:t>
            </a:r>
            <a:r>
              <a:rPr spc="-5" dirty="0"/>
              <a:t>steak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2830"/>
            <a:ext cx="8477250" cy="3079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63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might </a:t>
            </a:r>
            <a:r>
              <a:rPr sz="2600" spc="5" dirty="0">
                <a:latin typeface="Perpetua"/>
                <a:cs typeface="Perpetua"/>
              </a:rPr>
              <a:t>describe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spc="-5" dirty="0">
                <a:latin typeface="Perpetua"/>
                <a:cs typeface="Perpetua"/>
              </a:rPr>
              <a:t>sequence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actions </a:t>
            </a:r>
            <a:r>
              <a:rPr sz="2600" dirty="0">
                <a:latin typeface="Perpetua"/>
                <a:cs typeface="Perpetua"/>
              </a:rPr>
              <a:t>with a phrase  similar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dirty="0"/>
              <a:t>	</a:t>
            </a:r>
            <a:r>
              <a:rPr sz="2600" spc="-10" dirty="0">
                <a:latin typeface="Perpetua"/>
                <a:cs typeface="Perpetua"/>
              </a:rPr>
              <a:t>“</a:t>
            </a:r>
            <a:r>
              <a:rPr sz="2600" i="1" spc="-10" dirty="0">
                <a:latin typeface="Perpetua"/>
                <a:cs typeface="Perpetua"/>
              </a:rPr>
              <a:t>while </a:t>
            </a:r>
            <a:r>
              <a:rPr sz="2600" i="1" spc="-5" dirty="0">
                <a:latin typeface="Perpetua"/>
                <a:cs typeface="Perpetua"/>
              </a:rPr>
              <a:t>the steak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10" dirty="0">
                <a:latin typeface="Perpetua"/>
                <a:cs typeface="Perpetua"/>
              </a:rPr>
              <a:t>not </a:t>
            </a:r>
            <a:r>
              <a:rPr sz="2600" i="1" spc="-15" dirty="0">
                <a:latin typeface="Perpetua"/>
                <a:cs typeface="Perpetua"/>
              </a:rPr>
              <a:t>yet </a:t>
            </a:r>
            <a:r>
              <a:rPr sz="2600" i="1" spc="-5" dirty="0">
                <a:latin typeface="Perpetua"/>
                <a:cs typeface="Perpetua"/>
              </a:rPr>
              <a:t>reached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temperature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60" dirty="0">
                <a:latin typeface="Perpetua"/>
                <a:cs typeface="Perpetua"/>
              </a:rPr>
              <a:t>135°F, </a:t>
            </a:r>
            <a:r>
              <a:rPr sz="2600" i="1" spc="-5" dirty="0">
                <a:latin typeface="Perpetua"/>
                <a:cs typeface="Perpetua"/>
              </a:rPr>
              <a:t>cook </a:t>
            </a:r>
            <a:r>
              <a:rPr sz="2600" i="1" spc="-15" dirty="0">
                <a:latin typeface="Perpetua"/>
                <a:cs typeface="Perpetua"/>
              </a:rPr>
              <a:t>for</a:t>
            </a:r>
            <a:r>
              <a:rPr sz="2600" i="1" spc="-1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three  </a:t>
            </a:r>
            <a:r>
              <a:rPr sz="2600" i="1" spc="-5" dirty="0">
                <a:latin typeface="Perpetua"/>
                <a:cs typeface="Perpetua"/>
              </a:rPr>
              <a:t>minutes”.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dirty="0">
                <a:latin typeface="Perpetua"/>
                <a:cs typeface="Perpetua"/>
              </a:rPr>
              <a:t>is “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steak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5" dirty="0">
                <a:latin typeface="Perpetua"/>
                <a:cs typeface="Perpetua"/>
              </a:rPr>
              <a:t>yet </a:t>
            </a:r>
            <a:r>
              <a:rPr sz="2600" i="1" spc="-5" dirty="0">
                <a:latin typeface="Perpetua"/>
                <a:cs typeface="Perpetua"/>
              </a:rPr>
              <a:t>reached</a:t>
            </a:r>
            <a:r>
              <a:rPr sz="2600" i="1" spc="-1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135°F</a:t>
            </a:r>
            <a:r>
              <a:rPr sz="2600" spc="-5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spc="-5" dirty="0">
                <a:latin typeface="Perpetua"/>
                <a:cs typeface="Perpetua"/>
              </a:rPr>
              <a:t>action </a:t>
            </a:r>
            <a:r>
              <a:rPr sz="2600" dirty="0">
                <a:latin typeface="Perpetua"/>
                <a:cs typeface="Perpetua"/>
              </a:rPr>
              <a:t>is “</a:t>
            </a:r>
            <a:r>
              <a:rPr sz="2600" i="1" dirty="0">
                <a:latin typeface="Perpetua"/>
                <a:cs typeface="Perpetua"/>
              </a:rPr>
              <a:t>cook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three</a:t>
            </a:r>
            <a:r>
              <a:rPr sz="2600" i="1" spc="-12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minutes</a:t>
            </a:r>
            <a:r>
              <a:rPr sz="2600" spc="-30" dirty="0">
                <a:latin typeface="Perpetua"/>
                <a:cs typeface="Perpetua"/>
              </a:rPr>
              <a:t>.”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models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process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4191000"/>
            <a:ext cx="4605528" cy="2080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63034" y="5786424"/>
            <a:ext cx="3362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i="1" spc="10" dirty="0">
                <a:latin typeface="Perpetua"/>
                <a:cs typeface="Perpetua"/>
              </a:rPr>
              <a:t>Grill </a:t>
            </a:r>
            <a:r>
              <a:rPr sz="2000" i="1" dirty="0">
                <a:latin typeface="Perpetua"/>
                <a:cs typeface="Perpetua"/>
              </a:rPr>
              <a:t>a steak </a:t>
            </a:r>
            <a:r>
              <a:rPr sz="2000" spc="-5" dirty="0">
                <a:latin typeface="Perpetua"/>
                <a:cs typeface="Perpetua"/>
              </a:rPr>
              <a:t>using while</a:t>
            </a:r>
            <a:r>
              <a:rPr sz="2000" spc="-13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loop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3505200"/>
            <a:ext cx="5867400" cy="2209800"/>
          </a:xfrm>
          <a:custGeom>
            <a:avLst/>
            <a:gdLst/>
            <a:ahLst/>
            <a:cxnLst/>
            <a:rect l="l" t="t" r="r" b="b"/>
            <a:pathLst>
              <a:path w="5867400" h="2209800">
                <a:moveTo>
                  <a:pt x="0" y="2209800"/>
                </a:moveTo>
                <a:lnTo>
                  <a:pt x="5867400" y="2209800"/>
                </a:lnTo>
                <a:lnTo>
                  <a:pt x="58674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3505200"/>
            <a:ext cx="5867400" cy="2209800"/>
          </a:xfrm>
          <a:custGeom>
            <a:avLst/>
            <a:gdLst/>
            <a:ahLst/>
            <a:cxnLst/>
            <a:rect l="l" t="t" r="r" b="b"/>
            <a:pathLst>
              <a:path w="5867400" h="2209800">
                <a:moveTo>
                  <a:pt x="0" y="2209800"/>
                </a:moveTo>
                <a:lnTo>
                  <a:pt x="5867400" y="2209800"/>
                </a:lnTo>
                <a:lnTo>
                  <a:pt x="58674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Modeling the </a:t>
            </a:r>
            <a:r>
              <a:rPr spc="-10" dirty="0"/>
              <a:t>temperature </a:t>
            </a:r>
            <a:r>
              <a:rPr spc="-5" dirty="0"/>
              <a:t>of a steak as it </a:t>
            </a:r>
            <a:r>
              <a:rPr spc="-10" dirty="0"/>
              <a:t>is  </a:t>
            </a:r>
            <a:r>
              <a:rPr spc="20" dirty="0"/>
              <a:t>grilled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340" y="1433525"/>
            <a:ext cx="8305800" cy="4969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8989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Assume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placed 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i="1" spc="-15" dirty="0">
                <a:latin typeface="Perpetua"/>
                <a:cs typeface="Perpetua"/>
              </a:rPr>
              <a:t>at </a:t>
            </a:r>
            <a:r>
              <a:rPr sz="2600" i="1" dirty="0">
                <a:latin typeface="Perpetua"/>
                <a:cs typeface="Perpetua"/>
              </a:rPr>
              <a:t>a room </a:t>
            </a:r>
            <a:r>
              <a:rPr sz="2600" i="1" spc="-15" dirty="0">
                <a:latin typeface="Perpetua"/>
                <a:cs typeface="Perpetua"/>
              </a:rPr>
              <a:t>temperature </a:t>
            </a:r>
            <a:r>
              <a:rPr sz="2600" i="1" spc="5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75° and </a:t>
            </a:r>
            <a:r>
              <a:rPr sz="2600" spc="-15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every three </a:t>
            </a:r>
            <a:r>
              <a:rPr sz="2600" i="1" spc="-5" dirty="0">
                <a:latin typeface="Perpetua"/>
                <a:cs typeface="Perpetua"/>
              </a:rPr>
              <a:t>minutes </a:t>
            </a:r>
            <a:r>
              <a:rPr sz="2600" dirty="0">
                <a:latin typeface="Perpetua"/>
                <a:cs typeface="Perpetua"/>
              </a:rPr>
              <a:t>the steak </a:t>
            </a:r>
            <a:r>
              <a:rPr sz="2600" spc="-10" dirty="0">
                <a:latin typeface="Perpetua"/>
                <a:cs typeface="Perpetua"/>
              </a:rPr>
              <a:t>remains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temperature </a:t>
            </a:r>
            <a:r>
              <a:rPr sz="2600" i="1" spc="-5" dirty="0">
                <a:latin typeface="Perpetua"/>
                <a:cs typeface="Perpetua"/>
              </a:rPr>
              <a:t>increases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13°.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An algorithm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same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963930" lvl="1" indent="-356870">
              <a:lnSpc>
                <a:spcPct val="100000"/>
              </a:lnSpc>
              <a:buAutoNum type="arabicPeriod"/>
              <a:tabLst>
                <a:tab pos="963930" algn="l"/>
                <a:tab pos="3451225" algn="l"/>
              </a:tabLst>
            </a:pPr>
            <a:r>
              <a:rPr sz="3000" spc="-50" dirty="0">
                <a:latin typeface="Perpetua"/>
                <a:cs typeface="Perpetua"/>
              </a:rPr>
              <a:t>steakTemp	</a:t>
            </a:r>
            <a:r>
              <a:rPr sz="3000" spc="5" dirty="0">
                <a:latin typeface="Perpetua"/>
                <a:cs typeface="Perpetua"/>
              </a:rPr>
              <a:t>75</a:t>
            </a:r>
            <a:endParaRPr sz="3000">
              <a:latin typeface="Perpetua"/>
              <a:cs typeface="Perpetua"/>
            </a:endParaRPr>
          </a:p>
          <a:p>
            <a:pPr marL="963930" lvl="1" indent="-35687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963930" algn="l"/>
              </a:tabLst>
            </a:pPr>
            <a:r>
              <a:rPr sz="3000" spc="-5" dirty="0">
                <a:latin typeface="Perpetua"/>
                <a:cs typeface="Perpetua"/>
              </a:rPr>
              <a:t>while </a:t>
            </a:r>
            <a:r>
              <a:rPr sz="3000" spc="-50" dirty="0">
                <a:latin typeface="Perpetua"/>
                <a:cs typeface="Perpetua"/>
              </a:rPr>
              <a:t>steakTemp </a:t>
            </a:r>
            <a:r>
              <a:rPr sz="3000" dirty="0">
                <a:latin typeface="Perpetua"/>
                <a:cs typeface="Perpetua"/>
              </a:rPr>
              <a:t>&lt; 135</a:t>
            </a:r>
            <a:r>
              <a:rPr sz="3000" spc="25" dirty="0">
                <a:latin typeface="Perpetua"/>
                <a:cs typeface="Perpetua"/>
              </a:rPr>
              <a:t> </a:t>
            </a:r>
            <a:r>
              <a:rPr sz="3000" spc="5" dirty="0">
                <a:latin typeface="Perpetua"/>
                <a:cs typeface="Perpetua"/>
              </a:rPr>
              <a:t>do</a:t>
            </a:r>
            <a:endParaRPr sz="3000">
              <a:latin typeface="Perpetua"/>
              <a:cs typeface="Perpetua"/>
            </a:endParaRPr>
          </a:p>
          <a:p>
            <a:pPr marL="1219835" lvl="1" indent="-61341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219835" algn="l"/>
                <a:tab pos="1220470" algn="l"/>
                <a:tab pos="3622040" algn="l"/>
              </a:tabLst>
            </a:pPr>
            <a:r>
              <a:rPr sz="3000" spc="-50" dirty="0">
                <a:latin typeface="Perpetua"/>
                <a:cs typeface="Perpetua"/>
              </a:rPr>
              <a:t>steakTemp	steakTemp </a:t>
            </a:r>
            <a:r>
              <a:rPr sz="3000" dirty="0">
                <a:latin typeface="Perpetua"/>
                <a:cs typeface="Perpetua"/>
              </a:rPr>
              <a:t>+</a:t>
            </a:r>
            <a:r>
              <a:rPr sz="3000" spc="50" dirty="0">
                <a:latin typeface="Perpetua"/>
                <a:cs typeface="Perpetua"/>
              </a:rPr>
              <a:t> </a:t>
            </a:r>
            <a:r>
              <a:rPr sz="3000" spc="5" dirty="0">
                <a:latin typeface="Perpetua"/>
                <a:cs typeface="Perpetua"/>
              </a:rPr>
              <a:t>13</a:t>
            </a:r>
            <a:endParaRPr sz="3000">
              <a:latin typeface="Perpetua"/>
              <a:cs typeface="Perpetua"/>
            </a:endParaRPr>
          </a:p>
          <a:p>
            <a:pPr marL="963930" lvl="1" indent="-35687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963930" algn="l"/>
              </a:tabLst>
            </a:pPr>
            <a:r>
              <a:rPr sz="3000" spc="-10" dirty="0">
                <a:latin typeface="Perpetua"/>
                <a:cs typeface="Perpetua"/>
              </a:rPr>
              <a:t>endwhile</a:t>
            </a:r>
            <a:endParaRPr sz="30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Perpetua"/>
              <a:buAutoNum type="arabicPeriod"/>
            </a:pPr>
            <a:endParaRPr sz="2850">
              <a:latin typeface="Times New Roman"/>
              <a:cs typeface="Times New Roman"/>
            </a:endParaRPr>
          </a:p>
          <a:p>
            <a:pPr marL="240665" marR="5080" lvl="2" indent="-240665" algn="r">
              <a:lnSpc>
                <a:spcPct val="100000"/>
              </a:lnSpc>
              <a:buSzPct val="95833"/>
              <a:buFont typeface="Wingdings"/>
              <a:buChar char=""/>
              <a:tabLst>
                <a:tab pos="24066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</a:t>
            </a:r>
            <a:r>
              <a:rPr sz="2400" i="1" spc="-4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observe?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72561" y="38483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6" y="77724"/>
                </a:lnTo>
                <a:lnTo>
                  <a:pt x="77681" y="51857"/>
                </a:lnTo>
                <a:lnTo>
                  <a:pt x="64769" y="51816"/>
                </a:lnTo>
                <a:lnTo>
                  <a:pt x="64769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69" y="25908"/>
                </a:moveTo>
                <a:lnTo>
                  <a:pt x="64769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69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69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1161" y="48389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35102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do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you</a:t>
            </a:r>
            <a:r>
              <a:rPr i="1" spc="-7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observe?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977613"/>
            <a:ext cx="7693025" cy="53911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5" dirty="0">
                <a:latin typeface="Perpetua"/>
                <a:cs typeface="Perpetua"/>
              </a:rPr>
              <a:t>line binds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75 to </a:t>
            </a:r>
            <a:r>
              <a:rPr sz="2600" dirty="0">
                <a:latin typeface="Perpetua"/>
                <a:cs typeface="Perpetua"/>
              </a:rPr>
              <a:t>the name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steakTemp</a:t>
            </a:r>
            <a:r>
              <a:rPr sz="2600" spc="-35" dirty="0">
                <a:latin typeface="Perpetua"/>
                <a:cs typeface="Perpetua"/>
              </a:rPr>
              <a:t>;</a:t>
            </a:r>
            <a:endParaRPr sz="2600">
              <a:latin typeface="Perpetua"/>
              <a:cs typeface="Perpetua"/>
            </a:endParaRPr>
          </a:p>
          <a:p>
            <a:pPr marL="286385" marR="76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598805" algn="l"/>
                <a:tab pos="909955" algn="l"/>
                <a:tab pos="1162685" algn="l"/>
                <a:tab pos="2223770" algn="l"/>
                <a:tab pos="2809240" algn="l"/>
                <a:tab pos="3798570" algn="l"/>
                <a:tab pos="4304665" algn="l"/>
                <a:tab pos="5325745" algn="l"/>
                <a:tab pos="6933565" algn="l"/>
                <a:tab pos="7301230" algn="l"/>
              </a:tabLst>
            </a:pPr>
            <a:r>
              <a:rPr sz="2600" spc="-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	is	a	</a:t>
            </a:r>
            <a:r>
              <a:rPr sz="2600" spc="-4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10" dirty="0">
                <a:latin typeface="Perpetua"/>
                <a:cs typeface="Perpetua"/>
              </a:rPr>
              <a:t>a</a:t>
            </a:r>
            <a:r>
              <a:rPr sz="2600" spc="-4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e	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model</a:t>
            </a:r>
            <a:r>
              <a:rPr sz="2600" dirty="0">
                <a:latin typeface="Perpetua"/>
                <a:cs typeface="Perpetua"/>
              </a:rPr>
              <a:t>s	the	c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tem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er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the  </a:t>
            </a:r>
            <a:r>
              <a:rPr sz="2600" spc="-5" dirty="0">
                <a:latin typeface="Perpetua"/>
                <a:cs typeface="Perpetua"/>
              </a:rPr>
              <a:t>steak.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Of course, </a:t>
            </a:r>
            <a:r>
              <a:rPr sz="2600" dirty="0">
                <a:latin typeface="Perpetua"/>
                <a:cs typeface="Perpetua"/>
              </a:rPr>
              <a:t>the current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steak will </a:t>
            </a:r>
            <a:r>
              <a:rPr sz="2600" spc="-5" dirty="0">
                <a:latin typeface="Perpetua"/>
                <a:cs typeface="Perpetua"/>
              </a:rPr>
              <a:t>increase 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5" dirty="0">
                <a:latin typeface="Perpetua"/>
                <a:cs typeface="Perpetua"/>
              </a:rPr>
              <a:t>amount of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remains on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grill.</a:t>
            </a:r>
            <a:endParaRPr sz="2600">
              <a:latin typeface="Perpetua"/>
              <a:cs typeface="Perpetua"/>
            </a:endParaRPr>
          </a:p>
          <a:p>
            <a:pPr marL="321945" marR="1873885" indent="-321945">
              <a:lnSpc>
                <a:spcPct val="119200"/>
              </a:lnSpc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controlled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logical </a:t>
            </a:r>
            <a:r>
              <a:rPr sz="2600" spc="-5" dirty="0">
                <a:latin typeface="Perpetua"/>
                <a:cs typeface="Perpetua"/>
              </a:rPr>
              <a:t>condition  </a:t>
            </a:r>
            <a:r>
              <a:rPr sz="2600" spc="-35" dirty="0">
                <a:latin typeface="Perpetua"/>
                <a:cs typeface="Perpetua"/>
              </a:rPr>
              <a:t>“</a:t>
            </a:r>
            <a:r>
              <a:rPr sz="2600" i="1" spc="-35" dirty="0">
                <a:latin typeface="Perpetua"/>
                <a:cs typeface="Perpetua"/>
              </a:rPr>
              <a:t>steakTemp </a:t>
            </a:r>
            <a:r>
              <a:rPr sz="2600" i="1" dirty="0">
                <a:latin typeface="Perpetua"/>
                <a:cs typeface="Perpetua"/>
              </a:rPr>
              <a:t>&lt;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135</a:t>
            </a:r>
            <a:r>
              <a:rPr sz="2600" spc="-5" dirty="0">
                <a:latin typeface="Perpetua"/>
                <a:cs typeface="Perpetua"/>
              </a:rPr>
              <a:t>”</a:t>
            </a:r>
            <a:endParaRPr sz="2600">
              <a:latin typeface="Perpetua"/>
              <a:cs typeface="Perpetua"/>
            </a:endParaRPr>
          </a:p>
          <a:p>
            <a:pPr marL="286385" marR="3239135" indent="-286385">
              <a:lnSpc>
                <a:spcPts val="3790"/>
              </a:lnSpc>
              <a:spcBef>
                <a:spcPts val="17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spc="-5" dirty="0">
                <a:latin typeface="Perpetua"/>
                <a:cs typeface="Perpetua"/>
              </a:rPr>
              <a:t>action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expressed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as  </a:t>
            </a:r>
            <a:r>
              <a:rPr sz="2600" spc="-35" dirty="0">
                <a:latin typeface="Perpetua"/>
                <a:cs typeface="Perpetua"/>
              </a:rPr>
              <a:t>“</a:t>
            </a:r>
            <a:r>
              <a:rPr sz="2600" i="1" spc="-35" dirty="0">
                <a:latin typeface="Perpetua"/>
                <a:cs typeface="Perpetua"/>
              </a:rPr>
              <a:t>steakTemp </a:t>
            </a:r>
            <a:r>
              <a:rPr sz="2600" i="1" dirty="0">
                <a:latin typeface="Times New Roman"/>
                <a:cs typeface="Times New Roman"/>
              </a:rPr>
              <a:t>← </a:t>
            </a:r>
            <a:r>
              <a:rPr sz="2600" i="1" spc="-40" dirty="0">
                <a:latin typeface="Perpetua"/>
                <a:cs typeface="Perpetua"/>
              </a:rPr>
              <a:t>steakTemp </a:t>
            </a:r>
            <a:r>
              <a:rPr sz="2600" i="1" dirty="0">
                <a:latin typeface="Perpetua"/>
                <a:cs typeface="Perpetua"/>
              </a:rPr>
              <a:t>+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13</a:t>
            </a:r>
            <a:r>
              <a:rPr sz="2600" spc="-5" dirty="0">
                <a:latin typeface="Perpetua"/>
                <a:cs typeface="Perpetua"/>
              </a:rPr>
              <a:t>”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295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other </a:t>
            </a:r>
            <a:r>
              <a:rPr sz="2600" spc="-15" dirty="0">
                <a:latin typeface="Perpetua"/>
                <a:cs typeface="Perpetua"/>
              </a:rPr>
              <a:t>words,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5" dirty="0">
                <a:latin typeface="Perpetua"/>
                <a:cs typeface="Perpetua"/>
              </a:rPr>
              <a:t>increases </a:t>
            </a:r>
            <a:r>
              <a:rPr sz="2600" dirty="0">
                <a:latin typeface="Perpetua"/>
                <a:cs typeface="Perpetua"/>
              </a:rPr>
              <a:t>the steak 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increments </a:t>
            </a:r>
            <a:r>
              <a:rPr sz="2600" spc="-5" dirty="0">
                <a:latin typeface="Perpetua"/>
                <a:cs typeface="Perpetua"/>
              </a:rPr>
              <a:t>of 13 </a:t>
            </a:r>
            <a:r>
              <a:rPr sz="2600" dirty="0">
                <a:latin typeface="Perpetua"/>
                <a:cs typeface="Perpetua"/>
              </a:rPr>
              <a:t>degrees </a:t>
            </a:r>
            <a:r>
              <a:rPr sz="2600" spc="-5" dirty="0">
                <a:latin typeface="Perpetua"/>
                <a:cs typeface="Perpetua"/>
              </a:rPr>
              <a:t>until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minimum  desired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attained.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29286"/>
            <a:ext cx="3726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Computational</a:t>
            </a:r>
            <a:r>
              <a:rPr spc="-60" dirty="0"/>
              <a:t> </a:t>
            </a:r>
            <a:r>
              <a:rPr spc="-10" dirty="0"/>
              <a:t>state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8534400" cy="541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44954" y="6182055"/>
            <a:ext cx="49396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spc="-5" dirty="0">
                <a:latin typeface="Perpetua"/>
                <a:cs typeface="Perpetua"/>
              </a:rPr>
              <a:t>computational state of </a:t>
            </a:r>
            <a:r>
              <a:rPr sz="2000" i="1" spc="-5" dirty="0">
                <a:latin typeface="Perpetua"/>
                <a:cs typeface="Perpetua"/>
              </a:rPr>
              <a:t>steak </a:t>
            </a:r>
            <a:r>
              <a:rPr sz="2000" i="1" spc="10" dirty="0">
                <a:latin typeface="Perpetua"/>
                <a:cs typeface="Perpetua"/>
              </a:rPr>
              <a:t>grill</a:t>
            </a:r>
            <a:r>
              <a:rPr sz="2000" i="1" spc="-320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algorithm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0" y="838200"/>
            <a:ext cx="1719494" cy="1170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20" dirty="0"/>
              <a:t>Further </a:t>
            </a:r>
            <a:r>
              <a:rPr spc="-5" dirty="0"/>
              <a:t>insight into the meaning of a while  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433525"/>
            <a:ext cx="8542655" cy="5045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87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figure gives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of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action the </a:t>
            </a: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spc="-10" dirty="0">
                <a:latin typeface="Perpetua"/>
                <a:cs typeface="Perpetua"/>
              </a:rPr>
              <a:t>takes </a:t>
            </a:r>
            <a:r>
              <a:rPr sz="2600" dirty="0">
                <a:latin typeface="Perpetua"/>
                <a:cs typeface="Perpetua"/>
              </a:rPr>
              <a:t>when  </a:t>
            </a:r>
            <a:r>
              <a:rPr sz="2600" spc="-10" dirty="0">
                <a:latin typeface="Perpetua"/>
                <a:cs typeface="Perpetua"/>
              </a:rPr>
              <a:t>executing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and also </a:t>
            </a:r>
            <a:r>
              <a:rPr sz="2600" spc="-20" dirty="0">
                <a:latin typeface="Perpetua"/>
                <a:cs typeface="Perpetua"/>
              </a:rPr>
              <a:t>shows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computational </a:t>
            </a:r>
            <a:r>
              <a:rPr sz="2600" spc="-5" dirty="0">
                <a:latin typeface="Perpetua"/>
                <a:cs typeface="Perpetua"/>
              </a:rPr>
              <a:t>state that  results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individual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is initialized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75.</a:t>
            </a:r>
            <a:endParaRPr sz="2600">
              <a:latin typeface="Perpetua"/>
              <a:cs typeface="Perpetua"/>
            </a:endParaRPr>
          </a:p>
          <a:p>
            <a:pPr marL="286385" marR="177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dirty="0">
                <a:latin typeface="Perpetua"/>
                <a:cs typeface="Perpetua"/>
              </a:rPr>
              <a:t>this initial </a:t>
            </a:r>
            <a:r>
              <a:rPr sz="2600" spc="-5" dirty="0">
                <a:latin typeface="Perpetua"/>
                <a:cs typeface="Perpetua"/>
              </a:rPr>
              <a:t>action,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dirty="0">
                <a:latin typeface="Perpetua"/>
                <a:cs typeface="Perpetua"/>
              </a:rPr>
              <a:t>decides </a:t>
            </a:r>
            <a:r>
              <a:rPr sz="2600" spc="-5" dirty="0">
                <a:latin typeface="Perpetua"/>
                <a:cs typeface="Perpetua"/>
              </a:rPr>
              <a:t>whether to  </a:t>
            </a:r>
            <a:r>
              <a:rPr sz="2600" spc="-30" dirty="0">
                <a:latin typeface="Perpetua"/>
                <a:cs typeface="Perpetua"/>
              </a:rPr>
              <a:t>leave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20" dirty="0">
                <a:latin typeface="Perpetua"/>
                <a:cs typeface="Perpetua"/>
              </a:rPr>
              <a:t>grill </a:t>
            </a:r>
            <a:r>
              <a:rPr sz="2600" spc="-5" dirty="0">
                <a:latin typeface="Perpetua"/>
                <a:cs typeface="Perpetua"/>
              </a:rPr>
              <a:t>for three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minutes </a:t>
            </a:r>
            <a:r>
              <a:rPr sz="2600" dirty="0">
                <a:latin typeface="Perpetua"/>
                <a:cs typeface="Perpetua"/>
              </a:rPr>
              <a:t>(the </a:t>
            </a:r>
            <a:r>
              <a:rPr sz="2600" spc="-10" dirty="0">
                <a:latin typeface="Perpetua"/>
                <a:cs typeface="Perpetua"/>
              </a:rPr>
              <a:t>result </a:t>
            </a:r>
            <a:r>
              <a:rPr sz="2600" dirty="0">
                <a:latin typeface="Perpetua"/>
                <a:cs typeface="Perpetua"/>
              </a:rPr>
              <a:t>being  </a:t>
            </a:r>
            <a:r>
              <a:rPr sz="2600" spc="-5" dirty="0">
                <a:latin typeface="Perpetua"/>
                <a:cs typeface="Perpetua"/>
              </a:rPr>
              <a:t>to increase </a:t>
            </a:r>
            <a:r>
              <a:rPr sz="2600" dirty="0">
                <a:latin typeface="Perpetua"/>
                <a:cs typeface="Perpetua"/>
              </a:rPr>
              <a:t>the steak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0" dirty="0">
                <a:latin typeface="Perpetua"/>
                <a:cs typeface="Perpetua"/>
              </a:rPr>
              <a:t>precisely </a:t>
            </a:r>
            <a:r>
              <a:rPr sz="2600" spc="-5" dirty="0">
                <a:latin typeface="Perpetua"/>
                <a:cs typeface="Perpetua"/>
              </a:rPr>
              <a:t>13</a:t>
            </a:r>
            <a:r>
              <a:rPr sz="2600" dirty="0">
                <a:latin typeface="Perpetua"/>
                <a:cs typeface="Perpetua"/>
              </a:rPr>
              <a:t> degrees).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Since, at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point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time, </a:t>
            </a:r>
            <a:r>
              <a:rPr sz="2600" dirty="0">
                <a:latin typeface="Perpetua"/>
                <a:cs typeface="Perpetua"/>
              </a:rPr>
              <a:t>the steak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less </a:t>
            </a:r>
            <a:r>
              <a:rPr sz="2600" dirty="0">
                <a:latin typeface="Perpetua"/>
                <a:cs typeface="Perpetua"/>
              </a:rPr>
              <a:t>than 135,  the algorithm </a:t>
            </a:r>
            <a:r>
              <a:rPr sz="2600" spc="-5" dirty="0">
                <a:latin typeface="Perpetua"/>
                <a:cs typeface="Perpetua"/>
              </a:rPr>
              <a:t>decides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spc="-5" dirty="0">
                <a:latin typeface="Perpetua"/>
                <a:cs typeface="Perpetua"/>
              </a:rPr>
              <a:t>for three </a:t>
            </a:r>
            <a:r>
              <a:rPr sz="2600" spc="-15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minutes; and </a:t>
            </a:r>
            <a:r>
              <a:rPr sz="2600" dirty="0">
                <a:latin typeface="Perpetua"/>
                <a:cs typeface="Perpetua"/>
              </a:rPr>
              <a:t>thus the  steak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changes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5" dirty="0">
                <a:latin typeface="Perpetua"/>
                <a:cs typeface="Perpetua"/>
              </a:rPr>
              <a:t>75 to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88.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40665" marR="290195" lvl="1" indent="-240665" algn="r">
              <a:lnSpc>
                <a:spcPct val="100000"/>
              </a:lnSpc>
              <a:buSzPct val="95833"/>
              <a:buFont typeface="Wingdings"/>
              <a:buChar char=""/>
              <a:tabLst>
                <a:tab pos="240665" algn="l"/>
              </a:tabLst>
            </a:pP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spc="-10" dirty="0">
                <a:latin typeface="Perpetua"/>
                <a:cs typeface="Perpetua"/>
              </a:rPr>
              <a:t>more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insight?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433525"/>
            <a:ext cx="7693025" cy="461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spc="-15" dirty="0">
                <a:latin typeface="Perpetua"/>
                <a:cs typeface="Perpetua"/>
              </a:rPr>
              <a:t>several </a:t>
            </a:r>
            <a:r>
              <a:rPr sz="2600" dirty="0">
                <a:latin typeface="Perpetua"/>
                <a:cs typeface="Perpetua"/>
              </a:rPr>
              <a:t>times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process,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 </a:t>
            </a:r>
            <a:r>
              <a:rPr sz="2600" spc="-10" dirty="0">
                <a:latin typeface="Perpetua"/>
                <a:cs typeface="Perpetua"/>
              </a:rPr>
              <a:t>temperature finally </a:t>
            </a:r>
            <a:r>
              <a:rPr sz="2600" spc="-5" dirty="0">
                <a:latin typeface="Perpetua"/>
                <a:cs typeface="Perpetua"/>
              </a:rPr>
              <a:t>increases 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temperature 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less  </a:t>
            </a:r>
            <a:r>
              <a:rPr sz="2600" dirty="0">
                <a:latin typeface="Perpetua"/>
                <a:cs typeface="Perpetua"/>
              </a:rPr>
              <a:t>than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135.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that case,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decides </a:t>
            </a:r>
            <a:r>
              <a:rPr sz="2600" spc="-1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should not be  </a:t>
            </a:r>
            <a:r>
              <a:rPr sz="2600" spc="10" dirty="0">
                <a:latin typeface="Perpetua"/>
                <a:cs typeface="Perpetua"/>
              </a:rPr>
              <a:t>grilled </a:t>
            </a:r>
            <a:r>
              <a:rPr sz="2600" spc="-5" dirty="0">
                <a:latin typeface="Perpetua"/>
                <a:cs typeface="Perpetua"/>
              </a:rPr>
              <a:t>for another three minutes 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terminates.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10" dirty="0">
                <a:latin typeface="Perpetua"/>
                <a:cs typeface="Perpetua"/>
              </a:rPr>
              <a:t>grilling  </a:t>
            </a:r>
            <a:r>
              <a:rPr sz="2600" dirty="0">
                <a:latin typeface="Perpetua"/>
                <a:cs typeface="Perpetua"/>
              </a:rPr>
              <a:t>a steak </a:t>
            </a:r>
            <a:r>
              <a:rPr sz="2600" spc="-5" dirty="0">
                <a:latin typeface="Perpetua"/>
                <a:cs typeface="Perpetua"/>
              </a:rPr>
              <a:t>computes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final 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steak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conclusion of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grilling.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final temperature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not be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dirty="0">
                <a:latin typeface="Perpetua"/>
                <a:cs typeface="Perpetua"/>
              </a:rPr>
              <a:t>135 </a:t>
            </a:r>
            <a:r>
              <a:rPr sz="2600" spc="-10" dirty="0">
                <a:latin typeface="Perpetua"/>
                <a:cs typeface="Perpetua"/>
              </a:rPr>
              <a:t>but,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example illustrates, </a:t>
            </a:r>
            <a:r>
              <a:rPr sz="2600" spc="-30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higher </a:t>
            </a:r>
            <a:r>
              <a:rPr sz="2600" spc="-5" dirty="0">
                <a:latin typeface="Perpetua"/>
                <a:cs typeface="Perpetua"/>
              </a:rPr>
              <a:t>than 135 depending upon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amount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10" dirty="0">
                <a:latin typeface="Perpetua"/>
                <a:cs typeface="Perpetua"/>
              </a:rPr>
              <a:t>rises </a:t>
            </a:r>
            <a:r>
              <a:rPr sz="2600" dirty="0">
                <a:latin typeface="Perpetua"/>
                <a:cs typeface="Perpetua"/>
              </a:rPr>
              <a:t>within a </a:t>
            </a:r>
            <a:r>
              <a:rPr sz="2600" spc="-5" dirty="0">
                <a:latin typeface="Perpetua"/>
                <a:cs typeface="Perpetua"/>
              </a:rPr>
              <a:t>three-minute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span.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510286"/>
            <a:ext cx="2879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Insight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contd</a:t>
            </a:r>
            <a:r>
              <a:rPr spc="-5" dirty="0">
                <a:solidFill>
                  <a:srgbClr val="FF0000"/>
                </a:solidFill>
              </a:rPr>
              <a:t>----</a:t>
            </a:r>
          </a:p>
        </p:txBody>
      </p:sp>
      <p:sp>
        <p:nvSpPr>
          <p:cNvPr id="4" name="object 4"/>
          <p:cNvSpPr/>
          <p:nvPr/>
        </p:nvSpPr>
        <p:spPr>
          <a:xfrm>
            <a:off x="3505200" y="228600"/>
            <a:ext cx="2133600" cy="1310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645248"/>
            <a:ext cx="6823075" cy="1367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List</a:t>
            </a:r>
            <a:r>
              <a:rPr sz="2600" spc="-5" dirty="0">
                <a:latin typeface="Perpetua"/>
                <a:cs typeface="Perpetua"/>
              </a:rPr>
              <a:t> action(s).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Indicate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computational state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follows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spc="5" dirty="0">
                <a:latin typeface="Perpetua"/>
                <a:cs typeface="Perpetua"/>
              </a:rPr>
              <a:t>each  </a:t>
            </a:r>
            <a:r>
              <a:rPr sz="2600" spc="-5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66902"/>
            <a:ext cx="6833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10" dirty="0">
                <a:latin typeface="Perpetua"/>
                <a:cs typeface="Perpetua"/>
              </a:rPr>
              <a:t>Indicate </a:t>
            </a:r>
            <a:r>
              <a:rPr sz="2800" i="1" spc="-5" dirty="0">
                <a:latin typeface="Perpetua"/>
                <a:cs typeface="Perpetua"/>
              </a:rPr>
              <a:t>the computational </a:t>
            </a:r>
            <a:r>
              <a:rPr sz="2800" i="1" spc="-10" dirty="0">
                <a:latin typeface="Perpetua"/>
                <a:cs typeface="Perpetua"/>
              </a:rPr>
              <a:t>state </a:t>
            </a:r>
            <a:r>
              <a:rPr sz="2800" i="1" spc="-20" dirty="0">
                <a:latin typeface="Perpetua"/>
                <a:cs typeface="Perpetua"/>
              </a:rPr>
              <a:t>for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20" dirty="0">
                <a:latin typeface="Perpetua"/>
                <a:cs typeface="Perpetua"/>
              </a:rPr>
              <a:t>flow </a:t>
            </a:r>
            <a:r>
              <a:rPr sz="2800" i="1" spc="10" dirty="0">
                <a:latin typeface="Perpetua"/>
                <a:cs typeface="Perpetua"/>
              </a:rPr>
              <a:t>chart</a:t>
            </a:r>
            <a:r>
              <a:rPr sz="2800" i="1" spc="130" dirty="0">
                <a:latin typeface="Perpetua"/>
                <a:cs typeface="Perpetua"/>
              </a:rPr>
              <a:t> </a:t>
            </a:r>
            <a:r>
              <a:rPr sz="2800" i="1" spc="-15" dirty="0">
                <a:latin typeface="Perpetua"/>
                <a:cs typeface="Perpetua"/>
              </a:rPr>
              <a:t>below: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1524000"/>
            <a:ext cx="7106411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5210" y="457315"/>
            <a:ext cx="1357921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715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Counter-controlled</a:t>
            </a:r>
            <a:r>
              <a:rPr spc="-45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05230"/>
            <a:ext cx="8528685" cy="168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One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most </a:t>
            </a:r>
            <a:r>
              <a:rPr sz="2600" dirty="0">
                <a:latin typeface="Perpetua"/>
                <a:cs typeface="Perpetua"/>
              </a:rPr>
              <a:t>common </a:t>
            </a:r>
            <a:r>
              <a:rPr sz="2600" spc="10" dirty="0">
                <a:latin typeface="Perpetua"/>
                <a:cs typeface="Perpetua"/>
              </a:rPr>
              <a:t>forms </a:t>
            </a:r>
            <a:r>
              <a:rPr sz="2600" spc="-5" dirty="0">
                <a:latin typeface="Perpetua"/>
                <a:cs typeface="Perpetua"/>
              </a:rPr>
              <a:t>of loop </a:t>
            </a:r>
            <a:r>
              <a:rPr sz="2600" dirty="0">
                <a:latin typeface="Perpetua"/>
                <a:cs typeface="Perpetua"/>
              </a:rPr>
              <a:t>occurs </a:t>
            </a:r>
            <a:r>
              <a:rPr sz="2600" spc="-10" dirty="0">
                <a:latin typeface="Perpetua"/>
                <a:cs typeface="Perpetua"/>
              </a:rPr>
              <a:t>where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i="1" spc="-15" dirty="0">
                <a:latin typeface="Perpetua"/>
                <a:cs typeface="Perpetua"/>
              </a:rPr>
              <a:t>know </a:t>
            </a:r>
            <a:r>
              <a:rPr sz="2600" i="1" spc="-5" dirty="0">
                <a:latin typeface="Perpetua"/>
                <a:cs typeface="Perpetua"/>
              </a:rPr>
              <a:t>in  </a:t>
            </a:r>
            <a:r>
              <a:rPr sz="2600" i="1" spc="-15" dirty="0">
                <a:latin typeface="Perpetua"/>
                <a:cs typeface="Perpetua"/>
              </a:rPr>
              <a:t>advance how </a:t>
            </a:r>
            <a:r>
              <a:rPr sz="2600" i="1" spc="-20" dirty="0">
                <a:latin typeface="Perpetua"/>
                <a:cs typeface="Perpetua"/>
              </a:rPr>
              <a:t>many </a:t>
            </a:r>
            <a:r>
              <a:rPr sz="2600" i="1" dirty="0">
                <a:latin typeface="Perpetua"/>
                <a:cs typeface="Perpetua"/>
              </a:rPr>
              <a:t>times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repetition must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15" dirty="0">
                <a:latin typeface="Perpetua"/>
                <a:cs typeface="Perpetua"/>
              </a:rPr>
              <a:t>done.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169035" algn="l"/>
                <a:tab pos="1435735" algn="l"/>
                <a:tab pos="2048510" algn="l"/>
                <a:tab pos="2315210" algn="l"/>
                <a:tab pos="3054985" algn="l"/>
                <a:tab pos="4135120" algn="l"/>
                <a:tab pos="4518025" algn="l"/>
                <a:tab pos="5312410" algn="l"/>
                <a:tab pos="6177915" algn="l"/>
                <a:tab pos="7246620" algn="l"/>
                <a:tab pos="7513320" algn="l"/>
                <a:tab pos="8335009" algn="l"/>
              </a:tabLst>
            </a:pPr>
            <a:r>
              <a:rPr sz="2600" dirty="0">
                <a:latin typeface="Perpetua"/>
                <a:cs typeface="Perpetua"/>
              </a:rPr>
              <a:t>Doing	a	task	a	fi</a:t>
            </a:r>
            <a:r>
              <a:rPr sz="2600" spc="-45" dirty="0">
                <a:latin typeface="Perpetua"/>
                <a:cs typeface="Perpetua"/>
              </a:rPr>
              <a:t>x</a:t>
            </a:r>
            <a:r>
              <a:rPr sz="2600" dirty="0">
                <a:latin typeface="Perpetua"/>
                <a:cs typeface="Perpetua"/>
              </a:rPr>
              <a:t>ed	</a:t>
            </a:r>
            <a:r>
              <a:rPr sz="2600" spc="-2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umb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r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times	whilst	</a:t>
            </a:r>
            <a:r>
              <a:rPr sz="2600" spc="-35" dirty="0">
                <a:latin typeface="Perpetua"/>
                <a:cs typeface="Perpetua"/>
              </a:rPr>
              <a:t>k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eping	a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is 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counter-controlled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loop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5528" y="2743200"/>
            <a:ext cx="3588254" cy="34190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0" y="152400"/>
            <a:ext cx="2514600" cy="1406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661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</a:t>
            </a:r>
            <a:r>
              <a:rPr spc="-245" dirty="0"/>
              <a:t> </a:t>
            </a:r>
            <a:r>
              <a:rPr dirty="0"/>
              <a:t>Imposition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433525"/>
            <a:ext cx="8543925" cy="4767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841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teacher giving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pupil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punishment line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5" dirty="0">
                <a:latin typeface="Perpetua"/>
                <a:cs typeface="Perpetua"/>
              </a:rPr>
              <a:t>must not </a:t>
            </a:r>
            <a:r>
              <a:rPr sz="2600" i="1" spc="-10" dirty="0">
                <a:latin typeface="Perpetua"/>
                <a:cs typeface="Perpetua"/>
              </a:rPr>
              <a:t>pick </a:t>
            </a:r>
            <a:r>
              <a:rPr sz="2600" i="1" spc="-40" dirty="0">
                <a:latin typeface="Perpetua"/>
                <a:cs typeface="Perpetua"/>
              </a:rPr>
              <a:t>my </a:t>
            </a:r>
            <a:r>
              <a:rPr sz="2600" i="1" spc="-5" dirty="0">
                <a:latin typeface="Perpetua"/>
                <a:cs typeface="Perpetua"/>
              </a:rPr>
              <a:t>nose </a:t>
            </a:r>
            <a:r>
              <a:rPr sz="2600" i="1" spc="5" dirty="0">
                <a:latin typeface="Perpetua"/>
                <a:cs typeface="Perpetua"/>
              </a:rPr>
              <a:t>in  </a:t>
            </a:r>
            <a:r>
              <a:rPr sz="2600" i="1" spc="-5" dirty="0">
                <a:latin typeface="Perpetua"/>
                <a:cs typeface="Perpetua"/>
              </a:rPr>
              <a:t>class</a:t>
            </a:r>
            <a:r>
              <a:rPr sz="2600" spc="-5" dirty="0">
                <a:latin typeface="Perpetua"/>
                <a:cs typeface="Perpetua"/>
              </a:rPr>
              <a:t>”</a:t>
            </a:r>
            <a:r>
              <a:rPr sz="2600" i="1" spc="-5" dirty="0">
                <a:latin typeface="Perpetua"/>
                <a:cs typeface="Perpetua"/>
              </a:rPr>
              <a:t>to be </a:t>
            </a:r>
            <a:r>
              <a:rPr sz="2600" i="1" spc="5" dirty="0">
                <a:latin typeface="Perpetua"/>
                <a:cs typeface="Perpetua"/>
              </a:rPr>
              <a:t>written </a:t>
            </a:r>
            <a:r>
              <a:rPr sz="2600" i="1" spc="-5" dirty="0">
                <a:latin typeface="Perpetua"/>
                <a:cs typeface="Perpetua"/>
              </a:rPr>
              <a:t>100 times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example.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pupil </a:t>
            </a:r>
            <a:r>
              <a:rPr sz="2600" i="1" spc="-10" dirty="0">
                <a:latin typeface="Perpetua"/>
                <a:cs typeface="Perpetua"/>
              </a:rPr>
              <a:t>knows exactly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20" dirty="0">
                <a:latin typeface="Perpetua"/>
                <a:cs typeface="Perpetua"/>
              </a:rPr>
              <a:t>many </a:t>
            </a:r>
            <a:r>
              <a:rPr sz="2600" i="1" dirty="0">
                <a:latin typeface="Perpetua"/>
                <a:cs typeface="Perpetua"/>
              </a:rPr>
              <a:t>times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sentence  before </a:t>
            </a:r>
            <a:r>
              <a:rPr sz="2600" spc="-10" dirty="0">
                <a:latin typeface="Perpetua"/>
                <a:cs typeface="Perpetua"/>
              </a:rPr>
              <a:t>they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start.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Keeps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count of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spc="-20" dirty="0">
                <a:latin typeface="Perpetua"/>
                <a:cs typeface="Perpetua"/>
              </a:rPr>
              <a:t>many </a:t>
            </a:r>
            <a:r>
              <a:rPr sz="2600" i="1" spc="-5" dirty="0">
                <a:latin typeface="Perpetua"/>
                <a:cs typeface="Perpetua"/>
              </a:rPr>
              <a:t>times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sentence:  perhaps </a:t>
            </a:r>
            <a:r>
              <a:rPr sz="2600" spc="-10" dirty="0">
                <a:latin typeface="Perpetua"/>
                <a:cs typeface="Perpetua"/>
              </a:rPr>
              <a:t>keeping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tally </a:t>
            </a:r>
            <a:r>
              <a:rPr sz="2600" dirty="0">
                <a:latin typeface="Perpetua"/>
                <a:cs typeface="Perpetua"/>
              </a:rPr>
              <a:t>(making marks in groups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5" dirty="0">
                <a:latin typeface="Perpetua"/>
                <a:cs typeface="Perpetua"/>
              </a:rPr>
              <a:t>five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time 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line).</a:t>
            </a:r>
            <a:endParaRPr sz="2600">
              <a:latin typeface="Perpetua"/>
              <a:cs typeface="Perpetua"/>
            </a:endParaRPr>
          </a:p>
          <a:p>
            <a:pPr marL="320040" indent="-307975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20675" algn="l"/>
              </a:tabLst>
            </a:pPr>
            <a:r>
              <a:rPr sz="2600" dirty="0">
                <a:latin typeface="Perpetua"/>
                <a:cs typeface="Perpetua"/>
              </a:rPr>
              <a:t>When the </a:t>
            </a:r>
            <a:r>
              <a:rPr sz="2600" i="1" spc="-10" dirty="0">
                <a:latin typeface="Perpetua"/>
                <a:cs typeface="Perpetua"/>
              </a:rPr>
              <a:t>tally gets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100 </a:t>
            </a:r>
            <a:r>
              <a:rPr sz="2600" spc="-10" dirty="0">
                <a:latin typeface="Perpetua"/>
                <a:cs typeface="Perpetua"/>
              </a:rPr>
              <a:t>they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18415" indent="-274320" algn="just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Without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dirty="0">
                <a:latin typeface="Perpetua"/>
                <a:cs typeface="Perpetua"/>
              </a:rPr>
              <a:t>counter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some kind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no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knowing 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8976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Imposition</a:t>
            </a:r>
            <a:r>
              <a:rPr spc="-60" dirty="0"/>
              <a:t> </a:t>
            </a:r>
            <a:r>
              <a:rPr spc="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3476"/>
            <a:ext cx="8378190" cy="41268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61315" indent="-34925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do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repeatedly?</a:t>
            </a:r>
            <a:endParaRPr sz="2600">
              <a:latin typeface="Perpetua"/>
              <a:cs typeface="Perpetua"/>
            </a:endParaRPr>
          </a:p>
          <a:p>
            <a:pPr marL="561340" marR="473709">
              <a:lnSpc>
                <a:spcPct val="100000"/>
              </a:lnSpc>
              <a:spcBef>
                <a:spcPts val="400"/>
              </a:spcBef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the punishment </a:t>
            </a:r>
            <a:r>
              <a:rPr sz="2600" spc="-15" dirty="0">
                <a:latin typeface="Perpetua"/>
                <a:cs typeface="Perpetua"/>
              </a:rPr>
              <a:t>line,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also </a:t>
            </a: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another </a:t>
            </a:r>
            <a:r>
              <a:rPr sz="2600" spc="-10" dirty="0">
                <a:latin typeface="Perpetua"/>
                <a:cs typeface="Perpetua"/>
              </a:rPr>
              <a:t>tally  </a:t>
            </a:r>
            <a:r>
              <a:rPr sz="2600" spc="-5" dirty="0">
                <a:latin typeface="Perpetua"/>
                <a:cs typeface="Perpetua"/>
              </a:rPr>
              <a:t>mark.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What is the </a:t>
            </a:r>
            <a:r>
              <a:rPr sz="2600" i="1" dirty="0">
                <a:latin typeface="Perpetua"/>
                <a:cs typeface="Perpetua"/>
              </a:rPr>
              <a:t>termination</a:t>
            </a:r>
            <a:r>
              <a:rPr sz="2600" i="1" spc="-5" dirty="0">
                <a:latin typeface="Perpetua"/>
                <a:cs typeface="Perpetua"/>
              </a:rPr>
              <a:t> condition?</a:t>
            </a:r>
            <a:endParaRPr sz="26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  <a:spcBef>
                <a:spcPts val="409"/>
              </a:spcBef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continue while the </a:t>
            </a:r>
            <a:r>
              <a:rPr sz="2600" spc="-10" dirty="0">
                <a:latin typeface="Perpetua"/>
                <a:cs typeface="Perpetua"/>
              </a:rPr>
              <a:t>tally </a:t>
            </a:r>
            <a:r>
              <a:rPr sz="2600" dirty="0">
                <a:latin typeface="Perpetua"/>
                <a:cs typeface="Perpetua"/>
              </a:rPr>
              <a:t>is not</a:t>
            </a:r>
            <a:r>
              <a:rPr sz="2600" spc="-2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100.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The algorithm using a while </a:t>
            </a:r>
            <a:r>
              <a:rPr sz="2600" spc="-5" dirty="0">
                <a:latin typeface="Perpetua"/>
                <a:cs typeface="Perpetua"/>
              </a:rPr>
              <a:t>loop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600" b="1" spc="-15" dirty="0">
                <a:latin typeface="Perpetua"/>
                <a:cs typeface="Perpetua"/>
              </a:rPr>
              <a:t>while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tally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0" dirty="0">
                <a:latin typeface="Perpetua"/>
                <a:cs typeface="Perpetua"/>
              </a:rPr>
              <a:t>showing </a:t>
            </a:r>
            <a:r>
              <a:rPr sz="2600" spc="-5" dirty="0">
                <a:latin typeface="Perpetua"/>
                <a:cs typeface="Perpetua"/>
              </a:rPr>
              <a:t>100 </a:t>
            </a:r>
            <a:r>
              <a:rPr sz="2600" b="1" dirty="0">
                <a:latin typeface="Perpetua"/>
                <a:cs typeface="Perpetua"/>
              </a:rPr>
              <a:t>do </a:t>
            </a:r>
            <a:r>
              <a:rPr sz="2600" b="1" spc="-5" dirty="0">
                <a:latin typeface="Perpetua"/>
                <a:cs typeface="Perpetua"/>
              </a:rPr>
              <a:t>the </a:t>
            </a:r>
            <a:r>
              <a:rPr sz="2600" b="1" spc="-10" dirty="0">
                <a:latin typeface="Perpetua"/>
                <a:cs typeface="Perpetua"/>
              </a:rPr>
              <a:t>following</a:t>
            </a:r>
            <a:r>
              <a:rPr sz="2600" b="1" spc="90" dirty="0">
                <a:latin typeface="Perpetua"/>
                <a:cs typeface="Perpetua"/>
              </a:rPr>
              <a:t> </a:t>
            </a:r>
            <a:r>
              <a:rPr sz="2600" b="1" spc="-15" dirty="0">
                <a:latin typeface="Perpetua"/>
                <a:cs typeface="Perpetua"/>
              </a:rPr>
              <a:t>repeatedly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spc="30" dirty="0">
                <a:latin typeface="Perpetua"/>
                <a:cs typeface="Perpetua"/>
              </a:rPr>
              <a:t>a.Write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5" dirty="0">
                <a:latin typeface="Perpetua"/>
                <a:cs typeface="Perpetua"/>
              </a:rPr>
              <a:t>must not </a:t>
            </a:r>
            <a:r>
              <a:rPr sz="2600" i="1" spc="-10" dirty="0">
                <a:latin typeface="Perpetua"/>
                <a:cs typeface="Perpetua"/>
              </a:rPr>
              <a:t>pick </a:t>
            </a:r>
            <a:r>
              <a:rPr sz="2600" i="1" spc="-40" dirty="0">
                <a:latin typeface="Perpetua"/>
                <a:cs typeface="Perpetua"/>
              </a:rPr>
              <a:t>my </a:t>
            </a:r>
            <a:r>
              <a:rPr sz="2600" i="1" spc="-5" dirty="0">
                <a:latin typeface="Perpetua"/>
                <a:cs typeface="Perpetua"/>
              </a:rPr>
              <a:t>nose in</a:t>
            </a:r>
            <a:r>
              <a:rPr sz="2600" i="1" spc="-9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class</a:t>
            </a:r>
            <a:r>
              <a:rPr sz="2600" spc="-5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spc="-80" dirty="0">
                <a:latin typeface="Perpetua"/>
                <a:cs typeface="Perpetua"/>
              </a:rPr>
              <a:t>b. </a:t>
            </a: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dirty="0">
                <a:latin typeface="Perpetua"/>
                <a:cs typeface="Perpetua"/>
              </a:rPr>
              <a:t>one to </a:t>
            </a:r>
            <a:r>
              <a:rPr sz="2600" spc="-5" dirty="0">
                <a:latin typeface="Perpetua"/>
                <a:cs typeface="Perpetua"/>
              </a:rPr>
              <a:t>the count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making another </a:t>
            </a:r>
            <a:r>
              <a:rPr sz="2600" spc="-15" dirty="0">
                <a:latin typeface="Perpetua"/>
                <a:cs typeface="Perpetua"/>
              </a:rPr>
              <a:t>tally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mark.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260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10" dirty="0"/>
              <a:t>Hide </a:t>
            </a:r>
            <a:r>
              <a:rPr dirty="0"/>
              <a:t>and</a:t>
            </a:r>
            <a:r>
              <a:rPr spc="-80" dirty="0"/>
              <a:t> </a:t>
            </a:r>
            <a:r>
              <a:rPr spc="-5" dirty="0"/>
              <a:t>seek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0" y="304800"/>
            <a:ext cx="914400" cy="2103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07840" y="4595118"/>
            <a:ext cx="1432862" cy="9763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2379091"/>
            <a:ext cx="8530590" cy="414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child </a:t>
            </a:r>
            <a:r>
              <a:rPr sz="2600" spc="-5" dirty="0">
                <a:latin typeface="Perpetua"/>
                <a:cs typeface="Perpetua"/>
              </a:rPr>
              <a:t>doing </a:t>
            </a:r>
            <a:r>
              <a:rPr sz="2600" dirty="0">
                <a:latin typeface="Perpetua"/>
                <a:cs typeface="Perpetua"/>
              </a:rPr>
              <a:t>the seeking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25" dirty="0">
                <a:latin typeface="Perpetua"/>
                <a:cs typeface="Perpetua"/>
              </a:rPr>
              <a:t>cover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20" dirty="0">
                <a:latin typeface="Perpetua"/>
                <a:cs typeface="Perpetua"/>
              </a:rPr>
              <a:t>eyes 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i="1" dirty="0">
                <a:latin typeface="Perpetua"/>
                <a:cs typeface="Perpetua"/>
              </a:rPr>
              <a:t>count </a:t>
            </a:r>
            <a:r>
              <a:rPr sz="2600" i="1" spc="-5" dirty="0">
                <a:latin typeface="Perpetua"/>
                <a:cs typeface="Perpetua"/>
              </a:rPr>
              <a:t>to 10 </a:t>
            </a:r>
            <a:r>
              <a:rPr sz="2600" dirty="0">
                <a:latin typeface="Perpetua"/>
                <a:cs typeface="Perpetua"/>
              </a:rPr>
              <a:t>then  </a:t>
            </a:r>
            <a:r>
              <a:rPr sz="2600" spc="-5" dirty="0">
                <a:latin typeface="Perpetua"/>
                <a:cs typeface="Perpetua"/>
              </a:rPr>
              <a:t>shout “</a:t>
            </a:r>
            <a:r>
              <a:rPr sz="2600" i="1" spc="-5" dirty="0">
                <a:latin typeface="Perpetua"/>
                <a:cs typeface="Perpetua"/>
              </a:rPr>
              <a:t>Coming,</a:t>
            </a:r>
            <a:r>
              <a:rPr sz="2600" i="1" spc="-46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ready </a:t>
            </a:r>
            <a:r>
              <a:rPr sz="2600" i="1" spc="-5" dirty="0">
                <a:latin typeface="Perpetua"/>
                <a:cs typeface="Perpetua"/>
              </a:rPr>
              <a:t>or not</a:t>
            </a:r>
            <a:r>
              <a:rPr sz="2600" spc="-5" dirty="0">
                <a:latin typeface="Perpetua"/>
                <a:cs typeface="Perpetua"/>
              </a:rPr>
              <a:t>”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look 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other </a:t>
            </a:r>
            <a:r>
              <a:rPr sz="2600" dirty="0">
                <a:latin typeface="Perpetua"/>
                <a:cs typeface="Perpetua"/>
              </a:rPr>
              <a:t>children.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6985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counting </a:t>
            </a:r>
            <a:r>
              <a:rPr sz="2600" i="1" spc="15" dirty="0">
                <a:latin typeface="Perpetua"/>
                <a:cs typeface="Perpetua"/>
              </a:rPr>
              <a:t>part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spc="-5" dirty="0">
                <a:latin typeface="Perpetua"/>
                <a:cs typeface="Perpetua"/>
              </a:rPr>
              <a:t>adding one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last number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thought  of.</a:t>
            </a:r>
            <a:endParaRPr sz="2600">
              <a:latin typeface="Perpetua"/>
              <a:cs typeface="Perpetua"/>
            </a:endParaRPr>
          </a:p>
          <a:p>
            <a:pPr marL="6120765" lvl="1" indent="-240665">
              <a:lnSpc>
                <a:spcPct val="100000"/>
              </a:lnSpc>
              <a:spcBef>
                <a:spcPts val="994"/>
              </a:spcBef>
              <a:buSzPct val="95833"/>
              <a:buFont typeface="Wingdings"/>
              <a:buChar char=""/>
              <a:tabLst>
                <a:tab pos="6121400" algn="l"/>
              </a:tabLst>
            </a:pP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sz="2400" b="1" spc="-15" dirty="0">
                <a:latin typeface="Perpetua"/>
                <a:cs typeface="Perpetua"/>
              </a:rPr>
              <a:t>while </a:t>
            </a:r>
            <a:r>
              <a:rPr sz="2400" dirty="0">
                <a:latin typeface="Perpetua"/>
                <a:cs typeface="Perpetua"/>
              </a:rPr>
              <a:t>the number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thinking </a:t>
            </a:r>
            <a:r>
              <a:rPr sz="2400" dirty="0">
                <a:latin typeface="Perpetua"/>
                <a:cs typeface="Perpetua"/>
              </a:rPr>
              <a:t>is not 10 </a:t>
            </a:r>
            <a:r>
              <a:rPr sz="2400" b="1" dirty="0">
                <a:latin typeface="Perpetua"/>
                <a:cs typeface="Perpetua"/>
              </a:rPr>
              <a:t>do </a:t>
            </a:r>
            <a:r>
              <a:rPr sz="2400" b="1" spc="-5" dirty="0">
                <a:latin typeface="Perpetua"/>
                <a:cs typeface="Perpetua"/>
              </a:rPr>
              <a:t>the</a:t>
            </a:r>
            <a:r>
              <a:rPr sz="2400" b="1" spc="-25" dirty="0">
                <a:latin typeface="Perpetua"/>
                <a:cs typeface="Perpetua"/>
              </a:rPr>
              <a:t> </a:t>
            </a:r>
            <a:r>
              <a:rPr sz="2400" b="1" spc="-15" dirty="0">
                <a:latin typeface="Perpetua"/>
                <a:cs typeface="Perpetua"/>
              </a:rPr>
              <a:t>following</a:t>
            </a:r>
            <a:endParaRPr sz="2400">
              <a:latin typeface="Perpetua"/>
              <a:cs typeface="Perpetua"/>
            </a:endParaRPr>
          </a:p>
          <a:p>
            <a:pPr marL="774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Perpetua"/>
                <a:cs typeface="Perpetua"/>
              </a:rPr>
              <a:t>repeatedly</a:t>
            </a:r>
            <a:endParaRPr sz="2400">
              <a:latin typeface="Perpetua"/>
              <a:cs typeface="Perpetua"/>
            </a:endParaRPr>
          </a:p>
          <a:p>
            <a:pPr marL="2604135">
              <a:lnSpc>
                <a:spcPct val="100000"/>
              </a:lnSpc>
            </a:pPr>
            <a:r>
              <a:rPr sz="2400" spc="-5" dirty="0">
                <a:latin typeface="Perpetua"/>
                <a:cs typeface="Perpetua"/>
              </a:rPr>
              <a:t>a. Add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thinking</a:t>
            </a:r>
            <a:r>
              <a:rPr sz="2400" spc="-3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800" y="0"/>
            <a:ext cx="4032504" cy="2459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536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number to </a:t>
            </a:r>
            <a:r>
              <a:rPr i="1" spc="15" dirty="0">
                <a:latin typeface="Perpetua"/>
                <a:cs typeface="Perpetua"/>
              </a:rPr>
              <a:t>start</a:t>
            </a:r>
            <a:r>
              <a:rPr i="1" spc="-15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with</a:t>
            </a:r>
            <a:r>
              <a:rPr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831060"/>
            <a:ext cx="8540750" cy="43891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One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presumably.</a:t>
            </a:r>
            <a:endParaRPr sz="2600">
              <a:latin typeface="Perpetua"/>
              <a:cs typeface="Perpetua"/>
            </a:endParaRPr>
          </a:p>
          <a:p>
            <a:pPr marL="286385" marR="14604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ought to </a:t>
            </a: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dirty="0">
                <a:latin typeface="Perpetua"/>
                <a:cs typeface="Perpetua"/>
              </a:rPr>
              <a:t>instructions (as </a:t>
            </a:r>
            <a:r>
              <a:rPr sz="2600" spc="-5" dirty="0">
                <a:latin typeface="Perpetua"/>
                <a:cs typeface="Perpetua"/>
              </a:rPr>
              <a:t>otherwise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devious </a:t>
            </a:r>
            <a:r>
              <a:rPr sz="2600" spc="5" dirty="0">
                <a:latin typeface="Perpetua"/>
                <a:cs typeface="Perpetua"/>
              </a:rPr>
              <a:t>child  </a:t>
            </a:r>
            <a:r>
              <a:rPr sz="2600" spc="-5" dirty="0">
                <a:latin typeface="Perpetua"/>
                <a:cs typeface="Perpetua"/>
              </a:rPr>
              <a:t>might count “9,</a:t>
            </a:r>
            <a:r>
              <a:rPr sz="2600" spc="-1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10”).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i="1" spc="-20" dirty="0">
                <a:latin typeface="Perpetua"/>
                <a:cs typeface="Perpetua"/>
              </a:rPr>
              <a:t>what </a:t>
            </a:r>
            <a:r>
              <a:rPr sz="2600" i="1" spc="-5" dirty="0">
                <a:latin typeface="Perpetua"/>
                <a:cs typeface="Perpetua"/>
              </a:rPr>
              <a:t>its </a:t>
            </a:r>
            <a:r>
              <a:rPr sz="2600" i="1" dirty="0">
                <a:latin typeface="Perpetua"/>
                <a:cs typeface="Perpetua"/>
              </a:rPr>
              <a:t>first </a:t>
            </a:r>
            <a:r>
              <a:rPr sz="2600" i="1" spc="-15" dirty="0">
                <a:latin typeface="Perpetua"/>
                <a:cs typeface="Perpetua"/>
              </a:rPr>
              <a:t>value</a:t>
            </a:r>
            <a:r>
              <a:rPr sz="2600" i="1" spc="-28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is.</a:t>
            </a:r>
            <a:endParaRPr sz="2600">
              <a:latin typeface="Perpetua"/>
              <a:cs typeface="Perpetua"/>
            </a:endParaRPr>
          </a:p>
          <a:p>
            <a:pPr marL="286385" marR="1524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87350" algn="l"/>
                <a:tab pos="387985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fact </a:t>
            </a:r>
            <a:r>
              <a:rPr sz="2600" dirty="0">
                <a:latin typeface="Perpetua"/>
                <a:cs typeface="Perpetua"/>
              </a:rPr>
              <a:t>strictly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should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0" dirty="0">
                <a:latin typeface="Perpetua"/>
                <a:cs typeface="Perpetua"/>
              </a:rPr>
              <a:t>done </a:t>
            </a:r>
            <a:r>
              <a:rPr sz="2600" dirty="0">
                <a:latin typeface="Perpetua"/>
                <a:cs typeface="Perpetua"/>
              </a:rPr>
              <a:t>this in the imposition </a:t>
            </a:r>
            <a:r>
              <a:rPr sz="2600" spc="-5" dirty="0">
                <a:latin typeface="Perpetua"/>
                <a:cs typeface="Perpetua"/>
              </a:rPr>
              <a:t>example  too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i="1" spc="-5" dirty="0">
                <a:latin typeface="Perpetua"/>
                <a:cs typeface="Perpetua"/>
              </a:rPr>
              <a:t>make </a:t>
            </a:r>
            <a:r>
              <a:rPr sz="2600" i="1" spc="-10" dirty="0">
                <a:latin typeface="Perpetua"/>
                <a:cs typeface="Perpetua"/>
              </a:rPr>
              <a:t>sure </a:t>
            </a:r>
            <a:r>
              <a:rPr sz="2600" i="1" spc="-5" dirty="0">
                <a:latin typeface="Perpetua"/>
                <a:cs typeface="Perpetua"/>
              </a:rPr>
              <a:t>our </a:t>
            </a:r>
            <a:r>
              <a:rPr sz="2600" i="1" spc="-10" dirty="0">
                <a:latin typeface="Perpetua"/>
                <a:cs typeface="Perpetua"/>
              </a:rPr>
              <a:t>tally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10" dirty="0">
                <a:latin typeface="Perpetua"/>
                <a:cs typeface="Perpetua"/>
              </a:rPr>
              <a:t>zero when we </a:t>
            </a:r>
            <a:r>
              <a:rPr sz="2600" i="1" spc="5" dirty="0">
                <a:latin typeface="Perpetua"/>
                <a:cs typeface="Perpetua"/>
              </a:rPr>
              <a:t>started writing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lines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4139565" lvl="1" indent="-24066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4140200" algn="l"/>
                <a:tab pos="5201920" algn="l"/>
              </a:tabLst>
            </a:pPr>
            <a:r>
              <a:rPr sz="2400" i="1" spc="5" dirty="0">
                <a:latin typeface="Perpetua"/>
                <a:cs typeface="Perpetua"/>
              </a:rPr>
              <a:t>Write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	</a:t>
            </a:r>
            <a:r>
              <a:rPr sz="2400" i="1" spc="-5" dirty="0">
                <a:latin typeface="Perpetua"/>
                <a:cs typeface="Perpetua"/>
              </a:rPr>
              <a:t>full </a:t>
            </a:r>
            <a:r>
              <a:rPr sz="2400" i="1" dirty="0">
                <a:latin typeface="Perpetua"/>
                <a:cs typeface="Perpetua"/>
              </a:rPr>
              <a:t>instructions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hide </a:t>
            </a:r>
            <a:r>
              <a:rPr sz="2400" i="1" dirty="0">
                <a:latin typeface="Perpetua"/>
                <a:cs typeface="Perpetua"/>
              </a:rPr>
              <a:t>and</a:t>
            </a:r>
            <a:r>
              <a:rPr sz="2400" i="1" spc="-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seek.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500">
              <a:latin typeface="Times New Roman"/>
              <a:cs typeface="Times New Roman"/>
            </a:endParaRPr>
          </a:p>
          <a:p>
            <a:pPr marL="4139565" lvl="1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4140200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</a:t>
            </a:r>
            <a:r>
              <a:rPr sz="2400" i="1" spc="-10" dirty="0">
                <a:latin typeface="Perpetua"/>
                <a:cs typeface="Perpetua"/>
              </a:rPr>
              <a:t> observe?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4100" y="5266426"/>
            <a:ext cx="1582743" cy="8957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05486"/>
            <a:ext cx="6955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The </a:t>
            </a:r>
            <a:r>
              <a:rPr dirty="0">
                <a:solidFill>
                  <a:srgbClr val="FF0000"/>
                </a:solidFill>
              </a:rPr>
              <a:t>full instructions </a:t>
            </a:r>
            <a:r>
              <a:rPr spc="-5" dirty="0">
                <a:solidFill>
                  <a:srgbClr val="FF0000"/>
                </a:solidFill>
              </a:rPr>
              <a:t>for hide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996787"/>
            <a:ext cx="7616190" cy="48856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918210" indent="-3111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918210" algn="l"/>
              </a:tabLst>
            </a:pPr>
            <a:r>
              <a:rPr sz="3000" dirty="0">
                <a:latin typeface="Perpetua"/>
                <a:cs typeface="Perpetua"/>
              </a:rPr>
              <a:t>Think of the </a:t>
            </a:r>
            <a:r>
              <a:rPr sz="3000" spc="-5" dirty="0">
                <a:latin typeface="Perpetua"/>
                <a:cs typeface="Perpetua"/>
              </a:rPr>
              <a:t>number</a:t>
            </a:r>
            <a:r>
              <a:rPr sz="3000" spc="-40" dirty="0">
                <a:latin typeface="Perpetua"/>
                <a:cs typeface="Perpetua"/>
              </a:rPr>
              <a:t> </a:t>
            </a:r>
            <a:r>
              <a:rPr sz="3000" dirty="0">
                <a:latin typeface="Perpetua"/>
                <a:cs typeface="Perpetua"/>
              </a:rPr>
              <a:t>1.</a:t>
            </a:r>
            <a:endParaRPr sz="3000">
              <a:latin typeface="Perpetua"/>
              <a:cs typeface="Perpetua"/>
            </a:endParaRPr>
          </a:p>
          <a:p>
            <a:pPr marL="1007744" indent="-401320">
              <a:lnSpc>
                <a:spcPct val="100000"/>
              </a:lnSpc>
              <a:spcBef>
                <a:spcPts val="400"/>
              </a:spcBef>
              <a:buFont typeface="Perpetua"/>
              <a:buAutoNum type="arabicPeriod"/>
              <a:tabLst>
                <a:tab pos="1008380" algn="l"/>
                <a:tab pos="2106930" algn="l"/>
                <a:tab pos="2669540" algn="l"/>
                <a:tab pos="3879215" algn="l"/>
                <a:tab pos="4513580" algn="l"/>
                <a:tab pos="5065395" algn="l"/>
                <a:tab pos="6322695" algn="l"/>
                <a:tab pos="6661150" algn="l"/>
                <a:tab pos="7252334" algn="l"/>
              </a:tabLst>
            </a:pPr>
            <a:r>
              <a:rPr sz="3000" b="1" dirty="0">
                <a:latin typeface="Perpetua"/>
                <a:cs typeface="Perpetua"/>
              </a:rPr>
              <a:t>While	</a:t>
            </a:r>
            <a:r>
              <a:rPr sz="3000" dirty="0">
                <a:latin typeface="Perpetua"/>
                <a:cs typeface="Perpetua"/>
              </a:rPr>
              <a:t>the	n</a:t>
            </a:r>
            <a:r>
              <a:rPr sz="3000" spc="5" dirty="0">
                <a:latin typeface="Perpetua"/>
                <a:cs typeface="Perpetua"/>
              </a:rPr>
              <a:t>u</a:t>
            </a:r>
            <a:r>
              <a:rPr sz="3000" spc="-5" dirty="0">
                <a:latin typeface="Perpetua"/>
                <a:cs typeface="Perpetua"/>
              </a:rPr>
              <a:t>mb</a:t>
            </a:r>
            <a:r>
              <a:rPr sz="3000" spc="-20" dirty="0">
                <a:latin typeface="Perpetua"/>
                <a:cs typeface="Perpetua"/>
              </a:rPr>
              <a:t>e</a:t>
            </a:r>
            <a:r>
              <a:rPr sz="3000" dirty="0">
                <a:latin typeface="Perpetua"/>
                <a:cs typeface="Perpetua"/>
              </a:rPr>
              <a:t>r	</a:t>
            </a:r>
            <a:r>
              <a:rPr sz="3000" spc="-55" dirty="0">
                <a:latin typeface="Perpetua"/>
                <a:cs typeface="Perpetua"/>
              </a:rPr>
              <a:t>y</a:t>
            </a:r>
            <a:r>
              <a:rPr sz="3000" dirty="0">
                <a:latin typeface="Perpetua"/>
                <a:cs typeface="Perpetua"/>
              </a:rPr>
              <a:t>ou	</a:t>
            </a:r>
            <a:r>
              <a:rPr sz="3000" spc="-5" dirty="0">
                <a:latin typeface="Perpetua"/>
                <a:cs typeface="Perpetua"/>
              </a:rPr>
              <a:t>a</a:t>
            </a:r>
            <a:r>
              <a:rPr sz="3000" spc="-35" dirty="0">
                <a:latin typeface="Perpetua"/>
                <a:cs typeface="Perpetua"/>
              </a:rPr>
              <a:t>r</a:t>
            </a:r>
            <a:r>
              <a:rPr sz="3000" dirty="0">
                <a:latin typeface="Perpetua"/>
                <a:cs typeface="Perpetua"/>
              </a:rPr>
              <a:t>e	th</a:t>
            </a:r>
            <a:r>
              <a:rPr sz="3000" spc="-15" dirty="0">
                <a:latin typeface="Perpetua"/>
                <a:cs typeface="Perpetua"/>
              </a:rPr>
              <a:t>i</a:t>
            </a:r>
            <a:r>
              <a:rPr sz="3000" dirty="0">
                <a:latin typeface="Perpetua"/>
                <a:cs typeface="Perpetua"/>
              </a:rPr>
              <a:t>nking	</a:t>
            </a:r>
            <a:r>
              <a:rPr sz="3000" spc="-5" dirty="0">
                <a:latin typeface="Perpetua"/>
                <a:cs typeface="Perpetua"/>
              </a:rPr>
              <a:t>i</a:t>
            </a:r>
            <a:r>
              <a:rPr sz="3000" dirty="0">
                <a:latin typeface="Perpetua"/>
                <a:cs typeface="Perpetua"/>
              </a:rPr>
              <a:t>s	not	10</a:t>
            </a:r>
            <a:endParaRPr sz="3000">
              <a:latin typeface="Perpetua"/>
              <a:cs typeface="Perpetua"/>
            </a:endParaRPr>
          </a:p>
          <a:p>
            <a:pPr marL="835660">
              <a:lnSpc>
                <a:spcPct val="100000"/>
              </a:lnSpc>
            </a:pPr>
            <a:r>
              <a:rPr sz="3000" b="1" spc="-5" dirty="0">
                <a:latin typeface="Perpetua"/>
                <a:cs typeface="Perpetua"/>
              </a:rPr>
              <a:t>do the </a:t>
            </a:r>
            <a:r>
              <a:rPr sz="3000" b="1" spc="-15" dirty="0">
                <a:latin typeface="Perpetua"/>
                <a:cs typeface="Perpetua"/>
              </a:rPr>
              <a:t>following</a:t>
            </a:r>
            <a:r>
              <a:rPr sz="3000" b="1" spc="-10" dirty="0">
                <a:latin typeface="Perpetua"/>
                <a:cs typeface="Perpetua"/>
              </a:rPr>
              <a:t> </a:t>
            </a:r>
            <a:r>
              <a:rPr sz="3000" b="1" spc="-15" dirty="0">
                <a:latin typeface="Perpetua"/>
                <a:cs typeface="Perpetua"/>
              </a:rPr>
              <a:t>repeatedly</a:t>
            </a:r>
            <a:endParaRPr sz="3000">
              <a:latin typeface="Perpetua"/>
              <a:cs typeface="Perpetua"/>
            </a:endParaRPr>
          </a:p>
          <a:p>
            <a:pPr marL="1155700">
              <a:lnSpc>
                <a:spcPct val="100000"/>
              </a:lnSpc>
              <a:spcBef>
                <a:spcPts val="395"/>
              </a:spcBef>
            </a:pPr>
            <a:r>
              <a:rPr sz="3000" spc="-5" dirty="0">
                <a:latin typeface="Perpetua"/>
                <a:cs typeface="Perpetua"/>
              </a:rPr>
              <a:t>a. </a:t>
            </a:r>
            <a:r>
              <a:rPr sz="3000" dirty="0">
                <a:latin typeface="Perpetua"/>
                <a:cs typeface="Perpetua"/>
              </a:rPr>
              <a:t>Add one </a:t>
            </a:r>
            <a:r>
              <a:rPr sz="3000" spc="-5" dirty="0">
                <a:latin typeface="Perpetua"/>
                <a:cs typeface="Perpetua"/>
              </a:rPr>
              <a:t>to </a:t>
            </a:r>
            <a:r>
              <a:rPr sz="3000" dirty="0">
                <a:latin typeface="Perpetua"/>
                <a:cs typeface="Perpetua"/>
              </a:rPr>
              <a:t>the </a:t>
            </a:r>
            <a:r>
              <a:rPr sz="3000" spc="-5" dirty="0">
                <a:latin typeface="Perpetua"/>
                <a:cs typeface="Perpetua"/>
              </a:rPr>
              <a:t>number </a:t>
            </a:r>
            <a:r>
              <a:rPr sz="3000" spc="-20" dirty="0">
                <a:latin typeface="Perpetua"/>
                <a:cs typeface="Perpetua"/>
              </a:rPr>
              <a:t>you </a:t>
            </a:r>
            <a:r>
              <a:rPr sz="3000" spc="-15" dirty="0">
                <a:latin typeface="Perpetua"/>
                <a:cs typeface="Perpetua"/>
              </a:rPr>
              <a:t>are </a:t>
            </a:r>
            <a:r>
              <a:rPr sz="3000" dirty="0">
                <a:latin typeface="Perpetua"/>
                <a:cs typeface="Perpetua"/>
              </a:rPr>
              <a:t>thinking</a:t>
            </a:r>
            <a:r>
              <a:rPr sz="3000" spc="-370" dirty="0">
                <a:latin typeface="Perpetua"/>
                <a:cs typeface="Perpetua"/>
              </a:rPr>
              <a:t> </a:t>
            </a:r>
            <a:r>
              <a:rPr sz="3000" dirty="0">
                <a:latin typeface="Perpetua"/>
                <a:cs typeface="Perpetua"/>
              </a:rPr>
              <a:t>of.</a:t>
            </a:r>
            <a:endParaRPr sz="3000">
              <a:latin typeface="Perpetua"/>
              <a:cs typeface="Perpetua"/>
            </a:endParaRPr>
          </a:p>
          <a:p>
            <a:pPr marL="963930" indent="-356870">
              <a:lnSpc>
                <a:spcPct val="100000"/>
              </a:lnSpc>
              <a:spcBef>
                <a:spcPts val="409"/>
              </a:spcBef>
              <a:buAutoNum type="arabicPeriod" startAt="3"/>
              <a:tabLst>
                <a:tab pos="963930" algn="l"/>
              </a:tabLst>
            </a:pPr>
            <a:r>
              <a:rPr sz="3000" spc="-5" dirty="0">
                <a:latin typeface="Perpetua"/>
                <a:cs typeface="Perpetua"/>
              </a:rPr>
              <a:t>Shout </a:t>
            </a:r>
            <a:r>
              <a:rPr sz="3000" spc="-10" dirty="0">
                <a:latin typeface="Perpetua"/>
                <a:cs typeface="Perpetua"/>
              </a:rPr>
              <a:t>“Coming, </a:t>
            </a:r>
            <a:r>
              <a:rPr sz="3000" spc="-20" dirty="0">
                <a:latin typeface="Perpetua"/>
                <a:cs typeface="Perpetua"/>
              </a:rPr>
              <a:t>ready </a:t>
            </a:r>
            <a:r>
              <a:rPr sz="3000" dirty="0">
                <a:latin typeface="Perpetua"/>
                <a:cs typeface="Perpetua"/>
              </a:rPr>
              <a:t>or</a:t>
            </a:r>
            <a:r>
              <a:rPr sz="3000" spc="-215" dirty="0">
                <a:latin typeface="Perpetua"/>
                <a:cs typeface="Perpetua"/>
              </a:rPr>
              <a:t> </a:t>
            </a:r>
            <a:r>
              <a:rPr sz="3000" dirty="0">
                <a:latin typeface="Perpetua"/>
                <a:cs typeface="Perpetua"/>
              </a:rPr>
              <a:t>not”.</a:t>
            </a:r>
            <a:endParaRPr sz="3000">
              <a:latin typeface="Perpetua"/>
              <a:cs typeface="Perpetua"/>
            </a:endParaRPr>
          </a:p>
          <a:p>
            <a:pPr marL="963930" indent="-356870">
              <a:lnSpc>
                <a:spcPct val="100000"/>
              </a:lnSpc>
              <a:spcBef>
                <a:spcPts val="400"/>
              </a:spcBef>
              <a:buAutoNum type="arabicPeriod" startAt="3"/>
              <a:tabLst>
                <a:tab pos="963930" algn="l"/>
              </a:tabLst>
            </a:pPr>
            <a:r>
              <a:rPr sz="3000" dirty="0">
                <a:latin typeface="Perpetua"/>
                <a:cs typeface="Perpetua"/>
              </a:rPr>
              <a:t>Look for the other</a:t>
            </a:r>
            <a:r>
              <a:rPr sz="3000" spc="-35" dirty="0">
                <a:latin typeface="Perpetua"/>
                <a:cs typeface="Perpetua"/>
              </a:rPr>
              <a:t> </a:t>
            </a:r>
            <a:r>
              <a:rPr sz="3000" dirty="0">
                <a:latin typeface="Perpetua"/>
                <a:cs typeface="Perpetua"/>
              </a:rPr>
              <a:t>children.</a:t>
            </a:r>
            <a:endParaRPr sz="3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50">
              <a:latin typeface="Times New Roman"/>
              <a:cs typeface="Times New Roman"/>
            </a:endParaRPr>
          </a:p>
          <a:p>
            <a:pPr marL="287020" marR="541655" indent="-274955">
              <a:lnSpc>
                <a:spcPct val="100000"/>
              </a:lnSpc>
              <a:buSzPct val="83928"/>
              <a:buFont typeface="Wingdings"/>
              <a:buChar char=""/>
              <a:tabLst>
                <a:tab pos="287655" algn="l"/>
              </a:tabLst>
            </a:pPr>
            <a:r>
              <a:rPr sz="2800" i="1" spc="-5" dirty="0">
                <a:latin typeface="Perpetua"/>
                <a:cs typeface="Perpetua"/>
              </a:rPr>
              <a:t>In </a:t>
            </a:r>
            <a:r>
              <a:rPr sz="2800" i="1" spc="-20" dirty="0">
                <a:latin typeface="Perpetua"/>
                <a:cs typeface="Perpetua"/>
              </a:rPr>
              <a:t>fact </a:t>
            </a:r>
            <a:r>
              <a:rPr sz="2800" i="1" spc="-5" dirty="0">
                <a:latin typeface="Perpetua"/>
                <a:cs typeface="Perpetua"/>
              </a:rPr>
              <a:t>strictly </a:t>
            </a:r>
            <a:r>
              <a:rPr sz="2800" i="1" spc="-15" dirty="0">
                <a:latin typeface="Perpetua"/>
                <a:cs typeface="Perpetua"/>
              </a:rPr>
              <a:t>we </a:t>
            </a:r>
            <a:r>
              <a:rPr sz="2800" i="1" spc="-5" dirty="0">
                <a:latin typeface="Perpetua"/>
                <a:cs typeface="Perpetua"/>
              </a:rPr>
              <a:t>should </a:t>
            </a:r>
            <a:r>
              <a:rPr sz="2800" i="1" spc="-45" dirty="0">
                <a:latin typeface="Perpetua"/>
                <a:cs typeface="Perpetua"/>
              </a:rPr>
              <a:t>have </a:t>
            </a:r>
            <a:r>
              <a:rPr sz="2800" i="1" spc="-5" dirty="0">
                <a:latin typeface="Perpetua"/>
                <a:cs typeface="Perpetua"/>
              </a:rPr>
              <a:t>done this in the </a:t>
            </a:r>
            <a:r>
              <a:rPr sz="2800" i="1" spc="-10" dirty="0">
                <a:latin typeface="Perpetua"/>
                <a:cs typeface="Perpetua"/>
              </a:rPr>
              <a:t>imposition  </a:t>
            </a:r>
            <a:r>
              <a:rPr sz="2800" i="1" spc="-5" dirty="0">
                <a:latin typeface="Perpetua"/>
                <a:cs typeface="Perpetua"/>
              </a:rPr>
              <a:t>example too – make </a:t>
            </a:r>
            <a:r>
              <a:rPr sz="2800" i="1" spc="-10" dirty="0">
                <a:latin typeface="Perpetua"/>
                <a:cs typeface="Perpetua"/>
              </a:rPr>
              <a:t>sure </a:t>
            </a:r>
            <a:r>
              <a:rPr sz="2800" i="1" spc="-5" dirty="0">
                <a:latin typeface="Perpetua"/>
                <a:cs typeface="Perpetua"/>
              </a:rPr>
              <a:t>our </a:t>
            </a:r>
            <a:r>
              <a:rPr sz="2800" i="1" spc="-15" dirty="0">
                <a:latin typeface="Perpetua"/>
                <a:cs typeface="Perpetua"/>
              </a:rPr>
              <a:t>tally </a:t>
            </a:r>
            <a:r>
              <a:rPr sz="2800" i="1" spc="-25" dirty="0">
                <a:latin typeface="Perpetua"/>
                <a:cs typeface="Perpetua"/>
              </a:rPr>
              <a:t>was </a:t>
            </a:r>
            <a:r>
              <a:rPr sz="2800" i="1" spc="-15" dirty="0">
                <a:latin typeface="Perpetua"/>
                <a:cs typeface="Perpetua"/>
              </a:rPr>
              <a:t>zero </a:t>
            </a:r>
            <a:r>
              <a:rPr sz="2800" i="1" spc="-20" dirty="0">
                <a:latin typeface="Perpetua"/>
                <a:cs typeface="Perpetua"/>
              </a:rPr>
              <a:t>when </a:t>
            </a:r>
            <a:r>
              <a:rPr sz="2800" i="1" spc="-15" dirty="0">
                <a:latin typeface="Perpetua"/>
                <a:cs typeface="Perpetua"/>
              </a:rPr>
              <a:t>we </a:t>
            </a:r>
            <a:r>
              <a:rPr sz="2800" i="1" spc="10" dirty="0">
                <a:latin typeface="Perpetua"/>
                <a:cs typeface="Perpetua"/>
              </a:rPr>
              <a:t>started  </a:t>
            </a:r>
            <a:r>
              <a:rPr sz="2800" i="1" spc="5" dirty="0">
                <a:latin typeface="Perpetua"/>
                <a:cs typeface="Perpetua"/>
              </a:rPr>
              <a:t>writing</a:t>
            </a:r>
            <a:r>
              <a:rPr sz="2800" i="1" spc="-10" dirty="0">
                <a:latin typeface="Perpetua"/>
                <a:cs typeface="Perpetua"/>
              </a:rPr>
              <a:t> </a:t>
            </a:r>
            <a:r>
              <a:rPr sz="2800" i="1" spc="-20" dirty="0">
                <a:latin typeface="Perpetua"/>
                <a:cs typeface="Perpetua"/>
              </a:rPr>
              <a:t>lines.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62686"/>
            <a:ext cx="35102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do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you</a:t>
            </a:r>
            <a:r>
              <a:rPr i="1" spc="-7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observe?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430477"/>
            <a:ext cx="7783195" cy="4171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2225" indent="-274955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  <a:tab pos="1300480" algn="l"/>
                <a:tab pos="1936114" algn="l"/>
                <a:tab pos="2743835" algn="l"/>
                <a:tab pos="4403725" algn="l"/>
                <a:tab pos="4879340" algn="l"/>
                <a:tab pos="5457190" algn="l"/>
                <a:tab pos="6024245" algn="l"/>
                <a:tab pos="6641465" algn="l"/>
                <a:tab pos="7056120" algn="l"/>
              </a:tabLst>
            </a:pP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spc="-20" dirty="0">
                <a:latin typeface="Perpetua"/>
                <a:cs typeface="Perpetua"/>
              </a:rPr>
              <a:t>i</a:t>
            </a:r>
            <a:r>
              <a:rPr sz="2800" spc="-5" dirty="0">
                <a:latin typeface="Perpetua"/>
                <a:cs typeface="Perpetua"/>
              </a:rPr>
              <a:t>ce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th</a:t>
            </a:r>
            <a:r>
              <a:rPr sz="2800" spc="-35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these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inst</a:t>
            </a:r>
            <a:r>
              <a:rPr sz="2800" spc="55" dirty="0">
                <a:latin typeface="Perpetua"/>
                <a:cs typeface="Perpetua"/>
              </a:rPr>
              <a:t>r</a:t>
            </a:r>
            <a:r>
              <a:rPr sz="2800" spc="-5" dirty="0">
                <a:latin typeface="Perpetua"/>
                <a:cs typeface="Perpetua"/>
              </a:rPr>
              <a:t>uctions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do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not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tell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60" dirty="0">
                <a:latin typeface="Perpetua"/>
                <a:cs typeface="Perpetua"/>
              </a:rPr>
              <a:t>y</a:t>
            </a:r>
            <a:r>
              <a:rPr sz="2800" spc="5" dirty="0">
                <a:latin typeface="Perpetua"/>
                <a:cs typeface="Perpetua"/>
              </a:rPr>
              <a:t>o</a:t>
            </a:r>
            <a:r>
              <a:rPr sz="2800" spc="-5" dirty="0">
                <a:latin typeface="Perpetua"/>
                <a:cs typeface="Perpetua"/>
              </a:rPr>
              <a:t>u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t</a:t>
            </a:r>
            <a:r>
              <a:rPr sz="2800" spc="-5" dirty="0">
                <a:latin typeface="Perpetua"/>
                <a:cs typeface="Perpetua"/>
              </a:rPr>
              <a:t>o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shout  </a:t>
            </a:r>
            <a:r>
              <a:rPr sz="2800" spc="-10" dirty="0">
                <a:latin typeface="Perpetua"/>
                <a:cs typeface="Perpetua"/>
              </a:rPr>
              <a:t>“</a:t>
            </a:r>
            <a:r>
              <a:rPr sz="2800" i="1" spc="-10" dirty="0">
                <a:latin typeface="Perpetua"/>
                <a:cs typeface="Perpetua"/>
              </a:rPr>
              <a:t>Coming, </a:t>
            </a:r>
            <a:r>
              <a:rPr sz="2800" i="1" spc="-20" dirty="0">
                <a:latin typeface="Perpetua"/>
                <a:cs typeface="Perpetua"/>
              </a:rPr>
              <a:t>ready </a:t>
            </a:r>
            <a:r>
              <a:rPr sz="2800" i="1" spc="-5" dirty="0">
                <a:latin typeface="Perpetua"/>
                <a:cs typeface="Perpetua"/>
              </a:rPr>
              <a:t>or not</a:t>
            </a:r>
            <a:r>
              <a:rPr sz="2800" spc="-5" dirty="0">
                <a:latin typeface="Perpetua"/>
                <a:cs typeface="Perpetua"/>
              </a:rPr>
              <a:t>”</a:t>
            </a:r>
            <a:r>
              <a:rPr sz="2800" spc="-355" dirty="0">
                <a:latin typeface="Perpetua"/>
                <a:cs typeface="Perpetua"/>
              </a:rPr>
              <a:t> </a:t>
            </a:r>
            <a:r>
              <a:rPr sz="2800" spc="-40" dirty="0">
                <a:latin typeface="Perpetua"/>
                <a:cs typeface="Perpetua"/>
              </a:rPr>
              <a:t>repeatedly.</a:t>
            </a:r>
            <a:endParaRPr sz="28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10" dirty="0">
                <a:latin typeface="Perpetua"/>
                <a:cs typeface="Perpetua"/>
              </a:rPr>
              <a:t>That </a:t>
            </a:r>
            <a:r>
              <a:rPr sz="2800" dirty="0">
                <a:latin typeface="Perpetua"/>
                <a:cs typeface="Perpetua"/>
              </a:rPr>
              <a:t>instruction </a:t>
            </a:r>
            <a:r>
              <a:rPr sz="2800" spc="-5" dirty="0">
                <a:latin typeface="Perpetua"/>
                <a:cs typeface="Perpetua"/>
              </a:rPr>
              <a:t>is not </a:t>
            </a:r>
            <a:r>
              <a:rPr sz="2800" spc="20" dirty="0">
                <a:latin typeface="Perpetua"/>
                <a:cs typeface="Perpetua"/>
              </a:rPr>
              <a:t>part </a:t>
            </a:r>
            <a:r>
              <a:rPr sz="2800" spc="-5" dirty="0">
                <a:latin typeface="Perpetua"/>
                <a:cs typeface="Perpetua"/>
              </a:rPr>
              <a:t>of the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35" dirty="0">
                <a:latin typeface="Perpetua"/>
                <a:cs typeface="Perpetua"/>
              </a:rPr>
              <a:t>loop.</a:t>
            </a:r>
            <a:endParaRPr sz="28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dirty="0">
                <a:latin typeface="Perpetua"/>
                <a:cs typeface="Perpetua"/>
              </a:rPr>
              <a:t>It comes </a:t>
            </a:r>
            <a:r>
              <a:rPr sz="2800" spc="-5" dirty="0">
                <a:latin typeface="Perpetua"/>
                <a:cs typeface="Perpetua"/>
              </a:rPr>
              <a:t>after the loop and is not in the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70" dirty="0">
                <a:latin typeface="Perpetua"/>
                <a:cs typeface="Perpetua"/>
              </a:rPr>
              <a:t>body.</a:t>
            </a:r>
            <a:endParaRPr sz="28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SzPct val="83928"/>
              <a:buFont typeface="Arial"/>
              <a:buChar char="•"/>
              <a:tabLst>
                <a:tab pos="287655" algn="l"/>
              </a:tabLst>
            </a:pPr>
            <a:r>
              <a:rPr sz="2800" dirty="0">
                <a:latin typeface="Perpetua"/>
                <a:cs typeface="Perpetua"/>
              </a:rPr>
              <a:t>It </a:t>
            </a:r>
            <a:r>
              <a:rPr sz="2800" spc="-5" dirty="0">
                <a:latin typeface="Perpetua"/>
                <a:cs typeface="Perpetua"/>
              </a:rPr>
              <a:t>is the </a:t>
            </a:r>
            <a:r>
              <a:rPr sz="2800" dirty="0">
                <a:latin typeface="Perpetua"/>
                <a:cs typeface="Perpetua"/>
              </a:rPr>
              <a:t>instruction </a:t>
            </a:r>
            <a:r>
              <a:rPr sz="2800" spc="-25" dirty="0">
                <a:latin typeface="Perpetua"/>
                <a:cs typeface="Perpetua"/>
              </a:rPr>
              <a:t>you </a:t>
            </a:r>
            <a:r>
              <a:rPr sz="2800" spc="-20" dirty="0">
                <a:latin typeface="Perpetua"/>
                <a:cs typeface="Perpetua"/>
              </a:rPr>
              <a:t>follow </a:t>
            </a:r>
            <a:r>
              <a:rPr sz="2800" spc="-10" dirty="0">
                <a:latin typeface="Perpetua"/>
                <a:cs typeface="Perpetua"/>
              </a:rPr>
              <a:t>after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-10" dirty="0">
                <a:latin typeface="Perpetua"/>
                <a:cs typeface="Perpetua"/>
              </a:rPr>
              <a:t>loop </a:t>
            </a:r>
            <a:r>
              <a:rPr sz="2800" spc="-5" dirty="0">
                <a:latin typeface="Perpetua"/>
                <a:cs typeface="Perpetua"/>
              </a:rPr>
              <a:t>has finished:  after the </a:t>
            </a:r>
            <a:r>
              <a:rPr sz="2800" dirty="0">
                <a:latin typeface="Perpetua"/>
                <a:cs typeface="Perpetua"/>
              </a:rPr>
              <a:t>termination </a:t>
            </a:r>
            <a:r>
              <a:rPr sz="2800" spc="-5" dirty="0">
                <a:latin typeface="Perpetua"/>
                <a:cs typeface="Perpetua"/>
              </a:rPr>
              <a:t>condition </a:t>
            </a:r>
            <a:r>
              <a:rPr sz="2800" spc="-30" dirty="0">
                <a:latin typeface="Perpetua"/>
                <a:cs typeface="Perpetua"/>
              </a:rPr>
              <a:t>allowed </a:t>
            </a:r>
            <a:r>
              <a:rPr sz="2800" spc="-20" dirty="0">
                <a:latin typeface="Perpetua"/>
                <a:cs typeface="Perpetua"/>
              </a:rPr>
              <a:t>you </a:t>
            </a:r>
            <a:r>
              <a:rPr sz="2800" spc="-5" dirty="0">
                <a:latin typeface="Perpetua"/>
                <a:cs typeface="Perpetua"/>
              </a:rPr>
              <a:t>out of </a:t>
            </a:r>
            <a:r>
              <a:rPr sz="2800" spc="-10" dirty="0">
                <a:latin typeface="Perpetua"/>
                <a:cs typeface="Perpetua"/>
              </a:rPr>
              <a:t>the  </a:t>
            </a:r>
            <a:r>
              <a:rPr sz="2800" spc="-35" dirty="0">
                <a:latin typeface="Perpetua"/>
                <a:cs typeface="Perpetua"/>
              </a:rPr>
              <a:t>loop.</a:t>
            </a:r>
            <a:endParaRPr sz="2800">
              <a:latin typeface="Perpetua"/>
              <a:cs typeface="Perpetua"/>
            </a:endParaRPr>
          </a:p>
          <a:p>
            <a:pPr marL="287020" marR="19685" indent="-274955" algn="just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7655" algn="l"/>
              </a:tabLst>
            </a:pPr>
            <a:r>
              <a:rPr sz="2800" spc="-110" dirty="0">
                <a:latin typeface="Perpetua"/>
                <a:cs typeface="Perpetua"/>
              </a:rPr>
              <a:t>You </a:t>
            </a:r>
            <a:r>
              <a:rPr sz="2800" spc="-5" dirty="0">
                <a:latin typeface="Perpetua"/>
                <a:cs typeface="Perpetua"/>
              </a:rPr>
              <a:t>will </a:t>
            </a:r>
            <a:r>
              <a:rPr sz="2800" spc="-15" dirty="0">
                <a:latin typeface="Perpetua"/>
                <a:cs typeface="Perpetua"/>
              </a:rPr>
              <a:t>only </a:t>
            </a:r>
            <a:r>
              <a:rPr sz="2800" spc="-5" dirty="0">
                <a:latin typeface="Perpetua"/>
                <a:cs typeface="Perpetua"/>
              </a:rPr>
              <a:t>shout when the number </a:t>
            </a:r>
            <a:r>
              <a:rPr sz="2800" spc="-25" dirty="0">
                <a:latin typeface="Perpetua"/>
                <a:cs typeface="Perpetua"/>
              </a:rPr>
              <a:t>you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spc="-5" dirty="0">
                <a:latin typeface="Perpetua"/>
                <a:cs typeface="Perpetua"/>
              </a:rPr>
              <a:t>thinking </a:t>
            </a:r>
            <a:r>
              <a:rPr sz="2800" dirty="0">
                <a:latin typeface="Perpetua"/>
                <a:cs typeface="Perpetua"/>
              </a:rPr>
              <a:t>of  </a:t>
            </a:r>
            <a:r>
              <a:rPr sz="2800" spc="-5" dirty="0">
                <a:latin typeface="Perpetua"/>
                <a:cs typeface="Perpetua"/>
              </a:rPr>
              <a:t>gets to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10.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7400" y="402025"/>
            <a:ext cx="3106575" cy="4373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272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counter-controlled</a:t>
            </a:r>
            <a:r>
              <a:rPr spc="15" dirty="0"/>
              <a:t> </a:t>
            </a:r>
            <a:r>
              <a:rPr spc="-5" dirty="0"/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383233"/>
            <a:ext cx="7233284" cy="444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general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flow:</a:t>
            </a:r>
            <a:endParaRPr sz="2400">
              <a:latin typeface="Perpetua"/>
              <a:cs typeface="Perpetua"/>
            </a:endParaRPr>
          </a:p>
          <a:p>
            <a:pPr marL="286385" marR="2759075">
              <a:lnSpc>
                <a:spcPct val="1008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Set the </a:t>
            </a:r>
            <a:r>
              <a:rPr sz="2400" i="1" spc="-5" dirty="0">
                <a:latin typeface="Perpetua"/>
                <a:cs typeface="Perpetua"/>
              </a:rPr>
              <a:t>counter </a:t>
            </a:r>
            <a:r>
              <a:rPr sz="2400" dirty="0">
                <a:latin typeface="Perpetua"/>
                <a:cs typeface="Perpetua"/>
              </a:rPr>
              <a:t>to its initial </a:t>
            </a:r>
            <a:r>
              <a:rPr sz="2400" spc="-20" dirty="0">
                <a:latin typeface="Perpetua"/>
                <a:cs typeface="Perpetua"/>
              </a:rPr>
              <a:t>value.  </a:t>
            </a:r>
            <a:r>
              <a:rPr sz="2400" b="1" spc="-15" dirty="0">
                <a:latin typeface="Perpetua"/>
                <a:cs typeface="Perpetua"/>
              </a:rPr>
              <a:t>while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counter </a:t>
            </a:r>
            <a:r>
              <a:rPr sz="2400" dirty="0">
                <a:latin typeface="Perpetua"/>
                <a:cs typeface="Perpetua"/>
              </a:rPr>
              <a:t>is not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final </a:t>
            </a:r>
            <a:r>
              <a:rPr sz="2400" spc="-15" dirty="0">
                <a:latin typeface="Perpetua"/>
                <a:cs typeface="Perpetua"/>
              </a:rPr>
              <a:t>value  </a:t>
            </a:r>
            <a:r>
              <a:rPr sz="2400" b="1" dirty="0">
                <a:latin typeface="Perpetua"/>
                <a:cs typeface="Perpetua"/>
              </a:rPr>
              <a:t>do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0" dirty="0">
                <a:latin typeface="Perpetua"/>
                <a:cs typeface="Perpetua"/>
              </a:rPr>
              <a:t>following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repeatedly</a:t>
            </a:r>
            <a:endParaRPr sz="2400">
              <a:latin typeface="Perpetua"/>
              <a:cs typeface="Perpetua"/>
            </a:endParaRPr>
          </a:p>
          <a:p>
            <a:pPr marL="1183005" lvl="1" indent="-25654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1183640" algn="l"/>
              </a:tabLst>
            </a:pPr>
            <a:r>
              <a:rPr sz="2400" dirty="0">
                <a:latin typeface="Perpetua"/>
                <a:cs typeface="Perpetua"/>
              </a:rPr>
              <a:t>Do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tasks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10" dirty="0">
                <a:latin typeface="Perpetua"/>
                <a:cs typeface="Perpetua"/>
              </a:rPr>
              <a:t>repeated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endParaRPr sz="2400">
              <a:latin typeface="Perpetua"/>
              <a:cs typeface="Perpetua"/>
            </a:endParaRPr>
          </a:p>
          <a:p>
            <a:pPr marL="899794">
              <a:lnSpc>
                <a:spcPct val="100000"/>
              </a:lnSpc>
              <a:spcBef>
                <a:spcPts val="25"/>
              </a:spcBef>
            </a:pPr>
            <a:r>
              <a:rPr sz="2400" spc="-15" dirty="0">
                <a:latin typeface="Perpetua"/>
                <a:cs typeface="Perpetua"/>
              </a:rPr>
              <a:t>known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times.</a:t>
            </a:r>
            <a:endParaRPr sz="2400">
              <a:latin typeface="Perpetua"/>
              <a:cs typeface="Perpetua"/>
            </a:endParaRPr>
          </a:p>
          <a:p>
            <a:pPr marL="1190625" lvl="1" indent="-264160">
              <a:lnSpc>
                <a:spcPct val="100000"/>
              </a:lnSpc>
              <a:spcBef>
                <a:spcPts val="25"/>
              </a:spcBef>
              <a:buAutoNum type="alphaLcPeriod" startAt="2"/>
              <a:tabLst>
                <a:tab pos="1191260" algn="l"/>
              </a:tabLst>
            </a:pPr>
            <a:r>
              <a:rPr sz="2400" spc="-5" dirty="0">
                <a:latin typeface="Perpetua"/>
                <a:cs typeface="Perpetua"/>
              </a:rPr>
              <a:t>Change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counter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For</a:t>
            </a:r>
            <a:r>
              <a:rPr sz="2400" spc="-10" dirty="0">
                <a:latin typeface="Perpetua"/>
                <a:cs typeface="Perpetua"/>
              </a:rPr>
              <a:t> example,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Perpetua"/>
                <a:cs typeface="Perpetua"/>
              </a:rPr>
              <a:t>Set </a:t>
            </a:r>
            <a:r>
              <a:rPr sz="2400" dirty="0">
                <a:latin typeface="Perpetua"/>
                <a:cs typeface="Perpetua"/>
              </a:rPr>
              <a:t>the counter to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zero.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30"/>
              </a:spcBef>
              <a:tabLst>
                <a:tab pos="5839460" algn="l"/>
              </a:tabLst>
            </a:pPr>
            <a:r>
              <a:rPr sz="2400" b="1" spc="-15" dirty="0">
                <a:latin typeface="Perpetua"/>
                <a:cs typeface="Perpetua"/>
              </a:rPr>
              <a:t>while </a:t>
            </a:r>
            <a:r>
              <a:rPr sz="2400" dirty="0">
                <a:latin typeface="Perpetua"/>
                <a:cs typeface="Perpetua"/>
              </a:rPr>
              <a:t>the counter is not 100 </a:t>
            </a:r>
            <a:r>
              <a:rPr sz="2400" b="1" dirty="0">
                <a:latin typeface="Perpetua"/>
                <a:cs typeface="Perpetua"/>
              </a:rPr>
              <a:t>do</a:t>
            </a:r>
            <a:r>
              <a:rPr sz="2400" b="1" spc="-15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the</a:t>
            </a:r>
            <a:r>
              <a:rPr sz="2400" b="1" spc="-10" dirty="0">
                <a:latin typeface="Perpetua"/>
                <a:cs typeface="Perpetua"/>
              </a:rPr>
              <a:t> following	repeatedly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25"/>
              </a:spcBef>
            </a:pPr>
            <a:r>
              <a:rPr sz="2400" spc="20" dirty="0">
                <a:latin typeface="Perpetua"/>
                <a:cs typeface="Perpetua"/>
              </a:rPr>
              <a:t>a.Write </a:t>
            </a:r>
            <a:r>
              <a:rPr sz="2400" dirty="0">
                <a:latin typeface="Perpetua"/>
                <a:cs typeface="Perpetua"/>
              </a:rPr>
              <a:t>“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must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5" dirty="0">
                <a:latin typeface="Perpetua"/>
                <a:cs typeface="Perpetua"/>
              </a:rPr>
              <a:t>point </a:t>
            </a:r>
            <a:r>
              <a:rPr sz="2400" i="1" spc="-40" dirty="0">
                <a:latin typeface="Perpetua"/>
                <a:cs typeface="Perpetua"/>
              </a:rPr>
              <a:t>my </a:t>
            </a:r>
            <a:r>
              <a:rPr sz="2400" i="1" spc="-10" dirty="0">
                <a:latin typeface="Perpetua"/>
                <a:cs typeface="Perpetua"/>
              </a:rPr>
              <a:t>fingers </a:t>
            </a:r>
            <a:r>
              <a:rPr sz="2400" i="1" spc="-15" dirty="0">
                <a:latin typeface="Perpetua"/>
                <a:cs typeface="Perpetua"/>
              </a:rPr>
              <a:t>at Jimmy </a:t>
            </a:r>
            <a:r>
              <a:rPr sz="2400" i="1" spc="-5" dirty="0">
                <a:latin typeface="Perpetua"/>
                <a:cs typeface="Perpetua"/>
              </a:rPr>
              <a:t>in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class</a:t>
            </a:r>
            <a:r>
              <a:rPr sz="2400" spc="-5" dirty="0">
                <a:latin typeface="Perpetua"/>
                <a:cs typeface="Perpetua"/>
              </a:rPr>
              <a:t>”.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20"/>
              </a:spcBef>
            </a:pPr>
            <a:r>
              <a:rPr sz="2400" spc="-70" dirty="0">
                <a:latin typeface="Perpetua"/>
                <a:cs typeface="Perpetua"/>
              </a:rPr>
              <a:t>b. </a:t>
            </a:r>
            <a:r>
              <a:rPr sz="2400" spc="-5" dirty="0">
                <a:latin typeface="Perpetua"/>
                <a:cs typeface="Perpetua"/>
              </a:rPr>
              <a:t>Add </a:t>
            </a:r>
            <a:r>
              <a:rPr sz="2400" dirty="0">
                <a:latin typeface="Perpetua"/>
                <a:cs typeface="Perpetua"/>
              </a:rPr>
              <a:t>1 to </a:t>
            </a:r>
            <a:r>
              <a:rPr sz="2400" spc="-5" dirty="0">
                <a:latin typeface="Perpetua"/>
                <a:cs typeface="Perpetua"/>
              </a:rPr>
              <a:t>the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counter.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5756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Counting </a:t>
            </a:r>
            <a:r>
              <a:rPr i="1" spc="-20" dirty="0">
                <a:latin typeface="Perpetua"/>
                <a:cs typeface="Perpetua"/>
              </a:rPr>
              <a:t>upwards </a:t>
            </a:r>
            <a:r>
              <a:rPr dirty="0"/>
              <a:t>or</a:t>
            </a:r>
            <a:r>
              <a:rPr spc="15" dirty="0"/>
              <a:t> </a:t>
            </a:r>
            <a:r>
              <a:rPr i="1" spc="-20" dirty="0">
                <a:latin typeface="Perpetua"/>
                <a:cs typeface="Perpetua"/>
              </a:rPr>
              <a:t>downwards</a:t>
            </a:r>
            <a:r>
              <a:rPr spc="-2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133602"/>
            <a:ext cx="8531225" cy="492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778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638810" algn="l"/>
                <a:tab pos="1117600" algn="l"/>
                <a:tab pos="1873250" algn="l"/>
                <a:tab pos="3033395" algn="l"/>
                <a:tab pos="3479800" algn="l"/>
                <a:tab pos="4315460" algn="l"/>
                <a:tab pos="5103495" algn="l"/>
                <a:tab pos="5640070" algn="l"/>
                <a:tab pos="6000750" algn="l"/>
                <a:tab pos="6480175" algn="l"/>
                <a:tab pos="7467600" algn="l"/>
                <a:tab pos="8201025" algn="l"/>
              </a:tabLst>
            </a:pPr>
            <a:r>
              <a:rPr sz="2400" dirty="0">
                <a:latin typeface="Perpetua"/>
                <a:cs typeface="Perpetua"/>
              </a:rPr>
              <a:t>In	the	</a:t>
            </a:r>
            <a:r>
              <a:rPr sz="2400" spc="-5" dirty="0">
                <a:latin typeface="Perpetua"/>
                <a:cs typeface="Perpetua"/>
              </a:rPr>
              <a:t>ab</a:t>
            </a:r>
            <a:r>
              <a:rPr sz="2400" spc="-65" dirty="0">
                <a:latin typeface="Perpetua"/>
                <a:cs typeface="Perpetua"/>
              </a:rPr>
              <a:t>o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	exam</a:t>
            </a:r>
            <a:r>
              <a:rPr sz="2400" spc="5" dirty="0">
                <a:latin typeface="Perpetua"/>
                <a:cs typeface="Perpetua"/>
              </a:rPr>
              <a:t>p</a:t>
            </a:r>
            <a:r>
              <a:rPr sz="2400" spc="-5" dirty="0">
                <a:latin typeface="Perpetua"/>
                <a:cs typeface="Perpetua"/>
              </a:rPr>
              <a:t>le</a:t>
            </a:r>
            <a:r>
              <a:rPr sz="2400" dirty="0">
                <a:latin typeface="Perpetua"/>
                <a:cs typeface="Perpetua"/>
              </a:rPr>
              <a:t>s	</a:t>
            </a:r>
            <a:r>
              <a:rPr sz="2400" spc="-105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5" dirty="0">
                <a:latin typeface="Perpetua"/>
                <a:cs typeface="Perpetua"/>
              </a:rPr>
              <a:t>a</a:t>
            </a:r>
            <a:r>
              <a:rPr sz="2400" spc="-40" dirty="0">
                <a:latin typeface="Perpetua"/>
                <a:cs typeface="Perpetua"/>
              </a:rPr>
              <a:t>l</a:t>
            </a:r>
            <a:r>
              <a:rPr sz="2400" spc="-30" dirty="0">
                <a:latin typeface="Perpetua"/>
                <a:cs typeface="Perpetua"/>
              </a:rPr>
              <a:t>w</a:t>
            </a:r>
            <a:r>
              <a:rPr sz="2400" spc="-8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ys	</a:t>
            </a:r>
            <a:r>
              <a:rPr sz="2400" spc="-5" dirty="0">
                <a:latin typeface="Perpetua"/>
                <a:cs typeface="Perpetua"/>
              </a:rPr>
              <a:t>a</a:t>
            </a:r>
            <a:r>
              <a:rPr sz="2400" spc="5" dirty="0">
                <a:latin typeface="Perpetua"/>
                <a:cs typeface="Perpetua"/>
              </a:rPr>
              <a:t>d</a:t>
            </a:r>
            <a:r>
              <a:rPr sz="2400" dirty="0">
                <a:latin typeface="Perpetua"/>
                <a:cs typeface="Perpetua"/>
              </a:rPr>
              <a:t>ded	one	</a:t>
            </a:r>
            <a:r>
              <a:rPr sz="2400" spc="-5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o	the	co</a:t>
            </a:r>
            <a:r>
              <a:rPr sz="2400" spc="5" dirty="0">
                <a:latin typeface="Perpetua"/>
                <a:cs typeface="Perpetua"/>
              </a:rPr>
              <a:t>u</a:t>
            </a:r>
            <a:r>
              <a:rPr sz="2400" dirty="0">
                <a:latin typeface="Perpetua"/>
                <a:cs typeface="Perpetua"/>
              </a:rPr>
              <a:t>nter	when	</a:t>
            </a:r>
            <a:r>
              <a:rPr sz="2400" spc="-90" dirty="0">
                <a:latin typeface="Perpetua"/>
                <a:cs typeface="Perpetua"/>
              </a:rPr>
              <a:t>we  </a:t>
            </a:r>
            <a:r>
              <a:rPr sz="2400" spc="5" dirty="0">
                <a:latin typeface="Perpetua"/>
                <a:cs typeface="Perpetua"/>
              </a:rPr>
              <a:t>changed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it.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5" dirty="0">
                <a:latin typeface="Perpetua"/>
                <a:cs typeface="Perpetua"/>
              </a:rPr>
              <a:t>makes us count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upwards</a:t>
            </a:r>
            <a:r>
              <a:rPr sz="2400" spc="-1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could </a:t>
            </a:r>
            <a:r>
              <a:rPr sz="2400" spc="-10" dirty="0">
                <a:latin typeface="Perpetua"/>
                <a:cs typeface="Perpetua"/>
              </a:rPr>
              <a:t>equally </a:t>
            </a:r>
            <a:r>
              <a:rPr sz="2400" spc="-25" dirty="0">
                <a:latin typeface="Perpetua"/>
                <a:cs typeface="Perpetua"/>
              </a:rPr>
              <a:t>well </a:t>
            </a:r>
            <a:r>
              <a:rPr sz="2400" dirty="0">
                <a:latin typeface="Perpetua"/>
                <a:cs typeface="Perpetua"/>
              </a:rPr>
              <a:t>count </a:t>
            </a:r>
            <a:r>
              <a:rPr sz="2400" spc="-20" dirty="0">
                <a:latin typeface="Perpetua"/>
                <a:cs typeface="Perpetua"/>
              </a:rPr>
              <a:t>down</a:t>
            </a:r>
            <a:r>
              <a:rPr sz="2400" spc="-29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too.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i="1" spc="-5" dirty="0">
                <a:latin typeface="Perpetua"/>
                <a:cs typeface="Perpetua"/>
              </a:rPr>
              <a:t>Then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dirty="0">
                <a:latin typeface="Perpetua"/>
                <a:cs typeface="Perpetua"/>
              </a:rPr>
              <a:t>set the </a:t>
            </a:r>
            <a:r>
              <a:rPr sz="2400" i="1" spc="-5" dirty="0">
                <a:latin typeface="Perpetua"/>
                <a:cs typeface="Perpetua"/>
              </a:rPr>
              <a:t>counter to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number </a:t>
            </a:r>
            <a:r>
              <a:rPr sz="2400" i="1" spc="-15" dirty="0">
                <a:latin typeface="Perpetua"/>
                <a:cs typeface="Perpetua"/>
              </a:rPr>
              <a:t>we wanted </a:t>
            </a:r>
            <a:r>
              <a:rPr sz="2400" i="1" spc="-5" dirty="0">
                <a:latin typeface="Perpetua"/>
                <a:cs typeface="Perpetua"/>
              </a:rPr>
              <a:t>to count </a:t>
            </a:r>
            <a:r>
              <a:rPr sz="2400" i="1" spc="-15" dirty="0">
                <a:latin typeface="Perpetua"/>
                <a:cs typeface="Perpetua"/>
              </a:rPr>
              <a:t>down</a:t>
            </a:r>
            <a:r>
              <a:rPr sz="2400" i="1" spc="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from.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9"/>
              </a:spcBef>
              <a:buSzPct val="85416"/>
              <a:buFont typeface="Wingdings"/>
              <a:buChar char=""/>
              <a:tabLst>
                <a:tab pos="561340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spc="-10" dirty="0">
                <a:latin typeface="Perpetua"/>
                <a:cs typeface="Perpetua"/>
              </a:rPr>
              <a:t>would subtract </a:t>
            </a:r>
            <a:r>
              <a:rPr sz="2400" i="1" spc="-5" dirty="0">
                <a:latin typeface="Perpetua"/>
                <a:cs typeface="Perpetua"/>
              </a:rPr>
              <a:t>one from our count </a:t>
            </a:r>
            <a:r>
              <a:rPr sz="2400" i="1" dirty="0">
                <a:latin typeface="Perpetua"/>
                <a:cs typeface="Perpetua"/>
              </a:rPr>
              <a:t>each time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number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dirty="0">
                <a:latin typeface="Perpetua"/>
                <a:cs typeface="Perpetua"/>
              </a:rPr>
              <a:t>stop  </a:t>
            </a:r>
            <a:r>
              <a:rPr sz="2400" i="1" spc="-15" dirty="0">
                <a:latin typeface="Perpetua"/>
                <a:cs typeface="Perpetua"/>
              </a:rPr>
              <a:t>at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spc="-5" dirty="0">
                <a:latin typeface="Perpetua"/>
                <a:cs typeface="Perpetua"/>
              </a:rPr>
              <a:t>be</a:t>
            </a:r>
            <a:r>
              <a:rPr sz="2400" i="1" spc="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0.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For</a:t>
            </a:r>
            <a:r>
              <a:rPr sz="2400" spc="-10" dirty="0">
                <a:latin typeface="Perpetua"/>
                <a:cs typeface="Perpetua"/>
              </a:rPr>
              <a:t> example,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sz="2400" dirty="0">
                <a:latin typeface="Perpetua"/>
                <a:cs typeface="Perpetua"/>
              </a:rPr>
              <a:t>Set counter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10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latin typeface="Perpetua"/>
                <a:cs typeface="Perpetua"/>
              </a:rPr>
              <a:t>While </a:t>
            </a:r>
            <a:r>
              <a:rPr sz="2400" dirty="0">
                <a:latin typeface="Perpetua"/>
                <a:cs typeface="Perpetua"/>
              </a:rPr>
              <a:t>counter is not 0 </a:t>
            </a:r>
            <a:r>
              <a:rPr sz="2400" b="1" dirty="0">
                <a:latin typeface="Perpetua"/>
                <a:cs typeface="Perpetua"/>
              </a:rPr>
              <a:t>do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0" dirty="0">
                <a:latin typeface="Perpetua"/>
                <a:cs typeface="Perpetua"/>
              </a:rPr>
              <a:t>following</a:t>
            </a:r>
            <a:r>
              <a:rPr sz="2400" b="1" spc="-40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repeatedly</a:t>
            </a:r>
            <a:endParaRPr sz="2400">
              <a:latin typeface="Perpetua"/>
              <a:cs typeface="Perpetua"/>
            </a:endParaRPr>
          </a:p>
          <a:p>
            <a:pPr marL="779145" indent="-218440">
              <a:lnSpc>
                <a:spcPct val="100000"/>
              </a:lnSpc>
              <a:spcBef>
                <a:spcPts val="405"/>
              </a:spcBef>
              <a:buAutoNum type="alphaLcPeriod"/>
              <a:tabLst>
                <a:tab pos="779780" algn="l"/>
              </a:tabLst>
            </a:pPr>
            <a:r>
              <a:rPr sz="2400" spc="5" dirty="0">
                <a:latin typeface="Perpetua"/>
                <a:cs typeface="Perpetua"/>
              </a:rPr>
              <a:t>Write </a:t>
            </a:r>
            <a:r>
              <a:rPr sz="2400" dirty="0">
                <a:latin typeface="Perpetua"/>
                <a:cs typeface="Perpetua"/>
              </a:rPr>
              <a:t>“</a:t>
            </a:r>
            <a:r>
              <a:rPr sz="2400" i="1" dirty="0">
                <a:latin typeface="Perpetua"/>
                <a:cs typeface="Perpetua"/>
              </a:rPr>
              <a:t>I </a:t>
            </a:r>
            <a:r>
              <a:rPr sz="2400" i="1" spc="-5" dirty="0">
                <a:latin typeface="Perpetua"/>
                <a:cs typeface="Perpetua"/>
              </a:rPr>
              <a:t>must </a:t>
            </a:r>
            <a:r>
              <a:rPr sz="2400" i="1" dirty="0">
                <a:latin typeface="Perpetua"/>
                <a:cs typeface="Perpetua"/>
              </a:rPr>
              <a:t>not set </a:t>
            </a:r>
            <a:r>
              <a:rPr sz="2400" i="1" spc="-10" dirty="0">
                <a:latin typeface="Perpetua"/>
                <a:cs typeface="Perpetua"/>
              </a:rPr>
              <a:t>fire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35" dirty="0">
                <a:latin typeface="Perpetua"/>
                <a:cs typeface="Perpetua"/>
              </a:rPr>
              <a:t>Sally’s </a:t>
            </a:r>
            <a:r>
              <a:rPr sz="2400" i="1" dirty="0">
                <a:latin typeface="Perpetua"/>
                <a:cs typeface="Perpetua"/>
              </a:rPr>
              <a:t>hair </a:t>
            </a:r>
            <a:r>
              <a:rPr sz="2400" i="1" spc="-5" dirty="0">
                <a:latin typeface="Perpetua"/>
                <a:cs typeface="Perpetua"/>
              </a:rPr>
              <a:t>in</a:t>
            </a:r>
            <a:r>
              <a:rPr sz="2400" i="1" spc="-1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class</a:t>
            </a:r>
            <a:r>
              <a:rPr sz="2400" spc="-5" dirty="0">
                <a:latin typeface="Perpetua"/>
                <a:cs typeface="Perpetua"/>
              </a:rPr>
              <a:t>”.</a:t>
            </a:r>
            <a:endParaRPr sz="2400">
              <a:latin typeface="Perpetua"/>
              <a:cs typeface="Perpetua"/>
            </a:endParaRPr>
          </a:p>
          <a:p>
            <a:pPr marL="824865" indent="-26416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825500" algn="l"/>
              </a:tabLst>
            </a:pPr>
            <a:r>
              <a:rPr sz="2400" dirty="0">
                <a:latin typeface="Perpetua"/>
                <a:cs typeface="Perpetua"/>
              </a:rPr>
              <a:t>Subtract one </a:t>
            </a:r>
            <a:r>
              <a:rPr sz="2400" spc="-10" dirty="0">
                <a:latin typeface="Perpetua"/>
                <a:cs typeface="Perpetua"/>
              </a:rPr>
              <a:t>from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counter.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53200" y="3352800"/>
            <a:ext cx="2432304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235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15" dirty="0"/>
              <a:t>Nursery</a:t>
            </a:r>
            <a:r>
              <a:rPr spc="-75" dirty="0"/>
              <a:t> </a:t>
            </a:r>
            <a:r>
              <a:rPr spc="-25" dirty="0"/>
              <a:t>rhyme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433525"/>
            <a:ext cx="7717790" cy="3533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rhyme </a:t>
            </a:r>
            <a:r>
              <a:rPr sz="2600" dirty="0">
                <a:latin typeface="Perpetua"/>
                <a:cs typeface="Perpetua"/>
              </a:rPr>
              <a:t>is just describing 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actions done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given  </a:t>
            </a:r>
            <a:r>
              <a:rPr sz="2600" spc="-40" dirty="0">
                <a:latin typeface="Perpetua"/>
                <a:cs typeface="Perpetua"/>
              </a:rPr>
              <a:t>order.</a:t>
            </a:r>
            <a:endParaRPr sz="2600">
              <a:latin typeface="Perpetua"/>
              <a:cs typeface="Perpetua"/>
            </a:endParaRPr>
          </a:p>
          <a:p>
            <a:pPr marL="286385" marR="683260">
              <a:lnSpc>
                <a:spcPct val="123300"/>
              </a:lnSpc>
              <a:spcBef>
                <a:spcPts val="130"/>
              </a:spcBef>
            </a:pP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15" dirty="0">
                <a:latin typeface="Perpetua"/>
                <a:cs typeface="Perpetua"/>
              </a:rPr>
              <a:t>were </a:t>
            </a:r>
            <a:r>
              <a:rPr sz="2400" i="1" dirty="0">
                <a:latin typeface="Perpetua"/>
                <a:cs typeface="Perpetua"/>
              </a:rPr>
              <a:t>ten </a:t>
            </a:r>
            <a:r>
              <a:rPr sz="2400" i="1" spc="-5" dirty="0">
                <a:latin typeface="Perpetua"/>
                <a:cs typeface="Perpetua"/>
              </a:rPr>
              <a:t>in the </a:t>
            </a:r>
            <a:r>
              <a:rPr sz="2400" i="1" dirty="0">
                <a:latin typeface="Perpetua"/>
                <a:cs typeface="Perpetua"/>
              </a:rPr>
              <a:t>bed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little one </a:t>
            </a:r>
            <a:r>
              <a:rPr sz="2400" i="1" spc="5" dirty="0">
                <a:latin typeface="Perpetua"/>
                <a:cs typeface="Perpetua"/>
              </a:rPr>
              <a:t>said,“Roll </a:t>
            </a:r>
            <a:r>
              <a:rPr sz="2400" i="1" spc="-40" dirty="0">
                <a:latin typeface="Perpetua"/>
                <a:cs typeface="Perpetua"/>
              </a:rPr>
              <a:t>over, </a:t>
            </a:r>
            <a:r>
              <a:rPr sz="2400" i="1" dirty="0">
                <a:latin typeface="Perpetua"/>
                <a:cs typeface="Perpetua"/>
              </a:rPr>
              <a:t>Roll</a:t>
            </a:r>
            <a:r>
              <a:rPr sz="2400" i="1" spc="-27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over” 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5" dirty="0">
                <a:latin typeface="Perpetua"/>
                <a:cs typeface="Perpetua"/>
              </a:rPr>
              <a:t>they </a:t>
            </a:r>
            <a:r>
              <a:rPr sz="2400" i="1" dirty="0">
                <a:latin typeface="Perpetua"/>
                <a:cs typeface="Perpetua"/>
              </a:rPr>
              <a:t>all rolled </a:t>
            </a:r>
            <a:r>
              <a:rPr sz="2400" i="1" spc="-25" dirty="0">
                <a:latin typeface="Perpetua"/>
                <a:cs typeface="Perpetua"/>
              </a:rPr>
              <a:t>over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10" dirty="0">
                <a:latin typeface="Perpetua"/>
                <a:cs typeface="Perpetua"/>
              </a:rPr>
              <a:t>one fell</a:t>
            </a:r>
            <a:r>
              <a:rPr sz="2400" i="1" spc="-5" dirty="0">
                <a:latin typeface="Perpetua"/>
                <a:cs typeface="Perpetua"/>
              </a:rPr>
              <a:t> out.</a:t>
            </a:r>
            <a:endParaRPr sz="2400">
              <a:latin typeface="Perpetua"/>
              <a:cs typeface="Perpetua"/>
            </a:endParaRPr>
          </a:p>
          <a:p>
            <a:pPr marL="286385" marR="561975">
              <a:lnSpc>
                <a:spcPct val="120800"/>
              </a:lnSpc>
              <a:spcBef>
                <a:spcPts val="5"/>
              </a:spcBef>
            </a:pP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15" dirty="0">
                <a:latin typeface="Perpetua"/>
                <a:cs typeface="Perpetua"/>
              </a:rPr>
              <a:t>were </a:t>
            </a:r>
            <a:r>
              <a:rPr sz="2400" i="1" dirty="0">
                <a:latin typeface="Perpetua"/>
                <a:cs typeface="Perpetua"/>
              </a:rPr>
              <a:t>nine </a:t>
            </a:r>
            <a:r>
              <a:rPr sz="2400" i="1" spc="-5" dirty="0">
                <a:latin typeface="Perpetua"/>
                <a:cs typeface="Perpetua"/>
              </a:rPr>
              <a:t>in the </a:t>
            </a:r>
            <a:r>
              <a:rPr sz="2400" i="1" dirty="0">
                <a:latin typeface="Perpetua"/>
                <a:cs typeface="Perpetua"/>
              </a:rPr>
              <a:t>bed </a:t>
            </a:r>
            <a:r>
              <a:rPr sz="2400" i="1" spc="-5" dirty="0">
                <a:latin typeface="Perpetua"/>
                <a:cs typeface="Perpetua"/>
              </a:rPr>
              <a:t>and the little one </a:t>
            </a:r>
            <a:r>
              <a:rPr sz="2400" i="1" spc="5" dirty="0">
                <a:latin typeface="Perpetua"/>
                <a:cs typeface="Perpetua"/>
              </a:rPr>
              <a:t>said,“Roll </a:t>
            </a:r>
            <a:r>
              <a:rPr sz="2400" i="1" spc="-40" dirty="0">
                <a:latin typeface="Perpetua"/>
                <a:cs typeface="Perpetua"/>
              </a:rPr>
              <a:t>over, </a:t>
            </a:r>
            <a:r>
              <a:rPr sz="2400" i="1" dirty="0">
                <a:latin typeface="Perpetua"/>
                <a:cs typeface="Perpetua"/>
              </a:rPr>
              <a:t>Roll</a:t>
            </a:r>
            <a:r>
              <a:rPr sz="2400" i="1" spc="-27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over” 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5" dirty="0">
                <a:latin typeface="Perpetua"/>
                <a:cs typeface="Perpetua"/>
              </a:rPr>
              <a:t>they </a:t>
            </a:r>
            <a:r>
              <a:rPr sz="2400" i="1" dirty="0">
                <a:latin typeface="Perpetua"/>
                <a:cs typeface="Perpetua"/>
              </a:rPr>
              <a:t>all rolled </a:t>
            </a:r>
            <a:r>
              <a:rPr sz="2400" i="1" spc="-25" dirty="0">
                <a:latin typeface="Perpetua"/>
                <a:cs typeface="Perpetua"/>
              </a:rPr>
              <a:t>over </a:t>
            </a:r>
            <a:r>
              <a:rPr sz="2400" i="1" spc="-5" dirty="0">
                <a:latin typeface="Perpetua"/>
                <a:cs typeface="Perpetua"/>
              </a:rPr>
              <a:t>and one </a:t>
            </a:r>
            <a:r>
              <a:rPr sz="2400" i="1" spc="-10" dirty="0">
                <a:latin typeface="Perpetua"/>
                <a:cs typeface="Perpetua"/>
              </a:rPr>
              <a:t>fell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out.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400" i="1" dirty="0">
                <a:latin typeface="Perpetua"/>
                <a:cs typeface="Perpetua"/>
              </a:rPr>
              <a:t>etc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70"/>
              </a:spcBef>
            </a:pPr>
            <a:r>
              <a:rPr sz="2400" i="1" spc="-10" dirty="0">
                <a:latin typeface="Perpetua"/>
                <a:cs typeface="Perpetua"/>
              </a:rPr>
              <a:t>There </a:t>
            </a:r>
            <a:r>
              <a:rPr sz="2400" i="1" spc="-15" dirty="0">
                <a:latin typeface="Perpetua"/>
                <a:cs typeface="Perpetua"/>
              </a:rPr>
              <a:t>were </a:t>
            </a:r>
            <a:r>
              <a:rPr sz="2400" i="1" dirty="0">
                <a:latin typeface="Perpetua"/>
                <a:cs typeface="Perpetua"/>
              </a:rPr>
              <a:t>none </a:t>
            </a:r>
            <a:r>
              <a:rPr sz="2400" i="1" spc="-5" dirty="0">
                <a:latin typeface="Perpetua"/>
                <a:cs typeface="Perpetua"/>
              </a:rPr>
              <a:t>in the </a:t>
            </a:r>
            <a:r>
              <a:rPr sz="2400" i="1" dirty="0">
                <a:latin typeface="Perpetua"/>
                <a:cs typeface="Perpetua"/>
              </a:rPr>
              <a:t>bed </a:t>
            </a:r>
            <a:r>
              <a:rPr sz="2400" i="1" spc="-5" dirty="0">
                <a:latin typeface="Perpetua"/>
                <a:cs typeface="Perpetua"/>
              </a:rPr>
              <a:t>and the little one </a:t>
            </a:r>
            <a:r>
              <a:rPr sz="2400" i="1" dirty="0">
                <a:latin typeface="Perpetua"/>
                <a:cs typeface="Perpetua"/>
              </a:rPr>
              <a:t>said “Good</a:t>
            </a:r>
            <a:r>
              <a:rPr sz="2400" i="1" spc="-29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Night</a:t>
            </a:r>
            <a:r>
              <a:rPr sz="2600" i="1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7375" y="6087871"/>
            <a:ext cx="5509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Re-interpret it </a:t>
            </a:r>
            <a:r>
              <a:rPr sz="2400" i="1" dirty="0">
                <a:latin typeface="Perpetua"/>
                <a:cs typeface="Perpetua"/>
              </a:rPr>
              <a:t>as an algorithm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spc="-5" dirty="0">
                <a:latin typeface="Perpetua"/>
                <a:cs typeface="Perpetua"/>
              </a:rPr>
              <a:t>it </a:t>
            </a:r>
            <a:r>
              <a:rPr sz="2400" i="1" dirty="0">
                <a:latin typeface="Perpetua"/>
                <a:cs typeface="Perpetua"/>
              </a:rPr>
              <a:t>as a</a:t>
            </a:r>
            <a:r>
              <a:rPr sz="2400" i="1" spc="-75" dirty="0">
                <a:latin typeface="Perpetua"/>
                <a:cs typeface="Perpetua"/>
              </a:rPr>
              <a:t> </a:t>
            </a:r>
            <a:r>
              <a:rPr sz="2400" i="1" spc="-30" dirty="0">
                <a:latin typeface="Perpetua"/>
                <a:cs typeface="Perpetua"/>
              </a:rPr>
              <a:t>loop.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79641" y="304915"/>
            <a:ext cx="1432862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11226"/>
            <a:ext cx="4398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FF0000"/>
                </a:solidFill>
              </a:rPr>
              <a:t>Nursery </a:t>
            </a:r>
            <a:r>
              <a:rPr sz="3600" spc="-15" dirty="0">
                <a:solidFill>
                  <a:srgbClr val="FF0000"/>
                </a:solidFill>
              </a:rPr>
              <a:t>rhyme-</a:t>
            </a:r>
            <a:r>
              <a:rPr sz="3600" spc="-45" dirty="0">
                <a:solidFill>
                  <a:srgbClr val="FF0000"/>
                </a:solidFill>
              </a:rPr>
              <a:t> </a:t>
            </a:r>
            <a:r>
              <a:rPr sz="3600" dirty="0">
                <a:solidFill>
                  <a:srgbClr val="FF0000"/>
                </a:solidFill>
              </a:rPr>
              <a:t>algorithm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8340" y="1143090"/>
            <a:ext cx="7690484" cy="48145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74955" indent="-262890">
              <a:lnSpc>
                <a:spcPct val="100000"/>
              </a:lnSpc>
              <a:spcBef>
                <a:spcPts val="409"/>
              </a:spcBef>
              <a:buSzPct val="91666"/>
              <a:buAutoNum type="arabicPeriod"/>
              <a:tabLst>
                <a:tab pos="275590" algn="l"/>
              </a:tabLst>
            </a:pPr>
            <a:r>
              <a:rPr sz="2400" spc="-105" dirty="0">
                <a:latin typeface="Perpetua"/>
                <a:cs typeface="Perpetua"/>
              </a:rPr>
              <a:t>Ten </a:t>
            </a:r>
            <a:r>
              <a:rPr sz="2400" dirty="0">
                <a:latin typeface="Perpetua"/>
                <a:cs typeface="Perpetua"/>
              </a:rPr>
              <a:t>get into</a:t>
            </a:r>
            <a:r>
              <a:rPr sz="2400" spc="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bed.</a:t>
            </a:r>
            <a:endParaRPr sz="2400">
              <a:latin typeface="Perpetua"/>
              <a:cs typeface="Perpetua"/>
            </a:endParaRPr>
          </a:p>
          <a:p>
            <a:pPr marL="242570" indent="-230504">
              <a:lnSpc>
                <a:spcPct val="100000"/>
              </a:lnSpc>
              <a:spcBef>
                <a:spcPts val="310"/>
              </a:spcBef>
              <a:buSzPct val="95833"/>
              <a:buFont typeface="Perpetua"/>
              <a:buAutoNum type="arabicPeriod"/>
              <a:tabLst>
                <a:tab pos="243204" algn="l"/>
              </a:tabLst>
            </a:pPr>
            <a:r>
              <a:rPr sz="2400" b="1" spc="-15" dirty="0">
                <a:latin typeface="Perpetua"/>
                <a:cs typeface="Perpetua"/>
              </a:rPr>
              <a:t>while </a:t>
            </a:r>
            <a:r>
              <a:rPr sz="2400" spc="-10" dirty="0">
                <a:latin typeface="Perpetua"/>
                <a:cs typeface="Perpetua"/>
              </a:rPr>
              <a:t>there are </a:t>
            </a:r>
            <a:r>
              <a:rPr sz="2400" spc="-20" dirty="0">
                <a:latin typeface="Perpetua"/>
                <a:cs typeface="Perpetua"/>
              </a:rPr>
              <a:t>any </a:t>
            </a:r>
            <a:r>
              <a:rPr sz="2400" dirty="0">
                <a:latin typeface="Perpetua"/>
                <a:cs typeface="Perpetua"/>
              </a:rPr>
              <a:t>in the bed </a:t>
            </a:r>
            <a:r>
              <a:rPr sz="2400" b="1" dirty="0">
                <a:latin typeface="Perpetua"/>
                <a:cs typeface="Perpetua"/>
              </a:rPr>
              <a:t>do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5" dirty="0">
                <a:latin typeface="Perpetua"/>
                <a:cs typeface="Perpetua"/>
              </a:rPr>
              <a:t>following</a:t>
            </a:r>
            <a:r>
              <a:rPr sz="2400" b="1" spc="15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repeatedly</a:t>
            </a:r>
            <a:endParaRPr sz="2400">
              <a:latin typeface="Perpetua"/>
              <a:cs typeface="Perpetua"/>
            </a:endParaRPr>
          </a:p>
          <a:p>
            <a:pPr marL="287020">
              <a:lnSpc>
                <a:spcPct val="100000"/>
              </a:lnSpc>
              <a:spcBef>
                <a:spcPts val="315"/>
              </a:spcBef>
            </a:pPr>
            <a:r>
              <a:rPr sz="2400" spc="25" dirty="0">
                <a:latin typeface="Perpetua"/>
                <a:cs typeface="Perpetua"/>
              </a:rPr>
              <a:t>a.The </a:t>
            </a:r>
            <a:r>
              <a:rPr sz="2400" spc="-5" dirty="0">
                <a:latin typeface="Perpetua"/>
                <a:cs typeface="Perpetua"/>
              </a:rPr>
              <a:t>little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25" dirty="0">
                <a:latin typeface="Perpetua"/>
                <a:cs typeface="Perpetua"/>
              </a:rPr>
              <a:t>says </a:t>
            </a:r>
            <a:r>
              <a:rPr sz="2400" dirty="0">
                <a:latin typeface="Perpetua"/>
                <a:cs typeface="Perpetua"/>
              </a:rPr>
              <a:t>“Roll</a:t>
            </a:r>
            <a:r>
              <a:rPr sz="2400" spc="-15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over”.</a:t>
            </a:r>
            <a:endParaRPr sz="2400">
              <a:latin typeface="Perpetua"/>
              <a:cs typeface="Perpetua"/>
            </a:endParaRPr>
          </a:p>
          <a:p>
            <a:pPr marL="514350" indent="-227965">
              <a:lnSpc>
                <a:spcPct val="100000"/>
              </a:lnSpc>
              <a:spcBef>
                <a:spcPts val="310"/>
              </a:spcBef>
              <a:buAutoNum type="alphaLcPeriod" startAt="2"/>
              <a:tabLst>
                <a:tab pos="514984" algn="l"/>
              </a:tabLst>
            </a:pPr>
            <a:r>
              <a:rPr sz="2400" spc="-10" dirty="0">
                <a:latin typeface="Perpetua"/>
                <a:cs typeface="Perpetua"/>
              </a:rPr>
              <a:t>They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10" dirty="0">
                <a:latin typeface="Perpetua"/>
                <a:cs typeface="Perpetua"/>
              </a:rPr>
              <a:t>roll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70" dirty="0">
                <a:latin typeface="Perpetua"/>
                <a:cs typeface="Perpetua"/>
              </a:rPr>
              <a:t>over.</a:t>
            </a:r>
            <a:endParaRPr sz="2400">
              <a:latin typeface="Perpetua"/>
              <a:cs typeface="Perpetua"/>
            </a:endParaRPr>
          </a:p>
          <a:p>
            <a:pPr marL="546100" indent="-259715">
              <a:lnSpc>
                <a:spcPct val="100000"/>
              </a:lnSpc>
              <a:spcBef>
                <a:spcPts val="315"/>
              </a:spcBef>
              <a:buAutoNum type="alphaLcPeriod" startAt="2"/>
              <a:tabLst>
                <a:tab pos="546735" algn="l"/>
              </a:tabLst>
            </a:pP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10" dirty="0">
                <a:latin typeface="Perpetua"/>
                <a:cs typeface="Perpetua"/>
              </a:rPr>
              <a:t>falls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out.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30" dirty="0">
                <a:latin typeface="Perpetua"/>
                <a:cs typeface="Perpetua"/>
              </a:rPr>
              <a:t>3.The </a:t>
            </a:r>
            <a:r>
              <a:rPr sz="2400" spc="-5" dirty="0">
                <a:latin typeface="Perpetua"/>
                <a:cs typeface="Perpetua"/>
              </a:rPr>
              <a:t>little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20" dirty="0">
                <a:latin typeface="Perpetua"/>
                <a:cs typeface="Perpetua"/>
              </a:rPr>
              <a:t>says </a:t>
            </a:r>
            <a:r>
              <a:rPr sz="2400" dirty="0">
                <a:latin typeface="Perpetua"/>
                <a:cs typeface="Perpetua"/>
              </a:rPr>
              <a:t>“Good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night”.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5416"/>
              <a:buFont typeface="Wingdings"/>
              <a:buChar char=""/>
              <a:tabLst>
                <a:tab pos="287655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spc="-10" dirty="0">
                <a:latin typeface="Perpetua"/>
                <a:cs typeface="Perpetua"/>
              </a:rPr>
              <a:t>initialize </a:t>
            </a:r>
            <a:r>
              <a:rPr sz="2400" i="1" dirty="0">
                <a:latin typeface="Perpetua"/>
                <a:cs typeface="Perpetua"/>
              </a:rPr>
              <a:t>the number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4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bed.</a:t>
            </a:r>
            <a:endParaRPr sz="24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315"/>
              </a:spcBef>
              <a:buSzPct val="85416"/>
              <a:buFont typeface="Wingdings"/>
              <a:buChar char=""/>
              <a:tabLst>
                <a:tab pos="287655" algn="l"/>
              </a:tabLst>
            </a:pPr>
            <a:r>
              <a:rPr sz="2400" i="1" dirty="0">
                <a:latin typeface="Perpetua"/>
                <a:cs typeface="Perpetua"/>
              </a:rPr>
              <a:t>Our termination </a:t>
            </a:r>
            <a:r>
              <a:rPr sz="2400" i="1" spc="-5" dirty="0">
                <a:latin typeface="Perpetua"/>
                <a:cs typeface="Perpetua"/>
              </a:rPr>
              <a:t>condition is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dirty="0">
                <a:latin typeface="Perpetua"/>
                <a:cs typeface="Perpetua"/>
              </a:rPr>
              <a:t>this </a:t>
            </a:r>
            <a:r>
              <a:rPr sz="2400" i="1" spc="-5" dirty="0">
                <a:latin typeface="Perpetua"/>
                <a:cs typeface="Perpetua"/>
              </a:rPr>
              <a:t>number is </a:t>
            </a:r>
            <a:r>
              <a:rPr sz="2400" i="1" dirty="0">
                <a:latin typeface="Perpetua"/>
                <a:cs typeface="Perpetua"/>
              </a:rPr>
              <a:t>not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zero.</a:t>
            </a:r>
            <a:endParaRPr sz="2400">
              <a:latin typeface="Perpetua"/>
              <a:cs typeface="Perpetua"/>
            </a:endParaRPr>
          </a:p>
          <a:p>
            <a:pPr marL="287020" marR="5080" indent="-274955">
              <a:lnSpc>
                <a:spcPts val="2590"/>
              </a:lnSpc>
              <a:spcBef>
                <a:spcPts val="640"/>
              </a:spcBef>
              <a:buSzPct val="85416"/>
              <a:buFont typeface="Wingdings"/>
              <a:buChar char=""/>
              <a:tabLst>
                <a:tab pos="287655" algn="l"/>
              </a:tabLst>
            </a:pPr>
            <a:r>
              <a:rPr sz="2400" i="1" dirty="0">
                <a:latin typeface="Perpetua"/>
                <a:cs typeface="Perpetua"/>
              </a:rPr>
              <a:t>Some </a:t>
            </a:r>
            <a:r>
              <a:rPr sz="2400" i="1" spc="-5" dirty="0">
                <a:latin typeface="Perpetua"/>
                <a:cs typeface="Perpetua"/>
              </a:rPr>
              <a:t>actions </a:t>
            </a:r>
            <a:r>
              <a:rPr sz="2400" i="1" spc="-10" dirty="0">
                <a:latin typeface="Perpetua"/>
                <a:cs typeface="Perpetua"/>
              </a:rPr>
              <a:t>occur repeatedly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after each </a:t>
            </a:r>
            <a:r>
              <a:rPr sz="2400" i="1" spc="-5" dirty="0">
                <a:latin typeface="Perpetua"/>
                <a:cs typeface="Perpetua"/>
              </a:rPr>
              <a:t>time </a:t>
            </a:r>
            <a:r>
              <a:rPr sz="2400" i="1" spc="-20" dirty="0">
                <a:latin typeface="Perpetua"/>
                <a:cs typeface="Perpetua"/>
              </a:rPr>
              <a:t>we </a:t>
            </a:r>
            <a:r>
              <a:rPr sz="2400" i="1" spc="-10" dirty="0">
                <a:latin typeface="Perpetua"/>
                <a:cs typeface="Perpetua"/>
              </a:rPr>
              <a:t>reduce the </a:t>
            </a:r>
            <a:r>
              <a:rPr sz="2400" i="1" spc="-5" dirty="0">
                <a:latin typeface="Perpetua"/>
                <a:cs typeface="Perpetua"/>
              </a:rPr>
              <a:t>number </a:t>
            </a:r>
            <a:r>
              <a:rPr sz="2400" i="1" dirty="0">
                <a:latin typeface="Perpetua"/>
                <a:cs typeface="Perpetua"/>
              </a:rPr>
              <a:t>(in  the </a:t>
            </a:r>
            <a:r>
              <a:rPr sz="2400" i="1" spc="-5" dirty="0">
                <a:latin typeface="Perpetua"/>
                <a:cs typeface="Perpetua"/>
              </a:rPr>
              <a:t>bed) </a:t>
            </a:r>
            <a:r>
              <a:rPr sz="2400" i="1" spc="-35" dirty="0">
                <a:latin typeface="Perpetua"/>
                <a:cs typeface="Perpetua"/>
              </a:rPr>
              <a:t>by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one.</a:t>
            </a:r>
            <a:endParaRPr sz="2400">
              <a:latin typeface="Perpetua"/>
              <a:cs typeface="Perpetua"/>
            </a:endParaRPr>
          </a:p>
          <a:p>
            <a:pPr marL="355600" indent="-343535">
              <a:lnSpc>
                <a:spcPct val="100000"/>
              </a:lnSpc>
              <a:spcBef>
                <a:spcPts val="280"/>
              </a:spcBef>
              <a:buSzPct val="85416"/>
              <a:buFont typeface="Wingdings"/>
              <a:buChar char=""/>
              <a:tabLst>
                <a:tab pos="355600" algn="l"/>
                <a:tab pos="356235" algn="l"/>
              </a:tabLst>
            </a:pPr>
            <a:r>
              <a:rPr sz="2400" i="1" spc="-5" dirty="0">
                <a:latin typeface="Perpetua"/>
                <a:cs typeface="Perpetua"/>
              </a:rPr>
              <a:t>It is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counter controlled loop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5" dirty="0">
                <a:latin typeface="Perpetua"/>
                <a:cs typeface="Perpetua"/>
              </a:rPr>
              <a:t>counts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down.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099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Repeating</a:t>
            </a:r>
            <a:r>
              <a:rPr spc="-50" dirty="0"/>
              <a:t> </a:t>
            </a:r>
            <a:r>
              <a:rPr spc="-5" dirty="0"/>
              <a:t>calculations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149590" cy="13677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an object </a:t>
            </a:r>
            <a:r>
              <a:rPr sz="2600" spc="-10" dirty="0">
                <a:latin typeface="Perpetua"/>
                <a:cs typeface="Perpetua"/>
              </a:rPr>
              <a:t>dropped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height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 = 0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sec.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asked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calculate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distance </a:t>
            </a:r>
            <a:r>
              <a:rPr sz="2600" spc="-15" dirty="0">
                <a:latin typeface="Perpetua"/>
                <a:cs typeface="Perpetua"/>
              </a:rPr>
              <a:t>traveled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second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the  object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standard </a:t>
            </a:r>
            <a:r>
              <a:rPr sz="2600" spc="-10" dirty="0">
                <a:latin typeface="Perpetua"/>
                <a:cs typeface="Perpetua"/>
              </a:rPr>
              <a:t>gravitational </a:t>
            </a:r>
            <a:r>
              <a:rPr sz="2600" dirty="0">
                <a:latin typeface="Perpetua"/>
                <a:cs typeface="Perpetua"/>
              </a:rPr>
              <a:t>field </a:t>
            </a:r>
            <a:r>
              <a:rPr sz="2600" spc="-35" dirty="0">
                <a:latin typeface="Perpetua"/>
                <a:cs typeface="Perpetua"/>
              </a:rPr>
              <a:t>over </a:t>
            </a:r>
            <a:r>
              <a:rPr sz="2600" spc="-5" dirty="0">
                <a:latin typeface="Perpetua"/>
                <a:cs typeface="Perpetua"/>
              </a:rPr>
              <a:t>the next </a:t>
            </a:r>
            <a:r>
              <a:rPr sz="2600" dirty="0">
                <a:latin typeface="Perpetua"/>
                <a:cs typeface="Perpetua"/>
              </a:rPr>
              <a:t>10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seconds.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5287" y="2904632"/>
            <a:ext cx="2769717" cy="2953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6200" y="3352800"/>
            <a:ext cx="2514600" cy="829310"/>
          </a:xfrm>
          <a:custGeom>
            <a:avLst/>
            <a:gdLst/>
            <a:ahLst/>
            <a:cxnLst/>
            <a:rect l="l" t="t" r="r" b="b"/>
            <a:pathLst>
              <a:path w="2514600" h="829310">
                <a:moveTo>
                  <a:pt x="0" y="829056"/>
                </a:moveTo>
                <a:lnTo>
                  <a:pt x="2514600" y="829056"/>
                </a:lnTo>
                <a:lnTo>
                  <a:pt x="2514600" y="0"/>
                </a:lnTo>
                <a:lnTo>
                  <a:pt x="0" y="0"/>
                </a:lnTo>
                <a:lnTo>
                  <a:pt x="0" y="829056"/>
                </a:lnTo>
                <a:close/>
              </a:path>
            </a:pathLst>
          </a:custGeom>
          <a:solidFill>
            <a:srgbClr val="FFFF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62195" y="3778838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913" y="0"/>
                </a:lnTo>
              </a:path>
            </a:pathLst>
          </a:custGeom>
          <a:ln w="134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50547" y="3739396"/>
            <a:ext cx="10668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450" spc="1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5389" y="3739396"/>
            <a:ext cx="10668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450" spc="1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00296" y="3516486"/>
            <a:ext cx="10668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450" spc="10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8895" y="3267892"/>
            <a:ext cx="178435" cy="9137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0"/>
              </a:spcBef>
            </a:pPr>
            <a:r>
              <a:rPr sz="2500" spc="10" dirty="0">
                <a:latin typeface="Times New Roman"/>
                <a:cs typeface="Times New Roman"/>
              </a:rPr>
              <a:t>1</a:t>
            </a:r>
            <a:endParaRPr sz="2500">
              <a:latin typeface="Times New Roman"/>
              <a:cs typeface="Times New Roman"/>
            </a:endParaRPr>
          </a:p>
          <a:p>
            <a:pPr marL="5080">
              <a:lnSpc>
                <a:spcPct val="100000"/>
              </a:lnSpc>
              <a:spcBef>
                <a:spcPts val="495"/>
              </a:spcBef>
            </a:pPr>
            <a:r>
              <a:rPr sz="2500" spc="10" dirty="0">
                <a:latin typeface="Times New Roman"/>
                <a:cs typeface="Times New Roman"/>
              </a:rPr>
              <a:t>2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9691" y="3526771"/>
            <a:ext cx="1531620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466725" algn="l"/>
              </a:tabLst>
            </a:pPr>
            <a:r>
              <a:rPr sz="2500" i="1" spc="-10" dirty="0">
                <a:latin typeface="Times New Roman"/>
                <a:cs typeface="Times New Roman"/>
              </a:rPr>
              <a:t>gt	</a:t>
            </a:r>
            <a:r>
              <a:rPr sz="2500" spc="15" dirty="0">
                <a:latin typeface="Symbol"/>
                <a:cs typeface="Symbol"/>
              </a:rPr>
              <a:t>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v </a:t>
            </a:r>
            <a:r>
              <a:rPr sz="2500" i="1" spc="5" dirty="0">
                <a:latin typeface="Times New Roman"/>
                <a:cs typeface="Times New Roman"/>
              </a:rPr>
              <a:t>t </a:t>
            </a:r>
            <a:r>
              <a:rPr sz="2500" spc="15" dirty="0">
                <a:latin typeface="Symbol"/>
                <a:cs typeface="Symbol"/>
              </a:rPr>
              <a:t>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35002" y="3526771"/>
            <a:ext cx="457834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500" i="1" spc="10" dirty="0">
                <a:latin typeface="Times New Roman"/>
                <a:cs typeface="Times New Roman"/>
              </a:rPr>
              <a:t>d</a:t>
            </a:r>
            <a:r>
              <a:rPr sz="2500" i="1" spc="13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73246" y="3339846"/>
            <a:ext cx="2540635" cy="855344"/>
          </a:xfrm>
          <a:custGeom>
            <a:avLst/>
            <a:gdLst/>
            <a:ahLst/>
            <a:cxnLst/>
            <a:rect l="l" t="t" r="r" b="b"/>
            <a:pathLst>
              <a:path w="2540635" h="855345">
                <a:moveTo>
                  <a:pt x="0" y="854963"/>
                </a:moveTo>
                <a:lnTo>
                  <a:pt x="2540507" y="854963"/>
                </a:lnTo>
                <a:lnTo>
                  <a:pt x="2540507" y="0"/>
                </a:lnTo>
                <a:lnTo>
                  <a:pt x="0" y="0"/>
                </a:lnTo>
                <a:lnTo>
                  <a:pt x="0" y="854963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79520" y="4337050"/>
            <a:ext cx="4660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00785" algn="l"/>
              </a:tabLst>
            </a:pPr>
            <a:r>
              <a:rPr sz="2400" dirty="0">
                <a:latin typeface="Perpetua"/>
                <a:cs typeface="Perpetua"/>
              </a:rPr>
              <a:t>Simplify:	</a:t>
            </a:r>
            <a:r>
              <a:rPr sz="2400" spc="-5" dirty="0">
                <a:latin typeface="Perpetua"/>
                <a:cs typeface="Perpetua"/>
              </a:rPr>
              <a:t>Assume v</a:t>
            </a:r>
            <a:r>
              <a:rPr sz="2400" spc="-7" baseline="-24305" dirty="0">
                <a:latin typeface="Perpetua"/>
                <a:cs typeface="Perpetua"/>
              </a:rPr>
              <a:t>0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d</a:t>
            </a:r>
            <a:r>
              <a:rPr sz="2400" baseline="-24305" dirty="0">
                <a:latin typeface="Perpetua"/>
                <a:cs typeface="Perpetua"/>
              </a:rPr>
              <a:t>0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both</a:t>
            </a:r>
            <a:r>
              <a:rPr sz="2400" spc="30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zero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10000" y="4953000"/>
            <a:ext cx="1386840" cy="914400"/>
          </a:xfrm>
          <a:custGeom>
            <a:avLst/>
            <a:gdLst/>
            <a:ahLst/>
            <a:cxnLst/>
            <a:rect l="l" t="t" r="r" b="b"/>
            <a:pathLst>
              <a:path w="1386839" h="914400">
                <a:moveTo>
                  <a:pt x="0" y="914400"/>
                </a:moveTo>
                <a:lnTo>
                  <a:pt x="1386839" y="914400"/>
                </a:lnTo>
                <a:lnTo>
                  <a:pt x="1386839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F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2492" y="5422897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0" y="0"/>
                </a:moveTo>
                <a:lnTo>
                  <a:pt x="212512" y="0"/>
                </a:lnTo>
              </a:path>
            </a:pathLst>
          </a:custGeom>
          <a:ln w="14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65870" y="5417393"/>
            <a:ext cx="18986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750" spc="15" dirty="0">
                <a:latin typeface="Times New Roman"/>
                <a:cs typeface="Times New Roman"/>
              </a:rPr>
              <a:t>2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7720" y="5146189"/>
            <a:ext cx="133667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750" i="1" spc="15" dirty="0">
                <a:latin typeface="Times New Roman"/>
                <a:cs typeface="Times New Roman"/>
              </a:rPr>
              <a:t>d </a:t>
            </a:r>
            <a:r>
              <a:rPr sz="2750" spc="20" dirty="0">
                <a:latin typeface="Symbol"/>
                <a:cs typeface="Symbol"/>
              </a:rPr>
              <a:t>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4125" spc="22" baseline="34343" dirty="0">
                <a:latin typeface="Times New Roman"/>
                <a:cs typeface="Times New Roman"/>
              </a:rPr>
              <a:t>1 </a:t>
            </a:r>
            <a:r>
              <a:rPr sz="2750" i="1" spc="-5" dirty="0">
                <a:latin typeface="Times New Roman"/>
                <a:cs typeface="Times New Roman"/>
              </a:rPr>
              <a:t>gt</a:t>
            </a:r>
            <a:r>
              <a:rPr sz="2750" i="1" spc="-135" dirty="0">
                <a:latin typeface="Times New Roman"/>
                <a:cs typeface="Times New Roman"/>
              </a:rPr>
              <a:t> </a:t>
            </a:r>
            <a:r>
              <a:rPr sz="2400" spc="15" baseline="43402" dirty="0">
                <a:latin typeface="Times New Roman"/>
                <a:cs typeface="Times New Roman"/>
              </a:rPr>
              <a:t>2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97046" y="4940046"/>
            <a:ext cx="1412875" cy="940435"/>
          </a:xfrm>
          <a:custGeom>
            <a:avLst/>
            <a:gdLst/>
            <a:ahLst/>
            <a:cxnLst/>
            <a:rect l="l" t="t" r="r" b="b"/>
            <a:pathLst>
              <a:path w="1412875" h="940435">
                <a:moveTo>
                  <a:pt x="0" y="940307"/>
                </a:moveTo>
                <a:lnTo>
                  <a:pt x="1412748" y="940307"/>
                </a:lnTo>
                <a:lnTo>
                  <a:pt x="1412748" y="0"/>
                </a:lnTo>
                <a:lnTo>
                  <a:pt x="0" y="0"/>
                </a:lnTo>
                <a:lnTo>
                  <a:pt x="0" y="94030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61228" y="6164071"/>
            <a:ext cx="3606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15" dirty="0">
                <a:latin typeface="Perpetua"/>
                <a:cs typeface="Perpetua"/>
              </a:rPr>
              <a:t>Give </a:t>
            </a:r>
            <a:r>
              <a:rPr sz="2400" i="1" dirty="0">
                <a:latin typeface="Perpetua"/>
                <a:cs typeface="Perpetua"/>
              </a:rPr>
              <a:t>the flowchart </a:t>
            </a:r>
            <a:r>
              <a:rPr sz="2400" i="1" spc="-5" dirty="0">
                <a:latin typeface="Perpetua"/>
                <a:cs typeface="Perpetua"/>
              </a:rPr>
              <a:t>and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04070" y="457315"/>
            <a:ext cx="1507802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357886"/>
            <a:ext cx="4575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>
                <a:solidFill>
                  <a:srgbClr val="FF0000"/>
                </a:solidFill>
              </a:rPr>
              <a:t>Algorithm </a:t>
            </a:r>
            <a:r>
              <a:rPr spc="-5" dirty="0">
                <a:solidFill>
                  <a:srgbClr val="FF0000"/>
                </a:solidFill>
              </a:rPr>
              <a:t>and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spc="10" dirty="0">
                <a:solidFill>
                  <a:srgbClr val="FF0000"/>
                </a:solidFill>
              </a:rPr>
              <a:t>flowchart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48791"/>
            <a:ext cx="6640195" cy="2465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46075" indent="-33401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46710" algn="l"/>
              </a:tabLst>
            </a:pPr>
            <a:r>
              <a:rPr sz="2800" spc="-5" dirty="0">
                <a:latin typeface="Perpetua"/>
                <a:cs typeface="Perpetua"/>
              </a:rPr>
              <a:t>Set the </a:t>
            </a:r>
            <a:r>
              <a:rPr sz="2800" dirty="0">
                <a:latin typeface="Perpetua"/>
                <a:cs typeface="Perpetua"/>
              </a:rPr>
              <a:t>counter </a:t>
            </a:r>
            <a:r>
              <a:rPr sz="2800" spc="-5" dirty="0">
                <a:latin typeface="Perpetua"/>
                <a:cs typeface="Perpetua"/>
              </a:rPr>
              <a:t>to its initial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value</a:t>
            </a:r>
            <a:endParaRPr sz="2800">
              <a:latin typeface="Perpetua"/>
              <a:cs typeface="Perpetua"/>
            </a:endParaRPr>
          </a:p>
          <a:p>
            <a:pPr marL="287020" marR="5080" indent="-27495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288925" algn="l"/>
              </a:tabLst>
            </a:pPr>
            <a:r>
              <a:rPr sz="2800" b="1" spc="-5" dirty="0">
                <a:latin typeface="Perpetua"/>
                <a:cs typeface="Perpetua"/>
              </a:rPr>
              <a:t>While </a:t>
            </a:r>
            <a:r>
              <a:rPr sz="2800" spc="-5" dirty="0">
                <a:latin typeface="Perpetua"/>
                <a:cs typeface="Perpetua"/>
              </a:rPr>
              <a:t>counter is less than or equal to 10 </a:t>
            </a:r>
            <a:r>
              <a:rPr sz="2800" b="1" spc="-5" dirty="0">
                <a:latin typeface="Perpetua"/>
                <a:cs typeface="Perpetua"/>
              </a:rPr>
              <a:t>do </a:t>
            </a:r>
            <a:r>
              <a:rPr sz="2800" b="1" spc="-10" dirty="0">
                <a:latin typeface="Perpetua"/>
                <a:cs typeface="Perpetua"/>
              </a:rPr>
              <a:t>the  </a:t>
            </a:r>
            <a:r>
              <a:rPr sz="2800" b="1" spc="-15" dirty="0">
                <a:latin typeface="Perpetua"/>
                <a:cs typeface="Perpetua"/>
              </a:rPr>
              <a:t>following</a:t>
            </a:r>
            <a:r>
              <a:rPr sz="2800" b="1" spc="-25" dirty="0">
                <a:latin typeface="Perpetua"/>
                <a:cs typeface="Perpetua"/>
              </a:rPr>
              <a:t> </a:t>
            </a:r>
            <a:r>
              <a:rPr sz="2800" b="1" spc="-15" dirty="0">
                <a:latin typeface="Perpetua"/>
                <a:cs typeface="Perpetua"/>
              </a:rPr>
              <a:t>repeatedly</a:t>
            </a:r>
            <a:endParaRPr sz="2800">
              <a:latin typeface="Perpetua"/>
              <a:cs typeface="Perpetua"/>
            </a:endParaRPr>
          </a:p>
          <a:p>
            <a:pPr marL="586105" lvl="1" indent="-29972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586740" algn="l"/>
              </a:tabLst>
            </a:pPr>
            <a:r>
              <a:rPr sz="2800" spc="-5" dirty="0">
                <a:latin typeface="Perpetua"/>
                <a:cs typeface="Perpetua"/>
              </a:rPr>
              <a:t>calculate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distance</a:t>
            </a:r>
            <a:endParaRPr sz="2800">
              <a:latin typeface="Perpetua"/>
              <a:cs typeface="Perpetua"/>
            </a:endParaRPr>
          </a:p>
          <a:p>
            <a:pPr marL="593725" lvl="1" indent="-30734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594360" algn="l"/>
              </a:tabLst>
            </a:pPr>
            <a:r>
              <a:rPr sz="2800" spc="-5" dirty="0">
                <a:latin typeface="Perpetua"/>
                <a:cs typeface="Perpetua"/>
              </a:rPr>
              <a:t>increment the counter </a:t>
            </a:r>
            <a:r>
              <a:rPr sz="2800" spc="-35" dirty="0">
                <a:latin typeface="Perpetua"/>
                <a:cs typeface="Perpetua"/>
              </a:rPr>
              <a:t>by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one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1000" y="3505200"/>
            <a:ext cx="4724400" cy="289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374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Playing</a:t>
            </a:r>
            <a:r>
              <a:rPr spc="-55" dirty="0"/>
              <a:t> </a:t>
            </a:r>
            <a:r>
              <a:rPr spc="25" dirty="0"/>
              <a:t>darts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2379091"/>
            <a:ext cx="60960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15" dirty="0">
                <a:latin typeface="Perpetua"/>
                <a:cs typeface="Perpetua"/>
              </a:rPr>
              <a:t>playing </a:t>
            </a:r>
            <a:r>
              <a:rPr sz="2600" spc="15" dirty="0">
                <a:latin typeface="Perpetua"/>
                <a:cs typeface="Perpetua"/>
              </a:rPr>
              <a:t>darts,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three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darts.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796665"/>
            <a:ext cx="853186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10" dirty="0">
                <a:latin typeface="Perpetua"/>
                <a:cs typeface="Perpetua"/>
              </a:rPr>
              <a:t>turns,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get the highest </a:t>
            </a:r>
            <a:r>
              <a:rPr sz="2600" spc="-10" dirty="0">
                <a:latin typeface="Perpetua"/>
                <a:cs typeface="Perpetua"/>
              </a:rPr>
              <a:t>score they </a:t>
            </a:r>
            <a:r>
              <a:rPr sz="2600" spc="-5" dirty="0">
                <a:latin typeface="Perpetua"/>
                <a:cs typeface="Perpetua"/>
              </a:rPr>
              <a:t>can  </a:t>
            </a:r>
            <a:r>
              <a:rPr sz="2600" dirty="0">
                <a:latin typeface="Perpetua"/>
                <a:cs typeface="Perpetua"/>
              </a:rPr>
              <a:t>with just </a:t>
            </a:r>
            <a:r>
              <a:rPr sz="2600" spc="-5" dirty="0">
                <a:latin typeface="Perpetua"/>
                <a:cs typeface="Perpetua"/>
              </a:rPr>
              <a:t>three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darts.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3213735" marR="311785" lvl="1">
              <a:lnSpc>
                <a:spcPct val="100000"/>
              </a:lnSpc>
              <a:buSzPct val="95833"/>
              <a:buFont typeface="Wingdings"/>
              <a:buChar char=""/>
              <a:tabLst>
                <a:tab pos="3454400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instructions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throwing </a:t>
            </a:r>
            <a:r>
              <a:rPr sz="2400" i="1" spc="10" dirty="0">
                <a:latin typeface="Perpetua"/>
                <a:cs typeface="Perpetua"/>
              </a:rPr>
              <a:t>darts </a:t>
            </a:r>
            <a:r>
              <a:rPr sz="2400" i="1" spc="-5" dirty="0">
                <a:latin typeface="Perpetua"/>
                <a:cs typeface="Perpetua"/>
              </a:rPr>
              <a:t>as </a:t>
            </a:r>
            <a:r>
              <a:rPr sz="2400" i="1" dirty="0">
                <a:latin typeface="Perpetua"/>
                <a:cs typeface="Perpetua"/>
              </a:rPr>
              <a:t>a  </a:t>
            </a:r>
            <a:r>
              <a:rPr sz="2400" i="1" spc="-5" dirty="0">
                <a:latin typeface="Perpetua"/>
                <a:cs typeface="Perpetua"/>
              </a:rPr>
              <a:t>counter-controlled </a:t>
            </a:r>
            <a:r>
              <a:rPr sz="2400" i="1" spc="-30" dirty="0">
                <a:latin typeface="Perpetua"/>
                <a:cs typeface="Perpetua"/>
              </a:rPr>
              <a:t>loop.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5600" y="457200"/>
            <a:ext cx="2667000" cy="1949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8500" y="457315"/>
            <a:ext cx="1582743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903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10" dirty="0"/>
              <a:t>Grill </a:t>
            </a:r>
            <a:r>
              <a:rPr spc="-5" dirty="0"/>
              <a:t>a</a:t>
            </a:r>
            <a:r>
              <a:rPr spc="-114" dirty="0"/>
              <a:t> </a:t>
            </a:r>
            <a:r>
              <a:rPr spc="-5" dirty="0"/>
              <a:t>steak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4864"/>
            <a:ext cx="8532495" cy="434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501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Perhaps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chef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cooking </a:t>
            </a:r>
            <a:r>
              <a:rPr sz="2600" dirty="0">
                <a:latin typeface="Perpetua"/>
                <a:cs typeface="Perpetua"/>
              </a:rPr>
              <a:t>a large </a:t>
            </a:r>
            <a:r>
              <a:rPr sz="2600" spc="-5" dirty="0">
                <a:latin typeface="Perpetua"/>
                <a:cs typeface="Perpetua"/>
              </a:rPr>
              <a:t>meal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includes steak, </a:t>
            </a:r>
            <a:r>
              <a:rPr sz="2600" spc="-10" dirty="0">
                <a:latin typeface="Perpetua"/>
                <a:cs typeface="Perpetua"/>
              </a:rPr>
              <a:t>baked  potatoes,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steamed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broccoli.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501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chef </a:t>
            </a:r>
            <a:r>
              <a:rPr sz="2600" spc="-5" dirty="0">
                <a:latin typeface="Perpetua"/>
                <a:cs typeface="Perpetua"/>
              </a:rPr>
              <a:t>needs to </a:t>
            </a:r>
            <a:r>
              <a:rPr sz="2600" i="1" spc="-15" dirty="0">
                <a:latin typeface="Perpetua"/>
                <a:cs typeface="Perpetua"/>
              </a:rPr>
              <a:t>know </a:t>
            </a:r>
            <a:r>
              <a:rPr sz="2600" i="1" spc="-5" dirty="0">
                <a:latin typeface="Perpetua"/>
                <a:cs typeface="Perpetua"/>
              </a:rPr>
              <a:t>the time </a:t>
            </a:r>
            <a:r>
              <a:rPr sz="2600" i="1" spc="-10" dirty="0">
                <a:latin typeface="Perpetua"/>
                <a:cs typeface="Perpetua"/>
              </a:rPr>
              <a:t>required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5" dirty="0">
                <a:latin typeface="Perpetua"/>
                <a:cs typeface="Perpetua"/>
              </a:rPr>
              <a:t>grilling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</a:t>
            </a:r>
            <a:r>
              <a:rPr sz="2600" dirty="0">
                <a:latin typeface="Perpetua"/>
                <a:cs typeface="Perpetua"/>
              </a:rPr>
              <a:t>in order  </a:t>
            </a:r>
            <a:r>
              <a:rPr sz="2600" spc="-5" dirty="0">
                <a:latin typeface="Perpetua"/>
                <a:cs typeface="Perpetua"/>
              </a:rPr>
              <a:t>to ensure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three </a:t>
            </a:r>
            <a:r>
              <a:rPr sz="2600" dirty="0">
                <a:latin typeface="Perpetua"/>
                <a:cs typeface="Perpetua"/>
              </a:rPr>
              <a:t>dishes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completed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about </a:t>
            </a:r>
            <a:r>
              <a:rPr sz="2600" dirty="0">
                <a:latin typeface="Perpetua"/>
                <a:cs typeface="Perpetua"/>
              </a:rPr>
              <a:t>the same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5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small addition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algorithm </a:t>
            </a:r>
            <a:r>
              <a:rPr sz="2600" spc="-5" dirty="0">
                <a:latin typeface="Perpetua"/>
                <a:cs typeface="Perpetua"/>
              </a:rPr>
              <a:t>for modeling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 steak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is </a:t>
            </a:r>
            <a:r>
              <a:rPr sz="2600" spc="10" dirty="0">
                <a:latin typeface="Perpetua"/>
                <a:cs typeface="Perpetua"/>
              </a:rPr>
              <a:t>grilled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20" dirty="0">
                <a:latin typeface="Perpetua"/>
                <a:cs typeface="Perpetua"/>
              </a:rPr>
              <a:t>allow </a:t>
            </a:r>
            <a:r>
              <a:rPr sz="2600" spc="-5" dirty="0">
                <a:latin typeface="Perpetua"/>
                <a:cs typeface="Perpetua"/>
              </a:rPr>
              <a:t>us </a:t>
            </a:r>
            <a:r>
              <a:rPr sz="2600" i="1" spc="-5" dirty="0">
                <a:latin typeface="Perpetua"/>
                <a:cs typeface="Perpetua"/>
              </a:rPr>
              <a:t>to compute additional information </a:t>
            </a:r>
            <a:r>
              <a:rPr sz="2600" spc="-5" dirty="0">
                <a:latin typeface="Perpetua"/>
                <a:cs typeface="Perpetua"/>
              </a:rPr>
              <a:t>that 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spc="10" dirty="0">
                <a:latin typeface="Perpetua"/>
                <a:cs typeface="Perpetua"/>
              </a:rPr>
              <a:t>chef </a:t>
            </a:r>
            <a:r>
              <a:rPr sz="2600" spc="-5" dirty="0">
                <a:latin typeface="Perpetua"/>
                <a:cs typeface="Perpetua"/>
              </a:rPr>
              <a:t>might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require.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0" y="304800"/>
            <a:ext cx="2052827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405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Length of time</a:t>
            </a:r>
            <a:r>
              <a:rPr spc="-60" dirty="0"/>
              <a:t> </a:t>
            </a:r>
            <a:r>
              <a:rPr spc="-10" dirty="0"/>
              <a:t>required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2495" cy="461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62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compute the length of </a:t>
            </a:r>
            <a:r>
              <a:rPr sz="2600" i="1" dirty="0">
                <a:latin typeface="Perpetua"/>
                <a:cs typeface="Perpetua"/>
              </a:rPr>
              <a:t>time </a:t>
            </a:r>
            <a:r>
              <a:rPr sz="2600" i="1" spc="-10" dirty="0">
                <a:latin typeface="Perpetua"/>
                <a:cs typeface="Perpetua"/>
              </a:rPr>
              <a:t>required</a:t>
            </a:r>
            <a:r>
              <a:rPr sz="2600" spc="-10" dirty="0">
                <a:latin typeface="Perpetua"/>
                <a:cs typeface="Perpetua"/>
              </a:rPr>
              <a:t>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introduce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20" dirty="0">
                <a:latin typeface="Perpetua"/>
                <a:cs typeface="Perpetua"/>
              </a:rPr>
              <a:t>new </a:t>
            </a:r>
            <a:r>
              <a:rPr sz="2600" spc="-10" dirty="0">
                <a:latin typeface="Perpetua"/>
                <a:cs typeface="Perpetua"/>
              </a:rPr>
              <a:t>variable  that represents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number of minutes of </a:t>
            </a: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elapsed </a:t>
            </a:r>
            <a:r>
              <a:rPr sz="2600" spc="-30" dirty="0">
                <a:latin typeface="Perpetua"/>
                <a:cs typeface="Perpetua"/>
              </a:rPr>
              <a:t>at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conclusion of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three-minute </a:t>
            </a:r>
            <a:r>
              <a:rPr sz="2600" dirty="0">
                <a:latin typeface="Perpetua"/>
                <a:cs typeface="Perpetua"/>
              </a:rPr>
              <a:t>span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variable should </a:t>
            </a:r>
            <a:r>
              <a:rPr sz="2600" spc="-15" dirty="0">
                <a:latin typeface="Perpetua"/>
                <a:cs typeface="Perpetua"/>
              </a:rPr>
              <a:t>obviously </a:t>
            </a:r>
            <a:r>
              <a:rPr sz="2600" dirty="0">
                <a:latin typeface="Perpetua"/>
                <a:cs typeface="Perpetua"/>
              </a:rPr>
              <a:t>be initialized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zero </a:t>
            </a:r>
            <a:r>
              <a:rPr sz="2600" spc="10" dirty="0">
                <a:latin typeface="Perpetua"/>
                <a:cs typeface="Perpetua"/>
              </a:rPr>
              <a:t>prior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entering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5" dirty="0">
                <a:latin typeface="Perpetua"/>
                <a:cs typeface="Perpetua"/>
              </a:rPr>
              <a:t>since, at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point in the </a:t>
            </a:r>
            <a:r>
              <a:rPr sz="2600" spc="-5" dirty="0">
                <a:latin typeface="Perpetua"/>
                <a:cs typeface="Perpetua"/>
              </a:rPr>
              <a:t>process,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5" dirty="0">
                <a:latin typeface="Perpetua"/>
                <a:cs typeface="Perpetua"/>
              </a:rPr>
              <a:t>yet </a:t>
            </a:r>
            <a:r>
              <a:rPr sz="2600" dirty="0">
                <a:latin typeface="Perpetua"/>
                <a:cs typeface="Perpetua"/>
              </a:rPr>
              <a:t>been  </a:t>
            </a:r>
            <a:r>
              <a:rPr sz="2600" spc="-5" dirty="0">
                <a:latin typeface="Perpetua"/>
                <a:cs typeface="Perpetua"/>
              </a:rPr>
              <a:t>put on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grill.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" dirty="0">
                <a:latin typeface="Perpetua"/>
                <a:cs typeface="Perpetua"/>
              </a:rPr>
              <a:t>execution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should increase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three  minutes </a:t>
            </a:r>
            <a:r>
              <a:rPr sz="2600" dirty="0">
                <a:latin typeface="Perpetua"/>
                <a:cs typeface="Perpetua"/>
              </a:rPr>
              <a:t>since </a:t>
            </a:r>
            <a:r>
              <a:rPr sz="2600" spc="-5" dirty="0">
                <a:latin typeface="Perpetua"/>
                <a:cs typeface="Perpetua"/>
              </a:rPr>
              <a:t>our model states 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is checked in  </a:t>
            </a:r>
            <a:r>
              <a:rPr sz="2600" spc="-5" dirty="0">
                <a:latin typeface="Perpetua"/>
                <a:cs typeface="Perpetua"/>
              </a:rPr>
              <a:t>three minute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intervals.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terminates, the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then contain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length of </a:t>
            </a:r>
            <a:r>
              <a:rPr sz="2600" dirty="0">
                <a:latin typeface="Perpetua"/>
                <a:cs typeface="Perpetua"/>
              </a:rPr>
              <a:t>time </a:t>
            </a:r>
            <a:r>
              <a:rPr sz="2600" spc="-5" dirty="0">
                <a:latin typeface="Perpetua"/>
                <a:cs typeface="Perpetua"/>
              </a:rPr>
              <a:t>required to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steak.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447800"/>
            <a:ext cx="5638800" cy="2590800"/>
          </a:xfrm>
          <a:custGeom>
            <a:avLst/>
            <a:gdLst/>
            <a:ahLst/>
            <a:cxnLst/>
            <a:rect l="l" t="t" r="r" b="b"/>
            <a:pathLst>
              <a:path w="5638800" h="2590800">
                <a:moveTo>
                  <a:pt x="0" y="2590800"/>
                </a:moveTo>
                <a:lnTo>
                  <a:pt x="5638800" y="2590800"/>
                </a:lnTo>
                <a:lnTo>
                  <a:pt x="56388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05000" y="1447800"/>
            <a:ext cx="5638800" cy="2590800"/>
          </a:xfrm>
          <a:custGeom>
            <a:avLst/>
            <a:gdLst/>
            <a:ahLst/>
            <a:cxnLst/>
            <a:rect l="l" t="t" r="r" b="b"/>
            <a:pathLst>
              <a:path w="5638800" h="2590800">
                <a:moveTo>
                  <a:pt x="0" y="2590800"/>
                </a:moveTo>
                <a:lnTo>
                  <a:pt x="5638800" y="2590800"/>
                </a:lnTo>
                <a:lnTo>
                  <a:pt x="56388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24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Time to</a:t>
            </a:r>
            <a:r>
              <a:rPr spc="-10" dirty="0"/>
              <a:t> </a:t>
            </a:r>
            <a:r>
              <a:rPr spc="10" dirty="0"/>
              <a:t>grill-algorithm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25294" y="1430477"/>
            <a:ext cx="1882139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3274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32740" algn="l"/>
              </a:tabLst>
            </a:pPr>
            <a:r>
              <a:rPr sz="2800" spc="-45" dirty="0">
                <a:latin typeface="Perpetua"/>
                <a:cs typeface="Perpetua"/>
              </a:rPr>
              <a:t>steakTemp</a:t>
            </a:r>
            <a:endParaRPr sz="2800">
              <a:latin typeface="Perpetua"/>
              <a:cs typeface="Perpetua"/>
            </a:endParaRPr>
          </a:p>
          <a:p>
            <a:pPr marL="332105" indent="-3327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32740" algn="l"/>
              </a:tabLst>
            </a:pPr>
            <a:r>
              <a:rPr sz="2800" dirty="0">
                <a:latin typeface="Perpetua"/>
                <a:cs typeface="Perpetua"/>
              </a:rPr>
              <a:t>minOnGrill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1592" y="1430477"/>
            <a:ext cx="33909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Perpetua"/>
                <a:cs typeface="Perpetua"/>
              </a:rPr>
              <a:t>75</a:t>
            </a:r>
            <a:endParaRPr sz="2800">
              <a:latin typeface="Perpetua"/>
              <a:cs typeface="Perpet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Perpetua"/>
                <a:cs typeface="Perpetua"/>
              </a:rPr>
              <a:t>0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2284602"/>
            <a:ext cx="7963534" cy="396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7405" indent="-33274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2098040" algn="l"/>
              </a:tabLst>
            </a:pPr>
            <a:r>
              <a:rPr sz="2800" spc="-5" dirty="0">
                <a:latin typeface="Perpetua"/>
                <a:cs typeface="Perpetua"/>
              </a:rPr>
              <a:t>while </a:t>
            </a:r>
            <a:r>
              <a:rPr sz="2800" spc="-45" dirty="0">
                <a:latin typeface="Perpetua"/>
                <a:cs typeface="Perpetua"/>
              </a:rPr>
              <a:t>steakTemp </a:t>
            </a:r>
            <a:r>
              <a:rPr sz="2800" spc="-5" dirty="0">
                <a:latin typeface="Perpetua"/>
                <a:cs typeface="Perpetua"/>
              </a:rPr>
              <a:t>&lt; 135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do</a:t>
            </a:r>
            <a:endParaRPr sz="2800">
              <a:latin typeface="Perpetua"/>
              <a:cs typeface="Perpetua"/>
            </a:endParaRPr>
          </a:p>
          <a:p>
            <a:pPr marL="2381250" lvl="1" indent="-457834">
              <a:lnSpc>
                <a:spcPct val="100000"/>
              </a:lnSpc>
              <a:buAutoNum type="alphaLcPeriod"/>
              <a:tabLst>
                <a:tab pos="2381250" algn="l"/>
                <a:tab pos="2381885" algn="l"/>
                <a:tab pos="4617085" algn="l"/>
              </a:tabLst>
            </a:pPr>
            <a:r>
              <a:rPr sz="2800" spc="-45" dirty="0">
                <a:latin typeface="Perpetua"/>
                <a:cs typeface="Perpetua"/>
              </a:rPr>
              <a:t>steakTemp	steakTemp </a:t>
            </a:r>
            <a:r>
              <a:rPr sz="2800" spc="-5" dirty="0">
                <a:latin typeface="Perpetua"/>
                <a:cs typeface="Perpetua"/>
              </a:rPr>
              <a:t>+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13</a:t>
            </a:r>
            <a:endParaRPr sz="2800">
              <a:latin typeface="Perpetua"/>
              <a:cs typeface="Perpetua"/>
            </a:endParaRPr>
          </a:p>
          <a:p>
            <a:pPr marL="2388870" lvl="1" indent="-465455">
              <a:lnSpc>
                <a:spcPct val="100000"/>
              </a:lnSpc>
              <a:buAutoNum type="alphaLcPeriod"/>
              <a:tabLst>
                <a:tab pos="2388870" algn="l"/>
                <a:tab pos="2389505" algn="l"/>
                <a:tab pos="4641850" algn="l"/>
              </a:tabLst>
            </a:pPr>
            <a:r>
              <a:rPr sz="2800" dirty="0">
                <a:latin typeface="Perpetua"/>
                <a:cs typeface="Perpetua"/>
              </a:rPr>
              <a:t>minOnGrill	minOnGrill </a:t>
            </a:r>
            <a:r>
              <a:rPr sz="2800" spc="-5" dirty="0">
                <a:latin typeface="Perpetua"/>
                <a:cs typeface="Perpetua"/>
              </a:rPr>
              <a:t>+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3</a:t>
            </a:r>
            <a:endParaRPr sz="2800">
              <a:latin typeface="Perpetua"/>
              <a:cs typeface="Perpetua"/>
            </a:endParaRPr>
          </a:p>
          <a:p>
            <a:pPr marL="2097405" indent="-332740">
              <a:lnSpc>
                <a:spcPct val="100000"/>
              </a:lnSpc>
              <a:buAutoNum type="arabicPeriod" startAt="3"/>
              <a:tabLst>
                <a:tab pos="2098040" algn="l"/>
              </a:tabLst>
            </a:pPr>
            <a:r>
              <a:rPr sz="2800" spc="-10" dirty="0">
                <a:latin typeface="Perpetua"/>
                <a:cs typeface="Perpetua"/>
              </a:rPr>
              <a:t>endwhile</a:t>
            </a:r>
            <a:endParaRPr sz="2800">
              <a:latin typeface="Perpetua"/>
              <a:cs typeface="Perpetua"/>
            </a:endParaRPr>
          </a:p>
          <a:p>
            <a:pPr marL="447675" algn="ctr">
              <a:lnSpc>
                <a:spcPct val="100000"/>
              </a:lnSpc>
              <a:spcBef>
                <a:spcPts val="10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135" dirty="0">
                <a:latin typeface="Perpetua"/>
                <a:cs typeface="Perpetua"/>
              </a:rPr>
              <a:t>To </a:t>
            </a:r>
            <a:r>
              <a:rPr sz="2000" spc="-5" dirty="0">
                <a:latin typeface="Perpetua"/>
                <a:cs typeface="Perpetua"/>
              </a:rPr>
              <a:t>compute </a:t>
            </a:r>
            <a:r>
              <a:rPr sz="2000" dirty="0">
                <a:latin typeface="Perpetua"/>
                <a:cs typeface="Perpetua"/>
              </a:rPr>
              <a:t>time </a:t>
            </a:r>
            <a:r>
              <a:rPr sz="2000" spc="-10" dirty="0">
                <a:latin typeface="Perpetua"/>
                <a:cs typeface="Perpetua"/>
              </a:rPr>
              <a:t>taken </a:t>
            </a:r>
            <a:r>
              <a:rPr sz="2000" dirty="0">
                <a:latin typeface="Perpetua"/>
                <a:cs typeface="Perpetua"/>
              </a:rPr>
              <a:t>to </a:t>
            </a:r>
            <a:r>
              <a:rPr sz="2000" spc="10" dirty="0">
                <a:latin typeface="Perpetua"/>
                <a:cs typeface="Perpetua"/>
              </a:rPr>
              <a:t>grill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2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steak</a:t>
            </a:r>
            <a:endParaRPr sz="2000">
              <a:latin typeface="Perpetua"/>
              <a:cs typeface="Perpetua"/>
            </a:endParaRPr>
          </a:p>
          <a:p>
            <a:pPr marL="286385" marR="199390" indent="-274320">
              <a:lnSpc>
                <a:spcPct val="100000"/>
              </a:lnSpc>
              <a:spcBef>
                <a:spcPts val="107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quickly recognize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effectively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counting  loop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counting loop </a:t>
            </a:r>
            <a:r>
              <a:rPr sz="2600" dirty="0">
                <a:latin typeface="Perpetua"/>
                <a:cs typeface="Perpetua"/>
              </a:rPr>
              <a:t>is one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contains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spc="5" dirty="0">
                <a:latin typeface="Perpetua"/>
                <a:cs typeface="Perpetua"/>
              </a:rPr>
              <a:t>track </a:t>
            </a:r>
            <a:r>
              <a:rPr sz="2600" dirty="0">
                <a:latin typeface="Perpetua"/>
                <a:cs typeface="Perpetua"/>
              </a:rPr>
              <a:t>of the 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times 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actually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executed.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91761" y="1638554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5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5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5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5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20361" y="3010154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5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5">
                <a:moveTo>
                  <a:pt x="77766" y="25954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305"/>
                </a:lnTo>
                <a:lnTo>
                  <a:pt x="77766" y="25954"/>
                </a:lnTo>
                <a:close/>
              </a:path>
              <a:path w="457200" h="78105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4"/>
                </a:lnTo>
                <a:lnTo>
                  <a:pt x="64770" y="25908"/>
                </a:lnTo>
                <a:close/>
              </a:path>
              <a:path w="457200" h="78105">
                <a:moveTo>
                  <a:pt x="77766" y="25908"/>
                </a:moveTo>
                <a:lnTo>
                  <a:pt x="64770" y="25908"/>
                </a:lnTo>
                <a:lnTo>
                  <a:pt x="77766" y="25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761" y="34673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961" y="2095754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5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5">
                <a:moveTo>
                  <a:pt x="77766" y="25954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305"/>
                </a:lnTo>
                <a:lnTo>
                  <a:pt x="77766" y="25954"/>
                </a:lnTo>
                <a:close/>
              </a:path>
              <a:path w="457200" h="78105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4"/>
                </a:lnTo>
                <a:lnTo>
                  <a:pt x="64770" y="25908"/>
                </a:lnTo>
                <a:close/>
              </a:path>
              <a:path w="457200" h="78105">
                <a:moveTo>
                  <a:pt x="77766" y="25908"/>
                </a:moveTo>
                <a:lnTo>
                  <a:pt x="64770" y="25908"/>
                </a:lnTo>
                <a:lnTo>
                  <a:pt x="77766" y="25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91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 counting</a:t>
            </a:r>
            <a:r>
              <a:rPr spc="-60" dirty="0"/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43290" cy="5087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714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variable </a:t>
            </a:r>
            <a:r>
              <a:rPr sz="2600" i="1" dirty="0">
                <a:latin typeface="Perpetua"/>
                <a:cs typeface="Perpetua"/>
              </a:rPr>
              <a:t>minOnGrill </a:t>
            </a:r>
            <a:r>
              <a:rPr sz="2600" dirty="0">
                <a:latin typeface="Perpetua"/>
                <a:cs typeface="Perpetua"/>
              </a:rPr>
              <a:t>is initialized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zero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line </a:t>
            </a:r>
            <a:r>
              <a:rPr sz="2600" dirty="0">
                <a:latin typeface="Perpetua"/>
                <a:cs typeface="Perpetua"/>
              </a:rPr>
              <a:t>2 </a:t>
            </a:r>
            <a:r>
              <a:rPr sz="2600" spc="-5" dirty="0">
                <a:latin typeface="Perpetua"/>
                <a:cs typeface="Perpetua"/>
              </a:rPr>
              <a:t>and  incremented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three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line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80" dirty="0">
                <a:latin typeface="Perpetua"/>
                <a:cs typeface="Perpetua"/>
              </a:rPr>
              <a:t>b.</a:t>
            </a:r>
            <a:endParaRPr sz="2600">
              <a:latin typeface="Perpetua"/>
              <a:cs typeface="Perpetua"/>
            </a:endParaRPr>
          </a:p>
          <a:p>
            <a:pPr marL="286385" marR="1714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minOnGrill </a:t>
            </a:r>
            <a:r>
              <a:rPr sz="2600" spc="-10" dirty="0">
                <a:latin typeface="Perpetua"/>
                <a:cs typeface="Perpetua"/>
              </a:rPr>
              <a:t>effectively </a:t>
            </a:r>
            <a:r>
              <a:rPr sz="2600" spc="-5" dirty="0">
                <a:latin typeface="Perpetua"/>
                <a:cs typeface="Perpetua"/>
              </a:rPr>
              <a:t>counts </a:t>
            </a:r>
            <a:r>
              <a:rPr sz="2600" dirty="0">
                <a:latin typeface="Perpetua"/>
                <a:cs typeface="Perpetua"/>
              </a:rPr>
              <a:t>the number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times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 </a:t>
            </a:r>
            <a:r>
              <a:rPr sz="2600" spc="-10" dirty="0">
                <a:latin typeface="Perpetua"/>
                <a:cs typeface="Perpetua"/>
              </a:rPr>
              <a:t>executes, </a:t>
            </a:r>
            <a:r>
              <a:rPr sz="2600" spc="-5" dirty="0">
                <a:latin typeface="Perpetua"/>
                <a:cs typeface="Perpetua"/>
              </a:rPr>
              <a:t>although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count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maintained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multiple of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three.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10" dirty="0">
                <a:latin typeface="Perpetua"/>
                <a:cs typeface="Perpetua"/>
              </a:rPr>
              <a:t>Prior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executing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65" dirty="0">
                <a:latin typeface="Perpetua"/>
                <a:cs typeface="Perpetua"/>
              </a:rPr>
              <a:t>body,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dirty="0">
                <a:latin typeface="Perpetua"/>
                <a:cs typeface="Perpetua"/>
              </a:rPr>
              <a:t>is initialized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0" dirty="0">
                <a:latin typeface="Perpetua"/>
                <a:cs typeface="Perpetua"/>
              </a:rPr>
              <a:t>zero,  </a:t>
            </a:r>
            <a:r>
              <a:rPr sz="2600" spc="-5" dirty="0">
                <a:latin typeface="Perpetua"/>
                <a:cs typeface="Perpetua"/>
              </a:rPr>
              <a:t>thus denoting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has been </a:t>
            </a:r>
            <a:r>
              <a:rPr sz="2600" spc="-10" dirty="0">
                <a:latin typeface="Perpetua"/>
                <a:cs typeface="Perpetua"/>
              </a:rPr>
              <a:t>executed zero times.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3782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5" dirty="0">
                <a:latin typeface="Perpetua"/>
                <a:cs typeface="Perpetua"/>
              </a:rPr>
              <a:t>body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executed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10" dirty="0">
                <a:latin typeface="Perpetua"/>
                <a:cs typeface="Perpetua"/>
              </a:rPr>
              <a:t>time,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minOnGrill  </a:t>
            </a:r>
            <a:r>
              <a:rPr sz="2600" spc="-5" dirty="0">
                <a:latin typeface="Perpetua"/>
                <a:cs typeface="Perpetua"/>
              </a:rPr>
              <a:t>variable holds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10" dirty="0">
                <a:latin typeface="Perpetua"/>
                <a:cs typeface="Perpetua"/>
              </a:rPr>
              <a:t>3, </a:t>
            </a:r>
            <a:r>
              <a:rPr sz="2600" spc="-5" dirty="0">
                <a:latin typeface="Perpetua"/>
                <a:cs typeface="Perpetua"/>
              </a:rPr>
              <a:t>denoting 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been </a:t>
            </a:r>
            <a:r>
              <a:rPr sz="2600" spc="-10" dirty="0">
                <a:latin typeface="Perpetua"/>
                <a:cs typeface="Perpetua"/>
              </a:rPr>
              <a:t>executed  </a:t>
            </a:r>
            <a:r>
              <a:rPr sz="2600" dirty="0">
                <a:latin typeface="Perpetua"/>
                <a:cs typeface="Perpetua"/>
              </a:rPr>
              <a:t>1 time (1 </a:t>
            </a:r>
            <a:r>
              <a:rPr sz="2600" spc="-5" dirty="0">
                <a:latin typeface="Perpetua"/>
                <a:cs typeface="Perpetua"/>
              </a:rPr>
              <a:t>multiple 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3).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executed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second </a:t>
            </a:r>
            <a:r>
              <a:rPr sz="2600" spc="-15" dirty="0">
                <a:latin typeface="Perpetua"/>
                <a:cs typeface="Perpetua"/>
              </a:rPr>
              <a:t>time,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minOnGrill  </a:t>
            </a:r>
            <a:r>
              <a:rPr sz="2600" spc="-5" dirty="0">
                <a:latin typeface="Perpetua"/>
                <a:cs typeface="Perpetua"/>
              </a:rPr>
              <a:t>variable holds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10" dirty="0">
                <a:latin typeface="Perpetua"/>
                <a:cs typeface="Perpetua"/>
              </a:rPr>
              <a:t>6, </a:t>
            </a:r>
            <a:r>
              <a:rPr sz="2600" spc="-5" dirty="0">
                <a:latin typeface="Perpetua"/>
                <a:cs typeface="Perpetua"/>
              </a:rPr>
              <a:t>denoting 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been </a:t>
            </a:r>
            <a:r>
              <a:rPr sz="2600" spc="-10" dirty="0">
                <a:latin typeface="Perpetua"/>
                <a:cs typeface="Perpetua"/>
              </a:rPr>
              <a:t>executed  </a:t>
            </a:r>
            <a:r>
              <a:rPr sz="2600" dirty="0">
                <a:latin typeface="Perpetua"/>
                <a:cs typeface="Perpetua"/>
              </a:rPr>
              <a:t>2 times (2 </a:t>
            </a:r>
            <a:r>
              <a:rPr sz="2600" spc="-5" dirty="0">
                <a:latin typeface="Perpetua"/>
                <a:cs typeface="Perpetua"/>
              </a:rPr>
              <a:t>multiples of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3).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10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Well-written</a:t>
            </a:r>
            <a:r>
              <a:rPr spc="-70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78661"/>
            <a:ext cx="8542020" cy="4289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indent="-297180">
              <a:lnSpc>
                <a:spcPts val="2920"/>
              </a:lnSpc>
              <a:spcBef>
                <a:spcPts val="95"/>
              </a:spcBef>
              <a:buFont typeface="Perpetua"/>
              <a:buAutoNum type="arabicPeriod"/>
              <a:tabLst>
                <a:tab pos="309880" algn="l"/>
              </a:tabLst>
            </a:pPr>
            <a:r>
              <a:rPr sz="2500" i="1" spc="-5" dirty="0">
                <a:latin typeface="Perpetua"/>
                <a:cs typeface="Perpetua"/>
              </a:rPr>
              <a:t>Initialization</a:t>
            </a:r>
            <a:endParaRPr sz="2500">
              <a:latin typeface="Perpetua"/>
              <a:cs typeface="Perpetua"/>
            </a:endParaRPr>
          </a:p>
          <a:p>
            <a:pPr marL="561340" marR="15875" lvl="1" indent="-228600">
              <a:lnSpc>
                <a:spcPts val="2300"/>
              </a:lnSpc>
              <a:spcBef>
                <a:spcPts val="48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Every variable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5" dirty="0">
                <a:latin typeface="Perpetua"/>
                <a:cs typeface="Perpetua"/>
              </a:rPr>
              <a:t>occurs </a:t>
            </a:r>
            <a:r>
              <a:rPr sz="2400" dirty="0">
                <a:latin typeface="Perpetua"/>
                <a:cs typeface="Perpetua"/>
              </a:rPr>
              <a:t>in the loop </a:t>
            </a:r>
            <a:r>
              <a:rPr sz="2400" spc="-10" dirty="0">
                <a:latin typeface="Perpetua"/>
                <a:cs typeface="Perpetua"/>
              </a:rPr>
              <a:t>must </a:t>
            </a:r>
            <a:r>
              <a:rPr sz="2400" spc="-5" dirty="0">
                <a:latin typeface="Perpetua"/>
                <a:cs typeface="Perpetua"/>
              </a:rPr>
              <a:t>hold </a:t>
            </a:r>
            <a:r>
              <a:rPr sz="2400" dirty="0">
                <a:latin typeface="Perpetua"/>
                <a:cs typeface="Perpetua"/>
              </a:rPr>
              <a:t>the correct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spc="10" dirty="0">
                <a:latin typeface="Perpetua"/>
                <a:cs typeface="Perpetua"/>
              </a:rPr>
              <a:t>prior </a:t>
            </a:r>
            <a:r>
              <a:rPr sz="2400" spc="5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5" dirty="0">
                <a:latin typeface="Perpetua"/>
                <a:cs typeface="Perpetua"/>
              </a:rPr>
              <a:t>entering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loop.</a:t>
            </a:r>
            <a:endParaRPr sz="2400">
              <a:latin typeface="Perpetua"/>
              <a:cs typeface="Perpetua"/>
            </a:endParaRPr>
          </a:p>
          <a:p>
            <a:pPr marL="561340" marR="15875" lvl="1" indent="-228600">
              <a:lnSpc>
                <a:spcPts val="2300"/>
              </a:lnSpc>
              <a:spcBef>
                <a:spcPts val="4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initialization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loop in Figure: </a:t>
            </a:r>
            <a:r>
              <a:rPr sz="2400" spc="-160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compute </a:t>
            </a:r>
            <a:r>
              <a:rPr sz="2400" spc="-5" dirty="0">
                <a:latin typeface="Perpetua"/>
                <a:cs typeface="Perpetua"/>
              </a:rPr>
              <a:t>time </a:t>
            </a:r>
            <a:r>
              <a:rPr sz="2400" spc="-10" dirty="0">
                <a:latin typeface="Perpetua"/>
                <a:cs typeface="Perpetua"/>
              </a:rPr>
              <a:t>taken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10" dirty="0">
                <a:latin typeface="Perpetua"/>
                <a:cs typeface="Perpetua"/>
              </a:rPr>
              <a:t>grill </a:t>
            </a:r>
            <a:r>
              <a:rPr sz="2400" dirty="0">
                <a:latin typeface="Perpetua"/>
                <a:cs typeface="Perpetua"/>
              </a:rPr>
              <a:t>a  steak, is </a:t>
            </a:r>
            <a:r>
              <a:rPr sz="2400" spc="5" dirty="0">
                <a:latin typeface="Perpetua"/>
                <a:cs typeface="Perpetua"/>
              </a:rPr>
              <a:t>performed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5" dirty="0">
                <a:latin typeface="Perpetua"/>
                <a:cs typeface="Perpetua"/>
              </a:rPr>
              <a:t>lines </a:t>
            </a:r>
            <a:r>
              <a:rPr sz="2400" dirty="0">
                <a:latin typeface="Perpetua"/>
                <a:cs typeface="Perpetua"/>
              </a:rPr>
              <a:t>1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2.</a:t>
            </a:r>
            <a:endParaRPr sz="2400">
              <a:latin typeface="Perpetua"/>
              <a:cs typeface="Perpetua"/>
            </a:endParaRPr>
          </a:p>
          <a:p>
            <a:pPr marL="561340" marR="19050" lvl="1" indent="-228600">
              <a:lnSpc>
                <a:spcPts val="2300"/>
              </a:lnSpc>
              <a:spcBef>
                <a:spcPts val="42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-5" dirty="0">
                <a:latin typeface="Perpetua"/>
                <a:cs typeface="Perpetua"/>
              </a:rPr>
              <a:t>state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i="1" spc="-35" dirty="0">
                <a:latin typeface="Perpetua"/>
                <a:cs typeface="Perpetua"/>
              </a:rPr>
              <a:t>steakTemp </a:t>
            </a:r>
            <a:r>
              <a:rPr sz="2400" spc="-10" dirty="0">
                <a:latin typeface="Perpetua"/>
                <a:cs typeface="Perpetua"/>
              </a:rPr>
              <a:t>immediately </a:t>
            </a:r>
            <a:r>
              <a:rPr sz="2400" spc="10" dirty="0">
                <a:latin typeface="Perpetua"/>
                <a:cs typeface="Perpetua"/>
              </a:rPr>
              <a:t>prior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grilling </a:t>
            </a:r>
            <a:r>
              <a:rPr sz="2400" spc="-5" dirty="0">
                <a:latin typeface="Perpetua"/>
                <a:cs typeface="Perpetua"/>
              </a:rPr>
              <a:t>process </a:t>
            </a:r>
            <a:r>
              <a:rPr sz="2400" spc="-10" dirty="0">
                <a:latin typeface="Perpetua"/>
                <a:cs typeface="Perpetua"/>
              </a:rPr>
              <a:t>is  </a:t>
            </a:r>
            <a:r>
              <a:rPr sz="2400" dirty="0">
                <a:latin typeface="Perpetua"/>
                <a:cs typeface="Perpetua"/>
              </a:rPr>
              <a:t>75 degrees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steak has been on the </a:t>
            </a:r>
            <a:r>
              <a:rPr sz="2400" spc="15" dirty="0">
                <a:latin typeface="Perpetua"/>
                <a:cs typeface="Perpetua"/>
              </a:rPr>
              <a:t>grill </a:t>
            </a:r>
            <a:r>
              <a:rPr sz="2400" dirty="0">
                <a:latin typeface="Perpetua"/>
                <a:cs typeface="Perpetua"/>
              </a:rPr>
              <a:t>for 0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minutes.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309880" indent="-297180" algn="just">
              <a:lnSpc>
                <a:spcPts val="2915"/>
              </a:lnSpc>
              <a:buFont typeface="Perpetua"/>
              <a:buAutoNum type="arabicPeriod"/>
              <a:tabLst>
                <a:tab pos="309880" algn="l"/>
              </a:tabLst>
            </a:pPr>
            <a:r>
              <a:rPr sz="2500" i="1" spc="-10" dirty="0">
                <a:latin typeface="Perpetua"/>
                <a:cs typeface="Perpetua"/>
              </a:rPr>
              <a:t>Condition</a:t>
            </a:r>
            <a:endParaRPr sz="2500">
              <a:latin typeface="Perpetua"/>
              <a:cs typeface="Perpetua"/>
            </a:endParaRPr>
          </a:p>
          <a:p>
            <a:pPr marL="561340" lvl="1" indent="-228600" algn="just">
              <a:lnSpc>
                <a:spcPts val="2710"/>
              </a:lnSpc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The condition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5" dirty="0">
                <a:latin typeface="Perpetua"/>
                <a:cs typeface="Perpetua"/>
              </a:rPr>
              <a:t>determines </a:t>
            </a:r>
            <a:r>
              <a:rPr sz="2400" dirty="0">
                <a:latin typeface="Perpetua"/>
                <a:cs typeface="Perpetua"/>
              </a:rPr>
              <a:t>when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repeat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loop must </a:t>
            </a:r>
            <a:r>
              <a:rPr sz="2400" dirty="0">
                <a:latin typeface="Perpetua"/>
                <a:cs typeface="Perpetua"/>
              </a:rPr>
              <a:t>be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precise.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ct val="80000"/>
              </a:lnSpc>
              <a:spcBef>
                <a:spcPts val="490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Since the </a:t>
            </a:r>
            <a:r>
              <a:rPr sz="2400" spc="5" dirty="0">
                <a:latin typeface="Perpetua"/>
                <a:cs typeface="Perpetua"/>
              </a:rPr>
              <a:t>chef </a:t>
            </a:r>
            <a:r>
              <a:rPr sz="2400" spc="-10" dirty="0">
                <a:latin typeface="Perpetua"/>
                <a:cs typeface="Perpetua"/>
              </a:rPr>
              <a:t>requires </a:t>
            </a:r>
            <a:r>
              <a:rPr sz="2400" dirty="0">
                <a:latin typeface="Perpetua"/>
                <a:cs typeface="Perpetua"/>
              </a:rPr>
              <a:t>the steak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reach 135 degrees, the </a:t>
            </a:r>
            <a:r>
              <a:rPr sz="2400" spc="-5" dirty="0">
                <a:latin typeface="Perpetua"/>
                <a:cs typeface="Perpetua"/>
              </a:rPr>
              <a:t>condition,  given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5" dirty="0">
                <a:latin typeface="Perpetua"/>
                <a:cs typeface="Perpetua"/>
              </a:rPr>
              <a:t>line </a:t>
            </a:r>
            <a:r>
              <a:rPr sz="2400" dirty="0">
                <a:latin typeface="Perpetua"/>
                <a:cs typeface="Perpetua"/>
              </a:rPr>
              <a:t>3, </a:t>
            </a:r>
            <a:r>
              <a:rPr sz="2400" spc="-5" dirty="0">
                <a:latin typeface="Perpetua"/>
                <a:cs typeface="Perpetua"/>
              </a:rPr>
              <a:t>indicates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process </a:t>
            </a:r>
            <a:r>
              <a:rPr sz="2400" dirty="0">
                <a:latin typeface="Perpetua"/>
                <a:cs typeface="Perpetua"/>
              </a:rPr>
              <a:t>will continue </a:t>
            </a:r>
            <a:r>
              <a:rPr sz="2400" spc="-5" dirty="0">
                <a:latin typeface="Perpetua"/>
                <a:cs typeface="Perpetua"/>
              </a:rPr>
              <a:t>as long as  </a:t>
            </a:r>
            <a:r>
              <a:rPr sz="2400" i="1" spc="-35" dirty="0">
                <a:latin typeface="Perpetua"/>
                <a:cs typeface="Perpetua"/>
              </a:rPr>
              <a:t>steakTemp </a:t>
            </a:r>
            <a:r>
              <a:rPr sz="2400" i="1" dirty="0">
                <a:latin typeface="Perpetua"/>
                <a:cs typeface="Perpetua"/>
              </a:rPr>
              <a:t>&lt;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135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88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Well-written </a:t>
            </a:r>
            <a:r>
              <a:rPr spc="-5" dirty="0"/>
              <a:t>loops</a:t>
            </a:r>
            <a:r>
              <a:rPr spc="15" dirty="0"/>
              <a:t> </a:t>
            </a:r>
            <a:r>
              <a:rPr i="1" spc="-5" dirty="0">
                <a:latin typeface="Perpetua"/>
                <a:cs typeface="Perpetua"/>
              </a:rPr>
              <a:t>contd---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31225" cy="4243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 indent="-277495">
              <a:lnSpc>
                <a:spcPct val="100000"/>
              </a:lnSpc>
              <a:spcBef>
                <a:spcPts val="105"/>
              </a:spcBef>
              <a:buFont typeface="Perpetua"/>
              <a:buAutoNum type="arabicPeriod" startAt="3"/>
              <a:tabLst>
                <a:tab pos="290195" algn="l"/>
              </a:tabLst>
            </a:pPr>
            <a:r>
              <a:rPr sz="2600" i="1" spc="-10" dirty="0">
                <a:latin typeface="Perpetua"/>
                <a:cs typeface="Perpetua"/>
              </a:rPr>
              <a:t>Progress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ts val="2810"/>
              </a:lnSpc>
              <a:spcBef>
                <a:spcPts val="440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actions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10" dirty="0">
                <a:latin typeface="Perpetua"/>
                <a:cs typeface="Perpetua"/>
              </a:rPr>
              <a:t>executed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dirty="0">
                <a:latin typeface="Perpetua"/>
                <a:cs typeface="Perpetua"/>
              </a:rPr>
              <a:t>in some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-15" dirty="0">
                <a:latin typeface="Perpetua"/>
                <a:cs typeface="Perpetua"/>
              </a:rPr>
              <a:t>make  </a:t>
            </a:r>
            <a:r>
              <a:rPr sz="2600" dirty="0">
                <a:latin typeface="Perpetua"/>
                <a:cs typeface="Perpetua"/>
              </a:rPr>
              <a:t>progress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20" dirty="0">
                <a:latin typeface="Perpetua"/>
                <a:cs typeface="Perpetua"/>
              </a:rPr>
              <a:t>allows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to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terminate.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561340" marR="6350" lvl="1" indent="-228600" algn="just">
              <a:lnSpc>
                <a:spcPts val="2810"/>
              </a:lnSpc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Since the </a:t>
            </a: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dirty="0">
                <a:latin typeface="Perpetua"/>
                <a:cs typeface="Perpetua"/>
              </a:rPr>
              <a:t>implies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will terminate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when  the </a:t>
            </a:r>
            <a:r>
              <a:rPr sz="2600" i="1" spc="-40" dirty="0">
                <a:latin typeface="Perpetua"/>
                <a:cs typeface="Perpetua"/>
              </a:rPr>
              <a:t>steakTemp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less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5" dirty="0">
                <a:latin typeface="Perpetua"/>
                <a:cs typeface="Perpetua"/>
              </a:rPr>
              <a:t>135,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0" dirty="0">
                <a:latin typeface="Perpetua"/>
                <a:cs typeface="Perpetua"/>
              </a:rPr>
              <a:t>makes </a:t>
            </a:r>
            <a:r>
              <a:rPr sz="2600" spc="-5" dirty="0">
                <a:latin typeface="Perpetua"/>
                <a:cs typeface="Perpetua"/>
              </a:rPr>
              <a:t>progress </a:t>
            </a:r>
            <a:r>
              <a:rPr sz="2600" spc="-25" dirty="0">
                <a:latin typeface="Perpetua"/>
                <a:cs typeface="Perpetua"/>
              </a:rPr>
              <a:t>toward  </a:t>
            </a:r>
            <a:r>
              <a:rPr sz="2600" spc="5" dirty="0">
                <a:latin typeface="Perpetua"/>
                <a:cs typeface="Perpetua"/>
              </a:rPr>
              <a:t>termination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increasing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35" dirty="0">
                <a:latin typeface="Perpetua"/>
                <a:cs typeface="Perpetua"/>
              </a:rPr>
              <a:t>steakTemp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13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15" dirty="0">
                <a:latin typeface="Perpetua"/>
                <a:cs typeface="Perpetua"/>
              </a:rPr>
              <a:t>every  </a:t>
            </a:r>
            <a:r>
              <a:rPr sz="2600" spc="-5" dirty="0">
                <a:latin typeface="Perpetua"/>
                <a:cs typeface="Perpetua"/>
              </a:rPr>
              <a:t>repetition.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561340" marR="5715" lvl="1" indent="-228600" algn="just">
              <a:lnSpc>
                <a:spcPts val="2810"/>
              </a:lnSpc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spc="-5" dirty="0">
                <a:latin typeface="Perpetua"/>
                <a:cs typeface="Perpetua"/>
              </a:rPr>
              <a:t>action ensures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20" dirty="0">
                <a:latin typeface="Perpetua"/>
                <a:cs typeface="Perpetua"/>
              </a:rPr>
              <a:t>eventually  </a:t>
            </a:r>
            <a:r>
              <a:rPr sz="2600" spc="5" dirty="0">
                <a:latin typeface="Perpetua"/>
                <a:cs typeface="Perpetua"/>
              </a:rPr>
              <a:t>terminate </a:t>
            </a:r>
            <a:r>
              <a:rPr sz="2600" dirty="0">
                <a:latin typeface="Perpetua"/>
                <a:cs typeface="Perpetua"/>
              </a:rPr>
              <a:t>since the </a:t>
            </a:r>
            <a:r>
              <a:rPr sz="2600" i="1" spc="-40" dirty="0">
                <a:latin typeface="Perpetua"/>
                <a:cs typeface="Perpetua"/>
              </a:rPr>
              <a:t>steakTemp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20" dirty="0">
                <a:latin typeface="Perpetua"/>
                <a:cs typeface="Perpetua"/>
              </a:rPr>
              <a:t>eventually </a:t>
            </a:r>
            <a:r>
              <a:rPr sz="2600" spc="-5" dirty="0">
                <a:latin typeface="Perpetua"/>
                <a:cs typeface="Perpetua"/>
              </a:rPr>
              <a:t>exceed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135.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14071"/>
            <a:ext cx="60388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dirty="0">
                <a:latin typeface="Perpetua"/>
                <a:cs typeface="Perpetua"/>
              </a:rPr>
              <a:t>an algorithm </a:t>
            </a:r>
            <a:r>
              <a:rPr sz="2600" i="1" spc="-5" dirty="0">
                <a:latin typeface="Perpetua"/>
                <a:cs typeface="Perpetua"/>
              </a:rPr>
              <a:t>to calculate the sum of 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numbers.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1040" y="98734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3070" y="987349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5101" y="987349"/>
            <a:ext cx="6273800" cy="0"/>
          </a:xfrm>
          <a:custGeom>
            <a:avLst/>
            <a:gdLst/>
            <a:ahLst/>
            <a:cxnLst/>
            <a:rect l="l" t="t" r="r" b="b"/>
            <a:pathLst>
              <a:path w="6273800">
                <a:moveTo>
                  <a:pt x="0" y="0"/>
                </a:moveTo>
                <a:lnTo>
                  <a:pt x="6273531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38632" y="683155"/>
            <a:ext cx="825500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600" i="1" dirty="0">
                <a:latin typeface="Perpetua"/>
                <a:cs typeface="Perpetua"/>
              </a:rPr>
              <a:t>___</a:t>
            </a:r>
            <a:r>
              <a:rPr sz="2600" i="1" spc="-15" dirty="0">
                <a:latin typeface="Perpetua"/>
                <a:cs typeface="Perpetua"/>
              </a:rPr>
              <a:t>_</a:t>
            </a:r>
            <a:r>
              <a:rPr sz="2600" i="1" dirty="0">
                <a:latin typeface="Perpetua"/>
                <a:cs typeface="Perpetua"/>
              </a:rPr>
              <a:t>_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1040" y="138358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3070" y="138358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5101" y="1383588"/>
            <a:ext cx="7098665" cy="0"/>
          </a:xfrm>
          <a:custGeom>
            <a:avLst/>
            <a:gdLst/>
            <a:ahLst/>
            <a:cxnLst/>
            <a:rect l="l" t="t" r="r" b="b"/>
            <a:pathLst>
              <a:path w="7098665">
                <a:moveTo>
                  <a:pt x="0" y="0"/>
                </a:moveTo>
                <a:lnTo>
                  <a:pt x="7098647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1040" y="1779859"/>
            <a:ext cx="6276975" cy="0"/>
          </a:xfrm>
          <a:custGeom>
            <a:avLst/>
            <a:gdLst/>
            <a:ahLst/>
            <a:cxnLst/>
            <a:rect l="l" t="t" r="r" b="b"/>
            <a:pathLst>
              <a:path w="6276975">
                <a:moveTo>
                  <a:pt x="0" y="0"/>
                </a:moveTo>
                <a:lnTo>
                  <a:pt x="6276665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8340" y="2196211"/>
            <a:ext cx="59131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6710" indent="-33464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347345" algn="l"/>
              </a:tabLst>
            </a:pPr>
            <a:r>
              <a:rPr sz="2600" i="1" dirty="0">
                <a:latin typeface="Perpetua"/>
                <a:cs typeface="Perpetua"/>
              </a:rPr>
              <a:t>Modify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above </a:t>
            </a:r>
            <a:r>
              <a:rPr sz="2600" i="1" spc="-5" dirty="0">
                <a:latin typeface="Perpetua"/>
                <a:cs typeface="Perpetua"/>
              </a:rPr>
              <a:t>algorithm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calculate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75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average.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1040" y="296893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3070" y="2968930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5101" y="2968930"/>
            <a:ext cx="7098665" cy="0"/>
          </a:xfrm>
          <a:custGeom>
            <a:avLst/>
            <a:gdLst/>
            <a:ahLst/>
            <a:cxnLst/>
            <a:rect l="l" t="t" r="r" b="b"/>
            <a:pathLst>
              <a:path w="7098665">
                <a:moveTo>
                  <a:pt x="0" y="0"/>
                </a:moveTo>
                <a:lnTo>
                  <a:pt x="7098647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040" y="33654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33070" y="336542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65101" y="3365424"/>
            <a:ext cx="7098665" cy="0"/>
          </a:xfrm>
          <a:custGeom>
            <a:avLst/>
            <a:gdLst/>
            <a:ahLst/>
            <a:cxnLst/>
            <a:rect l="l" t="t" r="r" b="b"/>
            <a:pathLst>
              <a:path w="7098665">
                <a:moveTo>
                  <a:pt x="0" y="0"/>
                </a:moveTo>
                <a:lnTo>
                  <a:pt x="7098647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1040" y="376166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33070" y="376166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65101" y="3761663"/>
            <a:ext cx="5614035" cy="0"/>
          </a:xfrm>
          <a:custGeom>
            <a:avLst/>
            <a:gdLst/>
            <a:ahLst/>
            <a:cxnLst/>
            <a:rect l="l" t="t" r="r" b="b"/>
            <a:pathLst>
              <a:path w="5614034">
                <a:moveTo>
                  <a:pt x="0" y="0"/>
                </a:moveTo>
                <a:lnTo>
                  <a:pt x="561376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340" y="4177360"/>
            <a:ext cx="6838315" cy="81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try </a:t>
            </a:r>
            <a:r>
              <a:rPr sz="2600" i="1" spc="5" dirty="0">
                <a:latin typeface="Perpetua"/>
                <a:cs typeface="Perpetua"/>
              </a:rPr>
              <a:t>writing </a:t>
            </a:r>
            <a:r>
              <a:rPr sz="2600" i="1" dirty="0">
                <a:latin typeface="Perpetua"/>
                <a:cs typeface="Perpetua"/>
              </a:rPr>
              <a:t>an algorithm </a:t>
            </a:r>
            <a:r>
              <a:rPr sz="2600" i="1" spc="-15" dirty="0">
                <a:latin typeface="Perpetua"/>
                <a:cs typeface="Perpetua"/>
              </a:rPr>
              <a:t>for generating </a:t>
            </a:r>
            <a:r>
              <a:rPr sz="2600" i="1" spc="-5" dirty="0">
                <a:latin typeface="Perpetua"/>
                <a:cs typeface="Perpetua"/>
              </a:rPr>
              <a:t>addition </a:t>
            </a:r>
            <a:r>
              <a:rPr sz="2600" i="1" dirty="0">
                <a:latin typeface="Perpetua"/>
                <a:cs typeface="Perpetua"/>
              </a:rPr>
              <a:t>and  </a:t>
            </a:r>
            <a:r>
              <a:rPr sz="2600" i="1" spc="-5" dirty="0">
                <a:latin typeface="Perpetua"/>
                <a:cs typeface="Perpetua"/>
              </a:rPr>
              <a:t>multiplication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tables?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1040" y="534700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33070" y="5347004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65101" y="5347004"/>
            <a:ext cx="7098665" cy="0"/>
          </a:xfrm>
          <a:custGeom>
            <a:avLst/>
            <a:gdLst/>
            <a:ahLst/>
            <a:cxnLst/>
            <a:rect l="l" t="t" r="r" b="b"/>
            <a:pathLst>
              <a:path w="7098665">
                <a:moveTo>
                  <a:pt x="0" y="0"/>
                </a:moveTo>
                <a:lnTo>
                  <a:pt x="7098647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1040" y="5743224"/>
            <a:ext cx="7762875" cy="0"/>
          </a:xfrm>
          <a:custGeom>
            <a:avLst/>
            <a:gdLst/>
            <a:ahLst/>
            <a:cxnLst/>
            <a:rect l="l" t="t" r="r" b="b"/>
            <a:pathLst>
              <a:path w="7762875">
                <a:moveTo>
                  <a:pt x="0" y="0"/>
                </a:moveTo>
                <a:lnTo>
                  <a:pt x="7762250" y="0"/>
                </a:lnTo>
              </a:path>
            </a:pathLst>
          </a:custGeom>
          <a:ln w="1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1040" y="613973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33070" y="6139738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70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65101" y="6139738"/>
            <a:ext cx="5614035" cy="0"/>
          </a:xfrm>
          <a:custGeom>
            <a:avLst/>
            <a:gdLst/>
            <a:ahLst/>
            <a:cxnLst/>
            <a:rect l="l" t="t" r="r" b="b"/>
            <a:pathLst>
              <a:path w="5614034">
                <a:moveTo>
                  <a:pt x="0" y="0"/>
                </a:moveTo>
                <a:lnTo>
                  <a:pt x="5613768" y="0"/>
                </a:lnTo>
              </a:path>
            </a:pathLst>
          </a:custGeom>
          <a:ln w="16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72400" y="152400"/>
            <a:ext cx="1152144" cy="1010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662686"/>
            <a:ext cx="4140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The sum of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n</a:t>
            </a:r>
            <a:r>
              <a:rPr i="1" spc="-4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pc="10" dirty="0">
                <a:solidFill>
                  <a:srgbClr val="FF0000"/>
                </a:solidFill>
              </a:rPr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375" y="5553862"/>
            <a:ext cx="43345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15" dirty="0">
                <a:latin typeface="Perpetua"/>
                <a:cs typeface="Perpetua"/>
              </a:rPr>
              <a:t>How </a:t>
            </a:r>
            <a:r>
              <a:rPr sz="2400" i="1" dirty="0">
                <a:latin typeface="Perpetua"/>
                <a:cs typeface="Perpetua"/>
              </a:rPr>
              <a:t>about </a:t>
            </a:r>
            <a:r>
              <a:rPr sz="2400" i="1" spc="-5" dirty="0">
                <a:latin typeface="Perpetua"/>
                <a:cs typeface="Perpetua"/>
              </a:rPr>
              <a:t>calculating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2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average?.......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102" y="1716069"/>
            <a:ext cx="6752189" cy="22534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510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Bouncing</a:t>
            </a:r>
            <a:r>
              <a:rPr spc="-85" dirty="0"/>
              <a:t> </a:t>
            </a:r>
            <a:r>
              <a:rPr dirty="0"/>
              <a:t>ball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47661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270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ball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dropped,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bounces </a:t>
            </a:r>
            <a:r>
              <a:rPr sz="2600" dirty="0">
                <a:latin typeface="Perpetua"/>
                <a:cs typeface="Perpetua"/>
              </a:rPr>
              <a:t>to a </a:t>
            </a:r>
            <a:r>
              <a:rPr sz="2600" spc="-5" dirty="0">
                <a:latin typeface="Perpetua"/>
                <a:cs typeface="Perpetua"/>
              </a:rPr>
              <a:t>height </a:t>
            </a:r>
            <a:r>
              <a:rPr sz="2600" dirty="0">
                <a:latin typeface="Perpetua"/>
                <a:cs typeface="Perpetua"/>
              </a:rPr>
              <a:t>one-half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  its </a:t>
            </a:r>
            <a:r>
              <a:rPr sz="2600" spc="-10" dirty="0">
                <a:latin typeface="Perpetua"/>
                <a:cs typeface="Perpetua"/>
              </a:rPr>
              <a:t>previous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height.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seek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dirty="0">
                <a:latin typeface="Perpetua"/>
                <a:cs typeface="Perpetua"/>
              </a:rPr>
              <a:t>algorithm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15" dirty="0">
                <a:latin typeface="Perpetua"/>
                <a:cs typeface="Perpetua"/>
              </a:rPr>
              <a:t>displays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-5" dirty="0">
                <a:latin typeface="Perpetua"/>
                <a:cs typeface="Perpetua"/>
              </a:rPr>
              <a:t>bounce and  </a:t>
            </a:r>
            <a:r>
              <a:rPr sz="2600" dirty="0">
                <a:latin typeface="Perpetua"/>
                <a:cs typeface="Perpetua"/>
              </a:rPr>
              <a:t>the height of the </a:t>
            </a:r>
            <a:r>
              <a:rPr sz="2600" spc="-15" dirty="0">
                <a:latin typeface="Perpetua"/>
                <a:cs typeface="Perpetua"/>
              </a:rPr>
              <a:t>bounce, </a:t>
            </a:r>
            <a:r>
              <a:rPr sz="2600" spc="-5" dirty="0">
                <a:latin typeface="Perpetua"/>
                <a:cs typeface="Perpetua"/>
              </a:rPr>
              <a:t>until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height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-5" dirty="0">
                <a:latin typeface="Perpetua"/>
                <a:cs typeface="Perpetua"/>
              </a:rPr>
              <a:t>bounce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very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small.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539843"/>
            <a:ext cx="8451215" cy="178702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15" dirty="0">
                <a:latin typeface="Perpetua"/>
                <a:cs typeface="Perpetua"/>
              </a:rPr>
              <a:t>you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require</a:t>
            </a:r>
            <a:r>
              <a:rPr sz="2600" spc="-10" dirty="0">
                <a:latin typeface="Perpetua"/>
                <a:cs typeface="Perpetua"/>
              </a:rPr>
              <a:t>?</a:t>
            </a:r>
            <a:endParaRPr sz="2600" dirty="0">
              <a:latin typeface="Perpetua"/>
              <a:cs typeface="Perpetua"/>
            </a:endParaRPr>
          </a:p>
          <a:p>
            <a:pPr marL="561340" marR="5080" indent="-5080">
              <a:lnSpc>
                <a:spcPct val="100000"/>
              </a:lnSpc>
              <a:spcBef>
                <a:spcPts val="395"/>
              </a:spcBef>
            </a:pPr>
            <a:r>
              <a:rPr sz="2600" dirty="0">
                <a:latin typeface="Perpetua"/>
                <a:cs typeface="Perpetua"/>
              </a:rPr>
              <a:t>Height of bounce </a:t>
            </a:r>
            <a:r>
              <a:rPr sz="2600" spc="5" dirty="0">
                <a:latin typeface="Perpetua"/>
                <a:cs typeface="Perpetua"/>
              </a:rPr>
              <a:t>(current </a:t>
            </a:r>
            <a:r>
              <a:rPr sz="2600" dirty="0">
                <a:latin typeface="Perpetua"/>
                <a:cs typeface="Perpetua"/>
              </a:rPr>
              <a:t>height) , </a:t>
            </a:r>
            <a:r>
              <a:rPr sz="2600" spc="-5" dirty="0">
                <a:latin typeface="Perpetua"/>
                <a:cs typeface="Perpetua"/>
              </a:rPr>
              <a:t>threshold for </a:t>
            </a:r>
            <a:r>
              <a:rPr sz="2600" dirty="0">
                <a:latin typeface="Perpetua"/>
                <a:cs typeface="Perpetua"/>
              </a:rPr>
              <a:t>height of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bounce  (the </a:t>
            </a:r>
            <a:r>
              <a:rPr sz="2600" spc="-10" dirty="0">
                <a:latin typeface="Perpetua"/>
                <a:cs typeface="Perpetua"/>
              </a:rPr>
              <a:t>very </a:t>
            </a:r>
            <a:r>
              <a:rPr sz="2600" dirty="0">
                <a:latin typeface="Perpetua"/>
                <a:cs typeface="Perpetua"/>
              </a:rPr>
              <a:t>small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height).</a:t>
            </a:r>
          </a:p>
          <a:p>
            <a:pPr marL="5206365" lvl="1" indent="-240665">
              <a:lnSpc>
                <a:spcPct val="100000"/>
              </a:lnSpc>
              <a:spcBef>
                <a:spcPts val="840"/>
              </a:spcBef>
              <a:buSzPct val="95833"/>
              <a:buFont typeface="Wingdings"/>
              <a:buChar char=""/>
              <a:tabLst>
                <a:tab pos="5207000" algn="l"/>
              </a:tabLst>
            </a:pPr>
            <a:r>
              <a:rPr sz="2400" i="1" spc="10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an algorithm </a:t>
            </a:r>
            <a:r>
              <a:rPr sz="2400" i="1" spc="-15" dirty="0">
                <a:latin typeface="Perpetua"/>
                <a:cs typeface="Perpetua"/>
              </a:rPr>
              <a:t>for</a:t>
            </a:r>
            <a:r>
              <a:rPr sz="2400" i="1" spc="-7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this</a:t>
            </a:r>
            <a:r>
              <a:rPr sz="2400" i="1" spc="-15" dirty="0" smtClean="0">
                <a:latin typeface="Perpetua"/>
                <a:cs typeface="Perpetua"/>
              </a:rPr>
              <a:t>.</a:t>
            </a:r>
            <a:endParaRPr sz="2400" dirty="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304800"/>
            <a:ext cx="1143000" cy="1341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5400" y="3124200"/>
            <a:ext cx="3429000" cy="1927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10286"/>
            <a:ext cx="52641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Bouncing the ball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5" dirty="0">
                <a:solidFill>
                  <a:srgbClr val="FF0000"/>
                </a:solidFill>
              </a:rPr>
              <a:t>-algorithm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2953" y="1453886"/>
            <a:ext cx="6549390" cy="475361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5440" indent="-333375">
              <a:lnSpc>
                <a:spcPct val="100000"/>
              </a:lnSpc>
              <a:spcBef>
                <a:spcPts val="515"/>
              </a:spcBef>
              <a:buAutoNum type="arabicPeriod"/>
              <a:tabLst>
                <a:tab pos="346075" algn="l"/>
              </a:tabLst>
            </a:pPr>
            <a:r>
              <a:rPr sz="2800" spc="-5" dirty="0">
                <a:latin typeface="Perpetua"/>
                <a:cs typeface="Perpetua"/>
              </a:rPr>
              <a:t>Initialize / set </a:t>
            </a:r>
            <a:r>
              <a:rPr sz="2800" i="1" spc="-5" dirty="0">
                <a:latin typeface="Perpetua"/>
                <a:cs typeface="Perpetua"/>
              </a:rPr>
              <a:t>bounce </a:t>
            </a:r>
            <a:r>
              <a:rPr sz="2800" spc="-5" dirty="0">
                <a:latin typeface="Perpetua"/>
                <a:cs typeface="Perpetua"/>
              </a:rPr>
              <a:t>to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0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45440" algn="l"/>
              </a:tabLst>
            </a:pPr>
            <a:r>
              <a:rPr sz="2800" spc="-10" dirty="0">
                <a:latin typeface="Perpetua"/>
                <a:cs typeface="Perpetua"/>
              </a:rPr>
              <a:t>Read </a:t>
            </a:r>
            <a:r>
              <a:rPr sz="2800" spc="-5" dirty="0">
                <a:latin typeface="Perpetua"/>
                <a:cs typeface="Perpetua"/>
              </a:rPr>
              <a:t>/ get </a:t>
            </a:r>
            <a:r>
              <a:rPr sz="2800" spc="-20" dirty="0">
                <a:latin typeface="Perpetua"/>
                <a:cs typeface="Perpetua"/>
              </a:rPr>
              <a:t>value </a:t>
            </a:r>
            <a:r>
              <a:rPr sz="2800" dirty="0">
                <a:latin typeface="Perpetua"/>
                <a:cs typeface="Perpetua"/>
              </a:rPr>
              <a:t>for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height</a:t>
            </a:r>
            <a:endParaRPr sz="28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45440" algn="l"/>
              </a:tabLst>
            </a:pPr>
            <a:r>
              <a:rPr sz="2800" spc="-20" dirty="0">
                <a:latin typeface="Perpetua"/>
                <a:cs typeface="Perpetua"/>
              </a:rPr>
              <a:t>Display </a:t>
            </a:r>
            <a:r>
              <a:rPr sz="2800" spc="10" dirty="0">
                <a:latin typeface="Perpetua"/>
                <a:cs typeface="Perpetua"/>
              </a:rPr>
              <a:t>original </a:t>
            </a:r>
            <a:r>
              <a:rPr sz="2800" i="1" spc="-5" dirty="0">
                <a:latin typeface="Perpetua"/>
                <a:cs typeface="Perpetua"/>
              </a:rPr>
              <a:t>height </a:t>
            </a:r>
            <a:r>
              <a:rPr sz="2800" spc="-20" dirty="0">
                <a:latin typeface="Perpetua"/>
                <a:cs typeface="Perpetua"/>
              </a:rPr>
              <a:t>value </a:t>
            </a:r>
            <a:r>
              <a:rPr sz="2800" spc="-5" dirty="0">
                <a:latin typeface="Perpetua"/>
                <a:cs typeface="Perpetua"/>
              </a:rPr>
              <a:t>with</a:t>
            </a:r>
            <a:r>
              <a:rPr sz="2800" spc="3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label</a:t>
            </a:r>
            <a:endParaRPr sz="2800">
              <a:latin typeface="Perpetua"/>
              <a:cs typeface="Perpetua"/>
            </a:endParaRPr>
          </a:p>
          <a:p>
            <a:pPr marL="241300" marR="5080" indent="-22860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00990" algn="l"/>
                <a:tab pos="2050414" algn="l"/>
                <a:tab pos="2682875" algn="l"/>
              </a:tabLst>
            </a:pPr>
            <a:r>
              <a:rPr sz="2800" spc="-5" dirty="0">
                <a:latin typeface="Perpetua"/>
                <a:cs typeface="Perpetua"/>
              </a:rPr>
              <a:t>While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height	&gt;=	SMALL_NUM </a:t>
            </a:r>
            <a:r>
              <a:rPr sz="2800" spc="-5" dirty="0">
                <a:latin typeface="Perpetua"/>
                <a:cs typeface="Perpetua"/>
              </a:rPr>
              <a:t>do the </a:t>
            </a:r>
            <a:r>
              <a:rPr sz="2800" spc="-15" dirty="0">
                <a:latin typeface="Perpetua"/>
                <a:cs typeface="Perpetua"/>
              </a:rPr>
              <a:t>following  repeatedly</a:t>
            </a:r>
            <a:endParaRPr sz="2800">
              <a:latin typeface="Perpetua"/>
              <a:cs typeface="Perpetua"/>
            </a:endParaRPr>
          </a:p>
          <a:p>
            <a:pPr marL="1247140">
              <a:lnSpc>
                <a:spcPct val="100000"/>
              </a:lnSpc>
              <a:spcBef>
                <a:spcPts val="610"/>
              </a:spcBef>
            </a:pPr>
            <a:r>
              <a:rPr sz="2600" dirty="0">
                <a:latin typeface="Perpetua"/>
                <a:cs typeface="Perpetua"/>
              </a:rPr>
              <a:t>// if </a:t>
            </a:r>
            <a:r>
              <a:rPr sz="2600" i="1" spc="-5" dirty="0">
                <a:latin typeface="Perpetua"/>
                <a:cs typeface="Perpetua"/>
              </a:rPr>
              <a:t>height </a:t>
            </a:r>
            <a:r>
              <a:rPr sz="2600" i="1" dirty="0">
                <a:latin typeface="Perpetua"/>
                <a:cs typeface="Perpetua"/>
              </a:rPr>
              <a:t>&lt; SMALL_NUM</a:t>
            </a:r>
            <a:r>
              <a:rPr sz="2600" dirty="0">
                <a:latin typeface="Perpetua"/>
                <a:cs typeface="Perpetua"/>
              </a:rPr>
              <a:t>, terminate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loop</a:t>
            </a:r>
            <a:endParaRPr sz="2600">
              <a:latin typeface="Perpetua"/>
              <a:cs typeface="Perpetua"/>
            </a:endParaRPr>
          </a:p>
          <a:p>
            <a:pPr marL="586105" lvl="1" indent="-299720">
              <a:lnSpc>
                <a:spcPct val="100000"/>
              </a:lnSpc>
              <a:spcBef>
                <a:spcPts val="440"/>
              </a:spcBef>
              <a:buAutoNum type="alphaLcPeriod"/>
              <a:tabLst>
                <a:tab pos="586740" algn="l"/>
              </a:tabLst>
            </a:pPr>
            <a:r>
              <a:rPr sz="2800" spc="-10" dirty="0">
                <a:latin typeface="Perpetua"/>
                <a:cs typeface="Perpetua"/>
              </a:rPr>
              <a:t>replace </a:t>
            </a:r>
            <a:r>
              <a:rPr sz="2800" i="1" spc="-5" dirty="0">
                <a:latin typeface="Perpetua"/>
                <a:cs typeface="Perpetua"/>
              </a:rPr>
              <a:t>height </a:t>
            </a:r>
            <a:r>
              <a:rPr sz="2800" spc="-5" dirty="0">
                <a:latin typeface="Perpetua"/>
                <a:cs typeface="Perpetua"/>
              </a:rPr>
              <a:t>with </a:t>
            </a:r>
            <a:r>
              <a:rPr sz="2800" i="1" dirty="0">
                <a:latin typeface="Perpetua"/>
                <a:cs typeface="Perpetua"/>
              </a:rPr>
              <a:t>height</a:t>
            </a:r>
            <a:r>
              <a:rPr sz="2800" dirty="0">
                <a:latin typeface="Perpetua"/>
                <a:cs typeface="Perpetua"/>
              </a:rPr>
              <a:t>/2</a:t>
            </a:r>
            <a:endParaRPr sz="2800">
              <a:latin typeface="Perpetua"/>
              <a:cs typeface="Perpetua"/>
            </a:endParaRPr>
          </a:p>
          <a:p>
            <a:pPr marL="593725" lvl="1" indent="-307340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594360" algn="l"/>
              </a:tabLst>
            </a:pPr>
            <a:r>
              <a:rPr sz="2800" spc="-5" dirty="0">
                <a:latin typeface="Perpetua"/>
                <a:cs typeface="Perpetua"/>
              </a:rPr>
              <a:t>add 1 to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bounce</a:t>
            </a:r>
            <a:endParaRPr sz="2800">
              <a:latin typeface="Perpetua"/>
              <a:cs typeface="Perpetua"/>
            </a:endParaRPr>
          </a:p>
          <a:p>
            <a:pPr marL="588645" lvl="1" indent="-302260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589280" algn="l"/>
              </a:tabLst>
            </a:pPr>
            <a:r>
              <a:rPr sz="2800" spc="-15" dirty="0">
                <a:latin typeface="Perpetua"/>
                <a:cs typeface="Perpetua"/>
              </a:rPr>
              <a:t>display </a:t>
            </a:r>
            <a:r>
              <a:rPr sz="2800" i="1" spc="-10" dirty="0">
                <a:latin typeface="Perpetua"/>
                <a:cs typeface="Perpetua"/>
              </a:rPr>
              <a:t>bounce </a:t>
            </a:r>
            <a:r>
              <a:rPr sz="2800" spc="-5" dirty="0">
                <a:latin typeface="Perpetua"/>
                <a:cs typeface="Perpetua"/>
              </a:rPr>
              <a:t>and</a:t>
            </a:r>
            <a:r>
              <a:rPr sz="2800" spc="40" dirty="0">
                <a:latin typeface="Perpetua"/>
                <a:cs typeface="Perpetua"/>
              </a:rPr>
              <a:t> </a:t>
            </a:r>
            <a:r>
              <a:rPr sz="2800" i="1" spc="-5" dirty="0">
                <a:latin typeface="Perpetua"/>
                <a:cs typeface="Perpetua"/>
              </a:rPr>
              <a:t>height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800" spc="-15" dirty="0">
                <a:latin typeface="Perpetua"/>
                <a:cs typeface="Perpetua"/>
              </a:rPr>
              <a:t>Endwhile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0758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Remember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98473"/>
            <a:ext cx="3456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Phases of loop</a:t>
            </a:r>
            <a:r>
              <a:rPr sz="2800" spc="-5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execution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5986" y="1835023"/>
            <a:ext cx="5732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Perpetua"/>
                <a:cs typeface="Perpetua"/>
              </a:rPr>
              <a:t>flow </a:t>
            </a:r>
            <a:r>
              <a:rPr sz="2800" dirty="0">
                <a:latin typeface="Perpetua"/>
                <a:cs typeface="Perpetua"/>
              </a:rPr>
              <a:t>of </a:t>
            </a:r>
            <a:r>
              <a:rPr sz="2800" spc="-5" dirty="0">
                <a:latin typeface="Perpetua"/>
                <a:cs typeface="Perpetua"/>
              </a:rPr>
              <a:t>control </a:t>
            </a:r>
            <a:r>
              <a:rPr sz="2800" dirty="0">
                <a:latin typeface="Perpetua"/>
                <a:cs typeface="Perpetua"/>
              </a:rPr>
              <a:t>reaches </a:t>
            </a:r>
            <a:r>
              <a:rPr sz="2800" spc="10" dirty="0">
                <a:latin typeface="Perpetua"/>
                <a:cs typeface="Perpetua"/>
              </a:rPr>
              <a:t>first </a:t>
            </a:r>
            <a:r>
              <a:rPr sz="2800" spc="-5" dirty="0">
                <a:latin typeface="Perpetua"/>
                <a:cs typeface="Perpetua"/>
              </a:rPr>
              <a:t>statement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inside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" y="1835023"/>
            <a:ext cx="1687830" cy="21405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SzPct val="83928"/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Perpetua"/>
                <a:cs typeface="Perpetua"/>
              </a:rPr>
              <a:t>Loop</a:t>
            </a:r>
            <a:r>
              <a:rPr sz="2800" spc="-6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entry  </a:t>
            </a:r>
            <a:r>
              <a:rPr sz="2800" spc="-30" dirty="0">
                <a:latin typeface="Perpetua"/>
                <a:cs typeface="Perpetua"/>
              </a:rPr>
              <a:t>loop.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83928"/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Perpetua"/>
                <a:cs typeface="Perpetua"/>
              </a:rPr>
              <a:t>Iteration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SzPct val="83928"/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Perpetua"/>
                <a:cs typeface="Perpetua"/>
              </a:rPr>
              <a:t>Loop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test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SzPct val="83928"/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Perpetua"/>
                <a:cs typeface="Perpetua"/>
              </a:rPr>
              <a:t>Loop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exit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5664" y="2653106"/>
            <a:ext cx="4977765" cy="1322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95"/>
              </a:spcBef>
            </a:pPr>
            <a:r>
              <a:rPr sz="2800" spc="15" dirty="0">
                <a:latin typeface="Perpetua"/>
                <a:cs typeface="Perpetua"/>
              </a:rPr>
              <a:t>each </a:t>
            </a:r>
            <a:r>
              <a:rPr sz="2800" spc="-5" dirty="0">
                <a:latin typeface="Perpetua"/>
                <a:cs typeface="Perpetua"/>
              </a:rPr>
              <a:t>pass through the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30" dirty="0">
                <a:latin typeface="Perpetua"/>
                <a:cs typeface="Perpetua"/>
              </a:rPr>
              <a:t>loop.</a:t>
            </a:r>
            <a:endParaRPr sz="2800">
              <a:latin typeface="Perpetua"/>
              <a:cs typeface="Perpetua"/>
            </a:endParaRPr>
          </a:p>
          <a:p>
            <a:pPr marL="12700" marR="5080" indent="48260">
              <a:lnSpc>
                <a:spcPts val="3429"/>
              </a:lnSpc>
              <a:spcBef>
                <a:spcPts val="120"/>
              </a:spcBef>
            </a:pPr>
            <a:r>
              <a:rPr sz="2800" spc="-5" dirty="0">
                <a:latin typeface="Perpetua"/>
                <a:cs typeface="Perpetua"/>
              </a:rPr>
              <a:t>condition </a:t>
            </a:r>
            <a:r>
              <a:rPr sz="2800" dirty="0">
                <a:latin typeface="Perpetua"/>
                <a:cs typeface="Perpetua"/>
              </a:rPr>
              <a:t>tested </a:t>
            </a:r>
            <a:r>
              <a:rPr sz="2800" spc="-5" dirty="0">
                <a:latin typeface="Perpetua"/>
                <a:cs typeface="Perpetua"/>
              </a:rPr>
              <a:t>before </a:t>
            </a:r>
            <a:r>
              <a:rPr sz="2800" spc="10" dirty="0">
                <a:latin typeface="Perpetua"/>
                <a:cs typeface="Perpetua"/>
              </a:rPr>
              <a:t>each </a:t>
            </a:r>
            <a:r>
              <a:rPr sz="2800" spc="-5" dirty="0">
                <a:latin typeface="Perpetua"/>
                <a:cs typeface="Perpetua"/>
              </a:rPr>
              <a:t>iteration.  when </a:t>
            </a:r>
            <a:r>
              <a:rPr sz="2800" dirty="0">
                <a:latin typeface="Perpetua"/>
                <a:cs typeface="Perpetua"/>
              </a:rPr>
              <a:t>termination </a:t>
            </a:r>
            <a:r>
              <a:rPr sz="2800" spc="-5" dirty="0">
                <a:latin typeface="Perpetua"/>
                <a:cs typeface="Perpetua"/>
              </a:rPr>
              <a:t>condition</a:t>
            </a:r>
            <a:r>
              <a:rPr sz="2800" spc="3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occurs.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3983812"/>
            <a:ext cx="6074410" cy="1757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The counter / loop control </a:t>
            </a:r>
            <a:r>
              <a:rPr sz="2800" spc="-10" dirty="0">
                <a:latin typeface="Perpetua"/>
                <a:cs typeface="Perpetua"/>
              </a:rPr>
              <a:t>variable must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be: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6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dirty="0">
                <a:latin typeface="Perpetua"/>
                <a:cs typeface="Perpetua"/>
              </a:rPr>
              <a:t>Initialized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6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5" dirty="0">
                <a:latin typeface="Perpetua"/>
                <a:cs typeface="Perpetua"/>
              </a:rPr>
              <a:t>Incremented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/Decremented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dirty="0">
                <a:latin typeface="Perpetua"/>
                <a:cs typeface="Perpetua"/>
              </a:rPr>
              <a:t>Inspected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90800" y="228600"/>
            <a:ext cx="990600" cy="1252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39161" y="2079879"/>
            <a:ext cx="457200" cy="111760"/>
          </a:xfrm>
          <a:custGeom>
            <a:avLst/>
            <a:gdLst/>
            <a:ahLst/>
            <a:cxnLst/>
            <a:rect l="l" t="t" r="r" b="b"/>
            <a:pathLst>
              <a:path w="457200" h="111760">
                <a:moveTo>
                  <a:pt x="400760" y="65784"/>
                </a:moveTo>
                <a:lnTo>
                  <a:pt x="356235" y="91567"/>
                </a:lnTo>
                <a:lnTo>
                  <a:pt x="351536" y="94361"/>
                </a:lnTo>
                <a:lnTo>
                  <a:pt x="349885" y="100457"/>
                </a:lnTo>
                <a:lnTo>
                  <a:pt x="352679" y="105156"/>
                </a:lnTo>
                <a:lnTo>
                  <a:pt x="355345" y="109855"/>
                </a:lnTo>
                <a:lnTo>
                  <a:pt x="361442" y="111506"/>
                </a:lnTo>
                <a:lnTo>
                  <a:pt x="366140" y="108712"/>
                </a:lnTo>
                <a:lnTo>
                  <a:pt x="440085" y="65912"/>
                </a:lnTo>
                <a:lnTo>
                  <a:pt x="400760" y="65784"/>
                </a:lnTo>
                <a:close/>
              </a:path>
              <a:path w="457200" h="111760">
                <a:moveTo>
                  <a:pt x="417866" y="55880"/>
                </a:moveTo>
                <a:lnTo>
                  <a:pt x="400760" y="65784"/>
                </a:lnTo>
                <a:lnTo>
                  <a:pt x="437514" y="65912"/>
                </a:lnTo>
                <a:lnTo>
                  <a:pt x="437523" y="64516"/>
                </a:lnTo>
                <a:lnTo>
                  <a:pt x="432562" y="64516"/>
                </a:lnTo>
                <a:lnTo>
                  <a:pt x="417866" y="55880"/>
                </a:lnTo>
                <a:close/>
              </a:path>
              <a:path w="457200" h="111760">
                <a:moveTo>
                  <a:pt x="361823" y="0"/>
                </a:moveTo>
                <a:lnTo>
                  <a:pt x="355726" y="1524"/>
                </a:lnTo>
                <a:lnTo>
                  <a:pt x="353060" y="6223"/>
                </a:lnTo>
                <a:lnTo>
                  <a:pt x="350265" y="10922"/>
                </a:lnTo>
                <a:lnTo>
                  <a:pt x="351789" y="17018"/>
                </a:lnTo>
                <a:lnTo>
                  <a:pt x="401008" y="45973"/>
                </a:lnTo>
                <a:lnTo>
                  <a:pt x="437642" y="46100"/>
                </a:lnTo>
                <a:lnTo>
                  <a:pt x="437514" y="65912"/>
                </a:lnTo>
                <a:lnTo>
                  <a:pt x="440085" y="65912"/>
                </a:lnTo>
                <a:lnTo>
                  <a:pt x="457200" y="56007"/>
                </a:lnTo>
                <a:lnTo>
                  <a:pt x="361823" y="0"/>
                </a:lnTo>
                <a:close/>
              </a:path>
              <a:path w="457200" h="111760">
                <a:moveTo>
                  <a:pt x="0" y="44576"/>
                </a:moveTo>
                <a:lnTo>
                  <a:pt x="0" y="64388"/>
                </a:lnTo>
                <a:lnTo>
                  <a:pt x="400760" y="65784"/>
                </a:lnTo>
                <a:lnTo>
                  <a:pt x="417866" y="55880"/>
                </a:lnTo>
                <a:lnTo>
                  <a:pt x="401008" y="45973"/>
                </a:lnTo>
                <a:lnTo>
                  <a:pt x="0" y="44576"/>
                </a:lnTo>
                <a:close/>
              </a:path>
              <a:path w="457200" h="111760">
                <a:moveTo>
                  <a:pt x="432562" y="47371"/>
                </a:moveTo>
                <a:lnTo>
                  <a:pt x="417866" y="55880"/>
                </a:lnTo>
                <a:lnTo>
                  <a:pt x="432562" y="64516"/>
                </a:lnTo>
                <a:lnTo>
                  <a:pt x="432562" y="47371"/>
                </a:lnTo>
                <a:close/>
              </a:path>
              <a:path w="457200" h="111760">
                <a:moveTo>
                  <a:pt x="437633" y="47371"/>
                </a:moveTo>
                <a:lnTo>
                  <a:pt x="432562" y="47371"/>
                </a:lnTo>
                <a:lnTo>
                  <a:pt x="432562" y="64516"/>
                </a:lnTo>
                <a:lnTo>
                  <a:pt x="437523" y="64516"/>
                </a:lnTo>
                <a:lnTo>
                  <a:pt x="437633" y="47371"/>
                </a:lnTo>
                <a:close/>
              </a:path>
              <a:path w="457200" h="111760">
                <a:moveTo>
                  <a:pt x="401008" y="45973"/>
                </a:moveTo>
                <a:lnTo>
                  <a:pt x="417866" y="55880"/>
                </a:lnTo>
                <a:lnTo>
                  <a:pt x="432562" y="47371"/>
                </a:lnTo>
                <a:lnTo>
                  <a:pt x="437633" y="47371"/>
                </a:lnTo>
                <a:lnTo>
                  <a:pt x="437642" y="46100"/>
                </a:lnTo>
                <a:lnTo>
                  <a:pt x="401008" y="45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4361" y="2916554"/>
            <a:ext cx="457200" cy="111760"/>
          </a:xfrm>
          <a:custGeom>
            <a:avLst/>
            <a:gdLst/>
            <a:ahLst/>
            <a:cxnLst/>
            <a:rect l="l" t="t" r="r" b="b"/>
            <a:pathLst>
              <a:path w="457200" h="111760">
                <a:moveTo>
                  <a:pt x="400760" y="65784"/>
                </a:moveTo>
                <a:lnTo>
                  <a:pt x="356235" y="91567"/>
                </a:lnTo>
                <a:lnTo>
                  <a:pt x="351536" y="94361"/>
                </a:lnTo>
                <a:lnTo>
                  <a:pt x="349885" y="100457"/>
                </a:lnTo>
                <a:lnTo>
                  <a:pt x="352679" y="105156"/>
                </a:lnTo>
                <a:lnTo>
                  <a:pt x="355345" y="109855"/>
                </a:lnTo>
                <a:lnTo>
                  <a:pt x="361442" y="111506"/>
                </a:lnTo>
                <a:lnTo>
                  <a:pt x="366140" y="108712"/>
                </a:lnTo>
                <a:lnTo>
                  <a:pt x="440085" y="65912"/>
                </a:lnTo>
                <a:lnTo>
                  <a:pt x="400760" y="65784"/>
                </a:lnTo>
                <a:close/>
              </a:path>
              <a:path w="457200" h="111760">
                <a:moveTo>
                  <a:pt x="417866" y="55880"/>
                </a:moveTo>
                <a:lnTo>
                  <a:pt x="400760" y="65784"/>
                </a:lnTo>
                <a:lnTo>
                  <a:pt x="437514" y="65912"/>
                </a:lnTo>
                <a:lnTo>
                  <a:pt x="437523" y="64516"/>
                </a:lnTo>
                <a:lnTo>
                  <a:pt x="432562" y="64516"/>
                </a:lnTo>
                <a:lnTo>
                  <a:pt x="417866" y="55880"/>
                </a:lnTo>
                <a:close/>
              </a:path>
              <a:path w="457200" h="111760">
                <a:moveTo>
                  <a:pt x="361823" y="0"/>
                </a:moveTo>
                <a:lnTo>
                  <a:pt x="355726" y="1524"/>
                </a:lnTo>
                <a:lnTo>
                  <a:pt x="353060" y="6223"/>
                </a:lnTo>
                <a:lnTo>
                  <a:pt x="350265" y="10922"/>
                </a:lnTo>
                <a:lnTo>
                  <a:pt x="351789" y="17018"/>
                </a:lnTo>
                <a:lnTo>
                  <a:pt x="401008" y="45973"/>
                </a:lnTo>
                <a:lnTo>
                  <a:pt x="437642" y="46100"/>
                </a:lnTo>
                <a:lnTo>
                  <a:pt x="437514" y="65912"/>
                </a:lnTo>
                <a:lnTo>
                  <a:pt x="440085" y="65912"/>
                </a:lnTo>
                <a:lnTo>
                  <a:pt x="457200" y="56007"/>
                </a:lnTo>
                <a:lnTo>
                  <a:pt x="361823" y="0"/>
                </a:lnTo>
                <a:close/>
              </a:path>
              <a:path w="457200" h="111760">
                <a:moveTo>
                  <a:pt x="0" y="44577"/>
                </a:moveTo>
                <a:lnTo>
                  <a:pt x="0" y="64389"/>
                </a:lnTo>
                <a:lnTo>
                  <a:pt x="400760" y="65784"/>
                </a:lnTo>
                <a:lnTo>
                  <a:pt x="417866" y="55880"/>
                </a:lnTo>
                <a:lnTo>
                  <a:pt x="401008" y="45973"/>
                </a:lnTo>
                <a:lnTo>
                  <a:pt x="0" y="44577"/>
                </a:lnTo>
                <a:close/>
              </a:path>
              <a:path w="457200" h="111760">
                <a:moveTo>
                  <a:pt x="432562" y="47371"/>
                </a:moveTo>
                <a:lnTo>
                  <a:pt x="417866" y="55880"/>
                </a:lnTo>
                <a:lnTo>
                  <a:pt x="432562" y="64516"/>
                </a:lnTo>
                <a:lnTo>
                  <a:pt x="432562" y="47371"/>
                </a:lnTo>
                <a:close/>
              </a:path>
              <a:path w="457200" h="111760">
                <a:moveTo>
                  <a:pt x="437633" y="47371"/>
                </a:moveTo>
                <a:lnTo>
                  <a:pt x="432562" y="47371"/>
                </a:lnTo>
                <a:lnTo>
                  <a:pt x="432562" y="64516"/>
                </a:lnTo>
                <a:lnTo>
                  <a:pt x="437523" y="64516"/>
                </a:lnTo>
                <a:lnTo>
                  <a:pt x="437633" y="47371"/>
                </a:lnTo>
                <a:close/>
              </a:path>
              <a:path w="457200" h="111760">
                <a:moveTo>
                  <a:pt x="401008" y="45973"/>
                </a:moveTo>
                <a:lnTo>
                  <a:pt x="417866" y="55880"/>
                </a:lnTo>
                <a:lnTo>
                  <a:pt x="432562" y="47371"/>
                </a:lnTo>
                <a:lnTo>
                  <a:pt x="437633" y="47371"/>
                </a:lnTo>
                <a:lnTo>
                  <a:pt x="437642" y="46100"/>
                </a:lnTo>
                <a:lnTo>
                  <a:pt x="401008" y="45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10561" y="3299078"/>
            <a:ext cx="457200" cy="111760"/>
          </a:xfrm>
          <a:custGeom>
            <a:avLst/>
            <a:gdLst/>
            <a:ahLst/>
            <a:cxnLst/>
            <a:rect l="l" t="t" r="r" b="b"/>
            <a:pathLst>
              <a:path w="457200" h="111760">
                <a:moveTo>
                  <a:pt x="400760" y="65784"/>
                </a:moveTo>
                <a:lnTo>
                  <a:pt x="356235" y="91567"/>
                </a:lnTo>
                <a:lnTo>
                  <a:pt x="351536" y="94361"/>
                </a:lnTo>
                <a:lnTo>
                  <a:pt x="349885" y="100457"/>
                </a:lnTo>
                <a:lnTo>
                  <a:pt x="352679" y="105156"/>
                </a:lnTo>
                <a:lnTo>
                  <a:pt x="355345" y="109855"/>
                </a:lnTo>
                <a:lnTo>
                  <a:pt x="361442" y="111506"/>
                </a:lnTo>
                <a:lnTo>
                  <a:pt x="366140" y="108712"/>
                </a:lnTo>
                <a:lnTo>
                  <a:pt x="440085" y="65912"/>
                </a:lnTo>
                <a:lnTo>
                  <a:pt x="400760" y="65784"/>
                </a:lnTo>
                <a:close/>
              </a:path>
              <a:path w="457200" h="111760">
                <a:moveTo>
                  <a:pt x="417866" y="55880"/>
                </a:moveTo>
                <a:lnTo>
                  <a:pt x="400760" y="65784"/>
                </a:lnTo>
                <a:lnTo>
                  <a:pt x="437514" y="65912"/>
                </a:lnTo>
                <a:lnTo>
                  <a:pt x="437523" y="64516"/>
                </a:lnTo>
                <a:lnTo>
                  <a:pt x="432562" y="64516"/>
                </a:lnTo>
                <a:lnTo>
                  <a:pt x="417866" y="55880"/>
                </a:lnTo>
                <a:close/>
              </a:path>
              <a:path w="457200" h="111760">
                <a:moveTo>
                  <a:pt x="361823" y="0"/>
                </a:moveTo>
                <a:lnTo>
                  <a:pt x="355726" y="1524"/>
                </a:lnTo>
                <a:lnTo>
                  <a:pt x="353060" y="6223"/>
                </a:lnTo>
                <a:lnTo>
                  <a:pt x="350265" y="10922"/>
                </a:lnTo>
                <a:lnTo>
                  <a:pt x="351789" y="17018"/>
                </a:lnTo>
                <a:lnTo>
                  <a:pt x="401008" y="45973"/>
                </a:lnTo>
                <a:lnTo>
                  <a:pt x="437642" y="46100"/>
                </a:lnTo>
                <a:lnTo>
                  <a:pt x="437514" y="65912"/>
                </a:lnTo>
                <a:lnTo>
                  <a:pt x="440085" y="65912"/>
                </a:lnTo>
                <a:lnTo>
                  <a:pt x="457200" y="56007"/>
                </a:lnTo>
                <a:lnTo>
                  <a:pt x="361823" y="0"/>
                </a:lnTo>
                <a:close/>
              </a:path>
              <a:path w="457200" h="111760">
                <a:moveTo>
                  <a:pt x="0" y="44576"/>
                </a:moveTo>
                <a:lnTo>
                  <a:pt x="0" y="64388"/>
                </a:lnTo>
                <a:lnTo>
                  <a:pt x="400760" y="65784"/>
                </a:lnTo>
                <a:lnTo>
                  <a:pt x="417866" y="55880"/>
                </a:lnTo>
                <a:lnTo>
                  <a:pt x="401008" y="45973"/>
                </a:lnTo>
                <a:lnTo>
                  <a:pt x="0" y="44576"/>
                </a:lnTo>
                <a:close/>
              </a:path>
              <a:path w="457200" h="111760">
                <a:moveTo>
                  <a:pt x="432562" y="47371"/>
                </a:moveTo>
                <a:lnTo>
                  <a:pt x="417866" y="55880"/>
                </a:lnTo>
                <a:lnTo>
                  <a:pt x="432562" y="64516"/>
                </a:lnTo>
                <a:lnTo>
                  <a:pt x="432562" y="47371"/>
                </a:lnTo>
                <a:close/>
              </a:path>
              <a:path w="457200" h="111760">
                <a:moveTo>
                  <a:pt x="437633" y="47371"/>
                </a:moveTo>
                <a:lnTo>
                  <a:pt x="432562" y="47371"/>
                </a:lnTo>
                <a:lnTo>
                  <a:pt x="432562" y="64516"/>
                </a:lnTo>
                <a:lnTo>
                  <a:pt x="437523" y="64516"/>
                </a:lnTo>
                <a:lnTo>
                  <a:pt x="437633" y="47371"/>
                </a:lnTo>
                <a:close/>
              </a:path>
              <a:path w="457200" h="111760">
                <a:moveTo>
                  <a:pt x="401008" y="45973"/>
                </a:moveTo>
                <a:lnTo>
                  <a:pt x="417866" y="55880"/>
                </a:lnTo>
                <a:lnTo>
                  <a:pt x="432562" y="47371"/>
                </a:lnTo>
                <a:lnTo>
                  <a:pt x="437633" y="47371"/>
                </a:lnTo>
                <a:lnTo>
                  <a:pt x="437642" y="46100"/>
                </a:lnTo>
                <a:lnTo>
                  <a:pt x="401008" y="45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10561" y="3756278"/>
            <a:ext cx="457200" cy="111760"/>
          </a:xfrm>
          <a:custGeom>
            <a:avLst/>
            <a:gdLst/>
            <a:ahLst/>
            <a:cxnLst/>
            <a:rect l="l" t="t" r="r" b="b"/>
            <a:pathLst>
              <a:path w="457200" h="111760">
                <a:moveTo>
                  <a:pt x="400760" y="65784"/>
                </a:moveTo>
                <a:lnTo>
                  <a:pt x="356235" y="91567"/>
                </a:lnTo>
                <a:lnTo>
                  <a:pt x="351536" y="94361"/>
                </a:lnTo>
                <a:lnTo>
                  <a:pt x="349885" y="100457"/>
                </a:lnTo>
                <a:lnTo>
                  <a:pt x="352679" y="105156"/>
                </a:lnTo>
                <a:lnTo>
                  <a:pt x="355345" y="109855"/>
                </a:lnTo>
                <a:lnTo>
                  <a:pt x="361442" y="111506"/>
                </a:lnTo>
                <a:lnTo>
                  <a:pt x="366140" y="108712"/>
                </a:lnTo>
                <a:lnTo>
                  <a:pt x="440085" y="65913"/>
                </a:lnTo>
                <a:lnTo>
                  <a:pt x="400760" y="65784"/>
                </a:lnTo>
                <a:close/>
              </a:path>
              <a:path w="457200" h="111760">
                <a:moveTo>
                  <a:pt x="417866" y="55880"/>
                </a:moveTo>
                <a:lnTo>
                  <a:pt x="400760" y="65784"/>
                </a:lnTo>
                <a:lnTo>
                  <a:pt x="437514" y="65913"/>
                </a:lnTo>
                <a:lnTo>
                  <a:pt x="437523" y="64516"/>
                </a:lnTo>
                <a:lnTo>
                  <a:pt x="432562" y="64516"/>
                </a:lnTo>
                <a:lnTo>
                  <a:pt x="417866" y="55880"/>
                </a:lnTo>
                <a:close/>
              </a:path>
              <a:path w="457200" h="111760">
                <a:moveTo>
                  <a:pt x="361823" y="0"/>
                </a:moveTo>
                <a:lnTo>
                  <a:pt x="355726" y="1524"/>
                </a:lnTo>
                <a:lnTo>
                  <a:pt x="353060" y="6223"/>
                </a:lnTo>
                <a:lnTo>
                  <a:pt x="350265" y="10922"/>
                </a:lnTo>
                <a:lnTo>
                  <a:pt x="351789" y="17018"/>
                </a:lnTo>
                <a:lnTo>
                  <a:pt x="401008" y="45973"/>
                </a:lnTo>
                <a:lnTo>
                  <a:pt x="437642" y="46101"/>
                </a:lnTo>
                <a:lnTo>
                  <a:pt x="437514" y="65913"/>
                </a:lnTo>
                <a:lnTo>
                  <a:pt x="440085" y="65913"/>
                </a:lnTo>
                <a:lnTo>
                  <a:pt x="457200" y="56007"/>
                </a:lnTo>
                <a:lnTo>
                  <a:pt x="361823" y="0"/>
                </a:lnTo>
                <a:close/>
              </a:path>
              <a:path w="457200" h="111760">
                <a:moveTo>
                  <a:pt x="0" y="44577"/>
                </a:moveTo>
                <a:lnTo>
                  <a:pt x="0" y="64389"/>
                </a:lnTo>
                <a:lnTo>
                  <a:pt x="400760" y="65784"/>
                </a:lnTo>
                <a:lnTo>
                  <a:pt x="417866" y="55880"/>
                </a:lnTo>
                <a:lnTo>
                  <a:pt x="401008" y="45973"/>
                </a:lnTo>
                <a:lnTo>
                  <a:pt x="0" y="44577"/>
                </a:lnTo>
                <a:close/>
              </a:path>
              <a:path w="457200" h="111760">
                <a:moveTo>
                  <a:pt x="432562" y="47371"/>
                </a:moveTo>
                <a:lnTo>
                  <a:pt x="417866" y="55880"/>
                </a:lnTo>
                <a:lnTo>
                  <a:pt x="432562" y="64516"/>
                </a:lnTo>
                <a:lnTo>
                  <a:pt x="432562" y="47371"/>
                </a:lnTo>
                <a:close/>
              </a:path>
              <a:path w="457200" h="111760">
                <a:moveTo>
                  <a:pt x="437633" y="47371"/>
                </a:moveTo>
                <a:lnTo>
                  <a:pt x="432562" y="47371"/>
                </a:lnTo>
                <a:lnTo>
                  <a:pt x="432562" y="64516"/>
                </a:lnTo>
                <a:lnTo>
                  <a:pt x="437523" y="64516"/>
                </a:lnTo>
                <a:lnTo>
                  <a:pt x="437633" y="47371"/>
                </a:lnTo>
                <a:close/>
              </a:path>
              <a:path w="457200" h="111760">
                <a:moveTo>
                  <a:pt x="401008" y="45973"/>
                </a:moveTo>
                <a:lnTo>
                  <a:pt x="417866" y="55880"/>
                </a:lnTo>
                <a:lnTo>
                  <a:pt x="432562" y="47371"/>
                </a:lnTo>
                <a:lnTo>
                  <a:pt x="437633" y="47371"/>
                </a:lnTo>
                <a:lnTo>
                  <a:pt x="437642" y="46101"/>
                </a:lnTo>
                <a:lnTo>
                  <a:pt x="401008" y="45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652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Sentinel-controlled</a:t>
            </a:r>
            <a:r>
              <a:rPr spc="-30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383905" cy="41268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Often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times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executed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predetermined.</a:t>
            </a:r>
            <a:endParaRPr sz="2600">
              <a:latin typeface="Perpetua"/>
              <a:cs typeface="Perpetua"/>
            </a:endParaRPr>
          </a:p>
          <a:p>
            <a:pPr marL="286385" marR="448309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then use a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(</a:t>
            </a:r>
            <a:r>
              <a:rPr sz="2600" i="1" spc="-5" dirty="0">
                <a:latin typeface="Perpetua"/>
                <a:cs typeface="Perpetua"/>
              </a:rPr>
              <a:t>sentinel </a:t>
            </a:r>
            <a:r>
              <a:rPr sz="2600" i="1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) to signify the </a:t>
            </a:r>
            <a:r>
              <a:rPr sz="2600" spc="-5" dirty="0">
                <a:latin typeface="Perpetua"/>
                <a:cs typeface="Perpetua"/>
              </a:rPr>
              <a:t>end </a:t>
            </a:r>
            <a:r>
              <a:rPr sz="2600" dirty="0">
                <a:latin typeface="Perpetua"/>
                <a:cs typeface="Perpetua"/>
              </a:rPr>
              <a:t>of the  </a:t>
            </a:r>
            <a:r>
              <a:rPr sz="2600" spc="-35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  <a:p>
            <a:pPr marL="286385" marR="55435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give </a:t>
            </a:r>
            <a:r>
              <a:rPr sz="2600" dirty="0">
                <a:latin typeface="Perpetua"/>
                <a:cs typeface="Perpetua"/>
              </a:rPr>
              <a:t>an algorithm with </a:t>
            </a:r>
            <a:r>
              <a:rPr sz="2600" i="1" spc="-5" dirty="0">
                <a:latin typeface="Perpetua"/>
                <a:cs typeface="Perpetua"/>
              </a:rPr>
              <a:t>sentinel controlled repetition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need to  </a:t>
            </a:r>
            <a:r>
              <a:rPr sz="2600" spc="-5" dirty="0">
                <a:latin typeface="Perpetua"/>
                <a:cs typeface="Perpetua"/>
              </a:rPr>
              <a:t>indicate </a:t>
            </a:r>
            <a:r>
              <a:rPr sz="2600" spc="-10" dirty="0">
                <a:latin typeface="Perpetua"/>
                <a:cs typeface="Perpetua"/>
              </a:rPr>
              <a:t>that: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5" dirty="0">
                <a:latin typeface="Perpetua"/>
                <a:cs typeface="Perpetua"/>
              </a:rPr>
              <a:t>instructions </a:t>
            </a:r>
            <a:r>
              <a:rPr sz="2600" dirty="0">
                <a:latin typeface="Perpetua"/>
                <a:cs typeface="Perpetua"/>
              </a:rPr>
              <a:t>need to be </a:t>
            </a:r>
            <a:r>
              <a:rPr sz="2600" spc="-5" dirty="0">
                <a:latin typeface="Perpetua"/>
                <a:cs typeface="Perpetua"/>
              </a:rPr>
              <a:t>repeated.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the question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is.</a:t>
            </a:r>
            <a:endParaRPr sz="2600">
              <a:latin typeface="Perpetua"/>
              <a:cs typeface="Perpetua"/>
            </a:endParaRPr>
          </a:p>
          <a:p>
            <a:pPr marL="561340" marR="650875" lvl="1" indent="-228600">
              <a:lnSpc>
                <a:spcPct val="100000"/>
              </a:lnSpc>
              <a:spcBef>
                <a:spcPts val="10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spc="5" dirty="0">
                <a:latin typeface="Perpetua"/>
                <a:cs typeface="Perpetua"/>
              </a:rPr>
              <a:t>instructions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to be </a:t>
            </a:r>
            <a:r>
              <a:rPr sz="2600" spc="-5" dirty="0">
                <a:latin typeface="Perpetua"/>
                <a:cs typeface="Perpetua"/>
              </a:rPr>
              <a:t>repeated </a:t>
            </a:r>
            <a:r>
              <a:rPr sz="2600" dirty="0">
                <a:latin typeface="Perpetua"/>
                <a:cs typeface="Perpetua"/>
              </a:rPr>
              <a:t>while the  </a:t>
            </a:r>
            <a:r>
              <a:rPr sz="2600" spc="-25" dirty="0">
                <a:latin typeface="Perpetua"/>
                <a:cs typeface="Perpetua"/>
              </a:rPr>
              <a:t>answer </a:t>
            </a:r>
            <a:r>
              <a:rPr sz="2600" dirty="0">
                <a:latin typeface="Perpetua"/>
                <a:cs typeface="Perpetua"/>
              </a:rPr>
              <a:t>to the question </a:t>
            </a:r>
            <a:r>
              <a:rPr sz="2600" spc="-5" dirty="0">
                <a:latin typeface="Perpetua"/>
                <a:cs typeface="Perpetua"/>
              </a:rPr>
              <a:t>means </a:t>
            </a:r>
            <a:r>
              <a:rPr sz="2600" spc="10" dirty="0">
                <a:latin typeface="Perpetua"/>
                <a:cs typeface="Perpetua"/>
              </a:rPr>
              <a:t>carry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934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10" dirty="0"/>
              <a:t>Dice</a:t>
            </a:r>
            <a:r>
              <a:rPr spc="-90" dirty="0"/>
              <a:t> </a:t>
            </a:r>
            <a:r>
              <a:rPr spc="10" dirty="0"/>
              <a:t>cricket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455660" cy="4843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special Dice has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its sides the numbers </a:t>
            </a:r>
            <a:r>
              <a:rPr sz="2600" spc="-5" dirty="0">
                <a:latin typeface="Perpetua"/>
                <a:cs typeface="Perpetua"/>
              </a:rPr>
              <a:t>0,1,2,4 and </a:t>
            </a:r>
            <a:r>
              <a:rPr sz="2600" dirty="0">
                <a:latin typeface="Perpetua"/>
                <a:cs typeface="Perpetua"/>
              </a:rPr>
              <a:t>6 </a:t>
            </a:r>
            <a:r>
              <a:rPr sz="2600" spc="-5" dirty="0">
                <a:latin typeface="Perpetua"/>
                <a:cs typeface="Perpetua"/>
              </a:rPr>
              <a:t>and on the  last </a:t>
            </a:r>
            <a:r>
              <a:rPr sz="2600" dirty="0">
                <a:latin typeface="Perpetua"/>
                <a:cs typeface="Perpetua"/>
              </a:rPr>
              <a:t>side is </a:t>
            </a:r>
            <a:r>
              <a:rPr sz="2600" spc="5" dirty="0">
                <a:latin typeface="Perpetua"/>
                <a:cs typeface="Perpetua"/>
              </a:rPr>
              <a:t>written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OUT</a:t>
            </a:r>
            <a:r>
              <a:rPr sz="260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One </a:t>
            </a:r>
            <a:r>
              <a:rPr sz="2600" spc="-25" dirty="0">
                <a:latin typeface="Perpetua"/>
                <a:cs typeface="Perpetua"/>
              </a:rPr>
              <a:t>player </a:t>
            </a:r>
            <a:r>
              <a:rPr sz="2600" spc="-5" dirty="0">
                <a:latin typeface="Perpetua"/>
                <a:cs typeface="Perpetua"/>
              </a:rPr>
              <a:t>acting as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batsman </a:t>
            </a:r>
            <a:r>
              <a:rPr sz="2600" spc="-10" dirty="0">
                <a:latin typeface="Perpetua"/>
                <a:cs typeface="Perpetua"/>
              </a:rPr>
              <a:t>repeatedly </a:t>
            </a:r>
            <a:r>
              <a:rPr sz="2600" spc="-5" dirty="0">
                <a:latin typeface="Perpetua"/>
                <a:cs typeface="Perpetua"/>
              </a:rPr>
              <a:t>rolls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dice, </a:t>
            </a:r>
            <a:r>
              <a:rPr sz="2600" spc="-5" dirty="0">
                <a:latin typeface="Perpetua"/>
                <a:cs typeface="Perpetua"/>
              </a:rPr>
              <a:t>adding up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scores obtained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spc="-5" dirty="0">
                <a:latin typeface="Perpetua"/>
                <a:cs typeface="Perpetua"/>
              </a:rPr>
              <a:t>correspond to </a:t>
            </a:r>
            <a:r>
              <a:rPr sz="2600" dirty="0">
                <a:latin typeface="Perpetua"/>
                <a:cs typeface="Perpetua"/>
              </a:rPr>
              <a:t>the number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10" dirty="0">
                <a:latin typeface="Perpetua"/>
                <a:cs typeface="Perpetua"/>
              </a:rPr>
              <a:t>runs </a:t>
            </a:r>
            <a:r>
              <a:rPr sz="2600" spc="-5" dirty="0">
                <a:latin typeface="Perpetua"/>
                <a:cs typeface="Perpetua"/>
              </a:rPr>
              <a:t>scored  on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bowl.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roll “</a:t>
            </a:r>
            <a:r>
              <a:rPr sz="2600" i="1" spc="-5" dirty="0">
                <a:latin typeface="Perpetua"/>
                <a:cs typeface="Perpetua"/>
              </a:rPr>
              <a:t>OUT</a:t>
            </a:r>
            <a:r>
              <a:rPr sz="2600" spc="-5" dirty="0">
                <a:latin typeface="Perpetua"/>
                <a:cs typeface="Perpetua"/>
              </a:rPr>
              <a:t>”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that batsman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out and </a:t>
            </a:r>
            <a:r>
              <a:rPr sz="2600" dirty="0">
                <a:latin typeface="Perpetua"/>
                <a:cs typeface="Perpetua"/>
              </a:rPr>
              <a:t>it is the end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their  </a:t>
            </a:r>
            <a:r>
              <a:rPr sz="2600" spc="10" dirty="0">
                <a:latin typeface="Perpetua"/>
                <a:cs typeface="Perpetua"/>
              </a:rPr>
              <a:t>turn.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/>
              <a:cs typeface="Times New Roman"/>
            </a:endParaRPr>
          </a:p>
          <a:p>
            <a:pPr marL="287020" marR="4190365" indent="-287020">
              <a:lnSpc>
                <a:spcPct val="1192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Here </a:t>
            </a:r>
            <a:r>
              <a:rPr sz="2600" dirty="0">
                <a:latin typeface="Perpetua"/>
                <a:cs typeface="Perpetua"/>
              </a:rPr>
              <a:t>the termination question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 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Is the dice </a:t>
            </a:r>
            <a:r>
              <a:rPr sz="2600" i="1" dirty="0">
                <a:latin typeface="Perpetua"/>
                <a:cs typeface="Perpetua"/>
              </a:rPr>
              <a:t>roll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OUT</a:t>
            </a:r>
            <a:r>
              <a:rPr sz="2600" dirty="0">
                <a:latin typeface="Perpetua"/>
                <a:cs typeface="Perpetua"/>
              </a:rPr>
              <a:t>?”.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sentinel </a:t>
            </a:r>
            <a:r>
              <a:rPr sz="2600" i="1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OUT</a:t>
            </a:r>
            <a:r>
              <a:rPr sz="2600" spc="-5" dirty="0">
                <a:latin typeface="Perpetua"/>
                <a:cs typeface="Perpetua"/>
              </a:rPr>
              <a:t>” </a:t>
            </a:r>
            <a:r>
              <a:rPr sz="2600" spc="-10" dirty="0">
                <a:latin typeface="Perpetua"/>
                <a:cs typeface="Perpetua"/>
              </a:rPr>
              <a:t>showing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dice.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8200" y="0"/>
            <a:ext cx="2514600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69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Dice </a:t>
            </a:r>
            <a:r>
              <a:rPr spc="10" dirty="0"/>
              <a:t>cricket</a:t>
            </a:r>
            <a:r>
              <a:rPr spc="-60" dirty="0"/>
              <a:t> </a:t>
            </a:r>
            <a:r>
              <a:rPr spc="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3233"/>
            <a:ext cx="8589645" cy="494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Perpetua"/>
                <a:cs typeface="Perpetua"/>
              </a:rPr>
              <a:t>while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latin typeface="Perpetua"/>
                <a:cs typeface="Perpetua"/>
              </a:rPr>
              <a:t>the dice is not </a:t>
            </a:r>
            <a:r>
              <a:rPr sz="2400" spc="-10" dirty="0">
                <a:latin typeface="Perpetua"/>
                <a:cs typeface="Perpetua"/>
              </a:rPr>
              <a:t>showing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OUT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latin typeface="Perpetua"/>
                <a:cs typeface="Perpetua"/>
              </a:rPr>
              <a:t>do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0" dirty="0">
                <a:latin typeface="Perpetua"/>
                <a:cs typeface="Perpetua"/>
              </a:rPr>
              <a:t>following</a:t>
            </a:r>
            <a:r>
              <a:rPr sz="2400" b="1" spc="-15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repeatedly</a:t>
            </a:r>
            <a:endParaRPr sz="2400">
              <a:latin typeface="Perpetua"/>
              <a:cs typeface="Perpetua"/>
            </a:endParaRPr>
          </a:p>
          <a:p>
            <a:pPr marL="520065" indent="-23431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520700" algn="l"/>
              </a:tabLst>
            </a:pPr>
            <a:r>
              <a:rPr sz="2400" spc="-5" dirty="0">
                <a:latin typeface="Perpetua"/>
                <a:cs typeface="Perpetua"/>
              </a:rPr>
              <a:t>Add </a:t>
            </a:r>
            <a:r>
              <a:rPr sz="2400" spc="-20" dirty="0">
                <a:latin typeface="Perpetua"/>
                <a:cs typeface="Perpetua"/>
              </a:rPr>
              <a:t>whatever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0" dirty="0">
                <a:latin typeface="Perpetua"/>
                <a:cs typeface="Perpetua"/>
              </a:rPr>
              <a:t>showing </a:t>
            </a:r>
            <a:r>
              <a:rPr sz="2400" dirty="0">
                <a:latin typeface="Perpetua"/>
                <a:cs typeface="Perpetua"/>
              </a:rPr>
              <a:t>on the dice to the current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score.</a:t>
            </a:r>
            <a:endParaRPr sz="2400">
              <a:latin typeface="Perpetua"/>
              <a:cs typeface="Perpetua"/>
            </a:endParaRPr>
          </a:p>
          <a:p>
            <a:pPr marL="550545" indent="-26479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551180" algn="l"/>
              </a:tabLst>
            </a:pPr>
            <a:r>
              <a:rPr sz="2400" spc="-5" dirty="0">
                <a:latin typeface="Perpetua"/>
                <a:cs typeface="Perpetua"/>
              </a:rPr>
              <a:t>Roll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5" dirty="0">
                <a:latin typeface="Perpetua"/>
                <a:cs typeface="Perpetua"/>
              </a:rPr>
              <a:t> dice.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roll the</a:t>
            </a:r>
            <a:r>
              <a:rPr sz="2400" i="1" spc="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dice.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SzPct val="85416"/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2400" i="1" dirty="0">
                <a:latin typeface="Perpetua"/>
                <a:cs typeface="Perpetua"/>
              </a:rPr>
              <a:t>If the dice </a:t>
            </a:r>
            <a:r>
              <a:rPr sz="2400" i="1" spc="-10" dirty="0">
                <a:latin typeface="Perpetua"/>
                <a:cs typeface="Perpetua"/>
              </a:rPr>
              <a:t>shows </a:t>
            </a:r>
            <a:r>
              <a:rPr sz="2400" i="1" dirty="0">
                <a:latin typeface="Perpetua"/>
                <a:cs typeface="Perpetua"/>
              </a:rPr>
              <a:t>OUT </a:t>
            </a:r>
            <a:r>
              <a:rPr sz="2400" i="1" spc="-15" dirty="0">
                <a:latin typeface="Perpetua"/>
                <a:cs typeface="Perpetua"/>
              </a:rPr>
              <a:t>we</a:t>
            </a:r>
            <a:r>
              <a:rPr sz="2400" i="1" spc="-35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stop.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If </a:t>
            </a:r>
            <a:r>
              <a:rPr sz="2400" i="1" dirty="0">
                <a:latin typeface="Perpetua"/>
                <a:cs typeface="Perpetua"/>
              </a:rPr>
              <a:t>it does </a:t>
            </a:r>
            <a:r>
              <a:rPr sz="2400" i="1" spc="-5" dirty="0">
                <a:latin typeface="Perpetua"/>
                <a:cs typeface="Perpetua"/>
              </a:rPr>
              <a:t>not, </a:t>
            </a:r>
            <a:r>
              <a:rPr sz="2400" i="1" dirty="0">
                <a:latin typeface="Perpetua"/>
                <a:cs typeface="Perpetua"/>
              </a:rPr>
              <a:t>then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5" dirty="0">
                <a:latin typeface="Perpetua"/>
                <a:cs typeface="Perpetua"/>
              </a:rPr>
              <a:t>add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dice </a:t>
            </a:r>
            <a:r>
              <a:rPr sz="2400" i="1" spc="-20" dirty="0">
                <a:latin typeface="Perpetua"/>
                <a:cs typeface="Perpetua"/>
              </a:rPr>
              <a:t>value </a:t>
            </a:r>
            <a:r>
              <a:rPr sz="2400" i="1" dirty="0">
                <a:latin typeface="Perpetua"/>
                <a:cs typeface="Perpetua"/>
              </a:rPr>
              <a:t>to the </a:t>
            </a:r>
            <a:r>
              <a:rPr sz="2400" i="1" spc="-10" dirty="0">
                <a:latin typeface="Perpetua"/>
                <a:cs typeface="Perpetua"/>
              </a:rPr>
              <a:t>score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roll</a:t>
            </a:r>
            <a:r>
              <a:rPr sz="2400" i="1" spc="-26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again.</a:t>
            </a:r>
            <a:endParaRPr sz="2400">
              <a:latin typeface="Perpetua"/>
              <a:cs typeface="Perpetua"/>
            </a:endParaRPr>
          </a:p>
          <a:p>
            <a:pPr marL="286385" marR="64135" indent="-274320" algn="just">
              <a:lnSpc>
                <a:spcPct val="8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94640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then </a:t>
            </a:r>
            <a:r>
              <a:rPr sz="2400" i="1" spc="-10" dirty="0">
                <a:latin typeface="Perpetua"/>
                <a:cs typeface="Perpetua"/>
              </a:rPr>
              <a:t>repeat </a:t>
            </a:r>
            <a:r>
              <a:rPr sz="2400" i="1" dirty="0">
                <a:latin typeface="Perpetua"/>
                <a:cs typeface="Perpetua"/>
              </a:rPr>
              <a:t>this all </a:t>
            </a:r>
            <a:r>
              <a:rPr sz="2400" i="1" spc="-25" dirty="0">
                <a:latin typeface="Perpetua"/>
                <a:cs typeface="Perpetua"/>
              </a:rPr>
              <a:t>again </a:t>
            </a:r>
            <a:r>
              <a:rPr sz="2400" i="1" spc="-5" dirty="0">
                <a:latin typeface="Perpetua"/>
                <a:cs typeface="Perpetua"/>
              </a:rPr>
              <a:t>and keep </a:t>
            </a:r>
            <a:r>
              <a:rPr sz="2400" i="1" dirty="0">
                <a:latin typeface="Perpetua"/>
                <a:cs typeface="Perpetua"/>
              </a:rPr>
              <a:t>doing so </a:t>
            </a:r>
            <a:r>
              <a:rPr sz="2400" i="1" spc="-5" dirty="0">
                <a:latin typeface="Perpetua"/>
                <a:cs typeface="Perpetua"/>
              </a:rPr>
              <a:t>until </a:t>
            </a:r>
            <a:r>
              <a:rPr sz="2400" i="1" dirty="0">
                <a:latin typeface="Perpetua"/>
                <a:cs typeface="Perpetua"/>
              </a:rPr>
              <a:t>the dice does </a:t>
            </a:r>
            <a:r>
              <a:rPr sz="2400" i="1" spc="-15" dirty="0">
                <a:latin typeface="Perpetua"/>
                <a:cs typeface="Perpetua"/>
              </a:rPr>
              <a:t>show stop, </a:t>
            </a:r>
            <a:r>
              <a:rPr sz="2400" i="1" spc="-30" dirty="0">
                <a:latin typeface="Perpetua"/>
                <a:cs typeface="Perpetua"/>
              </a:rPr>
              <a:t>at  </a:t>
            </a:r>
            <a:r>
              <a:rPr sz="2400" i="1" spc="-15" dirty="0">
                <a:latin typeface="Perpetua"/>
                <a:cs typeface="Perpetua"/>
              </a:rPr>
              <a:t>which </a:t>
            </a:r>
            <a:r>
              <a:rPr sz="2400" i="1" spc="-5" dirty="0">
                <a:latin typeface="Perpetua"/>
                <a:cs typeface="Perpetua"/>
              </a:rPr>
              <a:t>point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35" dirty="0">
                <a:latin typeface="Perpetua"/>
                <a:cs typeface="Perpetua"/>
              </a:rPr>
              <a:t>have </a:t>
            </a:r>
            <a:r>
              <a:rPr sz="2400" i="1" spc="-5" dirty="0">
                <a:latin typeface="Perpetua"/>
                <a:cs typeface="Perpetua"/>
              </a:rPr>
              <a:t>finished </a:t>
            </a:r>
            <a:r>
              <a:rPr sz="2400" i="1" spc="-10" dirty="0">
                <a:latin typeface="Perpetua"/>
                <a:cs typeface="Perpetua"/>
              </a:rPr>
              <a:t>the while </a:t>
            </a:r>
            <a:r>
              <a:rPr sz="2400" i="1" spc="-5" dirty="0">
                <a:latin typeface="Perpetua"/>
                <a:cs typeface="Perpetua"/>
              </a:rPr>
              <a:t>instruction and </a:t>
            </a:r>
            <a:r>
              <a:rPr sz="2400" i="1" spc="5" dirty="0">
                <a:latin typeface="Perpetua"/>
                <a:cs typeface="Perpetua"/>
              </a:rPr>
              <a:t>carry </a:t>
            </a:r>
            <a:r>
              <a:rPr sz="2400" i="1" spc="-5" dirty="0">
                <a:latin typeface="Perpetua"/>
                <a:cs typeface="Perpetua"/>
              </a:rPr>
              <a:t>on </a:t>
            </a:r>
            <a:r>
              <a:rPr sz="2400" i="1" dirty="0">
                <a:latin typeface="Perpetua"/>
                <a:cs typeface="Perpetua"/>
              </a:rPr>
              <a:t>with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dirty="0">
                <a:latin typeface="Perpetua"/>
                <a:cs typeface="Perpetua"/>
              </a:rPr>
              <a:t>subsequent  </a:t>
            </a:r>
            <a:r>
              <a:rPr sz="2400" i="1" spc="-5" dirty="0">
                <a:latin typeface="Perpetua"/>
                <a:cs typeface="Perpetua"/>
              </a:rPr>
              <a:t>instructions.</a:t>
            </a:r>
            <a:endParaRPr sz="2400">
              <a:latin typeface="Perpetua"/>
              <a:cs typeface="Perpetua"/>
            </a:endParaRPr>
          </a:p>
          <a:p>
            <a:pPr marL="1090930" lvl="1" indent="-240665">
              <a:lnSpc>
                <a:spcPct val="100000"/>
              </a:lnSpc>
              <a:spcBef>
                <a:spcPts val="2210"/>
              </a:spcBef>
              <a:buSzPct val="95833"/>
              <a:buFont typeface="Wingdings"/>
              <a:buChar char=""/>
              <a:tabLst>
                <a:tab pos="1091565" algn="l"/>
              </a:tabLst>
            </a:pPr>
            <a:r>
              <a:rPr sz="2400" i="1" dirty="0">
                <a:latin typeface="Perpetua"/>
                <a:cs typeface="Perpetua"/>
              </a:rPr>
              <a:t>If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5" dirty="0">
                <a:latin typeface="Perpetua"/>
                <a:cs typeface="Perpetua"/>
              </a:rPr>
              <a:t>tried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20" dirty="0">
                <a:latin typeface="Perpetua"/>
                <a:cs typeface="Perpetua"/>
              </a:rPr>
              <a:t>play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game following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0" dirty="0">
                <a:latin typeface="Perpetua"/>
                <a:cs typeface="Perpetua"/>
              </a:rPr>
              <a:t>above </a:t>
            </a:r>
            <a:r>
              <a:rPr sz="2400" i="1" spc="5" dirty="0">
                <a:latin typeface="Perpetua"/>
                <a:cs typeface="Perpetua"/>
              </a:rPr>
              <a:t>rules </a:t>
            </a:r>
            <a:r>
              <a:rPr sz="2400" i="1" spc="-30" dirty="0">
                <a:latin typeface="Perpetua"/>
                <a:cs typeface="Perpetua"/>
              </a:rPr>
              <a:t>exactly,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spc="-5" dirty="0">
                <a:latin typeface="Perpetua"/>
                <a:cs typeface="Perpetua"/>
              </a:rPr>
              <a:t>it </a:t>
            </a:r>
            <a:r>
              <a:rPr sz="2400" i="1" spc="-15" dirty="0">
                <a:latin typeface="Perpetua"/>
                <a:cs typeface="Perpetua"/>
              </a:rPr>
              <a:t>work</a:t>
            </a:r>
            <a:r>
              <a:rPr sz="2400" i="1" spc="-18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7886"/>
            <a:ext cx="4467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Can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you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see </a:t>
            </a:r>
            <a:r>
              <a:rPr i="1" spc="-35" dirty="0">
                <a:solidFill>
                  <a:srgbClr val="FF0000"/>
                </a:solidFill>
                <a:latin typeface="Perpetua"/>
                <a:cs typeface="Perpetua"/>
              </a:rPr>
              <a:t>what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is</a:t>
            </a:r>
            <a:r>
              <a:rPr i="1" spc="3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wrong?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9164" y="5929525"/>
            <a:ext cx="1898014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comes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first.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053813"/>
            <a:ext cx="7780020" cy="48425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955" algn="just">
              <a:lnSpc>
                <a:spcPct val="100000"/>
              </a:lnSpc>
              <a:spcBef>
                <a:spcPts val="695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dirty="0">
                <a:latin typeface="Perpetua"/>
                <a:cs typeface="Perpetua"/>
              </a:rPr>
              <a:t>Do I </a:t>
            </a:r>
            <a:r>
              <a:rPr sz="2600" i="1" spc="10" dirty="0">
                <a:latin typeface="Perpetua"/>
                <a:cs typeface="Perpetua"/>
              </a:rPr>
              <a:t>start </a:t>
            </a:r>
            <a:r>
              <a:rPr sz="2600" i="1" dirty="0">
                <a:latin typeface="Perpetua"/>
                <a:cs typeface="Perpetua"/>
              </a:rPr>
              <a:t>with a </a:t>
            </a:r>
            <a:r>
              <a:rPr sz="2600" i="1" spc="-10" dirty="0">
                <a:latin typeface="Perpetua"/>
                <a:cs typeface="Perpetua"/>
              </a:rPr>
              <a:t>score </a:t>
            </a:r>
            <a:r>
              <a:rPr sz="2600" i="1" spc="-5" dirty="0">
                <a:latin typeface="Perpetua"/>
                <a:cs typeface="Perpetua"/>
              </a:rPr>
              <a:t>of 100 or of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0</a:t>
            </a:r>
            <a:r>
              <a:rPr sz="2600" spc="-5" dirty="0">
                <a:latin typeface="Perpetua"/>
                <a:cs typeface="Perpetua"/>
              </a:rPr>
              <a:t>?</a:t>
            </a:r>
            <a:endParaRPr sz="2600">
              <a:latin typeface="Perpetua"/>
              <a:cs typeface="Perpetua"/>
            </a:endParaRPr>
          </a:p>
          <a:p>
            <a:pPr marL="287020" marR="16510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Understanding the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dirty="0">
                <a:latin typeface="Perpetua"/>
                <a:cs typeface="Perpetua"/>
              </a:rPr>
              <a:t>I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score </a:t>
            </a:r>
            <a:r>
              <a:rPr sz="2600" spc="15" dirty="0">
                <a:latin typeface="Perpetua"/>
                <a:cs typeface="Perpetua"/>
              </a:rPr>
              <a:t>starts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0, </a:t>
            </a:r>
            <a:r>
              <a:rPr sz="2600" spc="-10" dirty="0">
                <a:latin typeface="Perpetua"/>
                <a:cs typeface="Perpetua"/>
              </a:rPr>
              <a:t>but 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does not </a:t>
            </a: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spc="-10" dirty="0">
                <a:latin typeface="Perpetua"/>
                <a:cs typeface="Perpetua"/>
              </a:rPr>
              <a:t>that,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5" dirty="0">
                <a:latin typeface="Perpetua"/>
                <a:cs typeface="Perpetua"/>
              </a:rPr>
              <a:t>somebody </a:t>
            </a:r>
            <a:r>
              <a:rPr sz="2600" dirty="0">
                <a:latin typeface="Perpetua"/>
                <a:cs typeface="Perpetua"/>
              </a:rPr>
              <a:t>who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dirty="0">
                <a:latin typeface="Perpetua"/>
                <a:cs typeface="Perpetua"/>
              </a:rPr>
              <a:t>trying 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55" dirty="0">
                <a:latin typeface="Perpetua"/>
                <a:cs typeface="Perpetua"/>
              </a:rPr>
              <a:t>my </a:t>
            </a:r>
            <a:r>
              <a:rPr sz="2600" dirty="0">
                <a:latin typeface="Perpetua"/>
                <a:cs typeface="Perpetua"/>
              </a:rPr>
              <a:t>instructions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confused.</a:t>
            </a:r>
            <a:endParaRPr sz="2600">
              <a:latin typeface="Perpetua"/>
              <a:cs typeface="Perpetua"/>
            </a:endParaRPr>
          </a:p>
          <a:p>
            <a:pPr marL="287020" marR="17145" indent="-274955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361315" algn="l"/>
                <a:tab pos="362585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fact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30" dirty="0">
                <a:latin typeface="Perpetua"/>
                <a:cs typeface="Perpetua"/>
              </a:rPr>
              <a:t>were </a:t>
            </a:r>
            <a:r>
              <a:rPr sz="2600" spc="-20" dirty="0">
                <a:latin typeface="Perpetua"/>
                <a:cs typeface="Perpetua"/>
              </a:rPr>
              <a:t>playing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rounds </a:t>
            </a:r>
            <a:r>
              <a:rPr sz="2600" spc="-5" dirty="0">
                <a:latin typeface="Perpetua"/>
                <a:cs typeface="Perpetua"/>
              </a:rPr>
              <a:t>of the game </a:t>
            </a:r>
            <a:r>
              <a:rPr sz="2600" dirty="0">
                <a:latin typeface="Perpetua"/>
                <a:cs typeface="Perpetua"/>
              </a:rPr>
              <a:t>then 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might </a:t>
            </a:r>
            <a:r>
              <a:rPr sz="2600" spc="-10" dirty="0">
                <a:latin typeface="Perpetua"/>
                <a:cs typeface="Perpetua"/>
              </a:rPr>
              <a:t>actually want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score </a:t>
            </a:r>
            <a:r>
              <a:rPr sz="2600" spc="-5" dirty="0">
                <a:latin typeface="Perpetua"/>
                <a:cs typeface="Perpetua"/>
              </a:rPr>
              <a:t>to be </a:t>
            </a:r>
            <a:r>
              <a:rPr sz="2600" dirty="0">
                <a:latin typeface="Perpetua"/>
                <a:cs typeface="Perpetua"/>
              </a:rPr>
              <a:t>its </a:t>
            </a:r>
            <a:r>
              <a:rPr sz="2600" spc="-10" dirty="0">
                <a:latin typeface="Perpetua"/>
                <a:cs typeface="Perpetua"/>
              </a:rPr>
              <a:t>previous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value.</a:t>
            </a:r>
            <a:endParaRPr sz="2600">
              <a:latin typeface="Perpetua"/>
              <a:cs typeface="Perpetua"/>
            </a:endParaRPr>
          </a:p>
          <a:p>
            <a:pPr marL="287020" marR="17145" indent="-274955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assume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15" dirty="0">
                <a:latin typeface="Perpetua"/>
                <a:cs typeface="Perpetua"/>
              </a:rPr>
              <a:t>playing </a:t>
            </a:r>
            <a:r>
              <a:rPr sz="2600" spc="-5" dirty="0">
                <a:latin typeface="Perpetua"/>
                <a:cs typeface="Perpetua"/>
              </a:rPr>
              <a:t>one game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15" dirty="0">
                <a:latin typeface="Perpetua"/>
                <a:cs typeface="Perpetua"/>
              </a:rPr>
              <a:t>zero  </a:t>
            </a:r>
            <a:r>
              <a:rPr sz="2600" dirty="0">
                <a:latin typeface="Perpetua"/>
                <a:cs typeface="Perpetua"/>
              </a:rPr>
              <a:t>is the correct initial</a:t>
            </a:r>
            <a:r>
              <a:rPr sz="2600" spc="-15" dirty="0">
                <a:latin typeface="Perpetua"/>
                <a:cs typeface="Perpetua"/>
              </a:rPr>
              <a:t> score.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add an extra </a:t>
            </a:r>
            <a:r>
              <a:rPr sz="2600" spc="5" dirty="0">
                <a:latin typeface="Perpetua"/>
                <a:cs typeface="Perpetua"/>
              </a:rPr>
              <a:t>instruction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Set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score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i="1" spc="-40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0</a:t>
            </a:r>
            <a:r>
              <a:rPr sz="2600" spc="-5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Notice this is something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spc="-5" dirty="0">
                <a:latin typeface="Perpetua"/>
                <a:cs typeface="Perpetua"/>
              </a:rPr>
              <a:t>to happen once </a:t>
            </a:r>
            <a:r>
              <a:rPr sz="2600" dirty="0">
                <a:latin typeface="Perpetua"/>
                <a:cs typeface="Perpetua"/>
              </a:rPr>
              <a:t>so  </a:t>
            </a:r>
            <a:r>
              <a:rPr sz="2600" spc="-45" dirty="0">
                <a:latin typeface="Perpetua"/>
                <a:cs typeface="Perpetua"/>
              </a:rPr>
              <a:t>we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need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make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clear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spc="20" dirty="0">
                <a:latin typeface="Perpetua"/>
                <a:cs typeface="Perpetua"/>
              </a:rPr>
              <a:t>part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repetition,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4472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Set the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initial score</a:t>
            </a:r>
            <a:r>
              <a:rPr spc="-10" dirty="0">
                <a:solidFill>
                  <a:srgbClr val="FF0000"/>
                </a:solidFill>
              </a:rPr>
              <a:t>……..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53813"/>
            <a:ext cx="8072755" cy="49949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21945" indent="-309880" algn="just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Set the </a:t>
            </a:r>
            <a:r>
              <a:rPr sz="2600" spc="-10" dirty="0">
                <a:latin typeface="Perpetua"/>
                <a:cs typeface="Perpetua"/>
              </a:rPr>
              <a:t>score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zero.</a:t>
            </a:r>
            <a:endParaRPr sz="2600">
              <a:latin typeface="Perpetua"/>
              <a:cs typeface="Perpetua"/>
            </a:endParaRPr>
          </a:p>
          <a:p>
            <a:pPr marL="287020" marR="5715" indent="-274955" algn="just">
              <a:lnSpc>
                <a:spcPct val="100000"/>
              </a:lnSpc>
              <a:spcBef>
                <a:spcPts val="600"/>
              </a:spcBef>
              <a:buFont typeface="Perpetua"/>
              <a:buAutoNum type="arabicPeriod"/>
              <a:tabLst>
                <a:tab pos="426084" algn="l"/>
              </a:tabLst>
            </a:pPr>
            <a:r>
              <a:rPr dirty="0"/>
              <a:t>	</a:t>
            </a:r>
            <a:r>
              <a:rPr sz="2600" b="1" spc="-15" dirty="0">
                <a:latin typeface="Perpetua"/>
                <a:cs typeface="Perpetua"/>
              </a:rPr>
              <a:t>while</a:t>
            </a:r>
            <a:r>
              <a:rPr sz="2600" b="1" spc="5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dice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0" dirty="0">
                <a:latin typeface="Perpetua"/>
                <a:cs typeface="Perpetua"/>
              </a:rPr>
              <a:t>showing </a:t>
            </a:r>
            <a:r>
              <a:rPr sz="2600" dirty="0">
                <a:latin typeface="Perpetua"/>
                <a:cs typeface="Perpetua"/>
              </a:rPr>
              <a:t>OUT </a:t>
            </a:r>
            <a:r>
              <a:rPr sz="2600" b="1" dirty="0">
                <a:latin typeface="Perpetua"/>
                <a:cs typeface="Perpetua"/>
              </a:rPr>
              <a:t>do </a:t>
            </a:r>
            <a:r>
              <a:rPr sz="2600" b="1" spc="-5" dirty="0">
                <a:latin typeface="Perpetua"/>
                <a:cs typeface="Perpetua"/>
              </a:rPr>
              <a:t>the </a:t>
            </a:r>
            <a:r>
              <a:rPr sz="2600" b="1" spc="-10" dirty="0">
                <a:latin typeface="Perpetua"/>
                <a:cs typeface="Perpetua"/>
              </a:rPr>
              <a:t>following  repeatedly</a:t>
            </a:r>
            <a:endParaRPr sz="2600">
              <a:latin typeface="Perpetua"/>
              <a:cs typeface="Perpetua"/>
            </a:endParaRPr>
          </a:p>
          <a:p>
            <a:pPr marL="541655" indent="-255270" algn="just">
              <a:lnSpc>
                <a:spcPct val="100000"/>
              </a:lnSpc>
              <a:spcBef>
                <a:spcPts val="605"/>
              </a:spcBef>
              <a:buAutoNum type="alphaLcPeriod"/>
              <a:tabLst>
                <a:tab pos="542290" algn="l"/>
              </a:tabLst>
            </a:pP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spc="-15" dirty="0">
                <a:latin typeface="Perpetua"/>
                <a:cs typeface="Perpetua"/>
              </a:rPr>
              <a:t>whatever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showing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dice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current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score.</a:t>
            </a:r>
            <a:endParaRPr sz="2600">
              <a:latin typeface="Perpetua"/>
              <a:cs typeface="Perpetua"/>
            </a:endParaRPr>
          </a:p>
          <a:p>
            <a:pPr marL="573405" indent="-287020" algn="just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574040" algn="l"/>
              </a:tabLst>
            </a:pPr>
            <a:r>
              <a:rPr sz="2600" spc="-5" dirty="0">
                <a:latin typeface="Perpetua"/>
                <a:cs typeface="Perpetua"/>
              </a:rPr>
              <a:t>Roll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dice.</a:t>
            </a:r>
            <a:endParaRPr sz="2600">
              <a:latin typeface="Perpetua"/>
              <a:cs typeface="Perpetua"/>
            </a:endParaRPr>
          </a:p>
          <a:p>
            <a:pPr marL="287020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spc="-5" dirty="0">
                <a:latin typeface="Perpetua"/>
                <a:cs typeface="Perpetua"/>
              </a:rPr>
              <a:t>This still </a:t>
            </a:r>
            <a:r>
              <a:rPr sz="2600" i="1" dirty="0">
                <a:latin typeface="Perpetua"/>
                <a:cs typeface="Perpetua"/>
              </a:rPr>
              <a:t>has a </a:t>
            </a:r>
            <a:r>
              <a:rPr sz="2600" i="1" spc="-10" dirty="0">
                <a:latin typeface="Perpetua"/>
                <a:cs typeface="Perpetua"/>
              </a:rPr>
              <a:t>problem </a:t>
            </a:r>
            <a:r>
              <a:rPr sz="2600" i="1" spc="-35" dirty="0">
                <a:latin typeface="Perpetua"/>
                <a:cs typeface="Perpetua"/>
              </a:rPr>
              <a:t>however.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spc="-10" dirty="0">
                <a:latin typeface="Perpetua"/>
                <a:cs typeface="Perpetua"/>
              </a:rPr>
              <a:t>set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score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35" dirty="0">
                <a:latin typeface="Perpetua"/>
                <a:cs typeface="Perpetua"/>
              </a:rPr>
              <a:t>zero, </a:t>
            </a:r>
            <a:r>
              <a:rPr sz="2600" i="1" spc="-5" dirty="0">
                <a:latin typeface="Perpetua"/>
                <a:cs typeface="Perpetua"/>
              </a:rPr>
              <a:t>then </a:t>
            </a:r>
            <a:r>
              <a:rPr sz="2600" i="1" spc="-15" dirty="0">
                <a:latin typeface="Perpetua"/>
                <a:cs typeface="Perpetua"/>
              </a:rPr>
              <a:t>go </a:t>
            </a:r>
            <a:r>
              <a:rPr sz="2600" i="1" spc="-5" dirty="0">
                <a:latin typeface="Perpetua"/>
                <a:cs typeface="Perpetua"/>
              </a:rPr>
              <a:t>into the </a:t>
            </a:r>
            <a:r>
              <a:rPr sz="2600" i="1" spc="-20" dirty="0">
                <a:latin typeface="Perpetua"/>
                <a:cs typeface="Perpetua"/>
              </a:rPr>
              <a:t>loop, </a:t>
            </a:r>
            <a:r>
              <a:rPr sz="2600" i="1" spc="-5" dirty="0">
                <a:latin typeface="Perpetua"/>
                <a:cs typeface="Perpetua"/>
              </a:rPr>
              <a:t>asking if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should </a:t>
            </a:r>
            <a:r>
              <a:rPr sz="2600" i="1" dirty="0">
                <a:latin typeface="Perpetua"/>
                <a:cs typeface="Perpetua"/>
              </a:rPr>
              <a:t>do the  instructions to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spc="-15" dirty="0">
                <a:latin typeface="Perpetua"/>
                <a:cs typeface="Perpetua"/>
              </a:rPr>
              <a:t>repeated </a:t>
            </a:r>
            <a:r>
              <a:rPr sz="2600" i="1" spc="-5" dirty="0">
                <a:latin typeface="Perpetua"/>
                <a:cs typeface="Perpetua"/>
              </a:rPr>
              <a:t>or stop </a:t>
            </a:r>
            <a:r>
              <a:rPr sz="2600" i="1" spc="-15" dirty="0">
                <a:latin typeface="Perpetua"/>
                <a:cs typeface="Perpetua"/>
              </a:rPr>
              <a:t>straight </a:t>
            </a:r>
            <a:r>
              <a:rPr sz="2600" i="1" spc="-40" dirty="0">
                <a:latin typeface="Perpetua"/>
                <a:cs typeface="Perpetua"/>
              </a:rPr>
              <a:t>away: 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the dice </a:t>
            </a:r>
            <a:r>
              <a:rPr sz="2600" i="1" spc="-10" dirty="0">
                <a:latin typeface="Perpetua"/>
                <a:cs typeface="Perpetua"/>
              </a:rPr>
              <a:t>showing  </a:t>
            </a:r>
            <a:r>
              <a:rPr sz="2600" i="1" dirty="0">
                <a:latin typeface="Perpetua"/>
                <a:cs typeface="Perpetua"/>
              </a:rPr>
              <a:t>OUT?</a:t>
            </a:r>
            <a:endParaRPr sz="2600">
              <a:latin typeface="Perpetua"/>
              <a:cs typeface="Perpetua"/>
            </a:endParaRPr>
          </a:p>
          <a:p>
            <a:pPr marL="361950" indent="-349885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361315" algn="l"/>
                <a:tab pos="362585" algn="l"/>
              </a:tabLst>
            </a:pPr>
            <a:r>
              <a:rPr sz="2600" i="1" spc="-30" dirty="0">
                <a:latin typeface="Perpetua"/>
                <a:cs typeface="Perpetua"/>
              </a:rPr>
              <a:t>However,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dirty="0">
                <a:latin typeface="Perpetua"/>
                <a:cs typeface="Perpetua"/>
              </a:rPr>
              <a:t>rolled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dice</a:t>
            </a:r>
            <a:r>
              <a:rPr sz="2600" i="1" spc="-254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yet!</a:t>
            </a:r>
            <a:endParaRPr sz="2600">
              <a:latin typeface="Perpetua"/>
              <a:cs typeface="Perpetua"/>
            </a:endParaRPr>
          </a:p>
          <a:p>
            <a:pPr marL="295910" indent="-283845">
              <a:lnSpc>
                <a:spcPct val="1000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96545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15" dirty="0">
                <a:latin typeface="Perpetua"/>
                <a:cs typeface="Perpetua"/>
              </a:rPr>
              <a:t>got </a:t>
            </a:r>
            <a:r>
              <a:rPr sz="2600" i="1" spc="-5" dirty="0">
                <a:latin typeface="Perpetua"/>
                <a:cs typeface="Perpetua"/>
              </a:rPr>
              <a:t>to the instruction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tells us to do </a:t>
            </a:r>
            <a:r>
              <a:rPr sz="2600" i="1" spc="-10" dirty="0">
                <a:latin typeface="Perpetua"/>
                <a:cs typeface="Perpetua"/>
              </a:rPr>
              <a:t>that</a:t>
            </a:r>
            <a:r>
              <a:rPr sz="2600" i="1" spc="2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yet!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10286"/>
            <a:ext cx="63677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Roll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dice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once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first </a:t>
            </a:r>
            <a:r>
              <a:rPr i="1" spc="-20" dirty="0">
                <a:solidFill>
                  <a:srgbClr val="FF0000"/>
                </a:solidFill>
                <a:latin typeface="Perpetua"/>
                <a:cs typeface="Perpetua"/>
              </a:rPr>
              <a:t>before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we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do </a:t>
            </a:r>
            <a:r>
              <a:rPr i="1" dirty="0">
                <a:solidFill>
                  <a:srgbClr val="FF0000"/>
                </a:solidFill>
                <a:latin typeface="Perpetua"/>
                <a:cs typeface="Perpetua"/>
              </a:rPr>
              <a:t>the 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repetitive </a:t>
            </a:r>
            <a:r>
              <a:rPr i="1" spc="20" dirty="0">
                <a:solidFill>
                  <a:srgbClr val="FF0000"/>
                </a:solidFill>
                <a:latin typeface="Perpetua"/>
                <a:cs typeface="Perpetua"/>
              </a:rPr>
              <a:t>part,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to </a:t>
            </a: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get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us</a:t>
            </a:r>
            <a:r>
              <a:rPr i="1" spc="-42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10" dirty="0">
                <a:solidFill>
                  <a:srgbClr val="FF0000"/>
                </a:solidFill>
                <a:latin typeface="Perpetua"/>
                <a:cs typeface="Perpetua"/>
              </a:rPr>
              <a:t>started…….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964" y="1988337"/>
            <a:ext cx="7646670" cy="32696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4805" indent="-33274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5440" algn="l"/>
              </a:tabLst>
            </a:pPr>
            <a:r>
              <a:rPr sz="2800" spc="-5" dirty="0">
                <a:latin typeface="Perpetua"/>
                <a:cs typeface="Perpetua"/>
              </a:rPr>
              <a:t>Set the </a:t>
            </a:r>
            <a:r>
              <a:rPr sz="2800" spc="-10" dirty="0">
                <a:latin typeface="Perpetua"/>
                <a:cs typeface="Perpetua"/>
              </a:rPr>
              <a:t>score </a:t>
            </a:r>
            <a:r>
              <a:rPr sz="2800" spc="-5" dirty="0">
                <a:latin typeface="Perpetua"/>
                <a:cs typeface="Perpetua"/>
              </a:rPr>
              <a:t>to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40" dirty="0">
                <a:latin typeface="Perpetua"/>
                <a:cs typeface="Perpetua"/>
              </a:rPr>
              <a:t>zero.</a:t>
            </a:r>
            <a:endParaRPr sz="2800">
              <a:latin typeface="Perpetua"/>
              <a:cs typeface="Perpetua"/>
            </a:endParaRPr>
          </a:p>
          <a:p>
            <a:pPr marL="390525" indent="-33274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91160" algn="l"/>
              </a:tabLst>
            </a:pPr>
            <a:r>
              <a:rPr sz="2800" spc="-10" dirty="0">
                <a:latin typeface="Perpetua"/>
                <a:cs typeface="Perpetua"/>
              </a:rPr>
              <a:t>Roll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dice.</a:t>
            </a:r>
            <a:endParaRPr sz="2800">
              <a:latin typeface="Perpetua"/>
              <a:cs typeface="Perpetua"/>
            </a:endParaRPr>
          </a:p>
          <a:p>
            <a:pPr marL="287020" marR="5080" indent="-228600">
              <a:lnSpc>
                <a:spcPct val="100000"/>
              </a:lnSpc>
              <a:spcBef>
                <a:spcPts val="400"/>
              </a:spcBef>
              <a:buFont typeface="Perpetua"/>
              <a:buAutoNum type="arabicPeriod"/>
              <a:tabLst>
                <a:tab pos="326390" algn="l"/>
              </a:tabLst>
            </a:pPr>
            <a:r>
              <a:rPr sz="2800" b="1" spc="-20" dirty="0">
                <a:latin typeface="Perpetua"/>
                <a:cs typeface="Perpetua"/>
              </a:rPr>
              <a:t>while </a:t>
            </a:r>
            <a:r>
              <a:rPr sz="2800" spc="-5" dirty="0">
                <a:latin typeface="Perpetua"/>
                <a:cs typeface="Perpetua"/>
              </a:rPr>
              <a:t>the dice is not </a:t>
            </a:r>
            <a:r>
              <a:rPr sz="2800" spc="-20" dirty="0">
                <a:latin typeface="Perpetua"/>
                <a:cs typeface="Perpetua"/>
              </a:rPr>
              <a:t>showing </a:t>
            </a:r>
            <a:r>
              <a:rPr sz="2800" spc="-5" dirty="0">
                <a:latin typeface="Perpetua"/>
                <a:cs typeface="Perpetua"/>
              </a:rPr>
              <a:t>OUT </a:t>
            </a:r>
            <a:r>
              <a:rPr sz="2800" b="1" spc="-10" dirty="0">
                <a:latin typeface="Perpetua"/>
                <a:cs typeface="Perpetua"/>
              </a:rPr>
              <a:t>do </a:t>
            </a:r>
            <a:r>
              <a:rPr sz="2800" b="1" spc="-5" dirty="0">
                <a:latin typeface="Perpetua"/>
                <a:cs typeface="Perpetua"/>
              </a:rPr>
              <a:t>the </a:t>
            </a:r>
            <a:r>
              <a:rPr sz="2800" b="1" spc="-15" dirty="0">
                <a:latin typeface="Perpetua"/>
                <a:cs typeface="Perpetua"/>
              </a:rPr>
              <a:t>following  repeatedly</a:t>
            </a:r>
            <a:endParaRPr sz="2800">
              <a:latin typeface="Perpetua"/>
              <a:cs typeface="Perpetua"/>
            </a:endParaRPr>
          </a:p>
          <a:p>
            <a:pPr marL="652145" marR="7620" lvl="1">
              <a:lnSpc>
                <a:spcPct val="100000"/>
              </a:lnSpc>
              <a:spcBef>
                <a:spcPts val="395"/>
              </a:spcBef>
              <a:buAutoNum type="alphaLcPeriod"/>
              <a:tabLst>
                <a:tab pos="965200" algn="l"/>
              </a:tabLst>
            </a:pPr>
            <a:r>
              <a:rPr sz="2800" spc="-10" dirty="0">
                <a:latin typeface="Perpetua"/>
                <a:cs typeface="Perpetua"/>
              </a:rPr>
              <a:t>Add </a:t>
            </a:r>
            <a:r>
              <a:rPr sz="2800" spc="-20" dirty="0">
                <a:latin typeface="Perpetua"/>
                <a:cs typeface="Perpetua"/>
              </a:rPr>
              <a:t>whatever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spc="-20" dirty="0">
                <a:latin typeface="Perpetua"/>
                <a:cs typeface="Perpetua"/>
              </a:rPr>
              <a:t>showing </a:t>
            </a:r>
            <a:r>
              <a:rPr sz="2800" spc="-5" dirty="0">
                <a:latin typeface="Perpetua"/>
                <a:cs typeface="Perpetua"/>
              </a:rPr>
              <a:t>on the dice to the </a:t>
            </a:r>
            <a:r>
              <a:rPr sz="2800" dirty="0">
                <a:latin typeface="Perpetua"/>
                <a:cs typeface="Perpetua"/>
              </a:rPr>
              <a:t>current  </a:t>
            </a:r>
            <a:r>
              <a:rPr sz="2800" spc="-15" dirty="0">
                <a:latin typeface="Perpetua"/>
                <a:cs typeface="Perpetua"/>
              </a:rPr>
              <a:t>score.</a:t>
            </a:r>
            <a:endParaRPr sz="2800">
              <a:latin typeface="Perpetua"/>
              <a:cs typeface="Perpetua"/>
            </a:endParaRPr>
          </a:p>
          <a:p>
            <a:pPr marL="958850" lvl="1" indent="-307340">
              <a:lnSpc>
                <a:spcPct val="100000"/>
              </a:lnSpc>
              <a:spcBef>
                <a:spcPts val="409"/>
              </a:spcBef>
              <a:buAutoNum type="alphaLcPeriod"/>
              <a:tabLst>
                <a:tab pos="959485" algn="l"/>
              </a:tabLst>
            </a:pPr>
            <a:r>
              <a:rPr sz="2800" spc="-10" dirty="0">
                <a:latin typeface="Perpetua"/>
                <a:cs typeface="Perpetua"/>
              </a:rPr>
              <a:t>Roll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15" dirty="0">
                <a:latin typeface="Perpetua"/>
                <a:cs typeface="Perpetua"/>
              </a:rPr>
              <a:t>dice.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104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Motor</a:t>
            </a:r>
            <a:r>
              <a:rPr spc="-80" dirty="0"/>
              <a:t> </a:t>
            </a:r>
            <a:r>
              <a:rPr spc="-5" dirty="0"/>
              <a:t>racing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2495" cy="35782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Drivers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-5" dirty="0">
                <a:latin typeface="Perpetua"/>
                <a:cs typeface="Perpetua"/>
              </a:rPr>
              <a:t>lap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circuit.</a:t>
            </a:r>
            <a:endParaRPr sz="2600">
              <a:latin typeface="Perpetua"/>
              <a:cs typeface="Perpetua"/>
            </a:endParaRPr>
          </a:p>
          <a:p>
            <a:pPr marL="286385" marR="889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circuit </a:t>
            </a:r>
            <a:r>
              <a:rPr sz="2600" dirty="0">
                <a:latin typeface="Perpetua"/>
                <a:cs typeface="Perpetua"/>
              </a:rPr>
              <a:t>the pit </a:t>
            </a:r>
            <a:r>
              <a:rPr sz="2600" spc="-20" dirty="0">
                <a:latin typeface="Perpetua"/>
                <a:cs typeface="Perpetua"/>
              </a:rPr>
              <a:t>crew </a:t>
            </a:r>
            <a:r>
              <a:rPr sz="2600" dirty="0">
                <a:latin typeface="Perpetua"/>
                <a:cs typeface="Perpetua"/>
              </a:rPr>
              <a:t>hold </a:t>
            </a:r>
            <a:r>
              <a:rPr sz="2600" spc="-10" dirty="0">
                <a:latin typeface="Perpetua"/>
                <a:cs typeface="Perpetua"/>
              </a:rPr>
              <a:t>up </a:t>
            </a:r>
            <a:r>
              <a:rPr sz="2600" spc="-5" dirty="0">
                <a:latin typeface="Perpetua"/>
                <a:cs typeface="Perpetua"/>
              </a:rPr>
              <a:t>boards to </a:t>
            </a:r>
            <a:r>
              <a:rPr sz="2600" dirty="0">
                <a:latin typeface="Perpetua"/>
                <a:cs typeface="Perpetua"/>
              </a:rPr>
              <a:t>give information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driver.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situations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a driver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made to stop is </a:t>
            </a:r>
            <a:r>
              <a:rPr sz="2600" dirty="0">
                <a:latin typeface="Perpetua"/>
                <a:cs typeface="Perpetua"/>
              </a:rPr>
              <a:t>if the  information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board </a:t>
            </a:r>
            <a:r>
              <a:rPr sz="2600" dirty="0">
                <a:latin typeface="Perpetua"/>
                <a:cs typeface="Perpetua"/>
              </a:rPr>
              <a:t>tells him to </a:t>
            </a:r>
            <a:r>
              <a:rPr sz="2600" spc="-5" dirty="0">
                <a:latin typeface="Perpetua"/>
                <a:cs typeface="Perpetua"/>
              </a:rPr>
              <a:t>come </a:t>
            </a:r>
            <a:r>
              <a:rPr sz="2600" dirty="0">
                <a:latin typeface="Perpetua"/>
                <a:cs typeface="Perpetua"/>
              </a:rPr>
              <a:t>into the pits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tyre  change.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Here </a:t>
            </a:r>
            <a:r>
              <a:rPr sz="2600" dirty="0">
                <a:latin typeface="Perpetua"/>
                <a:cs typeface="Perpetua"/>
              </a:rPr>
              <a:t>the termination </a:t>
            </a:r>
            <a:r>
              <a:rPr sz="2600" spc="-5" dirty="0">
                <a:latin typeface="Perpetua"/>
                <a:cs typeface="Perpetua"/>
              </a:rPr>
              <a:t>condition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is:</a:t>
            </a:r>
            <a:endParaRPr sz="2600">
              <a:latin typeface="Perpetua"/>
              <a:cs typeface="Perpetua"/>
            </a:endParaRPr>
          </a:p>
          <a:p>
            <a:pPr marL="988060" algn="just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Does </a:t>
            </a:r>
            <a:r>
              <a:rPr sz="2600" i="1" spc="-5" dirty="0">
                <a:latin typeface="Perpetua"/>
                <a:cs typeface="Perpetua"/>
              </a:rPr>
              <a:t>the board on this lap </a:t>
            </a:r>
            <a:r>
              <a:rPr sz="2600" i="1" spc="-25" dirty="0">
                <a:latin typeface="Perpetua"/>
                <a:cs typeface="Perpetua"/>
              </a:rPr>
              <a:t>say </a:t>
            </a:r>
            <a:r>
              <a:rPr sz="2600" i="1" spc="-10" dirty="0">
                <a:latin typeface="Perpetua"/>
                <a:cs typeface="Perpetua"/>
              </a:rPr>
              <a:t>Change</a:t>
            </a:r>
            <a:r>
              <a:rPr sz="2600" i="1" spc="-295" dirty="0">
                <a:latin typeface="Perpetua"/>
                <a:cs typeface="Perpetua"/>
              </a:rPr>
              <a:t> </a:t>
            </a:r>
            <a:r>
              <a:rPr sz="2600" i="1" spc="-85" dirty="0">
                <a:latin typeface="Perpetua"/>
                <a:cs typeface="Perpetua"/>
              </a:rPr>
              <a:t>Tyres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7160" y="4585611"/>
            <a:ext cx="207645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600" dirty="0">
                <a:latin typeface="Perpetua"/>
                <a:cs typeface="Perpetua"/>
              </a:rPr>
              <a:t>?”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43600" y="4191000"/>
            <a:ext cx="2743200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460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Eg.Throwing </a:t>
            </a:r>
            <a:r>
              <a:rPr spc="25" dirty="0"/>
              <a:t>darts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38452"/>
            <a:ext cx="8527415" cy="320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5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25" dirty="0">
                <a:latin typeface="Perpetua"/>
                <a:cs typeface="Perpetua"/>
              </a:rPr>
              <a:t>player </a:t>
            </a:r>
            <a:r>
              <a:rPr sz="2600" spc="-10" dirty="0">
                <a:latin typeface="Perpetua"/>
                <a:cs typeface="Perpetua"/>
              </a:rPr>
              <a:t>takes </a:t>
            </a:r>
            <a:r>
              <a:rPr sz="2600" spc="10" dirty="0">
                <a:latin typeface="Perpetua"/>
                <a:cs typeface="Perpetua"/>
              </a:rPr>
              <a:t>turns </a:t>
            </a:r>
            <a:r>
              <a:rPr sz="2600" spc="-15" dirty="0">
                <a:latin typeface="Perpetua"/>
                <a:cs typeface="Perpetua"/>
              </a:rPr>
              <a:t>throwing </a:t>
            </a:r>
            <a:r>
              <a:rPr sz="2600" dirty="0">
                <a:latin typeface="Perpetua"/>
                <a:cs typeface="Perpetua"/>
              </a:rPr>
              <a:t>3 </a:t>
            </a:r>
            <a:r>
              <a:rPr sz="2600" spc="15" dirty="0">
                <a:latin typeface="Perpetua"/>
                <a:cs typeface="Perpetua"/>
              </a:rPr>
              <a:t>darts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spc="-5" dirty="0">
                <a:latin typeface="Perpetua"/>
                <a:cs typeface="Perpetua"/>
              </a:rPr>
              <a:t>subtracting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score from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5" dirty="0">
                <a:latin typeface="Perpetua"/>
                <a:cs typeface="Perpetua"/>
              </a:rPr>
              <a:t>total.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game </a:t>
            </a:r>
            <a:r>
              <a:rPr sz="2600" dirty="0">
                <a:latin typeface="Perpetua"/>
                <a:cs typeface="Perpetua"/>
              </a:rPr>
              <a:t>(and so the </a:t>
            </a:r>
            <a:r>
              <a:rPr sz="2600" spc="-5" dirty="0">
                <a:latin typeface="Perpetua"/>
                <a:cs typeface="Perpetua"/>
              </a:rPr>
              <a:t>repetition) </a:t>
            </a:r>
            <a:r>
              <a:rPr sz="2600" dirty="0">
                <a:latin typeface="Perpetua"/>
                <a:cs typeface="Perpetua"/>
              </a:rPr>
              <a:t>ends when the </a:t>
            </a:r>
            <a:r>
              <a:rPr sz="2600" spc="-10" dirty="0">
                <a:latin typeface="Perpetua"/>
                <a:cs typeface="Perpetua"/>
              </a:rPr>
              <a:t>score </a:t>
            </a:r>
            <a:r>
              <a:rPr sz="2600" dirty="0">
                <a:latin typeface="Perpetua"/>
                <a:cs typeface="Perpetua"/>
              </a:rPr>
              <a:t>hits </a:t>
            </a:r>
            <a:r>
              <a:rPr sz="2600" spc="-10" dirty="0">
                <a:latin typeface="Perpetua"/>
                <a:cs typeface="Perpetua"/>
              </a:rPr>
              <a:t>exactly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</a:t>
            </a:r>
            <a:endParaRPr sz="2600">
              <a:latin typeface="Perpetua"/>
              <a:cs typeface="Perpetua"/>
            </a:endParaRPr>
          </a:p>
          <a:p>
            <a:pPr marL="286385" marR="3854450" indent="-286385">
              <a:lnSpc>
                <a:spcPct val="162700"/>
              </a:lnSpc>
              <a:spcBef>
                <a:spcPts val="204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termination </a:t>
            </a: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thus: 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score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the current </a:t>
            </a:r>
            <a:r>
              <a:rPr sz="2600" i="1" spc="-20" dirty="0">
                <a:latin typeface="Perpetua"/>
                <a:cs typeface="Perpetua"/>
              </a:rPr>
              <a:t>player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0</a:t>
            </a:r>
            <a:r>
              <a:rPr sz="2600" dirty="0">
                <a:latin typeface="Perpetua"/>
                <a:cs typeface="Perpetua"/>
              </a:rPr>
              <a:t>?”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1000" y="304800"/>
            <a:ext cx="2689859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120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Termination</a:t>
            </a:r>
            <a:r>
              <a:rPr spc="-30" dirty="0"/>
              <a:t> </a:t>
            </a:r>
            <a:r>
              <a:rPr spc="-5" dirty="0"/>
              <a:t>condition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31860" cy="50304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These </a:t>
            </a:r>
            <a:r>
              <a:rPr sz="2600" i="1" dirty="0">
                <a:latin typeface="Perpetua"/>
                <a:cs typeface="Perpetua"/>
              </a:rPr>
              <a:t>termination </a:t>
            </a:r>
            <a:r>
              <a:rPr sz="2600" i="1" spc="-5" dirty="0">
                <a:latin typeface="Perpetua"/>
                <a:cs typeface="Perpetua"/>
              </a:rPr>
              <a:t>conditions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the same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form:</a:t>
            </a:r>
            <a:endParaRPr sz="2600">
              <a:latin typeface="Perpetua"/>
              <a:cs typeface="Perpetua"/>
            </a:endParaRPr>
          </a:p>
          <a:p>
            <a:pPr marL="2080895" algn="just">
              <a:lnSpc>
                <a:spcPct val="100000"/>
              </a:lnSpc>
              <a:spcBef>
                <a:spcPts val="600"/>
              </a:spcBef>
            </a:pP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all ask “</a:t>
            </a:r>
            <a:r>
              <a:rPr sz="2600" i="1" spc="-5" dirty="0">
                <a:latin typeface="Perpetua"/>
                <a:cs typeface="Perpetua"/>
              </a:rPr>
              <a:t>Has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5" dirty="0">
                <a:latin typeface="Perpetua"/>
                <a:cs typeface="Perpetua"/>
              </a:rPr>
              <a:t>particular </a:t>
            </a:r>
            <a:r>
              <a:rPr sz="2600" i="1" spc="-15" dirty="0">
                <a:latin typeface="Perpetua"/>
                <a:cs typeface="Perpetua"/>
              </a:rPr>
              <a:t>value</a:t>
            </a:r>
            <a:r>
              <a:rPr sz="2600" i="1" spc="-165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arisen</a:t>
            </a:r>
            <a:r>
              <a:rPr sz="2600" spc="5" dirty="0">
                <a:latin typeface="Perpetua"/>
                <a:cs typeface="Perpetua"/>
              </a:rPr>
              <a:t>?”.</a:t>
            </a:r>
            <a:endParaRPr sz="2600">
              <a:latin typeface="Perpetua"/>
              <a:cs typeface="Perpetua"/>
            </a:endParaRPr>
          </a:p>
          <a:p>
            <a:pPr marL="286385" marR="889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particular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being </a:t>
            </a:r>
            <a:r>
              <a:rPr sz="2600" spc="5" dirty="0">
                <a:latin typeface="Perpetua"/>
                <a:cs typeface="Perpetua"/>
              </a:rPr>
              <a:t>checked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5" dirty="0">
                <a:latin typeface="Perpetua"/>
                <a:cs typeface="Perpetua"/>
              </a:rPr>
              <a:t>differs </a:t>
            </a:r>
            <a:r>
              <a:rPr sz="2600" spc="-5" dirty="0">
                <a:latin typeface="Perpetua"/>
                <a:cs typeface="Perpetua"/>
              </a:rPr>
              <a:t>completely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6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case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question </a:t>
            </a:r>
            <a:r>
              <a:rPr sz="2600" dirty="0">
                <a:latin typeface="Perpetua"/>
                <a:cs typeface="Perpetua"/>
              </a:rPr>
              <a:t>is 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same.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Because this kind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termination condition </a:t>
            </a:r>
            <a:r>
              <a:rPr sz="2600" spc="5" dirty="0">
                <a:latin typeface="Perpetua"/>
                <a:cs typeface="Perpetua"/>
              </a:rPr>
              <a:t>arises </a:t>
            </a:r>
            <a:r>
              <a:rPr sz="2600" spc="-15" dirty="0">
                <a:latin typeface="Perpetua"/>
                <a:cs typeface="Perpetua"/>
              </a:rPr>
              <a:t>frequently </a:t>
            </a:r>
            <a:r>
              <a:rPr sz="2600" dirty="0">
                <a:latin typeface="Perpetua"/>
                <a:cs typeface="Perpetua"/>
              </a:rPr>
              <a:t>the  corresponding kind </a:t>
            </a:r>
            <a:r>
              <a:rPr sz="2600" spc="-5" dirty="0">
                <a:latin typeface="Perpetua"/>
                <a:cs typeface="Perpetua"/>
              </a:rPr>
              <a:t>of loop </a:t>
            </a:r>
            <a:r>
              <a:rPr sz="2600" dirty="0">
                <a:latin typeface="Perpetua"/>
                <a:cs typeface="Perpetua"/>
              </a:rPr>
              <a:t>is given a </a:t>
            </a:r>
            <a:r>
              <a:rPr sz="2600" spc="-5" dirty="0">
                <a:latin typeface="Perpetua"/>
                <a:cs typeface="Perpetua"/>
              </a:rPr>
              <a:t>special name: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sentinel-  controlled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loop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special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if it </a:t>
            </a:r>
            <a:r>
              <a:rPr sz="2600" spc="5" dirty="0">
                <a:latin typeface="Perpetua"/>
                <a:cs typeface="Perpetua"/>
              </a:rPr>
              <a:t>arises </a:t>
            </a:r>
            <a:r>
              <a:rPr sz="2600" spc="-5" dirty="0">
                <a:latin typeface="Perpetua"/>
                <a:cs typeface="Perpetua"/>
              </a:rPr>
              <a:t>causes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repetition to stop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called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sentinel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value</a:t>
            </a:r>
            <a:r>
              <a:rPr sz="2600" spc="-1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3072765" lvl="1" indent="-240665">
              <a:lnSpc>
                <a:spcPct val="100000"/>
              </a:lnSpc>
              <a:spcBef>
                <a:spcPts val="2555"/>
              </a:spcBef>
              <a:buSzPct val="95833"/>
              <a:buFont typeface="Wingdings"/>
              <a:buChar char=""/>
              <a:tabLst>
                <a:tab pos="307340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an algorithm </a:t>
            </a:r>
            <a:r>
              <a:rPr sz="2400" i="1" spc="-10" dirty="0">
                <a:latin typeface="Perpetua"/>
                <a:cs typeface="Perpetua"/>
              </a:rPr>
              <a:t>that reads </a:t>
            </a:r>
            <a:r>
              <a:rPr sz="2400" i="1" spc="-5" dirty="0">
                <a:latin typeface="Perpetua"/>
                <a:cs typeface="Perpetua"/>
              </a:rPr>
              <a:t>and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calculates</a:t>
            </a:r>
            <a:endParaRPr sz="2400">
              <a:latin typeface="Perpetua"/>
              <a:cs typeface="Perpetua"/>
            </a:endParaRPr>
          </a:p>
          <a:p>
            <a:pPr marL="2832735">
              <a:lnSpc>
                <a:spcPct val="100000"/>
              </a:lnSpc>
            </a:pPr>
            <a:r>
              <a:rPr sz="2400" i="1" dirty="0">
                <a:latin typeface="Perpetua"/>
                <a:cs typeface="Perpetua"/>
              </a:rPr>
              <a:t>the sum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an </a:t>
            </a:r>
            <a:r>
              <a:rPr sz="2400" i="1" spc="-5" dirty="0">
                <a:latin typeface="Perpetua"/>
                <a:cs typeface="Perpetua"/>
              </a:rPr>
              <a:t>unspecified number of</a:t>
            </a:r>
            <a:r>
              <a:rPr sz="2400" i="1" spc="-3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integers?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5562600"/>
            <a:ext cx="1456944" cy="1010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0758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Remember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2322195">
              <a:lnSpc>
                <a:spcPct val="119300"/>
              </a:lnSpc>
              <a:spcBef>
                <a:spcPts val="100"/>
              </a:spcBef>
            </a:pPr>
            <a:r>
              <a:rPr spc="-5" dirty="0"/>
              <a:t>Three </a:t>
            </a:r>
            <a:r>
              <a:rPr dirty="0"/>
              <a:t>questions </a:t>
            </a:r>
            <a:r>
              <a:rPr spc="-5" dirty="0"/>
              <a:t>to </a:t>
            </a:r>
            <a:r>
              <a:rPr spc="5" dirty="0"/>
              <a:t>determine </a:t>
            </a:r>
            <a:r>
              <a:rPr dirty="0"/>
              <a:t>whether </a:t>
            </a:r>
            <a:r>
              <a:rPr spc="-5" dirty="0"/>
              <a:t>loops </a:t>
            </a:r>
            <a:r>
              <a:rPr dirty="0"/>
              <a:t>will</a:t>
            </a:r>
            <a:r>
              <a:rPr spc="-75" dirty="0"/>
              <a:t> </a:t>
            </a:r>
            <a:r>
              <a:rPr spc="-5" dirty="0"/>
              <a:t>be  </a:t>
            </a:r>
            <a:r>
              <a:rPr spc="-10" dirty="0"/>
              <a:t>required </a:t>
            </a:r>
            <a:r>
              <a:rPr dirty="0"/>
              <a:t>in the </a:t>
            </a:r>
            <a:r>
              <a:rPr spc="-5" dirty="0"/>
              <a:t>general</a:t>
            </a:r>
            <a:r>
              <a:rPr spc="-30" dirty="0"/>
              <a:t> </a:t>
            </a:r>
            <a:r>
              <a:rPr dirty="0"/>
              <a:t>algorithm.</a:t>
            </a:r>
          </a:p>
          <a:p>
            <a:pPr marL="582295" indent="-248285">
              <a:lnSpc>
                <a:spcPct val="100000"/>
              </a:lnSpc>
              <a:spcBef>
                <a:spcPts val="1575"/>
              </a:spcBef>
              <a:buSzPct val="96153"/>
              <a:buFont typeface="Perpetua"/>
              <a:buAutoNum type="arabicPeriod"/>
              <a:tabLst>
                <a:tab pos="582930" algn="l"/>
              </a:tabLst>
            </a:pPr>
            <a:r>
              <a:rPr i="1" spc="-10" dirty="0">
                <a:latin typeface="Perpetua"/>
                <a:cs typeface="Perpetua"/>
              </a:rPr>
              <a:t>Are there </a:t>
            </a:r>
            <a:r>
              <a:rPr i="1" spc="-20" dirty="0">
                <a:latin typeface="Perpetua"/>
                <a:cs typeface="Perpetua"/>
              </a:rPr>
              <a:t>any </a:t>
            </a:r>
            <a:r>
              <a:rPr i="1" spc="-5" dirty="0">
                <a:latin typeface="Perpetua"/>
                <a:cs typeface="Perpetua"/>
              </a:rPr>
              <a:t>steps </a:t>
            </a:r>
            <a:r>
              <a:rPr i="1" dirty="0">
                <a:latin typeface="Perpetua"/>
                <a:cs typeface="Perpetua"/>
              </a:rPr>
              <a:t>I need </a:t>
            </a:r>
            <a:r>
              <a:rPr i="1" spc="-5" dirty="0">
                <a:latin typeface="Perpetua"/>
                <a:cs typeface="Perpetua"/>
              </a:rPr>
              <a:t>to </a:t>
            </a:r>
            <a:r>
              <a:rPr i="1" spc="-10" dirty="0">
                <a:latin typeface="Perpetua"/>
                <a:cs typeface="Perpetua"/>
              </a:rPr>
              <a:t>repeat </a:t>
            </a:r>
            <a:r>
              <a:rPr i="1" spc="-5" dirty="0">
                <a:latin typeface="Perpetua"/>
                <a:cs typeface="Perpetua"/>
              </a:rPr>
              <a:t>to </a:t>
            </a:r>
            <a:r>
              <a:rPr i="1" spc="-10" dirty="0">
                <a:latin typeface="Perpetua"/>
                <a:cs typeface="Perpetua"/>
              </a:rPr>
              <a:t>solve </a:t>
            </a:r>
            <a:r>
              <a:rPr i="1" dirty="0">
                <a:latin typeface="Perpetua"/>
                <a:cs typeface="Perpetua"/>
              </a:rPr>
              <a:t>a </a:t>
            </a:r>
            <a:r>
              <a:rPr i="1" spc="-10" dirty="0">
                <a:latin typeface="Perpetua"/>
                <a:cs typeface="Perpetua"/>
              </a:rPr>
              <a:t>problem? </a:t>
            </a:r>
            <a:r>
              <a:rPr i="1" spc="-5" dirty="0">
                <a:latin typeface="Perpetua"/>
                <a:cs typeface="Perpetua"/>
              </a:rPr>
              <a:t>If </a:t>
            </a:r>
            <a:r>
              <a:rPr i="1" spc="-50" dirty="0">
                <a:latin typeface="Perpetua"/>
                <a:cs typeface="Perpetua"/>
              </a:rPr>
              <a:t>so, </a:t>
            </a:r>
            <a:r>
              <a:rPr i="1" spc="-15" dirty="0">
                <a:latin typeface="Perpetua"/>
                <a:cs typeface="Perpetua"/>
              </a:rPr>
              <a:t>which</a:t>
            </a:r>
            <a:r>
              <a:rPr i="1" spc="-135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ones?</a:t>
            </a:r>
          </a:p>
          <a:p>
            <a:pPr marL="563245" marR="5080" indent="-228600">
              <a:lnSpc>
                <a:spcPct val="150000"/>
              </a:lnSpc>
              <a:spcBef>
                <a:spcPts val="395"/>
              </a:spcBef>
              <a:buSzPct val="96153"/>
              <a:buAutoNum type="arabicPeriod"/>
              <a:tabLst>
                <a:tab pos="676910" algn="l"/>
              </a:tabLst>
            </a:pPr>
            <a:r>
              <a:rPr spc="-5" dirty="0"/>
              <a:t>If </a:t>
            </a:r>
            <a:r>
              <a:rPr dirty="0"/>
              <a:t>the </a:t>
            </a:r>
            <a:r>
              <a:rPr spc="-30" dirty="0"/>
              <a:t>answer </a:t>
            </a:r>
            <a:r>
              <a:rPr spc="-5" dirty="0"/>
              <a:t>to question </a:t>
            </a:r>
            <a:r>
              <a:rPr dirty="0"/>
              <a:t>1 is </a:t>
            </a:r>
            <a:r>
              <a:rPr spc="-10" dirty="0"/>
              <a:t>yes, </a:t>
            </a:r>
            <a:r>
              <a:rPr i="1" dirty="0">
                <a:latin typeface="Perpetua"/>
                <a:cs typeface="Perpetua"/>
              </a:rPr>
              <a:t>do I </a:t>
            </a:r>
            <a:r>
              <a:rPr i="1" spc="-15" dirty="0">
                <a:latin typeface="Perpetua"/>
                <a:cs typeface="Perpetua"/>
              </a:rPr>
              <a:t>know </a:t>
            </a:r>
            <a:r>
              <a:rPr i="1" dirty="0">
                <a:latin typeface="Perpetua"/>
                <a:cs typeface="Perpetua"/>
              </a:rPr>
              <a:t>in </a:t>
            </a:r>
            <a:r>
              <a:rPr i="1" spc="-20" dirty="0">
                <a:latin typeface="Perpetua"/>
                <a:cs typeface="Perpetua"/>
              </a:rPr>
              <a:t>advance </a:t>
            </a:r>
            <a:r>
              <a:rPr i="1" spc="-15" dirty="0">
                <a:latin typeface="Perpetua"/>
                <a:cs typeface="Perpetua"/>
              </a:rPr>
              <a:t>how </a:t>
            </a:r>
            <a:r>
              <a:rPr i="1" spc="-20" dirty="0">
                <a:latin typeface="Perpetua"/>
                <a:cs typeface="Perpetua"/>
              </a:rPr>
              <a:t>many  </a:t>
            </a:r>
            <a:r>
              <a:rPr i="1" dirty="0">
                <a:latin typeface="Perpetua"/>
                <a:cs typeface="Perpetua"/>
              </a:rPr>
              <a:t>times </a:t>
            </a:r>
            <a:r>
              <a:rPr i="1" spc="-5" dirty="0">
                <a:latin typeface="Perpetua"/>
                <a:cs typeface="Perpetua"/>
              </a:rPr>
              <a:t>to </a:t>
            </a:r>
            <a:r>
              <a:rPr i="1" spc="-10" dirty="0">
                <a:latin typeface="Perpetua"/>
                <a:cs typeface="Perpetua"/>
              </a:rPr>
              <a:t>repeat </a:t>
            </a:r>
            <a:r>
              <a:rPr i="1" spc="-5" dirty="0">
                <a:latin typeface="Perpetua"/>
                <a:cs typeface="Perpetua"/>
              </a:rPr>
              <a:t>the</a:t>
            </a:r>
            <a:r>
              <a:rPr i="1" spc="-25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steps?</a:t>
            </a:r>
          </a:p>
          <a:p>
            <a:pPr marL="563245" marR="5715" indent="-228600">
              <a:lnSpc>
                <a:spcPct val="150000"/>
              </a:lnSpc>
              <a:spcBef>
                <a:spcPts val="409"/>
              </a:spcBef>
              <a:buSzPct val="96153"/>
              <a:buAutoNum type="arabicPeriod"/>
              <a:tabLst>
                <a:tab pos="678180" algn="l"/>
              </a:tabLst>
            </a:pPr>
            <a:r>
              <a:rPr spc="-5" dirty="0"/>
              <a:t>If </a:t>
            </a:r>
            <a:r>
              <a:rPr dirty="0"/>
              <a:t>the </a:t>
            </a:r>
            <a:r>
              <a:rPr spc="-30" dirty="0"/>
              <a:t>answer </a:t>
            </a:r>
            <a:r>
              <a:rPr spc="-5" dirty="0"/>
              <a:t>to </a:t>
            </a:r>
            <a:r>
              <a:rPr dirty="0"/>
              <a:t>question 2 is </a:t>
            </a:r>
            <a:r>
              <a:rPr spc="-20" dirty="0"/>
              <a:t>no, </a:t>
            </a:r>
            <a:r>
              <a:rPr i="1" spc="-15" dirty="0">
                <a:latin typeface="Perpetua"/>
                <a:cs typeface="Perpetua"/>
              </a:rPr>
              <a:t>how </a:t>
            </a:r>
            <a:r>
              <a:rPr i="1" dirty="0">
                <a:latin typeface="Perpetua"/>
                <a:cs typeface="Perpetua"/>
              </a:rPr>
              <a:t>do I </a:t>
            </a:r>
            <a:r>
              <a:rPr i="1" spc="-10" dirty="0">
                <a:latin typeface="Perpetua"/>
                <a:cs typeface="Perpetua"/>
              </a:rPr>
              <a:t>know </a:t>
            </a:r>
            <a:r>
              <a:rPr i="1" spc="-15" dirty="0">
                <a:latin typeface="Perpetua"/>
                <a:cs typeface="Perpetua"/>
              </a:rPr>
              <a:t>how </a:t>
            </a:r>
            <a:r>
              <a:rPr i="1" spc="-5" dirty="0">
                <a:latin typeface="Perpetua"/>
                <a:cs typeface="Perpetua"/>
              </a:rPr>
              <a:t>long </a:t>
            </a:r>
            <a:r>
              <a:rPr i="1" dirty="0">
                <a:latin typeface="Perpetua"/>
                <a:cs typeface="Perpetua"/>
              </a:rPr>
              <a:t>to </a:t>
            </a:r>
            <a:r>
              <a:rPr i="1" spc="-5" dirty="0">
                <a:latin typeface="Perpetua"/>
                <a:cs typeface="Perpetua"/>
              </a:rPr>
              <a:t>keep  repeating the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steps?</a:t>
            </a:r>
          </a:p>
        </p:txBody>
      </p:sp>
      <p:sp>
        <p:nvSpPr>
          <p:cNvPr id="4" name="object 4"/>
          <p:cNvSpPr/>
          <p:nvPr/>
        </p:nvSpPr>
        <p:spPr>
          <a:xfrm>
            <a:off x="2755640" y="317237"/>
            <a:ext cx="889518" cy="1131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29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Non-terminating</a:t>
            </a:r>
            <a:r>
              <a:rPr spc="-30" dirty="0"/>
              <a:t> </a:t>
            </a:r>
            <a:r>
              <a:rPr spc="-10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7434"/>
            <a:ext cx="8089265" cy="42932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65" dirty="0">
                <a:latin typeface="Perpetua"/>
                <a:cs typeface="Perpetua"/>
              </a:rPr>
              <a:t>Say, </a:t>
            </a:r>
            <a:r>
              <a:rPr sz="2400" i="1" spc="-15" dirty="0">
                <a:latin typeface="Perpetua"/>
                <a:cs typeface="Perpetua"/>
              </a:rPr>
              <a:t>we wanted </a:t>
            </a:r>
            <a:r>
              <a:rPr sz="2400" i="1" spc="-5" dirty="0">
                <a:latin typeface="Perpetua"/>
                <a:cs typeface="Perpetua"/>
              </a:rPr>
              <a:t>to </a:t>
            </a:r>
            <a:r>
              <a:rPr sz="2400" i="1" spc="-10" dirty="0">
                <a:latin typeface="Perpetua"/>
                <a:cs typeface="Perpetua"/>
              </a:rPr>
              <a:t>give </a:t>
            </a:r>
            <a:r>
              <a:rPr sz="2400" i="1" spc="-5" dirty="0">
                <a:latin typeface="Perpetua"/>
                <a:cs typeface="Perpetua"/>
              </a:rPr>
              <a:t>precise instructions to </a:t>
            </a:r>
            <a:r>
              <a:rPr sz="2400" b="1" i="1" spc="-5" dirty="0">
                <a:latin typeface="Perpetua"/>
                <a:cs typeface="Perpetua"/>
              </a:rPr>
              <a:t>do nothing </a:t>
            </a:r>
            <a:r>
              <a:rPr sz="2400" b="1" i="1" spc="-20" dirty="0">
                <a:latin typeface="Perpetua"/>
                <a:cs typeface="Perpetua"/>
              </a:rPr>
              <a:t>for </a:t>
            </a:r>
            <a:r>
              <a:rPr sz="2400" b="1" i="1" spc="-25" dirty="0">
                <a:latin typeface="Perpetua"/>
                <a:cs typeface="Perpetua"/>
              </a:rPr>
              <a:t>ever </a:t>
            </a:r>
            <a:r>
              <a:rPr sz="2400" b="1" i="1" spc="-5" dirty="0">
                <a:latin typeface="Perpetua"/>
                <a:cs typeface="Perpetua"/>
              </a:rPr>
              <a:t>and</a:t>
            </a:r>
            <a:r>
              <a:rPr sz="2400" b="1" i="1" spc="5" dirty="0">
                <a:latin typeface="Perpetua"/>
                <a:cs typeface="Perpetua"/>
              </a:rPr>
              <a:t> </a:t>
            </a:r>
            <a:r>
              <a:rPr sz="2400" b="1" i="1" spc="-25" dirty="0">
                <a:latin typeface="Perpetua"/>
                <a:cs typeface="Perpetua"/>
              </a:rPr>
              <a:t>ever</a:t>
            </a:r>
            <a:r>
              <a:rPr sz="2400" i="1" spc="-2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i="1" spc="-15" dirty="0">
                <a:latin typeface="Perpetua"/>
                <a:cs typeface="Perpetua"/>
              </a:rPr>
              <a:t>How </a:t>
            </a:r>
            <a:r>
              <a:rPr sz="2400" i="1" spc="-10" dirty="0">
                <a:latin typeface="Perpetua"/>
                <a:cs typeface="Perpetua"/>
              </a:rPr>
              <a:t>would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5" dirty="0">
                <a:latin typeface="Perpetua"/>
                <a:cs typeface="Perpetua"/>
              </a:rPr>
              <a:t>do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it</a:t>
            </a:r>
            <a:r>
              <a:rPr sz="2400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i="1" dirty="0">
                <a:latin typeface="Perpetua"/>
                <a:cs typeface="Perpetua"/>
              </a:rPr>
              <a:t>Is </a:t>
            </a:r>
            <a:r>
              <a:rPr sz="2400" i="1" spc="-5" dirty="0">
                <a:latin typeface="Perpetua"/>
                <a:cs typeface="Perpetua"/>
              </a:rPr>
              <a:t>it </a:t>
            </a:r>
            <a:r>
              <a:rPr sz="2400" i="1" spc="-10" dirty="0">
                <a:latin typeface="Perpetua"/>
                <a:cs typeface="Perpetua"/>
              </a:rPr>
              <a:t>possible </a:t>
            </a:r>
            <a:r>
              <a:rPr sz="2400" i="1" spc="-5" dirty="0">
                <a:latin typeface="Perpetua"/>
                <a:cs typeface="Perpetua"/>
              </a:rPr>
              <a:t>using one of our loop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constructs</a:t>
            </a:r>
            <a:r>
              <a:rPr sz="2400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It </a:t>
            </a:r>
            <a:r>
              <a:rPr sz="2400" spc="-10" dirty="0">
                <a:latin typeface="Perpetua"/>
                <a:cs typeface="Perpetua"/>
              </a:rPr>
              <a:t>clearly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10" dirty="0">
                <a:latin typeface="Perpetua"/>
                <a:cs typeface="Perpetua"/>
              </a:rPr>
              <a:t>repetitive </a:t>
            </a:r>
            <a:r>
              <a:rPr sz="2400" dirty="0">
                <a:latin typeface="Perpetua"/>
                <a:cs typeface="Perpetua"/>
              </a:rPr>
              <a:t>thing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want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be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done.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is it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5" dirty="0">
                <a:latin typeface="Perpetua"/>
                <a:cs typeface="Perpetua"/>
              </a:rPr>
              <a:t>wish to be done </a:t>
            </a:r>
            <a:r>
              <a:rPr sz="2400" i="1" spc="-25" dirty="0">
                <a:latin typeface="Perpetua"/>
                <a:cs typeface="Perpetua"/>
              </a:rPr>
              <a:t>over </a:t>
            </a:r>
            <a:r>
              <a:rPr sz="2400" i="1" spc="-5" dirty="0">
                <a:latin typeface="Perpetua"/>
                <a:cs typeface="Perpetua"/>
              </a:rPr>
              <a:t>and</a:t>
            </a:r>
            <a:r>
              <a:rPr sz="2400" i="1" spc="3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over</a:t>
            </a:r>
            <a:r>
              <a:rPr sz="2400" spc="-20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Nothing!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Under </a:t>
            </a:r>
            <a:r>
              <a:rPr sz="2400" i="1" spc="-25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circumstances do </a:t>
            </a:r>
            <a:r>
              <a:rPr sz="2400" i="1" spc="-15" dirty="0">
                <a:latin typeface="Perpetua"/>
                <a:cs typeface="Perpetua"/>
              </a:rPr>
              <a:t>we </a:t>
            </a:r>
            <a:r>
              <a:rPr sz="2400" i="1" spc="-5" dirty="0">
                <a:latin typeface="Perpetua"/>
                <a:cs typeface="Perpetua"/>
              </a:rPr>
              <a:t>keep doing</a:t>
            </a:r>
            <a:r>
              <a:rPr sz="2400" i="1" spc="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it</a:t>
            </a:r>
            <a:r>
              <a:rPr sz="2400" spc="-5" dirty="0"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25" dirty="0">
                <a:latin typeface="Perpetua"/>
                <a:cs typeface="Perpetua"/>
              </a:rPr>
              <a:t>Always!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61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Do </a:t>
            </a:r>
            <a:r>
              <a:rPr dirty="0"/>
              <a:t>not</a:t>
            </a:r>
            <a:r>
              <a:rPr spc="-125" dirty="0"/>
              <a:t> </a:t>
            </a:r>
            <a:r>
              <a:rPr spc="25" dirty="0"/>
              <a:t>mourn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2379091"/>
            <a:ext cx="8528050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tabLst>
                <a:tab pos="4213225" algn="l"/>
              </a:tabLst>
            </a:pPr>
            <a:r>
              <a:rPr sz="2600" i="1" spc="-10" dirty="0">
                <a:latin typeface="Perpetua"/>
                <a:cs typeface="Perpetua"/>
              </a:rPr>
              <a:t>“Don’t </a:t>
            </a:r>
            <a:r>
              <a:rPr sz="2600" i="1" spc="5" dirty="0">
                <a:latin typeface="Perpetua"/>
                <a:cs typeface="Perpetua"/>
              </a:rPr>
              <a:t>mourn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me </a:t>
            </a:r>
            <a:r>
              <a:rPr sz="2600" i="1" spc="-65" dirty="0">
                <a:latin typeface="Perpetua"/>
                <a:cs typeface="Perpetua"/>
              </a:rPr>
              <a:t>now, </a:t>
            </a:r>
            <a:r>
              <a:rPr sz="2600" i="1" spc="-15" dirty="0">
                <a:latin typeface="Perpetua"/>
                <a:cs typeface="Perpetua"/>
              </a:rPr>
              <a:t>don’t </a:t>
            </a:r>
            <a:r>
              <a:rPr sz="2600" i="1" dirty="0">
                <a:latin typeface="Perpetua"/>
                <a:cs typeface="Perpetua"/>
              </a:rPr>
              <a:t>grieve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me </a:t>
            </a:r>
            <a:r>
              <a:rPr sz="2600" i="1" spc="-30" dirty="0">
                <a:latin typeface="Perpetua"/>
                <a:cs typeface="Perpetua"/>
              </a:rPr>
              <a:t>never, </a:t>
            </a:r>
            <a:r>
              <a:rPr sz="2600" i="1" spc="-60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I’m going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do nothing  </a:t>
            </a:r>
            <a:r>
              <a:rPr sz="2600" i="1" spc="-15" dirty="0">
                <a:latin typeface="Perpetua"/>
                <a:cs typeface="Perpetua"/>
              </a:rPr>
              <a:t>for</a:t>
            </a:r>
            <a:r>
              <a:rPr sz="2600" i="1" spc="-10" dirty="0">
                <a:latin typeface="Perpetua"/>
                <a:cs typeface="Perpetua"/>
              </a:rPr>
              <a:t> ever</a:t>
            </a:r>
            <a:r>
              <a:rPr sz="2600" i="1" dirty="0">
                <a:latin typeface="Perpetua"/>
                <a:cs typeface="Perpetua"/>
              </a:rPr>
              <a:t> and</a:t>
            </a:r>
            <a:r>
              <a:rPr sz="2600" i="1" spc="-10" dirty="0">
                <a:latin typeface="Perpetua"/>
                <a:cs typeface="Perpetua"/>
              </a:rPr>
              <a:t> ever”</a:t>
            </a:r>
            <a:r>
              <a:rPr sz="2600" i="1" spc="-27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.</a:t>
            </a:r>
            <a:r>
              <a:rPr sz="2600" i="1" spc="-2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(quoted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in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Lovric	</a:t>
            </a:r>
            <a:r>
              <a:rPr sz="2600" i="1" spc="-5" dirty="0">
                <a:latin typeface="Perpetua"/>
                <a:cs typeface="Perpetua"/>
              </a:rPr>
              <a:t>2000)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361315" indent="-349250">
              <a:lnSpc>
                <a:spcPct val="100000"/>
              </a:lnSpc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dirty="0">
                <a:latin typeface="Perpetua"/>
                <a:cs typeface="Perpetua"/>
              </a:rPr>
              <a:t>Our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dirty="0">
                <a:latin typeface="Perpetua"/>
                <a:cs typeface="Perpetua"/>
              </a:rPr>
              <a:t>will be </a:t>
            </a:r>
            <a:r>
              <a:rPr sz="2600" spc="-5" dirty="0">
                <a:latin typeface="Perpetua"/>
                <a:cs typeface="Perpetua"/>
              </a:rPr>
              <a:t>something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like:</a:t>
            </a:r>
            <a:endParaRPr sz="2600">
              <a:latin typeface="Perpetua"/>
              <a:cs typeface="Perpetua"/>
            </a:endParaRPr>
          </a:p>
          <a:p>
            <a:pPr marL="918210">
              <a:lnSpc>
                <a:spcPct val="100000"/>
              </a:lnSpc>
              <a:spcBef>
                <a:spcPts val="600"/>
              </a:spcBef>
            </a:pPr>
            <a:r>
              <a:rPr sz="2600" b="1" dirty="0">
                <a:latin typeface="Perpetua"/>
                <a:cs typeface="Perpetua"/>
              </a:rPr>
              <a:t>While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b="1" dirty="0">
                <a:latin typeface="Perpetua"/>
                <a:cs typeface="Perpetua"/>
              </a:rPr>
              <a:t>do the </a:t>
            </a:r>
            <a:r>
              <a:rPr sz="2600" b="1" spc="-5" dirty="0">
                <a:latin typeface="Perpetua"/>
                <a:cs typeface="Perpetua"/>
              </a:rPr>
              <a:t>following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repeatedly</a:t>
            </a:r>
            <a:endParaRPr sz="2600">
              <a:latin typeface="Perpetua"/>
              <a:cs typeface="Perpetua"/>
            </a:endParaRPr>
          </a:p>
          <a:p>
            <a:pPr marL="1300480">
              <a:lnSpc>
                <a:spcPct val="100000"/>
              </a:lnSpc>
              <a:spcBef>
                <a:spcPts val="605"/>
              </a:spcBef>
            </a:pPr>
            <a:r>
              <a:rPr sz="2600" spc="-5" dirty="0">
                <a:latin typeface="Perpetua"/>
                <a:cs typeface="Perpetua"/>
              </a:rPr>
              <a:t>a. </a:t>
            </a:r>
            <a:r>
              <a:rPr sz="2600" dirty="0">
                <a:latin typeface="Perpetua"/>
                <a:cs typeface="Perpetua"/>
              </a:rPr>
              <a:t>Do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nothing.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78423" y="304800"/>
            <a:ext cx="3073907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06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25" dirty="0">
                <a:latin typeface="Perpetua"/>
                <a:cs typeface="Perpetua"/>
              </a:rPr>
              <a:t>How </a:t>
            </a:r>
            <a:r>
              <a:rPr i="1" spc="-5" dirty="0">
                <a:latin typeface="Perpetua"/>
                <a:cs typeface="Perpetua"/>
              </a:rPr>
              <a:t>does this</a:t>
            </a:r>
            <a:r>
              <a:rPr i="1" spc="-10" dirty="0">
                <a:latin typeface="Perpetua"/>
                <a:cs typeface="Perpetua"/>
              </a:rPr>
              <a:t> </a:t>
            </a:r>
            <a:r>
              <a:rPr i="1" spc="-20" dirty="0">
                <a:latin typeface="Perpetua"/>
                <a:cs typeface="Perpetua"/>
              </a:rPr>
              <a:t>work</a:t>
            </a:r>
            <a:r>
              <a:rPr spc="-2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198484" cy="45732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needed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test to mean</a:t>
            </a:r>
            <a:r>
              <a:rPr sz="2600" spc="-4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“</a:t>
            </a:r>
            <a:r>
              <a:rPr sz="2600" i="1" spc="-20" dirty="0">
                <a:latin typeface="Perpetua"/>
                <a:cs typeface="Perpetua"/>
              </a:rPr>
              <a:t>always</a:t>
            </a:r>
            <a:r>
              <a:rPr sz="2600" spc="-2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75" dirty="0">
                <a:latin typeface="Perpetua"/>
                <a:cs typeface="Perpetua"/>
              </a:rPr>
              <a:t>Well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30" dirty="0">
                <a:latin typeface="Perpetua"/>
                <a:cs typeface="Perpetua"/>
              </a:rPr>
              <a:t>always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spc="-5" dirty="0">
                <a:latin typeface="Perpetua"/>
                <a:cs typeface="Perpetua"/>
              </a:rPr>
              <a:t>going 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0" dirty="0">
                <a:latin typeface="Perpetua"/>
                <a:cs typeface="Perpetua"/>
              </a:rPr>
              <a:t>keeps </a:t>
            </a:r>
            <a:r>
              <a:rPr sz="2600" spc="-5" dirty="0">
                <a:latin typeface="Perpetua"/>
                <a:cs typeface="Perpetua"/>
              </a:rPr>
              <a:t>going </a:t>
            </a:r>
            <a:r>
              <a:rPr sz="2600" dirty="0">
                <a:latin typeface="Perpetua"/>
                <a:cs typeface="Perpetua"/>
              </a:rPr>
              <a:t>when  the </a:t>
            </a:r>
            <a:r>
              <a:rPr sz="2600" spc="-5" dirty="0">
                <a:latin typeface="Perpetua"/>
                <a:cs typeface="Perpetua"/>
              </a:rPr>
              <a:t>test </a:t>
            </a:r>
            <a:r>
              <a:rPr sz="2600" dirty="0">
                <a:latin typeface="Perpetua"/>
                <a:cs typeface="Perpetua"/>
              </a:rPr>
              <a:t>is true.</a:t>
            </a:r>
            <a:endParaRPr sz="2600">
              <a:latin typeface="Perpetua"/>
              <a:cs typeface="Perpetua"/>
            </a:endParaRPr>
          </a:p>
          <a:p>
            <a:pPr marL="361315" indent="-34925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dirty="0">
                <a:latin typeface="Perpetua"/>
                <a:cs typeface="Perpetua"/>
              </a:rPr>
              <a:t>So if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30" dirty="0">
                <a:latin typeface="Perpetua"/>
                <a:cs typeface="Perpetua"/>
              </a:rPr>
              <a:t>always </a:t>
            </a:r>
            <a:r>
              <a:rPr sz="2600" spc="-5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it to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spc="-5" dirty="0">
                <a:latin typeface="Perpetua"/>
                <a:cs typeface="Perpetua"/>
              </a:rPr>
              <a:t>going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just </a:t>
            </a:r>
            <a:r>
              <a:rPr sz="2600" spc="-5" dirty="0">
                <a:latin typeface="Perpetua"/>
                <a:cs typeface="Perpetua"/>
              </a:rPr>
              <a:t>use </a:t>
            </a:r>
            <a:r>
              <a:rPr sz="2600" spc="5" dirty="0">
                <a:latin typeface="Perpetua"/>
                <a:cs typeface="Perpetua"/>
              </a:rPr>
              <a:t>“</a:t>
            </a:r>
            <a:r>
              <a:rPr sz="2600" i="1" spc="5" dirty="0">
                <a:latin typeface="Perpetua"/>
                <a:cs typeface="Perpetua"/>
              </a:rPr>
              <a:t>true</a:t>
            </a:r>
            <a:r>
              <a:rPr sz="2600" spc="5" dirty="0">
                <a:latin typeface="Perpetua"/>
                <a:cs typeface="Perpetua"/>
              </a:rPr>
              <a:t>”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test.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basically</a:t>
            </a:r>
            <a:r>
              <a:rPr sz="2600" spc="-2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seeing</a:t>
            </a:r>
            <a:endParaRPr sz="2600">
              <a:latin typeface="Perpetua"/>
              <a:cs typeface="Perpetua"/>
            </a:endParaRPr>
          </a:p>
          <a:p>
            <a:pPr marR="131445" algn="r">
              <a:lnSpc>
                <a:spcPct val="100000"/>
              </a:lnSpc>
              <a:spcBef>
                <a:spcPts val="395"/>
              </a:spcBef>
            </a:pPr>
            <a:r>
              <a:rPr sz="2600" b="1" dirty="0">
                <a:latin typeface="Perpetua"/>
                <a:cs typeface="Perpetua"/>
              </a:rPr>
              <a:t>“</a:t>
            </a:r>
            <a:r>
              <a:rPr sz="2600" b="1" i="1" dirty="0">
                <a:latin typeface="Perpetua"/>
                <a:cs typeface="Perpetua"/>
              </a:rPr>
              <a:t>While </a:t>
            </a:r>
            <a:r>
              <a:rPr sz="2600" b="1" i="1" spc="-5" dirty="0">
                <a:latin typeface="Perpetua"/>
                <a:cs typeface="Perpetua"/>
              </a:rPr>
              <a:t>true </a:t>
            </a:r>
            <a:r>
              <a:rPr sz="2600" b="1" i="1" dirty="0">
                <a:latin typeface="Perpetua"/>
                <a:cs typeface="Perpetua"/>
              </a:rPr>
              <a:t>is </a:t>
            </a:r>
            <a:r>
              <a:rPr sz="2600" b="1" i="1" spc="-5" dirty="0">
                <a:latin typeface="Perpetua"/>
                <a:cs typeface="Perpetua"/>
              </a:rPr>
              <a:t>true </a:t>
            </a:r>
            <a:r>
              <a:rPr sz="2600" b="1" i="1" spc="-10" dirty="0">
                <a:latin typeface="Perpetua"/>
                <a:cs typeface="Perpetua"/>
              </a:rPr>
              <a:t>do </a:t>
            </a:r>
            <a:r>
              <a:rPr sz="2600" b="1" i="1" dirty="0">
                <a:latin typeface="Perpetua"/>
                <a:cs typeface="Perpetua"/>
              </a:rPr>
              <a:t>the </a:t>
            </a:r>
            <a:r>
              <a:rPr sz="2600" b="1" i="1" spc="-10" dirty="0">
                <a:latin typeface="Perpetua"/>
                <a:cs typeface="Perpetua"/>
              </a:rPr>
              <a:t>following</a:t>
            </a:r>
            <a:r>
              <a:rPr sz="2600" b="1" i="1" spc="-130" dirty="0">
                <a:latin typeface="Perpetua"/>
                <a:cs typeface="Perpetua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repeatedly</a:t>
            </a:r>
            <a:r>
              <a:rPr sz="2600" b="1" spc="-10" dirty="0">
                <a:latin typeface="Perpetua"/>
                <a:cs typeface="Perpetua"/>
              </a:rPr>
              <a:t>”.</a:t>
            </a:r>
            <a:endParaRPr sz="2600">
              <a:latin typeface="Perpetua"/>
              <a:cs typeface="Perpetua"/>
            </a:endParaRPr>
          </a:p>
          <a:p>
            <a:pPr marL="273685" marR="102870" indent="-273685" algn="r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2600" spc="-5" dirty="0">
                <a:latin typeface="Perpetua"/>
                <a:cs typeface="Perpetua"/>
              </a:rPr>
              <a:t>Since </a:t>
            </a:r>
            <a:r>
              <a:rPr sz="2600" spc="5" dirty="0">
                <a:latin typeface="Perpetua"/>
                <a:cs typeface="Perpetua"/>
              </a:rPr>
              <a:t>“</a:t>
            </a:r>
            <a:r>
              <a:rPr sz="2600" i="1" spc="5" dirty="0">
                <a:latin typeface="Perpetua"/>
                <a:cs typeface="Perpetua"/>
              </a:rPr>
              <a:t>true”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always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answer </a:t>
            </a:r>
            <a:r>
              <a:rPr sz="2600" dirty="0">
                <a:latin typeface="Perpetua"/>
                <a:cs typeface="Perpetua"/>
              </a:rPr>
              <a:t>to the </a:t>
            </a:r>
            <a:r>
              <a:rPr sz="2600" spc="-5" dirty="0">
                <a:latin typeface="Perpetua"/>
                <a:cs typeface="Perpetua"/>
              </a:rPr>
              <a:t>question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always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yes.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127635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32258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This kind </a:t>
            </a:r>
            <a:r>
              <a:rPr sz="2600" spc="-5" dirty="0">
                <a:latin typeface="Perpetua"/>
                <a:cs typeface="Perpetua"/>
              </a:rPr>
              <a:t>of loop </a:t>
            </a:r>
            <a:r>
              <a:rPr sz="2600" dirty="0">
                <a:latin typeface="Perpetua"/>
                <a:cs typeface="Perpetua"/>
              </a:rPr>
              <a:t>with a </a:t>
            </a:r>
            <a:r>
              <a:rPr sz="2600" spc="-5" dirty="0">
                <a:latin typeface="Perpetua"/>
                <a:cs typeface="Perpetua"/>
              </a:rPr>
              <a:t>test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always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0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non-  </a:t>
            </a:r>
            <a:r>
              <a:rPr sz="2600" i="1" dirty="0">
                <a:latin typeface="Perpetua"/>
                <a:cs typeface="Perpetua"/>
              </a:rPr>
              <a:t>terminating</a:t>
            </a:r>
            <a:r>
              <a:rPr sz="2600" i="1" spc="-5" dirty="0">
                <a:latin typeface="Perpetua"/>
                <a:cs typeface="Perpetua"/>
              </a:rPr>
              <a:t> loop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07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25" dirty="0">
                <a:latin typeface="Perpetua"/>
                <a:cs typeface="Perpetua"/>
              </a:rPr>
              <a:t>How </a:t>
            </a:r>
            <a:r>
              <a:rPr i="1" spc="-5" dirty="0">
                <a:latin typeface="Perpetua"/>
                <a:cs typeface="Perpetua"/>
              </a:rPr>
              <a:t>does this </a:t>
            </a:r>
            <a:r>
              <a:rPr i="1" spc="-20" dirty="0">
                <a:latin typeface="Perpetua"/>
                <a:cs typeface="Perpetua"/>
              </a:rPr>
              <a:t>work</a:t>
            </a:r>
            <a:r>
              <a:rPr spc="-20" dirty="0"/>
              <a:t>?</a:t>
            </a:r>
            <a:r>
              <a:rPr spc="5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…</a:t>
            </a:r>
          </a:p>
        </p:txBody>
      </p:sp>
      <p:sp>
        <p:nvSpPr>
          <p:cNvPr id="3" name="object 3"/>
          <p:cNvSpPr/>
          <p:nvPr/>
        </p:nvSpPr>
        <p:spPr>
          <a:xfrm>
            <a:off x="2826327" y="1683319"/>
            <a:ext cx="3574472" cy="4530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7561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20" dirty="0">
                <a:latin typeface="Perpetua"/>
                <a:cs typeface="Perpetua"/>
              </a:rPr>
              <a:t>Are </a:t>
            </a:r>
            <a:r>
              <a:rPr i="1" spc="-5" dirty="0">
                <a:latin typeface="Perpetua"/>
                <a:cs typeface="Perpetua"/>
              </a:rPr>
              <a:t>such loops </a:t>
            </a:r>
            <a:r>
              <a:rPr i="1" spc="-30" dirty="0">
                <a:latin typeface="Perpetua"/>
                <a:cs typeface="Perpetua"/>
              </a:rPr>
              <a:t>program</a:t>
            </a:r>
            <a:r>
              <a:rPr i="1" spc="-20" dirty="0">
                <a:latin typeface="Perpetua"/>
                <a:cs typeface="Perpetua"/>
              </a:rPr>
              <a:t> </a:t>
            </a:r>
            <a:r>
              <a:rPr i="1" spc="-5" dirty="0">
                <a:latin typeface="Perpetua"/>
                <a:cs typeface="Perpetua"/>
              </a:rPr>
              <a:t>bugs</a:t>
            </a:r>
            <a:r>
              <a:rPr spc="-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5248275" cy="9715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Usually </a:t>
            </a:r>
            <a:r>
              <a:rPr sz="2600" dirty="0">
                <a:latin typeface="Perpetua"/>
                <a:cs typeface="Perpetua"/>
              </a:rPr>
              <a:t>non-terminating </a:t>
            </a:r>
            <a:r>
              <a:rPr sz="2600" spc="-5" dirty="0">
                <a:latin typeface="Perpetua"/>
                <a:cs typeface="Perpetua"/>
              </a:rPr>
              <a:t>loops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bugs.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They are </a:t>
            </a:r>
            <a:r>
              <a:rPr sz="2600" spc="5" dirty="0">
                <a:latin typeface="Perpetua"/>
                <a:cs typeface="Perpetua"/>
              </a:rPr>
              <a:t>run-time </a:t>
            </a:r>
            <a:r>
              <a:rPr sz="2600" spc="10" dirty="0">
                <a:latin typeface="Perpetua"/>
                <a:cs typeface="Perpetua"/>
              </a:rPr>
              <a:t>errors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program.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747332"/>
            <a:ext cx="8399780" cy="13150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40" dirty="0">
                <a:latin typeface="Perpetua"/>
                <a:cs typeface="Perpetua"/>
              </a:rPr>
              <a:t>However </a:t>
            </a:r>
            <a:r>
              <a:rPr sz="2600" dirty="0">
                <a:latin typeface="Perpetua"/>
                <a:cs typeface="Perpetua"/>
              </a:rPr>
              <a:t>sometimes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25" dirty="0">
                <a:latin typeface="Perpetua"/>
                <a:cs typeface="Perpetua"/>
              </a:rPr>
              <a:t>never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a program to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stop.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70" dirty="0">
                <a:latin typeface="Perpetua"/>
                <a:cs typeface="Perpetua"/>
              </a:rPr>
              <a:t>e.g. </a:t>
            </a:r>
            <a:r>
              <a:rPr sz="2600" dirty="0">
                <a:latin typeface="Perpetua"/>
                <a:cs typeface="Perpetua"/>
              </a:rPr>
              <a:t>it might be useful if a program </a:t>
            </a:r>
            <a:r>
              <a:rPr sz="2600" spc="-5" dirty="0">
                <a:latin typeface="Perpetua"/>
                <a:cs typeface="Perpetua"/>
              </a:rPr>
              <a:t>controlling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20" dirty="0">
                <a:latin typeface="Perpetua"/>
                <a:cs typeface="Perpetua"/>
              </a:rPr>
              <a:t>heart </a:t>
            </a:r>
            <a:r>
              <a:rPr sz="2600" dirty="0">
                <a:latin typeface="Perpetua"/>
                <a:cs typeface="Perpetua"/>
              </a:rPr>
              <a:t>pace </a:t>
            </a:r>
            <a:r>
              <a:rPr sz="2600" spc="-10" dirty="0">
                <a:latin typeface="Perpetua"/>
                <a:cs typeface="Perpetua"/>
              </a:rPr>
              <a:t>maker  </a:t>
            </a:r>
            <a:r>
              <a:rPr sz="2600" spc="-20" dirty="0">
                <a:latin typeface="Perpetua"/>
                <a:cs typeface="Perpetua"/>
              </a:rPr>
              <a:t>would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dirty="0">
                <a:latin typeface="Perpetua"/>
                <a:cs typeface="Perpetua"/>
              </a:rPr>
              <a:t>going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45" dirty="0">
                <a:latin typeface="Perpetua"/>
                <a:cs typeface="Perpetua"/>
              </a:rPr>
              <a:t>forever.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38800" y="1143000"/>
            <a:ext cx="3200400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94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10" dirty="0"/>
              <a:t>Grill </a:t>
            </a:r>
            <a:r>
              <a:rPr spc="-5" dirty="0"/>
              <a:t>a steak…</a:t>
            </a:r>
            <a:r>
              <a:rPr spc="-55" dirty="0"/>
              <a:t> </a:t>
            </a:r>
            <a:r>
              <a:rPr spc="-15" dirty="0"/>
              <a:t>revisited…</a:t>
            </a:r>
          </a:p>
        </p:txBody>
      </p:sp>
      <p:sp>
        <p:nvSpPr>
          <p:cNvPr id="3" name="object 3"/>
          <p:cNvSpPr/>
          <p:nvPr/>
        </p:nvSpPr>
        <p:spPr>
          <a:xfrm>
            <a:off x="1905000" y="3733800"/>
            <a:ext cx="5029200" cy="2209800"/>
          </a:xfrm>
          <a:custGeom>
            <a:avLst/>
            <a:gdLst/>
            <a:ahLst/>
            <a:cxnLst/>
            <a:rect l="l" t="t" r="r" b="b"/>
            <a:pathLst>
              <a:path w="5029200" h="2209800">
                <a:moveTo>
                  <a:pt x="0" y="2209800"/>
                </a:moveTo>
                <a:lnTo>
                  <a:pt x="5029200" y="2209800"/>
                </a:lnTo>
                <a:lnTo>
                  <a:pt x="50292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5000" y="3733800"/>
            <a:ext cx="5029200" cy="2209800"/>
          </a:xfrm>
          <a:custGeom>
            <a:avLst/>
            <a:gdLst/>
            <a:ahLst/>
            <a:cxnLst/>
            <a:rect l="l" t="t" r="r" b="b"/>
            <a:pathLst>
              <a:path w="5029200" h="2209800">
                <a:moveTo>
                  <a:pt x="0" y="2209800"/>
                </a:moveTo>
                <a:lnTo>
                  <a:pt x="5029200" y="2209800"/>
                </a:lnTo>
                <a:lnTo>
                  <a:pt x="50292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5944311"/>
            <a:ext cx="551053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9286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130" dirty="0">
                <a:latin typeface="Perpetua"/>
                <a:cs typeface="Perpetua"/>
              </a:rPr>
              <a:t>To </a:t>
            </a:r>
            <a:r>
              <a:rPr sz="2000" spc="-5" dirty="0">
                <a:latin typeface="Perpetua"/>
                <a:cs typeface="Perpetua"/>
              </a:rPr>
              <a:t>compute </a:t>
            </a:r>
            <a:r>
              <a:rPr sz="2000" dirty="0">
                <a:latin typeface="Perpetua"/>
                <a:cs typeface="Perpetua"/>
              </a:rPr>
              <a:t>time </a:t>
            </a:r>
            <a:r>
              <a:rPr sz="2000" spc="-10" dirty="0">
                <a:latin typeface="Perpetua"/>
                <a:cs typeface="Perpetua"/>
              </a:rPr>
              <a:t>taken </a:t>
            </a:r>
            <a:r>
              <a:rPr sz="2000" dirty="0">
                <a:latin typeface="Perpetua"/>
                <a:cs typeface="Perpetua"/>
              </a:rPr>
              <a:t>to </a:t>
            </a:r>
            <a:r>
              <a:rPr sz="2000" spc="10" dirty="0">
                <a:latin typeface="Perpetua"/>
                <a:cs typeface="Perpetua"/>
              </a:rPr>
              <a:t>grill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-80" dirty="0">
                <a:latin typeface="Perpetua"/>
                <a:cs typeface="Perpetua"/>
              </a:rPr>
              <a:t> </a:t>
            </a:r>
            <a:r>
              <a:rPr sz="2000" dirty="0" smtClean="0">
                <a:latin typeface="Perpetua"/>
                <a:cs typeface="Perpetua"/>
              </a:rPr>
              <a:t>steak</a:t>
            </a:r>
            <a:endParaRPr sz="2000" dirty="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1286002"/>
            <a:ext cx="7845425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715" indent="-274320" algn="just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-20" dirty="0">
                <a:latin typeface="Perpetua"/>
                <a:cs typeface="Perpetua"/>
              </a:rPr>
              <a:t>know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steak </a:t>
            </a:r>
            <a:r>
              <a:rPr sz="2400" spc="-5" dirty="0">
                <a:latin typeface="Perpetua"/>
                <a:cs typeface="Perpetua"/>
              </a:rPr>
              <a:t>is </a:t>
            </a:r>
            <a:r>
              <a:rPr sz="2400" dirty="0">
                <a:latin typeface="Perpetua"/>
                <a:cs typeface="Perpetua"/>
              </a:rPr>
              <a:t>done </a:t>
            </a:r>
            <a:r>
              <a:rPr sz="2400" spc="-5" dirty="0">
                <a:latin typeface="Perpetua"/>
                <a:cs typeface="Perpetua"/>
              </a:rPr>
              <a:t>when it </a:t>
            </a:r>
            <a:r>
              <a:rPr sz="2400" dirty="0">
                <a:latin typeface="Perpetua"/>
                <a:cs typeface="Perpetua"/>
              </a:rPr>
              <a:t>reaches a </a:t>
            </a:r>
            <a:r>
              <a:rPr sz="2400" spc="-5" dirty="0">
                <a:latin typeface="Perpetua"/>
                <a:cs typeface="Perpetua"/>
              </a:rPr>
              <a:t>temperature </a:t>
            </a:r>
            <a:r>
              <a:rPr sz="2400" dirty="0">
                <a:latin typeface="Perpetua"/>
                <a:cs typeface="Perpetua"/>
              </a:rPr>
              <a:t>of  135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degrees.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Let us decide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reformulate the </a:t>
            </a:r>
            <a:r>
              <a:rPr sz="2400" spc="5" dirty="0">
                <a:latin typeface="Perpetua"/>
                <a:cs typeface="Perpetua"/>
              </a:rPr>
              <a:t>terminating </a:t>
            </a:r>
            <a:r>
              <a:rPr sz="2400" dirty="0">
                <a:latin typeface="Perpetua"/>
                <a:cs typeface="Perpetua"/>
              </a:rPr>
              <a:t>condition </a:t>
            </a:r>
            <a:r>
              <a:rPr sz="2400" spc="-5" dirty="0">
                <a:latin typeface="Perpetua"/>
                <a:cs typeface="Perpetua"/>
              </a:rPr>
              <a:t>to ensure </a:t>
            </a:r>
            <a:r>
              <a:rPr sz="2400" spc="5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continue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cook </a:t>
            </a:r>
            <a:r>
              <a:rPr sz="2400" spc="-10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steak </a:t>
            </a:r>
            <a:r>
              <a:rPr sz="2400" spc="-10" dirty="0">
                <a:latin typeface="Perpetua"/>
                <a:cs typeface="Perpetua"/>
              </a:rPr>
              <a:t>as </a:t>
            </a:r>
            <a:r>
              <a:rPr sz="2400" spc="-5" dirty="0">
                <a:latin typeface="Perpetua"/>
                <a:cs typeface="Perpetua"/>
              </a:rPr>
              <a:t>long as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temperature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the  </a:t>
            </a:r>
            <a:r>
              <a:rPr sz="2400" dirty="0">
                <a:latin typeface="Perpetua"/>
                <a:cs typeface="Perpetua"/>
              </a:rPr>
              <a:t>steak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not equal </a:t>
            </a:r>
            <a:r>
              <a:rPr sz="2400" i="1" spc="-5" dirty="0">
                <a:latin typeface="Perpetua"/>
                <a:cs typeface="Perpetua"/>
              </a:rPr>
              <a:t>to </a:t>
            </a:r>
            <a:r>
              <a:rPr sz="2400" i="1" dirty="0">
                <a:latin typeface="Perpetua"/>
                <a:cs typeface="Perpetua"/>
              </a:rPr>
              <a:t>135</a:t>
            </a:r>
            <a:r>
              <a:rPr sz="2400" i="1" spc="-5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degrees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This </a:t>
            </a:r>
            <a:r>
              <a:rPr sz="2400" spc="5" dirty="0">
                <a:latin typeface="Perpetua"/>
                <a:cs typeface="Perpetua"/>
              </a:rPr>
              <a:t>change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reflected </a:t>
            </a:r>
            <a:r>
              <a:rPr sz="2400" dirty="0">
                <a:latin typeface="Perpetua"/>
                <a:cs typeface="Perpetua"/>
              </a:rPr>
              <a:t>on </a:t>
            </a:r>
            <a:r>
              <a:rPr sz="2400" spc="-5" dirty="0">
                <a:latin typeface="Perpetua"/>
                <a:cs typeface="Perpetua"/>
              </a:rPr>
              <a:t>line </a:t>
            </a:r>
            <a:r>
              <a:rPr sz="2400" dirty="0">
                <a:latin typeface="Perpetua"/>
                <a:cs typeface="Perpetua"/>
              </a:rPr>
              <a:t>3 of the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8969" y="6251549"/>
            <a:ext cx="1735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20" dirty="0">
                <a:latin typeface="Perpetua"/>
                <a:cs typeface="Perpetua"/>
              </a:rPr>
              <a:t>Any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comments?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6394" y="3801236"/>
            <a:ext cx="16294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7815" algn="l"/>
              </a:tabLst>
            </a:pPr>
            <a:r>
              <a:rPr sz="2400" spc="-35" dirty="0">
                <a:latin typeface="Perpetua"/>
                <a:cs typeface="Perpetua"/>
              </a:rPr>
              <a:t>steakTemp</a:t>
            </a:r>
            <a:endParaRPr sz="2400">
              <a:latin typeface="Perpetua"/>
              <a:cs typeface="Perpetua"/>
            </a:endParaRPr>
          </a:p>
          <a:p>
            <a:pPr marL="297180" indent="-285115">
              <a:lnSpc>
                <a:spcPct val="100000"/>
              </a:lnSpc>
              <a:buAutoNum type="arabicPeriod"/>
              <a:tabLst>
                <a:tab pos="297815" algn="l"/>
              </a:tabLst>
            </a:pPr>
            <a:r>
              <a:rPr sz="2400" dirty="0">
                <a:latin typeface="Perpetua"/>
                <a:cs typeface="Perpetua"/>
              </a:rPr>
              <a:t>minOnGrill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7534" y="3801236"/>
            <a:ext cx="3060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75</a:t>
            </a:r>
            <a:endParaRPr sz="2400">
              <a:latin typeface="Perpetua"/>
              <a:cs typeface="Perpetua"/>
            </a:endParaRPr>
          </a:p>
          <a:p>
            <a:pPr marL="26034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0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36394" y="4533138"/>
            <a:ext cx="3152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3. while </a:t>
            </a:r>
            <a:r>
              <a:rPr sz="2400" spc="-35" dirty="0">
                <a:latin typeface="Perpetua"/>
                <a:cs typeface="Perpetua"/>
              </a:rPr>
              <a:t>steakTemp </a:t>
            </a:r>
            <a:r>
              <a:rPr sz="2400" dirty="0">
                <a:latin typeface="Perpetua"/>
                <a:cs typeface="Perpetua"/>
              </a:rPr>
              <a:t>≠135</a:t>
            </a:r>
            <a:r>
              <a:rPr sz="2400" spc="-1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4973" y="4898897"/>
            <a:ext cx="1606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269240" algn="l"/>
              </a:tabLst>
            </a:pPr>
            <a:r>
              <a:rPr sz="2400" spc="-35" dirty="0">
                <a:latin typeface="Perpetua"/>
                <a:cs typeface="Perpetua"/>
              </a:rPr>
              <a:t>steakTemp</a:t>
            </a:r>
            <a:endParaRPr sz="2400">
              <a:latin typeface="Perpetua"/>
              <a:cs typeface="Perpetua"/>
            </a:endParaRPr>
          </a:p>
          <a:p>
            <a:pPr marL="274320" indent="-262255">
              <a:lnSpc>
                <a:spcPct val="100000"/>
              </a:lnSpc>
              <a:buAutoNum type="alphaLcPeriod"/>
              <a:tabLst>
                <a:tab pos="274955" algn="l"/>
              </a:tabLst>
            </a:pPr>
            <a:r>
              <a:rPr sz="2400" dirty="0">
                <a:latin typeface="Perpetua"/>
                <a:cs typeface="Perpetua"/>
              </a:rPr>
              <a:t>minOnGrill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78578" y="4898897"/>
            <a:ext cx="1843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Perpetua"/>
                <a:cs typeface="Perpetua"/>
              </a:rPr>
              <a:t>steakTemp </a:t>
            </a:r>
            <a:r>
              <a:rPr sz="2400" dirty="0">
                <a:latin typeface="Perpetua"/>
                <a:cs typeface="Perpetua"/>
              </a:rPr>
              <a:t>+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13</a:t>
            </a:r>
            <a:endParaRPr sz="2400">
              <a:latin typeface="Perpetua"/>
              <a:cs typeface="Perpetua"/>
            </a:endParaRPr>
          </a:p>
          <a:p>
            <a:pPr marL="33655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minOnGrill +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3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6394" y="5630062"/>
            <a:ext cx="1312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4.</a:t>
            </a:r>
            <a:r>
              <a:rPr sz="2400" spc="-1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endwhile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0761" y="40007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10761" y="51437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86961" y="55247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36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86961" y="43817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0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178"/>
                </a:lnTo>
                <a:lnTo>
                  <a:pt x="77766" y="25950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0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2227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>
                <a:solidFill>
                  <a:srgbClr val="FF0000"/>
                </a:solidFill>
              </a:rPr>
              <a:t>Logical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spc="-40" dirty="0">
                <a:solidFill>
                  <a:srgbClr val="FF0000"/>
                </a:solidFill>
              </a:rPr>
              <a:t>flaw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78738"/>
            <a:ext cx="7858125" cy="54768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20955" indent="-274955">
              <a:lnSpc>
                <a:spcPts val="2300"/>
              </a:lnSpc>
              <a:spcBef>
                <a:spcPts val="660"/>
              </a:spcBef>
              <a:buSzPct val="85416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400" dirty="0">
                <a:latin typeface="Perpetua"/>
                <a:cs typeface="Perpetua"/>
              </a:rPr>
              <a:t>Notice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terminate if the steak </a:t>
            </a:r>
            <a:r>
              <a:rPr sz="2400" spc="-5" dirty="0">
                <a:latin typeface="Perpetua"/>
                <a:cs typeface="Perpetua"/>
              </a:rPr>
              <a:t>temperature </a:t>
            </a:r>
            <a:r>
              <a:rPr sz="2400" spc="-10" dirty="0">
                <a:latin typeface="Perpetua"/>
                <a:cs typeface="Perpetua"/>
              </a:rPr>
              <a:t>is  precisely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135.</a:t>
            </a:r>
            <a:endParaRPr sz="2400">
              <a:latin typeface="Perpetua"/>
              <a:cs typeface="Perpetua"/>
            </a:endParaRPr>
          </a:p>
          <a:p>
            <a:pPr marL="287020" indent="-274955">
              <a:lnSpc>
                <a:spcPts val="2790"/>
              </a:lnSpc>
              <a:spcBef>
                <a:spcPts val="50"/>
              </a:spcBef>
              <a:buSzPct val="85416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400" dirty="0">
                <a:latin typeface="Perpetua"/>
                <a:cs typeface="Perpetua"/>
              </a:rPr>
              <a:t>Our algorithm, </a:t>
            </a:r>
            <a:r>
              <a:rPr sz="2400" spc="-60" dirty="0">
                <a:latin typeface="Perpetua"/>
                <a:cs typeface="Perpetua"/>
              </a:rPr>
              <a:t>however, </a:t>
            </a:r>
            <a:r>
              <a:rPr sz="2400" dirty="0">
                <a:latin typeface="Perpetua"/>
                <a:cs typeface="Perpetua"/>
              </a:rPr>
              <a:t>is written in </a:t>
            </a:r>
            <a:r>
              <a:rPr sz="2400" spc="10" dirty="0">
                <a:latin typeface="Perpetua"/>
                <a:cs typeface="Perpetua"/>
              </a:rPr>
              <a:t>such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40" dirty="0">
                <a:latin typeface="Perpetua"/>
                <a:cs typeface="Perpetua"/>
              </a:rPr>
              <a:t>way</a:t>
            </a:r>
            <a:r>
              <a:rPr sz="2400" spc="-2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that….</a:t>
            </a:r>
            <a:endParaRPr sz="2400">
              <a:latin typeface="Perpetua"/>
              <a:cs typeface="Perpetua"/>
            </a:endParaRPr>
          </a:p>
          <a:p>
            <a:pPr marL="561340" lvl="1" indent="-229235">
              <a:lnSpc>
                <a:spcPts val="27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the steak </a:t>
            </a:r>
            <a:r>
              <a:rPr sz="2400" spc="-5" dirty="0">
                <a:latin typeface="Perpetua"/>
                <a:cs typeface="Perpetua"/>
              </a:rPr>
              <a:t>temperature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20" dirty="0">
                <a:latin typeface="Perpetua"/>
                <a:cs typeface="Perpetua"/>
              </a:rPr>
              <a:t>never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0" dirty="0">
                <a:latin typeface="Perpetua"/>
                <a:cs typeface="Perpetua"/>
              </a:rPr>
              <a:t>precisely </a:t>
            </a:r>
            <a:r>
              <a:rPr sz="2400" dirty="0">
                <a:latin typeface="Perpetua"/>
                <a:cs typeface="Perpetua"/>
              </a:rPr>
              <a:t>135.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300"/>
              </a:lnSpc>
              <a:spcBef>
                <a:spcPts val="470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The steak </a:t>
            </a:r>
            <a:r>
              <a:rPr sz="2400" spc="-5" dirty="0">
                <a:latin typeface="Perpetua"/>
                <a:cs typeface="Perpetua"/>
              </a:rPr>
              <a:t>temperature will instead </a:t>
            </a:r>
            <a:r>
              <a:rPr sz="2400" spc="-20" dirty="0">
                <a:latin typeface="Perpetua"/>
                <a:cs typeface="Perpetua"/>
              </a:rPr>
              <a:t>take </a:t>
            </a:r>
            <a:r>
              <a:rPr sz="2400" dirty="0">
                <a:latin typeface="Perpetua"/>
                <a:cs typeface="Perpetua"/>
              </a:rPr>
              <a:t>on the </a:t>
            </a:r>
            <a:r>
              <a:rPr sz="2400" spc="-15" dirty="0">
                <a:latin typeface="Perpetua"/>
                <a:cs typeface="Perpetua"/>
              </a:rPr>
              <a:t>values </a:t>
            </a:r>
            <a:r>
              <a:rPr sz="2400" dirty="0">
                <a:latin typeface="Perpetua"/>
                <a:cs typeface="Perpetua"/>
              </a:rPr>
              <a:t>of 75, 88,  101,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113,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126,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139,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152,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175,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so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forth.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287020" marR="19050" indent="-274955">
              <a:lnSpc>
                <a:spcPct val="80000"/>
              </a:lnSpc>
              <a:spcBef>
                <a:spcPts val="5"/>
              </a:spcBef>
              <a:buSzPct val="85416"/>
              <a:buFont typeface="Wingdings"/>
              <a:buChar char=""/>
              <a:tabLst>
                <a:tab pos="287655" algn="l"/>
                <a:tab pos="833755" algn="l"/>
                <a:tab pos="1490980" algn="l"/>
                <a:tab pos="2807970" algn="l"/>
                <a:tab pos="3356610" algn="l"/>
                <a:tab pos="4370070" algn="l"/>
                <a:tab pos="5306060" algn="l"/>
                <a:tab pos="6233160" algn="l"/>
                <a:tab pos="6929755" algn="l"/>
              </a:tabLst>
            </a:pPr>
            <a:r>
              <a:rPr sz="2400" i="1" spc="-5" dirty="0">
                <a:latin typeface="Perpetua"/>
                <a:cs typeface="Perpetua"/>
              </a:rPr>
              <a:t>Th</a:t>
            </a:r>
            <a:r>
              <a:rPr sz="2400" i="1" dirty="0">
                <a:latin typeface="Perpetua"/>
                <a:cs typeface="Perpetua"/>
              </a:rPr>
              <a:t>e	steak	te</a:t>
            </a:r>
            <a:r>
              <a:rPr sz="2400" i="1" spc="-15" dirty="0">
                <a:latin typeface="Perpetua"/>
                <a:cs typeface="Perpetua"/>
              </a:rPr>
              <a:t>m</a:t>
            </a:r>
            <a:r>
              <a:rPr sz="2400" i="1" dirty="0">
                <a:latin typeface="Perpetua"/>
                <a:cs typeface="Perpetua"/>
              </a:rPr>
              <a:t>pe</a:t>
            </a:r>
            <a:r>
              <a:rPr sz="2400" i="1" spc="-75" dirty="0">
                <a:latin typeface="Perpetua"/>
                <a:cs typeface="Perpetua"/>
              </a:rPr>
              <a:t>r</a:t>
            </a:r>
            <a:r>
              <a:rPr sz="2400" i="1" spc="-30" dirty="0">
                <a:latin typeface="Perpetua"/>
                <a:cs typeface="Perpetua"/>
              </a:rPr>
              <a:t>a</a:t>
            </a:r>
            <a:r>
              <a:rPr sz="2400" i="1" dirty="0">
                <a:latin typeface="Perpetua"/>
                <a:cs typeface="Perpetua"/>
              </a:rPr>
              <a:t>tu</a:t>
            </a:r>
            <a:r>
              <a:rPr sz="2400" i="1" spc="-35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e	will	the</a:t>
            </a:r>
            <a:r>
              <a:rPr sz="2400" i="1" spc="-30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e</a:t>
            </a:r>
            <a:r>
              <a:rPr sz="2400" i="1" spc="-35" dirty="0">
                <a:latin typeface="Perpetua"/>
                <a:cs typeface="Perpetua"/>
              </a:rPr>
              <a:t>f</a:t>
            </a:r>
            <a:r>
              <a:rPr sz="2400" i="1" spc="-5" dirty="0">
                <a:latin typeface="Perpetua"/>
                <a:cs typeface="Perpetua"/>
              </a:rPr>
              <a:t>o</a:t>
            </a:r>
            <a:r>
              <a:rPr sz="2400" i="1" spc="-30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e	</a:t>
            </a:r>
            <a:r>
              <a:rPr sz="2400" i="1" spc="-5" dirty="0">
                <a:latin typeface="Perpetua"/>
                <a:cs typeface="Perpetua"/>
              </a:rPr>
              <a:t>in</a:t>
            </a:r>
            <a:r>
              <a:rPr sz="2400" i="1" spc="-15" dirty="0">
                <a:latin typeface="Perpetua"/>
                <a:cs typeface="Perpetua"/>
              </a:rPr>
              <a:t>c</a:t>
            </a:r>
            <a:r>
              <a:rPr sz="2400" i="1" spc="-30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e</a:t>
            </a:r>
            <a:r>
              <a:rPr sz="2400" i="1" spc="-10" dirty="0">
                <a:latin typeface="Perpetua"/>
                <a:cs typeface="Perpetua"/>
              </a:rPr>
              <a:t>a</a:t>
            </a:r>
            <a:r>
              <a:rPr sz="2400" i="1" dirty="0">
                <a:latin typeface="Perpetua"/>
                <a:cs typeface="Perpetua"/>
              </a:rPr>
              <a:t>se	witho</a:t>
            </a:r>
            <a:r>
              <a:rPr sz="2400" i="1" spc="-10" dirty="0">
                <a:latin typeface="Perpetua"/>
                <a:cs typeface="Perpetua"/>
              </a:rPr>
              <a:t>u</a:t>
            </a:r>
            <a:r>
              <a:rPr sz="2400" i="1" dirty="0">
                <a:latin typeface="Perpetua"/>
                <a:cs typeface="Perpetua"/>
              </a:rPr>
              <a:t>t	</a:t>
            </a:r>
            <a:r>
              <a:rPr sz="2400" i="1" spc="-5" dirty="0">
                <a:latin typeface="Perpetua"/>
                <a:cs typeface="Perpetua"/>
              </a:rPr>
              <a:t>l</a:t>
            </a:r>
            <a:r>
              <a:rPr sz="2400" i="1" spc="-15" dirty="0">
                <a:latin typeface="Perpetua"/>
                <a:cs typeface="Perpetua"/>
              </a:rPr>
              <a:t>i</a:t>
            </a:r>
            <a:r>
              <a:rPr sz="2400" i="1" spc="-5" dirty="0">
                <a:latin typeface="Perpetua"/>
                <a:cs typeface="Perpetua"/>
              </a:rPr>
              <a:t>mi</a:t>
            </a:r>
            <a:r>
              <a:rPr sz="2400" i="1" spc="5" dirty="0">
                <a:latin typeface="Perpetua"/>
                <a:cs typeface="Perpetua"/>
              </a:rPr>
              <a:t>t</a:t>
            </a:r>
            <a:r>
              <a:rPr sz="2400" i="1" dirty="0">
                <a:latin typeface="Perpetua"/>
                <a:cs typeface="Perpetua"/>
              </a:rPr>
              <a:t>;	</a:t>
            </a:r>
            <a:r>
              <a:rPr sz="2400" i="1" spc="-15" dirty="0">
                <a:latin typeface="Perpetua"/>
                <a:cs typeface="Perpetua"/>
              </a:rPr>
              <a:t>b</a:t>
            </a:r>
            <a:r>
              <a:rPr sz="2400" i="1" dirty="0">
                <a:latin typeface="Perpetua"/>
                <a:cs typeface="Perpetua"/>
              </a:rPr>
              <a:t>ecoming  </a:t>
            </a:r>
            <a:r>
              <a:rPr sz="2400" i="1" spc="-10" dirty="0">
                <a:latin typeface="Perpetua"/>
                <a:cs typeface="Perpetua"/>
              </a:rPr>
              <a:t>computationally </a:t>
            </a:r>
            <a:r>
              <a:rPr sz="2400" i="1" dirty="0">
                <a:latin typeface="Perpetua"/>
                <a:cs typeface="Perpetua"/>
              </a:rPr>
              <a:t>hotter </a:t>
            </a:r>
            <a:r>
              <a:rPr sz="2400" i="1" spc="-5" dirty="0">
                <a:latin typeface="Perpetua"/>
                <a:cs typeface="Perpetua"/>
              </a:rPr>
              <a:t>than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spc="-5" dirty="0">
                <a:latin typeface="Perpetua"/>
                <a:cs typeface="Perpetua"/>
              </a:rPr>
              <a:t>object in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universe!</a:t>
            </a:r>
            <a:endParaRPr sz="2400">
              <a:latin typeface="Perpetua"/>
              <a:cs typeface="Perpetua"/>
            </a:endParaRPr>
          </a:p>
          <a:p>
            <a:pPr marL="355600" indent="-343535">
              <a:lnSpc>
                <a:spcPts val="2595"/>
              </a:lnSpc>
              <a:spcBef>
                <a:spcPts val="20"/>
              </a:spcBef>
              <a:buSzPct val="85416"/>
              <a:buFont typeface="Wingdings"/>
              <a:buChar char=""/>
              <a:tabLst>
                <a:tab pos="355600" algn="l"/>
                <a:tab pos="356235" algn="l"/>
              </a:tabLst>
            </a:pPr>
            <a:r>
              <a:rPr sz="2400" i="1" spc="-5" dirty="0">
                <a:latin typeface="Perpetua"/>
                <a:cs typeface="Perpetua"/>
              </a:rPr>
              <a:t>In</a:t>
            </a:r>
            <a:r>
              <a:rPr sz="2400" i="1" spc="17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addition,</a:t>
            </a:r>
            <a:r>
              <a:rPr sz="2400" i="1" spc="-6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9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time</a:t>
            </a:r>
            <a:r>
              <a:rPr sz="2400" i="1" spc="18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required</a:t>
            </a:r>
            <a:r>
              <a:rPr sz="2400" i="1" spc="17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for</a:t>
            </a:r>
            <a:r>
              <a:rPr sz="2400" i="1" spc="175" dirty="0">
                <a:latin typeface="Perpetua"/>
                <a:cs typeface="Perpetua"/>
              </a:rPr>
              <a:t> </a:t>
            </a:r>
            <a:r>
              <a:rPr sz="2400" i="1" spc="5" dirty="0">
                <a:latin typeface="Perpetua"/>
                <a:cs typeface="Perpetua"/>
              </a:rPr>
              <a:t>grilling</a:t>
            </a:r>
            <a:r>
              <a:rPr sz="2400" i="1" spc="18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1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steak</a:t>
            </a:r>
            <a:r>
              <a:rPr sz="2400" i="1" spc="18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will</a:t>
            </a:r>
            <a:r>
              <a:rPr sz="2400" i="1" spc="18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also</a:t>
            </a:r>
            <a:r>
              <a:rPr sz="2400" i="1" spc="17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grow</a:t>
            </a:r>
            <a:r>
              <a:rPr sz="2400" i="1" spc="18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without</a:t>
            </a:r>
            <a:endParaRPr sz="2400">
              <a:latin typeface="Perpetua"/>
              <a:cs typeface="Perpetua"/>
            </a:endParaRPr>
          </a:p>
          <a:p>
            <a:pPr marL="287020">
              <a:lnSpc>
                <a:spcPts val="2595"/>
              </a:lnSpc>
            </a:pPr>
            <a:r>
              <a:rPr sz="2400" i="1" spc="-10" dirty="0">
                <a:latin typeface="Perpetua"/>
                <a:cs typeface="Perpetua"/>
              </a:rPr>
              <a:t>bound.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5416"/>
              <a:buFont typeface="Wingdings"/>
              <a:buChar char=""/>
              <a:tabLst>
                <a:tab pos="287655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algorithm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spc="-15" dirty="0">
                <a:latin typeface="Perpetua"/>
                <a:cs typeface="Perpetua"/>
              </a:rPr>
              <a:t>logically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flawed.</a:t>
            </a:r>
            <a:endParaRPr sz="24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5"/>
              </a:spcBef>
              <a:buSzPct val="85416"/>
              <a:buFont typeface="Wingdings"/>
              <a:buChar char=""/>
              <a:tabLst>
                <a:tab pos="287655" algn="l"/>
              </a:tabLst>
            </a:pPr>
            <a:r>
              <a:rPr sz="2400" i="1" spc="-5" dirty="0">
                <a:latin typeface="Perpetua"/>
                <a:cs typeface="Perpetua"/>
              </a:rPr>
              <a:t>The loop </a:t>
            </a:r>
            <a:r>
              <a:rPr sz="2400" i="1" dirty="0">
                <a:latin typeface="Perpetua"/>
                <a:cs typeface="Perpetua"/>
              </a:rPr>
              <a:t>does not </a:t>
            </a:r>
            <a:r>
              <a:rPr sz="2400" i="1" spc="-5" dirty="0">
                <a:latin typeface="Perpetua"/>
                <a:cs typeface="Perpetua"/>
              </a:rPr>
              <a:t>make </a:t>
            </a:r>
            <a:r>
              <a:rPr sz="2400" i="1" spc="-10" dirty="0">
                <a:latin typeface="Perpetua"/>
                <a:cs typeface="Perpetua"/>
              </a:rPr>
              <a:t>progress </a:t>
            </a:r>
            <a:r>
              <a:rPr sz="2400" i="1" spc="-20" dirty="0">
                <a:latin typeface="Perpetua"/>
                <a:cs typeface="Perpetua"/>
              </a:rPr>
              <a:t>toward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termination.</a:t>
            </a:r>
            <a:endParaRPr sz="2400">
              <a:latin typeface="Perpetua"/>
              <a:cs typeface="Perpetua"/>
            </a:endParaRPr>
          </a:p>
          <a:p>
            <a:pPr marL="3758565" lvl="1" indent="-240665">
              <a:lnSpc>
                <a:spcPct val="100000"/>
              </a:lnSpc>
              <a:spcBef>
                <a:spcPts val="2400"/>
              </a:spcBef>
              <a:buSzPct val="95833"/>
              <a:buFont typeface="Wingdings"/>
              <a:buChar char=""/>
              <a:tabLst>
                <a:tab pos="3759200" algn="l"/>
              </a:tabLst>
            </a:pPr>
            <a:r>
              <a:rPr sz="2400" i="1" spc="-5" dirty="0">
                <a:latin typeface="Perpetua"/>
                <a:cs typeface="Perpetua"/>
              </a:rPr>
              <a:t>This is </a:t>
            </a:r>
            <a:r>
              <a:rPr sz="2400" i="1" dirty="0">
                <a:latin typeface="Perpetua"/>
                <a:cs typeface="Perpetua"/>
              </a:rPr>
              <a:t>an example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an </a:t>
            </a:r>
            <a:r>
              <a:rPr sz="2400" i="1" spc="-10" dirty="0">
                <a:latin typeface="Perpetua"/>
                <a:cs typeface="Perpetua"/>
              </a:rPr>
              <a:t>infinite</a:t>
            </a:r>
            <a:r>
              <a:rPr sz="2400" i="1" spc="-9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loop….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435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Infinite</a:t>
            </a:r>
            <a:r>
              <a:rPr spc="-90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816734"/>
            <a:ext cx="8531225" cy="4217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6985" indent="-274320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An </a:t>
            </a:r>
            <a:r>
              <a:rPr sz="2400" i="1" spc="-10" dirty="0">
                <a:latin typeface="Perpetua"/>
                <a:cs typeface="Perpetua"/>
              </a:rPr>
              <a:t>infinite loop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spc="-1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20" dirty="0">
                <a:latin typeface="Perpetua"/>
                <a:cs typeface="Perpetua"/>
              </a:rPr>
              <a:t>never </a:t>
            </a:r>
            <a:r>
              <a:rPr sz="2400" dirty="0">
                <a:latin typeface="Perpetua"/>
                <a:cs typeface="Perpetua"/>
              </a:rPr>
              <a:t>terminate because the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spc="-20" dirty="0">
                <a:latin typeface="Perpetua"/>
                <a:cs typeface="Perpetua"/>
              </a:rPr>
              <a:t>never  </a:t>
            </a:r>
            <a:r>
              <a:rPr sz="2400" spc="-10" dirty="0">
                <a:latin typeface="Perpetua"/>
                <a:cs typeface="Perpetua"/>
              </a:rPr>
              <a:t>makes </a:t>
            </a:r>
            <a:r>
              <a:rPr sz="2400" dirty="0">
                <a:latin typeface="Perpetua"/>
                <a:cs typeface="Perpetua"/>
              </a:rPr>
              <a:t>progress </a:t>
            </a:r>
            <a:r>
              <a:rPr sz="2400" spc="-20" dirty="0">
                <a:latin typeface="Perpetua"/>
                <a:cs typeface="Perpetua"/>
              </a:rPr>
              <a:t>toward </a:t>
            </a:r>
            <a:r>
              <a:rPr sz="2400" dirty="0">
                <a:latin typeface="Perpetua"/>
                <a:cs typeface="Perpetua"/>
              </a:rPr>
              <a:t>termination.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87020" indent="-274320">
              <a:lnSpc>
                <a:spcPts val="2735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When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consult the </a:t>
            </a:r>
            <a:r>
              <a:rPr sz="2400" spc="-5" dirty="0">
                <a:latin typeface="Perpetua"/>
                <a:cs typeface="Perpetua"/>
              </a:rPr>
              <a:t>condition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loop to </a:t>
            </a:r>
            <a:r>
              <a:rPr sz="2400" spc="5" dirty="0">
                <a:latin typeface="Perpetua"/>
                <a:cs typeface="Perpetua"/>
              </a:rPr>
              <a:t>determine </a:t>
            </a:r>
            <a:r>
              <a:rPr sz="2400" spc="-5" dirty="0">
                <a:latin typeface="Perpetua"/>
                <a:cs typeface="Perpetua"/>
              </a:rPr>
              <a:t>whether the</a:t>
            </a:r>
            <a:r>
              <a:rPr sz="2400" spc="47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loop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dirty="0">
                <a:latin typeface="Perpetua"/>
                <a:cs typeface="Perpetua"/>
              </a:rPr>
              <a:t>should </a:t>
            </a:r>
            <a:r>
              <a:rPr sz="2400" spc="-10" dirty="0">
                <a:latin typeface="Perpetua"/>
                <a:cs typeface="Perpetua"/>
              </a:rPr>
              <a:t>repeat,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answer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always</a:t>
            </a:r>
            <a:endParaRPr sz="24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latin typeface="Perpetua"/>
                <a:cs typeface="Perpetua"/>
              </a:rPr>
              <a:t>“</a:t>
            </a:r>
            <a:r>
              <a:rPr sz="2400" i="1" spc="-10" dirty="0">
                <a:latin typeface="Perpetua"/>
                <a:cs typeface="Perpetua"/>
              </a:rPr>
              <a:t>yes </a:t>
            </a:r>
            <a:r>
              <a:rPr sz="2400" i="1" dirty="0">
                <a:latin typeface="Perpetua"/>
                <a:cs typeface="Perpetua"/>
              </a:rPr>
              <a:t>… </a:t>
            </a:r>
            <a:r>
              <a:rPr sz="2400" i="1" spc="-5" dirty="0">
                <a:latin typeface="Perpetua"/>
                <a:cs typeface="Perpetua"/>
              </a:rPr>
              <a:t>let's do it</a:t>
            </a:r>
            <a:r>
              <a:rPr sz="2400" i="1" spc="-20" dirty="0">
                <a:latin typeface="Perpetua"/>
                <a:cs typeface="Perpetua"/>
              </a:rPr>
              <a:t> again</a:t>
            </a:r>
            <a:r>
              <a:rPr sz="2400" spc="-20" dirty="0">
                <a:latin typeface="Perpetua"/>
                <a:cs typeface="Perpetua"/>
              </a:rPr>
              <a:t>!”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  <a:tab pos="782320" algn="l"/>
                <a:tab pos="1736089" algn="l"/>
                <a:tab pos="2400935" algn="l"/>
                <a:tab pos="2739390" algn="l"/>
                <a:tab pos="3547110" algn="l"/>
                <a:tab pos="4356735" algn="l"/>
                <a:tab pos="4650740" algn="l"/>
                <a:tab pos="5478145" algn="l"/>
                <a:tab pos="6122670" algn="l"/>
                <a:tab pos="6842759" algn="l"/>
                <a:tab pos="7174865" algn="l"/>
                <a:tab pos="8173084" algn="l"/>
              </a:tabLst>
            </a:pPr>
            <a:r>
              <a:rPr sz="2400" dirty="0">
                <a:latin typeface="Perpetua"/>
                <a:cs typeface="Perpetua"/>
              </a:rPr>
              <a:t>An	</a:t>
            </a:r>
            <a:r>
              <a:rPr sz="2400" spc="-10" dirty="0">
                <a:latin typeface="Perpetua"/>
                <a:cs typeface="Perpetua"/>
              </a:rPr>
              <a:t>i</a:t>
            </a:r>
            <a:r>
              <a:rPr sz="2400" dirty="0">
                <a:latin typeface="Perpetua"/>
                <a:cs typeface="Perpetua"/>
              </a:rPr>
              <a:t>nfinite	</a:t>
            </a:r>
            <a:r>
              <a:rPr sz="2400" spc="-15" dirty="0">
                <a:latin typeface="Perpetua"/>
                <a:cs typeface="Perpetua"/>
              </a:rPr>
              <a:t>l</a:t>
            </a:r>
            <a:r>
              <a:rPr sz="2400" dirty="0">
                <a:latin typeface="Perpetua"/>
                <a:cs typeface="Perpetua"/>
              </a:rPr>
              <a:t>o</a:t>
            </a:r>
            <a:r>
              <a:rPr sz="2400" spc="5" dirty="0">
                <a:latin typeface="Perpetua"/>
                <a:cs typeface="Perpetua"/>
              </a:rPr>
              <a:t>o</a:t>
            </a:r>
            <a:r>
              <a:rPr sz="2400" dirty="0">
                <a:latin typeface="Perpetua"/>
                <a:cs typeface="Perpetua"/>
              </a:rPr>
              <a:t>p	is	</a:t>
            </a:r>
            <a:r>
              <a:rPr sz="2400" i="1" dirty="0">
                <a:latin typeface="Perpetua"/>
                <a:cs typeface="Perpetua"/>
              </a:rPr>
              <a:t>almo</a:t>
            </a:r>
            <a:r>
              <a:rPr sz="2400" i="1" spc="-10" dirty="0">
                <a:latin typeface="Perpetua"/>
                <a:cs typeface="Perpetua"/>
              </a:rPr>
              <a:t>s</a:t>
            </a:r>
            <a:r>
              <a:rPr sz="2400" i="1" dirty="0">
                <a:latin typeface="Perpetua"/>
                <a:cs typeface="Perpetua"/>
              </a:rPr>
              <a:t>t	a</a:t>
            </a:r>
            <a:r>
              <a:rPr sz="2400" i="1" spc="-40" dirty="0">
                <a:latin typeface="Perpetua"/>
                <a:cs typeface="Perpetua"/>
              </a:rPr>
              <a:t>l</a:t>
            </a:r>
            <a:r>
              <a:rPr sz="2400" i="1" spc="-60" dirty="0">
                <a:latin typeface="Perpetua"/>
                <a:cs typeface="Perpetua"/>
              </a:rPr>
              <a:t>w</a:t>
            </a:r>
            <a:r>
              <a:rPr sz="2400" i="1" spc="-75" dirty="0">
                <a:latin typeface="Perpetua"/>
                <a:cs typeface="Perpetua"/>
              </a:rPr>
              <a:t>a</a:t>
            </a:r>
            <a:r>
              <a:rPr sz="2400" i="1" spc="-5" dirty="0">
                <a:latin typeface="Perpetua"/>
                <a:cs typeface="Perpetua"/>
              </a:rPr>
              <a:t>y</a:t>
            </a:r>
            <a:r>
              <a:rPr sz="2400" i="1" dirty="0">
                <a:latin typeface="Perpetua"/>
                <a:cs typeface="Perpetua"/>
              </a:rPr>
              <a:t>s	a	</a:t>
            </a:r>
            <a:r>
              <a:rPr sz="2400" i="1" spc="-5" dirty="0">
                <a:latin typeface="Perpetua"/>
                <a:cs typeface="Perpetua"/>
              </a:rPr>
              <a:t>l</a:t>
            </a:r>
            <a:r>
              <a:rPr sz="2400" i="1" spc="-75" dirty="0">
                <a:latin typeface="Perpetua"/>
                <a:cs typeface="Perpetua"/>
              </a:rPr>
              <a:t>o</a:t>
            </a:r>
            <a:r>
              <a:rPr sz="2400" i="1" spc="20" dirty="0">
                <a:latin typeface="Perpetua"/>
                <a:cs typeface="Perpetua"/>
              </a:rPr>
              <a:t>g</a:t>
            </a:r>
            <a:r>
              <a:rPr sz="2400" i="1" spc="-5" dirty="0">
                <a:latin typeface="Perpetua"/>
                <a:cs typeface="Perpetua"/>
              </a:rPr>
              <a:t>ica</a:t>
            </a:r>
            <a:r>
              <a:rPr sz="2400" i="1" dirty="0">
                <a:latin typeface="Perpetua"/>
                <a:cs typeface="Perpetua"/>
              </a:rPr>
              <a:t>l	e</a:t>
            </a:r>
            <a:r>
              <a:rPr sz="2400" i="1" spc="60" dirty="0">
                <a:latin typeface="Perpetua"/>
                <a:cs typeface="Perpetua"/>
              </a:rPr>
              <a:t>r</a:t>
            </a:r>
            <a:r>
              <a:rPr sz="2400" i="1" dirty="0">
                <a:latin typeface="Perpetua"/>
                <a:cs typeface="Perpetua"/>
              </a:rPr>
              <a:t>ror	</a:t>
            </a:r>
            <a:r>
              <a:rPr sz="2400" dirty="0">
                <a:latin typeface="Perpetua"/>
                <a:cs typeface="Perpetua"/>
              </a:rPr>
              <a:t>since	it	viol</a:t>
            </a:r>
            <a:r>
              <a:rPr sz="2400" spc="-25" dirty="0">
                <a:latin typeface="Perpetua"/>
                <a:cs typeface="Perpetua"/>
              </a:rPr>
              <a:t>a</a:t>
            </a:r>
            <a:r>
              <a:rPr sz="2400" spc="-20" dirty="0">
                <a:latin typeface="Perpetua"/>
                <a:cs typeface="Perpetua"/>
              </a:rPr>
              <a:t>t</a:t>
            </a:r>
            <a:r>
              <a:rPr sz="2400" dirty="0">
                <a:latin typeface="Perpetua"/>
                <a:cs typeface="Perpetua"/>
              </a:rPr>
              <a:t>es	t</a:t>
            </a:r>
            <a:r>
              <a:rPr sz="2400" spc="-15" dirty="0">
                <a:latin typeface="Perpetua"/>
                <a:cs typeface="Perpetua"/>
              </a:rPr>
              <a:t>h</a:t>
            </a:r>
            <a:r>
              <a:rPr sz="2400" dirty="0">
                <a:latin typeface="Perpetua"/>
                <a:cs typeface="Perpetua"/>
              </a:rPr>
              <a:t>e  </a:t>
            </a:r>
            <a:r>
              <a:rPr sz="2400" spc="-5" dirty="0">
                <a:latin typeface="Perpetua"/>
                <a:cs typeface="Perpetua"/>
              </a:rPr>
              <a:t>requirement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a program halt in a finite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steps.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Infinite </a:t>
            </a:r>
            <a:r>
              <a:rPr sz="2400" spc="-5" dirty="0">
                <a:latin typeface="Perpetua"/>
                <a:cs typeface="Perpetua"/>
              </a:rPr>
              <a:t>loops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the source of </a:t>
            </a:r>
            <a:r>
              <a:rPr sz="2400" spc="-15" dirty="0">
                <a:latin typeface="Perpetua"/>
                <a:cs typeface="Perpetua"/>
              </a:rPr>
              <a:t>many </a:t>
            </a:r>
            <a:r>
              <a:rPr sz="2400" spc="-10" dirty="0">
                <a:latin typeface="Perpetua"/>
                <a:cs typeface="Perpetua"/>
              </a:rPr>
              <a:t>mistakes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15" dirty="0">
                <a:latin typeface="Perpetua"/>
                <a:cs typeface="Perpetua"/>
              </a:rPr>
              <a:t>real-world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software.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5200" y="228600"/>
            <a:ext cx="52578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644" y="4181932"/>
            <a:ext cx="167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Loop</a:t>
            </a:r>
            <a:r>
              <a:rPr sz="2400" spc="-3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0" y="1066800"/>
            <a:ext cx="5181600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61228" y="4944617"/>
            <a:ext cx="3279775" cy="151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Figure: </a:t>
            </a:r>
            <a:r>
              <a:rPr sz="2400" dirty="0">
                <a:latin typeface="Perpetua"/>
                <a:cs typeface="Perpetua"/>
              </a:rPr>
              <a:t>Loop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Did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notice the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differences?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35" dirty="0">
                <a:latin typeface="Perpetua"/>
                <a:cs typeface="Perpetua"/>
              </a:rPr>
              <a:t>Draw </a:t>
            </a:r>
            <a:r>
              <a:rPr sz="2400" i="1" dirty="0">
                <a:latin typeface="Perpetua"/>
                <a:cs typeface="Perpetua"/>
              </a:rPr>
              <a:t>the flowchart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loop</a:t>
            </a:r>
            <a:r>
              <a:rPr sz="2400" i="1" spc="-45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B.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516381"/>
            <a:ext cx="34880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"/>
              <a:tabLst>
                <a:tab pos="287020" algn="l"/>
              </a:tabLst>
            </a:pPr>
            <a:r>
              <a:rPr sz="2800" i="1" spc="-15" dirty="0">
                <a:latin typeface="Perpetua"/>
                <a:cs typeface="Perpetua"/>
              </a:rPr>
              <a:t>Study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loops </a:t>
            </a:r>
            <a:r>
              <a:rPr sz="2800" i="1" spc="-15" dirty="0">
                <a:latin typeface="Perpetua"/>
                <a:cs typeface="Perpetua"/>
              </a:rPr>
              <a:t>given</a:t>
            </a:r>
            <a:r>
              <a:rPr sz="2800" i="1" spc="-25" dirty="0">
                <a:latin typeface="Perpetua"/>
                <a:cs typeface="Perpetua"/>
              </a:rPr>
              <a:t> </a:t>
            </a:r>
            <a:r>
              <a:rPr sz="2800" i="1" spc="-50" dirty="0">
                <a:latin typeface="Perpetua"/>
                <a:cs typeface="Perpetua"/>
              </a:rPr>
              <a:t>below.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879" y="1295400"/>
            <a:ext cx="3550920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2755519"/>
            <a:ext cx="734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Perpetua"/>
                <a:cs typeface="Perpetua"/>
              </a:rPr>
              <a:t>Exp</a:t>
            </a:r>
            <a:r>
              <a:rPr sz="1200" b="1" spc="5" dirty="0">
                <a:latin typeface="Perpetua"/>
                <a:cs typeface="Perpetua"/>
              </a:rPr>
              <a:t>r</a:t>
            </a:r>
            <a:r>
              <a:rPr sz="1200" b="1" spc="-5" dirty="0">
                <a:latin typeface="Perpetua"/>
                <a:cs typeface="Perpetua"/>
              </a:rPr>
              <a:t>e</a:t>
            </a:r>
            <a:r>
              <a:rPr sz="1200" b="1" spc="5" dirty="0">
                <a:latin typeface="Perpetua"/>
                <a:cs typeface="Perpetua"/>
              </a:rPr>
              <a:t>s</a:t>
            </a:r>
            <a:r>
              <a:rPr sz="1200" b="1" dirty="0">
                <a:latin typeface="Perpetua"/>
                <a:cs typeface="Perpetua"/>
              </a:rPr>
              <a:t>sion</a:t>
            </a:r>
            <a:endParaRPr sz="12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72400" y="152400"/>
            <a:ext cx="1152144" cy="1010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10286"/>
            <a:ext cx="2842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The</a:t>
            </a:r>
            <a:r>
              <a:rPr spc="-7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differences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Loop</a:t>
            </a:r>
            <a:r>
              <a:rPr spc="-215" dirty="0"/>
              <a:t> </a:t>
            </a:r>
            <a:r>
              <a:rPr spc="-5" dirty="0"/>
              <a:t>A</a:t>
            </a:r>
          </a:p>
          <a:p>
            <a:pPr marL="286385" marR="5080" indent="-274320" algn="just">
              <a:lnSpc>
                <a:spcPct val="100000"/>
              </a:lnSpc>
              <a:spcBef>
                <a:spcPts val="66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90" dirty="0"/>
              <a:t>You </a:t>
            </a:r>
            <a:r>
              <a:rPr sz="2400" spc="-10" dirty="0"/>
              <a:t>are </a:t>
            </a:r>
            <a:r>
              <a:rPr sz="2400" dirty="0"/>
              <a:t>instructed </a:t>
            </a:r>
            <a:r>
              <a:rPr sz="2400" spc="-5" dirty="0"/>
              <a:t>to </a:t>
            </a:r>
            <a:r>
              <a:rPr sz="2400" spc="5" dirty="0"/>
              <a:t>perform  </a:t>
            </a:r>
            <a:r>
              <a:rPr sz="2400" dirty="0"/>
              <a:t>the </a:t>
            </a:r>
            <a:r>
              <a:rPr sz="2400" spc="-5" dirty="0"/>
              <a:t>loop</a:t>
            </a:r>
            <a:r>
              <a:rPr sz="2400" spc="-10" dirty="0"/>
              <a:t> </a:t>
            </a:r>
            <a:r>
              <a:rPr sz="2400" spc="-5" dirty="0"/>
              <a:t>test.</a:t>
            </a:r>
            <a:endParaRPr sz="2400"/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90" dirty="0"/>
              <a:t>You </a:t>
            </a:r>
            <a:r>
              <a:rPr sz="2400" spc="-5" dirty="0"/>
              <a:t>can </a:t>
            </a:r>
            <a:r>
              <a:rPr sz="2400" dirty="0"/>
              <a:t>do the </a:t>
            </a:r>
            <a:r>
              <a:rPr sz="2400" spc="-5" dirty="0"/>
              <a:t>action(s) iff </a:t>
            </a:r>
            <a:r>
              <a:rPr sz="2400" dirty="0"/>
              <a:t>the  </a:t>
            </a:r>
            <a:r>
              <a:rPr sz="2400" spc="-5" dirty="0"/>
              <a:t>looping </a:t>
            </a:r>
            <a:r>
              <a:rPr sz="2400" dirty="0"/>
              <a:t>condition </a:t>
            </a:r>
            <a:r>
              <a:rPr sz="2400" spc="-10" dirty="0"/>
              <a:t>is </a:t>
            </a:r>
            <a:r>
              <a:rPr sz="2400" spc="-5" dirty="0"/>
              <a:t>met  </a:t>
            </a:r>
            <a:r>
              <a:rPr sz="2400" spc="-15" dirty="0"/>
              <a:t>(True).</a:t>
            </a:r>
            <a:endParaRPr sz="2400"/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/>
              <a:t>If the </a:t>
            </a:r>
            <a:r>
              <a:rPr sz="2400" spc="-5" dirty="0"/>
              <a:t>loop test fails, </a:t>
            </a:r>
            <a:r>
              <a:rPr sz="2400" spc="-15" dirty="0"/>
              <a:t>you </a:t>
            </a:r>
            <a:r>
              <a:rPr sz="2400" dirty="0"/>
              <a:t>exit  the </a:t>
            </a:r>
            <a:r>
              <a:rPr sz="2400" spc="-5" dirty="0"/>
              <a:t>loop without </a:t>
            </a:r>
            <a:r>
              <a:rPr sz="2400" spc="5" dirty="0"/>
              <a:t>performing  </a:t>
            </a:r>
            <a:r>
              <a:rPr sz="2400" dirty="0"/>
              <a:t>the </a:t>
            </a:r>
            <a:r>
              <a:rPr sz="2400" spc="-5" dirty="0"/>
              <a:t>action(s) </a:t>
            </a:r>
            <a:r>
              <a:rPr sz="2400" spc="-25" dirty="0"/>
              <a:t>even </a:t>
            </a:r>
            <a:r>
              <a:rPr sz="2400" spc="-10" dirty="0"/>
              <a:t>once.</a:t>
            </a:r>
            <a:endParaRPr sz="2400"/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/>
              <a:t>It is a </a:t>
            </a:r>
            <a:r>
              <a:rPr sz="2400" spc="-10" dirty="0"/>
              <a:t>pre </a:t>
            </a:r>
            <a:r>
              <a:rPr sz="2400" spc="-5" dirty="0"/>
              <a:t>tested</a:t>
            </a:r>
            <a:r>
              <a:rPr sz="2400" spc="-30" dirty="0"/>
              <a:t> </a:t>
            </a:r>
            <a:r>
              <a:rPr sz="2400" spc="-25" dirty="0"/>
              <a:t>loop.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Loop</a:t>
            </a:r>
            <a:r>
              <a:rPr spc="-5" dirty="0"/>
              <a:t> B</a:t>
            </a:r>
          </a:p>
          <a:p>
            <a:pPr marL="287020" marR="5715" indent="-274320" algn="just">
              <a:lnSpc>
                <a:spcPct val="100000"/>
              </a:lnSpc>
              <a:spcBef>
                <a:spcPts val="665"/>
              </a:spcBef>
              <a:buClr>
                <a:srgbClr val="D24717"/>
              </a:buClr>
              <a:buSzPct val="85416"/>
              <a:buFont typeface="Wingdings 2"/>
              <a:buChar char=""/>
              <a:tabLst>
                <a:tab pos="287020" algn="l"/>
              </a:tabLst>
            </a:pPr>
            <a:r>
              <a:rPr sz="2400" spc="-90" dirty="0"/>
              <a:t>You </a:t>
            </a:r>
            <a:r>
              <a:rPr sz="2400" spc="-10" dirty="0"/>
              <a:t>are </a:t>
            </a:r>
            <a:r>
              <a:rPr sz="2400" dirty="0"/>
              <a:t>instructed </a:t>
            </a:r>
            <a:r>
              <a:rPr sz="2400" spc="-5" dirty="0"/>
              <a:t>to </a:t>
            </a:r>
            <a:r>
              <a:rPr sz="2400" spc="5" dirty="0"/>
              <a:t>perform  </a:t>
            </a:r>
            <a:r>
              <a:rPr sz="2400" spc="-5" dirty="0"/>
              <a:t>action </a:t>
            </a:r>
            <a:r>
              <a:rPr sz="2400" dirty="0"/>
              <a:t>A; a </a:t>
            </a:r>
            <a:r>
              <a:rPr sz="2400" spc="-5" dirty="0"/>
              <a:t>looping activity  </a:t>
            </a:r>
            <a:r>
              <a:rPr sz="2400" spc="-10" dirty="0"/>
              <a:t>follows</a:t>
            </a:r>
            <a:r>
              <a:rPr sz="2400" spc="-204" dirty="0"/>
              <a:t> </a:t>
            </a:r>
            <a:r>
              <a:rPr sz="2400" dirty="0"/>
              <a:t>A.</a:t>
            </a:r>
            <a:endParaRPr sz="2400"/>
          </a:p>
          <a:p>
            <a:pPr marL="287020" marR="508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Wingdings 2"/>
              <a:buChar char=""/>
              <a:tabLst>
                <a:tab pos="287020" algn="l"/>
              </a:tabLst>
            </a:pPr>
            <a:r>
              <a:rPr sz="2400" dirty="0"/>
              <a:t>On entry </a:t>
            </a:r>
            <a:r>
              <a:rPr sz="2400" spc="-5" dirty="0"/>
              <a:t>into </a:t>
            </a:r>
            <a:r>
              <a:rPr sz="2400" dirty="0"/>
              <a:t>the </a:t>
            </a:r>
            <a:r>
              <a:rPr sz="2400" spc="-5" dirty="0"/>
              <a:t>loop </a:t>
            </a:r>
            <a:r>
              <a:rPr sz="2400" dirty="0"/>
              <a:t>it is  </a:t>
            </a:r>
            <a:r>
              <a:rPr sz="2400" spc="-5" dirty="0"/>
              <a:t>required to </a:t>
            </a:r>
            <a:r>
              <a:rPr sz="2400" spc="10" dirty="0"/>
              <a:t>perform </a:t>
            </a:r>
            <a:r>
              <a:rPr sz="2400" spc="-5" dirty="0"/>
              <a:t>action</a:t>
            </a:r>
            <a:r>
              <a:rPr sz="2400" spc="-100" dirty="0"/>
              <a:t> </a:t>
            </a:r>
            <a:r>
              <a:rPr sz="2400" spc="-40" dirty="0"/>
              <a:t>B.</a:t>
            </a:r>
            <a:endParaRPr sz="2400"/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 2"/>
              <a:buChar char=""/>
              <a:tabLst>
                <a:tab pos="287020" algn="l"/>
              </a:tabLst>
            </a:pPr>
            <a:r>
              <a:rPr sz="2400" dirty="0"/>
              <a:t>This is </a:t>
            </a:r>
            <a:r>
              <a:rPr sz="2400" spc="-20" dirty="0"/>
              <a:t>followed </a:t>
            </a:r>
            <a:r>
              <a:rPr sz="2400" spc="-25" dirty="0"/>
              <a:t>by </a:t>
            </a:r>
            <a:r>
              <a:rPr sz="2400" dirty="0"/>
              <a:t>a </a:t>
            </a:r>
            <a:r>
              <a:rPr sz="2400" spc="-5" dirty="0"/>
              <a:t>loop</a:t>
            </a:r>
            <a:r>
              <a:rPr sz="2400" spc="-65" dirty="0"/>
              <a:t> </a:t>
            </a:r>
            <a:r>
              <a:rPr sz="2400" spc="-5" dirty="0"/>
              <a:t>test.</a:t>
            </a:r>
            <a:endParaRPr sz="2400"/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 2"/>
              <a:buChar char=""/>
              <a:tabLst>
                <a:tab pos="287020" algn="l"/>
              </a:tabLst>
            </a:pPr>
            <a:r>
              <a:rPr sz="2400" dirty="0"/>
              <a:t>On</a:t>
            </a:r>
            <a:r>
              <a:rPr sz="2400" spc="300" dirty="0"/>
              <a:t> </a:t>
            </a:r>
            <a:r>
              <a:rPr sz="2400" dirty="0"/>
              <a:t>exiting</a:t>
            </a:r>
            <a:r>
              <a:rPr sz="2400" spc="295" dirty="0"/>
              <a:t> </a:t>
            </a:r>
            <a:r>
              <a:rPr sz="2400" spc="-5" dirty="0"/>
              <a:t>the</a:t>
            </a:r>
            <a:r>
              <a:rPr sz="2400" spc="295" dirty="0"/>
              <a:t> </a:t>
            </a:r>
            <a:r>
              <a:rPr sz="2400" spc="-5" dirty="0"/>
              <a:t>loop</a:t>
            </a:r>
            <a:r>
              <a:rPr sz="2400" spc="300" dirty="0"/>
              <a:t> </a:t>
            </a:r>
            <a:r>
              <a:rPr sz="2400" spc="-5" dirty="0"/>
              <a:t>action</a:t>
            </a:r>
            <a:r>
              <a:rPr sz="2400" spc="300" dirty="0"/>
              <a:t> </a:t>
            </a:r>
            <a:r>
              <a:rPr sz="2400" dirty="0"/>
              <a:t>C</a:t>
            </a:r>
            <a:endParaRPr sz="2400"/>
          </a:p>
          <a:p>
            <a:pPr marR="1049655" algn="r">
              <a:lnSpc>
                <a:spcPct val="100000"/>
              </a:lnSpc>
            </a:pPr>
            <a:r>
              <a:rPr sz="2400" dirty="0"/>
              <a:t>has </a:t>
            </a:r>
            <a:r>
              <a:rPr sz="2400" spc="-5" dirty="0"/>
              <a:t>to </a:t>
            </a:r>
            <a:r>
              <a:rPr sz="2400" dirty="0"/>
              <a:t>be</a:t>
            </a:r>
            <a:r>
              <a:rPr sz="2400" spc="-80" dirty="0"/>
              <a:t> </a:t>
            </a:r>
            <a:r>
              <a:rPr sz="2400" spc="5" dirty="0"/>
              <a:t>performed.</a:t>
            </a:r>
            <a:endParaRPr sz="2400"/>
          </a:p>
          <a:p>
            <a:pPr marL="342265" marR="1066800" indent="-342265" algn="r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 2"/>
              <a:buChar char=""/>
              <a:tabLst>
                <a:tab pos="342265" algn="l"/>
                <a:tab pos="342900" algn="l"/>
              </a:tabLst>
            </a:pPr>
            <a:r>
              <a:rPr sz="2400" dirty="0"/>
              <a:t>It is post </a:t>
            </a:r>
            <a:r>
              <a:rPr sz="2400" spc="-5" dirty="0"/>
              <a:t>tested</a:t>
            </a:r>
            <a:r>
              <a:rPr sz="2400" spc="-95" dirty="0"/>
              <a:t> </a:t>
            </a:r>
            <a:r>
              <a:rPr sz="2400" spc="-5" dirty="0"/>
              <a:t>loop</a:t>
            </a:r>
            <a:endParaRPr sz="2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10286"/>
            <a:ext cx="3853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>
                <a:solidFill>
                  <a:srgbClr val="FF0000"/>
                </a:solidFill>
              </a:rPr>
              <a:t>Flowchart </a:t>
            </a:r>
            <a:r>
              <a:rPr spc="-5" dirty="0">
                <a:solidFill>
                  <a:srgbClr val="FF0000"/>
                </a:solidFill>
              </a:rPr>
              <a:t>for </a:t>
            </a:r>
            <a:r>
              <a:rPr spc="-10" dirty="0">
                <a:solidFill>
                  <a:srgbClr val="FF0000"/>
                </a:solidFill>
              </a:rPr>
              <a:t>loop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" name="object 3"/>
          <p:cNvSpPr/>
          <p:nvPr/>
        </p:nvSpPr>
        <p:spPr>
          <a:xfrm>
            <a:off x="1828800" y="1524000"/>
            <a:ext cx="5334000" cy="426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32586"/>
            <a:ext cx="46424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Post </a:t>
            </a:r>
            <a:r>
              <a:rPr spc="-5" dirty="0"/>
              <a:t>and pre-tested</a:t>
            </a:r>
            <a:r>
              <a:rPr spc="-10" dirty="0"/>
              <a:t> </a:t>
            </a:r>
            <a:r>
              <a:rPr spc="-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58542"/>
            <a:ext cx="2070100" cy="8769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600" b="1" i="1" dirty="0">
                <a:latin typeface="Perpetua"/>
                <a:cs typeface="Perpetua"/>
              </a:rPr>
              <a:t>While</a:t>
            </a:r>
            <a:r>
              <a:rPr sz="2600" b="1" i="1" spc="-55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loop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Pre-tested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loop.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3465957"/>
            <a:ext cx="4033520" cy="24434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 algn="just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10" dirty="0">
                <a:latin typeface="Perpetua"/>
                <a:cs typeface="Perpetua"/>
              </a:rPr>
              <a:t>perform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dirty="0">
                <a:latin typeface="Perpetua"/>
                <a:cs typeface="Perpetua"/>
              </a:rPr>
              <a:t>test </a:t>
            </a:r>
            <a:r>
              <a:rPr sz="2400" spc="-5" dirty="0">
                <a:latin typeface="Perpetua"/>
                <a:cs typeface="Perpetua"/>
              </a:rPr>
              <a:t>and  </a:t>
            </a:r>
            <a:r>
              <a:rPr sz="2400" dirty="0">
                <a:latin typeface="Perpetua"/>
                <a:cs typeface="Perpetua"/>
              </a:rPr>
              <a:t>then do the </a:t>
            </a:r>
            <a:r>
              <a:rPr sz="2400" spc="-5" dirty="0">
                <a:latin typeface="Perpetua"/>
                <a:cs typeface="Perpetua"/>
              </a:rPr>
              <a:t>action(s) iff </a:t>
            </a:r>
            <a:r>
              <a:rPr sz="2400" dirty="0">
                <a:latin typeface="Perpetua"/>
                <a:cs typeface="Perpetua"/>
              </a:rPr>
              <a:t>the  </a:t>
            </a:r>
            <a:r>
              <a:rPr sz="2400" spc="-5" dirty="0">
                <a:latin typeface="Perpetua"/>
                <a:cs typeface="Perpetua"/>
              </a:rPr>
              <a:t>looping </a:t>
            </a:r>
            <a:r>
              <a:rPr sz="2400" dirty="0">
                <a:latin typeface="Perpetua"/>
                <a:cs typeface="Perpetua"/>
              </a:rPr>
              <a:t>condition is </a:t>
            </a:r>
            <a:r>
              <a:rPr sz="2400" spc="-5" dirty="0">
                <a:latin typeface="Perpetua"/>
                <a:cs typeface="Perpetua"/>
              </a:rPr>
              <a:t>met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(</a:t>
            </a:r>
            <a:r>
              <a:rPr sz="2400" i="1" spc="-35" dirty="0">
                <a:latin typeface="Perpetua"/>
                <a:cs typeface="Perpetua"/>
              </a:rPr>
              <a:t>True</a:t>
            </a:r>
            <a:r>
              <a:rPr sz="2400" spc="-35" dirty="0">
                <a:latin typeface="Perpetua"/>
                <a:cs typeface="Perpetua"/>
              </a:rPr>
              <a:t>).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610"/>
              </a:spcBef>
              <a:buSzPct val="85416"/>
              <a:buFont typeface="Arial"/>
              <a:buChar char="•"/>
              <a:tabLst>
                <a:tab pos="355600" algn="l"/>
              </a:tabLst>
            </a:pPr>
            <a:r>
              <a:rPr dirty="0"/>
              <a:t>	</a:t>
            </a: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-10" dirty="0">
                <a:latin typeface="Perpetua"/>
                <a:cs typeface="Perpetua"/>
              </a:rPr>
              <a:t>possible that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dirty="0">
                <a:latin typeface="Perpetua"/>
                <a:cs typeface="Perpetua"/>
              </a:rPr>
              <a:t>exit the 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dirty="0">
                <a:latin typeface="Perpetua"/>
                <a:cs typeface="Perpetua"/>
              </a:rPr>
              <a:t>without </a:t>
            </a:r>
            <a:r>
              <a:rPr sz="2400" spc="5" dirty="0">
                <a:latin typeface="Perpetua"/>
                <a:cs typeface="Perpetua"/>
              </a:rPr>
              <a:t>performing </a:t>
            </a:r>
            <a:r>
              <a:rPr sz="2400" dirty="0">
                <a:latin typeface="Perpetua"/>
                <a:cs typeface="Perpetua"/>
              </a:rPr>
              <a:t>the  </a:t>
            </a:r>
            <a:r>
              <a:rPr sz="2400" spc="-5" dirty="0">
                <a:latin typeface="Perpetua"/>
                <a:cs typeface="Perpetua"/>
              </a:rPr>
              <a:t>action(s) </a:t>
            </a:r>
            <a:r>
              <a:rPr sz="2400" spc="-25" dirty="0">
                <a:latin typeface="Perpetua"/>
                <a:cs typeface="Perpetua"/>
              </a:rPr>
              <a:t>even </a:t>
            </a:r>
            <a:r>
              <a:rPr sz="2400" dirty="0">
                <a:latin typeface="Perpetua"/>
                <a:cs typeface="Perpetua"/>
              </a:rPr>
              <a:t>once; this </a:t>
            </a:r>
            <a:r>
              <a:rPr sz="2400" spc="-5" dirty="0">
                <a:latin typeface="Perpetua"/>
                <a:cs typeface="Perpetua"/>
              </a:rPr>
              <a:t>happens  </a:t>
            </a:r>
            <a:r>
              <a:rPr sz="2400" dirty="0">
                <a:latin typeface="Perpetua"/>
                <a:cs typeface="Perpetua"/>
              </a:rPr>
              <a:t>when the </a:t>
            </a:r>
            <a:r>
              <a:rPr sz="2400" spc="-5" dirty="0">
                <a:latin typeface="Perpetua"/>
                <a:cs typeface="Perpetua"/>
              </a:rPr>
              <a:t>loop test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fails.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0228" y="1297889"/>
            <a:ext cx="2155825" cy="794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i="1" spc="-5" dirty="0">
                <a:latin typeface="Perpetua"/>
                <a:cs typeface="Perpetua"/>
              </a:rPr>
              <a:t>Do-while</a:t>
            </a:r>
            <a:r>
              <a:rPr sz="2600" b="1" i="1" spc="-50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loop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Post-tested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loop.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0228" y="3545204"/>
            <a:ext cx="3959225" cy="259270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7020" marR="5715" indent="-274320">
              <a:lnSpc>
                <a:spcPts val="2300"/>
              </a:lnSpc>
              <a:spcBef>
                <a:spcPts val="66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824865" algn="l"/>
                <a:tab pos="1916430" algn="l"/>
                <a:tab pos="2431415" algn="l"/>
                <a:tab pos="3554729" algn="l"/>
              </a:tabLst>
            </a:pPr>
            <a:r>
              <a:rPr sz="2400" spc="-270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e	perf</a:t>
            </a:r>
            <a:r>
              <a:rPr sz="2400" spc="5" dirty="0">
                <a:latin typeface="Perpetua"/>
                <a:cs typeface="Perpetua"/>
              </a:rPr>
              <a:t>o</a:t>
            </a:r>
            <a:r>
              <a:rPr sz="2400" spc="7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m	the	</a:t>
            </a:r>
            <a:r>
              <a:rPr sz="2400" spc="-5" dirty="0">
                <a:latin typeface="Perpetua"/>
                <a:cs typeface="Perpetua"/>
              </a:rPr>
              <a:t>actio</a:t>
            </a:r>
            <a:r>
              <a:rPr sz="2400" dirty="0">
                <a:latin typeface="Perpetua"/>
                <a:cs typeface="Perpetua"/>
              </a:rPr>
              <a:t>n(s)	</a:t>
            </a:r>
            <a:r>
              <a:rPr sz="2400" spc="-5" dirty="0">
                <a:latin typeface="Perpetua"/>
                <a:cs typeface="Perpetua"/>
              </a:rPr>
              <a:t>and  </a:t>
            </a:r>
            <a:r>
              <a:rPr sz="2400" dirty="0">
                <a:latin typeface="Perpetua"/>
                <a:cs typeface="Perpetua"/>
              </a:rPr>
              <a:t>then do the loop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test.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ts val="2595"/>
              </a:lnSpc>
              <a:spcBef>
                <a:spcPts val="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action(s)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5" dirty="0">
                <a:latin typeface="Perpetua"/>
                <a:cs typeface="Perpetua"/>
              </a:rPr>
              <a:t>performed</a:t>
            </a:r>
            <a:r>
              <a:rPr sz="2400" spc="43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once</a:t>
            </a:r>
            <a:endParaRPr sz="2400">
              <a:latin typeface="Perpetua"/>
              <a:cs typeface="Perpetua"/>
            </a:endParaRPr>
          </a:p>
          <a:p>
            <a:pPr marL="287020">
              <a:lnSpc>
                <a:spcPts val="2595"/>
              </a:lnSpc>
            </a:pPr>
            <a:r>
              <a:rPr sz="2400" spc="-60" dirty="0">
                <a:latin typeface="Perpetua"/>
                <a:cs typeface="Perpetua"/>
              </a:rPr>
              <a:t>anyway.</a:t>
            </a:r>
            <a:endParaRPr sz="2400">
              <a:latin typeface="Perpetua"/>
              <a:cs typeface="Perpetua"/>
            </a:endParaRPr>
          </a:p>
          <a:p>
            <a:pPr marL="287020" marR="5080" indent="-274320" algn="just">
              <a:lnSpc>
                <a:spcPct val="8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exit the </a:t>
            </a:r>
            <a:r>
              <a:rPr sz="2400" spc="-5" dirty="0">
                <a:latin typeface="Perpetua"/>
                <a:cs typeface="Perpetua"/>
              </a:rPr>
              <a:t>loop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spc="-5" dirty="0">
                <a:latin typeface="Perpetua"/>
                <a:cs typeface="Perpetua"/>
              </a:rPr>
              <a:t>after  </a:t>
            </a:r>
            <a:r>
              <a:rPr sz="2400" spc="5" dirty="0">
                <a:latin typeface="Perpetua"/>
                <a:cs typeface="Perpetua"/>
              </a:rPr>
              <a:t>performing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action(s) </a:t>
            </a:r>
            <a:r>
              <a:rPr sz="2400" spc="-20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least  </a:t>
            </a:r>
            <a:r>
              <a:rPr sz="2400" dirty="0">
                <a:latin typeface="Perpetua"/>
                <a:cs typeface="Perpetua"/>
              </a:rPr>
              <a:t>once </a:t>
            </a:r>
            <a:r>
              <a:rPr sz="2400" spc="-25" dirty="0">
                <a:latin typeface="Perpetua"/>
                <a:cs typeface="Perpetua"/>
              </a:rPr>
              <a:t>even </a:t>
            </a:r>
            <a:r>
              <a:rPr sz="2400" dirty="0">
                <a:latin typeface="Perpetua"/>
                <a:cs typeface="Perpetua"/>
              </a:rPr>
              <a:t>when the </a:t>
            </a:r>
            <a:r>
              <a:rPr sz="2400" spc="-5" dirty="0">
                <a:latin typeface="Perpetua"/>
                <a:cs typeface="Perpetua"/>
              </a:rPr>
              <a:t>loop test  </a:t>
            </a:r>
            <a:r>
              <a:rPr sz="2400" spc="-15" dirty="0">
                <a:latin typeface="Perpetua"/>
                <a:cs typeface="Perpetua"/>
              </a:rPr>
              <a:t>fails.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0049" y="1460073"/>
            <a:ext cx="1610236" cy="1767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06642" y="1338866"/>
            <a:ext cx="1678158" cy="1869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0" y="2049779"/>
            <a:ext cx="1295400" cy="15316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9600" y="304800"/>
            <a:ext cx="18288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44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Eg.To </a:t>
            </a:r>
            <a:r>
              <a:rPr dirty="0"/>
              <a:t>trap for </a:t>
            </a:r>
            <a:r>
              <a:rPr spc="-5" dirty="0"/>
              <a:t>a </a:t>
            </a:r>
            <a:r>
              <a:rPr spc="-20" dirty="0"/>
              <a:t>valid</a:t>
            </a:r>
            <a:r>
              <a:rPr spc="80" dirty="0"/>
              <a:t> </a:t>
            </a:r>
            <a:r>
              <a:rPr spc="-5" dirty="0"/>
              <a:t>input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433525"/>
            <a:ext cx="8239125" cy="444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task </a:t>
            </a:r>
            <a:r>
              <a:rPr sz="2600" dirty="0">
                <a:latin typeface="Perpetua"/>
                <a:cs typeface="Perpetua"/>
              </a:rPr>
              <a:t>is to </a:t>
            </a:r>
            <a:r>
              <a:rPr sz="2600" spc="-5" dirty="0">
                <a:latin typeface="Perpetua"/>
                <a:cs typeface="Perpetua"/>
              </a:rPr>
              <a:t>read </a:t>
            </a:r>
            <a:r>
              <a:rPr sz="2600" spc="-15" dirty="0">
                <a:latin typeface="Perpetua"/>
                <a:cs typeface="Perpetua"/>
              </a:rPr>
              <a:t>only valid </a:t>
            </a:r>
            <a:r>
              <a:rPr sz="2600" spc="-10" dirty="0">
                <a:latin typeface="Perpetua"/>
                <a:cs typeface="Perpetua"/>
              </a:rPr>
              <a:t>values </a:t>
            </a:r>
            <a:r>
              <a:rPr sz="2600" spc="-15" dirty="0">
                <a:latin typeface="Perpetua"/>
                <a:cs typeface="Perpetua"/>
              </a:rPr>
              <a:t>ie. </a:t>
            </a:r>
            <a:r>
              <a:rPr sz="2600" spc="-10" dirty="0">
                <a:latin typeface="Perpetua"/>
                <a:cs typeface="Perpetua"/>
              </a:rPr>
              <a:t>values </a:t>
            </a:r>
            <a:r>
              <a:rPr sz="2600" dirty="0">
                <a:latin typeface="Perpetua"/>
                <a:cs typeface="Perpetua"/>
              </a:rPr>
              <a:t>within </a:t>
            </a:r>
            <a:r>
              <a:rPr sz="2600" spc="-5" dirty="0">
                <a:latin typeface="Perpetua"/>
                <a:cs typeface="Perpetua"/>
              </a:rPr>
              <a:t>the given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x..y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spc="-5" dirty="0">
                <a:latin typeface="Perpetua"/>
                <a:cs typeface="Perpetua"/>
              </a:rPr>
              <a:t>range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Times New Roman"/>
              <a:cs typeface="Times New Roman"/>
            </a:endParaRPr>
          </a:p>
          <a:p>
            <a:pPr marL="286385" marR="4880610" indent="-286385">
              <a:lnSpc>
                <a:spcPct val="112799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algorithm is </a:t>
            </a:r>
            <a:r>
              <a:rPr sz="2600" spc="-5" dirty="0">
                <a:latin typeface="Perpetua"/>
                <a:cs typeface="Perpetua"/>
              </a:rPr>
              <a:t>given as:  </a:t>
            </a:r>
            <a:r>
              <a:rPr sz="2600" spc="-15" dirty="0">
                <a:latin typeface="Perpetua"/>
                <a:cs typeface="Perpetua"/>
              </a:rPr>
              <a:t>Display </a:t>
            </a:r>
            <a:r>
              <a:rPr sz="2600" spc="-5" dirty="0">
                <a:latin typeface="Perpetua"/>
                <a:cs typeface="Perpetua"/>
              </a:rPr>
              <a:t>range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x..y</a:t>
            </a:r>
            <a:endParaRPr sz="26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405"/>
              </a:spcBef>
            </a:pPr>
            <a:r>
              <a:rPr sz="2600" b="1" spc="-5" dirty="0">
                <a:latin typeface="Perpetua"/>
                <a:cs typeface="Perpetua"/>
              </a:rPr>
              <a:t>Do</a:t>
            </a:r>
            <a:endParaRPr sz="2600">
              <a:latin typeface="Perpetua"/>
              <a:cs typeface="Perpetua"/>
            </a:endParaRPr>
          </a:p>
          <a:p>
            <a:pPr marL="881380">
              <a:lnSpc>
                <a:spcPct val="100000"/>
              </a:lnSpc>
              <a:spcBef>
                <a:spcPts val="400"/>
              </a:spcBef>
            </a:pPr>
            <a:r>
              <a:rPr sz="2600" spc="-5" dirty="0">
                <a:latin typeface="Perpetua"/>
                <a:cs typeface="Perpetua"/>
              </a:rPr>
              <a:t>a. Read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value</a:t>
            </a:r>
            <a:endParaRPr sz="2600">
              <a:latin typeface="Perpetua"/>
              <a:cs typeface="Perpetua"/>
            </a:endParaRPr>
          </a:p>
          <a:p>
            <a:pPr marL="607060" marR="1950720">
              <a:lnSpc>
                <a:spcPts val="3529"/>
              </a:lnSpc>
              <a:spcBef>
                <a:spcPts val="175"/>
              </a:spcBef>
            </a:pPr>
            <a:r>
              <a:rPr sz="2600" b="1" spc="-5" dirty="0">
                <a:latin typeface="Perpetua"/>
                <a:cs typeface="Perpetua"/>
              </a:rPr>
              <a:t>Repeat </a:t>
            </a: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‘a’ if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is within the </a:t>
            </a:r>
            <a:r>
              <a:rPr sz="2600" spc="-5" dirty="0">
                <a:latin typeface="Perpetua"/>
                <a:cs typeface="Perpetua"/>
              </a:rPr>
              <a:t>range</a:t>
            </a:r>
            <a:r>
              <a:rPr sz="2600" spc="-3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x..y  </a:t>
            </a:r>
            <a:r>
              <a:rPr sz="2600" spc="-15" dirty="0">
                <a:latin typeface="Perpetua"/>
                <a:cs typeface="Perpetua"/>
              </a:rPr>
              <a:t>Display invalid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value</a:t>
            </a:r>
            <a:endParaRPr sz="26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204"/>
              </a:spcBef>
            </a:pPr>
            <a:r>
              <a:rPr sz="2600" dirty="0">
                <a:latin typeface="Perpetua"/>
                <a:cs typeface="Perpetua"/>
              </a:rPr>
              <a:t>Exit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891286"/>
            <a:ext cx="4140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has </a:t>
            </a:r>
            <a:r>
              <a:rPr i="1" dirty="0">
                <a:latin typeface="Perpetua"/>
                <a:cs typeface="Perpetua"/>
              </a:rPr>
              <a:t>been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384864"/>
            <a:ext cx="7617459" cy="315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7620" indent="-274955">
              <a:lnSpc>
                <a:spcPct val="1501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1140460" algn="l"/>
                <a:tab pos="1494155" algn="l"/>
                <a:tab pos="2192020" algn="l"/>
                <a:tab pos="2559685" algn="l"/>
                <a:tab pos="3942079" algn="l"/>
                <a:tab pos="5342890" algn="l"/>
                <a:tab pos="5895975" algn="l"/>
              </a:tabLst>
            </a:pPr>
            <a:r>
              <a:rPr sz="2600" dirty="0">
                <a:latin typeface="Perpetua"/>
                <a:cs typeface="Perpetua"/>
              </a:rPr>
              <a:t>Loo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25" dirty="0">
                <a:latin typeface="Perpetua"/>
                <a:cs typeface="Perpetua"/>
              </a:rPr>
              <a:t>w</a:t>
            </a:r>
            <a:r>
              <a:rPr sz="2600" spc="-10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ys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e</a:t>
            </a:r>
            <a:r>
              <a:rPr sz="2600" spc="-10" dirty="0">
                <a:latin typeface="Perpetua"/>
                <a:cs typeface="Perpetua"/>
              </a:rPr>
              <a:t>x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5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sing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thms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c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spc="-5" dirty="0">
                <a:latin typeface="Perpetua"/>
                <a:cs typeface="Perpetua"/>
              </a:rPr>
              <a:t>al  </a:t>
            </a:r>
            <a:r>
              <a:rPr sz="2600" spc="-10" dirty="0">
                <a:latin typeface="Perpetua"/>
                <a:cs typeface="Perpetua"/>
              </a:rPr>
              <a:t>processes.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and function of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repetition.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5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61315" algn="l"/>
                <a:tab pos="362585" algn="l"/>
              </a:tabLst>
            </a:pPr>
            <a:r>
              <a:rPr dirty="0"/>
              <a:t>	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computational </a:t>
            </a:r>
            <a:r>
              <a:rPr sz="2600" spc="-5" dirty="0">
                <a:latin typeface="Perpetua"/>
                <a:cs typeface="Perpetua"/>
              </a:rPr>
              <a:t>state of an </a:t>
            </a:r>
            <a:r>
              <a:rPr sz="2600" spc="5" dirty="0">
                <a:latin typeface="Perpetua"/>
                <a:cs typeface="Perpetua"/>
              </a:rPr>
              <a:t>algorithm </a:t>
            </a:r>
            <a:r>
              <a:rPr sz="2600" spc="-5" dirty="0">
                <a:latin typeface="Perpetua"/>
                <a:cs typeface="Perpetua"/>
              </a:rPr>
              <a:t>captures </a:t>
            </a:r>
            <a:r>
              <a:rPr sz="2600" dirty="0">
                <a:latin typeface="Perpetua"/>
                <a:cs typeface="Perpetua"/>
              </a:rPr>
              <a:t>the  current </a:t>
            </a:r>
            <a:r>
              <a:rPr sz="2600" spc="-10" dirty="0">
                <a:latin typeface="Perpetua"/>
                <a:cs typeface="Perpetua"/>
              </a:rPr>
              <a:t>values </a:t>
            </a:r>
            <a:r>
              <a:rPr sz="2600" spc="-5" dirty="0">
                <a:latin typeface="Perpetua"/>
                <a:cs typeface="Perpetua"/>
              </a:rPr>
              <a:t>of all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the algorithm is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executed.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81956" y="5535168"/>
            <a:ext cx="3933444" cy="114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Computing without computers, Paul</a:t>
            </a:r>
            <a:r>
              <a:rPr sz="1050" i="1" spc="-114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Curzon;</a:t>
            </a:r>
            <a:endParaRPr sz="1050" dirty="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050" i="1" spc="-5" dirty="0">
                <a:latin typeface="Perpetua"/>
                <a:cs typeface="Perpetua"/>
                <a:hlinkClick r:id="rId2"/>
              </a:rPr>
              <a:t>http://www.eecs.qmul.ac.uk/~pc/research/education/puzzles/reading/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cs.calvin.edu/books/java/intro/1e/PPSlides/chap08.pp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3"/>
              </a:rPr>
              <a:t>www.letu.edu/people/stevearmstrong/.../Chapter%205%20Malik.ppt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4"/>
              </a:rPr>
              <a:t>www.engr.sjsu.edu/bjfurman/courses/.../lecture_4_repetition_structures.ppt.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1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 dirty="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4648200"/>
            <a:ext cx="4600956" cy="1773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400" y="304800"/>
            <a:ext cx="533400" cy="5740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0B3C4C-BD69-465D-ADD1-1B46F0751787}"/>
</file>

<file path=customXml/itemProps2.xml><?xml version="1.0" encoding="utf-8"?>
<ds:datastoreItem xmlns:ds="http://schemas.openxmlformats.org/officeDocument/2006/customXml" ds:itemID="{45A4D1A3-58F1-47EF-8111-07A3E9479F0C}"/>
</file>

<file path=customXml/itemProps3.xml><?xml version="1.0" encoding="utf-8"?>
<ds:datastoreItem xmlns:ds="http://schemas.openxmlformats.org/officeDocument/2006/customXml" ds:itemID="{1D5435D6-2DEE-4BD0-9758-6C9E9437A72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5028</Words>
  <Application>Microsoft Office PowerPoint</Application>
  <PresentationFormat>On-screen Show (4:3)</PresentationFormat>
  <Paragraphs>668</Paragraphs>
  <Slides>85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6" baseType="lpstr">
      <vt:lpstr>Office Theme</vt:lpstr>
      <vt:lpstr>Slide 1</vt:lpstr>
      <vt:lpstr>Objectives</vt:lpstr>
      <vt:lpstr>A Repetitive Task</vt:lpstr>
      <vt:lpstr>Eg. Read books on the bookshelf</vt:lpstr>
      <vt:lpstr>The Termination Condition</vt:lpstr>
      <vt:lpstr>The algorithm is:</vt:lpstr>
      <vt:lpstr>Search for an article in a pile of magazines</vt:lpstr>
      <vt:lpstr>What is the condition for continuing to search?</vt:lpstr>
      <vt:lpstr>Putting them together we have the following:</vt:lpstr>
      <vt:lpstr>The question: “Do I continue?”</vt:lpstr>
      <vt:lpstr>An algorithm for treating heart stroke</vt:lpstr>
      <vt:lpstr>The loop in Treating heatstroke - algorithm</vt:lpstr>
      <vt:lpstr>Eg. A maze problem</vt:lpstr>
      <vt:lpstr>To get to the centre of the maze</vt:lpstr>
      <vt:lpstr>Is it worthwhile avoiding repeatedly writing the same  instructions?</vt:lpstr>
      <vt:lpstr>Eg. A simple maze</vt:lpstr>
      <vt:lpstr>Devising the loop</vt:lpstr>
      <vt:lpstr>What does the algorithm say?</vt:lpstr>
      <vt:lpstr>If not at the cross of the maze, then what?</vt:lpstr>
      <vt:lpstr>Sequencing and looping</vt:lpstr>
      <vt:lpstr>The Original Maze revisited</vt:lpstr>
      <vt:lpstr>Eg. A T-junction maze To get to the centre of the maze:</vt:lpstr>
      <vt:lpstr>Slide 23</vt:lpstr>
      <vt:lpstr>What do you observe?</vt:lpstr>
      <vt:lpstr>Algorithm using the if-control structure</vt:lpstr>
      <vt:lpstr>Now, go for the if statement in a loop</vt:lpstr>
      <vt:lpstr>The while loop</vt:lpstr>
      <vt:lpstr>Reading the flowchart structure</vt:lpstr>
      <vt:lpstr>Syntactic pattern of while loop</vt:lpstr>
      <vt:lpstr>Eg. Grill a steak</vt:lpstr>
      <vt:lpstr>Modeling the temperature of a steak as it is  grilled</vt:lpstr>
      <vt:lpstr>What do you observe?</vt:lpstr>
      <vt:lpstr>Computational state</vt:lpstr>
      <vt:lpstr>Further insight into the meaning of a while  loop</vt:lpstr>
      <vt:lpstr>Insight contd----</vt:lpstr>
      <vt:lpstr>Slide 36</vt:lpstr>
      <vt:lpstr>Counter-controlled loops</vt:lpstr>
      <vt:lpstr>Eg. Imposition</vt:lpstr>
      <vt:lpstr>Imposition algorithm</vt:lpstr>
      <vt:lpstr>Eg. Hide and seek</vt:lpstr>
      <vt:lpstr>What number to start with?</vt:lpstr>
      <vt:lpstr>The full instructions for hide and seek</vt:lpstr>
      <vt:lpstr>What do you observe?</vt:lpstr>
      <vt:lpstr>The counter-controlled loop</vt:lpstr>
      <vt:lpstr>Counting upwards or downwards?</vt:lpstr>
      <vt:lpstr>A Nursery rhyme</vt:lpstr>
      <vt:lpstr>Nursery rhyme- algorithm</vt:lpstr>
      <vt:lpstr>Repeating calculations</vt:lpstr>
      <vt:lpstr>Algorithm and flowchart</vt:lpstr>
      <vt:lpstr>Playing darts</vt:lpstr>
      <vt:lpstr>Eg. Grill a steak</vt:lpstr>
      <vt:lpstr>Length of time required</vt:lpstr>
      <vt:lpstr>Time to grill-algorithm</vt:lpstr>
      <vt:lpstr>The counting loop</vt:lpstr>
      <vt:lpstr>Well-written loops</vt:lpstr>
      <vt:lpstr>Well-written loops contd---</vt:lpstr>
      <vt:lpstr>Slide 57</vt:lpstr>
      <vt:lpstr>The sum of n numbers</vt:lpstr>
      <vt:lpstr>Bouncing ball</vt:lpstr>
      <vt:lpstr>Bouncing the ball -algorithm</vt:lpstr>
      <vt:lpstr>Remember</vt:lpstr>
      <vt:lpstr>Sentinel-controlled loops</vt:lpstr>
      <vt:lpstr>Eg. Dice cricket</vt:lpstr>
      <vt:lpstr>Dice cricket algorithm</vt:lpstr>
      <vt:lpstr>Can you see what is wrong?</vt:lpstr>
      <vt:lpstr>Set the initial score……..</vt:lpstr>
      <vt:lpstr>Roll the dice once first before we do the  repetitive part, to get us started…….</vt:lpstr>
      <vt:lpstr>Eg. Motor racing</vt:lpstr>
      <vt:lpstr>Eg.Throwing darts</vt:lpstr>
      <vt:lpstr>Termination condition</vt:lpstr>
      <vt:lpstr>Remember</vt:lpstr>
      <vt:lpstr>Non-terminating loops</vt:lpstr>
      <vt:lpstr>Eg. Do not mourn</vt:lpstr>
      <vt:lpstr>How does this work?</vt:lpstr>
      <vt:lpstr>How does this work? Contd…</vt:lpstr>
      <vt:lpstr>Are such loops program bugs?</vt:lpstr>
      <vt:lpstr>Eg. Grill a steak… revisited…</vt:lpstr>
      <vt:lpstr>Logical flaw</vt:lpstr>
      <vt:lpstr>Infinite loops</vt:lpstr>
      <vt:lpstr>Slide 80</vt:lpstr>
      <vt:lpstr>The differences</vt:lpstr>
      <vt:lpstr>Flowchart for loop B</vt:lpstr>
      <vt:lpstr>Post and pre-tested loops</vt:lpstr>
      <vt:lpstr>Eg.To trap for a valid input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4</cp:revision>
  <dcterms:created xsi:type="dcterms:W3CDTF">2020-09-07T06:49:33Z</dcterms:created>
  <dcterms:modified xsi:type="dcterms:W3CDTF">2021-10-03T06:02:28Z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