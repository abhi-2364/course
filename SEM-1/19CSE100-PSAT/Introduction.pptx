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29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8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7A926-ACF8-4FDF-8474-EBCF21539BE3}" type="datetimeFigureOut">
              <a:rPr lang="en-IN" smtClean="0"/>
              <a:t>07-09-2020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242F4-8A98-4596-BAE3-746EFC67D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2242F4-8A98-4596-BAE3-746EFC67DF3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13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6E42E-410E-4591-A794-6D3E934A4DED}" type="datetime1">
              <a:rPr lang="en-US" smtClean="0"/>
              <a:t>9/7/2020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spc="-45" dirty="0"/>
              <a:t>‹#›</a:t>
            </a:fld>
            <a:endParaRPr spc="-4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50D28-4ECB-492F-8B4C-63B0A95DEA0B}" type="datetime1">
              <a:rPr lang="en-US" smtClean="0"/>
              <a:t>9/7/2020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spc="-45" dirty="0"/>
              <a:t>‹#›</a:t>
            </a:fld>
            <a:endParaRPr spc="-4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D5502-8606-4E63-BBE4-3DB60DD549BA}" type="datetime1">
              <a:rPr lang="en-US" smtClean="0"/>
              <a:t>9/7/2020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spc="-45" dirty="0"/>
              <a:t>‹#›</a:t>
            </a:fld>
            <a:endParaRPr spc="-4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824FD-C029-4C82-8EEC-1C14629ED7A3}" type="datetime1">
              <a:rPr lang="en-US" smtClean="0"/>
              <a:t>9/7/2020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spc="-45" dirty="0"/>
              <a:t>‹#›</a:t>
            </a:fld>
            <a:endParaRPr spc="-4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EF838-9F15-43E8-A70F-82990F114605}" type="datetime1">
              <a:rPr lang="en-US" smtClean="0"/>
              <a:t>9/7/2020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spc="-45" dirty="0"/>
              <a:t>‹#›</a:t>
            </a:fld>
            <a:endParaRPr spc="-4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9272" y="15621"/>
            <a:ext cx="350545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078" y="1088603"/>
            <a:ext cx="8549843" cy="432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76789-EEFB-4865-98A5-C436B33A6793}" type="datetime1">
              <a:rPr lang="en-US" smtClean="0"/>
              <a:t>9/7/2020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77977" y="6482301"/>
            <a:ext cx="204470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spc="-45" dirty="0"/>
              <a:t>‹#›</a:t>
            </a:fld>
            <a:endParaRPr spc="-4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p92mp3/revision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p92mp3/revision/2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531" y="70103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26"/>
                  </a:lnTo>
                  <a:lnTo>
                    <a:pt x="9009359" y="6410769"/>
                  </a:lnTo>
                  <a:lnTo>
                    <a:pt x="8998968" y="6457290"/>
                  </a:lnTo>
                  <a:lnTo>
                    <a:pt x="8982275" y="6501081"/>
                  </a:lnTo>
                  <a:lnTo>
                    <a:pt x="8959791" y="6541631"/>
                  </a:lnTo>
                  <a:lnTo>
                    <a:pt x="8932024" y="6578430"/>
                  </a:lnTo>
                  <a:lnTo>
                    <a:pt x="8899487" y="6610967"/>
                  </a:lnTo>
                  <a:lnTo>
                    <a:pt x="8862690" y="6638733"/>
                  </a:lnTo>
                  <a:lnTo>
                    <a:pt x="8822144" y="6661216"/>
                  </a:lnTo>
                  <a:lnTo>
                    <a:pt x="8778359" y="6677908"/>
                  </a:lnTo>
                  <a:lnTo>
                    <a:pt x="8731847" y="6688297"/>
                  </a:lnTo>
                  <a:lnTo>
                    <a:pt x="8683117" y="6691873"/>
                  </a:lnTo>
                  <a:lnTo>
                    <a:pt x="329844" y="6691873"/>
                  </a:lnTo>
                  <a:lnTo>
                    <a:pt x="281102" y="6688297"/>
                  </a:lnTo>
                  <a:lnTo>
                    <a:pt x="234580" y="6677908"/>
                  </a:lnTo>
                  <a:lnTo>
                    <a:pt x="190789" y="6661216"/>
                  </a:lnTo>
                  <a:lnTo>
                    <a:pt x="150240" y="6638733"/>
                  </a:lnTo>
                  <a:lnTo>
                    <a:pt x="113441" y="6610967"/>
                  </a:lnTo>
                  <a:lnTo>
                    <a:pt x="80905" y="6578430"/>
                  </a:lnTo>
                  <a:lnTo>
                    <a:pt x="53139" y="6541631"/>
                  </a:lnTo>
                  <a:lnTo>
                    <a:pt x="30656" y="6501081"/>
                  </a:lnTo>
                  <a:lnTo>
                    <a:pt x="13965" y="6457290"/>
                  </a:lnTo>
                  <a:lnTo>
                    <a:pt x="3576" y="6410769"/>
                  </a:lnTo>
                  <a:lnTo>
                    <a:pt x="0" y="6362026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484" y="1395983"/>
              <a:ext cx="9022080" cy="121920"/>
            </a:xfrm>
            <a:custGeom>
              <a:avLst/>
              <a:gdLst/>
              <a:ahLst/>
              <a:cxnLst/>
              <a:rect l="l" t="t" r="r" b="b"/>
              <a:pathLst>
                <a:path w="9022080" h="121919">
                  <a:moveTo>
                    <a:pt x="902208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9022080" y="121920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484" y="2976372"/>
              <a:ext cx="9022080" cy="111760"/>
            </a:xfrm>
            <a:custGeom>
              <a:avLst/>
              <a:gdLst/>
              <a:ahLst/>
              <a:cxnLst/>
              <a:rect l="l" t="t" r="r" b="b"/>
              <a:pathLst>
                <a:path w="9022080" h="111760">
                  <a:moveTo>
                    <a:pt x="902208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9022080" y="111251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400" y="6477000"/>
              <a:ext cx="457200" cy="266700"/>
            </a:xfrm>
            <a:custGeom>
              <a:avLst/>
              <a:gdLst/>
              <a:ahLst/>
              <a:cxnLst/>
              <a:rect l="l" t="t" r="r" b="b"/>
              <a:pathLst>
                <a:path w="457200" h="266700">
                  <a:moveTo>
                    <a:pt x="228600" y="0"/>
                  </a:moveTo>
                  <a:lnTo>
                    <a:pt x="167829" y="4763"/>
                  </a:lnTo>
                  <a:lnTo>
                    <a:pt x="113221" y="18206"/>
                  </a:lnTo>
                  <a:lnTo>
                    <a:pt x="66955" y="39057"/>
                  </a:lnTo>
                  <a:lnTo>
                    <a:pt x="31210" y="66045"/>
                  </a:lnTo>
                  <a:lnTo>
                    <a:pt x="8165" y="97900"/>
                  </a:lnTo>
                  <a:lnTo>
                    <a:pt x="0" y="133350"/>
                  </a:lnTo>
                  <a:lnTo>
                    <a:pt x="8165" y="168799"/>
                  </a:lnTo>
                  <a:lnTo>
                    <a:pt x="31210" y="200654"/>
                  </a:lnTo>
                  <a:lnTo>
                    <a:pt x="66955" y="227642"/>
                  </a:lnTo>
                  <a:lnTo>
                    <a:pt x="113221" y="248492"/>
                  </a:lnTo>
                  <a:lnTo>
                    <a:pt x="167829" y="261935"/>
                  </a:lnTo>
                  <a:lnTo>
                    <a:pt x="228600" y="266698"/>
                  </a:lnTo>
                  <a:lnTo>
                    <a:pt x="289370" y="261935"/>
                  </a:lnTo>
                  <a:lnTo>
                    <a:pt x="343978" y="248492"/>
                  </a:lnTo>
                  <a:lnTo>
                    <a:pt x="390244" y="227642"/>
                  </a:lnTo>
                  <a:lnTo>
                    <a:pt x="425989" y="200654"/>
                  </a:lnTo>
                  <a:lnTo>
                    <a:pt x="449034" y="168799"/>
                  </a:lnTo>
                  <a:lnTo>
                    <a:pt x="457200" y="133350"/>
                  </a:lnTo>
                  <a:lnTo>
                    <a:pt x="449034" y="97900"/>
                  </a:lnTo>
                  <a:lnTo>
                    <a:pt x="425989" y="66045"/>
                  </a:lnTo>
                  <a:lnTo>
                    <a:pt x="390244" y="39057"/>
                  </a:lnTo>
                  <a:lnTo>
                    <a:pt x="343978" y="18206"/>
                  </a:lnTo>
                  <a:lnTo>
                    <a:pt x="289370" y="4763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484" y="1517903"/>
            <a:ext cx="9022080" cy="677108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spc="-150" smtClean="0">
                <a:latin typeface="Times New Roman"/>
                <a:cs typeface="Times New Roman"/>
              </a:rPr>
              <a:t>Introduction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spc="-45" dirty="0">
                <a:latin typeface="Times New Roman"/>
                <a:cs typeface="Times New Roman"/>
              </a:rPr>
              <a:t>1</a:t>
            </a:fld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822706"/>
            <a:ext cx="8545195" cy="5559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2032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In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65" dirty="0">
                <a:latin typeface="Times New Roman"/>
                <a:cs typeface="Times New Roman"/>
              </a:rPr>
              <a:t>Second </a:t>
            </a:r>
            <a:r>
              <a:rPr sz="2600" spc="-130" dirty="0">
                <a:latin typeface="Times New Roman"/>
                <a:cs typeface="Times New Roman"/>
              </a:rPr>
              <a:t>World </a:t>
            </a:r>
            <a:r>
              <a:rPr sz="2600" spc="-160" dirty="0">
                <a:latin typeface="Times New Roman"/>
                <a:cs typeface="Times New Roman"/>
              </a:rPr>
              <a:t>War, </a:t>
            </a:r>
            <a:r>
              <a:rPr sz="2600" spc="-110" dirty="0">
                <a:latin typeface="Times New Roman"/>
                <a:cs typeface="Times New Roman"/>
              </a:rPr>
              <a:t>one </a:t>
            </a:r>
            <a:r>
              <a:rPr sz="2600" spc="-155" dirty="0">
                <a:latin typeface="Times New Roman"/>
                <a:cs typeface="Times New Roman"/>
              </a:rPr>
              <a:t>of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45" dirty="0">
                <a:latin typeface="Times New Roman"/>
                <a:cs typeface="Times New Roman"/>
              </a:rPr>
              <a:t>challenges </a:t>
            </a:r>
            <a:r>
              <a:rPr sz="2600" spc="-95" dirty="0">
                <a:latin typeface="Times New Roman"/>
                <a:cs typeface="Times New Roman"/>
              </a:rPr>
              <a:t>for </a:t>
            </a:r>
            <a:r>
              <a:rPr sz="2600" spc="-145" dirty="0">
                <a:latin typeface="Times New Roman"/>
                <a:cs typeface="Times New Roman"/>
              </a:rPr>
              <a:t>each </a:t>
            </a:r>
            <a:r>
              <a:rPr sz="2600" spc="-135" dirty="0">
                <a:latin typeface="Times New Roman"/>
                <a:cs typeface="Times New Roman"/>
              </a:rPr>
              <a:t>side </a:t>
            </a:r>
            <a:r>
              <a:rPr sz="2600" spc="-195" dirty="0">
                <a:latin typeface="Times New Roman"/>
                <a:cs typeface="Times New Roman"/>
              </a:rPr>
              <a:t>was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57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try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125" dirty="0">
                <a:latin typeface="Times New Roman"/>
                <a:cs typeface="Times New Roman"/>
              </a:rPr>
              <a:t>crack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40" dirty="0">
                <a:latin typeface="Times New Roman"/>
                <a:cs typeface="Times New Roman"/>
              </a:rPr>
              <a:t>codes </a:t>
            </a:r>
            <a:r>
              <a:rPr sz="2600" spc="-130" dirty="0">
                <a:latin typeface="Times New Roman"/>
                <a:cs typeface="Times New Roman"/>
              </a:rPr>
              <a:t>used </a:t>
            </a:r>
            <a:r>
              <a:rPr sz="2600" spc="-204" dirty="0">
                <a:latin typeface="Times New Roman"/>
                <a:cs typeface="Times New Roman"/>
              </a:rPr>
              <a:t>by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21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opposition.</a:t>
            </a:r>
            <a:endParaRPr sz="2600">
              <a:latin typeface="Times New Roman"/>
              <a:cs typeface="Times New Roman"/>
            </a:endParaRPr>
          </a:p>
          <a:p>
            <a:pPr marL="286385" marR="2159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This </a:t>
            </a:r>
            <a:r>
              <a:rPr sz="2600" spc="-145" dirty="0">
                <a:latin typeface="Times New Roman"/>
                <a:cs typeface="Times New Roman"/>
              </a:rPr>
              <a:t>became </a:t>
            </a:r>
            <a:r>
              <a:rPr sz="2600" spc="-80" dirty="0">
                <a:latin typeface="Times New Roman"/>
                <a:cs typeface="Times New Roman"/>
              </a:rPr>
              <a:t>urgent </a:t>
            </a:r>
            <a:r>
              <a:rPr sz="2600" spc="-95" dirty="0">
                <a:latin typeface="Times New Roman"/>
                <a:cs typeface="Times New Roman"/>
              </a:rPr>
              <a:t>for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30" dirty="0">
                <a:latin typeface="Times New Roman"/>
                <a:cs typeface="Times New Roman"/>
              </a:rPr>
              <a:t>British </a:t>
            </a:r>
            <a:r>
              <a:rPr sz="2600" spc="-210" dirty="0">
                <a:latin typeface="Times New Roman"/>
                <a:cs typeface="Times New Roman"/>
              </a:rPr>
              <a:t>as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10" dirty="0">
                <a:latin typeface="Times New Roman"/>
                <a:cs typeface="Times New Roman"/>
              </a:rPr>
              <a:t>German </a:t>
            </a:r>
            <a:r>
              <a:rPr sz="2600" spc="-120" dirty="0">
                <a:latin typeface="Times New Roman"/>
                <a:cs typeface="Times New Roman"/>
              </a:rPr>
              <a:t>Uboat </a:t>
            </a:r>
            <a:r>
              <a:rPr sz="2600" spc="-95" dirty="0">
                <a:latin typeface="Times New Roman"/>
                <a:cs typeface="Times New Roman"/>
              </a:rPr>
              <a:t>fleet </a:t>
            </a:r>
            <a:r>
              <a:rPr sz="2600" spc="-195" dirty="0">
                <a:latin typeface="Times New Roman"/>
                <a:cs typeface="Times New Roman"/>
              </a:rPr>
              <a:t>was  </a:t>
            </a:r>
            <a:r>
              <a:rPr sz="2600" spc="-130" dirty="0">
                <a:latin typeface="Times New Roman"/>
                <a:cs typeface="Times New Roman"/>
              </a:rPr>
              <a:t>decimating British </a:t>
            </a:r>
            <a:r>
              <a:rPr sz="2600" spc="-190" dirty="0">
                <a:latin typeface="Times New Roman"/>
                <a:cs typeface="Times New Roman"/>
              </a:rPr>
              <a:t>convoys </a:t>
            </a:r>
            <a:r>
              <a:rPr sz="2600" spc="-120" dirty="0">
                <a:latin typeface="Times New Roman"/>
                <a:cs typeface="Times New Roman"/>
              </a:rPr>
              <a:t>in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Atlantic.</a:t>
            </a:r>
            <a:endParaRPr sz="2600">
              <a:latin typeface="Times New Roman"/>
              <a:cs typeface="Times New Roman"/>
            </a:endParaRPr>
          </a:p>
          <a:p>
            <a:pPr marL="286385" marR="635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30" dirty="0">
                <a:latin typeface="Times New Roman"/>
                <a:cs typeface="Times New Roman"/>
              </a:rPr>
              <a:t>The Admiralty </a:t>
            </a:r>
            <a:r>
              <a:rPr sz="2600" spc="-114" dirty="0">
                <a:latin typeface="Times New Roman"/>
                <a:cs typeface="Times New Roman"/>
              </a:rPr>
              <a:t>desperately </a:t>
            </a:r>
            <a:r>
              <a:rPr sz="2600" spc="-105" dirty="0">
                <a:latin typeface="Times New Roman"/>
                <a:cs typeface="Times New Roman"/>
              </a:rPr>
              <a:t>needed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150" dirty="0">
                <a:latin typeface="Times New Roman"/>
                <a:cs typeface="Times New Roman"/>
              </a:rPr>
              <a:t>know </a:t>
            </a:r>
            <a:r>
              <a:rPr sz="2600" spc="-100" dirty="0">
                <a:latin typeface="Times New Roman"/>
                <a:cs typeface="Times New Roman"/>
              </a:rPr>
              <a:t>where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20" dirty="0">
                <a:latin typeface="Times New Roman"/>
                <a:cs typeface="Times New Roman"/>
              </a:rPr>
              <a:t>U-boats </a:t>
            </a:r>
            <a:r>
              <a:rPr sz="2600" spc="-75" dirty="0">
                <a:latin typeface="Times New Roman"/>
                <a:cs typeface="Times New Roman"/>
              </a:rPr>
              <a:t>were,  </a:t>
            </a:r>
            <a:r>
              <a:rPr sz="2600" spc="-145" dirty="0">
                <a:latin typeface="Times New Roman"/>
                <a:cs typeface="Times New Roman"/>
              </a:rPr>
              <a:t>and </a:t>
            </a:r>
            <a:r>
              <a:rPr sz="2600" spc="-114" dirty="0">
                <a:latin typeface="Times New Roman"/>
                <a:cs typeface="Times New Roman"/>
              </a:rPr>
              <a:t>this </a:t>
            </a:r>
            <a:r>
              <a:rPr sz="2600" spc="-120" dirty="0">
                <a:latin typeface="Times New Roman"/>
                <a:cs typeface="Times New Roman"/>
              </a:rPr>
              <a:t>could </a:t>
            </a:r>
            <a:r>
              <a:rPr sz="2600" spc="-150" dirty="0">
                <a:latin typeface="Times New Roman"/>
                <a:cs typeface="Times New Roman"/>
              </a:rPr>
              <a:t>only </a:t>
            </a:r>
            <a:r>
              <a:rPr sz="2600" spc="-120" dirty="0">
                <a:latin typeface="Times New Roman"/>
                <a:cs typeface="Times New Roman"/>
              </a:rPr>
              <a:t>be </a:t>
            </a:r>
            <a:r>
              <a:rPr sz="2600" spc="-155" dirty="0">
                <a:latin typeface="Times New Roman"/>
                <a:cs typeface="Times New Roman"/>
              </a:rPr>
              <a:t>achieved </a:t>
            </a:r>
            <a:r>
              <a:rPr sz="2600" spc="-200" dirty="0">
                <a:latin typeface="Times New Roman"/>
                <a:cs typeface="Times New Roman"/>
              </a:rPr>
              <a:t>by </a:t>
            </a:r>
            <a:r>
              <a:rPr sz="2600" spc="-85" dirty="0">
                <a:latin typeface="Times New Roman"/>
                <a:cs typeface="Times New Roman"/>
              </a:rPr>
              <a:t>intercepting </a:t>
            </a:r>
            <a:r>
              <a:rPr sz="2600" spc="-65" dirty="0">
                <a:latin typeface="Times New Roman"/>
                <a:cs typeface="Times New Roman"/>
              </a:rPr>
              <a:t>their  </a:t>
            </a:r>
            <a:r>
              <a:rPr sz="2600" spc="-120" dirty="0">
                <a:latin typeface="Times New Roman"/>
                <a:cs typeface="Times New Roman"/>
              </a:rPr>
              <a:t>communications.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950" algn="l"/>
              </a:tabLst>
            </a:pPr>
            <a:r>
              <a:rPr dirty="0"/>
              <a:t>	</a:t>
            </a:r>
            <a:r>
              <a:rPr sz="2600" spc="-150" dirty="0">
                <a:latin typeface="Times New Roman"/>
                <a:cs typeface="Times New Roman"/>
              </a:rPr>
              <a:t>In </a:t>
            </a:r>
            <a:r>
              <a:rPr sz="2600" spc="-125" dirty="0">
                <a:latin typeface="Times New Roman"/>
                <a:cs typeface="Times New Roman"/>
              </a:rPr>
              <a:t>Britain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25" dirty="0">
                <a:latin typeface="Times New Roman"/>
                <a:cs typeface="Times New Roman"/>
              </a:rPr>
              <a:t>code-breaking </a:t>
            </a:r>
            <a:r>
              <a:rPr sz="2600" spc="-120" dirty="0">
                <a:latin typeface="Times New Roman"/>
                <a:cs typeface="Times New Roman"/>
              </a:rPr>
              <a:t>work </a:t>
            </a:r>
            <a:r>
              <a:rPr sz="2600" spc="-190" dirty="0">
                <a:latin typeface="Times New Roman"/>
                <a:cs typeface="Times New Roman"/>
              </a:rPr>
              <a:t>was </a:t>
            </a:r>
            <a:r>
              <a:rPr sz="2600" spc="-114" dirty="0">
                <a:latin typeface="Times New Roman"/>
                <a:cs typeface="Times New Roman"/>
              </a:rPr>
              <a:t>done </a:t>
            </a:r>
            <a:r>
              <a:rPr sz="2600" spc="-100" dirty="0">
                <a:latin typeface="Times New Roman"/>
                <a:cs typeface="Times New Roman"/>
              </a:rPr>
              <a:t>at </a:t>
            </a:r>
            <a:r>
              <a:rPr sz="2600" spc="-145" dirty="0">
                <a:latin typeface="Times New Roman"/>
                <a:cs typeface="Times New Roman"/>
              </a:rPr>
              <a:t>Bletchley </a:t>
            </a:r>
            <a:r>
              <a:rPr sz="2600" spc="-90" dirty="0">
                <a:latin typeface="Times New Roman"/>
                <a:cs typeface="Times New Roman"/>
              </a:rPr>
              <a:t>Park,  </a:t>
            </a:r>
            <a:r>
              <a:rPr sz="2600" spc="-100" dirty="0">
                <a:latin typeface="Times New Roman"/>
                <a:cs typeface="Times New Roman"/>
              </a:rPr>
              <a:t>where </a:t>
            </a:r>
            <a:r>
              <a:rPr sz="2600" spc="-125" dirty="0">
                <a:latin typeface="Times New Roman"/>
                <a:cs typeface="Times New Roman"/>
              </a:rPr>
              <a:t>originally teams </a:t>
            </a:r>
            <a:r>
              <a:rPr sz="2600" spc="-155" dirty="0">
                <a:latin typeface="Times New Roman"/>
                <a:cs typeface="Times New Roman"/>
              </a:rPr>
              <a:t>of </a:t>
            </a:r>
            <a:r>
              <a:rPr sz="2600" spc="-105" dirty="0">
                <a:latin typeface="Times New Roman"/>
                <a:cs typeface="Times New Roman"/>
              </a:rPr>
              <a:t>people </a:t>
            </a:r>
            <a:r>
              <a:rPr sz="2600" spc="-120" dirty="0">
                <a:latin typeface="Times New Roman"/>
                <a:cs typeface="Times New Roman"/>
              </a:rPr>
              <a:t>worked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105" dirty="0">
                <a:latin typeface="Times New Roman"/>
                <a:cs typeface="Times New Roman"/>
              </a:rPr>
              <a:t>decipher</a:t>
            </a:r>
            <a:r>
              <a:rPr sz="2600" spc="21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messages.</a:t>
            </a:r>
            <a:endParaRPr sz="2600">
              <a:latin typeface="Times New Roman"/>
              <a:cs typeface="Times New Roman"/>
            </a:endParaRPr>
          </a:p>
          <a:p>
            <a:pPr marL="286385" marR="2095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361950" algn="l"/>
              </a:tabLst>
            </a:pPr>
            <a:r>
              <a:rPr dirty="0"/>
              <a:t>	</a:t>
            </a:r>
            <a:r>
              <a:rPr sz="2600" spc="-225" dirty="0">
                <a:latin typeface="Times New Roman"/>
                <a:cs typeface="Times New Roman"/>
              </a:rPr>
              <a:t>Many </a:t>
            </a:r>
            <a:r>
              <a:rPr sz="2600" spc="-114" dirty="0">
                <a:latin typeface="Times New Roman"/>
                <a:cs typeface="Times New Roman"/>
              </a:rPr>
              <a:t>did </a:t>
            </a:r>
            <a:r>
              <a:rPr sz="2600" spc="-65" dirty="0">
                <a:latin typeface="Times New Roman"/>
                <a:cs typeface="Times New Roman"/>
              </a:rPr>
              <a:t>not </a:t>
            </a:r>
            <a:r>
              <a:rPr sz="2600" spc="-95" dirty="0">
                <a:latin typeface="Times New Roman"/>
                <a:cs typeface="Times New Roman"/>
              </a:rPr>
              <a:t>understand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00" dirty="0">
                <a:latin typeface="Times New Roman"/>
                <a:cs typeface="Times New Roman"/>
              </a:rPr>
              <a:t>purpose </a:t>
            </a:r>
            <a:r>
              <a:rPr sz="2600" spc="-155" dirty="0">
                <a:latin typeface="Times New Roman"/>
                <a:cs typeface="Times New Roman"/>
              </a:rPr>
              <a:t>of </a:t>
            </a:r>
            <a:r>
              <a:rPr sz="2600" spc="-65" dirty="0">
                <a:latin typeface="Times New Roman"/>
                <a:cs typeface="Times New Roman"/>
              </a:rPr>
              <a:t>their </a:t>
            </a:r>
            <a:r>
              <a:rPr sz="2600" spc="-75" dirty="0">
                <a:latin typeface="Times New Roman"/>
                <a:cs typeface="Times New Roman"/>
              </a:rPr>
              <a:t>work, </a:t>
            </a:r>
            <a:r>
              <a:rPr sz="2600" spc="-204" dirty="0">
                <a:latin typeface="Times New Roman"/>
                <a:cs typeface="Times New Roman"/>
              </a:rPr>
              <a:t>as </a:t>
            </a:r>
            <a:r>
              <a:rPr sz="2600" spc="-120" dirty="0">
                <a:latin typeface="Times New Roman"/>
                <a:cs typeface="Times New Roman"/>
              </a:rPr>
              <a:t>they </a:t>
            </a:r>
            <a:r>
              <a:rPr sz="2600" spc="-150" dirty="0">
                <a:latin typeface="Times New Roman"/>
                <a:cs typeface="Times New Roman"/>
              </a:rPr>
              <a:t>only  </a:t>
            </a:r>
            <a:r>
              <a:rPr sz="2600" spc="-120" dirty="0">
                <a:latin typeface="Times New Roman"/>
                <a:cs typeface="Times New Roman"/>
              </a:rPr>
              <a:t>worked </a:t>
            </a:r>
            <a:r>
              <a:rPr sz="2600" spc="-110" dirty="0">
                <a:latin typeface="Times New Roman"/>
                <a:cs typeface="Times New Roman"/>
              </a:rPr>
              <a:t>on </a:t>
            </a:r>
            <a:r>
              <a:rPr sz="2600" spc="-150" dirty="0">
                <a:latin typeface="Times New Roman"/>
                <a:cs typeface="Times New Roman"/>
              </a:rPr>
              <a:t>small </a:t>
            </a:r>
            <a:r>
              <a:rPr sz="2600" spc="-70" dirty="0">
                <a:latin typeface="Times New Roman"/>
                <a:cs typeface="Times New Roman"/>
              </a:rPr>
              <a:t>parts </a:t>
            </a:r>
            <a:r>
              <a:rPr sz="2600" spc="-145" dirty="0">
                <a:latin typeface="Times New Roman"/>
                <a:cs typeface="Times New Roman"/>
              </a:rPr>
              <a:t>and </a:t>
            </a:r>
            <a:r>
              <a:rPr sz="2600" spc="-114" dirty="0">
                <a:latin typeface="Times New Roman"/>
                <a:cs typeface="Times New Roman"/>
              </a:rPr>
              <a:t>did </a:t>
            </a:r>
            <a:r>
              <a:rPr sz="2600" spc="-65" dirty="0">
                <a:latin typeface="Times New Roman"/>
                <a:cs typeface="Times New Roman"/>
              </a:rPr>
              <a:t>not </a:t>
            </a:r>
            <a:r>
              <a:rPr sz="2600" spc="-135" dirty="0">
                <a:latin typeface="Times New Roman"/>
                <a:cs typeface="Times New Roman"/>
              </a:rPr>
              <a:t>see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30" dirty="0">
                <a:latin typeface="Times New Roman"/>
                <a:cs typeface="Times New Roman"/>
              </a:rPr>
              <a:t>bigger</a:t>
            </a:r>
            <a:r>
              <a:rPr sz="2600" spc="29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picture.</a:t>
            </a:r>
            <a:endParaRPr sz="2600">
              <a:latin typeface="Times New Roman"/>
              <a:cs typeface="Times New Roman"/>
            </a:endParaRPr>
          </a:p>
          <a:p>
            <a:pPr marL="286385" marR="2159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60" dirty="0">
                <a:latin typeface="Times New Roman"/>
                <a:cs typeface="Times New Roman"/>
              </a:rPr>
              <a:t>They </a:t>
            </a:r>
            <a:r>
              <a:rPr sz="2600" spc="-100" dirty="0">
                <a:latin typeface="Times New Roman"/>
                <a:cs typeface="Times New Roman"/>
              </a:rPr>
              <a:t>just </a:t>
            </a:r>
            <a:r>
              <a:rPr sz="2600" spc="-114" dirty="0">
                <a:latin typeface="Times New Roman"/>
                <a:cs typeface="Times New Roman"/>
              </a:rPr>
              <a:t>did</a:t>
            </a:r>
            <a:r>
              <a:rPr sz="2600" spc="42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35" dirty="0">
                <a:latin typeface="Times New Roman"/>
                <a:cs typeface="Times New Roman"/>
              </a:rPr>
              <a:t>calculations </a:t>
            </a:r>
            <a:r>
              <a:rPr sz="2600" spc="-110" dirty="0">
                <a:latin typeface="Times New Roman"/>
                <a:cs typeface="Times New Roman"/>
              </a:rPr>
              <a:t>needed </a:t>
            </a:r>
            <a:r>
              <a:rPr sz="2600" spc="-200" dirty="0">
                <a:latin typeface="Times New Roman"/>
                <a:cs typeface="Times New Roman"/>
              </a:rPr>
              <a:t>by </a:t>
            </a:r>
            <a:r>
              <a:rPr sz="2600" spc="-145" dirty="0">
                <a:latin typeface="Times New Roman"/>
                <a:cs typeface="Times New Roman"/>
              </a:rPr>
              <a:t>blindly following </a:t>
            </a:r>
            <a:r>
              <a:rPr sz="2600" spc="-75" dirty="0">
                <a:latin typeface="Times New Roman"/>
                <a:cs typeface="Times New Roman"/>
              </a:rPr>
              <a:t>the  </a:t>
            </a:r>
            <a:r>
              <a:rPr sz="2600" spc="-95" dirty="0">
                <a:latin typeface="Times New Roman"/>
                <a:cs typeface="Times New Roman"/>
              </a:rPr>
              <a:t>instructions </a:t>
            </a:r>
            <a:r>
              <a:rPr sz="2600" spc="-120" dirty="0">
                <a:latin typeface="Times New Roman"/>
                <a:cs typeface="Times New Roman"/>
              </a:rPr>
              <a:t>they </a:t>
            </a:r>
            <a:r>
              <a:rPr sz="2600" spc="-105" dirty="0">
                <a:latin typeface="Times New Roman"/>
                <a:cs typeface="Times New Roman"/>
              </a:rPr>
              <a:t>were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given.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spc="-45" dirty="0">
                <a:latin typeface="Times New Roman"/>
                <a:cs typeface="Times New Roman"/>
              </a:rPr>
              <a:t>2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4171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Human-based</a:t>
            </a:r>
            <a:r>
              <a:rPr spc="-125" dirty="0"/>
              <a:t> </a:t>
            </a:r>
            <a:r>
              <a:rPr spc="-165" dirty="0"/>
              <a:t>computing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43967"/>
            <a:ext cx="43173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5" dirty="0"/>
              <a:t>Machine </a:t>
            </a:r>
            <a:r>
              <a:rPr spc="-210" dirty="0"/>
              <a:t>based</a:t>
            </a:r>
            <a:r>
              <a:rPr spc="35" dirty="0"/>
              <a:t> </a:t>
            </a:r>
            <a:r>
              <a:rPr spc="-170" dirty="0"/>
              <a:t>computing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9981" y="6482301"/>
            <a:ext cx="14097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sz="1100" spc="-45" dirty="0">
                <a:latin typeface="Times New Roman"/>
                <a:cs typeface="Times New Roman"/>
              </a:rPr>
              <a:t>3</a:t>
            </a:fld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28802"/>
            <a:ext cx="8541385" cy="523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1651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20" dirty="0">
                <a:latin typeface="Times New Roman"/>
                <a:cs typeface="Times New Roman"/>
              </a:rPr>
              <a:t>The </a:t>
            </a:r>
            <a:r>
              <a:rPr sz="2400" spc="-85" dirty="0">
                <a:latin typeface="Times New Roman"/>
                <a:cs typeface="Times New Roman"/>
              </a:rPr>
              <a:t>instructions </a:t>
            </a:r>
            <a:r>
              <a:rPr sz="2400" spc="-130" dirty="0">
                <a:latin typeface="Times New Roman"/>
                <a:cs typeface="Times New Roman"/>
              </a:rPr>
              <a:t>being </a:t>
            </a:r>
            <a:r>
              <a:rPr sz="2400" spc="-135" dirty="0">
                <a:latin typeface="Times New Roman"/>
                <a:cs typeface="Times New Roman"/>
              </a:rPr>
              <a:t>followed </a:t>
            </a:r>
            <a:r>
              <a:rPr sz="2400" spc="-105" dirty="0">
                <a:latin typeface="Times New Roman"/>
                <a:cs typeface="Times New Roman"/>
              </a:rPr>
              <a:t>were </a:t>
            </a:r>
            <a:r>
              <a:rPr sz="2400" spc="-135" dirty="0">
                <a:latin typeface="Times New Roman"/>
                <a:cs typeface="Times New Roman"/>
              </a:rPr>
              <a:t>devised </a:t>
            </a:r>
            <a:r>
              <a:rPr sz="2400" spc="-185" dirty="0">
                <a:latin typeface="Times New Roman"/>
                <a:cs typeface="Times New Roman"/>
              </a:rPr>
              <a:t>by </a:t>
            </a:r>
            <a:r>
              <a:rPr sz="2400" spc="-190" dirty="0">
                <a:latin typeface="Times New Roman"/>
                <a:cs typeface="Times New Roman"/>
              </a:rPr>
              <a:t>a </a:t>
            </a:r>
            <a:r>
              <a:rPr sz="2400" spc="-105" dirty="0">
                <a:latin typeface="Times New Roman"/>
                <a:cs typeface="Times New Roman"/>
              </a:rPr>
              <a:t>team </a:t>
            </a:r>
            <a:r>
              <a:rPr sz="2400" spc="-140" dirty="0">
                <a:latin typeface="Times New Roman"/>
                <a:cs typeface="Times New Roman"/>
              </a:rPr>
              <a:t>of Mathematicians  </a:t>
            </a:r>
            <a:r>
              <a:rPr sz="2400" spc="-100" dirty="0">
                <a:latin typeface="Times New Roman"/>
                <a:cs typeface="Times New Roman"/>
              </a:rPr>
              <a:t>led </a:t>
            </a:r>
            <a:r>
              <a:rPr sz="2400" spc="-185" dirty="0">
                <a:latin typeface="Times New Roman"/>
                <a:cs typeface="Times New Roman"/>
              </a:rPr>
              <a:t>by </a:t>
            </a:r>
            <a:r>
              <a:rPr sz="2400" spc="-180" dirty="0">
                <a:latin typeface="Times New Roman"/>
                <a:cs typeface="Times New Roman"/>
              </a:rPr>
              <a:t>Alan </a:t>
            </a:r>
            <a:r>
              <a:rPr sz="2400" spc="-110" dirty="0">
                <a:latin typeface="Times New Roman"/>
                <a:cs typeface="Times New Roman"/>
              </a:rPr>
              <a:t>Turing: </a:t>
            </a:r>
            <a:r>
              <a:rPr sz="2400" spc="-70" dirty="0">
                <a:latin typeface="Times New Roman"/>
                <a:cs typeface="Times New Roman"/>
              </a:rPr>
              <a:t>the </a:t>
            </a:r>
            <a:r>
              <a:rPr sz="2400" spc="-100" dirty="0">
                <a:latin typeface="Times New Roman"/>
                <a:cs typeface="Times New Roman"/>
              </a:rPr>
              <a:t>original </a:t>
            </a:r>
            <a:r>
              <a:rPr sz="2400" spc="-140" dirty="0">
                <a:latin typeface="Times New Roman"/>
                <a:cs typeface="Times New Roman"/>
              </a:rPr>
              <a:t>human </a:t>
            </a:r>
            <a:r>
              <a:rPr sz="2400" spc="-80" dirty="0">
                <a:latin typeface="Times New Roman"/>
                <a:cs typeface="Times New Roman"/>
              </a:rPr>
              <a:t>computer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programmers.</a:t>
            </a:r>
            <a:endParaRPr sz="2400">
              <a:latin typeface="Times New Roman"/>
              <a:cs typeface="Times New Roman"/>
            </a:endParaRPr>
          </a:p>
          <a:p>
            <a:pPr marL="318770" indent="-306705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318770" algn="l"/>
                <a:tab pos="319405" algn="l"/>
                <a:tab pos="1019810" algn="l"/>
                <a:tab pos="1387475" algn="l"/>
                <a:tab pos="2263775" algn="l"/>
                <a:tab pos="2797175" algn="l"/>
                <a:tab pos="3173730" algn="l"/>
                <a:tab pos="4551680" algn="l"/>
                <a:tab pos="5233035" algn="l"/>
                <a:tab pos="5789295" algn="l"/>
                <a:tab pos="6539230" algn="l"/>
                <a:tab pos="6969125" algn="l"/>
                <a:tab pos="7345680" algn="l"/>
                <a:tab pos="8170545" algn="l"/>
              </a:tabLst>
            </a:pPr>
            <a:r>
              <a:rPr sz="2400" spc="-150" dirty="0">
                <a:latin typeface="Times New Roman"/>
                <a:cs typeface="Times New Roman"/>
              </a:rPr>
              <a:t>They	</a:t>
            </a:r>
            <a:r>
              <a:rPr sz="2400" spc="-140" dirty="0">
                <a:latin typeface="Times New Roman"/>
                <a:cs typeface="Times New Roman"/>
              </a:rPr>
              <a:t>of	</a:t>
            </a:r>
            <a:r>
              <a:rPr sz="2400" spc="-95" dirty="0">
                <a:latin typeface="Times New Roman"/>
                <a:cs typeface="Times New Roman"/>
              </a:rPr>
              <a:t>course	</a:t>
            </a:r>
            <a:r>
              <a:rPr sz="2400" spc="-150" dirty="0">
                <a:latin typeface="Times New Roman"/>
                <a:cs typeface="Times New Roman"/>
              </a:rPr>
              <a:t>had	</a:t>
            </a:r>
            <a:r>
              <a:rPr sz="2400" spc="-40" dirty="0">
                <a:latin typeface="Times New Roman"/>
                <a:cs typeface="Times New Roman"/>
              </a:rPr>
              <a:t>to	</a:t>
            </a:r>
            <a:r>
              <a:rPr sz="2400" spc="-90" dirty="0">
                <a:latin typeface="Times New Roman"/>
                <a:cs typeface="Times New Roman"/>
              </a:rPr>
              <a:t>understand	</a:t>
            </a:r>
            <a:r>
              <a:rPr sz="2400" spc="-120" dirty="0">
                <a:latin typeface="Times New Roman"/>
                <a:cs typeface="Times New Roman"/>
              </a:rPr>
              <a:t>what	</a:t>
            </a:r>
            <a:r>
              <a:rPr sz="2400" spc="-185" dirty="0">
                <a:latin typeface="Times New Roman"/>
                <a:cs typeface="Times New Roman"/>
              </a:rPr>
              <a:t>was	</a:t>
            </a:r>
            <a:r>
              <a:rPr sz="2400" spc="-150" dirty="0">
                <a:latin typeface="Times New Roman"/>
                <a:cs typeface="Times New Roman"/>
              </a:rPr>
              <a:t>going	</a:t>
            </a:r>
            <a:r>
              <a:rPr sz="2400" spc="-100" dirty="0">
                <a:latin typeface="Times New Roman"/>
                <a:cs typeface="Times New Roman"/>
              </a:rPr>
              <a:t>on	</a:t>
            </a:r>
            <a:r>
              <a:rPr sz="2400" spc="-40" dirty="0">
                <a:latin typeface="Times New Roman"/>
                <a:cs typeface="Times New Roman"/>
              </a:rPr>
              <a:t>to	</a:t>
            </a:r>
            <a:r>
              <a:rPr sz="2400" spc="-140" dirty="0">
                <a:latin typeface="Times New Roman"/>
                <a:cs typeface="Times New Roman"/>
              </a:rPr>
              <a:t>devise	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400" spc="-75" dirty="0">
                <a:latin typeface="Times New Roman"/>
                <a:cs typeface="Times New Roman"/>
              </a:rPr>
              <a:t>instructions.</a:t>
            </a:r>
            <a:endParaRPr sz="2400">
              <a:latin typeface="Times New Roman"/>
              <a:cs typeface="Times New Roman"/>
            </a:endParaRPr>
          </a:p>
          <a:p>
            <a:pPr marL="286385" marR="18415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40" dirty="0">
                <a:latin typeface="Times New Roman"/>
                <a:cs typeface="Times New Roman"/>
              </a:rPr>
              <a:t>However, </a:t>
            </a:r>
            <a:r>
              <a:rPr sz="2400" spc="-70" dirty="0">
                <a:latin typeface="Times New Roman"/>
                <a:cs typeface="Times New Roman"/>
              </a:rPr>
              <a:t>the </a:t>
            </a:r>
            <a:r>
              <a:rPr sz="2400" spc="-180" dirty="0">
                <a:latin typeface="Times New Roman"/>
                <a:cs typeface="Times New Roman"/>
              </a:rPr>
              <a:t>mass </a:t>
            </a:r>
            <a:r>
              <a:rPr sz="2400" spc="-140" dirty="0">
                <a:latin typeface="Times New Roman"/>
                <a:cs typeface="Times New Roman"/>
              </a:rPr>
              <a:t>of </a:t>
            </a:r>
            <a:r>
              <a:rPr sz="2400" spc="-125" dirty="0">
                <a:latin typeface="Times New Roman"/>
                <a:cs typeface="Times New Roman"/>
              </a:rPr>
              <a:t>communications </a:t>
            </a:r>
            <a:r>
              <a:rPr sz="2400" spc="-80" dirty="0">
                <a:latin typeface="Times New Roman"/>
                <a:cs typeface="Times New Roman"/>
              </a:rPr>
              <a:t>that </a:t>
            </a:r>
            <a:r>
              <a:rPr sz="2400" spc="-105" dirty="0">
                <a:latin typeface="Times New Roman"/>
                <a:cs typeface="Times New Roman"/>
              </a:rPr>
              <a:t>were </a:t>
            </a:r>
            <a:r>
              <a:rPr sz="2400" spc="-130" dirty="0">
                <a:latin typeface="Times New Roman"/>
                <a:cs typeface="Times New Roman"/>
              </a:rPr>
              <a:t>being </a:t>
            </a:r>
            <a:r>
              <a:rPr sz="2400" spc="-70" dirty="0">
                <a:latin typeface="Times New Roman"/>
                <a:cs typeface="Times New Roman"/>
              </a:rPr>
              <a:t>intercepted </a:t>
            </a:r>
            <a:r>
              <a:rPr sz="2400" spc="-105" dirty="0">
                <a:latin typeface="Times New Roman"/>
                <a:cs typeface="Times New Roman"/>
              </a:rPr>
              <a:t>meant  </a:t>
            </a:r>
            <a:r>
              <a:rPr sz="2400" spc="-75" dirty="0">
                <a:latin typeface="Times New Roman"/>
                <a:cs typeface="Times New Roman"/>
              </a:rPr>
              <a:t>that </a:t>
            </a:r>
            <a:r>
              <a:rPr sz="2400" spc="-70" dirty="0">
                <a:latin typeface="Times New Roman"/>
                <a:cs typeface="Times New Roman"/>
              </a:rPr>
              <a:t>the </a:t>
            </a:r>
            <a:r>
              <a:rPr sz="2400" spc="-120" dirty="0">
                <a:latin typeface="Times New Roman"/>
                <a:cs typeface="Times New Roman"/>
              </a:rPr>
              <a:t>teams </a:t>
            </a:r>
            <a:r>
              <a:rPr sz="2400" spc="-140" dirty="0">
                <a:latin typeface="Times New Roman"/>
                <a:cs typeface="Times New Roman"/>
              </a:rPr>
              <a:t>of </a:t>
            </a:r>
            <a:r>
              <a:rPr sz="2400" spc="-100" dirty="0">
                <a:latin typeface="Times New Roman"/>
                <a:cs typeface="Times New Roman"/>
              </a:rPr>
              <a:t>people </a:t>
            </a:r>
            <a:r>
              <a:rPr sz="2400" spc="-110" dirty="0">
                <a:latin typeface="Times New Roman"/>
                <a:cs typeface="Times New Roman"/>
              </a:rPr>
              <a:t>could </a:t>
            </a:r>
            <a:r>
              <a:rPr sz="2400" spc="-55" dirty="0">
                <a:latin typeface="Times New Roman"/>
                <a:cs typeface="Times New Roman"/>
              </a:rPr>
              <a:t>not </a:t>
            </a:r>
            <a:r>
              <a:rPr sz="2400" spc="-114" dirty="0">
                <a:latin typeface="Times New Roman"/>
                <a:cs typeface="Times New Roman"/>
              </a:rPr>
              <a:t>work </a:t>
            </a:r>
            <a:r>
              <a:rPr sz="2400" spc="-135" dirty="0">
                <a:latin typeface="Times New Roman"/>
                <a:cs typeface="Times New Roman"/>
              </a:rPr>
              <a:t>fast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enough.</a:t>
            </a:r>
            <a:endParaRPr sz="2400">
              <a:latin typeface="Times New Roman"/>
              <a:cs typeface="Times New Roman"/>
            </a:endParaRPr>
          </a:p>
          <a:p>
            <a:pPr marL="286385" marR="15240" indent="-274320">
              <a:lnSpc>
                <a:spcPct val="10000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  <a:tab pos="1560830" algn="l"/>
                <a:tab pos="2708910" algn="l"/>
                <a:tab pos="3380740" algn="l"/>
                <a:tab pos="4472305" algn="l"/>
                <a:tab pos="5022850" algn="l"/>
                <a:tab pos="5766435" algn="l"/>
                <a:tab pos="6176010" algn="l"/>
                <a:tab pos="6886575" algn="l"/>
                <a:tab pos="7237095" algn="l"/>
                <a:tab pos="7714615" algn="l"/>
              </a:tabLst>
            </a:pPr>
            <a:r>
              <a:rPr dirty="0"/>
              <a:t>	</a:t>
            </a:r>
            <a:r>
              <a:rPr sz="2400" spc="-130" dirty="0">
                <a:latin typeface="Times New Roman"/>
                <a:cs typeface="Times New Roman"/>
              </a:rPr>
              <a:t>Gradually	</a:t>
            </a:r>
            <a:r>
              <a:rPr sz="2400" spc="-140" dirty="0">
                <a:latin typeface="Times New Roman"/>
                <a:cs typeface="Times New Roman"/>
              </a:rPr>
              <a:t>machines	</a:t>
            </a:r>
            <a:r>
              <a:rPr sz="2400" spc="-105" dirty="0">
                <a:latin typeface="Times New Roman"/>
                <a:cs typeface="Times New Roman"/>
              </a:rPr>
              <a:t>were	</a:t>
            </a:r>
            <a:r>
              <a:rPr sz="2400" spc="-125" dirty="0">
                <a:latin typeface="Times New Roman"/>
                <a:cs typeface="Times New Roman"/>
              </a:rPr>
              <a:t>designed	</a:t>
            </a:r>
            <a:r>
              <a:rPr sz="2400" spc="-75" dirty="0">
                <a:latin typeface="Times New Roman"/>
                <a:cs typeface="Times New Roman"/>
              </a:rPr>
              <a:t>that	</a:t>
            </a:r>
            <a:r>
              <a:rPr sz="2400" spc="-110" dirty="0">
                <a:latin typeface="Times New Roman"/>
                <a:cs typeface="Times New Roman"/>
              </a:rPr>
              <a:t>could	do	</a:t>
            </a:r>
            <a:r>
              <a:rPr sz="2400" spc="-130" dirty="0">
                <a:latin typeface="Times New Roman"/>
                <a:cs typeface="Times New Roman"/>
              </a:rPr>
              <a:t>some	</a:t>
            </a:r>
            <a:r>
              <a:rPr sz="2400" spc="-140" dirty="0">
                <a:latin typeface="Times New Roman"/>
                <a:cs typeface="Times New Roman"/>
              </a:rPr>
              <a:t>of	</a:t>
            </a:r>
            <a:r>
              <a:rPr sz="2400" spc="-70" dirty="0">
                <a:latin typeface="Times New Roman"/>
                <a:cs typeface="Times New Roman"/>
              </a:rPr>
              <a:t>the	routine</a:t>
            </a:r>
            <a:r>
              <a:rPr sz="2400" spc="-50" dirty="0">
                <a:latin typeface="Times New Roman"/>
                <a:cs typeface="Times New Roman"/>
              </a:rPr>
              <a:t> parts.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25" dirty="0">
                <a:latin typeface="Times New Roman"/>
                <a:cs typeface="Times New Roman"/>
              </a:rPr>
              <a:t>These </a:t>
            </a:r>
            <a:r>
              <a:rPr sz="2400" spc="-140" dirty="0">
                <a:latin typeface="Times New Roman"/>
                <a:cs typeface="Times New Roman"/>
              </a:rPr>
              <a:t>machines </a:t>
            </a:r>
            <a:r>
              <a:rPr sz="2400" spc="-105" dirty="0">
                <a:latin typeface="Times New Roman"/>
                <a:cs typeface="Times New Roman"/>
              </a:rPr>
              <a:t>were </a:t>
            </a:r>
            <a:r>
              <a:rPr sz="2400" spc="-70" dirty="0">
                <a:latin typeface="Times New Roman"/>
                <a:cs typeface="Times New Roman"/>
              </a:rPr>
              <a:t>the </a:t>
            </a:r>
            <a:r>
              <a:rPr sz="2400" spc="-75" dirty="0">
                <a:latin typeface="Times New Roman"/>
                <a:cs typeface="Times New Roman"/>
              </a:rPr>
              <a:t>precursors </a:t>
            </a:r>
            <a:r>
              <a:rPr sz="2400" spc="-40" dirty="0">
                <a:latin typeface="Times New Roman"/>
                <a:cs typeface="Times New Roman"/>
              </a:rPr>
              <a:t>to </a:t>
            </a:r>
            <a:r>
              <a:rPr sz="2400" spc="-70" dirty="0">
                <a:latin typeface="Times New Roman"/>
                <a:cs typeface="Times New Roman"/>
              </a:rPr>
              <a:t>the </a:t>
            </a:r>
            <a:r>
              <a:rPr sz="2400" spc="-80" dirty="0">
                <a:latin typeface="Times New Roman"/>
                <a:cs typeface="Times New Roman"/>
              </a:rPr>
              <a:t>modern computer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(Hodges,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400" spc="-60" dirty="0">
                <a:latin typeface="Times New Roman"/>
                <a:cs typeface="Times New Roman"/>
              </a:rPr>
              <a:t>1985).</a:t>
            </a:r>
            <a:endParaRPr sz="2400">
              <a:latin typeface="Times New Roman"/>
              <a:cs typeface="Times New Roman"/>
            </a:endParaRPr>
          </a:p>
          <a:p>
            <a:pPr marL="286385" marR="1778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40" dirty="0">
                <a:latin typeface="Times New Roman"/>
                <a:cs typeface="Times New Roman"/>
              </a:rPr>
              <a:t>Machine-based </a:t>
            </a:r>
            <a:r>
              <a:rPr sz="2400" spc="-85" dirty="0">
                <a:latin typeface="Times New Roman"/>
                <a:cs typeface="Times New Roman"/>
              </a:rPr>
              <a:t>computers </a:t>
            </a:r>
            <a:r>
              <a:rPr sz="2400" spc="-100" dirty="0">
                <a:latin typeface="Times New Roman"/>
                <a:cs typeface="Times New Roman"/>
              </a:rPr>
              <a:t>thus </a:t>
            </a:r>
            <a:r>
              <a:rPr sz="2400" spc="-95" dirty="0">
                <a:latin typeface="Times New Roman"/>
                <a:cs typeface="Times New Roman"/>
              </a:rPr>
              <a:t>just </a:t>
            </a:r>
            <a:r>
              <a:rPr sz="2400" spc="-80" dirty="0">
                <a:latin typeface="Times New Roman"/>
                <a:cs typeface="Times New Roman"/>
              </a:rPr>
              <a:t>took </a:t>
            </a:r>
            <a:r>
              <a:rPr sz="2400" spc="-125" dirty="0">
                <a:latin typeface="Times New Roman"/>
                <a:cs typeface="Times New Roman"/>
              </a:rPr>
              <a:t>over </a:t>
            </a:r>
            <a:r>
              <a:rPr sz="2400" spc="-70" dirty="0">
                <a:latin typeface="Times New Roman"/>
                <a:cs typeface="Times New Roman"/>
              </a:rPr>
              <a:t>the </a:t>
            </a:r>
            <a:r>
              <a:rPr sz="2400" spc="-125" dirty="0">
                <a:latin typeface="Times New Roman"/>
                <a:cs typeface="Times New Roman"/>
              </a:rPr>
              <a:t>things </a:t>
            </a:r>
            <a:r>
              <a:rPr sz="2400" spc="-75" dirty="0">
                <a:latin typeface="Times New Roman"/>
                <a:cs typeface="Times New Roman"/>
              </a:rPr>
              <a:t>that </a:t>
            </a:r>
            <a:r>
              <a:rPr sz="2400" spc="-135" dirty="0">
                <a:latin typeface="Times New Roman"/>
                <a:cs typeface="Times New Roman"/>
              </a:rPr>
              <a:t>human-based  </a:t>
            </a:r>
            <a:r>
              <a:rPr sz="2400" spc="-85" dirty="0">
                <a:latin typeface="Times New Roman"/>
                <a:cs typeface="Times New Roman"/>
              </a:rPr>
              <a:t>computers </a:t>
            </a:r>
            <a:r>
              <a:rPr sz="2400" spc="-150" dirty="0">
                <a:latin typeface="Times New Roman"/>
                <a:cs typeface="Times New Roman"/>
              </a:rPr>
              <a:t>had </a:t>
            </a:r>
            <a:r>
              <a:rPr sz="2400" spc="-130" dirty="0">
                <a:latin typeface="Times New Roman"/>
                <a:cs typeface="Times New Roman"/>
              </a:rPr>
              <a:t>previously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done.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90" dirty="0">
                <a:latin typeface="Times New Roman"/>
                <a:cs typeface="Times New Roman"/>
              </a:rPr>
              <a:t>Their </a:t>
            </a:r>
            <a:r>
              <a:rPr sz="2400" spc="-114" dirty="0">
                <a:latin typeface="Times New Roman"/>
                <a:cs typeface="Times New Roman"/>
              </a:rPr>
              <a:t>speed </a:t>
            </a:r>
            <a:r>
              <a:rPr sz="2400" spc="-135" dirty="0">
                <a:latin typeface="Times New Roman"/>
                <a:cs typeface="Times New Roman"/>
              </a:rPr>
              <a:t>and accuracy mean </a:t>
            </a:r>
            <a:r>
              <a:rPr sz="2400" spc="-114" dirty="0">
                <a:latin typeface="Times New Roman"/>
                <a:cs typeface="Times New Roman"/>
              </a:rPr>
              <a:t>they </a:t>
            </a:r>
            <a:r>
              <a:rPr sz="2400" spc="-150" dirty="0">
                <a:latin typeface="Times New Roman"/>
                <a:cs typeface="Times New Roman"/>
              </a:rPr>
              <a:t>can </a:t>
            </a:r>
            <a:r>
              <a:rPr sz="2400" spc="-100" dirty="0">
                <a:latin typeface="Times New Roman"/>
                <a:cs typeface="Times New Roman"/>
              </a:rPr>
              <a:t>tackle </a:t>
            </a:r>
            <a:r>
              <a:rPr sz="2400" spc="-120" dirty="0">
                <a:latin typeface="Times New Roman"/>
                <a:cs typeface="Times New Roman"/>
              </a:rPr>
              <a:t>bigger </a:t>
            </a:r>
            <a:r>
              <a:rPr sz="2400" spc="-110" dirty="0">
                <a:latin typeface="Times New Roman"/>
                <a:cs typeface="Times New Roman"/>
              </a:rPr>
              <a:t>problems </a:t>
            </a:r>
            <a:r>
              <a:rPr sz="2400" spc="-135" dirty="0">
                <a:latin typeface="Times New Roman"/>
                <a:cs typeface="Times New Roman"/>
              </a:rPr>
              <a:t>and</a:t>
            </a:r>
            <a:r>
              <a:rPr sz="2400" spc="-30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do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320" y="237820"/>
            <a:ext cx="2786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10" dirty="0"/>
              <a:t>Data </a:t>
            </a:r>
            <a:r>
              <a:rPr sz="4000" spc="-165" dirty="0"/>
              <a:t>around</a:t>
            </a:r>
            <a:r>
              <a:rPr sz="4000" spc="-75" dirty="0"/>
              <a:t> </a:t>
            </a:r>
            <a:r>
              <a:rPr sz="4000" spc="-240" dirty="0"/>
              <a:t>us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58520" y="1204721"/>
            <a:ext cx="4647565" cy="2556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"/>
              <a:tabLst>
                <a:tab pos="285750" algn="l"/>
              </a:tabLst>
            </a:pPr>
            <a:r>
              <a:rPr sz="2600" spc="-20" dirty="0">
                <a:latin typeface="Times New Roman"/>
                <a:cs typeface="Times New Roman"/>
              </a:rPr>
              <a:t>Our </a:t>
            </a:r>
            <a:r>
              <a:rPr sz="2600" spc="-105" dirty="0">
                <a:latin typeface="Times New Roman"/>
                <a:cs typeface="Times New Roman"/>
              </a:rPr>
              <a:t>world </a:t>
            </a:r>
            <a:r>
              <a:rPr sz="2600" spc="-160" dirty="0">
                <a:latin typeface="Times New Roman"/>
                <a:cs typeface="Times New Roman"/>
              </a:rPr>
              <a:t>is </a:t>
            </a:r>
            <a:r>
              <a:rPr sz="2600" spc="-145" dirty="0">
                <a:latin typeface="Times New Roman"/>
                <a:cs typeface="Times New Roman"/>
              </a:rPr>
              <a:t>made </a:t>
            </a:r>
            <a:r>
              <a:rPr sz="2600" spc="-155" dirty="0">
                <a:latin typeface="Times New Roman"/>
                <a:cs typeface="Times New Roman"/>
              </a:rPr>
              <a:t>of </a:t>
            </a:r>
            <a:r>
              <a:rPr sz="2600" spc="-145" dirty="0">
                <a:latin typeface="Times New Roman"/>
                <a:cs typeface="Times New Roman"/>
              </a:rPr>
              <a:t>all </a:t>
            </a:r>
            <a:r>
              <a:rPr sz="2600" spc="-140" dirty="0">
                <a:latin typeface="Times New Roman"/>
                <a:cs typeface="Times New Roman"/>
              </a:rPr>
              <a:t>kinds </a:t>
            </a:r>
            <a:r>
              <a:rPr sz="2600" spc="-355" dirty="0">
                <a:latin typeface="Times New Roman"/>
                <a:cs typeface="Times New Roman"/>
              </a:rPr>
              <a:t>of  </a:t>
            </a:r>
            <a:r>
              <a:rPr sz="2600" spc="-114" dirty="0">
                <a:latin typeface="Times New Roman"/>
                <a:cs typeface="Times New Roman"/>
              </a:rPr>
              <a:t>objects </a:t>
            </a:r>
            <a:r>
              <a:rPr sz="2600" spc="-45" dirty="0">
                <a:latin typeface="Times New Roman"/>
                <a:cs typeface="Times New Roman"/>
              </a:rPr>
              <a:t>or </a:t>
            </a:r>
            <a:r>
              <a:rPr sz="2600" spc="-130" dirty="0">
                <a:latin typeface="Times New Roman"/>
                <a:cs typeface="Times New Roman"/>
              </a:rPr>
              <a:t>things </a:t>
            </a:r>
            <a:r>
              <a:rPr sz="2600" spc="-85" dirty="0">
                <a:latin typeface="Times New Roman"/>
                <a:cs typeface="Times New Roman"/>
              </a:rPr>
              <a:t>that </a:t>
            </a:r>
            <a:r>
              <a:rPr sz="2600" spc="-165" dirty="0">
                <a:latin typeface="Times New Roman"/>
                <a:cs typeface="Times New Roman"/>
              </a:rPr>
              <a:t>we </a:t>
            </a:r>
            <a:r>
              <a:rPr sz="2600" spc="-135" dirty="0">
                <a:latin typeface="Times New Roman"/>
                <a:cs typeface="Times New Roman"/>
              </a:rPr>
              <a:t>like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125" dirty="0">
                <a:latin typeface="Times New Roman"/>
                <a:cs typeface="Times New Roman"/>
              </a:rPr>
              <a:t>be  </a:t>
            </a:r>
            <a:r>
              <a:rPr sz="2600" spc="-105" dirty="0">
                <a:latin typeface="Times New Roman"/>
                <a:cs typeface="Times New Roman"/>
              </a:rPr>
              <a:t>informed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of.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"/>
            </a:pPr>
            <a:endParaRPr sz="3750">
              <a:latin typeface="Times New Roman"/>
              <a:cs typeface="Times New Roman"/>
            </a:endParaRPr>
          </a:p>
          <a:p>
            <a:pPr marL="285115" marR="5080" indent="-273050" algn="just">
              <a:lnSpc>
                <a:spcPct val="100000"/>
              </a:lnSpc>
              <a:buSzPct val="84615"/>
              <a:buFont typeface="Arial"/>
              <a:buChar char=""/>
              <a:tabLst>
                <a:tab pos="285750" algn="l"/>
              </a:tabLst>
            </a:pPr>
            <a:r>
              <a:rPr sz="2600" spc="-190" dirty="0">
                <a:latin typeface="Times New Roman"/>
                <a:cs typeface="Times New Roman"/>
              </a:rPr>
              <a:t>Each </a:t>
            </a:r>
            <a:r>
              <a:rPr sz="2600" spc="-100" dirty="0">
                <a:latin typeface="Times New Roman"/>
                <a:cs typeface="Times New Roman"/>
              </a:rPr>
              <a:t>object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10" dirty="0">
                <a:latin typeface="Times New Roman"/>
                <a:cs typeface="Times New Roman"/>
              </a:rPr>
              <a:t>described </a:t>
            </a:r>
            <a:r>
              <a:rPr sz="2600" spc="-200" dirty="0">
                <a:latin typeface="Times New Roman"/>
                <a:cs typeface="Times New Roman"/>
              </a:rPr>
              <a:t>by </a:t>
            </a:r>
            <a:r>
              <a:rPr sz="2600" spc="-610" dirty="0">
                <a:latin typeface="Times New Roman"/>
                <a:cs typeface="Times New Roman"/>
              </a:rPr>
              <a:t>a  </a:t>
            </a:r>
            <a:r>
              <a:rPr sz="2600" spc="-100" dirty="0">
                <a:latin typeface="Times New Roman"/>
                <a:cs typeface="Times New Roman"/>
              </a:rPr>
              <a:t>number </a:t>
            </a:r>
            <a:r>
              <a:rPr sz="2600" spc="-155" dirty="0">
                <a:latin typeface="Times New Roman"/>
                <a:cs typeface="Times New Roman"/>
              </a:rPr>
              <a:t>of </a:t>
            </a:r>
            <a:r>
              <a:rPr sz="2600" spc="-80" dirty="0">
                <a:latin typeface="Times New Roman"/>
                <a:cs typeface="Times New Roman"/>
              </a:rPr>
              <a:t>attributes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(</a:t>
            </a:r>
            <a:r>
              <a:rPr sz="2600" i="1" spc="-215" dirty="0">
                <a:latin typeface="Times New Roman"/>
                <a:cs typeface="Times New Roman"/>
              </a:rPr>
              <a:t>characteristics</a:t>
            </a:r>
            <a:r>
              <a:rPr sz="2600" spc="-215" dirty="0">
                <a:latin typeface="Times New Roman"/>
                <a:cs typeface="Times New Roman"/>
              </a:rPr>
              <a:t>).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8520" y="4283709"/>
            <a:ext cx="4646930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</a:pPr>
            <a:r>
              <a:rPr sz="2200" spc="-570" dirty="0">
                <a:latin typeface="Arial"/>
                <a:cs typeface="Arial"/>
              </a:rPr>
              <a:t> </a:t>
            </a:r>
            <a:r>
              <a:rPr sz="2600" spc="-190" dirty="0">
                <a:latin typeface="Times New Roman"/>
                <a:cs typeface="Times New Roman"/>
              </a:rPr>
              <a:t>Each </a:t>
            </a:r>
            <a:r>
              <a:rPr sz="2600" spc="-65" dirty="0">
                <a:latin typeface="Times New Roman"/>
                <a:cs typeface="Times New Roman"/>
              </a:rPr>
              <a:t>attribute </a:t>
            </a:r>
            <a:r>
              <a:rPr sz="2600" spc="-160" dirty="0">
                <a:latin typeface="Times New Roman"/>
                <a:cs typeface="Times New Roman"/>
              </a:rPr>
              <a:t>can </a:t>
            </a:r>
            <a:r>
              <a:rPr sz="2600" spc="-204" dirty="0">
                <a:latin typeface="Times New Roman"/>
                <a:cs typeface="Times New Roman"/>
              </a:rPr>
              <a:t>have a </a:t>
            </a:r>
            <a:r>
              <a:rPr sz="2600" spc="-160" dirty="0">
                <a:latin typeface="Times New Roman"/>
                <a:cs typeface="Times New Roman"/>
              </a:rPr>
              <a:t>value </a:t>
            </a:r>
            <a:r>
              <a:rPr sz="2600" spc="-270" dirty="0">
                <a:latin typeface="Times New Roman"/>
                <a:cs typeface="Times New Roman"/>
              </a:rPr>
              <a:t>and  </a:t>
            </a:r>
            <a:r>
              <a:rPr sz="2600" spc="-80" dirty="0">
                <a:latin typeface="Times New Roman"/>
                <a:cs typeface="Times New Roman"/>
              </a:rPr>
              <a:t>that </a:t>
            </a:r>
            <a:r>
              <a:rPr sz="2600" spc="-160" dirty="0">
                <a:latin typeface="Times New Roman"/>
                <a:cs typeface="Times New Roman"/>
              </a:rPr>
              <a:t>value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data.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8775" y="5956808"/>
            <a:ext cx="5928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 indent="-334010">
              <a:lnSpc>
                <a:spcPct val="100000"/>
              </a:lnSpc>
              <a:spcBef>
                <a:spcPts val="100"/>
              </a:spcBef>
              <a:buSzPct val="108333"/>
              <a:buFont typeface="Wingdings"/>
              <a:buChar char=""/>
              <a:tabLst>
                <a:tab pos="346710" algn="l"/>
              </a:tabLst>
            </a:pPr>
            <a:r>
              <a:rPr sz="2400" i="1" spc="-190" dirty="0">
                <a:latin typeface="Times New Roman"/>
                <a:cs typeface="Times New Roman"/>
              </a:rPr>
              <a:t>In the </a:t>
            </a:r>
            <a:r>
              <a:rPr sz="2400" i="1" spc="-235" dirty="0">
                <a:latin typeface="Times New Roman"/>
                <a:cs typeface="Times New Roman"/>
              </a:rPr>
              <a:t>given </a:t>
            </a:r>
            <a:r>
              <a:rPr sz="2400" i="1" spc="-225" dirty="0">
                <a:latin typeface="Times New Roman"/>
                <a:cs typeface="Times New Roman"/>
              </a:rPr>
              <a:t>example, </a:t>
            </a:r>
            <a:r>
              <a:rPr sz="2400" i="1" spc="-315" dirty="0">
                <a:latin typeface="Times New Roman"/>
                <a:cs typeface="Times New Roman"/>
              </a:rPr>
              <a:t>how </a:t>
            </a:r>
            <a:r>
              <a:rPr sz="2400" i="1" spc="-265" dirty="0">
                <a:latin typeface="Times New Roman"/>
                <a:cs typeface="Times New Roman"/>
              </a:rPr>
              <a:t>many </a:t>
            </a:r>
            <a:r>
              <a:rPr sz="2400" i="1" spc="-225" dirty="0">
                <a:latin typeface="Times New Roman"/>
                <a:cs typeface="Times New Roman"/>
              </a:rPr>
              <a:t>types </a:t>
            </a:r>
            <a:r>
              <a:rPr sz="2400" i="1" spc="-210" dirty="0">
                <a:latin typeface="Times New Roman"/>
                <a:cs typeface="Times New Roman"/>
              </a:rPr>
              <a:t>of data </a:t>
            </a:r>
            <a:r>
              <a:rPr sz="2400" i="1" spc="-290" dirty="0">
                <a:latin typeface="Times New Roman"/>
                <a:cs typeface="Times New Roman"/>
              </a:rPr>
              <a:t>do </a:t>
            </a:r>
            <a:r>
              <a:rPr sz="2400" i="1" spc="-254" dirty="0">
                <a:latin typeface="Times New Roman"/>
                <a:cs typeface="Times New Roman"/>
              </a:rPr>
              <a:t>you </a:t>
            </a:r>
            <a:r>
              <a:rPr sz="2400" i="1" spc="-355" dirty="0">
                <a:latin typeface="Times New Roman"/>
                <a:cs typeface="Times New Roman"/>
              </a:rPr>
              <a:t>see?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6736" y="1173480"/>
            <a:ext cx="3293799" cy="2712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261228" y="4035933"/>
            <a:ext cx="3649979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7890" algn="l"/>
                <a:tab pos="1402715" algn="l"/>
                <a:tab pos="2333625" algn="l"/>
              </a:tabLst>
            </a:pPr>
            <a:r>
              <a:rPr sz="2000" spc="-90" dirty="0">
                <a:latin typeface="Times New Roman"/>
                <a:cs typeface="Times New Roman"/>
              </a:rPr>
              <a:t>Figure:	</a:t>
            </a:r>
            <a:r>
              <a:rPr sz="2000" spc="-175" dirty="0">
                <a:latin typeface="Times New Roman"/>
                <a:cs typeface="Times New Roman"/>
              </a:rPr>
              <a:t>An	</a:t>
            </a:r>
            <a:r>
              <a:rPr sz="2000" spc="-170" dirty="0">
                <a:latin typeface="Arial"/>
                <a:cs typeface="Arial"/>
              </a:rPr>
              <a:t>object’s	</a:t>
            </a:r>
            <a:r>
              <a:rPr sz="2000" spc="-85" dirty="0">
                <a:latin typeface="Times New Roman"/>
                <a:cs typeface="Times New Roman"/>
              </a:rPr>
              <a:t>characteristics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0" dirty="0">
                <a:latin typeface="Times New Roman"/>
                <a:cs typeface="Times New Roman"/>
              </a:rPr>
              <a:t>become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815" y="237820"/>
            <a:ext cx="3958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10" dirty="0"/>
              <a:t>Data </a:t>
            </a:r>
            <a:r>
              <a:rPr sz="4000" spc="-220" dirty="0"/>
              <a:t>and</a:t>
            </a:r>
            <a:r>
              <a:rPr sz="4000" spc="-65" dirty="0"/>
              <a:t> </a:t>
            </a:r>
            <a:r>
              <a:rPr sz="4000" spc="-165" dirty="0"/>
              <a:t>Information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4428744" y="204215"/>
            <a:ext cx="4473140" cy="1345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6049" y="1456156"/>
            <a:ext cx="8537575" cy="49383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685" algn="just">
              <a:lnSpc>
                <a:spcPct val="100000"/>
              </a:lnSpc>
              <a:spcBef>
                <a:spcPts val="700"/>
              </a:spcBef>
              <a:buSzPct val="84375"/>
              <a:buFont typeface="Arial"/>
              <a:buChar char=""/>
              <a:tabLst>
                <a:tab pos="286385" algn="l"/>
              </a:tabLst>
            </a:pPr>
            <a:r>
              <a:rPr sz="3200" spc="-145" dirty="0">
                <a:latin typeface="Times New Roman"/>
                <a:cs typeface="Times New Roman"/>
              </a:rPr>
              <a:t>Data- </a:t>
            </a:r>
            <a:r>
              <a:rPr sz="3200" spc="-254" dirty="0">
                <a:latin typeface="Times New Roman"/>
                <a:cs typeface="Times New Roman"/>
              </a:rPr>
              <a:t>Raw </a:t>
            </a:r>
            <a:r>
              <a:rPr sz="3200" spc="-155" dirty="0">
                <a:latin typeface="Times New Roman"/>
                <a:cs typeface="Times New Roman"/>
              </a:rPr>
              <a:t>unorganized </a:t>
            </a:r>
            <a:r>
              <a:rPr sz="3200" spc="-185" dirty="0">
                <a:latin typeface="Times New Roman"/>
                <a:cs typeface="Times New Roman"/>
              </a:rPr>
              <a:t>facts </a:t>
            </a:r>
            <a:r>
              <a:rPr sz="3200" spc="-100" dirty="0">
                <a:latin typeface="Times New Roman"/>
                <a:cs typeface="Times New Roman"/>
              </a:rPr>
              <a:t>that </a:t>
            </a:r>
            <a:r>
              <a:rPr sz="3200" spc="-135" dirty="0">
                <a:latin typeface="Times New Roman"/>
                <a:cs typeface="Times New Roman"/>
              </a:rPr>
              <a:t>need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145" dirty="0">
                <a:latin typeface="Times New Roman"/>
                <a:cs typeface="Times New Roman"/>
              </a:rPr>
              <a:t>be</a:t>
            </a:r>
            <a:r>
              <a:rPr sz="3200" spc="425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processes.</a:t>
            </a:r>
            <a:endParaRPr sz="3200">
              <a:latin typeface="Times New Roman"/>
              <a:cs typeface="Times New Roman"/>
            </a:endParaRPr>
          </a:p>
          <a:p>
            <a:pPr marL="285750" marR="20320" indent="-273685" algn="just">
              <a:lnSpc>
                <a:spcPct val="100000"/>
              </a:lnSpc>
              <a:spcBef>
                <a:spcPts val="600"/>
              </a:spcBef>
              <a:buSzPct val="84375"/>
              <a:buFont typeface="Arial"/>
              <a:buChar char=""/>
              <a:tabLst>
                <a:tab pos="286385" algn="l"/>
              </a:tabLst>
            </a:pPr>
            <a:r>
              <a:rPr sz="3200" spc="-100" dirty="0">
                <a:latin typeface="Times New Roman"/>
                <a:cs typeface="Times New Roman"/>
              </a:rPr>
              <a:t>It </a:t>
            </a:r>
            <a:r>
              <a:rPr sz="3200" spc="-195" dirty="0">
                <a:latin typeface="Times New Roman"/>
                <a:cs typeface="Times New Roman"/>
              </a:rPr>
              <a:t>can </a:t>
            </a:r>
            <a:r>
              <a:rPr sz="3200" spc="-145" dirty="0">
                <a:latin typeface="Times New Roman"/>
                <a:cs typeface="Times New Roman"/>
              </a:rPr>
              <a:t>be </a:t>
            </a:r>
            <a:r>
              <a:rPr sz="3200" spc="-155" dirty="0">
                <a:latin typeface="Times New Roman"/>
                <a:cs typeface="Times New Roman"/>
              </a:rPr>
              <a:t>something </a:t>
            </a:r>
            <a:r>
              <a:rPr sz="3200" spc="-130" dirty="0">
                <a:latin typeface="Times New Roman"/>
                <a:cs typeface="Times New Roman"/>
              </a:rPr>
              <a:t>simple, </a:t>
            </a:r>
            <a:r>
              <a:rPr sz="3200" spc="-190" dirty="0">
                <a:latin typeface="Times New Roman"/>
                <a:cs typeface="Times New Roman"/>
              </a:rPr>
              <a:t>seemingly</a:t>
            </a:r>
            <a:r>
              <a:rPr sz="3200" spc="420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random </a:t>
            </a:r>
            <a:r>
              <a:rPr sz="3200" spc="-340" dirty="0">
                <a:latin typeface="Times New Roman"/>
                <a:cs typeface="Times New Roman"/>
              </a:rPr>
              <a:t>and  </a:t>
            </a:r>
            <a:r>
              <a:rPr sz="3200" spc="-180" dirty="0">
                <a:latin typeface="Times New Roman"/>
                <a:cs typeface="Times New Roman"/>
              </a:rPr>
              <a:t>useless </a:t>
            </a:r>
            <a:r>
              <a:rPr sz="3200" spc="-105" dirty="0">
                <a:latin typeface="Times New Roman"/>
                <a:cs typeface="Times New Roman"/>
              </a:rPr>
              <a:t>until </a:t>
            </a:r>
            <a:r>
              <a:rPr sz="3200" spc="-60" dirty="0">
                <a:latin typeface="Times New Roman"/>
                <a:cs typeface="Times New Roman"/>
              </a:rPr>
              <a:t>it </a:t>
            </a:r>
            <a:r>
              <a:rPr sz="3200" spc="-204" dirty="0">
                <a:latin typeface="Times New Roman"/>
                <a:cs typeface="Times New Roman"/>
              </a:rPr>
              <a:t>is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organized.</a:t>
            </a:r>
            <a:endParaRPr sz="320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600"/>
              </a:spcBef>
            </a:pPr>
            <a:r>
              <a:rPr sz="3200" i="1" spc="-385" dirty="0">
                <a:latin typeface="Times New Roman"/>
                <a:cs typeface="Times New Roman"/>
              </a:rPr>
              <a:t>Each </a:t>
            </a:r>
            <a:r>
              <a:rPr sz="3200" i="1" spc="-310" dirty="0">
                <a:latin typeface="Times New Roman"/>
                <a:cs typeface="Times New Roman"/>
              </a:rPr>
              <a:t>student’s </a:t>
            </a:r>
            <a:r>
              <a:rPr sz="3200" i="1" spc="-215" dirty="0">
                <a:latin typeface="Times New Roman"/>
                <a:cs typeface="Times New Roman"/>
              </a:rPr>
              <a:t>text </a:t>
            </a:r>
            <a:r>
              <a:rPr sz="3200" i="1" spc="-425" dirty="0">
                <a:latin typeface="Times New Roman"/>
                <a:cs typeface="Times New Roman"/>
              </a:rPr>
              <a:t>score </a:t>
            </a:r>
            <a:r>
              <a:rPr sz="3200" i="1" spc="-285" dirty="0">
                <a:latin typeface="Times New Roman"/>
                <a:cs typeface="Times New Roman"/>
              </a:rPr>
              <a:t>is </a:t>
            </a:r>
            <a:r>
              <a:rPr sz="3200" i="1" spc="-375" dirty="0">
                <a:latin typeface="Times New Roman"/>
                <a:cs typeface="Times New Roman"/>
              </a:rPr>
              <a:t>one </a:t>
            </a:r>
            <a:r>
              <a:rPr sz="3200" i="1" spc="-350" dirty="0">
                <a:latin typeface="Times New Roman"/>
                <a:cs typeface="Times New Roman"/>
              </a:rPr>
              <a:t>piece </a:t>
            </a:r>
            <a:r>
              <a:rPr sz="3200" i="1" spc="-275" dirty="0">
                <a:latin typeface="Times New Roman"/>
                <a:cs typeface="Times New Roman"/>
              </a:rPr>
              <a:t>of</a:t>
            </a:r>
            <a:r>
              <a:rPr sz="3200" i="1" spc="-445" dirty="0">
                <a:latin typeface="Times New Roman"/>
                <a:cs typeface="Times New Roman"/>
              </a:rPr>
              <a:t> </a:t>
            </a:r>
            <a:r>
              <a:rPr sz="3200" i="1" spc="-215" dirty="0">
                <a:latin typeface="Times New Roman"/>
                <a:cs typeface="Times New Roman"/>
              </a:rPr>
              <a:t>data.</a:t>
            </a:r>
            <a:endParaRPr sz="3200">
              <a:latin typeface="Times New Roman"/>
              <a:cs typeface="Times New Roman"/>
            </a:endParaRPr>
          </a:p>
          <a:p>
            <a:pPr marL="285750" marR="5080" indent="-273685" algn="just">
              <a:lnSpc>
                <a:spcPct val="100000"/>
              </a:lnSpc>
              <a:spcBef>
                <a:spcPts val="600"/>
              </a:spcBef>
              <a:buSzPct val="84375"/>
              <a:buFont typeface="Arial"/>
              <a:buChar char=""/>
              <a:tabLst>
                <a:tab pos="286385" algn="l"/>
              </a:tabLst>
            </a:pPr>
            <a:r>
              <a:rPr sz="3200" spc="-140" dirty="0">
                <a:latin typeface="Times New Roman"/>
                <a:cs typeface="Times New Roman"/>
              </a:rPr>
              <a:t>Information-Data </a:t>
            </a:r>
            <a:r>
              <a:rPr sz="3200" spc="-155" dirty="0">
                <a:latin typeface="Times New Roman"/>
                <a:cs typeface="Times New Roman"/>
              </a:rPr>
              <a:t>when </a:t>
            </a:r>
            <a:r>
              <a:rPr sz="3200" spc="-120" dirty="0">
                <a:latin typeface="Times New Roman"/>
                <a:cs typeface="Times New Roman"/>
              </a:rPr>
              <a:t>processed, </a:t>
            </a:r>
            <a:r>
              <a:rPr sz="3200" spc="-180" dirty="0">
                <a:latin typeface="Times New Roman"/>
                <a:cs typeface="Times New Roman"/>
              </a:rPr>
              <a:t>organized,  </a:t>
            </a:r>
            <a:r>
              <a:rPr sz="3200" spc="-75" dirty="0">
                <a:latin typeface="Times New Roman"/>
                <a:cs typeface="Times New Roman"/>
              </a:rPr>
              <a:t>structured </a:t>
            </a:r>
            <a:r>
              <a:rPr sz="3200" spc="-55" dirty="0">
                <a:latin typeface="Times New Roman"/>
                <a:cs typeface="Times New Roman"/>
              </a:rPr>
              <a:t>or </a:t>
            </a:r>
            <a:r>
              <a:rPr sz="3200" spc="-110" dirty="0">
                <a:latin typeface="Times New Roman"/>
                <a:cs typeface="Times New Roman"/>
              </a:rPr>
              <a:t>presented </a:t>
            </a:r>
            <a:r>
              <a:rPr sz="3200" spc="-145" dirty="0">
                <a:latin typeface="Times New Roman"/>
                <a:cs typeface="Times New Roman"/>
              </a:rPr>
              <a:t>in </a:t>
            </a:r>
            <a:r>
              <a:rPr sz="3200" spc="-254" dirty="0">
                <a:latin typeface="Times New Roman"/>
                <a:cs typeface="Times New Roman"/>
              </a:rPr>
              <a:t>a </a:t>
            </a:r>
            <a:r>
              <a:rPr sz="3200" spc="-190" dirty="0">
                <a:latin typeface="Times New Roman"/>
                <a:cs typeface="Times New Roman"/>
              </a:rPr>
              <a:t>given </a:t>
            </a:r>
            <a:r>
              <a:rPr sz="3200" spc="-90" dirty="0">
                <a:latin typeface="Times New Roman"/>
                <a:cs typeface="Times New Roman"/>
              </a:rPr>
              <a:t>context </a:t>
            </a:r>
            <a:r>
              <a:rPr sz="3200" spc="-185" dirty="0">
                <a:latin typeface="Times New Roman"/>
                <a:cs typeface="Times New Roman"/>
              </a:rPr>
              <a:t>so </a:t>
            </a:r>
            <a:r>
              <a:rPr sz="3200" spc="-245" dirty="0">
                <a:latin typeface="Times New Roman"/>
                <a:cs typeface="Times New Roman"/>
              </a:rPr>
              <a:t>as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204" dirty="0">
                <a:latin typeface="Times New Roman"/>
                <a:cs typeface="Times New Roman"/>
              </a:rPr>
              <a:t>make  </a:t>
            </a:r>
            <a:r>
              <a:rPr sz="3200" spc="-60" dirty="0">
                <a:latin typeface="Times New Roman"/>
                <a:cs typeface="Times New Roman"/>
              </a:rPr>
              <a:t>it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useful.</a:t>
            </a:r>
            <a:endParaRPr sz="3200">
              <a:latin typeface="Times New Roman"/>
              <a:cs typeface="Times New Roman"/>
            </a:endParaRPr>
          </a:p>
          <a:p>
            <a:pPr marL="462280" algn="just">
              <a:lnSpc>
                <a:spcPct val="100000"/>
              </a:lnSpc>
              <a:spcBef>
                <a:spcPts val="600"/>
              </a:spcBef>
            </a:pPr>
            <a:r>
              <a:rPr sz="3200" i="1" spc="-440" dirty="0">
                <a:latin typeface="Times New Roman"/>
                <a:cs typeface="Times New Roman"/>
              </a:rPr>
              <a:t>Average </a:t>
            </a:r>
            <a:r>
              <a:rPr sz="3200" i="1" spc="-425" dirty="0">
                <a:latin typeface="Times New Roman"/>
                <a:cs typeface="Times New Roman"/>
              </a:rPr>
              <a:t>score </a:t>
            </a:r>
            <a:r>
              <a:rPr sz="3200" i="1" spc="-275" dirty="0">
                <a:latin typeface="Times New Roman"/>
                <a:cs typeface="Times New Roman"/>
              </a:rPr>
              <a:t>of </a:t>
            </a:r>
            <a:r>
              <a:rPr sz="3200" i="1" spc="-335" dirty="0">
                <a:latin typeface="Times New Roman"/>
                <a:cs typeface="Times New Roman"/>
              </a:rPr>
              <a:t>a </a:t>
            </a:r>
            <a:r>
              <a:rPr sz="3200" i="1" spc="-360" dirty="0">
                <a:latin typeface="Times New Roman"/>
                <a:cs typeface="Times New Roman"/>
              </a:rPr>
              <a:t>class </a:t>
            </a:r>
            <a:r>
              <a:rPr sz="3200" i="1" spc="-295" dirty="0">
                <a:latin typeface="Times New Roman"/>
                <a:cs typeface="Times New Roman"/>
              </a:rPr>
              <a:t>department </a:t>
            </a:r>
            <a:r>
              <a:rPr sz="3200" i="1" spc="-325" dirty="0">
                <a:latin typeface="Times New Roman"/>
                <a:cs typeface="Times New Roman"/>
              </a:rPr>
              <a:t>derived </a:t>
            </a:r>
            <a:r>
              <a:rPr sz="3200" i="1" spc="-350" dirty="0">
                <a:latin typeface="Times New Roman"/>
                <a:cs typeface="Times New Roman"/>
              </a:rPr>
              <a:t>from </a:t>
            </a:r>
            <a:r>
              <a:rPr sz="3200" i="1" spc="-250" dirty="0">
                <a:latin typeface="Times New Roman"/>
                <a:cs typeface="Times New Roman"/>
              </a:rPr>
              <a:t>the</a:t>
            </a:r>
            <a:r>
              <a:rPr sz="3200" i="1" spc="-545" dirty="0">
                <a:latin typeface="Times New Roman"/>
                <a:cs typeface="Times New Roman"/>
              </a:rPr>
              <a:t> </a:t>
            </a:r>
            <a:r>
              <a:rPr sz="3200" i="1" spc="-210" dirty="0">
                <a:latin typeface="Times New Roman"/>
                <a:cs typeface="Times New Roman"/>
              </a:rPr>
              <a:t>data.</a:t>
            </a:r>
            <a:endParaRPr sz="3200">
              <a:latin typeface="Times New Roman"/>
              <a:cs typeface="Times New Roman"/>
            </a:endParaRPr>
          </a:p>
          <a:p>
            <a:pPr marL="2202815" lvl="1" indent="-334010">
              <a:lnSpc>
                <a:spcPct val="100000"/>
              </a:lnSpc>
              <a:spcBef>
                <a:spcPts val="2040"/>
              </a:spcBef>
              <a:buSzPct val="108333"/>
              <a:buFont typeface="Wingdings"/>
              <a:buChar char=""/>
              <a:tabLst>
                <a:tab pos="2203450" algn="l"/>
              </a:tabLst>
            </a:pPr>
            <a:r>
              <a:rPr sz="2400" i="1" spc="-295" dirty="0">
                <a:latin typeface="Times New Roman"/>
                <a:cs typeface="Times New Roman"/>
              </a:rPr>
              <a:t>Can </a:t>
            </a:r>
            <a:r>
              <a:rPr sz="2400" i="1" spc="-254" dirty="0">
                <a:latin typeface="Times New Roman"/>
                <a:cs typeface="Times New Roman"/>
              </a:rPr>
              <a:t>you </a:t>
            </a:r>
            <a:r>
              <a:rPr sz="2400" i="1" spc="-240" dirty="0">
                <a:latin typeface="Times New Roman"/>
                <a:cs typeface="Times New Roman"/>
              </a:rPr>
              <a:t>give </a:t>
            </a:r>
            <a:r>
              <a:rPr sz="2400" i="1" spc="-335" dirty="0">
                <a:latin typeface="Times New Roman"/>
                <a:cs typeface="Times New Roman"/>
              </a:rPr>
              <a:t>some </a:t>
            </a:r>
            <a:r>
              <a:rPr sz="2400" i="1" spc="-270" dirty="0">
                <a:latin typeface="Times New Roman"/>
                <a:cs typeface="Times New Roman"/>
              </a:rPr>
              <a:t>examples </a:t>
            </a:r>
            <a:r>
              <a:rPr sz="2400" i="1" spc="-210" dirty="0">
                <a:latin typeface="Times New Roman"/>
                <a:cs typeface="Times New Roman"/>
              </a:rPr>
              <a:t>of data </a:t>
            </a:r>
            <a:r>
              <a:rPr sz="2400" i="1" spc="-240" dirty="0">
                <a:latin typeface="Times New Roman"/>
                <a:cs typeface="Times New Roman"/>
              </a:rPr>
              <a:t>and </a:t>
            </a:r>
            <a:r>
              <a:rPr sz="2400" i="1" spc="-260" dirty="0">
                <a:latin typeface="Times New Roman"/>
                <a:cs typeface="Times New Roman"/>
              </a:rPr>
              <a:t>associated</a:t>
            </a:r>
            <a:r>
              <a:rPr sz="2400" i="1" spc="-80" dirty="0">
                <a:latin typeface="Times New Roman"/>
                <a:cs typeface="Times New Roman"/>
              </a:rPr>
              <a:t> </a:t>
            </a:r>
            <a:r>
              <a:rPr sz="2400" i="1" spc="-229" dirty="0">
                <a:latin typeface="Times New Roman"/>
                <a:cs typeface="Times New Roman"/>
              </a:rPr>
              <a:t>information?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916" y="163448"/>
            <a:ext cx="75844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75" dirty="0">
                <a:latin typeface="Times New Roman"/>
                <a:cs typeface="Times New Roman"/>
              </a:rPr>
              <a:t>Census </a:t>
            </a:r>
            <a:r>
              <a:rPr b="1" spc="15" dirty="0">
                <a:latin typeface="Times New Roman"/>
                <a:cs typeface="Times New Roman"/>
              </a:rPr>
              <a:t>Report </a:t>
            </a:r>
            <a:r>
              <a:rPr b="1" spc="-80" dirty="0">
                <a:latin typeface="Times New Roman"/>
                <a:cs typeface="Times New Roman"/>
              </a:rPr>
              <a:t>(Total </a:t>
            </a:r>
            <a:r>
              <a:rPr b="1" spc="40" dirty="0">
                <a:latin typeface="Times New Roman"/>
                <a:cs typeface="Times New Roman"/>
              </a:rPr>
              <a:t>population,  </a:t>
            </a:r>
            <a:r>
              <a:rPr b="1" spc="-65" dirty="0">
                <a:latin typeface="Times New Roman"/>
                <a:cs typeface="Times New Roman"/>
              </a:rPr>
              <a:t>Literacy </a:t>
            </a:r>
            <a:r>
              <a:rPr b="1" spc="-60" dirty="0">
                <a:latin typeface="Times New Roman"/>
                <a:cs typeface="Times New Roman"/>
              </a:rPr>
              <a:t>Rate, </a:t>
            </a:r>
            <a:r>
              <a:rPr b="1" spc="-40" dirty="0">
                <a:latin typeface="Times New Roman"/>
                <a:cs typeface="Times New Roman"/>
              </a:rPr>
              <a:t>Male </a:t>
            </a:r>
            <a:r>
              <a:rPr b="1" spc="910" dirty="0">
                <a:latin typeface="Times New Roman"/>
                <a:cs typeface="Times New Roman"/>
              </a:rPr>
              <a:t>/</a:t>
            </a:r>
            <a:r>
              <a:rPr b="1" spc="-425" dirty="0">
                <a:latin typeface="Times New Roman"/>
                <a:cs typeface="Times New Roman"/>
              </a:rPr>
              <a:t> </a:t>
            </a:r>
            <a:r>
              <a:rPr b="1" spc="-85" dirty="0">
                <a:latin typeface="Times New Roman"/>
                <a:cs typeface="Times New Roman"/>
              </a:rPr>
              <a:t>Female </a:t>
            </a:r>
            <a:r>
              <a:rPr b="1" spc="-25" dirty="0">
                <a:latin typeface="Times New Roman"/>
                <a:cs typeface="Times New Roman"/>
              </a:rPr>
              <a:t>ratio </a:t>
            </a:r>
            <a:r>
              <a:rPr b="1" spc="80" dirty="0">
                <a:latin typeface="Times New Roman"/>
                <a:cs typeface="Times New Roman"/>
              </a:rPr>
              <a:t>etc.)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868" y="1557908"/>
            <a:ext cx="7120255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spc="-145" dirty="0">
                <a:latin typeface="Times New Roman"/>
                <a:cs typeface="Times New Roman"/>
              </a:rPr>
              <a:t>Census </a:t>
            </a:r>
            <a:r>
              <a:rPr sz="2600" spc="-130" dirty="0">
                <a:latin typeface="Times New Roman"/>
                <a:cs typeface="Times New Roman"/>
              </a:rPr>
              <a:t>data </a:t>
            </a:r>
            <a:r>
              <a:rPr sz="2600" spc="-160" dirty="0">
                <a:latin typeface="Times New Roman"/>
                <a:cs typeface="Times New Roman"/>
              </a:rPr>
              <a:t>is </a:t>
            </a:r>
            <a:r>
              <a:rPr sz="2600" spc="-130" dirty="0">
                <a:latin typeface="Times New Roman"/>
                <a:cs typeface="Times New Roman"/>
              </a:rPr>
              <a:t>used </a:t>
            </a:r>
            <a:r>
              <a:rPr sz="2600" spc="-35" dirty="0">
                <a:latin typeface="Times New Roman"/>
                <a:cs typeface="Times New Roman"/>
              </a:rPr>
              <a:t>to </a:t>
            </a:r>
            <a:r>
              <a:rPr sz="2600" spc="-100" dirty="0">
                <a:latin typeface="Times New Roman"/>
                <a:cs typeface="Times New Roman"/>
              </a:rPr>
              <a:t>get </a:t>
            </a:r>
            <a:r>
              <a:rPr sz="2600" spc="-40" dirty="0">
                <a:latin typeface="Times New Roman"/>
                <a:cs typeface="Times New Roman"/>
              </a:rPr>
              <a:t>report/information </a:t>
            </a:r>
            <a:r>
              <a:rPr sz="2600" spc="-110" dirty="0">
                <a:latin typeface="Times New Roman"/>
                <a:cs typeface="Times New Roman"/>
              </a:rPr>
              <a:t>about </a:t>
            </a:r>
            <a:r>
              <a:rPr sz="2600" spc="-70" dirty="0">
                <a:latin typeface="Times New Roman"/>
                <a:cs typeface="Times New Roman"/>
              </a:rPr>
              <a:t>total  </a:t>
            </a:r>
            <a:r>
              <a:rPr sz="2600" spc="-110" dirty="0">
                <a:latin typeface="Times New Roman"/>
                <a:cs typeface="Times New Roman"/>
              </a:rPr>
              <a:t>population </a:t>
            </a:r>
            <a:r>
              <a:rPr sz="2600" spc="-150" dirty="0">
                <a:latin typeface="Times New Roman"/>
                <a:cs typeface="Times New Roman"/>
              </a:rPr>
              <a:t>of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90" dirty="0">
                <a:latin typeface="Times New Roman"/>
                <a:cs typeface="Times New Roman"/>
              </a:rPr>
              <a:t>country </a:t>
            </a:r>
            <a:r>
              <a:rPr sz="2600" spc="-145" dirty="0">
                <a:latin typeface="Times New Roman"/>
                <a:cs typeface="Times New Roman"/>
              </a:rPr>
              <a:t>and </a:t>
            </a:r>
            <a:r>
              <a:rPr sz="2600" spc="-105" dirty="0">
                <a:latin typeface="Times New Roman"/>
                <a:cs typeface="Times New Roman"/>
              </a:rPr>
              <a:t>literacy </a:t>
            </a:r>
            <a:r>
              <a:rPr sz="2600" spc="-70" dirty="0">
                <a:latin typeface="Times New Roman"/>
                <a:cs typeface="Times New Roman"/>
              </a:rPr>
              <a:t>rate</a:t>
            </a:r>
            <a:r>
              <a:rPr sz="2600" spc="33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etc.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37102" y="3368621"/>
            <a:ext cx="4068903" cy="30498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8244" y="3285744"/>
            <a:ext cx="2686812" cy="30723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163448"/>
            <a:ext cx="69977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222625" algn="l"/>
              </a:tabLst>
            </a:pPr>
            <a:r>
              <a:rPr b="1" spc="-20" dirty="0">
                <a:latin typeface="Times New Roman"/>
                <a:cs typeface="Times New Roman"/>
              </a:rPr>
              <a:t>Result </a:t>
            </a:r>
            <a:r>
              <a:rPr b="1" spc="-145" dirty="0">
                <a:latin typeface="Times New Roman"/>
                <a:cs typeface="Times New Roman"/>
              </a:rPr>
              <a:t>Cards </a:t>
            </a:r>
            <a:r>
              <a:rPr b="1" spc="35" dirty="0">
                <a:latin typeface="Times New Roman"/>
                <a:cs typeface="Times New Roman"/>
              </a:rPr>
              <a:t>of </a:t>
            </a:r>
            <a:r>
              <a:rPr b="1" dirty="0">
                <a:latin typeface="Times New Roman"/>
                <a:cs typeface="Times New Roman"/>
              </a:rPr>
              <a:t>Individual</a:t>
            </a:r>
            <a:r>
              <a:rPr b="1" spc="-320" dirty="0">
                <a:latin typeface="Times New Roman"/>
                <a:cs typeface="Times New Roman"/>
              </a:rPr>
              <a:t> </a:t>
            </a:r>
            <a:r>
              <a:rPr b="1" spc="-15" dirty="0">
                <a:latin typeface="Times New Roman"/>
                <a:cs typeface="Times New Roman"/>
              </a:rPr>
              <a:t>Students,  </a:t>
            </a:r>
            <a:r>
              <a:rPr b="1" spc="-20" dirty="0">
                <a:latin typeface="Times New Roman"/>
                <a:cs typeface="Times New Roman"/>
              </a:rPr>
              <a:t>Result</a:t>
            </a:r>
            <a:r>
              <a:rPr b="1" spc="-105" dirty="0">
                <a:latin typeface="Times New Roman"/>
                <a:cs typeface="Times New Roman"/>
              </a:rPr>
              <a:t> </a:t>
            </a:r>
            <a:r>
              <a:rPr b="1" spc="5" dirty="0">
                <a:latin typeface="Times New Roman"/>
                <a:cs typeface="Times New Roman"/>
              </a:rPr>
              <a:t>sheets</a:t>
            </a:r>
            <a:r>
              <a:rPr b="1" spc="-95" dirty="0">
                <a:latin typeface="Times New Roman"/>
                <a:cs typeface="Times New Roman"/>
              </a:rPr>
              <a:t> </a:t>
            </a:r>
            <a:r>
              <a:rPr b="1" spc="40" dirty="0">
                <a:latin typeface="Times New Roman"/>
                <a:cs typeface="Times New Roman"/>
              </a:rPr>
              <a:t>of	</a:t>
            </a:r>
            <a:r>
              <a:rPr b="1" spc="-155" dirty="0">
                <a:latin typeface="Times New Roman"/>
                <a:cs typeface="Times New Roman"/>
              </a:rPr>
              <a:t>a </a:t>
            </a:r>
            <a:r>
              <a:rPr b="1" spc="-20" dirty="0">
                <a:latin typeface="Times New Roman"/>
                <a:cs typeface="Times New Roman"/>
              </a:rPr>
              <a:t>particular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spc="-140" dirty="0">
                <a:latin typeface="Times New Roman"/>
                <a:cs typeface="Times New Roman"/>
              </a:rPr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819" y="1410309"/>
            <a:ext cx="7582534" cy="2388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87020">
              <a:lnSpc>
                <a:spcPct val="119300"/>
              </a:lnSpc>
              <a:spcBef>
                <a:spcPts val="1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In </a:t>
            </a:r>
            <a:r>
              <a:rPr sz="2600" spc="-125" dirty="0">
                <a:latin typeface="Times New Roman"/>
                <a:cs typeface="Times New Roman"/>
              </a:rPr>
              <a:t>examination </a:t>
            </a:r>
            <a:r>
              <a:rPr sz="2600" spc="-140" dirty="0">
                <a:latin typeface="Times New Roman"/>
                <a:cs typeface="Times New Roman"/>
              </a:rPr>
              <a:t>system </a:t>
            </a:r>
            <a:r>
              <a:rPr sz="2600" spc="-105" dirty="0">
                <a:latin typeface="Times New Roman"/>
                <a:cs typeface="Times New Roman"/>
              </a:rPr>
              <a:t>collected </a:t>
            </a:r>
            <a:r>
              <a:rPr sz="2600" spc="-130" dirty="0">
                <a:latin typeface="Times New Roman"/>
                <a:cs typeface="Times New Roman"/>
              </a:rPr>
              <a:t>data </a:t>
            </a:r>
            <a:r>
              <a:rPr sz="2600" spc="-105" dirty="0">
                <a:latin typeface="Times New Roman"/>
                <a:cs typeface="Times New Roman"/>
              </a:rPr>
              <a:t>(obtained </a:t>
            </a:r>
            <a:r>
              <a:rPr sz="2600" spc="-140" dirty="0">
                <a:latin typeface="Times New Roman"/>
                <a:cs typeface="Times New Roman"/>
              </a:rPr>
              <a:t>marks </a:t>
            </a:r>
            <a:r>
              <a:rPr sz="2600" spc="-120" dirty="0">
                <a:latin typeface="Times New Roman"/>
                <a:cs typeface="Times New Roman"/>
              </a:rPr>
              <a:t>in </a:t>
            </a:r>
            <a:r>
              <a:rPr sz="2600" spc="-145" dirty="0">
                <a:latin typeface="Times New Roman"/>
                <a:cs typeface="Times New Roman"/>
              </a:rPr>
              <a:t>each  </a:t>
            </a:r>
            <a:r>
              <a:rPr sz="2600" spc="-110" dirty="0">
                <a:latin typeface="Times New Roman"/>
                <a:cs typeface="Times New Roman"/>
              </a:rPr>
              <a:t>subject)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20" dirty="0">
                <a:latin typeface="Times New Roman"/>
                <a:cs typeface="Times New Roman"/>
              </a:rPr>
              <a:t>processed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95" dirty="0">
                <a:latin typeface="Times New Roman"/>
                <a:cs typeface="Times New Roman"/>
              </a:rPr>
              <a:t>get </a:t>
            </a:r>
            <a:r>
              <a:rPr sz="2600" spc="-70" dirty="0">
                <a:latin typeface="Times New Roman"/>
                <a:cs typeface="Times New Roman"/>
              </a:rPr>
              <a:t>total </a:t>
            </a:r>
            <a:r>
              <a:rPr sz="2600" spc="-110" dirty="0">
                <a:latin typeface="Times New Roman"/>
                <a:cs typeface="Times New Roman"/>
              </a:rPr>
              <a:t>obtained </a:t>
            </a:r>
            <a:r>
              <a:rPr sz="2600" spc="-125" dirty="0">
                <a:latin typeface="Times New Roman"/>
                <a:cs typeface="Times New Roman"/>
              </a:rPr>
              <a:t>mark </a:t>
            </a:r>
            <a:r>
              <a:rPr sz="2600" spc="-155" dirty="0">
                <a:latin typeface="Times New Roman"/>
                <a:cs typeface="Times New Roman"/>
              </a:rPr>
              <a:t>of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student.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"/>
            </a:pPr>
            <a:endParaRPr sz="3200">
              <a:latin typeface="Times New Roman"/>
              <a:cs typeface="Times New Roman"/>
            </a:endParaRPr>
          </a:p>
          <a:p>
            <a:pPr marL="287020" marR="99060" indent="-287020">
              <a:lnSpc>
                <a:spcPct val="1193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spc="-170" dirty="0">
                <a:latin typeface="Times New Roman"/>
                <a:cs typeface="Times New Roman"/>
              </a:rPr>
              <a:t>Total </a:t>
            </a:r>
            <a:r>
              <a:rPr sz="2600" spc="-110" dirty="0">
                <a:latin typeface="Times New Roman"/>
                <a:cs typeface="Times New Roman"/>
              </a:rPr>
              <a:t>obtained </a:t>
            </a:r>
            <a:r>
              <a:rPr sz="2600" spc="-125" dirty="0">
                <a:latin typeface="Times New Roman"/>
                <a:cs typeface="Times New Roman"/>
              </a:rPr>
              <a:t>mark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95" dirty="0">
                <a:latin typeface="Times New Roman"/>
                <a:cs typeface="Times New Roman"/>
              </a:rPr>
              <a:t>Information. </a:t>
            </a:r>
            <a:r>
              <a:rPr sz="2600" spc="-80" dirty="0">
                <a:latin typeface="Times New Roman"/>
                <a:cs typeface="Times New Roman"/>
              </a:rPr>
              <a:t>It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55" dirty="0">
                <a:latin typeface="Times New Roman"/>
                <a:cs typeface="Times New Roman"/>
              </a:rPr>
              <a:t>also </a:t>
            </a:r>
            <a:r>
              <a:rPr sz="2600" spc="-130" dirty="0">
                <a:latin typeface="Times New Roman"/>
                <a:cs typeface="Times New Roman"/>
              </a:rPr>
              <a:t>used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90" dirty="0">
                <a:latin typeface="Times New Roman"/>
                <a:cs typeface="Times New Roman"/>
              </a:rPr>
              <a:t>prepare  </a:t>
            </a:r>
            <a:r>
              <a:rPr sz="2600" spc="-80" dirty="0">
                <a:latin typeface="Times New Roman"/>
                <a:cs typeface="Times New Roman"/>
              </a:rPr>
              <a:t>result </a:t>
            </a:r>
            <a:r>
              <a:rPr sz="2600" spc="-114" dirty="0">
                <a:latin typeface="Times New Roman"/>
                <a:cs typeface="Times New Roman"/>
              </a:rPr>
              <a:t>card </a:t>
            </a:r>
            <a:r>
              <a:rPr sz="2600" spc="-155" dirty="0">
                <a:latin typeface="Times New Roman"/>
                <a:cs typeface="Times New Roman"/>
              </a:rPr>
              <a:t>of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student.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43628" y="3572255"/>
            <a:ext cx="4072128" cy="3115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43000" y="3928871"/>
            <a:ext cx="3072383" cy="26319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332943"/>
            <a:ext cx="21463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Times New Roman"/>
                <a:cs typeface="Times New Roman"/>
              </a:rPr>
              <a:t>Merit</a:t>
            </a:r>
            <a:r>
              <a:rPr sz="4000" b="1" spc="-160" dirty="0">
                <a:latin typeface="Times New Roman"/>
                <a:cs typeface="Times New Roman"/>
              </a:rPr>
              <a:t> List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275" y="1104645"/>
            <a:ext cx="7767955" cy="38976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  <a:tab pos="1065530" algn="l"/>
                <a:tab pos="2376805" algn="l"/>
                <a:tab pos="3700779" algn="l"/>
                <a:tab pos="4554855" algn="l"/>
                <a:tab pos="5293995" algn="l"/>
                <a:tab pos="6757034" algn="l"/>
                <a:tab pos="7574280" algn="l"/>
              </a:tabLst>
            </a:pPr>
            <a:r>
              <a:rPr sz="2600" spc="-125" dirty="0">
                <a:latin typeface="Times New Roman"/>
                <a:cs typeface="Times New Roman"/>
              </a:rPr>
              <a:t>Afte</a:t>
            </a:r>
            <a:r>
              <a:rPr sz="2600" spc="-9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llectin</a:t>
            </a:r>
            <a:r>
              <a:rPr sz="2600" spc="-14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75" dirty="0">
                <a:latin typeface="Times New Roman"/>
                <a:cs typeface="Times New Roman"/>
              </a:rPr>
              <a:t>adm</a:t>
            </a:r>
            <a:r>
              <a:rPr sz="2600" spc="-85" dirty="0">
                <a:latin typeface="Times New Roman"/>
                <a:cs typeface="Times New Roman"/>
              </a:rPr>
              <a:t>i</a:t>
            </a:r>
            <a:r>
              <a:rPr sz="2600" spc="-150" dirty="0">
                <a:latin typeface="Times New Roman"/>
                <a:cs typeface="Times New Roman"/>
              </a:rPr>
              <a:t>ssion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100" dirty="0">
                <a:latin typeface="Times New Roman"/>
                <a:cs typeface="Times New Roman"/>
              </a:rPr>
              <a:t>r</a:t>
            </a:r>
            <a:r>
              <a:rPr sz="2600" spc="-240" dirty="0">
                <a:latin typeface="Times New Roman"/>
                <a:cs typeface="Times New Roman"/>
              </a:rPr>
              <a:t>m</a:t>
            </a:r>
            <a:r>
              <a:rPr sz="2600" spc="-12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80" dirty="0">
                <a:latin typeface="Times New Roman"/>
                <a:cs typeface="Times New Roman"/>
              </a:rPr>
              <a:t>f</a:t>
            </a:r>
            <a:r>
              <a:rPr sz="2600" spc="-95" dirty="0">
                <a:latin typeface="Times New Roman"/>
                <a:cs typeface="Times New Roman"/>
              </a:rPr>
              <a:t>r</a:t>
            </a:r>
            <a:r>
              <a:rPr sz="2600" spc="-130" dirty="0">
                <a:latin typeface="Times New Roman"/>
                <a:cs typeface="Times New Roman"/>
              </a:rPr>
              <a:t>om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d</a:t>
            </a:r>
            <a:r>
              <a:rPr sz="2600" spc="-140" dirty="0">
                <a:latin typeface="Times New Roman"/>
                <a:cs typeface="Times New Roman"/>
              </a:rPr>
              <a:t>id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tes,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90" dirty="0">
                <a:latin typeface="Times New Roman"/>
                <a:cs typeface="Times New Roman"/>
              </a:rPr>
              <a:t>me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it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45" dirty="0">
                <a:latin typeface="Times New Roman"/>
                <a:cs typeface="Times New Roman"/>
              </a:rPr>
              <a:t>is  </a:t>
            </a:r>
            <a:r>
              <a:rPr sz="2600" spc="-125" dirty="0">
                <a:latin typeface="Times New Roman"/>
                <a:cs typeface="Times New Roman"/>
              </a:rPr>
              <a:t>calculated </a:t>
            </a:r>
            <a:r>
              <a:rPr sz="2600" spc="-110" dirty="0">
                <a:latin typeface="Times New Roman"/>
                <a:cs typeface="Times New Roman"/>
              </a:rPr>
              <a:t>on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75" dirty="0">
                <a:latin typeface="Times New Roman"/>
                <a:cs typeface="Times New Roman"/>
              </a:rPr>
              <a:t>basis </a:t>
            </a:r>
            <a:r>
              <a:rPr sz="2600" spc="-155" dirty="0">
                <a:latin typeface="Times New Roman"/>
                <a:cs typeface="Times New Roman"/>
              </a:rPr>
              <a:t>of </a:t>
            </a:r>
            <a:r>
              <a:rPr sz="2600" spc="-110" dirty="0">
                <a:latin typeface="Times New Roman"/>
                <a:cs typeface="Times New Roman"/>
              </a:rPr>
              <a:t>obtained </a:t>
            </a:r>
            <a:r>
              <a:rPr sz="2600" spc="-140" dirty="0">
                <a:latin typeface="Times New Roman"/>
                <a:cs typeface="Times New Roman"/>
              </a:rPr>
              <a:t>marks </a:t>
            </a:r>
            <a:r>
              <a:rPr sz="2600" spc="-155" dirty="0">
                <a:latin typeface="Times New Roman"/>
                <a:cs typeface="Times New Roman"/>
              </a:rPr>
              <a:t>of </a:t>
            </a:r>
            <a:r>
              <a:rPr sz="2600" spc="-145" dirty="0">
                <a:latin typeface="Times New Roman"/>
                <a:cs typeface="Times New Roman"/>
              </a:rPr>
              <a:t>each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candidate.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spc="-125" dirty="0">
                <a:latin typeface="Times New Roman"/>
                <a:cs typeface="Times New Roman"/>
              </a:rPr>
              <a:t>Normally, </a:t>
            </a:r>
            <a:r>
              <a:rPr sz="2600" spc="-105" dirty="0">
                <a:latin typeface="Times New Roman"/>
                <a:cs typeface="Times New Roman"/>
              </a:rPr>
              <a:t>percentage </a:t>
            </a:r>
            <a:r>
              <a:rPr sz="2600" spc="-155" dirty="0">
                <a:latin typeface="Times New Roman"/>
                <a:cs typeface="Times New Roman"/>
              </a:rPr>
              <a:t>of </a:t>
            </a:r>
            <a:r>
              <a:rPr sz="2600" spc="-140" dirty="0">
                <a:latin typeface="Times New Roman"/>
                <a:cs typeface="Times New Roman"/>
              </a:rPr>
              <a:t>marks </a:t>
            </a:r>
            <a:r>
              <a:rPr sz="2600" spc="-110" dirty="0">
                <a:latin typeface="Times New Roman"/>
                <a:cs typeface="Times New Roman"/>
              </a:rPr>
              <a:t>obtained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25" dirty="0">
                <a:latin typeface="Times New Roman"/>
                <a:cs typeface="Times New Roman"/>
              </a:rPr>
              <a:t>calculated </a:t>
            </a:r>
            <a:r>
              <a:rPr sz="2600" spc="-95" dirty="0">
                <a:latin typeface="Times New Roman"/>
                <a:cs typeface="Times New Roman"/>
              </a:rPr>
              <a:t>for </a:t>
            </a:r>
            <a:r>
              <a:rPr sz="2600" spc="-145" dirty="0">
                <a:latin typeface="Times New Roman"/>
                <a:cs typeface="Times New Roman"/>
              </a:rPr>
              <a:t>each  </a:t>
            </a:r>
            <a:r>
              <a:rPr sz="2600" spc="-110" dirty="0">
                <a:latin typeface="Times New Roman"/>
                <a:cs typeface="Times New Roman"/>
              </a:rPr>
              <a:t>candidate.</a:t>
            </a:r>
            <a:endParaRPr sz="2600">
              <a:latin typeface="Times New Roman"/>
              <a:cs typeface="Times New Roman"/>
            </a:endParaRPr>
          </a:p>
          <a:p>
            <a:pPr marL="286385" marR="5715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  <a:tab pos="1033780" algn="l"/>
                <a:tab pos="1475740" algn="l"/>
                <a:tab pos="2012314" algn="l"/>
                <a:tab pos="3400425" algn="l"/>
                <a:tab pos="4311015" algn="l"/>
                <a:tab pos="4836795" algn="l"/>
                <a:tab pos="6048375" algn="l"/>
                <a:tab pos="6438900" algn="l"/>
              </a:tabLst>
            </a:pPr>
            <a:r>
              <a:rPr sz="2600" spc="-150" dirty="0">
                <a:latin typeface="Times New Roman"/>
                <a:cs typeface="Times New Roman"/>
              </a:rPr>
              <a:t>N</a:t>
            </a:r>
            <a:r>
              <a:rPr sz="2600" spc="-180" dirty="0">
                <a:latin typeface="Times New Roman"/>
                <a:cs typeface="Times New Roman"/>
              </a:rPr>
              <a:t>o</a:t>
            </a:r>
            <a:r>
              <a:rPr sz="2600" spc="-145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50" dirty="0">
                <a:latin typeface="Times New Roman"/>
                <a:cs typeface="Times New Roman"/>
              </a:rPr>
              <a:t>al</a:t>
            </a:r>
            <a:r>
              <a:rPr sz="2600" spc="-114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45" dirty="0">
                <a:latin typeface="Times New Roman"/>
                <a:cs typeface="Times New Roman"/>
              </a:rPr>
              <a:t>t</a:t>
            </a:r>
            <a:r>
              <a:rPr sz="2600" spc="-100" dirty="0">
                <a:latin typeface="Times New Roman"/>
                <a:cs typeface="Times New Roman"/>
              </a:rPr>
              <a:t>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d</a:t>
            </a:r>
            <a:r>
              <a:rPr sz="2600" spc="-140" dirty="0">
                <a:latin typeface="Times New Roman"/>
                <a:cs typeface="Times New Roman"/>
              </a:rPr>
              <a:t>id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90" dirty="0">
                <a:latin typeface="Times New Roman"/>
                <a:cs typeface="Times New Roman"/>
              </a:rPr>
              <a:t>tes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50" dirty="0">
                <a:latin typeface="Times New Roman"/>
                <a:cs typeface="Times New Roman"/>
              </a:rPr>
              <a:t>nam</a:t>
            </a:r>
            <a:r>
              <a:rPr sz="2600" spc="-125" dirty="0">
                <a:latin typeface="Times New Roman"/>
                <a:cs typeface="Times New Roman"/>
              </a:rPr>
              <a:t>e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5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ran</a:t>
            </a:r>
            <a:r>
              <a:rPr sz="2600" spc="-150" dirty="0">
                <a:latin typeface="Times New Roman"/>
                <a:cs typeface="Times New Roman"/>
              </a:rPr>
              <a:t>g</a:t>
            </a:r>
            <a:r>
              <a:rPr sz="2600" spc="-105" dirty="0">
                <a:latin typeface="Times New Roman"/>
                <a:cs typeface="Times New Roman"/>
              </a:rPr>
              <a:t>ed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80" dirty="0">
                <a:latin typeface="Times New Roman"/>
                <a:cs typeface="Times New Roman"/>
              </a:rPr>
              <a:t>i</a:t>
            </a:r>
            <a:r>
              <a:rPr sz="2600" spc="-15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40" dirty="0">
                <a:latin typeface="Times New Roman"/>
                <a:cs typeface="Times New Roman"/>
              </a:rPr>
              <a:t>des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05" dirty="0">
                <a:latin typeface="Times New Roman"/>
                <a:cs typeface="Times New Roman"/>
              </a:rPr>
              <a:t>en</a:t>
            </a:r>
            <a:r>
              <a:rPr sz="2600" spc="-120" dirty="0">
                <a:latin typeface="Times New Roman"/>
                <a:cs typeface="Times New Roman"/>
              </a:rPr>
              <a:t>d</a:t>
            </a:r>
            <a:r>
              <a:rPr sz="2600" spc="-85" dirty="0">
                <a:latin typeface="Times New Roman"/>
                <a:cs typeface="Times New Roman"/>
              </a:rPr>
              <a:t>i</a:t>
            </a:r>
            <a:r>
              <a:rPr sz="2600" spc="-165" dirty="0">
                <a:latin typeface="Times New Roman"/>
                <a:cs typeface="Times New Roman"/>
              </a:rPr>
              <a:t>n</a:t>
            </a:r>
            <a:r>
              <a:rPr sz="2600" spc="-145" dirty="0">
                <a:latin typeface="Times New Roman"/>
                <a:cs typeface="Times New Roman"/>
              </a:rPr>
              <a:t>g  </a:t>
            </a:r>
            <a:r>
              <a:rPr sz="2600" spc="-55" dirty="0">
                <a:latin typeface="Times New Roman"/>
                <a:cs typeface="Times New Roman"/>
              </a:rPr>
              <a:t>order </a:t>
            </a:r>
            <a:r>
              <a:rPr sz="2600" spc="-200" dirty="0">
                <a:latin typeface="Times New Roman"/>
                <a:cs typeface="Times New Roman"/>
              </a:rPr>
              <a:t>by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percentage.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spc="-155" dirty="0">
                <a:latin typeface="Times New Roman"/>
                <a:cs typeface="Times New Roman"/>
              </a:rPr>
              <a:t>This </a:t>
            </a:r>
            <a:r>
              <a:rPr sz="2600" spc="-175" dirty="0">
                <a:latin typeface="Times New Roman"/>
                <a:cs typeface="Times New Roman"/>
              </a:rPr>
              <a:t>makes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55" dirty="0">
                <a:latin typeface="Times New Roman"/>
                <a:cs typeface="Times New Roman"/>
              </a:rPr>
              <a:t>merit</a:t>
            </a:r>
            <a:r>
              <a:rPr sz="2600" spc="2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list.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  <a:tab pos="1130935" algn="l"/>
                <a:tab pos="1649095" algn="l"/>
                <a:tab pos="1993900" algn="l"/>
                <a:tab pos="2696845" algn="l"/>
                <a:tab pos="3106420" algn="l"/>
                <a:tab pos="4043679" algn="l"/>
                <a:tab pos="5194935" algn="l"/>
                <a:tab pos="5478145" algn="l"/>
                <a:tab pos="6766559" algn="l"/>
                <a:tab pos="7385050" algn="l"/>
              </a:tabLst>
            </a:pPr>
            <a:r>
              <a:rPr sz="2600" spc="-150" dirty="0">
                <a:latin typeface="Times New Roman"/>
                <a:cs typeface="Times New Roman"/>
              </a:rPr>
              <a:t>Me</a:t>
            </a:r>
            <a:r>
              <a:rPr sz="2600" spc="-30" dirty="0">
                <a:latin typeface="Times New Roman"/>
                <a:cs typeface="Times New Roman"/>
              </a:rPr>
              <a:t>r</a:t>
            </a:r>
            <a:r>
              <a:rPr sz="2600" spc="-45" dirty="0">
                <a:latin typeface="Times New Roman"/>
                <a:cs typeface="Times New Roman"/>
              </a:rPr>
              <a:t>it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5" dirty="0">
                <a:latin typeface="Times New Roman"/>
                <a:cs typeface="Times New Roman"/>
              </a:rPr>
              <a:t>lis</a:t>
            </a:r>
            <a:r>
              <a:rPr sz="2600" spc="-9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30" dirty="0">
                <a:latin typeface="Times New Roman"/>
                <a:cs typeface="Times New Roman"/>
              </a:rPr>
              <a:t>used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30" dirty="0">
                <a:latin typeface="Times New Roman"/>
                <a:cs typeface="Times New Roman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14" dirty="0">
                <a:latin typeface="Times New Roman"/>
                <a:cs typeface="Times New Roman"/>
              </a:rPr>
              <a:t>decide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5" dirty="0">
                <a:latin typeface="Times New Roman"/>
                <a:cs typeface="Times New Roman"/>
              </a:rPr>
              <a:t>whet</a:t>
            </a:r>
            <a:r>
              <a:rPr sz="2600" spc="-125" dirty="0">
                <a:latin typeface="Times New Roman"/>
                <a:cs typeface="Times New Roman"/>
              </a:rPr>
              <a:t>h</a:t>
            </a:r>
            <a:r>
              <a:rPr sz="2600" spc="-35" dirty="0">
                <a:latin typeface="Times New Roman"/>
                <a:cs typeface="Times New Roman"/>
              </a:rPr>
              <a:t>er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80" dirty="0">
                <a:latin typeface="Times New Roman"/>
                <a:cs typeface="Times New Roman"/>
              </a:rPr>
              <a:t>c</a:t>
            </a:r>
            <a:r>
              <a:rPr sz="2600" spc="-190" dirty="0">
                <a:latin typeface="Times New Roman"/>
                <a:cs typeface="Times New Roman"/>
              </a:rPr>
              <a:t>a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spc="-125" dirty="0">
                <a:latin typeface="Times New Roman"/>
                <a:cs typeface="Times New Roman"/>
              </a:rPr>
              <a:t>d</a:t>
            </a:r>
            <a:r>
              <a:rPr sz="2600" spc="-85" dirty="0">
                <a:latin typeface="Times New Roman"/>
                <a:cs typeface="Times New Roman"/>
              </a:rPr>
              <a:t>i</a:t>
            </a:r>
            <a:r>
              <a:rPr sz="2600" spc="-145" dirty="0">
                <a:latin typeface="Times New Roman"/>
                <a:cs typeface="Times New Roman"/>
              </a:rPr>
              <a:t>d</a:t>
            </a:r>
            <a:r>
              <a:rPr sz="2600" spc="-235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te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20" dirty="0">
                <a:latin typeface="Times New Roman"/>
                <a:cs typeface="Times New Roman"/>
              </a:rPr>
              <a:t>will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80" dirty="0">
                <a:latin typeface="Times New Roman"/>
                <a:cs typeface="Times New Roman"/>
              </a:rPr>
              <a:t>get  </a:t>
            </a:r>
            <a:r>
              <a:rPr sz="2600" spc="-155" dirty="0">
                <a:latin typeface="Times New Roman"/>
                <a:cs typeface="Times New Roman"/>
              </a:rPr>
              <a:t>admission </a:t>
            </a:r>
            <a:r>
              <a:rPr sz="2600" spc="-120" dirty="0">
                <a:latin typeface="Times New Roman"/>
                <a:cs typeface="Times New Roman"/>
              </a:rPr>
              <a:t>in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25" dirty="0">
                <a:latin typeface="Times New Roman"/>
                <a:cs typeface="Times New Roman"/>
              </a:rPr>
              <a:t>college </a:t>
            </a:r>
            <a:r>
              <a:rPr sz="2600" spc="-45" dirty="0">
                <a:latin typeface="Times New Roman"/>
                <a:cs typeface="Times New Roman"/>
              </a:rPr>
              <a:t>or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not.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10228" y="4869179"/>
            <a:ext cx="5019040" cy="1790700"/>
            <a:chOff x="4110228" y="4869179"/>
            <a:chExt cx="5019040" cy="1790700"/>
          </a:xfrm>
        </p:grpSpPr>
        <p:sp>
          <p:nvSpPr>
            <p:cNvPr id="5" name="object 5"/>
            <p:cNvSpPr/>
            <p:nvPr/>
          </p:nvSpPr>
          <p:spPr>
            <a:xfrm>
              <a:off x="6382512" y="4869179"/>
              <a:ext cx="2746247" cy="17724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0228" y="4917947"/>
              <a:ext cx="2435352" cy="17419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7552" y="0"/>
            <a:ext cx="55854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7575" marR="5080" indent="-905510">
              <a:lnSpc>
                <a:spcPct val="100000"/>
              </a:lnSpc>
              <a:spcBef>
                <a:spcPts val="100"/>
              </a:spcBef>
            </a:pPr>
            <a:r>
              <a:rPr i="1" spc="-390" dirty="0">
                <a:latin typeface="Times New Roman"/>
                <a:cs typeface="Times New Roman"/>
              </a:rPr>
              <a:t>There </a:t>
            </a:r>
            <a:r>
              <a:rPr i="1" spc="-325" dirty="0">
                <a:latin typeface="Times New Roman"/>
                <a:cs typeface="Times New Roman"/>
              </a:rPr>
              <a:t>is </a:t>
            </a:r>
            <a:r>
              <a:rPr i="1" spc="-484" dirty="0">
                <a:latin typeface="Times New Roman"/>
                <a:cs typeface="Times New Roman"/>
              </a:rPr>
              <a:t>more </a:t>
            </a:r>
            <a:r>
              <a:rPr i="1" spc="-280" dirty="0">
                <a:latin typeface="Times New Roman"/>
                <a:cs typeface="Times New Roman"/>
              </a:rPr>
              <a:t>to </a:t>
            </a:r>
            <a:r>
              <a:rPr i="1" spc="-350" dirty="0">
                <a:latin typeface="Times New Roman"/>
                <a:cs typeface="Times New Roman"/>
              </a:rPr>
              <a:t>technology </a:t>
            </a:r>
            <a:r>
              <a:rPr i="1" spc="-260" dirty="0">
                <a:latin typeface="Times New Roman"/>
                <a:cs typeface="Times New Roman"/>
              </a:rPr>
              <a:t>than </a:t>
            </a:r>
            <a:r>
              <a:rPr i="1" spc="-484" dirty="0">
                <a:latin typeface="Times New Roman"/>
                <a:cs typeface="Times New Roman"/>
              </a:rPr>
              <a:t>mere  </a:t>
            </a:r>
            <a:r>
              <a:rPr i="1" spc="-360" dirty="0">
                <a:latin typeface="Times New Roman"/>
                <a:cs typeface="Times New Roman"/>
              </a:rPr>
              <a:t>social </a:t>
            </a:r>
            <a:r>
              <a:rPr i="1" spc="-385" dirty="0">
                <a:latin typeface="Times New Roman"/>
                <a:cs typeface="Times New Roman"/>
              </a:rPr>
              <a:t>media </a:t>
            </a:r>
            <a:r>
              <a:rPr i="1" spc="-965" dirty="0">
                <a:latin typeface="Times New Roman"/>
                <a:cs typeface="Times New Roman"/>
              </a:rPr>
              <a:t>&amp;</a:t>
            </a:r>
            <a:r>
              <a:rPr i="1" spc="-90" dirty="0">
                <a:latin typeface="Times New Roman"/>
                <a:cs typeface="Times New Roman"/>
              </a:rPr>
              <a:t> </a:t>
            </a:r>
            <a:r>
              <a:rPr i="1" spc="-355" dirty="0">
                <a:latin typeface="Times New Roman"/>
                <a:cs typeface="Times New Roman"/>
              </a:rPr>
              <a:t>networking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143000"/>
            <a:ext cx="7467600" cy="4200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79194" y="5331663"/>
            <a:ext cx="7094220" cy="995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latin typeface="Times New Roman"/>
                <a:cs typeface="Times New Roman"/>
              </a:rPr>
              <a:t>Figure:Technology </a:t>
            </a:r>
            <a:r>
              <a:rPr sz="2000" spc="-100" dirty="0">
                <a:latin typeface="Times New Roman"/>
                <a:cs typeface="Times New Roman"/>
              </a:rPr>
              <a:t>enabled </a:t>
            </a:r>
            <a:r>
              <a:rPr sz="2000" spc="-95" dirty="0">
                <a:latin typeface="Times New Roman"/>
                <a:cs typeface="Times New Roman"/>
              </a:rPr>
              <a:t>connectedness </a:t>
            </a:r>
            <a:r>
              <a:rPr sz="2000" spc="-85" dirty="0">
                <a:latin typeface="Times New Roman"/>
                <a:cs typeface="Times New Roman"/>
              </a:rPr>
              <a:t>through </a:t>
            </a:r>
            <a:r>
              <a:rPr sz="2000" spc="-120" dirty="0">
                <a:latin typeface="Times New Roman"/>
                <a:cs typeface="Times New Roman"/>
              </a:rPr>
              <a:t>social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media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Times New Roman"/>
              <a:cs typeface="Times New Roman"/>
            </a:endParaRPr>
          </a:p>
          <a:p>
            <a:pPr marL="481330" indent="-240665">
              <a:lnSpc>
                <a:spcPct val="100000"/>
              </a:lnSpc>
              <a:spcBef>
                <a:spcPts val="5"/>
              </a:spcBef>
              <a:buSzPct val="95833"/>
              <a:buFont typeface="Wingdings"/>
              <a:buChar char=""/>
              <a:tabLst>
                <a:tab pos="481965" algn="l"/>
              </a:tabLst>
            </a:pPr>
            <a:r>
              <a:rPr sz="2400" i="1" spc="-295" dirty="0">
                <a:latin typeface="Times New Roman"/>
                <a:cs typeface="Times New Roman"/>
              </a:rPr>
              <a:t>Can </a:t>
            </a:r>
            <a:r>
              <a:rPr sz="2400" i="1" spc="-254" dirty="0">
                <a:latin typeface="Times New Roman"/>
                <a:cs typeface="Times New Roman"/>
              </a:rPr>
              <a:t>you </a:t>
            </a:r>
            <a:r>
              <a:rPr sz="2400" i="1" spc="-285" dirty="0">
                <a:latin typeface="Times New Roman"/>
                <a:cs typeface="Times New Roman"/>
              </a:rPr>
              <a:t>name </a:t>
            </a:r>
            <a:r>
              <a:rPr sz="2400" i="1" spc="-335" dirty="0">
                <a:latin typeface="Times New Roman"/>
                <a:cs typeface="Times New Roman"/>
              </a:rPr>
              <a:t>some </a:t>
            </a:r>
            <a:r>
              <a:rPr sz="2400" i="1" spc="-245" dirty="0">
                <a:latin typeface="Times New Roman"/>
                <a:cs typeface="Times New Roman"/>
              </a:rPr>
              <a:t>(software) technologies </a:t>
            </a:r>
            <a:r>
              <a:rPr sz="2400" i="1" spc="-145" dirty="0">
                <a:latin typeface="Times New Roman"/>
                <a:cs typeface="Times New Roman"/>
              </a:rPr>
              <a:t>that </a:t>
            </a:r>
            <a:r>
              <a:rPr sz="2400" i="1" spc="-285" dirty="0">
                <a:latin typeface="Times New Roman"/>
                <a:cs typeface="Times New Roman"/>
              </a:rPr>
              <a:t>have </a:t>
            </a:r>
            <a:r>
              <a:rPr sz="2400" i="1" spc="-240" dirty="0">
                <a:latin typeface="Times New Roman"/>
                <a:cs typeface="Times New Roman"/>
              </a:rPr>
              <a:t>impacted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spc="-305" dirty="0">
                <a:latin typeface="Times New Roman"/>
                <a:cs typeface="Times New Roman"/>
              </a:rPr>
              <a:t>you?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1932" y="1056132"/>
            <a:ext cx="5422392" cy="51953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52527"/>
            <a:ext cx="7175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Software </a:t>
            </a:r>
            <a:r>
              <a:rPr spc="-75" dirty="0"/>
              <a:t>- </a:t>
            </a:r>
            <a:r>
              <a:rPr spc="-114" dirty="0"/>
              <a:t>product </a:t>
            </a:r>
            <a:r>
              <a:rPr spc="-210" dirty="0"/>
              <a:t>of </a:t>
            </a:r>
            <a:r>
              <a:rPr spc="-130" dirty="0"/>
              <a:t>critical </a:t>
            </a:r>
            <a:r>
              <a:rPr spc="-170" dirty="0"/>
              <a:t>thinking</a:t>
            </a:r>
            <a:r>
              <a:rPr spc="180" dirty="0"/>
              <a:t> </a:t>
            </a:r>
            <a:r>
              <a:rPr spc="-204" dirty="0"/>
              <a:t>skills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60675" y="6216802"/>
            <a:ext cx="27628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latin typeface="Times New Roman"/>
                <a:cs typeface="Times New Roman"/>
              </a:rPr>
              <a:t>Figure:The </a:t>
            </a:r>
            <a:r>
              <a:rPr sz="2000" spc="-85" dirty="0">
                <a:latin typeface="Times New Roman"/>
                <a:cs typeface="Times New Roman"/>
              </a:rPr>
              <a:t>world </a:t>
            </a:r>
            <a:r>
              <a:rPr sz="2000" spc="-120" dirty="0">
                <a:latin typeface="Times New Roman"/>
                <a:cs typeface="Times New Roman"/>
              </a:rPr>
              <a:t>of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267" y="620344"/>
            <a:ext cx="8559800" cy="54768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87020" marR="6985" indent="-274320">
              <a:lnSpc>
                <a:spcPts val="3890"/>
              </a:lnSpc>
              <a:spcBef>
                <a:spcPts val="590"/>
              </a:spcBef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spc="-250" dirty="0">
                <a:latin typeface="Times New Roman"/>
                <a:cs typeface="Times New Roman"/>
              </a:rPr>
              <a:t>Along </a:t>
            </a:r>
            <a:r>
              <a:rPr sz="3600" spc="-140" dirty="0">
                <a:latin typeface="Times New Roman"/>
                <a:cs typeface="Times New Roman"/>
              </a:rPr>
              <a:t>with </a:t>
            </a:r>
            <a:r>
              <a:rPr sz="3600" spc="-105" dirty="0">
                <a:latin typeface="Times New Roman"/>
                <a:cs typeface="Times New Roman"/>
              </a:rPr>
              <a:t>the </a:t>
            </a:r>
            <a:r>
              <a:rPr sz="3600" spc="-170" dirty="0">
                <a:latin typeface="Times New Roman"/>
                <a:cs typeface="Times New Roman"/>
              </a:rPr>
              <a:t>power </a:t>
            </a:r>
            <a:r>
              <a:rPr sz="3600" spc="-215" dirty="0">
                <a:latin typeface="Times New Roman"/>
                <a:cs typeface="Times New Roman"/>
              </a:rPr>
              <a:t>of </a:t>
            </a:r>
            <a:r>
              <a:rPr sz="3600" spc="-135" dirty="0">
                <a:latin typeface="Times New Roman"/>
                <a:cs typeface="Times New Roman"/>
              </a:rPr>
              <a:t>computing, </a:t>
            </a:r>
            <a:r>
              <a:rPr sz="3600" spc="-165" dirty="0">
                <a:latin typeface="Times New Roman"/>
                <a:cs typeface="Times New Roman"/>
              </a:rPr>
              <a:t>software </a:t>
            </a:r>
            <a:r>
              <a:rPr sz="3600" spc="-85" dirty="0">
                <a:latin typeface="Times New Roman"/>
                <a:cs typeface="Times New Roman"/>
              </a:rPr>
              <a:t>too  </a:t>
            </a:r>
            <a:r>
              <a:rPr sz="3600" spc="-195" dirty="0">
                <a:latin typeface="Times New Roman"/>
                <a:cs typeface="Times New Roman"/>
              </a:rPr>
              <a:t>became </a:t>
            </a:r>
            <a:r>
              <a:rPr sz="3600" spc="-155" dirty="0">
                <a:latin typeface="Times New Roman"/>
                <a:cs typeface="Times New Roman"/>
              </a:rPr>
              <a:t>versatile </a:t>
            </a:r>
            <a:r>
              <a:rPr sz="3600" spc="-200" dirty="0">
                <a:latin typeface="Times New Roman"/>
                <a:cs typeface="Times New Roman"/>
              </a:rPr>
              <a:t>and</a:t>
            </a:r>
            <a:r>
              <a:rPr sz="3600" spc="55" dirty="0">
                <a:latin typeface="Times New Roman"/>
                <a:cs typeface="Times New Roman"/>
              </a:rPr>
              <a:t> </a:t>
            </a:r>
            <a:r>
              <a:rPr sz="3600" spc="-140" dirty="0">
                <a:latin typeface="Times New Roman"/>
                <a:cs typeface="Times New Roman"/>
              </a:rPr>
              <a:t>powerful.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marL="287020" marR="9525" indent="-274320">
              <a:lnSpc>
                <a:spcPts val="3890"/>
              </a:lnSpc>
              <a:spcBef>
                <a:spcPts val="5"/>
              </a:spcBef>
              <a:buSzPct val="84722"/>
              <a:buFont typeface="Arial"/>
              <a:buChar char="•"/>
              <a:tabLst>
                <a:tab pos="287020" algn="l"/>
                <a:tab pos="1484630" algn="l"/>
                <a:tab pos="2205355" algn="l"/>
                <a:tab pos="3458845" algn="l"/>
                <a:tab pos="4002404" algn="l"/>
                <a:tab pos="5629275" algn="l"/>
                <a:tab pos="6395720" algn="l"/>
                <a:tab pos="7584440" algn="l"/>
              </a:tabLst>
            </a:pPr>
            <a:r>
              <a:rPr sz="3600" spc="-140" dirty="0">
                <a:latin typeface="Times New Roman"/>
                <a:cs typeface="Times New Roman"/>
              </a:rPr>
              <a:t>The</a:t>
            </a:r>
            <a:r>
              <a:rPr sz="3600" spc="-130" dirty="0">
                <a:latin typeface="Times New Roman"/>
                <a:cs typeface="Times New Roman"/>
              </a:rPr>
              <a:t>r</a:t>
            </a:r>
            <a:r>
              <a:rPr sz="3600" spc="-140" dirty="0">
                <a:latin typeface="Times New Roman"/>
                <a:cs typeface="Times New Roman"/>
              </a:rPr>
              <a:t>e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45" dirty="0">
                <a:latin typeface="Times New Roman"/>
                <a:cs typeface="Times New Roman"/>
              </a:rPr>
              <a:t>a</a:t>
            </a:r>
            <a:r>
              <a:rPr sz="3600" spc="-150" dirty="0">
                <a:latin typeface="Times New Roman"/>
                <a:cs typeface="Times New Roman"/>
              </a:rPr>
              <a:t>r</a:t>
            </a:r>
            <a:r>
              <a:rPr sz="3600" spc="-140" dirty="0">
                <a:latin typeface="Times New Roman"/>
                <a:cs typeface="Times New Roman"/>
              </a:rPr>
              <a:t>e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40" dirty="0">
                <a:latin typeface="Times New Roman"/>
                <a:cs typeface="Times New Roman"/>
              </a:rPr>
              <a:t>plenty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54" dirty="0">
                <a:latin typeface="Times New Roman"/>
                <a:cs typeface="Times New Roman"/>
              </a:rPr>
              <a:t>o</a:t>
            </a:r>
            <a:r>
              <a:rPr sz="3600" spc="-170" dirty="0">
                <a:latin typeface="Times New Roman"/>
                <a:cs typeface="Times New Roman"/>
              </a:rPr>
              <a:t>f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75" dirty="0">
                <a:latin typeface="Times New Roman"/>
                <a:cs typeface="Times New Roman"/>
              </a:rPr>
              <a:t>sof</a:t>
            </a:r>
            <a:r>
              <a:rPr sz="3600" spc="-135" dirty="0">
                <a:latin typeface="Times New Roman"/>
                <a:cs typeface="Times New Roman"/>
              </a:rPr>
              <a:t>t</a:t>
            </a:r>
            <a:r>
              <a:rPr sz="3600" spc="-240" dirty="0">
                <a:latin typeface="Times New Roman"/>
                <a:cs typeface="Times New Roman"/>
              </a:rPr>
              <a:t>w</a:t>
            </a:r>
            <a:r>
              <a:rPr sz="3600" spc="-145" dirty="0">
                <a:latin typeface="Times New Roman"/>
                <a:cs typeface="Times New Roman"/>
              </a:rPr>
              <a:t>a</a:t>
            </a:r>
            <a:r>
              <a:rPr sz="3600" spc="-140" dirty="0">
                <a:latin typeface="Times New Roman"/>
                <a:cs typeface="Times New Roman"/>
              </a:rPr>
              <a:t>re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05" dirty="0">
                <a:latin typeface="Times New Roman"/>
                <a:cs typeface="Times New Roman"/>
              </a:rPr>
              <a:t>ou</a:t>
            </a:r>
            <a:r>
              <a:rPr sz="3600" spc="-55" dirty="0">
                <a:latin typeface="Times New Roman"/>
                <a:cs typeface="Times New Roman"/>
              </a:rPr>
              <a:t>t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75" dirty="0">
                <a:latin typeface="Times New Roman"/>
                <a:cs typeface="Times New Roman"/>
              </a:rPr>
              <a:t>the</a:t>
            </a:r>
            <a:r>
              <a:rPr sz="3600" spc="-100" dirty="0">
                <a:latin typeface="Times New Roman"/>
                <a:cs typeface="Times New Roman"/>
              </a:rPr>
              <a:t>r</a:t>
            </a:r>
            <a:r>
              <a:rPr sz="3600" spc="-140" dirty="0">
                <a:latin typeface="Times New Roman"/>
                <a:cs typeface="Times New Roman"/>
              </a:rPr>
              <a:t>e</a:t>
            </a:r>
            <a:r>
              <a:rPr sz="3600" spc="50" dirty="0">
                <a:latin typeface="Times New Roman"/>
                <a:cs typeface="Times New Roman"/>
              </a:rPr>
              <a:t>;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645" dirty="0">
                <a:latin typeface="Times New Roman"/>
                <a:cs typeface="Times New Roman"/>
              </a:rPr>
              <a:t>T</a:t>
            </a:r>
            <a:r>
              <a:rPr sz="3600" spc="-155" dirty="0">
                <a:latin typeface="Times New Roman"/>
                <a:cs typeface="Times New Roman"/>
              </a:rPr>
              <a:t>od</a:t>
            </a:r>
            <a:r>
              <a:rPr sz="3600" spc="-425" dirty="0">
                <a:latin typeface="Times New Roman"/>
                <a:cs typeface="Times New Roman"/>
              </a:rPr>
              <a:t>a</a:t>
            </a:r>
            <a:r>
              <a:rPr sz="3600" spc="-200" dirty="0">
                <a:latin typeface="Times New Roman"/>
                <a:cs typeface="Times New Roman"/>
              </a:rPr>
              <a:t>y  </a:t>
            </a:r>
            <a:r>
              <a:rPr sz="3600" spc="-165" dirty="0">
                <a:latin typeface="Times New Roman"/>
                <a:cs typeface="Times New Roman"/>
              </a:rPr>
              <a:t>software </a:t>
            </a:r>
            <a:r>
              <a:rPr sz="3600" spc="-225" dirty="0">
                <a:latin typeface="Times New Roman"/>
                <a:cs typeface="Times New Roman"/>
              </a:rPr>
              <a:t>is synonymous </a:t>
            </a:r>
            <a:r>
              <a:rPr sz="3600" spc="-140" dirty="0">
                <a:latin typeface="Times New Roman"/>
                <a:cs typeface="Times New Roman"/>
              </a:rPr>
              <a:t>with</a:t>
            </a:r>
            <a:r>
              <a:rPr sz="3600" spc="270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technology.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marL="287020" marR="5080" indent="-274320">
              <a:lnSpc>
                <a:spcPts val="3890"/>
              </a:lnSpc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spc="-195" dirty="0">
                <a:latin typeface="Times New Roman"/>
                <a:cs typeface="Times New Roman"/>
              </a:rPr>
              <a:t>Software </a:t>
            </a:r>
            <a:r>
              <a:rPr sz="3600" spc="-160" dirty="0">
                <a:latin typeface="Times New Roman"/>
                <a:cs typeface="Times New Roman"/>
              </a:rPr>
              <a:t>technologies </a:t>
            </a:r>
            <a:r>
              <a:rPr sz="3600" spc="-155" dirty="0">
                <a:latin typeface="Times New Roman"/>
                <a:cs typeface="Times New Roman"/>
              </a:rPr>
              <a:t>were </a:t>
            </a:r>
            <a:r>
              <a:rPr sz="3600" spc="-195" dirty="0">
                <a:latin typeface="Times New Roman"/>
                <a:cs typeface="Times New Roman"/>
              </a:rPr>
              <a:t>possible </a:t>
            </a:r>
            <a:r>
              <a:rPr sz="3600" spc="-150" dirty="0">
                <a:latin typeface="Times New Roman"/>
                <a:cs typeface="Times New Roman"/>
              </a:rPr>
              <a:t>due </a:t>
            </a:r>
            <a:r>
              <a:rPr sz="3600" spc="-55" dirty="0">
                <a:latin typeface="Times New Roman"/>
                <a:cs typeface="Times New Roman"/>
              </a:rPr>
              <a:t>to </a:t>
            </a:r>
            <a:r>
              <a:rPr sz="3600" spc="-130" dirty="0">
                <a:latin typeface="Times New Roman"/>
                <a:cs typeface="Times New Roman"/>
              </a:rPr>
              <a:t>both  </a:t>
            </a:r>
            <a:r>
              <a:rPr sz="3600" spc="-170" dirty="0">
                <a:latin typeface="Times New Roman"/>
                <a:cs typeface="Times New Roman"/>
              </a:rPr>
              <a:t>power </a:t>
            </a:r>
            <a:r>
              <a:rPr sz="3600" spc="-215" dirty="0">
                <a:latin typeface="Times New Roman"/>
                <a:cs typeface="Times New Roman"/>
              </a:rPr>
              <a:t>of </a:t>
            </a:r>
            <a:r>
              <a:rPr sz="3600" spc="-170" dirty="0">
                <a:latin typeface="Times New Roman"/>
                <a:cs typeface="Times New Roman"/>
              </a:rPr>
              <a:t>computing </a:t>
            </a:r>
            <a:r>
              <a:rPr sz="3600" spc="-200" dirty="0">
                <a:latin typeface="Times New Roman"/>
                <a:cs typeface="Times New Roman"/>
              </a:rPr>
              <a:t>and </a:t>
            </a:r>
            <a:r>
              <a:rPr sz="3600" spc="-130" dirty="0">
                <a:latin typeface="Times New Roman"/>
                <a:cs typeface="Times New Roman"/>
              </a:rPr>
              <a:t>critical </a:t>
            </a:r>
            <a:r>
              <a:rPr sz="3600" spc="-170" dirty="0">
                <a:latin typeface="Times New Roman"/>
                <a:cs typeface="Times New Roman"/>
              </a:rPr>
              <a:t>thinking</a:t>
            </a:r>
            <a:r>
              <a:rPr sz="3600" spc="370" dirty="0">
                <a:latin typeface="Times New Roman"/>
                <a:cs typeface="Times New Roman"/>
              </a:rPr>
              <a:t> </a:t>
            </a:r>
            <a:r>
              <a:rPr sz="3600" spc="-165" dirty="0">
                <a:latin typeface="Times New Roman"/>
                <a:cs typeface="Times New Roman"/>
              </a:rPr>
              <a:t>skills.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4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722"/>
              <a:buFont typeface="Arial"/>
              <a:buChar char="•"/>
              <a:tabLst>
                <a:tab pos="287020" algn="l"/>
              </a:tabLst>
            </a:pPr>
            <a:r>
              <a:rPr sz="3600" spc="-215" dirty="0">
                <a:latin typeface="Times New Roman"/>
                <a:cs typeface="Times New Roman"/>
              </a:rPr>
              <a:t>This </a:t>
            </a:r>
            <a:r>
              <a:rPr sz="3600" spc="-145" dirty="0">
                <a:latin typeface="Times New Roman"/>
                <a:cs typeface="Times New Roman"/>
              </a:rPr>
              <a:t>course </a:t>
            </a:r>
            <a:r>
              <a:rPr sz="3600" spc="-225" dirty="0">
                <a:latin typeface="Times New Roman"/>
                <a:cs typeface="Times New Roman"/>
              </a:rPr>
              <a:t>is </a:t>
            </a:r>
            <a:r>
              <a:rPr sz="3600" spc="-150" dirty="0">
                <a:latin typeface="Times New Roman"/>
                <a:cs typeface="Times New Roman"/>
              </a:rPr>
              <a:t>about </a:t>
            </a:r>
            <a:r>
              <a:rPr sz="3600" spc="-155" dirty="0">
                <a:latin typeface="Times New Roman"/>
                <a:cs typeface="Times New Roman"/>
              </a:rPr>
              <a:t>computational </a:t>
            </a:r>
            <a:r>
              <a:rPr sz="3600" spc="-170" dirty="0">
                <a:latin typeface="Times New Roman"/>
                <a:cs typeface="Times New Roman"/>
              </a:rPr>
              <a:t>thinking</a:t>
            </a:r>
            <a:r>
              <a:rPr sz="3600" spc="375" dirty="0">
                <a:latin typeface="Times New Roman"/>
                <a:cs typeface="Times New Roman"/>
              </a:rPr>
              <a:t> </a:t>
            </a:r>
            <a:r>
              <a:rPr sz="3600" spc="-165" dirty="0">
                <a:latin typeface="Times New Roman"/>
                <a:cs typeface="Times New Roman"/>
              </a:rPr>
              <a:t>skills.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35952" y="381000"/>
            <a:ext cx="1633727" cy="2458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540" y="280771"/>
            <a:ext cx="6723380" cy="115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86385">
              <a:lnSpc>
                <a:spcPct val="115599"/>
              </a:lnSpc>
              <a:spcBef>
                <a:spcPts val="100"/>
              </a:spcBef>
              <a:buSzPct val="8437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200" spc="-135" dirty="0">
                <a:latin typeface="Times New Roman"/>
                <a:cs typeface="Times New Roman"/>
              </a:rPr>
              <a:t>Computational </a:t>
            </a:r>
            <a:r>
              <a:rPr sz="3200" spc="-175" dirty="0">
                <a:latin typeface="Times New Roman"/>
                <a:cs typeface="Times New Roman"/>
              </a:rPr>
              <a:t>Thinking </a:t>
            </a:r>
            <a:r>
              <a:rPr sz="3200" spc="-204" dirty="0">
                <a:latin typeface="Times New Roman"/>
                <a:cs typeface="Times New Roman"/>
              </a:rPr>
              <a:t>is </a:t>
            </a:r>
            <a:r>
              <a:rPr sz="3200" spc="-254" dirty="0">
                <a:latin typeface="Times New Roman"/>
                <a:cs typeface="Times New Roman"/>
              </a:rPr>
              <a:t>a </a:t>
            </a:r>
            <a:r>
              <a:rPr sz="3200" spc="-35" dirty="0">
                <a:latin typeface="Times New Roman"/>
                <a:cs typeface="Times New Roman"/>
              </a:rPr>
              <a:t>term </a:t>
            </a:r>
            <a:r>
              <a:rPr sz="3200" spc="-150" dirty="0">
                <a:latin typeface="Times New Roman"/>
                <a:cs typeface="Times New Roman"/>
              </a:rPr>
              <a:t>coined </a:t>
            </a:r>
            <a:r>
              <a:rPr sz="3200" spc="-270" dirty="0">
                <a:latin typeface="Times New Roman"/>
                <a:cs typeface="Times New Roman"/>
              </a:rPr>
              <a:t>by  </a:t>
            </a:r>
            <a:r>
              <a:rPr sz="3200" spc="-120" dirty="0">
                <a:latin typeface="Times New Roman"/>
                <a:cs typeface="Times New Roman"/>
              </a:rPr>
              <a:t>Jeannette </a:t>
            </a:r>
            <a:r>
              <a:rPr sz="3200" spc="-125" dirty="0">
                <a:latin typeface="Times New Roman"/>
                <a:cs typeface="Times New Roman"/>
              </a:rPr>
              <a:t>M.Wing </a:t>
            </a:r>
            <a:r>
              <a:rPr sz="3200" spc="-190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CMU.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3176397"/>
            <a:ext cx="8409305" cy="2617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350" indent="-274320">
              <a:lnSpc>
                <a:spcPct val="100000"/>
              </a:lnSpc>
              <a:spcBef>
                <a:spcPts val="105"/>
              </a:spcBef>
              <a:buSzPct val="84375"/>
              <a:buFont typeface="Arial"/>
              <a:buChar char="•"/>
              <a:tabLst>
                <a:tab pos="286385" algn="l"/>
                <a:tab pos="287020" algn="l"/>
                <a:tab pos="3025775" algn="l"/>
                <a:tab pos="3562350" algn="l"/>
                <a:tab pos="4592955" algn="l"/>
                <a:tab pos="5772150" algn="l"/>
                <a:tab pos="7322820" algn="l"/>
                <a:tab pos="7910830" algn="l"/>
              </a:tabLst>
            </a:pPr>
            <a:r>
              <a:rPr sz="3200" spc="-165" dirty="0">
                <a:latin typeface="Times New Roman"/>
                <a:cs typeface="Times New Roman"/>
              </a:rPr>
              <a:t>Com</a:t>
            </a:r>
            <a:r>
              <a:rPr sz="3200" spc="-225" dirty="0">
                <a:latin typeface="Times New Roman"/>
                <a:cs typeface="Times New Roman"/>
              </a:rPr>
              <a:t>m</a:t>
            </a:r>
            <a:r>
              <a:rPr sz="3200" spc="-175" dirty="0">
                <a:latin typeface="Times New Roman"/>
                <a:cs typeface="Times New Roman"/>
              </a:rPr>
              <a:t>unic</a:t>
            </a:r>
            <a:r>
              <a:rPr sz="3200" spc="-215" dirty="0">
                <a:latin typeface="Times New Roman"/>
                <a:cs typeface="Times New Roman"/>
              </a:rPr>
              <a:t>a</a:t>
            </a:r>
            <a:r>
              <a:rPr sz="3200" spc="-125" dirty="0">
                <a:latin typeface="Times New Roman"/>
                <a:cs typeface="Times New Roman"/>
              </a:rPr>
              <a:t>tions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25" dirty="0">
                <a:latin typeface="Times New Roman"/>
                <a:cs typeface="Times New Roman"/>
              </a:rPr>
              <a:t>o</a:t>
            </a:r>
            <a:r>
              <a:rPr sz="3200" spc="-150" dirty="0">
                <a:latin typeface="Times New Roman"/>
                <a:cs typeface="Times New Roman"/>
              </a:rPr>
              <a:t>f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65" dirty="0">
                <a:latin typeface="Times New Roman"/>
                <a:cs typeface="Times New Roman"/>
              </a:rPr>
              <a:t>A</a:t>
            </a:r>
            <a:r>
              <a:rPr sz="3200" spc="-240" dirty="0">
                <a:latin typeface="Times New Roman"/>
                <a:cs typeface="Times New Roman"/>
              </a:rPr>
              <a:t>C</a:t>
            </a:r>
            <a:r>
              <a:rPr sz="3200" spc="-310" dirty="0">
                <a:latin typeface="Times New Roman"/>
                <a:cs typeface="Times New Roman"/>
              </a:rPr>
              <a:t>M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30" dirty="0">
                <a:latin typeface="Times New Roman"/>
                <a:cs typeface="Times New Roman"/>
              </a:rPr>
              <a:t>a</a:t>
            </a:r>
            <a:r>
              <a:rPr sz="3200" spc="15" dirty="0">
                <a:latin typeface="Times New Roman"/>
                <a:cs typeface="Times New Roman"/>
              </a:rPr>
              <a:t>r</a:t>
            </a:r>
            <a:r>
              <a:rPr sz="3200" spc="-110" dirty="0">
                <a:latin typeface="Times New Roman"/>
                <a:cs typeface="Times New Roman"/>
              </a:rPr>
              <a:t>tic</a:t>
            </a:r>
            <a:r>
              <a:rPr sz="3200" spc="-90" dirty="0">
                <a:latin typeface="Times New Roman"/>
                <a:cs typeface="Times New Roman"/>
              </a:rPr>
              <a:t>l</a:t>
            </a:r>
            <a:r>
              <a:rPr sz="3200" spc="-12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35" dirty="0">
                <a:latin typeface="Times New Roman"/>
                <a:cs typeface="Times New Roman"/>
              </a:rPr>
              <a:t>au</a:t>
            </a:r>
            <a:r>
              <a:rPr sz="3200" spc="-70" dirty="0">
                <a:latin typeface="Times New Roman"/>
                <a:cs typeface="Times New Roman"/>
              </a:rPr>
              <a:t>t</a:t>
            </a:r>
            <a:r>
              <a:rPr sz="3200" spc="-110" dirty="0">
                <a:latin typeface="Times New Roman"/>
                <a:cs typeface="Times New Roman"/>
              </a:rPr>
              <a:t>ho</a:t>
            </a:r>
            <a:r>
              <a:rPr sz="3200" spc="-114" dirty="0">
                <a:latin typeface="Times New Roman"/>
                <a:cs typeface="Times New Roman"/>
              </a:rPr>
              <a:t>r</a:t>
            </a:r>
            <a:r>
              <a:rPr sz="3200" spc="-130" dirty="0">
                <a:latin typeface="Times New Roman"/>
                <a:cs typeface="Times New Roman"/>
              </a:rPr>
              <a:t>ed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70" dirty="0">
                <a:latin typeface="Times New Roman"/>
                <a:cs typeface="Times New Roman"/>
              </a:rPr>
              <a:t>b</a:t>
            </a:r>
            <a:r>
              <a:rPr sz="3200" spc="-215" dirty="0">
                <a:latin typeface="Times New Roman"/>
                <a:cs typeface="Times New Roman"/>
              </a:rPr>
              <a:t>y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80" dirty="0">
                <a:latin typeface="Times New Roman"/>
                <a:cs typeface="Times New Roman"/>
              </a:rPr>
              <a:t>her  </a:t>
            </a:r>
            <a:r>
              <a:rPr sz="3200" spc="-110" dirty="0">
                <a:latin typeface="Times New Roman"/>
                <a:cs typeface="Times New Roman"/>
              </a:rPr>
              <a:t>introduced </a:t>
            </a:r>
            <a:r>
              <a:rPr sz="3200" spc="-95" dirty="0">
                <a:latin typeface="Times New Roman"/>
                <a:cs typeface="Times New Roman"/>
              </a:rPr>
              <a:t>the </a:t>
            </a:r>
            <a:r>
              <a:rPr sz="3200" spc="-90" dirty="0">
                <a:latin typeface="Times New Roman"/>
                <a:cs typeface="Times New Roman"/>
              </a:rPr>
              <a:t>tenets </a:t>
            </a:r>
            <a:r>
              <a:rPr sz="3200" spc="-190" dirty="0">
                <a:latin typeface="Times New Roman"/>
                <a:cs typeface="Times New Roman"/>
              </a:rPr>
              <a:t>of </a:t>
            </a:r>
            <a:r>
              <a:rPr sz="3200" spc="-140" dirty="0">
                <a:latin typeface="Times New Roman"/>
                <a:cs typeface="Times New Roman"/>
              </a:rPr>
              <a:t>Computational</a:t>
            </a:r>
            <a:r>
              <a:rPr sz="3200" spc="-265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Thinking.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43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5"/>
              </a:spcBef>
              <a:buSzPct val="8437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200" spc="-135" dirty="0">
                <a:latin typeface="Times New Roman"/>
                <a:cs typeface="Times New Roman"/>
              </a:rPr>
              <a:t>Computational </a:t>
            </a:r>
            <a:r>
              <a:rPr sz="3200" spc="-175" dirty="0">
                <a:latin typeface="Times New Roman"/>
                <a:cs typeface="Times New Roman"/>
              </a:rPr>
              <a:t>Thinking </a:t>
            </a:r>
            <a:r>
              <a:rPr sz="3200" spc="-204" dirty="0">
                <a:latin typeface="Times New Roman"/>
                <a:cs typeface="Times New Roman"/>
              </a:rPr>
              <a:t>is </a:t>
            </a:r>
            <a:r>
              <a:rPr sz="3200" spc="-165" dirty="0">
                <a:latin typeface="Times New Roman"/>
                <a:cs typeface="Times New Roman"/>
              </a:rPr>
              <a:t>all </a:t>
            </a:r>
            <a:r>
              <a:rPr sz="3200" spc="-130" dirty="0">
                <a:latin typeface="Times New Roman"/>
                <a:cs typeface="Times New Roman"/>
              </a:rPr>
              <a:t>about </a:t>
            </a:r>
            <a:r>
              <a:rPr sz="3200" spc="-95" dirty="0">
                <a:latin typeface="Times New Roman"/>
                <a:cs typeface="Times New Roman"/>
              </a:rPr>
              <a:t>the </a:t>
            </a:r>
            <a:r>
              <a:rPr sz="3200" spc="-270" dirty="0">
                <a:latin typeface="Times New Roman"/>
                <a:cs typeface="Times New Roman"/>
              </a:rPr>
              <a:t>ways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130" dirty="0">
                <a:latin typeface="Times New Roman"/>
                <a:cs typeface="Times New Roman"/>
              </a:rPr>
              <a:t>think  </a:t>
            </a:r>
            <a:r>
              <a:rPr sz="3200" spc="-165" dirty="0">
                <a:latin typeface="Times New Roman"/>
                <a:cs typeface="Times New Roman"/>
              </a:rPr>
              <a:t>like </a:t>
            </a:r>
            <a:r>
              <a:rPr sz="3200" spc="-250" dirty="0">
                <a:latin typeface="Times New Roman"/>
                <a:cs typeface="Times New Roman"/>
              </a:rPr>
              <a:t>a </a:t>
            </a:r>
            <a:r>
              <a:rPr sz="3200" spc="-105" dirty="0">
                <a:latin typeface="Times New Roman"/>
                <a:cs typeface="Times New Roman"/>
              </a:rPr>
              <a:t>computer</a:t>
            </a:r>
            <a:r>
              <a:rPr sz="3200" spc="18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scientist.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517905"/>
            <a:ext cx="5250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310" dirty="0">
                <a:latin typeface="Times New Roman"/>
                <a:cs typeface="Times New Roman"/>
              </a:rPr>
              <a:t>What </a:t>
            </a:r>
            <a:r>
              <a:rPr sz="3600" i="1" spc="-325" dirty="0">
                <a:latin typeface="Times New Roman"/>
                <a:cs typeface="Times New Roman"/>
              </a:rPr>
              <a:t>is </a:t>
            </a:r>
            <a:r>
              <a:rPr sz="3600" i="1" spc="-395" dirty="0">
                <a:latin typeface="Times New Roman"/>
                <a:cs typeface="Times New Roman"/>
              </a:rPr>
              <a:t>computer </a:t>
            </a:r>
            <a:r>
              <a:rPr sz="3600" i="1" spc="-415" dirty="0">
                <a:latin typeface="Times New Roman"/>
                <a:cs typeface="Times New Roman"/>
              </a:rPr>
              <a:t>science </a:t>
            </a:r>
            <a:r>
              <a:rPr sz="3600" i="1" spc="-215" dirty="0">
                <a:latin typeface="Times New Roman"/>
                <a:cs typeface="Times New Roman"/>
              </a:rPr>
              <a:t>all</a:t>
            </a:r>
            <a:r>
              <a:rPr sz="3600" i="1" spc="-55" dirty="0">
                <a:latin typeface="Times New Roman"/>
                <a:cs typeface="Times New Roman"/>
              </a:rPr>
              <a:t> </a:t>
            </a:r>
            <a:r>
              <a:rPr sz="3600" i="1" spc="-365" dirty="0">
                <a:latin typeface="Times New Roman"/>
                <a:cs typeface="Times New Roman"/>
              </a:rPr>
              <a:t>about</a:t>
            </a:r>
            <a:r>
              <a:rPr sz="3600" spc="-365" dirty="0">
                <a:latin typeface="Times New Roman"/>
                <a:cs typeface="Times New Roman"/>
              </a:rPr>
              <a:t>?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767966"/>
            <a:ext cx="48971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024380" algn="l"/>
                <a:tab pos="2056130" algn="l"/>
                <a:tab pos="3063875" algn="l"/>
                <a:tab pos="3614420" algn="l"/>
                <a:tab pos="4190365" algn="l"/>
              </a:tabLst>
            </a:pPr>
            <a:r>
              <a:rPr sz="3600" spc="-120" dirty="0">
                <a:latin typeface="Times New Roman"/>
                <a:cs typeface="Times New Roman"/>
              </a:rPr>
              <a:t>Computer		</a:t>
            </a:r>
            <a:r>
              <a:rPr sz="3600" spc="-220" dirty="0">
                <a:latin typeface="Times New Roman"/>
                <a:cs typeface="Times New Roman"/>
              </a:rPr>
              <a:t>Science	</a:t>
            </a:r>
            <a:r>
              <a:rPr sz="3600" spc="-225" dirty="0">
                <a:latin typeface="Times New Roman"/>
                <a:cs typeface="Times New Roman"/>
              </a:rPr>
              <a:t>is	</a:t>
            </a:r>
            <a:r>
              <a:rPr sz="3600" spc="-105" dirty="0">
                <a:latin typeface="Times New Roman"/>
                <a:cs typeface="Times New Roman"/>
              </a:rPr>
              <a:t>the  </a:t>
            </a:r>
            <a:r>
              <a:rPr sz="3600" spc="-5" dirty="0">
                <a:latin typeface="Times New Roman"/>
                <a:cs typeface="Times New Roman"/>
              </a:rPr>
              <a:t>r</a:t>
            </a:r>
            <a:r>
              <a:rPr sz="3600" spc="-95" dirty="0">
                <a:latin typeface="Times New Roman"/>
                <a:cs typeface="Times New Roman"/>
              </a:rPr>
              <a:t>ep</a:t>
            </a:r>
            <a:r>
              <a:rPr sz="3600" spc="-110" dirty="0">
                <a:latin typeface="Times New Roman"/>
                <a:cs typeface="Times New Roman"/>
              </a:rPr>
              <a:t>r</a:t>
            </a:r>
            <a:r>
              <a:rPr sz="3600" spc="-130" dirty="0">
                <a:latin typeface="Times New Roman"/>
                <a:cs typeface="Times New Roman"/>
              </a:rPr>
              <a:t>esent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00" dirty="0">
                <a:latin typeface="Times New Roman"/>
                <a:cs typeface="Times New Roman"/>
              </a:rPr>
              <a:t>an</a:t>
            </a:r>
            <a:r>
              <a:rPr sz="3600" spc="-204" dirty="0">
                <a:latin typeface="Times New Roman"/>
                <a:cs typeface="Times New Roman"/>
              </a:rPr>
              <a:t>d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00" dirty="0">
                <a:latin typeface="Times New Roman"/>
                <a:cs typeface="Times New Roman"/>
              </a:rPr>
              <a:t>manipul</a:t>
            </a:r>
            <a:r>
              <a:rPr sz="3600" spc="-229" dirty="0">
                <a:latin typeface="Times New Roman"/>
                <a:cs typeface="Times New Roman"/>
              </a:rPr>
              <a:t>a</a:t>
            </a:r>
            <a:r>
              <a:rPr sz="3600" spc="-45" dirty="0">
                <a:latin typeface="Times New Roman"/>
                <a:cs typeface="Times New Roman"/>
              </a:rPr>
              <a:t>te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09057" y="1767966"/>
            <a:ext cx="32632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marR="5080" indent="-302260">
              <a:lnSpc>
                <a:spcPct val="100000"/>
              </a:lnSpc>
              <a:spcBef>
                <a:spcPts val="100"/>
              </a:spcBef>
              <a:tabLst>
                <a:tab pos="1219835" algn="l"/>
                <a:tab pos="1286510" algn="l"/>
                <a:tab pos="1876425" algn="l"/>
                <a:tab pos="2905125" algn="l"/>
              </a:tabLst>
            </a:pPr>
            <a:r>
              <a:rPr sz="3600" spc="-125" dirty="0">
                <a:latin typeface="Times New Roman"/>
                <a:cs typeface="Times New Roman"/>
              </a:rPr>
              <a:t>stu</a:t>
            </a:r>
            <a:r>
              <a:rPr sz="3600" spc="-225" dirty="0">
                <a:latin typeface="Times New Roman"/>
                <a:cs typeface="Times New Roman"/>
              </a:rPr>
              <a:t>d</a:t>
            </a:r>
            <a:r>
              <a:rPr sz="3600" spc="-300" dirty="0">
                <a:latin typeface="Times New Roman"/>
                <a:cs typeface="Times New Roman"/>
              </a:rPr>
              <a:t>y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54" dirty="0">
                <a:latin typeface="Times New Roman"/>
                <a:cs typeface="Times New Roman"/>
              </a:rPr>
              <a:t>o</a:t>
            </a:r>
            <a:r>
              <a:rPr sz="3600" spc="-170" dirty="0">
                <a:latin typeface="Times New Roman"/>
                <a:cs typeface="Times New Roman"/>
              </a:rPr>
              <a:t>f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25" dirty="0">
                <a:latin typeface="Times New Roman"/>
                <a:cs typeface="Times New Roman"/>
              </a:rPr>
              <a:t>h</a:t>
            </a:r>
            <a:r>
              <a:rPr sz="3600" spc="-275" dirty="0">
                <a:latin typeface="Times New Roman"/>
                <a:cs typeface="Times New Roman"/>
              </a:rPr>
              <a:t>o</a:t>
            </a:r>
            <a:r>
              <a:rPr sz="3600" spc="-200" dirty="0">
                <a:latin typeface="Times New Roman"/>
                <a:cs typeface="Times New Roman"/>
              </a:rPr>
              <a:t>w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40" dirty="0">
                <a:latin typeface="Times New Roman"/>
                <a:cs typeface="Times New Roman"/>
              </a:rPr>
              <a:t>to  </a:t>
            </a:r>
            <a:r>
              <a:rPr sz="3600" spc="-105" dirty="0">
                <a:latin typeface="Times New Roman"/>
                <a:cs typeface="Times New Roman"/>
              </a:rPr>
              <a:t>the</a:t>
            </a:r>
            <a:r>
              <a:rPr sz="3600" dirty="0">
                <a:latin typeface="Times New Roman"/>
                <a:cs typeface="Times New Roman"/>
              </a:rPr>
              <a:t>		</a:t>
            </a:r>
            <a:r>
              <a:rPr sz="3600" spc="-145" dirty="0">
                <a:latin typeface="Times New Roman"/>
                <a:cs typeface="Times New Roman"/>
              </a:rPr>
              <a:t>info</a:t>
            </a:r>
            <a:r>
              <a:rPr sz="3600" spc="-20" dirty="0">
                <a:latin typeface="Times New Roman"/>
                <a:cs typeface="Times New Roman"/>
              </a:rPr>
              <a:t>r</a:t>
            </a:r>
            <a:r>
              <a:rPr sz="3600" spc="-320" dirty="0">
                <a:latin typeface="Times New Roman"/>
                <a:cs typeface="Times New Roman"/>
              </a:rPr>
              <a:t>m</a:t>
            </a:r>
            <a:r>
              <a:rPr sz="3600" spc="-210" dirty="0">
                <a:latin typeface="Times New Roman"/>
                <a:cs typeface="Times New Roman"/>
              </a:rPr>
              <a:t>a</a:t>
            </a:r>
            <a:r>
              <a:rPr sz="3600" spc="-110" dirty="0">
                <a:latin typeface="Times New Roman"/>
                <a:cs typeface="Times New Roman"/>
              </a:rPr>
              <a:t>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2865501"/>
            <a:ext cx="82861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120" dirty="0">
                <a:latin typeface="Times New Roman"/>
                <a:cs typeface="Times New Roman"/>
              </a:rPr>
              <a:t>inherent </a:t>
            </a:r>
            <a:r>
              <a:rPr sz="3600" spc="-55" dirty="0">
                <a:latin typeface="Times New Roman"/>
                <a:cs typeface="Times New Roman"/>
              </a:rPr>
              <a:t>to </a:t>
            </a:r>
            <a:r>
              <a:rPr sz="3600" spc="-105" dirty="0">
                <a:latin typeface="Times New Roman"/>
                <a:cs typeface="Times New Roman"/>
              </a:rPr>
              <a:t>natural, </a:t>
            </a:r>
            <a:r>
              <a:rPr sz="3600" spc="-120" dirty="0">
                <a:latin typeface="Times New Roman"/>
                <a:cs typeface="Times New Roman"/>
              </a:rPr>
              <a:t>engineered, </a:t>
            </a:r>
            <a:r>
              <a:rPr sz="3600" spc="-210" dirty="0">
                <a:latin typeface="Times New Roman"/>
                <a:cs typeface="Times New Roman"/>
              </a:rPr>
              <a:t>social </a:t>
            </a:r>
            <a:r>
              <a:rPr sz="3600" spc="-200" dirty="0">
                <a:latin typeface="Times New Roman"/>
                <a:cs typeface="Times New Roman"/>
              </a:rPr>
              <a:t>and </a:t>
            </a:r>
            <a:r>
              <a:rPr sz="3600" spc="-110" dirty="0">
                <a:latin typeface="Times New Roman"/>
                <a:cs typeface="Times New Roman"/>
              </a:rPr>
              <a:t>artistic  </a:t>
            </a:r>
            <a:r>
              <a:rPr sz="3600" spc="-170" dirty="0">
                <a:latin typeface="Times New Roman"/>
                <a:cs typeface="Times New Roman"/>
              </a:rPr>
              <a:t>systems.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204" y="39623"/>
            <a:ext cx="8927592" cy="6557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67050" y="833374"/>
            <a:ext cx="25177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0" dirty="0"/>
              <a:t>Figure: </a:t>
            </a:r>
            <a:r>
              <a:rPr sz="2000" spc="-220" dirty="0">
                <a:latin typeface="Arial"/>
                <a:cs typeface="Arial"/>
              </a:rPr>
              <a:t>Jeannette’s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spc="-75" dirty="0"/>
              <a:t>Article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4018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Computational</a:t>
            </a:r>
            <a:r>
              <a:rPr spc="-560" dirty="0"/>
              <a:t> </a:t>
            </a:r>
            <a:r>
              <a:rPr spc="-200" dirty="0"/>
              <a:t>Thinking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02888"/>
            <a:ext cx="8529320" cy="479679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310"/>
              </a:spcBef>
              <a:buSzPct val="84375"/>
              <a:buFont typeface="Arial"/>
              <a:buChar char="•"/>
              <a:tabLst>
                <a:tab pos="287020" algn="l"/>
              </a:tabLst>
            </a:pPr>
            <a:r>
              <a:rPr sz="3200" spc="-114" dirty="0">
                <a:latin typeface="Times New Roman"/>
                <a:cs typeface="Times New Roman"/>
              </a:rPr>
              <a:t>Computers </a:t>
            </a:r>
            <a:r>
              <a:rPr sz="3200" spc="-195" dirty="0">
                <a:latin typeface="Times New Roman"/>
                <a:cs typeface="Times New Roman"/>
              </a:rPr>
              <a:t>can </a:t>
            </a:r>
            <a:r>
              <a:rPr sz="3200" spc="-145" dirty="0">
                <a:latin typeface="Times New Roman"/>
                <a:cs typeface="Times New Roman"/>
              </a:rPr>
              <a:t>be </a:t>
            </a:r>
            <a:r>
              <a:rPr sz="3200" spc="-160" dirty="0">
                <a:latin typeface="Times New Roman"/>
                <a:cs typeface="Times New Roman"/>
              </a:rPr>
              <a:t>used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145" dirty="0">
                <a:latin typeface="Times New Roman"/>
                <a:cs typeface="Times New Roman"/>
              </a:rPr>
              <a:t>help </a:t>
            </a:r>
            <a:r>
              <a:rPr sz="3200" spc="-190" dirty="0">
                <a:latin typeface="Times New Roman"/>
                <a:cs typeface="Times New Roman"/>
              </a:rPr>
              <a:t>us solve</a:t>
            </a:r>
            <a:r>
              <a:rPr sz="3200" spc="37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problems.</a:t>
            </a:r>
            <a:endParaRPr sz="3200">
              <a:latin typeface="Times New Roman"/>
              <a:cs typeface="Times New Roman"/>
            </a:endParaRPr>
          </a:p>
          <a:p>
            <a:pPr marL="286385" marR="5715" indent="-274320" algn="just">
              <a:lnSpc>
                <a:spcPct val="90000"/>
              </a:lnSpc>
              <a:spcBef>
                <a:spcPts val="600"/>
              </a:spcBef>
              <a:buSzPct val="84375"/>
              <a:buFont typeface="Arial"/>
              <a:buChar char="•"/>
              <a:tabLst>
                <a:tab pos="287020" algn="l"/>
              </a:tabLst>
            </a:pPr>
            <a:r>
              <a:rPr sz="3200" spc="-180" dirty="0">
                <a:latin typeface="Times New Roman"/>
                <a:cs typeface="Times New Roman"/>
              </a:rPr>
              <a:t>However, </a:t>
            </a:r>
            <a:r>
              <a:rPr sz="3200" spc="-135" dirty="0">
                <a:latin typeface="Times New Roman"/>
                <a:cs typeface="Times New Roman"/>
              </a:rPr>
              <a:t>before </a:t>
            </a:r>
            <a:r>
              <a:rPr sz="3200" spc="-250" dirty="0">
                <a:latin typeface="Times New Roman"/>
                <a:cs typeface="Times New Roman"/>
              </a:rPr>
              <a:t>a </a:t>
            </a:r>
            <a:r>
              <a:rPr sz="3200" spc="-130" dirty="0">
                <a:latin typeface="Times New Roman"/>
                <a:cs typeface="Times New Roman"/>
              </a:rPr>
              <a:t>problem </a:t>
            </a:r>
            <a:r>
              <a:rPr sz="3200" spc="-185" dirty="0">
                <a:latin typeface="Times New Roman"/>
                <a:cs typeface="Times New Roman"/>
              </a:rPr>
              <a:t>can </a:t>
            </a:r>
            <a:r>
              <a:rPr sz="3200" spc="-145" dirty="0">
                <a:latin typeface="Times New Roman"/>
                <a:cs typeface="Times New Roman"/>
              </a:rPr>
              <a:t>be </a:t>
            </a:r>
            <a:r>
              <a:rPr sz="3200" spc="-100" dirty="0">
                <a:latin typeface="Times New Roman"/>
                <a:cs typeface="Times New Roman"/>
              </a:rPr>
              <a:t>tackled, </a:t>
            </a:r>
            <a:r>
              <a:rPr sz="3200" spc="-95" dirty="0">
                <a:latin typeface="Times New Roman"/>
                <a:cs typeface="Times New Roman"/>
              </a:rPr>
              <a:t>the </a:t>
            </a:r>
            <a:r>
              <a:rPr sz="3200" spc="-130" dirty="0">
                <a:latin typeface="Times New Roman"/>
                <a:cs typeface="Times New Roman"/>
              </a:rPr>
              <a:t>problem  </a:t>
            </a:r>
            <a:r>
              <a:rPr sz="3200" spc="-140" dirty="0">
                <a:latin typeface="Times New Roman"/>
                <a:cs typeface="Times New Roman"/>
              </a:rPr>
              <a:t>itself </a:t>
            </a:r>
            <a:r>
              <a:rPr sz="3200" spc="-180" dirty="0">
                <a:latin typeface="Times New Roman"/>
                <a:cs typeface="Times New Roman"/>
              </a:rPr>
              <a:t>and </a:t>
            </a:r>
            <a:r>
              <a:rPr sz="3200" spc="-95" dirty="0">
                <a:latin typeface="Times New Roman"/>
                <a:cs typeface="Times New Roman"/>
              </a:rPr>
              <a:t>the </a:t>
            </a:r>
            <a:r>
              <a:rPr sz="3200" spc="-270" dirty="0">
                <a:latin typeface="Times New Roman"/>
                <a:cs typeface="Times New Roman"/>
              </a:rPr>
              <a:t>ways </a:t>
            </a:r>
            <a:r>
              <a:rPr sz="3200" spc="-140" dirty="0">
                <a:latin typeface="Times New Roman"/>
                <a:cs typeface="Times New Roman"/>
              </a:rPr>
              <a:t>in </a:t>
            </a:r>
            <a:r>
              <a:rPr sz="3200" spc="-175" dirty="0">
                <a:latin typeface="Times New Roman"/>
                <a:cs typeface="Times New Roman"/>
              </a:rPr>
              <a:t>which </a:t>
            </a:r>
            <a:r>
              <a:rPr sz="3200" spc="-60" dirty="0">
                <a:latin typeface="Times New Roman"/>
                <a:cs typeface="Times New Roman"/>
              </a:rPr>
              <a:t>it </a:t>
            </a:r>
            <a:r>
              <a:rPr sz="3200" spc="-145" dirty="0">
                <a:latin typeface="Times New Roman"/>
                <a:cs typeface="Times New Roman"/>
              </a:rPr>
              <a:t>could be </a:t>
            </a:r>
            <a:r>
              <a:rPr sz="3200" spc="-180" dirty="0">
                <a:latin typeface="Times New Roman"/>
                <a:cs typeface="Times New Roman"/>
              </a:rPr>
              <a:t>solved </a:t>
            </a:r>
            <a:r>
              <a:rPr sz="3200" spc="-130" dirty="0">
                <a:latin typeface="Times New Roman"/>
                <a:cs typeface="Times New Roman"/>
              </a:rPr>
              <a:t>need </a:t>
            </a:r>
            <a:r>
              <a:rPr sz="3200" spc="-45" dirty="0">
                <a:latin typeface="Times New Roman"/>
                <a:cs typeface="Times New Roman"/>
              </a:rPr>
              <a:t>to  </a:t>
            </a:r>
            <a:r>
              <a:rPr sz="3200" spc="-145" dirty="0">
                <a:latin typeface="Times New Roman"/>
                <a:cs typeface="Times New Roman"/>
              </a:rPr>
              <a:t>be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understood.</a:t>
            </a:r>
            <a:endParaRPr sz="3200">
              <a:latin typeface="Times New Roman"/>
              <a:cs typeface="Times New Roman"/>
            </a:endParaRPr>
          </a:p>
          <a:p>
            <a:pPr marL="287020" indent="-274320" algn="just">
              <a:lnSpc>
                <a:spcPct val="100000"/>
              </a:lnSpc>
              <a:spcBef>
                <a:spcPts val="215"/>
              </a:spcBef>
              <a:buSzPct val="84375"/>
              <a:buFont typeface="Arial"/>
              <a:buChar char="•"/>
              <a:tabLst>
                <a:tab pos="287020" algn="l"/>
              </a:tabLst>
            </a:pPr>
            <a:r>
              <a:rPr sz="3200" spc="-140" dirty="0">
                <a:latin typeface="Times New Roman"/>
                <a:cs typeface="Times New Roman"/>
              </a:rPr>
              <a:t>Computational </a:t>
            </a:r>
            <a:r>
              <a:rPr sz="3200" spc="-150" dirty="0">
                <a:latin typeface="Times New Roman"/>
                <a:cs typeface="Times New Roman"/>
              </a:rPr>
              <a:t>thinking </a:t>
            </a:r>
            <a:r>
              <a:rPr sz="3200" spc="-195" dirty="0">
                <a:latin typeface="Times New Roman"/>
                <a:cs typeface="Times New Roman"/>
              </a:rPr>
              <a:t>allows </a:t>
            </a:r>
            <a:r>
              <a:rPr sz="3200" spc="-190" dirty="0">
                <a:latin typeface="Times New Roman"/>
                <a:cs typeface="Times New Roman"/>
              </a:rPr>
              <a:t>us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135" dirty="0">
                <a:latin typeface="Times New Roman"/>
                <a:cs typeface="Times New Roman"/>
              </a:rPr>
              <a:t>do</a:t>
            </a:r>
            <a:r>
              <a:rPr sz="3200" spc="27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this.</a:t>
            </a:r>
            <a:endParaRPr sz="32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ts val="3460"/>
              </a:lnSpc>
              <a:spcBef>
                <a:spcPts val="650"/>
              </a:spcBef>
              <a:buSzPct val="84375"/>
              <a:buFont typeface="Arial"/>
              <a:buChar char="•"/>
              <a:tabLst>
                <a:tab pos="287020" algn="l"/>
              </a:tabLst>
            </a:pPr>
            <a:r>
              <a:rPr sz="3200" spc="-140" dirty="0">
                <a:latin typeface="Times New Roman"/>
                <a:cs typeface="Times New Roman"/>
              </a:rPr>
              <a:t>Computational </a:t>
            </a:r>
            <a:r>
              <a:rPr sz="3200" spc="-150" dirty="0">
                <a:latin typeface="Times New Roman"/>
                <a:cs typeface="Times New Roman"/>
              </a:rPr>
              <a:t>thinking </a:t>
            </a:r>
            <a:r>
              <a:rPr sz="3200" spc="-190" dirty="0">
                <a:latin typeface="Times New Roman"/>
                <a:cs typeface="Times New Roman"/>
              </a:rPr>
              <a:t>allows us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145" dirty="0">
                <a:latin typeface="Times New Roman"/>
                <a:cs typeface="Times New Roman"/>
              </a:rPr>
              <a:t>take </a:t>
            </a:r>
            <a:r>
              <a:rPr sz="3200" spc="-254" dirty="0">
                <a:latin typeface="Times New Roman"/>
                <a:cs typeface="Times New Roman"/>
              </a:rPr>
              <a:t>a </a:t>
            </a:r>
            <a:r>
              <a:rPr sz="3200" spc="-150" dirty="0">
                <a:latin typeface="Times New Roman"/>
                <a:cs typeface="Times New Roman"/>
              </a:rPr>
              <a:t>complex  </a:t>
            </a:r>
            <a:r>
              <a:rPr sz="3200" spc="-100" dirty="0">
                <a:latin typeface="Times New Roman"/>
                <a:cs typeface="Times New Roman"/>
              </a:rPr>
              <a:t>problem, </a:t>
            </a:r>
            <a:r>
              <a:rPr sz="3200" spc="-120" dirty="0">
                <a:latin typeface="Times New Roman"/>
                <a:cs typeface="Times New Roman"/>
              </a:rPr>
              <a:t>understand </a:t>
            </a:r>
            <a:r>
              <a:rPr sz="3200" spc="-155" dirty="0">
                <a:latin typeface="Times New Roman"/>
                <a:cs typeface="Times New Roman"/>
              </a:rPr>
              <a:t>what </a:t>
            </a:r>
            <a:r>
              <a:rPr sz="3200" spc="-95" dirty="0">
                <a:latin typeface="Times New Roman"/>
                <a:cs typeface="Times New Roman"/>
              </a:rPr>
              <a:t>the </a:t>
            </a:r>
            <a:r>
              <a:rPr sz="3200" spc="-135" dirty="0">
                <a:latin typeface="Times New Roman"/>
                <a:cs typeface="Times New Roman"/>
              </a:rPr>
              <a:t>problem </a:t>
            </a:r>
            <a:r>
              <a:rPr sz="3200" spc="-204" dirty="0">
                <a:latin typeface="Times New Roman"/>
                <a:cs typeface="Times New Roman"/>
              </a:rPr>
              <a:t>is </a:t>
            </a:r>
            <a:r>
              <a:rPr sz="3200" spc="-180" dirty="0">
                <a:latin typeface="Times New Roman"/>
                <a:cs typeface="Times New Roman"/>
              </a:rPr>
              <a:t>and </a:t>
            </a:r>
            <a:r>
              <a:rPr sz="3200" spc="-165" dirty="0">
                <a:latin typeface="Times New Roman"/>
                <a:cs typeface="Times New Roman"/>
              </a:rPr>
              <a:t>develop  </a:t>
            </a:r>
            <a:r>
              <a:rPr sz="3200" spc="-170" dirty="0">
                <a:latin typeface="Times New Roman"/>
                <a:cs typeface="Times New Roman"/>
              </a:rPr>
              <a:t>possible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solutions.</a:t>
            </a:r>
            <a:endParaRPr sz="3200">
              <a:latin typeface="Times New Roman"/>
              <a:cs typeface="Times New Roman"/>
            </a:endParaRPr>
          </a:p>
          <a:p>
            <a:pPr marL="286385" marR="5715" indent="-274320" algn="just">
              <a:lnSpc>
                <a:spcPts val="3460"/>
              </a:lnSpc>
              <a:spcBef>
                <a:spcPts val="595"/>
              </a:spcBef>
              <a:buSzPct val="84375"/>
              <a:buFont typeface="Arial"/>
              <a:buChar char="•"/>
              <a:tabLst>
                <a:tab pos="287020" algn="l"/>
              </a:tabLst>
            </a:pPr>
            <a:r>
              <a:rPr sz="3200" spc="-275" dirty="0">
                <a:latin typeface="Times New Roman"/>
                <a:cs typeface="Times New Roman"/>
              </a:rPr>
              <a:t>We </a:t>
            </a:r>
            <a:r>
              <a:rPr sz="3200" spc="-195" dirty="0">
                <a:latin typeface="Times New Roman"/>
                <a:cs typeface="Times New Roman"/>
              </a:rPr>
              <a:t>can </a:t>
            </a:r>
            <a:r>
              <a:rPr sz="3200" spc="-105" dirty="0">
                <a:latin typeface="Times New Roman"/>
                <a:cs typeface="Times New Roman"/>
              </a:rPr>
              <a:t>then </a:t>
            </a:r>
            <a:r>
              <a:rPr sz="3200" spc="-100" dirty="0">
                <a:latin typeface="Times New Roman"/>
                <a:cs typeface="Times New Roman"/>
              </a:rPr>
              <a:t>present </a:t>
            </a:r>
            <a:r>
              <a:rPr sz="3200" spc="-130" dirty="0">
                <a:latin typeface="Times New Roman"/>
                <a:cs typeface="Times New Roman"/>
              </a:rPr>
              <a:t>these </a:t>
            </a:r>
            <a:r>
              <a:rPr sz="3200" spc="-145" dirty="0">
                <a:latin typeface="Times New Roman"/>
                <a:cs typeface="Times New Roman"/>
              </a:rPr>
              <a:t>solutions </a:t>
            </a:r>
            <a:r>
              <a:rPr sz="3200" spc="-150" dirty="0">
                <a:latin typeface="Times New Roman"/>
                <a:cs typeface="Times New Roman"/>
              </a:rPr>
              <a:t>in </a:t>
            </a:r>
            <a:r>
              <a:rPr sz="3200" spc="-254" dirty="0">
                <a:latin typeface="Times New Roman"/>
                <a:cs typeface="Times New Roman"/>
              </a:rPr>
              <a:t>a </a:t>
            </a:r>
            <a:r>
              <a:rPr sz="3200" spc="-280" dirty="0">
                <a:latin typeface="Times New Roman"/>
                <a:cs typeface="Times New Roman"/>
              </a:rPr>
              <a:t>way </a:t>
            </a:r>
            <a:r>
              <a:rPr sz="3200" spc="-95" dirty="0">
                <a:latin typeface="Times New Roman"/>
                <a:cs typeface="Times New Roman"/>
              </a:rPr>
              <a:t>that </a:t>
            </a:r>
            <a:r>
              <a:rPr sz="3200" spc="-254" dirty="0">
                <a:latin typeface="Times New Roman"/>
                <a:cs typeface="Times New Roman"/>
              </a:rPr>
              <a:t>a  </a:t>
            </a:r>
            <a:r>
              <a:rPr sz="3200" spc="-110" dirty="0">
                <a:latin typeface="Times New Roman"/>
                <a:cs typeface="Times New Roman"/>
              </a:rPr>
              <a:t>computer, </a:t>
            </a:r>
            <a:r>
              <a:rPr sz="3200" spc="-250" dirty="0">
                <a:latin typeface="Times New Roman"/>
                <a:cs typeface="Times New Roman"/>
              </a:rPr>
              <a:t>a </a:t>
            </a:r>
            <a:r>
              <a:rPr sz="3200" spc="-130" dirty="0">
                <a:latin typeface="Times New Roman"/>
                <a:cs typeface="Times New Roman"/>
              </a:rPr>
              <a:t>human, </a:t>
            </a:r>
            <a:r>
              <a:rPr sz="3200" spc="-50" dirty="0">
                <a:latin typeface="Times New Roman"/>
                <a:cs typeface="Times New Roman"/>
              </a:rPr>
              <a:t>or </a:t>
            </a:r>
            <a:r>
              <a:rPr sz="3200" spc="-65" dirty="0">
                <a:latin typeface="Times New Roman"/>
                <a:cs typeface="Times New Roman"/>
              </a:rPr>
              <a:t>both, </a:t>
            </a:r>
            <a:r>
              <a:rPr sz="3200" spc="-190" dirty="0">
                <a:latin typeface="Times New Roman"/>
                <a:cs typeface="Times New Roman"/>
              </a:rPr>
              <a:t>can</a:t>
            </a:r>
            <a:r>
              <a:rPr sz="3200" spc="-27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understand.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5544" y="304800"/>
            <a:ext cx="6889366" cy="6156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4330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90" dirty="0">
                <a:latin typeface="Times New Roman"/>
                <a:cs typeface="Times New Roman"/>
              </a:rPr>
              <a:t>The </a:t>
            </a:r>
            <a:r>
              <a:rPr b="1" spc="-10" dirty="0">
                <a:latin typeface="Times New Roman"/>
                <a:cs typeface="Times New Roman"/>
              </a:rPr>
              <a:t>four</a:t>
            </a:r>
            <a:r>
              <a:rPr b="1" spc="-130" dirty="0">
                <a:latin typeface="Times New Roman"/>
                <a:cs typeface="Times New Roman"/>
              </a:rPr>
              <a:t> </a:t>
            </a:r>
            <a:r>
              <a:rPr b="1" spc="25" dirty="0">
                <a:latin typeface="Times New Roman"/>
                <a:cs typeface="Times New Roman"/>
              </a:rPr>
              <a:t>cornerstones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47674"/>
            <a:ext cx="8542020" cy="51606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15240" indent="-274320">
              <a:lnSpc>
                <a:spcPts val="2810"/>
              </a:lnSpc>
              <a:spcBef>
                <a:spcPts val="455"/>
              </a:spcBef>
              <a:buClr>
                <a:srgbClr val="000000"/>
              </a:buClr>
              <a:buSzPct val="84615"/>
              <a:buFont typeface="Arial"/>
              <a:buChar char="•"/>
              <a:tabLst>
                <a:tab pos="286385" algn="l"/>
                <a:tab pos="287020" algn="l"/>
                <a:tab pos="2573020" algn="l"/>
                <a:tab pos="2807970" algn="l"/>
                <a:tab pos="3961765" algn="l"/>
                <a:tab pos="4757420" algn="l"/>
                <a:tab pos="5008880" algn="l"/>
                <a:tab pos="6170295" algn="l"/>
                <a:tab pos="7308850" algn="l"/>
                <a:tab pos="7705090" algn="l"/>
              </a:tabLst>
            </a:pPr>
            <a:r>
              <a:rPr sz="2600" b="1" u="heavy" spc="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Dec</a:t>
            </a:r>
            <a:r>
              <a:rPr sz="2600" b="1" u="heavy" spc="6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o</a:t>
            </a:r>
            <a:r>
              <a:rPr sz="2600" b="1" u="heavy" spc="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mposition</a:t>
            </a:r>
            <a:r>
              <a:rPr sz="2600" b="1" dirty="0">
                <a:solidFill>
                  <a:srgbClr val="CC9900"/>
                </a:solidFill>
                <a:latin typeface="Times New Roman"/>
                <a:cs typeface="Times New Roman"/>
              </a:rPr>
              <a:t>	</a:t>
            </a:r>
            <a:r>
              <a:rPr sz="2600" spc="-55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65" dirty="0">
                <a:latin typeface="Times New Roman"/>
                <a:cs typeface="Times New Roman"/>
              </a:rPr>
              <a:t>b</a:t>
            </a:r>
            <a:r>
              <a:rPr sz="2600" spc="-70" dirty="0">
                <a:latin typeface="Times New Roman"/>
                <a:cs typeface="Times New Roman"/>
              </a:rPr>
              <a:t>r</a:t>
            </a:r>
            <a:r>
              <a:rPr sz="2600" spc="-155" dirty="0">
                <a:latin typeface="Times New Roman"/>
                <a:cs typeface="Times New Roman"/>
              </a:rPr>
              <a:t>eaking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10" dirty="0">
                <a:latin typeface="Times New Roman"/>
                <a:cs typeface="Times New Roman"/>
              </a:rPr>
              <a:t>d</a:t>
            </a:r>
            <a:r>
              <a:rPr sz="2600" spc="-195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wn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o</a:t>
            </a:r>
            <a:r>
              <a:rPr sz="2600" spc="-120" dirty="0">
                <a:latin typeface="Times New Roman"/>
                <a:cs typeface="Times New Roman"/>
              </a:rPr>
              <a:t>mple</a:t>
            </a:r>
            <a:r>
              <a:rPr sz="2600" spc="-114" dirty="0">
                <a:latin typeface="Times New Roman"/>
                <a:cs typeface="Times New Roman"/>
              </a:rPr>
              <a:t>x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p</a:t>
            </a:r>
            <a:r>
              <a:rPr sz="2600" spc="-60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o</a:t>
            </a:r>
            <a:r>
              <a:rPr sz="2600" spc="-165" dirty="0">
                <a:latin typeface="Times New Roman"/>
                <a:cs typeface="Times New Roman"/>
              </a:rPr>
              <a:t>b</a:t>
            </a:r>
            <a:r>
              <a:rPr sz="2600" spc="-90" dirty="0">
                <a:latin typeface="Times New Roman"/>
                <a:cs typeface="Times New Roman"/>
              </a:rPr>
              <a:t>le</a:t>
            </a:r>
            <a:r>
              <a:rPr sz="2600" spc="-180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55" dirty="0">
                <a:latin typeface="Times New Roman"/>
                <a:cs typeface="Times New Roman"/>
              </a:rPr>
              <a:t>o</a:t>
            </a:r>
            <a:r>
              <a:rPr sz="2600" spc="-3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60" dirty="0">
                <a:latin typeface="Times New Roman"/>
                <a:cs typeface="Times New Roman"/>
              </a:rPr>
              <a:t>sys</a:t>
            </a:r>
            <a:r>
              <a:rPr sz="2600" spc="-114" dirty="0">
                <a:latin typeface="Times New Roman"/>
                <a:cs typeface="Times New Roman"/>
              </a:rPr>
              <a:t>t</a:t>
            </a:r>
            <a:r>
              <a:rPr sz="2600" spc="-90" dirty="0">
                <a:latin typeface="Times New Roman"/>
                <a:cs typeface="Times New Roman"/>
              </a:rPr>
              <a:t>em  </a:t>
            </a:r>
            <a:r>
              <a:rPr sz="2600" spc="-75" dirty="0">
                <a:latin typeface="Times New Roman"/>
                <a:cs typeface="Times New Roman"/>
              </a:rPr>
              <a:t>into </a:t>
            </a:r>
            <a:r>
              <a:rPr sz="2600" spc="-120" dirty="0">
                <a:latin typeface="Times New Roman"/>
                <a:cs typeface="Times New Roman"/>
              </a:rPr>
              <a:t>smaller, </a:t>
            </a:r>
            <a:r>
              <a:rPr sz="2600" spc="-90" dirty="0">
                <a:latin typeface="Times New Roman"/>
                <a:cs typeface="Times New Roman"/>
              </a:rPr>
              <a:t>more </a:t>
            </a:r>
            <a:r>
              <a:rPr sz="2600" spc="-160" dirty="0">
                <a:latin typeface="Times New Roman"/>
                <a:cs typeface="Times New Roman"/>
              </a:rPr>
              <a:t>manageable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parts</a:t>
            </a:r>
            <a:endParaRPr sz="2600">
              <a:latin typeface="Times New Roman"/>
              <a:cs typeface="Times New Roman"/>
            </a:endParaRPr>
          </a:p>
          <a:p>
            <a:pPr marL="286385" marR="15875" indent="-274320">
              <a:lnSpc>
                <a:spcPts val="2810"/>
              </a:lnSpc>
              <a:spcBef>
                <a:spcPts val="600"/>
              </a:spcBef>
              <a:buClr>
                <a:srgbClr val="000000"/>
              </a:buClr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u="heavy" spc="-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Pattern </a:t>
            </a:r>
            <a:r>
              <a:rPr sz="2600" b="1" u="heavy" spc="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recognition</a:t>
            </a:r>
            <a:r>
              <a:rPr sz="2600" b="1" spc="40" dirty="0">
                <a:solidFill>
                  <a:srgbClr val="CC9900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sz="2600" spc="-145" dirty="0">
                <a:latin typeface="Arial"/>
                <a:cs typeface="Arial"/>
              </a:rPr>
              <a:t>– </a:t>
            </a:r>
            <a:r>
              <a:rPr sz="2600" spc="-135" dirty="0">
                <a:latin typeface="Times New Roman"/>
                <a:cs typeface="Times New Roman"/>
              </a:rPr>
              <a:t>looking </a:t>
            </a:r>
            <a:r>
              <a:rPr sz="2600" spc="-95" dirty="0">
                <a:latin typeface="Times New Roman"/>
                <a:cs typeface="Times New Roman"/>
              </a:rPr>
              <a:t>for </a:t>
            </a:r>
            <a:r>
              <a:rPr sz="2600" spc="-114" dirty="0">
                <a:latin typeface="Times New Roman"/>
                <a:cs typeface="Times New Roman"/>
              </a:rPr>
              <a:t>similarities </a:t>
            </a:r>
            <a:r>
              <a:rPr sz="2600" spc="-165" dirty="0">
                <a:latin typeface="Times New Roman"/>
                <a:cs typeface="Times New Roman"/>
              </a:rPr>
              <a:t>among </a:t>
            </a:r>
            <a:r>
              <a:rPr sz="2600" spc="-145" dirty="0">
                <a:latin typeface="Times New Roman"/>
                <a:cs typeface="Times New Roman"/>
              </a:rPr>
              <a:t>and </a:t>
            </a:r>
            <a:r>
              <a:rPr sz="2600" spc="-105" dirty="0">
                <a:latin typeface="Times New Roman"/>
                <a:cs typeface="Times New Roman"/>
              </a:rPr>
              <a:t>within  </a:t>
            </a:r>
            <a:r>
              <a:rPr sz="2600" spc="-120" dirty="0">
                <a:latin typeface="Times New Roman"/>
                <a:cs typeface="Times New Roman"/>
              </a:rPr>
              <a:t>problems</a:t>
            </a:r>
            <a:endParaRPr sz="26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810"/>
              </a:lnSpc>
              <a:spcBef>
                <a:spcPts val="595"/>
              </a:spcBef>
              <a:buClr>
                <a:srgbClr val="000000"/>
              </a:buClr>
              <a:buSzPct val="84615"/>
              <a:buFont typeface="Arial"/>
              <a:buChar char="•"/>
              <a:tabLst>
                <a:tab pos="286385" algn="l"/>
                <a:tab pos="287020" algn="l"/>
                <a:tab pos="2164715" algn="l"/>
                <a:tab pos="2553335" algn="l"/>
                <a:tab pos="3757295" algn="l"/>
                <a:tab pos="4283075" algn="l"/>
                <a:tab pos="4880610" algn="l"/>
                <a:tab pos="6310630" algn="l"/>
                <a:tab pos="7952105" algn="l"/>
              </a:tabLst>
            </a:pPr>
            <a:r>
              <a:rPr sz="2600" b="1" u="heavy" spc="-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Abstrac</a:t>
            </a:r>
            <a:r>
              <a:rPr sz="2600" b="1" u="heavy" spc="-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t</a:t>
            </a:r>
            <a:r>
              <a:rPr sz="2600" b="1" u="heavy" spc="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ion</a:t>
            </a:r>
            <a:r>
              <a:rPr sz="2600" b="1" dirty="0">
                <a:solidFill>
                  <a:srgbClr val="CC9900"/>
                </a:solidFill>
                <a:latin typeface="Times New Roman"/>
                <a:cs typeface="Times New Roman"/>
              </a:rPr>
              <a:t>	</a:t>
            </a:r>
            <a:r>
              <a:rPr sz="2600" spc="-145" dirty="0">
                <a:latin typeface="Arial"/>
                <a:cs typeface="Arial"/>
              </a:rPr>
              <a:t>–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0" dirty="0">
                <a:latin typeface="Times New Roman"/>
                <a:cs typeface="Times New Roman"/>
              </a:rPr>
              <a:t>f</a:t>
            </a:r>
            <a:r>
              <a:rPr sz="2600" spc="-19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c</a:t>
            </a:r>
            <a:r>
              <a:rPr sz="2600" spc="-150" dirty="0">
                <a:latin typeface="Times New Roman"/>
                <a:cs typeface="Times New Roman"/>
              </a:rPr>
              <a:t>u</a:t>
            </a:r>
            <a:r>
              <a:rPr sz="2600" spc="-165" dirty="0">
                <a:latin typeface="Times New Roman"/>
                <a:cs typeface="Times New Roman"/>
              </a:rPr>
              <a:t>sing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14" dirty="0">
                <a:latin typeface="Times New Roman"/>
                <a:cs typeface="Times New Roman"/>
              </a:rPr>
              <a:t>o</a:t>
            </a:r>
            <a:r>
              <a:rPr sz="2600" spc="-1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0" dirty="0">
                <a:latin typeface="Times New Roman"/>
                <a:cs typeface="Times New Roman"/>
              </a:rPr>
              <a:t>impo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r>
              <a:rPr sz="2600" spc="-85" dirty="0">
                <a:latin typeface="Times New Roman"/>
                <a:cs typeface="Times New Roman"/>
              </a:rPr>
              <a:t>ta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25" dirty="0">
                <a:latin typeface="Times New Roman"/>
                <a:cs typeface="Times New Roman"/>
              </a:rPr>
              <a:t>inf</a:t>
            </a:r>
            <a:r>
              <a:rPr sz="2600" spc="-180" dirty="0">
                <a:latin typeface="Times New Roman"/>
                <a:cs typeface="Times New Roman"/>
              </a:rPr>
              <a:t>o</a:t>
            </a:r>
            <a:r>
              <a:rPr sz="2600" spc="100" dirty="0">
                <a:latin typeface="Times New Roman"/>
                <a:cs typeface="Times New Roman"/>
              </a:rPr>
              <a:t>r</a:t>
            </a:r>
            <a:r>
              <a:rPr sz="2600" spc="-229" dirty="0">
                <a:latin typeface="Times New Roman"/>
                <a:cs typeface="Times New Roman"/>
              </a:rPr>
              <a:t>m</a:t>
            </a:r>
            <a:r>
              <a:rPr sz="2600" spc="-150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tion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1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-155" dirty="0">
                <a:latin typeface="Times New Roman"/>
                <a:cs typeface="Times New Roman"/>
              </a:rPr>
              <a:t>l</a:t>
            </a:r>
            <a:r>
              <a:rPr sz="2600" spc="-475" dirty="0">
                <a:latin typeface="Times New Roman"/>
                <a:cs typeface="Times New Roman"/>
              </a:rPr>
              <a:t>y</a:t>
            </a:r>
            <a:r>
              <a:rPr sz="2600" spc="110" dirty="0">
                <a:latin typeface="Times New Roman"/>
                <a:cs typeface="Times New Roman"/>
              </a:rPr>
              <a:t>,  </a:t>
            </a:r>
            <a:r>
              <a:rPr sz="2600" spc="-120" dirty="0">
                <a:latin typeface="Times New Roman"/>
                <a:cs typeface="Times New Roman"/>
              </a:rPr>
              <a:t>ignoring </a:t>
            </a:r>
            <a:r>
              <a:rPr sz="2600" spc="-95" dirty="0">
                <a:latin typeface="Times New Roman"/>
                <a:cs typeface="Times New Roman"/>
              </a:rPr>
              <a:t>irrelevant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detail</a:t>
            </a:r>
            <a:endParaRPr sz="2600">
              <a:latin typeface="Times New Roman"/>
              <a:cs typeface="Times New Roman"/>
            </a:endParaRPr>
          </a:p>
          <a:p>
            <a:pPr marL="286385" marR="18415" indent="-274320">
              <a:lnSpc>
                <a:spcPts val="2810"/>
              </a:lnSpc>
              <a:spcBef>
                <a:spcPts val="595"/>
              </a:spcBef>
              <a:buClr>
                <a:srgbClr val="000000"/>
              </a:buClr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u="heavy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Algorithms</a:t>
            </a:r>
            <a:r>
              <a:rPr sz="2600" b="1" spc="-10" dirty="0">
                <a:solidFill>
                  <a:srgbClr val="CC9900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- </a:t>
            </a:r>
            <a:r>
              <a:rPr sz="2600" spc="-145" dirty="0">
                <a:latin typeface="Times New Roman"/>
                <a:cs typeface="Times New Roman"/>
              </a:rPr>
              <a:t>developing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110" dirty="0">
                <a:latin typeface="Times New Roman"/>
                <a:cs typeface="Times New Roman"/>
              </a:rPr>
              <a:t>step-by-step </a:t>
            </a:r>
            <a:r>
              <a:rPr sz="2600" spc="-105" dirty="0">
                <a:latin typeface="Times New Roman"/>
                <a:cs typeface="Times New Roman"/>
              </a:rPr>
              <a:t>solution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85" dirty="0">
                <a:latin typeface="Times New Roman"/>
                <a:cs typeface="Times New Roman"/>
              </a:rPr>
              <a:t>problem, </a:t>
            </a:r>
            <a:r>
              <a:rPr sz="2600" spc="-45" dirty="0">
                <a:latin typeface="Times New Roman"/>
                <a:cs typeface="Times New Roman"/>
              </a:rPr>
              <a:t>or 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85" dirty="0">
                <a:latin typeface="Times New Roman"/>
                <a:cs typeface="Times New Roman"/>
              </a:rPr>
              <a:t>rules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140" dirty="0">
                <a:latin typeface="Times New Roman"/>
                <a:cs typeface="Times New Roman"/>
              </a:rPr>
              <a:t>follow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155" dirty="0">
                <a:latin typeface="Times New Roman"/>
                <a:cs typeface="Times New Roman"/>
              </a:rPr>
              <a:t>solve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problem</a:t>
            </a:r>
            <a:endParaRPr sz="26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24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85" dirty="0">
                <a:latin typeface="Times New Roman"/>
                <a:cs typeface="Times New Roman"/>
              </a:rPr>
              <a:t>Each </a:t>
            </a:r>
            <a:r>
              <a:rPr sz="2600" spc="-75" dirty="0">
                <a:latin typeface="Times New Roman"/>
                <a:cs typeface="Times New Roman"/>
              </a:rPr>
              <a:t>cornerstone </a:t>
            </a:r>
            <a:r>
              <a:rPr sz="2600" spc="-160" dirty="0">
                <a:latin typeface="Times New Roman"/>
                <a:cs typeface="Times New Roman"/>
              </a:rPr>
              <a:t>is </a:t>
            </a:r>
            <a:r>
              <a:rPr sz="2600" spc="-204" dirty="0">
                <a:latin typeface="Times New Roman"/>
                <a:cs typeface="Times New Roman"/>
              </a:rPr>
              <a:t>as </a:t>
            </a:r>
            <a:r>
              <a:rPr sz="2600" spc="-70" dirty="0">
                <a:latin typeface="Times New Roman"/>
                <a:cs typeface="Times New Roman"/>
              </a:rPr>
              <a:t>important </a:t>
            </a:r>
            <a:r>
              <a:rPr sz="2600" spc="-204" dirty="0">
                <a:latin typeface="Times New Roman"/>
                <a:cs typeface="Times New Roman"/>
              </a:rPr>
              <a:t>as 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43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others.</a:t>
            </a:r>
            <a:endParaRPr sz="2600">
              <a:latin typeface="Times New Roman"/>
              <a:cs typeface="Times New Roman"/>
            </a:endParaRPr>
          </a:p>
          <a:p>
            <a:pPr marL="286385" marR="17145" indent="-274320">
              <a:lnSpc>
                <a:spcPts val="2810"/>
              </a:lnSpc>
              <a:spcBef>
                <a:spcPts val="64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60" dirty="0">
                <a:latin typeface="Times New Roman"/>
                <a:cs typeface="Times New Roman"/>
              </a:rPr>
              <a:t>They </a:t>
            </a:r>
            <a:r>
              <a:rPr sz="2600" spc="-100" dirty="0">
                <a:latin typeface="Times New Roman"/>
                <a:cs typeface="Times New Roman"/>
              </a:rPr>
              <a:t>are </a:t>
            </a:r>
            <a:r>
              <a:rPr sz="2600" spc="-135" dirty="0">
                <a:latin typeface="Times New Roman"/>
                <a:cs typeface="Times New Roman"/>
              </a:rPr>
              <a:t>like </a:t>
            </a:r>
            <a:r>
              <a:rPr sz="2600" spc="-160" dirty="0">
                <a:latin typeface="Times New Roman"/>
                <a:cs typeface="Times New Roman"/>
              </a:rPr>
              <a:t>legs </a:t>
            </a:r>
            <a:r>
              <a:rPr sz="2600" spc="-155" dirty="0">
                <a:latin typeface="Times New Roman"/>
                <a:cs typeface="Times New Roman"/>
              </a:rPr>
              <a:t>of </a:t>
            </a:r>
            <a:r>
              <a:rPr sz="2600" spc="-204" dirty="0">
                <a:latin typeface="Times New Roman"/>
                <a:cs typeface="Times New Roman"/>
              </a:rPr>
              <a:t>a </a:t>
            </a:r>
            <a:r>
              <a:rPr sz="2600" spc="-110" dirty="0">
                <a:latin typeface="Times New Roman"/>
                <a:cs typeface="Times New Roman"/>
              </a:rPr>
              <a:t>table </a:t>
            </a:r>
            <a:r>
              <a:rPr sz="2600" spc="-55" dirty="0">
                <a:latin typeface="Times New Roman"/>
                <a:cs typeface="Times New Roman"/>
              </a:rPr>
              <a:t>- </a:t>
            </a:r>
            <a:r>
              <a:rPr sz="2600" spc="-160" dirty="0">
                <a:latin typeface="Times New Roman"/>
                <a:cs typeface="Times New Roman"/>
              </a:rPr>
              <a:t>if </a:t>
            </a:r>
            <a:r>
              <a:rPr sz="2600" spc="-110" dirty="0">
                <a:latin typeface="Times New Roman"/>
                <a:cs typeface="Times New Roman"/>
              </a:rPr>
              <a:t>one </a:t>
            </a:r>
            <a:r>
              <a:rPr sz="2600" spc="-140" dirty="0">
                <a:latin typeface="Times New Roman"/>
                <a:cs typeface="Times New Roman"/>
              </a:rPr>
              <a:t>leg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35" dirty="0">
                <a:latin typeface="Times New Roman"/>
                <a:cs typeface="Times New Roman"/>
              </a:rPr>
              <a:t>missing, </a:t>
            </a:r>
            <a:r>
              <a:rPr sz="2600" spc="-75" dirty="0">
                <a:latin typeface="Times New Roman"/>
                <a:cs typeface="Times New Roman"/>
              </a:rPr>
              <a:t>the </a:t>
            </a:r>
            <a:r>
              <a:rPr sz="2600" spc="-110" dirty="0">
                <a:latin typeface="Times New Roman"/>
                <a:cs typeface="Times New Roman"/>
              </a:rPr>
              <a:t>table </a:t>
            </a:r>
            <a:r>
              <a:rPr sz="2600" spc="-120" dirty="0">
                <a:latin typeface="Times New Roman"/>
                <a:cs typeface="Times New Roman"/>
              </a:rPr>
              <a:t>will  </a:t>
            </a:r>
            <a:r>
              <a:rPr sz="2600" spc="-140" dirty="0">
                <a:latin typeface="Times New Roman"/>
                <a:cs typeface="Times New Roman"/>
              </a:rPr>
              <a:t>probably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collapse.</a:t>
            </a:r>
            <a:endParaRPr sz="2600">
              <a:latin typeface="Times New Roman"/>
              <a:cs typeface="Times New Roman"/>
            </a:endParaRPr>
          </a:p>
          <a:p>
            <a:pPr marL="286385" marR="17145" indent="-274320">
              <a:lnSpc>
                <a:spcPts val="281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spc="-85" dirty="0">
                <a:latin typeface="Times New Roman"/>
                <a:cs typeface="Times New Roman"/>
              </a:rPr>
              <a:t>Correctly </a:t>
            </a:r>
            <a:r>
              <a:rPr sz="2600" spc="-160" dirty="0">
                <a:latin typeface="Times New Roman"/>
                <a:cs typeface="Times New Roman"/>
              </a:rPr>
              <a:t>applying </a:t>
            </a:r>
            <a:r>
              <a:rPr sz="2600" spc="-140" dirty="0">
                <a:latin typeface="Times New Roman"/>
                <a:cs typeface="Times New Roman"/>
              </a:rPr>
              <a:t>all </a:t>
            </a:r>
            <a:r>
              <a:rPr sz="2600" spc="-95" dirty="0">
                <a:latin typeface="Times New Roman"/>
                <a:cs typeface="Times New Roman"/>
              </a:rPr>
              <a:t>four </a:t>
            </a:r>
            <a:r>
              <a:rPr sz="2600" spc="-114" dirty="0">
                <a:latin typeface="Times New Roman"/>
                <a:cs typeface="Times New Roman"/>
              </a:rPr>
              <a:t>techniques </a:t>
            </a:r>
            <a:r>
              <a:rPr sz="2600" spc="-120" dirty="0">
                <a:latin typeface="Times New Roman"/>
                <a:cs typeface="Times New Roman"/>
              </a:rPr>
              <a:t>will help </a:t>
            </a:r>
            <a:r>
              <a:rPr sz="2600" spc="-125" dirty="0">
                <a:latin typeface="Times New Roman"/>
                <a:cs typeface="Times New Roman"/>
              </a:rPr>
              <a:t>when programming  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computer.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610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Programs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840421"/>
            <a:ext cx="8740775" cy="518223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0"/>
              </a:spcBef>
              <a:buSzPct val="8437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200" spc="-175" dirty="0">
                <a:latin typeface="Times New Roman"/>
                <a:cs typeface="Times New Roman"/>
              </a:rPr>
              <a:t>Human </a:t>
            </a:r>
            <a:r>
              <a:rPr sz="3200" spc="-185" dirty="0">
                <a:latin typeface="Times New Roman"/>
                <a:cs typeface="Times New Roman"/>
              </a:rPr>
              <a:t>based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computation</a:t>
            </a:r>
            <a:endParaRPr sz="32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375"/>
              <a:buFont typeface="Arial"/>
              <a:buChar char="•"/>
              <a:tabLst>
                <a:tab pos="561340" algn="l"/>
              </a:tabLst>
            </a:pPr>
            <a:r>
              <a:rPr sz="3200" spc="-175" dirty="0">
                <a:latin typeface="Times New Roman"/>
                <a:cs typeface="Times New Roman"/>
              </a:rPr>
              <a:t>Human </a:t>
            </a:r>
            <a:r>
              <a:rPr sz="3200" spc="-180" dirty="0">
                <a:latin typeface="Times New Roman"/>
                <a:cs typeface="Times New Roman"/>
              </a:rPr>
              <a:t>beings </a:t>
            </a:r>
            <a:r>
              <a:rPr sz="3200" spc="-135" dirty="0">
                <a:latin typeface="Times New Roman"/>
                <a:cs typeface="Times New Roman"/>
              </a:rPr>
              <a:t>were </a:t>
            </a:r>
            <a:r>
              <a:rPr sz="3200" spc="-190" dirty="0">
                <a:latin typeface="Times New Roman"/>
                <a:cs typeface="Times New Roman"/>
              </a:rPr>
              <a:t>also given </a:t>
            </a:r>
            <a:r>
              <a:rPr sz="3200" spc="-145" dirty="0">
                <a:latin typeface="Times New Roman"/>
                <a:cs typeface="Times New Roman"/>
              </a:rPr>
              <a:t>programs </a:t>
            </a:r>
            <a:r>
              <a:rPr sz="3200" spc="-45" dirty="0">
                <a:latin typeface="Times New Roman"/>
                <a:cs typeface="Times New Roman"/>
              </a:rPr>
              <a:t>to</a:t>
            </a:r>
            <a:r>
              <a:rPr sz="3200" spc="45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follow:</a:t>
            </a:r>
            <a:endParaRPr sz="3200">
              <a:latin typeface="Times New Roman"/>
              <a:cs typeface="Times New Roman"/>
            </a:endParaRPr>
          </a:p>
          <a:p>
            <a:pPr marL="835660" marR="664845" lvl="2" indent="-228600">
              <a:lnSpc>
                <a:spcPct val="100000"/>
              </a:lnSpc>
              <a:spcBef>
                <a:spcPts val="414"/>
              </a:spcBef>
              <a:buSzPct val="84375"/>
              <a:buFont typeface="Arial"/>
              <a:buChar char="•"/>
              <a:tabLst>
                <a:tab pos="836294" algn="l"/>
              </a:tabLst>
            </a:pPr>
            <a:r>
              <a:rPr sz="3200" spc="-160" dirty="0">
                <a:latin typeface="Times New Roman"/>
                <a:cs typeface="Times New Roman"/>
              </a:rPr>
              <a:t>The </a:t>
            </a:r>
            <a:r>
              <a:rPr sz="3200" spc="-114" dirty="0">
                <a:latin typeface="Times New Roman"/>
                <a:cs typeface="Times New Roman"/>
              </a:rPr>
              <a:t>instructions </a:t>
            </a:r>
            <a:r>
              <a:rPr sz="3200" spc="-135" dirty="0">
                <a:latin typeface="Times New Roman"/>
                <a:cs typeface="Times New Roman"/>
              </a:rPr>
              <a:t>were </a:t>
            </a:r>
            <a:r>
              <a:rPr sz="3200" spc="-125" dirty="0">
                <a:latin typeface="Times New Roman"/>
                <a:cs typeface="Times New Roman"/>
              </a:rPr>
              <a:t>just </a:t>
            </a:r>
            <a:r>
              <a:rPr sz="3200" spc="-195" dirty="0">
                <a:latin typeface="Times New Roman"/>
                <a:cs typeface="Times New Roman"/>
              </a:rPr>
              <a:t>given </a:t>
            </a:r>
            <a:r>
              <a:rPr sz="3200" spc="-145" dirty="0">
                <a:latin typeface="Times New Roman"/>
                <a:cs typeface="Times New Roman"/>
              </a:rPr>
              <a:t>in </a:t>
            </a:r>
            <a:r>
              <a:rPr sz="3200" spc="-254" dirty="0">
                <a:latin typeface="Times New Roman"/>
                <a:cs typeface="Times New Roman"/>
              </a:rPr>
              <a:t>a </a:t>
            </a:r>
            <a:r>
              <a:rPr sz="3200" spc="-200" dirty="0">
                <a:latin typeface="Times New Roman"/>
                <a:cs typeface="Times New Roman"/>
              </a:rPr>
              <a:t>language </a:t>
            </a:r>
            <a:r>
              <a:rPr sz="3200" spc="-95" dirty="0">
                <a:latin typeface="Times New Roman"/>
                <a:cs typeface="Times New Roman"/>
              </a:rPr>
              <a:t>the  </a:t>
            </a:r>
            <a:r>
              <a:rPr sz="3200" spc="-190" dirty="0">
                <a:latin typeface="Times New Roman"/>
                <a:cs typeface="Times New Roman"/>
              </a:rPr>
              <a:t>humans </a:t>
            </a:r>
            <a:r>
              <a:rPr sz="3200" spc="-145" dirty="0">
                <a:latin typeface="Times New Roman"/>
                <a:cs typeface="Times New Roman"/>
              </a:rPr>
              <a:t>could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follow.</a:t>
            </a:r>
            <a:endParaRPr sz="3200">
              <a:latin typeface="Times New Roman"/>
              <a:cs typeface="Times New Roman"/>
            </a:endParaRPr>
          </a:p>
          <a:p>
            <a:pPr marL="835660" marR="5080" lvl="2" indent="-228600">
              <a:lnSpc>
                <a:spcPct val="100000"/>
              </a:lnSpc>
              <a:spcBef>
                <a:spcPts val="395"/>
              </a:spcBef>
              <a:buSzPct val="84375"/>
              <a:buFont typeface="Arial"/>
              <a:buChar char="•"/>
              <a:tabLst>
                <a:tab pos="836294" algn="l"/>
              </a:tabLst>
            </a:pPr>
            <a:r>
              <a:rPr sz="3200" spc="-135" dirty="0">
                <a:latin typeface="Times New Roman"/>
                <a:cs typeface="Times New Roman"/>
              </a:rPr>
              <a:t>When </a:t>
            </a:r>
            <a:r>
              <a:rPr sz="3200" spc="-200" dirty="0">
                <a:latin typeface="Times New Roman"/>
                <a:cs typeface="Times New Roman"/>
              </a:rPr>
              <a:t>you </a:t>
            </a:r>
            <a:r>
              <a:rPr sz="3200" spc="-135" dirty="0">
                <a:latin typeface="Times New Roman"/>
                <a:cs typeface="Times New Roman"/>
              </a:rPr>
              <a:t>do </a:t>
            </a:r>
            <a:r>
              <a:rPr sz="3200" spc="-254" dirty="0">
                <a:latin typeface="Times New Roman"/>
                <a:cs typeface="Times New Roman"/>
              </a:rPr>
              <a:t>a </a:t>
            </a:r>
            <a:r>
              <a:rPr sz="3200" spc="-170" dirty="0">
                <a:latin typeface="Times New Roman"/>
                <a:cs typeface="Times New Roman"/>
              </a:rPr>
              <a:t>long </a:t>
            </a:r>
            <a:r>
              <a:rPr sz="3200" spc="-135" dirty="0">
                <a:latin typeface="Times New Roman"/>
                <a:cs typeface="Times New Roman"/>
              </a:rPr>
              <a:t>multiplication </a:t>
            </a:r>
            <a:r>
              <a:rPr sz="3200" spc="-200" dirty="0">
                <a:latin typeface="Times New Roman"/>
                <a:cs typeface="Times New Roman"/>
              </a:rPr>
              <a:t>you </a:t>
            </a:r>
            <a:r>
              <a:rPr sz="3200" spc="-130" dirty="0">
                <a:latin typeface="Times New Roman"/>
                <a:cs typeface="Times New Roman"/>
              </a:rPr>
              <a:t>are </a:t>
            </a:r>
            <a:r>
              <a:rPr sz="3200" spc="-165" dirty="0">
                <a:latin typeface="Times New Roman"/>
                <a:cs typeface="Times New Roman"/>
              </a:rPr>
              <a:t>doing  </a:t>
            </a:r>
            <a:r>
              <a:rPr sz="3200" spc="-160" dirty="0">
                <a:latin typeface="Times New Roman"/>
                <a:cs typeface="Times New Roman"/>
              </a:rPr>
              <a:t>exactly </a:t>
            </a:r>
            <a:r>
              <a:rPr sz="3200" spc="-85" dirty="0">
                <a:latin typeface="Times New Roman"/>
                <a:cs typeface="Times New Roman"/>
              </a:rPr>
              <a:t>this, </a:t>
            </a:r>
            <a:r>
              <a:rPr sz="3200" spc="-175" dirty="0">
                <a:latin typeface="Times New Roman"/>
                <a:cs typeface="Times New Roman"/>
              </a:rPr>
              <a:t>following </a:t>
            </a:r>
            <a:r>
              <a:rPr sz="3200" spc="-130" dirty="0">
                <a:latin typeface="Times New Roman"/>
                <a:cs typeface="Times New Roman"/>
              </a:rPr>
              <a:t>step-by-step </a:t>
            </a:r>
            <a:r>
              <a:rPr sz="3200" spc="-105" dirty="0">
                <a:latin typeface="Times New Roman"/>
                <a:cs typeface="Times New Roman"/>
              </a:rPr>
              <a:t>rules </a:t>
            </a:r>
            <a:r>
              <a:rPr sz="3200" spc="-200" dirty="0">
                <a:latin typeface="Times New Roman"/>
                <a:cs typeface="Times New Roman"/>
              </a:rPr>
              <a:t>you </a:t>
            </a:r>
            <a:r>
              <a:rPr sz="3200" spc="-80" dirty="0">
                <a:latin typeface="Times New Roman"/>
                <a:cs typeface="Times New Roman"/>
              </a:rPr>
              <a:t>wrote </a:t>
            </a:r>
            <a:r>
              <a:rPr sz="3200" spc="-245" dirty="0">
                <a:latin typeface="Times New Roman"/>
                <a:cs typeface="Times New Roman"/>
              </a:rPr>
              <a:t>as  </a:t>
            </a:r>
            <a:r>
              <a:rPr sz="3200" spc="-250" dirty="0">
                <a:latin typeface="Times New Roman"/>
                <a:cs typeface="Times New Roman"/>
              </a:rPr>
              <a:t>a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child.</a:t>
            </a:r>
            <a:endParaRPr sz="3200">
              <a:latin typeface="Times New Roman"/>
              <a:cs typeface="Times New Roman"/>
            </a:endParaRPr>
          </a:p>
          <a:p>
            <a:pPr marL="286385" marR="46355" indent="-274320">
              <a:lnSpc>
                <a:spcPct val="100000"/>
              </a:lnSpc>
              <a:spcBef>
                <a:spcPts val="605"/>
              </a:spcBef>
              <a:buSzPct val="8437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200" spc="-105" dirty="0">
                <a:latin typeface="Times New Roman"/>
                <a:cs typeface="Times New Roman"/>
              </a:rPr>
              <a:t>Computer </a:t>
            </a:r>
            <a:r>
              <a:rPr sz="3200" spc="-145" dirty="0">
                <a:latin typeface="Times New Roman"/>
                <a:cs typeface="Times New Roman"/>
              </a:rPr>
              <a:t>programs </a:t>
            </a:r>
            <a:r>
              <a:rPr sz="3200" spc="-125" dirty="0">
                <a:latin typeface="Times New Roman"/>
                <a:cs typeface="Times New Roman"/>
              </a:rPr>
              <a:t>are just step-by-step </a:t>
            </a:r>
            <a:r>
              <a:rPr sz="3200" spc="-114" dirty="0">
                <a:latin typeface="Times New Roman"/>
                <a:cs typeface="Times New Roman"/>
              </a:rPr>
              <a:t>instructions </a:t>
            </a:r>
            <a:r>
              <a:rPr sz="3200" spc="-110" dirty="0">
                <a:latin typeface="Times New Roman"/>
                <a:cs typeface="Times New Roman"/>
              </a:rPr>
              <a:t>for  </a:t>
            </a:r>
            <a:r>
              <a:rPr sz="3200" spc="-170" dirty="0">
                <a:latin typeface="Times New Roman"/>
                <a:cs typeface="Times New Roman"/>
              </a:rPr>
              <a:t>doing </a:t>
            </a:r>
            <a:r>
              <a:rPr sz="3200" spc="-254" dirty="0">
                <a:latin typeface="Times New Roman"/>
                <a:cs typeface="Times New Roman"/>
              </a:rPr>
              <a:t>a </a:t>
            </a:r>
            <a:r>
              <a:rPr sz="3200" spc="-195" dirty="0">
                <a:latin typeface="Times New Roman"/>
                <a:cs typeface="Times New Roman"/>
              </a:rPr>
              <a:t>given </a:t>
            </a:r>
            <a:r>
              <a:rPr sz="3200" spc="-105" dirty="0">
                <a:latin typeface="Times New Roman"/>
                <a:cs typeface="Times New Roman"/>
              </a:rPr>
              <a:t>task, </a:t>
            </a:r>
            <a:r>
              <a:rPr sz="3200" spc="-60" dirty="0">
                <a:latin typeface="Times New Roman"/>
                <a:cs typeface="Times New Roman"/>
              </a:rPr>
              <a:t>written </a:t>
            </a:r>
            <a:r>
              <a:rPr sz="3200" spc="-145" dirty="0">
                <a:latin typeface="Times New Roman"/>
                <a:cs typeface="Times New Roman"/>
              </a:rPr>
              <a:t>in </a:t>
            </a:r>
            <a:r>
              <a:rPr sz="3200" spc="-105" dirty="0">
                <a:latin typeface="Times New Roman"/>
                <a:cs typeface="Times New Roman"/>
              </a:rPr>
              <a:t>computer </a:t>
            </a:r>
            <a:r>
              <a:rPr sz="3200" spc="-155" dirty="0">
                <a:latin typeface="Times New Roman"/>
                <a:cs typeface="Times New Roman"/>
              </a:rPr>
              <a:t>programming  </a:t>
            </a:r>
            <a:r>
              <a:rPr sz="3200" spc="-175" dirty="0">
                <a:latin typeface="Times New Roman"/>
                <a:cs typeface="Times New Roman"/>
              </a:rPr>
              <a:t>languages.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881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845305"/>
            <a:ext cx="8522335" cy="510286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0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150" dirty="0">
                <a:latin typeface="Times New Roman"/>
                <a:cs typeface="Times New Roman"/>
              </a:rPr>
              <a:t>These </a:t>
            </a:r>
            <a:r>
              <a:rPr sz="2800" spc="-114" dirty="0">
                <a:latin typeface="Times New Roman"/>
                <a:cs typeface="Times New Roman"/>
              </a:rPr>
              <a:t>step-by-step </a:t>
            </a:r>
            <a:r>
              <a:rPr sz="2800" spc="-100" dirty="0">
                <a:latin typeface="Times New Roman"/>
                <a:cs typeface="Times New Roman"/>
              </a:rPr>
              <a:t>instructions </a:t>
            </a:r>
            <a:r>
              <a:rPr sz="2800" spc="-114" dirty="0">
                <a:latin typeface="Times New Roman"/>
                <a:cs typeface="Times New Roman"/>
              </a:rPr>
              <a:t>are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algorithms.</a:t>
            </a:r>
            <a:endParaRPr sz="2800">
              <a:latin typeface="Times New Roman"/>
              <a:cs typeface="Times New Roman"/>
            </a:endParaRPr>
          </a:p>
          <a:p>
            <a:pPr marL="561340" marR="71120" lvl="1" indent="-228600">
              <a:lnSpc>
                <a:spcPct val="100000"/>
              </a:lnSpc>
              <a:spcBef>
                <a:spcPts val="409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245" dirty="0">
                <a:latin typeface="Times New Roman"/>
                <a:cs typeface="Times New Roman"/>
              </a:rPr>
              <a:t>An </a:t>
            </a:r>
            <a:r>
              <a:rPr sz="2800" spc="-120" dirty="0">
                <a:latin typeface="Times New Roman"/>
                <a:cs typeface="Times New Roman"/>
              </a:rPr>
              <a:t>algorithm </a:t>
            </a:r>
            <a:r>
              <a:rPr sz="2800" spc="-145" dirty="0">
                <a:latin typeface="Times New Roman"/>
                <a:cs typeface="Times New Roman"/>
              </a:rPr>
              <a:t>consists </a:t>
            </a:r>
            <a:r>
              <a:rPr sz="2800" spc="-165" dirty="0">
                <a:latin typeface="Times New Roman"/>
                <a:cs typeface="Times New Roman"/>
              </a:rPr>
              <a:t>of </a:t>
            </a:r>
            <a:r>
              <a:rPr sz="2800" spc="-85" dirty="0">
                <a:latin typeface="Times New Roman"/>
                <a:cs typeface="Times New Roman"/>
              </a:rPr>
              <a:t>the </a:t>
            </a:r>
            <a:r>
              <a:rPr sz="2800" spc="-135" dirty="0">
                <a:latin typeface="Times New Roman"/>
                <a:cs typeface="Times New Roman"/>
              </a:rPr>
              <a:t>actions </a:t>
            </a:r>
            <a:r>
              <a:rPr sz="2800" spc="-40" dirty="0">
                <a:latin typeface="Times New Roman"/>
                <a:cs typeface="Times New Roman"/>
              </a:rPr>
              <a:t>to </a:t>
            </a:r>
            <a:r>
              <a:rPr sz="2800" spc="-120" dirty="0">
                <a:latin typeface="Times New Roman"/>
                <a:cs typeface="Times New Roman"/>
              </a:rPr>
              <a:t>do </a:t>
            </a:r>
            <a:r>
              <a:rPr sz="2800" spc="-160" dirty="0">
                <a:latin typeface="Times New Roman"/>
                <a:cs typeface="Times New Roman"/>
              </a:rPr>
              <a:t>and </a:t>
            </a:r>
            <a:r>
              <a:rPr sz="2800" spc="-85" dirty="0">
                <a:latin typeface="Times New Roman"/>
                <a:cs typeface="Times New Roman"/>
              </a:rPr>
              <a:t>the </a:t>
            </a:r>
            <a:r>
              <a:rPr sz="2800" spc="-60" dirty="0">
                <a:latin typeface="Times New Roman"/>
                <a:cs typeface="Times New Roman"/>
              </a:rPr>
              <a:t>order </a:t>
            </a:r>
            <a:r>
              <a:rPr sz="2800" spc="-40" dirty="0">
                <a:latin typeface="Times New Roman"/>
                <a:cs typeface="Times New Roman"/>
              </a:rPr>
              <a:t>to </a:t>
            </a:r>
            <a:r>
              <a:rPr sz="2800" spc="-120" dirty="0">
                <a:latin typeface="Times New Roman"/>
                <a:cs typeface="Times New Roman"/>
              </a:rPr>
              <a:t>do  </a:t>
            </a:r>
            <a:r>
              <a:rPr sz="2800" spc="-105" dirty="0">
                <a:latin typeface="Times New Roman"/>
                <a:cs typeface="Times New Roman"/>
              </a:rPr>
              <a:t>them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imes New Roman"/>
                <a:cs typeface="Times New Roman"/>
              </a:rPr>
              <a:t>in.</a:t>
            </a:r>
            <a:endParaRPr sz="2800">
              <a:latin typeface="Times New Roman"/>
              <a:cs typeface="Times New Roman"/>
            </a:endParaRPr>
          </a:p>
          <a:p>
            <a:pPr marL="340360" indent="-327660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339725" algn="l"/>
                <a:tab pos="340360" algn="l"/>
              </a:tabLst>
            </a:pPr>
            <a:r>
              <a:rPr sz="2800" spc="-145" dirty="0">
                <a:latin typeface="Times New Roman"/>
                <a:cs typeface="Times New Roman"/>
              </a:rPr>
              <a:t>Algorithms </a:t>
            </a:r>
            <a:r>
              <a:rPr sz="2800" spc="-110" dirty="0">
                <a:latin typeface="Times New Roman"/>
                <a:cs typeface="Times New Roman"/>
              </a:rPr>
              <a:t>occur </a:t>
            </a:r>
            <a:r>
              <a:rPr sz="2800" spc="-150" dirty="0">
                <a:latin typeface="Times New Roman"/>
                <a:cs typeface="Times New Roman"/>
              </a:rPr>
              <a:t>all </a:t>
            </a:r>
            <a:r>
              <a:rPr sz="2800" spc="-145" dirty="0">
                <a:latin typeface="Times New Roman"/>
                <a:cs typeface="Times New Roman"/>
              </a:rPr>
              <a:t>over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place</a:t>
            </a:r>
            <a:endParaRPr sz="2800">
              <a:latin typeface="Times New Roman"/>
              <a:cs typeface="Times New Roman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395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85" dirty="0">
                <a:latin typeface="Times New Roman"/>
                <a:cs typeface="Times New Roman"/>
              </a:rPr>
              <a:t>the </a:t>
            </a:r>
            <a:r>
              <a:rPr sz="2800" spc="-100" dirty="0">
                <a:latin typeface="Times New Roman"/>
                <a:cs typeface="Times New Roman"/>
              </a:rPr>
              <a:t>instructions </a:t>
            </a:r>
            <a:r>
              <a:rPr sz="2800" spc="-175" dirty="0">
                <a:latin typeface="Times New Roman"/>
                <a:cs typeface="Times New Roman"/>
              </a:rPr>
              <a:t>you </a:t>
            </a:r>
            <a:r>
              <a:rPr sz="2800" spc="-70" dirty="0">
                <a:latin typeface="Times New Roman"/>
                <a:cs typeface="Times New Roman"/>
              </a:rPr>
              <a:t>learnt </a:t>
            </a:r>
            <a:r>
              <a:rPr sz="2800" spc="-120" dirty="0">
                <a:latin typeface="Times New Roman"/>
                <a:cs typeface="Times New Roman"/>
              </a:rPr>
              <a:t>about </a:t>
            </a:r>
            <a:r>
              <a:rPr sz="2800" spc="-180" dirty="0">
                <a:latin typeface="Times New Roman"/>
                <a:cs typeface="Times New Roman"/>
              </a:rPr>
              <a:t>how </a:t>
            </a:r>
            <a:r>
              <a:rPr sz="2800" spc="-40" dirty="0">
                <a:latin typeface="Times New Roman"/>
                <a:cs typeface="Times New Roman"/>
              </a:rPr>
              <a:t>to </a:t>
            </a:r>
            <a:r>
              <a:rPr sz="2800" spc="-120" dirty="0">
                <a:latin typeface="Times New Roman"/>
                <a:cs typeface="Times New Roman"/>
              </a:rPr>
              <a:t>do </a:t>
            </a:r>
            <a:r>
              <a:rPr sz="2800" spc="-150" dirty="0">
                <a:latin typeface="Times New Roman"/>
                <a:cs typeface="Times New Roman"/>
              </a:rPr>
              <a:t>long </a:t>
            </a:r>
            <a:r>
              <a:rPr sz="2800" spc="-125" dirty="0">
                <a:latin typeface="Times New Roman"/>
                <a:cs typeface="Times New Roman"/>
              </a:rPr>
              <a:t>division, </a:t>
            </a:r>
            <a:r>
              <a:rPr sz="2800" spc="-145" dirty="0">
                <a:latin typeface="Times New Roman"/>
                <a:cs typeface="Times New Roman"/>
              </a:rPr>
              <a:t>find  </a:t>
            </a:r>
            <a:r>
              <a:rPr sz="2800" spc="-185" dirty="0">
                <a:latin typeface="Arial"/>
                <a:cs typeface="Arial"/>
              </a:rPr>
              <a:t>prime </a:t>
            </a:r>
            <a:r>
              <a:rPr sz="2800" spc="-250" dirty="0">
                <a:latin typeface="Arial"/>
                <a:cs typeface="Arial"/>
              </a:rPr>
              <a:t>numbers, </a:t>
            </a:r>
            <a:r>
              <a:rPr sz="2800" spc="-305" dirty="0">
                <a:latin typeface="Arial"/>
                <a:cs typeface="Arial"/>
              </a:rPr>
              <a:t>bake, </a:t>
            </a:r>
            <a:r>
              <a:rPr sz="2800" spc="-270" dirty="0">
                <a:latin typeface="Arial"/>
                <a:cs typeface="Arial"/>
              </a:rPr>
              <a:t>brush </a:t>
            </a:r>
            <a:r>
              <a:rPr sz="2800" spc="-204" dirty="0">
                <a:latin typeface="Arial"/>
                <a:cs typeface="Arial"/>
              </a:rPr>
              <a:t>your </a:t>
            </a:r>
            <a:r>
              <a:rPr sz="2800" spc="-220" dirty="0">
                <a:latin typeface="Arial"/>
                <a:cs typeface="Arial"/>
              </a:rPr>
              <a:t>teeth</a:t>
            </a:r>
            <a:r>
              <a:rPr sz="2800" spc="95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etc…..</a:t>
            </a:r>
            <a:endParaRPr sz="2800">
              <a:latin typeface="Arial"/>
              <a:cs typeface="Arial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85" dirty="0">
                <a:latin typeface="Times New Roman"/>
                <a:cs typeface="Times New Roman"/>
              </a:rPr>
              <a:t>the </a:t>
            </a:r>
            <a:r>
              <a:rPr sz="2800" spc="-100" dirty="0">
                <a:latin typeface="Times New Roman"/>
                <a:cs typeface="Times New Roman"/>
              </a:rPr>
              <a:t>instructions </a:t>
            </a:r>
            <a:r>
              <a:rPr sz="2800" spc="-165" dirty="0">
                <a:latin typeface="Times New Roman"/>
                <a:cs typeface="Times New Roman"/>
              </a:rPr>
              <a:t>of </a:t>
            </a:r>
            <a:r>
              <a:rPr sz="2800" spc="-180" dirty="0">
                <a:latin typeface="Times New Roman"/>
                <a:cs typeface="Times New Roman"/>
              </a:rPr>
              <a:t>how </a:t>
            </a:r>
            <a:r>
              <a:rPr sz="2800" spc="-40" dirty="0">
                <a:latin typeface="Times New Roman"/>
                <a:cs typeface="Times New Roman"/>
              </a:rPr>
              <a:t>to </a:t>
            </a:r>
            <a:r>
              <a:rPr sz="2800" spc="-70" dirty="0">
                <a:latin typeface="Times New Roman"/>
                <a:cs typeface="Times New Roman"/>
              </a:rPr>
              <a:t>put </a:t>
            </a:r>
            <a:r>
              <a:rPr sz="2800" spc="-80" dirty="0">
                <a:latin typeface="Times New Roman"/>
                <a:cs typeface="Times New Roman"/>
              </a:rPr>
              <a:t>together </a:t>
            </a:r>
            <a:r>
              <a:rPr sz="2800" spc="-225" dirty="0">
                <a:latin typeface="Times New Roman"/>
                <a:cs typeface="Times New Roman"/>
              </a:rPr>
              <a:t>a </a:t>
            </a:r>
            <a:r>
              <a:rPr sz="2800" spc="-275" dirty="0">
                <a:latin typeface="Times New Roman"/>
                <a:cs typeface="Times New Roman"/>
              </a:rPr>
              <a:t>DIY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bookcase</a:t>
            </a:r>
            <a:endParaRPr sz="28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360" dirty="0">
                <a:latin typeface="Times New Roman"/>
                <a:cs typeface="Times New Roman"/>
              </a:rPr>
              <a:t>A </a:t>
            </a:r>
            <a:r>
              <a:rPr sz="2800" spc="-95" dirty="0">
                <a:latin typeface="Times New Roman"/>
                <a:cs typeface="Times New Roman"/>
              </a:rPr>
              <a:t>set </a:t>
            </a:r>
            <a:r>
              <a:rPr sz="2800" spc="-165" dirty="0">
                <a:latin typeface="Times New Roman"/>
                <a:cs typeface="Times New Roman"/>
              </a:rPr>
              <a:t>of </a:t>
            </a:r>
            <a:r>
              <a:rPr sz="2800" spc="-100" dirty="0">
                <a:latin typeface="Times New Roman"/>
                <a:cs typeface="Times New Roman"/>
              </a:rPr>
              <a:t>instructions </a:t>
            </a:r>
            <a:r>
              <a:rPr sz="2800" spc="-165" dirty="0">
                <a:latin typeface="Times New Roman"/>
                <a:cs typeface="Times New Roman"/>
              </a:rPr>
              <a:t>of </a:t>
            </a:r>
            <a:r>
              <a:rPr sz="2800" spc="-175" dirty="0">
                <a:latin typeface="Times New Roman"/>
                <a:cs typeface="Times New Roman"/>
              </a:rPr>
              <a:t>how </a:t>
            </a:r>
            <a:r>
              <a:rPr sz="2800" spc="-40" dirty="0">
                <a:latin typeface="Times New Roman"/>
                <a:cs typeface="Times New Roman"/>
              </a:rPr>
              <a:t>to </a:t>
            </a:r>
            <a:r>
              <a:rPr sz="2800" spc="-170" dirty="0">
                <a:latin typeface="Times New Roman"/>
                <a:cs typeface="Times New Roman"/>
              </a:rPr>
              <a:t>solve </a:t>
            </a:r>
            <a:r>
              <a:rPr sz="2800" spc="-225" dirty="0">
                <a:latin typeface="Times New Roman"/>
                <a:cs typeface="Times New Roman"/>
              </a:rPr>
              <a:t>a </a:t>
            </a:r>
            <a:r>
              <a:rPr sz="2800" spc="-150" dirty="0">
                <a:latin typeface="Times New Roman"/>
                <a:cs typeface="Times New Roman"/>
              </a:rPr>
              <a:t>Rubik's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Cube</a:t>
            </a:r>
            <a:endParaRPr sz="2800">
              <a:latin typeface="Times New Roman"/>
              <a:cs typeface="Times New Roman"/>
            </a:endParaRPr>
          </a:p>
          <a:p>
            <a:pPr marL="835660" marR="122555" lvl="2" indent="-228600">
              <a:lnSpc>
                <a:spcPct val="100000"/>
              </a:lnSpc>
              <a:spcBef>
                <a:spcPts val="395"/>
              </a:spcBef>
              <a:buSzPct val="83928"/>
              <a:buFont typeface="Arial"/>
              <a:buChar char="•"/>
              <a:tabLst>
                <a:tab pos="836294" algn="l"/>
              </a:tabLst>
            </a:pPr>
            <a:r>
              <a:rPr sz="2800" i="1" spc="-225" dirty="0">
                <a:latin typeface="Times New Roman"/>
                <a:cs typeface="Times New Roman"/>
              </a:rPr>
              <a:t>In </a:t>
            </a:r>
            <a:r>
              <a:rPr sz="2800" i="1" spc="-229" dirty="0">
                <a:latin typeface="Times New Roman"/>
                <a:cs typeface="Times New Roman"/>
              </a:rPr>
              <a:t>fact </a:t>
            </a:r>
            <a:r>
              <a:rPr sz="2800" i="1" spc="-275" dirty="0">
                <a:latin typeface="Times New Roman"/>
                <a:cs typeface="Times New Roman"/>
              </a:rPr>
              <a:t>there </a:t>
            </a:r>
            <a:r>
              <a:rPr sz="2800" i="1" spc="-335" dirty="0">
                <a:latin typeface="Times New Roman"/>
                <a:cs typeface="Times New Roman"/>
              </a:rPr>
              <a:t>are </a:t>
            </a:r>
            <a:r>
              <a:rPr sz="2800" i="1" spc="-295" dirty="0">
                <a:latin typeface="Times New Roman"/>
                <a:cs typeface="Times New Roman"/>
              </a:rPr>
              <a:t>a </a:t>
            </a:r>
            <a:r>
              <a:rPr sz="2800" i="1" spc="-320" dirty="0">
                <a:latin typeface="Times New Roman"/>
                <a:cs typeface="Times New Roman"/>
              </a:rPr>
              <a:t>whole </a:t>
            </a:r>
            <a:r>
              <a:rPr sz="2800" i="1" spc="-315" dirty="0">
                <a:latin typeface="Times New Roman"/>
                <a:cs typeface="Times New Roman"/>
              </a:rPr>
              <a:t>series </a:t>
            </a:r>
            <a:r>
              <a:rPr sz="2800" i="1" spc="-245" dirty="0">
                <a:latin typeface="Times New Roman"/>
                <a:cs typeface="Times New Roman"/>
              </a:rPr>
              <a:t>of </a:t>
            </a:r>
            <a:r>
              <a:rPr sz="2800" i="1" spc="-220" dirty="0">
                <a:latin typeface="Times New Roman"/>
                <a:cs typeface="Times New Roman"/>
              </a:rPr>
              <a:t>puzzles </a:t>
            </a:r>
            <a:r>
              <a:rPr sz="2800" i="1" spc="-165" dirty="0">
                <a:latin typeface="Times New Roman"/>
                <a:cs typeface="Times New Roman"/>
              </a:rPr>
              <a:t>that </a:t>
            </a:r>
            <a:r>
              <a:rPr sz="2800" i="1" spc="-285" dirty="0">
                <a:latin typeface="Times New Roman"/>
                <a:cs typeface="Times New Roman"/>
              </a:rPr>
              <a:t>involve </a:t>
            </a:r>
            <a:r>
              <a:rPr sz="2800" i="1" spc="-265" dirty="0">
                <a:latin typeface="Times New Roman"/>
                <a:cs typeface="Times New Roman"/>
              </a:rPr>
              <a:t>devising  </a:t>
            </a:r>
            <a:r>
              <a:rPr sz="2800" i="1" spc="-260" dirty="0">
                <a:latin typeface="Times New Roman"/>
                <a:cs typeface="Times New Roman"/>
              </a:rPr>
              <a:t>algorithms </a:t>
            </a:r>
            <a:r>
              <a:rPr sz="2800" i="1" spc="-220" dirty="0">
                <a:latin typeface="Times New Roman"/>
                <a:cs typeface="Times New Roman"/>
              </a:rPr>
              <a:t>to </a:t>
            </a:r>
            <a:r>
              <a:rPr sz="2800" i="1" spc="-320" dirty="0">
                <a:latin typeface="Times New Roman"/>
                <a:cs typeface="Times New Roman"/>
              </a:rPr>
              <a:t>solve </a:t>
            </a:r>
            <a:r>
              <a:rPr sz="2800" i="1" spc="-270" dirty="0">
                <a:latin typeface="Times New Roman"/>
                <a:cs typeface="Times New Roman"/>
              </a:rPr>
              <a:t>them </a:t>
            </a:r>
            <a:r>
              <a:rPr sz="2800" i="1" spc="-245" dirty="0">
                <a:latin typeface="Times New Roman"/>
                <a:cs typeface="Times New Roman"/>
              </a:rPr>
              <a:t>of </a:t>
            </a:r>
            <a:r>
              <a:rPr sz="2800" i="1" spc="-295" dirty="0">
                <a:latin typeface="Times New Roman"/>
                <a:cs typeface="Times New Roman"/>
              </a:rPr>
              <a:t>which a </a:t>
            </a:r>
            <a:r>
              <a:rPr sz="2800" i="1" spc="-235" dirty="0">
                <a:latin typeface="Times New Roman"/>
                <a:cs typeface="Times New Roman"/>
              </a:rPr>
              <a:t>Rubik's </a:t>
            </a:r>
            <a:r>
              <a:rPr sz="2800" i="1" spc="-345" dirty="0">
                <a:latin typeface="Times New Roman"/>
                <a:cs typeface="Times New Roman"/>
              </a:rPr>
              <a:t>cube </a:t>
            </a:r>
            <a:r>
              <a:rPr sz="2800" i="1" spc="-254" dirty="0">
                <a:latin typeface="Times New Roman"/>
                <a:cs typeface="Times New Roman"/>
              </a:rPr>
              <a:t>is </a:t>
            </a:r>
            <a:r>
              <a:rPr sz="2800" i="1" spc="-335" dirty="0">
                <a:latin typeface="Times New Roman"/>
                <a:cs typeface="Times New Roman"/>
              </a:rPr>
              <a:t>one </a:t>
            </a:r>
            <a:r>
              <a:rPr sz="2800" i="1" spc="-245" dirty="0">
                <a:latin typeface="Times New Roman"/>
                <a:cs typeface="Times New Roman"/>
              </a:rPr>
              <a:t>of </a:t>
            </a:r>
            <a:r>
              <a:rPr sz="2800" i="1" spc="-220" dirty="0">
                <a:latin typeface="Times New Roman"/>
                <a:cs typeface="Times New Roman"/>
              </a:rPr>
              <a:t>the </a:t>
            </a:r>
            <a:r>
              <a:rPr sz="2800" i="1" spc="-320" dirty="0">
                <a:latin typeface="Times New Roman"/>
                <a:cs typeface="Times New Roman"/>
              </a:rPr>
              <a:t>most  </a:t>
            </a:r>
            <a:r>
              <a:rPr sz="2800" i="1" spc="-280" dirty="0">
                <a:latin typeface="Times New Roman"/>
                <a:cs typeface="Times New Roman"/>
              </a:rPr>
              <a:t>complex.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5866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Computational </a:t>
            </a:r>
            <a:r>
              <a:rPr spc="-200" dirty="0"/>
              <a:t>Thinking </a:t>
            </a:r>
            <a:r>
              <a:rPr spc="-165" dirty="0"/>
              <a:t>in</a:t>
            </a:r>
            <a:r>
              <a:rPr spc="-375" dirty="0"/>
              <a:t> </a:t>
            </a:r>
            <a:r>
              <a:rPr spc="-145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49781"/>
            <a:ext cx="8530590" cy="5101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6985" indent="-274320" algn="just">
              <a:lnSpc>
                <a:spcPct val="100000"/>
              </a:lnSpc>
              <a:spcBef>
                <a:spcPts val="95"/>
              </a:spcBef>
              <a:buSzPct val="83928"/>
              <a:buFont typeface="Arial"/>
              <a:buChar char="•"/>
              <a:tabLst>
                <a:tab pos="287020" algn="l"/>
              </a:tabLst>
            </a:pPr>
            <a:r>
              <a:rPr sz="2800" spc="-165" dirty="0">
                <a:latin typeface="Times New Roman"/>
                <a:cs typeface="Times New Roman"/>
              </a:rPr>
              <a:t>Before </a:t>
            </a:r>
            <a:r>
              <a:rPr sz="2800" spc="-100" dirty="0">
                <a:latin typeface="Times New Roman"/>
                <a:cs typeface="Times New Roman"/>
              </a:rPr>
              <a:t>computers </a:t>
            </a:r>
            <a:r>
              <a:rPr sz="2800" spc="-170" dirty="0">
                <a:latin typeface="Times New Roman"/>
                <a:cs typeface="Times New Roman"/>
              </a:rPr>
              <a:t>can </a:t>
            </a:r>
            <a:r>
              <a:rPr sz="2800" spc="-135" dirty="0">
                <a:latin typeface="Times New Roman"/>
                <a:cs typeface="Times New Roman"/>
              </a:rPr>
              <a:t>be </a:t>
            </a:r>
            <a:r>
              <a:rPr sz="2800" spc="-140" dirty="0">
                <a:latin typeface="Times New Roman"/>
                <a:cs typeface="Times New Roman"/>
              </a:rPr>
              <a:t>used </a:t>
            </a:r>
            <a:r>
              <a:rPr sz="2800" spc="-45" dirty="0">
                <a:latin typeface="Times New Roman"/>
                <a:cs typeface="Times New Roman"/>
              </a:rPr>
              <a:t>to </a:t>
            </a:r>
            <a:r>
              <a:rPr sz="2800" spc="-170" dirty="0">
                <a:latin typeface="Times New Roman"/>
                <a:cs typeface="Times New Roman"/>
              </a:rPr>
              <a:t>solve </a:t>
            </a:r>
            <a:r>
              <a:rPr sz="2800" spc="-225" dirty="0">
                <a:latin typeface="Times New Roman"/>
                <a:cs typeface="Times New Roman"/>
              </a:rPr>
              <a:t>a </a:t>
            </a:r>
            <a:r>
              <a:rPr sz="2800" spc="-90" dirty="0">
                <a:latin typeface="Times New Roman"/>
                <a:cs typeface="Times New Roman"/>
              </a:rPr>
              <a:t>problem, the </a:t>
            </a:r>
            <a:r>
              <a:rPr sz="2800" spc="-120" dirty="0">
                <a:latin typeface="Times New Roman"/>
                <a:cs typeface="Times New Roman"/>
              </a:rPr>
              <a:t>problem  </a:t>
            </a:r>
            <a:r>
              <a:rPr sz="2800" spc="-125" dirty="0">
                <a:latin typeface="Times New Roman"/>
                <a:cs typeface="Times New Roman"/>
              </a:rPr>
              <a:t>itself </a:t>
            </a:r>
            <a:r>
              <a:rPr sz="2800" spc="-160" dirty="0">
                <a:latin typeface="Times New Roman"/>
                <a:cs typeface="Times New Roman"/>
              </a:rPr>
              <a:t>and </a:t>
            </a:r>
            <a:r>
              <a:rPr sz="2800" spc="-80" dirty="0">
                <a:latin typeface="Times New Roman"/>
                <a:cs typeface="Times New Roman"/>
              </a:rPr>
              <a:t>the </a:t>
            </a:r>
            <a:r>
              <a:rPr sz="2800" spc="-240" dirty="0">
                <a:latin typeface="Times New Roman"/>
                <a:cs typeface="Times New Roman"/>
              </a:rPr>
              <a:t>ways </a:t>
            </a:r>
            <a:r>
              <a:rPr sz="2800" spc="-135" dirty="0">
                <a:latin typeface="Times New Roman"/>
                <a:cs typeface="Times New Roman"/>
              </a:rPr>
              <a:t>in </a:t>
            </a:r>
            <a:r>
              <a:rPr sz="2800" spc="-155" dirty="0">
                <a:latin typeface="Times New Roman"/>
                <a:cs typeface="Times New Roman"/>
              </a:rPr>
              <a:t>which </a:t>
            </a:r>
            <a:r>
              <a:rPr sz="2800" spc="-55" dirty="0">
                <a:latin typeface="Times New Roman"/>
                <a:cs typeface="Times New Roman"/>
              </a:rPr>
              <a:t>it </a:t>
            </a:r>
            <a:r>
              <a:rPr sz="2800" spc="-130" dirty="0">
                <a:latin typeface="Times New Roman"/>
                <a:cs typeface="Times New Roman"/>
              </a:rPr>
              <a:t>could be </a:t>
            </a:r>
            <a:r>
              <a:rPr sz="2800" spc="-135" dirty="0">
                <a:latin typeface="Times New Roman"/>
                <a:cs typeface="Times New Roman"/>
              </a:rPr>
              <a:t>resolved </a:t>
            </a:r>
            <a:r>
              <a:rPr sz="2800" spc="-120" dirty="0">
                <a:latin typeface="Times New Roman"/>
                <a:cs typeface="Times New Roman"/>
              </a:rPr>
              <a:t>must </a:t>
            </a:r>
            <a:r>
              <a:rPr sz="2800" spc="-135" dirty="0">
                <a:latin typeface="Times New Roman"/>
                <a:cs typeface="Times New Roman"/>
              </a:rPr>
              <a:t>be  </a:t>
            </a:r>
            <a:r>
              <a:rPr sz="2800" spc="-75" dirty="0">
                <a:latin typeface="Times New Roman"/>
                <a:cs typeface="Times New Roman"/>
              </a:rPr>
              <a:t>understood.</a:t>
            </a:r>
            <a:endParaRPr sz="2800">
              <a:latin typeface="Times New Roman"/>
              <a:cs typeface="Times New Roman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SzPct val="83928"/>
              <a:buFont typeface="Arial"/>
              <a:buChar char="•"/>
              <a:tabLst>
                <a:tab pos="287020" algn="l"/>
              </a:tabLst>
            </a:pPr>
            <a:r>
              <a:rPr sz="2800" spc="-125" dirty="0">
                <a:latin typeface="Times New Roman"/>
                <a:cs typeface="Times New Roman"/>
              </a:rPr>
              <a:t>Computational </a:t>
            </a:r>
            <a:r>
              <a:rPr sz="2800" spc="-135" dirty="0">
                <a:latin typeface="Times New Roman"/>
                <a:cs typeface="Times New Roman"/>
              </a:rPr>
              <a:t>thinking </a:t>
            </a:r>
            <a:r>
              <a:rPr sz="2800" spc="-120" dirty="0">
                <a:latin typeface="Times New Roman"/>
                <a:cs typeface="Times New Roman"/>
              </a:rPr>
              <a:t>techniques </a:t>
            </a:r>
            <a:r>
              <a:rPr sz="2800" spc="-130" dirty="0">
                <a:latin typeface="Times New Roman"/>
                <a:cs typeface="Times New Roman"/>
              </a:rPr>
              <a:t>help </a:t>
            </a:r>
            <a:r>
              <a:rPr sz="2800" spc="-114" dirty="0">
                <a:latin typeface="Times New Roman"/>
                <a:cs typeface="Times New Roman"/>
              </a:rPr>
              <a:t>with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spc="-90" dirty="0">
                <a:latin typeface="Times New Roman"/>
                <a:cs typeface="Times New Roman"/>
              </a:rPr>
              <a:t>this.</a:t>
            </a:r>
            <a:endParaRPr sz="2800">
              <a:latin typeface="Times New Roman"/>
              <a:cs typeface="Times New Roman"/>
            </a:endParaRPr>
          </a:p>
          <a:p>
            <a:pPr marL="287020" indent="-274320" algn="just">
              <a:lnSpc>
                <a:spcPct val="100000"/>
              </a:lnSpc>
              <a:spcBef>
                <a:spcPts val="595"/>
              </a:spcBef>
              <a:buSzPct val="83928"/>
              <a:buFont typeface="Arial"/>
              <a:buChar char="•"/>
              <a:tabLst>
                <a:tab pos="287020" algn="l"/>
              </a:tabLst>
            </a:pPr>
            <a:r>
              <a:rPr sz="2800" spc="-160" dirty="0">
                <a:latin typeface="Times New Roman"/>
                <a:cs typeface="Times New Roman"/>
              </a:rPr>
              <a:t>Thinking </a:t>
            </a:r>
            <a:r>
              <a:rPr sz="2800" spc="-135" dirty="0">
                <a:latin typeface="Times New Roman"/>
                <a:cs typeface="Times New Roman"/>
              </a:rPr>
              <a:t>computationally </a:t>
            </a:r>
            <a:r>
              <a:rPr sz="2800" spc="-180" dirty="0">
                <a:latin typeface="Times New Roman"/>
                <a:cs typeface="Times New Roman"/>
              </a:rPr>
              <a:t>is </a:t>
            </a:r>
            <a:r>
              <a:rPr sz="2800" spc="-70" dirty="0">
                <a:latin typeface="Times New Roman"/>
                <a:cs typeface="Times New Roman"/>
              </a:rPr>
              <a:t>not</a:t>
            </a:r>
            <a:r>
              <a:rPr sz="2800" spc="200" dirty="0">
                <a:solidFill>
                  <a:srgbClr val="CC9900"/>
                </a:solidFill>
                <a:latin typeface="Times New Roman"/>
                <a:cs typeface="Times New Roman"/>
              </a:rPr>
              <a:t> </a:t>
            </a:r>
            <a:r>
              <a:rPr sz="2800" b="1" u="heavy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programming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286385" marR="8255" indent="-274320">
              <a:lnSpc>
                <a:spcPct val="100000"/>
              </a:lnSpc>
              <a:spcBef>
                <a:spcPts val="60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85" dirty="0">
                <a:latin typeface="Times New Roman"/>
                <a:cs typeface="Times New Roman"/>
              </a:rPr>
              <a:t>It </a:t>
            </a:r>
            <a:r>
              <a:rPr sz="2800" spc="-180" dirty="0">
                <a:latin typeface="Times New Roman"/>
                <a:cs typeface="Times New Roman"/>
              </a:rPr>
              <a:t>is </a:t>
            </a:r>
            <a:r>
              <a:rPr sz="2800" spc="-70" dirty="0">
                <a:latin typeface="Times New Roman"/>
                <a:cs typeface="Times New Roman"/>
              </a:rPr>
              <a:t>not </a:t>
            </a:r>
            <a:r>
              <a:rPr sz="2800" spc="-170" dirty="0">
                <a:latin typeface="Times New Roman"/>
                <a:cs typeface="Times New Roman"/>
              </a:rPr>
              <a:t>even </a:t>
            </a:r>
            <a:r>
              <a:rPr sz="2800" spc="-135" dirty="0">
                <a:latin typeface="Times New Roman"/>
                <a:cs typeface="Times New Roman"/>
              </a:rPr>
              <a:t>thinking </a:t>
            </a:r>
            <a:r>
              <a:rPr sz="2800" spc="-150" dirty="0">
                <a:latin typeface="Times New Roman"/>
                <a:cs typeface="Times New Roman"/>
              </a:rPr>
              <a:t>like </a:t>
            </a:r>
            <a:r>
              <a:rPr sz="2800" spc="-225" dirty="0">
                <a:latin typeface="Times New Roman"/>
                <a:cs typeface="Times New Roman"/>
              </a:rPr>
              <a:t>a </a:t>
            </a:r>
            <a:r>
              <a:rPr sz="2800" spc="-95" dirty="0">
                <a:latin typeface="Times New Roman"/>
                <a:cs typeface="Times New Roman"/>
              </a:rPr>
              <a:t>computer, </a:t>
            </a:r>
            <a:r>
              <a:rPr sz="2800" spc="-225" dirty="0">
                <a:latin typeface="Times New Roman"/>
                <a:cs typeface="Times New Roman"/>
              </a:rPr>
              <a:t>as </a:t>
            </a:r>
            <a:r>
              <a:rPr sz="2800" spc="-100" dirty="0">
                <a:latin typeface="Times New Roman"/>
                <a:cs typeface="Times New Roman"/>
              </a:rPr>
              <a:t>computers </a:t>
            </a:r>
            <a:r>
              <a:rPr sz="2800" spc="-120" dirty="0">
                <a:latin typeface="Times New Roman"/>
                <a:cs typeface="Times New Roman"/>
              </a:rPr>
              <a:t>do </a:t>
            </a:r>
            <a:r>
              <a:rPr sz="2800" spc="-20" dirty="0">
                <a:latin typeface="Times New Roman"/>
                <a:cs typeface="Times New Roman"/>
              </a:rPr>
              <a:t>not, </a:t>
            </a:r>
            <a:r>
              <a:rPr sz="2800" spc="-160" dirty="0">
                <a:latin typeface="Times New Roman"/>
                <a:cs typeface="Times New Roman"/>
              </a:rPr>
              <a:t>and  </a:t>
            </a:r>
            <a:r>
              <a:rPr sz="2800" spc="-85" dirty="0">
                <a:latin typeface="Times New Roman"/>
                <a:cs typeface="Times New Roman"/>
              </a:rPr>
              <a:t>cannot,</a:t>
            </a:r>
            <a:r>
              <a:rPr sz="2800" spc="-19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think.</a:t>
            </a:r>
            <a:endParaRPr sz="2800">
              <a:latin typeface="Times New Roman"/>
              <a:cs typeface="Times New Roman"/>
            </a:endParaRPr>
          </a:p>
          <a:p>
            <a:pPr marL="286385" marR="6985" indent="-274320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204" dirty="0">
                <a:latin typeface="Times New Roman"/>
                <a:cs typeface="Times New Roman"/>
              </a:rPr>
              <a:t>Simply </a:t>
            </a:r>
            <a:r>
              <a:rPr sz="2800" spc="-25" dirty="0">
                <a:latin typeface="Times New Roman"/>
                <a:cs typeface="Times New Roman"/>
              </a:rPr>
              <a:t>put, </a:t>
            </a:r>
            <a:r>
              <a:rPr sz="2800" spc="-135" dirty="0">
                <a:latin typeface="Times New Roman"/>
                <a:cs typeface="Times New Roman"/>
              </a:rPr>
              <a:t>programming </a:t>
            </a:r>
            <a:r>
              <a:rPr sz="2800" spc="-100" dirty="0">
                <a:latin typeface="Times New Roman"/>
                <a:cs typeface="Times New Roman"/>
              </a:rPr>
              <a:t>tells </a:t>
            </a:r>
            <a:r>
              <a:rPr sz="2800" spc="-225" dirty="0">
                <a:latin typeface="Times New Roman"/>
                <a:cs typeface="Times New Roman"/>
              </a:rPr>
              <a:t>a </a:t>
            </a:r>
            <a:r>
              <a:rPr sz="2800" spc="-95" dirty="0">
                <a:latin typeface="Times New Roman"/>
                <a:cs typeface="Times New Roman"/>
              </a:rPr>
              <a:t>computer </a:t>
            </a:r>
            <a:r>
              <a:rPr sz="2800" spc="-140" dirty="0">
                <a:latin typeface="Times New Roman"/>
                <a:cs typeface="Times New Roman"/>
              </a:rPr>
              <a:t>what </a:t>
            </a:r>
            <a:r>
              <a:rPr sz="2800" spc="-45" dirty="0">
                <a:latin typeface="Times New Roman"/>
                <a:cs typeface="Times New Roman"/>
              </a:rPr>
              <a:t>to </a:t>
            </a:r>
            <a:r>
              <a:rPr sz="2800" spc="-120" dirty="0">
                <a:latin typeface="Times New Roman"/>
                <a:cs typeface="Times New Roman"/>
              </a:rPr>
              <a:t>do </a:t>
            </a:r>
            <a:r>
              <a:rPr sz="2800" spc="-150" dirty="0">
                <a:latin typeface="Times New Roman"/>
                <a:cs typeface="Times New Roman"/>
              </a:rPr>
              <a:t>and </a:t>
            </a:r>
            <a:r>
              <a:rPr sz="2800" spc="-175" dirty="0">
                <a:latin typeface="Times New Roman"/>
                <a:cs typeface="Times New Roman"/>
              </a:rPr>
              <a:t>how  </a:t>
            </a:r>
            <a:r>
              <a:rPr sz="2800" spc="-45" dirty="0">
                <a:latin typeface="Times New Roman"/>
                <a:cs typeface="Times New Roman"/>
              </a:rPr>
              <a:t>to </a:t>
            </a:r>
            <a:r>
              <a:rPr sz="2800" spc="-120" dirty="0">
                <a:latin typeface="Times New Roman"/>
                <a:cs typeface="Times New Roman"/>
              </a:rPr>
              <a:t>do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it.</a:t>
            </a:r>
            <a:endParaRPr sz="28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480059" algn="l"/>
                <a:tab pos="480695" algn="l"/>
                <a:tab pos="2940685" algn="l"/>
                <a:tab pos="4443730" algn="l"/>
                <a:tab pos="5751195" algn="l"/>
                <a:tab pos="6505575" algn="l"/>
                <a:tab pos="7013575" algn="l"/>
                <a:tab pos="8002270" algn="l"/>
              </a:tabLst>
            </a:pPr>
            <a:r>
              <a:rPr dirty="0"/>
              <a:t>	</a:t>
            </a:r>
            <a:r>
              <a:rPr sz="2800" b="1" spc="-70" dirty="0">
                <a:latin typeface="Times New Roman"/>
                <a:cs typeface="Times New Roman"/>
              </a:rPr>
              <a:t>Com</a:t>
            </a:r>
            <a:r>
              <a:rPr sz="2800" b="1" spc="-45" dirty="0">
                <a:latin typeface="Times New Roman"/>
                <a:cs typeface="Times New Roman"/>
              </a:rPr>
              <a:t>p</a:t>
            </a:r>
            <a:r>
              <a:rPr sz="2800" b="1" spc="25" dirty="0">
                <a:latin typeface="Times New Roman"/>
                <a:cs typeface="Times New Roman"/>
              </a:rPr>
              <a:t>ut</a:t>
            </a:r>
            <a:r>
              <a:rPr sz="2800" b="1" spc="-140" dirty="0">
                <a:latin typeface="Times New Roman"/>
                <a:cs typeface="Times New Roman"/>
              </a:rPr>
              <a:t>a</a:t>
            </a:r>
            <a:r>
              <a:rPr sz="2800" b="1" spc="15" dirty="0">
                <a:latin typeface="Times New Roman"/>
                <a:cs typeface="Times New Roman"/>
              </a:rPr>
              <a:t>tiona</a:t>
            </a:r>
            <a:r>
              <a:rPr sz="2800" b="1" spc="10" dirty="0">
                <a:latin typeface="Times New Roman"/>
                <a:cs typeface="Times New Roman"/>
              </a:rPr>
              <a:t>l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15" dirty="0">
                <a:latin typeface="Times New Roman"/>
                <a:cs typeface="Times New Roman"/>
              </a:rPr>
              <a:t>think</a:t>
            </a:r>
            <a:r>
              <a:rPr sz="2800" b="1" spc="25" dirty="0">
                <a:latin typeface="Times New Roman"/>
                <a:cs typeface="Times New Roman"/>
              </a:rPr>
              <a:t>ing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0" dirty="0">
                <a:latin typeface="Times New Roman"/>
                <a:cs typeface="Times New Roman"/>
              </a:rPr>
              <a:t>en</a:t>
            </a:r>
            <a:r>
              <a:rPr sz="2800" b="1" spc="-70" dirty="0">
                <a:latin typeface="Times New Roman"/>
                <a:cs typeface="Times New Roman"/>
              </a:rPr>
              <a:t>a</a:t>
            </a:r>
            <a:r>
              <a:rPr sz="2800" b="1" spc="-60" dirty="0">
                <a:latin typeface="Times New Roman"/>
                <a:cs typeface="Times New Roman"/>
              </a:rPr>
              <a:t>b</a:t>
            </a:r>
            <a:r>
              <a:rPr sz="2800" b="1" spc="10" dirty="0">
                <a:latin typeface="Times New Roman"/>
                <a:cs typeface="Times New Roman"/>
              </a:rPr>
              <a:t>les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85" dirty="0">
                <a:latin typeface="Times New Roman"/>
                <a:cs typeface="Times New Roman"/>
              </a:rPr>
              <a:t>y</a:t>
            </a:r>
            <a:r>
              <a:rPr sz="2800" b="1" spc="65" dirty="0">
                <a:latin typeface="Times New Roman"/>
                <a:cs typeface="Times New Roman"/>
              </a:rPr>
              <a:t>ou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50" dirty="0">
                <a:latin typeface="Times New Roman"/>
                <a:cs typeface="Times New Roman"/>
              </a:rPr>
              <a:t>t</a:t>
            </a:r>
            <a:r>
              <a:rPr sz="2800" b="1" spc="85" dirty="0">
                <a:latin typeface="Times New Roman"/>
                <a:cs typeface="Times New Roman"/>
              </a:rPr>
              <a:t>o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15" dirty="0">
                <a:latin typeface="Times New Roman"/>
                <a:cs typeface="Times New Roman"/>
              </a:rPr>
              <a:t>w</a:t>
            </a:r>
            <a:r>
              <a:rPr sz="2800" b="1" spc="5" dirty="0">
                <a:latin typeface="Times New Roman"/>
                <a:cs typeface="Times New Roman"/>
              </a:rPr>
              <a:t>ork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40" dirty="0">
                <a:latin typeface="Times New Roman"/>
                <a:cs typeface="Times New Roman"/>
              </a:rPr>
              <a:t>out  </a:t>
            </a:r>
            <a:r>
              <a:rPr sz="2800" b="1" spc="15" dirty="0">
                <a:latin typeface="Times New Roman"/>
                <a:cs typeface="Times New Roman"/>
              </a:rPr>
              <a:t>exactly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what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70" dirty="0">
                <a:latin typeface="Times New Roman"/>
                <a:cs typeface="Times New Roman"/>
              </a:rPr>
              <a:t>to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40" dirty="0">
                <a:latin typeface="Times New Roman"/>
                <a:cs typeface="Times New Roman"/>
              </a:rPr>
              <a:t>tell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spc="35" dirty="0">
                <a:latin typeface="Times New Roman"/>
                <a:cs typeface="Times New Roman"/>
              </a:rPr>
              <a:t>the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10" dirty="0">
                <a:latin typeface="Times New Roman"/>
                <a:cs typeface="Times New Roman"/>
              </a:rPr>
              <a:t>computer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70" dirty="0">
                <a:latin typeface="Times New Roman"/>
                <a:cs typeface="Times New Roman"/>
              </a:rPr>
              <a:t>to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30" dirty="0">
                <a:latin typeface="Times New Roman"/>
                <a:cs typeface="Times New Roman"/>
              </a:rPr>
              <a:t>do.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243" y="153746"/>
            <a:ext cx="3604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340" dirty="0">
                <a:latin typeface="Times New Roman"/>
                <a:cs typeface="Times New Roman"/>
              </a:rPr>
              <a:t>What </a:t>
            </a:r>
            <a:r>
              <a:rPr sz="4000" i="1" spc="-490" dirty="0">
                <a:latin typeface="Times New Roman"/>
                <a:cs typeface="Times New Roman"/>
              </a:rPr>
              <a:t>CT </a:t>
            </a:r>
            <a:r>
              <a:rPr sz="4000" i="1" spc="-360" dirty="0">
                <a:latin typeface="Times New Roman"/>
                <a:cs typeface="Times New Roman"/>
              </a:rPr>
              <a:t>is </a:t>
            </a:r>
            <a:r>
              <a:rPr sz="4000" i="1" spc="-390" dirty="0">
                <a:latin typeface="Times New Roman"/>
                <a:cs typeface="Times New Roman"/>
              </a:rPr>
              <a:t>and</a:t>
            </a:r>
            <a:r>
              <a:rPr sz="4000" i="1" spc="-430" dirty="0">
                <a:latin typeface="Times New Roman"/>
                <a:cs typeface="Times New Roman"/>
              </a:rPr>
              <a:t> </a:t>
            </a:r>
            <a:r>
              <a:rPr sz="4000" i="1" spc="-315" dirty="0">
                <a:latin typeface="Times New Roman"/>
                <a:cs typeface="Times New Roman"/>
              </a:rPr>
              <a:t>is'nt?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622300" indent="-457200">
              <a:lnSpc>
                <a:spcPct val="100000"/>
              </a:lnSpc>
              <a:spcBef>
                <a:spcPts val="705"/>
              </a:spcBef>
              <a:buSzPct val="84722"/>
              <a:buFont typeface="Wingdings"/>
              <a:buChar char=""/>
              <a:tabLst>
                <a:tab pos="621665" algn="l"/>
                <a:tab pos="622300" algn="l"/>
              </a:tabLst>
            </a:pPr>
            <a:r>
              <a:rPr spc="-160" dirty="0"/>
              <a:t>Conceptualizing, </a:t>
            </a:r>
            <a:r>
              <a:rPr spc="-90" dirty="0"/>
              <a:t>not</a:t>
            </a:r>
            <a:r>
              <a:rPr spc="-155" dirty="0"/>
              <a:t> </a:t>
            </a:r>
            <a:r>
              <a:rPr spc="-170" dirty="0"/>
              <a:t>programming.</a:t>
            </a:r>
          </a:p>
          <a:p>
            <a:pPr marL="622300" indent="-457200">
              <a:lnSpc>
                <a:spcPct val="100000"/>
              </a:lnSpc>
              <a:spcBef>
                <a:spcPts val="600"/>
              </a:spcBef>
              <a:buSzPct val="84722"/>
              <a:buFont typeface="Wingdings"/>
              <a:buChar char=""/>
              <a:tabLst>
                <a:tab pos="621665" algn="l"/>
                <a:tab pos="622300" algn="l"/>
              </a:tabLst>
            </a:pPr>
            <a:r>
              <a:rPr spc="-155" dirty="0"/>
              <a:t>Fundamental, </a:t>
            </a:r>
            <a:r>
              <a:rPr spc="-90" dirty="0"/>
              <a:t>not </a:t>
            </a:r>
            <a:r>
              <a:rPr spc="-65" dirty="0"/>
              <a:t>rote</a:t>
            </a:r>
            <a:r>
              <a:rPr spc="-165" dirty="0"/>
              <a:t> </a:t>
            </a:r>
            <a:r>
              <a:rPr spc="-135" dirty="0"/>
              <a:t>skill.</a:t>
            </a:r>
          </a:p>
          <a:p>
            <a:pPr marL="622300" indent="-457200">
              <a:lnSpc>
                <a:spcPct val="100000"/>
              </a:lnSpc>
              <a:spcBef>
                <a:spcPts val="600"/>
              </a:spcBef>
              <a:buSzPct val="84722"/>
              <a:buFont typeface="Wingdings"/>
              <a:buChar char=""/>
              <a:tabLst>
                <a:tab pos="621665" algn="l"/>
                <a:tab pos="622300" algn="l"/>
              </a:tabLst>
            </a:pPr>
            <a:r>
              <a:rPr spc="-465" dirty="0"/>
              <a:t>A </a:t>
            </a:r>
            <a:r>
              <a:rPr spc="-320" dirty="0"/>
              <a:t>way </a:t>
            </a:r>
            <a:r>
              <a:rPr spc="-110" dirty="0"/>
              <a:t>that </a:t>
            </a:r>
            <a:r>
              <a:rPr spc="-165" dirty="0"/>
              <a:t>humans, </a:t>
            </a:r>
            <a:r>
              <a:rPr spc="-90" dirty="0"/>
              <a:t>not </a:t>
            </a:r>
            <a:r>
              <a:rPr spc="-100" dirty="0"/>
              <a:t>computers,</a:t>
            </a:r>
            <a:r>
              <a:rPr spc="-690" dirty="0"/>
              <a:t> </a:t>
            </a:r>
            <a:r>
              <a:rPr spc="-100" dirty="0"/>
              <a:t>think.</a:t>
            </a:r>
          </a:p>
          <a:p>
            <a:pPr marL="622300" marR="5080" indent="-457200">
              <a:lnSpc>
                <a:spcPct val="100000"/>
              </a:lnSpc>
              <a:spcBef>
                <a:spcPts val="605"/>
              </a:spcBef>
              <a:buSzPct val="84722"/>
              <a:buFont typeface="Wingdings"/>
              <a:buChar char=""/>
              <a:tabLst>
                <a:tab pos="621665" algn="l"/>
                <a:tab pos="622300" algn="l"/>
              </a:tabLst>
            </a:pPr>
            <a:r>
              <a:rPr spc="-160" dirty="0"/>
              <a:t>Complements </a:t>
            </a:r>
            <a:r>
              <a:rPr spc="-200" dirty="0"/>
              <a:t>and </a:t>
            </a:r>
            <a:r>
              <a:rPr spc="-190" dirty="0"/>
              <a:t>combines </a:t>
            </a:r>
            <a:r>
              <a:rPr spc="-180" dirty="0"/>
              <a:t>mathematical </a:t>
            </a:r>
            <a:r>
              <a:rPr spc="-204" dirty="0"/>
              <a:t>and  </a:t>
            </a:r>
            <a:r>
              <a:rPr spc="-150" dirty="0"/>
              <a:t>engineering</a:t>
            </a:r>
            <a:r>
              <a:rPr spc="-85" dirty="0"/>
              <a:t> </a:t>
            </a:r>
            <a:r>
              <a:rPr spc="-165" dirty="0"/>
              <a:t>skills.</a:t>
            </a:r>
          </a:p>
          <a:p>
            <a:pPr marL="622300" indent="-457200">
              <a:lnSpc>
                <a:spcPct val="100000"/>
              </a:lnSpc>
              <a:spcBef>
                <a:spcPts val="600"/>
              </a:spcBef>
              <a:buSzPct val="84722"/>
              <a:buFont typeface="Wingdings"/>
              <a:buChar char=""/>
              <a:tabLst>
                <a:tab pos="621665" algn="l"/>
                <a:tab pos="622300" algn="l"/>
              </a:tabLst>
            </a:pPr>
            <a:r>
              <a:rPr spc="-225" dirty="0"/>
              <a:t>Ideas </a:t>
            </a:r>
            <a:r>
              <a:rPr spc="-90" dirty="0"/>
              <a:t>not</a:t>
            </a:r>
            <a:r>
              <a:rPr spc="55" dirty="0"/>
              <a:t> </a:t>
            </a:r>
            <a:r>
              <a:rPr spc="-90" dirty="0"/>
              <a:t>artifact.</a:t>
            </a:r>
          </a:p>
          <a:p>
            <a:pPr marL="622300" indent="-457200">
              <a:lnSpc>
                <a:spcPct val="100000"/>
              </a:lnSpc>
              <a:spcBef>
                <a:spcPts val="600"/>
              </a:spcBef>
              <a:buSzPct val="84722"/>
              <a:buFont typeface="Wingdings"/>
              <a:buChar char=""/>
              <a:tabLst>
                <a:tab pos="621665" algn="l"/>
                <a:tab pos="622300" algn="l"/>
              </a:tabLst>
            </a:pPr>
            <a:r>
              <a:rPr spc="-195" dirty="0"/>
              <a:t>For </a:t>
            </a:r>
            <a:r>
              <a:rPr spc="-155" dirty="0"/>
              <a:t>everyone,</a:t>
            </a:r>
            <a:r>
              <a:rPr spc="-100" dirty="0"/>
              <a:t> </a:t>
            </a:r>
            <a:r>
              <a:rPr spc="-145" dirty="0"/>
              <a:t>everywhere.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4077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Planning </a:t>
            </a:r>
            <a:r>
              <a:rPr spc="-55" dirty="0"/>
              <a:t>to </a:t>
            </a:r>
            <a:r>
              <a:rPr spc="-110" dirty="0"/>
              <a:t>meet</a:t>
            </a:r>
            <a:r>
              <a:rPr spc="-90" dirty="0"/>
              <a:t> </a:t>
            </a:r>
            <a:r>
              <a:rPr spc="-150" dirty="0"/>
              <a:t>friends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41578"/>
            <a:ext cx="8543290" cy="55187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86385" marR="20955" indent="-274320" algn="just">
              <a:lnSpc>
                <a:spcPct val="90000"/>
              </a:lnSpc>
              <a:spcBef>
                <a:spcPts val="430"/>
              </a:spcBef>
              <a:buSzPct val="83928"/>
              <a:buFont typeface="Arial"/>
              <a:buChar char="•"/>
              <a:tabLst>
                <a:tab pos="287020" algn="l"/>
              </a:tabLst>
            </a:pPr>
            <a:r>
              <a:rPr sz="2800" spc="-204" dirty="0">
                <a:latin typeface="Times New Roman"/>
                <a:cs typeface="Times New Roman"/>
              </a:rPr>
              <a:t>If </a:t>
            </a:r>
            <a:r>
              <a:rPr sz="2800" spc="-180" dirty="0">
                <a:latin typeface="Times New Roman"/>
                <a:cs typeface="Times New Roman"/>
              </a:rPr>
              <a:t>you </a:t>
            </a:r>
            <a:r>
              <a:rPr sz="2800" spc="-125" dirty="0">
                <a:latin typeface="Times New Roman"/>
                <a:cs typeface="Times New Roman"/>
              </a:rPr>
              <a:t>agree </a:t>
            </a:r>
            <a:r>
              <a:rPr sz="2800" spc="-45" dirty="0">
                <a:latin typeface="Times New Roman"/>
                <a:cs typeface="Times New Roman"/>
              </a:rPr>
              <a:t>to </a:t>
            </a:r>
            <a:r>
              <a:rPr sz="2800" spc="-85" dirty="0">
                <a:latin typeface="Times New Roman"/>
                <a:cs typeface="Times New Roman"/>
              </a:rPr>
              <a:t>meet </a:t>
            </a:r>
            <a:r>
              <a:rPr sz="2800" spc="-125" dirty="0">
                <a:latin typeface="Times New Roman"/>
                <a:cs typeface="Times New Roman"/>
              </a:rPr>
              <a:t>your </a:t>
            </a:r>
            <a:r>
              <a:rPr sz="2800" spc="-114" dirty="0">
                <a:latin typeface="Times New Roman"/>
                <a:cs typeface="Times New Roman"/>
              </a:rPr>
              <a:t>friends </a:t>
            </a:r>
            <a:r>
              <a:rPr sz="2800" spc="-135" dirty="0">
                <a:latin typeface="Times New Roman"/>
                <a:cs typeface="Times New Roman"/>
              </a:rPr>
              <a:t>somewhere </a:t>
            </a:r>
            <a:r>
              <a:rPr sz="2800" spc="-180" dirty="0">
                <a:latin typeface="Times New Roman"/>
                <a:cs typeface="Times New Roman"/>
              </a:rPr>
              <a:t>you </a:t>
            </a:r>
            <a:r>
              <a:rPr sz="2800" spc="-225" dirty="0">
                <a:latin typeface="Times New Roman"/>
                <a:cs typeface="Times New Roman"/>
              </a:rPr>
              <a:t>have </a:t>
            </a:r>
            <a:r>
              <a:rPr sz="2800" spc="-130" dirty="0">
                <a:latin typeface="Times New Roman"/>
                <a:cs typeface="Times New Roman"/>
              </a:rPr>
              <a:t>never  </a:t>
            </a:r>
            <a:r>
              <a:rPr sz="2800" spc="-120" dirty="0">
                <a:latin typeface="Times New Roman"/>
                <a:cs typeface="Times New Roman"/>
              </a:rPr>
              <a:t>been </a:t>
            </a:r>
            <a:r>
              <a:rPr sz="2800" spc="-90" dirty="0">
                <a:latin typeface="Times New Roman"/>
                <a:cs typeface="Times New Roman"/>
              </a:rPr>
              <a:t>before, </a:t>
            </a:r>
            <a:r>
              <a:rPr sz="2800" spc="-175" dirty="0">
                <a:latin typeface="Times New Roman"/>
                <a:cs typeface="Times New Roman"/>
              </a:rPr>
              <a:t>you </a:t>
            </a:r>
            <a:r>
              <a:rPr sz="2800" spc="-145" dirty="0">
                <a:latin typeface="Times New Roman"/>
                <a:cs typeface="Times New Roman"/>
              </a:rPr>
              <a:t>would </a:t>
            </a:r>
            <a:r>
              <a:rPr sz="2800" spc="-150" dirty="0">
                <a:latin typeface="Times New Roman"/>
                <a:cs typeface="Times New Roman"/>
              </a:rPr>
              <a:t>probably </a:t>
            </a:r>
            <a:r>
              <a:rPr sz="2800" spc="-145" dirty="0">
                <a:latin typeface="Times New Roman"/>
                <a:cs typeface="Times New Roman"/>
              </a:rPr>
              <a:t>plan </a:t>
            </a:r>
            <a:r>
              <a:rPr sz="2800" spc="-125" dirty="0">
                <a:latin typeface="Times New Roman"/>
                <a:cs typeface="Times New Roman"/>
              </a:rPr>
              <a:t>your </a:t>
            </a:r>
            <a:r>
              <a:rPr sz="2800" spc="-65" dirty="0">
                <a:latin typeface="Times New Roman"/>
                <a:cs typeface="Times New Roman"/>
              </a:rPr>
              <a:t>route </a:t>
            </a:r>
            <a:r>
              <a:rPr sz="2800" spc="-114" dirty="0">
                <a:latin typeface="Times New Roman"/>
                <a:cs typeface="Times New Roman"/>
              </a:rPr>
              <a:t>before </a:t>
            </a:r>
            <a:r>
              <a:rPr sz="2800" spc="-175" dirty="0">
                <a:latin typeface="Times New Roman"/>
                <a:cs typeface="Times New Roman"/>
              </a:rPr>
              <a:t>you  </a:t>
            </a:r>
            <a:r>
              <a:rPr sz="2800" spc="-105" dirty="0">
                <a:latin typeface="Times New Roman"/>
                <a:cs typeface="Times New Roman"/>
              </a:rPr>
              <a:t>step </a:t>
            </a:r>
            <a:r>
              <a:rPr sz="2800" spc="-70" dirty="0">
                <a:latin typeface="Times New Roman"/>
                <a:cs typeface="Times New Roman"/>
              </a:rPr>
              <a:t>out </a:t>
            </a:r>
            <a:r>
              <a:rPr sz="2800" spc="-165" dirty="0">
                <a:latin typeface="Times New Roman"/>
                <a:cs typeface="Times New Roman"/>
              </a:rPr>
              <a:t>of </a:t>
            </a:r>
            <a:r>
              <a:rPr sz="2800" spc="-125" dirty="0">
                <a:latin typeface="Times New Roman"/>
                <a:cs typeface="Times New Roman"/>
              </a:rPr>
              <a:t>your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house.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350">
              <a:latin typeface="Times New Roman"/>
              <a:cs typeface="Times New Roman"/>
            </a:endParaRPr>
          </a:p>
          <a:p>
            <a:pPr marL="287020" indent="-274320">
              <a:lnSpc>
                <a:spcPts val="3195"/>
              </a:lnSpc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335" dirty="0">
                <a:latin typeface="Times New Roman"/>
                <a:cs typeface="Times New Roman"/>
              </a:rPr>
              <a:t>You </a:t>
            </a:r>
            <a:r>
              <a:rPr sz="2800" spc="-140" dirty="0">
                <a:latin typeface="Times New Roman"/>
                <a:cs typeface="Times New Roman"/>
              </a:rPr>
              <a:t>might </a:t>
            </a:r>
            <a:r>
              <a:rPr sz="2800" spc="-120" dirty="0">
                <a:latin typeface="Times New Roman"/>
                <a:cs typeface="Times New Roman"/>
              </a:rPr>
              <a:t>consider </a:t>
            </a:r>
            <a:r>
              <a:rPr sz="2800" spc="-85" dirty="0">
                <a:latin typeface="Times New Roman"/>
                <a:cs typeface="Times New Roman"/>
              </a:rPr>
              <a:t>the </a:t>
            </a:r>
            <a:r>
              <a:rPr sz="2800" spc="-90" dirty="0">
                <a:latin typeface="Times New Roman"/>
                <a:cs typeface="Times New Roman"/>
              </a:rPr>
              <a:t>routes </a:t>
            </a:r>
            <a:r>
              <a:rPr sz="2800" spc="-195" dirty="0">
                <a:latin typeface="Times New Roman"/>
                <a:cs typeface="Times New Roman"/>
              </a:rPr>
              <a:t>available </a:t>
            </a:r>
            <a:r>
              <a:rPr sz="2800" spc="-155" dirty="0">
                <a:latin typeface="Times New Roman"/>
                <a:cs typeface="Times New Roman"/>
              </a:rPr>
              <a:t>and which </a:t>
            </a:r>
            <a:r>
              <a:rPr sz="2800" spc="-65" dirty="0">
                <a:latin typeface="Times New Roman"/>
                <a:cs typeface="Times New Roman"/>
              </a:rPr>
              <a:t>route </a:t>
            </a:r>
            <a:r>
              <a:rPr sz="2800" spc="-180" dirty="0">
                <a:latin typeface="Times New Roman"/>
                <a:cs typeface="Times New Roman"/>
              </a:rPr>
              <a:t>is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Arial"/>
                <a:cs typeface="Arial"/>
              </a:rPr>
              <a:t>‘best’</a:t>
            </a:r>
            <a:endParaRPr sz="2800">
              <a:latin typeface="Arial"/>
              <a:cs typeface="Arial"/>
            </a:endParaRPr>
          </a:p>
          <a:p>
            <a:pPr marL="286385" marR="17145">
              <a:lnSpc>
                <a:spcPts val="3020"/>
              </a:lnSpc>
              <a:spcBef>
                <a:spcPts val="219"/>
              </a:spcBef>
            </a:pPr>
            <a:r>
              <a:rPr sz="2800" spc="-60" dirty="0">
                <a:latin typeface="Times New Roman"/>
                <a:cs typeface="Times New Roman"/>
              </a:rPr>
              <a:t>- </a:t>
            </a:r>
            <a:r>
              <a:rPr sz="2800" spc="-125" dirty="0">
                <a:latin typeface="Times New Roman"/>
                <a:cs typeface="Times New Roman"/>
              </a:rPr>
              <a:t>this </a:t>
            </a:r>
            <a:r>
              <a:rPr sz="2800" spc="-140" dirty="0">
                <a:latin typeface="Times New Roman"/>
                <a:cs typeface="Times New Roman"/>
              </a:rPr>
              <a:t>might </a:t>
            </a:r>
            <a:r>
              <a:rPr sz="2800" spc="-135" dirty="0">
                <a:latin typeface="Times New Roman"/>
                <a:cs typeface="Times New Roman"/>
              </a:rPr>
              <a:t>be </a:t>
            </a:r>
            <a:r>
              <a:rPr sz="2800" spc="-90" dirty="0">
                <a:latin typeface="Times New Roman"/>
                <a:cs typeface="Times New Roman"/>
              </a:rPr>
              <a:t>the </a:t>
            </a:r>
            <a:r>
              <a:rPr sz="2800" spc="-65" dirty="0">
                <a:latin typeface="Times New Roman"/>
                <a:cs typeface="Times New Roman"/>
              </a:rPr>
              <a:t>route </a:t>
            </a:r>
            <a:r>
              <a:rPr sz="2800" spc="-90" dirty="0">
                <a:latin typeface="Times New Roman"/>
                <a:cs typeface="Times New Roman"/>
              </a:rPr>
              <a:t>that </a:t>
            </a:r>
            <a:r>
              <a:rPr sz="2800" spc="-180" dirty="0">
                <a:latin typeface="Times New Roman"/>
                <a:cs typeface="Times New Roman"/>
              </a:rPr>
              <a:t>is </a:t>
            </a:r>
            <a:r>
              <a:rPr sz="2800" spc="-85" dirty="0">
                <a:latin typeface="Times New Roman"/>
                <a:cs typeface="Times New Roman"/>
              </a:rPr>
              <a:t>the </a:t>
            </a:r>
            <a:r>
              <a:rPr sz="2800" spc="-60" dirty="0">
                <a:latin typeface="Times New Roman"/>
                <a:cs typeface="Times New Roman"/>
              </a:rPr>
              <a:t>shortest, </a:t>
            </a:r>
            <a:r>
              <a:rPr sz="2800" spc="-90" dirty="0">
                <a:latin typeface="Times New Roman"/>
                <a:cs typeface="Times New Roman"/>
              </a:rPr>
              <a:t>the </a:t>
            </a:r>
            <a:r>
              <a:rPr sz="2800" spc="-105" dirty="0">
                <a:latin typeface="Times New Roman"/>
                <a:cs typeface="Times New Roman"/>
              </a:rPr>
              <a:t>quickest, </a:t>
            </a:r>
            <a:r>
              <a:rPr sz="2800" spc="-45" dirty="0">
                <a:latin typeface="Times New Roman"/>
                <a:cs typeface="Times New Roman"/>
              </a:rPr>
              <a:t>or </a:t>
            </a:r>
            <a:r>
              <a:rPr sz="2800" spc="-85" dirty="0">
                <a:latin typeface="Times New Roman"/>
                <a:cs typeface="Times New Roman"/>
              </a:rPr>
              <a:t>the  </a:t>
            </a:r>
            <a:r>
              <a:rPr sz="2800" spc="-120" dirty="0">
                <a:latin typeface="Times New Roman"/>
                <a:cs typeface="Times New Roman"/>
              </a:rPr>
              <a:t>one </a:t>
            </a:r>
            <a:r>
              <a:rPr sz="2800" spc="-155" dirty="0">
                <a:latin typeface="Times New Roman"/>
                <a:cs typeface="Times New Roman"/>
              </a:rPr>
              <a:t>which </a:t>
            </a:r>
            <a:r>
              <a:rPr sz="2800" spc="-170" dirty="0">
                <a:latin typeface="Times New Roman"/>
                <a:cs typeface="Times New Roman"/>
              </a:rPr>
              <a:t>goes </a:t>
            </a:r>
            <a:r>
              <a:rPr sz="2800" spc="-130" dirty="0">
                <a:latin typeface="Times New Roman"/>
                <a:cs typeface="Times New Roman"/>
              </a:rPr>
              <a:t>past </a:t>
            </a:r>
            <a:r>
              <a:rPr sz="2800" spc="-125" dirty="0">
                <a:latin typeface="Times New Roman"/>
                <a:cs typeface="Times New Roman"/>
              </a:rPr>
              <a:t>your </a:t>
            </a:r>
            <a:r>
              <a:rPr sz="2800" spc="-135" dirty="0">
                <a:latin typeface="Times New Roman"/>
                <a:cs typeface="Times New Roman"/>
              </a:rPr>
              <a:t>favourite </a:t>
            </a:r>
            <a:r>
              <a:rPr sz="2800" spc="-160" dirty="0">
                <a:latin typeface="Times New Roman"/>
                <a:cs typeface="Times New Roman"/>
              </a:rPr>
              <a:t>shop </a:t>
            </a:r>
            <a:r>
              <a:rPr sz="2800" spc="-120" dirty="0">
                <a:latin typeface="Times New Roman"/>
                <a:cs typeface="Times New Roman"/>
              </a:rPr>
              <a:t>on </a:t>
            </a:r>
            <a:r>
              <a:rPr sz="2800" spc="-90" dirty="0">
                <a:latin typeface="Times New Roman"/>
                <a:cs typeface="Times New Roman"/>
              </a:rPr>
              <a:t>the</a:t>
            </a:r>
            <a:r>
              <a:rPr sz="2800" spc="50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way.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3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225" dirty="0">
                <a:latin typeface="Times New Roman"/>
                <a:cs typeface="Times New Roman"/>
              </a:rPr>
              <a:t>You'd </a:t>
            </a:r>
            <a:r>
              <a:rPr sz="2800" spc="-95" dirty="0">
                <a:latin typeface="Times New Roman"/>
                <a:cs typeface="Times New Roman"/>
              </a:rPr>
              <a:t>then </a:t>
            </a:r>
            <a:r>
              <a:rPr sz="2800" spc="-150" dirty="0">
                <a:latin typeface="Times New Roman"/>
                <a:cs typeface="Times New Roman"/>
              </a:rPr>
              <a:t>follow </a:t>
            </a:r>
            <a:r>
              <a:rPr sz="2800" spc="-90" dirty="0">
                <a:latin typeface="Times New Roman"/>
                <a:cs typeface="Times New Roman"/>
              </a:rPr>
              <a:t>the </a:t>
            </a:r>
            <a:r>
              <a:rPr sz="2800" spc="-114" dirty="0">
                <a:latin typeface="Times New Roman"/>
                <a:cs typeface="Times New Roman"/>
              </a:rPr>
              <a:t>step-by-step </a:t>
            </a:r>
            <a:r>
              <a:rPr sz="2800" spc="-110" dirty="0">
                <a:latin typeface="Times New Roman"/>
                <a:cs typeface="Times New Roman"/>
              </a:rPr>
              <a:t>directions </a:t>
            </a:r>
            <a:r>
              <a:rPr sz="2800" spc="-45" dirty="0">
                <a:latin typeface="Times New Roman"/>
                <a:cs typeface="Times New Roman"/>
              </a:rPr>
              <a:t>to </a:t>
            </a:r>
            <a:r>
              <a:rPr sz="2800" spc="-105" dirty="0">
                <a:latin typeface="Times New Roman"/>
                <a:cs typeface="Times New Roman"/>
              </a:rPr>
              <a:t>get</a:t>
            </a:r>
            <a:r>
              <a:rPr sz="2800" spc="-21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there.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650">
              <a:latin typeface="Times New Roman"/>
              <a:cs typeface="Times New Roman"/>
            </a:endParaRPr>
          </a:p>
          <a:p>
            <a:pPr marL="12700" marR="18415" algn="just">
              <a:lnSpc>
                <a:spcPct val="90000"/>
              </a:lnSpc>
            </a:pPr>
            <a:r>
              <a:rPr sz="2800" spc="-165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28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125" dirty="0">
                <a:solidFill>
                  <a:srgbClr val="C00000"/>
                </a:solidFill>
                <a:latin typeface="Times New Roman"/>
                <a:cs typeface="Times New Roman"/>
              </a:rPr>
              <a:t>this </a:t>
            </a:r>
            <a:r>
              <a:rPr sz="2800" spc="-130" dirty="0">
                <a:solidFill>
                  <a:srgbClr val="C00000"/>
                </a:solidFill>
                <a:latin typeface="Times New Roman"/>
                <a:cs typeface="Times New Roman"/>
              </a:rPr>
              <a:t>case, </a:t>
            </a:r>
            <a:r>
              <a:rPr sz="2800" b="1" spc="35" dirty="0">
                <a:solidFill>
                  <a:srgbClr val="C00000"/>
                </a:solidFill>
                <a:latin typeface="Times New Roman"/>
                <a:cs typeface="Times New Roman"/>
              </a:rPr>
              <a:t>the </a:t>
            </a:r>
            <a:r>
              <a:rPr sz="28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planning </a:t>
            </a: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part 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is </a:t>
            </a:r>
            <a:r>
              <a:rPr sz="2800" b="1" spc="25" dirty="0">
                <a:solidFill>
                  <a:srgbClr val="C00000"/>
                </a:solidFill>
                <a:latin typeface="Times New Roman"/>
                <a:cs typeface="Times New Roman"/>
              </a:rPr>
              <a:t>like 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computational  </a:t>
            </a:r>
            <a:r>
              <a:rPr sz="2800" b="1" spc="25" dirty="0">
                <a:solidFill>
                  <a:srgbClr val="C00000"/>
                </a:solidFill>
                <a:latin typeface="Times New Roman"/>
                <a:cs typeface="Times New Roman"/>
              </a:rPr>
              <a:t>thinking, </a:t>
            </a:r>
            <a:r>
              <a:rPr sz="2800" spc="-160" dirty="0">
                <a:solidFill>
                  <a:srgbClr val="C00000"/>
                </a:solidFill>
                <a:latin typeface="Times New Roman"/>
                <a:cs typeface="Times New Roman"/>
              </a:rPr>
              <a:t>and </a:t>
            </a:r>
            <a:r>
              <a:rPr sz="2800" b="1" spc="35" dirty="0">
                <a:solidFill>
                  <a:srgbClr val="C00000"/>
                </a:solidFill>
                <a:latin typeface="Times New Roman"/>
                <a:cs typeface="Times New Roman"/>
              </a:rPr>
              <a:t>following the </a:t>
            </a:r>
            <a:r>
              <a:rPr sz="280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directions 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is </a:t>
            </a:r>
            <a:r>
              <a:rPr sz="2800" b="1" spc="25" dirty="0">
                <a:solidFill>
                  <a:srgbClr val="C00000"/>
                </a:solidFill>
                <a:latin typeface="Times New Roman"/>
                <a:cs typeface="Times New Roman"/>
              </a:rPr>
              <a:t>like  </a:t>
            </a:r>
            <a:r>
              <a:rPr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programming.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51941"/>
            <a:ext cx="8529320" cy="3836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95"/>
              </a:spcBef>
              <a:buSzPct val="85000"/>
              <a:buFont typeface="Arial"/>
              <a:buChar char="•"/>
              <a:tabLst>
                <a:tab pos="287020" algn="l"/>
              </a:tabLst>
            </a:pPr>
            <a:r>
              <a:rPr sz="4000" spc="-300" dirty="0">
                <a:latin typeface="Times New Roman"/>
                <a:cs typeface="Times New Roman"/>
              </a:rPr>
              <a:t>Being </a:t>
            </a:r>
            <a:r>
              <a:rPr sz="4000" spc="-229" dirty="0">
                <a:latin typeface="Times New Roman"/>
                <a:cs typeface="Times New Roman"/>
              </a:rPr>
              <a:t>able </a:t>
            </a:r>
            <a:r>
              <a:rPr sz="4000" spc="-60" dirty="0">
                <a:latin typeface="Times New Roman"/>
                <a:cs typeface="Times New Roman"/>
              </a:rPr>
              <a:t>to </a:t>
            </a:r>
            <a:r>
              <a:rPr sz="4000" spc="-30" dirty="0">
                <a:latin typeface="Times New Roman"/>
                <a:cs typeface="Times New Roman"/>
              </a:rPr>
              <a:t>turn </a:t>
            </a:r>
            <a:r>
              <a:rPr sz="4000" spc="-315" dirty="0">
                <a:latin typeface="Times New Roman"/>
                <a:cs typeface="Times New Roman"/>
              </a:rPr>
              <a:t>a </a:t>
            </a:r>
            <a:r>
              <a:rPr sz="4000" spc="-185" dirty="0">
                <a:latin typeface="Times New Roman"/>
                <a:cs typeface="Times New Roman"/>
              </a:rPr>
              <a:t>complex </a:t>
            </a:r>
            <a:r>
              <a:rPr sz="4000" spc="-165" dirty="0">
                <a:latin typeface="Times New Roman"/>
                <a:cs typeface="Times New Roman"/>
              </a:rPr>
              <a:t>problem </a:t>
            </a:r>
            <a:r>
              <a:rPr sz="4000" spc="-120" dirty="0">
                <a:latin typeface="Times New Roman"/>
                <a:cs typeface="Times New Roman"/>
              </a:rPr>
              <a:t>into  </a:t>
            </a:r>
            <a:r>
              <a:rPr sz="4000" spc="-165" dirty="0">
                <a:latin typeface="Times New Roman"/>
                <a:cs typeface="Times New Roman"/>
              </a:rPr>
              <a:t>one </a:t>
            </a:r>
            <a:r>
              <a:rPr sz="4000" spc="-260" dirty="0">
                <a:latin typeface="Times New Roman"/>
                <a:cs typeface="Times New Roman"/>
              </a:rPr>
              <a:t>we </a:t>
            </a:r>
            <a:r>
              <a:rPr sz="4000" spc="-245" dirty="0">
                <a:latin typeface="Times New Roman"/>
                <a:cs typeface="Times New Roman"/>
              </a:rPr>
              <a:t>can </a:t>
            </a:r>
            <a:r>
              <a:rPr sz="4000" spc="-254" dirty="0">
                <a:latin typeface="Times New Roman"/>
                <a:cs typeface="Times New Roman"/>
              </a:rPr>
              <a:t>easily </a:t>
            </a:r>
            <a:r>
              <a:rPr sz="4000" spc="-145" dirty="0">
                <a:latin typeface="Times New Roman"/>
                <a:cs typeface="Times New Roman"/>
              </a:rPr>
              <a:t>understand </a:t>
            </a:r>
            <a:r>
              <a:rPr sz="4000" spc="-254" dirty="0">
                <a:latin typeface="Times New Roman"/>
                <a:cs typeface="Times New Roman"/>
              </a:rPr>
              <a:t>is </a:t>
            </a:r>
            <a:r>
              <a:rPr sz="4000" spc="-320" dirty="0">
                <a:latin typeface="Times New Roman"/>
                <a:cs typeface="Times New Roman"/>
              </a:rPr>
              <a:t>a </a:t>
            </a:r>
            <a:r>
              <a:rPr sz="4000" spc="-215" dirty="0">
                <a:latin typeface="Times New Roman"/>
                <a:cs typeface="Times New Roman"/>
              </a:rPr>
              <a:t>skill </a:t>
            </a:r>
            <a:r>
              <a:rPr sz="4000" spc="-120" dirty="0">
                <a:latin typeface="Times New Roman"/>
                <a:cs typeface="Times New Roman"/>
              </a:rPr>
              <a:t>that </a:t>
            </a:r>
            <a:r>
              <a:rPr sz="4000" spc="-260" dirty="0">
                <a:latin typeface="Times New Roman"/>
                <a:cs typeface="Times New Roman"/>
              </a:rPr>
              <a:t>is  </a:t>
            </a:r>
            <a:r>
              <a:rPr sz="4000" spc="-155" dirty="0">
                <a:latin typeface="Times New Roman"/>
                <a:cs typeface="Times New Roman"/>
              </a:rPr>
              <a:t>extremely</a:t>
            </a:r>
            <a:r>
              <a:rPr sz="4000" spc="-110" dirty="0">
                <a:latin typeface="Times New Roman"/>
                <a:cs typeface="Times New Roman"/>
              </a:rPr>
              <a:t> </a:t>
            </a:r>
            <a:r>
              <a:rPr sz="4000" spc="-155" dirty="0">
                <a:latin typeface="Times New Roman"/>
                <a:cs typeface="Times New Roman"/>
              </a:rPr>
              <a:t>useful.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5200">
              <a:latin typeface="Times New Roman"/>
              <a:cs typeface="Times New Roman"/>
            </a:endParaRPr>
          </a:p>
          <a:p>
            <a:pPr marL="286385" marR="6985" indent="-274320" algn="just">
              <a:lnSpc>
                <a:spcPct val="100000"/>
              </a:lnSpc>
              <a:buSzPct val="85000"/>
              <a:buFont typeface="Arial"/>
              <a:buChar char="•"/>
              <a:tabLst>
                <a:tab pos="401320" algn="l"/>
              </a:tabLst>
            </a:pPr>
            <a:r>
              <a:rPr dirty="0"/>
              <a:t>	</a:t>
            </a:r>
            <a:r>
              <a:rPr sz="4000" spc="-229" dirty="0">
                <a:latin typeface="Times New Roman"/>
                <a:cs typeface="Times New Roman"/>
              </a:rPr>
              <a:t>In </a:t>
            </a:r>
            <a:r>
              <a:rPr sz="4000" spc="-135" dirty="0">
                <a:latin typeface="Times New Roman"/>
                <a:cs typeface="Times New Roman"/>
              </a:rPr>
              <a:t>fact, </a:t>
            </a:r>
            <a:r>
              <a:rPr sz="4000" spc="-114" dirty="0">
                <a:latin typeface="Times New Roman"/>
                <a:cs typeface="Times New Roman"/>
              </a:rPr>
              <a:t>it's </a:t>
            </a:r>
            <a:r>
              <a:rPr sz="4000" spc="-320" dirty="0">
                <a:latin typeface="Times New Roman"/>
                <a:cs typeface="Times New Roman"/>
              </a:rPr>
              <a:t>a </a:t>
            </a:r>
            <a:r>
              <a:rPr sz="4000" spc="-215" dirty="0">
                <a:latin typeface="Times New Roman"/>
                <a:cs typeface="Times New Roman"/>
              </a:rPr>
              <a:t>skill </a:t>
            </a:r>
            <a:r>
              <a:rPr sz="4000" spc="-245" dirty="0">
                <a:latin typeface="Times New Roman"/>
                <a:cs typeface="Times New Roman"/>
              </a:rPr>
              <a:t>you </a:t>
            </a:r>
            <a:r>
              <a:rPr sz="4000" spc="-215" dirty="0">
                <a:latin typeface="Times New Roman"/>
                <a:cs typeface="Times New Roman"/>
              </a:rPr>
              <a:t>already</a:t>
            </a:r>
            <a:r>
              <a:rPr sz="4000" spc="570" dirty="0">
                <a:latin typeface="Times New Roman"/>
                <a:cs typeface="Times New Roman"/>
              </a:rPr>
              <a:t> </a:t>
            </a:r>
            <a:r>
              <a:rPr sz="4000" spc="-315" dirty="0">
                <a:latin typeface="Times New Roman"/>
                <a:cs typeface="Times New Roman"/>
              </a:rPr>
              <a:t>have</a:t>
            </a:r>
            <a:r>
              <a:rPr sz="4000" spc="370" dirty="0">
                <a:latin typeface="Times New Roman"/>
                <a:cs typeface="Times New Roman"/>
              </a:rPr>
              <a:t> </a:t>
            </a:r>
            <a:r>
              <a:rPr sz="4000" spc="-220" dirty="0">
                <a:latin typeface="Times New Roman"/>
                <a:cs typeface="Times New Roman"/>
              </a:rPr>
              <a:t>and  </a:t>
            </a:r>
            <a:r>
              <a:rPr sz="4000" spc="-215" dirty="0">
                <a:latin typeface="Times New Roman"/>
                <a:cs typeface="Times New Roman"/>
              </a:rPr>
              <a:t>probably </a:t>
            </a:r>
            <a:r>
              <a:rPr sz="4000" spc="-210" dirty="0">
                <a:latin typeface="Times New Roman"/>
                <a:cs typeface="Times New Roman"/>
              </a:rPr>
              <a:t>use every</a:t>
            </a:r>
            <a:r>
              <a:rPr sz="4000" spc="130" dirty="0">
                <a:latin typeface="Times New Roman"/>
                <a:cs typeface="Times New Roman"/>
              </a:rPr>
              <a:t> </a:t>
            </a:r>
            <a:r>
              <a:rPr sz="4000" spc="-300" dirty="0">
                <a:latin typeface="Times New Roman"/>
                <a:cs typeface="Times New Roman"/>
              </a:rPr>
              <a:t>day.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5162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Go </a:t>
            </a:r>
            <a:r>
              <a:rPr spc="-90" dirty="0"/>
              <a:t>out </a:t>
            </a:r>
            <a:r>
              <a:rPr spc="-140" dirty="0"/>
              <a:t>with </a:t>
            </a:r>
            <a:r>
              <a:rPr spc="-285" dirty="0"/>
              <a:t>a </a:t>
            </a:r>
            <a:r>
              <a:rPr spc="-140" dirty="0"/>
              <a:t>Group </a:t>
            </a:r>
            <a:r>
              <a:rPr spc="-210" dirty="0"/>
              <a:t>of</a:t>
            </a:r>
            <a:r>
              <a:rPr spc="250" dirty="0"/>
              <a:t> </a:t>
            </a:r>
            <a:r>
              <a:rPr spc="-150" dirty="0"/>
              <a:t>friends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897142"/>
            <a:ext cx="8531225" cy="480250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800" spc="-335" dirty="0">
                <a:latin typeface="Times New Roman"/>
                <a:cs typeface="Times New Roman"/>
              </a:rPr>
              <a:t>You </a:t>
            </a:r>
            <a:r>
              <a:rPr sz="2800" spc="-114" dirty="0">
                <a:latin typeface="Times New Roman"/>
                <a:cs typeface="Times New Roman"/>
              </a:rPr>
              <a:t>need </a:t>
            </a:r>
            <a:r>
              <a:rPr sz="2800" spc="-45" dirty="0">
                <a:latin typeface="Times New Roman"/>
                <a:cs typeface="Times New Roman"/>
              </a:rPr>
              <a:t>to </a:t>
            </a:r>
            <a:r>
              <a:rPr sz="2800" spc="-130" dirty="0">
                <a:latin typeface="Times New Roman"/>
                <a:cs typeface="Times New Roman"/>
              </a:rPr>
              <a:t>decide </a:t>
            </a:r>
            <a:r>
              <a:rPr sz="2800" spc="-140" dirty="0">
                <a:latin typeface="Times New Roman"/>
                <a:cs typeface="Times New Roman"/>
              </a:rPr>
              <a:t>what </a:t>
            </a:r>
            <a:r>
              <a:rPr sz="2800" spc="-45" dirty="0">
                <a:latin typeface="Times New Roman"/>
                <a:cs typeface="Times New Roman"/>
              </a:rPr>
              <a:t>to </a:t>
            </a:r>
            <a:r>
              <a:rPr sz="2800" spc="-120" dirty="0">
                <a:latin typeface="Times New Roman"/>
                <a:cs typeface="Times New Roman"/>
              </a:rPr>
              <a:t>do </a:t>
            </a:r>
            <a:r>
              <a:rPr sz="2800" spc="-114" dirty="0">
                <a:latin typeface="Times New Roman"/>
                <a:cs typeface="Times New Roman"/>
              </a:rPr>
              <a:t>with </a:t>
            </a:r>
            <a:r>
              <a:rPr sz="2800" spc="-125" dirty="0">
                <a:latin typeface="Times New Roman"/>
                <a:cs typeface="Times New Roman"/>
              </a:rPr>
              <a:t>your </a:t>
            </a:r>
            <a:r>
              <a:rPr sz="2800" spc="-110" dirty="0">
                <a:latin typeface="Times New Roman"/>
                <a:cs typeface="Times New Roman"/>
              </a:rPr>
              <a:t>group </a:t>
            </a:r>
            <a:r>
              <a:rPr sz="2800" spc="-165" dirty="0">
                <a:latin typeface="Times New Roman"/>
                <a:cs typeface="Times New Roman"/>
              </a:rPr>
              <a:t>of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friends.</a:t>
            </a:r>
            <a:endParaRPr sz="28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204" dirty="0">
                <a:latin typeface="Times New Roman"/>
                <a:cs typeface="Times New Roman"/>
              </a:rPr>
              <a:t>If </a:t>
            </a:r>
            <a:r>
              <a:rPr sz="2800" spc="-150" dirty="0">
                <a:latin typeface="Times New Roman"/>
                <a:cs typeface="Times New Roman"/>
              </a:rPr>
              <a:t>all </a:t>
            </a:r>
            <a:r>
              <a:rPr sz="2800" spc="-165" dirty="0">
                <a:latin typeface="Times New Roman"/>
                <a:cs typeface="Times New Roman"/>
              </a:rPr>
              <a:t>of </a:t>
            </a:r>
            <a:r>
              <a:rPr sz="2800" spc="-175" dirty="0">
                <a:latin typeface="Times New Roman"/>
                <a:cs typeface="Times New Roman"/>
              </a:rPr>
              <a:t>you </a:t>
            </a:r>
            <a:r>
              <a:rPr sz="2800" spc="-150" dirty="0">
                <a:latin typeface="Times New Roman"/>
                <a:cs typeface="Times New Roman"/>
              </a:rPr>
              <a:t>like </a:t>
            </a:r>
            <a:r>
              <a:rPr sz="2800" spc="-105" dirty="0">
                <a:latin typeface="Times New Roman"/>
                <a:cs typeface="Times New Roman"/>
              </a:rPr>
              <a:t>different things, </a:t>
            </a:r>
            <a:r>
              <a:rPr sz="2800" spc="-175" dirty="0">
                <a:latin typeface="Times New Roman"/>
                <a:cs typeface="Times New Roman"/>
              </a:rPr>
              <a:t>you </a:t>
            </a:r>
            <a:r>
              <a:rPr sz="2800" spc="-145" dirty="0">
                <a:latin typeface="Times New Roman"/>
                <a:cs typeface="Times New Roman"/>
              </a:rPr>
              <a:t>would </a:t>
            </a:r>
            <a:r>
              <a:rPr sz="2800" spc="-114" dirty="0">
                <a:latin typeface="Times New Roman"/>
                <a:cs typeface="Times New Roman"/>
              </a:rPr>
              <a:t>need </a:t>
            </a:r>
            <a:r>
              <a:rPr sz="2800" spc="-45" dirty="0">
                <a:latin typeface="Times New Roman"/>
                <a:cs typeface="Times New Roman"/>
              </a:rPr>
              <a:t>to</a:t>
            </a:r>
            <a:r>
              <a:rPr sz="2800" spc="57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decide:</a:t>
            </a:r>
            <a:endParaRPr sz="28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140" dirty="0">
                <a:latin typeface="Times New Roman"/>
                <a:cs typeface="Times New Roman"/>
              </a:rPr>
              <a:t>what </a:t>
            </a:r>
            <a:r>
              <a:rPr sz="2800" spc="-180" dirty="0">
                <a:latin typeface="Times New Roman"/>
                <a:cs typeface="Times New Roman"/>
              </a:rPr>
              <a:t>you </a:t>
            </a:r>
            <a:r>
              <a:rPr sz="2800" spc="-130" dirty="0">
                <a:latin typeface="Times New Roman"/>
                <a:cs typeface="Times New Roman"/>
              </a:rPr>
              <a:t>could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do</a:t>
            </a:r>
            <a:endParaRPr sz="28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110" dirty="0">
                <a:latin typeface="Times New Roman"/>
                <a:cs typeface="Times New Roman"/>
              </a:rPr>
              <a:t>where </a:t>
            </a:r>
            <a:r>
              <a:rPr sz="2800" spc="-180" dirty="0">
                <a:latin typeface="Times New Roman"/>
                <a:cs typeface="Times New Roman"/>
              </a:rPr>
              <a:t>you </a:t>
            </a:r>
            <a:r>
              <a:rPr sz="2800" spc="-130" dirty="0">
                <a:latin typeface="Times New Roman"/>
                <a:cs typeface="Times New Roman"/>
              </a:rPr>
              <a:t>could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go</a:t>
            </a:r>
            <a:endParaRPr sz="28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150" dirty="0">
                <a:latin typeface="Times New Roman"/>
                <a:cs typeface="Times New Roman"/>
              </a:rPr>
              <a:t>who </a:t>
            </a:r>
            <a:r>
              <a:rPr sz="2800" spc="-145" dirty="0">
                <a:latin typeface="Times New Roman"/>
                <a:cs typeface="Times New Roman"/>
              </a:rPr>
              <a:t>wants </a:t>
            </a:r>
            <a:r>
              <a:rPr sz="2800" spc="-45" dirty="0">
                <a:latin typeface="Times New Roman"/>
                <a:cs typeface="Times New Roman"/>
              </a:rPr>
              <a:t>to </a:t>
            </a:r>
            <a:r>
              <a:rPr sz="2800" spc="-120" dirty="0">
                <a:latin typeface="Times New Roman"/>
                <a:cs typeface="Times New Roman"/>
              </a:rPr>
              <a:t>do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what</a:t>
            </a:r>
            <a:endParaRPr sz="2800">
              <a:latin typeface="Times New Roman"/>
              <a:cs typeface="Times New Roman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409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140" dirty="0">
                <a:latin typeface="Times New Roman"/>
                <a:cs typeface="Times New Roman"/>
              </a:rPr>
              <a:t>what </a:t>
            </a:r>
            <a:r>
              <a:rPr sz="2800" spc="-180" dirty="0">
                <a:latin typeface="Times New Roman"/>
                <a:cs typeface="Times New Roman"/>
              </a:rPr>
              <a:t>you </a:t>
            </a:r>
            <a:r>
              <a:rPr sz="2800" spc="-225" dirty="0">
                <a:latin typeface="Times New Roman"/>
                <a:cs typeface="Times New Roman"/>
              </a:rPr>
              <a:t>have </a:t>
            </a:r>
            <a:r>
              <a:rPr sz="2800" spc="-150" dirty="0">
                <a:latin typeface="Times New Roman"/>
                <a:cs typeface="Times New Roman"/>
              </a:rPr>
              <a:t>previously </a:t>
            </a:r>
            <a:r>
              <a:rPr sz="2800" spc="-114" dirty="0">
                <a:latin typeface="Times New Roman"/>
                <a:cs typeface="Times New Roman"/>
              </a:rPr>
              <a:t>done </a:t>
            </a:r>
            <a:r>
              <a:rPr sz="2800" spc="-90" dirty="0">
                <a:latin typeface="Times New Roman"/>
                <a:cs typeface="Times New Roman"/>
              </a:rPr>
              <a:t>that </a:t>
            </a:r>
            <a:r>
              <a:rPr sz="2800" spc="-210" dirty="0">
                <a:latin typeface="Times New Roman"/>
                <a:cs typeface="Times New Roman"/>
              </a:rPr>
              <a:t>has </a:t>
            </a:r>
            <a:r>
              <a:rPr sz="2800" spc="-125" dirty="0">
                <a:latin typeface="Times New Roman"/>
                <a:cs typeface="Times New Roman"/>
              </a:rPr>
              <a:t>been </a:t>
            </a:r>
            <a:r>
              <a:rPr sz="2800" spc="-225" dirty="0">
                <a:latin typeface="Times New Roman"/>
                <a:cs typeface="Times New Roman"/>
              </a:rPr>
              <a:t>a </a:t>
            </a:r>
            <a:r>
              <a:rPr sz="2800" spc="-175" dirty="0">
                <a:latin typeface="Times New Roman"/>
                <a:cs typeface="Times New Roman"/>
              </a:rPr>
              <a:t>success </a:t>
            </a:r>
            <a:r>
              <a:rPr sz="2800" spc="-135" dirty="0">
                <a:latin typeface="Times New Roman"/>
                <a:cs typeface="Times New Roman"/>
              </a:rPr>
              <a:t>in </a:t>
            </a:r>
            <a:r>
              <a:rPr sz="2800" spc="-85" dirty="0">
                <a:latin typeface="Times New Roman"/>
                <a:cs typeface="Times New Roman"/>
              </a:rPr>
              <a:t>the  </a:t>
            </a:r>
            <a:r>
              <a:rPr sz="2800" spc="-130" dirty="0">
                <a:latin typeface="Times New Roman"/>
                <a:cs typeface="Times New Roman"/>
              </a:rPr>
              <a:t>past</a:t>
            </a:r>
            <a:endParaRPr sz="28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180" dirty="0">
                <a:latin typeface="Times New Roman"/>
                <a:cs typeface="Times New Roman"/>
              </a:rPr>
              <a:t>how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much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money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you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25" dirty="0">
                <a:latin typeface="Times New Roman"/>
                <a:cs typeface="Times New Roman"/>
              </a:rPr>
              <a:t>have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and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cost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of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15" dirty="0">
                <a:latin typeface="Times New Roman"/>
                <a:cs typeface="Times New Roman"/>
              </a:rPr>
              <a:t>any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of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options</a:t>
            </a:r>
            <a:endParaRPr sz="28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140" dirty="0">
                <a:latin typeface="Times New Roman"/>
                <a:cs typeface="Times New Roman"/>
              </a:rPr>
              <a:t>what </a:t>
            </a:r>
            <a:r>
              <a:rPr sz="2800" spc="-90" dirty="0">
                <a:latin typeface="Times New Roman"/>
                <a:cs typeface="Times New Roman"/>
              </a:rPr>
              <a:t>the </a:t>
            </a:r>
            <a:r>
              <a:rPr sz="2800" spc="-120" dirty="0">
                <a:latin typeface="Times New Roman"/>
                <a:cs typeface="Times New Roman"/>
              </a:rPr>
              <a:t>weather </a:t>
            </a:r>
            <a:r>
              <a:rPr sz="2800" spc="-140" dirty="0">
                <a:latin typeface="Times New Roman"/>
                <a:cs typeface="Times New Roman"/>
              </a:rPr>
              <a:t>might </a:t>
            </a:r>
            <a:r>
              <a:rPr sz="2800" spc="-135" dirty="0">
                <a:latin typeface="Times New Roman"/>
                <a:cs typeface="Times New Roman"/>
              </a:rPr>
              <a:t>be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doing</a:t>
            </a:r>
            <a:endParaRPr sz="28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05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180" dirty="0">
                <a:latin typeface="Times New Roman"/>
                <a:cs typeface="Times New Roman"/>
              </a:rPr>
              <a:t>how </a:t>
            </a:r>
            <a:r>
              <a:rPr sz="2800" spc="-150" dirty="0">
                <a:latin typeface="Times New Roman"/>
                <a:cs typeface="Times New Roman"/>
              </a:rPr>
              <a:t>much </a:t>
            </a:r>
            <a:r>
              <a:rPr sz="2800" spc="-95" dirty="0">
                <a:latin typeface="Times New Roman"/>
                <a:cs typeface="Times New Roman"/>
              </a:rPr>
              <a:t>time </a:t>
            </a:r>
            <a:r>
              <a:rPr sz="2800" spc="-180" dirty="0">
                <a:latin typeface="Times New Roman"/>
                <a:cs typeface="Times New Roman"/>
              </a:rPr>
              <a:t>you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spc="-225" dirty="0">
                <a:latin typeface="Times New Roman"/>
                <a:cs typeface="Times New Roman"/>
              </a:rPr>
              <a:t>have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84962"/>
            <a:ext cx="8532495" cy="4081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7620" indent="-274320" algn="just">
              <a:lnSpc>
                <a:spcPct val="100000"/>
              </a:lnSpc>
              <a:spcBef>
                <a:spcPts val="105"/>
              </a:spcBef>
              <a:buSzPct val="84375"/>
              <a:buFont typeface="Arial"/>
              <a:buChar char="•"/>
              <a:tabLst>
                <a:tab pos="287020" algn="l"/>
              </a:tabLst>
            </a:pPr>
            <a:r>
              <a:rPr sz="3200" spc="-160" dirty="0">
                <a:latin typeface="Times New Roman"/>
                <a:cs typeface="Times New Roman"/>
              </a:rPr>
              <a:t>From </a:t>
            </a:r>
            <a:r>
              <a:rPr sz="3200" spc="-140" dirty="0">
                <a:latin typeface="Times New Roman"/>
                <a:cs typeface="Times New Roman"/>
              </a:rPr>
              <a:t>this </a:t>
            </a:r>
            <a:r>
              <a:rPr sz="3200" spc="-105" dirty="0">
                <a:latin typeface="Times New Roman"/>
                <a:cs typeface="Times New Roman"/>
              </a:rPr>
              <a:t>information, </a:t>
            </a:r>
            <a:r>
              <a:rPr sz="3200" spc="-195" dirty="0">
                <a:latin typeface="Times New Roman"/>
                <a:cs typeface="Times New Roman"/>
              </a:rPr>
              <a:t>you </a:t>
            </a:r>
            <a:r>
              <a:rPr sz="3200" spc="-180" dirty="0">
                <a:latin typeface="Times New Roman"/>
                <a:cs typeface="Times New Roman"/>
              </a:rPr>
              <a:t>and </a:t>
            </a:r>
            <a:r>
              <a:rPr sz="3200" spc="-140" dirty="0">
                <a:latin typeface="Times New Roman"/>
                <a:cs typeface="Times New Roman"/>
              </a:rPr>
              <a:t>your  </a:t>
            </a:r>
            <a:r>
              <a:rPr sz="3200" spc="-135" dirty="0">
                <a:latin typeface="Times New Roman"/>
                <a:cs typeface="Times New Roman"/>
              </a:rPr>
              <a:t>friends </a:t>
            </a:r>
            <a:r>
              <a:rPr sz="3200" spc="-145" dirty="0">
                <a:latin typeface="Times New Roman"/>
                <a:cs typeface="Times New Roman"/>
              </a:rPr>
              <a:t>could  decide </a:t>
            </a:r>
            <a:r>
              <a:rPr sz="3200" spc="-110" dirty="0">
                <a:latin typeface="Times New Roman"/>
                <a:cs typeface="Times New Roman"/>
              </a:rPr>
              <a:t>more </a:t>
            </a:r>
            <a:r>
              <a:rPr sz="3200" spc="-204" dirty="0">
                <a:latin typeface="Times New Roman"/>
                <a:cs typeface="Times New Roman"/>
              </a:rPr>
              <a:t>easily </a:t>
            </a:r>
            <a:r>
              <a:rPr sz="3200" spc="-125" dirty="0">
                <a:latin typeface="Times New Roman"/>
                <a:cs typeface="Times New Roman"/>
              </a:rPr>
              <a:t>where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204" dirty="0">
                <a:latin typeface="Times New Roman"/>
                <a:cs typeface="Times New Roman"/>
              </a:rPr>
              <a:t>go </a:t>
            </a:r>
            <a:r>
              <a:rPr sz="3200" spc="-180" dirty="0">
                <a:latin typeface="Times New Roman"/>
                <a:cs typeface="Times New Roman"/>
              </a:rPr>
              <a:t>and </a:t>
            </a:r>
            <a:r>
              <a:rPr sz="3200" spc="-155" dirty="0">
                <a:latin typeface="Times New Roman"/>
                <a:cs typeface="Times New Roman"/>
              </a:rPr>
              <a:t>what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130" dirty="0">
                <a:latin typeface="Times New Roman"/>
                <a:cs typeface="Times New Roman"/>
              </a:rPr>
              <a:t>do </a:t>
            </a:r>
            <a:r>
              <a:rPr sz="3200" spc="-180" dirty="0">
                <a:latin typeface="Arial"/>
                <a:cs typeface="Arial"/>
              </a:rPr>
              <a:t>– </a:t>
            </a:r>
            <a:r>
              <a:rPr sz="3200" spc="-150" dirty="0">
                <a:latin typeface="Times New Roman"/>
                <a:cs typeface="Times New Roman"/>
              </a:rPr>
              <a:t>in  </a:t>
            </a:r>
            <a:r>
              <a:rPr sz="3200" spc="-65" dirty="0">
                <a:latin typeface="Times New Roman"/>
                <a:cs typeface="Times New Roman"/>
              </a:rPr>
              <a:t>order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160" dirty="0">
                <a:latin typeface="Times New Roman"/>
                <a:cs typeface="Times New Roman"/>
              </a:rPr>
              <a:t>keep </a:t>
            </a:r>
            <a:r>
              <a:rPr sz="3200" spc="-135" dirty="0">
                <a:latin typeface="Times New Roman"/>
                <a:cs typeface="Times New Roman"/>
              </a:rPr>
              <a:t>most </a:t>
            </a:r>
            <a:r>
              <a:rPr sz="3200" spc="-190" dirty="0">
                <a:latin typeface="Times New Roman"/>
                <a:cs typeface="Times New Roman"/>
              </a:rPr>
              <a:t>of </a:t>
            </a:r>
            <a:r>
              <a:rPr sz="3200" spc="-140" dirty="0">
                <a:latin typeface="Times New Roman"/>
                <a:cs typeface="Times New Roman"/>
              </a:rPr>
              <a:t>your </a:t>
            </a:r>
            <a:r>
              <a:rPr sz="3200" spc="-135" dirty="0">
                <a:latin typeface="Times New Roman"/>
                <a:cs typeface="Times New Roman"/>
              </a:rPr>
              <a:t>friends</a:t>
            </a:r>
            <a:r>
              <a:rPr sz="3200" spc="170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happy.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435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5"/>
              </a:spcBef>
              <a:buSzPct val="84375"/>
              <a:buFont typeface="Arial"/>
              <a:buChar char="•"/>
              <a:tabLst>
                <a:tab pos="287020" algn="l"/>
              </a:tabLst>
            </a:pPr>
            <a:r>
              <a:rPr sz="3200" spc="-375" dirty="0">
                <a:latin typeface="Times New Roman"/>
                <a:cs typeface="Times New Roman"/>
              </a:rPr>
              <a:t>You </a:t>
            </a:r>
            <a:r>
              <a:rPr sz="3200" spc="-140" dirty="0">
                <a:latin typeface="Times New Roman"/>
                <a:cs typeface="Times New Roman"/>
              </a:rPr>
              <a:t>could </a:t>
            </a:r>
            <a:r>
              <a:rPr sz="3200" spc="-190" dirty="0">
                <a:latin typeface="Times New Roman"/>
                <a:cs typeface="Times New Roman"/>
              </a:rPr>
              <a:t>also </a:t>
            </a:r>
            <a:r>
              <a:rPr sz="3200" spc="-165" dirty="0">
                <a:latin typeface="Times New Roman"/>
                <a:cs typeface="Times New Roman"/>
              </a:rPr>
              <a:t>use </a:t>
            </a:r>
            <a:r>
              <a:rPr sz="3200" spc="-250" dirty="0">
                <a:latin typeface="Times New Roman"/>
                <a:cs typeface="Times New Roman"/>
              </a:rPr>
              <a:t>a </a:t>
            </a:r>
            <a:r>
              <a:rPr sz="3200" spc="-105" dirty="0">
                <a:latin typeface="Times New Roman"/>
                <a:cs typeface="Times New Roman"/>
              </a:rPr>
              <a:t>computer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145" dirty="0">
                <a:latin typeface="Times New Roman"/>
                <a:cs typeface="Times New Roman"/>
              </a:rPr>
              <a:t>help </a:t>
            </a:r>
            <a:r>
              <a:rPr sz="3200" spc="-195" dirty="0">
                <a:latin typeface="Times New Roman"/>
                <a:cs typeface="Times New Roman"/>
              </a:rPr>
              <a:t>you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120" dirty="0">
                <a:latin typeface="Times New Roman"/>
                <a:cs typeface="Times New Roman"/>
              </a:rPr>
              <a:t>collect  </a:t>
            </a:r>
            <a:r>
              <a:rPr sz="3200" spc="-180" dirty="0">
                <a:latin typeface="Times New Roman"/>
                <a:cs typeface="Times New Roman"/>
              </a:rPr>
              <a:t>and </a:t>
            </a:r>
            <a:r>
              <a:rPr sz="3200" spc="-210" dirty="0">
                <a:latin typeface="Times New Roman"/>
                <a:cs typeface="Times New Roman"/>
              </a:rPr>
              <a:t>analyse </a:t>
            </a:r>
            <a:r>
              <a:rPr sz="3200" spc="-95" dirty="0">
                <a:latin typeface="Times New Roman"/>
                <a:cs typeface="Times New Roman"/>
              </a:rPr>
              <a:t>the </a:t>
            </a:r>
            <a:r>
              <a:rPr sz="3200" spc="-155" dirty="0">
                <a:latin typeface="Times New Roman"/>
                <a:cs typeface="Times New Roman"/>
              </a:rPr>
              <a:t>data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185" dirty="0">
                <a:latin typeface="Times New Roman"/>
                <a:cs typeface="Times New Roman"/>
              </a:rPr>
              <a:t>devise </a:t>
            </a:r>
            <a:r>
              <a:rPr sz="3200" spc="-95" dirty="0">
                <a:latin typeface="Times New Roman"/>
                <a:cs typeface="Times New Roman"/>
              </a:rPr>
              <a:t>the </a:t>
            </a:r>
            <a:r>
              <a:rPr sz="3200" spc="-125" dirty="0">
                <a:latin typeface="Times New Roman"/>
                <a:cs typeface="Times New Roman"/>
              </a:rPr>
              <a:t>best </a:t>
            </a:r>
            <a:r>
              <a:rPr sz="3200" spc="-130" dirty="0">
                <a:latin typeface="Times New Roman"/>
                <a:cs typeface="Times New Roman"/>
              </a:rPr>
              <a:t>solution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95" dirty="0">
                <a:latin typeface="Times New Roman"/>
                <a:cs typeface="Times New Roman"/>
              </a:rPr>
              <a:t>the  </a:t>
            </a:r>
            <a:r>
              <a:rPr sz="3200" spc="-100" dirty="0">
                <a:latin typeface="Times New Roman"/>
                <a:cs typeface="Times New Roman"/>
              </a:rPr>
              <a:t>problem, </a:t>
            </a:r>
            <a:r>
              <a:rPr sz="3200" spc="-114" dirty="0">
                <a:latin typeface="Times New Roman"/>
                <a:cs typeface="Times New Roman"/>
              </a:rPr>
              <a:t>both </a:t>
            </a:r>
            <a:r>
              <a:rPr sz="3200" spc="-185" dirty="0">
                <a:latin typeface="Times New Roman"/>
                <a:cs typeface="Times New Roman"/>
              </a:rPr>
              <a:t>now </a:t>
            </a:r>
            <a:r>
              <a:rPr sz="3200" spc="-180" dirty="0">
                <a:latin typeface="Times New Roman"/>
                <a:cs typeface="Times New Roman"/>
              </a:rPr>
              <a:t>and </a:t>
            </a:r>
            <a:r>
              <a:rPr sz="3200" spc="-200" dirty="0">
                <a:latin typeface="Times New Roman"/>
                <a:cs typeface="Times New Roman"/>
              </a:rPr>
              <a:t>if </a:t>
            </a:r>
            <a:r>
              <a:rPr sz="3200" spc="-60" dirty="0">
                <a:latin typeface="Times New Roman"/>
                <a:cs typeface="Times New Roman"/>
              </a:rPr>
              <a:t>it </a:t>
            </a:r>
            <a:r>
              <a:rPr sz="3200" spc="-150" dirty="0">
                <a:latin typeface="Times New Roman"/>
                <a:cs typeface="Times New Roman"/>
              </a:rPr>
              <a:t>arose </a:t>
            </a:r>
            <a:r>
              <a:rPr sz="3200" spc="-215" dirty="0">
                <a:latin typeface="Times New Roman"/>
                <a:cs typeface="Times New Roman"/>
              </a:rPr>
              <a:t>again </a:t>
            </a:r>
            <a:r>
              <a:rPr sz="3200" spc="-140" dirty="0">
                <a:latin typeface="Times New Roman"/>
                <a:cs typeface="Times New Roman"/>
              </a:rPr>
              <a:t>in </a:t>
            </a:r>
            <a:r>
              <a:rPr sz="3200" spc="-95" dirty="0">
                <a:latin typeface="Times New Roman"/>
                <a:cs typeface="Times New Roman"/>
              </a:rPr>
              <a:t>the </a:t>
            </a:r>
            <a:r>
              <a:rPr sz="3200" spc="-75" dirty="0">
                <a:latin typeface="Times New Roman"/>
                <a:cs typeface="Times New Roman"/>
              </a:rPr>
              <a:t>future, </a:t>
            </a:r>
            <a:r>
              <a:rPr sz="3200" spc="-185" dirty="0">
                <a:latin typeface="Times New Roman"/>
                <a:cs typeface="Times New Roman"/>
              </a:rPr>
              <a:t>if  </a:t>
            </a:r>
            <a:r>
              <a:rPr sz="3200" spc="-195" dirty="0">
                <a:latin typeface="Times New Roman"/>
                <a:cs typeface="Times New Roman"/>
              </a:rPr>
              <a:t>you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wished.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693419"/>
            <a:ext cx="8211311" cy="57696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Playing </a:t>
            </a:r>
            <a:r>
              <a:rPr spc="-285" dirty="0"/>
              <a:t>a</a:t>
            </a:r>
            <a:r>
              <a:rPr spc="-35" dirty="0"/>
              <a:t> </a:t>
            </a:r>
            <a:r>
              <a:rPr spc="-204" dirty="0"/>
              <a:t>videogame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3547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Playing </a:t>
            </a:r>
            <a:r>
              <a:rPr spc="-285" dirty="0"/>
              <a:t>a</a:t>
            </a:r>
            <a:r>
              <a:rPr spc="-35" dirty="0"/>
              <a:t> </a:t>
            </a:r>
            <a:r>
              <a:rPr spc="-204" dirty="0"/>
              <a:t>videogame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16621"/>
            <a:ext cx="8530590" cy="479679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0"/>
              </a:spcBef>
              <a:buSzPct val="8437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200" spc="-355" dirty="0">
                <a:latin typeface="Times New Roman"/>
                <a:cs typeface="Times New Roman"/>
              </a:rPr>
              <a:t>To </a:t>
            </a:r>
            <a:r>
              <a:rPr sz="3200" spc="-125" dirty="0">
                <a:latin typeface="Times New Roman"/>
                <a:cs typeface="Times New Roman"/>
              </a:rPr>
              <a:t>complete </a:t>
            </a:r>
            <a:r>
              <a:rPr sz="3200" spc="-254" dirty="0">
                <a:latin typeface="Times New Roman"/>
                <a:cs typeface="Times New Roman"/>
              </a:rPr>
              <a:t>a </a:t>
            </a:r>
            <a:r>
              <a:rPr sz="3200" spc="-175" dirty="0">
                <a:latin typeface="Times New Roman"/>
                <a:cs typeface="Times New Roman"/>
              </a:rPr>
              <a:t>level </a:t>
            </a:r>
            <a:r>
              <a:rPr sz="3200" spc="-195" dirty="0">
                <a:latin typeface="Times New Roman"/>
                <a:cs typeface="Times New Roman"/>
              </a:rPr>
              <a:t>you </a:t>
            </a:r>
            <a:r>
              <a:rPr sz="3200" spc="-165" dirty="0">
                <a:latin typeface="Times New Roman"/>
                <a:cs typeface="Times New Roman"/>
              </a:rPr>
              <a:t>would </a:t>
            </a:r>
            <a:r>
              <a:rPr sz="3200" spc="-135" dirty="0">
                <a:latin typeface="Times New Roman"/>
                <a:cs typeface="Times New Roman"/>
              </a:rPr>
              <a:t>need </a:t>
            </a:r>
            <a:r>
              <a:rPr sz="3200" spc="-45" dirty="0">
                <a:latin typeface="Times New Roman"/>
                <a:cs typeface="Times New Roman"/>
              </a:rPr>
              <a:t>to</a:t>
            </a:r>
            <a:r>
              <a:rPr sz="3200" spc="350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know:</a:t>
            </a:r>
            <a:endParaRPr sz="32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375"/>
              <a:buFont typeface="Arial"/>
              <a:buChar char="•"/>
              <a:tabLst>
                <a:tab pos="561340" algn="l"/>
              </a:tabLst>
            </a:pPr>
            <a:r>
              <a:rPr sz="3200" spc="-150" dirty="0">
                <a:latin typeface="Times New Roman"/>
                <a:cs typeface="Times New Roman"/>
              </a:rPr>
              <a:t>what </a:t>
            </a:r>
            <a:r>
              <a:rPr sz="3200" spc="-135" dirty="0">
                <a:latin typeface="Times New Roman"/>
                <a:cs typeface="Times New Roman"/>
              </a:rPr>
              <a:t>items </a:t>
            </a:r>
            <a:r>
              <a:rPr sz="3200" spc="-195" dirty="0">
                <a:latin typeface="Times New Roman"/>
                <a:cs typeface="Times New Roman"/>
              </a:rPr>
              <a:t>you </a:t>
            </a:r>
            <a:r>
              <a:rPr sz="3200" spc="-130" dirty="0">
                <a:latin typeface="Times New Roman"/>
                <a:cs typeface="Times New Roman"/>
              </a:rPr>
              <a:t>need </a:t>
            </a:r>
            <a:r>
              <a:rPr sz="3200" spc="-45" dirty="0">
                <a:latin typeface="Times New Roman"/>
                <a:cs typeface="Times New Roman"/>
              </a:rPr>
              <a:t>to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collect,</a:t>
            </a:r>
            <a:endParaRPr sz="32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14"/>
              </a:spcBef>
              <a:buSzPct val="84375"/>
              <a:buFont typeface="Arial"/>
              <a:buChar char="•"/>
              <a:tabLst>
                <a:tab pos="561340" algn="l"/>
              </a:tabLst>
            </a:pPr>
            <a:r>
              <a:rPr sz="3200" spc="-200" dirty="0">
                <a:latin typeface="Times New Roman"/>
                <a:cs typeface="Times New Roman"/>
              </a:rPr>
              <a:t>how </a:t>
            </a:r>
            <a:r>
              <a:rPr sz="3200" spc="-195" dirty="0">
                <a:latin typeface="Times New Roman"/>
                <a:cs typeface="Times New Roman"/>
              </a:rPr>
              <a:t>you can </a:t>
            </a:r>
            <a:r>
              <a:rPr sz="3200" spc="-120" dirty="0">
                <a:latin typeface="Times New Roman"/>
                <a:cs typeface="Times New Roman"/>
              </a:rPr>
              <a:t>collect </a:t>
            </a:r>
            <a:r>
              <a:rPr sz="3200" spc="-65" dirty="0">
                <a:latin typeface="Times New Roman"/>
                <a:cs typeface="Times New Roman"/>
              </a:rPr>
              <a:t>them,</a:t>
            </a:r>
            <a:r>
              <a:rPr sz="3200" spc="190" dirty="0">
                <a:latin typeface="Times New Roman"/>
                <a:cs typeface="Times New Roman"/>
              </a:rPr>
              <a:t> </a:t>
            </a:r>
            <a:r>
              <a:rPr sz="3200" spc="-180" dirty="0">
                <a:latin typeface="Times New Roman"/>
                <a:cs typeface="Times New Roman"/>
              </a:rPr>
              <a:t>and</a:t>
            </a:r>
            <a:endParaRPr sz="32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375"/>
              <a:buFont typeface="Arial"/>
              <a:buChar char="•"/>
              <a:tabLst>
                <a:tab pos="561340" algn="l"/>
              </a:tabLst>
            </a:pPr>
            <a:r>
              <a:rPr sz="3200" spc="-200" dirty="0">
                <a:latin typeface="Times New Roman"/>
                <a:cs typeface="Times New Roman"/>
              </a:rPr>
              <a:t>how </a:t>
            </a:r>
            <a:r>
              <a:rPr sz="3200" spc="-170" dirty="0">
                <a:latin typeface="Times New Roman"/>
                <a:cs typeface="Times New Roman"/>
              </a:rPr>
              <a:t>long </a:t>
            </a:r>
            <a:r>
              <a:rPr sz="3200" spc="-195" dirty="0">
                <a:latin typeface="Times New Roman"/>
                <a:cs typeface="Times New Roman"/>
              </a:rPr>
              <a:t>you </a:t>
            </a:r>
            <a:r>
              <a:rPr sz="3200" spc="-250" dirty="0">
                <a:latin typeface="Times New Roman"/>
                <a:cs typeface="Times New Roman"/>
              </a:rPr>
              <a:t>have </a:t>
            </a:r>
            <a:r>
              <a:rPr sz="3200" spc="-150" dirty="0">
                <a:latin typeface="Times New Roman"/>
                <a:cs typeface="Times New Roman"/>
              </a:rPr>
              <a:t>in </a:t>
            </a:r>
            <a:r>
              <a:rPr sz="3200" spc="-175" dirty="0">
                <a:latin typeface="Times New Roman"/>
                <a:cs typeface="Times New Roman"/>
              </a:rPr>
              <a:t>which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120" dirty="0">
                <a:latin typeface="Times New Roman"/>
                <a:cs typeface="Times New Roman"/>
              </a:rPr>
              <a:t>collect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them</a:t>
            </a:r>
            <a:endParaRPr sz="3200">
              <a:latin typeface="Times New Roman"/>
              <a:cs typeface="Times New Roman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395"/>
              </a:spcBef>
              <a:buSzPct val="84375"/>
              <a:buFont typeface="Arial"/>
              <a:buChar char="•"/>
              <a:tabLst>
                <a:tab pos="561340" algn="l"/>
              </a:tabLst>
            </a:pPr>
            <a:r>
              <a:rPr sz="3200" spc="-125" dirty="0">
                <a:latin typeface="Times New Roman"/>
                <a:cs typeface="Times New Roman"/>
              </a:rPr>
              <a:t>where </a:t>
            </a:r>
            <a:r>
              <a:rPr sz="3200" spc="-95" dirty="0">
                <a:latin typeface="Times New Roman"/>
                <a:cs typeface="Times New Roman"/>
              </a:rPr>
              <a:t>the exit </a:t>
            </a:r>
            <a:r>
              <a:rPr sz="3200" spc="-204" dirty="0">
                <a:latin typeface="Times New Roman"/>
                <a:cs typeface="Times New Roman"/>
              </a:rPr>
              <a:t>is </a:t>
            </a:r>
            <a:r>
              <a:rPr sz="3200" spc="-175" dirty="0">
                <a:latin typeface="Times New Roman"/>
                <a:cs typeface="Times New Roman"/>
              </a:rPr>
              <a:t>and </a:t>
            </a:r>
            <a:r>
              <a:rPr sz="3200" spc="-95" dirty="0">
                <a:latin typeface="Times New Roman"/>
                <a:cs typeface="Times New Roman"/>
              </a:rPr>
              <a:t>the </a:t>
            </a:r>
            <a:r>
              <a:rPr sz="3200" spc="-125" dirty="0">
                <a:latin typeface="Times New Roman"/>
                <a:cs typeface="Times New Roman"/>
              </a:rPr>
              <a:t>best </a:t>
            </a:r>
            <a:r>
              <a:rPr sz="3200" spc="-70" dirty="0">
                <a:latin typeface="Times New Roman"/>
                <a:cs typeface="Times New Roman"/>
              </a:rPr>
              <a:t>route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140" dirty="0">
                <a:latin typeface="Times New Roman"/>
                <a:cs typeface="Times New Roman"/>
              </a:rPr>
              <a:t>reach </a:t>
            </a:r>
            <a:r>
              <a:rPr sz="3200" spc="-60" dirty="0">
                <a:latin typeface="Times New Roman"/>
                <a:cs typeface="Times New Roman"/>
              </a:rPr>
              <a:t>it </a:t>
            </a:r>
            <a:r>
              <a:rPr sz="3200" spc="-150" dirty="0">
                <a:latin typeface="Times New Roman"/>
                <a:cs typeface="Times New Roman"/>
              </a:rPr>
              <a:t>in </a:t>
            </a:r>
            <a:r>
              <a:rPr sz="3200" spc="-95" dirty="0">
                <a:latin typeface="Times New Roman"/>
                <a:cs typeface="Times New Roman"/>
              </a:rPr>
              <a:t>the  </a:t>
            </a:r>
            <a:r>
              <a:rPr sz="3200" spc="-145" dirty="0">
                <a:latin typeface="Times New Roman"/>
                <a:cs typeface="Times New Roman"/>
              </a:rPr>
              <a:t>quickest </a:t>
            </a:r>
            <a:r>
              <a:rPr sz="3200" spc="-105" dirty="0">
                <a:latin typeface="Times New Roman"/>
                <a:cs typeface="Times New Roman"/>
              </a:rPr>
              <a:t>time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possible</a:t>
            </a:r>
            <a:endParaRPr sz="32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375"/>
              <a:buFont typeface="Arial"/>
              <a:buChar char="•"/>
              <a:tabLst>
                <a:tab pos="561340" algn="l"/>
              </a:tabLst>
            </a:pPr>
            <a:r>
              <a:rPr sz="3200" spc="-150" dirty="0">
                <a:latin typeface="Times New Roman"/>
                <a:cs typeface="Times New Roman"/>
              </a:rPr>
              <a:t>what </a:t>
            </a:r>
            <a:r>
              <a:rPr sz="3200" spc="-175" dirty="0">
                <a:latin typeface="Times New Roman"/>
                <a:cs typeface="Times New Roman"/>
              </a:rPr>
              <a:t>kinds </a:t>
            </a:r>
            <a:r>
              <a:rPr sz="3200" spc="-185" dirty="0">
                <a:latin typeface="Times New Roman"/>
                <a:cs typeface="Times New Roman"/>
              </a:rPr>
              <a:t>of </a:t>
            </a:r>
            <a:r>
              <a:rPr sz="3200" spc="-160" dirty="0">
                <a:latin typeface="Times New Roman"/>
                <a:cs typeface="Times New Roman"/>
              </a:rPr>
              <a:t>enemies </a:t>
            </a:r>
            <a:r>
              <a:rPr sz="3200" spc="-80" dirty="0">
                <a:latin typeface="Times New Roman"/>
                <a:cs typeface="Times New Roman"/>
              </a:rPr>
              <a:t>there </a:t>
            </a:r>
            <a:r>
              <a:rPr sz="3200" spc="-125" dirty="0">
                <a:latin typeface="Times New Roman"/>
                <a:cs typeface="Times New Roman"/>
              </a:rPr>
              <a:t>are </a:t>
            </a:r>
            <a:r>
              <a:rPr sz="3200" spc="-175" dirty="0">
                <a:latin typeface="Times New Roman"/>
                <a:cs typeface="Times New Roman"/>
              </a:rPr>
              <a:t>and </a:t>
            </a:r>
            <a:r>
              <a:rPr sz="3200" spc="-80" dirty="0">
                <a:latin typeface="Times New Roman"/>
                <a:cs typeface="Times New Roman"/>
              </a:rPr>
              <a:t>their </a:t>
            </a:r>
            <a:r>
              <a:rPr sz="3200" spc="-215" dirty="0">
                <a:latin typeface="Times New Roman"/>
                <a:cs typeface="Times New Roman"/>
              </a:rPr>
              <a:t>weak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points</a:t>
            </a:r>
            <a:endParaRPr sz="3200">
              <a:latin typeface="Times New Roman"/>
              <a:cs typeface="Times New Roman"/>
            </a:endParaRPr>
          </a:p>
          <a:p>
            <a:pPr marL="286385" marR="6350" indent="-274320">
              <a:lnSpc>
                <a:spcPct val="100000"/>
              </a:lnSpc>
              <a:spcBef>
                <a:spcPts val="605"/>
              </a:spcBef>
              <a:buSzPct val="84375"/>
              <a:buFont typeface="Arial"/>
              <a:buChar char="•"/>
              <a:tabLst>
                <a:tab pos="286385" algn="l"/>
                <a:tab pos="287020" algn="l"/>
                <a:tab pos="1277620" algn="l"/>
                <a:tab pos="2222500" algn="l"/>
                <a:tab pos="3352165" algn="l"/>
                <a:tab pos="4077335" algn="l"/>
                <a:tab pos="4761865" algn="l"/>
                <a:tab pos="5714365" algn="l"/>
                <a:tab pos="6396355" algn="l"/>
                <a:tab pos="6736080" algn="l"/>
                <a:tab pos="8082915" algn="l"/>
              </a:tabLst>
            </a:pPr>
            <a:r>
              <a:rPr sz="3200" spc="-175" dirty="0">
                <a:latin typeface="Times New Roman"/>
                <a:cs typeface="Times New Roman"/>
              </a:rPr>
              <a:t>F</a:t>
            </a:r>
            <a:r>
              <a:rPr sz="3200" spc="-145" dirty="0">
                <a:latin typeface="Times New Roman"/>
                <a:cs typeface="Times New Roman"/>
              </a:rPr>
              <a:t>r</a:t>
            </a:r>
            <a:r>
              <a:rPr sz="3200" spc="-160" dirty="0">
                <a:latin typeface="Times New Roman"/>
                <a:cs typeface="Times New Roman"/>
              </a:rPr>
              <a:t>om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30" dirty="0">
                <a:latin typeface="Times New Roman"/>
                <a:cs typeface="Times New Roman"/>
              </a:rPr>
              <a:t>these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40" dirty="0">
                <a:latin typeface="Times New Roman"/>
                <a:cs typeface="Times New Roman"/>
              </a:rPr>
              <a:t>details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320" dirty="0">
                <a:latin typeface="Times New Roman"/>
                <a:cs typeface="Times New Roman"/>
              </a:rPr>
              <a:t>y</a:t>
            </a:r>
            <a:r>
              <a:rPr sz="3200" spc="-135" dirty="0">
                <a:latin typeface="Times New Roman"/>
                <a:cs typeface="Times New Roman"/>
              </a:rPr>
              <a:t>ou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95" dirty="0">
                <a:latin typeface="Times New Roman"/>
                <a:cs typeface="Times New Roman"/>
              </a:rPr>
              <a:t>can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85" dirty="0">
                <a:latin typeface="Times New Roman"/>
                <a:cs typeface="Times New Roman"/>
              </a:rPr>
              <a:t>w</a:t>
            </a:r>
            <a:r>
              <a:rPr sz="3200" spc="-100" dirty="0">
                <a:latin typeface="Times New Roman"/>
                <a:cs typeface="Times New Roman"/>
              </a:rPr>
              <a:t>ork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95" dirty="0">
                <a:latin typeface="Times New Roman"/>
                <a:cs typeface="Times New Roman"/>
              </a:rPr>
              <a:t>ou</a:t>
            </a:r>
            <a:r>
              <a:rPr sz="3200" spc="-50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4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95" dirty="0">
                <a:latin typeface="Times New Roman"/>
                <a:cs typeface="Times New Roman"/>
              </a:rPr>
              <a:t>str</a:t>
            </a:r>
            <a:r>
              <a:rPr sz="3200" spc="-155" dirty="0">
                <a:latin typeface="Times New Roman"/>
                <a:cs typeface="Times New Roman"/>
              </a:rPr>
              <a:t>ategy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95" dirty="0">
                <a:latin typeface="Times New Roman"/>
                <a:cs typeface="Times New Roman"/>
              </a:rPr>
              <a:t>for  </a:t>
            </a:r>
            <a:r>
              <a:rPr sz="3200" spc="-140" dirty="0">
                <a:latin typeface="Times New Roman"/>
                <a:cs typeface="Times New Roman"/>
              </a:rPr>
              <a:t>completing </a:t>
            </a:r>
            <a:r>
              <a:rPr sz="3200" spc="-95" dirty="0">
                <a:latin typeface="Times New Roman"/>
                <a:cs typeface="Times New Roman"/>
              </a:rPr>
              <a:t>the </a:t>
            </a:r>
            <a:r>
              <a:rPr sz="3200" spc="-175" dirty="0">
                <a:latin typeface="Times New Roman"/>
                <a:cs typeface="Times New Roman"/>
              </a:rPr>
              <a:t>level </a:t>
            </a:r>
            <a:r>
              <a:rPr sz="3200" spc="-150" dirty="0">
                <a:latin typeface="Times New Roman"/>
                <a:cs typeface="Times New Roman"/>
              </a:rPr>
              <a:t>in </a:t>
            </a:r>
            <a:r>
              <a:rPr sz="3200" spc="-95" dirty="0">
                <a:latin typeface="Times New Roman"/>
                <a:cs typeface="Times New Roman"/>
              </a:rPr>
              <a:t>the </a:t>
            </a:r>
            <a:r>
              <a:rPr sz="3200" spc="-135" dirty="0">
                <a:latin typeface="Times New Roman"/>
                <a:cs typeface="Times New Roman"/>
              </a:rPr>
              <a:t>most </a:t>
            </a:r>
            <a:r>
              <a:rPr sz="3200" spc="-150" dirty="0">
                <a:latin typeface="Times New Roman"/>
                <a:cs typeface="Times New Roman"/>
              </a:rPr>
              <a:t>efficient</a:t>
            </a:r>
            <a:r>
              <a:rPr sz="3200" spc="285" dirty="0">
                <a:latin typeface="Times New Roman"/>
                <a:cs typeface="Times New Roman"/>
              </a:rPr>
              <a:t> </a:t>
            </a:r>
            <a:r>
              <a:rPr sz="3200" spc="-260" dirty="0">
                <a:latin typeface="Times New Roman"/>
                <a:cs typeface="Times New Roman"/>
              </a:rPr>
              <a:t>way.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578865"/>
            <a:ext cx="8225790" cy="511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0955" indent="-228600" algn="just">
              <a:lnSpc>
                <a:spcPct val="100000"/>
              </a:lnSpc>
              <a:spcBef>
                <a:spcPts val="100"/>
              </a:spcBef>
              <a:buSzPct val="84722"/>
              <a:buFont typeface="Arial"/>
              <a:buChar char="•"/>
              <a:tabLst>
                <a:tab pos="241300" algn="l"/>
                <a:tab pos="2664460" algn="l"/>
                <a:tab pos="4822825" algn="l"/>
                <a:tab pos="7609205" algn="l"/>
              </a:tabLst>
            </a:pPr>
            <a:r>
              <a:rPr sz="3600" spc="-200" dirty="0">
                <a:latin typeface="Times New Roman"/>
                <a:cs typeface="Times New Roman"/>
              </a:rPr>
              <a:t>each </a:t>
            </a:r>
            <a:r>
              <a:rPr sz="3600" spc="-165" dirty="0">
                <a:latin typeface="Times New Roman"/>
                <a:cs typeface="Times New Roman"/>
              </a:rPr>
              <a:t>complex </a:t>
            </a:r>
            <a:r>
              <a:rPr sz="3600" spc="-150" dirty="0">
                <a:latin typeface="Times New Roman"/>
                <a:cs typeface="Times New Roman"/>
              </a:rPr>
              <a:t>problem </a:t>
            </a:r>
            <a:r>
              <a:rPr sz="3600" spc="-270" dirty="0">
                <a:latin typeface="Times New Roman"/>
                <a:cs typeface="Times New Roman"/>
              </a:rPr>
              <a:t>was </a:t>
            </a:r>
            <a:r>
              <a:rPr sz="3600" spc="-155" dirty="0">
                <a:latin typeface="Times New Roman"/>
                <a:cs typeface="Times New Roman"/>
              </a:rPr>
              <a:t>broken </a:t>
            </a:r>
            <a:r>
              <a:rPr sz="3600" spc="-195" dirty="0">
                <a:latin typeface="Times New Roman"/>
                <a:cs typeface="Times New Roman"/>
              </a:rPr>
              <a:t>down </a:t>
            </a:r>
            <a:r>
              <a:rPr sz="3600" spc="-110" dirty="0">
                <a:latin typeface="Times New Roman"/>
                <a:cs typeface="Times New Roman"/>
              </a:rPr>
              <a:t>into  </a:t>
            </a:r>
            <a:r>
              <a:rPr sz="3600" spc="-195" dirty="0">
                <a:latin typeface="Times New Roman"/>
                <a:cs typeface="Times New Roman"/>
              </a:rPr>
              <a:t>s</a:t>
            </a:r>
            <a:r>
              <a:rPr sz="3600" spc="-275" dirty="0">
                <a:latin typeface="Times New Roman"/>
                <a:cs typeface="Times New Roman"/>
              </a:rPr>
              <a:t>e</a:t>
            </a:r>
            <a:r>
              <a:rPr sz="3600" spc="-375" dirty="0">
                <a:latin typeface="Times New Roman"/>
                <a:cs typeface="Times New Roman"/>
              </a:rPr>
              <a:t>v</a:t>
            </a:r>
            <a:r>
              <a:rPr sz="3600" spc="-130" dirty="0">
                <a:latin typeface="Times New Roman"/>
                <a:cs typeface="Times New Roman"/>
              </a:rPr>
              <a:t>eral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90" dirty="0">
                <a:latin typeface="Times New Roman"/>
                <a:cs typeface="Times New Roman"/>
              </a:rPr>
              <a:t>s</a:t>
            </a:r>
            <a:r>
              <a:rPr sz="3600" spc="-220" dirty="0">
                <a:latin typeface="Times New Roman"/>
                <a:cs typeface="Times New Roman"/>
              </a:rPr>
              <a:t>mal</a:t>
            </a:r>
            <a:r>
              <a:rPr sz="3600" spc="-120" dirty="0">
                <a:latin typeface="Times New Roman"/>
                <a:cs typeface="Times New Roman"/>
              </a:rPr>
              <a:t>l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70" dirty="0">
                <a:latin typeface="Times New Roman"/>
                <a:cs typeface="Times New Roman"/>
              </a:rPr>
              <a:t>de</a:t>
            </a:r>
            <a:r>
              <a:rPr sz="3600" spc="-175" dirty="0">
                <a:latin typeface="Times New Roman"/>
                <a:cs typeface="Times New Roman"/>
              </a:rPr>
              <a:t>c</a:t>
            </a:r>
            <a:r>
              <a:rPr sz="3600" spc="-200" dirty="0">
                <a:latin typeface="Times New Roman"/>
                <a:cs typeface="Times New Roman"/>
              </a:rPr>
              <a:t>isions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65" dirty="0">
                <a:latin typeface="Times New Roman"/>
                <a:cs typeface="Times New Roman"/>
              </a:rPr>
              <a:t>and  </a:t>
            </a:r>
            <a:r>
              <a:rPr sz="3600" spc="-125" dirty="0">
                <a:latin typeface="Times New Roman"/>
                <a:cs typeface="Times New Roman"/>
              </a:rPr>
              <a:t>steps:</a:t>
            </a:r>
            <a:r>
              <a:rPr sz="3600" spc="575" dirty="0">
                <a:latin typeface="Times New Roman"/>
                <a:cs typeface="Times New Roman"/>
              </a:rPr>
              <a:t> </a:t>
            </a:r>
            <a:r>
              <a:rPr sz="3600" b="1" spc="50" dirty="0">
                <a:latin typeface="Times New Roman"/>
                <a:cs typeface="Times New Roman"/>
              </a:rPr>
              <a:t>decomposition</a:t>
            </a:r>
            <a:endParaRPr sz="36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400"/>
              </a:spcBef>
              <a:buSzPct val="84722"/>
              <a:buFont typeface="Arial"/>
              <a:buChar char="•"/>
              <a:tabLst>
                <a:tab pos="241300" algn="l"/>
              </a:tabLst>
            </a:pPr>
            <a:r>
              <a:rPr sz="3600" spc="-204" dirty="0">
                <a:latin typeface="Times New Roman"/>
                <a:cs typeface="Times New Roman"/>
              </a:rPr>
              <a:t>only </a:t>
            </a:r>
            <a:r>
              <a:rPr sz="3600" spc="-105" dirty="0">
                <a:latin typeface="Times New Roman"/>
                <a:cs typeface="Times New Roman"/>
              </a:rPr>
              <a:t>the </a:t>
            </a:r>
            <a:r>
              <a:rPr sz="3600" spc="-155" dirty="0">
                <a:latin typeface="Times New Roman"/>
                <a:cs typeface="Times New Roman"/>
              </a:rPr>
              <a:t>relevant </a:t>
            </a:r>
            <a:r>
              <a:rPr sz="3600" spc="-160" dirty="0">
                <a:latin typeface="Times New Roman"/>
                <a:cs typeface="Times New Roman"/>
              </a:rPr>
              <a:t>details </a:t>
            </a:r>
            <a:r>
              <a:rPr sz="3600" spc="-155" dirty="0">
                <a:latin typeface="Times New Roman"/>
                <a:cs typeface="Times New Roman"/>
              </a:rPr>
              <a:t>were </a:t>
            </a:r>
            <a:r>
              <a:rPr sz="3600" spc="-195" dirty="0">
                <a:latin typeface="Times New Roman"/>
                <a:cs typeface="Times New Roman"/>
              </a:rPr>
              <a:t>focused</a:t>
            </a:r>
            <a:r>
              <a:rPr sz="3600" spc="305" dirty="0">
                <a:latin typeface="Times New Roman"/>
                <a:cs typeface="Times New Roman"/>
              </a:rPr>
              <a:t> </a:t>
            </a:r>
            <a:r>
              <a:rPr sz="3600" spc="-90" dirty="0">
                <a:latin typeface="Times New Roman"/>
                <a:cs typeface="Times New Roman"/>
              </a:rPr>
              <a:t>on:</a:t>
            </a:r>
            <a:endParaRPr sz="36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3600" b="1" spc="-20" dirty="0">
                <a:latin typeface="Times New Roman"/>
                <a:cs typeface="Times New Roman"/>
              </a:rPr>
              <a:t>abstraction</a:t>
            </a:r>
            <a:endParaRPr sz="3600">
              <a:latin typeface="Times New Roman"/>
              <a:cs typeface="Times New Roman"/>
            </a:endParaRPr>
          </a:p>
          <a:p>
            <a:pPr marL="241300" marR="19050" indent="-228600">
              <a:lnSpc>
                <a:spcPct val="100000"/>
              </a:lnSpc>
              <a:spcBef>
                <a:spcPts val="395"/>
              </a:spcBef>
              <a:buSzPct val="84722"/>
              <a:buFont typeface="Arial"/>
              <a:buChar char="•"/>
              <a:tabLst>
                <a:tab pos="241300" algn="l"/>
                <a:tab pos="2268220" algn="l"/>
                <a:tab pos="2830830" algn="l"/>
                <a:tab pos="4464685" algn="l"/>
                <a:tab pos="5816600" algn="l"/>
                <a:tab pos="7587615" algn="l"/>
              </a:tabLst>
            </a:pPr>
            <a:r>
              <a:rPr sz="3600" spc="-190" dirty="0">
                <a:latin typeface="Times New Roman"/>
                <a:cs typeface="Times New Roman"/>
              </a:rPr>
              <a:t>kn</a:t>
            </a:r>
            <a:r>
              <a:rPr sz="3600" spc="-275" dirty="0">
                <a:latin typeface="Times New Roman"/>
                <a:cs typeface="Times New Roman"/>
              </a:rPr>
              <a:t>o</a:t>
            </a:r>
            <a:r>
              <a:rPr sz="3600" spc="-165" dirty="0">
                <a:latin typeface="Times New Roman"/>
                <a:cs typeface="Times New Roman"/>
              </a:rPr>
              <a:t>wl</a:t>
            </a:r>
            <a:r>
              <a:rPr sz="3600" spc="-130" dirty="0">
                <a:latin typeface="Times New Roman"/>
                <a:cs typeface="Times New Roman"/>
              </a:rPr>
              <a:t>e</a:t>
            </a:r>
            <a:r>
              <a:rPr sz="3600" spc="-225" dirty="0">
                <a:latin typeface="Times New Roman"/>
                <a:cs typeface="Times New Roman"/>
              </a:rPr>
              <a:t>d</a:t>
            </a:r>
            <a:r>
              <a:rPr sz="3600" spc="-220" dirty="0">
                <a:latin typeface="Times New Roman"/>
                <a:cs typeface="Times New Roman"/>
              </a:rPr>
              <a:t>g</a:t>
            </a:r>
            <a:r>
              <a:rPr sz="3600" spc="-140" dirty="0">
                <a:latin typeface="Times New Roman"/>
                <a:cs typeface="Times New Roman"/>
              </a:rPr>
              <a:t>e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54" dirty="0">
                <a:latin typeface="Times New Roman"/>
                <a:cs typeface="Times New Roman"/>
              </a:rPr>
              <a:t>o</a:t>
            </a:r>
            <a:r>
              <a:rPr sz="3600" spc="-170" dirty="0">
                <a:latin typeface="Times New Roman"/>
                <a:cs typeface="Times New Roman"/>
              </a:rPr>
              <a:t>f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70" dirty="0">
                <a:latin typeface="Times New Roman"/>
                <a:cs typeface="Times New Roman"/>
              </a:rPr>
              <a:t>p</a:t>
            </a:r>
            <a:r>
              <a:rPr sz="3600" spc="-65" dirty="0">
                <a:latin typeface="Times New Roman"/>
                <a:cs typeface="Times New Roman"/>
              </a:rPr>
              <a:t>r</a:t>
            </a:r>
            <a:r>
              <a:rPr sz="3600" spc="-200" dirty="0">
                <a:latin typeface="Times New Roman"/>
                <a:cs typeface="Times New Roman"/>
              </a:rPr>
              <a:t>e</a:t>
            </a:r>
            <a:r>
              <a:rPr sz="3600" spc="-215" dirty="0">
                <a:latin typeface="Times New Roman"/>
                <a:cs typeface="Times New Roman"/>
              </a:rPr>
              <a:t>vious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35" dirty="0">
                <a:latin typeface="Times New Roman"/>
                <a:cs typeface="Times New Roman"/>
              </a:rPr>
              <a:t>sim</a:t>
            </a:r>
            <a:r>
              <a:rPr sz="3600" spc="-130" dirty="0">
                <a:latin typeface="Times New Roman"/>
                <a:cs typeface="Times New Roman"/>
              </a:rPr>
              <a:t>i</a:t>
            </a:r>
            <a:r>
              <a:rPr sz="3600" spc="-135" dirty="0">
                <a:latin typeface="Times New Roman"/>
                <a:cs typeface="Times New Roman"/>
              </a:rPr>
              <a:t>la</a:t>
            </a:r>
            <a:r>
              <a:rPr sz="3600" spc="-120" dirty="0">
                <a:latin typeface="Times New Roman"/>
                <a:cs typeface="Times New Roman"/>
              </a:rPr>
              <a:t>r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70" dirty="0">
                <a:latin typeface="Times New Roman"/>
                <a:cs typeface="Times New Roman"/>
              </a:rPr>
              <a:t>p</a:t>
            </a:r>
            <a:r>
              <a:rPr sz="3600" spc="-85" dirty="0">
                <a:latin typeface="Times New Roman"/>
                <a:cs typeface="Times New Roman"/>
              </a:rPr>
              <a:t>r</a:t>
            </a:r>
            <a:r>
              <a:rPr sz="3600" spc="-170" dirty="0">
                <a:latin typeface="Times New Roman"/>
                <a:cs typeface="Times New Roman"/>
              </a:rPr>
              <a:t>o</a:t>
            </a:r>
            <a:r>
              <a:rPr sz="3600" spc="-235" dirty="0">
                <a:latin typeface="Times New Roman"/>
                <a:cs typeface="Times New Roman"/>
              </a:rPr>
              <a:t>b</a:t>
            </a:r>
            <a:r>
              <a:rPr sz="3600" spc="-125" dirty="0">
                <a:latin typeface="Times New Roman"/>
                <a:cs typeface="Times New Roman"/>
              </a:rPr>
              <a:t>le</a:t>
            </a:r>
            <a:r>
              <a:rPr sz="3600" spc="-245" dirty="0">
                <a:latin typeface="Times New Roman"/>
                <a:cs typeface="Times New Roman"/>
              </a:rPr>
              <a:t>m</a:t>
            </a:r>
            <a:r>
              <a:rPr sz="3600" spc="-275" dirty="0">
                <a:latin typeface="Times New Roman"/>
                <a:cs typeface="Times New Roman"/>
              </a:rPr>
              <a:t>s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40" dirty="0">
                <a:latin typeface="Times New Roman"/>
                <a:cs typeface="Times New Roman"/>
              </a:rPr>
              <a:t>w</a:t>
            </a:r>
            <a:r>
              <a:rPr sz="3600" spc="-229" dirty="0">
                <a:latin typeface="Times New Roman"/>
                <a:cs typeface="Times New Roman"/>
              </a:rPr>
              <a:t>as  </a:t>
            </a:r>
            <a:r>
              <a:rPr sz="3600" spc="-135" dirty="0">
                <a:latin typeface="Times New Roman"/>
                <a:cs typeface="Times New Roman"/>
              </a:rPr>
              <a:t>used: </a:t>
            </a:r>
            <a:r>
              <a:rPr sz="3600" b="1" dirty="0">
                <a:latin typeface="Times New Roman"/>
                <a:cs typeface="Times New Roman"/>
              </a:rPr>
              <a:t>pattern</a:t>
            </a:r>
            <a:r>
              <a:rPr sz="3600" b="1" spc="-185" dirty="0">
                <a:latin typeface="Times New Roman"/>
                <a:cs typeface="Times New Roman"/>
              </a:rPr>
              <a:t> </a:t>
            </a:r>
            <a:r>
              <a:rPr sz="3600" b="1" spc="50" dirty="0">
                <a:latin typeface="Times New Roman"/>
                <a:cs typeface="Times New Roman"/>
              </a:rPr>
              <a:t>recognition</a:t>
            </a: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SzPct val="84722"/>
              <a:buFont typeface="Arial"/>
              <a:buChar char="•"/>
              <a:tabLst>
                <a:tab pos="241300" algn="l"/>
                <a:tab pos="824865" algn="l"/>
                <a:tab pos="1920875" algn="l"/>
                <a:tab pos="2713355" algn="l"/>
                <a:tab pos="3121660" algn="l"/>
                <a:tab pos="4034790" algn="l"/>
                <a:tab pos="4661535" algn="l"/>
                <a:tab pos="5574030" algn="l"/>
                <a:tab pos="6508750" algn="l"/>
                <a:tab pos="7077075" algn="l"/>
              </a:tabLst>
            </a:pPr>
            <a:r>
              <a:rPr sz="3600" spc="-35" dirty="0">
                <a:latin typeface="Times New Roman"/>
                <a:cs typeface="Times New Roman"/>
              </a:rPr>
              <a:t>t</a:t>
            </a:r>
            <a:r>
              <a:rPr sz="3600" spc="-65" dirty="0">
                <a:latin typeface="Times New Roman"/>
                <a:cs typeface="Times New Roman"/>
              </a:rPr>
              <a:t>o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335" dirty="0">
                <a:latin typeface="Times New Roman"/>
                <a:cs typeface="Times New Roman"/>
              </a:rPr>
              <a:t>w</a:t>
            </a:r>
            <a:r>
              <a:rPr sz="3600" spc="-114" dirty="0">
                <a:latin typeface="Times New Roman"/>
                <a:cs typeface="Times New Roman"/>
              </a:rPr>
              <a:t>ork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05" dirty="0">
                <a:latin typeface="Times New Roman"/>
                <a:cs typeface="Times New Roman"/>
              </a:rPr>
              <a:t>ou</a:t>
            </a:r>
            <a:r>
              <a:rPr sz="3600" spc="-55" dirty="0">
                <a:latin typeface="Times New Roman"/>
                <a:cs typeface="Times New Roman"/>
              </a:rPr>
              <a:t>t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85" dirty="0">
                <a:latin typeface="Times New Roman"/>
                <a:cs typeface="Times New Roman"/>
              </a:rPr>
              <a:t>a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30" dirty="0">
                <a:latin typeface="Times New Roman"/>
                <a:cs typeface="Times New Roman"/>
              </a:rPr>
              <a:t>step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325" dirty="0">
                <a:latin typeface="Times New Roman"/>
                <a:cs typeface="Times New Roman"/>
              </a:rPr>
              <a:t>b</a:t>
            </a:r>
            <a:r>
              <a:rPr sz="3600" spc="-245" dirty="0">
                <a:latin typeface="Times New Roman"/>
                <a:cs typeface="Times New Roman"/>
              </a:rPr>
              <a:t>y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30" dirty="0">
                <a:latin typeface="Times New Roman"/>
                <a:cs typeface="Times New Roman"/>
              </a:rPr>
              <a:t>step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85" dirty="0">
                <a:latin typeface="Times New Roman"/>
                <a:cs typeface="Times New Roman"/>
              </a:rPr>
              <a:t>pl</a:t>
            </a:r>
            <a:r>
              <a:rPr sz="3600" spc="-225" dirty="0">
                <a:latin typeface="Times New Roman"/>
                <a:cs typeface="Times New Roman"/>
              </a:rPr>
              <a:t>a</a:t>
            </a:r>
            <a:r>
              <a:rPr sz="3600" spc="-155" dirty="0">
                <a:latin typeface="Times New Roman"/>
                <a:cs typeface="Times New Roman"/>
              </a:rPr>
              <a:t>n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54" dirty="0">
                <a:latin typeface="Times New Roman"/>
                <a:cs typeface="Times New Roman"/>
              </a:rPr>
              <a:t>o</a:t>
            </a:r>
            <a:r>
              <a:rPr sz="3600" spc="-170" dirty="0">
                <a:latin typeface="Times New Roman"/>
                <a:cs typeface="Times New Roman"/>
              </a:rPr>
              <a:t>f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75" dirty="0">
                <a:latin typeface="Times New Roman"/>
                <a:cs typeface="Times New Roman"/>
              </a:rPr>
              <a:t>ac</a:t>
            </a:r>
            <a:r>
              <a:rPr sz="3600" spc="-100" dirty="0">
                <a:latin typeface="Times New Roman"/>
                <a:cs typeface="Times New Roman"/>
              </a:rPr>
              <a:t>t</a:t>
            </a:r>
            <a:r>
              <a:rPr sz="3600" spc="-160" dirty="0">
                <a:latin typeface="Times New Roman"/>
                <a:cs typeface="Times New Roman"/>
              </a:rPr>
              <a:t>ion</a:t>
            </a:r>
            <a:r>
              <a:rPr sz="3600" spc="50" dirty="0">
                <a:latin typeface="Times New Roman"/>
                <a:cs typeface="Times New Roman"/>
              </a:rPr>
              <a:t>:</a:t>
            </a:r>
            <a:endParaRPr sz="36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3600" b="1" spc="-5" dirty="0">
                <a:latin typeface="Times New Roman"/>
                <a:cs typeface="Times New Roman"/>
              </a:rPr>
              <a:t>algorithms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2110867"/>
            <a:ext cx="858012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95"/>
              </a:spcBef>
              <a:buSzPct val="82500"/>
              <a:buFont typeface="Wingdings"/>
              <a:buChar char=""/>
              <a:tabLst>
                <a:tab pos="353060" algn="l"/>
              </a:tabLst>
            </a:pPr>
            <a:r>
              <a:rPr sz="4000" i="1" spc="-225" dirty="0">
                <a:latin typeface="Times New Roman"/>
                <a:cs typeface="Times New Roman"/>
              </a:rPr>
              <a:t>If </a:t>
            </a:r>
            <a:r>
              <a:rPr sz="4000" i="1" spc="-420" dirty="0">
                <a:latin typeface="Times New Roman"/>
                <a:cs typeface="Times New Roman"/>
              </a:rPr>
              <a:t>you </a:t>
            </a:r>
            <a:r>
              <a:rPr sz="4000" i="1" spc="-555" dirty="0">
                <a:latin typeface="Times New Roman"/>
                <a:cs typeface="Times New Roman"/>
              </a:rPr>
              <a:t>were </a:t>
            </a:r>
            <a:r>
              <a:rPr sz="4000" i="1" spc="-305" dirty="0">
                <a:latin typeface="Times New Roman"/>
                <a:cs typeface="Times New Roman"/>
              </a:rPr>
              <a:t>to </a:t>
            </a:r>
            <a:r>
              <a:rPr sz="4000" i="1" spc="-434" dirty="0">
                <a:latin typeface="Times New Roman"/>
                <a:cs typeface="Times New Roman"/>
              </a:rPr>
              <a:t>create </a:t>
            </a:r>
            <a:r>
              <a:rPr sz="4000" i="1" spc="-425" dirty="0">
                <a:latin typeface="Times New Roman"/>
                <a:cs typeface="Times New Roman"/>
              </a:rPr>
              <a:t>your </a:t>
            </a:r>
            <a:r>
              <a:rPr sz="4000" i="1" spc="-525" dirty="0">
                <a:latin typeface="Times New Roman"/>
                <a:cs typeface="Times New Roman"/>
              </a:rPr>
              <a:t>own </a:t>
            </a:r>
            <a:r>
              <a:rPr sz="4000" i="1" spc="-440" dirty="0">
                <a:latin typeface="Times New Roman"/>
                <a:cs typeface="Times New Roman"/>
              </a:rPr>
              <a:t>computer  </a:t>
            </a:r>
            <a:r>
              <a:rPr sz="4000" i="1" spc="-415" dirty="0">
                <a:latin typeface="Times New Roman"/>
                <a:cs typeface="Times New Roman"/>
              </a:rPr>
              <a:t>game,  </a:t>
            </a:r>
            <a:r>
              <a:rPr sz="4000" i="1" spc="-395" dirty="0">
                <a:latin typeface="Times New Roman"/>
                <a:cs typeface="Times New Roman"/>
              </a:rPr>
              <a:t>what </a:t>
            </a:r>
            <a:r>
              <a:rPr sz="4000" i="1" spc="-475" dirty="0">
                <a:latin typeface="Times New Roman"/>
                <a:cs typeface="Times New Roman"/>
              </a:rPr>
              <a:t>are </a:t>
            </a:r>
            <a:r>
              <a:rPr sz="4000" i="1" spc="-310" dirty="0">
                <a:latin typeface="Times New Roman"/>
                <a:cs typeface="Times New Roman"/>
              </a:rPr>
              <a:t>the </a:t>
            </a:r>
            <a:r>
              <a:rPr sz="4000" i="1" spc="-380" dirty="0">
                <a:latin typeface="Times New Roman"/>
                <a:cs typeface="Times New Roman"/>
              </a:rPr>
              <a:t>types </a:t>
            </a:r>
            <a:r>
              <a:rPr sz="4000" i="1" spc="-350" dirty="0">
                <a:latin typeface="Times New Roman"/>
                <a:cs typeface="Times New Roman"/>
              </a:rPr>
              <a:t>of </a:t>
            </a:r>
            <a:r>
              <a:rPr sz="4000" i="1" spc="-395" dirty="0">
                <a:latin typeface="Times New Roman"/>
                <a:cs typeface="Times New Roman"/>
              </a:rPr>
              <a:t>questions </a:t>
            </a:r>
            <a:r>
              <a:rPr sz="4000" i="1" spc="-420" dirty="0">
                <a:latin typeface="Times New Roman"/>
                <a:cs typeface="Times New Roman"/>
              </a:rPr>
              <a:t>you </a:t>
            </a:r>
            <a:r>
              <a:rPr sz="4000" i="1" spc="-425" dirty="0">
                <a:latin typeface="Times New Roman"/>
                <a:cs typeface="Times New Roman"/>
              </a:rPr>
              <a:t>would </a:t>
            </a:r>
            <a:r>
              <a:rPr sz="4000" i="1" spc="-455" dirty="0">
                <a:latin typeface="Times New Roman"/>
                <a:cs typeface="Times New Roman"/>
              </a:rPr>
              <a:t>need </a:t>
            </a:r>
            <a:r>
              <a:rPr sz="4000" i="1" spc="-305" dirty="0">
                <a:latin typeface="Times New Roman"/>
                <a:cs typeface="Times New Roman"/>
              </a:rPr>
              <a:t>to  </a:t>
            </a:r>
            <a:r>
              <a:rPr sz="4000" i="1" spc="-245" dirty="0">
                <a:latin typeface="Times New Roman"/>
                <a:cs typeface="Times New Roman"/>
              </a:rPr>
              <a:t>think </a:t>
            </a:r>
            <a:r>
              <a:rPr sz="4000" i="1" spc="-385" dirty="0">
                <a:latin typeface="Times New Roman"/>
                <a:cs typeface="Times New Roman"/>
              </a:rPr>
              <a:t>about </a:t>
            </a:r>
            <a:r>
              <a:rPr sz="4000" i="1" spc="-390" dirty="0">
                <a:latin typeface="Times New Roman"/>
                <a:cs typeface="Times New Roman"/>
              </a:rPr>
              <a:t>and </a:t>
            </a:r>
            <a:r>
              <a:rPr sz="4000" i="1" spc="-505" dirty="0">
                <a:latin typeface="Times New Roman"/>
                <a:cs typeface="Times New Roman"/>
              </a:rPr>
              <a:t>answer </a:t>
            </a:r>
            <a:r>
              <a:rPr sz="4000" i="1" spc="-470" dirty="0">
                <a:latin typeface="Times New Roman"/>
                <a:cs typeface="Times New Roman"/>
              </a:rPr>
              <a:t>before </a:t>
            </a:r>
            <a:r>
              <a:rPr sz="4000" i="1" spc="-420" dirty="0">
                <a:latin typeface="Times New Roman"/>
                <a:cs typeface="Times New Roman"/>
              </a:rPr>
              <a:t>you </a:t>
            </a:r>
            <a:r>
              <a:rPr sz="4000" i="1" spc="-500" dirty="0">
                <a:latin typeface="Times New Roman"/>
                <a:cs typeface="Times New Roman"/>
              </a:rPr>
              <a:t>program </a:t>
            </a:r>
            <a:r>
              <a:rPr sz="4000" i="1" spc="-425" dirty="0">
                <a:latin typeface="Times New Roman"/>
                <a:cs typeface="Times New Roman"/>
              </a:rPr>
              <a:t>your  </a:t>
            </a:r>
            <a:r>
              <a:rPr sz="4000" i="1" spc="-570" dirty="0">
                <a:latin typeface="Times New Roman"/>
                <a:cs typeface="Times New Roman"/>
              </a:rPr>
              <a:t>game?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78168" y="295656"/>
            <a:ext cx="2127504" cy="15727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891286"/>
            <a:ext cx="41408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340" dirty="0">
                <a:latin typeface="Times New Roman"/>
                <a:cs typeface="Times New Roman"/>
              </a:rPr>
              <a:t>What </a:t>
            </a:r>
            <a:r>
              <a:rPr sz="4000" i="1" spc="-440" dirty="0">
                <a:latin typeface="Times New Roman"/>
                <a:cs typeface="Times New Roman"/>
              </a:rPr>
              <a:t>has </a:t>
            </a:r>
            <a:r>
              <a:rPr sz="4000" i="1" spc="-480" dirty="0">
                <a:latin typeface="Times New Roman"/>
                <a:cs typeface="Times New Roman"/>
              </a:rPr>
              <a:t>been</a:t>
            </a:r>
            <a:r>
              <a:rPr sz="4000" i="1" spc="-155" dirty="0">
                <a:latin typeface="Times New Roman"/>
                <a:cs typeface="Times New Roman"/>
              </a:rPr>
              <a:t> </a:t>
            </a:r>
            <a:r>
              <a:rPr sz="4000" i="1" spc="-484" dirty="0">
                <a:latin typeface="Times New Roman"/>
                <a:cs typeface="Times New Roman"/>
              </a:rPr>
              <a:t>described?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39011"/>
            <a:ext cx="5579745" cy="3257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Times New Roman"/>
                <a:cs typeface="Times New Roman"/>
              </a:rPr>
              <a:t>Human </a:t>
            </a:r>
            <a:r>
              <a:rPr sz="2600" spc="-150" dirty="0">
                <a:latin typeface="Times New Roman"/>
                <a:cs typeface="Times New Roman"/>
              </a:rPr>
              <a:t>based </a:t>
            </a:r>
            <a:r>
              <a:rPr sz="2600" spc="-145" dirty="0">
                <a:latin typeface="Times New Roman"/>
                <a:cs typeface="Times New Roman"/>
              </a:rPr>
              <a:t>and </a:t>
            </a:r>
            <a:r>
              <a:rPr sz="2600" spc="-160" dirty="0">
                <a:latin typeface="Times New Roman"/>
                <a:cs typeface="Times New Roman"/>
              </a:rPr>
              <a:t>Machine </a:t>
            </a:r>
            <a:r>
              <a:rPr sz="2600" spc="-150" dirty="0">
                <a:latin typeface="Times New Roman"/>
                <a:cs typeface="Times New Roman"/>
              </a:rPr>
              <a:t>based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computing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35" dirty="0">
                <a:latin typeface="Times New Roman"/>
                <a:cs typeface="Times New Roman"/>
              </a:rPr>
              <a:t>Data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information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10" dirty="0">
                <a:latin typeface="Times New Roman"/>
                <a:cs typeface="Times New Roman"/>
              </a:rPr>
              <a:t>Computational</a:t>
            </a:r>
            <a:r>
              <a:rPr sz="2600" spc="-39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Thinking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5" dirty="0">
                <a:latin typeface="Times New Roman"/>
                <a:cs typeface="Times New Roman"/>
              </a:rPr>
              <a:t>Corner </a:t>
            </a:r>
            <a:r>
              <a:rPr sz="2600" spc="-145" dirty="0">
                <a:latin typeface="Times New Roman"/>
                <a:cs typeface="Times New Roman"/>
              </a:rPr>
              <a:t>Stones </a:t>
            </a:r>
            <a:r>
              <a:rPr sz="2600" spc="-155" dirty="0">
                <a:latin typeface="Times New Roman"/>
                <a:cs typeface="Times New Roman"/>
              </a:rPr>
              <a:t>of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304800"/>
            <a:ext cx="533400" cy="5726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E4532C5-025D-4F36-9986-1F4E60D032C3}"/>
</file>

<file path=customXml/itemProps2.xml><?xml version="1.0" encoding="utf-8"?>
<ds:datastoreItem xmlns:ds="http://schemas.openxmlformats.org/officeDocument/2006/customXml" ds:itemID="{45757A2D-C5BC-4319-BC29-A7AF400E15D6}"/>
</file>

<file path=customXml/itemProps3.xml><?xml version="1.0" encoding="utf-8"?>
<ds:datastoreItem xmlns:ds="http://schemas.openxmlformats.org/officeDocument/2006/customXml" ds:itemID="{B4AD7EED-A544-42EF-964C-EEB6C4ADDFD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1200</Words>
  <Application>Microsoft Office PowerPoint</Application>
  <PresentationFormat>On-screen Show (4:3)</PresentationFormat>
  <Paragraphs>162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Office Theme</vt:lpstr>
      <vt:lpstr>PowerPoint Presentation</vt:lpstr>
      <vt:lpstr>Human-based computing</vt:lpstr>
      <vt:lpstr>Machine based computing</vt:lpstr>
      <vt:lpstr>Data around us</vt:lpstr>
      <vt:lpstr>Data and Information</vt:lpstr>
      <vt:lpstr>Census Report (Total population,  Literacy Rate, Male / Female ratio etc.)</vt:lpstr>
      <vt:lpstr>Result Cards of Individual Students,  Result sheets of a particular Class</vt:lpstr>
      <vt:lpstr>Merit List</vt:lpstr>
      <vt:lpstr>There is more to technology than mere  social media &amp; networking</vt:lpstr>
      <vt:lpstr>Software - product of critical thinking skills</vt:lpstr>
      <vt:lpstr>PowerPoint Presentation</vt:lpstr>
      <vt:lpstr>PowerPoint Presentation</vt:lpstr>
      <vt:lpstr>PowerPoint Presentation</vt:lpstr>
      <vt:lpstr>Figure: Jeannette’s Article</vt:lpstr>
      <vt:lpstr>Computational Thinking</vt:lpstr>
      <vt:lpstr>PowerPoint Presentation</vt:lpstr>
      <vt:lpstr>The four cornerstones</vt:lpstr>
      <vt:lpstr>Programs</vt:lpstr>
      <vt:lpstr>Algorithms</vt:lpstr>
      <vt:lpstr>Computational Thinking in Practice</vt:lpstr>
      <vt:lpstr>What CT is and is'nt?</vt:lpstr>
      <vt:lpstr>Planning to meet friends</vt:lpstr>
      <vt:lpstr>PowerPoint Presentation</vt:lpstr>
      <vt:lpstr>Go out with a Group of friends</vt:lpstr>
      <vt:lpstr>PowerPoint Presentation</vt:lpstr>
      <vt:lpstr>Playing a videogame</vt:lpstr>
      <vt:lpstr>Playing a videogame</vt:lpstr>
      <vt:lpstr>PowerPoint Presentation</vt:lpstr>
      <vt:lpstr>PowerPoint Presentation</vt:lpstr>
      <vt:lpstr>What has been described?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Dr.R.Prasanna Kumar</cp:lastModifiedBy>
  <cp:revision>3</cp:revision>
  <dcterms:created xsi:type="dcterms:W3CDTF">2020-09-07T05:49:14Z</dcterms:created>
  <dcterms:modified xsi:type="dcterms:W3CDTF">2020-09-07T08:30:38Z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