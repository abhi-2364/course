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9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ustomXml" Target="../customXml/item3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1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12700">
              <a:lnSpc>
                <a:spcPts val="1225"/>
              </a:lnSpc>
            </a:pPr>
            <a:r>
              <a:rPr dirty="0"/>
              <a:t>Department of</a:t>
            </a:r>
            <a:r>
              <a:rPr spc="-30" dirty="0"/>
              <a:t> </a:t>
            </a:r>
            <a:r>
              <a:rPr spc="-5" dirty="0"/>
              <a:t>CSE,Coimbatore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1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12700">
              <a:lnSpc>
                <a:spcPts val="1225"/>
              </a:lnSpc>
            </a:pPr>
            <a:r>
              <a:rPr dirty="0"/>
              <a:t>Department of</a:t>
            </a:r>
            <a:r>
              <a:rPr spc="-30" dirty="0"/>
              <a:t> </a:t>
            </a:r>
            <a:r>
              <a:rPr spc="-5" dirty="0"/>
              <a:t>CSE,Coimbatore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1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12700">
              <a:lnSpc>
                <a:spcPts val="1225"/>
              </a:lnSpc>
            </a:pPr>
            <a:r>
              <a:rPr dirty="0"/>
              <a:t>Department of</a:t>
            </a:r>
            <a:r>
              <a:rPr spc="-30" dirty="0"/>
              <a:t> </a:t>
            </a:r>
            <a:r>
              <a:rPr spc="-5" dirty="0"/>
              <a:t>CSE,Coimbatore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9/11/2020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1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12700">
              <a:lnSpc>
                <a:spcPts val="1225"/>
              </a:lnSpc>
            </a:pPr>
            <a:r>
              <a:rPr dirty="0"/>
              <a:t>Department of</a:t>
            </a:r>
            <a:r>
              <a:rPr spc="-30" dirty="0"/>
              <a:t> </a:t>
            </a:r>
            <a:r>
              <a:rPr spc="-5" dirty="0"/>
              <a:t>CSE,Coimbatore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9/11/2020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1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12700">
              <a:lnSpc>
                <a:spcPts val="1225"/>
              </a:lnSpc>
            </a:pPr>
            <a:r>
              <a:rPr dirty="0"/>
              <a:t>Department of</a:t>
            </a:r>
            <a:r>
              <a:rPr spc="-30" dirty="0"/>
              <a:t> </a:t>
            </a:r>
            <a:r>
              <a:rPr spc="-5" dirty="0"/>
              <a:t>CSE,Coimbatore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9/11/2020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4007" y="70103"/>
            <a:ext cx="9013190" cy="6693534"/>
          </a:xfrm>
          <a:custGeom>
            <a:avLst/>
            <a:gdLst/>
            <a:ahLst/>
            <a:cxnLst/>
            <a:rect l="l" t="t" r="r" b="b"/>
            <a:pathLst>
              <a:path w="9013190" h="6693534">
                <a:moveTo>
                  <a:pt x="0" y="329946"/>
                </a:moveTo>
                <a:lnTo>
                  <a:pt x="3577" y="281184"/>
                </a:lnTo>
                <a:lnTo>
                  <a:pt x="13968" y="234645"/>
                </a:lnTo>
                <a:lnTo>
                  <a:pt x="30664" y="190840"/>
                </a:lnTo>
                <a:lnTo>
                  <a:pt x="53153" y="150277"/>
                </a:lnTo>
                <a:lnTo>
                  <a:pt x="80925" y="113468"/>
                </a:lnTo>
                <a:lnTo>
                  <a:pt x="113469" y="80923"/>
                </a:lnTo>
                <a:lnTo>
                  <a:pt x="150276" y="53151"/>
                </a:lnTo>
                <a:lnTo>
                  <a:pt x="190835" y="30662"/>
                </a:lnTo>
                <a:lnTo>
                  <a:pt x="234636" y="13967"/>
                </a:lnTo>
                <a:lnTo>
                  <a:pt x="281168" y="3576"/>
                </a:lnTo>
                <a:lnTo>
                  <a:pt x="329920" y="0"/>
                </a:lnTo>
                <a:lnTo>
                  <a:pt x="8682990" y="0"/>
                </a:lnTo>
                <a:lnTo>
                  <a:pt x="8731751" y="3576"/>
                </a:lnTo>
                <a:lnTo>
                  <a:pt x="8778290" y="13967"/>
                </a:lnTo>
                <a:lnTo>
                  <a:pt x="8822095" y="30662"/>
                </a:lnTo>
                <a:lnTo>
                  <a:pt x="8862658" y="53151"/>
                </a:lnTo>
                <a:lnTo>
                  <a:pt x="8899467" y="80923"/>
                </a:lnTo>
                <a:lnTo>
                  <a:pt x="8932012" y="113468"/>
                </a:lnTo>
                <a:lnTo>
                  <a:pt x="8959784" y="150277"/>
                </a:lnTo>
                <a:lnTo>
                  <a:pt x="8982273" y="190840"/>
                </a:lnTo>
                <a:lnTo>
                  <a:pt x="8998968" y="234645"/>
                </a:lnTo>
                <a:lnTo>
                  <a:pt x="9009359" y="281184"/>
                </a:lnTo>
                <a:lnTo>
                  <a:pt x="9012936" y="329946"/>
                </a:lnTo>
                <a:lnTo>
                  <a:pt x="9012936" y="6363487"/>
                </a:lnTo>
                <a:lnTo>
                  <a:pt x="9009359" y="6412239"/>
                </a:lnTo>
                <a:lnTo>
                  <a:pt x="8998968" y="6458771"/>
                </a:lnTo>
                <a:lnTo>
                  <a:pt x="8982273" y="6502572"/>
                </a:lnTo>
                <a:lnTo>
                  <a:pt x="8959784" y="6543131"/>
                </a:lnTo>
                <a:lnTo>
                  <a:pt x="8932012" y="6579938"/>
                </a:lnTo>
                <a:lnTo>
                  <a:pt x="8899467" y="6612482"/>
                </a:lnTo>
                <a:lnTo>
                  <a:pt x="8862658" y="6640254"/>
                </a:lnTo>
                <a:lnTo>
                  <a:pt x="8822095" y="6662743"/>
                </a:lnTo>
                <a:lnTo>
                  <a:pt x="8778290" y="6679439"/>
                </a:lnTo>
                <a:lnTo>
                  <a:pt x="8731751" y="6689830"/>
                </a:lnTo>
                <a:lnTo>
                  <a:pt x="8682990" y="6693408"/>
                </a:lnTo>
                <a:lnTo>
                  <a:pt x="329920" y="6693408"/>
                </a:lnTo>
                <a:lnTo>
                  <a:pt x="281168" y="6689830"/>
                </a:lnTo>
                <a:lnTo>
                  <a:pt x="234636" y="6679439"/>
                </a:lnTo>
                <a:lnTo>
                  <a:pt x="190835" y="6662743"/>
                </a:lnTo>
                <a:lnTo>
                  <a:pt x="150276" y="6640254"/>
                </a:lnTo>
                <a:lnTo>
                  <a:pt x="113469" y="6612482"/>
                </a:lnTo>
                <a:lnTo>
                  <a:pt x="80925" y="6579938"/>
                </a:lnTo>
                <a:lnTo>
                  <a:pt x="53153" y="6543131"/>
                </a:lnTo>
                <a:lnTo>
                  <a:pt x="30664" y="6502572"/>
                </a:lnTo>
                <a:lnTo>
                  <a:pt x="13968" y="6458771"/>
                </a:lnTo>
                <a:lnTo>
                  <a:pt x="3577" y="6412239"/>
                </a:lnTo>
                <a:lnTo>
                  <a:pt x="0" y="6363487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7340" y="632586"/>
            <a:ext cx="5193030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5815" y="1205331"/>
            <a:ext cx="8554720" cy="47390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64540" y="6501753"/>
            <a:ext cx="1444625" cy="1866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1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12700">
              <a:lnSpc>
                <a:spcPts val="1225"/>
              </a:lnSpc>
            </a:pPr>
            <a:r>
              <a:rPr dirty="0"/>
              <a:t>Department of</a:t>
            </a:r>
            <a:r>
              <a:rPr spc="-30" dirty="0"/>
              <a:t> </a:t>
            </a:r>
            <a:r>
              <a:rPr spc="-5" dirty="0"/>
              <a:t>CSE,Coimbatore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jp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hyperlink" Target="http://raptor.martincarlisle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6858000"/>
                </a:moveTo>
                <a:lnTo>
                  <a:pt x="9144000" y="6858000"/>
                </a:lnTo>
                <a:lnTo>
                  <a:pt x="9144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5531" y="70103"/>
            <a:ext cx="9012936" cy="66903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5531" y="70103"/>
            <a:ext cx="9013190" cy="6690359"/>
          </a:xfrm>
          <a:custGeom>
            <a:avLst/>
            <a:gdLst/>
            <a:ahLst/>
            <a:cxnLst/>
            <a:rect l="l" t="t" r="r" b="b"/>
            <a:pathLst>
              <a:path w="9013190" h="6690359">
                <a:moveTo>
                  <a:pt x="0" y="329819"/>
                </a:moveTo>
                <a:lnTo>
                  <a:pt x="3575" y="281088"/>
                </a:lnTo>
                <a:lnTo>
                  <a:pt x="13961" y="234576"/>
                </a:lnTo>
                <a:lnTo>
                  <a:pt x="30648" y="190791"/>
                </a:lnTo>
                <a:lnTo>
                  <a:pt x="53126" y="150245"/>
                </a:lnTo>
                <a:lnTo>
                  <a:pt x="80884" y="113448"/>
                </a:lnTo>
                <a:lnTo>
                  <a:pt x="113414" y="80911"/>
                </a:lnTo>
                <a:lnTo>
                  <a:pt x="150203" y="53144"/>
                </a:lnTo>
                <a:lnTo>
                  <a:pt x="190744" y="30660"/>
                </a:lnTo>
                <a:lnTo>
                  <a:pt x="234525" y="13967"/>
                </a:lnTo>
                <a:lnTo>
                  <a:pt x="281036" y="3576"/>
                </a:lnTo>
                <a:lnTo>
                  <a:pt x="329768" y="0"/>
                </a:lnTo>
                <a:lnTo>
                  <a:pt x="8683117" y="0"/>
                </a:lnTo>
                <a:lnTo>
                  <a:pt x="8731847" y="3576"/>
                </a:lnTo>
                <a:lnTo>
                  <a:pt x="8778359" y="13967"/>
                </a:lnTo>
                <a:lnTo>
                  <a:pt x="8822144" y="30660"/>
                </a:lnTo>
                <a:lnTo>
                  <a:pt x="8862690" y="53144"/>
                </a:lnTo>
                <a:lnTo>
                  <a:pt x="8899487" y="80911"/>
                </a:lnTo>
                <a:lnTo>
                  <a:pt x="8932024" y="113448"/>
                </a:lnTo>
                <a:lnTo>
                  <a:pt x="8959791" y="150245"/>
                </a:lnTo>
                <a:lnTo>
                  <a:pt x="8982275" y="190791"/>
                </a:lnTo>
                <a:lnTo>
                  <a:pt x="8998968" y="234576"/>
                </a:lnTo>
                <a:lnTo>
                  <a:pt x="9009359" y="281088"/>
                </a:lnTo>
                <a:lnTo>
                  <a:pt x="9012936" y="329819"/>
                </a:lnTo>
                <a:lnTo>
                  <a:pt x="9012936" y="6360591"/>
                </a:lnTo>
                <a:lnTo>
                  <a:pt x="9009359" y="6409323"/>
                </a:lnTo>
                <a:lnTo>
                  <a:pt x="8998968" y="6455834"/>
                </a:lnTo>
                <a:lnTo>
                  <a:pt x="8982275" y="6499615"/>
                </a:lnTo>
                <a:lnTo>
                  <a:pt x="8959791" y="6540156"/>
                </a:lnTo>
                <a:lnTo>
                  <a:pt x="8932024" y="6576945"/>
                </a:lnTo>
                <a:lnTo>
                  <a:pt x="8899487" y="6609475"/>
                </a:lnTo>
                <a:lnTo>
                  <a:pt x="8862690" y="6637233"/>
                </a:lnTo>
                <a:lnTo>
                  <a:pt x="8822144" y="6659711"/>
                </a:lnTo>
                <a:lnTo>
                  <a:pt x="8778359" y="6676398"/>
                </a:lnTo>
                <a:lnTo>
                  <a:pt x="8731847" y="6686784"/>
                </a:lnTo>
                <a:lnTo>
                  <a:pt x="8683117" y="6690360"/>
                </a:lnTo>
                <a:lnTo>
                  <a:pt x="329768" y="6690360"/>
                </a:lnTo>
                <a:lnTo>
                  <a:pt x="281036" y="6686784"/>
                </a:lnTo>
                <a:lnTo>
                  <a:pt x="234525" y="6676398"/>
                </a:lnTo>
                <a:lnTo>
                  <a:pt x="190744" y="6659711"/>
                </a:lnTo>
                <a:lnTo>
                  <a:pt x="150203" y="6637233"/>
                </a:lnTo>
                <a:lnTo>
                  <a:pt x="113414" y="6609475"/>
                </a:lnTo>
                <a:lnTo>
                  <a:pt x="80884" y="6576945"/>
                </a:lnTo>
                <a:lnTo>
                  <a:pt x="53126" y="6540156"/>
                </a:lnTo>
                <a:lnTo>
                  <a:pt x="30648" y="6499615"/>
                </a:lnTo>
                <a:lnTo>
                  <a:pt x="13961" y="6455834"/>
                </a:lnTo>
                <a:lnTo>
                  <a:pt x="3575" y="6409323"/>
                </a:lnTo>
                <a:lnTo>
                  <a:pt x="0" y="6360591"/>
                </a:lnTo>
                <a:lnTo>
                  <a:pt x="0" y="329819"/>
                </a:lnTo>
                <a:close/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4007" y="1397508"/>
            <a:ext cx="9019540" cy="120650"/>
          </a:xfrm>
          <a:custGeom>
            <a:avLst/>
            <a:gdLst/>
            <a:ahLst/>
            <a:cxnLst/>
            <a:rect l="l" t="t" r="r" b="b"/>
            <a:pathLst>
              <a:path w="9019540" h="120650">
                <a:moveTo>
                  <a:pt x="0" y="120396"/>
                </a:moveTo>
                <a:lnTo>
                  <a:pt x="9019032" y="120396"/>
                </a:lnTo>
                <a:lnTo>
                  <a:pt x="9019032" y="0"/>
                </a:lnTo>
                <a:lnTo>
                  <a:pt x="0" y="0"/>
                </a:lnTo>
                <a:lnTo>
                  <a:pt x="0" y="120396"/>
                </a:lnTo>
                <a:close/>
              </a:path>
            </a:pathLst>
          </a:custGeom>
          <a:solidFill>
            <a:srgbClr val="E6B0A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4007" y="2976372"/>
            <a:ext cx="9019540" cy="111760"/>
          </a:xfrm>
          <a:custGeom>
            <a:avLst/>
            <a:gdLst/>
            <a:ahLst/>
            <a:cxnLst/>
            <a:rect l="l" t="t" r="r" b="b"/>
            <a:pathLst>
              <a:path w="9019540" h="111760">
                <a:moveTo>
                  <a:pt x="0" y="111251"/>
                </a:moveTo>
                <a:lnTo>
                  <a:pt x="9019032" y="111251"/>
                </a:lnTo>
                <a:lnTo>
                  <a:pt x="9019032" y="0"/>
                </a:lnTo>
                <a:lnTo>
                  <a:pt x="0" y="0"/>
                </a:lnTo>
                <a:lnTo>
                  <a:pt x="0" y="111251"/>
                </a:lnTo>
                <a:close/>
              </a:path>
            </a:pathLst>
          </a:custGeom>
          <a:solidFill>
            <a:srgbClr val="9184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4007" y="1517903"/>
            <a:ext cx="9019540" cy="1305486"/>
          </a:xfrm>
          <a:prstGeom prst="rect">
            <a:avLst/>
          </a:prstGeom>
          <a:solidFill>
            <a:srgbClr val="D24717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900"/>
              </a:lnSpc>
            </a:pPr>
            <a:endParaRPr sz="4400" dirty="0">
              <a:latin typeface="Perpetua"/>
              <a:cs typeface="Perpetua"/>
            </a:endParaRPr>
          </a:p>
          <a:p>
            <a:pPr algn="ctr">
              <a:lnSpc>
                <a:spcPct val="100000"/>
              </a:lnSpc>
            </a:pPr>
            <a:r>
              <a:rPr sz="4400" dirty="0">
                <a:latin typeface="Perpetua"/>
                <a:cs typeface="Perpetua"/>
              </a:rPr>
              <a:t>Simple</a:t>
            </a:r>
            <a:r>
              <a:rPr sz="4400" spc="-345" dirty="0">
                <a:latin typeface="Perpetua"/>
                <a:cs typeface="Perpetua"/>
              </a:rPr>
              <a:t> </a:t>
            </a:r>
            <a:r>
              <a:rPr sz="4400" spc="5" dirty="0">
                <a:latin typeface="Perpetua"/>
                <a:cs typeface="Perpetua"/>
              </a:rPr>
              <a:t>Algorithms</a:t>
            </a:r>
            <a:endParaRPr sz="4400" dirty="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740" y="1348181"/>
            <a:ext cx="22771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spc="-10" dirty="0">
                <a:latin typeface="Perpetua"/>
                <a:cs typeface="Perpetua"/>
              </a:rPr>
              <a:t>Object</a:t>
            </a:r>
            <a:r>
              <a:rPr b="1" spc="-70" dirty="0">
                <a:latin typeface="Perpetua"/>
                <a:cs typeface="Perpetua"/>
              </a:rPr>
              <a:t>i</a:t>
            </a:r>
            <a:r>
              <a:rPr b="1" spc="-85" dirty="0">
                <a:latin typeface="Perpetua"/>
                <a:cs typeface="Perpetua"/>
              </a:rPr>
              <a:t>v</a:t>
            </a:r>
            <a:r>
              <a:rPr b="1" spc="-10" dirty="0">
                <a:latin typeface="Perpetua"/>
                <a:cs typeface="Perpetua"/>
              </a:rPr>
              <a:t>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64404" y="3217545"/>
            <a:ext cx="3615054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292225" algn="l"/>
                <a:tab pos="1758950" algn="l"/>
                <a:tab pos="2373630" algn="l"/>
                <a:tab pos="3365500" algn="l"/>
              </a:tabLst>
            </a:pPr>
            <a:r>
              <a:rPr sz="2600" dirty="0">
                <a:latin typeface="Perpetua"/>
                <a:cs typeface="Perpetua"/>
              </a:rPr>
              <a:t>c</a:t>
            </a:r>
            <a:r>
              <a:rPr sz="2600" spc="-10" dirty="0">
                <a:latin typeface="Perpetua"/>
                <a:cs typeface="Perpetua"/>
              </a:rPr>
              <a:t>o</a:t>
            </a:r>
            <a:r>
              <a:rPr sz="2600" dirty="0">
                <a:latin typeface="Perpetua"/>
                <a:cs typeface="Perpetua"/>
              </a:rPr>
              <a:t>ncep</a:t>
            </a:r>
            <a:r>
              <a:rPr sz="2600" spc="-15" dirty="0">
                <a:latin typeface="Perpetua"/>
                <a:cs typeface="Perpetua"/>
              </a:rPr>
              <a:t>t</a:t>
            </a:r>
            <a:r>
              <a:rPr sz="2600" dirty="0">
                <a:latin typeface="Perpetua"/>
                <a:cs typeface="Perpetua"/>
              </a:rPr>
              <a:t>s	in	the	design	</a:t>
            </a:r>
            <a:r>
              <a:rPr sz="2600" spc="-5" dirty="0">
                <a:latin typeface="Perpetua"/>
                <a:cs typeface="Perpetua"/>
              </a:rPr>
              <a:t>of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4540" y="2272411"/>
            <a:ext cx="3858260" cy="1764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 indent="-274955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7020" algn="l"/>
                <a:tab pos="287655" algn="l"/>
              </a:tabLst>
            </a:pPr>
            <a:r>
              <a:rPr sz="2600" spc="-170" dirty="0">
                <a:latin typeface="Perpetua"/>
                <a:cs typeface="Perpetua"/>
              </a:rPr>
              <a:t>To  </a:t>
            </a:r>
            <a:r>
              <a:rPr sz="2600" spc="10" dirty="0">
                <a:latin typeface="Perpetua"/>
                <a:cs typeface="Perpetua"/>
              </a:rPr>
              <a:t>learn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dirty="0">
                <a:latin typeface="Perpetua"/>
                <a:cs typeface="Perpetua"/>
              </a:rPr>
              <a:t>design</a:t>
            </a:r>
            <a:r>
              <a:rPr sz="2600" spc="-30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algorithms.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3750">
              <a:latin typeface="Times New Roman"/>
              <a:cs typeface="Times New Roman"/>
            </a:endParaRPr>
          </a:p>
          <a:p>
            <a:pPr marL="287020" marR="74930" indent="-274955">
              <a:lnSpc>
                <a:spcPct val="100000"/>
              </a:lnSpc>
              <a:buSzPct val="84615"/>
              <a:buFont typeface="Arial"/>
              <a:buChar char="•"/>
              <a:tabLst>
                <a:tab pos="287020" algn="l"/>
                <a:tab pos="287655" algn="l"/>
                <a:tab pos="820419" algn="l"/>
                <a:tab pos="1692275" algn="l"/>
                <a:tab pos="2938780" algn="l"/>
              </a:tabLst>
            </a:pPr>
            <a:r>
              <a:rPr sz="2600" spc="-340" dirty="0">
                <a:latin typeface="Perpetua"/>
                <a:cs typeface="Perpetua"/>
              </a:rPr>
              <a:t>T</a:t>
            </a:r>
            <a:r>
              <a:rPr sz="2600" dirty="0">
                <a:latin typeface="Perpetua"/>
                <a:cs typeface="Perpetua"/>
              </a:rPr>
              <a:t>o	</a:t>
            </a:r>
            <a:r>
              <a:rPr sz="2600" spc="-5" dirty="0">
                <a:latin typeface="Perpetua"/>
                <a:cs typeface="Perpetua"/>
              </a:rPr>
              <a:t>ap</a:t>
            </a:r>
            <a:r>
              <a:rPr sz="2600" spc="-15" dirty="0">
                <a:latin typeface="Perpetua"/>
                <a:cs typeface="Perpetua"/>
              </a:rPr>
              <a:t>p</a:t>
            </a:r>
            <a:r>
              <a:rPr sz="2600" spc="-55" dirty="0">
                <a:latin typeface="Perpetua"/>
                <a:cs typeface="Perpetua"/>
              </a:rPr>
              <a:t>l</a:t>
            </a:r>
            <a:r>
              <a:rPr sz="2600" dirty="0">
                <a:latin typeface="Perpetua"/>
                <a:cs typeface="Perpetua"/>
              </a:rPr>
              <a:t>y	p</a:t>
            </a:r>
            <a:r>
              <a:rPr sz="2600" spc="-25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o</a:t>
            </a:r>
            <a:r>
              <a:rPr sz="2600" spc="-45" dirty="0">
                <a:latin typeface="Perpetua"/>
                <a:cs typeface="Perpetua"/>
              </a:rPr>
              <a:t>b</a:t>
            </a:r>
            <a:r>
              <a:rPr sz="2600" spc="-5" dirty="0">
                <a:latin typeface="Perpetua"/>
                <a:cs typeface="Perpetua"/>
              </a:rPr>
              <a:t>le</a:t>
            </a:r>
            <a:r>
              <a:rPr sz="2600" dirty="0">
                <a:latin typeface="Perpetua"/>
                <a:cs typeface="Perpetua"/>
              </a:rPr>
              <a:t>m	so</a:t>
            </a:r>
            <a:r>
              <a:rPr sz="2600" spc="-20" dirty="0">
                <a:latin typeface="Perpetua"/>
                <a:cs typeface="Perpetua"/>
              </a:rPr>
              <a:t>l</a:t>
            </a:r>
            <a:r>
              <a:rPr sz="2600" dirty="0">
                <a:latin typeface="Perpetua"/>
                <a:cs typeface="Perpetua"/>
              </a:rPr>
              <a:t>ving  </a:t>
            </a:r>
            <a:r>
              <a:rPr sz="2600" spc="-5" dirty="0">
                <a:latin typeface="Perpetua"/>
                <a:cs typeface="Perpetua"/>
              </a:rPr>
              <a:t>algorithms.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876800" y="3886200"/>
            <a:ext cx="3112007" cy="2438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28600" y="304800"/>
            <a:ext cx="1426768" cy="10479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8520" y="1585721"/>
            <a:ext cx="2290445" cy="1355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5115" algn="l"/>
                <a:tab pos="285750" algn="l"/>
              </a:tabLst>
            </a:pPr>
            <a:r>
              <a:rPr sz="2600" spc="-5" dirty="0">
                <a:latin typeface="Perpetua"/>
                <a:cs typeface="Perpetua"/>
              </a:rPr>
              <a:t>Ability</a:t>
            </a:r>
            <a:r>
              <a:rPr sz="260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to</a:t>
            </a:r>
            <a:endParaRPr sz="2600">
              <a:latin typeface="Perpetua"/>
              <a:cs typeface="Perpetua"/>
            </a:endParaRPr>
          </a:p>
          <a:p>
            <a:pPr marL="876300" lvl="1" indent="-325120">
              <a:lnSpc>
                <a:spcPct val="100000"/>
              </a:lnSpc>
              <a:buSzPct val="75000"/>
              <a:buFont typeface="Arial"/>
              <a:buChar char="•"/>
              <a:tabLst>
                <a:tab pos="876300" algn="l"/>
                <a:tab pos="876935" algn="l"/>
              </a:tabLst>
            </a:pPr>
            <a:r>
              <a:rPr sz="2600" dirty="0">
                <a:latin typeface="Perpetua"/>
                <a:cs typeface="Perpetua"/>
              </a:rPr>
              <a:t>Understand</a:t>
            </a:r>
            <a:endParaRPr sz="2600">
              <a:latin typeface="Perpetua"/>
              <a:cs typeface="Perpetua"/>
            </a:endParaRPr>
          </a:p>
          <a:p>
            <a:pPr marL="876300" lvl="1" indent="-325120">
              <a:lnSpc>
                <a:spcPct val="100000"/>
              </a:lnSpc>
              <a:spcBef>
                <a:spcPts val="1105"/>
              </a:spcBef>
              <a:buSzPct val="75000"/>
              <a:buFont typeface="Arial"/>
              <a:buChar char="•"/>
              <a:tabLst>
                <a:tab pos="876300" algn="l"/>
                <a:tab pos="876935" algn="l"/>
              </a:tabLst>
            </a:pPr>
            <a:r>
              <a:rPr sz="2600" spc="-10" dirty="0">
                <a:latin typeface="Perpetua"/>
                <a:cs typeface="Perpetua"/>
              </a:rPr>
              <a:t>Execute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8016" y="3053588"/>
            <a:ext cx="1847214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7185" indent="-325120">
              <a:lnSpc>
                <a:spcPct val="100000"/>
              </a:lnSpc>
              <a:spcBef>
                <a:spcPts val="105"/>
              </a:spcBef>
              <a:buSzPct val="75000"/>
              <a:buFont typeface="Arial"/>
              <a:buChar char="•"/>
              <a:tabLst>
                <a:tab pos="337185" algn="l"/>
                <a:tab pos="337820" algn="l"/>
              </a:tabLst>
            </a:pPr>
            <a:r>
              <a:rPr sz="2600" spc="-10" dirty="0">
                <a:latin typeface="Perpetua"/>
                <a:cs typeface="Perpetua"/>
              </a:rPr>
              <a:t>Evaluate</a:t>
            </a:r>
            <a:r>
              <a:rPr sz="2600" spc="-8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and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8016" y="3590290"/>
            <a:ext cx="248666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7185" indent="-325120">
              <a:lnSpc>
                <a:spcPct val="100000"/>
              </a:lnSpc>
              <a:spcBef>
                <a:spcPts val="105"/>
              </a:spcBef>
              <a:buSzPct val="75000"/>
              <a:buFont typeface="Arial"/>
              <a:buChar char="•"/>
              <a:tabLst>
                <a:tab pos="337185" algn="l"/>
                <a:tab pos="337820" algn="l"/>
              </a:tabLst>
            </a:pPr>
            <a:r>
              <a:rPr sz="2600" spc="-10" dirty="0">
                <a:latin typeface="Perpetua"/>
                <a:cs typeface="Perpetua"/>
              </a:rPr>
              <a:t>Create</a:t>
            </a:r>
            <a:r>
              <a:rPr sz="2600" spc="-6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algorithms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32175" y="3110864"/>
            <a:ext cx="523748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73050" indent="-260985">
              <a:lnSpc>
                <a:spcPct val="100000"/>
              </a:lnSpc>
              <a:spcBef>
                <a:spcPts val="105"/>
              </a:spcBef>
              <a:buSzPct val="96153"/>
              <a:buFont typeface="Wingdings"/>
              <a:buChar char=""/>
              <a:tabLst>
                <a:tab pos="273685" algn="l"/>
              </a:tabLst>
            </a:pPr>
            <a:r>
              <a:rPr sz="2600" i="1" dirty="0">
                <a:latin typeface="Perpetua"/>
                <a:cs typeface="Perpetua"/>
              </a:rPr>
              <a:t>Let us </a:t>
            </a:r>
            <a:r>
              <a:rPr sz="2600" i="1" spc="-5" dirty="0">
                <a:latin typeface="Perpetua"/>
                <a:cs typeface="Perpetua"/>
              </a:rPr>
              <a:t>design algorithms </a:t>
            </a:r>
            <a:r>
              <a:rPr sz="2600" i="1" spc="-15" dirty="0">
                <a:latin typeface="Perpetua"/>
                <a:cs typeface="Perpetua"/>
              </a:rPr>
              <a:t>for </a:t>
            </a:r>
            <a:r>
              <a:rPr sz="2600" i="1" spc="-5" dirty="0">
                <a:latin typeface="Perpetua"/>
                <a:cs typeface="Perpetua"/>
              </a:rPr>
              <a:t>the </a:t>
            </a:r>
            <a:r>
              <a:rPr sz="2600" i="1" spc="-10" dirty="0">
                <a:latin typeface="Perpetua"/>
                <a:cs typeface="Perpetua"/>
              </a:rPr>
              <a:t>following</a:t>
            </a:r>
            <a:r>
              <a:rPr sz="2600" i="1" spc="30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tasks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89375" y="3507104"/>
            <a:ext cx="4426585" cy="2800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73050" indent="-260985">
              <a:lnSpc>
                <a:spcPct val="100000"/>
              </a:lnSpc>
              <a:spcBef>
                <a:spcPts val="105"/>
              </a:spcBef>
              <a:buSzPct val="96153"/>
              <a:buFont typeface="Wingdings"/>
              <a:buChar char=""/>
              <a:tabLst>
                <a:tab pos="273685" algn="l"/>
              </a:tabLst>
            </a:pPr>
            <a:r>
              <a:rPr sz="2600" i="1" dirty="0">
                <a:latin typeface="Perpetua"/>
                <a:cs typeface="Perpetua"/>
              </a:rPr>
              <a:t>Finding </a:t>
            </a:r>
            <a:r>
              <a:rPr sz="2600" i="1" spc="-5" dirty="0">
                <a:latin typeface="Perpetua"/>
                <a:cs typeface="Perpetua"/>
              </a:rPr>
              <a:t>the factorial of </a:t>
            </a:r>
            <a:r>
              <a:rPr sz="2600" i="1" dirty="0">
                <a:latin typeface="Perpetua"/>
                <a:cs typeface="Perpetua"/>
              </a:rPr>
              <a:t>a </a:t>
            </a:r>
            <a:r>
              <a:rPr sz="2600" i="1" spc="-10" dirty="0">
                <a:latin typeface="Perpetua"/>
                <a:cs typeface="Perpetua"/>
              </a:rPr>
              <a:t>given</a:t>
            </a:r>
            <a:r>
              <a:rPr sz="2600" i="1" spc="-25" dirty="0">
                <a:latin typeface="Perpetua"/>
                <a:cs typeface="Perpetua"/>
              </a:rPr>
              <a:t> </a:t>
            </a:r>
            <a:r>
              <a:rPr sz="2600" i="1" spc="-15" dirty="0">
                <a:latin typeface="Perpetua"/>
                <a:cs typeface="Perpetua"/>
              </a:rPr>
              <a:t>value</a:t>
            </a:r>
            <a:endParaRPr sz="2600">
              <a:latin typeface="Perpetua"/>
              <a:cs typeface="Perpetua"/>
            </a:endParaRPr>
          </a:p>
          <a:p>
            <a:pPr marL="273050" indent="-260985">
              <a:lnSpc>
                <a:spcPct val="100000"/>
              </a:lnSpc>
              <a:buSzPct val="96153"/>
              <a:buFont typeface="Wingdings"/>
              <a:buChar char=""/>
              <a:tabLst>
                <a:tab pos="273685" algn="l"/>
              </a:tabLst>
            </a:pPr>
            <a:r>
              <a:rPr sz="2600" i="1" spc="-5" dirty="0">
                <a:latin typeface="Perpetua"/>
                <a:cs typeface="Perpetua"/>
              </a:rPr>
              <a:t>Fibonacci sequence</a:t>
            </a:r>
            <a:r>
              <a:rPr sz="2600" i="1" spc="25" dirty="0">
                <a:latin typeface="Perpetua"/>
                <a:cs typeface="Perpetua"/>
              </a:rPr>
              <a:t> </a:t>
            </a:r>
            <a:r>
              <a:rPr sz="2600" i="1" spc="-15" dirty="0">
                <a:latin typeface="Perpetua"/>
                <a:cs typeface="Perpetua"/>
              </a:rPr>
              <a:t>generation</a:t>
            </a:r>
            <a:endParaRPr sz="2600">
              <a:latin typeface="Perpetua"/>
              <a:cs typeface="Perpetua"/>
            </a:endParaRPr>
          </a:p>
          <a:p>
            <a:pPr marL="273050" indent="-260985">
              <a:lnSpc>
                <a:spcPct val="100000"/>
              </a:lnSpc>
              <a:buSzPct val="96153"/>
              <a:buFont typeface="Wingdings"/>
              <a:buChar char=""/>
              <a:tabLst>
                <a:tab pos="273685" algn="l"/>
              </a:tabLst>
            </a:pPr>
            <a:r>
              <a:rPr sz="2600" i="1" spc="-5" dirty="0">
                <a:latin typeface="Perpetua"/>
                <a:cs typeface="Perpetua"/>
              </a:rPr>
              <a:t>Reversing </a:t>
            </a:r>
            <a:r>
              <a:rPr sz="2600" i="1" dirty="0">
                <a:latin typeface="Perpetua"/>
                <a:cs typeface="Perpetua"/>
              </a:rPr>
              <a:t>a </a:t>
            </a:r>
            <a:r>
              <a:rPr sz="2600" i="1" spc="-10" dirty="0">
                <a:latin typeface="Perpetua"/>
                <a:cs typeface="Perpetua"/>
              </a:rPr>
              <a:t>positive integer</a:t>
            </a:r>
            <a:r>
              <a:rPr sz="2600" i="1" spc="-30" dirty="0">
                <a:latin typeface="Perpetua"/>
                <a:cs typeface="Perpetua"/>
              </a:rPr>
              <a:t> </a:t>
            </a:r>
            <a:r>
              <a:rPr sz="2600" i="1" dirty="0">
                <a:latin typeface="Perpetua"/>
                <a:cs typeface="Perpetua"/>
              </a:rPr>
              <a:t>digits</a:t>
            </a:r>
            <a:endParaRPr sz="2600">
              <a:latin typeface="Perpetua"/>
              <a:cs typeface="Perpetua"/>
            </a:endParaRPr>
          </a:p>
          <a:p>
            <a:pPr marL="346075" indent="-334010">
              <a:lnSpc>
                <a:spcPct val="100000"/>
              </a:lnSpc>
              <a:buSzPct val="96153"/>
              <a:buFont typeface="Wingdings"/>
              <a:buChar char=""/>
              <a:tabLst>
                <a:tab pos="346710" algn="l"/>
              </a:tabLst>
            </a:pPr>
            <a:r>
              <a:rPr sz="2600" i="1" spc="-5" dirty="0">
                <a:latin typeface="Perpetua"/>
                <a:cs typeface="Perpetua"/>
              </a:rPr>
              <a:t>Denomination</a:t>
            </a:r>
            <a:r>
              <a:rPr sz="2600" i="1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calculation</a:t>
            </a:r>
            <a:endParaRPr sz="2600">
              <a:latin typeface="Perpetua"/>
              <a:cs typeface="Perpetua"/>
            </a:endParaRPr>
          </a:p>
          <a:p>
            <a:pPr marL="273050" indent="-260985">
              <a:lnSpc>
                <a:spcPct val="100000"/>
              </a:lnSpc>
              <a:buSzPct val="96153"/>
              <a:buFont typeface="Wingdings"/>
              <a:buChar char=""/>
              <a:tabLst>
                <a:tab pos="273685" algn="l"/>
              </a:tabLst>
            </a:pPr>
            <a:r>
              <a:rPr sz="2600" i="1" dirty="0">
                <a:latin typeface="Perpetua"/>
                <a:cs typeface="Perpetua"/>
              </a:rPr>
              <a:t>Finding </a:t>
            </a:r>
            <a:r>
              <a:rPr sz="2600" i="1" spc="-5" dirty="0">
                <a:latin typeface="Perpetua"/>
                <a:cs typeface="Perpetua"/>
              </a:rPr>
              <a:t>maximum element in </a:t>
            </a:r>
            <a:r>
              <a:rPr sz="2600" i="1" dirty="0">
                <a:latin typeface="Perpetua"/>
                <a:cs typeface="Perpetua"/>
              </a:rPr>
              <a:t>an</a:t>
            </a:r>
            <a:r>
              <a:rPr sz="2600" i="1" spc="-40" dirty="0">
                <a:latin typeface="Perpetua"/>
                <a:cs typeface="Perpetua"/>
              </a:rPr>
              <a:t> </a:t>
            </a:r>
            <a:r>
              <a:rPr sz="2600" i="1" spc="-20" dirty="0">
                <a:latin typeface="Perpetua"/>
                <a:cs typeface="Perpetua"/>
              </a:rPr>
              <a:t>array</a:t>
            </a:r>
            <a:endParaRPr sz="2600">
              <a:latin typeface="Perpetua"/>
              <a:cs typeface="Perpetua"/>
            </a:endParaRPr>
          </a:p>
          <a:p>
            <a:pPr marL="346075" indent="-334010">
              <a:lnSpc>
                <a:spcPct val="100000"/>
              </a:lnSpc>
              <a:buSzPct val="96153"/>
              <a:buFont typeface="Wingdings"/>
              <a:buChar char=""/>
              <a:tabLst>
                <a:tab pos="346710" algn="l"/>
              </a:tabLst>
            </a:pPr>
            <a:r>
              <a:rPr sz="2600" i="1" spc="-5" dirty="0">
                <a:latin typeface="Perpetua"/>
                <a:cs typeface="Perpetua"/>
              </a:rPr>
              <a:t>Finding duplicates in </a:t>
            </a:r>
            <a:r>
              <a:rPr sz="2600" i="1" dirty="0">
                <a:latin typeface="Perpetua"/>
                <a:cs typeface="Perpetua"/>
              </a:rPr>
              <a:t>an </a:t>
            </a:r>
            <a:r>
              <a:rPr sz="2600" i="1" spc="-5" dirty="0">
                <a:latin typeface="Perpetua"/>
                <a:cs typeface="Perpetua"/>
              </a:rPr>
              <a:t>ordered</a:t>
            </a:r>
            <a:r>
              <a:rPr sz="2600" i="1" spc="-35" dirty="0">
                <a:latin typeface="Perpetua"/>
                <a:cs typeface="Perpetua"/>
              </a:rPr>
              <a:t> </a:t>
            </a:r>
            <a:r>
              <a:rPr sz="2600" i="1" spc="-20" dirty="0">
                <a:latin typeface="Perpetua"/>
                <a:cs typeface="Perpetua"/>
              </a:rPr>
              <a:t>array</a:t>
            </a:r>
            <a:endParaRPr sz="2600">
              <a:latin typeface="Perpetua"/>
              <a:cs typeface="Perpetua"/>
            </a:endParaRPr>
          </a:p>
          <a:p>
            <a:pPr marL="346075" indent="-334010">
              <a:lnSpc>
                <a:spcPct val="100000"/>
              </a:lnSpc>
              <a:buSzPct val="96153"/>
              <a:buFont typeface="Wingdings"/>
              <a:buChar char=""/>
              <a:tabLst>
                <a:tab pos="346710" algn="l"/>
              </a:tabLst>
            </a:pPr>
            <a:r>
              <a:rPr sz="2600" i="1" spc="-5" dirty="0">
                <a:latin typeface="Perpetua"/>
                <a:cs typeface="Perpetua"/>
              </a:rPr>
              <a:t>Puzzle</a:t>
            </a:r>
            <a:r>
              <a:rPr sz="2600" i="1" spc="-10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solving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38569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5" dirty="0"/>
              <a:t>Algorithmic</a:t>
            </a:r>
            <a:r>
              <a:rPr spc="-80" dirty="0"/>
              <a:t> </a:t>
            </a:r>
            <a:r>
              <a:rPr spc="-5" dirty="0"/>
              <a:t>thinking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8520" y="1368086"/>
            <a:ext cx="4411345" cy="333438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700"/>
              </a:spcBef>
              <a:buSzPct val="84615"/>
              <a:buFont typeface="Wingdings 2"/>
              <a:buChar char=""/>
              <a:tabLst>
                <a:tab pos="285750" algn="l"/>
              </a:tabLst>
            </a:pPr>
            <a:r>
              <a:rPr sz="2600" spc="-5" dirty="0">
                <a:latin typeface="Perpetua"/>
                <a:cs typeface="Perpetua"/>
              </a:rPr>
              <a:t>0! </a:t>
            </a:r>
            <a:r>
              <a:rPr sz="2600" dirty="0">
                <a:latin typeface="Perpetua"/>
                <a:cs typeface="Perpetua"/>
              </a:rPr>
              <a:t>=</a:t>
            </a:r>
            <a:r>
              <a:rPr sz="2600" spc="-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1</a:t>
            </a:r>
            <a:endParaRPr sz="2600">
              <a:latin typeface="Perpetua"/>
              <a:cs typeface="Perpetua"/>
            </a:endParaRPr>
          </a:p>
          <a:p>
            <a:pPr marL="285115" indent="-273050">
              <a:lnSpc>
                <a:spcPct val="100000"/>
              </a:lnSpc>
              <a:spcBef>
                <a:spcPts val="605"/>
              </a:spcBef>
              <a:buSzPct val="84615"/>
              <a:buFont typeface="Wingdings 2"/>
              <a:buChar char=""/>
              <a:tabLst>
                <a:tab pos="285750" algn="l"/>
              </a:tabLst>
            </a:pPr>
            <a:r>
              <a:rPr sz="2600" spc="-5" dirty="0">
                <a:latin typeface="Perpetua"/>
                <a:cs typeface="Perpetua"/>
              </a:rPr>
              <a:t>1! </a:t>
            </a:r>
            <a:r>
              <a:rPr sz="2600" dirty="0">
                <a:latin typeface="Perpetua"/>
                <a:cs typeface="Perpetua"/>
              </a:rPr>
              <a:t>= 1 = </a:t>
            </a:r>
            <a:r>
              <a:rPr sz="2600" b="1" spc="-5" dirty="0">
                <a:latin typeface="Perpetua"/>
                <a:cs typeface="Perpetua"/>
              </a:rPr>
              <a:t>0! </a:t>
            </a:r>
            <a:r>
              <a:rPr sz="2600" b="1" dirty="0">
                <a:latin typeface="Perpetua"/>
                <a:cs typeface="Perpetua"/>
              </a:rPr>
              <a:t>x</a:t>
            </a:r>
            <a:r>
              <a:rPr sz="2600" b="1" spc="-5" dirty="0">
                <a:latin typeface="Perpetua"/>
                <a:cs typeface="Perpetua"/>
              </a:rPr>
              <a:t> </a:t>
            </a:r>
            <a:r>
              <a:rPr sz="2600" b="1" dirty="0">
                <a:latin typeface="Perpetua"/>
                <a:cs typeface="Perpetua"/>
              </a:rPr>
              <a:t>1</a:t>
            </a:r>
            <a:endParaRPr sz="2600">
              <a:latin typeface="Perpetua"/>
              <a:cs typeface="Perpetu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SzPct val="84615"/>
              <a:buFont typeface="Wingdings 2"/>
              <a:buChar char=""/>
              <a:tabLst>
                <a:tab pos="285750" algn="l"/>
              </a:tabLst>
            </a:pPr>
            <a:r>
              <a:rPr sz="2600" spc="-5" dirty="0">
                <a:latin typeface="Perpetua"/>
                <a:cs typeface="Perpetua"/>
              </a:rPr>
              <a:t>2! </a:t>
            </a:r>
            <a:r>
              <a:rPr sz="2600" dirty="0">
                <a:latin typeface="Perpetua"/>
                <a:cs typeface="Perpetua"/>
              </a:rPr>
              <a:t>= 1 x 2 = </a:t>
            </a:r>
            <a:r>
              <a:rPr sz="2600" b="1" spc="-5" dirty="0">
                <a:latin typeface="Perpetua"/>
                <a:cs typeface="Perpetua"/>
              </a:rPr>
              <a:t>1! </a:t>
            </a:r>
            <a:r>
              <a:rPr sz="2600" b="1" dirty="0">
                <a:latin typeface="Perpetua"/>
                <a:cs typeface="Perpetua"/>
              </a:rPr>
              <a:t>x</a:t>
            </a:r>
            <a:r>
              <a:rPr sz="2600" b="1" spc="-20" dirty="0">
                <a:latin typeface="Perpetua"/>
                <a:cs typeface="Perpetua"/>
              </a:rPr>
              <a:t> </a:t>
            </a:r>
            <a:r>
              <a:rPr sz="2600" b="1" dirty="0">
                <a:latin typeface="Perpetua"/>
                <a:cs typeface="Perpetua"/>
              </a:rPr>
              <a:t>2</a:t>
            </a:r>
            <a:endParaRPr sz="2600">
              <a:latin typeface="Perpetua"/>
              <a:cs typeface="Perpetu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SzPct val="84615"/>
              <a:buFont typeface="Wingdings 2"/>
              <a:buChar char=""/>
              <a:tabLst>
                <a:tab pos="285750" algn="l"/>
              </a:tabLst>
            </a:pPr>
            <a:r>
              <a:rPr sz="2600" spc="-5" dirty="0">
                <a:latin typeface="Perpetua"/>
                <a:cs typeface="Perpetua"/>
              </a:rPr>
              <a:t>3! </a:t>
            </a:r>
            <a:r>
              <a:rPr sz="2600" dirty="0">
                <a:latin typeface="Perpetua"/>
                <a:cs typeface="Perpetua"/>
              </a:rPr>
              <a:t>= 1 x 2 x 3 = </a:t>
            </a:r>
            <a:r>
              <a:rPr sz="2600" b="1" spc="-5" dirty="0">
                <a:latin typeface="Perpetua"/>
                <a:cs typeface="Perpetua"/>
              </a:rPr>
              <a:t>2! </a:t>
            </a:r>
            <a:r>
              <a:rPr sz="2600" b="1" dirty="0">
                <a:latin typeface="Perpetua"/>
                <a:cs typeface="Perpetua"/>
              </a:rPr>
              <a:t>x</a:t>
            </a:r>
            <a:r>
              <a:rPr sz="2600" b="1" spc="-45" dirty="0">
                <a:latin typeface="Perpetua"/>
                <a:cs typeface="Perpetua"/>
              </a:rPr>
              <a:t> </a:t>
            </a:r>
            <a:r>
              <a:rPr sz="2600" b="1" dirty="0">
                <a:latin typeface="Perpetua"/>
                <a:cs typeface="Perpetua"/>
              </a:rPr>
              <a:t>3</a:t>
            </a:r>
            <a:endParaRPr sz="2600">
              <a:latin typeface="Perpetua"/>
              <a:cs typeface="Perpetu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SzPct val="84615"/>
              <a:buFont typeface="Wingdings 2"/>
              <a:buChar char=""/>
              <a:tabLst>
                <a:tab pos="285750" algn="l"/>
              </a:tabLst>
            </a:pPr>
            <a:r>
              <a:rPr sz="2600" spc="-5" dirty="0">
                <a:latin typeface="Perpetua"/>
                <a:cs typeface="Perpetua"/>
              </a:rPr>
              <a:t>4! </a:t>
            </a:r>
            <a:r>
              <a:rPr sz="2600" dirty="0">
                <a:latin typeface="Perpetua"/>
                <a:cs typeface="Perpetua"/>
              </a:rPr>
              <a:t>= 1 x 2 x 3 x 4 = </a:t>
            </a:r>
            <a:r>
              <a:rPr sz="2600" b="1" spc="-5" dirty="0">
                <a:latin typeface="Perpetua"/>
                <a:cs typeface="Perpetua"/>
              </a:rPr>
              <a:t>3! </a:t>
            </a:r>
            <a:r>
              <a:rPr sz="2600" b="1" dirty="0">
                <a:latin typeface="Perpetua"/>
                <a:cs typeface="Perpetua"/>
              </a:rPr>
              <a:t>x</a:t>
            </a:r>
            <a:r>
              <a:rPr sz="2600" b="1" spc="-65" dirty="0">
                <a:latin typeface="Perpetua"/>
                <a:cs typeface="Perpetua"/>
              </a:rPr>
              <a:t> </a:t>
            </a:r>
            <a:r>
              <a:rPr sz="2600" b="1" dirty="0">
                <a:latin typeface="Perpetua"/>
                <a:cs typeface="Perpetua"/>
              </a:rPr>
              <a:t>4</a:t>
            </a:r>
            <a:endParaRPr sz="2600">
              <a:latin typeface="Perpetua"/>
              <a:cs typeface="Perpetu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SzPct val="84615"/>
              <a:buFont typeface="Wingdings 2"/>
              <a:buChar char=""/>
              <a:tabLst>
                <a:tab pos="285750" algn="l"/>
              </a:tabLst>
            </a:pPr>
            <a:r>
              <a:rPr sz="2600" spc="-5" dirty="0">
                <a:latin typeface="Perpetua"/>
                <a:cs typeface="Perpetua"/>
              </a:rPr>
              <a:t>5! </a:t>
            </a:r>
            <a:r>
              <a:rPr sz="2600" dirty="0">
                <a:latin typeface="Perpetua"/>
                <a:cs typeface="Perpetua"/>
              </a:rPr>
              <a:t>= 1 x 2 x 3 x 4 x 5 = </a:t>
            </a:r>
            <a:r>
              <a:rPr sz="2600" b="1" spc="-5" dirty="0">
                <a:latin typeface="Perpetua"/>
                <a:cs typeface="Perpetua"/>
              </a:rPr>
              <a:t>4! </a:t>
            </a:r>
            <a:r>
              <a:rPr sz="2600" b="1" dirty="0">
                <a:latin typeface="Perpetua"/>
                <a:cs typeface="Perpetua"/>
              </a:rPr>
              <a:t>x</a:t>
            </a:r>
            <a:r>
              <a:rPr sz="2600" b="1" spc="-80" dirty="0">
                <a:latin typeface="Perpetua"/>
                <a:cs typeface="Perpetua"/>
              </a:rPr>
              <a:t> </a:t>
            </a:r>
            <a:r>
              <a:rPr sz="2600" b="1" dirty="0">
                <a:latin typeface="Perpetua"/>
                <a:cs typeface="Perpetua"/>
              </a:rPr>
              <a:t>5</a:t>
            </a:r>
            <a:endParaRPr sz="2600">
              <a:latin typeface="Perpetua"/>
              <a:cs typeface="Perpetua"/>
            </a:endParaRPr>
          </a:p>
          <a:p>
            <a:pPr marL="285115" indent="-273050">
              <a:lnSpc>
                <a:spcPct val="100000"/>
              </a:lnSpc>
              <a:spcBef>
                <a:spcPts val="605"/>
              </a:spcBef>
              <a:buSzPct val="84615"/>
              <a:buFont typeface="Wingdings 2"/>
              <a:buChar char=""/>
              <a:tabLst>
                <a:tab pos="285750" algn="l"/>
              </a:tabLst>
            </a:pPr>
            <a:r>
              <a:rPr sz="2600" spc="-5" dirty="0">
                <a:latin typeface="Perpetua"/>
                <a:cs typeface="Perpetua"/>
              </a:rPr>
              <a:t>6! </a:t>
            </a:r>
            <a:r>
              <a:rPr sz="2600" dirty="0">
                <a:latin typeface="Perpetua"/>
                <a:cs typeface="Perpetua"/>
              </a:rPr>
              <a:t>= 1 x 2 x 3 x 4 x 5 x 6 = </a:t>
            </a:r>
            <a:r>
              <a:rPr sz="2600" b="1" spc="-5" dirty="0">
                <a:latin typeface="Perpetua"/>
                <a:cs typeface="Perpetua"/>
              </a:rPr>
              <a:t>5! </a:t>
            </a:r>
            <a:r>
              <a:rPr sz="2600" b="1" dirty="0">
                <a:latin typeface="Perpetua"/>
                <a:cs typeface="Perpetua"/>
              </a:rPr>
              <a:t>x</a:t>
            </a:r>
            <a:r>
              <a:rPr sz="2600" b="1" spc="-100" dirty="0">
                <a:latin typeface="Perpetua"/>
                <a:cs typeface="Perpetua"/>
              </a:rPr>
              <a:t> </a:t>
            </a:r>
            <a:r>
              <a:rPr sz="2600" b="1" dirty="0">
                <a:latin typeface="Perpetua"/>
                <a:cs typeface="Perpetua"/>
              </a:rPr>
              <a:t>6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69794" y="5194553"/>
            <a:ext cx="5418455" cy="1132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6710" indent="-334645">
              <a:lnSpc>
                <a:spcPct val="100000"/>
              </a:lnSpc>
              <a:spcBef>
                <a:spcPts val="100"/>
              </a:spcBef>
              <a:buSzPct val="108333"/>
              <a:buFont typeface="Wingdings"/>
              <a:buChar char=""/>
              <a:tabLst>
                <a:tab pos="347345" algn="l"/>
              </a:tabLst>
            </a:pPr>
            <a:r>
              <a:rPr sz="2400" i="1" dirty="0">
                <a:latin typeface="Perpetua"/>
                <a:cs typeface="Perpetua"/>
              </a:rPr>
              <a:t>Do </a:t>
            </a:r>
            <a:r>
              <a:rPr sz="2400" i="1" spc="-15" dirty="0">
                <a:latin typeface="Perpetua"/>
                <a:cs typeface="Perpetua"/>
              </a:rPr>
              <a:t>you </a:t>
            </a:r>
            <a:r>
              <a:rPr sz="2400" i="1" dirty="0">
                <a:latin typeface="Perpetua"/>
                <a:cs typeface="Perpetua"/>
              </a:rPr>
              <a:t>see a pattern</a:t>
            </a:r>
            <a:r>
              <a:rPr sz="2400" i="1" spc="-30" dirty="0">
                <a:latin typeface="Perpetua"/>
                <a:cs typeface="Perpetua"/>
              </a:rPr>
              <a:t> </a:t>
            </a:r>
            <a:r>
              <a:rPr sz="2400" i="1" spc="-10" dirty="0">
                <a:latin typeface="Perpetua"/>
                <a:cs typeface="Perpetua"/>
              </a:rPr>
              <a:t>emerging?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har char=""/>
            </a:pPr>
            <a:endParaRPr sz="2550">
              <a:latin typeface="Times New Roman"/>
              <a:cs typeface="Times New Roman"/>
            </a:endParaRPr>
          </a:p>
          <a:p>
            <a:pPr marL="320675" indent="-308610">
              <a:lnSpc>
                <a:spcPct val="100000"/>
              </a:lnSpc>
              <a:buFont typeface="Wingdings"/>
              <a:buChar char=""/>
              <a:tabLst>
                <a:tab pos="321310" algn="l"/>
              </a:tabLst>
            </a:pPr>
            <a:r>
              <a:rPr sz="2400" i="1" spc="-5" dirty="0">
                <a:latin typeface="Perpetua"/>
                <a:cs typeface="Perpetua"/>
              </a:rPr>
              <a:t>Can </a:t>
            </a:r>
            <a:r>
              <a:rPr sz="2400" i="1" spc="-15" dirty="0">
                <a:latin typeface="Perpetua"/>
                <a:cs typeface="Perpetua"/>
              </a:rPr>
              <a:t>you </a:t>
            </a:r>
            <a:r>
              <a:rPr sz="2400" i="1" spc="5" dirty="0">
                <a:latin typeface="Perpetua"/>
                <a:cs typeface="Perpetua"/>
              </a:rPr>
              <a:t>write </a:t>
            </a:r>
            <a:r>
              <a:rPr sz="2400" i="1" dirty="0">
                <a:latin typeface="Perpetua"/>
                <a:cs typeface="Perpetua"/>
              </a:rPr>
              <a:t>an algorithm </a:t>
            </a:r>
            <a:r>
              <a:rPr sz="2400" i="1" spc="-10" dirty="0">
                <a:latin typeface="Perpetua"/>
                <a:cs typeface="Perpetua"/>
              </a:rPr>
              <a:t>employing </a:t>
            </a:r>
            <a:r>
              <a:rPr sz="2400" i="1" dirty="0">
                <a:latin typeface="Perpetua"/>
                <a:cs typeface="Perpetua"/>
              </a:rPr>
              <a:t>this</a:t>
            </a:r>
            <a:r>
              <a:rPr sz="2400" i="1" spc="-80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pattern?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93104" y="1205331"/>
            <a:ext cx="2038350" cy="333311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5750" indent="-273685">
              <a:lnSpc>
                <a:spcPct val="100000"/>
              </a:lnSpc>
              <a:spcBef>
                <a:spcPts val="700"/>
              </a:spcBef>
              <a:buSzPct val="84615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Perpetua"/>
                <a:cs typeface="Perpetua"/>
              </a:rPr>
              <a:t>p = 1 =</a:t>
            </a:r>
            <a:r>
              <a:rPr sz="2600" spc="-5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0!</a:t>
            </a:r>
            <a:endParaRPr sz="2600">
              <a:latin typeface="Perpetua"/>
              <a:cs typeface="Perpetua"/>
            </a:endParaRPr>
          </a:p>
          <a:p>
            <a:pPr marL="285750" indent="-273685">
              <a:lnSpc>
                <a:spcPct val="100000"/>
              </a:lnSpc>
              <a:spcBef>
                <a:spcPts val="600"/>
              </a:spcBef>
              <a:buSzPct val="84615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Perpetua"/>
                <a:cs typeface="Perpetua"/>
              </a:rPr>
              <a:t>p = p x 1 =</a:t>
            </a:r>
            <a:r>
              <a:rPr sz="2600" spc="-10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1!</a:t>
            </a:r>
            <a:endParaRPr sz="2600">
              <a:latin typeface="Perpetua"/>
              <a:cs typeface="Perpetua"/>
            </a:endParaRPr>
          </a:p>
          <a:p>
            <a:pPr marL="285750" indent="-273685">
              <a:lnSpc>
                <a:spcPct val="100000"/>
              </a:lnSpc>
              <a:spcBef>
                <a:spcPts val="600"/>
              </a:spcBef>
              <a:buSzPct val="84615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Perpetua"/>
                <a:cs typeface="Perpetua"/>
              </a:rPr>
              <a:t>p = p x 2 =</a:t>
            </a:r>
            <a:r>
              <a:rPr sz="2600" spc="-10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2!</a:t>
            </a:r>
            <a:endParaRPr sz="2600">
              <a:latin typeface="Perpetua"/>
              <a:cs typeface="Perpetua"/>
            </a:endParaRPr>
          </a:p>
          <a:p>
            <a:pPr marL="285750" indent="-273685">
              <a:lnSpc>
                <a:spcPct val="100000"/>
              </a:lnSpc>
              <a:spcBef>
                <a:spcPts val="600"/>
              </a:spcBef>
              <a:buSzPct val="84615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Perpetua"/>
                <a:cs typeface="Perpetua"/>
              </a:rPr>
              <a:t>p = p x 3 =</a:t>
            </a:r>
            <a:r>
              <a:rPr sz="2600" spc="-10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3!</a:t>
            </a:r>
            <a:endParaRPr sz="2600">
              <a:latin typeface="Perpetua"/>
              <a:cs typeface="Perpetua"/>
            </a:endParaRPr>
          </a:p>
          <a:p>
            <a:pPr marL="285750" indent="-273685">
              <a:lnSpc>
                <a:spcPct val="100000"/>
              </a:lnSpc>
              <a:spcBef>
                <a:spcPts val="600"/>
              </a:spcBef>
              <a:buSzPct val="84615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Perpetua"/>
                <a:cs typeface="Perpetua"/>
              </a:rPr>
              <a:t>p = p x 4 =</a:t>
            </a:r>
            <a:r>
              <a:rPr sz="2600" spc="-10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4!</a:t>
            </a:r>
            <a:endParaRPr sz="2600">
              <a:latin typeface="Perpetua"/>
              <a:cs typeface="Perpetua"/>
            </a:endParaRPr>
          </a:p>
          <a:p>
            <a:pPr marL="285750" indent="-273685">
              <a:lnSpc>
                <a:spcPct val="100000"/>
              </a:lnSpc>
              <a:spcBef>
                <a:spcPts val="600"/>
              </a:spcBef>
              <a:buSzPct val="84615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Perpetua"/>
                <a:cs typeface="Perpetua"/>
              </a:rPr>
              <a:t>p = p x 5 =</a:t>
            </a:r>
            <a:r>
              <a:rPr sz="2600" spc="-10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5!</a:t>
            </a:r>
            <a:endParaRPr sz="2600">
              <a:latin typeface="Perpetua"/>
              <a:cs typeface="Perpetua"/>
            </a:endParaRPr>
          </a:p>
          <a:p>
            <a:pPr marL="285750" indent="-273685">
              <a:lnSpc>
                <a:spcPct val="100000"/>
              </a:lnSpc>
              <a:spcBef>
                <a:spcPts val="600"/>
              </a:spcBef>
              <a:buSzPct val="84615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Perpetua"/>
                <a:cs typeface="Perpetua"/>
              </a:rPr>
              <a:t>p = p x 6 =</a:t>
            </a:r>
            <a:r>
              <a:rPr sz="2600" spc="-10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6!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45059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A </a:t>
            </a:r>
            <a:r>
              <a:rPr spc="-10" dirty="0"/>
              <a:t>Refresher </a:t>
            </a:r>
            <a:r>
              <a:rPr spc="-5" dirty="0"/>
              <a:t>on</a:t>
            </a:r>
            <a:r>
              <a:rPr spc="-35" dirty="0"/>
              <a:t> </a:t>
            </a:r>
            <a:r>
              <a:rPr spc="-5" dirty="0"/>
              <a:t>Factorial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0842" y="1354074"/>
            <a:ext cx="4886960" cy="44469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5"/>
              </a:spcBef>
              <a:buSzPct val="84615"/>
              <a:buFont typeface="Wingdings 2"/>
              <a:buChar char=""/>
              <a:tabLst>
                <a:tab pos="285750" algn="l"/>
              </a:tabLst>
            </a:pPr>
            <a:r>
              <a:rPr sz="2600" i="1" dirty="0">
                <a:latin typeface="Perpetua"/>
                <a:cs typeface="Perpetua"/>
              </a:rPr>
              <a:t>p </a:t>
            </a:r>
            <a:r>
              <a:rPr sz="2600" dirty="0">
                <a:latin typeface="Perpetua"/>
                <a:cs typeface="Perpetua"/>
              </a:rPr>
              <a:t>= 1 =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0!</a:t>
            </a:r>
            <a:endParaRPr sz="2600">
              <a:latin typeface="Perpetua"/>
              <a:cs typeface="Perpetua"/>
            </a:endParaRPr>
          </a:p>
          <a:p>
            <a:pPr marL="285115" indent="-273050">
              <a:lnSpc>
                <a:spcPct val="100000"/>
              </a:lnSpc>
              <a:spcBef>
                <a:spcPts val="2155"/>
              </a:spcBef>
              <a:buSzPct val="84615"/>
              <a:buFont typeface="Wingdings 2"/>
              <a:buChar char=""/>
              <a:tabLst>
                <a:tab pos="285750" algn="l"/>
              </a:tabLst>
            </a:pPr>
            <a:r>
              <a:rPr sz="2600" i="1" dirty="0">
                <a:latin typeface="Perpetua"/>
                <a:cs typeface="Perpetua"/>
              </a:rPr>
              <a:t>p </a:t>
            </a:r>
            <a:r>
              <a:rPr sz="2600" dirty="0">
                <a:latin typeface="Perpetua"/>
                <a:cs typeface="Perpetua"/>
              </a:rPr>
              <a:t>= </a:t>
            </a:r>
            <a:r>
              <a:rPr sz="2600" i="1" dirty="0">
                <a:latin typeface="Perpetua"/>
                <a:cs typeface="Perpetua"/>
              </a:rPr>
              <a:t>p </a:t>
            </a:r>
            <a:r>
              <a:rPr sz="2600" dirty="0">
                <a:latin typeface="Perpetua"/>
                <a:cs typeface="Perpetua"/>
              </a:rPr>
              <a:t>(whose </a:t>
            </a:r>
            <a:r>
              <a:rPr sz="2600" spc="-15" dirty="0">
                <a:latin typeface="Perpetua"/>
                <a:cs typeface="Perpetua"/>
              </a:rPr>
              <a:t>value </a:t>
            </a:r>
            <a:r>
              <a:rPr sz="2600" spc="-25" dirty="0">
                <a:latin typeface="Perpetua"/>
                <a:cs typeface="Perpetua"/>
              </a:rPr>
              <a:t>now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5" dirty="0">
                <a:latin typeface="Perpetua"/>
                <a:cs typeface="Perpetua"/>
              </a:rPr>
              <a:t>0!) </a:t>
            </a:r>
            <a:r>
              <a:rPr sz="2600" dirty="0">
                <a:latin typeface="Perpetua"/>
                <a:cs typeface="Perpetua"/>
              </a:rPr>
              <a:t>x 1 =</a:t>
            </a:r>
            <a:r>
              <a:rPr sz="2600" spc="-5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1!</a:t>
            </a:r>
            <a:endParaRPr sz="2600">
              <a:latin typeface="Perpetua"/>
              <a:cs typeface="Perpetua"/>
            </a:endParaRPr>
          </a:p>
          <a:p>
            <a:pPr marL="285115" indent="-273050">
              <a:lnSpc>
                <a:spcPct val="100000"/>
              </a:lnSpc>
              <a:spcBef>
                <a:spcPts val="2165"/>
              </a:spcBef>
              <a:buSzPct val="84615"/>
              <a:buFont typeface="Wingdings 2"/>
              <a:buChar char=""/>
              <a:tabLst>
                <a:tab pos="285750" algn="l"/>
              </a:tabLst>
            </a:pPr>
            <a:r>
              <a:rPr sz="2600" i="1" dirty="0">
                <a:latin typeface="Perpetua"/>
                <a:cs typeface="Perpetua"/>
              </a:rPr>
              <a:t>p </a:t>
            </a:r>
            <a:r>
              <a:rPr sz="2600" dirty="0">
                <a:latin typeface="Perpetua"/>
                <a:cs typeface="Perpetua"/>
              </a:rPr>
              <a:t>= </a:t>
            </a:r>
            <a:r>
              <a:rPr sz="2600" i="1" dirty="0">
                <a:latin typeface="Perpetua"/>
                <a:cs typeface="Perpetua"/>
              </a:rPr>
              <a:t>p </a:t>
            </a:r>
            <a:r>
              <a:rPr sz="2600" dirty="0">
                <a:latin typeface="Perpetua"/>
                <a:cs typeface="Perpetua"/>
              </a:rPr>
              <a:t>(whose </a:t>
            </a:r>
            <a:r>
              <a:rPr sz="2600" spc="-15" dirty="0">
                <a:latin typeface="Perpetua"/>
                <a:cs typeface="Perpetua"/>
              </a:rPr>
              <a:t>value </a:t>
            </a:r>
            <a:r>
              <a:rPr sz="2600" spc="-30" dirty="0">
                <a:latin typeface="Perpetua"/>
                <a:cs typeface="Perpetua"/>
              </a:rPr>
              <a:t>now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5" dirty="0">
                <a:latin typeface="Perpetua"/>
                <a:cs typeface="Perpetua"/>
              </a:rPr>
              <a:t>1!) </a:t>
            </a:r>
            <a:r>
              <a:rPr sz="2600" dirty="0">
                <a:latin typeface="Perpetua"/>
                <a:cs typeface="Perpetua"/>
              </a:rPr>
              <a:t>x 2 =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2!</a:t>
            </a:r>
            <a:endParaRPr sz="2600">
              <a:latin typeface="Perpetua"/>
              <a:cs typeface="Perpetua"/>
            </a:endParaRPr>
          </a:p>
          <a:p>
            <a:pPr marL="285115" indent="-273050">
              <a:lnSpc>
                <a:spcPct val="100000"/>
              </a:lnSpc>
              <a:spcBef>
                <a:spcPts val="2160"/>
              </a:spcBef>
              <a:buSzPct val="84615"/>
              <a:buFont typeface="Wingdings 2"/>
              <a:buChar char=""/>
              <a:tabLst>
                <a:tab pos="285750" algn="l"/>
              </a:tabLst>
            </a:pPr>
            <a:r>
              <a:rPr sz="2600" i="1" dirty="0">
                <a:latin typeface="Perpetua"/>
                <a:cs typeface="Perpetua"/>
              </a:rPr>
              <a:t>p </a:t>
            </a:r>
            <a:r>
              <a:rPr sz="2600" dirty="0">
                <a:latin typeface="Perpetua"/>
                <a:cs typeface="Perpetua"/>
              </a:rPr>
              <a:t>= </a:t>
            </a:r>
            <a:r>
              <a:rPr sz="2600" i="1" dirty="0">
                <a:latin typeface="Perpetua"/>
                <a:cs typeface="Perpetua"/>
              </a:rPr>
              <a:t>p </a:t>
            </a:r>
            <a:r>
              <a:rPr sz="2600" dirty="0">
                <a:latin typeface="Perpetua"/>
                <a:cs typeface="Perpetua"/>
              </a:rPr>
              <a:t>(whose </a:t>
            </a:r>
            <a:r>
              <a:rPr sz="2600" spc="-15" dirty="0">
                <a:latin typeface="Perpetua"/>
                <a:cs typeface="Perpetua"/>
              </a:rPr>
              <a:t>value </a:t>
            </a:r>
            <a:r>
              <a:rPr sz="2600" spc="-25" dirty="0">
                <a:latin typeface="Perpetua"/>
                <a:cs typeface="Perpetua"/>
              </a:rPr>
              <a:t>now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5" dirty="0">
                <a:latin typeface="Perpetua"/>
                <a:cs typeface="Perpetua"/>
              </a:rPr>
              <a:t>2!) </a:t>
            </a:r>
            <a:r>
              <a:rPr sz="2600" dirty="0">
                <a:latin typeface="Perpetua"/>
                <a:cs typeface="Perpetua"/>
              </a:rPr>
              <a:t>x 3 =</a:t>
            </a:r>
            <a:r>
              <a:rPr sz="2600" spc="-5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3!</a:t>
            </a:r>
            <a:endParaRPr sz="2600">
              <a:latin typeface="Perpetua"/>
              <a:cs typeface="Perpetua"/>
            </a:endParaRPr>
          </a:p>
          <a:p>
            <a:pPr marL="285115" indent="-273050">
              <a:lnSpc>
                <a:spcPct val="100000"/>
              </a:lnSpc>
              <a:spcBef>
                <a:spcPts val="2160"/>
              </a:spcBef>
              <a:buSzPct val="84615"/>
              <a:buFont typeface="Wingdings 2"/>
              <a:buChar char=""/>
              <a:tabLst>
                <a:tab pos="285750" algn="l"/>
              </a:tabLst>
            </a:pPr>
            <a:r>
              <a:rPr sz="2600" i="1" dirty="0">
                <a:latin typeface="Perpetua"/>
                <a:cs typeface="Perpetua"/>
              </a:rPr>
              <a:t>p </a:t>
            </a:r>
            <a:r>
              <a:rPr sz="2600" dirty="0">
                <a:latin typeface="Perpetua"/>
                <a:cs typeface="Perpetua"/>
              </a:rPr>
              <a:t>= </a:t>
            </a:r>
            <a:r>
              <a:rPr sz="2600" i="1" dirty="0">
                <a:latin typeface="Perpetua"/>
                <a:cs typeface="Perpetua"/>
              </a:rPr>
              <a:t>p </a:t>
            </a:r>
            <a:r>
              <a:rPr sz="2600" dirty="0">
                <a:latin typeface="Perpetua"/>
                <a:cs typeface="Perpetua"/>
              </a:rPr>
              <a:t>(whose </a:t>
            </a:r>
            <a:r>
              <a:rPr sz="2600" spc="-15" dirty="0">
                <a:latin typeface="Perpetua"/>
                <a:cs typeface="Perpetua"/>
              </a:rPr>
              <a:t>value </a:t>
            </a:r>
            <a:r>
              <a:rPr sz="2600" spc="-30" dirty="0">
                <a:latin typeface="Perpetua"/>
                <a:cs typeface="Perpetua"/>
              </a:rPr>
              <a:t>now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5" dirty="0">
                <a:latin typeface="Perpetua"/>
                <a:cs typeface="Perpetua"/>
              </a:rPr>
              <a:t>3!) </a:t>
            </a:r>
            <a:r>
              <a:rPr sz="2600" dirty="0">
                <a:latin typeface="Perpetua"/>
                <a:cs typeface="Perpetua"/>
              </a:rPr>
              <a:t>x 4 =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4!</a:t>
            </a:r>
            <a:endParaRPr sz="2600">
              <a:latin typeface="Perpetua"/>
              <a:cs typeface="Perpetua"/>
            </a:endParaRPr>
          </a:p>
          <a:p>
            <a:pPr marL="285115" indent="-273050">
              <a:lnSpc>
                <a:spcPct val="100000"/>
              </a:lnSpc>
              <a:spcBef>
                <a:spcPts val="2160"/>
              </a:spcBef>
              <a:buSzPct val="84615"/>
              <a:buFont typeface="Wingdings 2"/>
              <a:buChar char=""/>
              <a:tabLst>
                <a:tab pos="285750" algn="l"/>
              </a:tabLst>
            </a:pPr>
            <a:r>
              <a:rPr sz="2600" i="1" dirty="0">
                <a:latin typeface="Perpetua"/>
                <a:cs typeface="Perpetua"/>
              </a:rPr>
              <a:t>p </a:t>
            </a:r>
            <a:r>
              <a:rPr sz="2600" dirty="0">
                <a:latin typeface="Perpetua"/>
                <a:cs typeface="Perpetua"/>
              </a:rPr>
              <a:t>= </a:t>
            </a:r>
            <a:r>
              <a:rPr sz="2600" i="1" dirty="0">
                <a:latin typeface="Perpetua"/>
                <a:cs typeface="Perpetua"/>
              </a:rPr>
              <a:t>p </a:t>
            </a:r>
            <a:r>
              <a:rPr sz="2600" dirty="0">
                <a:latin typeface="Perpetua"/>
                <a:cs typeface="Perpetua"/>
              </a:rPr>
              <a:t>(whose </a:t>
            </a:r>
            <a:r>
              <a:rPr sz="2600" spc="-15" dirty="0">
                <a:latin typeface="Perpetua"/>
                <a:cs typeface="Perpetua"/>
              </a:rPr>
              <a:t>value </a:t>
            </a:r>
            <a:r>
              <a:rPr sz="2600" spc="-25" dirty="0">
                <a:latin typeface="Perpetua"/>
                <a:cs typeface="Perpetua"/>
              </a:rPr>
              <a:t>now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5" dirty="0">
                <a:latin typeface="Perpetua"/>
                <a:cs typeface="Perpetua"/>
              </a:rPr>
              <a:t>4!) </a:t>
            </a:r>
            <a:r>
              <a:rPr sz="2600" dirty="0">
                <a:latin typeface="Perpetua"/>
                <a:cs typeface="Perpetua"/>
              </a:rPr>
              <a:t>x 5 =</a:t>
            </a:r>
            <a:r>
              <a:rPr sz="2600" spc="-5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5!</a:t>
            </a:r>
            <a:endParaRPr sz="2600">
              <a:latin typeface="Perpetua"/>
              <a:cs typeface="Perpetua"/>
            </a:endParaRPr>
          </a:p>
          <a:p>
            <a:pPr marL="285115" indent="-273050">
              <a:lnSpc>
                <a:spcPct val="100000"/>
              </a:lnSpc>
              <a:spcBef>
                <a:spcPts val="2165"/>
              </a:spcBef>
              <a:buSzPct val="84615"/>
              <a:buFont typeface="Wingdings 2"/>
              <a:buChar char=""/>
              <a:tabLst>
                <a:tab pos="285750" algn="l"/>
              </a:tabLst>
            </a:pPr>
            <a:r>
              <a:rPr sz="2600" i="1" dirty="0">
                <a:latin typeface="Perpetua"/>
                <a:cs typeface="Perpetua"/>
              </a:rPr>
              <a:t>p </a:t>
            </a:r>
            <a:r>
              <a:rPr sz="2600" dirty="0">
                <a:latin typeface="Perpetua"/>
                <a:cs typeface="Perpetua"/>
              </a:rPr>
              <a:t>= </a:t>
            </a:r>
            <a:r>
              <a:rPr sz="2600" i="1" dirty="0">
                <a:latin typeface="Perpetua"/>
                <a:cs typeface="Perpetua"/>
              </a:rPr>
              <a:t>p </a:t>
            </a:r>
            <a:r>
              <a:rPr sz="2600" dirty="0">
                <a:latin typeface="Perpetua"/>
                <a:cs typeface="Perpetua"/>
              </a:rPr>
              <a:t>(whose </a:t>
            </a:r>
            <a:r>
              <a:rPr sz="2600" spc="-15" dirty="0">
                <a:latin typeface="Perpetua"/>
                <a:cs typeface="Perpetua"/>
              </a:rPr>
              <a:t>value </a:t>
            </a:r>
            <a:r>
              <a:rPr sz="2600" spc="-30" dirty="0">
                <a:latin typeface="Perpetua"/>
                <a:cs typeface="Perpetua"/>
              </a:rPr>
              <a:t>now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5" dirty="0">
                <a:latin typeface="Perpetua"/>
                <a:cs typeface="Perpetua"/>
              </a:rPr>
              <a:t>5!) </a:t>
            </a:r>
            <a:r>
              <a:rPr sz="2600" dirty="0">
                <a:latin typeface="Perpetua"/>
                <a:cs typeface="Perpetua"/>
              </a:rPr>
              <a:t>x 6 =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6!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553200" y="304800"/>
            <a:ext cx="2295525" cy="1524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24885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The</a:t>
            </a:r>
            <a:r>
              <a:rPr spc="-70" dirty="0"/>
              <a:t> </a:t>
            </a:r>
            <a:r>
              <a:rPr spc="5" dirty="0"/>
              <a:t>pattern!!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9620" y="1358105"/>
            <a:ext cx="8429625" cy="3805554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273685" indent="-248920">
              <a:lnSpc>
                <a:spcPct val="100000"/>
              </a:lnSpc>
              <a:spcBef>
                <a:spcPts val="695"/>
              </a:spcBef>
              <a:buSzPct val="96153"/>
              <a:buAutoNum type="arabicPeriod"/>
              <a:tabLst>
                <a:tab pos="274320" algn="l"/>
              </a:tabLst>
            </a:pPr>
            <a:r>
              <a:rPr sz="2600" dirty="0">
                <a:latin typeface="Perpetua"/>
                <a:cs typeface="Perpetua"/>
              </a:rPr>
              <a:t>Get </a:t>
            </a:r>
            <a:r>
              <a:rPr sz="2600" i="1" dirty="0">
                <a:latin typeface="Perpetua"/>
                <a:cs typeface="Perpetua"/>
              </a:rPr>
              <a:t>n </a:t>
            </a:r>
            <a:r>
              <a:rPr sz="2600" spc="-5" dirty="0">
                <a:latin typeface="Perpetua"/>
                <a:cs typeface="Perpetua"/>
              </a:rPr>
              <a:t>for </a:t>
            </a:r>
            <a:r>
              <a:rPr sz="2600" spc="5" dirty="0">
                <a:latin typeface="Perpetua"/>
                <a:cs typeface="Perpetua"/>
              </a:rPr>
              <a:t>which </a:t>
            </a:r>
            <a:r>
              <a:rPr sz="2600" dirty="0">
                <a:latin typeface="Perpetua"/>
                <a:cs typeface="Perpetua"/>
              </a:rPr>
              <a:t>the factorial </a:t>
            </a:r>
            <a:r>
              <a:rPr sz="2600" spc="-5" dirty="0">
                <a:latin typeface="Perpetua"/>
                <a:cs typeface="Perpetua"/>
              </a:rPr>
              <a:t>to be</a:t>
            </a:r>
            <a:r>
              <a:rPr sz="2600" spc="1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calculated.</a:t>
            </a:r>
            <a:endParaRPr sz="2600">
              <a:latin typeface="Perpetua"/>
              <a:cs typeface="Perpetua"/>
            </a:endParaRPr>
          </a:p>
          <a:p>
            <a:pPr marL="398780" marR="1031875" indent="-373380">
              <a:lnSpc>
                <a:spcPts val="3720"/>
              </a:lnSpc>
              <a:spcBef>
                <a:spcPts val="225"/>
              </a:spcBef>
              <a:buSzPct val="96153"/>
              <a:buAutoNum type="arabicPeriod"/>
              <a:tabLst>
                <a:tab pos="422909" algn="l"/>
                <a:tab pos="423545" algn="l"/>
              </a:tabLst>
            </a:pPr>
            <a:r>
              <a:rPr sz="2600" spc="-5" dirty="0">
                <a:latin typeface="Perpetua"/>
                <a:cs typeface="Perpetua"/>
              </a:rPr>
              <a:t>Set </a:t>
            </a:r>
            <a:r>
              <a:rPr sz="2600" spc="-10" dirty="0">
                <a:latin typeface="Perpetua"/>
                <a:cs typeface="Perpetua"/>
              </a:rPr>
              <a:t>product </a:t>
            </a:r>
            <a:r>
              <a:rPr sz="2600" i="1" dirty="0">
                <a:latin typeface="Perpetua"/>
                <a:cs typeface="Perpetua"/>
              </a:rPr>
              <a:t>p </a:t>
            </a:r>
            <a:r>
              <a:rPr sz="2600" spc="-5" dirty="0">
                <a:latin typeface="Perpetua"/>
                <a:cs typeface="Perpetua"/>
              </a:rPr>
              <a:t>to 0! and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product count </a:t>
            </a:r>
            <a:r>
              <a:rPr sz="2600" i="1" dirty="0">
                <a:latin typeface="Perpetua"/>
                <a:cs typeface="Perpetua"/>
              </a:rPr>
              <a:t>i </a:t>
            </a:r>
            <a:r>
              <a:rPr sz="2600" spc="-5" dirty="0">
                <a:latin typeface="Perpetua"/>
                <a:cs typeface="Perpetua"/>
              </a:rPr>
              <a:t>to 0.  (remember there </a:t>
            </a:r>
            <a:r>
              <a:rPr sz="2600" spc="-10" dirty="0">
                <a:latin typeface="Perpetua"/>
                <a:cs typeface="Perpetua"/>
              </a:rPr>
              <a:t>are </a:t>
            </a:r>
            <a:r>
              <a:rPr sz="2600" dirty="0">
                <a:latin typeface="Perpetua"/>
                <a:cs typeface="Perpetua"/>
              </a:rPr>
              <a:t>n </a:t>
            </a:r>
            <a:r>
              <a:rPr sz="2600" spc="-10" dirty="0">
                <a:latin typeface="Perpetua"/>
                <a:cs typeface="Perpetua"/>
              </a:rPr>
              <a:t>products </a:t>
            </a:r>
            <a:r>
              <a:rPr sz="2600" spc="-5" dirty="0">
                <a:latin typeface="Perpetua"/>
                <a:cs typeface="Perpetua"/>
              </a:rPr>
              <a:t>to be</a:t>
            </a:r>
            <a:r>
              <a:rPr sz="2600" spc="1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counted/calculated)</a:t>
            </a:r>
            <a:endParaRPr sz="2600">
              <a:latin typeface="Perpetua"/>
              <a:cs typeface="Perpetua"/>
            </a:endParaRPr>
          </a:p>
          <a:p>
            <a:pPr marL="368300" marR="2416175" indent="-368300">
              <a:lnSpc>
                <a:spcPts val="3720"/>
              </a:lnSpc>
              <a:buSzPct val="96153"/>
              <a:buAutoNum type="arabicPeriod"/>
              <a:tabLst>
                <a:tab pos="368300" algn="l"/>
              </a:tabLst>
            </a:pPr>
            <a:r>
              <a:rPr sz="2600" dirty="0">
                <a:latin typeface="Perpetua"/>
                <a:cs typeface="Perpetua"/>
              </a:rPr>
              <a:t>While </a:t>
            </a:r>
            <a:r>
              <a:rPr sz="2600" spc="-5" dirty="0">
                <a:latin typeface="Perpetua"/>
                <a:cs typeface="Perpetua"/>
              </a:rPr>
              <a:t>less </a:t>
            </a:r>
            <a:r>
              <a:rPr sz="2600" dirty="0">
                <a:latin typeface="Perpetua"/>
                <a:cs typeface="Perpetua"/>
              </a:rPr>
              <a:t>than </a:t>
            </a:r>
            <a:r>
              <a:rPr sz="2600" i="1" dirty="0">
                <a:latin typeface="Perpetua"/>
                <a:cs typeface="Perpetua"/>
              </a:rPr>
              <a:t>n </a:t>
            </a:r>
            <a:r>
              <a:rPr sz="2600" spc="-10" dirty="0">
                <a:latin typeface="Perpetua"/>
                <a:cs typeface="Perpetua"/>
              </a:rPr>
              <a:t>products </a:t>
            </a:r>
            <a:r>
              <a:rPr sz="2600" spc="-35" dirty="0">
                <a:latin typeface="Perpetua"/>
                <a:cs typeface="Perpetua"/>
              </a:rPr>
              <a:t>have </a:t>
            </a:r>
            <a:r>
              <a:rPr sz="2600" dirty="0">
                <a:latin typeface="Perpetua"/>
                <a:cs typeface="Perpetua"/>
              </a:rPr>
              <a:t>been </a:t>
            </a:r>
            <a:r>
              <a:rPr sz="2600" spc="-10" dirty="0">
                <a:latin typeface="Perpetua"/>
                <a:cs typeface="Perpetua"/>
              </a:rPr>
              <a:t>calculated  </a:t>
            </a:r>
            <a:r>
              <a:rPr sz="2600" spc="-15" dirty="0">
                <a:latin typeface="Perpetua"/>
                <a:cs typeface="Perpetua"/>
              </a:rPr>
              <a:t>repeatedly</a:t>
            </a:r>
            <a:r>
              <a:rPr sz="2600" spc="-2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do</a:t>
            </a:r>
            <a:endParaRPr sz="2600">
              <a:latin typeface="Perpetua"/>
              <a:cs typeface="Perpetua"/>
            </a:endParaRPr>
          </a:p>
          <a:p>
            <a:pPr marL="971550" lvl="1" indent="-299085">
              <a:lnSpc>
                <a:spcPts val="2900"/>
              </a:lnSpc>
              <a:buAutoNum type="alphaLcParenR"/>
              <a:tabLst>
                <a:tab pos="972185" algn="l"/>
              </a:tabLst>
            </a:pPr>
            <a:r>
              <a:rPr sz="2600" spc="-5" dirty="0">
                <a:latin typeface="Perpetua"/>
                <a:cs typeface="Perpetua"/>
              </a:rPr>
              <a:t>increment </a:t>
            </a:r>
            <a:r>
              <a:rPr sz="2600" spc="-10" dirty="0">
                <a:latin typeface="Perpetua"/>
                <a:cs typeface="Perpetua"/>
              </a:rPr>
              <a:t>product </a:t>
            </a:r>
            <a:r>
              <a:rPr sz="2600" spc="-5" dirty="0">
                <a:latin typeface="Perpetua"/>
                <a:cs typeface="Perpetua"/>
              </a:rPr>
              <a:t>count </a:t>
            </a:r>
            <a:r>
              <a:rPr sz="2600" i="1" dirty="0">
                <a:latin typeface="Perpetua"/>
                <a:cs typeface="Perpetua"/>
              </a:rPr>
              <a:t>i</a:t>
            </a:r>
            <a:r>
              <a:rPr sz="2600" i="1" spc="1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.</a:t>
            </a:r>
            <a:endParaRPr sz="2600">
              <a:latin typeface="Perpetua"/>
              <a:cs typeface="Perpetua"/>
            </a:endParaRPr>
          </a:p>
          <a:p>
            <a:pPr marL="998855" lvl="1" indent="-326390">
              <a:lnSpc>
                <a:spcPct val="100000"/>
              </a:lnSpc>
              <a:spcBef>
                <a:spcPts val="600"/>
              </a:spcBef>
              <a:buAutoNum type="alphaLcParenR"/>
              <a:tabLst>
                <a:tab pos="999490" algn="l"/>
              </a:tabLst>
            </a:pPr>
            <a:r>
              <a:rPr sz="2600" spc="-5" dirty="0">
                <a:latin typeface="Perpetua"/>
                <a:cs typeface="Perpetua"/>
              </a:rPr>
              <a:t>Compute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i="1" dirty="0">
                <a:latin typeface="Perpetua"/>
                <a:cs typeface="Perpetua"/>
              </a:rPr>
              <a:t>i</a:t>
            </a:r>
            <a:r>
              <a:rPr sz="2550" baseline="27777" dirty="0">
                <a:latin typeface="Perpetua"/>
                <a:cs typeface="Perpetua"/>
              </a:rPr>
              <a:t>th </a:t>
            </a:r>
            <a:r>
              <a:rPr sz="2600" spc="-10" dirty="0">
                <a:latin typeface="Perpetua"/>
                <a:cs typeface="Perpetua"/>
              </a:rPr>
              <a:t>product </a:t>
            </a:r>
            <a:r>
              <a:rPr sz="2600" spc="-25" dirty="0">
                <a:latin typeface="Perpetua"/>
                <a:cs typeface="Perpetua"/>
              </a:rPr>
              <a:t>by </a:t>
            </a:r>
            <a:r>
              <a:rPr sz="2600" spc="-10" dirty="0">
                <a:latin typeface="Perpetua"/>
                <a:cs typeface="Perpetua"/>
              </a:rPr>
              <a:t>multiplying </a:t>
            </a:r>
            <a:r>
              <a:rPr sz="2600" i="1" dirty="0">
                <a:latin typeface="Perpetua"/>
                <a:cs typeface="Perpetua"/>
              </a:rPr>
              <a:t>i </a:t>
            </a:r>
            <a:r>
              <a:rPr sz="2600" spc="-25" dirty="0">
                <a:latin typeface="Perpetua"/>
                <a:cs typeface="Perpetua"/>
              </a:rPr>
              <a:t>by </a:t>
            </a:r>
            <a:r>
              <a:rPr sz="2600" spc="-5" dirty="0">
                <a:latin typeface="Perpetua"/>
                <a:cs typeface="Perpetua"/>
              </a:rPr>
              <a:t>the most recent</a:t>
            </a:r>
            <a:r>
              <a:rPr sz="2600" spc="-80" dirty="0">
                <a:latin typeface="Perpetua"/>
                <a:cs typeface="Perpetua"/>
              </a:rPr>
              <a:t> </a:t>
            </a:r>
            <a:r>
              <a:rPr sz="2600" i="1" spc="-135" dirty="0">
                <a:latin typeface="Perpetua"/>
                <a:cs typeface="Perpetua"/>
              </a:rPr>
              <a:t>p.</a:t>
            </a:r>
            <a:endParaRPr sz="2600">
              <a:latin typeface="Perpetua"/>
              <a:cs typeface="Perpetua"/>
            </a:endParaRPr>
          </a:p>
          <a:p>
            <a:pPr marL="408940" indent="-384175">
              <a:lnSpc>
                <a:spcPct val="100000"/>
              </a:lnSpc>
              <a:spcBef>
                <a:spcPts val="1200"/>
              </a:spcBef>
              <a:buSzPct val="96153"/>
              <a:buAutoNum type="arabicPeriod"/>
              <a:tabLst>
                <a:tab pos="408940" algn="l"/>
                <a:tab pos="409575" algn="l"/>
              </a:tabLst>
            </a:pPr>
            <a:r>
              <a:rPr sz="2600" spc="-15" dirty="0">
                <a:latin typeface="Perpetua"/>
                <a:cs typeface="Perpetua"/>
              </a:rPr>
              <a:t>Display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5" dirty="0">
                <a:latin typeface="Perpetua"/>
                <a:cs typeface="Perpetua"/>
              </a:rPr>
              <a:t>current </a:t>
            </a:r>
            <a:r>
              <a:rPr sz="2600" spc="-15" dirty="0">
                <a:latin typeface="Perpetua"/>
                <a:cs typeface="Perpetua"/>
              </a:rPr>
              <a:t>value </a:t>
            </a:r>
            <a:r>
              <a:rPr sz="2600" spc="-5" dirty="0">
                <a:latin typeface="Perpetua"/>
                <a:cs typeface="Perpetua"/>
              </a:rPr>
              <a:t>of</a:t>
            </a:r>
            <a:r>
              <a:rPr sz="2600" spc="-10" dirty="0">
                <a:latin typeface="Perpetua"/>
                <a:cs typeface="Perpetua"/>
              </a:rPr>
              <a:t> </a:t>
            </a:r>
            <a:r>
              <a:rPr sz="2600" i="1" spc="-70" dirty="0">
                <a:latin typeface="Perpetua"/>
                <a:cs typeface="Perpetua"/>
              </a:rPr>
              <a:t>p.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42894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5" dirty="0"/>
              <a:t>Algorithm </a:t>
            </a:r>
            <a:r>
              <a:rPr spc="-5" dirty="0"/>
              <a:t>for</a:t>
            </a:r>
            <a:r>
              <a:rPr spc="-80" dirty="0"/>
              <a:t> </a:t>
            </a:r>
            <a:r>
              <a:rPr spc="-5" dirty="0"/>
              <a:t>Factorial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7119" y="390220"/>
            <a:ext cx="75565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Fibonacci </a:t>
            </a:r>
            <a:r>
              <a:rPr spc="-5" dirty="0"/>
              <a:t>Sequence generation</a:t>
            </a:r>
            <a:r>
              <a:rPr spc="45" dirty="0"/>
              <a:t> </a:t>
            </a:r>
            <a:r>
              <a:rPr spc="5" dirty="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8520" y="1707683"/>
            <a:ext cx="8339455" cy="357822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700"/>
              </a:spcBef>
              <a:buSzPct val="84615"/>
              <a:buFont typeface="Wingdings 2"/>
              <a:buChar char=""/>
              <a:tabLst>
                <a:tab pos="285750" algn="l"/>
              </a:tabLst>
            </a:pPr>
            <a:r>
              <a:rPr sz="2600" dirty="0">
                <a:latin typeface="Perpetua"/>
                <a:cs typeface="Perpetua"/>
              </a:rPr>
              <a:t>The</a:t>
            </a:r>
            <a:r>
              <a:rPr sz="2600" spc="-2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sequence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0,</a:t>
            </a:r>
            <a:r>
              <a:rPr sz="2600" spc="-10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1,</a:t>
            </a:r>
            <a:r>
              <a:rPr sz="2600" spc="-10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1,</a:t>
            </a:r>
            <a:r>
              <a:rPr sz="2600" spc="-10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2,</a:t>
            </a:r>
            <a:r>
              <a:rPr sz="2600" spc="-10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3,</a:t>
            </a:r>
            <a:r>
              <a:rPr sz="2600" spc="-114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5,</a:t>
            </a:r>
            <a:r>
              <a:rPr sz="2600" spc="-10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8,</a:t>
            </a:r>
            <a:r>
              <a:rPr sz="2600" spc="-10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13,</a:t>
            </a:r>
            <a:r>
              <a:rPr sz="2600" spc="-10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21,</a:t>
            </a:r>
            <a:r>
              <a:rPr sz="2600" spc="-114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34,</a:t>
            </a:r>
            <a:r>
              <a:rPr sz="2600" spc="-10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...</a:t>
            </a:r>
            <a:endParaRPr sz="2600">
              <a:latin typeface="Perpetua"/>
              <a:cs typeface="Perpetua"/>
            </a:endParaRPr>
          </a:p>
          <a:p>
            <a:pPr marL="285115" indent="-273050">
              <a:lnSpc>
                <a:spcPct val="100000"/>
              </a:lnSpc>
              <a:spcBef>
                <a:spcPts val="605"/>
              </a:spcBef>
              <a:buSzPct val="84615"/>
              <a:buFont typeface="Wingdings 2"/>
              <a:buChar char=""/>
              <a:tabLst>
                <a:tab pos="285750" algn="l"/>
              </a:tabLst>
            </a:pP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10" dirty="0">
                <a:latin typeface="Perpetua"/>
                <a:cs typeface="Perpetua"/>
              </a:rPr>
              <a:t>first </a:t>
            </a:r>
            <a:r>
              <a:rPr sz="2600" spc="-35" dirty="0">
                <a:latin typeface="Perpetua"/>
                <a:cs typeface="Perpetua"/>
              </a:rPr>
              <a:t>two </a:t>
            </a:r>
            <a:r>
              <a:rPr sz="2600" spc="10" dirty="0">
                <a:latin typeface="Perpetua"/>
                <a:cs typeface="Perpetua"/>
              </a:rPr>
              <a:t>terms </a:t>
            </a:r>
            <a:r>
              <a:rPr sz="2600" dirty="0">
                <a:latin typeface="Perpetua"/>
                <a:cs typeface="Perpetua"/>
              </a:rPr>
              <a:t>0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dirty="0">
                <a:latin typeface="Perpetua"/>
                <a:cs typeface="Perpetua"/>
              </a:rPr>
              <a:t>1 </a:t>
            </a:r>
            <a:r>
              <a:rPr sz="2600" spc="-10" dirty="0">
                <a:latin typeface="Perpetua"/>
                <a:cs typeface="Perpetua"/>
              </a:rPr>
              <a:t>are </a:t>
            </a:r>
            <a:r>
              <a:rPr sz="2600" spc="-5" dirty="0">
                <a:latin typeface="Perpetua"/>
                <a:cs typeface="Perpetua"/>
              </a:rPr>
              <a:t>often </a:t>
            </a:r>
            <a:r>
              <a:rPr sz="2600" spc="5" dirty="0">
                <a:latin typeface="Perpetua"/>
                <a:cs typeface="Perpetua"/>
              </a:rPr>
              <a:t>chosen </a:t>
            </a:r>
            <a:r>
              <a:rPr sz="2600" spc="-25" dirty="0">
                <a:latin typeface="Perpetua"/>
                <a:cs typeface="Perpetua"/>
              </a:rPr>
              <a:t>by</a:t>
            </a:r>
            <a:r>
              <a:rPr sz="2600" spc="-1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default.</a:t>
            </a:r>
            <a:endParaRPr sz="2600">
              <a:latin typeface="Perpetua"/>
              <a:cs typeface="Perpetua"/>
            </a:endParaRPr>
          </a:p>
          <a:p>
            <a:pPr marL="285115" marR="6985" indent="-273050">
              <a:lnSpc>
                <a:spcPct val="100000"/>
              </a:lnSpc>
              <a:spcBef>
                <a:spcPts val="600"/>
              </a:spcBef>
              <a:buSzPct val="84615"/>
              <a:buFont typeface="Wingdings 2"/>
              <a:buChar char=""/>
              <a:tabLst>
                <a:tab pos="285750" algn="l"/>
              </a:tabLst>
            </a:pPr>
            <a:r>
              <a:rPr sz="2600" spc="-10" dirty="0">
                <a:latin typeface="Perpetua"/>
                <a:cs typeface="Perpetua"/>
              </a:rPr>
              <a:t>New </a:t>
            </a:r>
            <a:r>
              <a:rPr sz="2600" spc="15" dirty="0">
                <a:latin typeface="Perpetua"/>
                <a:cs typeface="Perpetua"/>
              </a:rPr>
              <a:t>term </a:t>
            </a:r>
            <a:r>
              <a:rPr sz="2600" dirty="0">
                <a:latin typeface="Perpetua"/>
                <a:cs typeface="Perpetua"/>
              </a:rPr>
              <a:t>(c) = </a:t>
            </a:r>
            <a:r>
              <a:rPr sz="2600" spc="-5" dirty="0">
                <a:latin typeface="Perpetua"/>
                <a:cs typeface="Perpetua"/>
              </a:rPr>
              <a:t>preceding </a:t>
            </a:r>
            <a:r>
              <a:rPr sz="2600" spc="20" dirty="0">
                <a:latin typeface="Perpetua"/>
                <a:cs typeface="Perpetua"/>
              </a:rPr>
              <a:t>term </a:t>
            </a:r>
            <a:r>
              <a:rPr sz="2600" dirty="0">
                <a:latin typeface="Perpetua"/>
                <a:cs typeface="Perpetua"/>
              </a:rPr>
              <a:t>(a) + </a:t>
            </a:r>
            <a:r>
              <a:rPr sz="2600" spc="15" dirty="0">
                <a:latin typeface="Perpetua"/>
                <a:cs typeface="Perpetua"/>
              </a:rPr>
              <a:t>term </a:t>
            </a:r>
            <a:r>
              <a:rPr sz="2600" spc="-5" dirty="0">
                <a:latin typeface="Perpetua"/>
                <a:cs typeface="Perpetua"/>
              </a:rPr>
              <a:t>before preceding </a:t>
            </a:r>
            <a:r>
              <a:rPr sz="2600" spc="20" dirty="0">
                <a:latin typeface="Perpetua"/>
                <a:cs typeface="Perpetua"/>
              </a:rPr>
              <a:t>term  </a:t>
            </a:r>
            <a:r>
              <a:rPr sz="2600" dirty="0">
                <a:latin typeface="Perpetua"/>
                <a:cs typeface="Perpetua"/>
              </a:rPr>
              <a:t>(b).</a:t>
            </a:r>
            <a:endParaRPr sz="2600">
              <a:latin typeface="Perpetua"/>
              <a:cs typeface="Perpetu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SzPct val="84615"/>
              <a:buFont typeface="Wingdings 2"/>
              <a:buChar char=""/>
              <a:tabLst>
                <a:tab pos="285750" algn="l"/>
              </a:tabLst>
            </a:pPr>
            <a:r>
              <a:rPr sz="2600" dirty="0">
                <a:latin typeface="Perpetua"/>
                <a:cs typeface="Perpetua"/>
              </a:rPr>
              <a:t>a = </a:t>
            </a:r>
            <a:r>
              <a:rPr sz="2600" spc="-5" dirty="0">
                <a:latin typeface="Perpetua"/>
                <a:cs typeface="Perpetua"/>
              </a:rPr>
              <a:t>1; </a:t>
            </a:r>
            <a:r>
              <a:rPr sz="2600" dirty="0">
                <a:latin typeface="Perpetua"/>
                <a:cs typeface="Perpetua"/>
              </a:rPr>
              <a:t>b = 0 then the third </a:t>
            </a:r>
            <a:r>
              <a:rPr sz="2600" spc="-5" dirty="0">
                <a:latin typeface="Perpetua"/>
                <a:cs typeface="Perpetua"/>
              </a:rPr>
              <a:t>number </a:t>
            </a:r>
            <a:r>
              <a:rPr sz="2600" dirty="0">
                <a:latin typeface="Perpetua"/>
                <a:cs typeface="Perpetua"/>
              </a:rPr>
              <a:t>is c = a + b = 0 + 1 =</a:t>
            </a:r>
            <a:r>
              <a:rPr sz="2600" spc="-15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1.</a:t>
            </a:r>
            <a:endParaRPr sz="2600">
              <a:latin typeface="Perpetua"/>
              <a:cs typeface="Perpetua"/>
            </a:endParaRPr>
          </a:p>
          <a:p>
            <a:pPr marL="285115" marR="5080" indent="-273050" algn="just">
              <a:lnSpc>
                <a:spcPct val="100000"/>
              </a:lnSpc>
              <a:spcBef>
                <a:spcPts val="600"/>
              </a:spcBef>
              <a:buSzPct val="84615"/>
              <a:buFont typeface="Wingdings 2"/>
              <a:buChar char=""/>
              <a:tabLst>
                <a:tab pos="285750" algn="l"/>
              </a:tabLst>
            </a:pPr>
            <a:r>
              <a:rPr sz="2600" spc="-5" dirty="0">
                <a:latin typeface="Perpetua"/>
                <a:cs typeface="Perpetua"/>
              </a:rPr>
              <a:t>Similarly </a:t>
            </a:r>
            <a:r>
              <a:rPr sz="2600" spc="-10" dirty="0">
                <a:latin typeface="Perpetua"/>
                <a:cs typeface="Perpetua"/>
              </a:rPr>
              <a:t>consecutive </a:t>
            </a:r>
            <a:r>
              <a:rPr sz="2600" spc="15" dirty="0">
                <a:latin typeface="Perpetua"/>
                <a:cs typeface="Perpetua"/>
              </a:rPr>
              <a:t>terms </a:t>
            </a:r>
            <a:r>
              <a:rPr sz="2600" dirty="0">
                <a:latin typeface="Perpetua"/>
                <a:cs typeface="Perpetua"/>
              </a:rPr>
              <a:t>can </a:t>
            </a:r>
            <a:r>
              <a:rPr sz="2600" spc="-5" dirty="0">
                <a:latin typeface="Perpetua"/>
                <a:cs typeface="Perpetua"/>
              </a:rPr>
              <a:t>be generated </a:t>
            </a:r>
            <a:r>
              <a:rPr sz="2600" spc="-15" dirty="0">
                <a:latin typeface="Perpetua"/>
                <a:cs typeface="Perpetua"/>
              </a:rPr>
              <a:t>iteratively </a:t>
            </a:r>
            <a:r>
              <a:rPr sz="2600" spc="-10" dirty="0">
                <a:latin typeface="Perpetua"/>
                <a:cs typeface="Perpetua"/>
              </a:rPr>
              <a:t>but </a:t>
            </a:r>
            <a:r>
              <a:rPr sz="2600" dirty="0">
                <a:latin typeface="Perpetua"/>
                <a:cs typeface="Perpetua"/>
              </a:rPr>
              <a:t>making  necessary </a:t>
            </a:r>
            <a:r>
              <a:rPr sz="2600" spc="-5" dirty="0">
                <a:latin typeface="Perpetua"/>
                <a:cs typeface="Perpetua"/>
              </a:rPr>
              <a:t>assignments to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preceding and </a:t>
            </a:r>
            <a:r>
              <a:rPr sz="2600" spc="15" dirty="0">
                <a:latin typeface="Perpetua"/>
                <a:cs typeface="Perpetua"/>
              </a:rPr>
              <a:t>term </a:t>
            </a:r>
            <a:r>
              <a:rPr sz="2600" spc="-5" dirty="0">
                <a:latin typeface="Perpetua"/>
                <a:cs typeface="Perpetua"/>
              </a:rPr>
              <a:t>before </a:t>
            </a:r>
            <a:r>
              <a:rPr sz="2600" spc="-10" dirty="0">
                <a:latin typeface="Perpetua"/>
                <a:cs typeface="Perpetua"/>
              </a:rPr>
              <a:t>preceding  </a:t>
            </a:r>
            <a:r>
              <a:rPr sz="2600" spc="5" dirty="0">
                <a:latin typeface="Perpetua"/>
                <a:cs typeface="Perpetua"/>
              </a:rPr>
              <a:t>terms!!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0842" y="1281905"/>
            <a:ext cx="8338820" cy="4674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4679315">
              <a:lnSpc>
                <a:spcPct val="119200"/>
              </a:lnSpc>
              <a:spcBef>
                <a:spcPts val="95"/>
              </a:spcBef>
              <a:buSzPct val="84615"/>
              <a:buFont typeface="Wingdings 2"/>
              <a:buChar char=""/>
              <a:tabLst>
                <a:tab pos="285750" algn="l"/>
              </a:tabLst>
            </a:pPr>
            <a:r>
              <a:rPr sz="2600" spc="-10" dirty="0">
                <a:latin typeface="Perpetua"/>
                <a:cs typeface="Perpetua"/>
              </a:rPr>
              <a:t>Given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10" dirty="0">
                <a:latin typeface="Perpetua"/>
                <a:cs typeface="Perpetua"/>
              </a:rPr>
              <a:t>first </a:t>
            </a:r>
            <a:r>
              <a:rPr sz="2600" spc="-35" dirty="0">
                <a:latin typeface="Perpetua"/>
                <a:cs typeface="Perpetua"/>
              </a:rPr>
              <a:t>two </a:t>
            </a:r>
            <a:r>
              <a:rPr sz="2600" dirty="0">
                <a:latin typeface="Perpetua"/>
                <a:cs typeface="Perpetua"/>
              </a:rPr>
              <a:t>numbers  a =</a:t>
            </a:r>
            <a:r>
              <a:rPr sz="2600" spc="-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0</a:t>
            </a:r>
            <a:endParaRPr sz="26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2600" dirty="0">
                <a:latin typeface="Perpetua"/>
                <a:cs typeface="Perpetua"/>
              </a:rPr>
              <a:t>b = 1</a:t>
            </a:r>
            <a:endParaRPr sz="26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600" dirty="0">
                <a:latin typeface="Perpetua"/>
                <a:cs typeface="Perpetua"/>
              </a:rPr>
              <a:t>the third </a:t>
            </a:r>
            <a:r>
              <a:rPr sz="2600" spc="-5" dirty="0">
                <a:latin typeface="Perpetua"/>
                <a:cs typeface="Perpetua"/>
              </a:rPr>
              <a:t>number </a:t>
            </a:r>
            <a:r>
              <a:rPr sz="2600" dirty="0">
                <a:latin typeface="Perpetua"/>
                <a:cs typeface="Perpetua"/>
              </a:rPr>
              <a:t>is c = a + b = 0 + 1 =</a:t>
            </a:r>
            <a:r>
              <a:rPr sz="2600" spc="-3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1.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750">
              <a:latin typeface="Times New Roman"/>
              <a:cs typeface="Times New Roman"/>
            </a:endParaRPr>
          </a:p>
          <a:p>
            <a:pPr marL="285115" marR="5080" indent="-273050">
              <a:lnSpc>
                <a:spcPct val="100000"/>
              </a:lnSpc>
              <a:spcBef>
                <a:spcPts val="5"/>
              </a:spcBef>
              <a:buSzPct val="84615"/>
              <a:buFont typeface="Wingdings 2"/>
              <a:buChar char=""/>
              <a:tabLst>
                <a:tab pos="285750" algn="l"/>
              </a:tabLst>
            </a:pPr>
            <a:r>
              <a:rPr sz="2600" spc="-25" dirty="0">
                <a:latin typeface="Perpetua"/>
                <a:cs typeface="Perpetua"/>
              </a:rPr>
              <a:t>Now </a:t>
            </a:r>
            <a:r>
              <a:rPr sz="2600" spc="-5" dirty="0">
                <a:latin typeface="Perpetua"/>
                <a:cs typeface="Perpetua"/>
              </a:rPr>
              <a:t>to generate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10" dirty="0">
                <a:latin typeface="Perpetua"/>
                <a:cs typeface="Perpetua"/>
              </a:rPr>
              <a:t>fourth </a:t>
            </a:r>
            <a:r>
              <a:rPr sz="2600" spc="-10" dirty="0">
                <a:latin typeface="Perpetua"/>
                <a:cs typeface="Perpetua"/>
              </a:rPr>
              <a:t>number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5" dirty="0">
                <a:latin typeface="Perpetua"/>
                <a:cs typeface="Perpetua"/>
              </a:rPr>
              <a:t>following </a:t>
            </a:r>
            <a:r>
              <a:rPr sz="2600" spc="-5" dirty="0">
                <a:latin typeface="Perpetua"/>
                <a:cs typeface="Perpetua"/>
              </a:rPr>
              <a:t>reassignments  </a:t>
            </a:r>
            <a:r>
              <a:rPr sz="2600" spc="-35" dirty="0">
                <a:latin typeface="Perpetua"/>
                <a:cs typeface="Perpetua"/>
              </a:rPr>
              <a:t>have </a:t>
            </a:r>
            <a:r>
              <a:rPr sz="2600" spc="-5" dirty="0">
                <a:latin typeface="Perpetua"/>
                <a:cs typeface="Perpetua"/>
              </a:rPr>
              <a:t>to be made </a:t>
            </a:r>
            <a:r>
              <a:rPr sz="2600" dirty="0">
                <a:latin typeface="Perpetua"/>
                <a:cs typeface="Perpetua"/>
              </a:rPr>
              <a:t>so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spc="-50" dirty="0">
                <a:latin typeface="Perpetua"/>
                <a:cs typeface="Perpetua"/>
              </a:rPr>
              <a:t>we </a:t>
            </a:r>
            <a:r>
              <a:rPr sz="2600" spc="-5" dirty="0">
                <a:latin typeface="Perpetua"/>
                <a:cs typeface="Perpetua"/>
              </a:rPr>
              <a:t>can </a:t>
            </a:r>
            <a:r>
              <a:rPr sz="2600" dirty="0">
                <a:latin typeface="Perpetua"/>
                <a:cs typeface="Perpetua"/>
              </a:rPr>
              <a:t>slide the </a:t>
            </a:r>
            <a:r>
              <a:rPr sz="2600" spc="-5" dirty="0">
                <a:latin typeface="Perpetua"/>
                <a:cs typeface="Perpetua"/>
              </a:rPr>
              <a:t>preceding </a:t>
            </a:r>
            <a:r>
              <a:rPr sz="2600" spc="10" dirty="0">
                <a:latin typeface="Perpetua"/>
                <a:cs typeface="Perpetua"/>
              </a:rPr>
              <a:t>terms</a:t>
            </a:r>
            <a:r>
              <a:rPr sz="2600" spc="10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forward.</a:t>
            </a:r>
            <a:endParaRPr sz="2600">
              <a:latin typeface="Perpetua"/>
              <a:cs typeface="Perpetua"/>
            </a:endParaRPr>
          </a:p>
          <a:p>
            <a:pPr marL="12700" marR="7672070">
              <a:lnSpc>
                <a:spcPts val="3720"/>
              </a:lnSpc>
              <a:spcBef>
                <a:spcPts val="220"/>
              </a:spcBef>
            </a:pPr>
            <a:r>
              <a:rPr sz="2600" dirty="0">
                <a:latin typeface="Perpetua"/>
                <a:cs typeface="Perpetua"/>
              </a:rPr>
              <a:t>a =</a:t>
            </a:r>
            <a:r>
              <a:rPr sz="2600" spc="-9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b  b =</a:t>
            </a:r>
            <a:r>
              <a:rPr sz="2600" spc="-9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c</a:t>
            </a:r>
            <a:endParaRPr sz="26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15" dirty="0">
                <a:latin typeface="Perpetua"/>
                <a:cs typeface="Perpetua"/>
              </a:rPr>
              <a:t>fourth </a:t>
            </a:r>
            <a:r>
              <a:rPr sz="2600" spc="-5" dirty="0">
                <a:latin typeface="Perpetua"/>
                <a:cs typeface="Perpetua"/>
              </a:rPr>
              <a:t>number </a:t>
            </a:r>
            <a:r>
              <a:rPr sz="2600" dirty="0">
                <a:latin typeface="Perpetua"/>
                <a:cs typeface="Perpetua"/>
              </a:rPr>
              <a:t>is c = a + b = 1 + 1 =</a:t>
            </a:r>
            <a:r>
              <a:rPr sz="2600" spc="-5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2.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37592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Let us </a:t>
            </a:r>
            <a:r>
              <a:rPr spc="-40" dirty="0"/>
              <a:t>work </a:t>
            </a:r>
            <a:r>
              <a:rPr spc="-10" dirty="0"/>
              <a:t>through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0842" y="979678"/>
            <a:ext cx="7004050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10235" algn="l"/>
                <a:tab pos="1303655" algn="l"/>
                <a:tab pos="1998345" algn="l"/>
                <a:tab pos="2788285" algn="l"/>
                <a:tab pos="3482975" algn="l"/>
                <a:tab pos="4274185" algn="l"/>
                <a:tab pos="4967605" algn="l"/>
                <a:tab pos="5956935" algn="l"/>
              </a:tabLst>
            </a:pPr>
            <a:r>
              <a:rPr sz="3400" spc="-5" dirty="0">
                <a:latin typeface="Perpetua"/>
                <a:cs typeface="Perpetua"/>
              </a:rPr>
              <a:t>0,	1,	1,	2,	3,	5,	8,	13,	</a:t>
            </a:r>
            <a:r>
              <a:rPr sz="3400" dirty="0">
                <a:latin typeface="Perpetua"/>
                <a:cs typeface="Perpetua"/>
              </a:rPr>
              <a:t>21,</a:t>
            </a:r>
            <a:r>
              <a:rPr sz="3400" spc="-220" dirty="0">
                <a:latin typeface="Perpetua"/>
                <a:cs typeface="Perpetua"/>
              </a:rPr>
              <a:t> </a:t>
            </a:r>
            <a:r>
              <a:rPr sz="3400" spc="-5" dirty="0">
                <a:latin typeface="Perpetua"/>
                <a:cs typeface="Perpetua"/>
              </a:rPr>
              <a:t>…</a:t>
            </a:r>
            <a:endParaRPr sz="3400">
              <a:latin typeface="Perpetua"/>
              <a:cs typeface="Perpetu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92251" y="1440180"/>
            <a:ext cx="76200" cy="506095"/>
          </a:xfrm>
          <a:custGeom>
            <a:avLst/>
            <a:gdLst/>
            <a:ahLst/>
            <a:cxnLst/>
            <a:rect l="l" t="t" r="r" b="b"/>
            <a:pathLst>
              <a:path w="76200" h="506094">
                <a:moveTo>
                  <a:pt x="38176" y="50800"/>
                </a:moveTo>
                <a:lnTo>
                  <a:pt x="31813" y="55012"/>
                </a:lnTo>
                <a:lnTo>
                  <a:pt x="30454" y="505968"/>
                </a:lnTo>
                <a:lnTo>
                  <a:pt x="43154" y="505968"/>
                </a:lnTo>
                <a:lnTo>
                  <a:pt x="44449" y="76327"/>
                </a:lnTo>
                <a:lnTo>
                  <a:pt x="44450" y="55012"/>
                </a:lnTo>
                <a:lnTo>
                  <a:pt x="38176" y="50800"/>
                </a:lnTo>
                <a:close/>
              </a:path>
              <a:path w="76200" h="506094">
                <a:moveTo>
                  <a:pt x="63534" y="50800"/>
                </a:moveTo>
                <a:lnTo>
                  <a:pt x="44526" y="50800"/>
                </a:lnTo>
                <a:lnTo>
                  <a:pt x="44513" y="55054"/>
                </a:lnTo>
                <a:lnTo>
                  <a:pt x="76200" y="76327"/>
                </a:lnTo>
                <a:lnTo>
                  <a:pt x="63534" y="50800"/>
                </a:lnTo>
                <a:close/>
              </a:path>
              <a:path w="76200" h="506094">
                <a:moveTo>
                  <a:pt x="38328" y="0"/>
                </a:moveTo>
                <a:lnTo>
                  <a:pt x="0" y="76073"/>
                </a:lnTo>
                <a:lnTo>
                  <a:pt x="31749" y="55054"/>
                </a:lnTo>
                <a:lnTo>
                  <a:pt x="31826" y="50800"/>
                </a:lnTo>
                <a:lnTo>
                  <a:pt x="63534" y="50800"/>
                </a:lnTo>
                <a:lnTo>
                  <a:pt x="38328" y="0"/>
                </a:lnTo>
                <a:close/>
              </a:path>
              <a:path w="76200" h="506094">
                <a:moveTo>
                  <a:pt x="44526" y="50800"/>
                </a:moveTo>
                <a:lnTo>
                  <a:pt x="38176" y="50800"/>
                </a:lnTo>
                <a:lnTo>
                  <a:pt x="44513" y="55054"/>
                </a:lnTo>
                <a:lnTo>
                  <a:pt x="44526" y="50800"/>
                </a:lnTo>
                <a:close/>
              </a:path>
              <a:path w="76200" h="506094">
                <a:moveTo>
                  <a:pt x="38176" y="50800"/>
                </a:moveTo>
                <a:lnTo>
                  <a:pt x="31826" y="50800"/>
                </a:lnTo>
                <a:lnTo>
                  <a:pt x="31813" y="55012"/>
                </a:lnTo>
                <a:lnTo>
                  <a:pt x="38176" y="50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403350" y="1440180"/>
            <a:ext cx="76200" cy="506095"/>
          </a:xfrm>
          <a:custGeom>
            <a:avLst/>
            <a:gdLst/>
            <a:ahLst/>
            <a:cxnLst/>
            <a:rect l="l" t="t" r="r" b="b"/>
            <a:pathLst>
              <a:path w="76200" h="506094">
                <a:moveTo>
                  <a:pt x="38227" y="50800"/>
                </a:moveTo>
                <a:lnTo>
                  <a:pt x="31864" y="55006"/>
                </a:lnTo>
                <a:lnTo>
                  <a:pt x="30480" y="505968"/>
                </a:lnTo>
                <a:lnTo>
                  <a:pt x="43180" y="505968"/>
                </a:lnTo>
                <a:lnTo>
                  <a:pt x="44498" y="76327"/>
                </a:lnTo>
                <a:lnTo>
                  <a:pt x="44484" y="55006"/>
                </a:lnTo>
                <a:lnTo>
                  <a:pt x="38227" y="50800"/>
                </a:lnTo>
                <a:close/>
              </a:path>
              <a:path w="76200" h="506094">
                <a:moveTo>
                  <a:pt x="63542" y="50800"/>
                </a:moveTo>
                <a:lnTo>
                  <a:pt x="44577" y="50800"/>
                </a:lnTo>
                <a:lnTo>
                  <a:pt x="44563" y="55059"/>
                </a:lnTo>
                <a:lnTo>
                  <a:pt x="76200" y="76327"/>
                </a:lnTo>
                <a:lnTo>
                  <a:pt x="63542" y="50800"/>
                </a:lnTo>
                <a:close/>
              </a:path>
              <a:path w="76200" h="506094">
                <a:moveTo>
                  <a:pt x="38353" y="0"/>
                </a:moveTo>
                <a:lnTo>
                  <a:pt x="0" y="76073"/>
                </a:lnTo>
                <a:lnTo>
                  <a:pt x="31783" y="55059"/>
                </a:lnTo>
                <a:lnTo>
                  <a:pt x="31877" y="50800"/>
                </a:lnTo>
                <a:lnTo>
                  <a:pt x="63542" y="50800"/>
                </a:lnTo>
                <a:lnTo>
                  <a:pt x="38353" y="0"/>
                </a:lnTo>
                <a:close/>
              </a:path>
              <a:path w="76200" h="506094">
                <a:moveTo>
                  <a:pt x="44577" y="50800"/>
                </a:moveTo>
                <a:lnTo>
                  <a:pt x="38227" y="50800"/>
                </a:lnTo>
                <a:lnTo>
                  <a:pt x="44563" y="55059"/>
                </a:lnTo>
                <a:lnTo>
                  <a:pt x="44577" y="50800"/>
                </a:lnTo>
                <a:close/>
              </a:path>
              <a:path w="76200" h="506094">
                <a:moveTo>
                  <a:pt x="38227" y="50800"/>
                </a:moveTo>
                <a:lnTo>
                  <a:pt x="31877" y="50800"/>
                </a:lnTo>
                <a:lnTo>
                  <a:pt x="31864" y="55006"/>
                </a:lnTo>
                <a:lnTo>
                  <a:pt x="38227" y="50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29792" y="1905126"/>
            <a:ext cx="14668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latin typeface="Perpetua"/>
                <a:cs typeface="Perpetua"/>
              </a:rPr>
              <a:t>a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41247" y="1922221"/>
            <a:ext cx="173990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latin typeface="Perpetua"/>
                <a:cs typeface="Perpetua"/>
              </a:rPr>
              <a:t>b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115692" y="1438655"/>
            <a:ext cx="76200" cy="1658620"/>
          </a:xfrm>
          <a:custGeom>
            <a:avLst/>
            <a:gdLst/>
            <a:ahLst/>
            <a:cxnLst/>
            <a:rect l="l" t="t" r="r" b="b"/>
            <a:pathLst>
              <a:path w="76200" h="1658620">
                <a:moveTo>
                  <a:pt x="37973" y="50800"/>
                </a:moveTo>
                <a:lnTo>
                  <a:pt x="31767" y="54992"/>
                </a:lnTo>
                <a:lnTo>
                  <a:pt x="31764" y="76454"/>
                </a:lnTo>
                <a:lnTo>
                  <a:pt x="40512" y="1658112"/>
                </a:lnTo>
                <a:lnTo>
                  <a:pt x="53212" y="1658112"/>
                </a:lnTo>
                <a:lnTo>
                  <a:pt x="44346" y="54992"/>
                </a:lnTo>
                <a:lnTo>
                  <a:pt x="37973" y="50800"/>
                </a:lnTo>
                <a:close/>
              </a:path>
              <a:path w="76200" h="1658620">
                <a:moveTo>
                  <a:pt x="37718" y="0"/>
                </a:moveTo>
                <a:lnTo>
                  <a:pt x="0" y="76454"/>
                </a:lnTo>
                <a:lnTo>
                  <a:pt x="31646" y="55073"/>
                </a:lnTo>
                <a:lnTo>
                  <a:pt x="31623" y="50800"/>
                </a:lnTo>
                <a:lnTo>
                  <a:pt x="63458" y="50800"/>
                </a:lnTo>
                <a:lnTo>
                  <a:pt x="37718" y="0"/>
                </a:lnTo>
                <a:close/>
              </a:path>
              <a:path w="76200" h="1658620">
                <a:moveTo>
                  <a:pt x="63458" y="50800"/>
                </a:moveTo>
                <a:lnTo>
                  <a:pt x="44323" y="50800"/>
                </a:lnTo>
                <a:lnTo>
                  <a:pt x="44346" y="54992"/>
                </a:lnTo>
                <a:lnTo>
                  <a:pt x="76200" y="75946"/>
                </a:lnTo>
                <a:lnTo>
                  <a:pt x="63458" y="50800"/>
                </a:lnTo>
                <a:close/>
              </a:path>
              <a:path w="76200" h="1658620">
                <a:moveTo>
                  <a:pt x="37973" y="50800"/>
                </a:moveTo>
                <a:lnTo>
                  <a:pt x="31623" y="50800"/>
                </a:lnTo>
                <a:lnTo>
                  <a:pt x="31646" y="55073"/>
                </a:lnTo>
                <a:lnTo>
                  <a:pt x="37973" y="50800"/>
                </a:lnTo>
                <a:close/>
              </a:path>
              <a:path w="76200" h="1658620">
                <a:moveTo>
                  <a:pt x="44323" y="50800"/>
                </a:moveTo>
                <a:lnTo>
                  <a:pt x="37973" y="50800"/>
                </a:lnTo>
                <a:lnTo>
                  <a:pt x="44346" y="54992"/>
                </a:lnTo>
                <a:lnTo>
                  <a:pt x="44323" y="50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41477" y="3186258"/>
            <a:ext cx="8437880" cy="24218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15950" marR="4248785" indent="-603885">
              <a:lnSpc>
                <a:spcPct val="108100"/>
              </a:lnSpc>
              <a:spcBef>
                <a:spcPts val="100"/>
              </a:spcBef>
            </a:pPr>
            <a:r>
              <a:rPr sz="2600" dirty="0">
                <a:latin typeface="Perpetua"/>
                <a:cs typeface="Perpetua"/>
              </a:rPr>
              <a:t>Thinking in </a:t>
            </a:r>
            <a:r>
              <a:rPr sz="2600" spc="10" dirty="0">
                <a:latin typeface="Perpetua"/>
                <a:cs typeface="Perpetua"/>
              </a:rPr>
              <a:t>terms </a:t>
            </a:r>
            <a:r>
              <a:rPr sz="2600" dirty="0">
                <a:latin typeface="Perpetua"/>
                <a:cs typeface="Perpetua"/>
              </a:rPr>
              <a:t>of alternating </a:t>
            </a:r>
            <a:r>
              <a:rPr sz="2600" spc="-5" dirty="0">
                <a:latin typeface="Perpetua"/>
                <a:cs typeface="Perpetua"/>
              </a:rPr>
              <a:t>a's  and </a:t>
            </a:r>
            <a:r>
              <a:rPr sz="2600" dirty="0">
                <a:latin typeface="Perpetua"/>
                <a:cs typeface="Perpetua"/>
              </a:rPr>
              <a:t>b's </a:t>
            </a:r>
            <a:r>
              <a:rPr sz="2600" spc="-5" dirty="0">
                <a:latin typeface="Perpetua"/>
                <a:cs typeface="Perpetua"/>
              </a:rPr>
              <a:t>our </a:t>
            </a:r>
            <a:r>
              <a:rPr sz="2600" spc="-15" dirty="0">
                <a:latin typeface="Perpetua"/>
                <a:cs typeface="Perpetua"/>
              </a:rPr>
              <a:t>new </a:t>
            </a:r>
            <a:r>
              <a:rPr sz="2600" dirty="0">
                <a:latin typeface="Perpetua"/>
                <a:cs typeface="Perpetua"/>
              </a:rPr>
              <a:t>a is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spc="-45" dirty="0">
                <a:latin typeface="Perpetua"/>
                <a:cs typeface="Perpetua"/>
              </a:rPr>
              <a:t>a+b.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</a:pPr>
            <a:endParaRPr sz="3000">
              <a:latin typeface="Times New Roman"/>
              <a:cs typeface="Times New Roman"/>
            </a:endParaRPr>
          </a:p>
          <a:p>
            <a:pPr marL="384810" marR="5080" indent="-273050">
              <a:lnSpc>
                <a:spcPct val="100000"/>
              </a:lnSpc>
              <a:spcBef>
                <a:spcPts val="2425"/>
              </a:spcBef>
              <a:buSzPct val="84615"/>
              <a:buFont typeface="Wingdings 2"/>
              <a:buChar char=""/>
              <a:tabLst>
                <a:tab pos="385445" algn="l"/>
              </a:tabLst>
            </a:pPr>
            <a:r>
              <a:rPr sz="2600" spc="-20" dirty="0">
                <a:latin typeface="Perpetua"/>
                <a:cs typeface="Perpetua"/>
              </a:rPr>
              <a:t>So, </a:t>
            </a:r>
            <a:r>
              <a:rPr sz="2600" spc="-50" dirty="0">
                <a:latin typeface="Perpetua"/>
                <a:cs typeface="Perpetua"/>
              </a:rPr>
              <a:t>we </a:t>
            </a:r>
            <a:r>
              <a:rPr sz="2600" spc="-5" dirty="0">
                <a:latin typeface="Perpetua"/>
                <a:cs typeface="Perpetua"/>
              </a:rPr>
              <a:t>can generate </a:t>
            </a:r>
            <a:r>
              <a:rPr sz="2600" spc="-10" dirty="0">
                <a:latin typeface="Perpetua"/>
                <a:cs typeface="Perpetua"/>
              </a:rPr>
              <a:t>consecutive </a:t>
            </a:r>
            <a:r>
              <a:rPr sz="2600" spc="-5" dirty="0">
                <a:latin typeface="Perpetua"/>
                <a:cs typeface="Perpetua"/>
              </a:rPr>
              <a:t>Fibonacci </a:t>
            </a:r>
            <a:r>
              <a:rPr sz="2600" dirty="0">
                <a:latin typeface="Perpetua"/>
                <a:cs typeface="Perpetua"/>
              </a:rPr>
              <a:t>numbers in </a:t>
            </a:r>
            <a:r>
              <a:rPr sz="2600" spc="10" dirty="0">
                <a:latin typeface="Perpetua"/>
                <a:cs typeface="Perpetua"/>
              </a:rPr>
              <a:t>pairs </a:t>
            </a:r>
            <a:r>
              <a:rPr sz="2600" spc="-5" dirty="0">
                <a:latin typeface="Perpetua"/>
                <a:cs typeface="Perpetua"/>
              </a:rPr>
              <a:t>using  </a:t>
            </a:r>
            <a:r>
              <a:rPr sz="2600" dirty="0">
                <a:latin typeface="Perpetua"/>
                <a:cs typeface="Perpetua"/>
              </a:rPr>
              <a:t>a = </a:t>
            </a:r>
            <a:r>
              <a:rPr sz="2600" spc="-5" dirty="0">
                <a:latin typeface="Perpetua"/>
                <a:cs typeface="Perpetua"/>
              </a:rPr>
              <a:t>a+b and </a:t>
            </a:r>
            <a:r>
              <a:rPr sz="2600" dirty="0">
                <a:latin typeface="Perpetua"/>
                <a:cs typeface="Perpetua"/>
              </a:rPr>
              <a:t>b =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spc="-40" dirty="0">
                <a:latin typeface="Perpetua"/>
                <a:cs typeface="Perpetua"/>
              </a:rPr>
              <a:t>a+b.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806954" y="1440180"/>
            <a:ext cx="76200" cy="506095"/>
          </a:xfrm>
          <a:custGeom>
            <a:avLst/>
            <a:gdLst/>
            <a:ahLst/>
            <a:cxnLst/>
            <a:rect l="l" t="t" r="r" b="b"/>
            <a:pathLst>
              <a:path w="76200" h="506094">
                <a:moveTo>
                  <a:pt x="38226" y="50800"/>
                </a:moveTo>
                <a:lnTo>
                  <a:pt x="31864" y="55006"/>
                </a:lnTo>
                <a:lnTo>
                  <a:pt x="30479" y="505968"/>
                </a:lnTo>
                <a:lnTo>
                  <a:pt x="43179" y="505968"/>
                </a:lnTo>
                <a:lnTo>
                  <a:pt x="44498" y="76327"/>
                </a:lnTo>
                <a:lnTo>
                  <a:pt x="44484" y="55006"/>
                </a:lnTo>
                <a:lnTo>
                  <a:pt x="38226" y="50800"/>
                </a:lnTo>
                <a:close/>
              </a:path>
              <a:path w="76200" h="506094">
                <a:moveTo>
                  <a:pt x="63542" y="50800"/>
                </a:moveTo>
                <a:lnTo>
                  <a:pt x="44576" y="50800"/>
                </a:lnTo>
                <a:lnTo>
                  <a:pt x="44563" y="55059"/>
                </a:lnTo>
                <a:lnTo>
                  <a:pt x="76200" y="76327"/>
                </a:lnTo>
                <a:lnTo>
                  <a:pt x="63542" y="50800"/>
                </a:lnTo>
                <a:close/>
              </a:path>
              <a:path w="76200" h="506094">
                <a:moveTo>
                  <a:pt x="38353" y="0"/>
                </a:moveTo>
                <a:lnTo>
                  <a:pt x="0" y="76073"/>
                </a:lnTo>
                <a:lnTo>
                  <a:pt x="31783" y="55059"/>
                </a:lnTo>
                <a:lnTo>
                  <a:pt x="31876" y="50800"/>
                </a:lnTo>
                <a:lnTo>
                  <a:pt x="63542" y="50800"/>
                </a:lnTo>
                <a:lnTo>
                  <a:pt x="38353" y="0"/>
                </a:lnTo>
                <a:close/>
              </a:path>
              <a:path w="76200" h="506094">
                <a:moveTo>
                  <a:pt x="44576" y="50800"/>
                </a:moveTo>
                <a:lnTo>
                  <a:pt x="38226" y="50800"/>
                </a:lnTo>
                <a:lnTo>
                  <a:pt x="44563" y="55059"/>
                </a:lnTo>
                <a:lnTo>
                  <a:pt x="44576" y="50800"/>
                </a:lnTo>
                <a:close/>
              </a:path>
              <a:path w="76200" h="506094">
                <a:moveTo>
                  <a:pt x="38226" y="50800"/>
                </a:moveTo>
                <a:lnTo>
                  <a:pt x="31876" y="50800"/>
                </a:lnTo>
                <a:lnTo>
                  <a:pt x="31864" y="55006"/>
                </a:lnTo>
                <a:lnTo>
                  <a:pt x="38226" y="50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470150" y="1931009"/>
            <a:ext cx="3197225" cy="8820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01600">
              <a:lnSpc>
                <a:spcPct val="108100"/>
              </a:lnSpc>
              <a:spcBef>
                <a:spcPts val="95"/>
              </a:spcBef>
            </a:pPr>
            <a:r>
              <a:rPr sz="2600" dirty="0">
                <a:latin typeface="Perpetua"/>
                <a:cs typeface="Perpetua"/>
              </a:rPr>
              <a:t>Our </a:t>
            </a:r>
            <a:r>
              <a:rPr sz="2600" spc="-15" dirty="0">
                <a:latin typeface="Perpetua"/>
                <a:cs typeface="Perpetua"/>
              </a:rPr>
              <a:t>new </a:t>
            </a:r>
            <a:r>
              <a:rPr sz="2600" i="1" dirty="0">
                <a:latin typeface="Perpetua"/>
                <a:cs typeface="Perpetua"/>
              </a:rPr>
              <a:t>b </a:t>
            </a:r>
            <a:r>
              <a:rPr sz="2600" dirty="0">
                <a:latin typeface="Perpetua"/>
                <a:cs typeface="Perpetua"/>
              </a:rPr>
              <a:t>is our old </a:t>
            </a:r>
            <a:r>
              <a:rPr sz="2600" i="1" dirty="0">
                <a:latin typeface="Perpetua"/>
                <a:cs typeface="Perpetua"/>
              </a:rPr>
              <a:t>b </a:t>
            </a:r>
            <a:r>
              <a:rPr sz="2600" dirty="0">
                <a:latin typeface="Perpetua"/>
                <a:cs typeface="Perpetua"/>
              </a:rPr>
              <a:t>+  </a:t>
            </a:r>
            <a:r>
              <a:rPr sz="2600" spc="-15" dirty="0">
                <a:latin typeface="Perpetua"/>
                <a:cs typeface="Perpetua"/>
              </a:rPr>
              <a:t>new </a:t>
            </a:r>
            <a:r>
              <a:rPr sz="2600" i="1" dirty="0">
                <a:latin typeface="Perpetua"/>
                <a:cs typeface="Perpetua"/>
              </a:rPr>
              <a:t>a </a:t>
            </a:r>
            <a:r>
              <a:rPr sz="2600" spc="5" dirty="0">
                <a:latin typeface="Perpetua"/>
                <a:cs typeface="Perpetua"/>
              </a:rPr>
              <a:t>which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i="1" dirty="0">
                <a:latin typeface="Perpetua"/>
                <a:cs typeface="Perpetua"/>
              </a:rPr>
              <a:t>a+b</a:t>
            </a:r>
            <a:r>
              <a:rPr sz="2600" i="1" spc="-6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again!!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07340" y="357886"/>
            <a:ext cx="44056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Room for</a:t>
            </a:r>
            <a:r>
              <a:rPr spc="-50" dirty="0"/>
              <a:t> </a:t>
            </a:r>
            <a:r>
              <a:rPr spc="-25" dirty="0"/>
              <a:t>Improvement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842" y="670855"/>
            <a:ext cx="3394075" cy="971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9300"/>
              </a:lnSpc>
              <a:spcBef>
                <a:spcPts val="100"/>
              </a:spcBef>
            </a:pPr>
            <a:r>
              <a:rPr sz="2600" spc="-10" dirty="0"/>
              <a:t>Given </a:t>
            </a:r>
            <a:r>
              <a:rPr sz="2600" dirty="0"/>
              <a:t>the </a:t>
            </a:r>
            <a:r>
              <a:rPr sz="2600" spc="10" dirty="0"/>
              <a:t>first </a:t>
            </a:r>
            <a:r>
              <a:rPr sz="2600" spc="-35" dirty="0"/>
              <a:t>two </a:t>
            </a:r>
            <a:r>
              <a:rPr sz="2600" spc="5" dirty="0"/>
              <a:t>numbers  </a:t>
            </a:r>
            <a:r>
              <a:rPr sz="2600" dirty="0"/>
              <a:t>a =</a:t>
            </a:r>
            <a:r>
              <a:rPr sz="2600" spc="-5" dirty="0"/>
              <a:t> </a:t>
            </a:r>
            <a:r>
              <a:rPr sz="2600" dirty="0"/>
              <a:t>0</a:t>
            </a:r>
            <a:endParaRPr sz="2600"/>
          </a:p>
        </p:txBody>
      </p:sp>
      <p:sp>
        <p:nvSpPr>
          <p:cNvPr id="3" name="object 3"/>
          <p:cNvSpPr txBox="1"/>
          <p:nvPr/>
        </p:nvSpPr>
        <p:spPr>
          <a:xfrm>
            <a:off x="440842" y="1616557"/>
            <a:ext cx="5612130" cy="475107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600" dirty="0">
                <a:latin typeface="Perpetua"/>
                <a:cs typeface="Perpetua"/>
              </a:rPr>
              <a:t>b = 1</a:t>
            </a:r>
            <a:endParaRPr sz="2600">
              <a:latin typeface="Perpetua"/>
              <a:cs typeface="Perpetua"/>
            </a:endParaRPr>
          </a:p>
          <a:p>
            <a:pPr marL="12700" marR="2122170">
              <a:lnSpc>
                <a:spcPct val="119200"/>
              </a:lnSpc>
              <a:spcBef>
                <a:spcPts val="5"/>
              </a:spcBef>
            </a:pPr>
            <a:r>
              <a:rPr sz="2600" u="heavy" dirty="0">
                <a:uFill>
                  <a:solidFill>
                    <a:srgbClr val="000000"/>
                  </a:solidFill>
                </a:uFill>
                <a:latin typeface="Perpetua"/>
                <a:cs typeface="Perpetua"/>
              </a:rPr>
              <a:t>third </a:t>
            </a:r>
            <a:r>
              <a:rPr sz="2600" u="heavy" spc="-5" dirty="0">
                <a:uFill>
                  <a:solidFill>
                    <a:srgbClr val="000000"/>
                  </a:solidFill>
                </a:uFill>
                <a:latin typeface="Perpetua"/>
                <a:cs typeface="Perpetua"/>
              </a:rPr>
              <a:t>and </a:t>
            </a:r>
            <a:r>
              <a:rPr sz="2600" u="heavy" spc="10" dirty="0">
                <a:uFill>
                  <a:solidFill>
                    <a:srgbClr val="000000"/>
                  </a:solidFill>
                </a:uFill>
                <a:latin typeface="Perpetua"/>
                <a:cs typeface="Perpetua"/>
              </a:rPr>
              <a:t>fourth </a:t>
            </a:r>
            <a:r>
              <a:rPr sz="2600" u="heavy" dirty="0">
                <a:uFill>
                  <a:solidFill>
                    <a:srgbClr val="000000"/>
                  </a:solidFill>
                </a:uFill>
                <a:latin typeface="Perpetua"/>
                <a:cs typeface="Perpetua"/>
              </a:rPr>
              <a:t>numbers </a:t>
            </a:r>
            <a:r>
              <a:rPr sz="2600" u="heavy" spc="-10" dirty="0">
                <a:uFill>
                  <a:solidFill>
                    <a:srgbClr val="000000"/>
                  </a:solidFill>
                </a:uFill>
                <a:latin typeface="Perpetua"/>
                <a:cs typeface="Perpetua"/>
              </a:rPr>
              <a:t>are </a:t>
            </a:r>
            <a:r>
              <a:rPr sz="2600" spc="-1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 = a + b = 0 + 1 =</a:t>
            </a:r>
            <a:r>
              <a:rPr sz="2600" spc="-5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1</a:t>
            </a:r>
            <a:endParaRPr sz="2600">
              <a:latin typeface="Perpetua"/>
              <a:cs typeface="Perpetua"/>
            </a:endParaRPr>
          </a:p>
          <a:p>
            <a:pPr marL="12700" marR="154940">
              <a:lnSpc>
                <a:spcPts val="3720"/>
              </a:lnSpc>
              <a:spcBef>
                <a:spcPts val="220"/>
              </a:spcBef>
            </a:pPr>
            <a:r>
              <a:rPr sz="2600" dirty="0">
                <a:latin typeface="Perpetua"/>
                <a:cs typeface="Perpetua"/>
              </a:rPr>
              <a:t>b = a + b = </a:t>
            </a:r>
            <a:r>
              <a:rPr sz="2600" spc="-5" dirty="0">
                <a:latin typeface="Perpetua"/>
                <a:cs typeface="Perpetua"/>
              </a:rPr>
              <a:t>1(remember </a:t>
            </a:r>
            <a:r>
              <a:rPr sz="2600" dirty="0">
                <a:latin typeface="Perpetua"/>
                <a:cs typeface="Perpetua"/>
              </a:rPr>
              <a:t>a is </a:t>
            </a:r>
            <a:r>
              <a:rPr sz="2600" spc="-30" dirty="0">
                <a:latin typeface="Perpetua"/>
                <a:cs typeface="Perpetua"/>
              </a:rPr>
              <a:t>now </a:t>
            </a:r>
            <a:r>
              <a:rPr sz="2600" spc="-5" dirty="0">
                <a:latin typeface="Perpetua"/>
                <a:cs typeface="Perpetua"/>
              </a:rPr>
              <a:t>1) </a:t>
            </a:r>
            <a:r>
              <a:rPr sz="2600" dirty="0">
                <a:latin typeface="Perpetua"/>
                <a:cs typeface="Perpetua"/>
              </a:rPr>
              <a:t>+ 1 = 2  </a:t>
            </a:r>
            <a:r>
              <a:rPr sz="2600" u="heavy" spc="-5" dirty="0">
                <a:uFill>
                  <a:solidFill>
                    <a:srgbClr val="000000"/>
                  </a:solidFill>
                </a:uFill>
                <a:latin typeface="Perpetua"/>
                <a:cs typeface="Perpetua"/>
              </a:rPr>
              <a:t>fifth and </a:t>
            </a:r>
            <a:r>
              <a:rPr sz="2600" u="heavy" dirty="0">
                <a:uFill>
                  <a:solidFill>
                    <a:srgbClr val="000000"/>
                  </a:solidFill>
                </a:uFill>
                <a:latin typeface="Perpetua"/>
                <a:cs typeface="Perpetua"/>
              </a:rPr>
              <a:t>sixth numbers</a:t>
            </a:r>
            <a:r>
              <a:rPr sz="2600" u="heavy" spc="5" dirty="0">
                <a:uFill>
                  <a:solidFill>
                    <a:srgbClr val="000000"/>
                  </a:solidFill>
                </a:uFill>
                <a:latin typeface="Perpetua"/>
                <a:cs typeface="Perpetua"/>
              </a:rPr>
              <a:t> </a:t>
            </a:r>
            <a:r>
              <a:rPr sz="2600" u="heavy" spc="-10" dirty="0">
                <a:uFill>
                  <a:solidFill>
                    <a:srgbClr val="000000"/>
                  </a:solidFill>
                </a:uFill>
                <a:latin typeface="Perpetua"/>
                <a:cs typeface="Perpetua"/>
              </a:rPr>
              <a:t>are</a:t>
            </a:r>
            <a:endParaRPr sz="2600">
              <a:latin typeface="Perpetua"/>
              <a:cs typeface="Perpetua"/>
            </a:endParaRPr>
          </a:p>
          <a:p>
            <a:pPr marL="12700" marR="154940">
              <a:lnSpc>
                <a:spcPts val="3720"/>
              </a:lnSpc>
              <a:spcBef>
                <a:spcPts val="5"/>
              </a:spcBef>
            </a:pPr>
            <a:r>
              <a:rPr sz="2600" dirty="0">
                <a:latin typeface="Perpetua"/>
                <a:cs typeface="Perpetua"/>
              </a:rPr>
              <a:t>a = a + b = 1 + </a:t>
            </a:r>
            <a:r>
              <a:rPr sz="2600" spc="-5" dirty="0">
                <a:latin typeface="Perpetua"/>
                <a:cs typeface="Perpetua"/>
              </a:rPr>
              <a:t>2(remember </a:t>
            </a:r>
            <a:r>
              <a:rPr sz="2600" dirty="0">
                <a:latin typeface="Perpetua"/>
                <a:cs typeface="Perpetua"/>
              </a:rPr>
              <a:t>b is </a:t>
            </a:r>
            <a:r>
              <a:rPr sz="2600" spc="-30" dirty="0">
                <a:latin typeface="Perpetua"/>
                <a:cs typeface="Perpetua"/>
              </a:rPr>
              <a:t>now </a:t>
            </a:r>
            <a:r>
              <a:rPr sz="2600" spc="-5" dirty="0">
                <a:latin typeface="Perpetua"/>
                <a:cs typeface="Perpetua"/>
              </a:rPr>
              <a:t>2) </a:t>
            </a:r>
            <a:r>
              <a:rPr sz="2600" dirty="0">
                <a:latin typeface="Perpetua"/>
                <a:cs typeface="Perpetua"/>
              </a:rPr>
              <a:t>= 3  b = a + b = </a:t>
            </a:r>
            <a:r>
              <a:rPr sz="2600" spc="-5" dirty="0">
                <a:latin typeface="Perpetua"/>
                <a:cs typeface="Perpetua"/>
              </a:rPr>
              <a:t>1(remember </a:t>
            </a:r>
            <a:r>
              <a:rPr sz="2600" dirty="0">
                <a:latin typeface="Perpetua"/>
                <a:cs typeface="Perpetua"/>
              </a:rPr>
              <a:t>a is </a:t>
            </a:r>
            <a:r>
              <a:rPr sz="2600" spc="-25" dirty="0">
                <a:latin typeface="Perpetua"/>
                <a:cs typeface="Perpetua"/>
              </a:rPr>
              <a:t>now </a:t>
            </a:r>
            <a:r>
              <a:rPr sz="2600" dirty="0">
                <a:latin typeface="Perpetua"/>
                <a:cs typeface="Perpetua"/>
              </a:rPr>
              <a:t>3) + 2 =</a:t>
            </a:r>
            <a:r>
              <a:rPr sz="2600" spc="-7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5</a:t>
            </a:r>
            <a:endParaRPr sz="26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2600" u="heavy" spc="-15" dirty="0">
                <a:uFill>
                  <a:solidFill>
                    <a:srgbClr val="000000"/>
                  </a:solidFill>
                </a:uFill>
                <a:latin typeface="Perpetua"/>
                <a:cs typeface="Perpetua"/>
              </a:rPr>
              <a:t>seventh </a:t>
            </a:r>
            <a:r>
              <a:rPr sz="2600" u="heavy" spc="-5" dirty="0">
                <a:uFill>
                  <a:solidFill>
                    <a:srgbClr val="000000"/>
                  </a:solidFill>
                </a:uFill>
                <a:latin typeface="Perpetua"/>
                <a:cs typeface="Perpetua"/>
              </a:rPr>
              <a:t>and eighth </a:t>
            </a:r>
            <a:r>
              <a:rPr sz="2600" u="heavy" spc="5" dirty="0">
                <a:uFill>
                  <a:solidFill>
                    <a:srgbClr val="000000"/>
                  </a:solidFill>
                </a:uFill>
                <a:latin typeface="Perpetua"/>
                <a:cs typeface="Perpetua"/>
              </a:rPr>
              <a:t>numbers</a:t>
            </a:r>
            <a:r>
              <a:rPr sz="2600" u="heavy" spc="-10" dirty="0">
                <a:uFill>
                  <a:solidFill>
                    <a:srgbClr val="000000"/>
                  </a:solidFill>
                </a:uFill>
                <a:latin typeface="Perpetua"/>
                <a:cs typeface="Perpetua"/>
              </a:rPr>
              <a:t> are</a:t>
            </a:r>
            <a:endParaRPr sz="2600">
              <a:latin typeface="Perpetua"/>
              <a:cs typeface="Perpetua"/>
            </a:endParaRPr>
          </a:p>
          <a:p>
            <a:pPr marL="12700" marR="5080">
              <a:lnSpc>
                <a:spcPct val="119200"/>
              </a:lnSpc>
            </a:pPr>
            <a:r>
              <a:rPr sz="2600" dirty="0">
                <a:latin typeface="Perpetua"/>
                <a:cs typeface="Perpetua"/>
              </a:rPr>
              <a:t>a = a + b = 3 + </a:t>
            </a:r>
            <a:r>
              <a:rPr sz="2600" spc="-5" dirty="0">
                <a:latin typeface="Perpetua"/>
                <a:cs typeface="Perpetua"/>
              </a:rPr>
              <a:t>5(remember </a:t>
            </a:r>
            <a:r>
              <a:rPr sz="2600" dirty="0">
                <a:latin typeface="Perpetua"/>
                <a:cs typeface="Perpetua"/>
              </a:rPr>
              <a:t>b is </a:t>
            </a:r>
            <a:r>
              <a:rPr sz="2600" spc="-30" dirty="0">
                <a:latin typeface="Perpetua"/>
                <a:cs typeface="Perpetua"/>
              </a:rPr>
              <a:t>now </a:t>
            </a:r>
            <a:r>
              <a:rPr sz="2600" spc="-5" dirty="0">
                <a:latin typeface="Perpetua"/>
                <a:cs typeface="Perpetua"/>
              </a:rPr>
              <a:t>5) </a:t>
            </a:r>
            <a:r>
              <a:rPr sz="2600" dirty="0">
                <a:latin typeface="Perpetua"/>
                <a:cs typeface="Perpetua"/>
              </a:rPr>
              <a:t>= 8  b = a + b = </a:t>
            </a:r>
            <a:r>
              <a:rPr sz="2600" spc="-5" dirty="0">
                <a:latin typeface="Perpetua"/>
                <a:cs typeface="Perpetua"/>
              </a:rPr>
              <a:t>1(remember </a:t>
            </a:r>
            <a:r>
              <a:rPr sz="2600" dirty="0">
                <a:latin typeface="Perpetua"/>
                <a:cs typeface="Perpetua"/>
              </a:rPr>
              <a:t>a is </a:t>
            </a:r>
            <a:r>
              <a:rPr sz="2600" spc="-25" dirty="0">
                <a:latin typeface="Perpetua"/>
                <a:cs typeface="Perpetua"/>
              </a:rPr>
              <a:t>now </a:t>
            </a:r>
            <a:r>
              <a:rPr sz="2600" dirty="0">
                <a:latin typeface="Perpetua"/>
                <a:cs typeface="Perpetua"/>
              </a:rPr>
              <a:t>8) + 5 =</a:t>
            </a:r>
            <a:r>
              <a:rPr sz="2600" spc="-7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13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61228" y="716026"/>
            <a:ext cx="21113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1" dirty="0">
                <a:latin typeface="Perpetua"/>
                <a:cs typeface="Perpetua"/>
              </a:rPr>
              <a:t>Let us</a:t>
            </a:r>
            <a:r>
              <a:rPr sz="3600" i="1" spc="-90" dirty="0">
                <a:latin typeface="Perpetua"/>
                <a:cs typeface="Perpetua"/>
              </a:rPr>
              <a:t> </a:t>
            </a:r>
            <a:r>
              <a:rPr sz="3600" i="1" spc="-10" dirty="0">
                <a:latin typeface="Perpetua"/>
                <a:cs typeface="Perpetua"/>
              </a:rPr>
              <a:t>check...</a:t>
            </a:r>
            <a:endParaRPr sz="36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64839" rIns="0" bIns="0" rtlCol="0">
            <a:spAutoFit/>
          </a:bodyPr>
          <a:lstStyle/>
          <a:p>
            <a:pPr marL="12700" marR="935990">
              <a:lnSpc>
                <a:spcPct val="119300"/>
              </a:lnSpc>
              <a:spcBef>
                <a:spcPts val="95"/>
              </a:spcBef>
              <a:tabLst>
                <a:tab pos="6807834" algn="l"/>
              </a:tabLst>
            </a:pPr>
            <a:r>
              <a:rPr dirty="0"/>
              <a:t>1.Get </a:t>
            </a:r>
            <a:r>
              <a:rPr i="1" dirty="0">
                <a:latin typeface="Perpetua"/>
                <a:cs typeface="Perpetua"/>
              </a:rPr>
              <a:t>n </a:t>
            </a:r>
            <a:r>
              <a:rPr dirty="0"/>
              <a:t>the </a:t>
            </a:r>
            <a:r>
              <a:rPr spc="-5" dirty="0"/>
              <a:t>number of Fibonacci </a:t>
            </a:r>
            <a:r>
              <a:rPr dirty="0"/>
              <a:t>numbers </a:t>
            </a:r>
            <a:r>
              <a:rPr spc="-5" dirty="0"/>
              <a:t>to be generated.  </a:t>
            </a:r>
            <a:r>
              <a:rPr dirty="0"/>
              <a:t>2.Initialize the </a:t>
            </a:r>
            <a:r>
              <a:rPr spc="10" dirty="0"/>
              <a:t>first </a:t>
            </a:r>
            <a:r>
              <a:rPr spc="-35" dirty="0"/>
              <a:t>two </a:t>
            </a:r>
            <a:r>
              <a:rPr spc="-5" dirty="0"/>
              <a:t>Fibonacci </a:t>
            </a:r>
            <a:r>
              <a:rPr dirty="0"/>
              <a:t>numbers </a:t>
            </a:r>
            <a:r>
              <a:rPr spc="-5" dirty="0"/>
              <a:t>as </a:t>
            </a:r>
            <a:r>
              <a:rPr i="1" dirty="0">
                <a:latin typeface="Perpetua"/>
                <a:cs typeface="Perpetua"/>
              </a:rPr>
              <a:t>a =</a:t>
            </a:r>
            <a:r>
              <a:rPr i="1" spc="125" dirty="0">
                <a:latin typeface="Perpetua"/>
                <a:cs typeface="Perpetua"/>
              </a:rPr>
              <a:t> </a:t>
            </a:r>
            <a:r>
              <a:rPr i="1" dirty="0">
                <a:latin typeface="Perpetua"/>
                <a:cs typeface="Perpetua"/>
              </a:rPr>
              <a:t>0</a:t>
            </a:r>
            <a:r>
              <a:rPr i="1" spc="5" dirty="0">
                <a:latin typeface="Perpetua"/>
                <a:cs typeface="Perpetua"/>
              </a:rPr>
              <a:t> </a:t>
            </a:r>
            <a:r>
              <a:rPr spc="-5" dirty="0"/>
              <a:t>and	</a:t>
            </a:r>
            <a:r>
              <a:rPr i="1" dirty="0">
                <a:latin typeface="Perpetua"/>
                <a:cs typeface="Perpetua"/>
              </a:rPr>
              <a:t>b = 1</a:t>
            </a:r>
            <a:r>
              <a:rPr i="1" spc="-95" dirty="0">
                <a:latin typeface="Perpetua"/>
                <a:cs typeface="Perpetua"/>
              </a:rPr>
              <a:t> </a:t>
            </a:r>
            <a:r>
              <a:rPr i="1" dirty="0">
                <a:latin typeface="Perpetua"/>
                <a:cs typeface="Perpetua"/>
              </a:rPr>
              <a:t>.  </a:t>
            </a:r>
            <a:r>
              <a:rPr dirty="0"/>
              <a:t>3.Initialize </a:t>
            </a:r>
            <a:r>
              <a:rPr spc="-5" dirty="0"/>
              <a:t>count of Fibonacci number generated</a:t>
            </a:r>
            <a:r>
              <a:rPr spc="15" dirty="0"/>
              <a:t> </a:t>
            </a:r>
            <a:r>
              <a:rPr dirty="0"/>
              <a:t>.</a:t>
            </a:r>
          </a:p>
          <a:p>
            <a:pPr marL="260985" indent="-248920">
              <a:lnSpc>
                <a:spcPct val="100000"/>
              </a:lnSpc>
              <a:spcBef>
                <a:spcPts val="600"/>
              </a:spcBef>
              <a:buSzPct val="96153"/>
              <a:buAutoNum type="arabicPeriod" startAt="4"/>
              <a:tabLst>
                <a:tab pos="261620" algn="l"/>
              </a:tabLst>
            </a:pPr>
            <a:r>
              <a:rPr dirty="0"/>
              <a:t>While </a:t>
            </a:r>
            <a:r>
              <a:rPr spc="-5" dirty="0"/>
              <a:t>less </a:t>
            </a:r>
            <a:r>
              <a:rPr dirty="0"/>
              <a:t>than </a:t>
            </a:r>
            <a:r>
              <a:rPr i="1" dirty="0">
                <a:latin typeface="Perpetua"/>
                <a:cs typeface="Perpetua"/>
              </a:rPr>
              <a:t>n </a:t>
            </a:r>
            <a:r>
              <a:rPr spc="-5" dirty="0"/>
              <a:t>Fibonacci </a:t>
            </a:r>
            <a:r>
              <a:rPr dirty="0"/>
              <a:t>numbers </a:t>
            </a:r>
            <a:r>
              <a:rPr spc="-5" dirty="0"/>
              <a:t>generated do</a:t>
            </a:r>
          </a:p>
          <a:p>
            <a:pPr marL="850900" lvl="1" indent="-299085">
              <a:lnSpc>
                <a:spcPct val="100000"/>
              </a:lnSpc>
              <a:buAutoNum type="alphaLcParenR"/>
              <a:tabLst>
                <a:tab pos="851535" algn="l"/>
              </a:tabLst>
            </a:pPr>
            <a:r>
              <a:rPr sz="2600" spc="-5" dirty="0">
                <a:latin typeface="Perpetua"/>
                <a:cs typeface="Perpetua"/>
              </a:rPr>
              <a:t>generate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next number as </a:t>
            </a:r>
            <a:r>
              <a:rPr sz="2600" i="1" dirty="0">
                <a:latin typeface="Perpetua"/>
                <a:cs typeface="Perpetua"/>
              </a:rPr>
              <a:t>a =</a:t>
            </a:r>
            <a:r>
              <a:rPr sz="2600" i="1" spc="-20" dirty="0">
                <a:latin typeface="Perpetua"/>
                <a:cs typeface="Perpetua"/>
              </a:rPr>
              <a:t> </a:t>
            </a:r>
            <a:r>
              <a:rPr sz="2600" i="1" spc="-50" dirty="0">
                <a:latin typeface="Perpetua"/>
                <a:cs typeface="Perpetua"/>
              </a:rPr>
              <a:t>a+b.</a:t>
            </a:r>
            <a:endParaRPr sz="2600">
              <a:latin typeface="Perpetua"/>
              <a:cs typeface="Perpetua"/>
            </a:endParaRPr>
          </a:p>
          <a:p>
            <a:pPr marL="878205" lvl="1" indent="-326390">
              <a:lnSpc>
                <a:spcPct val="100000"/>
              </a:lnSpc>
              <a:spcBef>
                <a:spcPts val="1105"/>
              </a:spcBef>
              <a:buAutoNum type="alphaLcParenR"/>
              <a:tabLst>
                <a:tab pos="878840" algn="l"/>
              </a:tabLst>
            </a:pPr>
            <a:r>
              <a:rPr sz="2600" spc="-5" dirty="0">
                <a:latin typeface="Perpetua"/>
                <a:cs typeface="Perpetua"/>
              </a:rPr>
              <a:t>generate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next </a:t>
            </a:r>
            <a:r>
              <a:rPr sz="2600" dirty="0">
                <a:latin typeface="Perpetua"/>
                <a:cs typeface="Perpetua"/>
              </a:rPr>
              <a:t>to </a:t>
            </a:r>
            <a:r>
              <a:rPr sz="2600" spc="-5" dirty="0">
                <a:latin typeface="Perpetua"/>
                <a:cs typeface="Perpetua"/>
              </a:rPr>
              <a:t>next number as </a:t>
            </a:r>
            <a:r>
              <a:rPr sz="2600" i="1" dirty="0">
                <a:latin typeface="Perpetua"/>
                <a:cs typeface="Perpetua"/>
              </a:rPr>
              <a:t>b =</a:t>
            </a:r>
            <a:r>
              <a:rPr sz="2600" i="1" spc="-25" dirty="0">
                <a:latin typeface="Perpetua"/>
                <a:cs typeface="Perpetua"/>
              </a:rPr>
              <a:t> </a:t>
            </a:r>
            <a:r>
              <a:rPr sz="2600" i="1" spc="-50" dirty="0">
                <a:latin typeface="Perpetua"/>
                <a:cs typeface="Perpetua"/>
              </a:rPr>
              <a:t>a+b.</a:t>
            </a:r>
            <a:endParaRPr sz="2600">
              <a:latin typeface="Perpetua"/>
              <a:cs typeface="Perpetua"/>
            </a:endParaRPr>
          </a:p>
          <a:p>
            <a:pPr marL="857885" lvl="1" indent="-306070">
              <a:lnSpc>
                <a:spcPct val="100000"/>
              </a:lnSpc>
              <a:spcBef>
                <a:spcPts val="1090"/>
              </a:spcBef>
              <a:buAutoNum type="alphaLcParenR"/>
              <a:tabLst>
                <a:tab pos="858519" algn="l"/>
              </a:tabLst>
            </a:pPr>
            <a:r>
              <a:rPr sz="2600" spc="-10" dirty="0">
                <a:latin typeface="Perpetua"/>
                <a:cs typeface="Perpetua"/>
              </a:rPr>
              <a:t>update </a:t>
            </a:r>
            <a:r>
              <a:rPr sz="2600" spc="-5" dirty="0">
                <a:latin typeface="Perpetua"/>
                <a:cs typeface="Perpetua"/>
              </a:rPr>
              <a:t>count </a:t>
            </a:r>
            <a:r>
              <a:rPr sz="2600" dirty="0">
                <a:latin typeface="Perpetua"/>
                <a:cs typeface="Perpetua"/>
              </a:rPr>
              <a:t>of </a:t>
            </a:r>
            <a:r>
              <a:rPr sz="2600" spc="-5" dirty="0">
                <a:latin typeface="Perpetua"/>
                <a:cs typeface="Perpetua"/>
              </a:rPr>
              <a:t>number </a:t>
            </a:r>
            <a:r>
              <a:rPr sz="2600" spc="-10" dirty="0">
                <a:latin typeface="Perpetua"/>
                <a:cs typeface="Perpetua"/>
              </a:rPr>
              <a:t>of </a:t>
            </a:r>
            <a:r>
              <a:rPr sz="2600" spc="-5" dirty="0">
                <a:latin typeface="Perpetua"/>
                <a:cs typeface="Perpetua"/>
              </a:rPr>
              <a:t>Fibonacci </a:t>
            </a:r>
            <a:r>
              <a:rPr sz="2600" dirty="0">
                <a:latin typeface="Perpetua"/>
                <a:cs typeface="Perpetua"/>
              </a:rPr>
              <a:t>numbers</a:t>
            </a:r>
            <a:r>
              <a:rPr sz="2600" spc="5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generated.</a:t>
            </a:r>
            <a:endParaRPr sz="2600">
              <a:latin typeface="Perpetua"/>
              <a:cs typeface="Perpetua"/>
            </a:endParaRPr>
          </a:p>
          <a:p>
            <a:pPr marL="229235" marR="5080" indent="-217170">
              <a:lnSpc>
                <a:spcPct val="100000"/>
              </a:lnSpc>
              <a:spcBef>
                <a:spcPts val="1710"/>
              </a:spcBef>
              <a:buSzPct val="96153"/>
              <a:buAutoNum type="arabicPeriod" startAt="4"/>
              <a:tabLst>
                <a:tab pos="336550" algn="l"/>
              </a:tabLst>
            </a:pPr>
            <a:r>
              <a:rPr spc="-5" dirty="0"/>
              <a:t>If </a:t>
            </a:r>
            <a:r>
              <a:rPr i="1" dirty="0">
                <a:latin typeface="Perpetua"/>
                <a:cs typeface="Perpetua"/>
              </a:rPr>
              <a:t>n </a:t>
            </a:r>
            <a:r>
              <a:rPr dirty="0"/>
              <a:t>is </a:t>
            </a:r>
            <a:r>
              <a:rPr spc="-25" dirty="0"/>
              <a:t>even </a:t>
            </a:r>
            <a:r>
              <a:rPr spc="-15" dirty="0"/>
              <a:t>display </a:t>
            </a:r>
            <a:r>
              <a:rPr spc="-5" dirty="0"/>
              <a:t>all </a:t>
            </a:r>
            <a:r>
              <a:rPr dirty="0"/>
              <a:t>numbers </a:t>
            </a:r>
            <a:r>
              <a:rPr spc="-5" dirty="0"/>
              <a:t>else </a:t>
            </a:r>
            <a:r>
              <a:rPr spc="-15" dirty="0"/>
              <a:t>display </a:t>
            </a:r>
            <a:r>
              <a:rPr spc="-5" dirty="0"/>
              <a:t>all </a:t>
            </a:r>
            <a:r>
              <a:rPr dirty="0"/>
              <a:t>numbers </a:t>
            </a:r>
            <a:r>
              <a:rPr spc="-5" dirty="0"/>
              <a:t>except </a:t>
            </a:r>
            <a:r>
              <a:rPr dirty="0"/>
              <a:t>the  </a:t>
            </a:r>
            <a:r>
              <a:rPr spc="-5" dirty="0"/>
              <a:t>last.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61036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5" dirty="0"/>
              <a:t>Algorithm </a:t>
            </a:r>
            <a:r>
              <a:rPr spc="-5" dirty="0"/>
              <a:t>to Fibonacci</a:t>
            </a:r>
            <a:r>
              <a:rPr spc="-55" dirty="0"/>
              <a:t> </a:t>
            </a:r>
            <a:r>
              <a:rPr spc="-5" dirty="0"/>
              <a:t>Sequence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0842" y="1509521"/>
            <a:ext cx="8335645" cy="2718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5115" algn="l"/>
                <a:tab pos="285750" algn="l"/>
              </a:tabLst>
            </a:pPr>
            <a:r>
              <a:rPr sz="2600" spc="-10" dirty="0">
                <a:latin typeface="Perpetua"/>
                <a:cs typeface="Perpetua"/>
              </a:rPr>
              <a:t>Given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10" dirty="0">
                <a:latin typeface="Perpetua"/>
                <a:cs typeface="Perpetua"/>
              </a:rPr>
              <a:t>positive </a:t>
            </a:r>
            <a:r>
              <a:rPr sz="2600" spc="-30" dirty="0">
                <a:latin typeface="Perpetua"/>
                <a:cs typeface="Perpetua"/>
              </a:rPr>
              <a:t>integer, </a:t>
            </a:r>
            <a:r>
              <a:rPr sz="2600" dirty="0">
                <a:latin typeface="Perpetua"/>
                <a:cs typeface="Perpetua"/>
              </a:rPr>
              <a:t>the task is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spc="-15" dirty="0">
                <a:latin typeface="Perpetua"/>
                <a:cs typeface="Perpetua"/>
              </a:rPr>
              <a:t>reverse </a:t>
            </a:r>
            <a:r>
              <a:rPr sz="2600" dirty="0">
                <a:latin typeface="Perpetua"/>
                <a:cs typeface="Perpetua"/>
              </a:rPr>
              <a:t>the order </a:t>
            </a:r>
            <a:r>
              <a:rPr sz="2600" spc="-5" dirty="0">
                <a:latin typeface="Perpetua"/>
                <a:cs typeface="Perpetua"/>
              </a:rPr>
              <a:t>of</a:t>
            </a:r>
            <a:r>
              <a:rPr sz="2600" spc="114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its </a:t>
            </a:r>
            <a:r>
              <a:rPr sz="2600" spc="5" dirty="0">
                <a:latin typeface="Perpetua"/>
                <a:cs typeface="Perpetua"/>
              </a:rPr>
              <a:t>digits</a:t>
            </a:r>
            <a:endParaRPr sz="2600">
              <a:latin typeface="Perpetua"/>
              <a:cs typeface="Perpetua"/>
            </a:endParaRPr>
          </a:p>
          <a:p>
            <a:pPr marL="285115">
              <a:lnSpc>
                <a:spcPct val="100000"/>
              </a:lnSpc>
            </a:pPr>
            <a:r>
              <a:rPr sz="2600" spc="-15" dirty="0">
                <a:latin typeface="Perpetua"/>
                <a:cs typeface="Perpetua"/>
              </a:rPr>
              <a:t>i.e. </a:t>
            </a:r>
            <a:r>
              <a:rPr sz="2600" dirty="0">
                <a:latin typeface="Perpetua"/>
                <a:cs typeface="Perpetua"/>
              </a:rPr>
              <a:t>input = </a:t>
            </a:r>
            <a:r>
              <a:rPr sz="2600" spc="-10" dirty="0">
                <a:latin typeface="Perpetua"/>
                <a:cs typeface="Perpetua"/>
              </a:rPr>
              <a:t>1234; output </a:t>
            </a:r>
            <a:r>
              <a:rPr sz="2600" dirty="0">
                <a:latin typeface="Perpetua"/>
                <a:cs typeface="Perpetua"/>
              </a:rPr>
              <a:t>=</a:t>
            </a:r>
            <a:r>
              <a:rPr sz="2600" spc="-18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4321.</a:t>
            </a:r>
            <a:endParaRPr sz="2600">
              <a:latin typeface="Perpetua"/>
              <a:cs typeface="Perpetua"/>
            </a:endParaRPr>
          </a:p>
          <a:p>
            <a:pPr marL="2708910">
              <a:lnSpc>
                <a:spcPct val="100000"/>
              </a:lnSpc>
              <a:spcBef>
                <a:spcPts val="600"/>
              </a:spcBef>
            </a:pPr>
            <a:r>
              <a:rPr sz="2600" dirty="0">
                <a:latin typeface="Perpetua"/>
                <a:cs typeface="Perpetua"/>
              </a:rPr>
              <a:t>1 2 3</a:t>
            </a:r>
            <a:r>
              <a:rPr sz="2600" spc="-11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4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750">
              <a:latin typeface="Times New Roman"/>
              <a:cs typeface="Times New Roman"/>
            </a:endParaRPr>
          </a:p>
          <a:p>
            <a:pPr marL="2708910">
              <a:lnSpc>
                <a:spcPct val="100000"/>
              </a:lnSpc>
            </a:pPr>
            <a:r>
              <a:rPr sz="2600" dirty="0">
                <a:latin typeface="Perpetua"/>
                <a:cs typeface="Perpetua"/>
              </a:rPr>
              <a:t>4 3 2</a:t>
            </a:r>
            <a:r>
              <a:rPr sz="2600" spc="-10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1</a:t>
            </a:r>
            <a:endParaRPr sz="2600">
              <a:latin typeface="Perpetua"/>
              <a:cs typeface="Perpetua"/>
            </a:endParaRPr>
          </a:p>
          <a:p>
            <a:pPr marL="285115" indent="-273050">
              <a:lnSpc>
                <a:spcPct val="100000"/>
              </a:lnSpc>
              <a:spcBef>
                <a:spcPts val="675"/>
              </a:spcBef>
              <a:buSzPct val="84615"/>
              <a:buFont typeface="Arial"/>
              <a:buChar char="•"/>
              <a:tabLst>
                <a:tab pos="285115" algn="l"/>
                <a:tab pos="285750" algn="l"/>
                <a:tab pos="5345430" algn="l"/>
              </a:tabLst>
            </a:pPr>
            <a:r>
              <a:rPr sz="2600" dirty="0">
                <a:latin typeface="Perpetua"/>
                <a:cs typeface="Perpetua"/>
              </a:rPr>
              <a:t>This </a:t>
            </a:r>
            <a:r>
              <a:rPr sz="2600" spc="-5" dirty="0">
                <a:latin typeface="Perpetua"/>
                <a:cs typeface="Perpetua"/>
              </a:rPr>
              <a:t>demands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extraction of</a:t>
            </a:r>
            <a:r>
              <a:rPr sz="2600" spc="60" dirty="0">
                <a:latin typeface="Perpetua"/>
                <a:cs typeface="Perpetua"/>
              </a:rPr>
              <a:t> </a:t>
            </a:r>
            <a:r>
              <a:rPr sz="2600" spc="10" dirty="0">
                <a:latin typeface="Perpetua"/>
                <a:cs typeface="Perpetua"/>
              </a:rPr>
              <a:t>each</a:t>
            </a:r>
            <a:r>
              <a:rPr sz="2600" spc="15" dirty="0">
                <a:latin typeface="Perpetua"/>
                <a:cs typeface="Perpetua"/>
              </a:rPr>
              <a:t> </a:t>
            </a:r>
            <a:r>
              <a:rPr sz="2600" spc="5" dirty="0">
                <a:latin typeface="Perpetua"/>
                <a:cs typeface="Perpetua"/>
              </a:rPr>
              <a:t>digit	</a:t>
            </a:r>
            <a:r>
              <a:rPr sz="2600" spc="-10" dirty="0">
                <a:latin typeface="Perpetua"/>
                <a:cs typeface="Perpetua"/>
              </a:rPr>
              <a:t>from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given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spc="-35" dirty="0">
                <a:latin typeface="Perpetua"/>
                <a:cs typeface="Perpetua"/>
              </a:rPr>
              <a:t>number.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243072" y="2815335"/>
            <a:ext cx="512445" cy="610870"/>
          </a:xfrm>
          <a:custGeom>
            <a:avLst/>
            <a:gdLst/>
            <a:ahLst/>
            <a:cxnLst/>
            <a:rect l="l" t="t" r="r" b="b"/>
            <a:pathLst>
              <a:path w="512445" h="610870">
                <a:moveTo>
                  <a:pt x="19685" y="527685"/>
                </a:moveTo>
                <a:lnTo>
                  <a:pt x="0" y="610615"/>
                </a:lnTo>
                <a:lnTo>
                  <a:pt x="78104" y="576579"/>
                </a:lnTo>
                <a:lnTo>
                  <a:pt x="65510" y="566038"/>
                </a:lnTo>
                <a:lnTo>
                  <a:pt x="45592" y="566038"/>
                </a:lnTo>
                <a:lnTo>
                  <a:pt x="35940" y="557784"/>
                </a:lnTo>
                <a:lnTo>
                  <a:pt x="44057" y="548083"/>
                </a:lnTo>
                <a:lnTo>
                  <a:pt x="19685" y="527685"/>
                </a:lnTo>
                <a:close/>
              </a:path>
              <a:path w="512445" h="610870">
                <a:moveTo>
                  <a:pt x="44057" y="548083"/>
                </a:moveTo>
                <a:lnTo>
                  <a:pt x="35940" y="557784"/>
                </a:lnTo>
                <a:lnTo>
                  <a:pt x="45592" y="566038"/>
                </a:lnTo>
                <a:lnTo>
                  <a:pt x="53795" y="556233"/>
                </a:lnTo>
                <a:lnTo>
                  <a:pt x="44057" y="548083"/>
                </a:lnTo>
                <a:close/>
              </a:path>
              <a:path w="512445" h="610870">
                <a:moveTo>
                  <a:pt x="53795" y="556233"/>
                </a:moveTo>
                <a:lnTo>
                  <a:pt x="45592" y="566038"/>
                </a:lnTo>
                <a:lnTo>
                  <a:pt x="65510" y="566038"/>
                </a:lnTo>
                <a:lnTo>
                  <a:pt x="53795" y="556233"/>
                </a:lnTo>
                <a:close/>
              </a:path>
              <a:path w="512445" h="610870">
                <a:moveTo>
                  <a:pt x="502665" y="0"/>
                </a:moveTo>
                <a:lnTo>
                  <a:pt x="44057" y="548083"/>
                </a:lnTo>
                <a:lnTo>
                  <a:pt x="53795" y="556233"/>
                </a:lnTo>
                <a:lnTo>
                  <a:pt x="512317" y="8127"/>
                </a:lnTo>
                <a:lnTo>
                  <a:pt x="50266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379596" y="2741422"/>
            <a:ext cx="215900" cy="684530"/>
          </a:xfrm>
          <a:custGeom>
            <a:avLst/>
            <a:gdLst/>
            <a:ahLst/>
            <a:cxnLst/>
            <a:rect l="l" t="t" r="r" b="b"/>
            <a:pathLst>
              <a:path w="215900" h="684529">
                <a:moveTo>
                  <a:pt x="0" y="600837"/>
                </a:moveTo>
                <a:lnTo>
                  <a:pt x="15875" y="684529"/>
                </a:lnTo>
                <a:lnTo>
                  <a:pt x="70031" y="625220"/>
                </a:lnTo>
                <a:lnTo>
                  <a:pt x="39242" y="625220"/>
                </a:lnTo>
                <a:lnTo>
                  <a:pt x="27050" y="621664"/>
                </a:lnTo>
                <a:lnTo>
                  <a:pt x="30498" y="609505"/>
                </a:lnTo>
                <a:lnTo>
                  <a:pt x="0" y="600837"/>
                </a:lnTo>
                <a:close/>
              </a:path>
              <a:path w="215900" h="684529">
                <a:moveTo>
                  <a:pt x="30498" y="609505"/>
                </a:moveTo>
                <a:lnTo>
                  <a:pt x="27050" y="621664"/>
                </a:lnTo>
                <a:lnTo>
                  <a:pt x="39242" y="625220"/>
                </a:lnTo>
                <a:lnTo>
                  <a:pt x="42714" y="612977"/>
                </a:lnTo>
                <a:lnTo>
                  <a:pt x="30498" y="609505"/>
                </a:lnTo>
                <a:close/>
              </a:path>
              <a:path w="215900" h="684529">
                <a:moveTo>
                  <a:pt x="42714" y="612977"/>
                </a:moveTo>
                <a:lnTo>
                  <a:pt x="39242" y="625220"/>
                </a:lnTo>
                <a:lnTo>
                  <a:pt x="70031" y="625220"/>
                </a:lnTo>
                <a:lnTo>
                  <a:pt x="73278" y="621664"/>
                </a:lnTo>
                <a:lnTo>
                  <a:pt x="42714" y="612977"/>
                </a:lnTo>
                <a:close/>
              </a:path>
              <a:path w="215900" h="684529">
                <a:moveTo>
                  <a:pt x="203326" y="0"/>
                </a:moveTo>
                <a:lnTo>
                  <a:pt x="30498" y="609505"/>
                </a:lnTo>
                <a:lnTo>
                  <a:pt x="42714" y="612977"/>
                </a:lnTo>
                <a:lnTo>
                  <a:pt x="215518" y="3555"/>
                </a:lnTo>
                <a:lnTo>
                  <a:pt x="20332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389503" y="2741041"/>
            <a:ext cx="267970" cy="703580"/>
          </a:xfrm>
          <a:custGeom>
            <a:avLst/>
            <a:gdLst/>
            <a:ahLst/>
            <a:cxnLst/>
            <a:rect l="l" t="t" r="r" b="b"/>
            <a:pathLst>
              <a:path w="267970" h="703579">
                <a:moveTo>
                  <a:pt x="225733" y="633655"/>
                </a:moveTo>
                <a:lnTo>
                  <a:pt x="195834" y="644398"/>
                </a:lnTo>
                <a:lnTo>
                  <a:pt x="257429" y="703199"/>
                </a:lnTo>
                <a:lnTo>
                  <a:pt x="264354" y="645541"/>
                </a:lnTo>
                <a:lnTo>
                  <a:pt x="229997" y="645541"/>
                </a:lnTo>
                <a:lnTo>
                  <a:pt x="225733" y="633655"/>
                </a:lnTo>
                <a:close/>
              </a:path>
              <a:path w="267970" h="703579">
                <a:moveTo>
                  <a:pt x="237680" y="629362"/>
                </a:moveTo>
                <a:lnTo>
                  <a:pt x="225733" y="633655"/>
                </a:lnTo>
                <a:lnTo>
                  <a:pt x="229997" y="645541"/>
                </a:lnTo>
                <a:lnTo>
                  <a:pt x="241935" y="641223"/>
                </a:lnTo>
                <a:lnTo>
                  <a:pt x="237680" y="629362"/>
                </a:lnTo>
                <a:close/>
              </a:path>
              <a:path w="267970" h="703579">
                <a:moveTo>
                  <a:pt x="267588" y="618617"/>
                </a:moveTo>
                <a:lnTo>
                  <a:pt x="237680" y="629362"/>
                </a:lnTo>
                <a:lnTo>
                  <a:pt x="241935" y="641223"/>
                </a:lnTo>
                <a:lnTo>
                  <a:pt x="229997" y="645541"/>
                </a:lnTo>
                <a:lnTo>
                  <a:pt x="264354" y="645541"/>
                </a:lnTo>
                <a:lnTo>
                  <a:pt x="267588" y="618617"/>
                </a:lnTo>
                <a:close/>
              </a:path>
              <a:path w="267970" h="703579">
                <a:moveTo>
                  <a:pt x="11937" y="0"/>
                </a:moveTo>
                <a:lnTo>
                  <a:pt x="0" y="4318"/>
                </a:lnTo>
                <a:lnTo>
                  <a:pt x="225733" y="633655"/>
                </a:lnTo>
                <a:lnTo>
                  <a:pt x="237680" y="629362"/>
                </a:lnTo>
                <a:lnTo>
                  <a:pt x="119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196082" y="2814701"/>
            <a:ext cx="656590" cy="614680"/>
          </a:xfrm>
          <a:custGeom>
            <a:avLst/>
            <a:gdLst/>
            <a:ahLst/>
            <a:cxnLst/>
            <a:rect l="l" t="t" r="r" b="b"/>
            <a:pathLst>
              <a:path w="656589" h="614679">
                <a:moveTo>
                  <a:pt x="596588" y="566847"/>
                </a:moveTo>
                <a:lnTo>
                  <a:pt x="574929" y="590041"/>
                </a:lnTo>
                <a:lnTo>
                  <a:pt x="656590" y="614299"/>
                </a:lnTo>
                <a:lnTo>
                  <a:pt x="642179" y="575563"/>
                </a:lnTo>
                <a:lnTo>
                  <a:pt x="605917" y="575563"/>
                </a:lnTo>
                <a:lnTo>
                  <a:pt x="596588" y="566847"/>
                </a:lnTo>
                <a:close/>
              </a:path>
              <a:path w="656589" h="614679">
                <a:moveTo>
                  <a:pt x="605236" y="557585"/>
                </a:moveTo>
                <a:lnTo>
                  <a:pt x="596588" y="566847"/>
                </a:lnTo>
                <a:lnTo>
                  <a:pt x="605917" y="575563"/>
                </a:lnTo>
                <a:lnTo>
                  <a:pt x="614553" y="566293"/>
                </a:lnTo>
                <a:lnTo>
                  <a:pt x="605236" y="557585"/>
                </a:lnTo>
                <a:close/>
              </a:path>
              <a:path w="656589" h="614679">
                <a:moveTo>
                  <a:pt x="626871" y="534415"/>
                </a:moveTo>
                <a:lnTo>
                  <a:pt x="605236" y="557585"/>
                </a:lnTo>
                <a:lnTo>
                  <a:pt x="614553" y="566293"/>
                </a:lnTo>
                <a:lnTo>
                  <a:pt x="605917" y="575563"/>
                </a:lnTo>
                <a:lnTo>
                  <a:pt x="642179" y="575563"/>
                </a:lnTo>
                <a:lnTo>
                  <a:pt x="626871" y="534415"/>
                </a:lnTo>
                <a:close/>
              </a:path>
              <a:path w="656589" h="614679">
                <a:moveTo>
                  <a:pt x="8636" y="0"/>
                </a:moveTo>
                <a:lnTo>
                  <a:pt x="0" y="9398"/>
                </a:lnTo>
                <a:lnTo>
                  <a:pt x="596588" y="566847"/>
                </a:lnTo>
                <a:lnTo>
                  <a:pt x="605236" y="557585"/>
                </a:lnTo>
                <a:lnTo>
                  <a:pt x="86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898775" y="5118353"/>
            <a:ext cx="50158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6075" indent="-334010">
              <a:lnSpc>
                <a:spcPct val="100000"/>
              </a:lnSpc>
              <a:spcBef>
                <a:spcPts val="100"/>
              </a:spcBef>
              <a:buSzPct val="108333"/>
              <a:buFont typeface="Wingdings"/>
              <a:buChar char=""/>
              <a:tabLst>
                <a:tab pos="346710" algn="l"/>
              </a:tabLst>
            </a:pPr>
            <a:r>
              <a:rPr sz="2400" i="1" spc="-15" dirty="0">
                <a:latin typeface="Perpetua"/>
                <a:cs typeface="Perpetua"/>
              </a:rPr>
              <a:t>How </a:t>
            </a:r>
            <a:r>
              <a:rPr sz="2400" i="1" dirty="0">
                <a:latin typeface="Perpetua"/>
                <a:cs typeface="Perpetua"/>
              </a:rPr>
              <a:t>do </a:t>
            </a:r>
            <a:r>
              <a:rPr sz="2400" i="1" spc="-15" dirty="0">
                <a:latin typeface="Perpetua"/>
                <a:cs typeface="Perpetua"/>
              </a:rPr>
              <a:t>you extract </a:t>
            </a:r>
            <a:r>
              <a:rPr sz="2400" i="1" dirty="0">
                <a:latin typeface="Perpetua"/>
                <a:cs typeface="Perpetua"/>
              </a:rPr>
              <a:t>digits </a:t>
            </a:r>
            <a:r>
              <a:rPr sz="2400" i="1" spc="-5" dirty="0">
                <a:latin typeface="Perpetua"/>
                <a:cs typeface="Perpetua"/>
              </a:rPr>
              <a:t>from </a:t>
            </a:r>
            <a:r>
              <a:rPr sz="2400" i="1" dirty="0">
                <a:latin typeface="Perpetua"/>
                <a:cs typeface="Perpetua"/>
              </a:rPr>
              <a:t>a </a:t>
            </a:r>
            <a:r>
              <a:rPr sz="2400" i="1" spc="-10" dirty="0">
                <a:latin typeface="Perpetua"/>
                <a:cs typeface="Perpetua"/>
              </a:rPr>
              <a:t>given</a:t>
            </a:r>
            <a:r>
              <a:rPr sz="2400" i="1" spc="-35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number?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49714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5" dirty="0"/>
              <a:t>Algorithm </a:t>
            </a:r>
            <a:r>
              <a:rPr spc="-5" dirty="0"/>
              <a:t>to </a:t>
            </a:r>
            <a:r>
              <a:rPr spc="-20" dirty="0"/>
              <a:t>reverse</a:t>
            </a:r>
            <a:r>
              <a:rPr spc="-75" dirty="0"/>
              <a:t> </a:t>
            </a:r>
            <a:r>
              <a:rPr spc="10" dirty="0"/>
              <a:t>digits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0842" y="1450509"/>
            <a:ext cx="2414905" cy="191643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705"/>
              </a:spcBef>
              <a:buSzPct val="84615"/>
              <a:buFont typeface="Wingdings 2"/>
              <a:buChar char=""/>
              <a:tabLst>
                <a:tab pos="285750" algn="l"/>
              </a:tabLst>
            </a:pPr>
            <a:r>
              <a:rPr sz="2600" spc="-5" dirty="0">
                <a:latin typeface="Perpetua"/>
                <a:cs typeface="Perpetua"/>
              </a:rPr>
              <a:t>1234 </a:t>
            </a:r>
            <a:r>
              <a:rPr sz="2600" dirty="0">
                <a:latin typeface="Perpetua"/>
                <a:cs typeface="Perpetua"/>
              </a:rPr>
              <a:t>mod </a:t>
            </a:r>
            <a:r>
              <a:rPr sz="2600" spc="-5" dirty="0">
                <a:latin typeface="Perpetua"/>
                <a:cs typeface="Perpetua"/>
              </a:rPr>
              <a:t>10 </a:t>
            </a:r>
            <a:r>
              <a:rPr sz="2600" dirty="0">
                <a:latin typeface="Perpetua"/>
                <a:cs typeface="Perpetua"/>
              </a:rPr>
              <a:t>=</a:t>
            </a:r>
            <a:r>
              <a:rPr sz="2600" spc="-9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4</a:t>
            </a:r>
            <a:endParaRPr sz="2600">
              <a:latin typeface="Perpetua"/>
              <a:cs typeface="Perpetu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SzPct val="84615"/>
              <a:buFont typeface="Wingdings 2"/>
              <a:buChar char=""/>
              <a:tabLst>
                <a:tab pos="285750" algn="l"/>
                <a:tab pos="1878330" algn="l"/>
              </a:tabLst>
            </a:pPr>
            <a:r>
              <a:rPr sz="2600" spc="-5" dirty="0">
                <a:latin typeface="Perpetua"/>
                <a:cs typeface="Perpetua"/>
              </a:rPr>
              <a:t>123</a:t>
            </a:r>
            <a:r>
              <a:rPr sz="2600" spc="1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mod</a:t>
            </a:r>
            <a:r>
              <a:rPr sz="260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10	</a:t>
            </a:r>
            <a:r>
              <a:rPr sz="2600" dirty="0">
                <a:latin typeface="Perpetua"/>
                <a:cs typeface="Perpetua"/>
              </a:rPr>
              <a:t>=</a:t>
            </a:r>
            <a:r>
              <a:rPr sz="2600" spc="-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3</a:t>
            </a:r>
            <a:endParaRPr sz="2600">
              <a:latin typeface="Perpetua"/>
              <a:cs typeface="Perpetu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SzPct val="84615"/>
              <a:buFont typeface="Wingdings 2"/>
              <a:buChar char=""/>
              <a:tabLst>
                <a:tab pos="285750" algn="l"/>
                <a:tab pos="1876425" algn="l"/>
              </a:tabLst>
            </a:pPr>
            <a:r>
              <a:rPr sz="2600" spc="-5" dirty="0">
                <a:latin typeface="Perpetua"/>
                <a:cs typeface="Perpetua"/>
              </a:rPr>
              <a:t>12</a:t>
            </a:r>
            <a:r>
              <a:rPr sz="2600" spc="1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mod</a:t>
            </a:r>
            <a:r>
              <a:rPr sz="260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10	</a:t>
            </a:r>
            <a:r>
              <a:rPr sz="2600" dirty="0">
                <a:latin typeface="Perpetua"/>
                <a:cs typeface="Perpetua"/>
              </a:rPr>
              <a:t>=</a:t>
            </a:r>
            <a:r>
              <a:rPr sz="2600" spc="-9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2</a:t>
            </a:r>
            <a:endParaRPr sz="2600">
              <a:latin typeface="Perpetua"/>
              <a:cs typeface="Perpetu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SzPct val="84615"/>
              <a:buFont typeface="Wingdings 2"/>
              <a:buChar char=""/>
              <a:tabLst>
                <a:tab pos="285750" algn="l"/>
                <a:tab pos="1875155" algn="l"/>
              </a:tabLst>
            </a:pPr>
            <a:r>
              <a:rPr sz="2600" dirty="0">
                <a:latin typeface="Perpetua"/>
                <a:cs typeface="Perpetua"/>
              </a:rPr>
              <a:t>1</a:t>
            </a:r>
            <a:r>
              <a:rPr sz="2600" spc="-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mod</a:t>
            </a:r>
            <a:r>
              <a:rPr sz="2600" spc="-5" dirty="0">
                <a:latin typeface="Perpetua"/>
                <a:cs typeface="Perpetua"/>
              </a:rPr>
              <a:t> 10	</a:t>
            </a:r>
            <a:r>
              <a:rPr sz="2600" dirty="0">
                <a:latin typeface="Perpetua"/>
                <a:cs typeface="Perpetua"/>
              </a:rPr>
              <a:t>=</a:t>
            </a:r>
            <a:r>
              <a:rPr sz="2600" spc="-10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1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7943" y="3581400"/>
            <a:ext cx="76200" cy="795655"/>
          </a:xfrm>
          <a:custGeom>
            <a:avLst/>
            <a:gdLst/>
            <a:ahLst/>
            <a:cxnLst/>
            <a:rect l="l" t="t" r="r" b="b"/>
            <a:pathLst>
              <a:path w="76200" h="795654">
                <a:moveTo>
                  <a:pt x="31751" y="76178"/>
                </a:moveTo>
                <a:lnTo>
                  <a:pt x="30378" y="795527"/>
                </a:lnTo>
                <a:lnTo>
                  <a:pt x="43078" y="795527"/>
                </a:lnTo>
                <a:lnTo>
                  <a:pt x="44451" y="76221"/>
                </a:lnTo>
                <a:lnTo>
                  <a:pt x="31751" y="76178"/>
                </a:lnTo>
                <a:close/>
              </a:path>
              <a:path w="76200" h="795654">
                <a:moveTo>
                  <a:pt x="69822" y="63500"/>
                </a:moveTo>
                <a:lnTo>
                  <a:pt x="44475" y="63500"/>
                </a:lnTo>
                <a:lnTo>
                  <a:pt x="44451" y="76221"/>
                </a:lnTo>
                <a:lnTo>
                  <a:pt x="76200" y="76326"/>
                </a:lnTo>
                <a:lnTo>
                  <a:pt x="69822" y="63500"/>
                </a:lnTo>
                <a:close/>
              </a:path>
              <a:path w="76200" h="795654">
                <a:moveTo>
                  <a:pt x="44475" y="63500"/>
                </a:moveTo>
                <a:lnTo>
                  <a:pt x="31775" y="63500"/>
                </a:lnTo>
                <a:lnTo>
                  <a:pt x="31751" y="76178"/>
                </a:lnTo>
                <a:lnTo>
                  <a:pt x="44451" y="76221"/>
                </a:lnTo>
                <a:lnTo>
                  <a:pt x="44475" y="63500"/>
                </a:lnTo>
                <a:close/>
              </a:path>
              <a:path w="76200" h="795654">
                <a:moveTo>
                  <a:pt x="38252" y="0"/>
                </a:moveTo>
                <a:lnTo>
                  <a:pt x="0" y="76073"/>
                </a:lnTo>
                <a:lnTo>
                  <a:pt x="31751" y="76178"/>
                </a:lnTo>
                <a:lnTo>
                  <a:pt x="31775" y="63500"/>
                </a:lnTo>
                <a:lnTo>
                  <a:pt x="69822" y="63500"/>
                </a:lnTo>
                <a:lnTo>
                  <a:pt x="3825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05815" y="4464811"/>
            <a:ext cx="112014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" dirty="0">
                <a:latin typeface="Perpetua"/>
                <a:cs typeface="Perpetua"/>
              </a:rPr>
              <a:t>Quotient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630297" y="3581400"/>
            <a:ext cx="76200" cy="795655"/>
          </a:xfrm>
          <a:custGeom>
            <a:avLst/>
            <a:gdLst/>
            <a:ahLst/>
            <a:cxnLst/>
            <a:rect l="l" t="t" r="r" b="b"/>
            <a:pathLst>
              <a:path w="76200" h="795654">
                <a:moveTo>
                  <a:pt x="31725" y="76178"/>
                </a:moveTo>
                <a:lnTo>
                  <a:pt x="30352" y="795527"/>
                </a:lnTo>
                <a:lnTo>
                  <a:pt x="43052" y="795527"/>
                </a:lnTo>
                <a:lnTo>
                  <a:pt x="44425" y="76221"/>
                </a:lnTo>
                <a:lnTo>
                  <a:pt x="31725" y="76178"/>
                </a:lnTo>
                <a:close/>
              </a:path>
              <a:path w="76200" h="795654">
                <a:moveTo>
                  <a:pt x="69818" y="63500"/>
                </a:moveTo>
                <a:lnTo>
                  <a:pt x="44450" y="63500"/>
                </a:lnTo>
                <a:lnTo>
                  <a:pt x="44425" y="76221"/>
                </a:lnTo>
                <a:lnTo>
                  <a:pt x="76200" y="76326"/>
                </a:lnTo>
                <a:lnTo>
                  <a:pt x="69818" y="63500"/>
                </a:lnTo>
                <a:close/>
              </a:path>
              <a:path w="76200" h="795654">
                <a:moveTo>
                  <a:pt x="44450" y="63500"/>
                </a:moveTo>
                <a:lnTo>
                  <a:pt x="31750" y="63500"/>
                </a:lnTo>
                <a:lnTo>
                  <a:pt x="31725" y="76178"/>
                </a:lnTo>
                <a:lnTo>
                  <a:pt x="44425" y="76221"/>
                </a:lnTo>
                <a:lnTo>
                  <a:pt x="44450" y="63500"/>
                </a:lnTo>
                <a:close/>
              </a:path>
              <a:path w="76200" h="795654">
                <a:moveTo>
                  <a:pt x="38226" y="0"/>
                </a:moveTo>
                <a:lnTo>
                  <a:pt x="0" y="76073"/>
                </a:lnTo>
                <a:lnTo>
                  <a:pt x="31725" y="76178"/>
                </a:lnTo>
                <a:lnTo>
                  <a:pt x="31750" y="63500"/>
                </a:lnTo>
                <a:lnTo>
                  <a:pt x="69818" y="63500"/>
                </a:lnTo>
                <a:lnTo>
                  <a:pt x="3822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327275" y="4464811"/>
            <a:ext cx="134048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" dirty="0">
                <a:latin typeface="Perpetua"/>
                <a:cs typeface="Perpetua"/>
              </a:rPr>
              <a:t>Remainder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279391" y="1371600"/>
            <a:ext cx="3521964" cy="339436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35940" y="4834585"/>
            <a:ext cx="8219440" cy="1583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70935">
              <a:lnSpc>
                <a:spcPts val="2330"/>
              </a:lnSpc>
              <a:spcBef>
                <a:spcPts val="105"/>
              </a:spcBef>
            </a:pPr>
            <a:r>
              <a:rPr sz="2000" spc="-10" dirty="0">
                <a:latin typeface="Perpetua"/>
                <a:cs typeface="Perpetua"/>
              </a:rPr>
              <a:t>Figure: </a:t>
            </a:r>
            <a:r>
              <a:rPr sz="2000" spc="-110" dirty="0">
                <a:latin typeface="Perpetua"/>
                <a:cs typeface="Perpetua"/>
              </a:rPr>
              <a:t>We </a:t>
            </a:r>
            <a:r>
              <a:rPr sz="2000" spc="-15" dirty="0">
                <a:latin typeface="Perpetua"/>
                <a:cs typeface="Perpetua"/>
              </a:rPr>
              <a:t>apply </a:t>
            </a:r>
            <a:r>
              <a:rPr sz="2000" spc="-10" dirty="0">
                <a:latin typeface="Perpetua"/>
                <a:cs typeface="Perpetua"/>
              </a:rPr>
              <a:t>modulus </a:t>
            </a:r>
            <a:r>
              <a:rPr sz="2000" spc="-5" dirty="0">
                <a:latin typeface="Perpetua"/>
                <a:cs typeface="Perpetua"/>
              </a:rPr>
              <a:t>operator </a:t>
            </a:r>
            <a:r>
              <a:rPr sz="2000" dirty="0">
                <a:latin typeface="Perpetua"/>
                <a:cs typeface="Perpetua"/>
              </a:rPr>
              <a:t>when</a:t>
            </a:r>
            <a:r>
              <a:rPr sz="2000" spc="15" dirty="0">
                <a:latin typeface="Perpetua"/>
                <a:cs typeface="Perpetua"/>
              </a:rPr>
              <a:t> </a:t>
            </a:r>
            <a:r>
              <a:rPr sz="2000" spc="-80" dirty="0">
                <a:latin typeface="Perpetua"/>
                <a:cs typeface="Perpetua"/>
              </a:rPr>
              <a:t>we</a:t>
            </a:r>
            <a:endParaRPr sz="2000">
              <a:latin typeface="Perpetua"/>
              <a:cs typeface="Perpetua"/>
            </a:endParaRPr>
          </a:p>
          <a:p>
            <a:pPr marL="3670935">
              <a:lnSpc>
                <a:spcPts val="2330"/>
              </a:lnSpc>
            </a:pPr>
            <a:r>
              <a:rPr sz="2000" spc="-5" dirty="0">
                <a:latin typeface="Perpetua"/>
                <a:cs typeface="Perpetua"/>
              </a:rPr>
              <a:t>interpret </a:t>
            </a:r>
            <a:r>
              <a:rPr sz="2000" dirty="0">
                <a:latin typeface="Perpetua"/>
                <a:cs typeface="Perpetua"/>
              </a:rPr>
              <a:t>time </a:t>
            </a:r>
            <a:r>
              <a:rPr sz="2000" spc="-10" dirty="0">
                <a:latin typeface="Perpetua"/>
                <a:cs typeface="Perpetua"/>
              </a:rPr>
              <a:t>from </a:t>
            </a:r>
            <a:r>
              <a:rPr sz="2000" dirty="0">
                <a:latin typeface="Perpetua"/>
                <a:cs typeface="Perpetua"/>
              </a:rPr>
              <a:t>a</a:t>
            </a:r>
            <a:r>
              <a:rPr sz="2000" spc="25" dirty="0">
                <a:latin typeface="Perpetua"/>
                <a:cs typeface="Perpetua"/>
              </a:rPr>
              <a:t> </a:t>
            </a:r>
            <a:r>
              <a:rPr sz="2000" spc="5" dirty="0">
                <a:latin typeface="Perpetua"/>
                <a:cs typeface="Perpetua"/>
              </a:rPr>
              <a:t>clock</a:t>
            </a:r>
            <a:endParaRPr sz="2000">
              <a:latin typeface="Perpetua"/>
              <a:cs typeface="Perpetua"/>
            </a:endParaRPr>
          </a:p>
          <a:p>
            <a:pPr marL="346075" indent="-334010">
              <a:lnSpc>
                <a:spcPct val="100000"/>
              </a:lnSpc>
              <a:spcBef>
                <a:spcPts val="1770"/>
              </a:spcBef>
              <a:buSzPct val="108333"/>
              <a:buFont typeface="Wingdings"/>
              <a:buChar char=""/>
              <a:tabLst>
                <a:tab pos="346710" algn="l"/>
              </a:tabLst>
            </a:pPr>
            <a:r>
              <a:rPr sz="2400" i="1" dirty="0">
                <a:latin typeface="Perpetua"/>
                <a:cs typeface="Perpetua"/>
              </a:rPr>
              <a:t>While modulus </a:t>
            </a:r>
            <a:r>
              <a:rPr sz="2400" i="1" spc="-15" dirty="0">
                <a:latin typeface="Perpetua"/>
                <a:cs typeface="Perpetua"/>
              </a:rPr>
              <a:t>operator </a:t>
            </a:r>
            <a:r>
              <a:rPr sz="2400" i="1" spc="-10" dirty="0">
                <a:latin typeface="Perpetua"/>
                <a:cs typeface="Perpetua"/>
              </a:rPr>
              <a:t>extracts digits, </a:t>
            </a:r>
            <a:r>
              <a:rPr sz="2400" i="1" dirty="0">
                <a:latin typeface="Perpetua"/>
                <a:cs typeface="Perpetua"/>
              </a:rPr>
              <a:t>does </a:t>
            </a:r>
            <a:r>
              <a:rPr sz="2400" i="1" spc="-5" dirty="0">
                <a:latin typeface="Perpetua"/>
                <a:cs typeface="Perpetua"/>
              </a:rPr>
              <a:t>not </a:t>
            </a:r>
            <a:r>
              <a:rPr sz="2400" i="1" spc="-20" dirty="0">
                <a:latin typeface="Perpetua"/>
                <a:cs typeface="Perpetua"/>
              </a:rPr>
              <a:t>remove </a:t>
            </a:r>
            <a:r>
              <a:rPr sz="2400" i="1" spc="-5" dirty="0">
                <a:latin typeface="Perpetua"/>
                <a:cs typeface="Perpetua"/>
              </a:rPr>
              <a:t>it!! </a:t>
            </a:r>
            <a:r>
              <a:rPr sz="2400" i="1" spc="-20" dirty="0">
                <a:latin typeface="Perpetua"/>
                <a:cs typeface="Perpetua"/>
              </a:rPr>
              <a:t>How </a:t>
            </a:r>
            <a:r>
              <a:rPr sz="2400" i="1" dirty="0">
                <a:latin typeface="Perpetua"/>
                <a:cs typeface="Perpetua"/>
              </a:rPr>
              <a:t>will </a:t>
            </a:r>
            <a:r>
              <a:rPr sz="2400" i="1" spc="-15" dirty="0">
                <a:latin typeface="Perpetua"/>
                <a:cs typeface="Perpetua"/>
              </a:rPr>
              <a:t>you</a:t>
            </a:r>
            <a:r>
              <a:rPr sz="2400" i="1" spc="-280" dirty="0">
                <a:latin typeface="Perpetua"/>
                <a:cs typeface="Perpetua"/>
              </a:rPr>
              <a:t> </a:t>
            </a:r>
            <a:r>
              <a:rPr sz="2400" i="1" spc="-20" dirty="0">
                <a:latin typeface="Perpetua"/>
                <a:cs typeface="Perpetua"/>
              </a:rPr>
              <a:t>remove</a:t>
            </a:r>
            <a:endParaRPr sz="24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2400" i="1" dirty="0">
                <a:latin typeface="Perpetua"/>
                <a:cs typeface="Perpetua"/>
              </a:rPr>
              <a:t>the digits </a:t>
            </a:r>
            <a:r>
              <a:rPr sz="2400" i="1" spc="-5" dirty="0">
                <a:latin typeface="Perpetua"/>
                <a:cs typeface="Perpetua"/>
              </a:rPr>
              <a:t>from </a:t>
            </a:r>
            <a:r>
              <a:rPr sz="2400" i="1" dirty="0">
                <a:latin typeface="Perpetua"/>
                <a:cs typeface="Perpetua"/>
              </a:rPr>
              <a:t>a</a:t>
            </a:r>
            <a:r>
              <a:rPr sz="2400" i="1" spc="-25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number?!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64750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Modulus </a:t>
            </a:r>
            <a:r>
              <a:rPr spc="-5" dirty="0"/>
              <a:t>Operator to extract</a:t>
            </a:r>
            <a:r>
              <a:rPr spc="-50" dirty="0"/>
              <a:t> </a:t>
            </a:r>
            <a:r>
              <a:rPr spc="10" dirty="0"/>
              <a:t>digits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8520" y="1284325"/>
            <a:ext cx="6529705" cy="3281679"/>
          </a:xfrm>
          <a:prstGeom prst="rect">
            <a:avLst/>
          </a:prstGeom>
        </p:spPr>
        <p:txBody>
          <a:bodyPr vert="horz" wrap="square" lIns="0" tIns="2381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75"/>
              </a:spcBef>
            </a:pPr>
            <a:r>
              <a:rPr sz="2600" i="1" spc="-65" dirty="0">
                <a:latin typeface="Perpetua"/>
                <a:cs typeface="Perpetua"/>
              </a:rPr>
              <a:t>Say, </a:t>
            </a:r>
            <a:r>
              <a:rPr sz="2600" dirty="0">
                <a:latin typeface="Perpetua"/>
                <a:cs typeface="Perpetua"/>
              </a:rPr>
              <a:t>n = </a:t>
            </a:r>
            <a:r>
              <a:rPr sz="2600" spc="-5" dirty="0">
                <a:latin typeface="Perpetua"/>
                <a:cs typeface="Perpetua"/>
              </a:rPr>
              <a:t>1234 and </a:t>
            </a:r>
            <a:r>
              <a:rPr sz="2600" spc="-10" dirty="0">
                <a:latin typeface="Perpetua"/>
                <a:cs typeface="Perpetua"/>
              </a:rPr>
              <a:t>nreverse </a:t>
            </a:r>
            <a:r>
              <a:rPr sz="2600" dirty="0">
                <a:latin typeface="Perpetua"/>
                <a:cs typeface="Perpetua"/>
              </a:rPr>
              <a:t>=</a:t>
            </a:r>
            <a:r>
              <a:rPr sz="2600" spc="-17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0</a:t>
            </a:r>
            <a:endParaRPr sz="2600">
              <a:latin typeface="Perpetua"/>
              <a:cs typeface="Perpetua"/>
            </a:endParaRPr>
          </a:p>
          <a:p>
            <a:pPr marL="527685" indent="-515620">
              <a:lnSpc>
                <a:spcPct val="100000"/>
              </a:lnSpc>
              <a:spcBef>
                <a:spcPts val="1780"/>
              </a:spcBef>
              <a:buSzPct val="84615"/>
              <a:buAutoNum type="arabicPeriod"/>
              <a:tabLst>
                <a:tab pos="527685" algn="l"/>
                <a:tab pos="528320" algn="l"/>
                <a:tab pos="4194810" algn="l"/>
              </a:tabLst>
            </a:pPr>
            <a:r>
              <a:rPr sz="2600" spc="-10" dirty="0">
                <a:latin typeface="Perpetua"/>
                <a:cs typeface="Perpetua"/>
              </a:rPr>
              <a:t>nreverse </a:t>
            </a:r>
            <a:r>
              <a:rPr sz="2600" dirty="0">
                <a:latin typeface="Perpetua"/>
                <a:cs typeface="Perpetua"/>
              </a:rPr>
              <a:t>= </a:t>
            </a:r>
            <a:r>
              <a:rPr sz="2600" spc="-10" dirty="0">
                <a:latin typeface="Perpetua"/>
                <a:cs typeface="Perpetua"/>
              </a:rPr>
              <a:t>nreverse </a:t>
            </a:r>
            <a:r>
              <a:rPr sz="2600" dirty="0">
                <a:latin typeface="Perpetua"/>
                <a:cs typeface="Perpetua"/>
              </a:rPr>
              <a:t>x </a:t>
            </a:r>
            <a:r>
              <a:rPr sz="2600" spc="-5" dirty="0">
                <a:latin typeface="Perpetua"/>
                <a:cs typeface="Perpetua"/>
              </a:rPr>
              <a:t>10</a:t>
            </a:r>
            <a:r>
              <a:rPr sz="2600" spc="1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+</a:t>
            </a:r>
            <a:r>
              <a:rPr sz="2600" spc="1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4	</a:t>
            </a:r>
            <a:r>
              <a:rPr sz="2600" spc="-5" dirty="0">
                <a:latin typeface="Perpetua"/>
                <a:cs typeface="Perpetua"/>
              </a:rPr>
              <a:t>(1234 mod 10 </a:t>
            </a:r>
            <a:r>
              <a:rPr sz="2600" dirty="0">
                <a:latin typeface="Perpetua"/>
                <a:cs typeface="Perpetua"/>
              </a:rPr>
              <a:t>=</a:t>
            </a:r>
            <a:r>
              <a:rPr sz="2600" spc="-5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4)</a:t>
            </a:r>
            <a:endParaRPr sz="2600">
              <a:latin typeface="Perpetua"/>
              <a:cs typeface="Perpetua"/>
            </a:endParaRPr>
          </a:p>
          <a:p>
            <a:pPr marL="527685" indent="-515620">
              <a:lnSpc>
                <a:spcPct val="100000"/>
              </a:lnSpc>
              <a:spcBef>
                <a:spcPts val="2160"/>
              </a:spcBef>
              <a:buSzPct val="84615"/>
              <a:buAutoNum type="arabicPeriod"/>
              <a:tabLst>
                <a:tab pos="527685" algn="l"/>
                <a:tab pos="528320" algn="l"/>
                <a:tab pos="4194810" algn="l"/>
              </a:tabLst>
            </a:pPr>
            <a:r>
              <a:rPr sz="2600" spc="-10" dirty="0">
                <a:latin typeface="Perpetua"/>
                <a:cs typeface="Perpetua"/>
              </a:rPr>
              <a:t>nreverse </a:t>
            </a:r>
            <a:r>
              <a:rPr sz="2600" dirty="0">
                <a:latin typeface="Perpetua"/>
                <a:cs typeface="Perpetua"/>
              </a:rPr>
              <a:t>= </a:t>
            </a:r>
            <a:r>
              <a:rPr sz="2600" spc="-10" dirty="0">
                <a:latin typeface="Perpetua"/>
                <a:cs typeface="Perpetua"/>
              </a:rPr>
              <a:t>nreverse </a:t>
            </a:r>
            <a:r>
              <a:rPr sz="2600" dirty="0">
                <a:latin typeface="Perpetua"/>
                <a:cs typeface="Perpetua"/>
              </a:rPr>
              <a:t>x </a:t>
            </a:r>
            <a:r>
              <a:rPr sz="2600" spc="-5" dirty="0">
                <a:latin typeface="Perpetua"/>
                <a:cs typeface="Perpetua"/>
              </a:rPr>
              <a:t>10</a:t>
            </a:r>
            <a:r>
              <a:rPr sz="2600" spc="1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+</a:t>
            </a:r>
            <a:r>
              <a:rPr sz="2600" spc="1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3	</a:t>
            </a:r>
            <a:r>
              <a:rPr sz="2600" spc="-5" dirty="0">
                <a:latin typeface="Perpetua"/>
                <a:cs typeface="Perpetua"/>
              </a:rPr>
              <a:t>(123 mod 10 </a:t>
            </a:r>
            <a:r>
              <a:rPr sz="2600" dirty="0">
                <a:latin typeface="Perpetua"/>
                <a:cs typeface="Perpetua"/>
              </a:rPr>
              <a:t>=</a:t>
            </a:r>
            <a:r>
              <a:rPr sz="2600" spc="-6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3)</a:t>
            </a:r>
            <a:endParaRPr sz="2600">
              <a:latin typeface="Perpetua"/>
              <a:cs typeface="Perpetua"/>
            </a:endParaRPr>
          </a:p>
          <a:p>
            <a:pPr marL="527685" indent="-515620">
              <a:lnSpc>
                <a:spcPct val="100000"/>
              </a:lnSpc>
              <a:spcBef>
                <a:spcPts val="2160"/>
              </a:spcBef>
              <a:buSzPct val="84615"/>
              <a:buAutoNum type="arabicPeriod"/>
              <a:tabLst>
                <a:tab pos="527685" algn="l"/>
                <a:tab pos="528320" algn="l"/>
                <a:tab pos="4194810" algn="l"/>
              </a:tabLst>
            </a:pPr>
            <a:r>
              <a:rPr sz="2600" spc="-10" dirty="0">
                <a:latin typeface="Perpetua"/>
                <a:cs typeface="Perpetua"/>
              </a:rPr>
              <a:t>nreverse </a:t>
            </a:r>
            <a:r>
              <a:rPr sz="2600" dirty="0">
                <a:latin typeface="Perpetua"/>
                <a:cs typeface="Perpetua"/>
              </a:rPr>
              <a:t>= </a:t>
            </a:r>
            <a:r>
              <a:rPr sz="2600" spc="-10" dirty="0">
                <a:latin typeface="Perpetua"/>
                <a:cs typeface="Perpetua"/>
              </a:rPr>
              <a:t>nreverse </a:t>
            </a:r>
            <a:r>
              <a:rPr sz="2600" dirty="0">
                <a:latin typeface="Perpetua"/>
                <a:cs typeface="Perpetua"/>
              </a:rPr>
              <a:t>x </a:t>
            </a:r>
            <a:r>
              <a:rPr sz="2600" spc="-5" dirty="0">
                <a:latin typeface="Perpetua"/>
                <a:cs typeface="Perpetua"/>
              </a:rPr>
              <a:t>10</a:t>
            </a:r>
            <a:r>
              <a:rPr sz="2600" spc="1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+</a:t>
            </a:r>
            <a:r>
              <a:rPr sz="2600" spc="1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2	(12 </a:t>
            </a:r>
            <a:r>
              <a:rPr sz="2600" spc="-5" dirty="0">
                <a:latin typeface="Perpetua"/>
                <a:cs typeface="Perpetua"/>
              </a:rPr>
              <a:t>mod 10 </a:t>
            </a:r>
            <a:r>
              <a:rPr sz="2600" dirty="0">
                <a:latin typeface="Perpetua"/>
                <a:cs typeface="Perpetua"/>
              </a:rPr>
              <a:t>=</a:t>
            </a:r>
            <a:r>
              <a:rPr sz="2600" spc="-8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2)</a:t>
            </a:r>
            <a:endParaRPr sz="2600">
              <a:latin typeface="Perpetua"/>
              <a:cs typeface="Perpetua"/>
            </a:endParaRPr>
          </a:p>
          <a:p>
            <a:pPr marL="527685" indent="-515620">
              <a:lnSpc>
                <a:spcPct val="100000"/>
              </a:lnSpc>
              <a:spcBef>
                <a:spcPts val="2160"/>
              </a:spcBef>
              <a:buSzPct val="84615"/>
              <a:buAutoNum type="arabicPeriod"/>
              <a:tabLst>
                <a:tab pos="527685" algn="l"/>
                <a:tab pos="528320" algn="l"/>
                <a:tab pos="4194810" algn="l"/>
              </a:tabLst>
            </a:pPr>
            <a:r>
              <a:rPr sz="2600" spc="-10" dirty="0">
                <a:latin typeface="Perpetua"/>
                <a:cs typeface="Perpetua"/>
              </a:rPr>
              <a:t>nreverse </a:t>
            </a:r>
            <a:r>
              <a:rPr sz="2600" dirty="0">
                <a:latin typeface="Perpetua"/>
                <a:cs typeface="Perpetua"/>
              </a:rPr>
              <a:t>= </a:t>
            </a:r>
            <a:r>
              <a:rPr sz="2600" spc="-10" dirty="0">
                <a:latin typeface="Perpetua"/>
                <a:cs typeface="Perpetua"/>
              </a:rPr>
              <a:t>nreverse </a:t>
            </a:r>
            <a:r>
              <a:rPr sz="2600" dirty="0">
                <a:latin typeface="Perpetua"/>
                <a:cs typeface="Perpetua"/>
              </a:rPr>
              <a:t>x </a:t>
            </a:r>
            <a:r>
              <a:rPr sz="2600" spc="-5" dirty="0">
                <a:latin typeface="Perpetua"/>
                <a:cs typeface="Perpetua"/>
              </a:rPr>
              <a:t>10</a:t>
            </a:r>
            <a:r>
              <a:rPr sz="2600" spc="1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+</a:t>
            </a:r>
            <a:r>
              <a:rPr sz="2600" spc="1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1	(1 </a:t>
            </a:r>
            <a:r>
              <a:rPr sz="2600" spc="-5" dirty="0">
                <a:latin typeface="Perpetua"/>
                <a:cs typeface="Perpetua"/>
              </a:rPr>
              <a:t>mod 10 </a:t>
            </a:r>
            <a:r>
              <a:rPr sz="2600" dirty="0">
                <a:latin typeface="Perpetua"/>
                <a:cs typeface="Perpetua"/>
              </a:rPr>
              <a:t>=</a:t>
            </a:r>
            <a:r>
              <a:rPr sz="2600" spc="-7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1)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47910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Reversing </a:t>
            </a:r>
            <a:r>
              <a:rPr spc="-5" dirty="0"/>
              <a:t>extracted</a:t>
            </a:r>
            <a:r>
              <a:rPr spc="-40" dirty="0"/>
              <a:t> </a:t>
            </a:r>
            <a:r>
              <a:rPr spc="10" dirty="0"/>
              <a:t>digits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8520" y="1430274"/>
            <a:ext cx="7742555" cy="50412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0985" indent="-248920">
              <a:lnSpc>
                <a:spcPct val="100000"/>
              </a:lnSpc>
              <a:spcBef>
                <a:spcPts val="105"/>
              </a:spcBef>
              <a:buSzPct val="96153"/>
              <a:buAutoNum type="arabicPeriod"/>
              <a:tabLst>
                <a:tab pos="261620" algn="l"/>
              </a:tabLst>
            </a:pPr>
            <a:r>
              <a:rPr sz="2600" dirty="0">
                <a:latin typeface="Perpetua"/>
                <a:cs typeface="Perpetua"/>
              </a:rPr>
              <a:t>Get </a:t>
            </a:r>
            <a:r>
              <a:rPr sz="2600" i="1" dirty="0">
                <a:latin typeface="Perpetua"/>
                <a:cs typeface="Perpetua"/>
              </a:rPr>
              <a:t>n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0" dirty="0">
                <a:latin typeface="Perpetua"/>
                <a:cs typeface="Perpetua"/>
              </a:rPr>
              <a:t>positive </a:t>
            </a:r>
            <a:r>
              <a:rPr sz="2600" spc="-5" dirty="0">
                <a:latin typeface="Perpetua"/>
                <a:cs typeface="Perpetua"/>
              </a:rPr>
              <a:t>integer to be</a:t>
            </a:r>
            <a:r>
              <a:rPr sz="2600" spc="1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reversed.</a:t>
            </a:r>
            <a:endParaRPr sz="2600" dirty="0">
              <a:latin typeface="Perpetua"/>
              <a:cs typeface="Perpetua"/>
            </a:endParaRPr>
          </a:p>
          <a:p>
            <a:pPr marL="335280" indent="-323215">
              <a:lnSpc>
                <a:spcPct val="100000"/>
              </a:lnSpc>
              <a:spcBef>
                <a:spcPts val="2155"/>
              </a:spcBef>
              <a:buSzPct val="96153"/>
              <a:buAutoNum type="arabicPeriod"/>
              <a:tabLst>
                <a:tab pos="335915" algn="l"/>
              </a:tabLst>
            </a:pPr>
            <a:r>
              <a:rPr sz="2600" spc="-5" dirty="0">
                <a:latin typeface="Perpetua"/>
                <a:cs typeface="Perpetua"/>
              </a:rPr>
              <a:t>Set </a:t>
            </a:r>
            <a:r>
              <a:rPr sz="2600" i="1" spc="-10" dirty="0">
                <a:latin typeface="Perpetua"/>
                <a:cs typeface="Perpetua"/>
              </a:rPr>
              <a:t>nreverse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dirty="0">
                <a:latin typeface="Perpetua"/>
                <a:cs typeface="Perpetua"/>
              </a:rPr>
              <a:t>0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.</a:t>
            </a:r>
          </a:p>
          <a:p>
            <a:pPr marL="260985" indent="-248920">
              <a:lnSpc>
                <a:spcPct val="100000"/>
              </a:lnSpc>
              <a:spcBef>
                <a:spcPts val="2165"/>
              </a:spcBef>
              <a:buSzPct val="96153"/>
              <a:buAutoNum type="arabicPeriod"/>
              <a:tabLst>
                <a:tab pos="261620" algn="l"/>
              </a:tabLst>
            </a:pPr>
            <a:r>
              <a:rPr sz="2600" dirty="0">
                <a:latin typeface="Perpetua"/>
                <a:cs typeface="Perpetua"/>
              </a:rPr>
              <a:t>While </a:t>
            </a:r>
            <a:r>
              <a:rPr sz="2600" i="1" dirty="0">
                <a:latin typeface="Perpetua"/>
                <a:cs typeface="Perpetua"/>
              </a:rPr>
              <a:t>n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5" dirty="0">
                <a:latin typeface="Perpetua"/>
                <a:cs typeface="Perpetua"/>
              </a:rPr>
              <a:t>greater </a:t>
            </a:r>
            <a:r>
              <a:rPr sz="2600" dirty="0">
                <a:latin typeface="Perpetua"/>
                <a:cs typeface="Perpetua"/>
              </a:rPr>
              <a:t>than </a:t>
            </a:r>
            <a:r>
              <a:rPr sz="2600" spc="-10" dirty="0">
                <a:latin typeface="Perpetua"/>
                <a:cs typeface="Perpetua"/>
              </a:rPr>
              <a:t>zero repeatedly</a:t>
            </a:r>
            <a:r>
              <a:rPr sz="2600" spc="-4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do</a:t>
            </a:r>
            <a:endParaRPr sz="2600" dirty="0">
              <a:latin typeface="Perpetua"/>
              <a:cs typeface="Perpetua"/>
            </a:endParaRPr>
          </a:p>
          <a:p>
            <a:pPr marL="958850" lvl="1" indent="-299085">
              <a:lnSpc>
                <a:spcPct val="100000"/>
              </a:lnSpc>
              <a:spcBef>
                <a:spcPts val="1560"/>
              </a:spcBef>
              <a:buFont typeface="Perpetua"/>
              <a:buAutoNum type="alphaLcParenR"/>
              <a:tabLst>
                <a:tab pos="959485" algn="l"/>
              </a:tabLst>
            </a:pPr>
            <a:r>
              <a:rPr sz="2600" i="1" dirty="0">
                <a:latin typeface="Perpetua"/>
                <a:cs typeface="Perpetua"/>
              </a:rPr>
              <a:t>r </a:t>
            </a:r>
            <a:r>
              <a:rPr sz="2600" spc="-5" dirty="0">
                <a:latin typeface="Perpetua"/>
                <a:cs typeface="Perpetua"/>
              </a:rPr>
              <a:t>(remainder) </a:t>
            </a:r>
            <a:r>
              <a:rPr sz="2600" dirty="0">
                <a:latin typeface="Perpetua"/>
                <a:cs typeface="Perpetua"/>
              </a:rPr>
              <a:t>= n mod 10</a:t>
            </a:r>
            <a:r>
              <a:rPr sz="2600" spc="-4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.</a:t>
            </a:r>
          </a:p>
          <a:p>
            <a:pPr marL="986155" lvl="1" indent="-326390">
              <a:lnSpc>
                <a:spcPct val="100000"/>
              </a:lnSpc>
              <a:spcBef>
                <a:spcPts val="2160"/>
              </a:spcBef>
              <a:buFont typeface="Perpetua"/>
              <a:buAutoNum type="alphaLcParenR"/>
              <a:tabLst>
                <a:tab pos="986790" algn="l"/>
              </a:tabLst>
            </a:pPr>
            <a:r>
              <a:rPr sz="2600" i="1" spc="-10" dirty="0">
                <a:latin typeface="Perpetua"/>
                <a:cs typeface="Perpetua"/>
              </a:rPr>
              <a:t>nreverse </a:t>
            </a:r>
            <a:r>
              <a:rPr sz="2600" dirty="0">
                <a:latin typeface="Perpetua"/>
                <a:cs typeface="Perpetua"/>
              </a:rPr>
              <a:t>= </a:t>
            </a:r>
            <a:r>
              <a:rPr sz="2600" i="1" spc="-10" dirty="0">
                <a:latin typeface="Perpetua"/>
                <a:cs typeface="Perpetua"/>
              </a:rPr>
              <a:t>nreverse </a:t>
            </a:r>
            <a:r>
              <a:rPr sz="2600" dirty="0">
                <a:latin typeface="Perpetua"/>
                <a:cs typeface="Perpetua"/>
              </a:rPr>
              <a:t>x 10 +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i="1" spc="-160" dirty="0">
                <a:latin typeface="Perpetua"/>
                <a:cs typeface="Perpetua"/>
              </a:rPr>
              <a:t>r.</a:t>
            </a:r>
            <a:endParaRPr sz="2600" dirty="0">
              <a:latin typeface="Perpetua"/>
              <a:cs typeface="Perpetua"/>
            </a:endParaRPr>
          </a:p>
          <a:p>
            <a:pPr marL="876300" marR="5080" lvl="1" indent="-216535">
              <a:lnSpc>
                <a:spcPct val="150100"/>
              </a:lnSpc>
              <a:spcBef>
                <a:spcPts val="600"/>
              </a:spcBef>
              <a:buFont typeface="Perpetua"/>
              <a:buAutoNum type="alphaLcParenR"/>
              <a:tabLst>
                <a:tab pos="951865" algn="l"/>
              </a:tabLst>
            </a:pPr>
            <a:r>
              <a:rPr dirty="0"/>
              <a:t>	</a:t>
            </a:r>
            <a:r>
              <a:rPr sz="2600" i="1" dirty="0">
                <a:latin typeface="Perpetua"/>
                <a:cs typeface="Perpetua"/>
              </a:rPr>
              <a:t>n </a:t>
            </a:r>
            <a:r>
              <a:rPr sz="2600" dirty="0">
                <a:latin typeface="Perpetua"/>
                <a:cs typeface="Perpetua"/>
              </a:rPr>
              <a:t>= </a:t>
            </a:r>
            <a:r>
              <a:rPr sz="2600" i="1" dirty="0">
                <a:latin typeface="Perpetua"/>
                <a:cs typeface="Perpetua"/>
              </a:rPr>
              <a:t>n</a:t>
            </a:r>
            <a:r>
              <a:rPr sz="2600" dirty="0">
                <a:latin typeface="Perpetua"/>
                <a:cs typeface="Perpetua"/>
              </a:rPr>
              <a:t>/10 </a:t>
            </a:r>
            <a:r>
              <a:rPr sz="2600" spc="-5" dirty="0">
                <a:latin typeface="Perpetua"/>
                <a:cs typeface="Perpetua"/>
              </a:rPr>
              <a:t>(gives quotient and thus </a:t>
            </a:r>
            <a:r>
              <a:rPr sz="2600" spc="-25" dirty="0">
                <a:latin typeface="Perpetua"/>
                <a:cs typeface="Perpetua"/>
              </a:rPr>
              <a:t>removes </a:t>
            </a:r>
            <a:r>
              <a:rPr sz="2600" dirty="0">
                <a:latin typeface="Perpetua"/>
                <a:cs typeface="Perpetua"/>
              </a:rPr>
              <a:t>the rightmost  </a:t>
            </a:r>
            <a:r>
              <a:rPr sz="2600" spc="5" dirty="0">
                <a:latin typeface="Perpetua"/>
                <a:cs typeface="Perpetua"/>
              </a:rPr>
              <a:t>digit).</a:t>
            </a:r>
            <a:endParaRPr sz="2600" dirty="0">
              <a:latin typeface="Perpetua"/>
              <a:cs typeface="Perpetua"/>
            </a:endParaRPr>
          </a:p>
          <a:p>
            <a:pPr lvl="1">
              <a:lnSpc>
                <a:spcPct val="100000"/>
              </a:lnSpc>
              <a:buAutoNum type="alphaLcParenR"/>
            </a:pPr>
            <a:endParaRPr sz="2400" dirty="0">
              <a:latin typeface="Times New Roman"/>
              <a:cs typeface="Times New Roman"/>
            </a:endParaRPr>
          </a:p>
          <a:p>
            <a:pPr marL="335280" indent="-323215">
              <a:lnSpc>
                <a:spcPct val="100000"/>
              </a:lnSpc>
              <a:buSzPct val="96153"/>
              <a:buAutoNum type="arabicPeriod"/>
              <a:tabLst>
                <a:tab pos="335915" algn="l"/>
              </a:tabLst>
            </a:pPr>
            <a:r>
              <a:rPr sz="2600" spc="-15" dirty="0">
                <a:latin typeface="Perpetua"/>
                <a:cs typeface="Perpetua"/>
              </a:rPr>
              <a:t>Display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5" dirty="0">
                <a:latin typeface="Perpetua"/>
                <a:cs typeface="Perpetua"/>
              </a:rPr>
              <a:t>current </a:t>
            </a:r>
            <a:r>
              <a:rPr sz="2600" spc="-15" dirty="0">
                <a:latin typeface="Perpetua"/>
                <a:cs typeface="Perpetua"/>
              </a:rPr>
              <a:t>value </a:t>
            </a:r>
            <a:r>
              <a:rPr sz="2600" spc="-5" dirty="0">
                <a:latin typeface="Perpetua"/>
                <a:cs typeface="Perpetua"/>
              </a:rPr>
              <a:t>of</a:t>
            </a:r>
            <a:r>
              <a:rPr sz="2600" spc="-10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nreverse.</a:t>
            </a:r>
            <a:endParaRPr sz="2600" dirty="0">
              <a:latin typeface="Perpetua"/>
              <a:cs typeface="Perpetu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50723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5" dirty="0"/>
              <a:t>Algorithm </a:t>
            </a:r>
            <a:r>
              <a:rPr spc="-5" dirty="0"/>
              <a:t>for </a:t>
            </a:r>
            <a:r>
              <a:rPr spc="10" dirty="0"/>
              <a:t>digit</a:t>
            </a:r>
            <a:r>
              <a:rPr spc="-80" dirty="0"/>
              <a:t> </a:t>
            </a:r>
            <a:r>
              <a:rPr spc="-15" dirty="0"/>
              <a:t>reversal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3994" y="1890563"/>
            <a:ext cx="5827395" cy="427926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60985" indent="-248920">
              <a:lnSpc>
                <a:spcPct val="100000"/>
              </a:lnSpc>
              <a:spcBef>
                <a:spcPts val="700"/>
              </a:spcBef>
              <a:buSzPct val="96153"/>
              <a:buAutoNum type="arabicPeriod"/>
              <a:tabLst>
                <a:tab pos="261620" algn="l"/>
              </a:tabLst>
            </a:pPr>
            <a:r>
              <a:rPr sz="2600" spc="-5" dirty="0">
                <a:latin typeface="Perpetua"/>
                <a:cs typeface="Perpetua"/>
              </a:rPr>
              <a:t>Get cash </a:t>
            </a:r>
            <a:r>
              <a:rPr sz="2600" i="1" spc="-5" dirty="0">
                <a:latin typeface="Perpetua"/>
                <a:cs typeface="Perpetua"/>
              </a:rPr>
              <a:t>amount</a:t>
            </a:r>
            <a:r>
              <a:rPr sz="2600" i="1" spc="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.</a:t>
            </a:r>
            <a:endParaRPr sz="2600">
              <a:latin typeface="Perpetua"/>
              <a:cs typeface="Perpetua"/>
            </a:endParaRPr>
          </a:p>
          <a:p>
            <a:pPr marL="260985" indent="-248920">
              <a:lnSpc>
                <a:spcPct val="100000"/>
              </a:lnSpc>
              <a:spcBef>
                <a:spcPts val="605"/>
              </a:spcBef>
              <a:buSzPct val="96153"/>
              <a:buAutoNum type="arabicPeriod"/>
              <a:tabLst>
                <a:tab pos="261620" algn="l"/>
              </a:tabLst>
            </a:pPr>
            <a:r>
              <a:rPr sz="2600" dirty="0">
                <a:latin typeface="Perpetua"/>
                <a:cs typeface="Perpetua"/>
              </a:rPr>
              <a:t>Set </a:t>
            </a:r>
            <a:r>
              <a:rPr sz="2600" i="1" dirty="0">
                <a:latin typeface="Perpetua"/>
                <a:cs typeface="Perpetua"/>
              </a:rPr>
              <a:t>Hs </a:t>
            </a:r>
            <a:r>
              <a:rPr sz="2600" spc="-5" dirty="0">
                <a:latin typeface="Perpetua"/>
                <a:cs typeface="Perpetua"/>
              </a:rPr>
              <a:t>(hundreds) and </a:t>
            </a:r>
            <a:r>
              <a:rPr sz="2600" i="1" dirty="0">
                <a:latin typeface="Perpetua"/>
                <a:cs typeface="Perpetua"/>
              </a:rPr>
              <a:t>Fhs </a:t>
            </a:r>
            <a:r>
              <a:rPr sz="2600" spc="-10" dirty="0">
                <a:latin typeface="Perpetua"/>
                <a:cs typeface="Perpetua"/>
              </a:rPr>
              <a:t>(five </a:t>
            </a:r>
            <a:r>
              <a:rPr sz="2600" spc="-5" dirty="0">
                <a:latin typeface="Perpetua"/>
                <a:cs typeface="Perpetua"/>
              </a:rPr>
              <a:t>hundreds) to</a:t>
            </a:r>
            <a:r>
              <a:rPr sz="2600" spc="-6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0.</a:t>
            </a:r>
            <a:endParaRPr sz="2600">
              <a:latin typeface="Perpetua"/>
              <a:cs typeface="Perpetua"/>
            </a:endParaRPr>
          </a:p>
          <a:p>
            <a:pPr marL="12700" marR="3613150">
              <a:lnSpc>
                <a:spcPct val="119200"/>
              </a:lnSpc>
              <a:buSzPct val="96153"/>
              <a:buAutoNum type="arabicPeriod"/>
              <a:tabLst>
                <a:tab pos="335915" algn="l"/>
              </a:tabLst>
            </a:pPr>
            <a:r>
              <a:rPr sz="2600" spc="-5" dirty="0">
                <a:latin typeface="Perpetua"/>
                <a:cs typeface="Perpetua"/>
              </a:rPr>
              <a:t>If </a:t>
            </a:r>
            <a:r>
              <a:rPr sz="2600" i="1" spc="-5" dirty="0">
                <a:latin typeface="Perpetua"/>
                <a:cs typeface="Perpetua"/>
              </a:rPr>
              <a:t>amount </a:t>
            </a:r>
            <a:r>
              <a:rPr sz="2600" dirty="0">
                <a:latin typeface="Perpetua"/>
                <a:cs typeface="Perpetua"/>
              </a:rPr>
              <a:t>&lt;</a:t>
            </a:r>
            <a:r>
              <a:rPr sz="2600" spc="-5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500  </a:t>
            </a:r>
            <a:r>
              <a:rPr sz="2600" dirty="0">
                <a:latin typeface="Perpetua"/>
                <a:cs typeface="Perpetua"/>
              </a:rPr>
              <a:t>4.Then</a:t>
            </a:r>
            <a:endParaRPr sz="2600">
              <a:latin typeface="Perpetua"/>
              <a:cs typeface="Perpetua"/>
            </a:endParaRPr>
          </a:p>
          <a:p>
            <a:pPr marL="462280" indent="-449580">
              <a:lnSpc>
                <a:spcPct val="100000"/>
              </a:lnSpc>
              <a:spcBef>
                <a:spcPts val="600"/>
              </a:spcBef>
              <a:buFont typeface="Perpetua"/>
              <a:buAutoNum type="arabicPeriod" startAt="5"/>
              <a:tabLst>
                <a:tab pos="461645" algn="l"/>
                <a:tab pos="462280" algn="l"/>
              </a:tabLst>
            </a:pPr>
            <a:r>
              <a:rPr sz="2600" i="1" dirty="0">
                <a:latin typeface="Perpetua"/>
                <a:cs typeface="Perpetua"/>
              </a:rPr>
              <a:t>Hs </a:t>
            </a:r>
            <a:r>
              <a:rPr sz="2600" dirty="0">
                <a:latin typeface="Perpetua"/>
                <a:cs typeface="Perpetua"/>
              </a:rPr>
              <a:t>=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amount</a:t>
            </a:r>
            <a:r>
              <a:rPr sz="2600" spc="-5" dirty="0">
                <a:latin typeface="Perpetua"/>
                <a:cs typeface="Perpetua"/>
              </a:rPr>
              <a:t>/100</a:t>
            </a:r>
            <a:endParaRPr sz="2600">
              <a:latin typeface="Perpetua"/>
              <a:cs typeface="Perpetua"/>
            </a:endParaRPr>
          </a:p>
          <a:p>
            <a:pPr marL="335280" indent="-323215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35915" algn="l"/>
              </a:tabLst>
            </a:pPr>
            <a:r>
              <a:rPr sz="2600" dirty="0">
                <a:latin typeface="Perpetua"/>
                <a:cs typeface="Perpetua"/>
              </a:rPr>
              <a:t>Else</a:t>
            </a:r>
            <a:endParaRPr sz="2600">
              <a:latin typeface="Perpetua"/>
              <a:cs typeface="Perpetua"/>
            </a:endParaRPr>
          </a:p>
          <a:p>
            <a:pPr marL="485140" indent="-472440">
              <a:lnSpc>
                <a:spcPct val="100000"/>
              </a:lnSpc>
              <a:spcBef>
                <a:spcPts val="600"/>
              </a:spcBef>
              <a:buFont typeface="Perpetua"/>
              <a:buAutoNum type="arabicPeriod" startAt="5"/>
              <a:tabLst>
                <a:tab pos="484505" algn="l"/>
                <a:tab pos="485140" algn="l"/>
              </a:tabLst>
            </a:pPr>
            <a:r>
              <a:rPr sz="2600" i="1" spc="-5" dirty="0">
                <a:latin typeface="Perpetua"/>
                <a:cs typeface="Perpetua"/>
              </a:rPr>
              <a:t>Fhs </a:t>
            </a:r>
            <a:r>
              <a:rPr sz="2600" dirty="0">
                <a:latin typeface="Perpetua"/>
                <a:cs typeface="Perpetua"/>
              </a:rPr>
              <a:t>= </a:t>
            </a:r>
            <a:r>
              <a:rPr sz="2600" i="1" spc="-5" dirty="0">
                <a:latin typeface="Perpetua"/>
                <a:cs typeface="Perpetua"/>
              </a:rPr>
              <a:t>amount </a:t>
            </a:r>
            <a:r>
              <a:rPr sz="2600" dirty="0">
                <a:latin typeface="Perpetua"/>
                <a:cs typeface="Perpetua"/>
              </a:rPr>
              <a:t>/</a:t>
            </a:r>
            <a:r>
              <a:rPr sz="2600" spc="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500</a:t>
            </a:r>
            <a:endParaRPr sz="2600">
              <a:latin typeface="Perpetua"/>
              <a:cs typeface="Perpetua"/>
            </a:endParaRPr>
          </a:p>
          <a:p>
            <a:pPr marL="485140" indent="-472440">
              <a:lnSpc>
                <a:spcPct val="100000"/>
              </a:lnSpc>
              <a:spcBef>
                <a:spcPts val="605"/>
              </a:spcBef>
              <a:buFont typeface="Perpetua"/>
              <a:buAutoNum type="arabicPeriod" startAt="5"/>
              <a:tabLst>
                <a:tab pos="484505" algn="l"/>
                <a:tab pos="485140" algn="l"/>
              </a:tabLst>
            </a:pPr>
            <a:r>
              <a:rPr sz="2600" i="1" dirty="0">
                <a:latin typeface="Perpetua"/>
                <a:cs typeface="Perpetua"/>
              </a:rPr>
              <a:t>Hs </a:t>
            </a:r>
            <a:r>
              <a:rPr sz="2600" dirty="0">
                <a:latin typeface="Perpetua"/>
                <a:cs typeface="Perpetua"/>
              </a:rPr>
              <a:t>= </a:t>
            </a:r>
            <a:r>
              <a:rPr sz="2600" spc="-5" dirty="0">
                <a:latin typeface="Perpetua"/>
                <a:cs typeface="Perpetua"/>
              </a:rPr>
              <a:t>(</a:t>
            </a:r>
            <a:r>
              <a:rPr sz="2600" i="1" spc="-5" dirty="0">
                <a:latin typeface="Perpetua"/>
                <a:cs typeface="Perpetua"/>
              </a:rPr>
              <a:t>amount </a:t>
            </a:r>
            <a:r>
              <a:rPr sz="2600" spc="-5" dirty="0">
                <a:latin typeface="Perpetua"/>
                <a:cs typeface="Perpetua"/>
              </a:rPr>
              <a:t>mod 500) mod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100</a:t>
            </a:r>
            <a:endParaRPr sz="2600">
              <a:latin typeface="Perpetua"/>
              <a:cs typeface="Perpetua"/>
            </a:endParaRPr>
          </a:p>
          <a:p>
            <a:pPr marL="335280" indent="-323215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335915" algn="l"/>
              </a:tabLst>
            </a:pPr>
            <a:r>
              <a:rPr sz="2600" spc="-15" dirty="0">
                <a:latin typeface="Perpetua"/>
                <a:cs typeface="Perpetua"/>
              </a:rPr>
              <a:t>Display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i="1" spc="-5" dirty="0">
                <a:latin typeface="Perpetua"/>
                <a:cs typeface="Perpetua"/>
              </a:rPr>
              <a:t>amount</a:t>
            </a:r>
            <a:r>
              <a:rPr sz="2600" spc="-5" dirty="0">
                <a:latin typeface="Perpetua"/>
                <a:cs typeface="Perpetua"/>
              </a:rPr>
              <a:t>, </a:t>
            </a:r>
            <a:r>
              <a:rPr sz="2600" i="1" dirty="0">
                <a:latin typeface="Perpetua"/>
                <a:cs typeface="Perpetua"/>
              </a:rPr>
              <a:t>Fhs </a:t>
            </a:r>
            <a:r>
              <a:rPr sz="2600" spc="-5" dirty="0">
                <a:latin typeface="Perpetua"/>
                <a:cs typeface="Perpetua"/>
              </a:rPr>
              <a:t>and</a:t>
            </a:r>
            <a:r>
              <a:rPr sz="2600" spc="-90" dirty="0">
                <a:latin typeface="Perpetua"/>
                <a:cs typeface="Perpetua"/>
              </a:rPr>
              <a:t> </a:t>
            </a:r>
            <a:r>
              <a:rPr sz="2600" i="1" spc="-20" dirty="0">
                <a:latin typeface="Perpetua"/>
                <a:cs typeface="Perpetua"/>
              </a:rPr>
              <a:t>Hs.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7340" y="34290"/>
            <a:ext cx="7655559" cy="18040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8100"/>
              </a:lnSpc>
              <a:spcBef>
                <a:spcPts val="95"/>
              </a:spcBef>
            </a:pPr>
            <a:r>
              <a:rPr sz="3600" dirty="0"/>
              <a:t>Algorithm for a typical </a:t>
            </a:r>
            <a:r>
              <a:rPr sz="3600" spc="-100" dirty="0"/>
              <a:t>ATM </a:t>
            </a:r>
            <a:r>
              <a:rPr sz="3600" dirty="0"/>
              <a:t>to </a:t>
            </a:r>
            <a:r>
              <a:rPr sz="3600" spc="-5" dirty="0"/>
              <a:t>decide </a:t>
            </a:r>
            <a:r>
              <a:rPr sz="3600" spc="10" dirty="0"/>
              <a:t>right  </a:t>
            </a:r>
            <a:r>
              <a:rPr sz="3600" spc="-5" dirty="0"/>
              <a:t>denomination </a:t>
            </a:r>
            <a:r>
              <a:rPr sz="3600" dirty="0"/>
              <a:t>while </a:t>
            </a:r>
            <a:r>
              <a:rPr sz="3600" spc="-5" dirty="0"/>
              <a:t>dispensing </a:t>
            </a:r>
            <a:r>
              <a:rPr sz="3600" dirty="0"/>
              <a:t>cash (assuming  </a:t>
            </a:r>
            <a:r>
              <a:rPr sz="3600" spc="-15" dirty="0"/>
              <a:t>availability </a:t>
            </a:r>
            <a:r>
              <a:rPr sz="3600" spc="-5" dirty="0"/>
              <a:t>of </a:t>
            </a:r>
            <a:r>
              <a:rPr sz="3600" spc="-25" dirty="0"/>
              <a:t>only </a:t>
            </a:r>
            <a:r>
              <a:rPr sz="3600" dirty="0"/>
              <a:t>100 </a:t>
            </a:r>
            <a:r>
              <a:rPr sz="3600" spc="-5" dirty="0"/>
              <a:t>and 500 </a:t>
            </a:r>
            <a:r>
              <a:rPr sz="3600" spc="-30" dirty="0"/>
              <a:t>Rs.</a:t>
            </a:r>
            <a:r>
              <a:rPr sz="3600" spc="-114" dirty="0"/>
              <a:t> </a:t>
            </a:r>
            <a:r>
              <a:rPr sz="3600" spc="-5" dirty="0"/>
              <a:t>Notes)</a:t>
            </a:r>
            <a:endParaRPr sz="36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0842" y="1280921"/>
            <a:ext cx="8336915" cy="1764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marR="5080" indent="-273050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5115" algn="l"/>
                <a:tab pos="285750" algn="l"/>
              </a:tabLst>
            </a:pPr>
            <a:r>
              <a:rPr sz="2600" spc="-5" dirty="0">
                <a:latin typeface="Perpetua"/>
                <a:cs typeface="Perpetua"/>
              </a:rPr>
              <a:t>Maximum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dirty="0">
                <a:latin typeface="Perpetua"/>
                <a:cs typeface="Perpetua"/>
              </a:rPr>
              <a:t>number </a:t>
            </a:r>
            <a:r>
              <a:rPr sz="2600" spc="5" dirty="0">
                <a:latin typeface="Perpetua"/>
                <a:cs typeface="Perpetua"/>
              </a:rPr>
              <a:t>which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5" dirty="0">
                <a:latin typeface="Perpetua"/>
                <a:cs typeface="Perpetua"/>
              </a:rPr>
              <a:t>greater </a:t>
            </a:r>
            <a:r>
              <a:rPr sz="2600" dirty="0">
                <a:latin typeface="Perpetua"/>
                <a:cs typeface="Perpetua"/>
              </a:rPr>
              <a:t>than </a:t>
            </a:r>
            <a:r>
              <a:rPr sz="2600" spc="-5" dirty="0">
                <a:latin typeface="Perpetua"/>
                <a:cs typeface="Perpetua"/>
              </a:rPr>
              <a:t>or </a:t>
            </a:r>
            <a:r>
              <a:rPr sz="2600" i="1" spc="-5" dirty="0">
                <a:latin typeface="Perpetua"/>
                <a:cs typeface="Perpetua"/>
              </a:rPr>
              <a:t>equal to </a:t>
            </a:r>
            <a:r>
              <a:rPr sz="2600" spc="-5" dirty="0">
                <a:latin typeface="Perpetua"/>
                <a:cs typeface="Perpetua"/>
              </a:rPr>
              <a:t>all </a:t>
            </a:r>
            <a:r>
              <a:rPr sz="2600" dirty="0">
                <a:latin typeface="Perpetua"/>
                <a:cs typeface="Perpetua"/>
              </a:rPr>
              <a:t>other  members in the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set.</a:t>
            </a:r>
            <a:endParaRPr sz="2600">
              <a:latin typeface="Perpetua"/>
              <a:cs typeface="Perpetu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5115" algn="l"/>
                <a:tab pos="285750" algn="l"/>
              </a:tabLst>
            </a:pPr>
            <a:r>
              <a:rPr sz="2600" spc="-20" dirty="0">
                <a:latin typeface="Perpetua"/>
                <a:cs typeface="Perpetua"/>
              </a:rPr>
              <a:t>So, </a:t>
            </a:r>
            <a:r>
              <a:rPr sz="2600" spc="-5" dirty="0">
                <a:latin typeface="Perpetua"/>
                <a:cs typeface="Perpetua"/>
              </a:rPr>
              <a:t>maximum </a:t>
            </a:r>
            <a:r>
              <a:rPr sz="2600" spc="-35" dirty="0">
                <a:latin typeface="Perpetua"/>
                <a:cs typeface="Perpetua"/>
              </a:rPr>
              <a:t>may </a:t>
            </a:r>
            <a:r>
              <a:rPr sz="2600" spc="-5" dirty="0">
                <a:latin typeface="Perpetua"/>
                <a:cs typeface="Perpetua"/>
              </a:rPr>
              <a:t>not be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unique.</a:t>
            </a:r>
            <a:endParaRPr sz="2600">
              <a:latin typeface="Perpetua"/>
              <a:cs typeface="Perpetu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5115" algn="l"/>
                <a:tab pos="285750" algn="l"/>
              </a:tabLst>
            </a:pPr>
            <a:r>
              <a:rPr sz="2600" spc="-35" dirty="0">
                <a:latin typeface="Perpetua"/>
                <a:cs typeface="Perpetua"/>
              </a:rPr>
              <a:t>Say </a:t>
            </a:r>
            <a:r>
              <a:rPr sz="2600" spc="-50" dirty="0">
                <a:latin typeface="Perpetua"/>
                <a:cs typeface="Perpetua"/>
              </a:rPr>
              <a:t>we </a:t>
            </a:r>
            <a:r>
              <a:rPr sz="2600" spc="-35" dirty="0">
                <a:latin typeface="Perpetua"/>
                <a:cs typeface="Perpetua"/>
              </a:rPr>
              <a:t>have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0" dirty="0">
                <a:latin typeface="Perpetua"/>
                <a:cs typeface="Perpetua"/>
              </a:rPr>
              <a:t>following </a:t>
            </a:r>
            <a:r>
              <a:rPr sz="2600" dirty="0">
                <a:latin typeface="Perpetua"/>
                <a:cs typeface="Perpetua"/>
              </a:rPr>
              <a:t>set </a:t>
            </a:r>
            <a:r>
              <a:rPr sz="2600" spc="-5" dirty="0">
                <a:latin typeface="Perpetua"/>
                <a:cs typeface="Perpetua"/>
              </a:rPr>
              <a:t>of</a:t>
            </a:r>
            <a:r>
              <a:rPr sz="2600" spc="12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numbers.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0842" y="4039870"/>
            <a:ext cx="8061959" cy="2286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SzPct val="84615"/>
              <a:buFont typeface="Arial"/>
              <a:buChar char="•"/>
              <a:tabLst>
                <a:tab pos="285115" algn="l"/>
                <a:tab pos="285750" algn="l"/>
              </a:tabLst>
            </a:pPr>
            <a:r>
              <a:rPr sz="2600" i="1" spc="-15" dirty="0">
                <a:latin typeface="Perpetua"/>
                <a:cs typeface="Perpetua"/>
              </a:rPr>
              <a:t>How </a:t>
            </a:r>
            <a:r>
              <a:rPr sz="2600" i="1" dirty="0">
                <a:latin typeface="Perpetua"/>
                <a:cs typeface="Perpetua"/>
              </a:rPr>
              <a:t>do </a:t>
            </a:r>
            <a:r>
              <a:rPr sz="2600" i="1" spc="-10" dirty="0">
                <a:latin typeface="Perpetua"/>
                <a:cs typeface="Perpetua"/>
              </a:rPr>
              <a:t>we solve </a:t>
            </a:r>
            <a:r>
              <a:rPr sz="2600" i="1" spc="-5" dirty="0">
                <a:latin typeface="Perpetua"/>
                <a:cs typeface="Perpetua"/>
              </a:rPr>
              <a:t>this </a:t>
            </a:r>
            <a:r>
              <a:rPr sz="2600" i="1" spc="-10" dirty="0">
                <a:latin typeface="Perpetua"/>
                <a:cs typeface="Perpetua"/>
              </a:rPr>
              <a:t>problem</a:t>
            </a:r>
            <a:r>
              <a:rPr sz="2600" spc="-10" dirty="0">
                <a:latin typeface="Perpetua"/>
                <a:cs typeface="Perpetua"/>
              </a:rPr>
              <a:t>?</a:t>
            </a:r>
            <a:r>
              <a:rPr sz="2600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Reflect</a:t>
            </a:r>
            <a:r>
              <a:rPr sz="2600" spc="-5" dirty="0">
                <a:latin typeface="Perpetua"/>
                <a:cs typeface="Perpetua"/>
              </a:rPr>
              <a:t>!!</a:t>
            </a:r>
            <a:endParaRPr sz="2600">
              <a:latin typeface="Perpetua"/>
              <a:cs typeface="Perpetua"/>
            </a:endParaRPr>
          </a:p>
          <a:p>
            <a:pPr marL="876935" lvl="1" indent="-325120">
              <a:lnSpc>
                <a:spcPct val="100000"/>
              </a:lnSpc>
              <a:buSzPct val="75000"/>
              <a:buFont typeface="Arial"/>
              <a:buChar char="•"/>
              <a:tabLst>
                <a:tab pos="876935" algn="l"/>
                <a:tab pos="877569" algn="l"/>
              </a:tabLst>
            </a:pPr>
            <a:r>
              <a:rPr sz="2600" spc="-145" dirty="0">
                <a:latin typeface="Perpetua"/>
                <a:cs typeface="Perpetua"/>
              </a:rPr>
              <a:t>We </a:t>
            </a:r>
            <a:r>
              <a:rPr sz="2600" spc="10" dirty="0">
                <a:latin typeface="Perpetua"/>
                <a:cs typeface="Perpetua"/>
              </a:rPr>
              <a:t>pick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10" dirty="0">
                <a:latin typeface="Perpetua"/>
                <a:cs typeface="Perpetua"/>
              </a:rPr>
              <a:t>seemingly </a:t>
            </a:r>
            <a:r>
              <a:rPr sz="2600" spc="-5" dirty="0">
                <a:latin typeface="Perpetua"/>
                <a:cs typeface="Perpetua"/>
              </a:rPr>
              <a:t>large number after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10" dirty="0">
                <a:latin typeface="Perpetua"/>
                <a:cs typeface="Perpetua"/>
              </a:rPr>
              <a:t>first</a:t>
            </a:r>
            <a:r>
              <a:rPr sz="2600" spc="-28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scan!</a:t>
            </a:r>
            <a:endParaRPr sz="2600">
              <a:latin typeface="Perpetua"/>
              <a:cs typeface="Perpetua"/>
            </a:endParaRPr>
          </a:p>
          <a:p>
            <a:pPr marL="876935" marR="5080" lvl="1" indent="-325120">
              <a:lnSpc>
                <a:spcPct val="100000"/>
              </a:lnSpc>
              <a:spcBef>
                <a:spcPts val="1110"/>
              </a:spcBef>
              <a:buSzPct val="75000"/>
              <a:buFont typeface="Arial"/>
              <a:buChar char="•"/>
              <a:tabLst>
                <a:tab pos="876935" algn="l"/>
                <a:tab pos="877569" algn="l"/>
              </a:tabLst>
            </a:pPr>
            <a:r>
              <a:rPr sz="2600" spc="-145" dirty="0">
                <a:latin typeface="Perpetua"/>
                <a:cs typeface="Perpetua"/>
              </a:rPr>
              <a:t>We </a:t>
            </a:r>
            <a:r>
              <a:rPr sz="2600" spc="-5" dirty="0">
                <a:latin typeface="Perpetua"/>
                <a:cs typeface="Perpetua"/>
              </a:rPr>
              <a:t>rescan </a:t>
            </a:r>
            <a:r>
              <a:rPr sz="2600" dirty="0">
                <a:latin typeface="Perpetua"/>
                <a:cs typeface="Perpetua"/>
              </a:rPr>
              <a:t>to </a:t>
            </a:r>
            <a:r>
              <a:rPr sz="2600" spc="-15" dirty="0">
                <a:latin typeface="Perpetua"/>
                <a:cs typeface="Perpetua"/>
              </a:rPr>
              <a:t>validate </a:t>
            </a:r>
            <a:r>
              <a:rPr sz="2600" spc="-5" dirty="0">
                <a:latin typeface="Perpetua"/>
                <a:cs typeface="Perpetua"/>
              </a:rPr>
              <a:t>our </a:t>
            </a:r>
            <a:r>
              <a:rPr sz="2600" spc="5" dirty="0">
                <a:latin typeface="Perpetua"/>
                <a:cs typeface="Perpetua"/>
              </a:rPr>
              <a:t>pick, </a:t>
            </a:r>
            <a:r>
              <a:rPr sz="2600" dirty="0">
                <a:latin typeface="Perpetua"/>
                <a:cs typeface="Perpetua"/>
              </a:rPr>
              <a:t>if </a:t>
            </a:r>
            <a:r>
              <a:rPr sz="2600" spc="-50" dirty="0">
                <a:latin typeface="Perpetua"/>
                <a:cs typeface="Perpetua"/>
              </a:rPr>
              <a:t>we </a:t>
            </a:r>
            <a:r>
              <a:rPr sz="2600" dirty="0">
                <a:latin typeface="Perpetua"/>
                <a:cs typeface="Perpetua"/>
              </a:rPr>
              <a:t>see a </a:t>
            </a:r>
            <a:r>
              <a:rPr sz="2600" spc="-5" dirty="0">
                <a:latin typeface="Perpetua"/>
                <a:cs typeface="Perpetua"/>
              </a:rPr>
              <a:t>larger number </a:t>
            </a:r>
            <a:r>
              <a:rPr sz="2600" spc="-50" dirty="0">
                <a:latin typeface="Perpetua"/>
                <a:cs typeface="Perpetua"/>
              </a:rPr>
              <a:t>we  </a:t>
            </a:r>
            <a:r>
              <a:rPr sz="2600" spc="-5" dirty="0">
                <a:latin typeface="Perpetua"/>
                <a:cs typeface="Perpetua"/>
              </a:rPr>
              <a:t>rescan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again!!</a:t>
            </a:r>
            <a:endParaRPr sz="2600">
              <a:latin typeface="Perpetua"/>
              <a:cs typeface="Perpetua"/>
            </a:endParaRPr>
          </a:p>
          <a:p>
            <a:pPr marL="876935" lvl="1" indent="-325120">
              <a:lnSpc>
                <a:spcPct val="100000"/>
              </a:lnSpc>
              <a:spcBef>
                <a:spcPts val="1090"/>
              </a:spcBef>
              <a:buSzPct val="75000"/>
              <a:buFont typeface="Arial"/>
              <a:buChar char="•"/>
              <a:tabLst>
                <a:tab pos="876935" algn="l"/>
                <a:tab pos="877569" algn="l"/>
              </a:tabLst>
            </a:pPr>
            <a:r>
              <a:rPr sz="2600" spc="-35" dirty="0">
                <a:latin typeface="Perpetua"/>
                <a:cs typeface="Perpetua"/>
              </a:rPr>
              <a:t>May </a:t>
            </a:r>
            <a:r>
              <a:rPr sz="2600" spc="-20" dirty="0">
                <a:latin typeface="Perpetua"/>
                <a:cs typeface="Perpetua"/>
              </a:rPr>
              <a:t>work </a:t>
            </a:r>
            <a:r>
              <a:rPr sz="2600" spc="-5" dirty="0">
                <a:latin typeface="Perpetua"/>
                <a:cs typeface="Perpetua"/>
              </a:rPr>
              <a:t>for </a:t>
            </a:r>
            <a:r>
              <a:rPr sz="2600" spc="10" dirty="0">
                <a:latin typeface="Perpetua"/>
                <a:cs typeface="Perpetua"/>
              </a:rPr>
              <a:t>shorter </a:t>
            </a:r>
            <a:r>
              <a:rPr sz="2600" dirty="0">
                <a:latin typeface="Perpetua"/>
                <a:cs typeface="Perpetua"/>
              </a:rPr>
              <a:t>sets </a:t>
            </a:r>
            <a:r>
              <a:rPr sz="2600" spc="-10" dirty="0">
                <a:latin typeface="Perpetua"/>
                <a:cs typeface="Perpetua"/>
              </a:rPr>
              <a:t>but </a:t>
            </a:r>
            <a:r>
              <a:rPr sz="2600" spc="-5" dirty="0">
                <a:latin typeface="Perpetua"/>
                <a:cs typeface="Perpetua"/>
              </a:rPr>
              <a:t>not for </a:t>
            </a:r>
            <a:r>
              <a:rPr sz="2600" spc="-10" dirty="0">
                <a:latin typeface="Perpetua"/>
                <a:cs typeface="Perpetua"/>
              </a:rPr>
              <a:t>very </a:t>
            </a:r>
            <a:r>
              <a:rPr sz="2600" spc="-5" dirty="0">
                <a:latin typeface="Perpetua"/>
                <a:cs typeface="Perpetua"/>
              </a:rPr>
              <a:t>large</a:t>
            </a:r>
            <a:r>
              <a:rPr sz="2600" spc="6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sets!!!</a:t>
            </a:r>
            <a:endParaRPr sz="2600">
              <a:latin typeface="Perpetua"/>
              <a:cs typeface="Perpetu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52272" y="3119627"/>
          <a:ext cx="7706356" cy="708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1210"/>
                <a:gridCol w="901065"/>
                <a:gridCol w="935989"/>
                <a:gridCol w="901064"/>
                <a:gridCol w="828039"/>
                <a:gridCol w="828039"/>
                <a:gridCol w="937895"/>
                <a:gridCol w="828040"/>
                <a:gridCol w="755015"/>
              </a:tblGrid>
              <a:tr h="708660">
                <a:tc>
                  <a:txBody>
                    <a:bodyPr/>
                    <a:lstStyle/>
                    <a:p>
                      <a:pPr marL="258445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sz="3200" dirty="0">
                          <a:latin typeface="Perpetua"/>
                          <a:cs typeface="Perpetua"/>
                        </a:rPr>
                        <a:t>8</a:t>
                      </a:r>
                      <a:endParaRPr sz="3200">
                        <a:latin typeface="Perpetua"/>
                        <a:cs typeface="Perpetua"/>
                      </a:endParaRPr>
                    </a:p>
                  </a:txBody>
                  <a:tcPr marL="0" marR="0" marT="1365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 algn="ctr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sz="3200" dirty="0">
                          <a:latin typeface="Perpetua"/>
                          <a:cs typeface="Perpetua"/>
                        </a:rPr>
                        <a:t>6</a:t>
                      </a:r>
                      <a:endParaRPr sz="3200">
                        <a:latin typeface="Perpetua"/>
                        <a:cs typeface="Perpetua"/>
                      </a:endParaRPr>
                    </a:p>
                  </a:txBody>
                  <a:tcPr marL="0" marR="0" marT="1371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5565" algn="ctr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sz="3200" dirty="0">
                          <a:latin typeface="Perpetua"/>
                          <a:cs typeface="Perpetua"/>
                        </a:rPr>
                        <a:t>5</a:t>
                      </a:r>
                      <a:endParaRPr sz="3200">
                        <a:latin typeface="Perpetua"/>
                        <a:cs typeface="Perpetua"/>
                      </a:endParaRPr>
                    </a:p>
                  </a:txBody>
                  <a:tcPr marL="0" marR="0" marT="1371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4950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sz="3200" spc="-5" dirty="0">
                          <a:latin typeface="Perpetua"/>
                          <a:cs typeface="Perpetua"/>
                        </a:rPr>
                        <a:t>15</a:t>
                      </a:r>
                      <a:endParaRPr sz="3200">
                        <a:latin typeface="Perpetua"/>
                        <a:cs typeface="Perpetua"/>
                      </a:endParaRPr>
                    </a:p>
                  </a:txBody>
                  <a:tcPr marL="0" marR="0" marT="1371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0350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sz="3200" dirty="0">
                          <a:latin typeface="Perpetua"/>
                          <a:cs typeface="Perpetua"/>
                        </a:rPr>
                        <a:t>7</a:t>
                      </a:r>
                      <a:endParaRPr sz="3200">
                        <a:latin typeface="Perpetua"/>
                        <a:cs typeface="Perpetua"/>
                      </a:endParaRPr>
                    </a:p>
                  </a:txBody>
                  <a:tcPr marL="0" marR="0" marT="1371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8595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sz="3200" spc="-5" dirty="0">
                          <a:latin typeface="Perpetua"/>
                          <a:cs typeface="Perpetua"/>
                        </a:rPr>
                        <a:t>19</a:t>
                      </a:r>
                      <a:endParaRPr sz="3200">
                        <a:latin typeface="Perpetua"/>
                        <a:cs typeface="Perpetua"/>
                      </a:endParaRPr>
                    </a:p>
                  </a:txBody>
                  <a:tcPr marL="0" marR="0" marT="1371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0985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sz="3200" spc="-5" dirty="0">
                          <a:latin typeface="Perpetua"/>
                          <a:cs typeface="Perpetua"/>
                        </a:rPr>
                        <a:t>21</a:t>
                      </a:r>
                      <a:endParaRPr sz="3200">
                        <a:latin typeface="Perpetua"/>
                        <a:cs typeface="Perpetua"/>
                      </a:endParaRPr>
                    </a:p>
                  </a:txBody>
                  <a:tcPr marL="0" marR="0" marT="1371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0350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sz="3200" dirty="0">
                          <a:latin typeface="Perpetua"/>
                          <a:cs typeface="Perpetua"/>
                        </a:rPr>
                        <a:t>6</a:t>
                      </a:r>
                      <a:endParaRPr sz="3200">
                        <a:latin typeface="Perpetua"/>
                        <a:cs typeface="Perpetua"/>
                      </a:endParaRPr>
                    </a:p>
                  </a:txBody>
                  <a:tcPr marL="0" marR="0" marT="1371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sz="3200" spc="-5" dirty="0">
                          <a:latin typeface="Perpetua"/>
                          <a:cs typeface="Perpetua"/>
                        </a:rPr>
                        <a:t>13</a:t>
                      </a:r>
                      <a:endParaRPr sz="3200">
                        <a:latin typeface="Perpetua"/>
                        <a:cs typeface="Perpetua"/>
                      </a:endParaRPr>
                    </a:p>
                  </a:txBody>
                  <a:tcPr marL="0" marR="0" marT="1371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81686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5" dirty="0"/>
              <a:t>Algorithm </a:t>
            </a:r>
            <a:r>
              <a:rPr spc="-5" dirty="0"/>
              <a:t>to find </a:t>
            </a:r>
            <a:r>
              <a:rPr spc="-10" dirty="0"/>
              <a:t>maximum number </a:t>
            </a:r>
            <a:r>
              <a:rPr spc="-5" dirty="0"/>
              <a:t>in a</a:t>
            </a:r>
            <a:r>
              <a:rPr spc="15" dirty="0"/>
              <a:t> </a:t>
            </a:r>
            <a:r>
              <a:rPr spc="-5" dirty="0"/>
              <a:t>set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2320" y="1357121"/>
            <a:ext cx="450151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5115" algn="l"/>
                <a:tab pos="285750" algn="l"/>
              </a:tabLst>
            </a:pPr>
            <a:r>
              <a:rPr sz="2600" spc="-5" dirty="0">
                <a:latin typeface="Perpetua"/>
                <a:cs typeface="Perpetua"/>
              </a:rPr>
              <a:t>Consider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0" dirty="0">
                <a:latin typeface="Perpetua"/>
                <a:cs typeface="Perpetua"/>
              </a:rPr>
              <a:t>previous </a:t>
            </a:r>
            <a:r>
              <a:rPr sz="2600" spc="-5" dirty="0">
                <a:latin typeface="Perpetua"/>
                <a:cs typeface="Perpetua"/>
              </a:rPr>
              <a:t>example</a:t>
            </a:r>
            <a:r>
              <a:rPr sz="2600" spc="-6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set.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2320" y="3338271"/>
            <a:ext cx="8412480" cy="29533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marR="18415" indent="-273050" algn="just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5750" algn="l"/>
              </a:tabLst>
            </a:pPr>
            <a:r>
              <a:rPr sz="2600" spc="-5" dirty="0">
                <a:latin typeface="Perpetua"/>
                <a:cs typeface="Perpetua"/>
              </a:rPr>
              <a:t>All </a:t>
            </a:r>
            <a:r>
              <a:rPr sz="2600" dirty="0">
                <a:latin typeface="Perpetua"/>
                <a:cs typeface="Perpetua"/>
              </a:rPr>
              <a:t>numbers </a:t>
            </a:r>
            <a:r>
              <a:rPr sz="2600" spc="-5" dirty="0">
                <a:latin typeface="Perpetua"/>
                <a:cs typeface="Perpetua"/>
              </a:rPr>
              <a:t>need to </a:t>
            </a:r>
            <a:r>
              <a:rPr sz="2600" spc="-10" dirty="0">
                <a:latin typeface="Perpetua"/>
                <a:cs typeface="Perpetua"/>
              </a:rPr>
              <a:t>be </a:t>
            </a:r>
            <a:r>
              <a:rPr sz="2600" spc="-5" dirty="0">
                <a:latin typeface="Perpetua"/>
                <a:cs typeface="Perpetua"/>
              </a:rPr>
              <a:t>examined to </a:t>
            </a:r>
            <a:r>
              <a:rPr sz="2600" spc="-10" dirty="0">
                <a:latin typeface="Perpetua"/>
                <a:cs typeface="Perpetua"/>
              </a:rPr>
              <a:t>establish </a:t>
            </a:r>
            <a:r>
              <a:rPr sz="2600" spc="-5" dirty="0">
                <a:latin typeface="Perpetua"/>
                <a:cs typeface="Perpetua"/>
              </a:rPr>
              <a:t>the maximum </a:t>
            </a:r>
            <a:r>
              <a:rPr sz="2600" spc="15" dirty="0">
                <a:latin typeface="Perpetua"/>
                <a:cs typeface="Perpetua"/>
              </a:rPr>
              <a:t>(start  </a:t>
            </a:r>
            <a:r>
              <a:rPr sz="2600" spc="-15" dirty="0">
                <a:latin typeface="Perpetua"/>
                <a:cs typeface="Perpetua"/>
              </a:rPr>
              <a:t>at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5" dirty="0">
                <a:latin typeface="Perpetua"/>
                <a:cs typeface="Perpetua"/>
              </a:rPr>
              <a:t>beginning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dirty="0">
                <a:latin typeface="Perpetua"/>
                <a:cs typeface="Perpetua"/>
              </a:rPr>
              <a:t>set, </a:t>
            </a:r>
            <a:r>
              <a:rPr sz="2600" spc="-25" dirty="0">
                <a:latin typeface="Perpetua"/>
                <a:cs typeface="Perpetua"/>
              </a:rPr>
              <a:t>work </a:t>
            </a:r>
            <a:r>
              <a:rPr sz="2600" spc="-5" dirty="0">
                <a:latin typeface="Perpetua"/>
                <a:cs typeface="Perpetua"/>
              </a:rPr>
              <a:t>through number </a:t>
            </a:r>
            <a:r>
              <a:rPr sz="2600" spc="-35" dirty="0">
                <a:latin typeface="Perpetua"/>
                <a:cs typeface="Perpetua"/>
              </a:rPr>
              <a:t>by </a:t>
            </a:r>
            <a:r>
              <a:rPr sz="2600" spc="-5" dirty="0">
                <a:latin typeface="Perpetua"/>
                <a:cs typeface="Perpetua"/>
              </a:rPr>
              <a:t>number </a:t>
            </a:r>
            <a:r>
              <a:rPr sz="2600" dirty="0">
                <a:latin typeface="Perpetua"/>
                <a:cs typeface="Perpetua"/>
              </a:rPr>
              <a:t>till the  end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dirty="0">
                <a:latin typeface="Perpetua"/>
                <a:cs typeface="Perpetua"/>
              </a:rPr>
              <a:t>the set is</a:t>
            </a:r>
            <a:r>
              <a:rPr sz="2600" spc="-3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reached).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"/>
              <a:buChar char="•"/>
            </a:pPr>
            <a:endParaRPr sz="3750">
              <a:latin typeface="Times New Roman"/>
              <a:cs typeface="Times New Roman"/>
            </a:endParaRPr>
          </a:p>
          <a:p>
            <a:pPr marL="285115" marR="5080" indent="-273050" algn="just">
              <a:lnSpc>
                <a:spcPct val="100000"/>
              </a:lnSpc>
              <a:spcBef>
                <a:spcPts val="5"/>
              </a:spcBef>
              <a:buSzPct val="84615"/>
              <a:buFont typeface="Arial"/>
              <a:buChar char="•"/>
              <a:tabLst>
                <a:tab pos="285750" algn="l"/>
              </a:tabLst>
            </a:pPr>
            <a:r>
              <a:rPr sz="2600" dirty="0">
                <a:latin typeface="Perpetua"/>
                <a:cs typeface="Perpetua"/>
              </a:rPr>
              <a:t>Comparison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spc="-15" dirty="0">
                <a:latin typeface="Perpetua"/>
                <a:cs typeface="Perpetua"/>
              </a:rPr>
              <a:t>relative </a:t>
            </a:r>
            <a:r>
              <a:rPr sz="2600" spc="-5" dirty="0">
                <a:latin typeface="Perpetua"/>
                <a:cs typeface="Perpetua"/>
              </a:rPr>
              <a:t>magnitude of </a:t>
            </a:r>
            <a:r>
              <a:rPr sz="2600" dirty="0">
                <a:latin typeface="Perpetua"/>
                <a:cs typeface="Perpetua"/>
              </a:rPr>
              <a:t>numbers </a:t>
            </a:r>
            <a:r>
              <a:rPr sz="2600" spc="-10" dirty="0">
                <a:latin typeface="Perpetua"/>
                <a:cs typeface="Perpetua"/>
              </a:rPr>
              <a:t>must </a:t>
            </a:r>
            <a:r>
              <a:rPr sz="2600" spc="-5" dirty="0">
                <a:latin typeface="Perpetua"/>
                <a:cs typeface="Perpetua"/>
              </a:rPr>
              <a:t>be </a:t>
            </a:r>
            <a:r>
              <a:rPr sz="2600" spc="-10" dirty="0">
                <a:latin typeface="Perpetua"/>
                <a:cs typeface="Perpetua"/>
              </a:rPr>
              <a:t>made </a:t>
            </a:r>
            <a:r>
              <a:rPr sz="2600" dirty="0">
                <a:latin typeface="Perpetua"/>
                <a:cs typeface="Perpetua"/>
              </a:rPr>
              <a:t>while  </a:t>
            </a:r>
            <a:r>
              <a:rPr sz="2600" spc="-15" dirty="0">
                <a:latin typeface="Perpetua"/>
                <a:cs typeface="Perpetua"/>
              </a:rPr>
              <a:t>working </a:t>
            </a:r>
            <a:r>
              <a:rPr sz="2600" spc="-5" dirty="0">
                <a:latin typeface="Perpetua"/>
                <a:cs typeface="Perpetua"/>
              </a:rPr>
              <a:t>through number </a:t>
            </a:r>
            <a:r>
              <a:rPr sz="2600" spc="-25" dirty="0">
                <a:latin typeface="Perpetua"/>
                <a:cs typeface="Perpetua"/>
              </a:rPr>
              <a:t>by </a:t>
            </a:r>
            <a:r>
              <a:rPr sz="2600" spc="-5" dirty="0">
                <a:latin typeface="Perpetua"/>
                <a:cs typeface="Perpetua"/>
              </a:rPr>
              <a:t>number </a:t>
            </a:r>
            <a:r>
              <a:rPr sz="2600" spc="-10" dirty="0">
                <a:latin typeface="Perpetua"/>
                <a:cs typeface="Perpetua"/>
              </a:rPr>
              <a:t>keeping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10" dirty="0">
                <a:latin typeface="Perpetua"/>
                <a:cs typeface="Perpetua"/>
              </a:rPr>
              <a:t>starting </a:t>
            </a:r>
            <a:r>
              <a:rPr sz="2600" spc="-35" dirty="0">
                <a:latin typeface="Perpetua"/>
                <a:cs typeface="Perpetua"/>
              </a:rPr>
              <a:t>number,  </a:t>
            </a:r>
            <a:r>
              <a:rPr sz="2600" spc="-5" dirty="0">
                <a:latin typeface="Perpetua"/>
                <a:cs typeface="Perpetua"/>
              </a:rPr>
              <a:t>8, as </a:t>
            </a:r>
            <a:r>
              <a:rPr sz="2600" dirty="0">
                <a:latin typeface="Perpetua"/>
                <a:cs typeface="Perpetua"/>
              </a:rPr>
              <a:t>the temporary </a:t>
            </a:r>
            <a:r>
              <a:rPr sz="2600" spc="-5" dirty="0">
                <a:latin typeface="Perpetua"/>
                <a:cs typeface="Perpetua"/>
              </a:rPr>
              <a:t>maximum</a:t>
            </a:r>
            <a:r>
              <a:rPr sz="2600" spc="-105" dirty="0">
                <a:latin typeface="Perpetua"/>
                <a:cs typeface="Perpetua"/>
              </a:rPr>
              <a:t> </a:t>
            </a:r>
            <a:r>
              <a:rPr sz="2600" spc="-35" dirty="0">
                <a:latin typeface="Perpetua"/>
                <a:cs typeface="Perpetua"/>
              </a:rPr>
              <a:t>number.</a:t>
            </a:r>
            <a:endParaRPr sz="2600">
              <a:latin typeface="Perpetua"/>
              <a:cs typeface="Perpetu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99872" y="2433827"/>
          <a:ext cx="7706356" cy="8808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1210"/>
                <a:gridCol w="901065"/>
                <a:gridCol w="935989"/>
                <a:gridCol w="901064"/>
                <a:gridCol w="828039"/>
                <a:gridCol w="828039"/>
                <a:gridCol w="937895"/>
                <a:gridCol w="828040"/>
                <a:gridCol w="755015"/>
              </a:tblGrid>
              <a:tr h="880872">
                <a:tc>
                  <a:txBody>
                    <a:bodyPr/>
                    <a:lstStyle/>
                    <a:p>
                      <a:pPr marL="258445">
                        <a:lnSpc>
                          <a:spcPct val="100000"/>
                        </a:lnSpc>
                        <a:spcBef>
                          <a:spcPts val="1290"/>
                        </a:spcBef>
                      </a:pPr>
                      <a:r>
                        <a:rPr sz="3200" dirty="0">
                          <a:latin typeface="Perpetua"/>
                          <a:cs typeface="Perpetua"/>
                        </a:rPr>
                        <a:t>8</a:t>
                      </a:r>
                      <a:endParaRPr sz="3200">
                        <a:latin typeface="Perpetua"/>
                        <a:cs typeface="Perpetua"/>
                      </a:endParaRPr>
                    </a:p>
                  </a:txBody>
                  <a:tcPr marL="0" marR="0" marT="16383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 algn="ctr">
                        <a:lnSpc>
                          <a:spcPct val="100000"/>
                        </a:lnSpc>
                        <a:spcBef>
                          <a:spcPts val="1290"/>
                        </a:spcBef>
                      </a:pPr>
                      <a:r>
                        <a:rPr sz="3200" dirty="0">
                          <a:latin typeface="Perpetua"/>
                          <a:cs typeface="Perpetua"/>
                        </a:rPr>
                        <a:t>6</a:t>
                      </a:r>
                      <a:endParaRPr sz="3200">
                        <a:latin typeface="Perpetua"/>
                        <a:cs typeface="Perpetua"/>
                      </a:endParaRPr>
                    </a:p>
                  </a:txBody>
                  <a:tcPr marL="0" marR="0" marT="16383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5565" algn="ctr">
                        <a:lnSpc>
                          <a:spcPct val="100000"/>
                        </a:lnSpc>
                        <a:spcBef>
                          <a:spcPts val="1290"/>
                        </a:spcBef>
                      </a:pPr>
                      <a:r>
                        <a:rPr sz="3200" dirty="0">
                          <a:latin typeface="Perpetua"/>
                          <a:cs typeface="Perpetua"/>
                        </a:rPr>
                        <a:t>5</a:t>
                      </a:r>
                      <a:endParaRPr sz="3200">
                        <a:latin typeface="Perpetua"/>
                        <a:cs typeface="Perpetua"/>
                      </a:endParaRPr>
                    </a:p>
                  </a:txBody>
                  <a:tcPr marL="0" marR="0" marT="16383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4950">
                        <a:lnSpc>
                          <a:spcPct val="100000"/>
                        </a:lnSpc>
                        <a:spcBef>
                          <a:spcPts val="1290"/>
                        </a:spcBef>
                      </a:pPr>
                      <a:r>
                        <a:rPr sz="3200" spc="-5" dirty="0">
                          <a:latin typeface="Perpetua"/>
                          <a:cs typeface="Perpetua"/>
                        </a:rPr>
                        <a:t>15</a:t>
                      </a:r>
                      <a:endParaRPr sz="3200">
                        <a:latin typeface="Perpetua"/>
                        <a:cs typeface="Perpetua"/>
                      </a:endParaRPr>
                    </a:p>
                  </a:txBody>
                  <a:tcPr marL="0" marR="0" marT="16383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0350">
                        <a:lnSpc>
                          <a:spcPct val="100000"/>
                        </a:lnSpc>
                        <a:spcBef>
                          <a:spcPts val="1290"/>
                        </a:spcBef>
                      </a:pPr>
                      <a:r>
                        <a:rPr sz="3200" dirty="0">
                          <a:latin typeface="Perpetua"/>
                          <a:cs typeface="Perpetua"/>
                        </a:rPr>
                        <a:t>7</a:t>
                      </a:r>
                      <a:endParaRPr sz="3200">
                        <a:latin typeface="Perpetua"/>
                        <a:cs typeface="Perpetua"/>
                      </a:endParaRPr>
                    </a:p>
                  </a:txBody>
                  <a:tcPr marL="0" marR="0" marT="16383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8595">
                        <a:lnSpc>
                          <a:spcPct val="100000"/>
                        </a:lnSpc>
                        <a:spcBef>
                          <a:spcPts val="1290"/>
                        </a:spcBef>
                      </a:pPr>
                      <a:r>
                        <a:rPr sz="3200" spc="-5" dirty="0">
                          <a:latin typeface="Perpetua"/>
                          <a:cs typeface="Perpetua"/>
                        </a:rPr>
                        <a:t>19</a:t>
                      </a:r>
                      <a:endParaRPr sz="3200">
                        <a:latin typeface="Perpetua"/>
                        <a:cs typeface="Perpetua"/>
                      </a:endParaRPr>
                    </a:p>
                  </a:txBody>
                  <a:tcPr marL="0" marR="0" marT="16383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0985">
                        <a:lnSpc>
                          <a:spcPct val="100000"/>
                        </a:lnSpc>
                        <a:spcBef>
                          <a:spcPts val="1290"/>
                        </a:spcBef>
                      </a:pPr>
                      <a:r>
                        <a:rPr sz="3200" spc="-5" dirty="0">
                          <a:latin typeface="Perpetua"/>
                          <a:cs typeface="Perpetua"/>
                        </a:rPr>
                        <a:t>21</a:t>
                      </a:r>
                      <a:endParaRPr sz="3200">
                        <a:latin typeface="Perpetua"/>
                        <a:cs typeface="Perpetua"/>
                      </a:endParaRPr>
                    </a:p>
                  </a:txBody>
                  <a:tcPr marL="0" marR="0" marT="16383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0350">
                        <a:lnSpc>
                          <a:spcPct val="100000"/>
                        </a:lnSpc>
                        <a:spcBef>
                          <a:spcPts val="1290"/>
                        </a:spcBef>
                      </a:pPr>
                      <a:r>
                        <a:rPr sz="3200" dirty="0">
                          <a:latin typeface="Perpetua"/>
                          <a:cs typeface="Perpetua"/>
                        </a:rPr>
                        <a:t>6</a:t>
                      </a:r>
                      <a:endParaRPr sz="3200">
                        <a:latin typeface="Perpetua"/>
                        <a:cs typeface="Perpetua"/>
                      </a:endParaRPr>
                    </a:p>
                  </a:txBody>
                  <a:tcPr marL="0" marR="0" marT="16383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1290"/>
                        </a:spcBef>
                      </a:pPr>
                      <a:r>
                        <a:rPr sz="3200" spc="-5" dirty="0">
                          <a:latin typeface="Perpetua"/>
                          <a:cs typeface="Perpetua"/>
                        </a:rPr>
                        <a:t>13</a:t>
                      </a:r>
                      <a:endParaRPr sz="3200">
                        <a:latin typeface="Perpetua"/>
                        <a:cs typeface="Perpetua"/>
                      </a:endParaRPr>
                    </a:p>
                  </a:txBody>
                  <a:tcPr marL="0" marR="0" marT="16383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49066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Requirements </a:t>
            </a:r>
            <a:r>
              <a:rPr spc="-5" dirty="0"/>
              <a:t>to</a:t>
            </a:r>
            <a:r>
              <a:rPr spc="-40" dirty="0"/>
              <a:t> </a:t>
            </a:r>
            <a:r>
              <a:rPr spc="-5" dirty="0"/>
              <a:t>automate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0842" y="1357121"/>
            <a:ext cx="450151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5"/>
              </a:spcBef>
              <a:buSzPct val="84615"/>
              <a:buFont typeface="Wingdings 2"/>
              <a:buChar char=""/>
              <a:tabLst>
                <a:tab pos="285750" algn="l"/>
              </a:tabLst>
            </a:pPr>
            <a:r>
              <a:rPr sz="2600" spc="-5" dirty="0">
                <a:latin typeface="Perpetua"/>
                <a:cs typeface="Perpetua"/>
              </a:rPr>
              <a:t>Consider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0" dirty="0">
                <a:latin typeface="Perpetua"/>
                <a:cs typeface="Perpetua"/>
              </a:rPr>
              <a:t>previous </a:t>
            </a:r>
            <a:r>
              <a:rPr sz="2600" spc="-5" dirty="0">
                <a:latin typeface="Perpetua"/>
                <a:cs typeface="Perpetua"/>
              </a:rPr>
              <a:t>example</a:t>
            </a:r>
            <a:r>
              <a:rPr sz="2600" spc="-5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set.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5442" y="2805176"/>
            <a:ext cx="8359775" cy="3371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0515" indent="-273050">
              <a:lnSpc>
                <a:spcPct val="100000"/>
              </a:lnSpc>
              <a:spcBef>
                <a:spcPts val="105"/>
              </a:spcBef>
              <a:buSzPct val="84615"/>
              <a:buFont typeface="Wingdings 2"/>
              <a:buChar char=""/>
              <a:tabLst>
                <a:tab pos="311150" algn="l"/>
              </a:tabLst>
            </a:pPr>
            <a:r>
              <a:rPr sz="2600" i="1" spc="-10" dirty="0">
                <a:latin typeface="Perpetua"/>
                <a:cs typeface="Perpetua"/>
              </a:rPr>
              <a:t>Three </a:t>
            </a:r>
            <a:r>
              <a:rPr sz="2600" i="1" spc="-5" dirty="0">
                <a:latin typeface="Perpetua"/>
                <a:cs typeface="Perpetua"/>
              </a:rPr>
              <a:t>situations </a:t>
            </a:r>
            <a:r>
              <a:rPr sz="2600" i="1" spc="-10" dirty="0">
                <a:latin typeface="Perpetua"/>
                <a:cs typeface="Perpetua"/>
              </a:rPr>
              <a:t>are</a:t>
            </a:r>
            <a:r>
              <a:rPr sz="2600" i="1" spc="5" dirty="0">
                <a:latin typeface="Perpetua"/>
                <a:cs typeface="Perpetua"/>
              </a:rPr>
              <a:t> </a:t>
            </a:r>
            <a:r>
              <a:rPr sz="2600" i="1" spc="-10" dirty="0">
                <a:latin typeface="Perpetua"/>
                <a:cs typeface="Perpetua"/>
              </a:rPr>
              <a:t>possible</a:t>
            </a:r>
            <a:endParaRPr sz="2600">
              <a:latin typeface="Perpetua"/>
              <a:cs typeface="Perpetua"/>
            </a:endParaRPr>
          </a:p>
          <a:p>
            <a:pPr marL="902335" lvl="1" indent="-325120">
              <a:lnSpc>
                <a:spcPct val="100000"/>
              </a:lnSpc>
              <a:buSzPct val="75000"/>
              <a:buFont typeface="Arial"/>
              <a:buChar char="•"/>
              <a:tabLst>
                <a:tab pos="902335" algn="l"/>
                <a:tab pos="902969" algn="l"/>
              </a:tabLst>
            </a:pPr>
            <a:r>
              <a:rPr sz="2600" spc="5" dirty="0">
                <a:latin typeface="Perpetua"/>
                <a:cs typeface="Perpetua"/>
              </a:rPr>
              <a:t>2</a:t>
            </a:r>
            <a:r>
              <a:rPr sz="2550" spc="7" baseline="27777" dirty="0">
                <a:latin typeface="Perpetua"/>
                <a:cs typeface="Perpetua"/>
              </a:rPr>
              <a:t>nd </a:t>
            </a:r>
            <a:r>
              <a:rPr sz="2600" spc="-5" dirty="0">
                <a:latin typeface="Perpetua"/>
                <a:cs typeface="Perpetua"/>
              </a:rPr>
              <a:t>number </a:t>
            </a:r>
            <a:r>
              <a:rPr sz="2600" dirty="0">
                <a:latin typeface="Perpetua"/>
                <a:cs typeface="Perpetua"/>
              </a:rPr>
              <a:t>can be </a:t>
            </a:r>
            <a:r>
              <a:rPr sz="2600" spc="-5" dirty="0">
                <a:latin typeface="Perpetua"/>
                <a:cs typeface="Perpetua"/>
              </a:rPr>
              <a:t>less than </a:t>
            </a:r>
            <a:r>
              <a:rPr sz="2600" dirty="0">
                <a:latin typeface="Perpetua"/>
                <a:cs typeface="Perpetua"/>
              </a:rPr>
              <a:t>the temporary </a:t>
            </a:r>
            <a:r>
              <a:rPr sz="2600" spc="-5" dirty="0">
                <a:latin typeface="Perpetua"/>
                <a:cs typeface="Perpetua"/>
              </a:rPr>
              <a:t>maximum</a:t>
            </a:r>
            <a:r>
              <a:rPr sz="2600" spc="-204" dirty="0">
                <a:latin typeface="Perpetua"/>
                <a:cs typeface="Perpetua"/>
              </a:rPr>
              <a:t> </a:t>
            </a:r>
            <a:r>
              <a:rPr sz="2600" spc="-35" dirty="0">
                <a:latin typeface="Perpetua"/>
                <a:cs typeface="Perpetua"/>
              </a:rPr>
              <a:t>number.</a:t>
            </a:r>
            <a:endParaRPr sz="2600">
              <a:latin typeface="Perpetua"/>
              <a:cs typeface="Perpetua"/>
            </a:endParaRPr>
          </a:p>
          <a:p>
            <a:pPr marL="902335" lvl="1" indent="-325120">
              <a:lnSpc>
                <a:spcPct val="100000"/>
              </a:lnSpc>
              <a:spcBef>
                <a:spcPts val="1105"/>
              </a:spcBef>
              <a:buSzPct val="75000"/>
              <a:buFont typeface="Arial"/>
              <a:buChar char="•"/>
              <a:tabLst>
                <a:tab pos="902335" algn="l"/>
                <a:tab pos="902969" algn="l"/>
              </a:tabLst>
            </a:pPr>
            <a:r>
              <a:rPr sz="2600" dirty="0">
                <a:latin typeface="Perpetua"/>
                <a:cs typeface="Perpetua"/>
              </a:rPr>
              <a:t>It </a:t>
            </a:r>
            <a:r>
              <a:rPr sz="2600" spc="-5" dirty="0">
                <a:latin typeface="Perpetua"/>
                <a:cs typeface="Perpetua"/>
              </a:rPr>
              <a:t>could </a:t>
            </a:r>
            <a:r>
              <a:rPr sz="2600" dirty="0">
                <a:latin typeface="Perpetua"/>
                <a:cs typeface="Perpetua"/>
              </a:rPr>
              <a:t>be </a:t>
            </a:r>
            <a:r>
              <a:rPr sz="2600" spc="-5" dirty="0">
                <a:latin typeface="Perpetua"/>
                <a:cs typeface="Perpetua"/>
              </a:rPr>
              <a:t>equal </a:t>
            </a:r>
            <a:r>
              <a:rPr sz="2600" dirty="0">
                <a:latin typeface="Perpetua"/>
                <a:cs typeface="Perpetua"/>
              </a:rPr>
              <a:t>to the </a:t>
            </a:r>
            <a:r>
              <a:rPr sz="2600" spc="-30" dirty="0">
                <a:latin typeface="Perpetua"/>
                <a:cs typeface="Perpetua"/>
              </a:rPr>
              <a:t>temp. </a:t>
            </a:r>
            <a:r>
              <a:rPr sz="2600" spc="-5" dirty="0">
                <a:latin typeface="Perpetua"/>
                <a:cs typeface="Perpetua"/>
              </a:rPr>
              <a:t>max.</a:t>
            </a:r>
            <a:r>
              <a:rPr sz="2600" spc="-204" dirty="0">
                <a:latin typeface="Perpetua"/>
                <a:cs typeface="Perpetua"/>
              </a:rPr>
              <a:t> </a:t>
            </a:r>
            <a:r>
              <a:rPr sz="2600" spc="-50" dirty="0">
                <a:latin typeface="Perpetua"/>
                <a:cs typeface="Perpetua"/>
              </a:rPr>
              <a:t>no.</a:t>
            </a:r>
            <a:endParaRPr sz="2600">
              <a:latin typeface="Perpetua"/>
              <a:cs typeface="Perpetua"/>
            </a:endParaRPr>
          </a:p>
          <a:p>
            <a:pPr marL="902335" lvl="1" indent="-325120">
              <a:lnSpc>
                <a:spcPct val="100000"/>
              </a:lnSpc>
              <a:spcBef>
                <a:spcPts val="1090"/>
              </a:spcBef>
              <a:buSzPct val="75000"/>
              <a:buFont typeface="Arial"/>
              <a:buChar char="•"/>
              <a:tabLst>
                <a:tab pos="902335" algn="l"/>
                <a:tab pos="902969" algn="l"/>
              </a:tabLst>
            </a:pPr>
            <a:r>
              <a:rPr sz="2600" dirty="0">
                <a:latin typeface="Perpetua"/>
                <a:cs typeface="Perpetua"/>
              </a:rPr>
              <a:t>It </a:t>
            </a:r>
            <a:r>
              <a:rPr sz="2600" spc="-5" dirty="0">
                <a:latin typeface="Perpetua"/>
                <a:cs typeface="Perpetua"/>
              </a:rPr>
              <a:t>could </a:t>
            </a:r>
            <a:r>
              <a:rPr sz="2600" dirty="0">
                <a:latin typeface="Perpetua"/>
                <a:cs typeface="Perpetua"/>
              </a:rPr>
              <a:t>be </a:t>
            </a:r>
            <a:r>
              <a:rPr sz="2600" spc="-5" dirty="0">
                <a:latin typeface="Perpetua"/>
                <a:cs typeface="Perpetua"/>
              </a:rPr>
              <a:t>greater </a:t>
            </a:r>
            <a:r>
              <a:rPr sz="2600" dirty="0">
                <a:latin typeface="Perpetua"/>
                <a:cs typeface="Perpetua"/>
              </a:rPr>
              <a:t>than the </a:t>
            </a:r>
            <a:r>
              <a:rPr sz="2600" spc="-30" dirty="0">
                <a:latin typeface="Perpetua"/>
                <a:cs typeface="Perpetua"/>
              </a:rPr>
              <a:t>temp. </a:t>
            </a:r>
            <a:r>
              <a:rPr sz="2600" spc="-5" dirty="0">
                <a:latin typeface="Perpetua"/>
                <a:cs typeface="Perpetua"/>
              </a:rPr>
              <a:t>max.</a:t>
            </a:r>
            <a:r>
              <a:rPr sz="2600" spc="-200" dirty="0">
                <a:latin typeface="Perpetua"/>
                <a:cs typeface="Perpetua"/>
              </a:rPr>
              <a:t> </a:t>
            </a:r>
            <a:r>
              <a:rPr sz="2600" spc="-50" dirty="0">
                <a:latin typeface="Perpetua"/>
                <a:cs typeface="Perpetua"/>
              </a:rPr>
              <a:t>no.</a:t>
            </a:r>
            <a:endParaRPr sz="2600">
              <a:latin typeface="Perpetua"/>
              <a:cs typeface="Perpetua"/>
            </a:endParaRPr>
          </a:p>
          <a:p>
            <a:pPr marL="310515" marR="178435" indent="-273050">
              <a:lnSpc>
                <a:spcPct val="100000"/>
              </a:lnSpc>
              <a:spcBef>
                <a:spcPts val="1705"/>
              </a:spcBef>
              <a:buSzPct val="84615"/>
              <a:buFont typeface="Wingdings 2"/>
              <a:buChar char=""/>
              <a:tabLst>
                <a:tab pos="311150" algn="l"/>
              </a:tabLst>
            </a:pPr>
            <a:r>
              <a:rPr sz="2600" spc="-5" dirty="0">
                <a:latin typeface="Perpetua"/>
                <a:cs typeface="Perpetua"/>
              </a:rPr>
              <a:t>Situations</a:t>
            </a:r>
            <a:r>
              <a:rPr sz="2600" spc="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1 &amp; 2,</a:t>
            </a:r>
            <a:r>
              <a:rPr sz="2600" spc="-1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30" dirty="0">
                <a:latin typeface="Perpetua"/>
                <a:cs typeface="Perpetua"/>
              </a:rPr>
              <a:t>temp.</a:t>
            </a:r>
            <a:r>
              <a:rPr sz="2600" spc="-10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max.</a:t>
            </a:r>
            <a:r>
              <a:rPr sz="2600" spc="-100" dirty="0">
                <a:latin typeface="Perpetua"/>
                <a:cs typeface="Perpetua"/>
              </a:rPr>
              <a:t> </a:t>
            </a:r>
            <a:r>
              <a:rPr sz="2600" spc="-50" dirty="0">
                <a:latin typeface="Perpetua"/>
                <a:cs typeface="Perpetua"/>
              </a:rPr>
              <a:t>no.</a:t>
            </a:r>
            <a:r>
              <a:rPr sz="2600" spc="-10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is unchanged.</a:t>
            </a:r>
            <a:r>
              <a:rPr sz="2600" spc="-9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Situation</a:t>
            </a:r>
            <a:r>
              <a:rPr sz="2600" dirty="0">
                <a:latin typeface="Perpetua"/>
                <a:cs typeface="Perpetua"/>
              </a:rPr>
              <a:t> 3,</a:t>
            </a:r>
            <a:r>
              <a:rPr sz="2600" spc="-11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the  </a:t>
            </a:r>
            <a:r>
              <a:rPr sz="2600" spc="5" dirty="0">
                <a:latin typeface="Perpetua"/>
                <a:cs typeface="Perpetua"/>
              </a:rPr>
              <a:t>2</a:t>
            </a:r>
            <a:r>
              <a:rPr sz="2550" spc="7" baseline="27777" dirty="0">
                <a:latin typeface="Perpetua"/>
                <a:cs typeface="Perpetua"/>
              </a:rPr>
              <a:t>nd </a:t>
            </a:r>
            <a:r>
              <a:rPr sz="2600" spc="-5" dirty="0">
                <a:latin typeface="Perpetua"/>
                <a:cs typeface="Perpetua"/>
              </a:rPr>
              <a:t>number </a:t>
            </a:r>
            <a:r>
              <a:rPr sz="2600" dirty="0">
                <a:latin typeface="Perpetua"/>
                <a:cs typeface="Perpetua"/>
              </a:rPr>
              <a:t>becomes the </a:t>
            </a:r>
            <a:r>
              <a:rPr sz="2600" spc="-15" dirty="0">
                <a:latin typeface="Perpetua"/>
                <a:cs typeface="Perpetua"/>
              </a:rPr>
              <a:t>new </a:t>
            </a:r>
            <a:r>
              <a:rPr sz="2600" spc="-30" dirty="0">
                <a:latin typeface="Perpetua"/>
                <a:cs typeface="Perpetua"/>
              </a:rPr>
              <a:t>temp. </a:t>
            </a:r>
            <a:r>
              <a:rPr sz="2600" spc="-5" dirty="0">
                <a:latin typeface="Perpetua"/>
                <a:cs typeface="Perpetua"/>
              </a:rPr>
              <a:t>max.</a:t>
            </a:r>
            <a:r>
              <a:rPr sz="2600" spc="-370" dirty="0">
                <a:latin typeface="Perpetua"/>
                <a:cs typeface="Perpetua"/>
              </a:rPr>
              <a:t> </a:t>
            </a:r>
            <a:r>
              <a:rPr sz="2600" spc="-50" dirty="0">
                <a:latin typeface="Perpetua"/>
                <a:cs typeface="Perpetua"/>
              </a:rPr>
              <a:t>no.</a:t>
            </a:r>
            <a:endParaRPr sz="2600">
              <a:latin typeface="Perpetua"/>
              <a:cs typeface="Perpetua"/>
            </a:endParaRPr>
          </a:p>
          <a:p>
            <a:pPr marL="310515" indent="-273050">
              <a:lnSpc>
                <a:spcPct val="100000"/>
              </a:lnSpc>
              <a:spcBef>
                <a:spcPts val="600"/>
              </a:spcBef>
              <a:buSzPct val="84615"/>
              <a:buFont typeface="Wingdings 2"/>
              <a:buChar char=""/>
              <a:tabLst>
                <a:tab pos="311150" algn="l"/>
              </a:tabLst>
            </a:pPr>
            <a:r>
              <a:rPr sz="2600" dirty="0">
                <a:latin typeface="Perpetua"/>
                <a:cs typeface="Perpetua"/>
              </a:rPr>
              <a:t>This </a:t>
            </a:r>
            <a:r>
              <a:rPr sz="2600" spc="-5" dirty="0">
                <a:latin typeface="Perpetua"/>
                <a:cs typeface="Perpetua"/>
              </a:rPr>
              <a:t>has </a:t>
            </a:r>
            <a:r>
              <a:rPr sz="2600" dirty="0">
                <a:latin typeface="Perpetua"/>
                <a:cs typeface="Perpetua"/>
              </a:rPr>
              <a:t>to be </a:t>
            </a:r>
            <a:r>
              <a:rPr sz="2600" spc="-10" dirty="0">
                <a:latin typeface="Perpetua"/>
                <a:cs typeface="Perpetua"/>
              </a:rPr>
              <a:t>repeated </a:t>
            </a:r>
            <a:r>
              <a:rPr sz="2600" dirty="0">
                <a:latin typeface="Perpetua"/>
                <a:cs typeface="Perpetua"/>
              </a:rPr>
              <a:t>till the </a:t>
            </a:r>
            <a:r>
              <a:rPr sz="2600" spc="-5" dirty="0">
                <a:latin typeface="Perpetua"/>
                <a:cs typeface="Perpetua"/>
              </a:rPr>
              <a:t>end </a:t>
            </a:r>
            <a:r>
              <a:rPr sz="2600" dirty="0">
                <a:latin typeface="Perpetua"/>
                <a:cs typeface="Perpetua"/>
              </a:rPr>
              <a:t>of the</a:t>
            </a:r>
            <a:r>
              <a:rPr sz="2600" spc="-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set.</a:t>
            </a:r>
            <a:endParaRPr sz="2600">
              <a:latin typeface="Perpetua"/>
              <a:cs typeface="Perpetu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04672" y="1900427"/>
          <a:ext cx="7706356" cy="87325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1210"/>
                <a:gridCol w="901065"/>
                <a:gridCol w="935989"/>
                <a:gridCol w="901064"/>
                <a:gridCol w="828039"/>
                <a:gridCol w="828039"/>
                <a:gridCol w="937895"/>
                <a:gridCol w="828040"/>
                <a:gridCol w="755015"/>
              </a:tblGrid>
              <a:tr h="873251">
                <a:tc>
                  <a:txBody>
                    <a:bodyPr/>
                    <a:lstStyle/>
                    <a:p>
                      <a:pPr marL="258445"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r>
                        <a:rPr sz="3200" dirty="0">
                          <a:latin typeface="Perpetua"/>
                          <a:cs typeface="Perpetua"/>
                        </a:rPr>
                        <a:t>8</a:t>
                      </a:r>
                      <a:endParaRPr sz="3200">
                        <a:latin typeface="Perpetua"/>
                        <a:cs typeface="Perpetua"/>
                      </a:endParaRPr>
                    </a:p>
                  </a:txBody>
                  <a:tcPr marL="0" marR="0" marT="1612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 algn="ctr">
                        <a:lnSpc>
                          <a:spcPct val="100000"/>
                        </a:lnSpc>
                        <a:spcBef>
                          <a:spcPts val="1280"/>
                        </a:spcBef>
                      </a:pPr>
                      <a:r>
                        <a:rPr sz="3200" dirty="0">
                          <a:latin typeface="Perpetua"/>
                          <a:cs typeface="Perpetua"/>
                        </a:rPr>
                        <a:t>6</a:t>
                      </a:r>
                      <a:endParaRPr sz="3200">
                        <a:latin typeface="Perpetua"/>
                        <a:cs typeface="Perpetua"/>
                      </a:endParaRPr>
                    </a:p>
                  </a:txBody>
                  <a:tcPr marL="0" marR="0" marT="1625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5565" algn="ctr">
                        <a:lnSpc>
                          <a:spcPct val="100000"/>
                        </a:lnSpc>
                        <a:spcBef>
                          <a:spcPts val="1280"/>
                        </a:spcBef>
                      </a:pPr>
                      <a:r>
                        <a:rPr sz="3200" dirty="0">
                          <a:latin typeface="Perpetua"/>
                          <a:cs typeface="Perpetua"/>
                        </a:rPr>
                        <a:t>5</a:t>
                      </a:r>
                      <a:endParaRPr sz="3200">
                        <a:latin typeface="Perpetua"/>
                        <a:cs typeface="Perpetua"/>
                      </a:endParaRPr>
                    </a:p>
                  </a:txBody>
                  <a:tcPr marL="0" marR="0" marT="1625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4950">
                        <a:lnSpc>
                          <a:spcPct val="100000"/>
                        </a:lnSpc>
                        <a:spcBef>
                          <a:spcPts val="1280"/>
                        </a:spcBef>
                      </a:pPr>
                      <a:r>
                        <a:rPr sz="3200" spc="-5" dirty="0">
                          <a:latin typeface="Perpetua"/>
                          <a:cs typeface="Perpetua"/>
                        </a:rPr>
                        <a:t>15</a:t>
                      </a:r>
                      <a:endParaRPr sz="3200">
                        <a:latin typeface="Perpetua"/>
                        <a:cs typeface="Perpetua"/>
                      </a:endParaRPr>
                    </a:p>
                  </a:txBody>
                  <a:tcPr marL="0" marR="0" marT="1625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0350">
                        <a:lnSpc>
                          <a:spcPct val="100000"/>
                        </a:lnSpc>
                        <a:spcBef>
                          <a:spcPts val="1280"/>
                        </a:spcBef>
                      </a:pPr>
                      <a:r>
                        <a:rPr sz="3200" dirty="0">
                          <a:latin typeface="Perpetua"/>
                          <a:cs typeface="Perpetua"/>
                        </a:rPr>
                        <a:t>7</a:t>
                      </a:r>
                      <a:endParaRPr sz="3200">
                        <a:latin typeface="Perpetua"/>
                        <a:cs typeface="Perpetua"/>
                      </a:endParaRPr>
                    </a:p>
                  </a:txBody>
                  <a:tcPr marL="0" marR="0" marT="1625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8595">
                        <a:lnSpc>
                          <a:spcPct val="100000"/>
                        </a:lnSpc>
                        <a:spcBef>
                          <a:spcPts val="1280"/>
                        </a:spcBef>
                      </a:pPr>
                      <a:r>
                        <a:rPr sz="3200" spc="-5" dirty="0">
                          <a:latin typeface="Perpetua"/>
                          <a:cs typeface="Perpetua"/>
                        </a:rPr>
                        <a:t>19</a:t>
                      </a:r>
                      <a:endParaRPr sz="3200">
                        <a:latin typeface="Perpetua"/>
                        <a:cs typeface="Perpetua"/>
                      </a:endParaRPr>
                    </a:p>
                  </a:txBody>
                  <a:tcPr marL="0" marR="0" marT="1625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0985">
                        <a:lnSpc>
                          <a:spcPct val="100000"/>
                        </a:lnSpc>
                        <a:spcBef>
                          <a:spcPts val="1280"/>
                        </a:spcBef>
                      </a:pPr>
                      <a:r>
                        <a:rPr sz="3200" spc="-5" dirty="0">
                          <a:latin typeface="Perpetua"/>
                          <a:cs typeface="Perpetua"/>
                        </a:rPr>
                        <a:t>21</a:t>
                      </a:r>
                      <a:endParaRPr sz="3200">
                        <a:latin typeface="Perpetua"/>
                        <a:cs typeface="Perpetua"/>
                      </a:endParaRPr>
                    </a:p>
                  </a:txBody>
                  <a:tcPr marL="0" marR="0" marT="1625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0350">
                        <a:lnSpc>
                          <a:spcPct val="100000"/>
                        </a:lnSpc>
                        <a:spcBef>
                          <a:spcPts val="1280"/>
                        </a:spcBef>
                      </a:pPr>
                      <a:r>
                        <a:rPr sz="3200" dirty="0">
                          <a:latin typeface="Perpetua"/>
                          <a:cs typeface="Perpetua"/>
                        </a:rPr>
                        <a:t>6</a:t>
                      </a:r>
                      <a:endParaRPr sz="3200">
                        <a:latin typeface="Perpetua"/>
                        <a:cs typeface="Perpetua"/>
                      </a:endParaRPr>
                    </a:p>
                  </a:txBody>
                  <a:tcPr marL="0" marR="0" marT="1625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1280"/>
                        </a:spcBef>
                      </a:pPr>
                      <a:r>
                        <a:rPr sz="3200" spc="-5" dirty="0">
                          <a:latin typeface="Perpetua"/>
                          <a:cs typeface="Perpetua"/>
                        </a:rPr>
                        <a:t>13</a:t>
                      </a:r>
                      <a:endParaRPr sz="3200">
                        <a:latin typeface="Perpetua"/>
                        <a:cs typeface="Perpetua"/>
                      </a:endParaRPr>
                    </a:p>
                  </a:txBody>
                  <a:tcPr marL="0" marR="0" marT="1625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63817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Requirements </a:t>
            </a:r>
            <a:r>
              <a:rPr spc="-5" dirty="0"/>
              <a:t>to automate</a:t>
            </a:r>
            <a:r>
              <a:rPr spc="-20" dirty="0"/>
              <a:t> </a:t>
            </a:r>
            <a:r>
              <a:rPr i="1" spc="-5" dirty="0">
                <a:latin typeface="Perpetua"/>
                <a:cs typeface="Perpetua"/>
              </a:rPr>
              <a:t>contd</a:t>
            </a:r>
            <a:r>
              <a:rPr spc="-5" dirty="0"/>
              <a:t>---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2320" y="1433321"/>
            <a:ext cx="8305800" cy="41148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0985" indent="-248920">
              <a:lnSpc>
                <a:spcPct val="100000"/>
              </a:lnSpc>
              <a:spcBef>
                <a:spcPts val="105"/>
              </a:spcBef>
              <a:buSzPct val="96153"/>
              <a:buAutoNum type="arabicPeriod"/>
              <a:tabLst>
                <a:tab pos="261620" algn="l"/>
              </a:tabLst>
            </a:pPr>
            <a:r>
              <a:rPr sz="2600" dirty="0">
                <a:latin typeface="Perpetua"/>
                <a:cs typeface="Perpetua"/>
              </a:rPr>
              <a:t>Get </a:t>
            </a:r>
            <a:r>
              <a:rPr sz="2600" spc="-5" dirty="0">
                <a:latin typeface="Perpetua"/>
                <a:cs typeface="Perpetua"/>
              </a:rPr>
              <a:t>an </a:t>
            </a:r>
            <a:r>
              <a:rPr sz="2600" spc="-15" dirty="0">
                <a:latin typeface="Perpetua"/>
                <a:cs typeface="Perpetua"/>
              </a:rPr>
              <a:t>array </a:t>
            </a:r>
            <a:r>
              <a:rPr sz="2600" i="1" spc="-5" dirty="0">
                <a:latin typeface="Perpetua"/>
                <a:cs typeface="Perpetua"/>
              </a:rPr>
              <a:t>a[0,...n-1]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i="1" dirty="0">
                <a:latin typeface="Perpetua"/>
                <a:cs typeface="Perpetua"/>
              </a:rPr>
              <a:t>n </a:t>
            </a:r>
            <a:r>
              <a:rPr sz="2600" dirty="0">
                <a:latin typeface="Perpetua"/>
                <a:cs typeface="Perpetua"/>
              </a:rPr>
              <a:t>elements </a:t>
            </a:r>
            <a:r>
              <a:rPr sz="2600" spc="-5" dirty="0">
                <a:latin typeface="Perpetua"/>
                <a:cs typeface="Perpetua"/>
              </a:rPr>
              <a:t>where </a:t>
            </a:r>
            <a:r>
              <a:rPr sz="2600" dirty="0">
                <a:latin typeface="Perpetua"/>
                <a:cs typeface="Perpetua"/>
              </a:rPr>
              <a:t>n ≥</a:t>
            </a:r>
            <a:r>
              <a:rPr sz="2600" spc="-1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1.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Perpetua"/>
              <a:buAutoNum type="arabicPeriod"/>
            </a:pPr>
            <a:endParaRPr sz="3750">
              <a:latin typeface="Times New Roman"/>
              <a:cs typeface="Times New Roman"/>
            </a:endParaRPr>
          </a:p>
          <a:p>
            <a:pPr marL="321945" indent="-309880">
              <a:lnSpc>
                <a:spcPct val="100000"/>
              </a:lnSpc>
              <a:buSzPct val="96153"/>
              <a:buAutoNum type="arabicPeriod"/>
              <a:tabLst>
                <a:tab pos="322580" algn="l"/>
                <a:tab pos="6639559" algn="l"/>
              </a:tabLst>
            </a:pPr>
            <a:r>
              <a:rPr sz="2600" dirty="0">
                <a:latin typeface="Perpetua"/>
                <a:cs typeface="Perpetua"/>
              </a:rPr>
              <a:t>Set temporary </a:t>
            </a:r>
            <a:r>
              <a:rPr sz="2600" spc="-5" dirty="0">
                <a:latin typeface="Perpetua"/>
                <a:cs typeface="Perpetua"/>
              </a:rPr>
              <a:t>maximum </a:t>
            </a:r>
            <a:r>
              <a:rPr sz="2600" i="1" spc="-5" dirty="0">
                <a:latin typeface="Perpetua"/>
                <a:cs typeface="Perpetua"/>
              </a:rPr>
              <a:t>max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spc="10" dirty="0">
                <a:latin typeface="Perpetua"/>
                <a:cs typeface="Perpetua"/>
              </a:rPr>
              <a:t>first</a:t>
            </a:r>
            <a:r>
              <a:rPr sz="2600" spc="85" dirty="0">
                <a:latin typeface="Perpetua"/>
                <a:cs typeface="Perpetua"/>
              </a:rPr>
              <a:t> </a:t>
            </a:r>
            <a:r>
              <a:rPr sz="2600" spc="-15" dirty="0">
                <a:latin typeface="Perpetua"/>
                <a:cs typeface="Perpetua"/>
              </a:rPr>
              <a:t>array</a:t>
            </a:r>
            <a:r>
              <a:rPr sz="2600" spc="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element	</a:t>
            </a:r>
            <a:r>
              <a:rPr sz="2600" spc="-15" dirty="0">
                <a:latin typeface="Perpetua"/>
                <a:cs typeface="Perpetua"/>
              </a:rPr>
              <a:t>i.e.</a:t>
            </a:r>
            <a:r>
              <a:rPr sz="2600" spc="-114" dirty="0">
                <a:latin typeface="Perpetua"/>
                <a:cs typeface="Perpetua"/>
              </a:rPr>
              <a:t> </a:t>
            </a:r>
            <a:r>
              <a:rPr sz="2600" i="1" dirty="0">
                <a:latin typeface="Perpetua"/>
                <a:cs typeface="Perpetua"/>
              </a:rPr>
              <a:t>a[0].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Perpetua"/>
              <a:buAutoNum type="arabicPeriod"/>
            </a:pPr>
            <a:endParaRPr sz="3750">
              <a:latin typeface="Times New Roman"/>
              <a:cs typeface="Times New Roman"/>
            </a:endParaRPr>
          </a:p>
          <a:p>
            <a:pPr marL="228600" marR="5080" indent="-216535">
              <a:lnSpc>
                <a:spcPct val="100000"/>
              </a:lnSpc>
              <a:buSzPct val="96153"/>
              <a:buAutoNum type="arabicPeriod"/>
              <a:tabLst>
                <a:tab pos="342265" algn="l"/>
              </a:tabLst>
            </a:pPr>
            <a:r>
              <a:rPr sz="2600" dirty="0">
                <a:latin typeface="Perpetua"/>
                <a:cs typeface="Perpetua"/>
              </a:rPr>
              <a:t>While </a:t>
            </a:r>
            <a:r>
              <a:rPr sz="2600" spc="-10" dirty="0">
                <a:latin typeface="Perpetua"/>
                <a:cs typeface="Perpetua"/>
              </a:rPr>
              <a:t>less </a:t>
            </a:r>
            <a:r>
              <a:rPr sz="2600" spc="-5" dirty="0">
                <a:latin typeface="Perpetua"/>
                <a:cs typeface="Perpetua"/>
              </a:rPr>
              <a:t>than </a:t>
            </a:r>
            <a:r>
              <a:rPr sz="2600" i="1" dirty="0">
                <a:latin typeface="Perpetua"/>
                <a:cs typeface="Perpetua"/>
              </a:rPr>
              <a:t>n </a:t>
            </a:r>
            <a:r>
              <a:rPr sz="2600" spc="-10" dirty="0">
                <a:latin typeface="Perpetua"/>
                <a:cs typeface="Perpetua"/>
              </a:rPr>
              <a:t>array </a:t>
            </a:r>
            <a:r>
              <a:rPr sz="2600" dirty="0">
                <a:latin typeface="Perpetua"/>
                <a:cs typeface="Perpetua"/>
              </a:rPr>
              <a:t>elements </a:t>
            </a:r>
            <a:r>
              <a:rPr sz="2600" spc="-35" dirty="0">
                <a:latin typeface="Perpetua"/>
                <a:cs typeface="Perpetua"/>
              </a:rPr>
              <a:t>have </a:t>
            </a:r>
            <a:r>
              <a:rPr sz="2600" spc="-5" dirty="0">
                <a:latin typeface="Perpetua"/>
                <a:cs typeface="Perpetua"/>
              </a:rPr>
              <a:t>been considered </a:t>
            </a:r>
            <a:r>
              <a:rPr sz="2600" spc="-15" dirty="0">
                <a:latin typeface="Perpetua"/>
                <a:cs typeface="Perpetua"/>
              </a:rPr>
              <a:t>repeatedly </a:t>
            </a:r>
            <a:r>
              <a:rPr sz="2600" spc="55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do</a:t>
            </a:r>
            <a:endParaRPr sz="2600">
              <a:latin typeface="Perpetua"/>
              <a:cs typeface="Perpetua"/>
            </a:endParaRPr>
          </a:p>
          <a:p>
            <a:pPr marL="876300" marR="5715" lvl="1" indent="-325120">
              <a:lnSpc>
                <a:spcPct val="100000"/>
              </a:lnSpc>
              <a:buSzPct val="96153"/>
              <a:buAutoNum type="alphaLcParenR"/>
              <a:tabLst>
                <a:tab pos="777240" algn="l"/>
              </a:tabLst>
            </a:pPr>
            <a:r>
              <a:rPr sz="2600" spc="-5" dirty="0">
                <a:latin typeface="Perpetua"/>
                <a:cs typeface="Perpetua"/>
              </a:rPr>
              <a:t>If next </a:t>
            </a:r>
            <a:r>
              <a:rPr sz="2600" dirty="0">
                <a:latin typeface="Perpetua"/>
                <a:cs typeface="Perpetua"/>
              </a:rPr>
              <a:t>element </a:t>
            </a:r>
            <a:r>
              <a:rPr sz="2600" spc="-5" dirty="0">
                <a:latin typeface="Perpetua"/>
                <a:cs typeface="Perpetua"/>
              </a:rPr>
              <a:t>greater </a:t>
            </a:r>
            <a:r>
              <a:rPr sz="2600" dirty="0">
                <a:latin typeface="Perpetua"/>
                <a:cs typeface="Perpetua"/>
              </a:rPr>
              <a:t>than current </a:t>
            </a:r>
            <a:r>
              <a:rPr sz="2600" spc="-5" dirty="0">
                <a:latin typeface="Perpetua"/>
                <a:cs typeface="Perpetua"/>
              </a:rPr>
              <a:t>maximum </a:t>
            </a:r>
            <a:r>
              <a:rPr sz="2600" dirty="0">
                <a:latin typeface="Perpetua"/>
                <a:cs typeface="Perpetua"/>
              </a:rPr>
              <a:t>then </a:t>
            </a:r>
            <a:r>
              <a:rPr sz="2600" spc="-5" dirty="0">
                <a:latin typeface="Perpetua"/>
                <a:cs typeface="Perpetua"/>
              </a:rPr>
              <a:t>assign </a:t>
            </a:r>
            <a:r>
              <a:rPr sz="2600" dirty="0">
                <a:latin typeface="Perpetua"/>
                <a:cs typeface="Perpetua"/>
              </a:rPr>
              <a:t>it  </a:t>
            </a:r>
            <a:r>
              <a:rPr sz="2600" spc="-5" dirty="0">
                <a:latin typeface="Perpetua"/>
                <a:cs typeface="Perpetua"/>
              </a:rPr>
              <a:t>to</a:t>
            </a:r>
            <a:r>
              <a:rPr sz="2600" spc="-10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max.</a:t>
            </a:r>
            <a:endParaRPr sz="2600">
              <a:latin typeface="Perpetua"/>
              <a:cs typeface="Perpetua"/>
            </a:endParaRPr>
          </a:p>
          <a:p>
            <a:pPr marL="321945" indent="-309880">
              <a:lnSpc>
                <a:spcPct val="100000"/>
              </a:lnSpc>
              <a:spcBef>
                <a:spcPts val="1710"/>
              </a:spcBef>
              <a:buSzPct val="96153"/>
              <a:buAutoNum type="arabicPeriod"/>
              <a:tabLst>
                <a:tab pos="322580" algn="l"/>
              </a:tabLst>
            </a:pPr>
            <a:r>
              <a:rPr sz="2600" spc="5" dirty="0">
                <a:latin typeface="Perpetua"/>
                <a:cs typeface="Perpetua"/>
              </a:rPr>
              <a:t>Return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maximum </a:t>
            </a:r>
            <a:r>
              <a:rPr sz="2600" i="1" spc="-5" dirty="0">
                <a:latin typeface="Perpetua"/>
                <a:cs typeface="Perpetua"/>
              </a:rPr>
              <a:t>max </a:t>
            </a:r>
            <a:r>
              <a:rPr sz="2600" spc="-5" dirty="0">
                <a:latin typeface="Perpetua"/>
                <a:cs typeface="Perpetua"/>
              </a:rPr>
              <a:t>for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given</a:t>
            </a:r>
            <a:r>
              <a:rPr sz="2600" spc="5" dirty="0">
                <a:latin typeface="Perpetua"/>
                <a:cs typeface="Perpetua"/>
              </a:rPr>
              <a:t> </a:t>
            </a:r>
            <a:r>
              <a:rPr sz="2600" spc="-55" dirty="0">
                <a:latin typeface="Perpetua"/>
                <a:cs typeface="Perpetua"/>
              </a:rPr>
              <a:t>array.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67786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5" dirty="0"/>
              <a:t>Algorithm </a:t>
            </a:r>
            <a:r>
              <a:rPr spc="-5" dirty="0"/>
              <a:t>to find </a:t>
            </a:r>
            <a:r>
              <a:rPr spc="-10" dirty="0"/>
              <a:t>maximum</a:t>
            </a:r>
            <a:r>
              <a:rPr spc="-30" dirty="0"/>
              <a:t> </a:t>
            </a:r>
            <a:r>
              <a:rPr spc="-5" dirty="0"/>
              <a:t>number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0842" y="1509521"/>
            <a:ext cx="299783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5"/>
              </a:spcBef>
              <a:buSzPct val="84615"/>
              <a:buFont typeface="Wingdings 2"/>
              <a:buChar char=""/>
              <a:tabLst>
                <a:tab pos="285750" algn="l"/>
              </a:tabLst>
            </a:pPr>
            <a:r>
              <a:rPr sz="2600" i="1" spc="-10" dirty="0">
                <a:latin typeface="Perpetua"/>
                <a:cs typeface="Perpetua"/>
              </a:rPr>
              <a:t>Given </a:t>
            </a:r>
            <a:r>
              <a:rPr sz="2600" i="1" spc="-5" dirty="0">
                <a:latin typeface="Perpetua"/>
                <a:cs typeface="Perpetua"/>
              </a:rPr>
              <a:t>the </a:t>
            </a:r>
            <a:r>
              <a:rPr sz="2600" i="1" spc="-10" dirty="0">
                <a:latin typeface="Perpetua"/>
                <a:cs typeface="Perpetua"/>
              </a:rPr>
              <a:t>following</a:t>
            </a:r>
            <a:r>
              <a:rPr sz="2600" i="1" spc="-50" dirty="0">
                <a:latin typeface="Perpetua"/>
                <a:cs typeface="Perpetua"/>
              </a:rPr>
              <a:t> </a:t>
            </a:r>
            <a:r>
              <a:rPr sz="2600" i="1" spc="-20" dirty="0">
                <a:latin typeface="Perpetua"/>
                <a:cs typeface="Perpetua"/>
              </a:rPr>
              <a:t>array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0842" y="3491229"/>
            <a:ext cx="472249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5"/>
              </a:spcBef>
              <a:buSzPct val="84615"/>
              <a:buFont typeface="Wingdings 2"/>
              <a:buChar char=""/>
              <a:tabLst>
                <a:tab pos="285750" algn="l"/>
              </a:tabLst>
            </a:pPr>
            <a:r>
              <a:rPr sz="2600" i="1" spc="-5" dirty="0">
                <a:latin typeface="Perpetua"/>
                <a:cs typeface="Perpetua"/>
              </a:rPr>
              <a:t>The </a:t>
            </a:r>
            <a:r>
              <a:rPr sz="2600" i="1" spc="-20" dirty="0">
                <a:latin typeface="Perpetua"/>
                <a:cs typeface="Perpetua"/>
              </a:rPr>
              <a:t>array </a:t>
            </a:r>
            <a:r>
              <a:rPr sz="2600" i="1" dirty="0">
                <a:latin typeface="Perpetua"/>
                <a:cs typeface="Perpetua"/>
              </a:rPr>
              <a:t>after </a:t>
            </a:r>
            <a:r>
              <a:rPr sz="2600" i="1" spc="-5" dirty="0">
                <a:latin typeface="Perpetua"/>
                <a:cs typeface="Perpetua"/>
              </a:rPr>
              <a:t>duplicate </a:t>
            </a:r>
            <a:r>
              <a:rPr sz="2600" i="1" spc="-20" dirty="0">
                <a:latin typeface="Perpetua"/>
                <a:cs typeface="Perpetua"/>
              </a:rPr>
              <a:t>removal</a:t>
            </a:r>
            <a:r>
              <a:rPr sz="2600" i="1" spc="-95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becomes</a:t>
            </a:r>
            <a:endParaRPr sz="2600">
              <a:latin typeface="Perpetua"/>
              <a:cs typeface="Perpetu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28472" y="2205227"/>
          <a:ext cx="7706356" cy="8397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1210"/>
                <a:gridCol w="901065"/>
                <a:gridCol w="935989"/>
                <a:gridCol w="901064"/>
                <a:gridCol w="828039"/>
                <a:gridCol w="828039"/>
                <a:gridCol w="937895"/>
                <a:gridCol w="828040"/>
                <a:gridCol w="755015"/>
              </a:tblGrid>
              <a:tr h="839724">
                <a:tc>
                  <a:txBody>
                    <a:bodyPr/>
                    <a:lstStyle/>
                    <a:p>
                      <a:pPr marL="258445"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r>
                        <a:rPr sz="3200" dirty="0">
                          <a:latin typeface="Perpetua"/>
                          <a:cs typeface="Perpetua"/>
                        </a:rPr>
                        <a:t>2</a:t>
                      </a:r>
                      <a:endParaRPr sz="3200">
                        <a:latin typeface="Perpetua"/>
                        <a:cs typeface="Perpetua"/>
                      </a:endParaRPr>
                    </a:p>
                  </a:txBody>
                  <a:tcPr marL="0" marR="0" marT="1574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" algn="ctr"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r>
                        <a:rPr sz="3200" dirty="0">
                          <a:latin typeface="Perpetua"/>
                          <a:cs typeface="Perpetua"/>
                        </a:rPr>
                        <a:t>2</a:t>
                      </a:r>
                      <a:endParaRPr sz="3200">
                        <a:latin typeface="Perpetua"/>
                        <a:cs typeface="Perpetua"/>
                      </a:endParaRPr>
                    </a:p>
                  </a:txBody>
                  <a:tcPr marL="0" marR="0" marT="1574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5565" algn="ctr"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r>
                        <a:rPr sz="3200" dirty="0">
                          <a:latin typeface="Perpetua"/>
                          <a:cs typeface="Perpetua"/>
                        </a:rPr>
                        <a:t>8</a:t>
                      </a:r>
                      <a:endParaRPr sz="3200">
                        <a:latin typeface="Perpetua"/>
                        <a:cs typeface="Perpetua"/>
                      </a:endParaRPr>
                    </a:p>
                  </a:txBody>
                  <a:tcPr marL="0" marR="0" marT="1574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4950"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r>
                        <a:rPr sz="3200" spc="-5" dirty="0">
                          <a:latin typeface="Perpetua"/>
                          <a:cs typeface="Perpetua"/>
                        </a:rPr>
                        <a:t>15</a:t>
                      </a:r>
                      <a:endParaRPr sz="3200">
                        <a:latin typeface="Perpetua"/>
                        <a:cs typeface="Perpetua"/>
                      </a:endParaRPr>
                    </a:p>
                  </a:txBody>
                  <a:tcPr marL="0" marR="0" marT="1574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0350"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r>
                        <a:rPr sz="3200" spc="-5" dirty="0">
                          <a:latin typeface="Perpetua"/>
                          <a:cs typeface="Perpetua"/>
                        </a:rPr>
                        <a:t>23</a:t>
                      </a:r>
                      <a:endParaRPr sz="3200">
                        <a:latin typeface="Perpetua"/>
                        <a:cs typeface="Perpetua"/>
                      </a:endParaRPr>
                    </a:p>
                  </a:txBody>
                  <a:tcPr marL="0" marR="0" marT="1574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8595"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r>
                        <a:rPr sz="3200" spc="-5" dirty="0">
                          <a:latin typeface="Perpetua"/>
                          <a:cs typeface="Perpetua"/>
                        </a:rPr>
                        <a:t>23</a:t>
                      </a:r>
                      <a:endParaRPr sz="3200">
                        <a:latin typeface="Perpetua"/>
                        <a:cs typeface="Perpetua"/>
                      </a:endParaRPr>
                    </a:p>
                  </a:txBody>
                  <a:tcPr marL="0" marR="0" marT="1574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0985"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r>
                        <a:rPr sz="3200" spc="-5" dirty="0">
                          <a:latin typeface="Perpetua"/>
                          <a:cs typeface="Perpetua"/>
                        </a:rPr>
                        <a:t>23</a:t>
                      </a:r>
                      <a:endParaRPr sz="3200">
                        <a:latin typeface="Perpetua"/>
                        <a:cs typeface="Perpetua"/>
                      </a:endParaRPr>
                    </a:p>
                  </a:txBody>
                  <a:tcPr marL="0" marR="0" marT="1574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0350"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r>
                        <a:rPr sz="3200" dirty="0">
                          <a:latin typeface="Perpetua"/>
                          <a:cs typeface="Perpetua"/>
                        </a:rPr>
                        <a:t>6</a:t>
                      </a:r>
                      <a:endParaRPr sz="3200">
                        <a:latin typeface="Perpetua"/>
                        <a:cs typeface="Perpetua"/>
                      </a:endParaRPr>
                    </a:p>
                  </a:txBody>
                  <a:tcPr marL="0" marR="0" marT="1574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r>
                        <a:rPr sz="3200" spc="-5" dirty="0">
                          <a:latin typeface="Perpetua"/>
                          <a:cs typeface="Perpetua"/>
                        </a:rPr>
                        <a:t>13</a:t>
                      </a:r>
                      <a:endParaRPr sz="3200">
                        <a:latin typeface="Perpetua"/>
                        <a:cs typeface="Perpetua"/>
                      </a:endParaRPr>
                    </a:p>
                  </a:txBody>
                  <a:tcPr marL="0" marR="0" marT="1574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986027" y="4110228"/>
          <a:ext cx="5111745" cy="9357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2480"/>
                <a:gridCol w="899159"/>
                <a:gridCol w="935989"/>
                <a:gridCol w="901064"/>
                <a:gridCol w="828039"/>
                <a:gridCol w="755014"/>
              </a:tblGrid>
              <a:tr h="935736">
                <a:tc>
                  <a:txBody>
                    <a:bodyPr/>
                    <a:lstStyle/>
                    <a:p>
                      <a:pPr marL="259715">
                        <a:lnSpc>
                          <a:spcPct val="100000"/>
                        </a:lnSpc>
                        <a:spcBef>
                          <a:spcPts val="1360"/>
                        </a:spcBef>
                      </a:pPr>
                      <a:r>
                        <a:rPr sz="3200" dirty="0">
                          <a:latin typeface="Perpetua"/>
                          <a:cs typeface="Perpetua"/>
                        </a:rPr>
                        <a:t>2</a:t>
                      </a:r>
                      <a:endParaRPr sz="3200">
                        <a:latin typeface="Perpetua"/>
                        <a:cs typeface="Perpetua"/>
                      </a:endParaRPr>
                    </a:p>
                  </a:txBody>
                  <a:tcPr marL="0" marR="0" marT="17272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860" algn="ctr">
                        <a:lnSpc>
                          <a:spcPct val="100000"/>
                        </a:lnSpc>
                        <a:spcBef>
                          <a:spcPts val="1360"/>
                        </a:spcBef>
                      </a:pPr>
                      <a:r>
                        <a:rPr sz="3200" dirty="0">
                          <a:latin typeface="Perpetua"/>
                          <a:cs typeface="Perpetua"/>
                        </a:rPr>
                        <a:t>8</a:t>
                      </a:r>
                      <a:endParaRPr sz="3200">
                        <a:latin typeface="Perpetua"/>
                        <a:cs typeface="Perpetua"/>
                      </a:endParaRPr>
                    </a:p>
                  </a:txBody>
                  <a:tcPr marL="0" marR="0" marT="17272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2105">
                        <a:lnSpc>
                          <a:spcPct val="100000"/>
                        </a:lnSpc>
                        <a:spcBef>
                          <a:spcPts val="1360"/>
                        </a:spcBef>
                      </a:pPr>
                      <a:r>
                        <a:rPr sz="3200" spc="-5" dirty="0">
                          <a:latin typeface="Perpetua"/>
                          <a:cs typeface="Perpetua"/>
                        </a:rPr>
                        <a:t>15</a:t>
                      </a:r>
                      <a:endParaRPr sz="3200">
                        <a:latin typeface="Perpetua"/>
                        <a:cs typeface="Perpetua"/>
                      </a:endParaRPr>
                    </a:p>
                  </a:txBody>
                  <a:tcPr marL="0" marR="0" marT="17272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4950">
                        <a:lnSpc>
                          <a:spcPct val="100000"/>
                        </a:lnSpc>
                        <a:spcBef>
                          <a:spcPts val="1360"/>
                        </a:spcBef>
                      </a:pPr>
                      <a:r>
                        <a:rPr sz="3200" spc="-5" dirty="0">
                          <a:latin typeface="Perpetua"/>
                          <a:cs typeface="Perpetua"/>
                        </a:rPr>
                        <a:t>23</a:t>
                      </a:r>
                      <a:endParaRPr sz="3200">
                        <a:latin typeface="Perpetua"/>
                        <a:cs typeface="Perpetua"/>
                      </a:endParaRPr>
                    </a:p>
                  </a:txBody>
                  <a:tcPr marL="0" marR="0" marT="17272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9715">
                        <a:lnSpc>
                          <a:spcPct val="100000"/>
                        </a:lnSpc>
                        <a:spcBef>
                          <a:spcPts val="1645"/>
                        </a:spcBef>
                      </a:pPr>
                      <a:r>
                        <a:rPr sz="3200" dirty="0">
                          <a:latin typeface="Perpetua"/>
                          <a:cs typeface="Perpetua"/>
                        </a:rPr>
                        <a:t>6</a:t>
                      </a:r>
                      <a:endParaRPr sz="3200">
                        <a:latin typeface="Perpetua"/>
                        <a:cs typeface="Perpetua"/>
                      </a:endParaRPr>
                    </a:p>
                  </a:txBody>
                  <a:tcPr marL="0" marR="0" marT="2089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3035">
                        <a:lnSpc>
                          <a:spcPct val="100000"/>
                        </a:lnSpc>
                        <a:spcBef>
                          <a:spcPts val="1645"/>
                        </a:spcBef>
                      </a:pPr>
                      <a:r>
                        <a:rPr sz="3200" spc="-5" dirty="0">
                          <a:latin typeface="Perpetua"/>
                          <a:cs typeface="Perpetua"/>
                        </a:rPr>
                        <a:t>13</a:t>
                      </a:r>
                      <a:endParaRPr sz="3200">
                        <a:latin typeface="Perpetua"/>
                        <a:cs typeface="Perpetua"/>
                      </a:endParaRPr>
                    </a:p>
                  </a:txBody>
                  <a:tcPr marL="0" marR="0" marT="2089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3660775" y="5630062"/>
            <a:ext cx="486727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9079" indent="-247015">
              <a:lnSpc>
                <a:spcPct val="100000"/>
              </a:lnSpc>
              <a:spcBef>
                <a:spcPts val="100"/>
              </a:spcBef>
              <a:buSzPct val="95833"/>
              <a:buFont typeface="Wingdings"/>
              <a:buChar char=""/>
              <a:tabLst>
                <a:tab pos="259715" algn="l"/>
              </a:tabLst>
            </a:pPr>
            <a:r>
              <a:rPr sz="2400" i="1" spc="-10" dirty="0">
                <a:latin typeface="Perpetua"/>
                <a:cs typeface="Perpetua"/>
              </a:rPr>
              <a:t>What </a:t>
            </a:r>
            <a:r>
              <a:rPr sz="2400" i="1" spc="-5" dirty="0">
                <a:latin typeface="Perpetua"/>
                <a:cs typeface="Perpetua"/>
              </a:rPr>
              <a:t>has happened </a:t>
            </a:r>
            <a:r>
              <a:rPr sz="2400" i="1" dirty="0">
                <a:latin typeface="Perpetua"/>
                <a:cs typeface="Perpetua"/>
              </a:rPr>
              <a:t>to </a:t>
            </a:r>
            <a:r>
              <a:rPr sz="2400" i="1" spc="-5" dirty="0">
                <a:latin typeface="Perpetua"/>
                <a:cs typeface="Perpetua"/>
              </a:rPr>
              <a:t>the </a:t>
            </a:r>
            <a:r>
              <a:rPr sz="2400" i="1" spc="-10" dirty="0">
                <a:latin typeface="Perpetua"/>
                <a:cs typeface="Perpetua"/>
              </a:rPr>
              <a:t>given ordered</a:t>
            </a:r>
            <a:r>
              <a:rPr sz="2400" i="1" spc="20" dirty="0">
                <a:latin typeface="Perpetua"/>
                <a:cs typeface="Perpetua"/>
              </a:rPr>
              <a:t> </a:t>
            </a:r>
            <a:r>
              <a:rPr sz="2400" i="1" spc="-15" dirty="0">
                <a:latin typeface="Perpetua"/>
                <a:cs typeface="Perpetua"/>
              </a:rPr>
              <a:t>array?</a:t>
            </a:r>
            <a:endParaRPr sz="2400">
              <a:latin typeface="Perpetua"/>
              <a:cs typeface="Perpetua"/>
            </a:endParaRPr>
          </a:p>
          <a:p>
            <a:pPr marL="259079" indent="-247015">
              <a:lnSpc>
                <a:spcPct val="100000"/>
              </a:lnSpc>
              <a:spcBef>
                <a:spcPts val="5"/>
              </a:spcBef>
              <a:buSzPct val="95833"/>
              <a:buFont typeface="Wingdings"/>
              <a:buChar char=""/>
              <a:tabLst>
                <a:tab pos="259715" algn="l"/>
              </a:tabLst>
            </a:pPr>
            <a:r>
              <a:rPr sz="2400" i="1" spc="-10" dirty="0">
                <a:latin typeface="Perpetua"/>
                <a:cs typeface="Perpetua"/>
              </a:rPr>
              <a:t>What,</a:t>
            </a:r>
            <a:r>
              <a:rPr sz="2400" i="1" spc="-245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do</a:t>
            </a:r>
            <a:r>
              <a:rPr sz="2400" i="1" spc="-10" dirty="0">
                <a:latin typeface="Perpetua"/>
                <a:cs typeface="Perpetua"/>
              </a:rPr>
              <a:t> </a:t>
            </a:r>
            <a:r>
              <a:rPr sz="2400" i="1" spc="-15" dirty="0">
                <a:latin typeface="Perpetua"/>
                <a:cs typeface="Perpetua"/>
              </a:rPr>
              <a:t>you</a:t>
            </a:r>
            <a:r>
              <a:rPr sz="2400" i="1" spc="-10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think,</a:t>
            </a:r>
            <a:r>
              <a:rPr sz="2400" i="1" spc="-254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is</a:t>
            </a:r>
            <a:r>
              <a:rPr sz="2400" i="1" spc="-10" dirty="0">
                <a:latin typeface="Perpetua"/>
                <a:cs typeface="Perpetua"/>
              </a:rPr>
              <a:t> required </a:t>
            </a:r>
            <a:r>
              <a:rPr sz="2400" i="1" dirty="0">
                <a:latin typeface="Perpetua"/>
                <a:cs typeface="Perpetua"/>
              </a:rPr>
              <a:t>to</a:t>
            </a:r>
            <a:r>
              <a:rPr sz="2400" i="1" spc="-5" dirty="0">
                <a:latin typeface="Perpetua"/>
                <a:cs typeface="Perpetua"/>
              </a:rPr>
              <a:t> </a:t>
            </a:r>
            <a:r>
              <a:rPr sz="2400" i="1" spc="-10" dirty="0">
                <a:latin typeface="Perpetua"/>
                <a:cs typeface="Perpetua"/>
              </a:rPr>
              <a:t>achieve</a:t>
            </a:r>
            <a:r>
              <a:rPr sz="2400" i="1" spc="-20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this?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826833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5" dirty="0"/>
              <a:t>Algorithm </a:t>
            </a:r>
            <a:r>
              <a:rPr spc="-5" dirty="0"/>
              <a:t>to find duplicates in </a:t>
            </a:r>
            <a:r>
              <a:rPr spc="-10" dirty="0"/>
              <a:t>ordered</a:t>
            </a:r>
            <a:r>
              <a:rPr spc="-15" dirty="0"/>
              <a:t> array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0842" y="2042617"/>
            <a:ext cx="8338820" cy="30937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marR="6985" indent="-273050">
              <a:lnSpc>
                <a:spcPct val="100000"/>
              </a:lnSpc>
              <a:spcBef>
                <a:spcPts val="105"/>
              </a:spcBef>
              <a:buSzPct val="84615"/>
              <a:buFont typeface="Wingdings 2"/>
              <a:buChar char=""/>
              <a:tabLst>
                <a:tab pos="285750" algn="l"/>
                <a:tab pos="1263650" algn="l"/>
                <a:tab pos="1788160" algn="l"/>
                <a:tab pos="2420620" algn="l"/>
                <a:tab pos="3618865" algn="l"/>
                <a:tab pos="4050029" algn="l"/>
                <a:tab pos="4926330" algn="l"/>
                <a:tab pos="6147435" algn="l"/>
                <a:tab pos="6817995" algn="l"/>
                <a:tab pos="7758430" algn="l"/>
              </a:tabLst>
            </a:pPr>
            <a:r>
              <a:rPr sz="2600" dirty="0">
                <a:latin typeface="Perpetua"/>
                <a:cs typeface="Perpetua"/>
              </a:rPr>
              <a:t>Ex</a:t>
            </a:r>
            <a:r>
              <a:rPr sz="2600" spc="-10" dirty="0">
                <a:latin typeface="Perpetua"/>
                <a:cs typeface="Perpetua"/>
              </a:rPr>
              <a:t>c</a:t>
            </a:r>
            <a:r>
              <a:rPr sz="2600" dirty="0">
                <a:latin typeface="Perpetua"/>
                <a:cs typeface="Perpetua"/>
              </a:rPr>
              <a:t>e</a:t>
            </a:r>
            <a:r>
              <a:rPr sz="2600" spc="-10" dirty="0">
                <a:latin typeface="Perpetua"/>
                <a:cs typeface="Perpetua"/>
              </a:rPr>
              <a:t>p</a:t>
            </a:r>
            <a:r>
              <a:rPr sz="2600" dirty="0">
                <a:latin typeface="Perpetua"/>
                <a:cs typeface="Perpetua"/>
              </a:rPr>
              <a:t>t	the	fi</a:t>
            </a:r>
            <a:r>
              <a:rPr sz="2600" spc="45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st	ele</a:t>
            </a:r>
            <a:r>
              <a:rPr sz="2600" spc="-10" dirty="0">
                <a:latin typeface="Perpetua"/>
                <a:cs typeface="Perpetua"/>
              </a:rPr>
              <a:t>m</a:t>
            </a:r>
            <a:r>
              <a:rPr sz="2600" dirty="0">
                <a:latin typeface="Perpetua"/>
                <a:cs typeface="Perpetua"/>
              </a:rPr>
              <a:t>e</a:t>
            </a:r>
            <a:r>
              <a:rPr sz="2600" spc="-25" dirty="0">
                <a:latin typeface="Perpetua"/>
                <a:cs typeface="Perpetua"/>
              </a:rPr>
              <a:t>n</a:t>
            </a:r>
            <a:r>
              <a:rPr sz="2600" dirty="0">
                <a:latin typeface="Perpetua"/>
                <a:cs typeface="Perpetua"/>
              </a:rPr>
              <a:t>t,	a</a:t>
            </a:r>
            <a:r>
              <a:rPr sz="2600" spc="-5" dirty="0">
                <a:latin typeface="Perpetua"/>
                <a:cs typeface="Perpetua"/>
              </a:rPr>
              <a:t>l</a:t>
            </a:r>
            <a:r>
              <a:rPr sz="2600" dirty="0">
                <a:latin typeface="Perpetua"/>
                <a:cs typeface="Perpetua"/>
              </a:rPr>
              <a:t>l	</a:t>
            </a:r>
            <a:r>
              <a:rPr sz="2600" i="1" dirty="0">
                <a:latin typeface="Perpetua"/>
                <a:cs typeface="Perpetua"/>
              </a:rPr>
              <a:t>unique	</a:t>
            </a:r>
            <a:r>
              <a:rPr sz="2600" dirty="0">
                <a:latin typeface="Perpetua"/>
                <a:cs typeface="Perpetua"/>
              </a:rPr>
              <a:t>ele</a:t>
            </a:r>
            <a:r>
              <a:rPr sz="2600" spc="-10" dirty="0">
                <a:latin typeface="Perpetua"/>
                <a:cs typeface="Perpetua"/>
              </a:rPr>
              <a:t>m</a:t>
            </a:r>
            <a:r>
              <a:rPr sz="2600" dirty="0">
                <a:latin typeface="Perpetua"/>
                <a:cs typeface="Perpetua"/>
              </a:rPr>
              <a:t>e</a:t>
            </a:r>
            <a:r>
              <a:rPr sz="2600" spc="-10" dirty="0">
                <a:latin typeface="Perpetua"/>
                <a:cs typeface="Perpetua"/>
              </a:rPr>
              <a:t>n</a:t>
            </a:r>
            <a:r>
              <a:rPr sz="2600" dirty="0">
                <a:latin typeface="Perpetua"/>
                <a:cs typeface="Perpetua"/>
              </a:rPr>
              <a:t>ts	</a:t>
            </a:r>
            <a:r>
              <a:rPr sz="2600" spc="-15" dirty="0">
                <a:latin typeface="Perpetua"/>
                <a:cs typeface="Perpetua"/>
              </a:rPr>
              <a:t>h</a:t>
            </a:r>
            <a:r>
              <a:rPr sz="2600" spc="-80" dirty="0">
                <a:latin typeface="Perpetua"/>
                <a:cs typeface="Perpetua"/>
              </a:rPr>
              <a:t>a</a:t>
            </a:r>
            <a:r>
              <a:rPr sz="2600" spc="-55" dirty="0">
                <a:latin typeface="Perpetua"/>
                <a:cs typeface="Perpetua"/>
              </a:rPr>
              <a:t>v</a:t>
            </a:r>
            <a:r>
              <a:rPr sz="2600" dirty="0">
                <a:latin typeface="Perpetua"/>
                <a:cs typeface="Perpetua"/>
              </a:rPr>
              <a:t>e	shif</a:t>
            </a:r>
            <a:r>
              <a:rPr sz="2600" spc="-10" dirty="0">
                <a:latin typeface="Perpetua"/>
                <a:cs typeface="Perpetua"/>
              </a:rPr>
              <a:t>t</a:t>
            </a:r>
            <a:r>
              <a:rPr sz="2600" dirty="0">
                <a:latin typeface="Perpetua"/>
                <a:cs typeface="Perpetua"/>
              </a:rPr>
              <a:t>ed	th</a:t>
            </a:r>
            <a:r>
              <a:rPr sz="2600" spc="-10" dirty="0">
                <a:latin typeface="Perpetua"/>
                <a:cs typeface="Perpetua"/>
              </a:rPr>
              <a:t>e</a:t>
            </a:r>
            <a:r>
              <a:rPr sz="2600" dirty="0">
                <a:latin typeface="Perpetua"/>
                <a:cs typeface="Perpetua"/>
              </a:rPr>
              <a:t>ir  </a:t>
            </a:r>
            <a:r>
              <a:rPr sz="2600" spc="-5" dirty="0">
                <a:latin typeface="Perpetua"/>
                <a:cs typeface="Perpetua"/>
              </a:rPr>
              <a:t>positions to as </a:t>
            </a:r>
            <a:r>
              <a:rPr sz="2600" spc="-10" dirty="0">
                <a:latin typeface="Perpetua"/>
                <a:cs typeface="Perpetua"/>
              </a:rPr>
              <a:t>far </a:t>
            </a:r>
            <a:r>
              <a:rPr sz="2600" spc="-5" dirty="0">
                <a:latin typeface="Perpetua"/>
                <a:cs typeface="Perpetua"/>
              </a:rPr>
              <a:t>to left as </a:t>
            </a:r>
            <a:r>
              <a:rPr sz="2600" spc="-10" dirty="0">
                <a:latin typeface="Perpetua"/>
                <a:cs typeface="Perpetua"/>
              </a:rPr>
              <a:t>possible </a:t>
            </a:r>
            <a:r>
              <a:rPr sz="2600" dirty="0">
                <a:latin typeface="Perpetua"/>
                <a:cs typeface="Perpetua"/>
              </a:rPr>
              <a:t>in the</a:t>
            </a:r>
            <a:r>
              <a:rPr sz="2600" spc="30" dirty="0">
                <a:latin typeface="Perpetua"/>
                <a:cs typeface="Perpetua"/>
              </a:rPr>
              <a:t> </a:t>
            </a:r>
            <a:r>
              <a:rPr sz="2600" spc="-55" dirty="0">
                <a:latin typeface="Perpetua"/>
                <a:cs typeface="Perpetua"/>
              </a:rPr>
              <a:t>array.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Wingdings 2"/>
              <a:buChar char=""/>
            </a:pPr>
            <a:endParaRPr sz="3750">
              <a:latin typeface="Times New Roman"/>
              <a:cs typeface="Times New Roman"/>
            </a:endParaRPr>
          </a:p>
          <a:p>
            <a:pPr marL="285115" marR="5080" indent="-273050">
              <a:lnSpc>
                <a:spcPct val="100000"/>
              </a:lnSpc>
              <a:buSzPct val="84615"/>
              <a:buFont typeface="Wingdings 2"/>
              <a:buChar char=""/>
              <a:tabLst>
                <a:tab pos="285750" algn="l"/>
              </a:tabLst>
            </a:pP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pair </a:t>
            </a:r>
            <a:r>
              <a:rPr sz="2600" dirty="0">
                <a:latin typeface="Perpetua"/>
                <a:cs typeface="Perpetua"/>
              </a:rPr>
              <a:t>wise comparison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dirty="0">
                <a:latin typeface="Perpetua"/>
                <a:cs typeface="Perpetua"/>
              </a:rPr>
              <a:t>identify unique </a:t>
            </a:r>
            <a:r>
              <a:rPr sz="2600" spc="-5" dirty="0">
                <a:latin typeface="Perpetua"/>
                <a:cs typeface="Perpetua"/>
              </a:rPr>
              <a:t>elements must </a:t>
            </a:r>
            <a:r>
              <a:rPr sz="2600" dirty="0">
                <a:latin typeface="Perpetua"/>
                <a:cs typeface="Perpetua"/>
              </a:rPr>
              <a:t>be </a:t>
            </a:r>
            <a:r>
              <a:rPr sz="2600" spc="-5" dirty="0">
                <a:latin typeface="Perpetua"/>
                <a:cs typeface="Perpetua"/>
              </a:rPr>
              <a:t>there  and </a:t>
            </a:r>
            <a:r>
              <a:rPr sz="2600" dirty="0">
                <a:latin typeface="Perpetua"/>
                <a:cs typeface="Perpetua"/>
              </a:rPr>
              <a:t>it </a:t>
            </a:r>
            <a:r>
              <a:rPr sz="2600" spc="-5" dirty="0">
                <a:latin typeface="Perpetua"/>
                <a:cs typeface="Perpetua"/>
              </a:rPr>
              <a:t>leads to </a:t>
            </a:r>
            <a:r>
              <a:rPr sz="2600" spc="-35" dirty="0">
                <a:latin typeface="Perpetua"/>
                <a:cs typeface="Perpetua"/>
              </a:rPr>
              <a:t>two</a:t>
            </a:r>
            <a:r>
              <a:rPr sz="2600" spc="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situations.</a:t>
            </a:r>
            <a:endParaRPr sz="2600">
              <a:latin typeface="Perpetua"/>
              <a:cs typeface="Perpetua"/>
            </a:endParaRPr>
          </a:p>
          <a:p>
            <a:pPr marL="876935" lvl="1" indent="-325120">
              <a:lnSpc>
                <a:spcPct val="100000"/>
              </a:lnSpc>
              <a:buSzPct val="75000"/>
              <a:buFont typeface="Arial"/>
              <a:buChar char="•"/>
              <a:tabLst>
                <a:tab pos="876935" algn="l"/>
                <a:tab pos="877569" algn="l"/>
              </a:tabLst>
            </a:pPr>
            <a:r>
              <a:rPr sz="2600" dirty="0">
                <a:latin typeface="Perpetua"/>
                <a:cs typeface="Perpetua"/>
              </a:rPr>
              <a:t>A pair </a:t>
            </a:r>
            <a:r>
              <a:rPr sz="2600" spc="-5" dirty="0">
                <a:latin typeface="Perpetua"/>
                <a:cs typeface="Perpetua"/>
              </a:rPr>
              <a:t>of duplicates </a:t>
            </a:r>
            <a:r>
              <a:rPr sz="2600" dirty="0">
                <a:latin typeface="Perpetua"/>
                <a:cs typeface="Perpetua"/>
              </a:rPr>
              <a:t>has been</a:t>
            </a:r>
            <a:r>
              <a:rPr sz="2600" spc="-2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encountered.</a:t>
            </a:r>
            <a:endParaRPr sz="2600">
              <a:latin typeface="Perpetua"/>
              <a:cs typeface="Perpetua"/>
            </a:endParaRPr>
          </a:p>
          <a:p>
            <a:pPr marL="876935" lvl="1" indent="-325120">
              <a:lnSpc>
                <a:spcPct val="100000"/>
              </a:lnSpc>
              <a:spcBef>
                <a:spcPts val="1105"/>
              </a:spcBef>
              <a:buSzPct val="75000"/>
              <a:buFont typeface="Arial"/>
              <a:buChar char="•"/>
              <a:tabLst>
                <a:tab pos="876935" algn="l"/>
                <a:tab pos="877569" algn="l"/>
              </a:tabLst>
            </a:pPr>
            <a:r>
              <a:rPr sz="2600" spc="-120" dirty="0">
                <a:latin typeface="Perpetua"/>
                <a:cs typeface="Perpetua"/>
              </a:rPr>
              <a:t>Two </a:t>
            </a:r>
            <a:r>
              <a:rPr sz="2600" dirty="0">
                <a:latin typeface="Perpetua"/>
                <a:cs typeface="Perpetua"/>
              </a:rPr>
              <a:t>elements </a:t>
            </a:r>
            <a:r>
              <a:rPr sz="2600" spc="-10" dirty="0">
                <a:latin typeface="Perpetua"/>
                <a:cs typeface="Perpetua"/>
              </a:rPr>
              <a:t>are</a:t>
            </a:r>
            <a:r>
              <a:rPr sz="2600" spc="9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different.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28600" y="228600"/>
            <a:ext cx="2295525" cy="1524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3918" y="2473619"/>
            <a:ext cx="4575175" cy="466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270"/>
              </a:lnSpc>
              <a:tabLst>
                <a:tab pos="890269" algn="l"/>
                <a:tab pos="1645920" algn="l"/>
                <a:tab pos="2546350" algn="l"/>
                <a:tab pos="3481704" algn="l"/>
                <a:tab pos="4202430" algn="l"/>
              </a:tabLst>
            </a:pPr>
            <a:r>
              <a:rPr sz="3200" spc="-5" dirty="0">
                <a:latin typeface="Perpetua"/>
                <a:cs typeface="Perpetua"/>
              </a:rPr>
              <a:t>1</a:t>
            </a:r>
            <a:r>
              <a:rPr sz="3200" dirty="0">
                <a:latin typeface="Perpetua"/>
                <a:cs typeface="Perpetua"/>
              </a:rPr>
              <a:t>5	</a:t>
            </a:r>
            <a:r>
              <a:rPr sz="3200" spc="-5" dirty="0">
                <a:latin typeface="Perpetua"/>
                <a:cs typeface="Perpetua"/>
              </a:rPr>
              <a:t>2</a:t>
            </a:r>
            <a:r>
              <a:rPr sz="3200" dirty="0">
                <a:latin typeface="Perpetua"/>
                <a:cs typeface="Perpetua"/>
              </a:rPr>
              <a:t>3	</a:t>
            </a:r>
            <a:r>
              <a:rPr sz="3200" spc="-5" dirty="0">
                <a:latin typeface="Perpetua"/>
                <a:cs typeface="Perpetua"/>
              </a:rPr>
              <a:t>2</a:t>
            </a:r>
            <a:r>
              <a:rPr sz="3200" dirty="0">
                <a:latin typeface="Perpetua"/>
                <a:cs typeface="Perpetua"/>
              </a:rPr>
              <a:t>3	</a:t>
            </a:r>
            <a:r>
              <a:rPr sz="3200" spc="-5" dirty="0">
                <a:latin typeface="Perpetua"/>
                <a:cs typeface="Perpetua"/>
              </a:rPr>
              <a:t>2</a:t>
            </a:r>
            <a:r>
              <a:rPr sz="3200" dirty="0">
                <a:latin typeface="Perpetua"/>
                <a:cs typeface="Perpetua"/>
              </a:rPr>
              <a:t>3	6	</a:t>
            </a:r>
            <a:r>
              <a:rPr sz="3200" spc="-5" dirty="0">
                <a:latin typeface="Perpetua"/>
                <a:cs typeface="Perpetua"/>
              </a:rPr>
              <a:t>13</a:t>
            </a:r>
            <a:endParaRPr sz="3200">
              <a:latin typeface="Perpetua"/>
              <a:cs typeface="Perpetu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899403" y="2188464"/>
          <a:ext cx="3100703" cy="9342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55650"/>
                <a:gridCol w="828675"/>
                <a:gridCol w="753744"/>
                <a:gridCol w="762634"/>
              </a:tblGrid>
              <a:tr h="934212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sz="3200" spc="-5" dirty="0">
                          <a:latin typeface="Perpetua"/>
                          <a:cs typeface="Perpetua"/>
                        </a:rPr>
                        <a:t>15</a:t>
                      </a:r>
                      <a:endParaRPr sz="3200">
                        <a:latin typeface="Perpetua"/>
                        <a:cs typeface="Perpetua"/>
                      </a:endParaRPr>
                    </a:p>
                  </a:txBody>
                  <a:tcPr marL="0" marR="0" marT="17145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0350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sz="3200" spc="-5" dirty="0">
                          <a:latin typeface="Perpetua"/>
                          <a:cs typeface="Perpetua"/>
                        </a:rPr>
                        <a:t>23</a:t>
                      </a:r>
                      <a:endParaRPr sz="3200">
                        <a:latin typeface="Perpetua"/>
                        <a:cs typeface="Perpetua"/>
                      </a:endParaRPr>
                    </a:p>
                  </a:txBody>
                  <a:tcPr marL="0" marR="0" marT="17145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9370" algn="ctr">
                        <a:lnSpc>
                          <a:spcPct val="100000"/>
                        </a:lnSpc>
                        <a:spcBef>
                          <a:spcPts val="1475"/>
                        </a:spcBef>
                      </a:pPr>
                      <a:r>
                        <a:rPr sz="3200" dirty="0">
                          <a:latin typeface="Perpetua"/>
                          <a:cs typeface="Perpetua"/>
                        </a:rPr>
                        <a:t>6</a:t>
                      </a:r>
                      <a:endParaRPr sz="3200">
                        <a:latin typeface="Perpetua"/>
                        <a:cs typeface="Perpetua"/>
                      </a:endParaRPr>
                    </a:p>
                  </a:txBody>
                  <a:tcPr marL="0" marR="0" marT="1873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3670">
                        <a:lnSpc>
                          <a:spcPct val="100000"/>
                        </a:lnSpc>
                        <a:spcBef>
                          <a:spcPts val="1525"/>
                        </a:spcBef>
                      </a:pPr>
                      <a:r>
                        <a:rPr sz="3200" spc="-5" dirty="0">
                          <a:latin typeface="Perpetua"/>
                          <a:cs typeface="Perpetua"/>
                        </a:rPr>
                        <a:t>13</a:t>
                      </a:r>
                      <a:endParaRPr sz="3200">
                        <a:latin typeface="Perpetua"/>
                        <a:cs typeface="Perpetua"/>
                      </a:endParaRPr>
                    </a:p>
                  </a:txBody>
                  <a:tcPr marL="0" marR="0" marT="19367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288036" y="2229611"/>
            <a:ext cx="4930140" cy="934719"/>
          </a:xfrm>
          <a:custGeom>
            <a:avLst/>
            <a:gdLst/>
            <a:ahLst/>
            <a:cxnLst/>
            <a:rect l="l" t="t" r="r" b="b"/>
            <a:pathLst>
              <a:path w="4930140" h="934719">
                <a:moveTo>
                  <a:pt x="0" y="934212"/>
                </a:moveTo>
                <a:lnTo>
                  <a:pt x="4930140" y="934212"/>
                </a:lnTo>
                <a:lnTo>
                  <a:pt x="4930140" y="0"/>
                </a:lnTo>
                <a:lnTo>
                  <a:pt x="0" y="0"/>
                </a:lnTo>
                <a:lnTo>
                  <a:pt x="0" y="9342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768977" y="1927097"/>
            <a:ext cx="130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00FF"/>
                </a:solidFill>
                <a:latin typeface="Perpetua"/>
                <a:cs typeface="Perpetua"/>
              </a:rPr>
              <a:t>6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40302" y="1927097"/>
            <a:ext cx="130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00FF"/>
                </a:solidFill>
                <a:latin typeface="Perpetua"/>
                <a:cs typeface="Perpetua"/>
              </a:rPr>
              <a:t>5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78139" y="1927097"/>
            <a:ext cx="130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00FF"/>
                </a:solidFill>
                <a:latin typeface="Perpetua"/>
                <a:cs typeface="Perpetua"/>
              </a:rPr>
              <a:t>4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01334" y="1928316"/>
            <a:ext cx="1308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00FF"/>
                </a:solidFill>
                <a:latin typeface="Perpetua"/>
                <a:cs typeface="Perpetua"/>
              </a:rPr>
              <a:t>1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930008" y="1928316"/>
            <a:ext cx="1308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00FF"/>
                </a:solidFill>
                <a:latin typeface="Perpetua"/>
                <a:cs typeface="Perpetua"/>
              </a:rPr>
              <a:t>2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722489" y="1928316"/>
            <a:ext cx="1308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00FF"/>
                </a:solidFill>
                <a:latin typeface="Perpetua"/>
                <a:cs typeface="Perpetua"/>
              </a:rPr>
              <a:t>3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364479" y="2589276"/>
            <a:ext cx="431800" cy="216535"/>
          </a:xfrm>
          <a:custGeom>
            <a:avLst/>
            <a:gdLst/>
            <a:ahLst/>
            <a:cxnLst/>
            <a:rect l="l" t="t" r="r" b="b"/>
            <a:pathLst>
              <a:path w="431800" h="216535">
                <a:moveTo>
                  <a:pt x="323088" y="0"/>
                </a:moveTo>
                <a:lnTo>
                  <a:pt x="323088" y="54101"/>
                </a:lnTo>
                <a:lnTo>
                  <a:pt x="0" y="54101"/>
                </a:lnTo>
                <a:lnTo>
                  <a:pt x="0" y="162306"/>
                </a:lnTo>
                <a:lnTo>
                  <a:pt x="323088" y="162306"/>
                </a:lnTo>
                <a:lnTo>
                  <a:pt x="323088" y="216408"/>
                </a:lnTo>
                <a:lnTo>
                  <a:pt x="431292" y="108203"/>
                </a:lnTo>
                <a:lnTo>
                  <a:pt x="323088" y="0"/>
                </a:lnTo>
                <a:close/>
              </a:path>
            </a:pathLst>
          </a:custGeom>
          <a:solidFill>
            <a:srgbClr val="719FC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364479" y="2589276"/>
            <a:ext cx="431800" cy="216535"/>
          </a:xfrm>
          <a:custGeom>
            <a:avLst/>
            <a:gdLst/>
            <a:ahLst/>
            <a:cxnLst/>
            <a:rect l="l" t="t" r="r" b="b"/>
            <a:pathLst>
              <a:path w="431800" h="216535">
                <a:moveTo>
                  <a:pt x="0" y="54101"/>
                </a:moveTo>
                <a:lnTo>
                  <a:pt x="323088" y="54101"/>
                </a:lnTo>
                <a:lnTo>
                  <a:pt x="323088" y="0"/>
                </a:lnTo>
                <a:lnTo>
                  <a:pt x="431292" y="108203"/>
                </a:lnTo>
                <a:lnTo>
                  <a:pt x="323088" y="216408"/>
                </a:lnTo>
                <a:lnTo>
                  <a:pt x="323088" y="162306"/>
                </a:lnTo>
                <a:lnTo>
                  <a:pt x="0" y="162306"/>
                </a:lnTo>
                <a:lnTo>
                  <a:pt x="0" y="54101"/>
                </a:lnTo>
                <a:close/>
              </a:path>
            </a:pathLst>
          </a:custGeom>
          <a:ln w="9144">
            <a:solidFill>
              <a:srgbClr val="3464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05815" y="1367739"/>
            <a:ext cx="3244215" cy="859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750" indent="-273685">
              <a:lnSpc>
                <a:spcPct val="100000"/>
              </a:lnSpc>
              <a:spcBef>
                <a:spcPts val="105"/>
              </a:spcBef>
              <a:buSzPct val="84615"/>
              <a:buFont typeface="Wingdings 2"/>
              <a:buChar char=""/>
              <a:tabLst>
                <a:tab pos="286385" algn="l"/>
              </a:tabLst>
            </a:pPr>
            <a:r>
              <a:rPr sz="2600" i="1" spc="-5" dirty="0">
                <a:latin typeface="Perpetua"/>
                <a:cs typeface="Perpetua"/>
              </a:rPr>
              <a:t>Consider the </a:t>
            </a:r>
            <a:r>
              <a:rPr sz="2600" i="1" spc="-10" dirty="0">
                <a:latin typeface="Perpetua"/>
                <a:cs typeface="Perpetua"/>
              </a:rPr>
              <a:t>following</a:t>
            </a:r>
            <a:r>
              <a:rPr sz="2600" i="1" spc="-55" dirty="0">
                <a:latin typeface="Perpetua"/>
                <a:cs typeface="Perpetua"/>
              </a:rPr>
              <a:t> </a:t>
            </a:r>
            <a:r>
              <a:rPr sz="2600" i="1" dirty="0">
                <a:latin typeface="Perpetua"/>
                <a:cs typeface="Perpetua"/>
              </a:rPr>
              <a:t>case.</a:t>
            </a:r>
            <a:endParaRPr sz="2600">
              <a:latin typeface="Perpetua"/>
              <a:cs typeface="Perpetua"/>
            </a:endParaRPr>
          </a:p>
          <a:p>
            <a:pPr marL="261620">
              <a:lnSpc>
                <a:spcPct val="100000"/>
              </a:lnSpc>
              <a:spcBef>
                <a:spcPts val="1280"/>
              </a:spcBef>
              <a:tabLst>
                <a:tab pos="1090930" algn="l"/>
                <a:tab pos="1882775" algn="l"/>
                <a:tab pos="2746375" algn="l"/>
              </a:tabLst>
            </a:pPr>
            <a:r>
              <a:rPr sz="1800" dirty="0">
                <a:solidFill>
                  <a:srgbClr val="0000FF"/>
                </a:solidFill>
                <a:latin typeface="Perpetua"/>
                <a:cs typeface="Perpetua"/>
              </a:rPr>
              <a:t>1	2	3	4</a:t>
            </a:r>
            <a:endParaRPr sz="1800">
              <a:latin typeface="Perpetua"/>
              <a:cs typeface="Perpetua"/>
            </a:endParaRPr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283463" y="2225039"/>
          <a:ext cx="4928234" cy="9342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55650"/>
                <a:gridCol w="827405"/>
                <a:gridCol w="828675"/>
                <a:gridCol w="934084"/>
                <a:gridCol w="828675"/>
                <a:gridCol w="753745"/>
              </a:tblGrid>
              <a:tr h="934212"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sz="3200" spc="-5" dirty="0">
                          <a:latin typeface="Perpetua"/>
                          <a:cs typeface="Perpetua"/>
                        </a:rPr>
                        <a:t>15</a:t>
                      </a:r>
                      <a:endParaRPr sz="3200">
                        <a:latin typeface="Perpetua"/>
                        <a:cs typeface="Perpetua"/>
                      </a:endParaRPr>
                    </a:p>
                  </a:txBody>
                  <a:tcPr marL="0" marR="0" marT="17145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0350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sz="3200" spc="-5" dirty="0">
                          <a:latin typeface="Perpetua"/>
                          <a:cs typeface="Perpetua"/>
                        </a:rPr>
                        <a:t>23</a:t>
                      </a:r>
                      <a:endParaRPr sz="3200">
                        <a:latin typeface="Perpetua"/>
                        <a:cs typeface="Perpetua"/>
                      </a:endParaRPr>
                    </a:p>
                  </a:txBody>
                  <a:tcPr marL="0" marR="0" marT="17145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8595">
                        <a:lnSpc>
                          <a:spcPts val="3504"/>
                        </a:lnSpc>
                        <a:spcBef>
                          <a:spcPts val="1350"/>
                        </a:spcBef>
                      </a:pPr>
                      <a:r>
                        <a:rPr sz="3200" spc="-5" dirty="0">
                          <a:latin typeface="Perpetua"/>
                          <a:cs typeface="Perpetua"/>
                        </a:rPr>
                        <a:t>23</a:t>
                      </a:r>
                      <a:endParaRPr sz="3200">
                        <a:latin typeface="Perpetua"/>
                        <a:cs typeface="Perpetua"/>
                      </a:endParaRPr>
                    </a:p>
                    <a:p>
                      <a:pPr marR="68580" algn="r">
                        <a:lnSpc>
                          <a:spcPts val="2065"/>
                        </a:lnSpc>
                      </a:pPr>
                      <a:r>
                        <a:rPr sz="2000" b="1" dirty="0">
                          <a:solidFill>
                            <a:srgbClr val="0000FF"/>
                          </a:solidFill>
                          <a:latin typeface="Perpetua"/>
                          <a:cs typeface="Perpetua"/>
                        </a:rPr>
                        <a:t>j</a:t>
                      </a:r>
                      <a:endParaRPr sz="2000">
                        <a:latin typeface="Perpetua"/>
                        <a:cs typeface="Perpetua"/>
                      </a:endParaRPr>
                    </a:p>
                  </a:txBody>
                  <a:tcPr marL="0" marR="0" marT="17145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0350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sz="3200" spc="-5" dirty="0">
                          <a:latin typeface="Perpetua"/>
                          <a:cs typeface="Perpetua"/>
                        </a:rPr>
                        <a:t>23</a:t>
                      </a:r>
                      <a:endParaRPr sz="3200">
                        <a:latin typeface="Perpetua"/>
                        <a:cs typeface="Perpetua"/>
                      </a:endParaRPr>
                    </a:p>
                  </a:txBody>
                  <a:tcPr marL="0" marR="0" marT="17145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0985">
                        <a:lnSpc>
                          <a:spcPts val="3665"/>
                        </a:lnSpc>
                        <a:spcBef>
                          <a:spcPts val="1350"/>
                        </a:spcBef>
                      </a:pPr>
                      <a:r>
                        <a:rPr sz="3200" dirty="0">
                          <a:latin typeface="Perpetua"/>
                          <a:cs typeface="Perpetua"/>
                        </a:rPr>
                        <a:t>6</a:t>
                      </a:r>
                      <a:endParaRPr sz="3200">
                        <a:latin typeface="Perpetua"/>
                        <a:cs typeface="Perpetua"/>
                      </a:endParaRPr>
                    </a:p>
                    <a:p>
                      <a:pPr marR="102870" algn="r">
                        <a:lnSpc>
                          <a:spcPts val="2225"/>
                        </a:lnSpc>
                      </a:pPr>
                      <a:r>
                        <a:rPr sz="2000" b="1" dirty="0">
                          <a:solidFill>
                            <a:srgbClr val="0000FF"/>
                          </a:solidFill>
                          <a:latin typeface="Perpetua"/>
                          <a:cs typeface="Perpetua"/>
                        </a:rPr>
                        <a:t>i</a:t>
                      </a:r>
                      <a:endParaRPr sz="2000">
                        <a:latin typeface="Perpetua"/>
                        <a:cs typeface="Perpetua"/>
                      </a:endParaRPr>
                    </a:p>
                  </a:txBody>
                  <a:tcPr marL="0" marR="0" marT="17145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sz="3200" spc="-5" dirty="0">
                          <a:latin typeface="Perpetua"/>
                          <a:cs typeface="Perpetua"/>
                        </a:rPr>
                        <a:t>13</a:t>
                      </a:r>
                      <a:endParaRPr sz="3200">
                        <a:latin typeface="Perpetua"/>
                        <a:cs typeface="Perpetua"/>
                      </a:endParaRPr>
                    </a:p>
                  </a:txBody>
                  <a:tcPr marL="0" marR="0" marT="17145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object 15"/>
          <p:cNvSpPr/>
          <p:nvPr/>
        </p:nvSpPr>
        <p:spPr>
          <a:xfrm>
            <a:off x="228600" y="152400"/>
            <a:ext cx="2295525" cy="1295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05815" y="3166999"/>
            <a:ext cx="8761730" cy="2952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750" marR="5080" indent="-273685" algn="just">
              <a:lnSpc>
                <a:spcPct val="100000"/>
              </a:lnSpc>
              <a:spcBef>
                <a:spcPts val="105"/>
              </a:spcBef>
              <a:buSzPct val="84615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position </a:t>
            </a:r>
            <a:r>
              <a:rPr sz="2600" dirty="0">
                <a:latin typeface="Perpetua"/>
                <a:cs typeface="Perpetua"/>
              </a:rPr>
              <a:t>in the </a:t>
            </a:r>
            <a:r>
              <a:rPr sz="2600" spc="-15" dirty="0">
                <a:latin typeface="Perpetua"/>
                <a:cs typeface="Perpetua"/>
              </a:rPr>
              <a:t>array</a:t>
            </a:r>
            <a:r>
              <a:rPr sz="2600" spc="55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where </a:t>
            </a:r>
            <a:r>
              <a:rPr sz="2600" spc="10" dirty="0">
                <a:latin typeface="Perpetua"/>
                <a:cs typeface="Perpetua"/>
              </a:rPr>
              <a:t>each </a:t>
            </a:r>
            <a:r>
              <a:rPr sz="2600" spc="-5" dirty="0">
                <a:latin typeface="Perpetua"/>
                <a:cs typeface="Perpetua"/>
              </a:rPr>
              <a:t>most </a:t>
            </a:r>
            <a:r>
              <a:rPr sz="2600" spc="-15" dirty="0">
                <a:latin typeface="Perpetua"/>
                <a:cs typeface="Perpetua"/>
              </a:rPr>
              <a:t>recently  </a:t>
            </a:r>
            <a:r>
              <a:rPr sz="2600" spc="-5" dirty="0">
                <a:latin typeface="Perpetua"/>
                <a:cs typeface="Perpetua"/>
              </a:rPr>
              <a:t>encountered  unique element must be </a:t>
            </a:r>
            <a:r>
              <a:rPr sz="2600" spc="-10" dirty="0">
                <a:latin typeface="Perpetua"/>
                <a:cs typeface="Perpetua"/>
              </a:rPr>
              <a:t>located </a:t>
            </a:r>
            <a:r>
              <a:rPr sz="2600" dirty="0">
                <a:latin typeface="Perpetua"/>
                <a:cs typeface="Perpetua"/>
              </a:rPr>
              <a:t>is determined </a:t>
            </a:r>
            <a:r>
              <a:rPr sz="2600" spc="-15" dirty="0">
                <a:latin typeface="Perpetua"/>
                <a:cs typeface="Perpetua"/>
              </a:rPr>
              <a:t>at </a:t>
            </a:r>
            <a:r>
              <a:rPr sz="2600" spc="10" dirty="0">
                <a:latin typeface="Perpetua"/>
                <a:cs typeface="Perpetua"/>
              </a:rPr>
              <a:t>each </a:t>
            </a:r>
            <a:r>
              <a:rPr sz="2600" spc="-5" dirty="0">
                <a:latin typeface="Perpetua"/>
                <a:cs typeface="Perpetua"/>
              </a:rPr>
              <a:t>instance </a:t>
            </a:r>
            <a:r>
              <a:rPr sz="2600" spc="-25" dirty="0">
                <a:latin typeface="Perpetua"/>
                <a:cs typeface="Perpetua"/>
              </a:rPr>
              <a:t>by </a:t>
            </a:r>
            <a:r>
              <a:rPr sz="2600" dirty="0">
                <a:latin typeface="Perpetua"/>
                <a:cs typeface="Perpetua"/>
              </a:rPr>
              <a:t>the  </a:t>
            </a:r>
            <a:r>
              <a:rPr sz="2600" spc="-5" dirty="0">
                <a:latin typeface="Perpetua"/>
                <a:cs typeface="Perpetua"/>
              </a:rPr>
              <a:t>number of </a:t>
            </a:r>
            <a:r>
              <a:rPr sz="2600" dirty="0">
                <a:latin typeface="Perpetua"/>
                <a:cs typeface="Perpetua"/>
              </a:rPr>
              <a:t>unique elements </a:t>
            </a:r>
            <a:r>
              <a:rPr sz="2600" spc="-5" dirty="0">
                <a:latin typeface="Perpetua"/>
                <a:cs typeface="Perpetua"/>
              </a:rPr>
              <a:t>met </a:t>
            </a:r>
            <a:r>
              <a:rPr sz="2600" dirty="0">
                <a:latin typeface="Perpetua"/>
                <a:cs typeface="Perpetua"/>
              </a:rPr>
              <a:t>so</a:t>
            </a:r>
            <a:r>
              <a:rPr sz="2600" spc="-4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far!</a:t>
            </a:r>
            <a:endParaRPr sz="2600">
              <a:latin typeface="Perpetua"/>
              <a:cs typeface="Perpetua"/>
            </a:endParaRPr>
          </a:p>
          <a:p>
            <a:pPr marL="285750" indent="-273685" algn="just">
              <a:lnSpc>
                <a:spcPct val="100000"/>
              </a:lnSpc>
              <a:spcBef>
                <a:spcPts val="600"/>
              </a:spcBef>
              <a:buSzPct val="84615"/>
              <a:buFont typeface="Wingdings 2"/>
              <a:buChar char=""/>
              <a:tabLst>
                <a:tab pos="286385" algn="l"/>
              </a:tabLst>
            </a:pPr>
            <a:r>
              <a:rPr sz="2600" spc="-5" dirty="0">
                <a:latin typeface="Perpetua"/>
                <a:cs typeface="Perpetua"/>
              </a:rPr>
              <a:t>Can be modeled </a:t>
            </a:r>
            <a:r>
              <a:rPr sz="2600" spc="-25" dirty="0">
                <a:latin typeface="Perpetua"/>
                <a:cs typeface="Perpetua"/>
              </a:rPr>
              <a:t>by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assignment a[j] </a:t>
            </a:r>
            <a:r>
              <a:rPr sz="2600" dirty="0">
                <a:latin typeface="Perpetua"/>
                <a:cs typeface="Perpetua"/>
              </a:rPr>
              <a:t>=</a:t>
            </a:r>
            <a:r>
              <a:rPr sz="2600" spc="1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a[i].</a:t>
            </a:r>
            <a:endParaRPr sz="2600">
              <a:latin typeface="Perpetua"/>
              <a:cs typeface="Perpetua"/>
            </a:endParaRPr>
          </a:p>
          <a:p>
            <a:pPr marL="285750" indent="-273685" algn="just">
              <a:lnSpc>
                <a:spcPct val="100000"/>
              </a:lnSpc>
              <a:spcBef>
                <a:spcPts val="600"/>
              </a:spcBef>
              <a:buSzPct val="84615"/>
              <a:buFont typeface="Wingdings 2"/>
              <a:buChar char=""/>
              <a:tabLst>
                <a:tab pos="286385" algn="l"/>
              </a:tabLst>
            </a:pPr>
            <a:r>
              <a:rPr sz="2600" dirty="0">
                <a:latin typeface="Perpetua"/>
                <a:cs typeface="Perpetua"/>
              </a:rPr>
              <a:t>While </a:t>
            </a:r>
            <a:r>
              <a:rPr sz="2600" spc="-5" dirty="0">
                <a:latin typeface="Perpetua"/>
                <a:cs typeface="Perpetua"/>
              </a:rPr>
              <a:t>all adjacent </a:t>
            </a:r>
            <a:r>
              <a:rPr sz="2600" spc="10" dirty="0">
                <a:latin typeface="Perpetua"/>
                <a:cs typeface="Perpetua"/>
              </a:rPr>
              <a:t>pairs </a:t>
            </a:r>
            <a:r>
              <a:rPr sz="2600" spc="-35" dirty="0">
                <a:latin typeface="Perpetua"/>
                <a:cs typeface="Perpetua"/>
              </a:rPr>
              <a:t>have </a:t>
            </a:r>
            <a:r>
              <a:rPr sz="2600" spc="-5" dirty="0">
                <a:latin typeface="Perpetua"/>
                <a:cs typeface="Perpetua"/>
              </a:rPr>
              <a:t>not </a:t>
            </a:r>
            <a:r>
              <a:rPr sz="2600" dirty="0">
                <a:latin typeface="Perpetua"/>
                <a:cs typeface="Perpetua"/>
              </a:rPr>
              <a:t>been </a:t>
            </a:r>
            <a:r>
              <a:rPr sz="2600" spc="-10" dirty="0">
                <a:latin typeface="Perpetua"/>
                <a:cs typeface="Perpetua"/>
              </a:rPr>
              <a:t>compared</a:t>
            </a:r>
            <a:r>
              <a:rPr sz="2600" spc="1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do</a:t>
            </a:r>
            <a:endParaRPr sz="2600">
              <a:latin typeface="Perpetua"/>
              <a:cs typeface="Perpetua"/>
            </a:endParaRPr>
          </a:p>
          <a:p>
            <a:pPr marL="876935" marR="917575" indent="-325120" algn="just">
              <a:lnSpc>
                <a:spcPct val="100000"/>
              </a:lnSpc>
            </a:pPr>
            <a:r>
              <a:rPr sz="2600" dirty="0">
                <a:latin typeface="Perpetua"/>
                <a:cs typeface="Perpetua"/>
              </a:rPr>
              <a:t>if </a:t>
            </a:r>
            <a:r>
              <a:rPr sz="2600" spc="-10" dirty="0">
                <a:latin typeface="Perpetua"/>
                <a:cs typeface="Perpetua"/>
              </a:rPr>
              <a:t>they are </a:t>
            </a:r>
            <a:r>
              <a:rPr sz="2600" spc="-5" dirty="0">
                <a:latin typeface="Perpetua"/>
                <a:cs typeface="Perpetua"/>
              </a:rPr>
              <a:t>not equal, </a:t>
            </a:r>
            <a:r>
              <a:rPr sz="2600" dirty="0">
                <a:latin typeface="Perpetua"/>
                <a:cs typeface="Perpetua"/>
              </a:rPr>
              <a:t>shift the rightmost </a:t>
            </a:r>
            <a:r>
              <a:rPr sz="2600" spc="-5" dirty="0">
                <a:latin typeface="Perpetua"/>
                <a:cs typeface="Perpetua"/>
              </a:rPr>
              <a:t>element to the </a:t>
            </a:r>
            <a:r>
              <a:rPr sz="2600" spc="-15" dirty="0">
                <a:latin typeface="Perpetua"/>
                <a:cs typeface="Perpetua"/>
              </a:rPr>
              <a:t>array  </a:t>
            </a:r>
            <a:r>
              <a:rPr sz="2600" spc="-5" dirty="0">
                <a:latin typeface="Perpetua"/>
                <a:cs typeface="Perpetua"/>
              </a:rPr>
              <a:t>position </a:t>
            </a:r>
            <a:r>
              <a:rPr sz="2600" spc="5" dirty="0">
                <a:latin typeface="Perpetua"/>
                <a:cs typeface="Perpetua"/>
              </a:rPr>
              <a:t>determined </a:t>
            </a:r>
            <a:r>
              <a:rPr sz="2600" spc="-30" dirty="0">
                <a:latin typeface="Perpetua"/>
                <a:cs typeface="Perpetua"/>
              </a:rPr>
              <a:t>by </a:t>
            </a:r>
            <a:r>
              <a:rPr sz="2600" spc="-5" dirty="0">
                <a:latin typeface="Perpetua"/>
                <a:cs typeface="Perpetua"/>
              </a:rPr>
              <a:t>the </a:t>
            </a:r>
            <a:r>
              <a:rPr sz="2600" dirty="0">
                <a:latin typeface="Perpetua"/>
                <a:cs typeface="Perpetua"/>
              </a:rPr>
              <a:t>current </a:t>
            </a:r>
            <a:r>
              <a:rPr sz="2600" spc="-5" dirty="0">
                <a:latin typeface="Perpetua"/>
                <a:cs typeface="Perpetua"/>
              </a:rPr>
              <a:t>unique </a:t>
            </a:r>
            <a:r>
              <a:rPr sz="2600" dirty="0">
                <a:latin typeface="Perpetua"/>
                <a:cs typeface="Perpetua"/>
              </a:rPr>
              <a:t>element</a:t>
            </a:r>
            <a:r>
              <a:rPr sz="2600" spc="4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count.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0842" y="1509521"/>
            <a:ext cx="8338184" cy="4497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marR="5080" indent="-273050">
              <a:lnSpc>
                <a:spcPct val="100000"/>
              </a:lnSpc>
              <a:spcBef>
                <a:spcPts val="105"/>
              </a:spcBef>
              <a:buSzPct val="84615"/>
              <a:buFont typeface="Wingdings 2"/>
              <a:buChar char=""/>
              <a:tabLst>
                <a:tab pos="285750" algn="l"/>
              </a:tabLst>
            </a:pPr>
            <a:r>
              <a:rPr sz="2600" spc="-5" dirty="0">
                <a:latin typeface="Perpetua"/>
                <a:cs typeface="Perpetua"/>
              </a:rPr>
              <a:t>Initialization </a:t>
            </a:r>
            <a:r>
              <a:rPr sz="2600" dirty="0">
                <a:latin typeface="Perpetua"/>
                <a:cs typeface="Perpetua"/>
              </a:rPr>
              <a:t>choices: </a:t>
            </a:r>
            <a:r>
              <a:rPr sz="2600" spc="10" dirty="0">
                <a:latin typeface="Perpetua"/>
                <a:cs typeface="Perpetua"/>
              </a:rPr>
              <a:t>first </a:t>
            </a:r>
            <a:r>
              <a:rPr sz="2600" dirty="0">
                <a:latin typeface="Perpetua"/>
                <a:cs typeface="Perpetua"/>
              </a:rPr>
              <a:t>element </a:t>
            </a:r>
            <a:r>
              <a:rPr sz="2600" spc="-5" dirty="0">
                <a:latin typeface="Perpetua"/>
                <a:cs typeface="Perpetua"/>
              </a:rPr>
              <a:t>should remain </a:t>
            </a:r>
            <a:r>
              <a:rPr sz="2600" dirty="0">
                <a:latin typeface="Perpetua"/>
                <a:cs typeface="Perpetua"/>
              </a:rPr>
              <a:t>untouched; </a:t>
            </a:r>
            <a:r>
              <a:rPr sz="2600" spc="10" dirty="0">
                <a:latin typeface="Perpetua"/>
                <a:cs typeface="Perpetua"/>
              </a:rPr>
              <a:t>first </a:t>
            </a:r>
            <a:r>
              <a:rPr sz="2600" spc="605" dirty="0">
                <a:latin typeface="Perpetua"/>
                <a:cs typeface="Perpetua"/>
              </a:rPr>
              <a:t> </a:t>
            </a:r>
            <a:r>
              <a:rPr sz="2600" spc="-35" dirty="0">
                <a:latin typeface="Perpetua"/>
                <a:cs typeface="Perpetua"/>
              </a:rPr>
              <a:t>two </a:t>
            </a:r>
            <a:r>
              <a:rPr sz="2600" dirty="0">
                <a:latin typeface="Perpetua"/>
                <a:cs typeface="Perpetua"/>
              </a:rPr>
              <a:t>elements </a:t>
            </a:r>
            <a:r>
              <a:rPr sz="2600" spc="-35" dirty="0">
                <a:latin typeface="Perpetua"/>
                <a:cs typeface="Perpetua"/>
              </a:rPr>
              <a:t>may </a:t>
            </a:r>
            <a:r>
              <a:rPr sz="2600" dirty="0">
                <a:latin typeface="Perpetua"/>
                <a:cs typeface="Perpetua"/>
              </a:rPr>
              <a:t>be </a:t>
            </a:r>
            <a:r>
              <a:rPr sz="2600" spc="-5" dirty="0">
                <a:latin typeface="Perpetua"/>
                <a:cs typeface="Perpetua"/>
              </a:rPr>
              <a:t>identical</a:t>
            </a:r>
            <a:r>
              <a:rPr sz="2600" spc="5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too!</a:t>
            </a:r>
            <a:endParaRPr sz="2600">
              <a:latin typeface="Perpetua"/>
              <a:cs typeface="Perpetua"/>
            </a:endParaRPr>
          </a:p>
          <a:p>
            <a:pPr marL="876935" lvl="1" indent="-325120">
              <a:lnSpc>
                <a:spcPct val="100000"/>
              </a:lnSpc>
              <a:buSzPct val="75000"/>
              <a:buFont typeface="Arial"/>
              <a:buChar char="•"/>
              <a:tabLst>
                <a:tab pos="876935" algn="l"/>
                <a:tab pos="877569" algn="l"/>
              </a:tabLst>
            </a:pPr>
            <a:r>
              <a:rPr sz="2600" dirty="0">
                <a:latin typeface="Perpetua"/>
                <a:cs typeface="Perpetua"/>
              </a:rPr>
              <a:t>i = 1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5" dirty="0">
                <a:latin typeface="Perpetua"/>
                <a:cs typeface="Perpetua"/>
              </a:rPr>
              <a:t>a[i] equal </a:t>
            </a:r>
            <a:r>
              <a:rPr sz="2600" dirty="0">
                <a:latin typeface="Perpetua"/>
                <a:cs typeface="Perpetua"/>
              </a:rPr>
              <a:t>to</a:t>
            </a:r>
            <a:r>
              <a:rPr sz="2600" spc="-1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a[i+1]?</a:t>
            </a:r>
            <a:endParaRPr sz="2600">
              <a:latin typeface="Perpetua"/>
              <a:cs typeface="Perpetua"/>
            </a:endParaRPr>
          </a:p>
          <a:p>
            <a:pPr marL="876935" lvl="1" indent="-325120">
              <a:lnSpc>
                <a:spcPct val="100000"/>
              </a:lnSpc>
              <a:spcBef>
                <a:spcPts val="1105"/>
              </a:spcBef>
              <a:buSzPct val="75000"/>
              <a:buFont typeface="Arial"/>
              <a:buChar char="•"/>
              <a:tabLst>
                <a:tab pos="876935" algn="l"/>
                <a:tab pos="877569" algn="l"/>
                <a:tab pos="5517515" algn="l"/>
              </a:tabLst>
            </a:pPr>
            <a:r>
              <a:rPr sz="2600" dirty="0">
                <a:latin typeface="Perpetua"/>
                <a:cs typeface="Perpetua"/>
              </a:rPr>
              <a:t>i = 2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5" dirty="0">
                <a:latin typeface="Perpetua"/>
                <a:cs typeface="Perpetua"/>
              </a:rPr>
              <a:t>a[i-1] equal </a:t>
            </a:r>
            <a:r>
              <a:rPr sz="2600" dirty="0">
                <a:latin typeface="Perpetua"/>
                <a:cs typeface="Perpetua"/>
              </a:rPr>
              <a:t>to</a:t>
            </a:r>
            <a:r>
              <a:rPr sz="2600" spc="6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a[i]?</a:t>
            </a:r>
            <a:r>
              <a:rPr sz="2600" spc="1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(direct	</a:t>
            </a:r>
            <a:r>
              <a:rPr sz="2600" dirty="0">
                <a:latin typeface="Perpetua"/>
                <a:cs typeface="Perpetua"/>
              </a:rPr>
              <a:t>termination)</a:t>
            </a:r>
            <a:endParaRPr sz="2600">
              <a:latin typeface="Perpetua"/>
              <a:cs typeface="Perpetua"/>
            </a:endParaRPr>
          </a:p>
          <a:p>
            <a:pPr marL="285115" marR="230504" indent="-273050">
              <a:lnSpc>
                <a:spcPct val="100000"/>
              </a:lnSpc>
              <a:spcBef>
                <a:spcPts val="1689"/>
              </a:spcBef>
              <a:buSzPct val="84615"/>
              <a:buFont typeface="Wingdings 2"/>
              <a:buChar char=""/>
              <a:tabLst>
                <a:tab pos="285750" algn="l"/>
              </a:tabLst>
            </a:pP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assignment a[j] </a:t>
            </a:r>
            <a:r>
              <a:rPr sz="2600" dirty="0">
                <a:latin typeface="Perpetua"/>
                <a:cs typeface="Perpetua"/>
              </a:rPr>
              <a:t>= a[i] </a:t>
            </a:r>
            <a:r>
              <a:rPr sz="2600" spc="-5" dirty="0">
                <a:latin typeface="Perpetua"/>
                <a:cs typeface="Perpetua"/>
              </a:rPr>
              <a:t>should </a:t>
            </a:r>
            <a:r>
              <a:rPr sz="2600" dirty="0">
                <a:latin typeface="Perpetua"/>
                <a:cs typeface="Perpetua"/>
              </a:rPr>
              <a:t>be </a:t>
            </a:r>
            <a:r>
              <a:rPr sz="2600" spc="-20" dirty="0">
                <a:latin typeface="Perpetua"/>
                <a:cs typeface="Perpetua"/>
              </a:rPr>
              <a:t>invoked </a:t>
            </a:r>
            <a:r>
              <a:rPr sz="2600" spc="-15" dirty="0">
                <a:latin typeface="Perpetua"/>
                <a:cs typeface="Perpetua"/>
              </a:rPr>
              <a:t>only </a:t>
            </a:r>
            <a:r>
              <a:rPr sz="2600" dirty="0">
                <a:latin typeface="Perpetua"/>
                <a:cs typeface="Perpetua"/>
              </a:rPr>
              <a:t>when </a:t>
            </a:r>
            <a:r>
              <a:rPr sz="2600" spc="-5" dirty="0">
                <a:latin typeface="Perpetua"/>
                <a:cs typeface="Perpetua"/>
              </a:rPr>
              <a:t>duplicates  </a:t>
            </a:r>
            <a:r>
              <a:rPr sz="2600" spc="-10" dirty="0">
                <a:latin typeface="Perpetua"/>
                <a:cs typeface="Perpetua"/>
              </a:rPr>
              <a:t>are </a:t>
            </a:r>
            <a:r>
              <a:rPr sz="2600" spc="5" dirty="0">
                <a:latin typeface="Perpetua"/>
                <a:cs typeface="Perpetua"/>
              </a:rPr>
              <a:t>encountered.This </a:t>
            </a:r>
            <a:r>
              <a:rPr sz="2600" dirty="0">
                <a:latin typeface="Perpetua"/>
                <a:cs typeface="Perpetua"/>
              </a:rPr>
              <a:t>can be </a:t>
            </a:r>
            <a:r>
              <a:rPr sz="2600" spc="-5" dirty="0">
                <a:latin typeface="Perpetua"/>
                <a:cs typeface="Perpetua"/>
              </a:rPr>
              <a:t>realized </a:t>
            </a:r>
            <a:r>
              <a:rPr sz="2600" dirty="0">
                <a:latin typeface="Perpetua"/>
                <a:cs typeface="Perpetua"/>
              </a:rPr>
              <a:t>using a </a:t>
            </a:r>
            <a:r>
              <a:rPr sz="2600" spc="-5" dirty="0">
                <a:latin typeface="Perpetua"/>
                <a:cs typeface="Perpetua"/>
              </a:rPr>
              <a:t>loop </a:t>
            </a:r>
            <a:r>
              <a:rPr sz="2600" spc="-10" dirty="0">
                <a:latin typeface="Perpetua"/>
                <a:cs typeface="Perpetua"/>
              </a:rPr>
              <a:t>that compares  </a:t>
            </a:r>
            <a:r>
              <a:rPr sz="2600" dirty="0">
                <a:latin typeface="Perpetua"/>
                <a:cs typeface="Perpetua"/>
              </a:rPr>
              <a:t>pair of </a:t>
            </a:r>
            <a:r>
              <a:rPr sz="2600" spc="-5" dirty="0">
                <a:latin typeface="Perpetua"/>
                <a:cs typeface="Perpetua"/>
              </a:rPr>
              <a:t>elements until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duplicate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5" dirty="0">
                <a:latin typeface="Perpetua"/>
                <a:cs typeface="Perpetua"/>
              </a:rPr>
              <a:t>encountered.</a:t>
            </a:r>
            <a:endParaRPr sz="2600">
              <a:latin typeface="Perpetua"/>
              <a:cs typeface="Perpetua"/>
            </a:endParaRPr>
          </a:p>
          <a:p>
            <a:pPr marL="1361440">
              <a:lnSpc>
                <a:spcPct val="100000"/>
              </a:lnSpc>
              <a:spcBef>
                <a:spcPts val="605"/>
              </a:spcBef>
              <a:tabLst>
                <a:tab pos="5060950" algn="l"/>
              </a:tabLst>
            </a:pPr>
            <a:r>
              <a:rPr sz="2600" dirty="0">
                <a:latin typeface="Perpetua"/>
                <a:cs typeface="Perpetua"/>
              </a:rPr>
              <a:t>while </a:t>
            </a:r>
            <a:r>
              <a:rPr sz="2600" spc="-5" dirty="0">
                <a:latin typeface="Perpetua"/>
                <a:cs typeface="Perpetua"/>
              </a:rPr>
              <a:t>a[i-1]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5" dirty="0">
                <a:latin typeface="Perpetua"/>
                <a:cs typeface="Perpetua"/>
              </a:rPr>
              <a:t>not equal</a:t>
            </a:r>
            <a:r>
              <a:rPr sz="2600" spc="3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to</a:t>
            </a:r>
            <a:r>
              <a:rPr sz="2600" spc="1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a[i]	do </a:t>
            </a:r>
            <a:r>
              <a:rPr sz="2600" dirty="0">
                <a:latin typeface="Perpetua"/>
                <a:cs typeface="Perpetua"/>
              </a:rPr>
              <a:t>i = i +1</a:t>
            </a:r>
            <a:endParaRPr sz="2600">
              <a:latin typeface="Perpetua"/>
              <a:cs typeface="Perpetua"/>
            </a:endParaRPr>
          </a:p>
          <a:p>
            <a:pPr marL="285115" marR="5080" indent="-273050">
              <a:lnSpc>
                <a:spcPct val="100000"/>
              </a:lnSpc>
              <a:spcBef>
                <a:spcPts val="600"/>
              </a:spcBef>
              <a:buSzPct val="84615"/>
              <a:buFont typeface="Wingdings 2"/>
              <a:buChar char=""/>
              <a:tabLst>
                <a:tab pos="285750" algn="l"/>
                <a:tab pos="1075055" algn="l"/>
                <a:tab pos="1643380" algn="l"/>
                <a:tab pos="2094230" algn="l"/>
                <a:tab pos="3582035" algn="l"/>
                <a:tab pos="4291330" algn="l"/>
                <a:tab pos="4582160" algn="l"/>
                <a:tab pos="5880735" algn="l"/>
                <a:tab pos="6499860" algn="l"/>
                <a:tab pos="6917055" algn="l"/>
                <a:tab pos="7869555" algn="l"/>
              </a:tabLst>
            </a:pPr>
            <a:r>
              <a:rPr sz="2600" dirty="0">
                <a:latin typeface="Perpetua"/>
                <a:cs typeface="Perpetua"/>
              </a:rPr>
              <a:t>Loop	c</a:t>
            </a:r>
            <a:r>
              <a:rPr sz="2600" spc="-10" dirty="0">
                <a:latin typeface="Perpetua"/>
                <a:cs typeface="Perpetua"/>
              </a:rPr>
              <a:t>a</a:t>
            </a:r>
            <a:r>
              <a:rPr sz="2600" dirty="0">
                <a:latin typeface="Perpetua"/>
                <a:cs typeface="Perpetua"/>
              </a:rPr>
              <a:t>n	</a:t>
            </a:r>
            <a:r>
              <a:rPr sz="2600" spc="-15" dirty="0">
                <a:latin typeface="Perpetua"/>
                <a:cs typeface="Perpetua"/>
              </a:rPr>
              <a:t>b</a:t>
            </a:r>
            <a:r>
              <a:rPr sz="2600" dirty="0">
                <a:latin typeface="Perpetua"/>
                <a:cs typeface="Perpetua"/>
              </a:rPr>
              <a:t>e	te</a:t>
            </a:r>
            <a:r>
              <a:rPr sz="2600" spc="65" dirty="0">
                <a:latin typeface="Perpetua"/>
                <a:cs typeface="Perpetua"/>
              </a:rPr>
              <a:t>r</a:t>
            </a:r>
            <a:r>
              <a:rPr sz="2600" spc="-5" dirty="0">
                <a:latin typeface="Perpetua"/>
                <a:cs typeface="Perpetua"/>
              </a:rPr>
              <a:t>min</a:t>
            </a:r>
            <a:r>
              <a:rPr sz="2600" spc="-30" dirty="0">
                <a:latin typeface="Perpetua"/>
                <a:cs typeface="Perpetua"/>
              </a:rPr>
              <a:t>a</a:t>
            </a:r>
            <a:r>
              <a:rPr sz="2600" dirty="0">
                <a:latin typeface="Perpetua"/>
                <a:cs typeface="Perpetua"/>
              </a:rPr>
              <a:t>ted	with	a	</a:t>
            </a:r>
            <a:r>
              <a:rPr sz="2600" spc="-20" dirty="0">
                <a:latin typeface="Perpetua"/>
                <a:cs typeface="Perpetua"/>
              </a:rPr>
              <a:t>c</a:t>
            </a:r>
            <a:r>
              <a:rPr sz="2600" dirty="0">
                <a:latin typeface="Perpetua"/>
                <a:cs typeface="Perpetua"/>
              </a:rPr>
              <a:t>o</a:t>
            </a:r>
            <a:r>
              <a:rPr sz="2600" spc="-15" dirty="0">
                <a:latin typeface="Perpetua"/>
                <a:cs typeface="Perpetua"/>
              </a:rPr>
              <a:t>n</a:t>
            </a:r>
            <a:r>
              <a:rPr sz="2600" dirty="0">
                <a:latin typeface="Perpetua"/>
                <a:cs typeface="Perpetua"/>
              </a:rPr>
              <a:t>dition	i</a:t>
            </a:r>
            <a:r>
              <a:rPr sz="2600" spc="5" dirty="0">
                <a:latin typeface="Perpetua"/>
                <a:cs typeface="Perpetua"/>
              </a:rPr>
              <a:t>&lt;</a:t>
            </a:r>
            <a:r>
              <a:rPr sz="2600" dirty="0">
                <a:latin typeface="Perpetua"/>
                <a:cs typeface="Perpetua"/>
              </a:rPr>
              <a:t>n	</a:t>
            </a:r>
            <a:r>
              <a:rPr sz="2600" spc="-5" dirty="0">
                <a:latin typeface="Perpetua"/>
                <a:cs typeface="Perpetua"/>
              </a:rPr>
              <a:t>t</a:t>
            </a:r>
            <a:r>
              <a:rPr sz="2600" dirty="0">
                <a:latin typeface="Perpetua"/>
                <a:cs typeface="Perpetua"/>
              </a:rPr>
              <a:t>o	ens</a:t>
            </a:r>
            <a:r>
              <a:rPr sz="2600" spc="-10" dirty="0">
                <a:latin typeface="Perpetua"/>
                <a:cs typeface="Perpetua"/>
              </a:rPr>
              <a:t>u</a:t>
            </a:r>
            <a:r>
              <a:rPr sz="2600" spc="-35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e	th</a:t>
            </a:r>
            <a:r>
              <a:rPr sz="2600" spc="-35" dirty="0">
                <a:latin typeface="Perpetua"/>
                <a:cs typeface="Perpetua"/>
              </a:rPr>
              <a:t>a</a:t>
            </a:r>
            <a:r>
              <a:rPr sz="2600" dirty="0">
                <a:latin typeface="Perpetua"/>
                <a:cs typeface="Perpetua"/>
              </a:rPr>
              <a:t>t  termination </a:t>
            </a:r>
            <a:r>
              <a:rPr sz="2600" spc="-20" dirty="0">
                <a:latin typeface="Perpetua"/>
                <a:cs typeface="Perpetua"/>
              </a:rPr>
              <a:t>works </a:t>
            </a:r>
            <a:r>
              <a:rPr sz="2600" spc="-25" dirty="0">
                <a:latin typeface="Perpetua"/>
                <a:cs typeface="Perpetua"/>
              </a:rPr>
              <a:t>well even </a:t>
            </a:r>
            <a:r>
              <a:rPr sz="2600" dirty="0">
                <a:latin typeface="Perpetua"/>
                <a:cs typeface="Perpetua"/>
              </a:rPr>
              <a:t>if </a:t>
            </a:r>
            <a:r>
              <a:rPr sz="2600" spc="-5" dirty="0">
                <a:latin typeface="Perpetua"/>
                <a:cs typeface="Perpetua"/>
              </a:rPr>
              <a:t>there </a:t>
            </a:r>
            <a:r>
              <a:rPr sz="2600" spc="-10" dirty="0">
                <a:latin typeface="Perpetua"/>
                <a:cs typeface="Perpetua"/>
              </a:rPr>
              <a:t>are </a:t>
            </a:r>
            <a:r>
              <a:rPr sz="2600" spc="-5" dirty="0">
                <a:latin typeface="Perpetua"/>
                <a:cs typeface="Perpetua"/>
              </a:rPr>
              <a:t>no duplicates</a:t>
            </a:r>
            <a:r>
              <a:rPr sz="2600" spc="5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28600" y="152400"/>
            <a:ext cx="2295525" cy="1371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60985" indent="-248920">
              <a:lnSpc>
                <a:spcPct val="100000"/>
              </a:lnSpc>
              <a:spcBef>
                <a:spcPts val="700"/>
              </a:spcBef>
              <a:buSzPct val="96153"/>
              <a:buAutoNum type="arabicPeriod"/>
              <a:tabLst>
                <a:tab pos="261620" algn="l"/>
              </a:tabLst>
            </a:pPr>
            <a:r>
              <a:rPr dirty="0"/>
              <a:t>Get </a:t>
            </a:r>
            <a:r>
              <a:rPr spc="-5" dirty="0"/>
              <a:t>an </a:t>
            </a:r>
            <a:r>
              <a:rPr spc="-15" dirty="0"/>
              <a:t>array </a:t>
            </a:r>
            <a:r>
              <a:rPr i="1" spc="-5" dirty="0">
                <a:latin typeface="Perpetua"/>
                <a:cs typeface="Perpetua"/>
              </a:rPr>
              <a:t>a[1,...n] </a:t>
            </a:r>
            <a:r>
              <a:rPr spc="-5" dirty="0"/>
              <a:t>of </a:t>
            </a:r>
            <a:r>
              <a:rPr i="1" dirty="0">
                <a:latin typeface="Perpetua"/>
                <a:cs typeface="Perpetua"/>
              </a:rPr>
              <a:t>n </a:t>
            </a:r>
            <a:r>
              <a:rPr dirty="0"/>
              <a:t>elements </a:t>
            </a:r>
            <a:r>
              <a:rPr spc="-5" dirty="0"/>
              <a:t>where </a:t>
            </a:r>
            <a:r>
              <a:rPr dirty="0"/>
              <a:t>n ≥</a:t>
            </a:r>
            <a:r>
              <a:rPr spc="-5" dirty="0"/>
              <a:t> 1.</a:t>
            </a:r>
          </a:p>
          <a:p>
            <a:pPr marL="335915" indent="-323850">
              <a:lnSpc>
                <a:spcPct val="100000"/>
              </a:lnSpc>
              <a:spcBef>
                <a:spcPts val="600"/>
              </a:spcBef>
              <a:buSzPct val="96153"/>
              <a:buAutoNum type="arabicPeriod"/>
              <a:tabLst>
                <a:tab pos="336550" algn="l"/>
              </a:tabLst>
            </a:pPr>
            <a:r>
              <a:rPr dirty="0"/>
              <a:t>Set </a:t>
            </a:r>
            <a:r>
              <a:rPr spc="-5" dirty="0"/>
              <a:t>loop </a:t>
            </a:r>
            <a:r>
              <a:rPr dirty="0"/>
              <a:t>index </a:t>
            </a:r>
            <a:r>
              <a:rPr i="1" dirty="0">
                <a:latin typeface="Perpetua"/>
                <a:cs typeface="Perpetua"/>
              </a:rPr>
              <a:t>i </a:t>
            </a:r>
            <a:r>
              <a:rPr spc="-5" dirty="0"/>
              <a:t>to </a:t>
            </a:r>
            <a:r>
              <a:rPr dirty="0"/>
              <a:t>2 </a:t>
            </a:r>
            <a:r>
              <a:rPr spc="-5" dirty="0"/>
              <a:t>to </a:t>
            </a:r>
            <a:r>
              <a:rPr spc="-20" dirty="0"/>
              <a:t>allow </a:t>
            </a:r>
            <a:r>
              <a:rPr dirty="0"/>
              <a:t>correct</a:t>
            </a:r>
            <a:r>
              <a:rPr spc="5" dirty="0"/>
              <a:t> </a:t>
            </a:r>
            <a:r>
              <a:rPr dirty="0"/>
              <a:t>termination.</a:t>
            </a:r>
          </a:p>
          <a:p>
            <a:pPr marL="229235" marR="5080" indent="-217170">
              <a:lnSpc>
                <a:spcPct val="100000"/>
              </a:lnSpc>
              <a:spcBef>
                <a:spcPts val="600"/>
              </a:spcBef>
              <a:buSzPct val="96153"/>
              <a:buAutoNum type="arabicPeriod"/>
              <a:tabLst>
                <a:tab pos="261620" algn="l"/>
              </a:tabLst>
            </a:pPr>
            <a:r>
              <a:rPr spc="-10" dirty="0"/>
              <a:t>Compare successive </a:t>
            </a:r>
            <a:r>
              <a:rPr spc="5" dirty="0"/>
              <a:t>pairs </a:t>
            </a:r>
            <a:r>
              <a:rPr spc="-5" dirty="0"/>
              <a:t>of </a:t>
            </a:r>
            <a:r>
              <a:rPr dirty="0"/>
              <a:t>elements </a:t>
            </a:r>
            <a:r>
              <a:rPr spc="-5" dirty="0"/>
              <a:t>until </a:t>
            </a:r>
            <a:r>
              <a:rPr dirty="0"/>
              <a:t>a </a:t>
            </a:r>
            <a:r>
              <a:rPr spc="-5" dirty="0"/>
              <a:t>duplicate </a:t>
            </a:r>
            <a:r>
              <a:rPr dirty="0"/>
              <a:t>is </a:t>
            </a:r>
            <a:r>
              <a:rPr spc="-10" dirty="0"/>
              <a:t>encountered  </a:t>
            </a:r>
            <a:r>
              <a:rPr dirty="0"/>
              <a:t>then set </a:t>
            </a:r>
            <a:r>
              <a:rPr spc="-5" dirty="0"/>
              <a:t>unique </a:t>
            </a:r>
            <a:r>
              <a:rPr dirty="0"/>
              <a:t>element </a:t>
            </a:r>
            <a:r>
              <a:rPr spc="-5" dirty="0"/>
              <a:t>count </a:t>
            </a:r>
            <a:r>
              <a:rPr i="1" dirty="0">
                <a:latin typeface="Perpetua"/>
                <a:cs typeface="Perpetua"/>
              </a:rPr>
              <a:t>j</a:t>
            </a:r>
            <a:r>
              <a:rPr i="1" spc="-30" dirty="0">
                <a:latin typeface="Perpetua"/>
                <a:cs typeface="Perpetua"/>
              </a:rPr>
              <a:t> </a:t>
            </a:r>
            <a:r>
              <a:rPr dirty="0"/>
              <a:t>.</a:t>
            </a:r>
          </a:p>
          <a:p>
            <a:pPr marL="261620" marR="3235960" indent="-261620">
              <a:lnSpc>
                <a:spcPct val="100000"/>
              </a:lnSpc>
              <a:spcBef>
                <a:spcPts val="600"/>
              </a:spcBef>
              <a:buSzPct val="96153"/>
              <a:buAutoNum type="arabicPeriod"/>
              <a:tabLst>
                <a:tab pos="261620" algn="l"/>
              </a:tabLst>
            </a:pPr>
            <a:r>
              <a:rPr dirty="0"/>
              <a:t>While </a:t>
            </a:r>
            <a:r>
              <a:rPr spc="-5" dirty="0"/>
              <a:t>all </a:t>
            </a:r>
            <a:r>
              <a:rPr spc="10" dirty="0"/>
              <a:t>pairs </a:t>
            </a:r>
            <a:r>
              <a:rPr spc="-35" dirty="0"/>
              <a:t>have </a:t>
            </a:r>
            <a:r>
              <a:rPr spc="-5" dirty="0"/>
              <a:t>not </a:t>
            </a:r>
            <a:r>
              <a:rPr dirty="0"/>
              <a:t>been examined</a:t>
            </a:r>
            <a:r>
              <a:rPr spc="-65" dirty="0"/>
              <a:t> </a:t>
            </a:r>
            <a:r>
              <a:rPr spc="-5" dirty="0"/>
              <a:t>do  a)If next not duplicates then</a:t>
            </a:r>
          </a:p>
          <a:p>
            <a:pPr marL="1308100" lvl="1" indent="-288925">
              <a:lnSpc>
                <a:spcPct val="100000"/>
              </a:lnSpc>
              <a:spcBef>
                <a:spcPts val="1105"/>
              </a:spcBef>
              <a:buSzPct val="44230"/>
              <a:buFont typeface="Wingdings"/>
              <a:buChar char=""/>
              <a:tabLst>
                <a:tab pos="1308100" algn="l"/>
                <a:tab pos="1308735" algn="l"/>
              </a:tabLst>
            </a:pPr>
            <a:r>
              <a:rPr sz="2600" spc="-5" dirty="0">
                <a:latin typeface="Perpetua"/>
                <a:cs typeface="Perpetua"/>
              </a:rPr>
              <a:t>Add </a:t>
            </a:r>
            <a:r>
              <a:rPr sz="2600" dirty="0">
                <a:latin typeface="Perpetua"/>
                <a:cs typeface="Perpetua"/>
              </a:rPr>
              <a:t>one to </a:t>
            </a:r>
            <a:r>
              <a:rPr sz="2600" spc="-5" dirty="0">
                <a:latin typeface="Perpetua"/>
                <a:cs typeface="Perpetua"/>
              </a:rPr>
              <a:t>unique </a:t>
            </a:r>
            <a:r>
              <a:rPr sz="2600" dirty="0">
                <a:latin typeface="Perpetua"/>
                <a:cs typeface="Perpetua"/>
              </a:rPr>
              <a:t>element </a:t>
            </a:r>
            <a:r>
              <a:rPr sz="2600" spc="-5" dirty="0">
                <a:latin typeface="Perpetua"/>
                <a:cs typeface="Perpetua"/>
              </a:rPr>
              <a:t>count</a:t>
            </a:r>
            <a:r>
              <a:rPr sz="2600" spc="-45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j.</a:t>
            </a:r>
            <a:endParaRPr sz="2600">
              <a:latin typeface="Perpetua"/>
              <a:cs typeface="Perpetua"/>
            </a:endParaRPr>
          </a:p>
          <a:p>
            <a:pPr marL="1308100" marR="230504" lvl="1" indent="-288290">
              <a:lnSpc>
                <a:spcPct val="100000"/>
              </a:lnSpc>
              <a:spcBef>
                <a:spcPts val="900"/>
              </a:spcBef>
              <a:buSzPct val="44230"/>
              <a:buFont typeface="Wingdings"/>
              <a:buChar char=""/>
              <a:tabLst>
                <a:tab pos="1308100" algn="l"/>
                <a:tab pos="1308735" algn="l"/>
              </a:tabLst>
            </a:pPr>
            <a:r>
              <a:rPr sz="2600" spc="-35" dirty="0">
                <a:latin typeface="Perpetua"/>
                <a:cs typeface="Perpetua"/>
              </a:rPr>
              <a:t>Move </a:t>
            </a:r>
            <a:r>
              <a:rPr sz="2600" spc="-5" dirty="0">
                <a:latin typeface="Perpetua"/>
                <a:cs typeface="Perpetua"/>
              </a:rPr>
              <a:t>later element </a:t>
            </a:r>
            <a:r>
              <a:rPr sz="2600" dirty="0">
                <a:latin typeface="Perpetua"/>
                <a:cs typeface="Perpetua"/>
              </a:rPr>
              <a:t>of </a:t>
            </a:r>
            <a:r>
              <a:rPr sz="2600" spc="-5" dirty="0">
                <a:latin typeface="Perpetua"/>
                <a:cs typeface="Perpetua"/>
              </a:rPr>
              <a:t>pair </a:t>
            </a:r>
            <a:r>
              <a:rPr sz="2600" dirty="0">
                <a:latin typeface="Perpetua"/>
                <a:cs typeface="Perpetua"/>
              </a:rPr>
              <a:t>to </a:t>
            </a:r>
            <a:r>
              <a:rPr sz="2600" spc="-15" dirty="0">
                <a:latin typeface="Perpetua"/>
                <a:cs typeface="Perpetua"/>
              </a:rPr>
              <a:t>array </a:t>
            </a:r>
            <a:r>
              <a:rPr sz="2600" dirty="0">
                <a:latin typeface="Perpetua"/>
                <a:cs typeface="Perpetua"/>
              </a:rPr>
              <a:t>position </a:t>
            </a:r>
            <a:r>
              <a:rPr sz="2600" spc="5" dirty="0">
                <a:latin typeface="Perpetua"/>
                <a:cs typeface="Perpetua"/>
              </a:rPr>
              <a:t>determined </a:t>
            </a:r>
            <a:r>
              <a:rPr sz="2600" spc="-25" dirty="0">
                <a:latin typeface="Perpetua"/>
                <a:cs typeface="Perpetua"/>
              </a:rPr>
              <a:t>by 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unique </a:t>
            </a:r>
            <a:r>
              <a:rPr sz="2600" dirty="0">
                <a:latin typeface="Perpetua"/>
                <a:cs typeface="Perpetua"/>
              </a:rPr>
              <a:t>element </a:t>
            </a:r>
            <a:r>
              <a:rPr sz="2600" spc="-5" dirty="0">
                <a:latin typeface="Perpetua"/>
                <a:cs typeface="Perpetua"/>
              </a:rPr>
              <a:t>count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j.</a:t>
            </a:r>
            <a:endParaRPr sz="2600">
              <a:latin typeface="Perpetua"/>
              <a:cs typeface="Perpetua"/>
            </a:endParaRPr>
          </a:p>
          <a:p>
            <a:pPr marL="335915" indent="-323850">
              <a:lnSpc>
                <a:spcPct val="100000"/>
              </a:lnSpc>
              <a:spcBef>
                <a:spcPts val="1505"/>
              </a:spcBef>
              <a:buSzPct val="96153"/>
              <a:buAutoNum type="arabicPeriod"/>
              <a:tabLst>
                <a:tab pos="336550" algn="l"/>
              </a:tabLst>
            </a:pPr>
            <a:r>
              <a:rPr spc="5" dirty="0"/>
              <a:t>Return </a:t>
            </a:r>
            <a:r>
              <a:rPr dirty="0"/>
              <a:t>the</a:t>
            </a:r>
            <a:r>
              <a:rPr spc="-15" dirty="0"/>
              <a:t> </a:t>
            </a:r>
            <a:r>
              <a:rPr spc="-55" dirty="0"/>
              <a:t>array.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5" dirty="0"/>
              <a:t>Algorithm </a:t>
            </a:r>
            <a:r>
              <a:rPr spc="-5" dirty="0"/>
              <a:t>to find</a:t>
            </a:r>
            <a:r>
              <a:rPr spc="-75" dirty="0"/>
              <a:t> </a:t>
            </a:r>
            <a:r>
              <a:rPr spc="-5" dirty="0"/>
              <a:t>duplicates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8700" y="4043968"/>
            <a:ext cx="6543675" cy="144620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517394" y="5546242"/>
            <a:ext cx="376174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Perpetua"/>
                <a:cs typeface="Perpetua"/>
              </a:rPr>
              <a:t>Figure: </a:t>
            </a:r>
            <a:r>
              <a:rPr sz="2000" spc="-5" dirty="0">
                <a:latin typeface="Perpetua"/>
                <a:cs typeface="Perpetua"/>
              </a:rPr>
              <a:t>Initial configuration of </a:t>
            </a:r>
            <a:r>
              <a:rPr sz="2000" dirty="0">
                <a:latin typeface="Perpetua"/>
                <a:cs typeface="Perpetua"/>
              </a:rPr>
              <a:t>the</a:t>
            </a:r>
            <a:r>
              <a:rPr sz="2000" spc="-35" dirty="0">
                <a:latin typeface="Perpetua"/>
                <a:cs typeface="Perpetua"/>
              </a:rPr>
              <a:t> </a:t>
            </a:r>
            <a:r>
              <a:rPr sz="2000" spc="-5" dirty="0">
                <a:latin typeface="Perpetua"/>
                <a:cs typeface="Perpetua"/>
              </a:rPr>
              <a:t>puzzle</a:t>
            </a:r>
            <a:endParaRPr sz="2000">
              <a:latin typeface="Perpetua"/>
              <a:cs typeface="Perpetu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35331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25" dirty="0"/>
              <a:t>Eg. </a:t>
            </a:r>
            <a:r>
              <a:rPr spc="-5" dirty="0"/>
              <a:t>A </a:t>
            </a:r>
            <a:r>
              <a:rPr spc="-25" dirty="0"/>
              <a:t>playing</a:t>
            </a:r>
            <a:r>
              <a:rPr spc="-390" dirty="0"/>
              <a:t> </a:t>
            </a:r>
            <a:r>
              <a:rPr spc="-5" dirty="0"/>
              <a:t>board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07340" y="1433525"/>
            <a:ext cx="8531225" cy="20085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 algn="just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i="1" dirty="0">
                <a:latin typeface="Perpetua"/>
                <a:cs typeface="Perpetua"/>
              </a:rPr>
              <a:t>A </a:t>
            </a:r>
            <a:r>
              <a:rPr sz="2600" i="1" spc="-10" dirty="0">
                <a:latin typeface="Perpetua"/>
                <a:cs typeface="Perpetua"/>
              </a:rPr>
              <a:t>playing </a:t>
            </a:r>
            <a:r>
              <a:rPr sz="2600" i="1" spc="-5" dirty="0">
                <a:latin typeface="Perpetua"/>
                <a:cs typeface="Perpetua"/>
              </a:rPr>
              <a:t>board consists </a:t>
            </a:r>
            <a:r>
              <a:rPr sz="2600" i="1" dirty="0">
                <a:latin typeface="Perpetua"/>
                <a:cs typeface="Perpetua"/>
              </a:rPr>
              <a:t>of 7 </a:t>
            </a:r>
            <a:r>
              <a:rPr sz="2600" i="1" spc="-5" dirty="0">
                <a:latin typeface="Perpetua"/>
                <a:cs typeface="Perpetua"/>
              </a:rPr>
              <a:t>squares in </a:t>
            </a:r>
            <a:r>
              <a:rPr sz="2600" i="1" dirty="0">
                <a:latin typeface="Perpetua"/>
                <a:cs typeface="Perpetua"/>
              </a:rPr>
              <a:t>a </a:t>
            </a:r>
            <a:r>
              <a:rPr sz="2600" i="1" spc="-15" dirty="0">
                <a:latin typeface="Perpetua"/>
                <a:cs typeface="Perpetua"/>
              </a:rPr>
              <a:t>row </a:t>
            </a:r>
            <a:r>
              <a:rPr sz="2600" i="1" spc="-10" dirty="0">
                <a:latin typeface="Perpetua"/>
                <a:cs typeface="Perpetua"/>
              </a:rPr>
              <a:t>numbered </a:t>
            </a:r>
            <a:r>
              <a:rPr sz="2600" i="1" dirty="0">
                <a:latin typeface="Perpetua"/>
                <a:cs typeface="Perpetua"/>
              </a:rPr>
              <a:t>0 </a:t>
            </a:r>
            <a:r>
              <a:rPr sz="2600" i="1" spc="-5" dirty="0">
                <a:latin typeface="Perpetua"/>
                <a:cs typeface="Perpetua"/>
              </a:rPr>
              <a:t>to 6. Initial  positions of three </a:t>
            </a:r>
            <a:r>
              <a:rPr sz="2600" i="1" spc="-15" dirty="0">
                <a:latin typeface="Perpetua"/>
                <a:cs typeface="Perpetua"/>
              </a:rPr>
              <a:t>white </a:t>
            </a:r>
            <a:r>
              <a:rPr sz="2600" i="1" dirty="0">
                <a:latin typeface="Perpetua"/>
                <a:cs typeface="Perpetua"/>
              </a:rPr>
              <a:t>and </a:t>
            </a:r>
            <a:r>
              <a:rPr sz="2600" i="1" spc="-10" dirty="0">
                <a:latin typeface="Perpetua"/>
                <a:cs typeface="Perpetua"/>
              </a:rPr>
              <a:t>three </a:t>
            </a:r>
            <a:r>
              <a:rPr sz="2600" i="1" spc="-20" dirty="0">
                <a:latin typeface="Perpetua"/>
                <a:cs typeface="Perpetua"/>
              </a:rPr>
              <a:t>black </a:t>
            </a:r>
            <a:r>
              <a:rPr sz="2600" i="1" spc="-5" dirty="0">
                <a:latin typeface="Perpetua"/>
                <a:cs typeface="Perpetua"/>
              </a:rPr>
              <a:t>pieces </a:t>
            </a:r>
            <a:r>
              <a:rPr sz="2600" i="1" spc="-10" dirty="0">
                <a:latin typeface="Perpetua"/>
                <a:cs typeface="Perpetua"/>
              </a:rPr>
              <a:t>are </a:t>
            </a:r>
            <a:r>
              <a:rPr sz="2600" i="1" dirty="0">
                <a:latin typeface="Perpetua"/>
                <a:cs typeface="Perpetua"/>
              </a:rPr>
              <a:t>as </a:t>
            </a:r>
            <a:r>
              <a:rPr sz="2600" i="1" spc="-15" dirty="0">
                <a:latin typeface="Perpetua"/>
                <a:cs typeface="Perpetua"/>
              </a:rPr>
              <a:t>shown </a:t>
            </a:r>
            <a:r>
              <a:rPr sz="2600" i="1" spc="-45" dirty="0">
                <a:latin typeface="Perpetua"/>
                <a:cs typeface="Perpetua"/>
              </a:rPr>
              <a:t>below. </a:t>
            </a:r>
            <a:r>
              <a:rPr sz="2600" i="1" dirty="0">
                <a:latin typeface="Perpetua"/>
                <a:cs typeface="Perpetua"/>
              </a:rPr>
              <a:t>Pieces can  </a:t>
            </a:r>
            <a:r>
              <a:rPr sz="2600" i="1" spc="-5" dirty="0">
                <a:latin typeface="Perpetua"/>
                <a:cs typeface="Perpetua"/>
              </a:rPr>
              <a:t>either </a:t>
            </a:r>
            <a:r>
              <a:rPr sz="2600" i="1" spc="-25" dirty="0">
                <a:latin typeface="Perpetua"/>
                <a:cs typeface="Perpetua"/>
              </a:rPr>
              <a:t>move </a:t>
            </a:r>
            <a:r>
              <a:rPr sz="2600" i="1" spc="-35" dirty="0">
                <a:latin typeface="Perpetua"/>
                <a:cs typeface="Perpetua"/>
              </a:rPr>
              <a:t>by </a:t>
            </a:r>
            <a:r>
              <a:rPr sz="2600" i="1" spc="-5" dirty="0">
                <a:latin typeface="Perpetua"/>
                <a:cs typeface="Perpetua"/>
              </a:rPr>
              <a:t>sliding into </a:t>
            </a:r>
            <a:r>
              <a:rPr sz="2600" i="1" dirty="0">
                <a:latin typeface="Perpetua"/>
                <a:cs typeface="Perpetua"/>
              </a:rPr>
              <a:t>an </a:t>
            </a:r>
            <a:r>
              <a:rPr sz="2600" i="1" spc="-5" dirty="0">
                <a:latin typeface="Perpetua"/>
                <a:cs typeface="Perpetua"/>
              </a:rPr>
              <a:t>adjacent </a:t>
            </a:r>
            <a:r>
              <a:rPr sz="2600" i="1" dirty="0">
                <a:latin typeface="Perpetua"/>
                <a:cs typeface="Perpetua"/>
              </a:rPr>
              <a:t>empty </a:t>
            </a:r>
            <a:r>
              <a:rPr sz="2600" i="1" spc="-10" dirty="0">
                <a:latin typeface="Perpetua"/>
                <a:cs typeface="Perpetua"/>
              </a:rPr>
              <a:t>square </a:t>
            </a:r>
            <a:r>
              <a:rPr sz="2600" i="1" spc="-5" dirty="0">
                <a:latin typeface="Perpetua"/>
                <a:cs typeface="Perpetua"/>
              </a:rPr>
              <a:t>or </a:t>
            </a:r>
            <a:r>
              <a:rPr sz="2600" i="1" spc="-35" dirty="0">
                <a:latin typeface="Perpetua"/>
                <a:cs typeface="Perpetua"/>
              </a:rPr>
              <a:t>by </a:t>
            </a:r>
            <a:r>
              <a:rPr sz="2600" i="1" spc="-5" dirty="0">
                <a:latin typeface="Perpetua"/>
                <a:cs typeface="Perpetua"/>
              </a:rPr>
              <a:t>jumping </a:t>
            </a:r>
            <a:r>
              <a:rPr sz="2600" i="1" dirty="0">
                <a:latin typeface="Perpetua"/>
                <a:cs typeface="Perpetua"/>
              </a:rPr>
              <a:t>a </a:t>
            </a:r>
            <a:r>
              <a:rPr sz="2600" i="1" spc="-5" dirty="0">
                <a:latin typeface="Perpetua"/>
                <a:cs typeface="Perpetua"/>
              </a:rPr>
              <a:t>single  adjacent </a:t>
            </a:r>
            <a:r>
              <a:rPr sz="2600" i="1" dirty="0">
                <a:latin typeface="Perpetua"/>
                <a:cs typeface="Perpetua"/>
              </a:rPr>
              <a:t>piece </a:t>
            </a:r>
            <a:r>
              <a:rPr sz="2600" i="1" spc="-5" dirty="0">
                <a:latin typeface="Perpetua"/>
                <a:cs typeface="Perpetua"/>
              </a:rPr>
              <a:t>into the </a:t>
            </a:r>
            <a:r>
              <a:rPr sz="2600" i="1" dirty="0">
                <a:latin typeface="Perpetua"/>
                <a:cs typeface="Perpetua"/>
              </a:rPr>
              <a:t>empty </a:t>
            </a:r>
            <a:r>
              <a:rPr sz="2600" i="1" spc="-10" dirty="0">
                <a:latin typeface="Perpetua"/>
                <a:cs typeface="Perpetua"/>
              </a:rPr>
              <a:t>square beyond. </a:t>
            </a:r>
            <a:r>
              <a:rPr sz="2600" i="1" spc="-5" dirty="0">
                <a:latin typeface="Perpetua"/>
                <a:cs typeface="Perpetua"/>
              </a:rPr>
              <a:t>Aim: </a:t>
            </a:r>
            <a:r>
              <a:rPr sz="2600" i="1" spc="-20" dirty="0">
                <a:latin typeface="Perpetua"/>
                <a:cs typeface="Perpetua"/>
              </a:rPr>
              <a:t>Swap </a:t>
            </a:r>
            <a:r>
              <a:rPr sz="2600" i="1" spc="-5" dirty="0">
                <a:latin typeface="Perpetua"/>
                <a:cs typeface="Perpetua"/>
              </a:rPr>
              <a:t>the positions of the  </a:t>
            </a:r>
            <a:r>
              <a:rPr sz="2600" i="1" spc="-20" dirty="0">
                <a:latin typeface="Perpetua"/>
                <a:cs typeface="Perpetua"/>
              </a:rPr>
              <a:t>black </a:t>
            </a:r>
            <a:r>
              <a:rPr sz="2600" i="1" dirty="0">
                <a:latin typeface="Perpetua"/>
                <a:cs typeface="Perpetua"/>
              </a:rPr>
              <a:t>and </a:t>
            </a:r>
            <a:r>
              <a:rPr sz="2600" i="1" spc="-15" dirty="0">
                <a:latin typeface="Perpetua"/>
                <a:cs typeface="Perpetua"/>
              </a:rPr>
              <a:t>white</a:t>
            </a:r>
            <a:r>
              <a:rPr sz="2600" i="1" spc="5" dirty="0">
                <a:latin typeface="Perpetua"/>
                <a:cs typeface="Perpetua"/>
              </a:rPr>
              <a:t> </a:t>
            </a:r>
            <a:r>
              <a:rPr sz="2600" i="1" dirty="0">
                <a:latin typeface="Perpetua"/>
                <a:cs typeface="Perpetua"/>
              </a:rPr>
              <a:t>pieces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42891" y="304800"/>
            <a:ext cx="4704988" cy="285085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59079" y="3124200"/>
            <a:ext cx="4933188" cy="16672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745994" y="4716017"/>
            <a:ext cx="5564505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0675" indent="-308610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321310" algn="l"/>
              </a:tabLst>
            </a:pPr>
            <a:r>
              <a:rPr sz="2400" i="1" spc="-15" dirty="0">
                <a:latin typeface="Perpetua"/>
                <a:cs typeface="Perpetua"/>
              </a:rPr>
              <a:t>How </a:t>
            </a:r>
            <a:r>
              <a:rPr sz="2400" i="1" spc="-20" dirty="0">
                <a:latin typeface="Perpetua"/>
                <a:cs typeface="Perpetua"/>
              </a:rPr>
              <a:t>many </a:t>
            </a:r>
            <a:r>
              <a:rPr sz="2400" i="1" spc="-5" dirty="0">
                <a:latin typeface="Perpetua"/>
                <a:cs typeface="Perpetua"/>
              </a:rPr>
              <a:t>instructions </a:t>
            </a:r>
            <a:r>
              <a:rPr sz="2400" i="1" spc="-15" dirty="0">
                <a:latin typeface="Perpetua"/>
                <a:cs typeface="Perpetua"/>
              </a:rPr>
              <a:t>your </a:t>
            </a:r>
            <a:r>
              <a:rPr sz="2400" i="1" dirty="0">
                <a:latin typeface="Perpetua"/>
                <a:cs typeface="Perpetua"/>
              </a:rPr>
              <a:t>algorithm</a:t>
            </a:r>
            <a:r>
              <a:rPr sz="2400" i="1" spc="25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has?</a:t>
            </a:r>
            <a:endParaRPr sz="2400">
              <a:latin typeface="Perpetua"/>
              <a:cs typeface="Perpetua"/>
            </a:endParaRPr>
          </a:p>
          <a:p>
            <a:pPr marL="12700" marR="109855">
              <a:lnSpc>
                <a:spcPct val="100000"/>
              </a:lnSpc>
              <a:buFont typeface="Wingdings"/>
              <a:buChar char=""/>
              <a:tabLst>
                <a:tab pos="321310" algn="l"/>
              </a:tabLst>
            </a:pPr>
            <a:r>
              <a:rPr sz="2400" i="1" dirty="0">
                <a:latin typeface="Perpetua"/>
                <a:cs typeface="Perpetua"/>
              </a:rPr>
              <a:t>Did </a:t>
            </a:r>
            <a:r>
              <a:rPr sz="2400" i="1" spc="-15" dirty="0">
                <a:latin typeface="Perpetua"/>
                <a:cs typeface="Perpetua"/>
              </a:rPr>
              <a:t>you observe </a:t>
            </a:r>
            <a:r>
              <a:rPr sz="2400" i="1" spc="-10" dirty="0">
                <a:latin typeface="Perpetua"/>
                <a:cs typeface="Perpetua"/>
              </a:rPr>
              <a:t>that there </a:t>
            </a:r>
            <a:r>
              <a:rPr sz="2400" i="1" spc="-25" dirty="0">
                <a:latin typeface="Perpetua"/>
                <a:cs typeface="Perpetua"/>
              </a:rPr>
              <a:t>may </a:t>
            </a:r>
            <a:r>
              <a:rPr sz="2400" i="1" spc="-5" dirty="0">
                <a:latin typeface="Perpetua"/>
                <a:cs typeface="Perpetua"/>
              </a:rPr>
              <a:t>be </a:t>
            </a:r>
            <a:r>
              <a:rPr sz="2400" i="1" spc="-15" dirty="0">
                <a:latin typeface="Perpetua"/>
                <a:cs typeface="Perpetua"/>
              </a:rPr>
              <a:t>varying </a:t>
            </a:r>
            <a:r>
              <a:rPr sz="2400" i="1" spc="-5" dirty="0">
                <a:latin typeface="Perpetua"/>
                <a:cs typeface="Perpetua"/>
              </a:rPr>
              <a:t>number of  </a:t>
            </a:r>
            <a:r>
              <a:rPr sz="2400" i="1" dirty="0">
                <a:latin typeface="Perpetua"/>
                <a:cs typeface="Perpetua"/>
              </a:rPr>
              <a:t>instructions still all solving the</a:t>
            </a:r>
            <a:r>
              <a:rPr sz="2400" i="1" spc="-5" dirty="0">
                <a:latin typeface="Perpetua"/>
                <a:cs typeface="Perpetua"/>
              </a:rPr>
              <a:t> puzzle?</a:t>
            </a:r>
            <a:endParaRPr sz="2400">
              <a:latin typeface="Perpetua"/>
              <a:cs typeface="Perpetua"/>
            </a:endParaRPr>
          </a:p>
          <a:p>
            <a:pPr marL="12700" marR="5080">
              <a:lnSpc>
                <a:spcPct val="100000"/>
              </a:lnSpc>
              <a:buFont typeface="Wingdings"/>
              <a:buChar char=""/>
              <a:tabLst>
                <a:tab pos="321310" algn="l"/>
              </a:tabLst>
            </a:pPr>
            <a:r>
              <a:rPr sz="2400" i="1" dirty="0">
                <a:latin typeface="Perpetua"/>
                <a:cs typeface="Perpetua"/>
              </a:rPr>
              <a:t>Needless to </a:t>
            </a:r>
            <a:r>
              <a:rPr sz="2400" i="1" spc="-65" dirty="0">
                <a:latin typeface="Perpetua"/>
                <a:cs typeface="Perpetua"/>
              </a:rPr>
              <a:t>say, </a:t>
            </a:r>
            <a:r>
              <a:rPr sz="2400" i="1" dirty="0">
                <a:latin typeface="Perpetua"/>
                <a:cs typeface="Perpetua"/>
              </a:rPr>
              <a:t>do </a:t>
            </a:r>
            <a:r>
              <a:rPr sz="2400" i="1" spc="-15" dirty="0">
                <a:latin typeface="Perpetua"/>
                <a:cs typeface="Perpetua"/>
              </a:rPr>
              <a:t>you </a:t>
            </a:r>
            <a:r>
              <a:rPr sz="2400" i="1" spc="-10" dirty="0">
                <a:latin typeface="Perpetua"/>
                <a:cs typeface="Perpetua"/>
              </a:rPr>
              <a:t>realize that </a:t>
            </a:r>
            <a:r>
              <a:rPr sz="2400" i="1" spc="-5" dirty="0">
                <a:latin typeface="Perpetua"/>
                <a:cs typeface="Perpetua"/>
              </a:rPr>
              <a:t>lesser of number</a:t>
            </a:r>
            <a:r>
              <a:rPr sz="2400" i="1" spc="-254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of  </a:t>
            </a:r>
            <a:r>
              <a:rPr sz="2400" i="1" dirty="0">
                <a:latin typeface="Perpetua"/>
                <a:cs typeface="Perpetua"/>
              </a:rPr>
              <a:t>instructions </a:t>
            </a:r>
            <a:r>
              <a:rPr sz="2400" i="1" spc="-5" dirty="0">
                <a:latin typeface="Perpetua"/>
                <a:cs typeface="Perpetua"/>
              </a:rPr>
              <a:t>solving </a:t>
            </a:r>
            <a:r>
              <a:rPr sz="2400" i="1" dirty="0">
                <a:latin typeface="Perpetua"/>
                <a:cs typeface="Perpetua"/>
              </a:rPr>
              <a:t>the puzzle </a:t>
            </a:r>
            <a:r>
              <a:rPr sz="2400" i="1" spc="-5" dirty="0">
                <a:latin typeface="Perpetua"/>
                <a:cs typeface="Perpetua"/>
              </a:rPr>
              <a:t>is often</a:t>
            </a:r>
            <a:r>
              <a:rPr sz="2400" i="1" spc="-60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preferred?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04800" y="4800600"/>
            <a:ext cx="2295525" cy="15240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9615" y="1145794"/>
            <a:ext cx="8686165" cy="48431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750" marR="6350" indent="-273685">
              <a:lnSpc>
                <a:spcPct val="100000"/>
              </a:lnSpc>
              <a:spcBef>
                <a:spcPts val="105"/>
              </a:spcBef>
              <a:buSzPct val="84615"/>
              <a:buFont typeface="Wingdings"/>
              <a:buChar char=""/>
              <a:tabLst>
                <a:tab pos="286385" algn="l"/>
              </a:tabLst>
            </a:pPr>
            <a:r>
              <a:rPr sz="2600" i="1" dirty="0">
                <a:latin typeface="Perpetua"/>
                <a:cs typeface="Perpetua"/>
              </a:rPr>
              <a:t>Design an </a:t>
            </a:r>
            <a:r>
              <a:rPr sz="2600" i="1" spc="-5" dirty="0">
                <a:latin typeface="Perpetua"/>
                <a:cs typeface="Perpetua"/>
              </a:rPr>
              <a:t>algorithm </a:t>
            </a:r>
            <a:r>
              <a:rPr sz="2600" i="1" dirty="0">
                <a:latin typeface="Perpetua"/>
                <a:cs typeface="Perpetua"/>
              </a:rPr>
              <a:t>to </a:t>
            </a:r>
            <a:r>
              <a:rPr sz="2600" i="1" spc="-5" dirty="0">
                <a:latin typeface="Perpetua"/>
                <a:cs typeface="Perpetua"/>
              </a:rPr>
              <a:t>convert </a:t>
            </a:r>
            <a:r>
              <a:rPr sz="2600" i="1" dirty="0">
                <a:latin typeface="Perpetua"/>
                <a:cs typeface="Perpetua"/>
              </a:rPr>
              <a:t>a </a:t>
            </a:r>
            <a:r>
              <a:rPr sz="2600" i="1" spc="-5" dirty="0">
                <a:latin typeface="Perpetua"/>
                <a:cs typeface="Perpetua"/>
              </a:rPr>
              <a:t>decimal </a:t>
            </a:r>
            <a:r>
              <a:rPr sz="2600" i="1" spc="-10" dirty="0">
                <a:latin typeface="Perpetua"/>
                <a:cs typeface="Perpetua"/>
              </a:rPr>
              <a:t>integer </a:t>
            </a:r>
            <a:r>
              <a:rPr sz="2600" i="1" spc="-5" dirty="0">
                <a:latin typeface="Perpetua"/>
                <a:cs typeface="Perpetua"/>
              </a:rPr>
              <a:t>to its </a:t>
            </a:r>
            <a:r>
              <a:rPr sz="2600" i="1" dirty="0">
                <a:latin typeface="Perpetua"/>
                <a:cs typeface="Perpetua"/>
              </a:rPr>
              <a:t>corresponding </a:t>
            </a:r>
            <a:r>
              <a:rPr sz="2600" i="1" spc="-5" dirty="0">
                <a:latin typeface="Perpetua"/>
                <a:cs typeface="Perpetua"/>
              </a:rPr>
              <a:t>octal </a:t>
            </a:r>
            <a:r>
              <a:rPr sz="2600" i="1" spc="575" dirty="0">
                <a:latin typeface="Perpetua"/>
                <a:cs typeface="Perpetua"/>
              </a:rPr>
              <a:t> </a:t>
            </a:r>
            <a:r>
              <a:rPr sz="2600" i="1" spc="-10" dirty="0">
                <a:latin typeface="Perpetua"/>
                <a:cs typeface="Perpetua"/>
              </a:rPr>
              <a:t>representation.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Wingdings"/>
              <a:buChar char=""/>
            </a:pPr>
            <a:endParaRPr sz="3750">
              <a:latin typeface="Times New Roman"/>
              <a:cs typeface="Times New Roman"/>
            </a:endParaRPr>
          </a:p>
          <a:p>
            <a:pPr marL="285750" marR="5080" indent="-273685">
              <a:lnSpc>
                <a:spcPct val="100000"/>
              </a:lnSpc>
              <a:spcBef>
                <a:spcPts val="5"/>
              </a:spcBef>
              <a:buSzPct val="84615"/>
              <a:buFont typeface="Wingdings"/>
              <a:buChar char=""/>
              <a:tabLst>
                <a:tab pos="286385" algn="l"/>
              </a:tabLst>
            </a:pPr>
            <a:r>
              <a:rPr sz="2600" i="1" spc="-10" dirty="0">
                <a:latin typeface="Perpetua"/>
                <a:cs typeface="Perpetua"/>
              </a:rPr>
              <a:t>Given two positive non-zero integers </a:t>
            </a:r>
            <a:r>
              <a:rPr sz="2600" i="1" dirty="0">
                <a:latin typeface="Perpetua"/>
                <a:cs typeface="Perpetua"/>
              </a:rPr>
              <a:t>n and </a:t>
            </a:r>
            <a:r>
              <a:rPr sz="2600" i="1" spc="-5" dirty="0">
                <a:latin typeface="Perpetua"/>
                <a:cs typeface="Perpetua"/>
              </a:rPr>
              <a:t>m, design </a:t>
            </a:r>
            <a:r>
              <a:rPr sz="2600" i="1" spc="5" dirty="0">
                <a:latin typeface="Perpetua"/>
                <a:cs typeface="Perpetua"/>
              </a:rPr>
              <a:t>an </a:t>
            </a:r>
            <a:r>
              <a:rPr sz="2600" i="1" dirty="0">
                <a:latin typeface="Perpetua"/>
                <a:cs typeface="Perpetua"/>
              </a:rPr>
              <a:t>algorithm </a:t>
            </a:r>
            <a:r>
              <a:rPr sz="2600" i="1" spc="-15" dirty="0">
                <a:latin typeface="Perpetua"/>
                <a:cs typeface="Perpetua"/>
              </a:rPr>
              <a:t>for </a:t>
            </a:r>
            <a:r>
              <a:rPr sz="2600" i="1" spc="-5" dirty="0">
                <a:latin typeface="Perpetua"/>
                <a:cs typeface="Perpetua"/>
              </a:rPr>
              <a:t>finding  their greatest common </a:t>
            </a:r>
            <a:r>
              <a:rPr sz="2600" i="1" dirty="0">
                <a:latin typeface="Perpetua"/>
                <a:cs typeface="Perpetua"/>
              </a:rPr>
              <a:t>divisor</a:t>
            </a:r>
            <a:r>
              <a:rPr sz="2600" i="1" spc="-15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(gcd).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Wingdings"/>
              <a:buChar char=""/>
            </a:pPr>
            <a:endParaRPr sz="3750">
              <a:latin typeface="Times New Roman"/>
              <a:cs typeface="Times New Roman"/>
            </a:endParaRPr>
          </a:p>
          <a:p>
            <a:pPr marL="285750" marR="6985" indent="-273685">
              <a:lnSpc>
                <a:spcPct val="100000"/>
              </a:lnSpc>
              <a:spcBef>
                <a:spcPts val="5"/>
              </a:spcBef>
              <a:buSzPct val="84615"/>
              <a:buFont typeface="Wingdings"/>
              <a:buChar char=""/>
              <a:tabLst>
                <a:tab pos="286385" algn="l"/>
              </a:tabLst>
            </a:pPr>
            <a:r>
              <a:rPr sz="2600" i="1" dirty="0">
                <a:latin typeface="Perpetua"/>
                <a:cs typeface="Perpetua"/>
              </a:rPr>
              <a:t>Design an </a:t>
            </a:r>
            <a:r>
              <a:rPr sz="2600" i="1" spc="-5" dirty="0">
                <a:latin typeface="Perpetua"/>
                <a:cs typeface="Perpetua"/>
              </a:rPr>
              <a:t>algorithm that </a:t>
            </a:r>
            <a:r>
              <a:rPr sz="2600" i="1" spc="-15" dirty="0">
                <a:latin typeface="Perpetua"/>
                <a:cs typeface="Perpetua"/>
              </a:rPr>
              <a:t>re-arranges </a:t>
            </a:r>
            <a:r>
              <a:rPr sz="2600" i="1" spc="-5" dirty="0">
                <a:latin typeface="Perpetua"/>
                <a:cs typeface="Perpetua"/>
              </a:rPr>
              <a:t>elements in </a:t>
            </a:r>
            <a:r>
              <a:rPr sz="2600" i="1" dirty="0">
                <a:latin typeface="Perpetua"/>
                <a:cs typeface="Perpetua"/>
              </a:rPr>
              <a:t>a </a:t>
            </a:r>
            <a:r>
              <a:rPr sz="2600" i="1" spc="-5" dirty="0">
                <a:latin typeface="Perpetua"/>
                <a:cs typeface="Perpetua"/>
              </a:rPr>
              <a:t>given </a:t>
            </a:r>
            <a:r>
              <a:rPr sz="2600" i="1" spc="-20" dirty="0">
                <a:latin typeface="Perpetua"/>
                <a:cs typeface="Perpetua"/>
              </a:rPr>
              <a:t>array </a:t>
            </a:r>
            <a:r>
              <a:rPr sz="2600" i="1" spc="-5" dirty="0">
                <a:latin typeface="Perpetua"/>
                <a:cs typeface="Perpetua"/>
              </a:rPr>
              <a:t>such that they  appear in </a:t>
            </a:r>
            <a:r>
              <a:rPr sz="2600" i="1" spc="-10" dirty="0">
                <a:latin typeface="Perpetua"/>
                <a:cs typeface="Perpetua"/>
              </a:rPr>
              <a:t>reverse</a:t>
            </a:r>
            <a:r>
              <a:rPr sz="2600" i="1" spc="-60" dirty="0">
                <a:latin typeface="Perpetua"/>
                <a:cs typeface="Perpetua"/>
              </a:rPr>
              <a:t> </a:t>
            </a:r>
            <a:r>
              <a:rPr sz="2600" i="1" spc="-30" dirty="0">
                <a:latin typeface="Perpetua"/>
                <a:cs typeface="Perpetua"/>
              </a:rPr>
              <a:t>order.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Wingdings"/>
              <a:buChar char=""/>
            </a:pPr>
            <a:endParaRPr sz="3750">
              <a:latin typeface="Times New Roman"/>
              <a:cs typeface="Times New Roman"/>
            </a:endParaRPr>
          </a:p>
          <a:p>
            <a:pPr marL="285750" marR="5080" indent="-273685">
              <a:lnSpc>
                <a:spcPct val="100000"/>
              </a:lnSpc>
              <a:buSzPct val="84615"/>
              <a:buFont typeface="Wingdings"/>
              <a:buChar char=""/>
              <a:tabLst>
                <a:tab pos="286385" algn="l"/>
                <a:tab pos="7621270" algn="l"/>
              </a:tabLst>
            </a:pPr>
            <a:r>
              <a:rPr sz="2600" i="1" spc="-10" dirty="0">
                <a:latin typeface="Perpetua"/>
                <a:cs typeface="Perpetua"/>
              </a:rPr>
              <a:t>Given</a:t>
            </a:r>
            <a:r>
              <a:rPr sz="2600" i="1" spc="350" dirty="0">
                <a:latin typeface="Perpetua"/>
                <a:cs typeface="Perpetua"/>
              </a:rPr>
              <a:t> </a:t>
            </a:r>
            <a:r>
              <a:rPr sz="2600" i="1" dirty="0">
                <a:latin typeface="Perpetua"/>
                <a:cs typeface="Perpetua"/>
              </a:rPr>
              <a:t>a</a:t>
            </a:r>
            <a:r>
              <a:rPr sz="2600" i="1" spc="360" dirty="0">
                <a:latin typeface="Perpetua"/>
                <a:cs typeface="Perpetua"/>
              </a:rPr>
              <a:t> </a:t>
            </a:r>
            <a:r>
              <a:rPr sz="2600" i="1" dirty="0">
                <a:latin typeface="Perpetua"/>
                <a:cs typeface="Perpetua"/>
              </a:rPr>
              <a:t>set</a:t>
            </a:r>
            <a:r>
              <a:rPr sz="2600" i="1" spc="350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of</a:t>
            </a:r>
            <a:r>
              <a:rPr sz="2600" i="1" spc="355" dirty="0">
                <a:latin typeface="Perpetua"/>
                <a:cs typeface="Perpetua"/>
              </a:rPr>
              <a:t> </a:t>
            </a:r>
            <a:r>
              <a:rPr sz="2600" i="1" dirty="0">
                <a:latin typeface="Perpetua"/>
                <a:cs typeface="Perpetua"/>
              </a:rPr>
              <a:t>n</a:t>
            </a:r>
            <a:r>
              <a:rPr sz="2600" i="1" spc="355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students’</a:t>
            </a:r>
            <a:r>
              <a:rPr sz="2600" i="1" spc="105" dirty="0">
                <a:latin typeface="Perpetua"/>
                <a:cs typeface="Perpetua"/>
              </a:rPr>
              <a:t> </a:t>
            </a:r>
            <a:r>
              <a:rPr sz="2600" i="1" dirty="0">
                <a:latin typeface="Perpetua"/>
                <a:cs typeface="Perpetua"/>
              </a:rPr>
              <a:t>exam</a:t>
            </a:r>
            <a:r>
              <a:rPr sz="2600" i="1" spc="360" dirty="0">
                <a:latin typeface="Perpetua"/>
                <a:cs typeface="Perpetua"/>
              </a:rPr>
              <a:t> </a:t>
            </a:r>
            <a:r>
              <a:rPr sz="2600" i="1" spc="-10" dirty="0">
                <a:latin typeface="Perpetua"/>
                <a:cs typeface="Perpetua"/>
              </a:rPr>
              <a:t>marks</a:t>
            </a:r>
            <a:r>
              <a:rPr sz="2600" i="1" spc="345" dirty="0">
                <a:latin typeface="Perpetua"/>
                <a:cs typeface="Perpetua"/>
              </a:rPr>
              <a:t> </a:t>
            </a:r>
            <a:r>
              <a:rPr sz="2600" i="1" dirty="0">
                <a:latin typeface="Perpetua"/>
                <a:cs typeface="Perpetua"/>
              </a:rPr>
              <a:t>(in</a:t>
            </a:r>
            <a:r>
              <a:rPr sz="2600" i="1" spc="345" dirty="0">
                <a:latin typeface="Perpetua"/>
                <a:cs typeface="Perpetua"/>
              </a:rPr>
              <a:t> </a:t>
            </a:r>
            <a:r>
              <a:rPr sz="2600" i="1" dirty="0">
                <a:latin typeface="Perpetua"/>
                <a:cs typeface="Perpetua"/>
              </a:rPr>
              <a:t>the</a:t>
            </a:r>
            <a:r>
              <a:rPr sz="2600" i="1" spc="360" dirty="0">
                <a:latin typeface="Perpetua"/>
                <a:cs typeface="Perpetua"/>
              </a:rPr>
              <a:t> </a:t>
            </a:r>
            <a:r>
              <a:rPr sz="2600" i="1" spc="-25" dirty="0">
                <a:latin typeface="Perpetua"/>
                <a:cs typeface="Perpetua"/>
              </a:rPr>
              <a:t>range</a:t>
            </a:r>
            <a:r>
              <a:rPr sz="2600" i="1" spc="365" dirty="0">
                <a:latin typeface="Perpetua"/>
                <a:cs typeface="Perpetua"/>
              </a:rPr>
              <a:t> </a:t>
            </a:r>
            <a:r>
              <a:rPr sz="2600" i="1" dirty="0">
                <a:latin typeface="Perpetua"/>
                <a:cs typeface="Perpetua"/>
              </a:rPr>
              <a:t>0</a:t>
            </a:r>
            <a:r>
              <a:rPr sz="2600" i="1" spc="355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to</a:t>
            </a:r>
            <a:r>
              <a:rPr sz="2600" i="1" spc="355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100),	</a:t>
            </a:r>
            <a:r>
              <a:rPr sz="2600" i="1" dirty="0">
                <a:latin typeface="Perpetua"/>
                <a:cs typeface="Perpetua"/>
              </a:rPr>
              <a:t>design </a:t>
            </a:r>
            <a:r>
              <a:rPr sz="2600" i="1" spc="10" dirty="0">
                <a:latin typeface="Perpetua"/>
                <a:cs typeface="Perpetua"/>
              </a:rPr>
              <a:t>an  </a:t>
            </a:r>
            <a:r>
              <a:rPr sz="2600" i="1" dirty="0">
                <a:latin typeface="Perpetua"/>
                <a:cs typeface="Perpetua"/>
              </a:rPr>
              <a:t>algorithm </a:t>
            </a:r>
            <a:r>
              <a:rPr sz="2600" i="1" spc="-5" dirty="0">
                <a:latin typeface="Perpetua"/>
                <a:cs typeface="Perpetua"/>
              </a:rPr>
              <a:t>to count the number of </a:t>
            </a:r>
            <a:r>
              <a:rPr sz="2600" i="1" dirty="0">
                <a:latin typeface="Perpetua"/>
                <a:cs typeface="Perpetua"/>
              </a:rPr>
              <a:t>students </a:t>
            </a:r>
            <a:r>
              <a:rPr sz="2600" i="1" spc="-15" dirty="0">
                <a:latin typeface="Perpetua"/>
                <a:cs typeface="Perpetua"/>
              </a:rPr>
              <a:t>who </a:t>
            </a:r>
            <a:r>
              <a:rPr sz="2600" i="1" spc="-5" dirty="0">
                <a:latin typeface="Perpetua"/>
                <a:cs typeface="Perpetua"/>
              </a:rPr>
              <a:t>obtained </a:t>
            </a:r>
            <a:r>
              <a:rPr sz="2600" i="1" dirty="0">
                <a:latin typeface="Perpetua"/>
                <a:cs typeface="Perpetua"/>
              </a:rPr>
              <a:t>each </a:t>
            </a:r>
            <a:r>
              <a:rPr sz="2600" i="1" spc="-10" dirty="0">
                <a:latin typeface="Perpetua"/>
                <a:cs typeface="Perpetua"/>
              </a:rPr>
              <a:t>possible</a:t>
            </a:r>
            <a:r>
              <a:rPr sz="2600" i="1" spc="80" dirty="0">
                <a:latin typeface="Perpetua"/>
                <a:cs typeface="Perpetua"/>
              </a:rPr>
              <a:t> </a:t>
            </a:r>
            <a:r>
              <a:rPr sz="2600" i="1" spc="-10" dirty="0">
                <a:latin typeface="Perpetua"/>
                <a:cs typeface="Perpetua"/>
              </a:rPr>
              <a:t>mark.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405254" y="286396"/>
            <a:ext cx="1648690" cy="8470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43110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0" dirty="0"/>
              <a:t>Write </a:t>
            </a:r>
            <a:r>
              <a:rPr spc="-5" dirty="0"/>
              <a:t>an </a:t>
            </a:r>
            <a:r>
              <a:rPr spc="5" dirty="0"/>
              <a:t>Algorithm</a:t>
            </a:r>
            <a:r>
              <a:rPr spc="-385" dirty="0"/>
              <a:t> </a:t>
            </a:r>
            <a:r>
              <a:rPr spc="-5" dirty="0"/>
              <a:t>for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357544"/>
            <a:ext cx="5965825" cy="286194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7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Step1:</a:t>
            </a:r>
            <a:r>
              <a:rPr sz="2600" spc="-114" dirty="0">
                <a:latin typeface="Perpetua"/>
                <a:cs typeface="Perpetua"/>
              </a:rPr>
              <a:t> </a:t>
            </a:r>
            <a:r>
              <a:rPr sz="2600" spc="15" dirty="0">
                <a:latin typeface="Perpetua"/>
                <a:cs typeface="Perpetua"/>
              </a:rPr>
              <a:t>Start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Step2: Read/input</a:t>
            </a:r>
            <a:r>
              <a:rPr sz="2600" spc="-10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x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Step3: </a:t>
            </a:r>
            <a:r>
              <a:rPr sz="2600" dirty="0">
                <a:latin typeface="Perpetua"/>
                <a:cs typeface="Perpetua"/>
              </a:rPr>
              <a:t>If X Less than </a:t>
            </a:r>
            <a:r>
              <a:rPr sz="2600" spc="-10" dirty="0">
                <a:latin typeface="Perpetua"/>
                <a:cs typeface="Perpetua"/>
              </a:rPr>
              <a:t>zero </a:t>
            </a:r>
            <a:r>
              <a:rPr sz="2600" dirty="0">
                <a:latin typeface="Perpetua"/>
                <a:cs typeface="Perpetua"/>
              </a:rPr>
              <a:t>then</a:t>
            </a:r>
            <a:r>
              <a:rPr sz="2600" spc="-160" dirty="0">
                <a:latin typeface="Perpetua"/>
                <a:cs typeface="Perpetua"/>
              </a:rPr>
              <a:t> </a:t>
            </a:r>
            <a:r>
              <a:rPr sz="2600" spc="5" dirty="0">
                <a:latin typeface="Perpetua"/>
                <a:cs typeface="Perpetua"/>
              </a:rPr>
              <a:t>F=-X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Step4: </a:t>
            </a:r>
            <a:r>
              <a:rPr sz="2600" dirty="0">
                <a:latin typeface="Perpetua"/>
                <a:cs typeface="Perpetua"/>
              </a:rPr>
              <a:t>if X </a:t>
            </a:r>
            <a:r>
              <a:rPr sz="2600" spc="-5" dirty="0">
                <a:latin typeface="Perpetua"/>
                <a:cs typeface="Perpetua"/>
              </a:rPr>
              <a:t>greater than </a:t>
            </a:r>
            <a:r>
              <a:rPr sz="2600" dirty="0">
                <a:latin typeface="Perpetua"/>
                <a:cs typeface="Perpetua"/>
              </a:rPr>
              <a:t>or </a:t>
            </a:r>
            <a:r>
              <a:rPr sz="2600" spc="-5" dirty="0">
                <a:latin typeface="Perpetua"/>
                <a:cs typeface="Perpetua"/>
              </a:rPr>
              <a:t>equal </a:t>
            </a:r>
            <a:r>
              <a:rPr sz="2600" spc="-10" dirty="0">
                <a:latin typeface="Perpetua"/>
                <a:cs typeface="Perpetua"/>
              </a:rPr>
              <a:t>zero </a:t>
            </a:r>
            <a:r>
              <a:rPr sz="2600" spc="-5" dirty="0">
                <a:latin typeface="Perpetua"/>
                <a:cs typeface="Perpetua"/>
              </a:rPr>
              <a:t>then</a:t>
            </a:r>
            <a:r>
              <a:rPr sz="2600" spc="-9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F=X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Step5: </a:t>
            </a:r>
            <a:r>
              <a:rPr sz="2600" spc="10" dirty="0">
                <a:latin typeface="Perpetua"/>
                <a:cs typeface="Perpetua"/>
              </a:rPr>
              <a:t>Print</a:t>
            </a:r>
            <a:r>
              <a:rPr sz="2600" spc="-10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F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Step6:</a:t>
            </a:r>
            <a:r>
              <a:rPr sz="2600" spc="-11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End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952999" y="598466"/>
            <a:ext cx="2325423" cy="54624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51003"/>
            <a:ext cx="8450580" cy="1489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  <a:tabLst>
                <a:tab pos="1081405" algn="l"/>
              </a:tabLst>
            </a:pPr>
            <a:r>
              <a:rPr sz="3200" dirty="0"/>
              <a:t>Design </a:t>
            </a:r>
            <a:r>
              <a:rPr sz="3200" spc="5" dirty="0"/>
              <a:t>an algorithm </a:t>
            </a:r>
            <a:r>
              <a:rPr sz="3200" dirty="0"/>
              <a:t>with a </a:t>
            </a:r>
            <a:r>
              <a:rPr sz="3200" spc="-5" dirty="0"/>
              <a:t>natural </a:t>
            </a:r>
            <a:r>
              <a:rPr sz="3200" spc="-45" dirty="0"/>
              <a:t>number, </a:t>
            </a:r>
            <a:r>
              <a:rPr sz="3200" dirty="0"/>
              <a:t>n, </a:t>
            </a:r>
            <a:r>
              <a:rPr sz="3200" spc="-5" dirty="0"/>
              <a:t>as </a:t>
            </a:r>
            <a:r>
              <a:rPr sz="3200" dirty="0"/>
              <a:t>its</a:t>
            </a:r>
            <a:r>
              <a:rPr sz="3200" spc="-235" dirty="0"/>
              <a:t> </a:t>
            </a:r>
            <a:r>
              <a:rPr sz="3200" spc="-5" dirty="0"/>
              <a:t>input  </a:t>
            </a:r>
            <a:r>
              <a:rPr sz="3200" spc="10" dirty="0"/>
              <a:t>which	</a:t>
            </a:r>
            <a:r>
              <a:rPr sz="3200" spc="-5" dirty="0"/>
              <a:t>calculates </a:t>
            </a:r>
            <a:r>
              <a:rPr sz="3200" dirty="0"/>
              <a:t>the </a:t>
            </a:r>
            <a:r>
              <a:rPr sz="3200" spc="-15" dirty="0"/>
              <a:t>following </a:t>
            </a:r>
            <a:r>
              <a:rPr sz="3200" spc="5" dirty="0"/>
              <a:t>formula </a:t>
            </a:r>
            <a:r>
              <a:rPr sz="3200" spc="-5" dirty="0"/>
              <a:t>and </a:t>
            </a:r>
            <a:r>
              <a:rPr sz="3200" spc="10" dirty="0"/>
              <a:t>writes </a:t>
            </a:r>
            <a:r>
              <a:rPr sz="3200" dirty="0"/>
              <a:t>the  </a:t>
            </a:r>
            <a:r>
              <a:rPr sz="3200" spc="-10" dirty="0"/>
              <a:t>result </a:t>
            </a:r>
            <a:r>
              <a:rPr sz="3200" dirty="0"/>
              <a:t>in the standard </a:t>
            </a:r>
            <a:r>
              <a:rPr sz="3200" spc="-5" dirty="0"/>
              <a:t>output: </a:t>
            </a:r>
            <a:r>
              <a:rPr sz="3200" dirty="0"/>
              <a:t>S = ½ + ¼ + ...</a:t>
            </a:r>
            <a:r>
              <a:rPr sz="3200" spc="-225" dirty="0"/>
              <a:t> </a:t>
            </a:r>
            <a:r>
              <a:rPr sz="3200" dirty="0"/>
              <a:t>+1/n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307340" y="1815820"/>
            <a:ext cx="3939540" cy="3805554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7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1.</a:t>
            </a:r>
            <a:r>
              <a:rPr sz="2600" spc="-114" dirty="0">
                <a:latin typeface="Perpetua"/>
                <a:cs typeface="Perpetua"/>
              </a:rPr>
              <a:t> </a:t>
            </a:r>
            <a:r>
              <a:rPr sz="2600" spc="15" dirty="0">
                <a:latin typeface="Perpetua"/>
                <a:cs typeface="Perpetua"/>
              </a:rPr>
              <a:t>Start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2. </a:t>
            </a:r>
            <a:r>
              <a:rPr sz="2600" spc="-5" dirty="0">
                <a:latin typeface="Perpetua"/>
                <a:cs typeface="Perpetua"/>
              </a:rPr>
              <a:t>Read</a:t>
            </a:r>
            <a:r>
              <a:rPr sz="2600" spc="-1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n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7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3. I </a:t>
            </a:r>
            <a:r>
              <a:rPr sz="2600" spc="5" dirty="0">
                <a:latin typeface="Times New Roman"/>
                <a:cs typeface="Times New Roman"/>
              </a:rPr>
              <a:t>← </a:t>
            </a:r>
            <a:r>
              <a:rPr sz="2600" dirty="0">
                <a:latin typeface="Perpetua"/>
                <a:cs typeface="Perpetua"/>
              </a:rPr>
              <a:t>2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dirty="0">
                <a:latin typeface="Perpetua"/>
                <a:cs typeface="Perpetua"/>
              </a:rPr>
              <a:t>S </a:t>
            </a:r>
            <a:r>
              <a:rPr sz="2600" spc="5" dirty="0">
                <a:latin typeface="Times New Roman"/>
                <a:cs typeface="Times New Roman"/>
              </a:rPr>
              <a:t>←</a:t>
            </a:r>
            <a:r>
              <a:rPr sz="2600" spc="-27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Perpetua"/>
                <a:cs typeface="Perpetua"/>
              </a:rPr>
              <a:t>0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53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4. S= S +</a:t>
            </a:r>
            <a:r>
              <a:rPr sz="2600" spc="-13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1/I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7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5. I </a:t>
            </a:r>
            <a:r>
              <a:rPr sz="2600" dirty="0">
                <a:latin typeface="Times New Roman"/>
                <a:cs typeface="Times New Roman"/>
              </a:rPr>
              <a:t>← </a:t>
            </a:r>
            <a:r>
              <a:rPr sz="2600" dirty="0">
                <a:latin typeface="Perpetua"/>
                <a:cs typeface="Perpetua"/>
              </a:rPr>
              <a:t>I +</a:t>
            </a:r>
            <a:r>
              <a:rPr sz="2600" spc="-19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2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53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6. If (I &lt;= n) then </a:t>
            </a:r>
            <a:r>
              <a:rPr sz="2600" spc="-5" dirty="0">
                <a:latin typeface="Perpetua"/>
                <a:cs typeface="Perpetua"/>
              </a:rPr>
              <a:t>go </a:t>
            </a:r>
            <a:r>
              <a:rPr sz="2600" dirty="0">
                <a:latin typeface="Perpetua"/>
                <a:cs typeface="Perpetua"/>
              </a:rPr>
              <a:t>to </a:t>
            </a:r>
            <a:r>
              <a:rPr sz="2600" spc="-5" dirty="0">
                <a:latin typeface="Perpetua"/>
                <a:cs typeface="Perpetua"/>
              </a:rPr>
              <a:t>line</a:t>
            </a:r>
            <a:r>
              <a:rPr sz="2600" spc="-18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4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else </a:t>
            </a:r>
            <a:r>
              <a:rPr sz="2600" spc="10" dirty="0">
                <a:latin typeface="Perpetua"/>
                <a:cs typeface="Perpetua"/>
              </a:rPr>
              <a:t>write </a:t>
            </a:r>
            <a:r>
              <a:rPr sz="2600" dirty="0">
                <a:latin typeface="Perpetua"/>
                <a:cs typeface="Perpetua"/>
              </a:rPr>
              <a:t>S in </a:t>
            </a:r>
            <a:r>
              <a:rPr sz="2600" spc="-5" dirty="0">
                <a:latin typeface="Perpetua"/>
                <a:cs typeface="Perpetua"/>
              </a:rPr>
              <a:t>standard</a:t>
            </a:r>
            <a:r>
              <a:rPr sz="2600" spc="-7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output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7.</a:t>
            </a:r>
            <a:r>
              <a:rPr sz="2600" spc="-114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End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740" y="891286"/>
            <a:ext cx="413892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10" dirty="0">
                <a:latin typeface="Perpetua"/>
                <a:cs typeface="Perpetua"/>
              </a:rPr>
              <a:t>What </a:t>
            </a:r>
            <a:r>
              <a:rPr i="1" spc="-5" dirty="0">
                <a:latin typeface="Perpetua"/>
                <a:cs typeface="Perpetua"/>
              </a:rPr>
              <a:t>has been</a:t>
            </a:r>
            <a:r>
              <a:rPr i="1" spc="-40" dirty="0">
                <a:latin typeface="Perpetua"/>
                <a:cs typeface="Perpetua"/>
              </a:rPr>
              <a:t> </a:t>
            </a:r>
            <a:r>
              <a:rPr i="1" dirty="0">
                <a:latin typeface="Perpetua"/>
                <a:cs typeface="Perpetua"/>
              </a:rPr>
              <a:t>described?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14113" y="1891411"/>
            <a:ext cx="366522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306195" algn="l"/>
                <a:tab pos="1786255" algn="l"/>
                <a:tab pos="2413000" algn="l"/>
                <a:tab pos="3418840" algn="l"/>
              </a:tabLst>
            </a:pPr>
            <a:r>
              <a:rPr sz="2600" dirty="0">
                <a:latin typeface="Perpetua"/>
                <a:cs typeface="Perpetua"/>
              </a:rPr>
              <a:t>c</a:t>
            </a:r>
            <a:r>
              <a:rPr sz="2600" spc="-10" dirty="0">
                <a:latin typeface="Perpetua"/>
                <a:cs typeface="Perpetua"/>
              </a:rPr>
              <a:t>o</a:t>
            </a:r>
            <a:r>
              <a:rPr sz="2600" dirty="0">
                <a:latin typeface="Perpetua"/>
                <a:cs typeface="Perpetua"/>
              </a:rPr>
              <a:t>n</a:t>
            </a:r>
            <a:r>
              <a:rPr sz="2600" spc="-15" dirty="0">
                <a:latin typeface="Perpetua"/>
                <a:cs typeface="Perpetua"/>
              </a:rPr>
              <a:t>c</a:t>
            </a:r>
            <a:r>
              <a:rPr sz="2600" spc="5" dirty="0">
                <a:latin typeface="Perpetua"/>
                <a:cs typeface="Perpetua"/>
              </a:rPr>
              <a:t>e</a:t>
            </a:r>
            <a:r>
              <a:rPr sz="2600" dirty="0">
                <a:latin typeface="Perpetua"/>
                <a:cs typeface="Perpetua"/>
              </a:rPr>
              <a:t>p</a:t>
            </a:r>
            <a:r>
              <a:rPr sz="2600" spc="-10" dirty="0">
                <a:latin typeface="Perpetua"/>
                <a:cs typeface="Perpetua"/>
              </a:rPr>
              <a:t>t</a:t>
            </a:r>
            <a:r>
              <a:rPr sz="2600" dirty="0">
                <a:latin typeface="Perpetua"/>
                <a:cs typeface="Perpetua"/>
              </a:rPr>
              <a:t>s	in	the	design	</a:t>
            </a:r>
            <a:r>
              <a:rPr sz="2600" spc="-20" dirty="0">
                <a:latin typeface="Perpetua"/>
                <a:cs typeface="Perpetua"/>
              </a:rPr>
              <a:t>of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4540" y="1891411"/>
            <a:ext cx="3723004" cy="8185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 marR="5080" indent="-274955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7020" algn="l"/>
                <a:tab pos="287655" algn="l"/>
                <a:tab pos="1612900" algn="l"/>
                <a:tab pos="2875280" algn="l"/>
              </a:tabLst>
            </a:pPr>
            <a:r>
              <a:rPr sz="2600" spc="-5" dirty="0">
                <a:latin typeface="Perpetua"/>
                <a:cs typeface="Perpetua"/>
              </a:rPr>
              <a:t>Ap</a:t>
            </a:r>
            <a:r>
              <a:rPr sz="2600" spc="-10" dirty="0">
                <a:latin typeface="Perpetua"/>
                <a:cs typeface="Perpetua"/>
              </a:rPr>
              <a:t>p</a:t>
            </a:r>
            <a:r>
              <a:rPr sz="2600" spc="-55" dirty="0">
                <a:latin typeface="Perpetua"/>
                <a:cs typeface="Perpetua"/>
              </a:rPr>
              <a:t>l</a:t>
            </a:r>
            <a:r>
              <a:rPr sz="2600" dirty="0">
                <a:latin typeface="Perpetua"/>
                <a:cs typeface="Perpetua"/>
              </a:rPr>
              <a:t>ying	p</a:t>
            </a:r>
            <a:r>
              <a:rPr sz="2600" spc="-15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o</a:t>
            </a:r>
            <a:r>
              <a:rPr sz="2600" spc="-45" dirty="0">
                <a:latin typeface="Perpetua"/>
                <a:cs typeface="Perpetua"/>
              </a:rPr>
              <a:t>b</a:t>
            </a:r>
            <a:r>
              <a:rPr sz="2600" spc="-5" dirty="0">
                <a:latin typeface="Perpetua"/>
                <a:cs typeface="Perpetua"/>
              </a:rPr>
              <a:t>le</a:t>
            </a:r>
            <a:r>
              <a:rPr sz="2600" dirty="0">
                <a:latin typeface="Perpetua"/>
                <a:cs typeface="Perpetua"/>
              </a:rPr>
              <a:t>m	</a:t>
            </a:r>
            <a:r>
              <a:rPr sz="2600" spc="-15" dirty="0">
                <a:latin typeface="Perpetua"/>
                <a:cs typeface="Perpetua"/>
              </a:rPr>
              <a:t>s</a:t>
            </a:r>
            <a:r>
              <a:rPr sz="2600" dirty="0">
                <a:latin typeface="Perpetua"/>
                <a:cs typeface="Perpetua"/>
              </a:rPr>
              <a:t>ol</a:t>
            </a:r>
            <a:r>
              <a:rPr sz="2600" spc="-15" dirty="0">
                <a:latin typeface="Perpetua"/>
                <a:cs typeface="Perpetua"/>
              </a:rPr>
              <a:t>v</a:t>
            </a:r>
            <a:r>
              <a:rPr sz="2600" dirty="0">
                <a:latin typeface="Perpetua"/>
                <a:cs typeface="Perpetua"/>
              </a:rPr>
              <a:t>ing  </a:t>
            </a:r>
            <a:r>
              <a:rPr sz="2600" spc="-5" dirty="0">
                <a:latin typeface="Perpetua"/>
                <a:cs typeface="Perpetua"/>
              </a:rPr>
              <a:t>algorithms.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4540" y="3232785"/>
            <a:ext cx="7617459" cy="8185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 marR="5080" indent="-274955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7020" algn="l"/>
                <a:tab pos="287655" algn="l"/>
                <a:tab pos="1327785" algn="l"/>
                <a:tab pos="2858135" algn="l"/>
                <a:tab pos="3246755" algn="l"/>
                <a:tab pos="3914775" algn="l"/>
                <a:tab pos="4406900" algn="l"/>
                <a:tab pos="5520690" algn="l"/>
                <a:tab pos="6116955" algn="l"/>
                <a:tab pos="6767830" algn="l"/>
              </a:tabLst>
            </a:pPr>
            <a:r>
              <a:rPr sz="2600" spc="-5" dirty="0">
                <a:latin typeface="Perpetua"/>
                <a:cs typeface="Perpetua"/>
              </a:rPr>
              <a:t>C</a:t>
            </a:r>
            <a:r>
              <a:rPr sz="2600" spc="55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itical	obse</a:t>
            </a:r>
            <a:r>
              <a:rPr sz="2600" spc="100" dirty="0">
                <a:latin typeface="Perpetua"/>
                <a:cs typeface="Perpetua"/>
              </a:rPr>
              <a:t>r</a:t>
            </a:r>
            <a:r>
              <a:rPr sz="2600" spc="-45" dirty="0">
                <a:latin typeface="Perpetua"/>
                <a:cs typeface="Perpetua"/>
              </a:rPr>
              <a:t>v</a:t>
            </a:r>
            <a:r>
              <a:rPr sz="2600" spc="-30" dirty="0">
                <a:latin typeface="Perpetua"/>
                <a:cs typeface="Perpetua"/>
              </a:rPr>
              <a:t>a</a:t>
            </a:r>
            <a:r>
              <a:rPr sz="2600" dirty="0">
                <a:latin typeface="Perpetua"/>
                <a:cs typeface="Perpetua"/>
              </a:rPr>
              <a:t>tion	</a:t>
            </a:r>
            <a:r>
              <a:rPr sz="2600" spc="-5" dirty="0">
                <a:latin typeface="Perpetua"/>
                <a:cs typeface="Perpetua"/>
              </a:rPr>
              <a:t>t</a:t>
            </a:r>
            <a:r>
              <a:rPr sz="2600" dirty="0">
                <a:latin typeface="Perpetua"/>
                <a:cs typeface="Perpetua"/>
              </a:rPr>
              <a:t>o	</a:t>
            </a:r>
            <a:r>
              <a:rPr sz="2600" spc="-5" dirty="0">
                <a:latin typeface="Perpetua"/>
                <a:cs typeface="Perpetua"/>
              </a:rPr>
              <a:t>lo</a:t>
            </a:r>
            <a:r>
              <a:rPr sz="2600" spc="-15" dirty="0">
                <a:latin typeface="Perpetua"/>
                <a:cs typeface="Perpetua"/>
              </a:rPr>
              <a:t>o</a:t>
            </a:r>
            <a:r>
              <a:rPr sz="2600" dirty="0">
                <a:latin typeface="Perpetua"/>
                <a:cs typeface="Perpetua"/>
              </a:rPr>
              <a:t>k	</a:t>
            </a:r>
            <a:r>
              <a:rPr sz="2600" spc="-5" dirty="0">
                <a:latin typeface="Perpetua"/>
                <a:cs typeface="Perpetua"/>
              </a:rPr>
              <a:t>fo</a:t>
            </a:r>
            <a:r>
              <a:rPr sz="2600" dirty="0">
                <a:latin typeface="Perpetua"/>
                <a:cs typeface="Perpetua"/>
              </a:rPr>
              <a:t>r	p</a:t>
            </a:r>
            <a:r>
              <a:rPr sz="2600" spc="-35" dirty="0">
                <a:latin typeface="Perpetua"/>
                <a:cs typeface="Perpetua"/>
              </a:rPr>
              <a:t>a</a:t>
            </a:r>
            <a:r>
              <a:rPr sz="2600" dirty="0">
                <a:latin typeface="Perpetua"/>
                <a:cs typeface="Perpetua"/>
              </a:rPr>
              <a:t>t</a:t>
            </a:r>
            <a:r>
              <a:rPr sz="2600" spc="-10" dirty="0">
                <a:latin typeface="Perpetua"/>
                <a:cs typeface="Perpetua"/>
              </a:rPr>
              <a:t>t</a:t>
            </a:r>
            <a:r>
              <a:rPr sz="2600" dirty="0">
                <a:latin typeface="Perpetua"/>
                <a:cs typeface="Perpetua"/>
              </a:rPr>
              <a:t>e</a:t>
            </a:r>
            <a:r>
              <a:rPr sz="2600" spc="70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ns	th</a:t>
            </a:r>
            <a:r>
              <a:rPr sz="2600" spc="-35" dirty="0">
                <a:latin typeface="Perpetua"/>
                <a:cs typeface="Perpetua"/>
              </a:rPr>
              <a:t>a</a:t>
            </a:r>
            <a:r>
              <a:rPr sz="2600" dirty="0">
                <a:latin typeface="Perpetua"/>
                <a:cs typeface="Perpetua"/>
              </a:rPr>
              <a:t>t	</a:t>
            </a:r>
            <a:r>
              <a:rPr sz="2600" spc="-5" dirty="0">
                <a:latin typeface="Perpetua"/>
                <a:cs typeface="Perpetua"/>
              </a:rPr>
              <a:t>hel</a:t>
            </a:r>
            <a:r>
              <a:rPr sz="2600" dirty="0">
                <a:latin typeface="Perpetua"/>
                <a:cs typeface="Perpetua"/>
              </a:rPr>
              <a:t>p	sol</a:t>
            </a:r>
            <a:r>
              <a:rPr sz="2600" spc="-15" dirty="0">
                <a:latin typeface="Perpetua"/>
                <a:cs typeface="Perpetua"/>
              </a:rPr>
              <a:t>v</a:t>
            </a:r>
            <a:r>
              <a:rPr sz="2600" dirty="0">
                <a:latin typeface="Perpetua"/>
                <a:cs typeface="Perpetua"/>
              </a:rPr>
              <a:t>ing  </a:t>
            </a:r>
            <a:r>
              <a:rPr sz="2600" spc="-15" dirty="0">
                <a:latin typeface="Perpetua"/>
                <a:cs typeface="Perpetua"/>
              </a:rPr>
              <a:t>problems.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29000" y="5348477"/>
            <a:ext cx="4989829" cy="11468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i="1" spc="-5" dirty="0">
                <a:latin typeface="Perpetua"/>
                <a:cs typeface="Perpetua"/>
              </a:rPr>
              <a:t>Credits</a:t>
            </a:r>
            <a:endParaRPr sz="1050" dirty="0">
              <a:latin typeface="Perpetua"/>
              <a:cs typeface="Perpetua"/>
            </a:endParaRPr>
          </a:p>
          <a:p>
            <a:pPr marL="74295" indent="-62230">
              <a:lnSpc>
                <a:spcPct val="100000"/>
              </a:lnSpc>
              <a:buSzPct val="90476"/>
              <a:buFont typeface="Wingdings"/>
              <a:buChar char=""/>
              <a:tabLst>
                <a:tab pos="74930" algn="l"/>
              </a:tabLst>
            </a:pPr>
            <a:r>
              <a:rPr sz="1050" i="1" dirty="0">
                <a:latin typeface="Perpetua"/>
                <a:cs typeface="Perpetua"/>
              </a:rPr>
              <a:t>CS4edu</a:t>
            </a:r>
            <a:r>
              <a:rPr sz="1050" i="1" spc="-45" dirty="0">
                <a:latin typeface="Perpetua"/>
                <a:cs typeface="Perpetua"/>
              </a:rPr>
              <a:t> </a:t>
            </a:r>
            <a:r>
              <a:rPr sz="1050" i="1" dirty="0">
                <a:latin typeface="Perpetua"/>
                <a:cs typeface="Perpetua"/>
              </a:rPr>
              <a:t>Purdue</a:t>
            </a:r>
            <a:endParaRPr sz="1050" dirty="0">
              <a:latin typeface="Perpetua"/>
              <a:cs typeface="Perpetua"/>
            </a:endParaRPr>
          </a:p>
          <a:p>
            <a:pPr marL="74295" indent="-62230">
              <a:lnSpc>
                <a:spcPct val="100000"/>
              </a:lnSpc>
              <a:buSzPct val="90476"/>
              <a:buFont typeface="Wingdings"/>
              <a:buChar char=""/>
              <a:tabLst>
                <a:tab pos="74930" algn="l"/>
              </a:tabLst>
            </a:pPr>
            <a:r>
              <a:rPr sz="1050" i="1" spc="-5" dirty="0">
                <a:latin typeface="Perpetua"/>
                <a:cs typeface="Perpetua"/>
                <a:hlinkClick r:id="rId2"/>
              </a:rPr>
              <a:t>http://raptor.martincarlisle.com</a:t>
            </a:r>
            <a:endParaRPr sz="1050" dirty="0">
              <a:latin typeface="Perpetua"/>
              <a:cs typeface="Perpetua"/>
            </a:endParaRPr>
          </a:p>
          <a:p>
            <a:pPr marL="74295" indent="-62230">
              <a:lnSpc>
                <a:spcPct val="100000"/>
              </a:lnSpc>
              <a:buSzPct val="90476"/>
              <a:buFont typeface="Wingdings"/>
              <a:buChar char=""/>
              <a:tabLst>
                <a:tab pos="74930" algn="l"/>
              </a:tabLst>
            </a:pPr>
            <a:r>
              <a:rPr sz="1050" i="1" spc="-5" dirty="0">
                <a:latin typeface="Perpetua"/>
                <a:cs typeface="Perpetua"/>
              </a:rPr>
              <a:t>Theinternationallocal.blogspot.com</a:t>
            </a:r>
            <a:endParaRPr sz="1050" dirty="0">
              <a:latin typeface="Perpetua"/>
              <a:cs typeface="Perpetua"/>
            </a:endParaRPr>
          </a:p>
          <a:p>
            <a:pPr marL="74295" indent="-62230">
              <a:lnSpc>
                <a:spcPct val="100000"/>
              </a:lnSpc>
              <a:buSzPct val="90476"/>
              <a:buFont typeface="Wingdings"/>
              <a:buChar char=""/>
              <a:tabLst>
                <a:tab pos="74930" algn="l"/>
              </a:tabLst>
            </a:pPr>
            <a:r>
              <a:rPr sz="1050" i="1" dirty="0">
                <a:latin typeface="Perpetua"/>
                <a:cs typeface="Perpetua"/>
              </a:rPr>
              <a:t>Kordemsky/Paul</a:t>
            </a:r>
            <a:r>
              <a:rPr sz="1050" i="1" spc="-40" dirty="0">
                <a:latin typeface="Perpetua"/>
                <a:cs typeface="Perpetua"/>
              </a:rPr>
              <a:t> </a:t>
            </a:r>
            <a:r>
              <a:rPr sz="1050" i="1" spc="-5" dirty="0">
                <a:latin typeface="Perpetua"/>
                <a:cs typeface="Perpetua"/>
              </a:rPr>
              <a:t>curzon</a:t>
            </a:r>
            <a:endParaRPr sz="1050" dirty="0">
              <a:latin typeface="Perpetua"/>
              <a:cs typeface="Perpetua"/>
            </a:endParaRPr>
          </a:p>
          <a:p>
            <a:pPr marL="74295" indent="-62230">
              <a:lnSpc>
                <a:spcPct val="100000"/>
              </a:lnSpc>
              <a:buSzPct val="90476"/>
              <a:buFont typeface="Wingdings"/>
              <a:buChar char=""/>
              <a:tabLst>
                <a:tab pos="74930" algn="l"/>
              </a:tabLst>
            </a:pPr>
            <a:r>
              <a:rPr sz="1050" i="1" spc="-5" dirty="0">
                <a:latin typeface="Perpetua"/>
                <a:cs typeface="Perpetua"/>
              </a:rPr>
              <a:t>How </a:t>
            </a:r>
            <a:r>
              <a:rPr sz="1050" i="1" dirty="0">
                <a:latin typeface="Perpetua"/>
                <a:cs typeface="Perpetua"/>
              </a:rPr>
              <a:t>to </a:t>
            </a:r>
            <a:r>
              <a:rPr sz="1050" i="1" spc="-5" dirty="0">
                <a:latin typeface="Perpetua"/>
                <a:cs typeface="Perpetua"/>
              </a:rPr>
              <a:t>solve it by </a:t>
            </a:r>
            <a:r>
              <a:rPr sz="1050" i="1" dirty="0">
                <a:latin typeface="Perpetua"/>
                <a:cs typeface="Perpetua"/>
              </a:rPr>
              <a:t>computer -</a:t>
            </a:r>
            <a:r>
              <a:rPr sz="1050" i="1" spc="-20" dirty="0">
                <a:latin typeface="Perpetua"/>
                <a:cs typeface="Perpetua"/>
              </a:rPr>
              <a:t> </a:t>
            </a:r>
            <a:r>
              <a:rPr sz="1050" i="1" spc="-5" dirty="0">
                <a:latin typeface="Perpetua"/>
                <a:cs typeface="Perpetua"/>
              </a:rPr>
              <a:t>Dromey</a:t>
            </a:r>
            <a:endParaRPr sz="1050" dirty="0">
              <a:latin typeface="Perpetua"/>
              <a:cs typeface="Perpetua"/>
            </a:endParaRPr>
          </a:p>
          <a:p>
            <a:pPr marL="74295" indent="-62230">
              <a:lnSpc>
                <a:spcPct val="100000"/>
              </a:lnSpc>
              <a:buSzPct val="90476"/>
              <a:buFont typeface="Wingdings"/>
              <a:buChar char=""/>
              <a:tabLst>
                <a:tab pos="74930" algn="l"/>
              </a:tabLst>
            </a:pPr>
            <a:r>
              <a:rPr sz="1050" i="1" spc="-5" dirty="0">
                <a:latin typeface="Perpetua"/>
                <a:cs typeface="Perpetua"/>
              </a:rPr>
              <a:t>Google</a:t>
            </a:r>
            <a:r>
              <a:rPr sz="1050" i="1" spc="-15" dirty="0">
                <a:latin typeface="Perpetua"/>
                <a:cs typeface="Perpetua"/>
              </a:rPr>
              <a:t> </a:t>
            </a:r>
            <a:r>
              <a:rPr sz="1050" i="1" spc="-5" dirty="0">
                <a:latin typeface="Perpetua"/>
                <a:cs typeface="Perpetua"/>
              </a:rPr>
              <a:t>images</a:t>
            </a:r>
            <a:endParaRPr sz="1050" dirty="0">
              <a:latin typeface="Perpetua"/>
              <a:cs typeface="Perpetu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81000" y="304800"/>
            <a:ext cx="533400" cy="5726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3196D1F7F73754F88450F2D99E4F7B5" ma:contentTypeVersion="0" ma:contentTypeDescription="Create a new document." ma:contentTypeScope="" ma:versionID="56205a7c61aa1290832aba9f95627c7d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0967b7be50301903c78f9c39c6fd9af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5F10117-57EC-4C25-92F3-1027BBB076BC}"/>
</file>

<file path=customXml/itemProps2.xml><?xml version="1.0" encoding="utf-8"?>
<ds:datastoreItem xmlns:ds="http://schemas.openxmlformats.org/officeDocument/2006/customXml" ds:itemID="{48498E15-D078-40DE-9CA4-28F73304F189}"/>
</file>

<file path=customXml/itemProps3.xml><?xml version="1.0" encoding="utf-8"?>
<ds:datastoreItem xmlns:ds="http://schemas.openxmlformats.org/officeDocument/2006/customXml" ds:itemID="{D1A6123B-5E97-47A1-8A10-59F059CE2F2F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1923</Words>
  <Application>Microsoft Office PowerPoint</Application>
  <PresentationFormat>On-screen Show (4:3)</PresentationFormat>
  <Paragraphs>294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Arial</vt:lpstr>
      <vt:lpstr>Calibri</vt:lpstr>
      <vt:lpstr>Perpetua</vt:lpstr>
      <vt:lpstr>Times New Roman</vt:lpstr>
      <vt:lpstr>Wingdings</vt:lpstr>
      <vt:lpstr>Wingdings 2</vt:lpstr>
      <vt:lpstr>Office Theme</vt:lpstr>
      <vt:lpstr>PowerPoint Presentation</vt:lpstr>
      <vt:lpstr>Objectives</vt:lpstr>
      <vt:lpstr>Algorithmic thinking</vt:lpstr>
      <vt:lpstr>A Refresher on Factorial</vt:lpstr>
      <vt:lpstr>The pattern!!</vt:lpstr>
      <vt:lpstr>Algorithm for Factorial</vt:lpstr>
      <vt:lpstr>Fibonacci Sequence generation algorithm</vt:lpstr>
      <vt:lpstr>Let us work through</vt:lpstr>
      <vt:lpstr>Room for Improvement</vt:lpstr>
      <vt:lpstr>Given the first two numbers  a = 0</vt:lpstr>
      <vt:lpstr>Algorithm to Fibonacci Sequence</vt:lpstr>
      <vt:lpstr>Algorithm to reverse digits</vt:lpstr>
      <vt:lpstr>Modulus Operator to extract digits</vt:lpstr>
      <vt:lpstr>Reversing extracted digits</vt:lpstr>
      <vt:lpstr>Algorithm for digit reversal</vt:lpstr>
      <vt:lpstr>Algorithm for a typical ATM to decide right  denomination while dispensing cash (assuming  availability of only 100 and 500 Rs. Notes)</vt:lpstr>
      <vt:lpstr>Algorithm to find maximum number in a set</vt:lpstr>
      <vt:lpstr>Requirements to automate</vt:lpstr>
      <vt:lpstr>Requirements to automate contd---</vt:lpstr>
      <vt:lpstr>Algorithm to find maximum number</vt:lpstr>
      <vt:lpstr>Algorithm to find duplicates in ordered array</vt:lpstr>
      <vt:lpstr>PowerPoint Presentation</vt:lpstr>
      <vt:lpstr>PowerPoint Presentation</vt:lpstr>
      <vt:lpstr>PowerPoint Presentation</vt:lpstr>
      <vt:lpstr>Algorithm to find duplicates</vt:lpstr>
      <vt:lpstr>Eg. A playing board</vt:lpstr>
      <vt:lpstr>PowerPoint Presentation</vt:lpstr>
      <vt:lpstr>PowerPoint Presentation</vt:lpstr>
      <vt:lpstr>Write an Algorithm for</vt:lpstr>
      <vt:lpstr>Design an algorithm with a natural number, n, as its input  which calculates the following formula and writes the  result in the standard output: S = ½ + ¼ + ... +1/n</vt:lpstr>
      <vt:lpstr>What has been described?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Repetition</dc:title>
  <dc:creator>admins</dc:creator>
  <cp:lastModifiedBy>Dr.R.Prasanna Kumar</cp:lastModifiedBy>
  <cp:revision>2</cp:revision>
  <dcterms:created xsi:type="dcterms:W3CDTF">2020-09-07T06:46:37Z</dcterms:created>
  <dcterms:modified xsi:type="dcterms:W3CDTF">2020-09-11T06:14:22Z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2017-07-04T00:00:00Z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2020-09-07T00:00:00Z</vt:filetime>
  </property>
  <property fmtid="{D5CDD505-2E9C-101B-9397-08002B2CF9AE}" pid="5" name="ContentTypeId">
    <vt:lpwstr>0x01010093196D1F7F73754F88450F2D99E4F7B5</vt:lpwstr>
  </property>
</Properties>
</file>